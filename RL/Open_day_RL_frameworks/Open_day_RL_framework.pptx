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7" r:id="rId2"/>
  </p:sldMasterIdLst>
  <p:notesMasterIdLst>
    <p:notesMasterId r:id="rId40"/>
  </p:notesMasterIdLst>
  <p:sldIdLst>
    <p:sldId id="257" r:id="rId3"/>
    <p:sldId id="258" r:id="rId4"/>
    <p:sldId id="312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71" r:id="rId13"/>
    <p:sldId id="399" r:id="rId14"/>
    <p:sldId id="359" r:id="rId15"/>
    <p:sldId id="334" r:id="rId16"/>
    <p:sldId id="342" r:id="rId17"/>
    <p:sldId id="343" r:id="rId18"/>
    <p:sldId id="355" r:id="rId19"/>
    <p:sldId id="360" r:id="rId20"/>
    <p:sldId id="407" r:id="rId21"/>
    <p:sldId id="408" r:id="rId22"/>
    <p:sldId id="409" r:id="rId23"/>
    <p:sldId id="410" r:id="rId24"/>
    <p:sldId id="411" r:id="rId25"/>
    <p:sldId id="412" r:id="rId26"/>
    <p:sldId id="278" r:id="rId27"/>
    <p:sldId id="281" r:id="rId28"/>
    <p:sldId id="280" r:id="rId29"/>
    <p:sldId id="288" r:id="rId30"/>
    <p:sldId id="339" r:id="rId31"/>
    <p:sldId id="289" r:id="rId32"/>
    <p:sldId id="400" r:id="rId33"/>
    <p:sldId id="372" r:id="rId34"/>
    <p:sldId id="373" r:id="rId35"/>
    <p:sldId id="374" r:id="rId36"/>
    <p:sldId id="375" r:id="rId37"/>
    <p:sldId id="376" r:id="rId38"/>
    <p:sldId id="303" r:id="rId39"/>
  </p:sldIdLst>
  <p:sldSz cx="9144000" cy="5143500" type="screen16x9"/>
  <p:notesSz cx="6858000" cy="9144000"/>
  <p:embeddedFontLst>
    <p:embeddedFont>
      <p:font typeface="AkayaTelivigala" panose="020F0502020204030204" pitchFamily="34" charset="0"/>
      <p:regular r:id="rId41"/>
      <p:bold r:id="rId42"/>
      <p:italic r:id="rId43"/>
      <p:boldItalic r:id="rId44"/>
    </p:embeddedFont>
    <p:embeddedFont>
      <p:font typeface="Roboto" panose="02000000000000000000" pitchFamily="2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724">
          <p15:clr>
            <a:srgbClr val="A4A3A4"/>
          </p15:clr>
        </p15:guide>
        <p15:guide id="2" pos="380">
          <p15:clr>
            <a:srgbClr val="9AA0A6"/>
          </p15:clr>
        </p15:guide>
        <p15:guide id="3" orient="horz" pos="2041">
          <p15:clr>
            <a:srgbClr val="9AA0A6"/>
          </p15:clr>
        </p15:guide>
        <p15:guide id="4" orient="horz" pos="2169">
          <p15:clr>
            <a:srgbClr val="9AA0A6"/>
          </p15:clr>
        </p15:guide>
        <p15:guide id="5" pos="33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6F40"/>
    <a:srgbClr val="FF9D54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F59E00E-254B-42B5-9FED-D0DB1D54CBD8}">
  <a:tblStyle styleId="{9F59E00E-254B-42B5-9FED-D0DB1D54CBD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43"/>
    <p:restoredTop sz="97146"/>
  </p:normalViewPr>
  <p:slideViewPr>
    <p:cSldViewPr snapToGrid="0">
      <p:cViewPr varScale="1">
        <p:scale>
          <a:sx n="297" d="100"/>
          <a:sy n="297" d="100"/>
        </p:scale>
        <p:origin x="688" y="184"/>
      </p:cViewPr>
      <p:guideLst>
        <p:guide pos="1724"/>
        <p:guide pos="380"/>
        <p:guide orient="horz" pos="2041"/>
        <p:guide orient="horz" pos="2169"/>
        <p:guide pos="3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6.fntdata"/><Relationship Id="rId20" Type="http://schemas.openxmlformats.org/officeDocument/2006/relationships/slide" Target="slides/slide18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f305d12f47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f305d12f47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de823becd0_0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de823becd0_0_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2a331324f2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g22a331324f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e823becd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e823becd0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f305d12f47_1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f305d12f47_1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2baa635cc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2baa635cc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Давайте поближе познакомимся с ОТУС.</a:t>
            </a:r>
            <a:endParaRPr sz="1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ОТУС задумывался как компания, которая позволяет обучаться у опытных специалистов высокого уровня в различных областях IT, каждого из которых мы обучаем, как эффективно преподавать.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Мы сторонники обучения у практиков, а не теоретиков, поэтому все наши преподаватели являются действующими специалистами, что позволяет им постоянно быть в курсе лучших решений и оперативно дополнять программу необходимыми изменениями.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Изначально мы создавали курсы для повышения квалификации действующих специалистов в области IT, но стали получать множество запросов на обучение с нуля, поэтому сейчас мы даем возможность любому замотивированному человеку освоить специальность в области IT.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f305d12f47_1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В связи с тем, что 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Программы курсов в OTUS разрабатываются на основе того, что требуется на данный момент на кадровом рынке в топовые компании. </a:t>
            </a:r>
            <a:endParaRPr/>
          </a:p>
        </p:txBody>
      </p:sp>
      <p:sp>
        <p:nvSpPr>
          <p:cNvPr id="339" name="Google Shape;339;gf305d12f47_1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2baa635cc9_0_50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g22baa635cc9_0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9893088cf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9893088cf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5beb2bd227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5beb2bd227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1528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deaee39f1e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deaee39f1e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97118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df29b9fb24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df29b9fb24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8a1700b9ff_0_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8a1700b9ff_0_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e3a707456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e3a707456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f305d12f47_1_2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f305d12f47_1_2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eaee39f1e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eaee39f1e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2baa635cc9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4" name="Google Shape;514;g22baa635cc9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469102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512996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569953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52293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eaee39f1e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eaee39f1e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777256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e3a707456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e3a707456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8" y="-10075"/>
            <a:ext cx="9161923" cy="5163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505"/>
              </a:buClr>
              <a:buSzPts val="1500"/>
              <a:buNone/>
              <a:defRPr sz="1500" b="1">
                <a:solidFill>
                  <a:srgbClr val="05050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2"/>
          </p:nvPr>
        </p:nvSpPr>
        <p:spPr>
          <a:xfrm>
            <a:off x="3891775" y="2252794"/>
            <a:ext cx="4587900" cy="203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7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7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94" name="Google Shape;194;p47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8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7" name="Google Shape;197;p4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5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50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03" name="Google Shape;203;p5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6" name="Google Shape;206;p51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51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51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9" name="Google Shape;209;p51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51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213" name="Google Shape;213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5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5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53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53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5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2" name="Google Shape;222;p5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223" name="Google Shape;223;p5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rtl="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rtl="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rtl="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224" name="Google Shape;224;p5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5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57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57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58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58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59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" name="Google Shape;240;p5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59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6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60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6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6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image" Target="../media/image4.jpg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6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9" name="Google Shape;189;p4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jpeg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rgs/AI4Finance-Foundation/repositories" TargetMode="External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otus.ru</a:t>
            </a:r>
            <a:endParaRPr dirty="0"/>
          </a:p>
        </p:txBody>
      </p:sp>
      <p:sp>
        <p:nvSpPr>
          <p:cNvPr id="258" name="Google Shape;258;p62"/>
          <p:cNvSpPr txBox="1">
            <a:spLocks noGrp="1"/>
          </p:cNvSpPr>
          <p:nvPr>
            <p:ph type="title"/>
          </p:nvPr>
        </p:nvSpPr>
        <p:spPr>
          <a:xfrm>
            <a:off x="944650" y="1769194"/>
            <a:ext cx="8183100" cy="21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Reinforcement Learning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600" dirty="0"/>
              <a:t>Фреймворки</a:t>
            </a:r>
            <a:endParaRPr sz="6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3"/>
          <p:cNvSpPr txBox="1"/>
          <p:nvPr/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Проверить, идет ли запись</a:t>
            </a:r>
            <a:endParaRPr sz="2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63"/>
          <p:cNvSpPr txBox="1"/>
          <p:nvPr/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Напишите 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«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ru" sz="3500" b="1">
                <a:solidFill>
                  <a:schemeClr val="dk1"/>
                </a:solidFill>
                <a:highlight>
                  <a:schemeClr val="lt1"/>
                </a:highlight>
              </a:rPr>
              <a:t>»</a:t>
            </a:r>
            <a:r>
              <a:rPr lang="ru" sz="35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в чат, если меня слышно и видно</a:t>
            </a:r>
            <a:endParaRPr sz="35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5" name="Google Shape;265;p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7275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84856" y="3516281"/>
            <a:ext cx="526796" cy="52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63"/>
          <p:cNvPicPr preferRelativeResize="0"/>
          <p:nvPr/>
        </p:nvPicPr>
        <p:blipFill rotWithShape="1">
          <a:blip r:embed="rId5">
            <a:alphaModFix/>
          </a:blip>
          <a:srcRect l="99" r="99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200" dirty="0"/>
              <a:t>Reinforcement Learning</a:t>
            </a:r>
            <a:br>
              <a:rPr lang="en-US" sz="3200" dirty="0"/>
            </a:br>
            <a:r>
              <a:rPr lang="ru-RU" sz="2400" dirty="0"/>
              <a:t>Фреймворки</a:t>
            </a:r>
            <a:endParaRPr b="0"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Открытый урок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2060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8" name="Google Shape;278;p64">
            <a:extLst>
              <a:ext uri="{FF2B5EF4-FFF2-40B4-BE49-F238E27FC236}">
                <a16:creationId xmlns:a16="http://schemas.microsoft.com/office/drawing/2014/main" id="{DC03452F-6B2F-EA48-9B01-C3577A3005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77621" y="258179"/>
            <a:ext cx="652375" cy="65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209;p48">
            <a:extLst>
              <a:ext uri="{FF2B5EF4-FFF2-40B4-BE49-F238E27FC236}">
                <a16:creationId xmlns:a16="http://schemas.microsoft.com/office/drawing/2014/main" id="{CA2CE4C2-C39C-A54B-AFE5-6E9E10E2AB74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</a:t>
            </a:r>
            <a:r>
              <a:rPr lang="en-US" sz="1150" kern="0" dirty="0"/>
              <a:t>20</a:t>
            </a:r>
            <a:r>
              <a:rPr lang="ru-RU" sz="1150" kern="0" dirty="0"/>
              <a:t>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6D9259-66E1-AB46-BFF1-E694B121712E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65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Маршрут вебинара</a:t>
            </a:r>
            <a:endParaRPr/>
          </a:p>
        </p:txBody>
      </p:sp>
      <p:sp>
        <p:nvSpPr>
          <p:cNvPr id="284" name="Google Shape;284;p65"/>
          <p:cNvSpPr/>
          <p:nvPr/>
        </p:nvSpPr>
        <p:spPr>
          <a:xfrm>
            <a:off x="680149" y="1248783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1. Знакомство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65"/>
          <p:cNvSpPr/>
          <p:nvPr/>
        </p:nvSpPr>
        <p:spPr>
          <a:xfrm>
            <a:off x="680149" y="1862626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2. Об ОТУС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7" name="Google Shape;287;p65"/>
          <p:cNvSpPr/>
          <p:nvPr/>
        </p:nvSpPr>
        <p:spPr>
          <a:xfrm>
            <a:off x="680149" y="2476469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3. Обучение с подкреплением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8" name="Google Shape;288;p65"/>
          <p:cNvSpPr/>
          <p:nvPr/>
        </p:nvSpPr>
        <p:spPr>
          <a:xfrm>
            <a:off x="680149" y="3090312"/>
            <a:ext cx="4139999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4. Ал</a:t>
            </a:r>
            <a:r>
              <a:rPr lang="ru-RU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горитмы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65"/>
          <p:cNvSpPr/>
          <p:nvPr/>
        </p:nvSpPr>
        <p:spPr>
          <a:xfrm>
            <a:off x="680150" y="4317999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6. О курсе, программа обучения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0" name="Google Shape;290;p65"/>
          <p:cNvSpPr/>
          <p:nvPr/>
        </p:nvSpPr>
        <p:spPr>
          <a:xfrm>
            <a:off x="680150" y="3704155"/>
            <a:ext cx="4140000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270000" tIns="91425" rIns="270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5. </a:t>
            </a:r>
            <a:r>
              <a:rPr lang="ru-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Фреймворки</a:t>
            </a:r>
            <a:endParaRPr sz="12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F6C0D3-F5F0-7F49-81E7-240677619B55}"/>
              </a:ext>
            </a:extLst>
          </p:cNvPr>
          <p:cNvGrpSpPr/>
          <p:nvPr/>
        </p:nvGrpSpPr>
        <p:grpSpPr>
          <a:xfrm>
            <a:off x="5409185" y="1645979"/>
            <a:ext cx="3054665" cy="2167750"/>
            <a:chOff x="5389792" y="1588485"/>
            <a:chExt cx="3054665" cy="21677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B2D36A29-D1B6-E445-9F77-7D2D2DF6255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51890"/>
            <a:stretch/>
          </p:blipFill>
          <p:spPr>
            <a:xfrm>
              <a:off x="5389792" y="1599299"/>
              <a:ext cx="3054665" cy="215693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9DA84D5-B7FC-C247-866A-FB86EFFB7892}"/>
                </a:ext>
              </a:extLst>
            </p:cNvPr>
            <p:cNvSpPr/>
            <p:nvPr/>
          </p:nvSpPr>
          <p:spPr>
            <a:xfrm>
              <a:off x="5445600" y="1588485"/>
              <a:ext cx="375746" cy="34366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3" name="Curved Connector 2">
            <a:extLst>
              <a:ext uri="{FF2B5EF4-FFF2-40B4-BE49-F238E27FC236}">
                <a16:creationId xmlns:a16="http://schemas.microsoft.com/office/drawing/2014/main" id="{63E8C6C5-FD30-754C-A10F-39DF18BB5703}"/>
              </a:ext>
            </a:extLst>
          </p:cNvPr>
          <p:cNvCxnSpPr>
            <a:stCxn id="284" idx="1"/>
            <a:endCxn id="285" idx="1"/>
          </p:cNvCxnSpPr>
          <p:nvPr/>
        </p:nvCxnSpPr>
        <p:spPr>
          <a:xfrm rot="10800000" flipV="1">
            <a:off x="680149" y="1436882"/>
            <a:ext cx="12700" cy="613843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25298795-3966-3942-9BCD-12823A964D5A}"/>
              </a:ext>
            </a:extLst>
          </p:cNvPr>
          <p:cNvCxnSpPr>
            <a:cxnSpLocks/>
            <a:stCxn id="285" idx="1"/>
            <a:endCxn id="287" idx="1"/>
          </p:cNvCxnSpPr>
          <p:nvPr/>
        </p:nvCxnSpPr>
        <p:spPr>
          <a:xfrm rot="10800000" flipV="1">
            <a:off x="680149" y="2050725"/>
            <a:ext cx="12700" cy="613843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>
            <a:extLst>
              <a:ext uri="{FF2B5EF4-FFF2-40B4-BE49-F238E27FC236}">
                <a16:creationId xmlns:a16="http://schemas.microsoft.com/office/drawing/2014/main" id="{C1459359-84F9-DB45-AF6F-C5C9AA3DF209}"/>
              </a:ext>
            </a:extLst>
          </p:cNvPr>
          <p:cNvCxnSpPr>
            <a:cxnSpLocks/>
            <a:stCxn id="287" idx="1"/>
            <a:endCxn id="288" idx="1"/>
          </p:cNvCxnSpPr>
          <p:nvPr/>
        </p:nvCxnSpPr>
        <p:spPr>
          <a:xfrm rot="10800000" flipV="1">
            <a:off x="680149" y="2664568"/>
            <a:ext cx="12700" cy="613843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>
            <a:extLst>
              <a:ext uri="{FF2B5EF4-FFF2-40B4-BE49-F238E27FC236}">
                <a16:creationId xmlns:a16="http://schemas.microsoft.com/office/drawing/2014/main" id="{9E88BF5C-5FA1-4845-811C-2065508066EB}"/>
              </a:ext>
            </a:extLst>
          </p:cNvPr>
          <p:cNvCxnSpPr>
            <a:cxnSpLocks/>
            <a:stCxn id="288" idx="1"/>
            <a:endCxn id="290" idx="1"/>
          </p:cNvCxnSpPr>
          <p:nvPr/>
        </p:nvCxnSpPr>
        <p:spPr>
          <a:xfrm rot="10800000" flipH="1" flipV="1">
            <a:off x="680148" y="3278411"/>
            <a:ext cx="1" cy="613843"/>
          </a:xfrm>
          <a:prstGeom prst="curvedConnector3">
            <a:avLst>
              <a:gd name="adj1" fmla="val -228600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>
            <a:extLst>
              <a:ext uri="{FF2B5EF4-FFF2-40B4-BE49-F238E27FC236}">
                <a16:creationId xmlns:a16="http://schemas.microsoft.com/office/drawing/2014/main" id="{72EBBBF6-FE79-2B4E-9556-896FE9477966}"/>
              </a:ext>
            </a:extLst>
          </p:cNvPr>
          <p:cNvCxnSpPr>
            <a:cxnSpLocks/>
            <a:stCxn id="290" idx="1"/>
            <a:endCxn id="289" idx="1"/>
          </p:cNvCxnSpPr>
          <p:nvPr/>
        </p:nvCxnSpPr>
        <p:spPr>
          <a:xfrm rot="10800000" flipV="1">
            <a:off x="680150" y="3892255"/>
            <a:ext cx="12700" cy="613844"/>
          </a:xfrm>
          <a:prstGeom prst="curvedConnector3">
            <a:avLst>
              <a:gd name="adj1" fmla="val 1800000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6"/>
          <p:cNvSpPr txBox="1">
            <a:spLocks noGrp="1"/>
          </p:cNvSpPr>
          <p:nvPr>
            <p:ph type="body" idx="4294967295"/>
          </p:nvPr>
        </p:nvSpPr>
        <p:spPr>
          <a:xfrm>
            <a:off x="560550" y="1665950"/>
            <a:ext cx="7723800" cy="16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Как вас зовут? Откуда вы? 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Ваш опыт работы в IT?</a:t>
            </a:r>
            <a:endParaRPr sz="1800">
              <a:solidFill>
                <a:srgbClr val="1E1F2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7700"/>
              </a:buClr>
              <a:buSzPts val="1800"/>
              <a:buChar char="●"/>
            </a:pPr>
            <a:r>
              <a:rPr lang="ru" sz="1800">
                <a:solidFill>
                  <a:srgbClr val="1E1F21"/>
                </a:solidFill>
              </a:rPr>
              <a:t>С какой основной целью вы записались на занятие?</a:t>
            </a:r>
            <a:endParaRPr sz="1800">
              <a:solidFill>
                <a:srgbClr val="1E1F21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</a:endParaRPr>
          </a:p>
        </p:txBody>
      </p:sp>
      <p:sp>
        <p:nvSpPr>
          <p:cNvPr id="297" name="Google Shape;297;p6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Расскажите о себе</a:t>
            </a:r>
            <a:endParaRPr/>
          </a:p>
        </p:txBody>
      </p:sp>
      <p:pic>
        <p:nvPicPr>
          <p:cNvPr id="298" name="Google Shape;298;p6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80827" y="3412575"/>
            <a:ext cx="620721" cy="620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6852" y="3412581"/>
            <a:ext cx="620721" cy="6207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6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b="1"/>
              <a:t>Правила вебинара</a:t>
            </a:r>
            <a:endParaRPr b="1"/>
          </a:p>
        </p:txBody>
      </p:sp>
      <p:sp>
        <p:nvSpPr>
          <p:cNvPr id="305" name="Google Shape;305;p67"/>
          <p:cNvSpPr/>
          <p:nvPr/>
        </p:nvSpPr>
        <p:spPr>
          <a:xfrm>
            <a:off x="5730575" y="-8062"/>
            <a:ext cx="3413400" cy="51435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7" name="Google Shape;307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650" y="3494081"/>
            <a:ext cx="692621" cy="692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7650" y="1510213"/>
            <a:ext cx="692621" cy="692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67"/>
          <p:cNvSpPr txBox="1"/>
          <p:nvPr/>
        </p:nvSpPr>
        <p:spPr>
          <a:xfrm>
            <a:off x="1654525" y="1480850"/>
            <a:ext cx="24753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Активно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участвуем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67"/>
          <p:cNvSpPr txBox="1"/>
          <p:nvPr/>
        </p:nvSpPr>
        <p:spPr>
          <a:xfrm>
            <a:off x="1654525" y="3517859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Вопросы вижу в чате,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могу ответить не сразу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1" name="Google Shape;311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7651" y="2514043"/>
            <a:ext cx="692621" cy="692599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67"/>
          <p:cNvSpPr txBox="1"/>
          <p:nvPr/>
        </p:nvSpPr>
        <p:spPr>
          <a:xfrm>
            <a:off x="1654525" y="2519056"/>
            <a:ext cx="3231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Задаем вопрос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oboto"/>
                <a:ea typeface="Roboto"/>
                <a:cs typeface="Roboto"/>
                <a:sym typeface="Roboto"/>
              </a:rPr>
              <a:t>в чат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67"/>
          <p:cNvSpPr txBox="1"/>
          <p:nvPr/>
        </p:nvSpPr>
        <p:spPr>
          <a:xfrm>
            <a:off x="6350663" y="1403888"/>
            <a:ext cx="2044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Условные 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0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обозначения</a:t>
            </a:r>
            <a:endParaRPr sz="20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4" name="Google Shape;314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38593" y="2369232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67"/>
          <p:cNvSpPr txBox="1"/>
          <p:nvPr/>
        </p:nvSpPr>
        <p:spPr>
          <a:xfrm>
            <a:off x="6829363" y="2355944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Индивидуально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6" name="Google Shape;316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38593" y="2841809"/>
            <a:ext cx="330301" cy="330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67"/>
          <p:cNvSpPr txBox="1"/>
          <p:nvPr/>
        </p:nvSpPr>
        <p:spPr>
          <a:xfrm>
            <a:off x="6829363" y="2836968"/>
            <a:ext cx="2044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Документ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18" name="Google Shape;31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38593" y="3321903"/>
            <a:ext cx="330301" cy="330303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67"/>
          <p:cNvSpPr txBox="1"/>
          <p:nvPr/>
        </p:nvSpPr>
        <p:spPr>
          <a:xfrm>
            <a:off x="6829363" y="3232486"/>
            <a:ext cx="2044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Ответьте себе или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задайте вопрос</a:t>
            </a: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oboto"/>
                <a:ea typeface="Roboto"/>
                <a:cs typeface="Roboto"/>
                <a:sym typeface="Roboto"/>
              </a:rPr>
              <a:t>О</a:t>
            </a:r>
            <a:r>
              <a:rPr lang="ru"/>
              <a:t>б ОТУС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9"/>
          <p:cNvSpPr txBox="1"/>
          <p:nvPr/>
        </p:nvSpPr>
        <p:spPr>
          <a:xfrm>
            <a:off x="500550" y="330725"/>
            <a:ext cx="8520600" cy="7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 компании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69"/>
          <p:cNvSpPr txBox="1"/>
          <p:nvPr/>
        </p:nvSpPr>
        <p:spPr>
          <a:xfrm>
            <a:off x="1170350" y="1933625"/>
            <a:ext cx="47181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ОТУС специализируется на обучении в IT.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Наша фишка — продвинутые программы для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с опытом и быстрый запуск курсов по новым набирающим популярность технологиям.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69"/>
          <p:cNvSpPr txBox="1"/>
          <p:nvPr/>
        </p:nvSpPr>
        <p:spPr>
          <a:xfrm>
            <a:off x="1170350" y="15622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Сфера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69"/>
          <p:cNvSpPr txBox="1"/>
          <p:nvPr/>
        </p:nvSpPr>
        <p:spPr>
          <a:xfrm>
            <a:off x="1170350" y="3423925"/>
            <a:ext cx="5862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Наши партнеры современные технологичные компании.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А обучение и открытые материалы привлекают специалистов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latin typeface="Roboto"/>
                <a:ea typeface="Roboto"/>
                <a:cs typeface="Roboto"/>
                <a:sym typeface="Roboto"/>
              </a:rPr>
              <a:t>разных грейдов: junior, middle, senior, lead.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69"/>
          <p:cNvSpPr txBox="1"/>
          <p:nvPr/>
        </p:nvSpPr>
        <p:spPr>
          <a:xfrm>
            <a:off x="1170350" y="3052524"/>
            <a:ext cx="18300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 b="1">
                <a:solidFill>
                  <a:srgbClr val="FF7700"/>
                </a:solidFill>
                <a:latin typeface="Roboto"/>
                <a:ea typeface="Roboto"/>
                <a:cs typeface="Roboto"/>
                <a:sym typeface="Roboto"/>
              </a:rPr>
              <a:t>Клиенты</a:t>
            </a:r>
            <a:endParaRPr sz="1700" b="1">
              <a:solidFill>
                <a:srgbClr val="FF77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34" name="Google Shape;334;p6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9994" y="167792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994" y="3144375"/>
            <a:ext cx="394400" cy="39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69"/>
          <p:cNvPicPr preferRelativeResize="0"/>
          <p:nvPr/>
        </p:nvPicPr>
        <p:blipFill rotWithShape="1">
          <a:blip r:embed="rId5">
            <a:alphaModFix/>
          </a:blip>
          <a:srcRect l="1114" r="1124"/>
          <a:stretch/>
        </p:blipFill>
        <p:spPr>
          <a:xfrm>
            <a:off x="6031050" y="0"/>
            <a:ext cx="3112951" cy="261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7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Образование в ОТУС</a:t>
            </a:r>
            <a:endParaRPr/>
          </a:p>
        </p:txBody>
      </p:sp>
      <p:sp>
        <p:nvSpPr>
          <p:cNvPr id="342" name="Google Shape;342;p70"/>
          <p:cNvSpPr txBox="1">
            <a:spLocks noGrp="1"/>
          </p:cNvSpPr>
          <p:nvPr>
            <p:ph type="body" idx="4294967295"/>
          </p:nvPr>
        </p:nvSpPr>
        <p:spPr>
          <a:xfrm>
            <a:off x="1483350" y="2056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rgbClr val="000000"/>
                </a:solidFill>
              </a:rPr>
              <a:t>OTUS имеет образовательную лицензию, поэтому наши курсы являются программами повышения квалификации и профессиональной переподготовки. </a:t>
            </a:r>
            <a:endParaRPr sz="1600">
              <a:solidFill>
                <a:srgbClr val="000000"/>
              </a:solidFill>
            </a:endParaRPr>
          </a:p>
        </p:txBody>
      </p:sp>
      <p:sp>
        <p:nvSpPr>
          <p:cNvPr id="343" name="Google Shape;343;p70"/>
          <p:cNvSpPr txBox="1">
            <a:spLocks noGrp="1"/>
          </p:cNvSpPr>
          <p:nvPr>
            <p:ph type="body" idx="4294967295"/>
          </p:nvPr>
        </p:nvSpPr>
        <p:spPr>
          <a:xfrm>
            <a:off x="1483350" y="1579994"/>
            <a:ext cx="26745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ru" sz="2000" b="1">
                <a:solidFill>
                  <a:srgbClr val="FF7700"/>
                </a:solidFill>
              </a:rPr>
              <a:t>Программы курсов</a:t>
            </a:r>
            <a:endParaRPr sz="2000" b="1">
              <a:solidFill>
                <a:srgbClr val="FF7700"/>
              </a:solidFill>
            </a:endParaRPr>
          </a:p>
        </p:txBody>
      </p:sp>
      <p:pic>
        <p:nvPicPr>
          <p:cNvPr id="344" name="Google Shape;344;p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1675" y="1564400"/>
            <a:ext cx="396000" cy="39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Напишите, пожалуйста, в чат подходящую цифру</a:t>
            </a:r>
            <a:endParaRPr/>
          </a:p>
        </p:txBody>
      </p:sp>
      <p:sp>
        <p:nvSpPr>
          <p:cNvPr id="376" name="Google Shape;376;p73"/>
          <p:cNvSpPr txBox="1">
            <a:spLocks noGrp="1"/>
          </p:cNvSpPr>
          <p:nvPr>
            <p:ph type="body" idx="4294967295"/>
          </p:nvPr>
        </p:nvSpPr>
        <p:spPr>
          <a:xfrm>
            <a:off x="567875" y="1930253"/>
            <a:ext cx="4999800" cy="10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1</a:t>
            </a:r>
            <a:r>
              <a:rPr lang="ru" sz="1900" b="1"/>
              <a:t> -</a:t>
            </a:r>
            <a:r>
              <a:rPr lang="ru" sz="1900"/>
              <a:t> если уже учились у нас в компании 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2</a:t>
            </a:r>
            <a:r>
              <a:rPr lang="ru" sz="1900" b="1"/>
              <a:t> -</a:t>
            </a:r>
            <a:r>
              <a:rPr lang="ru" sz="1900"/>
              <a:t> если НЕ учились, но слышали о нас</a:t>
            </a:r>
            <a:endParaRPr sz="19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900" b="1">
                <a:solidFill>
                  <a:srgbClr val="FF7700"/>
                </a:solidFill>
              </a:rPr>
              <a:t>3</a:t>
            </a:r>
            <a:r>
              <a:rPr lang="ru" sz="1900" b="1"/>
              <a:t> -</a:t>
            </a:r>
            <a:r>
              <a:rPr lang="ru" sz="1900"/>
              <a:t> если впервые знакомитесь с OTUS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id="377" name="Google Shape;377;p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650" y="3239988"/>
            <a:ext cx="651601" cy="651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Что такое </a:t>
            </a:r>
            <a:r>
              <a:rPr lang="en-US" dirty="0"/>
              <a:t>Reinforcement Learning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7"/>
          <p:cNvSpPr txBox="1">
            <a:spLocks noGrp="1"/>
          </p:cNvSpPr>
          <p:nvPr>
            <p:ph type="title"/>
          </p:nvPr>
        </p:nvSpPr>
        <p:spPr>
          <a:xfrm>
            <a:off x="500550" y="330729"/>
            <a:ext cx="85206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Третья парадигма машинного обучения</a:t>
            </a:r>
            <a:endParaRPr/>
          </a:p>
        </p:txBody>
      </p:sp>
      <p:pic>
        <p:nvPicPr>
          <p:cNvPr id="324" name="Google Shape;324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1275" y="1257599"/>
            <a:ext cx="4770050" cy="32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0000" y="1311488"/>
            <a:ext cx="3453575" cy="3130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58A245-2071-484B-8B77-BEA3358EB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  <a:endParaRPr lang="en-T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A5D672-3E20-9B43-98BC-4823A95CC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94" y="978013"/>
            <a:ext cx="6244479" cy="389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16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4"/>
          <p:cNvSpPr txBox="1"/>
          <p:nvPr/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Что такое Обучение с Подкреплением?</a:t>
            </a:r>
            <a:endParaRPr sz="31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54"/>
          <p:cNvSpPr txBox="1"/>
          <p:nvPr/>
        </p:nvSpPr>
        <p:spPr>
          <a:xfrm>
            <a:off x="500550" y="1369325"/>
            <a:ext cx="3413400" cy="313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b="1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с Подкреплением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- это направление машинного обучения, где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агент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(искусственный интеллект) обучается,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принимая решения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и действуя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некоторой среде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с целью </a:t>
            </a:r>
            <a:r>
              <a:rPr lang="ru" sz="1350" i="1" u="sng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максимизировать некую награду</a:t>
            </a: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 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50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Этот метод обучения схож с тем, как люди и животные учатся на основе положительного и отрицательного подкрепления.</a:t>
            </a:r>
            <a:endParaRPr sz="135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54"/>
          <p:cNvSpPr txBox="1"/>
          <p:nvPr/>
        </p:nvSpPr>
        <p:spPr>
          <a:xfrm>
            <a:off x="4344775" y="3512950"/>
            <a:ext cx="4228500" cy="3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5000" lnSpcReduction="20000"/>
          </a:bodyPr>
          <a:lstStyle/>
          <a:p>
            <a:pPr marL="0" lvl="0" indent="0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ru" sz="139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Источник: </a:t>
            </a:r>
            <a:r>
              <a:rPr lang="ru" sz="1392">
                <a:latin typeface="Roboto"/>
                <a:ea typeface="Roboto"/>
                <a:cs typeface="Roboto"/>
                <a:sym typeface="Roboto"/>
              </a:rPr>
              <a:t>https://habr.com/ru/companies/ods/articles/421585/</a:t>
            </a:r>
            <a:endParaRPr sz="1392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66" name="Google Shape;366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96900" y="1630563"/>
            <a:ext cx="5124250" cy="188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Алгоритмы </a:t>
            </a:r>
            <a:r>
              <a:rPr lang="en-US" dirty="0"/>
              <a:t>RL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1988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алгоритмов </a:t>
            </a:r>
            <a:r>
              <a:rPr lang="en-US" dirty="0"/>
              <a:t>RL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66847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EA1CD1D-A55C-3441-961B-9A977658F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Алгоритмы </a:t>
            </a:r>
            <a:r>
              <a:rPr lang="en-US" dirty="0"/>
              <a:t>RL</a:t>
            </a:r>
            <a:r>
              <a:rPr lang="ru-RU" dirty="0"/>
              <a:t> на курсе</a:t>
            </a:r>
            <a:endParaRPr lang="en-TR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B23CBB6-9E3B-5D4A-ABE9-B9AA7A6458FA}"/>
              </a:ext>
            </a:extLst>
          </p:cNvPr>
          <p:cNvSpPr/>
          <p:nvPr/>
        </p:nvSpPr>
        <p:spPr>
          <a:xfrm>
            <a:off x="4035020" y="1091429"/>
            <a:ext cx="1073960" cy="43821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RL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ACE2439-344B-844B-9867-EB4C6A5132A8}"/>
              </a:ext>
            </a:extLst>
          </p:cNvPr>
          <p:cNvSpPr/>
          <p:nvPr/>
        </p:nvSpPr>
        <p:spPr>
          <a:xfrm>
            <a:off x="1872452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Model-free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AED1F50-6B5D-2347-9EE4-2CD4BAABD013}"/>
              </a:ext>
            </a:extLst>
          </p:cNvPr>
          <p:cNvSpPr/>
          <p:nvPr/>
        </p:nvSpPr>
        <p:spPr>
          <a:xfrm>
            <a:off x="6197589" y="1091429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Model-based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2C5F1E56-FF27-B04C-83E6-4B92D82FAD0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2946412" y="1310536"/>
            <a:ext cx="10886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8">
            <a:extLst>
              <a:ext uri="{FF2B5EF4-FFF2-40B4-BE49-F238E27FC236}">
                <a16:creationId xmlns:a16="http://schemas.microsoft.com/office/drawing/2014/main" id="{6A120926-8349-524F-BD9A-68375F46F4EB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5108980" y="1310536"/>
            <a:ext cx="108860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EF20AD9-97B3-6F43-B41A-BADC332B23D1}"/>
              </a:ext>
            </a:extLst>
          </p:cNvPr>
          <p:cNvSpPr/>
          <p:nvPr/>
        </p:nvSpPr>
        <p:spPr>
          <a:xfrm>
            <a:off x="1200458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Policy Optimization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A2D8CAF-78EF-454A-B4BE-AB77D861A731}"/>
              </a:ext>
            </a:extLst>
          </p:cNvPr>
          <p:cNvSpPr/>
          <p:nvPr/>
        </p:nvSpPr>
        <p:spPr>
          <a:xfrm>
            <a:off x="2438721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Q-Learning</a:t>
            </a:r>
          </a:p>
        </p:txBody>
      </p:sp>
      <p:cxnSp>
        <p:nvCxnSpPr>
          <p:cNvPr id="15" name="Elbow Connector 8">
            <a:extLst>
              <a:ext uri="{FF2B5EF4-FFF2-40B4-BE49-F238E27FC236}">
                <a16:creationId xmlns:a16="http://schemas.microsoft.com/office/drawing/2014/main" id="{7E9E6EFB-EB94-4440-B564-66C2386C179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 rot="5400000">
            <a:off x="1960245" y="1306836"/>
            <a:ext cx="226380" cy="671994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8">
            <a:extLst>
              <a:ext uri="{FF2B5EF4-FFF2-40B4-BE49-F238E27FC236}">
                <a16:creationId xmlns:a16="http://schemas.microsoft.com/office/drawing/2014/main" id="{83736521-F6E9-BF45-B905-73B89A805F21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rot="16200000" flipH="1">
            <a:off x="2579376" y="1359698"/>
            <a:ext cx="226380" cy="56626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5151AB6-889C-6B4A-B2B6-41CCAAF9496A}"/>
              </a:ext>
            </a:extLst>
          </p:cNvPr>
          <p:cNvSpPr/>
          <p:nvPr/>
        </p:nvSpPr>
        <p:spPr>
          <a:xfrm>
            <a:off x="5555996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Learn Model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BF6A4774-8494-3A47-9649-62287262141F}"/>
              </a:ext>
            </a:extLst>
          </p:cNvPr>
          <p:cNvSpPr/>
          <p:nvPr/>
        </p:nvSpPr>
        <p:spPr>
          <a:xfrm>
            <a:off x="6794537" y="1756023"/>
            <a:ext cx="1073960" cy="43821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1000" dirty="0">
                <a:solidFill>
                  <a:schemeClr val="tx1"/>
                </a:solidFill>
              </a:rPr>
              <a:t>Given Model</a:t>
            </a:r>
          </a:p>
        </p:txBody>
      </p:sp>
      <p:cxnSp>
        <p:nvCxnSpPr>
          <p:cNvPr id="29" name="Elbow Connector 8">
            <a:extLst>
              <a:ext uri="{FF2B5EF4-FFF2-40B4-BE49-F238E27FC236}">
                <a16:creationId xmlns:a16="http://schemas.microsoft.com/office/drawing/2014/main" id="{83BF5E0B-D9E2-A44C-A3C3-1EC7E7EF82B3}"/>
              </a:ext>
            </a:extLst>
          </p:cNvPr>
          <p:cNvCxnSpPr>
            <a:cxnSpLocks/>
            <a:stCxn id="7" idx="2"/>
            <a:endCxn id="22" idx="0"/>
          </p:cNvCxnSpPr>
          <p:nvPr/>
        </p:nvCxnSpPr>
        <p:spPr>
          <a:xfrm rot="16200000" flipH="1">
            <a:off x="6919853" y="1344359"/>
            <a:ext cx="226380" cy="596948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8">
            <a:extLst>
              <a:ext uri="{FF2B5EF4-FFF2-40B4-BE49-F238E27FC236}">
                <a16:creationId xmlns:a16="http://schemas.microsoft.com/office/drawing/2014/main" id="{BE91FF24-2607-0F45-A2CB-E20F82CC51BA}"/>
              </a:ext>
            </a:extLst>
          </p:cNvPr>
          <p:cNvCxnSpPr>
            <a:cxnSpLocks/>
            <a:stCxn id="7" idx="2"/>
            <a:endCxn id="21" idx="0"/>
          </p:cNvCxnSpPr>
          <p:nvPr/>
        </p:nvCxnSpPr>
        <p:spPr>
          <a:xfrm rot="5400000">
            <a:off x="6300583" y="1322037"/>
            <a:ext cx="226380" cy="64159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FC80BF1-067B-C54B-ABF2-06C43862B832}"/>
              </a:ext>
            </a:extLst>
          </p:cNvPr>
          <p:cNvSpPr/>
          <p:nvPr/>
        </p:nvSpPr>
        <p:spPr>
          <a:xfrm>
            <a:off x="547297" y="291411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A2C / A3C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152C766A-5AD8-FB4D-9B63-93A31BAA6E8E}"/>
              </a:ext>
            </a:extLst>
          </p:cNvPr>
          <p:cNvSpPr/>
          <p:nvPr/>
        </p:nvSpPr>
        <p:spPr>
          <a:xfrm>
            <a:off x="547297" y="3260880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PPO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CD991E71-A838-5D49-ACE8-E69497F662F4}"/>
              </a:ext>
            </a:extLst>
          </p:cNvPr>
          <p:cNvSpPr/>
          <p:nvPr/>
        </p:nvSpPr>
        <p:spPr>
          <a:xfrm>
            <a:off x="54729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TRPO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F247219A-A6CB-3744-9730-7766985B2E8B}"/>
              </a:ext>
            </a:extLst>
          </p:cNvPr>
          <p:cNvSpPr/>
          <p:nvPr/>
        </p:nvSpPr>
        <p:spPr>
          <a:xfrm>
            <a:off x="547297" y="2543969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DDPG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26CE7CE8-E53F-914A-B91F-A39CAA5B306B}"/>
              </a:ext>
            </a:extLst>
          </p:cNvPr>
          <p:cNvSpPr/>
          <p:nvPr/>
        </p:nvSpPr>
        <p:spPr>
          <a:xfrm>
            <a:off x="1966738" y="311968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TD3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7CA36081-543C-9D46-B5F7-B390ED9ACD31}"/>
              </a:ext>
            </a:extLst>
          </p:cNvPr>
          <p:cNvSpPr/>
          <p:nvPr/>
        </p:nvSpPr>
        <p:spPr>
          <a:xfrm>
            <a:off x="1966738" y="3468493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SAC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D4F35B5B-7159-AD4D-B4A8-147B6E7A311E}"/>
              </a:ext>
            </a:extLst>
          </p:cNvPr>
          <p:cNvSpPr/>
          <p:nvPr/>
        </p:nvSpPr>
        <p:spPr>
          <a:xfrm>
            <a:off x="3264137" y="2569068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DQN</a:t>
            </a: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87A9BB0D-89C5-5744-AC9F-3DDD6F10096F}"/>
              </a:ext>
            </a:extLst>
          </p:cNvPr>
          <p:cNvSpPr/>
          <p:nvPr/>
        </p:nvSpPr>
        <p:spPr>
          <a:xfrm>
            <a:off x="3264137" y="2914463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C51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DB6F9911-FE1A-6943-9379-56F7C463169F}"/>
              </a:ext>
            </a:extLst>
          </p:cNvPr>
          <p:cNvSpPr/>
          <p:nvPr/>
        </p:nvSpPr>
        <p:spPr>
          <a:xfrm>
            <a:off x="3264137" y="3267445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QR-DQN</a:t>
            </a: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71F9E737-35EA-A749-A181-C6027FDC30F1}"/>
              </a:ext>
            </a:extLst>
          </p:cNvPr>
          <p:cNvSpPr/>
          <p:nvPr/>
        </p:nvSpPr>
        <p:spPr>
          <a:xfrm>
            <a:off x="3264137" y="3610354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HER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06D0CAAB-142B-AA43-9ADA-3673608C55C5}"/>
              </a:ext>
            </a:extLst>
          </p:cNvPr>
          <p:cNvCxnSpPr>
            <a:cxnSpLocks/>
            <a:stCxn id="13" idx="2"/>
            <a:endCxn id="39" idx="3"/>
          </p:cNvCxnSpPr>
          <p:nvPr/>
        </p:nvCxnSpPr>
        <p:spPr>
          <a:xfrm rot="5400000">
            <a:off x="1351540" y="2299931"/>
            <a:ext cx="491593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Elbow Connector 48">
            <a:extLst>
              <a:ext uri="{FF2B5EF4-FFF2-40B4-BE49-F238E27FC236}">
                <a16:creationId xmlns:a16="http://schemas.microsoft.com/office/drawing/2014/main" id="{A6A1883F-97C0-8E42-B68C-4D8A3E690044}"/>
              </a:ext>
            </a:extLst>
          </p:cNvPr>
          <p:cNvCxnSpPr>
            <a:cxnSpLocks/>
            <a:stCxn id="13" idx="2"/>
            <a:endCxn id="36" idx="3"/>
          </p:cNvCxnSpPr>
          <p:nvPr/>
        </p:nvCxnSpPr>
        <p:spPr>
          <a:xfrm rot="5400000">
            <a:off x="1166469" y="2485002"/>
            <a:ext cx="86173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Elbow Connector 51">
            <a:extLst>
              <a:ext uri="{FF2B5EF4-FFF2-40B4-BE49-F238E27FC236}">
                <a16:creationId xmlns:a16="http://schemas.microsoft.com/office/drawing/2014/main" id="{61ADBE9E-8E72-E643-90AD-D36F51ECA0E9}"/>
              </a:ext>
            </a:extLst>
          </p:cNvPr>
          <p:cNvCxnSpPr>
            <a:cxnSpLocks/>
            <a:stCxn id="13" idx="2"/>
            <a:endCxn id="37" idx="3"/>
          </p:cNvCxnSpPr>
          <p:nvPr/>
        </p:nvCxnSpPr>
        <p:spPr>
          <a:xfrm rot="5400000">
            <a:off x="993084" y="2658387"/>
            <a:ext cx="1208504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Elbow Connector 55">
            <a:extLst>
              <a:ext uri="{FF2B5EF4-FFF2-40B4-BE49-F238E27FC236}">
                <a16:creationId xmlns:a16="http://schemas.microsoft.com/office/drawing/2014/main" id="{1C4CD73A-5DEA-9A44-A23D-425D3C792981}"/>
              </a:ext>
            </a:extLst>
          </p:cNvPr>
          <p:cNvCxnSpPr>
            <a:cxnSpLocks/>
            <a:stCxn id="13" idx="2"/>
            <a:endCxn id="38" idx="3"/>
          </p:cNvCxnSpPr>
          <p:nvPr/>
        </p:nvCxnSpPr>
        <p:spPr>
          <a:xfrm rot="5400000">
            <a:off x="818347" y="2833124"/>
            <a:ext cx="1557978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78EA0B56-8CD3-8A43-8E4D-1B73B5ADD86E}"/>
              </a:ext>
            </a:extLst>
          </p:cNvPr>
          <p:cNvSpPr/>
          <p:nvPr/>
        </p:nvSpPr>
        <p:spPr>
          <a:xfrm>
            <a:off x="5023201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World Models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0B021F0-1C53-454E-B7F2-400671DE037D}"/>
              </a:ext>
            </a:extLst>
          </p:cNvPr>
          <p:cNvSpPr/>
          <p:nvPr/>
        </p:nvSpPr>
        <p:spPr>
          <a:xfrm>
            <a:off x="5023201" y="29079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I2A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5E539C7B-77B2-514D-8EE8-DACC1367D040}"/>
              </a:ext>
            </a:extLst>
          </p:cNvPr>
          <p:cNvSpPr/>
          <p:nvPr/>
        </p:nvSpPr>
        <p:spPr>
          <a:xfrm>
            <a:off x="5023201" y="3260898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MBMF</a:t>
            </a: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24D89253-0737-1B41-8BE9-C055A1FB2521}"/>
              </a:ext>
            </a:extLst>
          </p:cNvPr>
          <p:cNvSpPr/>
          <p:nvPr/>
        </p:nvSpPr>
        <p:spPr>
          <a:xfrm>
            <a:off x="5023201" y="360380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MBVE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C333A2A8-E82E-A442-AE62-1DC94F2F7E23}"/>
              </a:ext>
            </a:extLst>
          </p:cNvPr>
          <p:cNvSpPr/>
          <p:nvPr/>
        </p:nvSpPr>
        <p:spPr>
          <a:xfrm>
            <a:off x="5023201" y="3946716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AlphaZero</a:t>
            </a:r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33849C13-F259-064B-B81E-295633ACDDAB}"/>
              </a:ext>
            </a:extLst>
          </p:cNvPr>
          <p:cNvSpPr/>
          <p:nvPr/>
        </p:nvSpPr>
        <p:spPr>
          <a:xfrm>
            <a:off x="7478109" y="2562521"/>
            <a:ext cx="909936" cy="28372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DP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F2183135-8593-214F-AE8A-D685C1294183}"/>
              </a:ext>
            </a:extLst>
          </p:cNvPr>
          <p:cNvSpPr/>
          <p:nvPr/>
        </p:nvSpPr>
        <p:spPr>
          <a:xfrm>
            <a:off x="7478109" y="29079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LQR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069916BB-614D-7444-9740-3673C511EE40}"/>
              </a:ext>
            </a:extLst>
          </p:cNvPr>
          <p:cNvSpPr/>
          <p:nvPr/>
        </p:nvSpPr>
        <p:spPr>
          <a:xfrm>
            <a:off x="7478109" y="3260898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MPC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994D8146-1C40-0349-9294-E0624C4BEF02}"/>
              </a:ext>
            </a:extLst>
          </p:cNvPr>
          <p:cNvSpPr/>
          <p:nvPr/>
        </p:nvSpPr>
        <p:spPr>
          <a:xfrm>
            <a:off x="7478109" y="360380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MCTS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08A0C1BB-EBA9-0748-AEBE-FEB5BBDC159E}"/>
              </a:ext>
            </a:extLst>
          </p:cNvPr>
          <p:cNvSpPr/>
          <p:nvPr/>
        </p:nvSpPr>
        <p:spPr>
          <a:xfrm>
            <a:off x="7478109" y="3956367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TR" sz="800" dirty="0">
                <a:solidFill>
                  <a:schemeClr val="tx1"/>
                </a:solidFill>
              </a:rPr>
              <a:t>BOMB</a:t>
            </a: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CAB5BB0F-9229-BA42-A4B4-42F9904EEA29}"/>
              </a:ext>
            </a:extLst>
          </p:cNvPr>
          <p:cNvSpPr/>
          <p:nvPr/>
        </p:nvSpPr>
        <p:spPr>
          <a:xfrm>
            <a:off x="5023201" y="4289625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CEPO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84" name="Elbow Connector 83">
            <a:extLst>
              <a:ext uri="{FF2B5EF4-FFF2-40B4-BE49-F238E27FC236}">
                <a16:creationId xmlns:a16="http://schemas.microsoft.com/office/drawing/2014/main" id="{0437038C-EAEA-1B4D-9A94-56932C245774}"/>
              </a:ext>
            </a:extLst>
          </p:cNvPr>
          <p:cNvCxnSpPr>
            <a:stCxn id="21" idx="2"/>
            <a:endCxn id="58" idx="3"/>
          </p:cNvCxnSpPr>
          <p:nvPr/>
        </p:nvCxnSpPr>
        <p:spPr>
          <a:xfrm rot="5400000">
            <a:off x="5757985" y="2369390"/>
            <a:ext cx="510145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Elbow Connector 85">
            <a:extLst>
              <a:ext uri="{FF2B5EF4-FFF2-40B4-BE49-F238E27FC236}">
                <a16:creationId xmlns:a16="http://schemas.microsoft.com/office/drawing/2014/main" id="{ADD641D8-DBDB-D240-A539-4320862A5E00}"/>
              </a:ext>
            </a:extLst>
          </p:cNvPr>
          <p:cNvCxnSpPr>
            <a:stCxn id="21" idx="2"/>
            <a:endCxn id="59" idx="3"/>
          </p:cNvCxnSpPr>
          <p:nvPr/>
        </p:nvCxnSpPr>
        <p:spPr>
          <a:xfrm rot="5400000">
            <a:off x="5585287" y="2542088"/>
            <a:ext cx="8555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Elbow Connector 87">
            <a:extLst>
              <a:ext uri="{FF2B5EF4-FFF2-40B4-BE49-F238E27FC236}">
                <a16:creationId xmlns:a16="http://schemas.microsoft.com/office/drawing/2014/main" id="{9AB7F081-AC94-8245-8273-F800A7968C86}"/>
              </a:ext>
            </a:extLst>
          </p:cNvPr>
          <p:cNvCxnSpPr>
            <a:stCxn id="21" idx="2"/>
            <a:endCxn id="60" idx="3"/>
          </p:cNvCxnSpPr>
          <p:nvPr/>
        </p:nvCxnSpPr>
        <p:spPr>
          <a:xfrm rot="5400000">
            <a:off x="5408796" y="2718579"/>
            <a:ext cx="1208522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E216C1AC-B4A7-2146-A502-3205AE3858AE}"/>
              </a:ext>
            </a:extLst>
          </p:cNvPr>
          <p:cNvCxnSpPr>
            <a:stCxn id="21" idx="2"/>
            <a:endCxn id="61" idx="3"/>
          </p:cNvCxnSpPr>
          <p:nvPr/>
        </p:nvCxnSpPr>
        <p:spPr>
          <a:xfrm rot="5400000">
            <a:off x="5237342" y="2890033"/>
            <a:ext cx="1551431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Elbow Connector 91">
            <a:extLst>
              <a:ext uri="{FF2B5EF4-FFF2-40B4-BE49-F238E27FC236}">
                <a16:creationId xmlns:a16="http://schemas.microsoft.com/office/drawing/2014/main" id="{4B049A20-52AE-D947-A284-B3A9802CDEC7}"/>
              </a:ext>
            </a:extLst>
          </p:cNvPr>
          <p:cNvCxnSpPr>
            <a:stCxn id="21" idx="2"/>
            <a:endCxn id="62" idx="3"/>
          </p:cNvCxnSpPr>
          <p:nvPr/>
        </p:nvCxnSpPr>
        <p:spPr>
          <a:xfrm rot="5400000">
            <a:off x="5065887" y="3061488"/>
            <a:ext cx="1894340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Elbow Connector 93">
            <a:extLst>
              <a:ext uri="{FF2B5EF4-FFF2-40B4-BE49-F238E27FC236}">
                <a16:creationId xmlns:a16="http://schemas.microsoft.com/office/drawing/2014/main" id="{21957C7C-B107-6645-921D-265BD4C355FD}"/>
              </a:ext>
            </a:extLst>
          </p:cNvPr>
          <p:cNvCxnSpPr>
            <a:stCxn id="21" idx="2"/>
            <a:endCxn id="82" idx="3"/>
          </p:cNvCxnSpPr>
          <p:nvPr/>
        </p:nvCxnSpPr>
        <p:spPr>
          <a:xfrm rot="5400000">
            <a:off x="4894433" y="3232942"/>
            <a:ext cx="2237249" cy="1598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36D87B16-6B00-EF47-8335-9772CBB41760}"/>
              </a:ext>
            </a:extLst>
          </p:cNvPr>
          <p:cNvCxnSpPr>
            <a:stCxn id="13" idx="2"/>
            <a:endCxn id="40" idx="1"/>
          </p:cNvCxnSpPr>
          <p:nvPr/>
        </p:nvCxnSpPr>
        <p:spPr>
          <a:xfrm rot="16200000" flipH="1">
            <a:off x="1318434" y="2613241"/>
            <a:ext cx="1067308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53FEC617-80D5-BB43-A533-560D272D8A96}"/>
              </a:ext>
            </a:extLst>
          </p:cNvPr>
          <p:cNvCxnSpPr>
            <a:stCxn id="13" idx="2"/>
            <a:endCxn id="41" idx="1"/>
          </p:cNvCxnSpPr>
          <p:nvPr/>
        </p:nvCxnSpPr>
        <p:spPr>
          <a:xfrm rot="16200000" flipH="1">
            <a:off x="1144030" y="2787645"/>
            <a:ext cx="1416117" cy="229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Elbow Connector 101">
            <a:extLst>
              <a:ext uri="{FF2B5EF4-FFF2-40B4-BE49-F238E27FC236}">
                <a16:creationId xmlns:a16="http://schemas.microsoft.com/office/drawing/2014/main" id="{DB068682-EC9B-1240-808B-8A639F70CFE7}"/>
              </a:ext>
            </a:extLst>
          </p:cNvPr>
          <p:cNvCxnSpPr>
            <a:stCxn id="14" idx="2"/>
            <a:endCxn id="42" idx="1"/>
          </p:cNvCxnSpPr>
          <p:nvPr/>
        </p:nvCxnSpPr>
        <p:spPr>
          <a:xfrm rot="16200000" flipH="1">
            <a:off x="2861573" y="2308365"/>
            <a:ext cx="516692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4C7A7035-07BA-6E4F-84D4-C9E5321AB50F}"/>
              </a:ext>
            </a:extLst>
          </p:cNvPr>
          <p:cNvCxnSpPr>
            <a:stCxn id="14" idx="2"/>
            <a:endCxn id="43" idx="1"/>
          </p:cNvCxnSpPr>
          <p:nvPr/>
        </p:nvCxnSpPr>
        <p:spPr>
          <a:xfrm rot="16200000" flipH="1">
            <a:off x="2688876" y="2481062"/>
            <a:ext cx="862087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Elbow Connector 105">
            <a:extLst>
              <a:ext uri="{FF2B5EF4-FFF2-40B4-BE49-F238E27FC236}">
                <a16:creationId xmlns:a16="http://schemas.microsoft.com/office/drawing/2014/main" id="{FAB7955E-6C36-C845-B987-C3FEAFE1E1A9}"/>
              </a:ext>
            </a:extLst>
          </p:cNvPr>
          <p:cNvCxnSpPr>
            <a:stCxn id="14" idx="2"/>
            <a:endCxn id="44" idx="1"/>
          </p:cNvCxnSpPr>
          <p:nvPr/>
        </p:nvCxnSpPr>
        <p:spPr>
          <a:xfrm rot="16200000" flipH="1">
            <a:off x="2512385" y="2657553"/>
            <a:ext cx="1215069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Elbow Connector 107">
            <a:extLst>
              <a:ext uri="{FF2B5EF4-FFF2-40B4-BE49-F238E27FC236}">
                <a16:creationId xmlns:a16="http://schemas.microsoft.com/office/drawing/2014/main" id="{77EDEF00-1D52-C447-B334-0C89BEA91237}"/>
              </a:ext>
            </a:extLst>
          </p:cNvPr>
          <p:cNvCxnSpPr>
            <a:stCxn id="14" idx="2"/>
            <a:endCxn id="45" idx="1"/>
          </p:cNvCxnSpPr>
          <p:nvPr/>
        </p:nvCxnSpPr>
        <p:spPr>
          <a:xfrm rot="16200000" flipH="1">
            <a:off x="2340930" y="2829008"/>
            <a:ext cx="1557978" cy="28843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Elbow Connector 109">
            <a:extLst>
              <a:ext uri="{FF2B5EF4-FFF2-40B4-BE49-F238E27FC236}">
                <a16:creationId xmlns:a16="http://schemas.microsoft.com/office/drawing/2014/main" id="{805A84CF-D2C2-DA4E-8958-F1EFB103700A}"/>
              </a:ext>
            </a:extLst>
          </p:cNvPr>
          <p:cNvCxnSpPr>
            <a:stCxn id="22" idx="2"/>
            <a:endCxn id="76" idx="1"/>
          </p:cNvCxnSpPr>
          <p:nvPr/>
        </p:nvCxnSpPr>
        <p:spPr>
          <a:xfrm rot="16200000" flipH="1">
            <a:off x="7149741" y="2376013"/>
            <a:ext cx="510145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Elbow Connector 111">
            <a:extLst>
              <a:ext uri="{FF2B5EF4-FFF2-40B4-BE49-F238E27FC236}">
                <a16:creationId xmlns:a16="http://schemas.microsoft.com/office/drawing/2014/main" id="{EBA6ED20-DAF5-0F4C-81BD-AD396B65F3DB}"/>
              </a:ext>
            </a:extLst>
          </p:cNvPr>
          <p:cNvCxnSpPr>
            <a:stCxn id="22" idx="2"/>
            <a:endCxn id="77" idx="1"/>
          </p:cNvCxnSpPr>
          <p:nvPr/>
        </p:nvCxnSpPr>
        <p:spPr>
          <a:xfrm rot="16200000" flipH="1">
            <a:off x="6977043" y="2548711"/>
            <a:ext cx="855540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A5E02B76-CA79-934E-88A2-904B105FAE21}"/>
              </a:ext>
            </a:extLst>
          </p:cNvPr>
          <p:cNvCxnSpPr>
            <a:stCxn id="22" idx="2"/>
            <a:endCxn id="78" idx="1"/>
          </p:cNvCxnSpPr>
          <p:nvPr/>
        </p:nvCxnSpPr>
        <p:spPr>
          <a:xfrm rot="16200000" flipH="1">
            <a:off x="6800552" y="2725202"/>
            <a:ext cx="1208522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Elbow Connector 115">
            <a:extLst>
              <a:ext uri="{FF2B5EF4-FFF2-40B4-BE49-F238E27FC236}">
                <a16:creationId xmlns:a16="http://schemas.microsoft.com/office/drawing/2014/main" id="{8B21BCF5-DBEE-5140-A62B-E70BF9A5514A}"/>
              </a:ext>
            </a:extLst>
          </p:cNvPr>
          <p:cNvCxnSpPr>
            <a:stCxn id="22" idx="2"/>
            <a:endCxn id="79" idx="1"/>
          </p:cNvCxnSpPr>
          <p:nvPr/>
        </p:nvCxnSpPr>
        <p:spPr>
          <a:xfrm rot="16200000" flipH="1">
            <a:off x="6629098" y="2896656"/>
            <a:ext cx="155143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07CA63F-0703-C941-BA41-7C2D54DA9204}"/>
              </a:ext>
            </a:extLst>
          </p:cNvPr>
          <p:cNvCxnSpPr>
            <a:stCxn id="22" idx="2"/>
            <a:endCxn id="81" idx="1"/>
          </p:cNvCxnSpPr>
          <p:nvPr/>
        </p:nvCxnSpPr>
        <p:spPr>
          <a:xfrm rot="16200000" flipH="1">
            <a:off x="6452818" y="3072936"/>
            <a:ext cx="1903991" cy="1465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Rounded Rectangle 120">
            <a:extLst>
              <a:ext uri="{FF2B5EF4-FFF2-40B4-BE49-F238E27FC236}">
                <a16:creationId xmlns:a16="http://schemas.microsoft.com/office/drawing/2014/main" id="{58561D39-0AD1-4D42-8E0D-409789498946}"/>
              </a:ext>
            </a:extLst>
          </p:cNvPr>
          <p:cNvSpPr/>
          <p:nvPr/>
        </p:nvSpPr>
        <p:spPr>
          <a:xfrm>
            <a:off x="547297" y="3946716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CMA-ES</a:t>
            </a:r>
            <a:endParaRPr lang="en-TR" sz="800" dirty="0">
              <a:solidFill>
                <a:schemeClr val="tx1"/>
              </a:solidFill>
            </a:endParaRPr>
          </a:p>
        </p:txBody>
      </p:sp>
      <p:sp>
        <p:nvSpPr>
          <p:cNvPr id="122" name="Rounded Rectangle 121">
            <a:extLst>
              <a:ext uri="{FF2B5EF4-FFF2-40B4-BE49-F238E27FC236}">
                <a16:creationId xmlns:a16="http://schemas.microsoft.com/office/drawing/2014/main" id="{1277E37A-6238-FB47-8AED-03256CD4A946}"/>
              </a:ext>
            </a:extLst>
          </p:cNvPr>
          <p:cNvSpPr/>
          <p:nvPr/>
        </p:nvSpPr>
        <p:spPr>
          <a:xfrm>
            <a:off x="1954463" y="3817302"/>
            <a:ext cx="909936" cy="283722"/>
          </a:xfrm>
          <a:prstGeom prst="roundRect">
            <a:avLst/>
          </a:prstGeom>
          <a:solidFill>
            <a:schemeClr val="bg1">
              <a:lumMod val="95000"/>
              <a:alpha val="50000"/>
            </a:schemeClr>
          </a:solidFill>
          <a:ln>
            <a:solidFill>
              <a:schemeClr val="bg1">
                <a:lumMod val="75000"/>
                <a:alpha val="49936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ACKTR</a:t>
            </a:r>
            <a:endParaRPr lang="en-TR" sz="800" dirty="0">
              <a:solidFill>
                <a:schemeClr val="tx1"/>
              </a:solidFill>
            </a:endParaRPr>
          </a:p>
        </p:txBody>
      </p:sp>
      <p:cxnSp>
        <p:nvCxnSpPr>
          <p:cNvPr id="124" name="Elbow Connector 123">
            <a:extLst>
              <a:ext uri="{FF2B5EF4-FFF2-40B4-BE49-F238E27FC236}">
                <a16:creationId xmlns:a16="http://schemas.microsoft.com/office/drawing/2014/main" id="{BF24DBD3-1262-F443-AC37-CAE0FC96FBC9}"/>
              </a:ext>
            </a:extLst>
          </p:cNvPr>
          <p:cNvCxnSpPr>
            <a:stCxn id="13" idx="2"/>
            <a:endCxn id="121" idx="3"/>
          </p:cNvCxnSpPr>
          <p:nvPr/>
        </p:nvCxnSpPr>
        <p:spPr>
          <a:xfrm rot="5400000">
            <a:off x="650166" y="3001305"/>
            <a:ext cx="1894340" cy="28020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Elbow Connector 125">
            <a:extLst>
              <a:ext uri="{FF2B5EF4-FFF2-40B4-BE49-F238E27FC236}">
                <a16:creationId xmlns:a16="http://schemas.microsoft.com/office/drawing/2014/main" id="{FA2D3BA2-0FEB-2843-996E-8D051A0ECC19}"/>
              </a:ext>
            </a:extLst>
          </p:cNvPr>
          <p:cNvCxnSpPr>
            <a:stCxn id="13" idx="2"/>
            <a:endCxn id="122" idx="1"/>
          </p:cNvCxnSpPr>
          <p:nvPr/>
        </p:nvCxnSpPr>
        <p:spPr>
          <a:xfrm rot="16200000" flipH="1">
            <a:off x="963487" y="2968187"/>
            <a:ext cx="1764926" cy="2170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00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76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800" dirty="0"/>
              <a:t>Фреймворки </a:t>
            </a:r>
            <a:r>
              <a:rPr lang="ru-RU" sz="4800" dirty="0" err="1"/>
              <a:t>R</a:t>
            </a:r>
            <a:r>
              <a:rPr lang="en-US" sz="4800" dirty="0"/>
              <a:t>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9746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en-US" dirty="0"/>
              <a:t>Gymnasium</a:t>
            </a:r>
            <a:endParaRPr lang="en-TR" dirty="0"/>
          </a:p>
        </p:txBody>
      </p:sp>
      <p:pic>
        <p:nvPicPr>
          <p:cNvPr id="2" name="Picture 2" descr="Gymnasium Logo">
            <a:extLst>
              <a:ext uri="{FF2B5EF4-FFF2-40B4-BE49-F238E27FC236}">
                <a16:creationId xmlns:a16="http://schemas.microsoft.com/office/drawing/2014/main" id="{378BBBC9-FCDF-C14D-BD56-5E4988E652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733" y="99654"/>
            <a:ext cx="4395923" cy="1172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oogle AI, DeepMind And The University of Toronto Introduce DreamerV2, The  First Reinforcement Learning (RL) Agent That Outperforms Humans on The Atari  Benchmark - MarkTechPost">
            <a:extLst>
              <a:ext uri="{FF2B5EF4-FFF2-40B4-BE49-F238E27FC236}">
                <a16:creationId xmlns:a16="http://schemas.microsoft.com/office/drawing/2014/main" id="{F5A57E83-669F-D84E-8965-6B3D3F7092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40"/>
          <a:stretch/>
        </p:blipFill>
        <p:spPr bwMode="auto">
          <a:xfrm>
            <a:off x="5245994" y="1085940"/>
            <a:ext cx="3819409" cy="3726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B943816-3BD4-EF47-A1A6-98A2B16FF498}"/>
              </a:ext>
            </a:extLst>
          </p:cNvPr>
          <p:cNvSpPr txBox="1"/>
          <p:nvPr/>
        </p:nvSpPr>
        <p:spPr>
          <a:xfrm>
            <a:off x="455054" y="1197735"/>
            <a:ext cx="4480714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ru-RU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ustomEnv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gym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Env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en-US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П</a:t>
            </a:r>
            <a:r>
              <a:rPr lang="ru-RU" b="0" dirty="0" err="1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ространство</a:t>
            </a:r>
            <a:r>
              <a:rPr lang="ru-RU" b="0" dirty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 состояний и действий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observation_space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Discrete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 err="1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-US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action_space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Discrete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endParaRPr lang="ru-RU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reset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seed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Optional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</a:p>
          <a:p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options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Optional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 err="1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dict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Any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]] </a:t>
            </a:r>
            <a:r>
              <a:rPr lang="en-US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endParaRPr lang="en-US" b="0" dirty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b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r>
              <a:rPr lang="en-US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b="0" dirty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step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action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-US" b="0" dirty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b="0" dirty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084268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en-US" dirty="0"/>
              <a:t>StableBaseline3</a:t>
            </a:r>
            <a:endParaRPr lang="en-TR" dirty="0"/>
          </a:p>
        </p:txBody>
      </p:sp>
      <p:pic>
        <p:nvPicPr>
          <p:cNvPr id="2050" name="Picture 2" descr="Stable-Baselines3 Docs - Reliable Reinforcement Learning Implementations — Stable  Baselines3 2.7.1a3 documentation">
            <a:extLst>
              <a:ext uri="{FF2B5EF4-FFF2-40B4-BE49-F238E27FC236}">
                <a16:creationId xmlns:a16="http://schemas.microsoft.com/office/drawing/2014/main" id="{BE1AF970-C964-8449-8B61-D074432370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6545" y="0"/>
            <a:ext cx="2177455" cy="1898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7FD99D1-C6B8-B741-ACA4-FBBB0875D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75" y="1310536"/>
            <a:ext cx="2159000" cy="3441700"/>
          </a:xfrm>
          <a:prstGeom prst="rect">
            <a:avLst/>
          </a:prstGeom>
        </p:spPr>
      </p:pic>
      <p:pic>
        <p:nvPicPr>
          <p:cNvPr id="2052" name="Picture 4" descr="stable-baselines3 · GitHub Topics · GitHub">
            <a:extLst>
              <a:ext uri="{FF2B5EF4-FFF2-40B4-BE49-F238E27FC236}">
                <a16:creationId xmlns:a16="http://schemas.microsoft.com/office/drawing/2014/main" id="{BEC60875-3D8A-2F4C-98AD-A3F777C56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980" y="2763053"/>
            <a:ext cx="5597309" cy="19891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able-Baselines3: Reliable Reinforcement Learning Implementations |  Antonin Raffin | Homepage">
            <a:extLst>
              <a:ext uri="{FF2B5EF4-FFF2-40B4-BE49-F238E27FC236}">
                <a16:creationId xmlns:a16="http://schemas.microsoft.com/office/drawing/2014/main" id="{6BA0DA55-42DC-734A-B4F0-5946A02783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2768" y="741405"/>
            <a:ext cx="2734514" cy="1989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05548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en-US" dirty="0"/>
              <a:t>Ray </a:t>
            </a:r>
            <a:r>
              <a:rPr lang="en-US" dirty="0" err="1"/>
              <a:t>RLlib</a:t>
            </a:r>
            <a:endParaRPr lang="en-TR" dirty="0"/>
          </a:p>
        </p:txBody>
      </p:sp>
      <p:pic>
        <p:nvPicPr>
          <p:cNvPr id="3074" name="Picture 2" descr="Agents - Ray">
            <a:extLst>
              <a:ext uri="{FF2B5EF4-FFF2-40B4-BE49-F238E27FC236}">
                <a16:creationId xmlns:a16="http://schemas.microsoft.com/office/drawing/2014/main" id="{C6FFE94A-D111-6446-B863-BCB865910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3583" y="1"/>
            <a:ext cx="1940417" cy="97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Ray RLlib ML Library for Reinforcement Learning">
            <a:extLst>
              <a:ext uri="{FF2B5EF4-FFF2-40B4-BE49-F238E27FC236}">
                <a16:creationId xmlns:a16="http://schemas.microsoft.com/office/drawing/2014/main" id="{F58A4607-CC0E-F046-8D1B-2962D75654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96" r="23892"/>
          <a:stretch/>
        </p:blipFill>
        <p:spPr bwMode="auto">
          <a:xfrm>
            <a:off x="500550" y="1641271"/>
            <a:ext cx="2790422" cy="2919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Understanding the Ray ecosystem and community - Gradient Flow">
            <a:extLst>
              <a:ext uri="{FF2B5EF4-FFF2-40B4-BE49-F238E27FC236}">
                <a16:creationId xmlns:a16="http://schemas.microsoft.com/office/drawing/2014/main" id="{170E04A6-6BBE-D04E-9E3A-BDCD921CAC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41271"/>
            <a:ext cx="3873589" cy="2724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5682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en-US" dirty="0" err="1"/>
              <a:t>FinRL</a:t>
            </a:r>
            <a:endParaRPr lang="en-TR" dirty="0"/>
          </a:p>
        </p:txBody>
      </p:sp>
      <p:pic>
        <p:nvPicPr>
          <p:cNvPr id="4098" name="Picture 2" descr="Welcome to FinRL Library! — FinRL 0.3.1 documentation">
            <a:extLst>
              <a:ext uri="{FF2B5EF4-FFF2-40B4-BE49-F238E27FC236}">
                <a16:creationId xmlns:a16="http://schemas.microsoft.com/office/drawing/2014/main" id="{CC64BAE6-487D-754D-BABE-8964B365F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2845" y="141668"/>
            <a:ext cx="1938821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GitHub - AI4Finance-Foundation/FinRL_Crypto: FinRL_Crypto: Cryptocurrency  trading of FinRL">
            <a:extLst>
              <a:ext uri="{FF2B5EF4-FFF2-40B4-BE49-F238E27FC236}">
                <a16:creationId xmlns:a16="http://schemas.microsoft.com/office/drawing/2014/main" id="{B4F58766-3522-1348-8CBF-5DAEB4394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9880" y="218295"/>
            <a:ext cx="1634803" cy="674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FinRL: Deep Reinforcement Learning Framework to Automate Trading in  Quantitative Finance">
            <a:extLst>
              <a:ext uri="{FF2B5EF4-FFF2-40B4-BE49-F238E27FC236}">
                <a16:creationId xmlns:a16="http://schemas.microsoft.com/office/drawing/2014/main" id="{647690D4-E9A0-864F-A8E9-833C3C2100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68"/>
          <a:stretch/>
        </p:blipFill>
        <p:spPr bwMode="auto">
          <a:xfrm>
            <a:off x="413555" y="1620453"/>
            <a:ext cx="6510986" cy="300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37255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en-US" dirty="0" err="1"/>
              <a:t>ElegantRL</a:t>
            </a:r>
            <a:endParaRPr lang="en-TR" dirty="0"/>
          </a:p>
        </p:txBody>
      </p:sp>
      <p:pic>
        <p:nvPicPr>
          <p:cNvPr id="5122" name="Picture 2" descr="2. DRL Agents — FinRL 0.3.1 documentation">
            <a:extLst>
              <a:ext uri="{FF2B5EF4-FFF2-40B4-BE49-F238E27FC236}">
                <a16:creationId xmlns:a16="http://schemas.microsoft.com/office/drawing/2014/main" id="{C98EB340-A224-A847-B15F-53B406A57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4079" y="0"/>
            <a:ext cx="1806991" cy="1511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ElegantRL-Podracer: Scalable and Elastic Library for Cloud-Native Deep  Reinforcement Learning | Towards Data Science">
            <a:extLst>
              <a:ext uri="{FF2B5EF4-FFF2-40B4-BE49-F238E27FC236}">
                <a16:creationId xmlns:a16="http://schemas.microsoft.com/office/drawing/2014/main" id="{FCC9374C-4E4B-4D4D-9935-5E7C0C9D7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92" y="1357937"/>
            <a:ext cx="6778580" cy="3504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415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4762168F-93FC-0747-84F2-2E718F358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</p:spPr>
        <p:txBody>
          <a:bodyPr/>
          <a:lstStyle/>
          <a:p>
            <a:r>
              <a:rPr lang="en-US" dirty="0"/>
              <a:t>AI4Finance</a:t>
            </a:r>
            <a:endParaRPr lang="en-TR" dirty="0"/>
          </a:p>
        </p:txBody>
      </p:sp>
      <p:pic>
        <p:nvPicPr>
          <p:cNvPr id="7172" name="Picture 4" descr="GitHub - AI4Finance-Foundation/FinGPT: FinGPT: Open-Source Financial Large  Language Models! Revolutionize 🔥 We release the trained model on  HuggingFace.">
            <a:extLst>
              <a:ext uri="{FF2B5EF4-FFF2-40B4-BE49-F238E27FC236}">
                <a16:creationId xmlns:a16="http://schemas.microsoft.com/office/drawing/2014/main" id="{D11E73BA-3E37-A54D-8A69-65B03BB447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4192" y="1"/>
            <a:ext cx="1579808" cy="1579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867721-1300-044C-A4A4-F08A96F470EB}"/>
              </a:ext>
            </a:extLst>
          </p:cNvPr>
          <p:cNvSpPr txBox="1"/>
          <p:nvPr/>
        </p:nvSpPr>
        <p:spPr>
          <a:xfrm>
            <a:off x="613893" y="1107583"/>
            <a:ext cx="4927952" cy="37764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42 production repo</a:t>
            </a:r>
          </a:p>
          <a:p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FinRL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FinRL</a:t>
            </a:r>
            <a:r>
              <a:rPr lang="en-US" dirty="0"/>
              <a:t>-Trading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FinRL</a:t>
            </a:r>
            <a:r>
              <a:rPr lang="en-US" dirty="0"/>
              <a:t>-Crypto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FinGPT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FinRobot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ElegantRL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FinRAG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/>
              <a:t>FinNLP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https://github.com/orgs/AI4Finance-Foundation/repositories</a:t>
            </a:r>
            <a:r>
              <a:rPr lang="en-US" dirty="0"/>
              <a:t> </a:t>
            </a:r>
          </a:p>
        </p:txBody>
      </p:sp>
      <p:pic>
        <p:nvPicPr>
          <p:cNvPr id="7174" name="Picture 6" descr="AI for Finance Summit 2024">
            <a:extLst>
              <a:ext uri="{FF2B5EF4-FFF2-40B4-BE49-F238E27FC236}">
                <a16:creationId xmlns:a16="http://schemas.microsoft.com/office/drawing/2014/main" id="{61E3C6B1-7A46-5843-9B3E-11EA97A21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215" y="1723286"/>
            <a:ext cx="4871816" cy="2748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9042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68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Практика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8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Практическая реализация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466" name="Google Shape;466;p86"/>
          <p:cNvGraphicFramePr/>
          <p:nvPr>
            <p:extLst>
              <p:ext uri="{D42A27DB-BD31-4B8C-83A1-F6EECF244321}">
                <p14:modId xmlns:p14="http://schemas.microsoft.com/office/powerpoint/2010/main" val="4265786378"/>
              </p:ext>
            </p:extLst>
          </p:nvPr>
        </p:nvGraphicFramePr>
        <p:xfrm>
          <a:off x="952500" y="1544194"/>
          <a:ext cx="7239000" cy="1047912"/>
        </p:xfrm>
        <a:graphic>
          <a:graphicData uri="http://schemas.openxmlformats.org/drawingml/2006/table">
            <a:tbl>
              <a:tblPr>
                <a:noFill/>
                <a:tableStyleId>{9F59E00E-254B-42B5-9FED-D0DB1D54CBD8}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Д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ля окружения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G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ymnasium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CartPole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о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бучить агента по схеме </a:t>
                      </a: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P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PO</a:t>
                      </a: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S</a:t>
                      </a: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tableBaseline3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300" b="1" dirty="0">
                          <a:solidFill>
                            <a:srgbClr val="FF77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endParaRPr sz="1300" b="1" dirty="0">
                        <a:solidFill>
                          <a:srgbClr val="FF77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Ray </a:t>
                      </a:r>
                      <a:r>
                        <a:rPr lang="en-US" sz="1300" dirty="0" err="1">
                          <a:latin typeface="Roboto"/>
                          <a:ea typeface="Roboto"/>
                          <a:cs typeface="Roboto"/>
                          <a:sym typeface="Roboto"/>
                        </a:rPr>
                        <a:t>RLLib</a:t>
                      </a:r>
                      <a:endParaRPr lang="en-US" sz="1300" dirty="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731132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85"/>
          <p:cNvSpPr txBox="1">
            <a:spLocks noGrp="1"/>
          </p:cNvSpPr>
          <p:nvPr>
            <p:ph type="title"/>
          </p:nvPr>
        </p:nvSpPr>
        <p:spPr>
          <a:xfrm>
            <a:off x="956225" y="11064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/>
              <a:t>Вопросы?</a:t>
            </a:r>
            <a:endParaRPr/>
          </a:p>
        </p:txBody>
      </p:sp>
      <p:pic>
        <p:nvPicPr>
          <p:cNvPr id="457" name="Google Shape;457;p8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2750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85"/>
          <p:cNvSpPr txBox="1"/>
          <p:nvPr/>
        </p:nvSpPr>
        <p:spPr>
          <a:xfrm>
            <a:off x="1750800" y="2887700"/>
            <a:ext cx="1635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Задаем вопросы в чат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59" name="Google Shape;459;p8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5725" y="2962492"/>
            <a:ext cx="496901" cy="4969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85"/>
          <p:cNvSpPr txBox="1"/>
          <p:nvPr/>
        </p:nvSpPr>
        <p:spPr>
          <a:xfrm>
            <a:off x="5119475" y="2892305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3"/>
          <p:cNvSpPr txBox="1">
            <a:spLocks noGrp="1"/>
          </p:cNvSpPr>
          <p:nvPr>
            <p:ph type="title"/>
          </p:nvPr>
        </p:nvSpPr>
        <p:spPr>
          <a:xfrm>
            <a:off x="956225" y="396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Знакомство с командой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/>
              <a:t>и программой курса</a:t>
            </a:r>
            <a:endParaRPr sz="4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Команда курса</a:t>
            </a:r>
            <a:endParaRPr/>
          </a:p>
        </p:txBody>
      </p:sp>
      <p:sp>
        <p:nvSpPr>
          <p:cNvPr id="222" name="Google Shape;222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297874"/>
            <a:ext cx="1991700" cy="3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2"/>
              <a:buFont typeface="Arial"/>
              <a:buNone/>
            </a:pPr>
            <a:r>
              <a:rPr lang="ru" sz="1517" b="1">
                <a:solidFill>
                  <a:srgbClr val="FF9900"/>
                </a:solidFill>
              </a:rPr>
              <a:t>Игорь Стурейко</a:t>
            </a:r>
            <a:endParaRPr sz="1517" b="1">
              <a:solidFill>
                <a:srgbClr val="FF9900"/>
              </a:solidFill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1598325"/>
            <a:ext cx="26451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67"/>
              <a:t>15+ лет опыта в прикладной математике и математическом моделировании НИИгазэкономика ПАО Газпром</a:t>
            </a: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/>
              <a:t>Руководил командой̆, решающей прикладные задачи, вывод готовых моделей в продакшн и поддержку решений у клиента</a:t>
            </a:r>
            <a:endParaRPr sz="867"/>
          </a:p>
        </p:txBody>
      </p:sp>
      <p:sp>
        <p:nvSpPr>
          <p:cNvPr id="224" name="Google Shape;224;p40"/>
          <p:cNvSpPr/>
          <p:nvPr/>
        </p:nvSpPr>
        <p:spPr>
          <a:xfrm>
            <a:off x="614100" y="1195200"/>
            <a:ext cx="520200" cy="3232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5" name="Google Shape;225;p40"/>
          <p:cNvPicPr preferRelativeResize="0"/>
          <p:nvPr/>
        </p:nvPicPr>
        <p:blipFill>
          <a:blip r:embed="rId3"/>
          <a:srcRect t="8685" b="8685"/>
          <a:stretch/>
        </p:blipFill>
        <p:spPr>
          <a:xfrm>
            <a:off x="789925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6" name="Google Shape;226;p40"/>
          <p:cNvSpPr txBox="1">
            <a:spLocks noGrp="1"/>
          </p:cNvSpPr>
          <p:nvPr>
            <p:ph type="subTitle" idx="4294967295"/>
          </p:nvPr>
        </p:nvSpPr>
        <p:spPr>
          <a:xfrm>
            <a:off x="1708980" y="2975011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Анатолий Чудаков</a:t>
            </a:r>
            <a:endParaRPr sz="1517" b="1" dirty="0">
              <a:solidFill>
                <a:srgbClr val="FF9900"/>
              </a:solidFill>
            </a:endParaRPr>
          </a:p>
        </p:txBody>
      </p:sp>
      <p:sp>
        <p:nvSpPr>
          <p:cNvPr id="227" name="Google Shape;227;p40"/>
          <p:cNvSpPr txBox="1">
            <a:spLocks noGrp="1"/>
          </p:cNvSpPr>
          <p:nvPr>
            <p:ph type="subTitle" idx="4294967295"/>
          </p:nvPr>
        </p:nvSpPr>
        <p:spPr>
          <a:xfrm>
            <a:off x="1708975" y="3275450"/>
            <a:ext cx="2554200" cy="115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900" dirty="0" err="1"/>
              <a:t>Teamlead</a:t>
            </a:r>
            <a:r>
              <a:rPr lang="en-US" sz="900" dirty="0"/>
              <a:t> </a:t>
            </a:r>
            <a:r>
              <a:rPr lang="ru-RU" sz="900" dirty="0"/>
              <a:t>в команде кинотеатра </a:t>
            </a:r>
            <a:r>
              <a:rPr lang="en-US" sz="900" dirty="0"/>
              <a:t>Wink.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Промышленный опыт </a:t>
            </a:r>
            <a:r>
              <a:rPr lang="en-US" sz="900" dirty="0"/>
              <a:t>SOTA </a:t>
            </a:r>
            <a:r>
              <a:rPr lang="ru-RU" sz="900" dirty="0"/>
              <a:t>разработки </a:t>
            </a:r>
            <a:r>
              <a:rPr lang="en-US" sz="900" dirty="0"/>
              <a:t>RL </a:t>
            </a:r>
            <a:r>
              <a:rPr lang="ru-RU" sz="900" dirty="0"/>
              <a:t>в рекомендательных системах и </a:t>
            </a:r>
            <a:r>
              <a:rPr lang="en-US" sz="900" dirty="0"/>
              <a:t>uplift </a:t>
            </a:r>
            <a:r>
              <a:rPr lang="ru-RU" sz="900" dirty="0"/>
              <a:t>моделировании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900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900" dirty="0"/>
              <a:t>Образование: Прикладная макроэкономика (СПбГУ) </a:t>
            </a:r>
            <a:r>
              <a:rPr lang="en-US" sz="900" dirty="0" err="1"/>
              <a:t>Otus</a:t>
            </a:r>
            <a:r>
              <a:rPr lang="en-US" sz="900" dirty="0"/>
              <a:t> Certified Educator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 dirty="0"/>
          </a:p>
        </p:txBody>
      </p:sp>
      <p:pic>
        <p:nvPicPr>
          <p:cNvPr id="228" name="Google Shape;228;p40"/>
          <p:cNvPicPr preferRelativeResize="0"/>
          <p:nvPr/>
        </p:nvPicPr>
        <p:blipFill>
          <a:blip r:embed="rId4"/>
          <a:srcRect t="11003" b="11003"/>
          <a:stretch/>
        </p:blipFill>
        <p:spPr>
          <a:xfrm>
            <a:off x="789925" y="3032156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229" name="Google Shape;229;p40"/>
          <p:cNvSpPr txBox="1">
            <a:spLocks noGrp="1"/>
          </p:cNvSpPr>
          <p:nvPr>
            <p:ph type="subTitle" idx="4294967295"/>
          </p:nvPr>
        </p:nvSpPr>
        <p:spPr>
          <a:xfrm>
            <a:off x="5880205" y="1297880"/>
            <a:ext cx="1991700" cy="2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rPr lang="ru" sz="1517" b="1">
                <a:solidFill>
                  <a:srgbClr val="FF9900"/>
                </a:solidFill>
              </a:rPr>
              <a:t>Сергей Доронин</a:t>
            </a:r>
            <a:endParaRPr sz="1517" b="1">
              <a:solidFill>
                <a:srgbClr val="FF9900"/>
              </a:solidFill>
            </a:endParaRPr>
          </a:p>
        </p:txBody>
      </p:sp>
      <p:sp>
        <p:nvSpPr>
          <p:cNvPr id="230" name="Google Shape;230;p40"/>
          <p:cNvSpPr txBox="1">
            <a:spLocks noGrp="1"/>
          </p:cNvSpPr>
          <p:nvPr>
            <p:ph type="subTitle" idx="4294967295"/>
          </p:nvPr>
        </p:nvSpPr>
        <p:spPr>
          <a:xfrm>
            <a:off x="5880200" y="1598325"/>
            <a:ext cx="2585700" cy="115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/>
              <a:t>12+ лет опыта создания и разработки корпоративных сервисов (</a:t>
            </a:r>
            <a:r>
              <a:rPr lang="ru" sz="850">
                <a:solidFill>
                  <a:srgbClr val="050505"/>
                </a:solidFill>
                <a:highlight>
                  <a:srgbClr val="F8F8F8"/>
                </a:highlight>
              </a:rPr>
              <a:t>ЭкспрессВолгаБанк, ПАО "Ростелеком" и др.)</a:t>
            </a:r>
            <a:endParaRPr sz="85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r>
              <a:rPr lang="ru" sz="850">
                <a:solidFill>
                  <a:srgbClr val="050505"/>
                </a:solidFill>
                <a:highlight>
                  <a:srgbClr val="F8F8F8"/>
                </a:highlight>
              </a:rPr>
              <a:t>Подбирал технологии виртуальных датацентров, методов защиты информации (DLP/WAF), проектирования систем видеонаблюдения, Wi-Fi, VoIP, IPTV и т.д.</a:t>
            </a:r>
            <a:endParaRPr sz="85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7"/>
              <a:buNone/>
            </a:pPr>
            <a:endParaRPr sz="867"/>
          </a:p>
        </p:txBody>
      </p:sp>
      <p:pic>
        <p:nvPicPr>
          <p:cNvPr id="231" name="Google Shape;231;p40"/>
          <p:cNvPicPr preferRelativeResize="0"/>
          <p:nvPr/>
        </p:nvPicPr>
        <p:blipFill>
          <a:blip r:embed="rId5"/>
          <a:srcRect t="16085" b="16085"/>
          <a:stretch/>
        </p:blipFill>
        <p:spPr>
          <a:xfrm>
            <a:off x="4961150" y="1355025"/>
            <a:ext cx="830100" cy="8190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13" name="Google Shape;229;p40">
            <a:extLst>
              <a:ext uri="{FF2B5EF4-FFF2-40B4-BE49-F238E27FC236}">
                <a16:creationId xmlns:a16="http://schemas.microsoft.com/office/drawing/2014/main" id="{03269C19-D016-C44E-BBD6-4138BEE95808}"/>
              </a:ext>
            </a:extLst>
          </p:cNvPr>
          <p:cNvSpPr txBox="1">
            <a:spLocks/>
          </p:cNvSpPr>
          <p:nvPr/>
        </p:nvSpPr>
        <p:spPr>
          <a:xfrm>
            <a:off x="5880205" y="3032156"/>
            <a:ext cx="1991700" cy="2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buSzPts val="852"/>
              <a:buFont typeface="Roboto"/>
              <a:buNone/>
            </a:pPr>
            <a:r>
              <a:rPr lang="ru-RU" sz="1517" b="1" dirty="0">
                <a:solidFill>
                  <a:srgbClr val="FF9900"/>
                </a:solidFill>
              </a:rPr>
              <a:t>Андрей </a:t>
            </a:r>
            <a:r>
              <a:rPr lang="ru-RU" sz="1517" b="1" dirty="0" err="1">
                <a:solidFill>
                  <a:srgbClr val="FF9900"/>
                </a:solidFill>
              </a:rPr>
              <a:t>Канашов</a:t>
            </a:r>
            <a:endParaRPr lang="ru-RU" sz="1517" b="1" dirty="0">
              <a:solidFill>
                <a:srgbClr val="FF9900"/>
              </a:solidFill>
            </a:endParaRPr>
          </a:p>
        </p:txBody>
      </p:sp>
      <p:sp>
        <p:nvSpPr>
          <p:cNvPr id="14" name="Google Shape;230;p40">
            <a:extLst>
              <a:ext uri="{FF2B5EF4-FFF2-40B4-BE49-F238E27FC236}">
                <a16:creationId xmlns:a16="http://schemas.microsoft.com/office/drawing/2014/main" id="{171F4BBF-1C4F-994C-9045-0291BC30CBB2}"/>
              </a:ext>
            </a:extLst>
          </p:cNvPr>
          <p:cNvSpPr txBox="1">
            <a:spLocks/>
          </p:cNvSpPr>
          <p:nvPr/>
        </p:nvSpPr>
        <p:spPr>
          <a:xfrm>
            <a:off x="5880200" y="3332601"/>
            <a:ext cx="2585700" cy="11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Занимался задачами с использованием как классического </a:t>
            </a:r>
            <a:r>
              <a:rPr lang="en-US" sz="850" dirty="0"/>
              <a:t>Machine Learning, </a:t>
            </a:r>
            <a:r>
              <a:rPr lang="ru-RU" sz="850" dirty="0"/>
              <a:t>так и </a:t>
            </a:r>
            <a:r>
              <a:rPr lang="en-US" sz="850" dirty="0"/>
              <a:t>Deep Learning </a:t>
            </a:r>
            <a:r>
              <a:rPr lang="ru-RU" sz="850" dirty="0"/>
              <a:t>алгоритмов с использованием нейронных сетей в задачах </a:t>
            </a:r>
            <a:r>
              <a:rPr lang="en-US" sz="850" dirty="0"/>
              <a:t>NLP </a:t>
            </a:r>
            <a:r>
              <a:rPr lang="ru-RU" sz="850" dirty="0"/>
              <a:t>и </a:t>
            </a:r>
            <a:r>
              <a:rPr lang="en-US" sz="850" dirty="0"/>
              <a:t>CV, </a:t>
            </a:r>
            <a:r>
              <a:rPr lang="ru-RU" sz="850" dirty="0"/>
              <a:t>а также проведением различных аналитических исследований</a:t>
            </a:r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endParaRPr lang="ru-RU" sz="850" dirty="0"/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Образование: </a:t>
            </a:r>
          </a:p>
          <a:p>
            <a:pPr marL="0" indent="0">
              <a:lnSpc>
                <a:spcPct val="100000"/>
              </a:lnSpc>
              <a:buSzPts val="597"/>
              <a:buFont typeface="Roboto"/>
              <a:buNone/>
            </a:pPr>
            <a:r>
              <a:rPr lang="ru-RU" sz="850" dirty="0"/>
              <a:t>Уральский государственный университет (УРФУ)</a:t>
            </a:r>
          </a:p>
        </p:txBody>
      </p:sp>
      <p:pic>
        <p:nvPicPr>
          <p:cNvPr id="15" name="Google Shape;231;p40">
            <a:extLst>
              <a:ext uri="{FF2B5EF4-FFF2-40B4-BE49-F238E27FC236}">
                <a16:creationId xmlns:a16="http://schemas.microsoft.com/office/drawing/2014/main" id="{2FC4A030-452A-234A-A24E-D2EC2DC6A146}"/>
              </a:ext>
            </a:extLst>
          </p:cNvPr>
          <p:cNvPicPr preferRelativeResize="0"/>
          <p:nvPr/>
        </p:nvPicPr>
        <p:blipFill>
          <a:blip r:embed="rId6"/>
          <a:srcRect t="12897" b="12897"/>
          <a:stretch/>
        </p:blipFill>
        <p:spPr>
          <a:xfrm>
            <a:off x="4961150" y="3089301"/>
            <a:ext cx="830100" cy="819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4"/>
          <p:cNvSpPr/>
          <p:nvPr/>
        </p:nvSpPr>
        <p:spPr>
          <a:xfrm>
            <a:off x="1052550" y="1264075"/>
            <a:ext cx="3426900" cy="779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94"/>
          <p:cNvSpPr/>
          <p:nvPr/>
        </p:nvSpPr>
        <p:spPr>
          <a:xfrm>
            <a:off x="1052550" y="2237575"/>
            <a:ext cx="3426900" cy="9933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94"/>
          <p:cNvSpPr/>
          <p:nvPr/>
        </p:nvSpPr>
        <p:spPr>
          <a:xfrm>
            <a:off x="1052550" y="3425275"/>
            <a:ext cx="3426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94"/>
          <p:cNvSpPr/>
          <p:nvPr/>
        </p:nvSpPr>
        <p:spPr>
          <a:xfrm>
            <a:off x="4673550" y="1264075"/>
            <a:ext cx="3417900" cy="1135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94"/>
          <p:cNvSpPr/>
          <p:nvPr/>
        </p:nvSpPr>
        <p:spPr>
          <a:xfrm>
            <a:off x="4673550" y="2579575"/>
            <a:ext cx="3417900" cy="8481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94"/>
          <p:cNvSpPr/>
          <p:nvPr/>
        </p:nvSpPr>
        <p:spPr>
          <a:xfrm>
            <a:off x="4673550" y="3607675"/>
            <a:ext cx="3417900" cy="9510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2" name="Google Shape;522;p9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79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94"/>
          <p:cNvSpPr txBox="1"/>
          <p:nvPr/>
        </p:nvSpPr>
        <p:spPr>
          <a:xfrm>
            <a:off x="1763275" y="1326125"/>
            <a:ext cx="25296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Обучение выстроено в формате вебинаров (онлайн). Онлайн-вебинары проводятся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вечерам или в выходные дни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4" name="Google Shape;524;p9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7900" y="24404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5" name="Google Shape;525;p94"/>
          <p:cNvSpPr txBox="1"/>
          <p:nvPr/>
        </p:nvSpPr>
        <p:spPr>
          <a:xfrm>
            <a:off x="1763275" y="2305525"/>
            <a:ext cx="2626500" cy="9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Все записи занятий и материалы, предоставляемые преподавателями, сохраняются в личном кабинете и остаются доступны даже после окончания обучения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6" name="Google Shape;526;p9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37900" y="3632238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94"/>
          <p:cNvSpPr txBox="1"/>
          <p:nvPr/>
        </p:nvSpPr>
        <p:spPr>
          <a:xfrm>
            <a:off x="1763275" y="3495075"/>
            <a:ext cx="2493300" cy="10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Домашние задания позволят Вам применить на практике полученные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во время вебинаров знания.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По каждому домашнему заданию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преподаватель дает развернутый фидбек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28" name="Google Shape;528;p9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53100" y="14213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29" name="Google Shape;529;p94"/>
          <p:cNvSpPr txBox="1"/>
          <p:nvPr/>
        </p:nvSpPr>
        <p:spPr>
          <a:xfrm>
            <a:off x="5378475" y="1326125"/>
            <a:ext cx="2493300" cy="9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 процессе обучения Вы можете задавать преподавателю вопросы по материалам лекций и домашних заданий, уточнять моменты, которые были непонятны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уроке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0" name="Google Shape;530;p9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53100" y="2743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94"/>
          <p:cNvSpPr txBox="1"/>
          <p:nvPr/>
        </p:nvSpPr>
        <p:spPr>
          <a:xfrm>
            <a:off x="5378475" y="2647825"/>
            <a:ext cx="2626500" cy="65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Время на обучение: от 4 ак. часов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на занятия и 4-8 часов на домашнюю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работу в неделю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32" name="Google Shape;532;p9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853100" y="3760075"/>
            <a:ext cx="460475" cy="46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94"/>
          <p:cNvSpPr txBox="1"/>
          <p:nvPr/>
        </p:nvSpPr>
        <p:spPr>
          <a:xfrm>
            <a:off x="5378475" y="3664825"/>
            <a:ext cx="2529600" cy="8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54000" bIns="91425" anchor="t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900" b="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Программа обучения на курсах обновляется каждый запуск в зависимости от актуальных запросов в сфере IТ-технологий</a:t>
            </a:r>
            <a:endParaRPr sz="900" b="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94"/>
          <p:cNvSpPr txBox="1"/>
          <p:nvPr/>
        </p:nvSpPr>
        <p:spPr>
          <a:xfrm>
            <a:off x="500550" y="336745"/>
            <a:ext cx="8307600" cy="11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100" b="1" dirty="0">
                <a:latin typeface="Roboto"/>
                <a:ea typeface="Roboto"/>
                <a:cs typeface="Roboto"/>
                <a:sym typeface="Roboto"/>
              </a:rPr>
              <a:t>Процесс обучения</a:t>
            </a:r>
            <a:endParaRPr sz="31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Карта курса</a:t>
            </a:r>
            <a:endParaRPr/>
          </a:p>
        </p:txBody>
      </p:sp>
      <p:sp>
        <p:nvSpPr>
          <p:cNvPr id="271" name="Google Shape;271;p44"/>
          <p:cNvSpPr/>
          <p:nvPr/>
        </p:nvSpPr>
        <p:spPr>
          <a:xfrm>
            <a:off x="5805200" y="627325"/>
            <a:ext cx="30340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272" name="Google Shape;272;p44"/>
          <p:cNvSpPr/>
          <p:nvPr/>
        </p:nvSpPr>
        <p:spPr>
          <a:xfrm>
            <a:off x="1073088" y="1847675"/>
            <a:ext cx="24732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44"/>
          <p:cNvSpPr/>
          <p:nvPr/>
        </p:nvSpPr>
        <p:spPr>
          <a:xfrm>
            <a:off x="4491135" y="1847803"/>
            <a:ext cx="2917948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</a:t>
            </a:r>
            <a:br>
              <a:rPr lang="ru-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</a:t>
            </a:r>
          </a:p>
        </p:txBody>
      </p:sp>
      <p:sp>
        <p:nvSpPr>
          <p:cNvPr id="274" name="Google Shape;274;p44"/>
          <p:cNvSpPr/>
          <p:nvPr/>
        </p:nvSpPr>
        <p:spPr>
          <a:xfrm>
            <a:off x="4140833" y="3254170"/>
            <a:ext cx="29706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в реальных задачах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6" name="Google Shape;276;p44"/>
          <p:cNvCxnSpPr>
            <a:cxnSpLocks/>
            <a:stCxn id="272" idx="3"/>
            <a:endCxn id="273" idx="1"/>
          </p:cNvCxnSpPr>
          <p:nvPr/>
        </p:nvCxnSpPr>
        <p:spPr>
          <a:xfrm>
            <a:off x="3546288" y="2137325"/>
            <a:ext cx="944847" cy="128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77" name="Google Shape;277;p44"/>
          <p:cNvCxnSpPr>
            <a:cxnSpLocks/>
            <a:stCxn id="271" idx="1"/>
            <a:endCxn id="272" idx="0"/>
          </p:cNvCxnSpPr>
          <p:nvPr/>
        </p:nvCxnSpPr>
        <p:spPr>
          <a:xfrm rot="10800000" flipV="1">
            <a:off x="2309688" y="916975"/>
            <a:ext cx="3495512" cy="930700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8" name="Google Shape;278;p44"/>
          <p:cNvSpPr/>
          <p:nvPr/>
        </p:nvSpPr>
        <p:spPr>
          <a:xfrm>
            <a:off x="767838" y="4137347"/>
            <a:ext cx="3083700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79" name="Google Shape;279;p44"/>
          <p:cNvCxnSpPr>
            <a:cxnSpLocks/>
            <a:stCxn id="273" idx="3"/>
            <a:endCxn id="274" idx="3"/>
          </p:cNvCxnSpPr>
          <p:nvPr/>
        </p:nvCxnSpPr>
        <p:spPr>
          <a:xfrm flipH="1">
            <a:off x="7111433" y="2137453"/>
            <a:ext cx="297650" cy="1406367"/>
          </a:xfrm>
          <a:prstGeom prst="curvedConnector3">
            <a:avLst>
              <a:gd name="adj1" fmla="val -7680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81" name="Google Shape;281;p44"/>
          <p:cNvCxnSpPr>
            <a:cxnSpLocks/>
            <a:stCxn id="274" idx="1"/>
            <a:endCxn id="278" idx="0"/>
          </p:cNvCxnSpPr>
          <p:nvPr/>
        </p:nvCxnSpPr>
        <p:spPr>
          <a:xfrm rot="10800000" flipV="1">
            <a:off x="2309689" y="3543819"/>
            <a:ext cx="1831145" cy="593527"/>
          </a:xfrm>
          <a:prstGeom prst="curvedConnector2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CCDE05CC-2BC0-2242-878F-9266DBB0C310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820139" y="128322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CD39ED7-986F-C44F-AB9B-9B7D2D7A7297}"/>
              </a:ext>
            </a:extLst>
          </p:cNvPr>
          <p:cNvSpPr txBox="1"/>
          <p:nvPr/>
        </p:nvSpPr>
        <p:spPr>
          <a:xfrm>
            <a:off x="8000141" y="125700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5" name="Google Shape;530;p82">
            <a:extLst>
              <a:ext uri="{FF2B5EF4-FFF2-40B4-BE49-F238E27FC236}">
                <a16:creationId xmlns:a16="http://schemas.microsoft.com/office/drawing/2014/main" id="{F8762030-AB6E-EA48-94AA-05667E56E0B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464447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EE8DB15-D7EB-AF4A-AF42-E23E858A9200}"/>
              </a:ext>
            </a:extLst>
          </p:cNvPr>
          <p:cNvSpPr txBox="1"/>
          <p:nvPr/>
        </p:nvSpPr>
        <p:spPr>
          <a:xfrm>
            <a:off x="2826219" y="2438225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7" name="Google Shape;530;p82">
            <a:extLst>
              <a:ext uri="{FF2B5EF4-FFF2-40B4-BE49-F238E27FC236}">
                <a16:creationId xmlns:a16="http://schemas.microsoft.com/office/drawing/2014/main" id="{9B0FF9F4-BD74-6D4A-84F0-EEE42E67D71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646217" y="2685179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2B8E2FDB-CC58-2148-AEE8-60319C2CDB06}"/>
              </a:ext>
            </a:extLst>
          </p:cNvPr>
          <p:cNvSpPr txBox="1"/>
          <p:nvPr/>
        </p:nvSpPr>
        <p:spPr>
          <a:xfrm>
            <a:off x="2826219" y="2658957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9" name="Google Shape;530;p82">
            <a:extLst>
              <a:ext uri="{FF2B5EF4-FFF2-40B4-BE49-F238E27FC236}">
                <a16:creationId xmlns:a16="http://schemas.microsoft.com/office/drawing/2014/main" id="{B93C8975-AB14-2B4C-ABCD-AAE0570C29DB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6571396" y="2468443"/>
            <a:ext cx="180002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E3C42D55-1755-C841-9C69-D39873572F99}"/>
              </a:ext>
            </a:extLst>
          </p:cNvPr>
          <p:cNvSpPr txBox="1"/>
          <p:nvPr/>
        </p:nvSpPr>
        <p:spPr>
          <a:xfrm>
            <a:off x="6751398" y="2442221"/>
            <a:ext cx="7200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sz="1000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Введение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  <a:p>
            <a:r>
              <a:rPr lang="ru" sz="1600" dirty="0">
                <a:solidFill>
                  <a:srgbClr val="1F1F1F"/>
                </a:solidFill>
                <a:latin typeface="Google Sans"/>
                <a:sym typeface="Roboto"/>
              </a:rPr>
              <a:t>в Reinforcement Learning</a:t>
            </a:r>
            <a:endParaRPr sz="1600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 rad="122479"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Знакомство с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530018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Ключевые понятия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агент, среда, награда, политика</a:t>
            </a:r>
            <a:b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</a:b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Построение модели среды и агента</a:t>
            </a: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08174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Основные алгоритмы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Value based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7" name="Google Shape;271;p44">
            <a:extLst>
              <a:ext uri="{FF2B5EF4-FFF2-40B4-BE49-F238E27FC236}">
                <a16:creationId xmlns:a16="http://schemas.microsoft.com/office/drawing/2014/main" id="{93DB87C6-9A77-BE48-AFE8-9E6FD684BDEB}"/>
              </a:ext>
            </a:extLst>
          </p:cNvPr>
          <p:cNvSpPr/>
          <p:nvPr/>
        </p:nvSpPr>
        <p:spPr>
          <a:xfrm>
            <a:off x="2226713" y="360091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Основные алгоритмы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RL: Policy based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cxnSpLocks/>
            <a:stCxn id="271" idx="2"/>
            <a:endCxn id="13" idx="1"/>
          </p:cNvCxnSpPr>
          <p:nvPr/>
        </p:nvCxnSpPr>
        <p:spPr>
          <a:xfrm rot="16200000" flipH="1">
            <a:off x="1515089" y="1975413"/>
            <a:ext cx="100331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218735" y="2271767"/>
            <a:ext cx="159602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77BABB97-37B4-2248-9138-F1BB4D6122DE}"/>
              </a:ext>
            </a:extLst>
          </p:cNvPr>
          <p:cNvCxnSpPr>
            <a:stCxn id="271" idx="2"/>
            <a:endCxn id="17" idx="1"/>
          </p:cNvCxnSpPr>
          <p:nvPr/>
        </p:nvCxnSpPr>
        <p:spPr>
          <a:xfrm rot="16200000" flipH="1">
            <a:off x="959150" y="2531352"/>
            <a:ext cx="2115197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6" name="Google Shape;530;p82">
            <a:extLst>
              <a:ext uri="{FF2B5EF4-FFF2-40B4-BE49-F238E27FC236}">
                <a16:creationId xmlns:a16="http://schemas.microsoft.com/office/drawing/2014/main" id="{43F299C2-9666-D540-A69A-8BF402009BEF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218174" y="3636915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B64000B9-CA8D-D74A-98B4-3BFBB2C52658}"/>
              </a:ext>
            </a:extLst>
          </p:cNvPr>
          <p:cNvSpPr txBox="1"/>
          <p:nvPr/>
        </p:nvSpPr>
        <p:spPr>
          <a:xfrm rot="20748746">
            <a:off x="7577328" y="3580821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16060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Deep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Введение в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Reinforcement Learning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Deep Q-Network (DQN)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Policy Gradient (PG)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Actor-Critic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алгоритм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1" name="Google Shape;530;p82">
            <a:extLst>
              <a:ext uri="{FF2B5EF4-FFF2-40B4-BE49-F238E27FC236}">
                <a16:creationId xmlns:a16="http://schemas.microsoft.com/office/drawing/2014/main" id="{85C6D6D7-CE03-954D-80A0-524917F365D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1FDC4025-0516-C64C-B1CE-6EEB38C1DB07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1E70FE6D-9707-554D-A77C-32B4E0033025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86931" y="3516318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E73F6CCE-3421-0F41-BADD-782C8BB884F8}"/>
              </a:ext>
            </a:extLst>
          </p:cNvPr>
          <p:cNvSpPr txBox="1"/>
          <p:nvPr/>
        </p:nvSpPr>
        <p:spPr>
          <a:xfrm rot="20748746">
            <a:off x="7546085" y="3460224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5" name="Google Shape;271;p44">
            <a:extLst>
              <a:ext uri="{FF2B5EF4-FFF2-40B4-BE49-F238E27FC236}">
                <a16:creationId xmlns:a16="http://schemas.microsoft.com/office/drawing/2014/main" id="{6AAFEF18-6AF7-D742-BED8-1EE0FB9F9DFF}"/>
              </a:ext>
            </a:extLst>
          </p:cNvPr>
          <p:cNvSpPr/>
          <p:nvPr/>
        </p:nvSpPr>
        <p:spPr>
          <a:xfrm>
            <a:off x="2226712" y="4014196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TRPO -&gt; PPO</a:t>
            </a:r>
            <a:endParaRPr lang="ru-RU"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35" name="Google Shape;271;p44">
            <a:extLst>
              <a:ext uri="{FF2B5EF4-FFF2-40B4-BE49-F238E27FC236}">
                <a16:creationId xmlns:a16="http://schemas.microsoft.com/office/drawing/2014/main" id="{5155F389-DB3A-4A42-A2CE-75E4C4014960}"/>
              </a:ext>
            </a:extLst>
          </p:cNvPr>
          <p:cNvSpPr/>
          <p:nvPr/>
        </p:nvSpPr>
        <p:spPr>
          <a:xfrm>
            <a:off x="2226711" y="4540703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DDPG -&gt; TD3 -&gt; LSTM-TD3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87453B9F-3AC2-D04F-AE18-4F58FD4BFF65}"/>
              </a:ext>
            </a:extLst>
          </p:cNvPr>
          <p:cNvCxnSpPr>
            <a:cxnSpLocks/>
            <a:stCxn id="271" idx="2"/>
            <a:endCxn id="25" idx="1"/>
          </p:cNvCxnSpPr>
          <p:nvPr/>
        </p:nvCxnSpPr>
        <p:spPr>
          <a:xfrm rot="16200000" flipH="1">
            <a:off x="752510" y="2737993"/>
            <a:ext cx="2528477" cy="41992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0DF34340-E2A6-A843-9603-9C8D637AE52D}"/>
              </a:ext>
            </a:extLst>
          </p:cNvPr>
          <p:cNvCxnSpPr>
            <a:cxnSpLocks/>
            <a:stCxn id="271" idx="2"/>
            <a:endCxn id="35" idx="1"/>
          </p:cNvCxnSpPr>
          <p:nvPr/>
        </p:nvCxnSpPr>
        <p:spPr>
          <a:xfrm rot="16200000" flipH="1">
            <a:off x="489255" y="3001247"/>
            <a:ext cx="3054984" cy="41992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264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Advanced Reinforcement Learning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среды, часть 1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Обучение с использованием модели среды, часть 2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Иерархическое обучение с подкреплением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Многоагентное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 обучение и кооперация агентов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33" name="Google Shape;530;p82">
            <a:extLst>
              <a:ext uri="{FF2B5EF4-FFF2-40B4-BE49-F238E27FC236}">
                <a16:creationId xmlns:a16="http://schemas.microsoft.com/office/drawing/2014/main" id="{3F1CFE2F-28F6-854C-B875-84E1551E53BA}"/>
              </a:ext>
            </a:extLst>
          </p:cNvPr>
          <p:cNvPicPr preferRelativeResize="0">
            <a:picLocks noChangeAspect="1"/>
          </p:cNvPicPr>
          <p:nvPr/>
        </p:nvPicPr>
        <p:blipFill rotWithShape="1">
          <a:blip r:embed="rId3">
            <a:alphaModFix/>
            <a:duotone>
              <a:schemeClr val="accent5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7175215" y="2453420"/>
            <a:ext cx="324002" cy="3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AAA4539-F01D-3B46-8649-E7BCB5ED75D3}"/>
              </a:ext>
            </a:extLst>
          </p:cNvPr>
          <p:cNvSpPr txBox="1"/>
          <p:nvPr/>
        </p:nvSpPr>
        <p:spPr>
          <a:xfrm rot="20748746">
            <a:off x="7534369" y="2397326"/>
            <a:ext cx="9364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AkayaTelivigala" pitchFamily="2" charset="77"/>
                <a:cs typeface="Apple Chancery" panose="03020702040506060504" pitchFamily="66" charset="-79"/>
              </a:rPr>
              <a:t>HomeTask</a:t>
            </a:r>
            <a:endParaRPr lang="en-US" dirty="0">
              <a:latin typeface="Bradley Hand" pitchFamily="2" charset="77"/>
              <a:cs typeface="Apple Chancery" panose="03020702040506060504" pitchFamily="66" charset="-79"/>
            </a:endParaRPr>
          </a:p>
        </p:txBody>
      </p:sp>
      <p:sp>
        <p:nvSpPr>
          <p:cNvPr id="24" name="Google Shape;271;p44">
            <a:extLst>
              <a:ext uri="{FF2B5EF4-FFF2-40B4-BE49-F238E27FC236}">
                <a16:creationId xmlns:a16="http://schemas.microsoft.com/office/drawing/2014/main" id="{755F353F-0B1F-B440-BA17-EF3647C41A67}"/>
              </a:ext>
            </a:extLst>
          </p:cNvPr>
          <p:cNvSpPr/>
          <p:nvPr/>
        </p:nvSpPr>
        <p:spPr>
          <a:xfrm>
            <a:off x="2226713" y="401068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Выбор темы и организация проектной работы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CC92A012-1145-1246-AD75-982BADB552EE}"/>
              </a:ext>
            </a:extLst>
          </p:cNvPr>
          <p:cNvCxnSpPr>
            <a:cxnSpLocks/>
            <a:stCxn id="271" idx="2"/>
            <a:endCxn id="24" idx="1"/>
          </p:cNvCxnSpPr>
          <p:nvPr/>
        </p:nvCxnSpPr>
        <p:spPr>
          <a:xfrm rot="16200000" flipH="1">
            <a:off x="754267" y="2736235"/>
            <a:ext cx="252496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73818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Reinforcement Learning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 реальных задачах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игровой индустрии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робототехнике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рекомендательных системах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6" name="Google Shape;271;p44">
            <a:extLst>
              <a:ext uri="{FF2B5EF4-FFF2-40B4-BE49-F238E27FC236}">
                <a16:creationId xmlns:a16="http://schemas.microsoft.com/office/drawing/2014/main" id="{7A56B114-1520-2F4F-BC28-2EADE862D379}"/>
              </a:ext>
            </a:extLst>
          </p:cNvPr>
          <p:cNvSpPr/>
          <p:nvPr/>
        </p:nvSpPr>
        <p:spPr>
          <a:xfrm>
            <a:off x="2226713" y="3482071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задаче кредитного </a:t>
            </a:r>
            <a:r>
              <a:rPr lang="ru-RU" dirty="0" err="1">
                <a:solidFill>
                  <a:srgbClr val="1F1F1F"/>
                </a:solidFill>
                <a:latin typeface="Google Sans"/>
                <a:sym typeface="Roboto"/>
              </a:rPr>
              <a:t>скоринга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lbow Connector 10">
            <a:extLst>
              <a:ext uri="{FF2B5EF4-FFF2-40B4-BE49-F238E27FC236}">
                <a16:creationId xmlns:a16="http://schemas.microsoft.com/office/drawing/2014/main" id="{1B9CA35D-F3DD-2349-BB63-178A3D48C12C}"/>
              </a:ext>
            </a:extLst>
          </p:cNvPr>
          <p:cNvCxnSpPr>
            <a:stCxn id="271" idx="2"/>
            <a:endCxn id="16" idx="1"/>
          </p:cNvCxnSpPr>
          <p:nvPr/>
        </p:nvCxnSpPr>
        <p:spPr>
          <a:xfrm rot="16200000" flipH="1">
            <a:off x="1018572" y="2471930"/>
            <a:ext cx="1996352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sp>
        <p:nvSpPr>
          <p:cNvPr id="21" name="Google Shape;271;p44">
            <a:extLst>
              <a:ext uri="{FF2B5EF4-FFF2-40B4-BE49-F238E27FC236}">
                <a16:creationId xmlns:a16="http://schemas.microsoft.com/office/drawing/2014/main" id="{E3F9BED0-D7E7-2341-8AE5-D7D3EAFD76DD}"/>
              </a:ext>
            </a:extLst>
          </p:cNvPr>
          <p:cNvSpPr/>
          <p:nvPr/>
        </p:nvSpPr>
        <p:spPr>
          <a:xfrm>
            <a:off x="2226713" y="4012092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Применение </a:t>
            </a:r>
            <a:r>
              <a:rPr lang="en-US" dirty="0">
                <a:solidFill>
                  <a:srgbClr val="1F1F1F"/>
                </a:solidFill>
                <a:latin typeface="Google Sans"/>
                <a:sym typeface="Roboto"/>
              </a:rPr>
              <a:t>RL </a:t>
            </a:r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в управлении финансовым портфелем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AE35560F-9E10-534D-9CE5-B89267D68AC9}"/>
              </a:ext>
            </a:extLst>
          </p:cNvPr>
          <p:cNvCxnSpPr>
            <a:cxnSpLocks/>
            <a:stCxn id="271" idx="2"/>
            <a:endCxn id="21" idx="1"/>
          </p:cNvCxnSpPr>
          <p:nvPr/>
        </p:nvCxnSpPr>
        <p:spPr>
          <a:xfrm rot="16200000" flipH="1">
            <a:off x="753562" y="2736940"/>
            <a:ext cx="2526373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622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Программа курса</a:t>
            </a:r>
            <a:endParaRPr dirty="0"/>
          </a:p>
        </p:txBody>
      </p:sp>
      <p:sp>
        <p:nvSpPr>
          <p:cNvPr id="271" name="Google Shape;271;p44"/>
          <p:cNvSpPr/>
          <p:nvPr/>
        </p:nvSpPr>
        <p:spPr>
          <a:xfrm>
            <a:off x="500550" y="1104419"/>
            <a:ext cx="2612467" cy="5793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Проектная работа</a:t>
            </a:r>
          </a:p>
        </p:txBody>
      </p:sp>
      <p:sp>
        <p:nvSpPr>
          <p:cNvPr id="12" name="Google Shape;271;p44">
            <a:extLst>
              <a:ext uri="{FF2B5EF4-FFF2-40B4-BE49-F238E27FC236}">
                <a16:creationId xmlns:a16="http://schemas.microsoft.com/office/drawing/2014/main" id="{D8FD06C8-E377-A548-A8E0-938A22A6A104}"/>
              </a:ext>
            </a:extLst>
          </p:cNvPr>
          <p:cNvSpPr/>
          <p:nvPr/>
        </p:nvSpPr>
        <p:spPr>
          <a:xfrm>
            <a:off x="2226713" y="1892008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Консультация по проектам и домашним заданиям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sp>
        <p:nvSpPr>
          <p:cNvPr id="13" name="Google Shape;271;p44">
            <a:extLst>
              <a:ext uri="{FF2B5EF4-FFF2-40B4-BE49-F238E27FC236}">
                <a16:creationId xmlns:a16="http://schemas.microsoft.com/office/drawing/2014/main" id="{0FE2E67F-87DB-BA4A-8DD0-D5FDE2391C49}"/>
              </a:ext>
            </a:extLst>
          </p:cNvPr>
          <p:cNvSpPr/>
          <p:nvPr/>
        </p:nvSpPr>
        <p:spPr>
          <a:xfrm>
            <a:off x="2226713" y="2422029"/>
            <a:ext cx="5355965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Предзащита</a:t>
            </a:r>
          </a:p>
        </p:txBody>
      </p:sp>
      <p:sp>
        <p:nvSpPr>
          <p:cNvPr id="15" name="Google Shape;271;p44">
            <a:extLst>
              <a:ext uri="{FF2B5EF4-FFF2-40B4-BE49-F238E27FC236}">
                <a16:creationId xmlns:a16="http://schemas.microsoft.com/office/drawing/2014/main" id="{55C6BCEC-9B97-6546-93F2-CDA7BE006328}"/>
              </a:ext>
            </a:extLst>
          </p:cNvPr>
          <p:cNvSpPr/>
          <p:nvPr/>
        </p:nvSpPr>
        <p:spPr>
          <a:xfrm>
            <a:off x="2226713" y="2952050"/>
            <a:ext cx="3035751" cy="3960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  <a:effectLst>
            <a:glow>
              <a:schemeClr val="accent1">
                <a:satMod val="175000"/>
                <a:alpha val="40000"/>
              </a:schemeClr>
            </a:glo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r>
              <a:rPr lang="ru-RU" dirty="0">
                <a:solidFill>
                  <a:srgbClr val="1F1F1F"/>
                </a:solidFill>
                <a:latin typeface="Google Sans"/>
                <a:sym typeface="Roboto"/>
              </a:rPr>
              <a:t>Защита проектных работ</a:t>
            </a:r>
            <a:endParaRPr dirty="0">
              <a:solidFill>
                <a:srgbClr val="1F1F1F"/>
              </a:solidFill>
              <a:latin typeface="Google Sans"/>
              <a:sym typeface="Roboto"/>
            </a:endParaRPr>
          </a:p>
        </p:txBody>
      </p:sp>
      <p:cxnSp>
        <p:nvCxnSpPr>
          <p:cNvPr id="3" name="Elbow Connector 2">
            <a:extLst>
              <a:ext uri="{FF2B5EF4-FFF2-40B4-BE49-F238E27FC236}">
                <a16:creationId xmlns:a16="http://schemas.microsoft.com/office/drawing/2014/main" id="{C1180B41-AAC0-2546-8533-191E5D9B7F77}"/>
              </a:ext>
            </a:extLst>
          </p:cNvPr>
          <p:cNvCxnSpPr>
            <a:cxnSpLocks/>
            <a:stCxn id="271" idx="2"/>
            <a:endCxn id="12" idx="1"/>
          </p:cNvCxnSpPr>
          <p:nvPr/>
        </p:nvCxnSpPr>
        <p:spPr>
          <a:xfrm rot="16200000" flipH="1">
            <a:off x="1813604" y="1676898"/>
            <a:ext cx="406289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Elbow Connector 6">
            <a:extLst>
              <a:ext uri="{FF2B5EF4-FFF2-40B4-BE49-F238E27FC236}">
                <a16:creationId xmlns:a16="http://schemas.microsoft.com/office/drawing/2014/main" id="{F828FA00-64F5-D64E-A4E8-78AD68A71E2D}"/>
              </a:ext>
            </a:extLst>
          </p:cNvPr>
          <p:cNvCxnSpPr>
            <a:stCxn id="271" idx="2"/>
            <a:endCxn id="13" idx="1"/>
          </p:cNvCxnSpPr>
          <p:nvPr/>
        </p:nvCxnSpPr>
        <p:spPr>
          <a:xfrm rot="16200000" flipH="1">
            <a:off x="1548593" y="1941909"/>
            <a:ext cx="936310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509552CD-5AFB-3C41-BD1B-73124950E9F0}"/>
              </a:ext>
            </a:extLst>
          </p:cNvPr>
          <p:cNvCxnSpPr>
            <a:cxnSpLocks/>
            <a:stCxn id="271" idx="2"/>
            <a:endCxn id="15" idx="1"/>
          </p:cNvCxnSpPr>
          <p:nvPr/>
        </p:nvCxnSpPr>
        <p:spPr>
          <a:xfrm rot="16200000" flipH="1">
            <a:off x="1283583" y="2206919"/>
            <a:ext cx="1466331" cy="41992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7207DC4F-0418-0E43-AEA2-26001954E05D}"/>
              </a:ext>
            </a:extLst>
          </p:cNvPr>
          <p:cNvGraphicFramePr>
            <a:graphicFrameLocks noGrp="1"/>
          </p:cNvGraphicFramePr>
          <p:nvPr/>
        </p:nvGraphicFramePr>
        <p:xfrm>
          <a:off x="5355768" y="573874"/>
          <a:ext cx="2226910" cy="304800"/>
        </p:xfrm>
        <a:graphic>
          <a:graphicData uri="http://schemas.openxmlformats.org/drawingml/2006/table">
            <a:tbl>
              <a:tblPr firstRow="1" bandRow="1"/>
              <a:tblGrid>
                <a:gridCol w="445382">
                  <a:extLst>
                    <a:ext uri="{9D8B030D-6E8A-4147-A177-3AD203B41FA5}">
                      <a16:colId xmlns:a16="http://schemas.microsoft.com/office/drawing/2014/main" val="884960188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1334008315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3209860974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38538779"/>
                    </a:ext>
                  </a:extLst>
                </a:gridCol>
                <a:gridCol w="445382">
                  <a:extLst>
                    <a:ext uri="{9D8B030D-6E8A-4147-A177-3AD203B41FA5}">
                      <a16:colId xmlns:a16="http://schemas.microsoft.com/office/drawing/2014/main" val="4263781807"/>
                    </a:ext>
                  </a:extLst>
                </a:gridCol>
              </a:tblGrid>
              <a:tr h="25024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53204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7D3A5F98-F024-0E46-989B-34E1B049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6464" y="2943932"/>
            <a:ext cx="2989203" cy="199280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6252229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8"/>
          <p:cNvSpPr txBox="1">
            <a:spLocks noGrp="1"/>
          </p:cNvSpPr>
          <p:nvPr>
            <p:ph type="title"/>
          </p:nvPr>
        </p:nvSpPr>
        <p:spPr>
          <a:xfrm>
            <a:off x="956225" y="777400"/>
            <a:ext cx="6931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b="0" dirty="0"/>
              <a:t>Заполните, пожалуйста,</a:t>
            </a:r>
            <a:endParaRPr sz="35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500" dirty="0"/>
              <a:t>опрос</a:t>
            </a:r>
            <a:r>
              <a:rPr lang="ru" sz="3500" b="0" dirty="0"/>
              <a:t> о занятии</a:t>
            </a:r>
            <a:endParaRPr sz="3500" b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i="1" u="sng" dirty="0">
                <a:solidFill>
                  <a:schemeClr val="accent6"/>
                </a:solidFill>
              </a:rPr>
              <a:t>Важно! Пройти опрос могут только залогиненные пользователи платформы OTUS</a:t>
            </a:r>
            <a:r>
              <a:rPr lang="ru" sz="1800" i="1" u="sng" dirty="0">
                <a:solidFill>
                  <a:srgbClr val="E06666"/>
                </a:solidFill>
              </a:rPr>
              <a:t> </a:t>
            </a: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i="1" u="sng" dirty="0">
              <a:solidFill>
                <a:srgbClr val="E06666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i="1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</a:pPr>
            <a:r>
              <a:rPr lang="ru" dirty="0"/>
              <a:t>Спасибо за внимание!</a:t>
            </a:r>
            <a:endParaRPr dirty="0"/>
          </a:p>
        </p:txBody>
      </p:sp>
      <p:pic>
        <p:nvPicPr>
          <p:cNvPr id="643" name="Google Shape;643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775" y="2131625"/>
            <a:ext cx="2392300" cy="239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3177</TotalTime>
  <Words>1221</Words>
  <Application>Microsoft Macintosh PowerPoint</Application>
  <PresentationFormat>On-screen Show (16:9)</PresentationFormat>
  <Paragraphs>276</Paragraphs>
  <Slides>37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Courier New</vt:lpstr>
      <vt:lpstr>Menlo</vt:lpstr>
      <vt:lpstr>AkayaTelivigala</vt:lpstr>
      <vt:lpstr>Roboto</vt:lpstr>
      <vt:lpstr>Google Sans</vt:lpstr>
      <vt:lpstr>Bradley Hand</vt:lpstr>
      <vt:lpstr>Arial</vt:lpstr>
      <vt:lpstr>Светлая тема</vt:lpstr>
      <vt:lpstr>Светлая тема</vt:lpstr>
      <vt:lpstr>Reinforcement Learning Фреймворки </vt:lpstr>
      <vt:lpstr>PowerPoint Presentation</vt:lpstr>
      <vt:lpstr>Reinforcement Learning Фреймворки</vt:lpstr>
      <vt:lpstr>Маршрут вебинара</vt:lpstr>
      <vt:lpstr>Расскажите о себе</vt:lpstr>
      <vt:lpstr>Правила вебинара</vt:lpstr>
      <vt:lpstr>Об ОТУС</vt:lpstr>
      <vt:lpstr>PowerPoint Presentation</vt:lpstr>
      <vt:lpstr>Образование в ОТУС</vt:lpstr>
      <vt:lpstr>Напишите, пожалуйста, в чат подходящую цифру</vt:lpstr>
      <vt:lpstr>Что такое Reinforcement Learning</vt:lpstr>
      <vt:lpstr>Третья парадигма машинного обучения</vt:lpstr>
      <vt:lpstr>Reinforcement Learning</vt:lpstr>
      <vt:lpstr>PowerPoint Presentation</vt:lpstr>
      <vt:lpstr>Алгоритмы RL</vt:lpstr>
      <vt:lpstr>Обзор алгоритмов RL</vt:lpstr>
      <vt:lpstr>Алгоритмы RL на курсе</vt:lpstr>
      <vt:lpstr>Фреймворки RL</vt:lpstr>
      <vt:lpstr>Gymnasium</vt:lpstr>
      <vt:lpstr>StableBaseline3</vt:lpstr>
      <vt:lpstr>Ray RLlib</vt:lpstr>
      <vt:lpstr>FinRL</vt:lpstr>
      <vt:lpstr>ElegantRL</vt:lpstr>
      <vt:lpstr>AI4Finance</vt:lpstr>
      <vt:lpstr>Практика</vt:lpstr>
      <vt:lpstr>Практическая реализация </vt:lpstr>
      <vt:lpstr>Вопросы?</vt:lpstr>
      <vt:lpstr>Знакомство с командой и программой курса</vt:lpstr>
      <vt:lpstr>Команда курса</vt:lpstr>
      <vt:lpstr>PowerPoint Presentation</vt:lpstr>
      <vt:lpstr>Карта курса</vt:lpstr>
      <vt:lpstr>Программа курса</vt:lpstr>
      <vt:lpstr>Программа курса</vt:lpstr>
      <vt:lpstr>Программа курса</vt:lpstr>
      <vt:lpstr>Программа курса</vt:lpstr>
      <vt:lpstr>Программа курса</vt:lpstr>
      <vt:lpstr>Заполните, пожалуйста, опрос о занятии Важно! Пройти опрос могут только залогиненные пользователи платформы OTUS       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Информация для преподавателя (маршрут демо-занятия)</dc:title>
  <cp:lastModifiedBy>Стурейко Игорь Олегович</cp:lastModifiedBy>
  <cp:revision>71</cp:revision>
  <dcterms:modified xsi:type="dcterms:W3CDTF">2025-10-23T16:15:26Z</dcterms:modified>
</cp:coreProperties>
</file>