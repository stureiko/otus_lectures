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31"/>
  </p:notesMasterIdLst>
  <p:sldIdLst>
    <p:sldId id="256" r:id="rId2"/>
    <p:sldId id="257" r:id="rId3"/>
    <p:sldId id="259" r:id="rId4"/>
    <p:sldId id="404" r:id="rId5"/>
    <p:sldId id="268" r:id="rId6"/>
    <p:sldId id="405" r:id="rId7"/>
    <p:sldId id="374" r:id="rId8"/>
    <p:sldId id="263" r:id="rId9"/>
    <p:sldId id="264" r:id="rId10"/>
    <p:sldId id="368" r:id="rId11"/>
    <p:sldId id="412" r:id="rId12"/>
    <p:sldId id="359" r:id="rId13"/>
    <p:sldId id="413" r:id="rId14"/>
    <p:sldId id="370" r:id="rId15"/>
    <p:sldId id="379" r:id="rId16"/>
    <p:sldId id="416" r:id="rId17"/>
    <p:sldId id="409" r:id="rId18"/>
    <p:sldId id="410" r:id="rId19"/>
    <p:sldId id="408" r:id="rId20"/>
    <p:sldId id="388" r:id="rId21"/>
    <p:sldId id="417" r:id="rId22"/>
    <p:sldId id="414" r:id="rId23"/>
    <p:sldId id="415" r:id="rId24"/>
    <p:sldId id="278" r:id="rId25"/>
    <p:sldId id="279" r:id="rId26"/>
    <p:sldId id="281" r:id="rId27"/>
    <p:sldId id="282" r:id="rId28"/>
    <p:sldId id="289" r:id="rId29"/>
    <p:sldId id="337" r:id="rId30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Helvetica Neue" panose="02000503000000020004" pitchFamily="2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D9E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79"/>
    <p:restoredTop sz="97146"/>
  </p:normalViewPr>
  <p:slideViewPr>
    <p:cSldViewPr snapToGrid="0">
      <p:cViewPr varScale="1">
        <p:scale>
          <a:sx n="165" d="100"/>
          <a:sy n="165" d="100"/>
        </p:scale>
        <p:origin x="744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733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125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086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548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156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156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5423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6271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364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774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155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50044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1510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446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248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501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866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91" r:id="rId6"/>
    <p:sldLayoutId id="2147483692" r:id="rId7"/>
    <p:sldLayoutId id="2147483693" r:id="rId8"/>
    <p:sldLayoutId id="214748369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.towardsai.net/taking-a-walk-in-the-openai-gym-using-decision-transformer-to-power-reinforcement-learning-52be4951912e" TargetMode="External"/><Relationship Id="rId4" Type="http://schemas.openxmlformats.org/officeDocument/2006/relationships/hyperlink" Target="https://dongreanay.medium.com/the-power-of-transformer-reinforcement-learning-5283ab1879c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uhanho/decision-transformer-reinforcement-learning-via-sequence-modeling-81cc5f25d68a#id_token=eyJhbGciOiJSUzI1NiIsImtpZCI6IjM2MjgyNTg2MDExMTNlNjU3NmE0NTMzNzM2NWZlOGI4OTczZDE2NzEiLCJ0eXAiOiJKV1QifQ.eyJpc3MiOiJodHRwczovL2FjY291bnRzLmdvb2dsZS5jb20iLCJhenAiOiIyMTYyOTYwMzU4MzQtazFrNnFlMDYwczJ0cDJhMmphbTRsamRjbXMwMHN0dGcuYXBwcy5nb29nbGV1c2VyY29udGVudC5jb20iLCJhdWQiOiIyMTYyOTYwMzU4MzQtazFrNnFlMDYwczJ0cDJhMmphbTRsamRjbXMwMHN0dGcuYXBwcy5nb29nbGV1c2VyY29udGVudC5jb20iLCJzdWIiOiIxMTY1OTEyMDYyODY3NjEyMTE5MDciLCJlbWFpbCI6InN0dXJlaWtvQGdtYWlsLmNvbSIsImVtYWlsX3ZlcmlmaWVkIjp0cnVlLCJuYmYiOjE3MzI3MDc5NDMsIm5hbWUiOiJJZ29yIFN0dXJlaWtvIiwicGljdHVyZSI6Imh0dHBzOi8vbGgzLmdvb2dsZXVzZXJjb250ZW50LmNvbS9hL0FDZzhvY0pkSS1UUDJXZ2VMb29Xa1ZWQzF4WUdoRURCTDFYN0dRSExaaFJ2VjFIZ3B5cG1RajZRcVE9czk2LWMiLCJnaXZlbl9uYW1lIjoiSWdvciIsImZhbWlseV9uYW1lIjoiU3R1cmVpa28iLCJpYXQiOjE3MzI3MDgyNDMsImV4cCI6MTczMjcxMTg0MywianRpIjoiMDJjZTgwNWFmMTI0ZTkzYWE1NzczNzk3N2MzOGMzN2I0YWNhZWM3ZSJ9.abOsAPVHk7INHnAT8NSxGbs4yM_GiCGEBxnbWApVL16jOE9zjlA13XYgT8-NYyVmHiFhzbKF-NFjHLlKU-CIV-XCU5RDNGlt_0AFpg8bi2cb3myo8uSiKSUIeACn3tO_UXOd9_JIhmgAx6vcQhw2lcPzfLIAitNQA10BNa0CzzZn1CtS1kaHUIoBGWkKTazXbI-RPplVjyXeJ8AK_89Oyo7ZMf_75t1wiUKtngHY4Gmvr5N7S2uf_4PxOwA5ynKehs4OKVlIFuTSdH7ay3jpGuZDxOFhjeXegeVFwqVLvFDDcPt2VOixx_JTGUHCIZQqa6t2TsJdgCRQDTNR2Qig5Q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huggingface.co/blog/decision-transformers" TargetMode="External"/><Relationship Id="rId5" Type="http://schemas.openxmlformats.org/officeDocument/2006/relationships/hyperlink" Target="https://habr.com/ru/companies/just_ai/articles/733110/" TargetMode="External"/><Relationship Id="rId4" Type="http://schemas.openxmlformats.org/officeDocument/2006/relationships/hyperlink" Target="https://github.com/kzl/decision-transformer/tree/master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Transformers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RL-202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9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br>
              <a:rPr lang="en-US" dirty="0"/>
            </a:br>
            <a:r>
              <a:rPr lang="en-US" sz="2400" dirty="0"/>
              <a:t>Transformers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Advanced </a:t>
            </a:r>
            <a:b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5325"/>
            <a:ext cx="3495512" cy="93235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Advanced </a:t>
            </a:r>
            <a:b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Обучение с использованием модели среды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Обучение с использованием модели среды, часть 2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Иерархическое обучение с подкреплением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темы и организация проектной работы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988569"/>
              </p:ext>
            </p:extLst>
          </p:nvPr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86931" y="351631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546085" y="346022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6AAFEF18-6AF7-D742-BED8-1EE0FB9F9DFF}"/>
              </a:ext>
            </a:extLst>
          </p:cNvPr>
          <p:cNvSpPr/>
          <p:nvPr/>
        </p:nvSpPr>
        <p:spPr>
          <a:xfrm>
            <a:off x="2226712" y="4014196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Многоагентное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обучение и кооперация агентов</a:t>
            </a: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155F389-DB3A-4A42-A2CE-75E4C4014960}"/>
              </a:ext>
            </a:extLst>
          </p:cNvPr>
          <p:cNvSpPr/>
          <p:nvPr/>
        </p:nvSpPr>
        <p:spPr>
          <a:xfrm>
            <a:off x="2226711" y="45407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Трансформеры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7453B9F-3AC2-D04F-AE18-4F58FD4BFF65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52510" y="2737993"/>
            <a:ext cx="252847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DF34340-E2A6-A843-9603-9C8D637AE52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489255" y="3001247"/>
            <a:ext cx="3054984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1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97213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On-line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off-line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2153451"/>
            <a:ext cx="397213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Механизм внимания и моделирование последовательностей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2"/>
          <p:cNvSpPr/>
          <p:nvPr/>
        </p:nvSpPr>
        <p:spPr>
          <a:xfrm>
            <a:off x="787125" y="3101377"/>
            <a:ext cx="397213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Action transformers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52"/>
          <p:cNvSpPr/>
          <p:nvPr/>
        </p:nvSpPr>
        <p:spPr>
          <a:xfrm>
            <a:off x="799825" y="4049304"/>
            <a:ext cx="397213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Decision transformers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269" idx="1"/>
          </p:cNvCxnSpPr>
          <p:nvPr/>
        </p:nvCxnSpPr>
        <p:spPr>
          <a:xfrm rot="10800000" flipH="1" flipV="1">
            <a:off x="786525" y="1393625"/>
            <a:ext cx="600" cy="947926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cxnSpLocks/>
            <a:stCxn id="269" idx="1"/>
            <a:endCxn id="270" idx="1"/>
          </p:cNvCxnSpPr>
          <p:nvPr/>
        </p:nvCxnSpPr>
        <p:spPr>
          <a:xfrm rot="10800000" flipV="1">
            <a:off x="787125" y="2341551"/>
            <a:ext cx="12700" cy="94792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cxnSpLocks/>
            <a:stCxn id="270" idx="1"/>
            <a:endCxn id="272" idx="1"/>
          </p:cNvCxnSpPr>
          <p:nvPr/>
        </p:nvCxnSpPr>
        <p:spPr>
          <a:xfrm rot="10800000" flipH="1" flipV="1">
            <a:off x="787125" y="3289476"/>
            <a:ext cx="12700" cy="947927"/>
          </a:xfrm>
          <a:prstGeom prst="curvedConnector3">
            <a:avLst>
              <a:gd name="adj1" fmla="val -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46323C-26F8-244E-A9F7-E42FB94A0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899"/>
          <a:stretch/>
        </p:blipFill>
        <p:spPr bwMode="auto">
          <a:xfrm>
            <a:off x="5191828" y="1266907"/>
            <a:ext cx="3209605" cy="309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1519140004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пути применения архитектуры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Transformers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RL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разницу между подходами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transformers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decision transformers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59821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666793034"/>
              </p:ext>
            </p:extLst>
          </p:nvPr>
        </p:nvGraphicFramePr>
        <p:xfrm>
          <a:off x="952500" y="1544194"/>
          <a:ext cx="7239000" cy="1154284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Программировать задачи обучения с подкреплением для окружений большой размерности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непрерывного пространства действий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работу сложных современных алгоритмов и использовать их в своих проектах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On-line </a:t>
            </a:r>
            <a:r>
              <a:rPr lang="ru-RU" sz="4900" dirty="0"/>
              <a:t>и </a:t>
            </a:r>
            <a:r>
              <a:rPr lang="en-US" sz="4900" dirty="0"/>
              <a:t>off-line </a:t>
            </a:r>
            <a:r>
              <a:rPr lang="ru-RU" sz="4900" dirty="0"/>
              <a:t>обучение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5386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Main idea</a:t>
            </a:r>
            <a:endParaRPr dirty="0"/>
          </a:p>
        </p:txBody>
      </p:sp>
      <p:sp>
        <p:nvSpPr>
          <p:cNvPr id="2" name="Snip Diagonal Corner Rectangle 1">
            <a:extLst>
              <a:ext uri="{FF2B5EF4-FFF2-40B4-BE49-F238E27FC236}">
                <a16:creationId xmlns:a16="http://schemas.microsoft.com/office/drawing/2014/main" id="{53AB5099-5B9A-8E4D-9E5A-194B600ACBBB}"/>
              </a:ext>
            </a:extLst>
          </p:cNvPr>
          <p:cNvSpPr/>
          <p:nvPr/>
        </p:nvSpPr>
        <p:spPr>
          <a:xfrm>
            <a:off x="3517378" y="2830506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E7D63A-C2DC-8845-A26A-454E3F7E376D}"/>
              </a:ext>
            </a:extLst>
          </p:cNvPr>
          <p:cNvCxnSpPr>
            <a:cxnSpLocks/>
          </p:cNvCxnSpPr>
          <p:nvPr/>
        </p:nvCxnSpPr>
        <p:spPr>
          <a:xfrm>
            <a:off x="4682465" y="2822666"/>
            <a:ext cx="0" cy="198222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apezoid 10">
            <a:extLst>
              <a:ext uri="{FF2B5EF4-FFF2-40B4-BE49-F238E27FC236}">
                <a16:creationId xmlns:a16="http://schemas.microsoft.com/office/drawing/2014/main" id="{6A7CA5C5-FF80-D945-B56D-8901852E3E6A}"/>
              </a:ext>
            </a:extLst>
          </p:cNvPr>
          <p:cNvSpPr/>
          <p:nvPr/>
        </p:nvSpPr>
        <p:spPr>
          <a:xfrm rot="5400000">
            <a:off x="4762244" y="3156609"/>
            <a:ext cx="1380807" cy="1216152"/>
          </a:xfrm>
          <a:prstGeom prst="trapezoid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D97C7-897C-394C-81BD-2F58FBE7AE74}"/>
              </a:ext>
            </a:extLst>
          </p:cNvPr>
          <p:cNvSpPr txBox="1"/>
          <p:nvPr/>
        </p:nvSpPr>
        <p:spPr>
          <a:xfrm>
            <a:off x="5012462" y="3503072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</a:t>
            </a:r>
            <a:br>
              <a:rPr lang="en-US" dirty="0"/>
            </a:br>
            <a:r>
              <a:rPr lang="en-US" dirty="0"/>
              <a:t>extractor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637414-B0E7-FC4F-B35B-F2D28BF305E8}"/>
              </a:ext>
            </a:extLst>
          </p:cNvPr>
          <p:cNvSpPr/>
          <p:nvPr/>
        </p:nvSpPr>
        <p:spPr>
          <a:xfrm>
            <a:off x="6271926" y="3387262"/>
            <a:ext cx="1478996" cy="748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Fully connected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EDAC07-B569-B946-92AA-691A6BBF7459}"/>
              </a:ext>
            </a:extLst>
          </p:cNvPr>
          <p:cNvCxnSpPr>
            <a:stCxn id="14" idx="3"/>
          </p:cNvCxnSpPr>
          <p:nvPr/>
        </p:nvCxnSpPr>
        <p:spPr>
          <a:xfrm>
            <a:off x="7750922" y="3761614"/>
            <a:ext cx="294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2B1CB0B-E534-D64E-A94B-8CD23BEFD824}"/>
              </a:ext>
            </a:extLst>
          </p:cNvPr>
          <p:cNvSpPr txBox="1"/>
          <p:nvPr/>
        </p:nvSpPr>
        <p:spPr>
          <a:xfrm>
            <a:off x="8119137" y="3607725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Action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D37F7E-02A2-A84A-94AC-4996B049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017" y="622621"/>
            <a:ext cx="1383253" cy="1949129"/>
          </a:xfrm>
          <a:prstGeom prst="rect">
            <a:avLst/>
          </a:prstGeom>
        </p:spPr>
      </p:pic>
      <p:sp>
        <p:nvSpPr>
          <p:cNvPr id="26" name="Notched Right Arrow 25">
            <a:extLst>
              <a:ext uri="{FF2B5EF4-FFF2-40B4-BE49-F238E27FC236}">
                <a16:creationId xmlns:a16="http://schemas.microsoft.com/office/drawing/2014/main" id="{A96E6D5A-BF73-9D40-ACF7-B45108943C99}"/>
              </a:ext>
            </a:extLst>
          </p:cNvPr>
          <p:cNvSpPr/>
          <p:nvPr/>
        </p:nvSpPr>
        <p:spPr>
          <a:xfrm rot="5400000">
            <a:off x="5169027" y="2613052"/>
            <a:ext cx="567235" cy="484632"/>
          </a:xfrm>
          <a:prstGeom prst="notchedRightArrow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C8FAF-C878-9A43-A090-7683F38B6840}"/>
              </a:ext>
            </a:extLst>
          </p:cNvPr>
          <p:cNvSpPr txBox="1"/>
          <p:nvPr/>
        </p:nvSpPr>
        <p:spPr>
          <a:xfrm>
            <a:off x="47208" y="4712613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hlinkClick r:id="rId4"/>
              </a:rPr>
              <a:t>Обзорная статья о трансформерах в </a:t>
            </a:r>
            <a:r>
              <a:rPr lang="en-US" sz="1000" dirty="0">
                <a:hlinkClick r:id="rId4"/>
              </a:rPr>
              <a:t>RL</a:t>
            </a:r>
            <a:endParaRPr lang="ru-RU" sz="1000" dirty="0"/>
          </a:p>
          <a:p>
            <a:r>
              <a:rPr lang="ru-RU" sz="1000" dirty="0">
                <a:hlinkClick r:id="rId5"/>
              </a:rPr>
              <a:t>Пример использования для среды </a:t>
            </a:r>
            <a:r>
              <a:rPr lang="en-US" sz="1000" dirty="0">
                <a:hlinkClick r:id="rId5"/>
              </a:rPr>
              <a:t>Gym</a:t>
            </a:r>
            <a:endParaRPr lang="en-US" sz="1000" dirty="0"/>
          </a:p>
        </p:txBody>
      </p:sp>
      <p:sp>
        <p:nvSpPr>
          <p:cNvPr id="15" name="Snip Diagonal Corner Rectangle 14">
            <a:extLst>
              <a:ext uri="{FF2B5EF4-FFF2-40B4-BE49-F238E27FC236}">
                <a16:creationId xmlns:a16="http://schemas.microsoft.com/office/drawing/2014/main" id="{C60EAA05-28B8-D241-AA18-6950ACC6D37D}"/>
              </a:ext>
            </a:extLst>
          </p:cNvPr>
          <p:cNvSpPr/>
          <p:nvPr/>
        </p:nvSpPr>
        <p:spPr>
          <a:xfrm>
            <a:off x="3451801" y="2959132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Snip Diagonal Corner Rectangle 15">
            <a:extLst>
              <a:ext uri="{FF2B5EF4-FFF2-40B4-BE49-F238E27FC236}">
                <a16:creationId xmlns:a16="http://schemas.microsoft.com/office/drawing/2014/main" id="{1095F0AB-0267-C14C-AB87-74D1E2FD02E3}"/>
              </a:ext>
            </a:extLst>
          </p:cNvPr>
          <p:cNvSpPr/>
          <p:nvPr/>
        </p:nvSpPr>
        <p:spPr>
          <a:xfrm>
            <a:off x="3378916" y="3087758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Snip Diagonal Corner Rectangle 16">
            <a:extLst>
              <a:ext uri="{FF2B5EF4-FFF2-40B4-BE49-F238E27FC236}">
                <a16:creationId xmlns:a16="http://schemas.microsoft.com/office/drawing/2014/main" id="{448B3385-B353-1F41-A150-4F3ED0217BE7}"/>
              </a:ext>
            </a:extLst>
          </p:cNvPr>
          <p:cNvSpPr/>
          <p:nvPr/>
        </p:nvSpPr>
        <p:spPr>
          <a:xfrm>
            <a:off x="3311115" y="3209958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FC0E4-2525-AF41-83B9-595A0AF4083A}"/>
              </a:ext>
            </a:extLst>
          </p:cNvPr>
          <p:cNvSpPr txBox="1"/>
          <p:nvPr/>
        </p:nvSpPr>
        <p:spPr>
          <a:xfrm rot="18164318">
            <a:off x="3210844" y="3746472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3EE62-5702-C74F-BD03-14ED87DCE325}"/>
              </a:ext>
            </a:extLst>
          </p:cNvPr>
          <p:cNvSpPr txBox="1"/>
          <p:nvPr/>
        </p:nvSpPr>
        <p:spPr>
          <a:xfrm>
            <a:off x="445318" y="1426624"/>
            <a:ext cx="2582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Будем предполагать, что марковость процесса нарушается и порядок смены состояний важен.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89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On-line </a:t>
            </a:r>
            <a:r>
              <a:rPr lang="ru-RU" dirty="0"/>
              <a:t>и </a:t>
            </a:r>
            <a:r>
              <a:rPr lang="en-US" dirty="0"/>
              <a:t>off-line </a:t>
            </a:r>
            <a:r>
              <a:rPr lang="ru-RU" dirty="0"/>
              <a:t>обучение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BB9A6C2-3E75-DF44-80C2-BBA596384E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02"/>
          <a:stretch/>
        </p:blipFill>
        <p:spPr bwMode="auto">
          <a:xfrm>
            <a:off x="0" y="878674"/>
            <a:ext cx="3172784" cy="309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28348C-4DC4-584C-8274-B76BC771615B}"/>
              </a:ext>
            </a:extLst>
          </p:cNvPr>
          <p:cNvSpPr txBox="1"/>
          <p:nvPr/>
        </p:nvSpPr>
        <p:spPr>
          <a:xfrm>
            <a:off x="3473493" y="1167613"/>
            <a:ext cx="55476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В </a:t>
            </a:r>
            <a:r>
              <a:rPr lang="ru-RU" b="1" i="0" u="none" strike="noStrike" dirty="0">
                <a:solidFill>
                  <a:srgbClr val="000000"/>
                </a:solidFill>
                <a:effectLst/>
              </a:rPr>
              <a:t>онлайн-обучении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 с подкреплением агент собирает данные напрямую: он формирует выборку опыта, взаимодействуя с окружающей средой. Затем он немедленно использует этот опыт (или через буфер воспроизведения), чтобы обучиться на нем (обновить свою политику).</a:t>
            </a:r>
          </a:p>
          <a:p>
            <a:pPr algn="l"/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Однако это предполагает, что вы либо обучаете агента непосредственно в реальном мире, либо используете симулятор. Если у вас нет симулятора, его необходимо создать, что может быть очень сложным (как отразить сложную реальность окружающего мира в среде?), дорогим и небезопасным, так как если в симуляторе есть недостатки, агент их использует, если это дает ему конкурентное преимущество.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On-line </a:t>
            </a:r>
            <a:r>
              <a:rPr lang="ru-RU" dirty="0"/>
              <a:t>и </a:t>
            </a:r>
            <a:r>
              <a:rPr lang="en-US" dirty="0"/>
              <a:t>off-line </a:t>
            </a:r>
            <a:r>
              <a:rPr lang="ru-RU" dirty="0"/>
              <a:t>обучение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BB9A6C2-3E75-DF44-80C2-BBA596384E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1"/>
          <a:stretch/>
        </p:blipFill>
        <p:spPr bwMode="auto">
          <a:xfrm>
            <a:off x="3718968" y="878674"/>
            <a:ext cx="5425031" cy="309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514246-6CDD-A043-BA05-F6368D001056}"/>
              </a:ext>
            </a:extLst>
          </p:cNvPr>
          <p:cNvSpPr txBox="1"/>
          <p:nvPr/>
        </p:nvSpPr>
        <p:spPr>
          <a:xfrm>
            <a:off x="500550" y="1734783"/>
            <a:ext cx="28291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В </a:t>
            </a:r>
            <a:r>
              <a:rPr lang="ru-RU" b="1" i="0" u="none" strike="noStrike" dirty="0" err="1">
                <a:solidFill>
                  <a:srgbClr val="000000"/>
                </a:solidFill>
                <a:effectLst/>
                <a:latin typeface="+mn-lt"/>
              </a:rPr>
              <a:t>оффлайн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-обучении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n-lt"/>
              </a:rPr>
              <a:t> с подкреплением агент использует только данные, собранные другими агентами или в результате демонстрации человеком.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301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Архитектура </a:t>
            </a:r>
            <a:r>
              <a:rPr lang="en-US" sz="4900" dirty="0"/>
              <a:t>transformer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5650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Архитектура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transformers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61C492-8528-5348-A73D-38F96AC39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32" y="757633"/>
            <a:ext cx="3026718" cy="4264920"/>
          </a:xfrm>
          <a:prstGeom prst="rect">
            <a:avLst/>
          </a:prstGeom>
        </p:spPr>
      </p:pic>
      <p:pic>
        <p:nvPicPr>
          <p:cNvPr id="5" name="Google Shape;63;p15">
            <a:extLst>
              <a:ext uri="{FF2B5EF4-FFF2-40B4-BE49-F238E27FC236}">
                <a16:creationId xmlns:a16="http://schemas.microsoft.com/office/drawing/2014/main" id="{36260BF7-66BF-3A42-B603-31048312C98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395" y="1111541"/>
            <a:ext cx="5323876" cy="35571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911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Архитектура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transformers</a:t>
            </a:r>
            <a:endParaRPr dirty="0"/>
          </a:p>
        </p:txBody>
      </p:sp>
      <p:pic>
        <p:nvPicPr>
          <p:cNvPr id="6" name="Google Shape;213;p42">
            <a:extLst>
              <a:ext uri="{FF2B5EF4-FFF2-40B4-BE49-F238E27FC236}">
                <a16:creationId xmlns:a16="http://schemas.microsoft.com/office/drawing/2014/main" id="{80AB6269-6341-3B4B-A577-AA7E0B9B1B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934" y="1184424"/>
            <a:ext cx="7435066" cy="38699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7633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Action transformers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3645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Action transformers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935DC-781F-DD4F-A5AE-222C8D4A6119}"/>
              </a:ext>
            </a:extLst>
          </p:cNvPr>
          <p:cNvSpPr txBox="1"/>
          <p:nvPr/>
        </p:nvSpPr>
        <p:spPr>
          <a:xfrm>
            <a:off x="500550" y="1232922"/>
            <a:ext cx="852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2424"/>
                </a:solidFill>
                <a:latin typeface="source-serif-pro"/>
              </a:rPr>
              <a:t>И</a:t>
            </a:r>
            <a:r>
              <a:rPr lang="ru-RU" b="0" i="0" u="none" strike="noStrike" dirty="0">
                <a:solidFill>
                  <a:srgbClr val="242424"/>
                </a:solidFill>
                <a:effectLst/>
                <a:latin typeface="source-serif-pro"/>
              </a:rPr>
              <a:t>спользуется для генерации действий на основе текущего состояния и истории предыдущих действий. </a:t>
            </a:r>
            <a:br>
              <a:rPr lang="ru-RU" b="0" i="0" u="none" strike="noStrike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ru-RU" b="0" i="0" u="none" strike="noStrike" dirty="0">
                <a:solidFill>
                  <a:srgbClr val="242424"/>
                </a:solidFill>
                <a:effectLst/>
                <a:latin typeface="source-serif-pro"/>
              </a:rPr>
              <a:t>Основная идея заключается в использовании </a:t>
            </a:r>
            <a:r>
              <a:rPr lang="ru-RU" b="0" i="0" u="none" strike="noStrike" dirty="0" err="1">
                <a:solidFill>
                  <a:srgbClr val="242424"/>
                </a:solidFill>
                <a:effectLst/>
                <a:latin typeface="source-serif-pro"/>
              </a:rPr>
              <a:t>трансформеров</a:t>
            </a:r>
            <a:r>
              <a:rPr lang="ru-RU" b="0" i="0" u="none" strike="noStrike" dirty="0">
                <a:solidFill>
                  <a:srgbClr val="242424"/>
                </a:solidFill>
                <a:effectLst/>
                <a:latin typeface="source-serif-pro"/>
              </a:rPr>
              <a:t> для моделирования зависимостей между последовательными действиями и состояниями.</a:t>
            </a:r>
            <a:endParaRPr lang="en-GB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sp>
        <p:nvSpPr>
          <p:cNvPr id="4" name="Snip Diagonal Corner Rectangle 3">
            <a:extLst>
              <a:ext uri="{FF2B5EF4-FFF2-40B4-BE49-F238E27FC236}">
                <a16:creationId xmlns:a16="http://schemas.microsoft.com/office/drawing/2014/main" id="{C935FE94-7EE2-704C-99CC-D42C557C6D01}"/>
              </a:ext>
            </a:extLst>
          </p:cNvPr>
          <p:cNvSpPr/>
          <p:nvPr/>
        </p:nvSpPr>
        <p:spPr>
          <a:xfrm>
            <a:off x="2179531" y="2689357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2966D6-6AC2-4D43-8215-867CB11EC71C}"/>
              </a:ext>
            </a:extLst>
          </p:cNvPr>
          <p:cNvCxnSpPr>
            <a:cxnSpLocks/>
          </p:cNvCxnSpPr>
          <p:nvPr/>
        </p:nvCxnSpPr>
        <p:spPr>
          <a:xfrm>
            <a:off x="3344618" y="2681517"/>
            <a:ext cx="0" cy="198222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apezoid 5">
            <a:extLst>
              <a:ext uri="{FF2B5EF4-FFF2-40B4-BE49-F238E27FC236}">
                <a16:creationId xmlns:a16="http://schemas.microsoft.com/office/drawing/2014/main" id="{64E6F3B5-77F9-ED4C-BB81-6843F3F86855}"/>
              </a:ext>
            </a:extLst>
          </p:cNvPr>
          <p:cNvSpPr/>
          <p:nvPr/>
        </p:nvSpPr>
        <p:spPr>
          <a:xfrm rot="5400000">
            <a:off x="3502380" y="2937477"/>
            <a:ext cx="1380807" cy="1372119"/>
          </a:xfrm>
          <a:prstGeom prst="trapezoid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1B50E5-EDE8-2241-8363-AA8389DBE0D5}"/>
              </a:ext>
            </a:extLst>
          </p:cNvPr>
          <p:cNvSpPr txBox="1"/>
          <p:nvPr/>
        </p:nvSpPr>
        <p:spPr>
          <a:xfrm>
            <a:off x="3644085" y="3466576"/>
            <a:ext cx="1185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CAE668-47EF-874A-9E7F-2B8AE0728088}"/>
              </a:ext>
            </a:extLst>
          </p:cNvPr>
          <p:cNvSpPr/>
          <p:nvPr/>
        </p:nvSpPr>
        <p:spPr>
          <a:xfrm>
            <a:off x="4934079" y="3246113"/>
            <a:ext cx="1478996" cy="748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Fully connected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E2CEF1-A402-E146-BA5C-D7C7EDEF5E8E}"/>
              </a:ext>
            </a:extLst>
          </p:cNvPr>
          <p:cNvCxnSpPr>
            <a:stCxn id="8" idx="3"/>
          </p:cNvCxnSpPr>
          <p:nvPr/>
        </p:nvCxnSpPr>
        <p:spPr>
          <a:xfrm>
            <a:off x="6413075" y="3620465"/>
            <a:ext cx="294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841FDA-7744-DC4B-9D11-5DC14A6B717A}"/>
              </a:ext>
            </a:extLst>
          </p:cNvPr>
          <p:cNvSpPr txBox="1"/>
          <p:nvPr/>
        </p:nvSpPr>
        <p:spPr>
          <a:xfrm>
            <a:off x="6781290" y="3466576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Action </a:t>
            </a:r>
          </a:p>
        </p:txBody>
      </p:sp>
      <p:sp>
        <p:nvSpPr>
          <p:cNvPr id="12" name="Snip Diagonal Corner Rectangle 11">
            <a:extLst>
              <a:ext uri="{FF2B5EF4-FFF2-40B4-BE49-F238E27FC236}">
                <a16:creationId xmlns:a16="http://schemas.microsoft.com/office/drawing/2014/main" id="{408F7532-359C-AC4E-9982-8C3403D25D0B}"/>
              </a:ext>
            </a:extLst>
          </p:cNvPr>
          <p:cNvSpPr/>
          <p:nvPr/>
        </p:nvSpPr>
        <p:spPr>
          <a:xfrm>
            <a:off x="2113954" y="2817983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nip Diagonal Corner Rectangle 12">
            <a:extLst>
              <a:ext uri="{FF2B5EF4-FFF2-40B4-BE49-F238E27FC236}">
                <a16:creationId xmlns:a16="http://schemas.microsoft.com/office/drawing/2014/main" id="{C3102173-DDB9-EE48-9EE8-753EBCD20F26}"/>
              </a:ext>
            </a:extLst>
          </p:cNvPr>
          <p:cNvSpPr/>
          <p:nvPr/>
        </p:nvSpPr>
        <p:spPr>
          <a:xfrm>
            <a:off x="2041069" y="2946609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nip Diagonal Corner Rectangle 13">
            <a:extLst>
              <a:ext uri="{FF2B5EF4-FFF2-40B4-BE49-F238E27FC236}">
                <a16:creationId xmlns:a16="http://schemas.microsoft.com/office/drawing/2014/main" id="{281C09C1-C106-B448-A4E3-781DF20D0B87}"/>
              </a:ext>
            </a:extLst>
          </p:cNvPr>
          <p:cNvSpPr/>
          <p:nvPr/>
        </p:nvSpPr>
        <p:spPr>
          <a:xfrm>
            <a:off x="1973268" y="3068809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CFB39-8EB5-1A44-A8B2-F9F981FB29D2}"/>
              </a:ext>
            </a:extLst>
          </p:cNvPr>
          <p:cNvSpPr txBox="1"/>
          <p:nvPr/>
        </p:nvSpPr>
        <p:spPr>
          <a:xfrm rot="18164318">
            <a:off x="1872997" y="3605323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Observation</a:t>
            </a:r>
          </a:p>
        </p:txBody>
      </p:sp>
    </p:spTree>
    <p:extLst>
      <p:ext uri="{BB962C8B-B14F-4D97-AF65-F5344CB8AC3E}">
        <p14:creationId xmlns:p14="http://schemas.microsoft.com/office/powerpoint/2010/main" val="2944920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Decision transformers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352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Decision transformers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935DC-781F-DD4F-A5AE-222C8D4A6119}"/>
              </a:ext>
            </a:extLst>
          </p:cNvPr>
          <p:cNvSpPr txBox="1"/>
          <p:nvPr/>
        </p:nvSpPr>
        <p:spPr>
          <a:xfrm>
            <a:off x="500550" y="1232922"/>
            <a:ext cx="8520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Transformer</a:t>
            </a:r>
            <a:r>
              <a:rPr lang="ru-RU" dirty="0"/>
              <a:t> принимает на вход желаемое суммарное вознаграждение</a:t>
            </a:r>
            <a:r>
              <a:rPr lang="en-GB" dirty="0"/>
              <a:t>, </a:t>
            </a:r>
            <a:r>
              <a:rPr lang="ru-RU" dirty="0"/>
              <a:t>предыдущие состояния и действия, чтобы сгенерировать будущие действия, направленные на достижение желаемого вознаграждения. Это </a:t>
            </a:r>
            <a:r>
              <a:rPr lang="ru-RU" dirty="0" err="1"/>
              <a:t>авторегрессионная</a:t>
            </a:r>
            <a:r>
              <a:rPr lang="ru-RU" dirty="0"/>
              <a:t> модель, которая генерирует будущие действия, основываясь на желаемом вознаграждении, прошлых состояниях и действиях.</a:t>
            </a:r>
          </a:p>
          <a:p>
            <a:endParaRPr lang="ru-RU" dirty="0"/>
          </a:p>
          <a:p>
            <a:r>
              <a:rPr lang="ru-RU" dirty="0"/>
              <a:t>Этот подход представляет собой полное изменение парадигмы обучения с подкреплением, так как вместо использования традиционных алгоритмов </a:t>
            </a:r>
            <a:r>
              <a:rPr lang="en-GB" dirty="0"/>
              <a:t>RL </a:t>
            </a:r>
            <a:r>
              <a:rPr lang="ru-RU" dirty="0"/>
              <a:t>используется генеративное моделирование траекторий (моделирование совместного распределения последовательности состояний, действий и вознаграждений). Это означает, что в </a:t>
            </a:r>
            <a:r>
              <a:rPr lang="en-GB" dirty="0"/>
              <a:t>Decision Transformers </a:t>
            </a:r>
            <a:r>
              <a:rPr lang="ru-RU" dirty="0"/>
              <a:t>мы не максимизируем вознаграждение напрямую, а генерируем последовательность будущих действий, которые приводят к достижению заданного уровня вознаграждения.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4073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Decision transformers</a:t>
            </a:r>
            <a:endParaRPr dirty="0"/>
          </a:p>
        </p:txBody>
      </p:sp>
      <p:sp>
        <p:nvSpPr>
          <p:cNvPr id="4" name="Snip Diagonal Corner Rectangle 3">
            <a:extLst>
              <a:ext uri="{FF2B5EF4-FFF2-40B4-BE49-F238E27FC236}">
                <a16:creationId xmlns:a16="http://schemas.microsoft.com/office/drawing/2014/main" id="{1F0263CE-3B69-C64B-9FA6-BDF0456B8FE7}"/>
              </a:ext>
            </a:extLst>
          </p:cNvPr>
          <p:cNvSpPr/>
          <p:nvPr/>
        </p:nvSpPr>
        <p:spPr>
          <a:xfrm>
            <a:off x="706813" y="1719724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7FE654-2654-A942-86BC-5F3745AF0C3A}"/>
              </a:ext>
            </a:extLst>
          </p:cNvPr>
          <p:cNvCxnSpPr>
            <a:cxnSpLocks/>
          </p:cNvCxnSpPr>
          <p:nvPr/>
        </p:nvCxnSpPr>
        <p:spPr>
          <a:xfrm>
            <a:off x="1871900" y="1711884"/>
            <a:ext cx="0" cy="198222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apezoid 5">
            <a:extLst>
              <a:ext uri="{FF2B5EF4-FFF2-40B4-BE49-F238E27FC236}">
                <a16:creationId xmlns:a16="http://schemas.microsoft.com/office/drawing/2014/main" id="{A613D18B-C67A-4C4B-B8D8-369C47397F36}"/>
              </a:ext>
            </a:extLst>
          </p:cNvPr>
          <p:cNvSpPr/>
          <p:nvPr/>
        </p:nvSpPr>
        <p:spPr>
          <a:xfrm rot="5400000">
            <a:off x="2515336" y="1482169"/>
            <a:ext cx="1380807" cy="2343469"/>
          </a:xfrm>
          <a:prstGeom prst="trapezoid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80FFA-D416-944B-9CDC-7BC967CF1AF6}"/>
              </a:ext>
            </a:extLst>
          </p:cNvPr>
          <p:cNvSpPr txBox="1"/>
          <p:nvPr/>
        </p:nvSpPr>
        <p:spPr>
          <a:xfrm>
            <a:off x="2612829" y="2513490"/>
            <a:ext cx="1185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C1441-E6FF-9C44-811C-6176FD6900B2}"/>
              </a:ext>
            </a:extLst>
          </p:cNvPr>
          <p:cNvSpPr/>
          <p:nvPr/>
        </p:nvSpPr>
        <p:spPr>
          <a:xfrm>
            <a:off x="4572000" y="2288754"/>
            <a:ext cx="1478996" cy="748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Fully connected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2EDB1F-1EDE-254B-963D-7DFC3AD0E491}"/>
              </a:ext>
            </a:extLst>
          </p:cNvPr>
          <p:cNvCxnSpPr>
            <a:stCxn id="8" idx="3"/>
          </p:cNvCxnSpPr>
          <p:nvPr/>
        </p:nvCxnSpPr>
        <p:spPr>
          <a:xfrm>
            <a:off x="6050996" y="2663106"/>
            <a:ext cx="294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46468D-EBB9-F44F-BA11-CA456595365A}"/>
              </a:ext>
            </a:extLst>
          </p:cNvPr>
          <p:cNvSpPr txBox="1"/>
          <p:nvPr/>
        </p:nvSpPr>
        <p:spPr>
          <a:xfrm>
            <a:off x="1966297" y="3540370"/>
            <a:ext cx="801823" cy="738664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Action</a:t>
            </a:r>
            <a:endParaRPr lang="ru-RU" dirty="0"/>
          </a:p>
          <a:p>
            <a:pPr algn="ctr"/>
            <a:r>
              <a:rPr lang="en-US" dirty="0"/>
              <a:t>Reward</a:t>
            </a:r>
          </a:p>
          <a:p>
            <a:pPr algn="ctr"/>
            <a:r>
              <a:rPr lang="en-US" dirty="0"/>
              <a:t>State 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2A63F3E3-4E4A-2C45-AEC2-E9194FE0481E}"/>
              </a:ext>
            </a:extLst>
          </p:cNvPr>
          <p:cNvSpPr/>
          <p:nvPr/>
        </p:nvSpPr>
        <p:spPr>
          <a:xfrm>
            <a:off x="641236" y="1848350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nip Diagonal Corner Rectangle 11">
            <a:extLst>
              <a:ext uri="{FF2B5EF4-FFF2-40B4-BE49-F238E27FC236}">
                <a16:creationId xmlns:a16="http://schemas.microsoft.com/office/drawing/2014/main" id="{07812B39-4584-B542-803E-13B8D416E2A8}"/>
              </a:ext>
            </a:extLst>
          </p:cNvPr>
          <p:cNvSpPr/>
          <p:nvPr/>
        </p:nvSpPr>
        <p:spPr>
          <a:xfrm>
            <a:off x="568351" y="1976976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nip Diagonal Corner Rectangle 12">
            <a:extLst>
              <a:ext uri="{FF2B5EF4-FFF2-40B4-BE49-F238E27FC236}">
                <a16:creationId xmlns:a16="http://schemas.microsoft.com/office/drawing/2014/main" id="{4A678578-2245-CC43-BDCB-926F08ABD37A}"/>
              </a:ext>
            </a:extLst>
          </p:cNvPr>
          <p:cNvSpPr/>
          <p:nvPr/>
        </p:nvSpPr>
        <p:spPr>
          <a:xfrm>
            <a:off x="500550" y="2099176"/>
            <a:ext cx="972309" cy="1380806"/>
          </a:xfrm>
          <a:prstGeom prst="snip2DiagRect">
            <a:avLst>
              <a:gd name="adj1" fmla="val 0"/>
              <a:gd name="adj2" fmla="val 261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3A9F8F-6665-F341-8C53-2847225FCEE6}"/>
              </a:ext>
            </a:extLst>
          </p:cNvPr>
          <p:cNvSpPr txBox="1"/>
          <p:nvPr/>
        </p:nvSpPr>
        <p:spPr>
          <a:xfrm rot="18164318">
            <a:off x="400279" y="2635690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DB333-592C-0B46-A802-92300514BB40}"/>
              </a:ext>
            </a:extLst>
          </p:cNvPr>
          <p:cNvSpPr txBox="1"/>
          <p:nvPr/>
        </p:nvSpPr>
        <p:spPr>
          <a:xfrm>
            <a:off x="3575651" y="3540370"/>
            <a:ext cx="801823" cy="738664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Action</a:t>
            </a:r>
            <a:endParaRPr lang="ru-RU" dirty="0"/>
          </a:p>
          <a:p>
            <a:pPr algn="ctr"/>
            <a:r>
              <a:rPr lang="en-US" dirty="0"/>
              <a:t>Reward</a:t>
            </a:r>
          </a:p>
          <a:p>
            <a:pPr algn="ctr"/>
            <a:r>
              <a:rPr lang="en-US" dirty="0"/>
              <a:t>State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9332C9-17FC-C84B-829D-E3AFD2B5EB55}"/>
              </a:ext>
            </a:extLst>
          </p:cNvPr>
          <p:cNvSpPr txBox="1"/>
          <p:nvPr/>
        </p:nvSpPr>
        <p:spPr>
          <a:xfrm>
            <a:off x="2989784" y="369410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FADE711-FB94-BD49-9BA3-BC99078C6636}"/>
              </a:ext>
            </a:extLst>
          </p:cNvPr>
          <p:cNvSpPr/>
          <p:nvPr/>
        </p:nvSpPr>
        <p:spPr>
          <a:xfrm rot="5400000">
            <a:off x="3116994" y="3244922"/>
            <a:ext cx="128626" cy="239233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175EB3-2277-744F-828F-FB8A0EBAE1BB}"/>
                  </a:ext>
                </a:extLst>
              </p:cNvPr>
              <p:cNvSpPr txBox="1"/>
              <p:nvPr/>
            </p:nvSpPr>
            <p:spPr>
              <a:xfrm>
                <a:off x="6426796" y="2392294"/>
                <a:ext cx="6831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Action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175EB3-2277-744F-828F-FB8A0EBAE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796" y="2392294"/>
                <a:ext cx="683199" cy="523220"/>
              </a:xfrm>
              <a:prstGeom prst="rect">
                <a:avLst/>
              </a:prstGeom>
              <a:blipFill>
                <a:blip r:embed="rId3"/>
                <a:stretch>
                  <a:fillRect l="-1818" t="-2381" r="-3636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63CD14-9E9E-E943-8238-11FD2C6C6ED3}"/>
                  </a:ext>
                </a:extLst>
              </p:cNvPr>
              <p:cNvSpPr txBox="1"/>
              <p:nvPr/>
            </p:nvSpPr>
            <p:spPr>
              <a:xfrm>
                <a:off x="7782322" y="2392294"/>
                <a:ext cx="6831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Action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63CD14-9E9E-E943-8238-11FD2C6C6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322" y="2392294"/>
                <a:ext cx="683199" cy="523220"/>
              </a:xfrm>
              <a:prstGeom prst="rect">
                <a:avLst/>
              </a:prstGeom>
              <a:blipFill>
                <a:blip r:embed="rId4"/>
                <a:stretch>
                  <a:fillRect l="-1818" t="-2381" r="-1818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67BC248-8245-F244-8DF3-06057EFE4356}"/>
              </a:ext>
            </a:extLst>
          </p:cNvPr>
          <p:cNvSpPr txBox="1"/>
          <p:nvPr/>
        </p:nvSpPr>
        <p:spPr>
          <a:xfrm>
            <a:off x="7258622" y="239229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7E25BDEC-739E-7744-B1D1-93DFACA24906}"/>
              </a:ext>
            </a:extLst>
          </p:cNvPr>
          <p:cNvSpPr/>
          <p:nvPr/>
        </p:nvSpPr>
        <p:spPr>
          <a:xfrm rot="5400000">
            <a:off x="7349087" y="1956040"/>
            <a:ext cx="128626" cy="20475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2E43C6E-10D5-DE43-AEF5-3FBEC884EB36}"/>
                  </a:ext>
                </a:extLst>
              </p:cNvPr>
              <p:cNvSpPr txBox="1"/>
              <p:nvPr/>
            </p:nvSpPr>
            <p:spPr>
              <a:xfrm>
                <a:off x="7240650" y="3063165"/>
                <a:ext cx="5907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2E43C6E-10D5-DE43-AEF5-3FBEC884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650" y="3063165"/>
                <a:ext cx="59078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108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Decision transformers</a:t>
            </a:r>
            <a:endParaRPr dirty="0"/>
          </a:p>
        </p:txBody>
      </p:sp>
      <p:pic>
        <p:nvPicPr>
          <p:cNvPr id="5122" name="Picture 2" descr="Critic-Guided Decision Transformer for Offline Reinforcement Learning">
            <a:extLst>
              <a:ext uri="{FF2B5EF4-FFF2-40B4-BE49-F238E27FC236}">
                <a16:creationId xmlns:a16="http://schemas.microsoft.com/office/drawing/2014/main" id="{871F4AD6-624A-CA49-A1E0-F0608833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13" y="1156449"/>
            <a:ext cx="4627690" cy="355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93BF7EF4-C19F-4E4D-906F-5CE886470189}"/>
              </a:ext>
            </a:extLst>
          </p:cNvPr>
          <p:cNvSpPr/>
          <p:nvPr/>
        </p:nvSpPr>
        <p:spPr>
          <a:xfrm>
            <a:off x="1889713" y="1111516"/>
            <a:ext cx="4063719" cy="3596263"/>
          </a:xfrm>
          <a:custGeom>
            <a:avLst/>
            <a:gdLst>
              <a:gd name="connsiteX0" fmla="*/ 2931421 w 4063719"/>
              <a:gd name="connsiteY0" fmla="*/ 0 h 3596263"/>
              <a:gd name="connsiteX1" fmla="*/ 3232365 w 4063719"/>
              <a:gd name="connsiteY1" fmla="*/ 0 h 3596263"/>
              <a:gd name="connsiteX2" fmla="*/ 3840344 w 4063719"/>
              <a:gd name="connsiteY2" fmla="*/ 0 h 3596263"/>
              <a:gd name="connsiteX3" fmla="*/ 3980673 w 4063719"/>
              <a:gd name="connsiteY3" fmla="*/ 0 h 3596263"/>
              <a:gd name="connsiteX4" fmla="*/ 4063719 w 4063719"/>
              <a:gd name="connsiteY4" fmla="*/ 83046 h 3596263"/>
              <a:gd name="connsiteX5" fmla="*/ 4063719 w 4063719"/>
              <a:gd name="connsiteY5" fmla="*/ 415220 h 3596263"/>
              <a:gd name="connsiteX6" fmla="*/ 3980673 w 4063719"/>
              <a:gd name="connsiteY6" fmla="*/ 498266 h 3596263"/>
              <a:gd name="connsiteX7" fmla="*/ 3919739 w 4063719"/>
              <a:gd name="connsiteY7" fmla="*/ 498266 h 3596263"/>
              <a:gd name="connsiteX8" fmla="*/ 3919739 w 4063719"/>
              <a:gd name="connsiteY8" fmla="*/ 1318727 h 3596263"/>
              <a:gd name="connsiteX9" fmla="*/ 3919739 w 4063719"/>
              <a:gd name="connsiteY9" fmla="*/ 1380839 h 3596263"/>
              <a:gd name="connsiteX10" fmla="*/ 3919739 w 4063719"/>
              <a:gd name="connsiteY10" fmla="*/ 3498561 h 3596263"/>
              <a:gd name="connsiteX11" fmla="*/ 3822037 w 4063719"/>
              <a:gd name="connsiteY11" fmla="*/ 3596263 h 3596263"/>
              <a:gd name="connsiteX12" fmla="*/ 2358379 w 4063719"/>
              <a:gd name="connsiteY12" fmla="*/ 3596263 h 3596263"/>
              <a:gd name="connsiteX13" fmla="*/ 2347542 w 4063719"/>
              <a:gd name="connsiteY13" fmla="*/ 3594075 h 3596263"/>
              <a:gd name="connsiteX14" fmla="*/ 2336705 w 4063719"/>
              <a:gd name="connsiteY14" fmla="*/ 3596263 h 3596263"/>
              <a:gd name="connsiteX15" fmla="*/ 92800 w 4063719"/>
              <a:gd name="connsiteY15" fmla="*/ 3596263 h 3596263"/>
              <a:gd name="connsiteX16" fmla="*/ 0 w 4063719"/>
              <a:gd name="connsiteY16" fmla="*/ 3503463 h 3596263"/>
              <a:gd name="connsiteX17" fmla="*/ 0 w 4063719"/>
              <a:gd name="connsiteY17" fmla="*/ 2113241 h 3596263"/>
              <a:gd name="connsiteX18" fmla="*/ 92800 w 4063719"/>
              <a:gd name="connsiteY18" fmla="*/ 2020441 h 3596263"/>
              <a:gd name="connsiteX19" fmla="*/ 2260677 w 4063719"/>
              <a:gd name="connsiteY19" fmla="*/ 2020441 h 3596263"/>
              <a:gd name="connsiteX20" fmla="*/ 2260677 w 4063719"/>
              <a:gd name="connsiteY20" fmla="*/ 1318727 h 3596263"/>
              <a:gd name="connsiteX21" fmla="*/ 2358379 w 4063719"/>
              <a:gd name="connsiteY21" fmla="*/ 1221025 h 3596263"/>
              <a:gd name="connsiteX22" fmla="*/ 2852026 w 4063719"/>
              <a:gd name="connsiteY22" fmla="*/ 1221025 h 3596263"/>
              <a:gd name="connsiteX23" fmla="*/ 2852026 w 4063719"/>
              <a:gd name="connsiteY23" fmla="*/ 79395 h 3596263"/>
              <a:gd name="connsiteX24" fmla="*/ 2931421 w 4063719"/>
              <a:gd name="connsiteY24" fmla="*/ 0 h 359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063719" h="3596263">
                <a:moveTo>
                  <a:pt x="2931421" y="0"/>
                </a:moveTo>
                <a:lnTo>
                  <a:pt x="3232365" y="0"/>
                </a:lnTo>
                <a:lnTo>
                  <a:pt x="3840344" y="0"/>
                </a:lnTo>
                <a:lnTo>
                  <a:pt x="3980673" y="0"/>
                </a:lnTo>
                <a:cubicBezTo>
                  <a:pt x="4026538" y="0"/>
                  <a:pt x="4063719" y="37181"/>
                  <a:pt x="4063719" y="83046"/>
                </a:cubicBezTo>
                <a:lnTo>
                  <a:pt x="4063719" y="415220"/>
                </a:lnTo>
                <a:cubicBezTo>
                  <a:pt x="4063719" y="461085"/>
                  <a:pt x="4026538" y="498266"/>
                  <a:pt x="3980673" y="498266"/>
                </a:cubicBezTo>
                <a:lnTo>
                  <a:pt x="3919739" y="498266"/>
                </a:lnTo>
                <a:lnTo>
                  <a:pt x="3919739" y="1318727"/>
                </a:lnTo>
                <a:lnTo>
                  <a:pt x="3919739" y="1380839"/>
                </a:lnTo>
                <a:lnTo>
                  <a:pt x="3919739" y="3498561"/>
                </a:lnTo>
                <a:cubicBezTo>
                  <a:pt x="3919739" y="3552520"/>
                  <a:pt x="3875996" y="3596263"/>
                  <a:pt x="3822037" y="3596263"/>
                </a:cubicBezTo>
                <a:lnTo>
                  <a:pt x="2358379" y="3596263"/>
                </a:lnTo>
                <a:lnTo>
                  <a:pt x="2347542" y="3594075"/>
                </a:lnTo>
                <a:lnTo>
                  <a:pt x="2336705" y="3596263"/>
                </a:lnTo>
                <a:lnTo>
                  <a:pt x="92800" y="3596263"/>
                </a:lnTo>
                <a:cubicBezTo>
                  <a:pt x="41548" y="3596263"/>
                  <a:pt x="0" y="3554715"/>
                  <a:pt x="0" y="3503463"/>
                </a:cubicBezTo>
                <a:lnTo>
                  <a:pt x="0" y="2113241"/>
                </a:lnTo>
                <a:cubicBezTo>
                  <a:pt x="0" y="2061989"/>
                  <a:pt x="41548" y="2020441"/>
                  <a:pt x="92800" y="2020441"/>
                </a:cubicBezTo>
                <a:lnTo>
                  <a:pt x="2260677" y="2020441"/>
                </a:lnTo>
                <a:lnTo>
                  <a:pt x="2260677" y="1318727"/>
                </a:lnTo>
                <a:cubicBezTo>
                  <a:pt x="2260677" y="1264768"/>
                  <a:pt x="2304420" y="1221025"/>
                  <a:pt x="2358379" y="1221025"/>
                </a:cubicBezTo>
                <a:lnTo>
                  <a:pt x="2852026" y="1221025"/>
                </a:lnTo>
                <a:lnTo>
                  <a:pt x="2852026" y="79395"/>
                </a:lnTo>
                <a:cubicBezTo>
                  <a:pt x="2852026" y="35546"/>
                  <a:pt x="2887572" y="0"/>
                  <a:pt x="2931421" y="0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23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Decision transformers dropped steps</a:t>
            </a:r>
            <a:endParaRPr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4D855FB-DFA2-4246-82CF-B30CC6901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72"/>
          <a:stretch/>
        </p:blipFill>
        <p:spPr bwMode="auto">
          <a:xfrm>
            <a:off x="763141" y="1555422"/>
            <a:ext cx="7383647" cy="311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457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4187121355"/>
              </p:ext>
            </p:extLst>
          </p:nvPr>
        </p:nvGraphicFramePr>
        <p:xfrm>
          <a:off x="952500" y="137274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Посмотреть на применение алгоритма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88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1150">
              <a:buSzPts val="1300"/>
              <a:buFont typeface="Roboto"/>
              <a:buAutoNum type="arabicPeriod"/>
            </a:pPr>
            <a:r>
              <a:rPr lang="en-GB" sz="1300" dirty="0">
                <a:hlinkClick r:id="rId3"/>
              </a:rPr>
              <a:t>Decision Transformer: Reinforcement Learning via Sequence Modelling</a:t>
            </a:r>
            <a:endParaRPr lang="en-GB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en-GB" sz="1300" dirty="0">
                <a:hlinkClick r:id="rId4"/>
              </a:rPr>
              <a:t>Decision transformers (original)</a:t>
            </a:r>
            <a:endParaRPr lang="en-GB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5"/>
              </a:rPr>
              <a:t>Зоопарк трансформеров: большой обзор моделей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en-US" sz="1300" dirty="0">
                <a:hlinkClick r:id="rId6"/>
              </a:rPr>
              <a:t>Introducing Decision Transformers on Hugging Face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endParaRPr lang="ru-RU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082400" y="2231977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4182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Применение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RL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 </a:t>
            </a:r>
            <a:r>
              <a:rPr lang="ru-RU" dirty="0">
                <a:latin typeface="Roboto" panose="02000000000000000000" pitchFamily="2" charset="0"/>
              </a:rPr>
              <a:t>рекомендательных системах</a:t>
            </a:r>
            <a:endParaRPr lang="ru-RU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652E98-0825-2C4A-8FA1-9407F8F769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6CFEE46E-EA9B-C94C-9903-26FD3489298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12355</TotalTime>
  <Words>800</Words>
  <Application>Microsoft Macintosh PowerPoint</Application>
  <PresentationFormat>On-screen Show (16:9)</PresentationFormat>
  <Paragraphs>173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AkayaTelivigala</vt:lpstr>
      <vt:lpstr>Cambria Math</vt:lpstr>
      <vt:lpstr>Arial</vt:lpstr>
      <vt:lpstr>Helvetica Neue</vt:lpstr>
      <vt:lpstr>Bradley Hand</vt:lpstr>
      <vt:lpstr>Google Sans</vt:lpstr>
      <vt:lpstr>Roboto</vt:lpstr>
      <vt:lpstr>source-serif-pro</vt:lpstr>
      <vt:lpstr>Светлая тема</vt:lpstr>
      <vt:lpstr>Reinforcement learning Transformers</vt:lpstr>
      <vt:lpstr>Проверить, идет ли запись</vt:lpstr>
      <vt:lpstr>Правила вебинара</vt:lpstr>
      <vt:lpstr>Reinforcement learning Transformers</vt:lpstr>
      <vt:lpstr>Карта курса</vt:lpstr>
      <vt:lpstr>Программа курса</vt:lpstr>
      <vt:lpstr>Маршрут вебинара</vt:lpstr>
      <vt:lpstr>Цели вебинара</vt:lpstr>
      <vt:lpstr>Смысл</vt:lpstr>
      <vt:lpstr>On-line и off-line обучение</vt:lpstr>
      <vt:lpstr>Main idea</vt:lpstr>
      <vt:lpstr>On-line и off-line обучение</vt:lpstr>
      <vt:lpstr>On-line и off-line обучение</vt:lpstr>
      <vt:lpstr>Архитектура transformer</vt:lpstr>
      <vt:lpstr>Архитектура transformers</vt:lpstr>
      <vt:lpstr>Архитектура transformers</vt:lpstr>
      <vt:lpstr>Action transformers</vt:lpstr>
      <vt:lpstr>Action transformers</vt:lpstr>
      <vt:lpstr>Decision transformers</vt:lpstr>
      <vt:lpstr>Decision transformers</vt:lpstr>
      <vt:lpstr>Decision transformers</vt:lpstr>
      <vt:lpstr>Decision transformers</vt:lpstr>
      <vt:lpstr>Decision transformers dropped steps</vt:lpstr>
      <vt:lpstr>Практика</vt:lpstr>
      <vt:lpstr>Практика</vt:lpstr>
      <vt:lpstr>Список материалов для изучения</vt:lpstr>
      <vt:lpstr>Вопросы?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108</cp:revision>
  <dcterms:modified xsi:type="dcterms:W3CDTF">2024-12-06T16:43:49Z</dcterms:modified>
</cp:coreProperties>
</file>