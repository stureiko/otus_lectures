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7" r:id="rId2"/>
  </p:sldMasterIdLst>
  <p:notesMasterIdLst>
    <p:notesMasterId r:id="rId36"/>
  </p:notesMasterIdLst>
  <p:sldIdLst>
    <p:sldId id="257" r:id="rId3"/>
    <p:sldId id="258" r:id="rId4"/>
    <p:sldId id="312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1" r:id="rId13"/>
    <p:sldId id="399" r:id="rId14"/>
    <p:sldId id="359" r:id="rId15"/>
    <p:sldId id="334" r:id="rId16"/>
    <p:sldId id="342" r:id="rId17"/>
    <p:sldId id="343" r:id="rId18"/>
    <p:sldId id="355" r:id="rId19"/>
    <p:sldId id="360" r:id="rId20"/>
    <p:sldId id="407" r:id="rId21"/>
    <p:sldId id="369" r:id="rId22"/>
    <p:sldId id="278" r:id="rId23"/>
    <p:sldId id="281" r:id="rId24"/>
    <p:sldId id="280" r:id="rId25"/>
    <p:sldId id="288" r:id="rId26"/>
    <p:sldId id="339" r:id="rId27"/>
    <p:sldId id="289" r:id="rId28"/>
    <p:sldId id="400" r:id="rId29"/>
    <p:sldId id="372" r:id="rId30"/>
    <p:sldId id="373" r:id="rId31"/>
    <p:sldId id="374" r:id="rId32"/>
    <p:sldId id="375" r:id="rId33"/>
    <p:sldId id="376" r:id="rId34"/>
    <p:sldId id="303" r:id="rId35"/>
  </p:sldIdLst>
  <p:sldSz cx="9144000" cy="5143500" type="screen16x9"/>
  <p:notesSz cx="6858000" cy="9144000"/>
  <p:embeddedFontLst>
    <p:embeddedFont>
      <p:font typeface="Adelle Sans Devanagari Thin" panose="02000503000000020004" pitchFamily="2" charset="-78"/>
      <p:regular r:id="rId37"/>
      <p:bold r:id="rId38"/>
      <p:italic r:id="rId39"/>
      <p:boldItalic r:id="rId40"/>
    </p:embeddedFont>
    <p:embeddedFont>
      <p:font typeface="AkayaTelivigala" panose="020F0502020204030204" pitchFamily="34" charset="0"/>
      <p:regular r:id="rId41"/>
      <p:bold r:id="rId42"/>
      <p:italic r:id="rId43"/>
      <p:boldItalic r:id="rId44"/>
    </p:embeddedFont>
    <p:embeddedFont>
      <p:font typeface="Cambria Math" panose="02040503050406030204" pitchFamily="18" charset="0"/>
      <p:regular r:id="rId45"/>
    </p:embeddedFont>
    <p:embeddedFont>
      <p:font typeface="Roboto" panose="02000000000000000000" pitchFamily="2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24">
          <p15:clr>
            <a:srgbClr val="A4A3A4"/>
          </p15:clr>
        </p15:guide>
        <p15:guide id="2" pos="380">
          <p15:clr>
            <a:srgbClr val="9AA0A6"/>
          </p15:clr>
        </p15:guide>
        <p15:guide id="3" orient="horz" pos="2041">
          <p15:clr>
            <a:srgbClr val="9AA0A6"/>
          </p15:clr>
        </p15:guide>
        <p15:guide id="4" orient="horz" pos="2169">
          <p15:clr>
            <a:srgbClr val="9AA0A6"/>
          </p15:clr>
        </p15:guide>
        <p15:guide id="5" pos="33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F40"/>
    <a:srgbClr val="FF9D54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59E00E-254B-42B5-9FED-D0DB1D54CBD8}">
  <a:tblStyle styleId="{9F59E00E-254B-42B5-9FED-D0DB1D54C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27"/>
    <p:restoredTop sz="97146"/>
  </p:normalViewPr>
  <p:slideViewPr>
    <p:cSldViewPr snapToGrid="0">
      <p:cViewPr>
        <p:scale>
          <a:sx n="310" d="100"/>
          <a:sy n="310" d="100"/>
        </p:scale>
        <p:origin x="864" y="-24"/>
      </p:cViewPr>
      <p:guideLst>
        <p:guide pos="1724"/>
        <p:guide pos="380"/>
        <p:guide orient="horz" pos="2041"/>
        <p:guide orient="horz" pos="2169"/>
        <p:guide pos="3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8.fntdata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9893088c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9893088cf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beb2bd227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5beb2bd227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152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711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e3a707456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e3a707456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f305d12f47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f305d12f47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2baa635cc9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22baa635cc9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2293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3a707456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3a707456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891775" y="2252794"/>
            <a:ext cx="4587900" cy="20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7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4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03" name="Google Shape;203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6" name="Google Shape;206;p5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5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5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13" name="Google Shape;213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3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53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5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58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8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9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5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9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60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6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6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9" name="Google Shape;189;p4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0" name="Google Shape;19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dirty="0"/>
              <a:t>Модель окружающей среды</a:t>
            </a:r>
            <a:endParaRPr sz="6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Reinforcement Learning</a:t>
            </a:r>
            <a:br>
              <a:rPr lang="en-US" sz="3200" dirty="0"/>
            </a:br>
            <a:r>
              <a:rPr lang="ru-RU" sz="2400" dirty="0"/>
              <a:t>Модель окружающей среды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Открытый урок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CA2CE4C2-C39C-A54B-AFE5-6E9E10E2AB74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6D9259-66E1-AB46-BFF1-E694B12171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49" y="1248783"/>
            <a:ext cx="4139999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49" y="1760319"/>
            <a:ext cx="4139999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Об ОТУС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65"/>
          <p:cNvSpPr/>
          <p:nvPr/>
        </p:nvSpPr>
        <p:spPr>
          <a:xfrm>
            <a:off x="680150" y="3806463"/>
            <a:ext cx="41400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6.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</a:t>
            </a:r>
            <a:r>
              <a:rPr lang="ru-RU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одель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окружающей среды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49" y="2271855"/>
            <a:ext cx="4139999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Обучение с подкреплением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49" y="2783391"/>
            <a:ext cx="4139999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Ал</a:t>
            </a:r>
            <a:r>
              <a:rPr lang="ru-RU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горитмы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65"/>
          <p:cNvSpPr/>
          <p:nvPr/>
        </p:nvSpPr>
        <p:spPr>
          <a:xfrm>
            <a:off x="680150" y="4317999"/>
            <a:ext cx="41400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7. О курсе, программа обучения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65"/>
          <p:cNvSpPr/>
          <p:nvPr/>
        </p:nvSpPr>
        <p:spPr>
          <a:xfrm>
            <a:off x="680150" y="3294927"/>
            <a:ext cx="41400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Библиотека </a:t>
            </a:r>
            <a:r>
              <a:rPr lang="ru-RU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ymnasium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F6C0D3-F5F0-7F49-81E7-240677619B55}"/>
              </a:ext>
            </a:extLst>
          </p:cNvPr>
          <p:cNvGrpSpPr/>
          <p:nvPr/>
        </p:nvGrpSpPr>
        <p:grpSpPr>
          <a:xfrm>
            <a:off x="5409185" y="1645979"/>
            <a:ext cx="3054665" cy="2167750"/>
            <a:chOff x="5389792" y="1588485"/>
            <a:chExt cx="3054665" cy="216775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2D36A29-D1B6-E445-9F77-7D2D2DF625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1890"/>
            <a:stretch/>
          </p:blipFill>
          <p:spPr>
            <a:xfrm>
              <a:off x="5389792" y="1599299"/>
              <a:ext cx="3054665" cy="215693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DA84D5-B7FC-C247-866A-FB86EFFB7892}"/>
                </a:ext>
              </a:extLst>
            </p:cNvPr>
            <p:cNvSpPr/>
            <p:nvPr/>
          </p:nvSpPr>
          <p:spPr>
            <a:xfrm>
              <a:off x="5445600" y="1588485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63E8C6C5-FD30-754C-A10F-39DF18BB5703}"/>
              </a:ext>
            </a:extLst>
          </p:cNvPr>
          <p:cNvCxnSpPr>
            <a:stCxn id="284" idx="1"/>
            <a:endCxn id="285" idx="1"/>
          </p:cNvCxnSpPr>
          <p:nvPr/>
        </p:nvCxnSpPr>
        <p:spPr>
          <a:xfrm rot="10800000" flipV="1">
            <a:off x="680149" y="1436883"/>
            <a:ext cx="12700" cy="511536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25298795-3966-3942-9BCD-12823A964D5A}"/>
              </a:ext>
            </a:extLst>
          </p:cNvPr>
          <p:cNvCxnSpPr>
            <a:cxnSpLocks/>
            <a:stCxn id="285" idx="1"/>
            <a:endCxn id="287" idx="1"/>
          </p:cNvCxnSpPr>
          <p:nvPr/>
        </p:nvCxnSpPr>
        <p:spPr>
          <a:xfrm rot="10800000" flipV="1">
            <a:off x="680149" y="1948419"/>
            <a:ext cx="12700" cy="511536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C1459359-84F9-DB45-AF6F-C5C9AA3DF209}"/>
              </a:ext>
            </a:extLst>
          </p:cNvPr>
          <p:cNvCxnSpPr>
            <a:cxnSpLocks/>
            <a:stCxn id="287" idx="1"/>
            <a:endCxn id="288" idx="1"/>
          </p:cNvCxnSpPr>
          <p:nvPr/>
        </p:nvCxnSpPr>
        <p:spPr>
          <a:xfrm rot="10800000" flipV="1">
            <a:off x="680149" y="2459955"/>
            <a:ext cx="12700" cy="511536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9E88BF5C-5FA1-4845-811C-2065508066EB}"/>
              </a:ext>
            </a:extLst>
          </p:cNvPr>
          <p:cNvCxnSpPr>
            <a:cxnSpLocks/>
            <a:stCxn id="288" idx="1"/>
            <a:endCxn id="290" idx="1"/>
          </p:cNvCxnSpPr>
          <p:nvPr/>
        </p:nvCxnSpPr>
        <p:spPr>
          <a:xfrm rot="10800000" flipH="1" flipV="1">
            <a:off x="680148" y="2971491"/>
            <a:ext cx="1" cy="511536"/>
          </a:xfrm>
          <a:prstGeom prst="curvedConnector3">
            <a:avLst>
              <a:gd name="adj1" fmla="val -228600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9C742127-85D2-CF4A-8167-73BB234D2889}"/>
              </a:ext>
            </a:extLst>
          </p:cNvPr>
          <p:cNvCxnSpPr>
            <a:cxnSpLocks/>
            <a:stCxn id="290" idx="1"/>
            <a:endCxn id="286" idx="1"/>
          </p:cNvCxnSpPr>
          <p:nvPr/>
        </p:nvCxnSpPr>
        <p:spPr>
          <a:xfrm rot="10800000" flipV="1">
            <a:off x="680150" y="3483027"/>
            <a:ext cx="12700" cy="511536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72EBBBF6-FE79-2B4E-9556-896FE9477966}"/>
              </a:ext>
            </a:extLst>
          </p:cNvPr>
          <p:cNvCxnSpPr>
            <a:cxnSpLocks/>
            <a:stCxn id="286" idx="1"/>
            <a:endCxn id="289" idx="1"/>
          </p:cNvCxnSpPr>
          <p:nvPr/>
        </p:nvCxnSpPr>
        <p:spPr>
          <a:xfrm rot="10800000" flipV="1">
            <a:off x="680150" y="3994563"/>
            <a:ext cx="12700" cy="511536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Что такое </a:t>
            </a:r>
            <a:r>
              <a:rPr lang="en-US" dirty="0"/>
              <a:t>Reinforcement Learning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Третья парадигма машинного обучения</a:t>
            </a:r>
            <a:endParaRPr/>
          </a:p>
        </p:txBody>
      </p:sp>
      <p:pic>
        <p:nvPicPr>
          <p:cNvPr id="324" name="Google Shape;3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275" y="1257599"/>
            <a:ext cx="4770050" cy="32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000" y="1311488"/>
            <a:ext cx="3453575" cy="313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58A245-2071-484B-8B77-BEA3358E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endParaRPr lang="en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5D672-3E20-9B43-98BC-4823A95CC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994" y="978013"/>
            <a:ext cx="6244479" cy="389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16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/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Что такое Обучение с Подкреплением?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54"/>
          <p:cNvSpPr txBox="1"/>
          <p:nvPr/>
        </p:nvSpPr>
        <p:spPr>
          <a:xfrm>
            <a:off x="500550" y="1369325"/>
            <a:ext cx="3413400" cy="31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5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с Подкреплением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это направление машинного обучения, где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агент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(искусственный интеллект) обучается,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принимая решения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и действуя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некоторой среде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с целью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максимизировать некую награду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Этот метод обучения схож с тем, как люди и животные учатся на основе положительного и отрицательного подкрепления.</a:t>
            </a: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54"/>
          <p:cNvSpPr txBox="1"/>
          <p:nvPr/>
        </p:nvSpPr>
        <p:spPr>
          <a:xfrm>
            <a:off x="4344775" y="3512950"/>
            <a:ext cx="42285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9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Источник: </a:t>
            </a:r>
            <a:r>
              <a:rPr lang="ru" sz="1392">
                <a:latin typeface="Roboto"/>
                <a:ea typeface="Roboto"/>
                <a:cs typeface="Roboto"/>
                <a:sym typeface="Roboto"/>
              </a:rPr>
              <a:t>https://habr.com/ru/companies/ods/articles/421585/</a:t>
            </a:r>
            <a:endParaRPr sz="1392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6" name="Google Shape;36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900" y="1630563"/>
            <a:ext cx="5124250" cy="188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Алгоритмы </a:t>
            </a:r>
            <a:r>
              <a:rPr lang="en-US" dirty="0"/>
              <a:t>RL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1988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1CD1D-A55C-3441-961B-9A977658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алгоритмов </a:t>
            </a:r>
            <a:r>
              <a:rPr lang="en-US" dirty="0"/>
              <a:t>RL</a:t>
            </a:r>
            <a:endParaRPr lang="en-TR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23CBB6-9E3B-5D4A-ABE9-B9AA7A6458FA}"/>
              </a:ext>
            </a:extLst>
          </p:cNvPr>
          <p:cNvSpPr/>
          <p:nvPr/>
        </p:nvSpPr>
        <p:spPr>
          <a:xfrm>
            <a:off x="4035020" y="1091429"/>
            <a:ext cx="1073960" cy="4382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RL Algorithms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CE2439-344B-844B-9867-EB4C6A5132A8}"/>
              </a:ext>
            </a:extLst>
          </p:cNvPr>
          <p:cNvSpPr/>
          <p:nvPr/>
        </p:nvSpPr>
        <p:spPr>
          <a:xfrm>
            <a:off x="1872452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Model-free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ED1F50-6B5D-2347-9EE4-2CD4BAABD013}"/>
              </a:ext>
            </a:extLst>
          </p:cNvPr>
          <p:cNvSpPr/>
          <p:nvPr/>
        </p:nvSpPr>
        <p:spPr>
          <a:xfrm>
            <a:off x="6197589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Model-based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C5F1E56-FF27-B04C-83E6-4B92D82FAD0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946412" y="1310536"/>
            <a:ext cx="1088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8">
            <a:extLst>
              <a:ext uri="{FF2B5EF4-FFF2-40B4-BE49-F238E27FC236}">
                <a16:creationId xmlns:a16="http://schemas.microsoft.com/office/drawing/2014/main" id="{6A120926-8349-524F-BD9A-68375F46F4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08980" y="1310536"/>
            <a:ext cx="1088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F20AD9-97B3-6F43-B41A-BADC332B23D1}"/>
              </a:ext>
            </a:extLst>
          </p:cNvPr>
          <p:cNvSpPr/>
          <p:nvPr/>
        </p:nvSpPr>
        <p:spPr>
          <a:xfrm>
            <a:off x="1200458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Policy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D8CAF-78EF-454A-B4BE-AB77D861A731}"/>
              </a:ext>
            </a:extLst>
          </p:cNvPr>
          <p:cNvSpPr/>
          <p:nvPr/>
        </p:nvSpPr>
        <p:spPr>
          <a:xfrm>
            <a:off x="2438721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Q-Learning</a:t>
            </a:r>
          </a:p>
        </p:txBody>
      </p:sp>
      <p:cxnSp>
        <p:nvCxnSpPr>
          <p:cNvPr id="15" name="Elbow Connector 8">
            <a:extLst>
              <a:ext uri="{FF2B5EF4-FFF2-40B4-BE49-F238E27FC236}">
                <a16:creationId xmlns:a16="http://schemas.microsoft.com/office/drawing/2014/main" id="{7E9E6EFB-EB94-4440-B564-66C2386C179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1960245" y="1306836"/>
            <a:ext cx="226380" cy="6719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83736521-F6E9-BF45-B905-73B89A805F2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579376" y="1359698"/>
            <a:ext cx="226380" cy="56626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151AB6-889C-6B4A-B2B6-41CCAAF9496A}"/>
              </a:ext>
            </a:extLst>
          </p:cNvPr>
          <p:cNvSpPr/>
          <p:nvPr/>
        </p:nvSpPr>
        <p:spPr>
          <a:xfrm>
            <a:off x="5555996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Learn Model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6A4774-8494-3A47-9649-62287262141F}"/>
              </a:ext>
            </a:extLst>
          </p:cNvPr>
          <p:cNvSpPr/>
          <p:nvPr/>
        </p:nvSpPr>
        <p:spPr>
          <a:xfrm>
            <a:off x="6794537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Given Model</a:t>
            </a:r>
          </a:p>
        </p:txBody>
      </p:sp>
      <p:cxnSp>
        <p:nvCxnSpPr>
          <p:cNvPr id="29" name="Elbow Connector 8">
            <a:extLst>
              <a:ext uri="{FF2B5EF4-FFF2-40B4-BE49-F238E27FC236}">
                <a16:creationId xmlns:a16="http://schemas.microsoft.com/office/drawing/2014/main" id="{83BF5E0B-D9E2-A44C-A3C3-1EC7E7EF82B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rot="16200000" flipH="1">
            <a:off x="6919853" y="1344359"/>
            <a:ext cx="226380" cy="5969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8">
            <a:extLst>
              <a:ext uri="{FF2B5EF4-FFF2-40B4-BE49-F238E27FC236}">
                <a16:creationId xmlns:a16="http://schemas.microsoft.com/office/drawing/2014/main" id="{BE91FF24-2607-0F45-A2CB-E20F82CC51B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5400000">
            <a:off x="6300583" y="1322037"/>
            <a:ext cx="226380" cy="6415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FC80BF1-067B-C54B-ABF2-06C43862B832}"/>
              </a:ext>
            </a:extLst>
          </p:cNvPr>
          <p:cNvSpPr/>
          <p:nvPr/>
        </p:nvSpPr>
        <p:spPr>
          <a:xfrm>
            <a:off x="547297" y="291411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A2C / A3C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2C766A-5AD8-FB4D-9B63-93A31BAA6E8E}"/>
              </a:ext>
            </a:extLst>
          </p:cNvPr>
          <p:cNvSpPr/>
          <p:nvPr/>
        </p:nvSpPr>
        <p:spPr>
          <a:xfrm>
            <a:off x="547297" y="326088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PPO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991E71-A838-5D49-ACE8-E69497F662F4}"/>
              </a:ext>
            </a:extLst>
          </p:cNvPr>
          <p:cNvSpPr/>
          <p:nvPr/>
        </p:nvSpPr>
        <p:spPr>
          <a:xfrm>
            <a:off x="54729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TRPO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47219A-A6CB-3744-9730-7766985B2E8B}"/>
              </a:ext>
            </a:extLst>
          </p:cNvPr>
          <p:cNvSpPr/>
          <p:nvPr/>
        </p:nvSpPr>
        <p:spPr>
          <a:xfrm>
            <a:off x="547297" y="2543969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DDPG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CE7CE8-E53F-914A-B91F-A39CAA5B306B}"/>
              </a:ext>
            </a:extLst>
          </p:cNvPr>
          <p:cNvSpPr/>
          <p:nvPr/>
        </p:nvSpPr>
        <p:spPr>
          <a:xfrm>
            <a:off x="1966738" y="311968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TD3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A36081-543C-9D46-B5F7-B390ED9ACD31}"/>
              </a:ext>
            </a:extLst>
          </p:cNvPr>
          <p:cNvSpPr/>
          <p:nvPr/>
        </p:nvSpPr>
        <p:spPr>
          <a:xfrm>
            <a:off x="1966738" y="346849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SAC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F35B5B-7159-AD4D-B4A8-147B6E7A311E}"/>
              </a:ext>
            </a:extLst>
          </p:cNvPr>
          <p:cNvSpPr/>
          <p:nvPr/>
        </p:nvSpPr>
        <p:spPr>
          <a:xfrm>
            <a:off x="3264137" y="256906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DQN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7A9BB0D-89C5-5744-AC9F-3DDD6F10096F}"/>
              </a:ext>
            </a:extLst>
          </p:cNvPr>
          <p:cNvSpPr/>
          <p:nvPr/>
        </p:nvSpPr>
        <p:spPr>
          <a:xfrm>
            <a:off x="3264137" y="291446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C51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B6F9911-FE1A-6943-9379-56F7C463169F}"/>
              </a:ext>
            </a:extLst>
          </p:cNvPr>
          <p:cNvSpPr/>
          <p:nvPr/>
        </p:nvSpPr>
        <p:spPr>
          <a:xfrm>
            <a:off x="3264137" y="326744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QR-DQN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F9E737-35EA-A749-A181-C6027FDC30F1}"/>
              </a:ext>
            </a:extLst>
          </p:cNvPr>
          <p:cNvSpPr/>
          <p:nvPr/>
        </p:nvSpPr>
        <p:spPr>
          <a:xfrm>
            <a:off x="326413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HER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06D0CAAB-142B-AA43-9ADA-3673608C55C5}"/>
              </a:ext>
            </a:extLst>
          </p:cNvPr>
          <p:cNvCxnSpPr>
            <a:cxnSpLocks/>
            <a:stCxn id="13" idx="2"/>
            <a:endCxn id="39" idx="3"/>
          </p:cNvCxnSpPr>
          <p:nvPr/>
        </p:nvCxnSpPr>
        <p:spPr>
          <a:xfrm rot="5400000">
            <a:off x="1351540" y="2299931"/>
            <a:ext cx="491593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A1883F-97C0-8E42-B68C-4D8A3E690044}"/>
              </a:ext>
            </a:extLst>
          </p:cNvPr>
          <p:cNvCxnSpPr>
            <a:cxnSpLocks/>
            <a:stCxn id="13" idx="2"/>
            <a:endCxn id="36" idx="3"/>
          </p:cNvCxnSpPr>
          <p:nvPr/>
        </p:nvCxnSpPr>
        <p:spPr>
          <a:xfrm rot="5400000">
            <a:off x="1166469" y="2485002"/>
            <a:ext cx="86173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1ADBE9E-8E72-E643-90AD-D36F51ECA0E9}"/>
              </a:ext>
            </a:extLst>
          </p:cNvPr>
          <p:cNvCxnSpPr>
            <a:cxnSpLocks/>
            <a:stCxn id="13" idx="2"/>
            <a:endCxn id="37" idx="3"/>
          </p:cNvCxnSpPr>
          <p:nvPr/>
        </p:nvCxnSpPr>
        <p:spPr>
          <a:xfrm rot="5400000">
            <a:off x="993084" y="2658387"/>
            <a:ext cx="120850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C4CD73A-5DEA-9A44-A23D-425D3C792981}"/>
              </a:ext>
            </a:extLst>
          </p:cNvPr>
          <p:cNvCxnSpPr>
            <a:cxnSpLocks/>
            <a:stCxn id="13" idx="2"/>
            <a:endCxn id="38" idx="3"/>
          </p:cNvCxnSpPr>
          <p:nvPr/>
        </p:nvCxnSpPr>
        <p:spPr>
          <a:xfrm rot="5400000">
            <a:off x="818347" y="2833124"/>
            <a:ext cx="1557978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EA0B56-8CD3-8A43-8E4D-1B73B5ADD86E}"/>
              </a:ext>
            </a:extLst>
          </p:cNvPr>
          <p:cNvSpPr/>
          <p:nvPr/>
        </p:nvSpPr>
        <p:spPr>
          <a:xfrm>
            <a:off x="5023201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World Models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0B021F0-1C53-454E-B7F2-400671DE037D}"/>
              </a:ext>
            </a:extLst>
          </p:cNvPr>
          <p:cNvSpPr/>
          <p:nvPr/>
        </p:nvSpPr>
        <p:spPr>
          <a:xfrm>
            <a:off x="5023201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I2A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E539C7B-77B2-514D-8EE8-DACC1367D040}"/>
              </a:ext>
            </a:extLst>
          </p:cNvPr>
          <p:cNvSpPr/>
          <p:nvPr/>
        </p:nvSpPr>
        <p:spPr>
          <a:xfrm>
            <a:off x="5023201" y="326089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MBMF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4D89253-0737-1B41-8BE9-C055A1FB2521}"/>
              </a:ext>
            </a:extLst>
          </p:cNvPr>
          <p:cNvSpPr/>
          <p:nvPr/>
        </p:nvSpPr>
        <p:spPr>
          <a:xfrm>
            <a:off x="5023201" y="360380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MBVE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333A2A8-E82E-A442-AE62-1DC94F2F7E23}"/>
              </a:ext>
            </a:extLst>
          </p:cNvPr>
          <p:cNvSpPr/>
          <p:nvPr/>
        </p:nvSpPr>
        <p:spPr>
          <a:xfrm>
            <a:off x="5023201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AlphaZero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3849C13-F259-064B-B81E-295633ACDDAB}"/>
              </a:ext>
            </a:extLst>
          </p:cNvPr>
          <p:cNvSpPr/>
          <p:nvPr/>
        </p:nvSpPr>
        <p:spPr>
          <a:xfrm>
            <a:off x="7478109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2183135-8593-214F-AE8A-D685C1294183}"/>
              </a:ext>
            </a:extLst>
          </p:cNvPr>
          <p:cNvSpPr/>
          <p:nvPr/>
        </p:nvSpPr>
        <p:spPr>
          <a:xfrm>
            <a:off x="7478109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LQR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69916BB-614D-7444-9740-3673C511EE40}"/>
              </a:ext>
            </a:extLst>
          </p:cNvPr>
          <p:cNvSpPr/>
          <p:nvPr/>
        </p:nvSpPr>
        <p:spPr>
          <a:xfrm>
            <a:off x="7478109" y="326089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MPC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94D8146-1C40-0349-9294-E0624C4BEF02}"/>
              </a:ext>
            </a:extLst>
          </p:cNvPr>
          <p:cNvSpPr/>
          <p:nvPr/>
        </p:nvSpPr>
        <p:spPr>
          <a:xfrm>
            <a:off x="7478109" y="360380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MCTS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8A0C1BB-EBA9-0748-AEBE-FEB5BBDC159E}"/>
              </a:ext>
            </a:extLst>
          </p:cNvPr>
          <p:cNvSpPr/>
          <p:nvPr/>
        </p:nvSpPr>
        <p:spPr>
          <a:xfrm>
            <a:off x="7478109" y="395636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BOMB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AB5BB0F-9229-BA42-A4B4-42F9904EEA29}"/>
              </a:ext>
            </a:extLst>
          </p:cNvPr>
          <p:cNvSpPr/>
          <p:nvPr/>
        </p:nvSpPr>
        <p:spPr>
          <a:xfrm>
            <a:off x="5023201" y="428962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CEPO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0437038C-EAEA-1B4D-9A94-56932C245774}"/>
              </a:ext>
            </a:extLst>
          </p:cNvPr>
          <p:cNvCxnSpPr>
            <a:stCxn id="21" idx="2"/>
            <a:endCxn id="58" idx="3"/>
          </p:cNvCxnSpPr>
          <p:nvPr/>
        </p:nvCxnSpPr>
        <p:spPr>
          <a:xfrm rot="5400000">
            <a:off x="5757985" y="2369390"/>
            <a:ext cx="510145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ADD641D8-DBDB-D240-A539-4320862A5E00}"/>
              </a:ext>
            </a:extLst>
          </p:cNvPr>
          <p:cNvCxnSpPr>
            <a:stCxn id="21" idx="2"/>
            <a:endCxn id="59" idx="3"/>
          </p:cNvCxnSpPr>
          <p:nvPr/>
        </p:nvCxnSpPr>
        <p:spPr>
          <a:xfrm rot="5400000">
            <a:off x="5585287" y="2542088"/>
            <a:ext cx="8555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9AB7F081-AC94-8245-8273-F800A7968C86}"/>
              </a:ext>
            </a:extLst>
          </p:cNvPr>
          <p:cNvCxnSpPr>
            <a:stCxn id="21" idx="2"/>
            <a:endCxn id="60" idx="3"/>
          </p:cNvCxnSpPr>
          <p:nvPr/>
        </p:nvCxnSpPr>
        <p:spPr>
          <a:xfrm rot="5400000">
            <a:off x="5408796" y="2718579"/>
            <a:ext cx="1208522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216C1AC-B4A7-2146-A502-3205AE3858AE}"/>
              </a:ext>
            </a:extLst>
          </p:cNvPr>
          <p:cNvCxnSpPr>
            <a:stCxn id="21" idx="2"/>
            <a:endCxn id="61" idx="3"/>
          </p:cNvCxnSpPr>
          <p:nvPr/>
        </p:nvCxnSpPr>
        <p:spPr>
          <a:xfrm rot="5400000">
            <a:off x="5237342" y="2890033"/>
            <a:ext cx="1551431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B049A20-52AE-D947-A284-B3A9802CDEC7}"/>
              </a:ext>
            </a:extLst>
          </p:cNvPr>
          <p:cNvCxnSpPr>
            <a:stCxn id="21" idx="2"/>
            <a:endCxn id="62" idx="3"/>
          </p:cNvCxnSpPr>
          <p:nvPr/>
        </p:nvCxnSpPr>
        <p:spPr>
          <a:xfrm rot="5400000">
            <a:off x="5065887" y="3061488"/>
            <a:ext cx="18943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1957C7C-B107-6645-921D-265BD4C355FD}"/>
              </a:ext>
            </a:extLst>
          </p:cNvPr>
          <p:cNvCxnSpPr>
            <a:stCxn id="21" idx="2"/>
            <a:endCxn id="82" idx="3"/>
          </p:cNvCxnSpPr>
          <p:nvPr/>
        </p:nvCxnSpPr>
        <p:spPr>
          <a:xfrm rot="5400000">
            <a:off x="4894433" y="3232942"/>
            <a:ext cx="2237249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36D87B16-6B00-EF47-8335-9772CBB41760}"/>
              </a:ext>
            </a:extLst>
          </p:cNvPr>
          <p:cNvCxnSpPr>
            <a:stCxn id="13" idx="2"/>
            <a:endCxn id="40" idx="1"/>
          </p:cNvCxnSpPr>
          <p:nvPr/>
        </p:nvCxnSpPr>
        <p:spPr>
          <a:xfrm rot="16200000" flipH="1">
            <a:off x="1318434" y="2613241"/>
            <a:ext cx="1067308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3FEC617-80D5-BB43-A533-560D272D8A96}"/>
              </a:ext>
            </a:extLst>
          </p:cNvPr>
          <p:cNvCxnSpPr>
            <a:stCxn id="13" idx="2"/>
            <a:endCxn id="41" idx="1"/>
          </p:cNvCxnSpPr>
          <p:nvPr/>
        </p:nvCxnSpPr>
        <p:spPr>
          <a:xfrm rot="16200000" flipH="1">
            <a:off x="1144030" y="2787645"/>
            <a:ext cx="1416117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DB068682-EC9B-1240-808B-8A639F70CFE7}"/>
              </a:ext>
            </a:extLst>
          </p:cNvPr>
          <p:cNvCxnSpPr>
            <a:stCxn id="14" idx="2"/>
            <a:endCxn id="42" idx="1"/>
          </p:cNvCxnSpPr>
          <p:nvPr/>
        </p:nvCxnSpPr>
        <p:spPr>
          <a:xfrm rot="16200000" flipH="1">
            <a:off x="2861573" y="2308365"/>
            <a:ext cx="516692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C7A7035-07BA-6E4F-84D4-C9E5321AB50F}"/>
              </a:ext>
            </a:extLst>
          </p:cNvPr>
          <p:cNvCxnSpPr>
            <a:stCxn id="14" idx="2"/>
            <a:endCxn id="43" idx="1"/>
          </p:cNvCxnSpPr>
          <p:nvPr/>
        </p:nvCxnSpPr>
        <p:spPr>
          <a:xfrm rot="16200000" flipH="1">
            <a:off x="2688876" y="2481062"/>
            <a:ext cx="862087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FAB7955E-6C36-C845-B987-C3FEAFE1E1A9}"/>
              </a:ext>
            </a:extLst>
          </p:cNvPr>
          <p:cNvCxnSpPr>
            <a:stCxn id="14" idx="2"/>
            <a:endCxn id="44" idx="1"/>
          </p:cNvCxnSpPr>
          <p:nvPr/>
        </p:nvCxnSpPr>
        <p:spPr>
          <a:xfrm rot="16200000" flipH="1">
            <a:off x="2512385" y="2657553"/>
            <a:ext cx="1215069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7EDEF00-1D52-C447-B334-0C89BEA91237}"/>
              </a:ext>
            </a:extLst>
          </p:cNvPr>
          <p:cNvCxnSpPr>
            <a:stCxn id="14" idx="2"/>
            <a:endCxn id="45" idx="1"/>
          </p:cNvCxnSpPr>
          <p:nvPr/>
        </p:nvCxnSpPr>
        <p:spPr>
          <a:xfrm rot="16200000" flipH="1">
            <a:off x="2340930" y="2829008"/>
            <a:ext cx="1557978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805A84CF-D2C2-DA4E-8958-F1EFB103700A}"/>
              </a:ext>
            </a:extLst>
          </p:cNvPr>
          <p:cNvCxnSpPr>
            <a:stCxn id="22" idx="2"/>
            <a:endCxn id="76" idx="1"/>
          </p:cNvCxnSpPr>
          <p:nvPr/>
        </p:nvCxnSpPr>
        <p:spPr>
          <a:xfrm rot="16200000" flipH="1">
            <a:off x="7149741" y="2376013"/>
            <a:ext cx="510145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BA6ED20-DAF5-0F4C-81BD-AD396B65F3DB}"/>
              </a:ext>
            </a:extLst>
          </p:cNvPr>
          <p:cNvCxnSpPr>
            <a:stCxn id="22" idx="2"/>
            <a:endCxn id="77" idx="1"/>
          </p:cNvCxnSpPr>
          <p:nvPr/>
        </p:nvCxnSpPr>
        <p:spPr>
          <a:xfrm rot="16200000" flipH="1">
            <a:off x="6977043" y="2548711"/>
            <a:ext cx="855540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5E02B76-CA79-934E-88A2-904B105FAE21}"/>
              </a:ext>
            </a:extLst>
          </p:cNvPr>
          <p:cNvCxnSpPr>
            <a:stCxn id="22" idx="2"/>
            <a:endCxn id="78" idx="1"/>
          </p:cNvCxnSpPr>
          <p:nvPr/>
        </p:nvCxnSpPr>
        <p:spPr>
          <a:xfrm rot="16200000" flipH="1">
            <a:off x="6800552" y="2725202"/>
            <a:ext cx="1208522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B21BCF5-DBEE-5140-A62B-E70BF9A5514A}"/>
              </a:ext>
            </a:extLst>
          </p:cNvPr>
          <p:cNvCxnSpPr>
            <a:stCxn id="22" idx="2"/>
            <a:endCxn id="79" idx="1"/>
          </p:cNvCxnSpPr>
          <p:nvPr/>
        </p:nvCxnSpPr>
        <p:spPr>
          <a:xfrm rot="16200000" flipH="1">
            <a:off x="6629098" y="2896656"/>
            <a:ext cx="155143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07CA63F-0703-C941-BA41-7C2D54DA9204}"/>
              </a:ext>
            </a:extLst>
          </p:cNvPr>
          <p:cNvCxnSpPr>
            <a:stCxn id="22" idx="2"/>
            <a:endCxn id="81" idx="1"/>
          </p:cNvCxnSpPr>
          <p:nvPr/>
        </p:nvCxnSpPr>
        <p:spPr>
          <a:xfrm rot="16200000" flipH="1">
            <a:off x="6452818" y="3072936"/>
            <a:ext cx="190399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8561D39-0AD1-4D42-8E0D-409789498946}"/>
              </a:ext>
            </a:extLst>
          </p:cNvPr>
          <p:cNvSpPr/>
          <p:nvPr/>
        </p:nvSpPr>
        <p:spPr>
          <a:xfrm>
            <a:off x="547297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CMA-ES</a:t>
            </a:r>
            <a:endParaRPr lang="en-TR" sz="800" dirty="0">
              <a:solidFill>
                <a:schemeClr val="tx1"/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277E37A-6238-FB47-8AED-03256CD4A946}"/>
              </a:ext>
            </a:extLst>
          </p:cNvPr>
          <p:cNvSpPr/>
          <p:nvPr/>
        </p:nvSpPr>
        <p:spPr>
          <a:xfrm>
            <a:off x="1954463" y="3817302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ACKTR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BF24DBD3-1262-F443-AC37-CAE0FC96FBC9}"/>
              </a:ext>
            </a:extLst>
          </p:cNvPr>
          <p:cNvCxnSpPr>
            <a:stCxn id="13" idx="2"/>
            <a:endCxn id="121" idx="3"/>
          </p:cNvCxnSpPr>
          <p:nvPr/>
        </p:nvCxnSpPr>
        <p:spPr>
          <a:xfrm rot="5400000">
            <a:off x="650166" y="3001305"/>
            <a:ext cx="1894340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A2D3BA2-0FEB-2843-996E-8D051A0ECC19}"/>
              </a:ext>
            </a:extLst>
          </p:cNvPr>
          <p:cNvCxnSpPr>
            <a:stCxn id="13" idx="2"/>
            <a:endCxn id="122" idx="1"/>
          </p:cNvCxnSpPr>
          <p:nvPr/>
        </p:nvCxnSpPr>
        <p:spPr>
          <a:xfrm rot="16200000" flipH="1">
            <a:off x="963487" y="2968187"/>
            <a:ext cx="1764926" cy="217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684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1CD1D-A55C-3441-961B-9A977658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</a:t>
            </a:r>
            <a:r>
              <a:rPr lang="en-US" dirty="0"/>
              <a:t>RL</a:t>
            </a:r>
            <a:r>
              <a:rPr lang="ru-RU" dirty="0"/>
              <a:t> на курсе</a:t>
            </a:r>
            <a:endParaRPr lang="en-TR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23CBB6-9E3B-5D4A-ABE9-B9AA7A6458FA}"/>
              </a:ext>
            </a:extLst>
          </p:cNvPr>
          <p:cNvSpPr/>
          <p:nvPr/>
        </p:nvSpPr>
        <p:spPr>
          <a:xfrm>
            <a:off x="4035020" y="1091429"/>
            <a:ext cx="1073960" cy="4382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RL Algorithms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CE2439-344B-844B-9867-EB4C6A5132A8}"/>
              </a:ext>
            </a:extLst>
          </p:cNvPr>
          <p:cNvSpPr/>
          <p:nvPr/>
        </p:nvSpPr>
        <p:spPr>
          <a:xfrm>
            <a:off x="1872452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Model-free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ED1F50-6B5D-2347-9EE4-2CD4BAABD013}"/>
              </a:ext>
            </a:extLst>
          </p:cNvPr>
          <p:cNvSpPr/>
          <p:nvPr/>
        </p:nvSpPr>
        <p:spPr>
          <a:xfrm>
            <a:off x="6197589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Model-based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C5F1E56-FF27-B04C-83E6-4B92D82FAD0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946412" y="1310536"/>
            <a:ext cx="1088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8">
            <a:extLst>
              <a:ext uri="{FF2B5EF4-FFF2-40B4-BE49-F238E27FC236}">
                <a16:creationId xmlns:a16="http://schemas.microsoft.com/office/drawing/2014/main" id="{6A120926-8349-524F-BD9A-68375F46F4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08980" y="1310536"/>
            <a:ext cx="1088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F20AD9-97B3-6F43-B41A-BADC332B23D1}"/>
              </a:ext>
            </a:extLst>
          </p:cNvPr>
          <p:cNvSpPr/>
          <p:nvPr/>
        </p:nvSpPr>
        <p:spPr>
          <a:xfrm>
            <a:off x="1200458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Policy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D8CAF-78EF-454A-B4BE-AB77D861A731}"/>
              </a:ext>
            </a:extLst>
          </p:cNvPr>
          <p:cNvSpPr/>
          <p:nvPr/>
        </p:nvSpPr>
        <p:spPr>
          <a:xfrm>
            <a:off x="2438721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Q-Learning</a:t>
            </a:r>
          </a:p>
        </p:txBody>
      </p:sp>
      <p:cxnSp>
        <p:nvCxnSpPr>
          <p:cNvPr id="15" name="Elbow Connector 8">
            <a:extLst>
              <a:ext uri="{FF2B5EF4-FFF2-40B4-BE49-F238E27FC236}">
                <a16:creationId xmlns:a16="http://schemas.microsoft.com/office/drawing/2014/main" id="{7E9E6EFB-EB94-4440-B564-66C2386C179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1960245" y="1306836"/>
            <a:ext cx="226380" cy="6719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83736521-F6E9-BF45-B905-73B89A805F2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579376" y="1359698"/>
            <a:ext cx="226380" cy="56626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151AB6-889C-6B4A-B2B6-41CCAAF9496A}"/>
              </a:ext>
            </a:extLst>
          </p:cNvPr>
          <p:cNvSpPr/>
          <p:nvPr/>
        </p:nvSpPr>
        <p:spPr>
          <a:xfrm>
            <a:off x="5555996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Learn Model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6A4774-8494-3A47-9649-62287262141F}"/>
              </a:ext>
            </a:extLst>
          </p:cNvPr>
          <p:cNvSpPr/>
          <p:nvPr/>
        </p:nvSpPr>
        <p:spPr>
          <a:xfrm>
            <a:off x="6794537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Given Model</a:t>
            </a:r>
          </a:p>
        </p:txBody>
      </p:sp>
      <p:cxnSp>
        <p:nvCxnSpPr>
          <p:cNvPr id="29" name="Elbow Connector 8">
            <a:extLst>
              <a:ext uri="{FF2B5EF4-FFF2-40B4-BE49-F238E27FC236}">
                <a16:creationId xmlns:a16="http://schemas.microsoft.com/office/drawing/2014/main" id="{83BF5E0B-D9E2-A44C-A3C3-1EC7E7EF82B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rot="16200000" flipH="1">
            <a:off x="6919853" y="1344359"/>
            <a:ext cx="226380" cy="5969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8">
            <a:extLst>
              <a:ext uri="{FF2B5EF4-FFF2-40B4-BE49-F238E27FC236}">
                <a16:creationId xmlns:a16="http://schemas.microsoft.com/office/drawing/2014/main" id="{BE91FF24-2607-0F45-A2CB-E20F82CC51B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5400000">
            <a:off x="6300583" y="1322037"/>
            <a:ext cx="226380" cy="6415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FC80BF1-067B-C54B-ABF2-06C43862B832}"/>
              </a:ext>
            </a:extLst>
          </p:cNvPr>
          <p:cNvSpPr/>
          <p:nvPr/>
        </p:nvSpPr>
        <p:spPr>
          <a:xfrm>
            <a:off x="547297" y="291411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A2C / A3C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2C766A-5AD8-FB4D-9B63-93A31BAA6E8E}"/>
              </a:ext>
            </a:extLst>
          </p:cNvPr>
          <p:cNvSpPr/>
          <p:nvPr/>
        </p:nvSpPr>
        <p:spPr>
          <a:xfrm>
            <a:off x="547297" y="326088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PPO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991E71-A838-5D49-ACE8-E69497F662F4}"/>
              </a:ext>
            </a:extLst>
          </p:cNvPr>
          <p:cNvSpPr/>
          <p:nvPr/>
        </p:nvSpPr>
        <p:spPr>
          <a:xfrm>
            <a:off x="54729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TRPO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47219A-A6CB-3744-9730-7766985B2E8B}"/>
              </a:ext>
            </a:extLst>
          </p:cNvPr>
          <p:cNvSpPr/>
          <p:nvPr/>
        </p:nvSpPr>
        <p:spPr>
          <a:xfrm>
            <a:off x="547297" y="2543969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DDPG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CE7CE8-E53F-914A-B91F-A39CAA5B306B}"/>
              </a:ext>
            </a:extLst>
          </p:cNvPr>
          <p:cNvSpPr/>
          <p:nvPr/>
        </p:nvSpPr>
        <p:spPr>
          <a:xfrm>
            <a:off x="1966738" y="311968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TD3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A36081-543C-9D46-B5F7-B390ED9ACD31}"/>
              </a:ext>
            </a:extLst>
          </p:cNvPr>
          <p:cNvSpPr/>
          <p:nvPr/>
        </p:nvSpPr>
        <p:spPr>
          <a:xfrm>
            <a:off x="1966738" y="346849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SAC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F35B5B-7159-AD4D-B4A8-147B6E7A311E}"/>
              </a:ext>
            </a:extLst>
          </p:cNvPr>
          <p:cNvSpPr/>
          <p:nvPr/>
        </p:nvSpPr>
        <p:spPr>
          <a:xfrm>
            <a:off x="3264137" y="256906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DQN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7A9BB0D-89C5-5744-AC9F-3DDD6F10096F}"/>
              </a:ext>
            </a:extLst>
          </p:cNvPr>
          <p:cNvSpPr/>
          <p:nvPr/>
        </p:nvSpPr>
        <p:spPr>
          <a:xfrm>
            <a:off x="3264137" y="2914463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C51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B6F9911-FE1A-6943-9379-56F7C463169F}"/>
              </a:ext>
            </a:extLst>
          </p:cNvPr>
          <p:cNvSpPr/>
          <p:nvPr/>
        </p:nvSpPr>
        <p:spPr>
          <a:xfrm>
            <a:off x="3264137" y="3267445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QR-DQN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F9E737-35EA-A749-A181-C6027FDC30F1}"/>
              </a:ext>
            </a:extLst>
          </p:cNvPr>
          <p:cNvSpPr/>
          <p:nvPr/>
        </p:nvSpPr>
        <p:spPr>
          <a:xfrm>
            <a:off x="326413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HER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06D0CAAB-142B-AA43-9ADA-3673608C55C5}"/>
              </a:ext>
            </a:extLst>
          </p:cNvPr>
          <p:cNvCxnSpPr>
            <a:cxnSpLocks/>
            <a:stCxn id="13" idx="2"/>
            <a:endCxn id="39" idx="3"/>
          </p:cNvCxnSpPr>
          <p:nvPr/>
        </p:nvCxnSpPr>
        <p:spPr>
          <a:xfrm rot="5400000">
            <a:off x="1351540" y="2299931"/>
            <a:ext cx="491593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A1883F-97C0-8E42-B68C-4D8A3E690044}"/>
              </a:ext>
            </a:extLst>
          </p:cNvPr>
          <p:cNvCxnSpPr>
            <a:cxnSpLocks/>
            <a:stCxn id="13" idx="2"/>
            <a:endCxn id="36" idx="3"/>
          </p:cNvCxnSpPr>
          <p:nvPr/>
        </p:nvCxnSpPr>
        <p:spPr>
          <a:xfrm rot="5400000">
            <a:off x="1166469" y="2485002"/>
            <a:ext cx="86173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1ADBE9E-8E72-E643-90AD-D36F51ECA0E9}"/>
              </a:ext>
            </a:extLst>
          </p:cNvPr>
          <p:cNvCxnSpPr>
            <a:cxnSpLocks/>
            <a:stCxn id="13" idx="2"/>
            <a:endCxn id="37" idx="3"/>
          </p:cNvCxnSpPr>
          <p:nvPr/>
        </p:nvCxnSpPr>
        <p:spPr>
          <a:xfrm rot="5400000">
            <a:off x="993084" y="2658387"/>
            <a:ext cx="120850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C4CD73A-5DEA-9A44-A23D-425D3C792981}"/>
              </a:ext>
            </a:extLst>
          </p:cNvPr>
          <p:cNvCxnSpPr>
            <a:cxnSpLocks/>
            <a:stCxn id="13" idx="2"/>
            <a:endCxn id="38" idx="3"/>
          </p:cNvCxnSpPr>
          <p:nvPr/>
        </p:nvCxnSpPr>
        <p:spPr>
          <a:xfrm rot="5400000">
            <a:off x="818347" y="2833124"/>
            <a:ext cx="1557978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EA0B56-8CD3-8A43-8E4D-1B73B5ADD86E}"/>
              </a:ext>
            </a:extLst>
          </p:cNvPr>
          <p:cNvSpPr/>
          <p:nvPr/>
        </p:nvSpPr>
        <p:spPr>
          <a:xfrm>
            <a:off x="5023201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World Models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0B021F0-1C53-454E-B7F2-400671DE037D}"/>
              </a:ext>
            </a:extLst>
          </p:cNvPr>
          <p:cNvSpPr/>
          <p:nvPr/>
        </p:nvSpPr>
        <p:spPr>
          <a:xfrm>
            <a:off x="5023201" y="2907916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I2A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E539C7B-77B2-514D-8EE8-DACC1367D040}"/>
              </a:ext>
            </a:extLst>
          </p:cNvPr>
          <p:cNvSpPr/>
          <p:nvPr/>
        </p:nvSpPr>
        <p:spPr>
          <a:xfrm>
            <a:off x="5023201" y="3260898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MBMF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4D89253-0737-1B41-8BE9-C055A1FB2521}"/>
              </a:ext>
            </a:extLst>
          </p:cNvPr>
          <p:cNvSpPr/>
          <p:nvPr/>
        </p:nvSpPr>
        <p:spPr>
          <a:xfrm>
            <a:off x="5023201" y="3603807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MBVE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333A2A8-E82E-A442-AE62-1DC94F2F7E23}"/>
              </a:ext>
            </a:extLst>
          </p:cNvPr>
          <p:cNvSpPr/>
          <p:nvPr/>
        </p:nvSpPr>
        <p:spPr>
          <a:xfrm>
            <a:off x="5023201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AlphaZero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3849C13-F259-064B-B81E-295633ACDDAB}"/>
              </a:ext>
            </a:extLst>
          </p:cNvPr>
          <p:cNvSpPr/>
          <p:nvPr/>
        </p:nvSpPr>
        <p:spPr>
          <a:xfrm>
            <a:off x="7478109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2183135-8593-214F-AE8A-D685C1294183}"/>
              </a:ext>
            </a:extLst>
          </p:cNvPr>
          <p:cNvSpPr/>
          <p:nvPr/>
        </p:nvSpPr>
        <p:spPr>
          <a:xfrm>
            <a:off x="7478109" y="2907916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LQR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69916BB-614D-7444-9740-3673C511EE40}"/>
              </a:ext>
            </a:extLst>
          </p:cNvPr>
          <p:cNvSpPr/>
          <p:nvPr/>
        </p:nvSpPr>
        <p:spPr>
          <a:xfrm>
            <a:off x="7478109" y="3260898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MPC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94D8146-1C40-0349-9294-E0624C4BEF02}"/>
              </a:ext>
            </a:extLst>
          </p:cNvPr>
          <p:cNvSpPr/>
          <p:nvPr/>
        </p:nvSpPr>
        <p:spPr>
          <a:xfrm>
            <a:off x="7478109" y="3603807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MCTS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8A0C1BB-EBA9-0748-AEBE-FEB5BBDC159E}"/>
              </a:ext>
            </a:extLst>
          </p:cNvPr>
          <p:cNvSpPr/>
          <p:nvPr/>
        </p:nvSpPr>
        <p:spPr>
          <a:xfrm>
            <a:off x="7478109" y="3956367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BOMB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AB5BB0F-9229-BA42-A4B4-42F9904EEA29}"/>
              </a:ext>
            </a:extLst>
          </p:cNvPr>
          <p:cNvSpPr/>
          <p:nvPr/>
        </p:nvSpPr>
        <p:spPr>
          <a:xfrm>
            <a:off x="5023201" y="4289625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CEPO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0437038C-EAEA-1B4D-9A94-56932C245774}"/>
              </a:ext>
            </a:extLst>
          </p:cNvPr>
          <p:cNvCxnSpPr>
            <a:stCxn id="21" idx="2"/>
            <a:endCxn id="58" idx="3"/>
          </p:cNvCxnSpPr>
          <p:nvPr/>
        </p:nvCxnSpPr>
        <p:spPr>
          <a:xfrm rot="5400000">
            <a:off x="5757985" y="2369390"/>
            <a:ext cx="510145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ADD641D8-DBDB-D240-A539-4320862A5E00}"/>
              </a:ext>
            </a:extLst>
          </p:cNvPr>
          <p:cNvCxnSpPr>
            <a:stCxn id="21" idx="2"/>
            <a:endCxn id="59" idx="3"/>
          </p:cNvCxnSpPr>
          <p:nvPr/>
        </p:nvCxnSpPr>
        <p:spPr>
          <a:xfrm rot="5400000">
            <a:off x="5585287" y="2542088"/>
            <a:ext cx="8555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9AB7F081-AC94-8245-8273-F800A7968C86}"/>
              </a:ext>
            </a:extLst>
          </p:cNvPr>
          <p:cNvCxnSpPr>
            <a:stCxn id="21" idx="2"/>
            <a:endCxn id="60" idx="3"/>
          </p:cNvCxnSpPr>
          <p:nvPr/>
        </p:nvCxnSpPr>
        <p:spPr>
          <a:xfrm rot="5400000">
            <a:off x="5408796" y="2718579"/>
            <a:ext cx="1208522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216C1AC-B4A7-2146-A502-3205AE3858AE}"/>
              </a:ext>
            </a:extLst>
          </p:cNvPr>
          <p:cNvCxnSpPr>
            <a:stCxn id="21" idx="2"/>
            <a:endCxn id="61" idx="3"/>
          </p:cNvCxnSpPr>
          <p:nvPr/>
        </p:nvCxnSpPr>
        <p:spPr>
          <a:xfrm rot="5400000">
            <a:off x="5237342" y="2890033"/>
            <a:ext cx="1551431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B049A20-52AE-D947-A284-B3A9802CDEC7}"/>
              </a:ext>
            </a:extLst>
          </p:cNvPr>
          <p:cNvCxnSpPr>
            <a:stCxn id="21" idx="2"/>
            <a:endCxn id="62" idx="3"/>
          </p:cNvCxnSpPr>
          <p:nvPr/>
        </p:nvCxnSpPr>
        <p:spPr>
          <a:xfrm rot="5400000">
            <a:off x="5065887" y="3061488"/>
            <a:ext cx="18943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1957C7C-B107-6645-921D-265BD4C355FD}"/>
              </a:ext>
            </a:extLst>
          </p:cNvPr>
          <p:cNvCxnSpPr>
            <a:stCxn id="21" idx="2"/>
            <a:endCxn id="82" idx="3"/>
          </p:cNvCxnSpPr>
          <p:nvPr/>
        </p:nvCxnSpPr>
        <p:spPr>
          <a:xfrm rot="5400000">
            <a:off x="4894433" y="3232942"/>
            <a:ext cx="2237249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36D87B16-6B00-EF47-8335-9772CBB41760}"/>
              </a:ext>
            </a:extLst>
          </p:cNvPr>
          <p:cNvCxnSpPr>
            <a:stCxn id="13" idx="2"/>
            <a:endCxn id="40" idx="1"/>
          </p:cNvCxnSpPr>
          <p:nvPr/>
        </p:nvCxnSpPr>
        <p:spPr>
          <a:xfrm rot="16200000" flipH="1">
            <a:off x="1318434" y="2613241"/>
            <a:ext cx="1067308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3FEC617-80D5-BB43-A533-560D272D8A96}"/>
              </a:ext>
            </a:extLst>
          </p:cNvPr>
          <p:cNvCxnSpPr>
            <a:stCxn id="13" idx="2"/>
            <a:endCxn id="41" idx="1"/>
          </p:cNvCxnSpPr>
          <p:nvPr/>
        </p:nvCxnSpPr>
        <p:spPr>
          <a:xfrm rot="16200000" flipH="1">
            <a:off x="1144030" y="2787645"/>
            <a:ext cx="1416117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DB068682-EC9B-1240-808B-8A639F70CFE7}"/>
              </a:ext>
            </a:extLst>
          </p:cNvPr>
          <p:cNvCxnSpPr>
            <a:stCxn id="14" idx="2"/>
            <a:endCxn id="42" idx="1"/>
          </p:cNvCxnSpPr>
          <p:nvPr/>
        </p:nvCxnSpPr>
        <p:spPr>
          <a:xfrm rot="16200000" flipH="1">
            <a:off x="2861573" y="2308365"/>
            <a:ext cx="516692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C7A7035-07BA-6E4F-84D4-C9E5321AB50F}"/>
              </a:ext>
            </a:extLst>
          </p:cNvPr>
          <p:cNvCxnSpPr>
            <a:stCxn id="14" idx="2"/>
            <a:endCxn id="43" idx="1"/>
          </p:cNvCxnSpPr>
          <p:nvPr/>
        </p:nvCxnSpPr>
        <p:spPr>
          <a:xfrm rot="16200000" flipH="1">
            <a:off x="2688876" y="2481062"/>
            <a:ext cx="862087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FAB7955E-6C36-C845-B987-C3FEAFE1E1A9}"/>
              </a:ext>
            </a:extLst>
          </p:cNvPr>
          <p:cNvCxnSpPr>
            <a:stCxn id="14" idx="2"/>
            <a:endCxn id="44" idx="1"/>
          </p:cNvCxnSpPr>
          <p:nvPr/>
        </p:nvCxnSpPr>
        <p:spPr>
          <a:xfrm rot="16200000" flipH="1">
            <a:off x="2512385" y="2657553"/>
            <a:ext cx="1215069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7EDEF00-1D52-C447-B334-0C89BEA91237}"/>
              </a:ext>
            </a:extLst>
          </p:cNvPr>
          <p:cNvCxnSpPr>
            <a:stCxn id="14" idx="2"/>
            <a:endCxn id="45" idx="1"/>
          </p:cNvCxnSpPr>
          <p:nvPr/>
        </p:nvCxnSpPr>
        <p:spPr>
          <a:xfrm rot="16200000" flipH="1">
            <a:off x="2340930" y="2829008"/>
            <a:ext cx="1557978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805A84CF-D2C2-DA4E-8958-F1EFB103700A}"/>
              </a:ext>
            </a:extLst>
          </p:cNvPr>
          <p:cNvCxnSpPr>
            <a:stCxn id="22" idx="2"/>
            <a:endCxn id="76" idx="1"/>
          </p:cNvCxnSpPr>
          <p:nvPr/>
        </p:nvCxnSpPr>
        <p:spPr>
          <a:xfrm rot="16200000" flipH="1">
            <a:off x="7149741" y="2376013"/>
            <a:ext cx="510145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BA6ED20-DAF5-0F4C-81BD-AD396B65F3DB}"/>
              </a:ext>
            </a:extLst>
          </p:cNvPr>
          <p:cNvCxnSpPr>
            <a:stCxn id="22" idx="2"/>
            <a:endCxn id="77" idx="1"/>
          </p:cNvCxnSpPr>
          <p:nvPr/>
        </p:nvCxnSpPr>
        <p:spPr>
          <a:xfrm rot="16200000" flipH="1">
            <a:off x="6977043" y="2548711"/>
            <a:ext cx="855540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5E02B76-CA79-934E-88A2-904B105FAE21}"/>
              </a:ext>
            </a:extLst>
          </p:cNvPr>
          <p:cNvCxnSpPr>
            <a:stCxn id="22" idx="2"/>
            <a:endCxn id="78" idx="1"/>
          </p:cNvCxnSpPr>
          <p:nvPr/>
        </p:nvCxnSpPr>
        <p:spPr>
          <a:xfrm rot="16200000" flipH="1">
            <a:off x="6800552" y="2725202"/>
            <a:ext cx="1208522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B21BCF5-DBEE-5140-A62B-E70BF9A5514A}"/>
              </a:ext>
            </a:extLst>
          </p:cNvPr>
          <p:cNvCxnSpPr>
            <a:stCxn id="22" idx="2"/>
            <a:endCxn id="79" idx="1"/>
          </p:cNvCxnSpPr>
          <p:nvPr/>
        </p:nvCxnSpPr>
        <p:spPr>
          <a:xfrm rot="16200000" flipH="1">
            <a:off x="6629098" y="2896656"/>
            <a:ext cx="155143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07CA63F-0703-C941-BA41-7C2D54DA9204}"/>
              </a:ext>
            </a:extLst>
          </p:cNvPr>
          <p:cNvCxnSpPr>
            <a:stCxn id="22" idx="2"/>
            <a:endCxn id="81" idx="1"/>
          </p:cNvCxnSpPr>
          <p:nvPr/>
        </p:nvCxnSpPr>
        <p:spPr>
          <a:xfrm rot="16200000" flipH="1">
            <a:off x="6452818" y="3072936"/>
            <a:ext cx="190399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8561D39-0AD1-4D42-8E0D-409789498946}"/>
              </a:ext>
            </a:extLst>
          </p:cNvPr>
          <p:cNvSpPr/>
          <p:nvPr/>
        </p:nvSpPr>
        <p:spPr>
          <a:xfrm>
            <a:off x="547297" y="3946716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CMA-ES</a:t>
            </a:r>
            <a:endParaRPr lang="en-TR" sz="800" dirty="0">
              <a:solidFill>
                <a:schemeClr val="tx1"/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277E37A-6238-FB47-8AED-03256CD4A946}"/>
              </a:ext>
            </a:extLst>
          </p:cNvPr>
          <p:cNvSpPr/>
          <p:nvPr/>
        </p:nvSpPr>
        <p:spPr>
          <a:xfrm>
            <a:off x="1954463" y="3817302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ACKTR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BF24DBD3-1262-F443-AC37-CAE0FC96FBC9}"/>
              </a:ext>
            </a:extLst>
          </p:cNvPr>
          <p:cNvCxnSpPr>
            <a:stCxn id="13" idx="2"/>
            <a:endCxn id="121" idx="3"/>
          </p:cNvCxnSpPr>
          <p:nvPr/>
        </p:nvCxnSpPr>
        <p:spPr>
          <a:xfrm rot="5400000">
            <a:off x="650166" y="3001305"/>
            <a:ext cx="1894340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A2D3BA2-0FEB-2843-996E-8D051A0ECC19}"/>
              </a:ext>
            </a:extLst>
          </p:cNvPr>
          <p:cNvCxnSpPr>
            <a:stCxn id="13" idx="2"/>
            <a:endCxn id="122" idx="1"/>
          </p:cNvCxnSpPr>
          <p:nvPr/>
        </p:nvCxnSpPr>
        <p:spPr>
          <a:xfrm rot="16200000" flipH="1">
            <a:off x="963487" y="2968187"/>
            <a:ext cx="1764926" cy="217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00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dirty="0"/>
              <a:t>Environment</a:t>
            </a:r>
            <a:r>
              <a:rPr lang="ru-RU" sz="4800" dirty="0"/>
              <a:t> – </a:t>
            </a:r>
            <a:br>
              <a:rPr lang="en-US" sz="4800" dirty="0"/>
            </a:br>
            <a:r>
              <a:rPr lang="ru-RU" sz="4800" dirty="0"/>
              <a:t>модель среды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9746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4762168F-93FC-0747-84F2-2E718F35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</p:spPr>
        <p:txBody>
          <a:bodyPr/>
          <a:lstStyle/>
          <a:p>
            <a:r>
              <a:rPr lang="ru-RU" dirty="0"/>
              <a:t>Задача</a:t>
            </a:r>
            <a:endParaRPr lang="en-T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A239BE-63D2-A246-8709-2E2084F6D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489128" y="1712550"/>
            <a:ext cx="2168471" cy="1627568"/>
          </a:xfrm>
          <a:prstGeom prst="rect">
            <a:avLst/>
          </a:prstGeom>
        </p:spPr>
      </p:pic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A1560508-5756-8A49-B8D7-7C1CC9D7578F}"/>
              </a:ext>
            </a:extLst>
          </p:cNvPr>
          <p:cNvCxnSpPr>
            <a:cxnSpLocks/>
            <a:stCxn id="13" idx="2"/>
            <a:endCxn id="1026" idx="2"/>
          </p:cNvCxnSpPr>
          <p:nvPr/>
        </p:nvCxnSpPr>
        <p:spPr>
          <a:xfrm rot="5400000" flipH="1" flipV="1">
            <a:off x="4373294" y="1422397"/>
            <a:ext cx="117789" cy="3717653"/>
          </a:xfrm>
          <a:prstGeom prst="bentConnector3">
            <a:avLst>
              <a:gd name="adj1" fmla="val -194076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FCD8C5-80A3-5C4E-95D8-B13EA242A694}"/>
                  </a:ext>
                </a:extLst>
              </p:cNvPr>
              <p:cNvSpPr txBox="1"/>
              <p:nvPr/>
            </p:nvSpPr>
            <p:spPr>
              <a:xfrm>
                <a:off x="4169582" y="3760631"/>
                <a:ext cx="4085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TR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FCD8C5-80A3-5C4E-95D8-B13EA242A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582" y="3760631"/>
                <a:ext cx="408509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542A48A3-B3D1-B04D-9CA9-C333C6217740}"/>
              </a:ext>
            </a:extLst>
          </p:cNvPr>
          <p:cNvCxnSpPr>
            <a:cxnSpLocks/>
            <a:endCxn id="13" idx="0"/>
          </p:cNvCxnSpPr>
          <p:nvPr/>
        </p:nvCxnSpPr>
        <p:spPr>
          <a:xfrm rot="16200000" flipV="1">
            <a:off x="4387251" y="-101338"/>
            <a:ext cx="12700" cy="3627775"/>
          </a:xfrm>
          <a:prstGeom prst="bentConnector3">
            <a:avLst>
              <a:gd name="adj1" fmla="val 2509858"/>
            </a:avLst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34ACFA-26A7-9D4E-901C-37FEB1D95865}"/>
                  </a:ext>
                </a:extLst>
              </p:cNvPr>
              <p:cNvSpPr txBox="1"/>
              <p:nvPr/>
            </p:nvSpPr>
            <p:spPr>
              <a:xfrm>
                <a:off x="3985091" y="1363729"/>
                <a:ext cx="3860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TR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34ACFA-26A7-9D4E-901C-37FEB1D95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091" y="1363729"/>
                <a:ext cx="38606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273F5BC-64FC-8044-B052-87F745C8D468}"/>
              </a:ext>
            </a:extLst>
          </p:cNvPr>
          <p:cNvCxnSpPr>
            <a:cxnSpLocks/>
          </p:cNvCxnSpPr>
          <p:nvPr/>
        </p:nvCxnSpPr>
        <p:spPr>
          <a:xfrm flipV="1">
            <a:off x="6375042" y="1252175"/>
            <a:ext cx="0" cy="45402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82C3C54-991A-5047-841B-81619EF107D6}"/>
              </a:ext>
            </a:extLst>
          </p:cNvPr>
          <p:cNvCxnSpPr>
            <a:cxnSpLocks/>
          </p:cNvCxnSpPr>
          <p:nvPr/>
        </p:nvCxnSpPr>
        <p:spPr>
          <a:xfrm flipH="1">
            <a:off x="2421228" y="1255343"/>
            <a:ext cx="395381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ED3AF5-5EF2-914D-BA13-9B1F54E0C9CB}"/>
              </a:ext>
            </a:extLst>
          </p:cNvPr>
          <p:cNvCxnSpPr>
            <a:cxnSpLocks/>
          </p:cNvCxnSpPr>
          <p:nvPr/>
        </p:nvCxnSpPr>
        <p:spPr>
          <a:xfrm flipH="1" flipV="1">
            <a:off x="2419081" y="1252175"/>
            <a:ext cx="2147" cy="419331"/>
          </a:xfrm>
          <a:prstGeom prst="line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C4A248-0711-754F-ADD5-27D01B8B3E1D}"/>
                  </a:ext>
                </a:extLst>
              </p:cNvPr>
              <p:cNvSpPr txBox="1"/>
              <p:nvPr/>
            </p:nvSpPr>
            <p:spPr>
              <a:xfrm>
                <a:off x="3792057" y="944398"/>
                <a:ext cx="3924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TR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C4A248-0711-754F-ADD5-27D01B8B3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057" y="944398"/>
                <a:ext cx="39248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Explore 6,898+ Free Earth Illustrations: Download Now - Pixabay">
            <a:extLst>
              <a:ext uri="{FF2B5EF4-FFF2-40B4-BE49-F238E27FC236}">
                <a16:creationId xmlns:a16="http://schemas.microsoft.com/office/drawing/2014/main" id="{A5E23820-279C-5948-B828-07017984C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3" y="1718900"/>
            <a:ext cx="1609226" cy="1503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426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A1054D-A558-F34C-8B1C-C6D389EE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</a:t>
            </a:r>
            <a:r>
              <a:rPr lang="en-US" dirty="0" err="1"/>
              <a:t>с</a:t>
            </a:r>
            <a:r>
              <a:rPr lang="ru-RU" dirty="0" err="1"/>
              <a:t>реды</a:t>
            </a:r>
            <a:endParaRPr lang="en-TR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42425A-5E2E-9542-919E-9C4C489DDD44}"/>
              </a:ext>
            </a:extLst>
          </p:cNvPr>
          <p:cNvCxnSpPr>
            <a:cxnSpLocks/>
          </p:cNvCxnSpPr>
          <p:nvPr/>
        </p:nvCxnSpPr>
        <p:spPr>
          <a:xfrm>
            <a:off x="4461531" y="1674910"/>
            <a:ext cx="468000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BCD8849-BB26-5744-AC6A-82C56613D5FF}"/>
              </a:ext>
            </a:extLst>
          </p:cNvPr>
          <p:cNvSpPr txBox="1"/>
          <p:nvPr/>
        </p:nvSpPr>
        <p:spPr>
          <a:xfrm>
            <a:off x="4970891" y="3854238"/>
            <a:ext cx="2212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e</a:t>
            </a:r>
            <a:r>
              <a:rPr lang="en-TR" dirty="0">
                <a:solidFill>
                  <a:srgbClr val="00B050"/>
                </a:solidFill>
              </a:rPr>
              <a:t>nv.reset() → (state, info)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CE525C-AEE2-7745-8515-A285DEE257AE}"/>
              </a:ext>
            </a:extLst>
          </p:cNvPr>
          <p:cNvSpPr txBox="1"/>
          <p:nvPr/>
        </p:nvSpPr>
        <p:spPr>
          <a:xfrm>
            <a:off x="4977028" y="4269449"/>
            <a:ext cx="3773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TR" dirty="0">
                <a:solidFill>
                  <a:srgbClr val="C00000"/>
                </a:solidFill>
              </a:rPr>
              <a:t>nv.step(action) → (state, reward, done, info)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CA9D0-447A-604A-BBAD-E9D31F39B4CD}"/>
              </a:ext>
            </a:extLst>
          </p:cNvPr>
          <p:cNvSpPr txBox="1"/>
          <p:nvPr/>
        </p:nvSpPr>
        <p:spPr>
          <a:xfrm>
            <a:off x="4970891" y="2309827"/>
            <a:ext cx="37008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nv.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observation_space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→ </a:t>
            </a:r>
          </a:p>
          <a:p>
            <a:pPr>
              <a:tabLst>
                <a:tab pos="438150" algn="l"/>
              </a:tabLst>
            </a:pP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[’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долгота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’, ‘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широта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’, ‘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высота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’, ‘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температура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’]</a:t>
            </a:r>
            <a:br>
              <a:rPr lang="en-TR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Box(	[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-18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0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-9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0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-1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r>
              <a:rPr lang="ru-RU" baseline="30000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-10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0],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[ 1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80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90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10</a:t>
            </a:r>
            <a:r>
              <a:rPr lang="ru-RU" baseline="30000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100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],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(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,),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float32. )</a:t>
            </a:r>
            <a:endParaRPr lang="en-T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D8C6E7-49B4-554A-A7FD-1DBC005E3DBA}"/>
              </a:ext>
            </a:extLst>
          </p:cNvPr>
          <p:cNvSpPr txBox="1"/>
          <p:nvPr/>
        </p:nvSpPr>
        <p:spPr>
          <a:xfrm>
            <a:off x="4970891" y="1507984"/>
            <a:ext cx="264687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nv.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action_space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→ </a:t>
            </a:r>
          </a:p>
          <a:p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[‘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право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’, ‘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лево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’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, ’вверх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’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‘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вниз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’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]</a:t>
            </a:r>
          </a:p>
          <a:p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Discrete(4) = [0, 1, 2, 3]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EB3246-0629-9747-902A-9B7D2A3A262D}"/>
              </a:ext>
            </a:extLst>
          </p:cNvPr>
          <p:cNvCxnSpPr>
            <a:cxnSpLocks/>
          </p:cNvCxnSpPr>
          <p:nvPr/>
        </p:nvCxnSpPr>
        <p:spPr>
          <a:xfrm>
            <a:off x="4461531" y="2490102"/>
            <a:ext cx="468000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C4CF95-B43C-3043-ADEA-FCC0BEC07EB4}"/>
              </a:ext>
            </a:extLst>
          </p:cNvPr>
          <p:cNvCxnSpPr>
            <a:cxnSpLocks/>
          </p:cNvCxnSpPr>
          <p:nvPr/>
        </p:nvCxnSpPr>
        <p:spPr>
          <a:xfrm>
            <a:off x="4461531" y="4029452"/>
            <a:ext cx="468000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DE8CA8-EDF9-8944-8A0D-AAAAB5572E4E}"/>
              </a:ext>
            </a:extLst>
          </p:cNvPr>
          <p:cNvCxnSpPr>
            <a:cxnSpLocks/>
          </p:cNvCxnSpPr>
          <p:nvPr/>
        </p:nvCxnSpPr>
        <p:spPr>
          <a:xfrm>
            <a:off x="4461531" y="4445740"/>
            <a:ext cx="46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208BB71-8DE7-8143-B908-52DE5DA0C9BF}"/>
              </a:ext>
            </a:extLst>
          </p:cNvPr>
          <p:cNvGrpSpPr/>
          <p:nvPr/>
        </p:nvGrpSpPr>
        <p:grpSpPr>
          <a:xfrm>
            <a:off x="0" y="1056470"/>
            <a:ext cx="4464954" cy="3577099"/>
            <a:chOff x="0" y="1056470"/>
            <a:chExt cx="4464954" cy="35770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883EA30-9921-7C44-8FBB-D346EF5B3911}"/>
                </a:ext>
              </a:extLst>
            </p:cNvPr>
            <p:cNvGrpSpPr/>
            <p:nvPr/>
          </p:nvGrpSpPr>
          <p:grpSpPr>
            <a:xfrm>
              <a:off x="0" y="1056470"/>
              <a:ext cx="4464954" cy="3577099"/>
              <a:chOff x="0" y="1056470"/>
              <a:chExt cx="4464954" cy="357709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EF3D83E7-19DE-CA4C-B33A-EACDB7C6153E}"/>
                  </a:ext>
                </a:extLst>
              </p:cNvPr>
              <p:cNvGrpSpPr/>
              <p:nvPr/>
            </p:nvGrpSpPr>
            <p:grpSpPr>
              <a:xfrm>
                <a:off x="0" y="1056470"/>
                <a:ext cx="4464954" cy="3577099"/>
                <a:chOff x="278879" y="829204"/>
                <a:chExt cx="4464954" cy="3577099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B5ABD48-4EA7-674D-9BE8-D311C54725FB}"/>
                    </a:ext>
                  </a:extLst>
                </p:cNvPr>
                <p:cNvSpPr/>
                <p:nvPr/>
              </p:nvSpPr>
              <p:spPr>
                <a:xfrm>
                  <a:off x="576869" y="1104643"/>
                  <a:ext cx="4166964" cy="33016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R" dirty="0"/>
                </a:p>
              </p:txBody>
            </p:sp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213F6755-4350-734F-83B2-6D622EF48B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78879" y="829204"/>
                  <a:ext cx="2065421" cy="550877"/>
                </a:xfrm>
                <a:prstGeom prst="rect">
                  <a:avLst/>
                </a:prstGeom>
              </p:spPr>
            </p:pic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CED297-8E35-DB4B-AF39-59CDB93025CC}"/>
                  </a:ext>
                </a:extLst>
              </p:cNvPr>
              <p:cNvSpPr txBox="1"/>
              <p:nvPr/>
            </p:nvSpPr>
            <p:spPr>
              <a:xfrm>
                <a:off x="697844" y="1391938"/>
                <a:ext cx="12442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>
                    <a:latin typeface="Adelle Sans Devanagari Thin" panose="02000503000000020004" pitchFamily="2" charset="-78"/>
                    <a:cs typeface="Adelle Sans Devanagari Thin" panose="02000503000000020004" pitchFamily="2" charset="-78"/>
                  </a:rPr>
                  <a:t>environment</a:t>
                </a:r>
              </a:p>
            </p:txBody>
          </p:sp>
        </p:grpSp>
        <p:pic>
          <p:nvPicPr>
            <p:cNvPr id="2050" name="Picture 2" descr="Explore 6,898+ Free Earth Illustrations: Download Now - Pixabay">
              <a:extLst>
                <a:ext uri="{FF2B5EF4-FFF2-40B4-BE49-F238E27FC236}">
                  <a16:creationId xmlns:a16="http://schemas.microsoft.com/office/drawing/2014/main" id="{D8B33D7D-9290-F644-959B-312716F327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850" y="1585975"/>
              <a:ext cx="2909244" cy="2717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50949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Практическая реализация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66" name="Google Shape;466;p86"/>
          <p:cNvGraphicFramePr/>
          <p:nvPr>
            <p:extLst>
              <p:ext uri="{D42A27DB-BD31-4B8C-83A1-F6EECF244321}">
                <p14:modId xmlns:p14="http://schemas.microsoft.com/office/powerpoint/2010/main" val="3210342040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окружения: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дискретные состояния, дискретные действия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непрерывные состояния, дискретные действия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31132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непрерывные состояния, непрерывные действия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633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5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57" name="Google Shape;457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85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 в чат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9" name="Google Shape;459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85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3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Знакомство с командой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и программой курса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2978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>
                <a:solidFill>
                  <a:srgbClr val="FF9900"/>
                </a:solidFill>
              </a:rPr>
              <a:t>Игорь Стурейко</a:t>
            </a:r>
            <a:endParaRPr sz="1517" b="1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598325"/>
            <a:ext cx="26451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867"/>
              <a:t>15+ лет опыта в прикладной математике и математическом моделировании НИИгазэкономика ПАО Газпром</a:t>
            </a:r>
            <a:endParaRPr sz="867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850"/>
              <a:t>Руководил командой̆, решающей прикладные задачи, вывод готовых моделей в продакшн и поддержку решений у клиента</a:t>
            </a:r>
            <a:endParaRPr sz="867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8685" b="8685"/>
          <a:stretch/>
        </p:blipFill>
        <p:spPr>
          <a:xfrm>
            <a:off x="789925" y="135502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6" name="Google Shape;226;p40"/>
          <p:cNvSpPr txBox="1">
            <a:spLocks noGrp="1"/>
          </p:cNvSpPr>
          <p:nvPr>
            <p:ph type="subTitle" idx="4294967295"/>
          </p:nvPr>
        </p:nvSpPr>
        <p:spPr>
          <a:xfrm>
            <a:off x="1708980" y="2975011"/>
            <a:ext cx="1991700" cy="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Анатолий Чудаков</a:t>
            </a:r>
            <a:endParaRPr sz="1517" b="1" dirty="0">
              <a:solidFill>
                <a:srgbClr val="FF9900"/>
              </a:solidFill>
            </a:endParaRPr>
          </a:p>
        </p:txBody>
      </p:sp>
      <p:sp>
        <p:nvSpPr>
          <p:cNvPr id="227" name="Google Shape;227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3275450"/>
            <a:ext cx="2554200" cy="115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 err="1"/>
              <a:t>Teamlead</a:t>
            </a:r>
            <a:r>
              <a:rPr lang="en-US" sz="900" dirty="0"/>
              <a:t> </a:t>
            </a:r>
            <a:r>
              <a:rPr lang="ru-RU" sz="900" dirty="0"/>
              <a:t>в команде кинотеатра </a:t>
            </a:r>
            <a:r>
              <a:rPr lang="en-US" sz="900" dirty="0"/>
              <a:t>Wink.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00" dirty="0"/>
              <a:t>Промышленный опыт </a:t>
            </a:r>
            <a:r>
              <a:rPr lang="en-US" sz="900" dirty="0"/>
              <a:t>SOTA </a:t>
            </a:r>
            <a:r>
              <a:rPr lang="ru-RU" sz="900" dirty="0"/>
              <a:t>разработки </a:t>
            </a:r>
            <a:r>
              <a:rPr lang="en-US" sz="900" dirty="0"/>
              <a:t>RL </a:t>
            </a:r>
            <a:r>
              <a:rPr lang="ru-RU" sz="900" dirty="0"/>
              <a:t>в рекомендательных системах и </a:t>
            </a:r>
            <a:r>
              <a:rPr lang="en-US" sz="900" dirty="0"/>
              <a:t>uplift </a:t>
            </a:r>
            <a:r>
              <a:rPr lang="ru-RU" sz="900" dirty="0"/>
              <a:t>моделировании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00" dirty="0"/>
              <a:t>Образование: Прикладная макроэкономика (СПбГУ) </a:t>
            </a:r>
            <a:r>
              <a:rPr lang="en-US" sz="900" dirty="0" err="1"/>
              <a:t>Otus</a:t>
            </a:r>
            <a:r>
              <a:rPr lang="en-US" sz="900" dirty="0"/>
              <a:t> Certified Educator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 dirty="0"/>
          </a:p>
        </p:txBody>
      </p:sp>
      <p:pic>
        <p:nvPicPr>
          <p:cNvPr id="228" name="Google Shape;228;p40"/>
          <p:cNvPicPr preferRelativeResize="0"/>
          <p:nvPr/>
        </p:nvPicPr>
        <p:blipFill>
          <a:blip r:embed="rId4"/>
          <a:srcRect t="11003" b="11003"/>
          <a:stretch/>
        </p:blipFill>
        <p:spPr>
          <a:xfrm>
            <a:off x="789925" y="3032156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9" name="Google Shape;229;p40"/>
          <p:cNvSpPr txBox="1">
            <a:spLocks noGrp="1"/>
          </p:cNvSpPr>
          <p:nvPr>
            <p:ph type="subTitle" idx="4294967295"/>
          </p:nvPr>
        </p:nvSpPr>
        <p:spPr>
          <a:xfrm>
            <a:off x="5880205" y="1297880"/>
            <a:ext cx="1991700" cy="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" sz="1517" b="1">
                <a:solidFill>
                  <a:srgbClr val="FF9900"/>
                </a:solidFill>
              </a:rPr>
              <a:t>Сергей Доронин</a:t>
            </a:r>
            <a:endParaRPr sz="1517" b="1">
              <a:solidFill>
                <a:srgbClr val="FF9900"/>
              </a:solidFill>
            </a:endParaRPr>
          </a:p>
        </p:txBody>
      </p:sp>
      <p:sp>
        <p:nvSpPr>
          <p:cNvPr id="230" name="Google Shape;230;p40"/>
          <p:cNvSpPr txBox="1">
            <a:spLocks noGrp="1"/>
          </p:cNvSpPr>
          <p:nvPr>
            <p:ph type="subTitle" idx="4294967295"/>
          </p:nvPr>
        </p:nvSpPr>
        <p:spPr>
          <a:xfrm>
            <a:off x="5880200" y="1598325"/>
            <a:ext cx="2585700" cy="11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850"/>
              <a:t>12+ лет опыта создания и разработки корпоративных сервисов (</a:t>
            </a:r>
            <a:r>
              <a:rPr lang="ru" sz="850">
                <a:solidFill>
                  <a:srgbClr val="050505"/>
                </a:solidFill>
                <a:highlight>
                  <a:srgbClr val="F8F8F8"/>
                </a:highlight>
              </a:rPr>
              <a:t>ЭкспрессВолгаБанк, ПАО "Ростелеком" и др.)</a:t>
            </a:r>
            <a:endParaRPr sz="85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850">
                <a:solidFill>
                  <a:srgbClr val="050505"/>
                </a:solidFill>
                <a:highlight>
                  <a:srgbClr val="F8F8F8"/>
                </a:highlight>
              </a:rPr>
              <a:t>Подбирал технологии виртуальных датацентров, методов защиты информации (DLP/WAF), проектирования систем видеонаблюдения, Wi-Fi, VoIP, IPTV и т.д.</a:t>
            </a:r>
            <a:endParaRPr sz="85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/>
          </a:p>
        </p:txBody>
      </p:sp>
      <p:pic>
        <p:nvPicPr>
          <p:cNvPr id="231" name="Google Shape;231;p40"/>
          <p:cNvPicPr preferRelativeResize="0"/>
          <p:nvPr/>
        </p:nvPicPr>
        <p:blipFill>
          <a:blip r:embed="rId5"/>
          <a:srcRect t="16085" b="16085"/>
          <a:stretch/>
        </p:blipFill>
        <p:spPr>
          <a:xfrm>
            <a:off x="4961150" y="135502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" name="Google Shape;229;p40">
            <a:extLst>
              <a:ext uri="{FF2B5EF4-FFF2-40B4-BE49-F238E27FC236}">
                <a16:creationId xmlns:a16="http://schemas.microsoft.com/office/drawing/2014/main" id="{03269C19-D016-C44E-BBD6-4138BEE95808}"/>
              </a:ext>
            </a:extLst>
          </p:cNvPr>
          <p:cNvSpPr txBox="1">
            <a:spLocks/>
          </p:cNvSpPr>
          <p:nvPr/>
        </p:nvSpPr>
        <p:spPr>
          <a:xfrm>
            <a:off x="5880205" y="3032156"/>
            <a:ext cx="19917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ts val="852"/>
              <a:buFont typeface="Roboto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Андрей </a:t>
            </a:r>
            <a:r>
              <a:rPr lang="ru-RU" sz="1517" b="1" dirty="0" err="1">
                <a:solidFill>
                  <a:srgbClr val="FF9900"/>
                </a:solidFill>
              </a:rPr>
              <a:t>Канашов</a:t>
            </a:r>
            <a:endParaRPr lang="ru-RU" sz="1517" b="1" dirty="0">
              <a:solidFill>
                <a:srgbClr val="FF9900"/>
              </a:solidFill>
            </a:endParaRPr>
          </a:p>
        </p:txBody>
      </p:sp>
      <p:sp>
        <p:nvSpPr>
          <p:cNvPr id="14" name="Google Shape;230;p40">
            <a:extLst>
              <a:ext uri="{FF2B5EF4-FFF2-40B4-BE49-F238E27FC236}">
                <a16:creationId xmlns:a16="http://schemas.microsoft.com/office/drawing/2014/main" id="{171F4BBF-1C4F-994C-9045-0291BC30CBB2}"/>
              </a:ext>
            </a:extLst>
          </p:cNvPr>
          <p:cNvSpPr txBox="1">
            <a:spLocks/>
          </p:cNvSpPr>
          <p:nvPr/>
        </p:nvSpPr>
        <p:spPr>
          <a:xfrm>
            <a:off x="5880200" y="3332601"/>
            <a:ext cx="25857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buSzPts val="597"/>
              <a:buFont typeface="Roboto"/>
              <a:buNone/>
            </a:pPr>
            <a:r>
              <a:rPr lang="ru-RU" sz="850" dirty="0"/>
              <a:t>Занимался задачами с использованием как классического </a:t>
            </a:r>
            <a:r>
              <a:rPr lang="en-US" sz="850" dirty="0"/>
              <a:t>Machine Learning, </a:t>
            </a:r>
            <a:r>
              <a:rPr lang="ru-RU" sz="850" dirty="0"/>
              <a:t>так и </a:t>
            </a:r>
            <a:r>
              <a:rPr lang="en-US" sz="850" dirty="0"/>
              <a:t>Deep Learning </a:t>
            </a:r>
            <a:r>
              <a:rPr lang="ru-RU" sz="850" dirty="0"/>
              <a:t>алгоритмов с использованием нейронных сетей в задачах </a:t>
            </a:r>
            <a:r>
              <a:rPr lang="en-US" sz="850" dirty="0"/>
              <a:t>NLP </a:t>
            </a:r>
            <a:r>
              <a:rPr lang="ru-RU" sz="850" dirty="0"/>
              <a:t>и </a:t>
            </a:r>
            <a:r>
              <a:rPr lang="en-US" sz="850" dirty="0"/>
              <a:t>CV, </a:t>
            </a:r>
            <a:r>
              <a:rPr lang="ru-RU" sz="850" dirty="0"/>
              <a:t>а также проведением различных аналитических исследований</a:t>
            </a:r>
          </a:p>
          <a:p>
            <a:pPr marL="0" indent="0">
              <a:lnSpc>
                <a:spcPct val="100000"/>
              </a:lnSpc>
              <a:buSzPts val="597"/>
              <a:buFont typeface="Roboto"/>
              <a:buNone/>
            </a:pPr>
            <a:endParaRPr lang="ru-RU" sz="850" dirty="0"/>
          </a:p>
          <a:p>
            <a:pPr marL="0" indent="0">
              <a:lnSpc>
                <a:spcPct val="100000"/>
              </a:lnSpc>
              <a:buSzPts val="597"/>
              <a:buFont typeface="Roboto"/>
              <a:buNone/>
            </a:pPr>
            <a:r>
              <a:rPr lang="ru-RU" sz="850" dirty="0"/>
              <a:t>Образование: </a:t>
            </a:r>
          </a:p>
          <a:p>
            <a:pPr marL="0" indent="0">
              <a:lnSpc>
                <a:spcPct val="100000"/>
              </a:lnSpc>
              <a:buSzPts val="597"/>
              <a:buFont typeface="Roboto"/>
              <a:buNone/>
            </a:pPr>
            <a:r>
              <a:rPr lang="ru-RU" sz="850" dirty="0"/>
              <a:t>Уральский государственный университет (УРФУ)</a:t>
            </a:r>
          </a:p>
        </p:txBody>
      </p:sp>
      <p:pic>
        <p:nvPicPr>
          <p:cNvPr id="15" name="Google Shape;231;p40">
            <a:extLst>
              <a:ext uri="{FF2B5EF4-FFF2-40B4-BE49-F238E27FC236}">
                <a16:creationId xmlns:a16="http://schemas.microsoft.com/office/drawing/2014/main" id="{2FC4A030-452A-234A-A24E-D2EC2DC6A146}"/>
              </a:ext>
            </a:extLst>
          </p:cNvPr>
          <p:cNvPicPr preferRelativeResize="0"/>
          <p:nvPr/>
        </p:nvPicPr>
        <p:blipFill>
          <a:blip r:embed="rId6"/>
          <a:srcRect t="12897" b="12897"/>
          <a:stretch/>
        </p:blipFill>
        <p:spPr>
          <a:xfrm>
            <a:off x="4961150" y="3089301"/>
            <a:ext cx="830100" cy="819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4"/>
          <p:cNvSpPr/>
          <p:nvPr/>
        </p:nvSpPr>
        <p:spPr>
          <a:xfrm>
            <a:off x="1052550" y="1264075"/>
            <a:ext cx="3426900" cy="77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94"/>
          <p:cNvSpPr/>
          <p:nvPr/>
        </p:nvSpPr>
        <p:spPr>
          <a:xfrm>
            <a:off x="1052550" y="2237575"/>
            <a:ext cx="3426900" cy="99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94"/>
          <p:cNvSpPr/>
          <p:nvPr/>
        </p:nvSpPr>
        <p:spPr>
          <a:xfrm>
            <a:off x="1052550" y="3425275"/>
            <a:ext cx="3426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4"/>
          <p:cNvSpPr/>
          <p:nvPr/>
        </p:nvSpPr>
        <p:spPr>
          <a:xfrm>
            <a:off x="4673550" y="1264075"/>
            <a:ext cx="3417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4"/>
          <p:cNvSpPr/>
          <p:nvPr/>
        </p:nvSpPr>
        <p:spPr>
          <a:xfrm>
            <a:off x="4673550" y="2579575"/>
            <a:ext cx="3417900" cy="84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4"/>
          <p:cNvSpPr/>
          <p:nvPr/>
        </p:nvSpPr>
        <p:spPr>
          <a:xfrm>
            <a:off x="4673550" y="3607675"/>
            <a:ext cx="3417900" cy="951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79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4"/>
          <p:cNvSpPr txBox="1"/>
          <p:nvPr/>
        </p:nvSpPr>
        <p:spPr>
          <a:xfrm>
            <a:off x="1763275" y="1326125"/>
            <a:ext cx="25296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выстроено в формате вебинаров (онлайн). Онлайн-вебинары проводятся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вечерам или в выходные дни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4" name="Google Shape;52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900" y="24404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94"/>
          <p:cNvSpPr txBox="1"/>
          <p:nvPr/>
        </p:nvSpPr>
        <p:spPr>
          <a:xfrm>
            <a:off x="1763275" y="2305525"/>
            <a:ext cx="26265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Все записи занятий и материалы, предоставляемые преподавателями, сохраняются в личном кабинете и остаются доступны даже после окончания обучения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6" name="Google Shape;526;p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7900" y="36322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94"/>
          <p:cNvSpPr txBox="1"/>
          <p:nvPr/>
        </p:nvSpPr>
        <p:spPr>
          <a:xfrm>
            <a:off x="1763275" y="3495075"/>
            <a:ext cx="2493300" cy="10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 позволят Вам применить на практике полученные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 время вебинаров знания.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каждому домашнему заданию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преподаватель дает развернутый фидбек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8" name="Google Shape;528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31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94"/>
          <p:cNvSpPr txBox="1"/>
          <p:nvPr/>
        </p:nvSpPr>
        <p:spPr>
          <a:xfrm>
            <a:off x="5378475" y="1326125"/>
            <a:ext cx="24933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процессе обучения Вы можете задавать преподавателю вопросы по материалам лекций и домашних заданий, уточнять моменты, которые были непонятны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уроке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0" name="Google Shape;530;p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3100" y="2743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94"/>
          <p:cNvSpPr txBox="1"/>
          <p:nvPr/>
        </p:nvSpPr>
        <p:spPr>
          <a:xfrm>
            <a:off x="5378475" y="2647825"/>
            <a:ext cx="26265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Время на обучение: от 4 ак. часов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занятия и 4-8 часов на домашнюю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работу в неделю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2" name="Google Shape;532;p9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3100" y="3760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94"/>
          <p:cNvSpPr txBox="1"/>
          <p:nvPr/>
        </p:nvSpPr>
        <p:spPr>
          <a:xfrm>
            <a:off x="5378475" y="3664825"/>
            <a:ext cx="2529600" cy="8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Программа обучения на курсах обновляется каждый запуск в зависимости от актуальных запросов в сфере IТ-технологий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94"/>
          <p:cNvSpPr txBox="1"/>
          <p:nvPr/>
        </p:nvSpPr>
        <p:spPr>
          <a:xfrm>
            <a:off x="500550" y="336745"/>
            <a:ext cx="8307600" cy="1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dirty="0">
                <a:latin typeface="Roboto"/>
                <a:ea typeface="Roboto"/>
                <a:cs typeface="Roboto"/>
                <a:sym typeface="Roboto"/>
              </a:rPr>
              <a:t>Процесс обучения</a:t>
            </a:r>
            <a:endParaRPr sz="31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847675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Reinforcement Learning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847803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325417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в реальных задачах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2137325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16975"/>
            <a:ext cx="3495512" cy="9307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767838" y="413734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40636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309689" y="3543819"/>
            <a:ext cx="1831145" cy="593527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820139" y="128322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8000141" y="125700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6444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43822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685179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658957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Знакомство с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530018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Ключевые понятия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RL: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агент, среда, награда, политика</a:t>
            </a:r>
            <a:b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Построение модели среды и агента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08174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Основные алгоритмы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RL: Value based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60091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Основные алгоритмы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RL: Policy based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515089" y="1975413"/>
            <a:ext cx="100331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218735" y="2271767"/>
            <a:ext cx="159602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59150" y="2531352"/>
            <a:ext cx="211519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8174" y="3636915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77328" y="3580821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Reinforcement Learning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Q-Network (DQN)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Policy Gradient (PG)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Actor-Critic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45342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39732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1E70FE6D-9707-554D-A77C-32B4E00330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86931" y="3516318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73F6CCE-3421-0F41-BADD-782C8BB884F8}"/>
              </a:ext>
            </a:extLst>
          </p:cNvPr>
          <p:cNvSpPr txBox="1"/>
          <p:nvPr/>
        </p:nvSpPr>
        <p:spPr>
          <a:xfrm rot="20748746">
            <a:off x="7546085" y="3460224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6AAFEF18-6AF7-D742-BED8-1EE0FB9F9DFF}"/>
              </a:ext>
            </a:extLst>
          </p:cNvPr>
          <p:cNvSpPr/>
          <p:nvPr/>
        </p:nvSpPr>
        <p:spPr>
          <a:xfrm>
            <a:off x="2226712" y="401419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TRPO -&gt; PPO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5" name="Google Shape;271;p44">
            <a:extLst>
              <a:ext uri="{FF2B5EF4-FFF2-40B4-BE49-F238E27FC236}">
                <a16:creationId xmlns:a16="http://schemas.microsoft.com/office/drawing/2014/main" id="{5155F389-DB3A-4A42-A2CE-75E4C4014960}"/>
              </a:ext>
            </a:extLst>
          </p:cNvPr>
          <p:cNvSpPr/>
          <p:nvPr/>
        </p:nvSpPr>
        <p:spPr>
          <a:xfrm>
            <a:off x="2226711" y="45407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DDPG -&gt; TD3 -&gt; LSTM-TD3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87453B9F-3AC2-D04F-AE18-4F58FD4BFF65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752510" y="2737993"/>
            <a:ext cx="252847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DF34340-E2A6-A843-9603-9C8D637AE52D}"/>
              </a:ext>
            </a:extLst>
          </p:cNvPr>
          <p:cNvCxnSpPr>
            <a:cxnSpLocks/>
            <a:stCxn id="271" idx="2"/>
            <a:endCxn id="35" idx="1"/>
          </p:cNvCxnSpPr>
          <p:nvPr/>
        </p:nvCxnSpPr>
        <p:spPr>
          <a:xfrm rot="16200000" flipH="1">
            <a:off x="489255" y="3001247"/>
            <a:ext cx="3054984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Reinforcement Learning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Обучение с использованием модели среды, часть 1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Обучение с использованием модели среды, часть 2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Иерархическое обучение с подкреплением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Многоагентное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обучение и кооперация агентов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45342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34369" y="239732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755F353F-0B1F-B440-BA17-EF3647C41A67}"/>
              </a:ext>
            </a:extLst>
          </p:cNvPr>
          <p:cNvSpPr/>
          <p:nvPr/>
        </p:nvSpPr>
        <p:spPr>
          <a:xfrm>
            <a:off x="2226713" y="40106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Выбор темы и организация проектной работы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CC92A012-1145-1246-AD75-982BADB552EE}"/>
              </a:ext>
            </a:extLst>
          </p:cNvPr>
          <p:cNvCxnSpPr>
            <a:cxnSpLocks/>
            <a:stCxn id="271" idx="2"/>
            <a:endCxn id="24" idx="1"/>
          </p:cNvCxnSpPr>
          <p:nvPr/>
        </p:nvCxnSpPr>
        <p:spPr>
          <a:xfrm rot="16200000" flipH="1">
            <a:off x="754267" y="2736235"/>
            <a:ext cx="252496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реальных задачах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игровой индустрии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робототехнике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рекомендательных системах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задаче кредитного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скоринга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E3F9BED0-D7E7-2341-8AE5-D7D3EAFD76DD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управлении финансовым портфелем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AE35560F-9E10-534D-9CE5-B89267D68AC9}"/>
              </a:ext>
            </a:extLst>
          </p:cNvPr>
          <p:cNvCxnSpPr>
            <a:cxnSpLocks/>
            <a:stCxn id="271" idx="2"/>
            <a:endCxn id="21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622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Консультация по проектам и домашним заданиям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8"/>
          <p:cNvSpPr txBox="1">
            <a:spLocks noGrp="1"/>
          </p:cNvSpPr>
          <p:nvPr>
            <p:ph type="title"/>
          </p:nvPr>
        </p:nvSpPr>
        <p:spPr>
          <a:xfrm>
            <a:off x="956225" y="777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0" dirty="0"/>
              <a:t>Заполните, пожалуйста,</a:t>
            </a:r>
            <a:endParaRPr sz="350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dirty="0"/>
              <a:t>опрос</a:t>
            </a:r>
            <a:r>
              <a:rPr lang="ru" sz="3500" b="0" dirty="0"/>
              <a:t> о занятии</a:t>
            </a:r>
            <a:endParaRPr sz="350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 u="sng" dirty="0">
                <a:solidFill>
                  <a:schemeClr val="accent6"/>
                </a:solidFill>
              </a:rPr>
              <a:t>Важно! Пройти опрос могут только залогиненные пользователи платформы OTUS</a:t>
            </a:r>
            <a:r>
              <a:rPr lang="ru" sz="1800" i="1" u="sng" dirty="0">
                <a:solidFill>
                  <a:srgbClr val="E06666"/>
                </a:solidFill>
              </a:rPr>
              <a:t> </a:t>
            </a: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ru" dirty="0"/>
              <a:t>Спасибо за внимание!</a:t>
            </a:r>
            <a:endParaRPr dirty="0"/>
          </a:p>
        </p:txBody>
      </p:sp>
      <p:pic>
        <p:nvPicPr>
          <p:cNvPr id="643" name="Google Shape;64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775" y="2131625"/>
            <a:ext cx="2392300" cy="2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3121</TotalTime>
  <Words>1260</Words>
  <Application>Microsoft Macintosh PowerPoint</Application>
  <PresentationFormat>On-screen Show (16:9)</PresentationFormat>
  <Paragraphs>267</Paragraphs>
  <Slides>33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Adelle Sans Devanagari Thin</vt:lpstr>
      <vt:lpstr>Roboto</vt:lpstr>
      <vt:lpstr>Cambria Math</vt:lpstr>
      <vt:lpstr>Arial</vt:lpstr>
      <vt:lpstr>Bradley Hand</vt:lpstr>
      <vt:lpstr>Google Sans</vt:lpstr>
      <vt:lpstr>Courier New</vt:lpstr>
      <vt:lpstr>AkayaTelivigala</vt:lpstr>
      <vt:lpstr>Светлая тема</vt:lpstr>
      <vt:lpstr>Светлая тема</vt:lpstr>
      <vt:lpstr>Reinforcement Learning Модель окружающей среды </vt:lpstr>
      <vt:lpstr>PowerPoint Presentation</vt:lpstr>
      <vt:lpstr>Reinforcement Learning Модель окружающей среды</vt:lpstr>
      <vt:lpstr>Маршрут вебинара</vt:lpstr>
      <vt:lpstr>Расскажите о себе</vt:lpstr>
      <vt:lpstr>Правила вебинара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Что такое Reinforcement Learning</vt:lpstr>
      <vt:lpstr>Третья парадигма машинного обучения</vt:lpstr>
      <vt:lpstr>Reinforcement Learning</vt:lpstr>
      <vt:lpstr>PowerPoint Presentation</vt:lpstr>
      <vt:lpstr>Алгоритмы RL</vt:lpstr>
      <vt:lpstr>Обзор алгоритмов RL</vt:lpstr>
      <vt:lpstr>Алгоритмы RL на курсе</vt:lpstr>
      <vt:lpstr>Environment –  модель среды</vt:lpstr>
      <vt:lpstr>Задача</vt:lpstr>
      <vt:lpstr>Модель среды</vt:lpstr>
      <vt:lpstr>Практика</vt:lpstr>
      <vt:lpstr>Практическая реализация </vt:lpstr>
      <vt:lpstr>Вопросы?</vt:lpstr>
      <vt:lpstr>Знакомство с командой и программой курса</vt:lpstr>
      <vt:lpstr>Команда курса</vt:lpstr>
      <vt:lpstr>PowerPoint Presentation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Заполните, пожалуйста, опрос о занятии Важно! Пройти опрос могут только залогиненные пользователи платформы OTUS      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для преподавателя (маршрут демо-занятия)</dc:title>
  <cp:lastModifiedBy>Стурейко Игорь Олегович</cp:lastModifiedBy>
  <cp:revision>68</cp:revision>
  <dcterms:modified xsi:type="dcterms:W3CDTF">2025-10-09T10:41:42Z</dcterms:modified>
</cp:coreProperties>
</file>