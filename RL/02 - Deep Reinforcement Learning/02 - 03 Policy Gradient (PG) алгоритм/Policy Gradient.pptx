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52"/>
  </p:notesMasterIdLst>
  <p:sldIdLst>
    <p:sldId id="256" r:id="rId3"/>
    <p:sldId id="257" r:id="rId4"/>
    <p:sldId id="259" r:id="rId5"/>
    <p:sldId id="325" r:id="rId6"/>
    <p:sldId id="405" r:id="rId7"/>
    <p:sldId id="406" r:id="rId8"/>
    <p:sldId id="374" r:id="rId9"/>
    <p:sldId id="263" r:id="rId10"/>
    <p:sldId id="264" r:id="rId11"/>
    <p:sldId id="311" r:id="rId12"/>
    <p:sldId id="267" r:id="rId13"/>
    <p:sldId id="344" r:id="rId14"/>
    <p:sldId id="375" r:id="rId15"/>
    <p:sldId id="372" r:id="rId16"/>
    <p:sldId id="378" r:id="rId17"/>
    <p:sldId id="393" r:id="rId18"/>
    <p:sldId id="394" r:id="rId19"/>
    <p:sldId id="395" r:id="rId20"/>
    <p:sldId id="403" r:id="rId21"/>
    <p:sldId id="339" r:id="rId22"/>
    <p:sldId id="389" r:id="rId23"/>
    <p:sldId id="390" r:id="rId24"/>
    <p:sldId id="351" r:id="rId25"/>
    <p:sldId id="352" r:id="rId26"/>
    <p:sldId id="353" r:id="rId27"/>
    <p:sldId id="354" r:id="rId28"/>
    <p:sldId id="392" r:id="rId29"/>
    <p:sldId id="377" r:id="rId30"/>
    <p:sldId id="350" r:id="rId31"/>
    <p:sldId id="379" r:id="rId32"/>
    <p:sldId id="348" r:id="rId33"/>
    <p:sldId id="385" r:id="rId34"/>
    <p:sldId id="383" r:id="rId35"/>
    <p:sldId id="396" r:id="rId36"/>
    <p:sldId id="397" r:id="rId37"/>
    <p:sldId id="398" r:id="rId38"/>
    <p:sldId id="399" r:id="rId39"/>
    <p:sldId id="400" r:id="rId40"/>
    <p:sldId id="391" r:id="rId41"/>
    <p:sldId id="401" r:id="rId42"/>
    <p:sldId id="402" r:id="rId43"/>
    <p:sldId id="278" r:id="rId44"/>
    <p:sldId id="279" r:id="rId45"/>
    <p:sldId id="281" r:id="rId46"/>
    <p:sldId id="282" r:id="rId47"/>
    <p:sldId id="283" r:id="rId48"/>
    <p:sldId id="345" r:id="rId49"/>
    <p:sldId id="289" r:id="rId50"/>
    <p:sldId id="337" r:id="rId51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53"/>
      <p:bold r:id="rId54"/>
      <p:italic r:id="rId55"/>
      <p:boldItalic r:id="rId56"/>
    </p:embeddedFont>
    <p:embeddedFont>
      <p:font typeface="Cambria Math" panose="02040503050406030204" pitchFamily="18" charset="0"/>
      <p:regular r:id="rId57"/>
    </p:embeddedFont>
    <p:embeddedFont>
      <p:font typeface="Helvetica Neue" panose="02000503000000020004" pitchFamily="2" charset="0"/>
      <p:regular r:id="rId58"/>
      <p:bold r:id="rId59"/>
      <p:italic r:id="rId60"/>
      <p:boldItalic r:id="rId61"/>
    </p:embeddedFont>
    <p:embeddedFont>
      <p:font typeface="PTSerif" panose="020A0603040505020204" pitchFamily="18" charset="77"/>
      <p:bold r:id="rId62"/>
      <p:italic r:id="rId63"/>
      <p:boldItalic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03"/>
    <p:restoredTop sz="97146"/>
  </p:normalViewPr>
  <p:slideViewPr>
    <p:cSldViewPr snapToGrid="0">
      <p:cViewPr varScale="1">
        <p:scale>
          <a:sx n="297" d="100"/>
          <a:sy n="297" d="100"/>
        </p:scale>
        <p:origin x="1144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3.xml"/><Relationship Id="rId61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398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501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42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33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545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463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310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201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3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7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1569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053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13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914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7957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8440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0524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2559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622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0622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8728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3972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581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349800/" TargetMode="External"/><Relationship Id="rId3" Type="http://schemas.openxmlformats.org/officeDocument/2006/relationships/hyperlink" Target="https://towardsdatascience.com/proximal-policy-optimization-ppo-explained-abed1952457b" TargetMode="External"/><Relationship Id="rId7" Type="http://schemas.openxmlformats.org/officeDocument/2006/relationships/hyperlink" Target="https://t.me/c/1530284868/2747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ub.com/aikorea/awesome-rl" TargetMode="External"/><Relationship Id="rId11" Type="http://schemas.openxmlformats.org/officeDocument/2006/relationships/hyperlink" Target="https://habr.com/ru/companies/vk/articles/343008/" TargetMode="External"/><Relationship Id="rId5" Type="http://schemas.openxmlformats.org/officeDocument/2006/relationships/hyperlink" Target="https://towardsdatascience.com/reinforcement-learning-frameworks-e349de4f645a" TargetMode="External"/><Relationship Id="rId10" Type="http://schemas.openxmlformats.org/officeDocument/2006/relationships/hyperlink" Target="https://habr.com/ru/companies/skillfactory/articles/717360/" TargetMode="External"/><Relationship Id="rId4" Type="http://schemas.openxmlformats.org/officeDocument/2006/relationships/hyperlink" Target="https://pytorch.org/rl/tutorials/coding_ppo.html" TargetMode="External"/><Relationship Id="rId9" Type="http://schemas.openxmlformats.org/officeDocument/2006/relationships/hyperlink" Target="https://habr.com/ru/articles/437020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Policy Gradient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learning.</a:t>
            </a:r>
            <a:br>
              <a:rPr lang="en-US" dirty="0"/>
            </a:br>
            <a:r>
              <a:rPr lang="ru-RU" dirty="0"/>
              <a:t>Введение в </a:t>
            </a:r>
            <a:r>
              <a:rPr lang="en-US" dirty="0" err="1"/>
              <a:t>DeepRL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C68FB238-F925-CA4B-8568-161F57E8F14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</a:t>
            </a:r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9615838B-B804-D045-AE27-2457EFCC8969}"/>
              </a:ext>
            </a:extLst>
          </p:cNvPr>
          <p:cNvSpPr/>
          <p:nvPr/>
        </p:nvSpPr>
        <p:spPr>
          <a:xfrm>
            <a:off x="2226713" y="401485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D7505C2-4B5E-6840-BEA8-8DDB58E03DF7}"/>
              </a:ext>
            </a:extLst>
          </p:cNvPr>
          <p:cNvSpPr/>
          <p:nvPr/>
        </p:nvSpPr>
        <p:spPr>
          <a:xfrm>
            <a:off x="2226712" y="454763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18D73E8C-7771-1D48-9CFA-BC014891DFE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5790" y="3004713"/>
            <a:ext cx="3061916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786A569-B463-5A4C-8BA8-42624F9DE98D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181" y="2738321"/>
            <a:ext cx="252913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48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175479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230407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Policy Gradient theorem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99825" y="340261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Улучшения алгоритма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74940" y="285334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4"/>
            <a:ext cx="600" cy="549273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7125" y="1942897"/>
            <a:ext cx="12700" cy="5492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2492170"/>
            <a:ext cx="12185" cy="549273"/>
          </a:xfrm>
          <a:prstGeom prst="curvedConnector3">
            <a:avLst>
              <a:gd name="adj1" fmla="val 197607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8" name="Google Shape;272;p52">
            <a:extLst>
              <a:ext uri="{FF2B5EF4-FFF2-40B4-BE49-F238E27FC236}">
                <a16:creationId xmlns:a16="http://schemas.microsoft.com/office/drawing/2014/main" id="{D431EAF1-5808-7F4D-8FC1-9FBBFE2350DA}"/>
              </a:ext>
            </a:extLst>
          </p:cNvPr>
          <p:cNvSpPr/>
          <p:nvPr/>
        </p:nvSpPr>
        <p:spPr>
          <a:xfrm>
            <a:off x="799825" y="395189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Группа алгоритмов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PG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77;p52">
            <a:extLst>
              <a:ext uri="{FF2B5EF4-FFF2-40B4-BE49-F238E27FC236}">
                <a16:creationId xmlns:a16="http://schemas.microsoft.com/office/drawing/2014/main" id="{DC4A3018-ECE4-2B44-A92A-BC0573E577C3}"/>
              </a:ext>
            </a:extLst>
          </p:cNvPr>
          <p:cNvCxnSpPr>
            <a:cxnSpLocks/>
            <a:stCxn id="272" idx="1"/>
            <a:endCxn id="271" idx="1"/>
          </p:cNvCxnSpPr>
          <p:nvPr/>
        </p:nvCxnSpPr>
        <p:spPr>
          <a:xfrm rot="10800000" flipH="1" flipV="1">
            <a:off x="774939" y="3041443"/>
            <a:ext cx="24885" cy="549273"/>
          </a:xfrm>
          <a:prstGeom prst="curvedConnector3">
            <a:avLst>
              <a:gd name="adj1" fmla="val -91862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" name="Google Shape;277;p52">
            <a:extLst>
              <a:ext uri="{FF2B5EF4-FFF2-40B4-BE49-F238E27FC236}">
                <a16:creationId xmlns:a16="http://schemas.microsoft.com/office/drawing/2014/main" id="{F7CCCBE8-639F-B943-8316-3A7DD2F0B684}"/>
              </a:ext>
            </a:extLst>
          </p:cNvPr>
          <p:cNvCxnSpPr>
            <a:cxnSpLocks/>
            <a:stCxn id="271" idx="1"/>
            <a:endCxn id="28" idx="1"/>
          </p:cNvCxnSpPr>
          <p:nvPr/>
        </p:nvCxnSpPr>
        <p:spPr>
          <a:xfrm rot="10800000" flipV="1">
            <a:off x="799825" y="3590716"/>
            <a:ext cx="12700" cy="5492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Google Shape;272;p52">
            <a:extLst>
              <a:ext uri="{FF2B5EF4-FFF2-40B4-BE49-F238E27FC236}">
                <a16:creationId xmlns:a16="http://schemas.microsoft.com/office/drawing/2014/main" id="{EB638302-8148-1141-A5F7-CDDDBECF8033}"/>
              </a:ext>
            </a:extLst>
          </p:cNvPr>
          <p:cNvSpPr/>
          <p:nvPr/>
        </p:nvSpPr>
        <p:spPr>
          <a:xfrm>
            <a:off x="812525" y="450116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PPO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77;p52">
            <a:extLst>
              <a:ext uri="{FF2B5EF4-FFF2-40B4-BE49-F238E27FC236}">
                <a16:creationId xmlns:a16="http://schemas.microsoft.com/office/drawing/2014/main" id="{3DD17CD1-DA30-5F4C-B7B6-780F8F6A150F}"/>
              </a:ext>
            </a:extLst>
          </p:cNvPr>
          <p:cNvCxnSpPr>
            <a:cxnSpLocks/>
            <a:stCxn id="28" idx="1"/>
            <a:endCxn id="23" idx="1"/>
          </p:cNvCxnSpPr>
          <p:nvPr/>
        </p:nvCxnSpPr>
        <p:spPr>
          <a:xfrm rot="10800000" flipH="1" flipV="1">
            <a:off x="799825" y="4139990"/>
            <a:ext cx="12700" cy="549276"/>
          </a:xfrm>
          <a:prstGeom prst="curvedConnector3">
            <a:avLst>
              <a:gd name="adj1" fmla="val -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052574398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Применять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RL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 задачам с непрерывным пространством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Policy Gradient theorem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алгоритм </a:t>
                      </a: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пути улучшения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4018911976"/>
              </p:ext>
            </p:extLst>
          </p:nvPr>
        </p:nvGraphicFramePr>
        <p:xfrm>
          <a:off x="952500" y="1544194"/>
          <a:ext cx="7239000" cy="926446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окружений большой размерности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непрерывного пространства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Actor-Critic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Постановка задачи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Markov Property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/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100"/>
                  <a:buFont typeface="Roboto"/>
                  <a:buNone/>
                  <a:defRPr sz="3100" b="1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n-US" dirty="0"/>
                  <a:t>Markov Decision Process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blipFill>
                <a:blip r:embed="rId4"/>
                <a:stretch>
                  <a:fillRect l="-1786" t="-4545" b="-45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/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 infinite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 set of final states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infinite (|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|=</a:t>
                </a:r>
                <a:r>
                  <a:rPr lang="en-US" sz="16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action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transition probability function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600" dirty="0"/>
                  <a:t>=</a:t>
                </a:r>
                <a:r>
                  <a:rPr lang="el-G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 state probability function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reward function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⇔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[0, 1]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 a discount coefficient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blipFill>
                <a:blip r:embed="rId5"/>
                <a:stretch>
                  <a:fillRect l="-2308" t="-1435" r="-769" b="-382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Policy based methods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47C45A-9953-B649-B595-7F1D42D4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based and Policy based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424307-E660-9F41-82A6-10E00D8CBA26}"/>
              </a:ext>
            </a:extLst>
          </p:cNvPr>
          <p:cNvSpPr>
            <a:spLocks noChangeAspect="1"/>
          </p:cNvSpPr>
          <p:nvPr/>
        </p:nvSpPr>
        <p:spPr>
          <a:xfrm>
            <a:off x="1804252" y="1217969"/>
            <a:ext cx="3672000" cy="367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BDF10F-AAC6-5746-9977-808A14B09FC1}"/>
              </a:ext>
            </a:extLst>
          </p:cNvPr>
          <p:cNvSpPr>
            <a:spLocks noChangeAspect="1"/>
          </p:cNvSpPr>
          <p:nvPr/>
        </p:nvSpPr>
        <p:spPr>
          <a:xfrm>
            <a:off x="3742493" y="1217969"/>
            <a:ext cx="3672000" cy="367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3306E-95B0-BF4D-A274-06EFC69A7C9C}"/>
              </a:ext>
            </a:extLst>
          </p:cNvPr>
          <p:cNvSpPr txBox="1"/>
          <p:nvPr/>
        </p:nvSpPr>
        <p:spPr>
          <a:xfrm>
            <a:off x="2479313" y="2123375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Value based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387FC-B2F1-DA4E-91C7-8554E08F7AB7}"/>
              </a:ext>
            </a:extLst>
          </p:cNvPr>
          <p:cNvSpPr txBox="1"/>
          <p:nvPr/>
        </p:nvSpPr>
        <p:spPr>
          <a:xfrm>
            <a:off x="5689515" y="2123375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Policy based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BB372-1661-5E4D-9E8F-B3F607344901}"/>
              </a:ext>
            </a:extLst>
          </p:cNvPr>
          <p:cNvSpPr txBox="1"/>
          <p:nvPr/>
        </p:nvSpPr>
        <p:spPr>
          <a:xfrm>
            <a:off x="2283627" y="3303473"/>
            <a:ext cx="12456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Value function</a:t>
            </a:r>
          </a:p>
          <a:p>
            <a:pPr algn="ctr"/>
            <a:r>
              <a:rPr lang="en-US" sz="1100" dirty="0"/>
              <a:t>&amp;</a:t>
            </a:r>
          </a:p>
          <a:p>
            <a:pPr algn="ctr"/>
            <a:r>
              <a:rPr lang="en-US" sz="1100" dirty="0"/>
              <a:t>Greedy policy</a:t>
            </a:r>
          </a:p>
          <a:p>
            <a:pPr algn="ctr"/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Q-learning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DQN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DDCBC-2693-3D44-979C-B181D22685FC}"/>
              </a:ext>
            </a:extLst>
          </p:cNvPr>
          <p:cNvSpPr txBox="1"/>
          <p:nvPr/>
        </p:nvSpPr>
        <p:spPr>
          <a:xfrm>
            <a:off x="5565531" y="3303473"/>
            <a:ext cx="13467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Learning of</a:t>
            </a:r>
          </a:p>
          <a:p>
            <a:pPr algn="ctr"/>
            <a:r>
              <a:rPr lang="en-US" sz="1100" dirty="0"/>
              <a:t>Policy</a:t>
            </a:r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Cross-entropy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REINFORCE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439FF-277A-A648-9BCC-5D608CD70246}"/>
              </a:ext>
            </a:extLst>
          </p:cNvPr>
          <p:cNvSpPr txBox="1"/>
          <p:nvPr/>
        </p:nvSpPr>
        <p:spPr>
          <a:xfrm>
            <a:off x="4018845" y="3303473"/>
            <a:ext cx="12456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Value function</a:t>
            </a:r>
          </a:p>
          <a:p>
            <a:pPr algn="ctr"/>
            <a:r>
              <a:rPr lang="en-US" sz="1100" dirty="0"/>
              <a:t>&amp;</a:t>
            </a:r>
          </a:p>
          <a:p>
            <a:pPr algn="ctr"/>
            <a:r>
              <a:rPr lang="en-US" sz="1100" dirty="0"/>
              <a:t>Policy</a:t>
            </a:r>
          </a:p>
          <a:p>
            <a:pPr algn="ctr"/>
            <a:endParaRPr lang="en-US" sz="1100" dirty="0"/>
          </a:p>
          <a:p>
            <a:pPr marL="360363" indent="-168275">
              <a:buFont typeface="Arial" panose="020B0604020202020204" pitchFamily="34" charset="0"/>
              <a:buChar char="•"/>
            </a:pPr>
            <a:r>
              <a:rPr lang="en-US" sz="1100" b="1" dirty="0"/>
              <a:t>SARSA</a:t>
            </a:r>
          </a:p>
          <a:p>
            <a:pPr marL="360363" indent="-168275">
              <a:buFont typeface="Arial" panose="020B0604020202020204" pitchFamily="34" charset="0"/>
              <a:buChar char="•"/>
            </a:pPr>
            <a:r>
              <a:rPr lang="en-US" sz="1100" b="1" dirty="0"/>
              <a:t>A2C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70BB5-DF72-8744-BD15-A121DD28F215}"/>
              </a:ext>
            </a:extLst>
          </p:cNvPr>
          <p:cNvSpPr txBox="1"/>
          <p:nvPr/>
        </p:nvSpPr>
        <p:spPr>
          <a:xfrm>
            <a:off x="4005763" y="2123375"/>
            <a:ext cx="1245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Actor-Critic</a:t>
            </a:r>
          </a:p>
        </p:txBody>
      </p:sp>
    </p:spTree>
    <p:extLst>
      <p:ext uri="{BB962C8B-B14F-4D97-AF65-F5344CB8AC3E}">
        <p14:creationId xmlns:p14="http://schemas.microsoft.com/office/powerpoint/2010/main" val="3555189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7777495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12291-7ABD-834A-95A3-323BA7CC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B2C0E7-6CD8-1445-AE87-37F092D54C9D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86B4B-9083-7143-BCF3-5EDCF81A9773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59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12291-7ABD-834A-95A3-323BA7CC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D6D5F7-B52A-834B-A19A-5A9527D71EF8}"/>
              </a:ext>
            </a:extLst>
          </p:cNvPr>
          <p:cNvSpPr txBox="1"/>
          <p:nvPr/>
        </p:nvSpPr>
        <p:spPr>
          <a:xfrm>
            <a:off x="6618215" y="1694587"/>
            <a:ext cx="212461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C00000"/>
                </a:solidFill>
              </a:rPr>
              <a:t>Медленная сходимость, большая дисперсия, плохая устойчивость</a:t>
            </a:r>
          </a:p>
          <a:p>
            <a:endParaRPr lang="ru-RU" sz="1200" dirty="0">
              <a:solidFill>
                <a:srgbClr val="C00000"/>
              </a:solidFill>
            </a:endParaRPr>
          </a:p>
          <a:p>
            <a:r>
              <a:rPr lang="ru-RU" sz="1200" dirty="0">
                <a:solidFill>
                  <a:srgbClr val="C00000"/>
                </a:solidFill>
              </a:rPr>
              <a:t>Дискретное пространство действий, плохо реагирует на «резкие» переходы</a:t>
            </a:r>
          </a:p>
          <a:p>
            <a:endParaRPr lang="ru-RU" sz="1200" dirty="0">
              <a:solidFill>
                <a:srgbClr val="C00000"/>
              </a:solidFill>
            </a:endParaRPr>
          </a:p>
          <a:p>
            <a:r>
              <a:rPr lang="ru-RU" sz="1200" dirty="0">
                <a:solidFill>
                  <a:srgbClr val="C00000"/>
                </a:solidFill>
              </a:rPr>
              <a:t>Мы всегда получаем детерминированную стратегию, в силу </a:t>
            </a:r>
            <a:br>
              <a:rPr lang="ru-RU" sz="1200" dirty="0">
                <a:solidFill>
                  <a:srgbClr val="C00000"/>
                </a:solidFill>
              </a:rPr>
            </a:br>
            <a:r>
              <a:rPr lang="en-US" sz="1200" dirty="0" err="1">
                <a:solidFill>
                  <a:srgbClr val="C00000"/>
                </a:solidFill>
              </a:rPr>
              <a:t>arg</a:t>
            </a:r>
            <a:r>
              <a:rPr lang="en-US" sz="1200" dirty="0">
                <a:solidFill>
                  <a:srgbClr val="C00000"/>
                </a:solidFill>
              </a:rPr>
              <a:t> max</a:t>
            </a:r>
            <a:r>
              <a:rPr lang="ru-RU" sz="1200" dirty="0">
                <a:solidFill>
                  <a:srgbClr val="C00000"/>
                </a:solidFill>
              </a:rPr>
              <a:t> </a:t>
            </a:r>
            <a:r>
              <a:rPr lang="en-US" sz="1200" dirty="0">
                <a:solidFill>
                  <a:srgbClr val="C00000"/>
                </a:solidFill>
              </a:rPr>
              <a:t>Q </a:t>
            </a:r>
            <a:r>
              <a:rPr lang="ru-RU" sz="1200" dirty="0">
                <a:solidFill>
                  <a:srgbClr val="C00000"/>
                </a:solidFill>
              </a:rPr>
              <a:t>в формуле обновления весов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57A5D-043C-2047-9AAF-ADA1B20BE362}"/>
              </a:ext>
            </a:extLst>
          </p:cNvPr>
          <p:cNvSpPr txBox="1"/>
          <p:nvPr/>
        </p:nvSpPr>
        <p:spPr>
          <a:xfrm>
            <a:off x="951780" y="2275761"/>
            <a:ext cx="18914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58D40"/>
                </a:solidFill>
              </a:rPr>
              <a:t>Off-policy</a:t>
            </a:r>
          </a:p>
          <a:p>
            <a:endParaRPr lang="en-US" sz="1800" dirty="0">
              <a:solidFill>
                <a:srgbClr val="058D40"/>
              </a:solidFill>
            </a:endParaRPr>
          </a:p>
          <a:p>
            <a:r>
              <a:rPr lang="ru-RU" dirty="0">
                <a:solidFill>
                  <a:srgbClr val="058D40"/>
                </a:solidFill>
              </a:rPr>
              <a:t>Использование </a:t>
            </a:r>
            <a:br>
              <a:rPr lang="en-US" dirty="0">
                <a:solidFill>
                  <a:srgbClr val="058D40"/>
                </a:solidFill>
              </a:rPr>
            </a:br>
            <a:r>
              <a:rPr lang="en-US" dirty="0">
                <a:solidFill>
                  <a:srgbClr val="058D40"/>
                </a:solidFill>
              </a:rPr>
              <a:t>Experience replay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2C0E7-6CD8-1445-AE87-37F092D54C9D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86B4B-9083-7143-BCF3-5EDCF81A9773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975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1E2E-ECE2-C040-BC1D-411C8C62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мир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F1251D-4A5C-854C-8222-A094A6DDD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731587"/>
              </p:ext>
            </p:extLst>
          </p:nvPr>
        </p:nvGraphicFramePr>
        <p:xfrm>
          <a:off x="1450357" y="1779403"/>
          <a:ext cx="6096000" cy="2252550"/>
        </p:xfrm>
        <a:graphic>
          <a:graphicData uri="http://schemas.openxmlformats.org/drawingml/2006/table">
            <a:tbl>
              <a:tblPr firstRow="1" bandRow="1">
                <a:tableStyleId>{B623574C-9AE7-4070-A081-93A97D88BCA6}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31867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7221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7651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13052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00697410"/>
                    </a:ext>
                  </a:extLst>
                </a:gridCol>
              </a:tblGrid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19201"/>
                  </a:ext>
                </a:extLst>
              </a:tr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158280"/>
                  </a:ext>
                </a:extLst>
              </a:tr>
            </a:tbl>
          </a:graphicData>
        </a:graphic>
      </p:graphicFrame>
      <p:pic>
        <p:nvPicPr>
          <p:cNvPr id="6" name="Graphic 5" descr="Trophy with solid fill">
            <a:extLst>
              <a:ext uri="{FF2B5EF4-FFF2-40B4-BE49-F238E27FC236}">
                <a16:creationId xmlns:a16="http://schemas.microsoft.com/office/drawing/2014/main" id="{AD0BA0E8-B8E9-9645-9F7F-51AB9699F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157" y="3028950"/>
            <a:ext cx="914400" cy="914400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AB419F60-5E7C-3D42-82D6-71150AB08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990" y="3028950"/>
            <a:ext cx="914400" cy="914400"/>
          </a:xfrm>
          <a:prstGeom prst="rect">
            <a:avLst/>
          </a:prstGeom>
        </p:spPr>
      </p:pic>
      <p:pic>
        <p:nvPicPr>
          <p:cNvPr id="9" name="Graphic 8" descr="Skull with solid fill">
            <a:extLst>
              <a:ext uri="{FF2B5EF4-FFF2-40B4-BE49-F238E27FC236}">
                <a16:creationId xmlns:a16="http://schemas.microsoft.com/office/drawing/2014/main" id="{9CE06774-2B86-1941-A012-ACDDF34E5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643" y="302895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CF0D30-C9C9-BE4C-8300-747903D4490E}"/>
              </a:ext>
            </a:extLst>
          </p:cNvPr>
          <p:cNvSpPr txBox="1"/>
          <p:nvPr/>
        </p:nvSpPr>
        <p:spPr>
          <a:xfrm>
            <a:off x="570301" y="1163148"/>
            <a:ext cx="5024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Агент не различает серые клетки – </a:t>
            </a:r>
            <a:r>
              <a:rPr lang="en-US" dirty="0"/>
              <a:t>q-learning </a:t>
            </a:r>
            <a:r>
              <a:rPr lang="ru-RU" dirty="0"/>
              <a:t>не работает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57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1E2E-ECE2-C040-BC1D-411C8C62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мир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F1251D-4A5C-854C-8222-A094A6DDD245}"/>
              </a:ext>
            </a:extLst>
          </p:cNvPr>
          <p:cNvGraphicFramePr>
            <a:graphicFrameLocks noGrp="1"/>
          </p:cNvGraphicFramePr>
          <p:nvPr/>
        </p:nvGraphicFramePr>
        <p:xfrm>
          <a:off x="1450357" y="1779403"/>
          <a:ext cx="6096000" cy="2252550"/>
        </p:xfrm>
        <a:graphic>
          <a:graphicData uri="http://schemas.openxmlformats.org/drawingml/2006/table">
            <a:tbl>
              <a:tblPr firstRow="1" bandRow="1">
                <a:tableStyleId>{B623574C-9AE7-4070-A081-93A97D88BCA6}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31867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7221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7651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13052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00697410"/>
                    </a:ext>
                  </a:extLst>
                </a:gridCol>
              </a:tblGrid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19201"/>
                  </a:ext>
                </a:extLst>
              </a:tr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158280"/>
                  </a:ext>
                </a:extLst>
              </a:tr>
            </a:tbl>
          </a:graphicData>
        </a:graphic>
      </p:graphicFrame>
      <p:pic>
        <p:nvPicPr>
          <p:cNvPr id="6" name="Graphic 5" descr="Trophy with solid fill">
            <a:extLst>
              <a:ext uri="{FF2B5EF4-FFF2-40B4-BE49-F238E27FC236}">
                <a16:creationId xmlns:a16="http://schemas.microsoft.com/office/drawing/2014/main" id="{AD0BA0E8-B8E9-9645-9F7F-51AB9699F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157" y="3028950"/>
            <a:ext cx="914400" cy="914400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AB419F60-5E7C-3D42-82D6-71150AB08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990" y="3028950"/>
            <a:ext cx="914400" cy="914400"/>
          </a:xfrm>
          <a:prstGeom prst="rect">
            <a:avLst/>
          </a:prstGeom>
        </p:spPr>
      </p:pic>
      <p:pic>
        <p:nvPicPr>
          <p:cNvPr id="9" name="Graphic 8" descr="Skull with solid fill">
            <a:extLst>
              <a:ext uri="{FF2B5EF4-FFF2-40B4-BE49-F238E27FC236}">
                <a16:creationId xmlns:a16="http://schemas.microsoft.com/office/drawing/2014/main" id="{9CE06774-2B86-1941-A012-ACDDF34E5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643" y="302895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CF0D30-C9C9-BE4C-8300-747903D4490E}"/>
              </a:ext>
            </a:extLst>
          </p:cNvPr>
          <p:cNvSpPr txBox="1"/>
          <p:nvPr/>
        </p:nvSpPr>
        <p:spPr>
          <a:xfrm>
            <a:off x="570301" y="1163148"/>
            <a:ext cx="7311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Агент не различает серые клетки – </a:t>
            </a:r>
            <a:r>
              <a:rPr lang="en-US" dirty="0"/>
              <a:t>q-learning </a:t>
            </a:r>
            <a:r>
              <a:rPr lang="ru-RU" dirty="0"/>
              <a:t>не работает. Агент «застревает» в углу.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A6B722-660C-CF4F-9E9D-5D1C32BD2063}"/>
              </a:ext>
            </a:extLst>
          </p:cNvPr>
          <p:cNvCxnSpPr/>
          <p:nvPr/>
        </p:nvCxnSpPr>
        <p:spPr>
          <a:xfrm>
            <a:off x="4476376" y="1984188"/>
            <a:ext cx="0" cy="6992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950A00-7A3C-C444-BA5D-C4E0C0165F0B}"/>
              </a:ext>
            </a:extLst>
          </p:cNvPr>
          <p:cNvCxnSpPr>
            <a:cxnSpLocks/>
          </p:cNvCxnSpPr>
          <p:nvPr/>
        </p:nvCxnSpPr>
        <p:spPr>
          <a:xfrm rot="16200000">
            <a:off x="3272116" y="1754097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68542-2DEA-7148-A575-90C09CFEBD27}"/>
              </a:ext>
            </a:extLst>
          </p:cNvPr>
          <p:cNvCxnSpPr>
            <a:cxnSpLocks/>
          </p:cNvCxnSpPr>
          <p:nvPr/>
        </p:nvCxnSpPr>
        <p:spPr>
          <a:xfrm rot="16200000">
            <a:off x="2020047" y="1757084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270BCA-18C5-E041-AEBC-85FDBFABE832}"/>
              </a:ext>
            </a:extLst>
          </p:cNvPr>
          <p:cNvCxnSpPr>
            <a:cxnSpLocks/>
          </p:cNvCxnSpPr>
          <p:nvPr/>
        </p:nvCxnSpPr>
        <p:spPr>
          <a:xfrm rot="16200000">
            <a:off x="5713505" y="1754097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083E6C-4218-C943-A3EC-7E2F05F6BA65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32706" y="1754097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3C60E2-3543-D54C-BA60-6AEA718C3A8A}"/>
              </a:ext>
            </a:extLst>
          </p:cNvPr>
          <p:cNvCxnSpPr>
            <a:cxnSpLocks/>
          </p:cNvCxnSpPr>
          <p:nvPr/>
        </p:nvCxnSpPr>
        <p:spPr>
          <a:xfrm rot="5400000" flipH="1">
            <a:off x="3272116" y="2115845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9DE6F2-5A58-B04D-B768-34AAB6AC2B4A}"/>
              </a:ext>
            </a:extLst>
          </p:cNvPr>
          <p:cNvCxnSpPr>
            <a:cxnSpLocks/>
          </p:cNvCxnSpPr>
          <p:nvPr/>
        </p:nvCxnSpPr>
        <p:spPr>
          <a:xfrm rot="16200000">
            <a:off x="2020047" y="2118832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9BE72D-7078-2849-8F46-DD613628532F}"/>
              </a:ext>
            </a:extLst>
          </p:cNvPr>
          <p:cNvCxnSpPr>
            <a:cxnSpLocks/>
          </p:cNvCxnSpPr>
          <p:nvPr/>
        </p:nvCxnSpPr>
        <p:spPr>
          <a:xfrm rot="5400000" flipH="1">
            <a:off x="5713505" y="2115845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7949BA-48A6-0E40-B789-BD818F14D50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32706" y="2115845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88CC879-664A-8F4C-A84F-7A370A745F3F}"/>
              </a:ext>
            </a:extLst>
          </p:cNvPr>
          <p:cNvSpPr/>
          <p:nvPr/>
        </p:nvSpPr>
        <p:spPr>
          <a:xfrm>
            <a:off x="5363881" y="1912471"/>
            <a:ext cx="1963272" cy="358588"/>
          </a:xfrm>
          <a:prstGeom prst="ellipse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65ED47-6292-AE4F-9B5B-25A2A5549184}"/>
              </a:ext>
            </a:extLst>
          </p:cNvPr>
          <p:cNvSpPr/>
          <p:nvPr/>
        </p:nvSpPr>
        <p:spPr>
          <a:xfrm>
            <a:off x="1670423" y="2286174"/>
            <a:ext cx="1963272" cy="358588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12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1E2E-ECE2-C040-BC1D-411C8C62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мир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F1251D-4A5C-854C-8222-A094A6DDD245}"/>
              </a:ext>
            </a:extLst>
          </p:cNvPr>
          <p:cNvGraphicFramePr>
            <a:graphicFrameLocks noGrp="1"/>
          </p:cNvGraphicFramePr>
          <p:nvPr/>
        </p:nvGraphicFramePr>
        <p:xfrm>
          <a:off x="1450357" y="1779403"/>
          <a:ext cx="6096000" cy="2252550"/>
        </p:xfrm>
        <a:graphic>
          <a:graphicData uri="http://schemas.openxmlformats.org/drawingml/2006/table">
            <a:tbl>
              <a:tblPr firstRow="1" bandRow="1">
                <a:tableStyleId>{B623574C-9AE7-4070-A081-93A97D88BCA6}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31867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7221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7651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13052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00697410"/>
                    </a:ext>
                  </a:extLst>
                </a:gridCol>
              </a:tblGrid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19201"/>
                  </a:ext>
                </a:extLst>
              </a:tr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158280"/>
                  </a:ext>
                </a:extLst>
              </a:tr>
            </a:tbl>
          </a:graphicData>
        </a:graphic>
      </p:graphicFrame>
      <p:pic>
        <p:nvPicPr>
          <p:cNvPr id="6" name="Graphic 5" descr="Trophy with solid fill">
            <a:extLst>
              <a:ext uri="{FF2B5EF4-FFF2-40B4-BE49-F238E27FC236}">
                <a16:creationId xmlns:a16="http://schemas.microsoft.com/office/drawing/2014/main" id="{AD0BA0E8-B8E9-9645-9F7F-51AB9699F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157" y="3028950"/>
            <a:ext cx="914400" cy="914400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AB419F60-5E7C-3D42-82D6-71150AB08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990" y="3028950"/>
            <a:ext cx="914400" cy="914400"/>
          </a:xfrm>
          <a:prstGeom prst="rect">
            <a:avLst/>
          </a:prstGeom>
        </p:spPr>
      </p:pic>
      <p:pic>
        <p:nvPicPr>
          <p:cNvPr id="9" name="Graphic 8" descr="Skull with solid fill">
            <a:extLst>
              <a:ext uri="{FF2B5EF4-FFF2-40B4-BE49-F238E27FC236}">
                <a16:creationId xmlns:a16="http://schemas.microsoft.com/office/drawing/2014/main" id="{9CE06774-2B86-1941-A012-ACDDF34E5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643" y="302895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CF0D30-C9C9-BE4C-8300-747903D4490E}"/>
              </a:ext>
            </a:extLst>
          </p:cNvPr>
          <p:cNvSpPr txBox="1"/>
          <p:nvPr/>
        </p:nvSpPr>
        <p:spPr>
          <a:xfrm>
            <a:off x="570301" y="1163148"/>
            <a:ext cx="3478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Оптимальна стохастическая стратегия.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A6B722-660C-CF4F-9E9D-5D1C32BD2063}"/>
              </a:ext>
            </a:extLst>
          </p:cNvPr>
          <p:cNvCxnSpPr/>
          <p:nvPr/>
        </p:nvCxnSpPr>
        <p:spPr>
          <a:xfrm>
            <a:off x="4476376" y="1984188"/>
            <a:ext cx="0" cy="6992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3C60E2-3543-D54C-BA60-6AEA718C3A8A}"/>
              </a:ext>
            </a:extLst>
          </p:cNvPr>
          <p:cNvCxnSpPr>
            <a:cxnSpLocks/>
          </p:cNvCxnSpPr>
          <p:nvPr/>
        </p:nvCxnSpPr>
        <p:spPr>
          <a:xfrm rot="5400000" flipH="1">
            <a:off x="3272116" y="1978387"/>
            <a:ext cx="0" cy="699247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9DE6F2-5A58-B04D-B768-34AAB6AC2B4A}"/>
              </a:ext>
            </a:extLst>
          </p:cNvPr>
          <p:cNvCxnSpPr>
            <a:cxnSpLocks/>
          </p:cNvCxnSpPr>
          <p:nvPr/>
        </p:nvCxnSpPr>
        <p:spPr>
          <a:xfrm rot="16200000">
            <a:off x="2020047" y="1981374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9BE72D-7078-2849-8F46-DD613628532F}"/>
              </a:ext>
            </a:extLst>
          </p:cNvPr>
          <p:cNvCxnSpPr>
            <a:cxnSpLocks/>
          </p:cNvCxnSpPr>
          <p:nvPr/>
        </p:nvCxnSpPr>
        <p:spPr>
          <a:xfrm rot="5400000" flipH="1">
            <a:off x="5713505" y="1978387"/>
            <a:ext cx="0" cy="699247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7949BA-48A6-0E40-B789-BD818F14D50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32706" y="1978387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D2ADD5-08CF-DE44-8721-6E28D8B0B134}"/>
              </a:ext>
            </a:extLst>
          </p:cNvPr>
          <p:cNvSpPr txBox="1"/>
          <p:nvPr/>
        </p:nvSpPr>
        <p:spPr>
          <a:xfrm>
            <a:off x="2988224" y="200785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50/50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EA475-26CC-0141-A151-8AFE0B76F215}"/>
              </a:ext>
            </a:extLst>
          </p:cNvPr>
          <p:cNvSpPr txBox="1"/>
          <p:nvPr/>
        </p:nvSpPr>
        <p:spPr>
          <a:xfrm>
            <a:off x="5429613" y="200785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50/50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4362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REINFORCE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636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8"/>
                <a:ext cx="8801144" cy="369910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Задача – максимизировать суммарную награду агента,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т.е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максимизировать мат ожидание награды при текущей политике:</a:t>
                </a: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Алгоритм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Q-learning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(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DQN) –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искали приближение оптимальной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функции.</a:t>
                </a: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Вместо приближения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функции – будем сразу искать оптимальную политику. </a:t>
                </a:r>
                <a:endParaRPr lang="ru-RU" sz="16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8"/>
                <a:ext cx="8801144" cy="3699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371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6F4F-692F-6443-AFA6-9F9409A4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Cross-entropy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1003021"/>
                <a:ext cx="8520600" cy="3888097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ru-RU" sz="1600" b="1" dirty="0"/>
                  <a:t>Оценка политики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="1" dirty="0"/>
                  <a:t>:</a:t>
                </a:r>
                <a:endParaRPr lang="ru-RU" sz="1600" b="1" dirty="0"/>
              </a:p>
              <a:p>
                <a:pPr marL="133350" indent="0">
                  <a:buNone/>
                </a:pPr>
                <a:r>
                  <a:rPr lang="ru-RU" sz="1400" dirty="0"/>
                  <a:t>Получаем траекторию</a:t>
                </a:r>
                <a:r>
                  <a:rPr lang="en-US" sz="1400" dirty="0"/>
                  <a:t>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𝑛𝑜𝑖𝑠𝑒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r>
                  <a:rPr lang="ru-RU" sz="1800" b="1" dirty="0"/>
                  <a:t>Улучшение политики</a:t>
                </a:r>
                <a:r>
                  <a:rPr lang="en-US" sz="1800" dirty="0"/>
                  <a:t>:</a:t>
                </a:r>
              </a:p>
              <a:p>
                <a:pPr marL="133350" indent="0">
                  <a:buNone/>
                </a:pPr>
                <a:r>
                  <a:rPr lang="ru-RU" sz="1600" dirty="0"/>
                  <a:t>Выбираем «элитные» траектории и усредняем действие на них</a:t>
                </a:r>
                <a:r>
                  <a:rPr lang="en-US" sz="1600" dirty="0"/>
                  <a:t> </a:t>
                </a:r>
                <a:r>
                  <a:rPr lang="ru-RU" sz="1600" dirty="0"/>
                  <a:t>для каждого состояния и обновляем веса модели: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sz="1600" b="1" dirty="0"/>
                  <a:t>Не эффективно!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003021"/>
                <a:ext cx="8520600" cy="3888097"/>
              </a:xfrm>
              <a:blipFill>
                <a:blip r:embed="rId2"/>
                <a:stretch>
                  <a:fillRect b="-10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971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F0D9C-11BE-764F-B530-80757F51C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003021"/>
            <a:ext cx="8165055" cy="3888097"/>
          </a:xfrm>
        </p:spPr>
        <p:txBody>
          <a:bodyPr>
            <a:normAutofit/>
          </a:bodyPr>
          <a:lstStyle/>
          <a:p>
            <a:pPr marL="133350" indent="0" algn="ctr">
              <a:buNone/>
            </a:pPr>
            <a:endParaRPr lang="ru-RU" sz="3200" dirty="0"/>
          </a:p>
          <a:p>
            <a:pPr marL="133350" indent="0" algn="ctr">
              <a:buNone/>
            </a:pPr>
            <a:r>
              <a:rPr lang="ru-RU" sz="3200" dirty="0"/>
              <a:t>Как улучшать модель на каждом шаге, </a:t>
            </a:r>
          </a:p>
          <a:p>
            <a:pPr marL="133350" indent="0" algn="ctr">
              <a:buNone/>
            </a:pPr>
            <a:r>
              <a:rPr lang="ru-RU" sz="3200" dirty="0"/>
              <a:t>а не по множеству траекторий?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175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65614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Задача – максимизировать суммарную награду агента,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т.е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максимизировать мат ожидание награды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 какой-то политике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(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задача конечномерной оптимизации):</a:t>
                </a: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sz="16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Поскольку политика есть отображение пространства действий на пространство состояний то можем представить эту награду в виде суммы всех наград по текущей политике, а в случае непрерывного пространства состояний – интегралом:</a:t>
                </a:r>
              </a:p>
              <a:p>
                <a:pPr marL="133350" indent="0" algn="ctr">
                  <a:buNone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ru-RU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656142"/>
              </a:xfrm>
              <a:prstGeom prst="rect">
                <a:avLst/>
              </a:prstGeom>
              <a:blipFill>
                <a:blip r:embed="rId3"/>
                <a:stretch>
                  <a:fillRect b="-3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1A1222-B103-0045-94A3-C8C34E006067}"/>
              </a:ext>
            </a:extLst>
          </p:cNvPr>
          <p:cNvSpPr/>
          <p:nvPr/>
        </p:nvSpPr>
        <p:spPr>
          <a:xfrm>
            <a:off x="4449262" y="3939898"/>
            <a:ext cx="1478996" cy="859168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8430-EB82-9C49-8369-01100F6D7A11}"/>
              </a:ext>
            </a:extLst>
          </p:cNvPr>
          <p:cNvSpPr txBox="1"/>
          <p:nvPr/>
        </p:nvSpPr>
        <p:spPr>
          <a:xfrm>
            <a:off x="6214598" y="4215593"/>
            <a:ext cx="2932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Как вычислить этот интеграл?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184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877580"/>
                <a:ext cx="8801144" cy="403195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ru-RU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Приблизим политику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нейросетью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Обновляем веса: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nary>
                        <m:naryPr>
                          <m:limLoc m:val="undOvr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r>
                  <a:rPr lang="ru-RU" sz="1400" dirty="0">
                    <a:solidFill>
                      <a:srgbClr val="C00000"/>
                    </a:solidFill>
                    <a:latin typeface="Helvetica Neue" panose="02000503000000020004" pitchFamily="2" charset="0"/>
                  </a:rPr>
                  <a:t>Внимание!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d>
                      <m:dPr>
                        <m:ctrlP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sz="1400" dirty="0">
                    <a:solidFill>
                      <a:srgbClr val="C00000"/>
                    </a:solidFill>
                    <a:latin typeface="Helvetica Neue" panose="02000503000000020004" pitchFamily="2" charset="0"/>
                  </a:rPr>
                  <a:t> не является функцией плотности распределения вероятностей!</a:t>
                </a:r>
              </a:p>
              <a:p>
                <a:pPr marL="133350" indent="0" algn="ctr">
                  <a:buNone/>
                </a:pPr>
                <a14:m>
                  <m:oMath xmlns:m="http://schemas.openxmlformats.org/officeDocument/2006/math">
                    <m:r>
                      <a:rPr lang="ru-RU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Не можем воспользоваться методами семплирования для стохастического интеграла.</a:t>
                </a: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num>
                        <m:den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Метод конечных приращений. </a:t>
                </a:r>
              </a:p>
              <a:p>
                <a:pPr marL="133350" indent="0" algn="ctr">
                  <a:buNone/>
                </a:pPr>
                <a:r>
                  <a:rPr lang="ru-RU" sz="1400" b="1" dirty="0">
                    <a:solidFill>
                      <a:srgbClr val="C00000"/>
                    </a:solidFill>
                    <a:latin typeface="Helvetica Neue" panose="02000503000000020004" pitchFamily="2" charset="0"/>
                  </a:rPr>
                  <a:t>В явном виде - просто, быстро, не эффективно, почти не работает!</a:t>
                </a:r>
                <a:endParaRPr lang="en-US" sz="1400" b="1" dirty="0">
                  <a:solidFill>
                    <a:srgbClr val="C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877580"/>
                <a:ext cx="8801144" cy="4031950"/>
              </a:xfrm>
              <a:prstGeom prst="rect">
                <a:avLst/>
              </a:prstGeom>
              <a:blipFill>
                <a:blip r:embed="rId3"/>
                <a:stretch>
                  <a:fillRect t="-14151" b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F17ABF-DA77-EB4B-BA63-16DE08A69C58}"/>
              </a:ext>
            </a:extLst>
          </p:cNvPr>
          <p:cNvSpPr/>
          <p:nvPr/>
        </p:nvSpPr>
        <p:spPr>
          <a:xfrm>
            <a:off x="4903393" y="2160193"/>
            <a:ext cx="1730610" cy="83462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0F6FD-3712-BB45-8CE1-AB06B8543AE8}"/>
              </a:ext>
            </a:extLst>
          </p:cNvPr>
          <p:cNvSpPr txBox="1"/>
          <p:nvPr/>
        </p:nvSpPr>
        <p:spPr>
          <a:xfrm>
            <a:off x="6862300" y="2310140"/>
            <a:ext cx="158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Как вычислить </a:t>
            </a:r>
          </a:p>
          <a:p>
            <a:r>
              <a:rPr lang="ru-RU" b="1" dirty="0">
                <a:solidFill>
                  <a:srgbClr val="C00000"/>
                </a:solidFill>
              </a:rPr>
              <a:t>этот интеграл?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187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theorem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71428" y="1026444"/>
                <a:ext cx="8801144" cy="347817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Градиент политики можно приблизить выражением:</a:t>
                </a: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f>
                            <m:fPr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:endParaRPr lang="ru-RU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eqArr>
                            <m:eqArr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~ 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e>
                          </m:eqAr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nary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Оценка методом Монте-Карло: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ru-RU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1428" y="1026444"/>
                <a:ext cx="8801144" cy="3478172"/>
              </a:xfrm>
              <a:prstGeom prst="rect">
                <a:avLst/>
              </a:prstGeom>
              <a:blipFill>
                <a:blip r:embed="rId3"/>
                <a:stretch>
                  <a:fillRect t="-9091" b="-5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07E803C-825D-F244-838B-8C3E04FB61B0}"/>
              </a:ext>
            </a:extLst>
          </p:cNvPr>
          <p:cNvSpPr/>
          <p:nvPr/>
        </p:nvSpPr>
        <p:spPr>
          <a:xfrm>
            <a:off x="4572000" y="2718977"/>
            <a:ext cx="2852201" cy="4299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17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 -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алгоритм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Задаем начальное приближение политики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Запускаем обучение. Для каждого эпизода:</a:t>
                </a:r>
              </a:p>
              <a:p>
                <a:pPr lvl="1"/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Действуя по текущей политике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получаем траекторию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награды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и определяем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</a:p>
              <a:p>
                <a:pPr marL="6032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Следуя по траектории обновляем веса модели на каждом шаге по правилу:</a:t>
                </a:r>
              </a:p>
              <a:p>
                <a:pPr marL="603250" lvl="1" indent="0">
                  <a:buNone/>
                </a:pP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032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  <a:blipFill>
                <a:blip r:embed="rId3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89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7777495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12291-7ABD-834A-95A3-323BA7CC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B2C0E7-6CD8-1445-AE87-37F092D54C9D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86B4B-9083-7143-BCF3-5EDCF81A9773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825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13310-70E5-8E4C-856E-67239DC65324}"/>
              </a:ext>
            </a:extLst>
          </p:cNvPr>
          <p:cNvSpPr txBox="1"/>
          <p:nvPr/>
        </p:nvSpPr>
        <p:spPr>
          <a:xfrm>
            <a:off x="362078" y="2107235"/>
            <a:ext cx="2786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58D40"/>
                </a:solidFill>
              </a:rPr>
              <a:t>Непрерывное пространство действий</a:t>
            </a:r>
          </a:p>
          <a:p>
            <a:endParaRPr lang="ru-RU" sz="1800" dirty="0">
              <a:solidFill>
                <a:srgbClr val="058D40"/>
              </a:solidFill>
            </a:endParaRPr>
          </a:p>
          <a:p>
            <a:r>
              <a:rPr lang="ru-RU" sz="1800" dirty="0">
                <a:solidFill>
                  <a:srgbClr val="058D40"/>
                </a:solidFill>
              </a:rPr>
              <a:t>Обучаем сразу политику</a:t>
            </a:r>
            <a:endParaRPr lang="en-RU" sz="1800" dirty="0">
              <a:solidFill>
                <a:srgbClr val="058D4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  <a:endParaRPr lang="ru-RU" dirty="0">
              <a:solidFill>
                <a:srgbClr val="C00000"/>
              </a:solidFill>
            </a:endParaRPr>
          </a:p>
          <a:p>
            <a:endParaRPr lang="ru-RU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устойчив;</a:t>
            </a:r>
          </a:p>
          <a:p>
            <a:r>
              <a:rPr lang="ru-RU" dirty="0">
                <a:solidFill>
                  <a:srgbClr val="C00000"/>
                </a:solidFill>
              </a:rPr>
              <a:t>Сходится к локальному минимуму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184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Advantage REINFORCE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7864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В силу стохастичности стратегии в одном и том же состоянии в разных эпизодах могут выбираться разные действия. Это может запутать обучение, потому что один пример требует увеличить вероятность выбора некоторого действия, а другой – уменьшить ее. </a:t>
                </a:r>
                <a:endParaRPr lang="en-US" sz="1600" dirty="0"/>
              </a:p>
              <a:p>
                <a:pPr marL="133350" indent="0">
                  <a:buNone/>
                </a:pPr>
                <a:r>
                  <a:rPr lang="ru-RU" sz="1400" dirty="0"/>
                  <a:t>Функция</a:t>
                </a:r>
                <a:r>
                  <a:rPr lang="en-US" sz="1400" dirty="0"/>
                  <a:t> </a:t>
                </a:r>
                <a:r>
                  <a:rPr lang="ru-RU" sz="1400" dirty="0"/>
                  <a:t>преимущества (</a:t>
                </a:r>
                <a:r>
                  <a:rPr lang="en-US" sz="1400" dirty="0"/>
                  <a:t>advantage function):</a:t>
                </a:r>
                <a:endParaRPr lang="ru-RU" sz="1800" dirty="0">
                  <a:latin typeface="PTSerif" panose="020A0603040505020204" pitchFamily="18" charset="77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600" b="0" i="1" dirty="0"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u-RU" sz="1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1400" dirty="0"/>
              </a:p>
              <a:p>
                <a:pPr marL="133350" indent="0">
                  <a:buNone/>
                </a:pPr>
                <a:r>
                  <a:rPr lang="ru-RU" sz="1400" dirty="0"/>
                  <a:t>Тогда обновление весов модели производится по формуле:</a:t>
                </a:r>
              </a:p>
              <a:p>
                <a:pPr marL="133350" indent="0">
                  <a:buNone/>
                </a:pPr>
                <a:endParaRPr lang="ru-RU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400" dirty="0"/>
              </a:p>
              <a:p>
                <a:pPr marL="133350" indent="0">
                  <a:buNone/>
                </a:pPr>
                <a:r>
                  <a:rPr lang="ru-RU" sz="1400" dirty="0"/>
                  <a:t>Введение преимущества позволяет откалибровать вознаграждения относительно среднего действия в данном состоянии</a:t>
                </a:r>
                <a:r>
                  <a:rPr lang="ru-RU" sz="1600" dirty="0">
                    <a:effectLst/>
                    <a:latin typeface="PTSerif" panose="020A0603040505020204" pitchFamily="18" charset="77"/>
                  </a:rPr>
                  <a:t>. </a:t>
                </a:r>
                <a:endParaRPr lang="ru-RU" sz="1400" dirty="0"/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786454"/>
              </a:xfrm>
              <a:prstGeom prst="rect">
                <a:avLst/>
              </a:prstGeom>
              <a:blipFill>
                <a:blip r:embed="rId3"/>
                <a:stretch>
                  <a:fillRect r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D4A945E-AAF5-204B-A475-27B5E2E52D9C}"/>
              </a:ext>
            </a:extLst>
          </p:cNvPr>
          <p:cNvSpPr/>
          <p:nvPr/>
        </p:nvSpPr>
        <p:spPr>
          <a:xfrm>
            <a:off x="3094426" y="3330599"/>
            <a:ext cx="2743200" cy="4360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B2BA7-6165-D644-BED5-E119720E35F5}"/>
              </a:ext>
            </a:extLst>
          </p:cNvPr>
          <p:cNvSpPr/>
          <p:nvPr/>
        </p:nvSpPr>
        <p:spPr>
          <a:xfrm>
            <a:off x="3700998" y="2199205"/>
            <a:ext cx="1525010" cy="3543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Дальнейшие улучшения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Обновление весов модели:</a:t>
                </a:r>
              </a:p>
              <a:p>
                <a:pPr marL="133350" indent="0">
                  <a:buNone/>
                </a:pPr>
                <a:endParaRPr lang="ru-RU" sz="9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REINFORCE</a:t>
                </a:r>
              </a:p>
              <a:p>
                <a:pPr marL="133350" indent="0">
                  <a:buNone/>
                </a:pPr>
                <a:endParaRPr lang="en-US" sz="1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REINFORCE 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- DDPG (Deep deterministic Policy Gradient)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 b="-6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2A31A4C-AA56-F149-A010-DA85625DA460}"/>
              </a:ext>
            </a:extLst>
          </p:cNvPr>
          <p:cNvSpPr/>
          <p:nvPr/>
        </p:nvSpPr>
        <p:spPr>
          <a:xfrm>
            <a:off x="2827979" y="1666839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394F1-8561-8843-B4FF-F39D91888612}"/>
              </a:ext>
            </a:extLst>
          </p:cNvPr>
          <p:cNvSpPr/>
          <p:nvPr/>
        </p:nvSpPr>
        <p:spPr>
          <a:xfrm>
            <a:off x="2827978" y="2288803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C789F-FD5A-644A-9CAE-3B5CCB5DEA1F}"/>
              </a:ext>
            </a:extLst>
          </p:cNvPr>
          <p:cNvSpPr/>
          <p:nvPr/>
        </p:nvSpPr>
        <p:spPr>
          <a:xfrm>
            <a:off x="2827978" y="2912800"/>
            <a:ext cx="92651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55B3-C7C7-DF4D-8301-473543C4AD65}"/>
              </a:ext>
            </a:extLst>
          </p:cNvPr>
          <p:cNvSpPr/>
          <p:nvPr/>
        </p:nvSpPr>
        <p:spPr>
          <a:xfrm>
            <a:off x="2827978" y="3508264"/>
            <a:ext cx="2706866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C245B-823D-AB40-976B-2B6BCD082B7F}"/>
              </a:ext>
            </a:extLst>
          </p:cNvPr>
          <p:cNvSpPr/>
          <p:nvPr/>
        </p:nvSpPr>
        <p:spPr>
          <a:xfrm>
            <a:off x="1648138" y="4170460"/>
            <a:ext cx="2300131" cy="4923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0076F-3D95-EF49-B27F-84F16A6E3F79}"/>
              </a:ext>
            </a:extLst>
          </p:cNvPr>
          <p:cNvSpPr/>
          <p:nvPr/>
        </p:nvSpPr>
        <p:spPr>
          <a:xfrm>
            <a:off x="1883299" y="2912800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2B092-6846-EE47-ABDC-A433F497F24E}"/>
              </a:ext>
            </a:extLst>
          </p:cNvPr>
          <p:cNvSpPr/>
          <p:nvPr/>
        </p:nvSpPr>
        <p:spPr>
          <a:xfrm>
            <a:off x="1883299" y="3508264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7D73D-F582-314E-9C10-F4C90A2E5012}"/>
              </a:ext>
            </a:extLst>
          </p:cNvPr>
          <p:cNvSpPr/>
          <p:nvPr/>
        </p:nvSpPr>
        <p:spPr>
          <a:xfrm>
            <a:off x="3021758" y="4250006"/>
            <a:ext cx="73273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1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Algorithms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AC6D5-07DF-4C46-8ABA-99100720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81" y="1068918"/>
            <a:ext cx="7321337" cy="36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48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PPO</a:t>
            </a:r>
            <a:br>
              <a:rPr lang="en-US" sz="4900" dirty="0"/>
            </a:br>
            <a:br>
              <a:rPr lang="en-US" sz="2000" dirty="0"/>
            </a:br>
            <a:r>
              <a:rPr lang="en-US" sz="2800" dirty="0"/>
              <a:t>PG -&gt; NPG -&gt; TRPO -&gt; PPO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408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(PG)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763" lvl="1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Политика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-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это просто функция, которая возвращает действие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при заданном состоянии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 </a:t>
                </a:r>
                <a:r>
                  <a:rPr lang="ru-RU" sz="1600" dirty="0">
                    <a:solidFill>
                      <a:srgbClr val="000000"/>
                    </a:solidFill>
                    <a:latin typeface="-webkit-standard"/>
                  </a:rPr>
                  <a:t>Ф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ункция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приближающая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определяется набором весов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 </a:t>
                </a:r>
                <a:endParaRPr lang="ru-RU" sz="1600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pPr marL="4763" lvl="1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Изменяя эти веса и наблюдая разницу в наградах мы обновляем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в том направлении, которое дает большую награду. Этот механизм лежит в основе </a:t>
                </a:r>
                <a:r>
                  <a:rPr lang="ru-RU" sz="1600" dirty="0">
                    <a:solidFill>
                      <a:srgbClr val="000000"/>
                    </a:solidFill>
                    <a:latin typeface="-webkit-standard"/>
                  </a:rPr>
                  <a:t>всех методов градиента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политики.</a:t>
                </a:r>
                <a:endParaRPr lang="en-US" sz="18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03250" lvl="1" indent="0">
                  <a:buNone/>
                </a:pP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7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47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  <a:blipFill>
                <a:blip r:embed="rId3"/>
                <a:stretch>
                  <a:fillRect l="-288" b="-1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897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(PG)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166164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763" lvl="1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Хотя у нас есть вознаграждение и направление обновления, мы не знаем, на какую величину обновлять политику. Выбор правильной скорости обучения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представляет собой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задачи.</a:t>
                </a:r>
              </a:p>
              <a:p>
                <a:pPr marL="4763" lvl="1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Мы можем вычислить только евклидово расстояние для обновления.</a:t>
                </a:r>
              </a:p>
              <a:p>
                <a:pPr marL="4763" lvl="1" indent="0" algn="ctr">
                  <a:spcBef>
                    <a:spcPts val="0"/>
                  </a:spcBef>
                  <a:buNone/>
                </a:pPr>
                <a:endParaRPr lang="ru-RU" sz="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4763" lvl="1" indent="0" algn="ctr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Пример – одинаковое евклидово расстояние между моделями, но изменения в политике – разные.</a:t>
                </a:r>
                <a:endParaRPr lang="ru-RU" sz="1100" dirty="0">
                  <a:solidFill>
                    <a:srgbClr val="000000"/>
                  </a:solidFill>
                  <a:latin typeface="-webkit-standard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1661646"/>
              </a:xfrm>
              <a:prstGeom prst="rect">
                <a:avLst/>
              </a:prstGeom>
              <a:blipFill>
                <a:blip r:embed="rId3"/>
                <a:stretch>
                  <a:fillRect l="-288" b="-1212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D2B8A4-CF3D-914A-98F1-EFFE0C05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102" y="2964130"/>
            <a:ext cx="6124639" cy="207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89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920536"/>
                <a:ext cx="8787947" cy="3946035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en-RU"/>
                  <a:t>KL-</a:t>
                </a:r>
                <a:r>
                  <a:rPr lang="ru-RU" dirty="0"/>
                  <a:t>расстояние</a:t>
                </a:r>
                <a:r>
                  <a:rPr lang="en-US" dirty="0"/>
                  <a:t> (</a:t>
                </a:r>
                <a:r>
                  <a:rPr lang="ru-RU" dirty="0" err="1"/>
                  <a:t>Куллбека-Лейбнера</a:t>
                </a:r>
                <a:r>
                  <a:rPr lang="en-US" dirty="0"/>
                  <a:t>)</a:t>
                </a:r>
                <a:r>
                  <a:rPr lang="ru-RU" dirty="0"/>
                  <a:t>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𝐾𝐿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d>
                                    <m:dPr>
                                      <m:beg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С учетом этого ограничения мы можем гарантировать, что изменяем параметры таким образом, что политика изменится не слишком сильно. 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i="1" dirty="0"/>
                  <a:t>Вычисление </a:t>
                </a:r>
                <a:r>
                  <a:rPr lang="en-GB" b="1" i="1" dirty="0"/>
                  <a:t>KL-</a:t>
                </a:r>
                <a:r>
                  <a:rPr lang="ru-RU" b="1" i="1" dirty="0"/>
                  <a:t> расстояния требует оценки всех пар "состояние - действие", поэтому для работы с реалистичными задачами </a:t>
                </a:r>
                <a:r>
                  <a:rPr lang="en-GB" b="1" i="1" dirty="0"/>
                  <a:t>RL </a:t>
                </a:r>
                <a:r>
                  <a:rPr lang="ru-RU" b="1" i="1" dirty="0"/>
                  <a:t>необходимы упрощения.</a:t>
                </a:r>
                <a:endParaRPr lang="en-RU" b="1" i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920536"/>
                <a:ext cx="8787947" cy="3946035"/>
              </a:xfrm>
              <a:blipFill>
                <a:blip r:embed="rId3"/>
                <a:stretch>
                  <a:fillRect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445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362079" y="330724"/>
            <a:ext cx="8659072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ограничения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1067824"/>
                <a:ext cx="8787947" cy="335075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dirty="0"/>
                  <a:t>Чтобы не допустить слишком большого отклонения политики, накладываются ограничения на </a:t>
                </a:r>
                <a:r>
                  <a:rPr lang="en-GB" dirty="0"/>
                  <a:t>KL-</a:t>
                </a:r>
                <a:r>
                  <a:rPr lang="ru-RU" dirty="0"/>
                  <a:t> расстояние между новой и старой политикой.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Используя метод разложения Лагранжа, это ограничение преобразуется в разность.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Поскольку мы не можем напрямую вычислить </a:t>
                </a:r>
                <a:r>
                  <a:rPr lang="en-GB" dirty="0"/>
                  <a:t>KL-</a:t>
                </a:r>
                <a:r>
                  <a:rPr lang="ru-RU" dirty="0"/>
                  <a:t>расстояние, используется разложение Тейлора в качестве аппроксимации для схемы обновления весов.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Для малых изменений параметров </a:t>
                </a:r>
                <a:r>
                  <a:rPr lang="en-GB" dirty="0"/>
                  <a:t>KL-</a:t>
                </a:r>
                <a:r>
                  <a:rPr lang="ru-RU" dirty="0"/>
                  <a:t> расстояние аппроксимируется с помощью информационной матрицы Фишера, для которой есть </a:t>
                </a:r>
                <a:r>
                  <a:rPr lang="ru-RU" dirty="0" err="1"/>
                  <a:t>легковычислимое</a:t>
                </a:r>
                <a:r>
                  <a:rPr lang="ru-RU" dirty="0"/>
                  <a:t> выражение.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Вся аппроксимация является результатом, предполагающим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  <a:r>
                  <a:rPr lang="ru-RU" dirty="0"/>
                  <a:t>Таким образом, все обоснование справедливо только для небольших изменений политики.</a:t>
                </a: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1067824"/>
                <a:ext cx="8787947" cy="335075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135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1067823"/>
                <a:ext cx="8787947" cy="3676011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sz="1800" dirty="0"/>
              </a:p>
              <a:p>
                <a:pPr marL="133350" indent="0">
                  <a:buNone/>
                </a:pPr>
                <a:endParaRPr lang="en-RU" dirty="0"/>
              </a:p>
              <a:p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Градиент "корректируется" обратной матрицей Фишера, учитывающей чувствительность политики к локальным изменениям. Матрица Фишера учитывает Риманову кривизну.</a:t>
                </a:r>
              </a:p>
              <a:p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Размер скорости обучения </a:t>
                </a:r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α 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имеет динамическое выражение, которое адаптируется к градиентам и обеспечивая изменение политики на величину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независимо от параметризации. </a:t>
                </a: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1067823"/>
                <a:ext cx="8787947" cy="367601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476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09FF-C7FA-1947-ADD3-510F0E76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203" y="1067823"/>
            <a:ext cx="8787947" cy="367601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Разложение Тейлора дает локальную аппроксимацию до второго порядка. В связи с этим оцениваемый гессиан может не быть положительно определенным. На практике естественные градиентные методы являются численно хрупкими и не всегда дают стабильные результаты. </a:t>
            </a:r>
          </a:p>
          <a:p>
            <a:pPr>
              <a:spcAft>
                <a:spcPts val="600"/>
              </a:spcAft>
            </a:pPr>
            <a:r>
              <a:rPr lang="ru-RU" dirty="0"/>
              <a:t>Информационная матрица Фишера занимает пространство |</a:t>
            </a:r>
            <a:r>
              <a:rPr lang="el-GR" dirty="0"/>
              <a:t>θ|⋅|θ|. </a:t>
            </a:r>
            <a:r>
              <a:rPr lang="ru-RU" dirty="0"/>
              <a:t>Рассмотрим нейронную сеть со 100 000 параметрами – можно ожидать, что 10-миллиардная матрица на ноутбуке не вычислится. Кроме того, вычисление обратной матрицы – операция сложности </a:t>
            </a:r>
            <a:r>
              <a:rPr lang="en-GB" dirty="0"/>
              <a:t>O(N³), </a:t>
            </a:r>
            <a:r>
              <a:rPr lang="ru-RU" dirty="0"/>
              <a:t>что довольно утомительно для нашего примера. Таким образом, для глубоких методов </a:t>
            </a:r>
            <a:r>
              <a:rPr lang="en-US" dirty="0"/>
              <a:t>RL</a:t>
            </a:r>
            <a:r>
              <a:rPr lang="ru-RU" dirty="0"/>
              <a:t> </a:t>
            </a:r>
            <a:r>
              <a:rPr lang="en-US" dirty="0"/>
              <a:t>NPG </a:t>
            </a:r>
            <a:r>
              <a:rPr lang="ru-RU" dirty="0"/>
              <a:t>обычно выходят за пределы как памяти, так и вычислительных возможностей.</a:t>
            </a:r>
          </a:p>
          <a:p>
            <a:pPr>
              <a:spcAft>
                <a:spcPts val="600"/>
              </a:spcAft>
            </a:pPr>
            <a:r>
              <a:rPr lang="en-US" dirty="0"/>
              <a:t>NPG </a:t>
            </a:r>
            <a:r>
              <a:rPr lang="ru-RU" dirty="0"/>
              <a:t>не проверяет, действительно ли обновление</a:t>
            </a:r>
            <a:r>
              <a:rPr lang="en-US" dirty="0"/>
              <a:t> </a:t>
            </a:r>
            <a:r>
              <a:rPr lang="ru-RU" dirty="0"/>
              <a:t>весов дает улучшение политики.</a:t>
            </a:r>
          </a:p>
        </p:txBody>
      </p:sp>
    </p:spTree>
    <p:extLst>
      <p:ext uri="{BB962C8B-B14F-4D97-AF65-F5344CB8AC3E}">
        <p14:creationId xmlns:p14="http://schemas.microsoft.com/office/powerpoint/2010/main" val="3217562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ru-RU" dirty="0"/>
                  <a:t>Введем суррогатное преимущество:</a:t>
                </a:r>
                <a:endParaRPr lang="en-US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Ограничим ошибку аппроксимации суррогатного преимущества с помощью наихудшего </a:t>
                </a:r>
                <a:r>
                  <a:rPr lang="en-GB" dirty="0"/>
                  <a:t>KL-</a:t>
                </a:r>
                <a:r>
                  <a:rPr lang="ru-RU" dirty="0"/>
                  <a:t>расстояния между политиками до и после обновления:</a:t>
                </a:r>
                <a:endParaRPr lang="en-US" dirty="0"/>
              </a:p>
              <a:p>
                <a:pPr marL="133350" indent="0">
                  <a:buNone/>
                </a:pPr>
                <a:endParaRPr lang="en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  <m:sup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RU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400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09FF-C7FA-1947-ADD3-510F0E76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8"/>
            <a:ext cx="8520600" cy="333577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TRPO </a:t>
            </a:r>
            <a:r>
              <a:rPr lang="ru-RU" dirty="0"/>
              <a:t>все равно не справляется с большими матрицами Фишера, даже если их не нужно инвертировать. </a:t>
            </a:r>
          </a:p>
          <a:p>
            <a:pPr>
              <a:spcAft>
                <a:spcPts val="1200"/>
              </a:spcAft>
            </a:pPr>
            <a:r>
              <a:rPr lang="ru-RU" dirty="0"/>
              <a:t>Оптимизация второго порядка выполняется медленно - практическая реализация </a:t>
            </a:r>
            <a:r>
              <a:rPr lang="en-GB" dirty="0"/>
              <a:t>TRPO </a:t>
            </a:r>
            <a:r>
              <a:rPr lang="ru-RU" dirty="0"/>
              <a:t>основана на ограничениях и требует вычисления матрицы Фишера. </a:t>
            </a:r>
          </a:p>
          <a:p>
            <a:pPr>
              <a:spcAft>
                <a:spcPts val="1200"/>
              </a:spcAft>
            </a:pPr>
            <a:r>
              <a:rPr lang="ru-RU" dirty="0"/>
              <a:t>Мы не можем воспользоваться преимуществами стохастических градиентных оптимизаторов (первого порядка), таких как </a:t>
            </a:r>
            <a:r>
              <a:rPr lang="en-GB" dirty="0"/>
              <a:t>ADAM.</a:t>
            </a:r>
          </a:p>
          <a:p>
            <a:pPr>
              <a:spcAft>
                <a:spcPts val="1200"/>
              </a:spcAft>
            </a:pPr>
            <a:r>
              <a:rPr lang="en-GB" dirty="0"/>
              <a:t>TRPO </a:t>
            </a:r>
            <a:r>
              <a:rPr lang="ru-RU" dirty="0"/>
              <a:t>достаточно трудно объяснить, реализовать и отладить. Когда обучение не дает желаемых результатов, бывает сложно определить в чем проблема.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72337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Proximal Policy Optimization (PPO)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969632"/>
                <a:ext cx="8520600" cy="3873237"/>
              </a:xfrm>
            </p:spPr>
            <p:txBody>
              <a:bodyPr>
                <a:normAutofit fontScale="85000" lnSpcReduction="10000"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  <m:sup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RU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Не будем вычислять теоретическое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Зададим "целевое расхождение”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dirty="0"/>
                  <a:t>, такое, чтобы наши обновления находились где-то в окрестности этого расхождения. </a:t>
                </a: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Целевое расхождение должно быть достаточно большим, чтобы существенно изменить политику, но достаточно малым, чтобы обновления были стабильными.</a:t>
                </a:r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После каждого обновления политики </a:t>
                </a:r>
                <a:r>
                  <a:rPr lang="en-GB" dirty="0"/>
                  <a:t>PPO </a:t>
                </a:r>
                <a:r>
                  <a:rPr lang="ru-RU" dirty="0"/>
                  <a:t>проверяет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 Если реализованное расхождение превышает целевое расхождение более чем на 1,5, то на следующей итерации мы устанавливаем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dirty="0"/>
                  <a:t>. </a:t>
                </a:r>
                <a:r>
                  <a:rPr lang="ru-RU" dirty="0"/>
                  <a:t>В обратном случае, если обновления слишком малы, мы уменьшаем вдвое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969632"/>
                <a:ext cx="8520600" cy="387323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686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4193384391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Advantage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3"/>
              </a:rPr>
              <a:t>PPO algorithm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4"/>
              </a:rPr>
              <a:t>PPO from scratch with PyTorch</a:t>
            </a:r>
            <a:endParaRPr lang="ru-RU" sz="1300" dirty="0">
              <a:hlinkClick r:id="rId5"/>
            </a:endParaRPr>
          </a:p>
          <a:p>
            <a:pPr indent="-311150">
              <a:buSzPts val="1300"/>
              <a:buFont typeface="Roboto"/>
              <a:buAutoNum type="arabicPeriod"/>
            </a:pPr>
            <a:r>
              <a:rPr lang="en-GB" sz="1300" dirty="0">
                <a:hlinkClick r:id="rId5"/>
              </a:rPr>
              <a:t>Reinforcement Learning frameworks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6"/>
              </a:rPr>
              <a:t>Список ресурсов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 err="1">
                <a:hlinkClick r:id="rId7"/>
              </a:rPr>
              <a:t>Лю</a:t>
            </a:r>
            <a:r>
              <a:rPr lang="ru-RU" sz="1300" dirty="0">
                <a:hlinkClick r:id="rId7"/>
              </a:rPr>
              <a:t> Ю. (Х.) Обучение с подкреплением на </a:t>
            </a:r>
            <a:r>
              <a:rPr lang="en-GB" sz="1300" dirty="0" err="1">
                <a:hlinkClick r:id="rId7"/>
              </a:rPr>
              <a:t>PyTorch</a:t>
            </a:r>
            <a:r>
              <a:rPr lang="en-GB" sz="1300" dirty="0">
                <a:hlinkClick r:id="rId7"/>
              </a:rPr>
              <a:t>: </a:t>
            </a:r>
            <a:r>
              <a:rPr lang="ru-RU" sz="1300" dirty="0">
                <a:hlinkClick r:id="rId7"/>
              </a:rPr>
              <a:t>сборник рецептов / пер. с англ. А. А. </a:t>
            </a:r>
            <a:r>
              <a:rPr lang="ru-RU" sz="1300" dirty="0" err="1">
                <a:hlinkClick r:id="rId7"/>
              </a:rPr>
              <a:t>Слинкина</a:t>
            </a:r>
            <a:r>
              <a:rPr lang="ru-RU" sz="1300" dirty="0">
                <a:hlinkClick r:id="rId7"/>
              </a:rPr>
              <a:t>. – М.: ДМК Пресс, 2020. – 282 с. 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8"/>
              </a:rPr>
              <a:t>Недостатки/неудачи обучения с подкреплением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9"/>
              </a:rPr>
              <a:t>Обзор алгоритмов и их недостатков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10"/>
              </a:rPr>
              <a:t>Особенности основных алгоритмов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b="0" i="0" u="none" strike="noStrike" dirty="0">
                <a:solidFill>
                  <a:srgbClr val="333333"/>
                </a:solidFill>
                <a:effectLst/>
                <a:latin typeface=""/>
                <a:hlinkClick r:id="rId11"/>
              </a:rPr>
              <a:t>Эволюционные стратегии в </a:t>
            </a:r>
            <a:r>
              <a:rPr lang="en-US" sz="1300" b="0" i="0" u="none" strike="noStrike" dirty="0">
                <a:solidFill>
                  <a:srgbClr val="333333"/>
                </a:solidFill>
                <a:effectLst/>
                <a:latin typeface=""/>
                <a:hlinkClick r:id="rId11"/>
              </a:rPr>
              <a:t>RL</a:t>
            </a:r>
            <a:endParaRPr lang="ru-RU" sz="1300" b="0" i="0" u="none" strike="noStrike" dirty="0">
              <a:solidFill>
                <a:srgbClr val="333333"/>
              </a:solidFill>
              <a:effectLst/>
              <a:latin typeface="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119438088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 с непрерывным пространством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Алгоритм </a:t>
                      </a: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Пути улучшения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0893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Actor-Critic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алгоритм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52E98-0825-2C4A-8FA1-9407F8F76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8;p48">
            <a:extLst>
              <a:ext uri="{FF2B5EF4-FFF2-40B4-BE49-F238E27FC236}">
                <a16:creationId xmlns:a16="http://schemas.microsoft.com/office/drawing/2014/main" id="{FAFDB4B1-C1B3-5044-9C17-1F08D58F8E7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209;p48">
            <a:extLst>
              <a:ext uri="{FF2B5EF4-FFF2-40B4-BE49-F238E27FC236}">
                <a16:creationId xmlns:a16="http://schemas.microsoft.com/office/drawing/2014/main" id="{2E90DA32-0A9C-3242-A08E-BBCE9BE27022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8683</TotalTime>
  <Words>2087</Words>
  <Application>Microsoft Macintosh PowerPoint</Application>
  <PresentationFormat>On-screen Show (16:9)</PresentationFormat>
  <Paragraphs>354</Paragraphs>
  <Slides>49</Slides>
  <Notes>43</Notes>
  <HiddenSlides>10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Google Sans</vt:lpstr>
      <vt:lpstr>Symbol</vt:lpstr>
      <vt:lpstr>Bradley Hand</vt:lpstr>
      <vt:lpstr>AkayaTelivigala</vt:lpstr>
      <vt:lpstr>Roboto</vt:lpstr>
      <vt:lpstr>Helvetica Neue</vt:lpstr>
      <vt:lpstr>PTSerif</vt:lpstr>
      <vt:lpstr>Cambria Math</vt:lpstr>
      <vt:lpstr>-webkit-standard</vt:lpstr>
      <vt:lpstr>Arial</vt:lpstr>
      <vt:lpstr>Courier New</vt:lpstr>
      <vt:lpstr>Светлая тема</vt:lpstr>
      <vt:lpstr>Светлая тема</vt:lpstr>
      <vt:lpstr>Reinforcement learning Policy Gradient</vt:lpstr>
      <vt:lpstr>Проверить, идет ли запись</vt:lpstr>
      <vt:lpstr>Правила вебинара</vt:lpstr>
      <vt:lpstr>Reinforcement learning. Введение в DeepRL 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Постановка задачи</vt:lpstr>
      <vt:lpstr>Markov Property</vt:lpstr>
      <vt:lpstr>Policy based methods</vt:lpstr>
      <vt:lpstr>Value based and Policy based</vt:lpstr>
      <vt:lpstr>достоинства и недостатки</vt:lpstr>
      <vt:lpstr>DQN – достоинства и недостатки</vt:lpstr>
      <vt:lpstr>Клеточный мир</vt:lpstr>
      <vt:lpstr>Клеточный мир</vt:lpstr>
      <vt:lpstr>Клеточный мир</vt:lpstr>
      <vt:lpstr>Алгоритм REINFORCE</vt:lpstr>
      <vt:lpstr>REINFORCE</vt:lpstr>
      <vt:lpstr>Deep Cross-entropy</vt:lpstr>
      <vt:lpstr>PowerPoint Presentation</vt:lpstr>
      <vt:lpstr>REINFORCE</vt:lpstr>
      <vt:lpstr>REINFORCE</vt:lpstr>
      <vt:lpstr>Policy gradient theorem</vt:lpstr>
      <vt:lpstr>REINFORCE - алгоритм</vt:lpstr>
      <vt:lpstr>достоинства и недостатки</vt:lpstr>
      <vt:lpstr>REINFORCE – достоинства и недостатки</vt:lpstr>
      <vt:lpstr>Advantage REINFORCE</vt:lpstr>
      <vt:lpstr>Дальнейшие улучшения</vt:lpstr>
      <vt:lpstr>Algorithms</vt:lpstr>
      <vt:lpstr>Алгоритм PPO  PG -&gt; NPG -&gt; TRPO -&gt; PPO</vt:lpstr>
      <vt:lpstr>Policy Gradient (PG)</vt:lpstr>
      <vt:lpstr>Policy Gradient (PG) - проблемы</vt:lpstr>
      <vt:lpstr>Natural Policy Gradient (NPG)</vt:lpstr>
      <vt:lpstr>Natural Policy Gradient (NPG) - ограничения</vt:lpstr>
      <vt:lpstr>Natural Policy Gradient (NPG)</vt:lpstr>
      <vt:lpstr>Natural Policy Gradient (NPG) - проблемы</vt:lpstr>
      <vt:lpstr>Trust Region Policy Optimization (TRPO)</vt:lpstr>
      <vt:lpstr>Trust Region Policy Optimization (TRPO) - проблемы</vt:lpstr>
      <vt:lpstr>Proximal Policy Optimization (PPO) </vt:lpstr>
      <vt:lpstr>Практика</vt:lpstr>
      <vt:lpstr>Практика</vt:lpstr>
      <vt:lpstr>Список материалов для изучения</vt:lpstr>
      <vt:lpstr>Вопросы?</vt:lpstr>
      <vt:lpstr>Рефлексия</vt:lpstr>
      <vt:lpstr>Цели вебинара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86</cp:revision>
  <dcterms:modified xsi:type="dcterms:W3CDTF">2025-04-23T14:13:12Z</dcterms:modified>
</cp:coreProperties>
</file>