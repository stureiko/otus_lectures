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20.jpg" ContentType="image/png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32"/>
  </p:notesMasterIdLst>
  <p:sldIdLst>
    <p:sldId id="256" r:id="rId2"/>
    <p:sldId id="257" r:id="rId3"/>
    <p:sldId id="259" r:id="rId4"/>
    <p:sldId id="404" r:id="rId5"/>
    <p:sldId id="268" r:id="rId6"/>
    <p:sldId id="405" r:id="rId7"/>
    <p:sldId id="374" r:id="rId8"/>
    <p:sldId id="263" r:id="rId9"/>
    <p:sldId id="264" r:id="rId10"/>
    <p:sldId id="385" r:id="rId11"/>
    <p:sldId id="379" r:id="rId12"/>
    <p:sldId id="383" r:id="rId13"/>
    <p:sldId id="396" r:id="rId14"/>
    <p:sldId id="406" r:id="rId15"/>
    <p:sldId id="397" r:id="rId16"/>
    <p:sldId id="398" r:id="rId17"/>
    <p:sldId id="399" r:id="rId18"/>
    <p:sldId id="400" r:id="rId19"/>
    <p:sldId id="407" r:id="rId20"/>
    <p:sldId id="391" r:id="rId21"/>
    <p:sldId id="401" r:id="rId22"/>
    <p:sldId id="402" r:id="rId23"/>
    <p:sldId id="278" r:id="rId24"/>
    <p:sldId id="279" r:id="rId25"/>
    <p:sldId id="281" r:id="rId26"/>
    <p:sldId id="282" r:id="rId27"/>
    <p:sldId id="283" r:id="rId28"/>
    <p:sldId id="345" r:id="rId29"/>
    <p:sldId id="289" r:id="rId30"/>
    <p:sldId id="337" r:id="rId31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Helvetica Neue" panose="02000503000000020004" pitchFamily="2" charset="0"/>
      <p:regular r:id="rId38"/>
      <p:bold r:id="rId39"/>
      <p:italic r:id="rId40"/>
      <p:boldItalic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8D40"/>
    <a:srgbClr val="FF0000"/>
    <a:srgbClr val="D9E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623574C-9AE7-4070-A081-93A97D88BCA6}">
  <a:tblStyle styleId="{B623574C-9AE7-4070-A081-93A97D88BC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65"/>
    <p:restoredTop sz="97146"/>
  </p:normalViewPr>
  <p:slideViewPr>
    <p:cSldViewPr snapToGrid="0">
      <p:cViewPr varScale="1">
        <p:scale>
          <a:sx n="165" d="100"/>
          <a:sy n="165" d="100"/>
        </p:scale>
        <p:origin x="672" y="184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f29b9fb2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f29b9fb2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13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0156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914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7795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7844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052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72559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622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10622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88728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33972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f29b9fb2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f29b9fb2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8a1909ca3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8a1909ca3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df6222e6a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df6222e6a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7581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e04b8b6756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e04b8b6756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294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073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5203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72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41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1151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articles/349800/" TargetMode="External"/><Relationship Id="rId3" Type="http://schemas.openxmlformats.org/officeDocument/2006/relationships/hyperlink" Target="https://towardsdatascience.com/proximal-policy-optimization-ppo-explained-abed1952457b" TargetMode="External"/><Relationship Id="rId7" Type="http://schemas.openxmlformats.org/officeDocument/2006/relationships/hyperlink" Target="https://t.me/c/1530284868/2747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github.com/aikorea/awesome-rl" TargetMode="External"/><Relationship Id="rId11" Type="http://schemas.openxmlformats.org/officeDocument/2006/relationships/hyperlink" Target="https://habr.com/ru/companies/vk/articles/343008/" TargetMode="External"/><Relationship Id="rId5" Type="http://schemas.openxmlformats.org/officeDocument/2006/relationships/hyperlink" Target="https://towardsdatascience.com/reinforcement-learning-frameworks-e349de4f645a" TargetMode="External"/><Relationship Id="rId10" Type="http://schemas.openxmlformats.org/officeDocument/2006/relationships/hyperlink" Target="https://habr.com/ru/companies/skillfactory/articles/717360/" TargetMode="External"/><Relationship Id="rId4" Type="http://schemas.openxmlformats.org/officeDocument/2006/relationships/hyperlink" Target="https://pytorch.org/rl/tutorials/coding_ppo.html" TargetMode="External"/><Relationship Id="rId9" Type="http://schemas.openxmlformats.org/officeDocument/2006/relationships/hyperlink" Target="https://habr.com/ru/articles/437020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 dirty="0"/>
              <a:t>Proximal Policy Optimization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#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RL-202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lang="ru-RU" sz="1500" b="1" dirty="0"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sz="1500" b="1" dirty="0">
                <a:latin typeface="Roboto"/>
                <a:ea typeface="Roboto"/>
                <a:cs typeface="Roboto"/>
                <a:sym typeface="Roboto"/>
              </a:rPr>
              <a:t>9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br>
              <a:rPr lang="en-US" dirty="0"/>
            </a:br>
            <a:r>
              <a:rPr lang="en-US" sz="2400" dirty="0"/>
              <a:t>Proximal Policy Optimization 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5325"/>
            <a:ext cx="3495512" cy="93235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13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Маршрут вебинара</a:t>
            </a:r>
            <a:endParaRPr dirty="0"/>
          </a:p>
        </p:txBody>
      </p:sp>
      <p:sp>
        <p:nvSpPr>
          <p:cNvPr id="267" name="Google Shape;267;p52"/>
          <p:cNvSpPr/>
          <p:nvPr/>
        </p:nvSpPr>
        <p:spPr>
          <a:xfrm>
            <a:off x="786525" y="120552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52"/>
          <p:cNvSpPr/>
          <p:nvPr/>
        </p:nvSpPr>
        <p:spPr>
          <a:xfrm>
            <a:off x="787125" y="175479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Постановка задачи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52"/>
          <p:cNvSpPr/>
          <p:nvPr/>
        </p:nvSpPr>
        <p:spPr>
          <a:xfrm>
            <a:off x="787125" y="230407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050505"/>
                </a:solidFill>
                <a:latin typeface="Roboto"/>
                <a:ea typeface="Roboto"/>
                <a:cs typeface="Roboto"/>
                <a:sym typeface="Roboto"/>
              </a:rPr>
              <a:t>Policy Gradient (PG)</a:t>
            </a:r>
            <a:endParaRPr sz="1300" dirty="0">
              <a:solidFill>
                <a:srgbClr val="05050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52"/>
          <p:cNvSpPr/>
          <p:nvPr/>
        </p:nvSpPr>
        <p:spPr>
          <a:xfrm>
            <a:off x="799825" y="340261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Trust Region Policy Optimization (TRPO) </a:t>
            </a:r>
            <a:endParaRPr sz="13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52"/>
          <p:cNvSpPr/>
          <p:nvPr/>
        </p:nvSpPr>
        <p:spPr>
          <a:xfrm>
            <a:off x="774940" y="285334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Natural Policy Gradient (NPG)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" name="Google Shape;274;p52"/>
          <p:cNvCxnSpPr>
            <a:cxnSpLocks/>
            <a:stCxn id="267" idx="1"/>
            <a:endCxn id="269" idx="1"/>
          </p:cNvCxnSpPr>
          <p:nvPr/>
        </p:nvCxnSpPr>
        <p:spPr>
          <a:xfrm rot="10800000" flipH="1" flipV="1">
            <a:off x="786525" y="1393624"/>
            <a:ext cx="600" cy="549273"/>
          </a:xfrm>
          <a:prstGeom prst="curvedConnector3">
            <a:avLst>
              <a:gd name="adj1" fmla="val -38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5" name="Google Shape;275;p52"/>
          <p:cNvCxnSpPr>
            <a:stCxn id="269" idx="1"/>
            <a:endCxn id="270" idx="1"/>
          </p:cNvCxnSpPr>
          <p:nvPr/>
        </p:nvCxnSpPr>
        <p:spPr>
          <a:xfrm rot="10800000" flipV="1">
            <a:off x="787125" y="1942897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76" name="Google Shape;276;p52"/>
          <p:cNvCxnSpPr>
            <a:cxnSpLocks/>
            <a:stCxn id="270" idx="1"/>
            <a:endCxn id="272" idx="1"/>
          </p:cNvCxnSpPr>
          <p:nvPr/>
        </p:nvCxnSpPr>
        <p:spPr>
          <a:xfrm rot="10800000" flipV="1">
            <a:off x="774941" y="2492170"/>
            <a:ext cx="12185" cy="549273"/>
          </a:xfrm>
          <a:prstGeom prst="curvedConnector3">
            <a:avLst>
              <a:gd name="adj1" fmla="val 1976077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8" name="Google Shape;272;p52">
            <a:extLst>
              <a:ext uri="{FF2B5EF4-FFF2-40B4-BE49-F238E27FC236}">
                <a16:creationId xmlns:a16="http://schemas.microsoft.com/office/drawing/2014/main" id="{D431EAF1-5808-7F4D-8FC1-9FBBFE2350DA}"/>
              </a:ext>
            </a:extLst>
          </p:cNvPr>
          <p:cNvSpPr/>
          <p:nvPr/>
        </p:nvSpPr>
        <p:spPr>
          <a:xfrm>
            <a:off x="799825" y="395189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Proximal Policy Optimization (PPO)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" name="Google Shape;277;p52">
            <a:extLst>
              <a:ext uri="{FF2B5EF4-FFF2-40B4-BE49-F238E27FC236}">
                <a16:creationId xmlns:a16="http://schemas.microsoft.com/office/drawing/2014/main" id="{DC4A3018-ECE4-2B44-A92A-BC0573E577C3}"/>
              </a:ext>
            </a:extLst>
          </p:cNvPr>
          <p:cNvCxnSpPr>
            <a:cxnSpLocks/>
            <a:stCxn id="272" idx="1"/>
            <a:endCxn id="271" idx="1"/>
          </p:cNvCxnSpPr>
          <p:nvPr/>
        </p:nvCxnSpPr>
        <p:spPr>
          <a:xfrm rot="10800000" flipH="1" flipV="1">
            <a:off x="774939" y="3041443"/>
            <a:ext cx="24885" cy="549273"/>
          </a:xfrm>
          <a:prstGeom prst="curvedConnector3">
            <a:avLst>
              <a:gd name="adj1" fmla="val -918626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" name="Google Shape;277;p52">
            <a:extLst>
              <a:ext uri="{FF2B5EF4-FFF2-40B4-BE49-F238E27FC236}">
                <a16:creationId xmlns:a16="http://schemas.microsoft.com/office/drawing/2014/main" id="{F7CCCBE8-639F-B943-8316-3A7DD2F0B684}"/>
              </a:ext>
            </a:extLst>
          </p:cNvPr>
          <p:cNvCxnSpPr>
            <a:cxnSpLocks/>
            <a:stCxn id="271" idx="1"/>
            <a:endCxn id="28" idx="1"/>
          </p:cNvCxnSpPr>
          <p:nvPr/>
        </p:nvCxnSpPr>
        <p:spPr>
          <a:xfrm rot="10800000" flipV="1">
            <a:off x="799825" y="3590716"/>
            <a:ext cx="12700" cy="549273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C04FD1A-DAFB-984D-AA84-699B408ECC16}"/>
              </a:ext>
            </a:extLst>
          </p:cNvPr>
          <p:cNvGrpSpPr/>
          <p:nvPr/>
        </p:nvGrpSpPr>
        <p:grpSpPr>
          <a:xfrm>
            <a:off x="5362873" y="598538"/>
            <a:ext cx="3139518" cy="4011545"/>
            <a:chOff x="5362873" y="598538"/>
            <a:chExt cx="3139518" cy="4011545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4B58BFF-5376-8241-BE03-81F21602E0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62873" y="598538"/>
              <a:ext cx="3054665" cy="2156936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5DCFFC0-4300-3648-B859-55853B0256D4}"/>
                </a:ext>
              </a:extLst>
            </p:cNvPr>
            <p:cNvSpPr/>
            <p:nvPr/>
          </p:nvSpPr>
          <p:spPr>
            <a:xfrm>
              <a:off x="5389792" y="598538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AB71E481-D0AE-1B45-B217-D6E6D62651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8078"/>
            <a:stretch/>
          </p:blipFill>
          <p:spPr>
            <a:xfrm>
              <a:off x="5917445" y="2846057"/>
              <a:ext cx="2500093" cy="176402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AD1C180-95FC-2843-841A-8EDC89253312}"/>
                </a:ext>
              </a:extLst>
            </p:cNvPr>
            <p:cNvSpPr/>
            <p:nvPr/>
          </p:nvSpPr>
          <p:spPr>
            <a:xfrm>
              <a:off x="8126645" y="2828340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Google Shape;272;p52">
            <a:extLst>
              <a:ext uri="{FF2B5EF4-FFF2-40B4-BE49-F238E27FC236}">
                <a16:creationId xmlns:a16="http://schemas.microsoft.com/office/drawing/2014/main" id="{EB638302-8148-1141-A5F7-CDDDBECF8033}"/>
              </a:ext>
            </a:extLst>
          </p:cNvPr>
          <p:cNvSpPr/>
          <p:nvPr/>
        </p:nvSpPr>
        <p:spPr>
          <a:xfrm>
            <a:off x="812525" y="4501166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Алгоритм </a:t>
            </a: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PPO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77;p52">
            <a:extLst>
              <a:ext uri="{FF2B5EF4-FFF2-40B4-BE49-F238E27FC236}">
                <a16:creationId xmlns:a16="http://schemas.microsoft.com/office/drawing/2014/main" id="{3DD17CD1-DA30-5F4C-B7B6-780F8F6A150F}"/>
              </a:ext>
            </a:extLst>
          </p:cNvPr>
          <p:cNvCxnSpPr>
            <a:cxnSpLocks/>
            <a:stCxn id="28" idx="1"/>
            <a:endCxn id="23" idx="1"/>
          </p:cNvCxnSpPr>
          <p:nvPr/>
        </p:nvCxnSpPr>
        <p:spPr>
          <a:xfrm rot="10800000" flipH="1" flipV="1">
            <a:off x="799825" y="4139990"/>
            <a:ext cx="12700" cy="549276"/>
          </a:xfrm>
          <a:prstGeom prst="curvedConnector3">
            <a:avLst>
              <a:gd name="adj1" fmla="val -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283" name="Google Shape;283;p53"/>
          <p:cNvGraphicFramePr/>
          <p:nvPr>
            <p:extLst>
              <p:ext uri="{D42A27DB-BD31-4B8C-83A1-F6EECF244321}">
                <p14:modId xmlns:p14="http://schemas.microsoft.com/office/powerpoint/2010/main" val="2987440914"/>
              </p:ext>
            </p:extLst>
          </p:nvPr>
        </p:nvGraphicFramePr>
        <p:xfrm>
          <a:off x="952500" y="1544194"/>
          <a:ext cx="7239000" cy="2095824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сложности прямого вычисления расстояния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Куллбека-Лейбнера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Trust Region Policy Optimization (TRPO) 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Proximal Policy Optimization (PPO)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Proximal Policy Optimization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коде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 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1875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Сравнить собственную реализацию с работой фреймворка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StableBaselain3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483104"/>
                  </a:ext>
                </a:extLst>
              </a:tr>
            </a:tbl>
          </a:graphicData>
        </a:graphic>
      </p:graphicFrame>
      <p:sp>
        <p:nvSpPr>
          <p:cNvPr id="285" name="Google Shape;285;p53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К концу занятия вы сможете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91" name="Google Shape;291;p54"/>
          <p:cNvGraphicFramePr/>
          <p:nvPr>
            <p:extLst>
              <p:ext uri="{D42A27DB-BD31-4B8C-83A1-F6EECF244321}">
                <p14:modId xmlns:p14="http://schemas.microsoft.com/office/powerpoint/2010/main" val="869430814"/>
              </p:ext>
            </p:extLst>
          </p:nvPr>
        </p:nvGraphicFramePr>
        <p:xfrm>
          <a:off x="952500" y="1544194"/>
          <a:ext cx="7239000" cy="926446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Программировать задачи обучения с подкреплением для окружений большой размерности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непрерывного пространства действий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работу алгоритма РРО и использовать его в своих проектах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3" name="Google Shape;293;p54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уметь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900" dirty="0"/>
              <a:t>Алгоритм </a:t>
            </a:r>
            <a:r>
              <a:rPr lang="en-US" sz="4900" dirty="0"/>
              <a:t>PPO</a:t>
            </a:r>
            <a:br>
              <a:rPr lang="en-US" sz="4900" dirty="0"/>
            </a:br>
            <a:br>
              <a:rPr lang="en-US" sz="2000" dirty="0"/>
            </a:br>
            <a:r>
              <a:rPr lang="en-US" sz="2800" dirty="0"/>
              <a:t>PG -&gt; NPG -&gt; TRPO -&gt; PPO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408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Модели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3350" indent="0">
                  <a:buNone/>
                </a:pPr>
                <a:r>
                  <a:rPr lang="ru-RU" sz="1400" dirty="0"/>
                  <a:t>Обновление весов модели:</a:t>
                </a:r>
              </a:p>
              <a:p>
                <a:pPr marL="133350" indent="0">
                  <a:buNone/>
                </a:pPr>
                <a:endParaRPr lang="ru-RU" sz="9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REINFORCE</a:t>
                </a:r>
              </a:p>
              <a:p>
                <a:pPr marL="133350" indent="0">
                  <a:buNone/>
                </a:pPr>
                <a:endParaRPr lang="en-US" sz="10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REINFORCE 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	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func>
                      <m:func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sSup>
                          <m:sSup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p>
                        </m:sSup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1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	</a:t>
                </a:r>
                <a:r>
                  <a:rPr lang="ru-RU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- </a:t>
                </a:r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Advantage Actor-Critic</a:t>
                </a:r>
              </a:p>
              <a:p>
                <a:pPr marL="133350" indent="0">
                  <a:buNone/>
                </a:pPr>
                <a:endParaRPr lang="en-US" sz="10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13335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8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8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1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  <m:sup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sup>
                                </m:sSup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nary>
                      </m:e>
                    </m:d>
                  </m:oMath>
                </a14:m>
                <a:r>
                  <a:rPr lang="en-US" sz="18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- DDPG (Deep deterministic Policy Gradient)</a:t>
                </a:r>
              </a:p>
            </p:txBody>
          </p:sp>
        </mc:Choice>
        <mc:Fallback xmlns="">
          <p:sp>
            <p:nvSpPr>
              <p:cNvPr id="7" name="Google Shape;311;p57">
                <a:extLst>
                  <a:ext uri="{FF2B5EF4-FFF2-40B4-BE49-F238E27FC236}">
                    <a16:creationId xmlns:a16="http://schemas.microsoft.com/office/drawing/2014/main" id="{8A36D44E-7C6A-5342-A463-32C67AE558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26322"/>
                <a:ext cx="8801144" cy="3965426"/>
              </a:xfrm>
              <a:prstGeom prst="rect">
                <a:avLst/>
              </a:prstGeom>
              <a:blipFill>
                <a:blip r:embed="rId3"/>
                <a:stretch>
                  <a:fillRect b="-6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2A31A4C-AA56-F149-A010-DA85625DA460}"/>
              </a:ext>
            </a:extLst>
          </p:cNvPr>
          <p:cNvSpPr/>
          <p:nvPr/>
        </p:nvSpPr>
        <p:spPr>
          <a:xfrm>
            <a:off x="2827979" y="1666839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394F1-8561-8843-B4FF-F39D91888612}"/>
              </a:ext>
            </a:extLst>
          </p:cNvPr>
          <p:cNvSpPr/>
          <p:nvPr/>
        </p:nvSpPr>
        <p:spPr>
          <a:xfrm>
            <a:off x="2827978" y="2288803"/>
            <a:ext cx="30278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2C789F-FD5A-644A-9CAE-3B5CCB5DEA1F}"/>
              </a:ext>
            </a:extLst>
          </p:cNvPr>
          <p:cNvSpPr/>
          <p:nvPr/>
        </p:nvSpPr>
        <p:spPr>
          <a:xfrm>
            <a:off x="2827978" y="2912800"/>
            <a:ext cx="926511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4855B3-C7C7-DF4D-8301-473543C4AD65}"/>
              </a:ext>
            </a:extLst>
          </p:cNvPr>
          <p:cNvSpPr/>
          <p:nvPr/>
        </p:nvSpPr>
        <p:spPr>
          <a:xfrm>
            <a:off x="2827978" y="3508264"/>
            <a:ext cx="2706866" cy="35728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DC245B-823D-AB40-976B-2B6BCD082B7F}"/>
              </a:ext>
            </a:extLst>
          </p:cNvPr>
          <p:cNvSpPr/>
          <p:nvPr/>
        </p:nvSpPr>
        <p:spPr>
          <a:xfrm>
            <a:off x="1648138" y="4170460"/>
            <a:ext cx="2300131" cy="49237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0076F-3D95-EF49-B27F-84F16A6E3F79}"/>
              </a:ext>
            </a:extLst>
          </p:cNvPr>
          <p:cNvSpPr/>
          <p:nvPr/>
        </p:nvSpPr>
        <p:spPr>
          <a:xfrm>
            <a:off x="1883299" y="2912800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92B092-6846-EE47-ABDC-A433F497F24E}"/>
              </a:ext>
            </a:extLst>
          </p:cNvPr>
          <p:cNvSpPr/>
          <p:nvPr/>
        </p:nvSpPr>
        <p:spPr>
          <a:xfrm>
            <a:off x="1883299" y="3508264"/>
            <a:ext cx="92651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7D73D-F582-314E-9C10-F4C90A2E5012}"/>
              </a:ext>
            </a:extLst>
          </p:cNvPr>
          <p:cNvSpPr/>
          <p:nvPr/>
        </p:nvSpPr>
        <p:spPr>
          <a:xfrm>
            <a:off x="3021758" y="4254609"/>
            <a:ext cx="732731" cy="3572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1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Политика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-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это просто функция, которая возвращает действие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 заданном состоянии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Ф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ункция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приближающая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определяется набором весов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. </a:t>
                </a:r>
                <a:endParaRPr lang="ru-RU" sz="1600" b="0" i="0" u="none" strike="noStrike" dirty="0">
                  <a:solidFill>
                    <a:srgbClr val="000000"/>
                  </a:solidFill>
                  <a:effectLst/>
                  <a:latin typeface="-webkit-standard"/>
                </a:endParaRPr>
              </a:p>
              <a:p>
                <a:pPr marL="4763" lvl="1" indent="0">
                  <a:buNone/>
                </a:pP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Изменяя эти веса и наблюдая разницу в наградах мы обновляем</a:t>
                </a:r>
                <a:r>
                  <a:rPr lang="en-US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в том направлении, которое дает большую награду. Этот механизм лежит в основе </a:t>
                </a:r>
                <a:r>
                  <a:rPr lang="ru-RU" sz="1600" dirty="0">
                    <a:solidFill>
                      <a:srgbClr val="000000"/>
                    </a:solidFill>
                    <a:latin typeface="-webkit-standard"/>
                  </a:rPr>
                  <a:t>всех методов градиента </a:t>
                </a:r>
                <a:r>
                  <a:rPr lang="ru-RU" sz="1600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политики.</a:t>
                </a:r>
                <a:endParaRPr lang="en-US" sz="18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603250" lvl="1" indent="0">
                  <a:buNone/>
                </a:pPr>
                <a:endParaRPr lang="en-US" sz="16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  <m:sup/>
                        <m:e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3422940"/>
              </a:xfrm>
              <a:prstGeom prst="rect">
                <a:avLst/>
              </a:prstGeom>
              <a:blipFill>
                <a:blip r:embed="rId3"/>
                <a:stretch>
                  <a:fillRect l="-288" b="-1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897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Policy Gradient (PG)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Хотя у нас есть вознаграждение и направление обновления, мы не знаем, на какую величину обновлять политику. Выбор правильной скорости обучения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представляет собой </a:t>
                </a:r>
                <a:r>
                  <a:rPr lang="ru-RU" sz="1600" dirty="0" err="1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гиперпараметр</a:t>
                </a: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 задачи.</a:t>
                </a:r>
              </a:p>
              <a:p>
                <a:pPr marL="4763" lvl="1" indent="0">
                  <a:buNone/>
                </a:pPr>
                <a:r>
                  <a:rPr lang="ru-RU" sz="16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Мы можем вычислить только евклидово расстояние для обновления.</a:t>
                </a:r>
              </a:p>
              <a:p>
                <a:pPr marL="4763" lvl="1" indent="0" algn="ctr">
                  <a:spcBef>
                    <a:spcPts val="0"/>
                  </a:spcBef>
                  <a:buNone/>
                </a:pPr>
                <a:endParaRPr lang="ru-RU" sz="800" dirty="0">
                  <a:solidFill>
                    <a:srgbClr val="000000"/>
                  </a:solidFill>
                  <a:latin typeface="Helvetica Neue" panose="02000503000000020004" pitchFamily="2" charset="0"/>
                </a:endParaRPr>
              </a:p>
              <a:p>
                <a:pPr marL="4763" lvl="1" indent="0" algn="ctr">
                  <a:buNone/>
                </a:pPr>
                <a:r>
                  <a:rPr lang="ru-RU" sz="1400" dirty="0">
                    <a:solidFill>
                      <a:srgbClr val="000000"/>
                    </a:solidFill>
                    <a:latin typeface="Helvetica Neue" panose="02000503000000020004" pitchFamily="2" charset="0"/>
                  </a:rPr>
                  <a:t>Пример – одинаковое евклидово расстояние между моделями, но изменения в политике – разные.</a:t>
                </a:r>
                <a:endParaRPr lang="ru-RU" sz="1100" dirty="0">
                  <a:solidFill>
                    <a:srgbClr val="000000"/>
                  </a:solidFill>
                  <a:latin typeface="-webkit-standard"/>
                </a:endParaRPr>
              </a:p>
            </p:txBody>
          </p:sp>
        </mc:Choice>
        <mc:Fallback xmlns="">
          <p:sp>
            <p:nvSpPr>
              <p:cNvPr id="6" name="Google Shape;311;p57">
                <a:extLst>
                  <a:ext uri="{FF2B5EF4-FFF2-40B4-BE49-F238E27FC236}">
                    <a16:creationId xmlns:a16="http://schemas.microsoft.com/office/drawing/2014/main" id="{2FD43597-8D13-8541-96F3-D70F99E0916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50" y="1032459"/>
                <a:ext cx="8801144" cy="1661646"/>
              </a:xfrm>
              <a:prstGeom prst="rect">
                <a:avLst/>
              </a:prstGeom>
              <a:blipFill>
                <a:blip r:embed="rId3"/>
                <a:stretch>
                  <a:fillRect l="-288" b="-121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BD2B8A4-CF3D-914A-98F1-EFFE0C050D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1102" y="2964130"/>
            <a:ext cx="6124639" cy="207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8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8E383-4D7A-9149-BBB4-62451D06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изменения политики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892202-B106-3245-9D62-2828D0D4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665" y="1127273"/>
            <a:ext cx="22225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AA42A9-4F30-EC4F-9D71-6CB64FCE4FF9}"/>
              </a:ext>
            </a:extLst>
          </p:cNvPr>
          <p:cNvSpPr txBox="1"/>
          <p:nvPr/>
        </p:nvSpPr>
        <p:spPr>
          <a:xfrm>
            <a:off x="500550" y="1515818"/>
            <a:ext cx="44492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Движение на одинаковую величину по горизонтали может привести к кардинальному изменению.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Если рельеф воспринимать как функцию политики, то необходимо оценивать насколько изменится политика, </a:t>
            </a:r>
            <a:r>
              <a:rPr lang="ru-RU" dirty="0" err="1"/>
              <a:t>т.е</a:t>
            </a:r>
            <a:r>
              <a:rPr lang="ru-RU" dirty="0"/>
              <a:t> фактически вычислять все возможные изменения политики и после этого делать шаг.</a:t>
            </a:r>
          </a:p>
          <a:p>
            <a:endParaRPr lang="ru-RU" dirty="0"/>
          </a:p>
          <a:p>
            <a:r>
              <a:rPr lang="ru-RU" dirty="0"/>
              <a:t>Фактически нам нужно двигаться следуя за максимумом функции политики. Это достигается методами оптимизации второго порядка.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58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en-RU"/>
                  <a:t>KL-</a:t>
                </a:r>
                <a:r>
                  <a:rPr lang="ru-RU" dirty="0"/>
                  <a:t>расстояние</a:t>
                </a:r>
                <a:r>
                  <a:rPr lang="en-US" dirty="0"/>
                  <a:t> (</a:t>
                </a:r>
                <a:r>
                  <a:rPr lang="ru-RU" dirty="0" err="1"/>
                  <a:t>Куллбека-Лейбнера</a:t>
                </a:r>
                <a:r>
                  <a:rPr lang="en-US" dirty="0"/>
                  <a:t>)</a:t>
                </a:r>
                <a:r>
                  <a:rPr lang="ru-RU" dirty="0"/>
                  <a:t>:</a:t>
                </a:r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𝐾𝐿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d>
                                    <m:dPr>
                                      <m:beg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𝜋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Δ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С учетом этого ограничения мы можем гарантировать, что изменяем параметры таким образом, что политика изменится не слишком сильно. </a:t>
                </a:r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b="1" i="1" dirty="0"/>
                  <a:t>Вычисление </a:t>
                </a:r>
                <a:r>
                  <a:rPr lang="en-GB" b="1" i="1" dirty="0"/>
                  <a:t>KL-</a:t>
                </a:r>
                <a:r>
                  <a:rPr lang="ru-RU" b="1" i="1" dirty="0"/>
                  <a:t> расстояния требует оценки всех пар "состояние - действие", поэтому для работы с реалистичными задачами </a:t>
                </a:r>
                <a:r>
                  <a:rPr lang="en-GB" b="1" i="1" dirty="0"/>
                  <a:t>RL </a:t>
                </a:r>
                <a:r>
                  <a:rPr lang="ru-RU" b="1" i="1" dirty="0"/>
                  <a:t>необходимы упрощения.</a:t>
                </a:r>
                <a:endParaRPr lang="en-RU" b="1" i="1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920536"/>
                <a:ext cx="8787947" cy="3946035"/>
              </a:xfrm>
              <a:blipFill>
                <a:blip r:embed="rId3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8445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362079" y="330724"/>
            <a:ext cx="8659072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ограничения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1067824"/>
                <a:ext cx="8787947" cy="3350754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dirty="0"/>
                  <a:t>Чтобы не допустить слишком большого отклонения политики, накладываются ограничения на </a:t>
                </a:r>
                <a:r>
                  <a:rPr lang="en-GB" dirty="0"/>
                  <a:t>KL-</a:t>
                </a:r>
                <a:r>
                  <a:rPr lang="ru-RU" dirty="0"/>
                  <a:t> расстояние между новой и старой политикой.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Используя метод разложения Лагранжа, это ограничение преобразуется в разность.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Поскольку мы не можем напрямую вычислить </a:t>
                </a:r>
                <a:r>
                  <a:rPr lang="en-GB" dirty="0"/>
                  <a:t>KL-</a:t>
                </a:r>
                <a:r>
                  <a:rPr lang="ru-RU" dirty="0"/>
                  <a:t>расстояние, используется разложение Тейлора в качестве аппроксимации для схемы обновления весов.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Для малых изменений параметров </a:t>
                </a:r>
                <a:r>
                  <a:rPr lang="en-GB" dirty="0"/>
                  <a:t>KL-</a:t>
                </a:r>
                <a:r>
                  <a:rPr lang="ru-RU" dirty="0"/>
                  <a:t> расстояние аппроксимируется с помощью информационной матрицы Фишера, для которой есть легко</a:t>
                </a:r>
                <a:r>
                  <a:rPr lang="en-US" dirty="0"/>
                  <a:t> </a:t>
                </a:r>
                <a:r>
                  <a:rPr lang="ru-RU" dirty="0"/>
                  <a:t>вычислимое выражение.</a:t>
                </a:r>
              </a:p>
              <a:p>
                <a:pPr>
                  <a:spcAft>
                    <a:spcPts val="600"/>
                  </a:spcAft>
                </a:pPr>
                <a:r>
                  <a:rPr lang="ru-RU" dirty="0"/>
                  <a:t>Вся аппроксимация является результатом, предполагающим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  <a:r>
                  <a:rPr lang="ru-RU" dirty="0"/>
                  <a:t>Таким образом, все обоснование справедливо только для небольших изменений политики.</a:t>
                </a: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1067824"/>
                <a:ext cx="8787947" cy="335075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3135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33203" y="1494027"/>
                <a:ext cx="8787947" cy="2760258"/>
              </a:xfrm>
            </p:spPr>
            <p:txBody>
              <a:bodyPr>
                <a:normAutofit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den>
                          </m:f>
                        </m:e>
                      </m:ra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1800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sz="1800" dirty="0"/>
              </a:p>
              <a:p>
                <a:pPr marL="133350" indent="0">
                  <a:buNone/>
                </a:pPr>
                <a:endParaRPr lang="en-RU" dirty="0"/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Градиент "корректируется" обратной матрицей Фишера, учитывающей чувствительность политики к локальным изменениям. Матрица Фишера учитывает Риманову кривизну.</a:t>
                </a:r>
              </a:p>
              <a:p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Размер скорости обучения имеет динамическое выражение, которое адаптируется к градиентам и обеспечивая изменение политики на величину </a:t>
                </a:r>
                <a14:m>
                  <m:oMath xmlns:m="http://schemas.openxmlformats.org/officeDocument/2006/math">
                    <m:r>
                      <a:rPr lang="en-US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l-GR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ru-RU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независимо от параметризации. </a:t>
                </a:r>
                <a:endParaRPr lang="en-RU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33203" y="1494027"/>
                <a:ext cx="8787947" cy="276025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476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Natural Policy Gradient (NPG)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09FF-C7FA-1947-ADD3-510F0E76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3203" y="1067823"/>
            <a:ext cx="8787947" cy="3676011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ru-RU" dirty="0"/>
              <a:t>Разложение Тейлора дает локальную аппроксимацию до второго порядка. В связи с этим оцениваемый гессиан может не быть положительно определенным. На практике естественные градиентные методы являются численно хрупкими и не всегда дают стабильные результаты. </a:t>
            </a:r>
          </a:p>
          <a:p>
            <a:pPr>
              <a:spcAft>
                <a:spcPts val="600"/>
              </a:spcAft>
            </a:pPr>
            <a:r>
              <a:rPr lang="ru-RU" dirty="0"/>
              <a:t>Информационная матрица Фишера занимает пространство |</a:t>
            </a:r>
            <a:r>
              <a:rPr lang="el-GR" dirty="0"/>
              <a:t>θ|⋅|θ|. </a:t>
            </a:r>
            <a:r>
              <a:rPr lang="ru-RU" dirty="0"/>
              <a:t>Рассмотрим нейронную сеть со 100 000 параметрами – можно ожидать, что 10-миллиардная матрица на ноутбуке не вычислится. Кроме того, вычисление обратной матрицы – операция сложности </a:t>
            </a:r>
            <a:r>
              <a:rPr lang="en-GB" dirty="0"/>
              <a:t>O(N³), </a:t>
            </a:r>
            <a:r>
              <a:rPr lang="ru-RU" dirty="0"/>
              <a:t>что довольно сложно для реальных задач. Таким образом, для глубоких методов </a:t>
            </a:r>
            <a:r>
              <a:rPr lang="en-US" dirty="0"/>
              <a:t>RL</a:t>
            </a:r>
            <a:r>
              <a:rPr lang="ru-RU" dirty="0"/>
              <a:t> </a:t>
            </a:r>
            <a:r>
              <a:rPr lang="en-US" dirty="0"/>
              <a:t>NPG </a:t>
            </a:r>
            <a:r>
              <a:rPr lang="ru-RU" dirty="0"/>
              <a:t>обычно выходят за пределы как памяти, так и вычислительных возможностей.</a:t>
            </a:r>
          </a:p>
          <a:p>
            <a:pPr>
              <a:spcAft>
                <a:spcPts val="600"/>
              </a:spcAft>
            </a:pPr>
            <a:r>
              <a:rPr lang="en-US" dirty="0"/>
              <a:t>NPG </a:t>
            </a:r>
            <a:r>
              <a:rPr lang="ru-RU" dirty="0"/>
              <a:t>не проверяет, действительно ли обновление</a:t>
            </a:r>
            <a:r>
              <a:rPr lang="en-US" dirty="0"/>
              <a:t> </a:t>
            </a:r>
            <a:r>
              <a:rPr lang="ru-RU" dirty="0"/>
              <a:t>весов дает улучшение политики, а дает оценку новой политики и направление изменения весов.</a:t>
            </a:r>
          </a:p>
        </p:txBody>
      </p:sp>
    </p:spTree>
    <p:extLst>
      <p:ext uri="{BB962C8B-B14F-4D97-AF65-F5344CB8AC3E}">
        <p14:creationId xmlns:p14="http://schemas.microsoft.com/office/powerpoint/2010/main" val="3217562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ED3FE-223E-9243-93D5-21DA67AAE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57FBD8-5AE3-3F4C-8D1D-F856061582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681" r="17351"/>
          <a:stretch/>
        </p:blipFill>
        <p:spPr>
          <a:xfrm>
            <a:off x="5265470" y="1426624"/>
            <a:ext cx="2761612" cy="3087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4C34ED-6733-E744-AF1C-CAD6BA386BC3}"/>
              </a:ext>
            </a:extLst>
          </p:cNvPr>
          <p:cNvSpPr txBox="1"/>
          <p:nvPr/>
        </p:nvSpPr>
        <p:spPr>
          <a:xfrm>
            <a:off x="500550" y="1614008"/>
            <a:ext cx="466673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каждом шаге мы оцениваем область «незначительного» изменения политики и для каждой области вычисляем оптимальное изменение политики.</a:t>
            </a:r>
          </a:p>
          <a:p>
            <a:endParaRPr lang="ru-RU" dirty="0"/>
          </a:p>
          <a:p>
            <a:r>
              <a:rPr lang="ru-RU" dirty="0"/>
              <a:t>Для вычисления области «незначительного» изменения политики нам все равно нужно вычислить расстояние </a:t>
            </a:r>
            <a:r>
              <a:rPr lang="ru-RU" dirty="0" err="1"/>
              <a:t>Куллбека-Лейбнера</a:t>
            </a:r>
            <a:r>
              <a:rPr lang="ru-RU" dirty="0"/>
              <a:t>, т.е. вычислять матрицу Фишера.</a:t>
            </a:r>
          </a:p>
          <a:p>
            <a:endParaRPr lang="ru-RU" dirty="0"/>
          </a:p>
          <a:p>
            <a:r>
              <a:rPr lang="ru-RU" dirty="0"/>
              <a:t>НО нам уже не нужно вычислять обратную к ней!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3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33350" indent="0">
                  <a:buNone/>
                </a:pPr>
                <a:r>
                  <a:rPr lang="ru-RU" dirty="0"/>
                  <a:t>Введем суррогатное преимущество:</a:t>
                </a:r>
                <a:endParaRPr lang="en-US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Ограничим ошибку аппроксимации суррогатного преимущества с помощью наихудшего </a:t>
                </a:r>
                <a:r>
                  <a:rPr lang="en-GB" dirty="0"/>
                  <a:t>KL-</a:t>
                </a:r>
                <a:r>
                  <a:rPr lang="ru-RU" dirty="0"/>
                  <a:t>расстояния между политиками до и после обновления:</a:t>
                </a:r>
                <a:endParaRPr lang="en-US" dirty="0"/>
              </a:p>
              <a:p>
                <a:pPr marL="133350" indent="0">
                  <a:buNone/>
                </a:pPr>
                <a:endParaRPr lang="en-RU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RU" dirty="0"/>
              </a:p>
              <a:p>
                <a:pPr marL="133350" indent="0">
                  <a:buNone/>
                </a:pPr>
                <a:endParaRPr lang="en-RU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9400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Trust Region Policy Optimization (TRPO)</a:t>
            </a:r>
            <a:r>
              <a:rPr lang="ru-RU" dirty="0">
                <a:solidFill>
                  <a:srgbClr val="000000"/>
                </a:solidFill>
                <a:latin typeface="Helvetica Neue" panose="02000503000000020004" pitchFamily="2" charset="0"/>
              </a:rPr>
              <a:t> - проблемы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909FF-C7FA-1947-ADD3-510F0E76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550" y="1426468"/>
            <a:ext cx="8520600" cy="3335775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все равно не справляется с большими матрицами Фишера, даже если их не нужно инвертировать. </a:t>
            </a:r>
          </a:p>
          <a:p>
            <a:pPr>
              <a:spcAft>
                <a:spcPts val="1200"/>
              </a:spcAft>
            </a:pPr>
            <a:r>
              <a:rPr lang="ru-RU" dirty="0"/>
              <a:t>Оптимизация второго порядка выполняется медленно - практическая реализация </a:t>
            </a:r>
            <a:r>
              <a:rPr lang="en-GB" dirty="0"/>
              <a:t>TRPO </a:t>
            </a:r>
            <a:r>
              <a:rPr lang="ru-RU" dirty="0"/>
              <a:t>основана на ограничениях и требует вычисления матрицы Фишера. </a:t>
            </a:r>
          </a:p>
          <a:p>
            <a:pPr>
              <a:spcAft>
                <a:spcPts val="1200"/>
              </a:spcAft>
            </a:pPr>
            <a:r>
              <a:rPr lang="ru-RU" dirty="0"/>
              <a:t>Мы не можем воспользоваться преимуществами стохастических градиентных оптимизаторов (первого порядка), таких как </a:t>
            </a:r>
            <a:r>
              <a:rPr lang="en-GB" dirty="0"/>
              <a:t>ADAM.</a:t>
            </a:r>
          </a:p>
          <a:p>
            <a:pPr>
              <a:spcAft>
                <a:spcPts val="1200"/>
              </a:spcAft>
            </a:pPr>
            <a:r>
              <a:rPr lang="en-GB" dirty="0"/>
              <a:t>TRPO </a:t>
            </a:r>
            <a:r>
              <a:rPr lang="ru-RU" dirty="0"/>
              <a:t>достаточно трудно объяснить, реализовать и отладить. Когда обучение не дает желаемых результатов, бывает сложно определить в чем проблема.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72337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Proximal Policy Optimization (PPO)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</p:spPr>
            <p:txBody>
              <a:bodyPr>
                <a:normAutofit fontScale="85000" lnSpcReduction="10000"/>
              </a:bodyPr>
              <a:lstStyle/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𝐾𝐿</m:t>
                                  </m:r>
                                </m:sub>
                                <m:sup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max</m:t>
                                      </m:r>
                                    </m:fName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</m:t>
                                      </m:r>
                                    </m:e>
                                  </m:func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RU" dirty="0"/>
                                <m:t> 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dirty="0"/>
              </a:p>
              <a:p>
                <a:pPr marL="133350" indent="0">
                  <a:buNone/>
                </a:pPr>
                <a:endParaRPr lang="ru-RU" dirty="0"/>
              </a:p>
              <a:p>
                <a:pPr marL="133350" indent="0">
                  <a:buNone/>
                </a:pPr>
                <a:r>
                  <a:rPr lang="ru-RU" dirty="0"/>
                  <a:t>Не будем вычислять теоретическое значение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. </a:t>
                </a:r>
                <a:r>
                  <a:rPr lang="ru-RU" dirty="0"/>
                  <a:t>Зададим "целевое расхождение”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ru-RU" dirty="0"/>
                  <a:t>, такое, чтобы наши обновления находились где-то в окрестности этого расхождения. 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Целевое расхождение должно быть достаточно большим, чтобы существенно изменить политику, но достаточно малым, чтобы обновления были стабильными.</a:t>
                </a:r>
              </a:p>
              <a:p>
                <a:pPr marL="133350" indent="0">
                  <a:buNone/>
                </a:pPr>
                <a:endParaRPr lang="en-US" dirty="0"/>
              </a:p>
              <a:p>
                <a:pPr marL="133350" indent="0">
                  <a:buNone/>
                </a:pPr>
                <a:r>
                  <a:rPr lang="ru-RU" dirty="0"/>
                  <a:t>После каждого обновления политики </a:t>
                </a:r>
                <a:r>
                  <a:rPr lang="en-GB" dirty="0"/>
                  <a:t>PPO </a:t>
                </a:r>
                <a:r>
                  <a:rPr lang="ru-RU" dirty="0"/>
                  <a:t>проверяет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 Если реализованное расхождение превышает целевое расхождение более чем на 1,5, то на следующей итерации мы устанавливаем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l-GR" dirty="0"/>
                  <a:t>. </a:t>
                </a:r>
                <a:r>
                  <a:rPr lang="ru-RU" dirty="0"/>
                  <a:t>В обратном случае, если обновления слишком малы, мы уменьшаем вдвое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dirty="0"/>
                  <a:t>.</a:t>
                </a:r>
                <a:endParaRPr lang="en-US" dirty="0"/>
              </a:p>
              <a:p>
                <a:pPr marL="13335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||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8909FF-C7FA-1947-ADD3-510F0E76F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00550" y="969632"/>
                <a:ext cx="8520600" cy="38732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686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Практика</a:t>
            </a:r>
            <a:endParaRPr dirty="0"/>
          </a:p>
        </p:txBody>
      </p:sp>
      <p:graphicFrame>
        <p:nvGraphicFramePr>
          <p:cNvPr id="390" name="Google Shape;390;p69"/>
          <p:cNvGraphicFramePr/>
          <p:nvPr>
            <p:extLst>
              <p:ext uri="{D42A27DB-BD31-4B8C-83A1-F6EECF244321}">
                <p14:modId xmlns:p14="http://schemas.microsoft.com/office/powerpoint/2010/main" val="3281724928"/>
              </p:ext>
            </p:extLst>
          </p:nvPr>
        </p:nvGraphicFramePr>
        <p:xfrm>
          <a:off x="952500" y="1372744"/>
          <a:ext cx="7239000" cy="698608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PPO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Посмотреть на применение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PPO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из фреймворка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StableBaseline3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882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500550" y="1197863"/>
            <a:ext cx="7742400" cy="28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3"/>
              </a:rPr>
              <a:t>PPO algorithm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en-US" sz="1300" dirty="0">
                <a:hlinkClick r:id="rId4"/>
              </a:rPr>
              <a:t>PPO from scratch with PyTorch</a:t>
            </a:r>
            <a:endParaRPr lang="ru-RU" sz="1300" dirty="0">
              <a:hlinkClick r:id="rId5"/>
            </a:endParaRPr>
          </a:p>
          <a:p>
            <a:pPr indent="-311150">
              <a:buSzPts val="1300"/>
              <a:buFont typeface="Roboto"/>
              <a:buAutoNum type="arabicPeriod"/>
            </a:pPr>
            <a:r>
              <a:rPr lang="en-GB" sz="1300" dirty="0">
                <a:hlinkClick r:id="rId5"/>
              </a:rPr>
              <a:t>Reinforcement Learning frameworks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6"/>
              </a:rPr>
              <a:t>Список ресурсов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 err="1">
                <a:hlinkClick r:id="rId7"/>
              </a:rPr>
              <a:t>Лю</a:t>
            </a:r>
            <a:r>
              <a:rPr lang="ru-RU" sz="1300" dirty="0">
                <a:hlinkClick r:id="rId7"/>
              </a:rPr>
              <a:t> Ю. (Х.) Обучение с подкреплением на </a:t>
            </a:r>
            <a:r>
              <a:rPr lang="en-GB" sz="1300" dirty="0" err="1">
                <a:hlinkClick r:id="rId7"/>
              </a:rPr>
              <a:t>PyTorch</a:t>
            </a:r>
            <a:r>
              <a:rPr lang="en-GB" sz="1300" dirty="0">
                <a:hlinkClick r:id="rId7"/>
              </a:rPr>
              <a:t>: </a:t>
            </a:r>
            <a:r>
              <a:rPr lang="ru-RU" sz="1300" dirty="0">
                <a:hlinkClick r:id="rId7"/>
              </a:rPr>
              <a:t>сборник рецептов / пер. с англ. А. А. </a:t>
            </a:r>
            <a:r>
              <a:rPr lang="ru-RU" sz="1300" dirty="0" err="1">
                <a:hlinkClick r:id="rId7"/>
              </a:rPr>
              <a:t>Слинкина</a:t>
            </a:r>
            <a:r>
              <a:rPr lang="ru-RU" sz="1300" dirty="0">
                <a:hlinkClick r:id="rId7"/>
              </a:rPr>
              <a:t>. – М.: ДМК Пресс, 2020. – 282 с. 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8"/>
              </a:rPr>
              <a:t>Недостатки/неудачи обучения с подкреплением</a:t>
            </a:r>
            <a:endParaRPr lang="en-US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9"/>
              </a:rPr>
              <a:t>Обзор алгоритмов и их недостатков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dirty="0">
                <a:hlinkClick r:id="rId10"/>
              </a:rPr>
              <a:t>Особенности основных алгоритмов</a:t>
            </a:r>
            <a:endParaRPr lang="ru-RU" sz="1300" dirty="0"/>
          </a:p>
          <a:p>
            <a:pPr indent="-311150">
              <a:buSzPts val="1300"/>
              <a:buFont typeface="Roboto"/>
              <a:buAutoNum type="arabicPeriod"/>
            </a:pPr>
            <a:r>
              <a:rPr lang="ru-RU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Эволюционные стратегии в </a:t>
            </a:r>
            <a:r>
              <a:rPr lang="en-US" sz="1300" b="0" i="0" u="none" strike="noStrike" dirty="0">
                <a:solidFill>
                  <a:srgbClr val="333333"/>
                </a:solidFill>
                <a:effectLst/>
                <a:latin typeface=""/>
                <a:hlinkClick r:id="rId11"/>
              </a:rPr>
              <a:t>RL</a:t>
            </a:r>
            <a:endParaRPr lang="ru-RU" sz="1300" b="0" i="0" u="none" strike="noStrike" dirty="0">
              <a:solidFill>
                <a:srgbClr val="333333"/>
              </a:solidFill>
              <a:effectLst/>
              <a:latin typeface="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Вопросы?</a:t>
            </a:r>
            <a:endParaRPr/>
          </a:p>
        </p:txBody>
      </p:sp>
      <p:pic>
        <p:nvPicPr>
          <p:cNvPr id="415" name="Google Shape;415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72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2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3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Рефлексия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graphicFrame>
        <p:nvGraphicFramePr>
          <p:cNvPr id="4" name="Google Shape;283;p53">
            <a:extLst>
              <a:ext uri="{FF2B5EF4-FFF2-40B4-BE49-F238E27FC236}">
                <a16:creationId xmlns:a16="http://schemas.microsoft.com/office/drawing/2014/main" id="{ECEBC3A4-A555-6E44-9473-DACD213985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7702888"/>
              </p:ext>
            </p:extLst>
          </p:nvPr>
        </p:nvGraphicFramePr>
        <p:xfrm>
          <a:off x="952500" y="1544194"/>
          <a:ext cx="7239000" cy="2095824"/>
        </p:xfrm>
        <a:graphic>
          <a:graphicData uri="http://schemas.openxmlformats.org/drawingml/2006/table">
            <a:tbl>
              <a:tblPr>
                <a:noFill/>
                <a:tableStyleId>{B623574C-9AE7-4070-A081-93A97D88BCA6}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Понимать пути улучшения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Policy Gradient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сложности прямого вычисления расстояния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Куллбека-Лейбнера</a:t>
                      </a:r>
                      <a:endParaRPr lang="en-GB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85982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Trust Region Policy Optimization (TRPO) 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Понять схему алгоритма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Proximal Policy Optimization (PPO)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алгоритм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Proximal Policy Optimization 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коде на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Python 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31875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Сравнить собственную реализацию с работой фреймворка 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StableBaselain3</a:t>
                      </a: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5483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089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800"/>
              <a:t>Заполните, пожалуйста,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опрос о занятии</a:t>
            </a:r>
            <a:endParaRPr sz="3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800"/>
              <a:t>по ссылке в чате</a:t>
            </a:r>
            <a:endParaRPr sz="3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"/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7223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ru" dirty="0"/>
              <a:t>ледующие вебинары</a:t>
            </a:r>
            <a:endParaRPr dirty="0"/>
          </a:p>
        </p:txBody>
      </p:sp>
      <p:sp>
        <p:nvSpPr>
          <p:cNvPr id="481" name="Google Shape;481;p80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482" name="Google Shape;482;p80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80"/>
          <p:cNvSpPr txBox="1">
            <a:spLocks noGrp="1"/>
          </p:cNvSpPr>
          <p:nvPr>
            <p:ph type="subTitle" idx="2"/>
          </p:nvPr>
        </p:nvSpPr>
        <p:spPr>
          <a:xfrm>
            <a:off x="3082400" y="2278050"/>
            <a:ext cx="38646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AEC2E5-09F0-AC4E-AED3-1C0F260DE54D}"/>
              </a:ext>
            </a:extLst>
          </p:cNvPr>
          <p:cNvSpPr txBox="1"/>
          <p:nvPr/>
        </p:nvSpPr>
        <p:spPr>
          <a:xfrm>
            <a:off x="500550" y="1575703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</a:rPr>
              <a:t>06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.</a:t>
            </a:r>
            <a:r>
              <a:rPr lang="en-US" dirty="0">
                <a:solidFill>
                  <a:srgbClr val="1F1F1F"/>
                </a:solidFill>
                <a:latin typeface="Google Sans"/>
              </a:rPr>
              <a:t>11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–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DDPG -&gt; TD3 -&gt; LSTM-TD3</a:t>
            </a:r>
            <a:endParaRPr lang="ru-RU" b="0" i="0" u="none" strike="noStrike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652E98-0825-2C4A-8FA1-9407F8F769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6CFEE46E-EA9B-C94C-9903-26FD34892981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15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 в НИИ ПАО Газпром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4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11201</TotalTime>
  <Words>1576</Words>
  <Application>Microsoft Macintosh PowerPoint</Application>
  <PresentationFormat>On-screen Show (16:9)</PresentationFormat>
  <Paragraphs>231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AkayaTelivigala</vt:lpstr>
      <vt:lpstr>Google Sans</vt:lpstr>
      <vt:lpstr>Helvetica Neue</vt:lpstr>
      <vt:lpstr>Bradley Hand</vt:lpstr>
      <vt:lpstr>Roboto</vt:lpstr>
      <vt:lpstr>Cambria Math</vt:lpstr>
      <vt:lpstr>Arial</vt:lpstr>
      <vt:lpstr>-webkit-standard</vt:lpstr>
      <vt:lpstr>Светлая тема</vt:lpstr>
      <vt:lpstr>Reinforcement learning Proximal Policy Optimization </vt:lpstr>
      <vt:lpstr>Проверить, идет ли запись</vt:lpstr>
      <vt:lpstr>Правила вебинара</vt:lpstr>
      <vt:lpstr>Reinforcement learning Proximal Policy Optimization </vt:lpstr>
      <vt:lpstr>Карта курса</vt:lpstr>
      <vt:lpstr>Программа курса</vt:lpstr>
      <vt:lpstr>Маршрут вебинара</vt:lpstr>
      <vt:lpstr>Цели вебинара</vt:lpstr>
      <vt:lpstr>Смысл</vt:lpstr>
      <vt:lpstr>Алгоритм PPO  PG -&gt; NPG -&gt; TRPO -&gt; PPO</vt:lpstr>
      <vt:lpstr>Модели</vt:lpstr>
      <vt:lpstr>Policy Gradient (PG)</vt:lpstr>
      <vt:lpstr>Policy Gradient (PG) - проблемы</vt:lpstr>
      <vt:lpstr>Шаг изменения политики</vt:lpstr>
      <vt:lpstr>Natural Policy Gradient (NPG)</vt:lpstr>
      <vt:lpstr>Natural Policy Gradient (NPG) - ограничения</vt:lpstr>
      <vt:lpstr>Natural Policy Gradient (NPG)</vt:lpstr>
      <vt:lpstr>Natural Policy Gradient (NPG) - проблемы</vt:lpstr>
      <vt:lpstr>Trust Region Policy Optimization (TRPO)</vt:lpstr>
      <vt:lpstr>Trust Region Policy Optimization (TRPO)</vt:lpstr>
      <vt:lpstr>Trust Region Policy Optimization (TRPO) - проблемы</vt:lpstr>
      <vt:lpstr>Proximal Policy Optimization (PPO) </vt:lpstr>
      <vt:lpstr>Практика</vt:lpstr>
      <vt:lpstr>Практика</vt:lpstr>
      <vt:lpstr>Список материалов для изучения</vt:lpstr>
      <vt:lpstr>Вопросы?</vt:lpstr>
      <vt:lpstr>Рефлексия</vt:lpstr>
      <vt:lpstr>Цели вебинара</vt:lpstr>
      <vt:lpstr>Заполните, пожалуйста, опрос о занятии по ссылке в чате</vt:lpstr>
      <vt:lpstr>Cледующие вебинары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 название темы вебинара </dc:title>
  <cp:lastModifiedBy>Стурейко Игорь Олегович</cp:lastModifiedBy>
  <cp:revision>91</cp:revision>
  <dcterms:modified xsi:type="dcterms:W3CDTF">2024-11-02T09:51:56Z</dcterms:modified>
</cp:coreProperties>
</file>