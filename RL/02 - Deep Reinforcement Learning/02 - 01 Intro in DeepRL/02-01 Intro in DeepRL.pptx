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35"/>
  </p:notesMasterIdLst>
  <p:sldIdLst>
    <p:sldId id="256" r:id="rId3"/>
    <p:sldId id="257" r:id="rId4"/>
    <p:sldId id="259" r:id="rId5"/>
    <p:sldId id="325" r:id="rId6"/>
    <p:sldId id="268" r:id="rId7"/>
    <p:sldId id="373" r:id="rId8"/>
    <p:sldId id="262" r:id="rId9"/>
    <p:sldId id="263" r:id="rId10"/>
    <p:sldId id="264" r:id="rId11"/>
    <p:sldId id="311" r:id="rId12"/>
    <p:sldId id="267" r:id="rId13"/>
    <p:sldId id="266" r:id="rId14"/>
    <p:sldId id="330" r:id="rId15"/>
    <p:sldId id="380" r:id="rId16"/>
    <p:sldId id="388" r:id="rId17"/>
    <p:sldId id="397" r:id="rId18"/>
    <p:sldId id="390" r:id="rId19"/>
    <p:sldId id="313" r:id="rId20"/>
    <p:sldId id="389" r:id="rId21"/>
    <p:sldId id="398" r:id="rId22"/>
    <p:sldId id="379" r:id="rId23"/>
    <p:sldId id="381" r:id="rId24"/>
    <p:sldId id="391" r:id="rId25"/>
    <p:sldId id="394" r:id="rId26"/>
    <p:sldId id="392" r:id="rId27"/>
    <p:sldId id="395" r:id="rId28"/>
    <p:sldId id="396" r:id="rId29"/>
    <p:sldId id="278" r:id="rId30"/>
    <p:sldId id="279" r:id="rId31"/>
    <p:sldId id="282" r:id="rId32"/>
    <p:sldId id="289" r:id="rId33"/>
    <p:sldId id="337" r:id="rId34"/>
  </p:sldIdLst>
  <p:sldSz cx="9144000" cy="5143500" type="screen16x9"/>
  <p:notesSz cx="6858000" cy="9144000"/>
  <p:embeddedFontLst>
    <p:embeddedFont>
      <p:font typeface="AkayaTelivigala" pitchFamily="2" charset="77"/>
      <p:regular r:id="rId36"/>
    </p:embeddedFont>
    <p:embeddedFont>
      <p:font typeface="Cambria Math" panose="02040503050406030204" pitchFamily="18" charset="0"/>
      <p:regular r:id="rId37"/>
    </p:embeddedFont>
    <p:embeddedFont>
      <p:font typeface="Helvetica Neue" panose="02000503000000020004" pitchFamily="2" charset="0"/>
      <p:regular r:id="rId38"/>
      <p:bold r:id="rId39"/>
      <p:italic r:id="rId40"/>
      <p:boldItalic r:id="rId41"/>
    </p:embeddedFont>
    <p:embeddedFont>
      <p:font typeface="Roboto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344"/>
    <p:restoredTop sz="97146"/>
  </p:normalViewPr>
  <p:slideViewPr>
    <p:cSldViewPr snapToGrid="0">
      <p:cViewPr varScale="1">
        <p:scale>
          <a:sx n="297" d="100"/>
          <a:sy n="297" d="100"/>
        </p:scale>
        <p:origin x="1160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4.fntdata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7.fntdata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1.fntdata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9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font" Target="fonts/font3.fntdata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2560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1015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79782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6579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02745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396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87345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3564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1971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9242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6656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29272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6" r:id="rId9"/>
    <p:sldLayoutId id="2147483687" r:id="rId10"/>
    <p:sldLayoutId id="2147483688" r:id="rId11"/>
    <p:sldLayoutId id="214748368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dirty="0"/>
              <a:t>Введение в </a:t>
            </a:r>
            <a:r>
              <a:rPr lang="en-US" sz="3600" dirty="0" err="1"/>
              <a:t>DeepRL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learning.</a:t>
            </a:r>
            <a:br>
              <a:rPr lang="en-US" dirty="0"/>
            </a:br>
            <a:r>
              <a:rPr lang="ru-RU" dirty="0"/>
              <a:t>Введение в </a:t>
            </a:r>
            <a:r>
              <a:rPr lang="en-US" dirty="0" err="1"/>
              <a:t>DeepRL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5B6C0B-391F-E646-B875-92F9CA29F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C68FB238-F925-CA4B-8568-161F57E8F14B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Q-Network (DQN)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Policy Gradient (PG)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Actor-Critic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03375"/>
              </p:ext>
            </p:extLst>
          </p:nvPr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9615838B-B804-D045-AE27-2457EFCC8969}"/>
              </a:ext>
            </a:extLst>
          </p:cNvPr>
          <p:cNvSpPr/>
          <p:nvPr/>
        </p:nvSpPr>
        <p:spPr>
          <a:xfrm>
            <a:off x="2226713" y="401485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TRPO -&gt; PPO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5" name="Google Shape;271;p44">
            <a:extLst>
              <a:ext uri="{FF2B5EF4-FFF2-40B4-BE49-F238E27FC236}">
                <a16:creationId xmlns:a16="http://schemas.microsoft.com/office/drawing/2014/main" id="{5D7505C2-4B5E-6840-BEA8-8DDB58E03DF7}"/>
              </a:ext>
            </a:extLst>
          </p:cNvPr>
          <p:cNvSpPr/>
          <p:nvPr/>
        </p:nvSpPr>
        <p:spPr>
          <a:xfrm>
            <a:off x="2226712" y="4547635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DDPG -&gt; TD3 -&gt; LSTM-TD3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18D73E8C-7771-1D48-9CFA-BC014891DFED}"/>
              </a:ext>
            </a:extLst>
          </p:cNvPr>
          <p:cNvCxnSpPr>
            <a:cxnSpLocks/>
            <a:stCxn id="271" idx="2"/>
            <a:endCxn id="35" idx="1"/>
          </p:cNvCxnSpPr>
          <p:nvPr/>
        </p:nvCxnSpPr>
        <p:spPr>
          <a:xfrm rot="16200000" flipH="1">
            <a:off x="485790" y="3004713"/>
            <a:ext cx="3061916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786A569-B463-5A4C-8BA8-42624F9DE98D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52181" y="2738321"/>
            <a:ext cx="252913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02642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6523" y="242784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Проблемы классического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RL</a:t>
            </a:r>
          </a:p>
        </p:txBody>
      </p:sp>
      <p:sp>
        <p:nvSpPr>
          <p:cNvPr id="270" name="Google Shape;270;p52"/>
          <p:cNvSpPr/>
          <p:nvPr/>
        </p:nvSpPr>
        <p:spPr>
          <a:xfrm>
            <a:off x="786523" y="298390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Идея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RL</a:t>
            </a:r>
          </a:p>
        </p:txBody>
      </p:sp>
      <p:sp>
        <p:nvSpPr>
          <p:cNvPr id="271" name="Google Shape;271;p52"/>
          <p:cNvSpPr/>
          <p:nvPr/>
        </p:nvSpPr>
        <p:spPr>
          <a:xfrm>
            <a:off x="786522" y="353997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Deep Cross-Entropy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99825" y="409603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Заключение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13" idx="1"/>
          </p:cNvCxnSpPr>
          <p:nvPr/>
        </p:nvCxnSpPr>
        <p:spPr>
          <a:xfrm rot="10800000" flipV="1">
            <a:off x="786523" y="1393624"/>
            <a:ext cx="2" cy="611159"/>
          </a:xfrm>
          <a:prstGeom prst="curvedConnector3">
            <a:avLst>
              <a:gd name="adj1" fmla="val 11430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6523" y="2615943"/>
            <a:ext cx="12700" cy="556064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stCxn id="270" idx="1"/>
            <a:endCxn id="271" idx="1"/>
          </p:cNvCxnSpPr>
          <p:nvPr/>
        </p:nvCxnSpPr>
        <p:spPr>
          <a:xfrm rot="10800000" flipV="1">
            <a:off x="786523" y="3172007"/>
            <a:ext cx="1" cy="556064"/>
          </a:xfrm>
          <a:prstGeom prst="curvedConnector3">
            <a:avLst>
              <a:gd name="adj1" fmla="val 22860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7" name="Google Shape;277;p52"/>
          <p:cNvCxnSpPr>
            <a:stCxn id="271" idx="1"/>
            <a:endCxn id="272" idx="1"/>
          </p:cNvCxnSpPr>
          <p:nvPr/>
        </p:nvCxnSpPr>
        <p:spPr>
          <a:xfrm rot="10800000" flipH="1" flipV="1">
            <a:off x="786521" y="3728070"/>
            <a:ext cx="13303" cy="556063"/>
          </a:xfrm>
          <a:prstGeom prst="curvedConnector3">
            <a:avLst>
              <a:gd name="adj1" fmla="val -1718409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13" name="Google Shape;269;p52">
            <a:extLst>
              <a:ext uri="{FF2B5EF4-FFF2-40B4-BE49-F238E27FC236}">
                <a16:creationId xmlns:a16="http://schemas.microsoft.com/office/drawing/2014/main" id="{17CDD7DE-B110-D043-B8F6-0740A4F83DF7}"/>
              </a:ext>
            </a:extLst>
          </p:cNvPr>
          <p:cNvSpPr/>
          <p:nvPr/>
        </p:nvSpPr>
        <p:spPr>
          <a:xfrm>
            <a:off x="786523" y="1761589"/>
            <a:ext cx="3384900" cy="48639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Применение классического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RL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непрерывных средах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" name="Google Shape;274;p52">
            <a:extLst>
              <a:ext uri="{FF2B5EF4-FFF2-40B4-BE49-F238E27FC236}">
                <a16:creationId xmlns:a16="http://schemas.microsoft.com/office/drawing/2014/main" id="{E3A43FEA-1F5C-0C4D-B5CA-6A4C747B8F12}"/>
              </a:ext>
            </a:extLst>
          </p:cNvPr>
          <p:cNvCxnSpPr>
            <a:cxnSpLocks/>
            <a:stCxn id="13" idx="1"/>
            <a:endCxn id="269" idx="1"/>
          </p:cNvCxnSpPr>
          <p:nvPr/>
        </p:nvCxnSpPr>
        <p:spPr>
          <a:xfrm rot="10800000" flipV="1">
            <a:off x="786523" y="2004783"/>
            <a:ext cx="12700" cy="61115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231DE6E-5CC6-D646-9F32-475C2739CD93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494AA284-31F3-8940-BFCC-5545D14E5D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08290AA-E176-7943-9CDB-8BFCF24AAB89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7F7BC5A-415E-BA4B-8013-B5F9E8D2C06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4EE2359-F561-1E4C-911F-5454C66776FA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91;p54">
            <a:extLst>
              <a:ext uri="{FF2B5EF4-FFF2-40B4-BE49-F238E27FC236}">
                <a16:creationId xmlns:a16="http://schemas.microsoft.com/office/drawing/2014/main" id="{E2B54366-1866-A24B-BD49-C56A5B5866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7127137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сложности применения классических алгоритмов к непрерывным средам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подход к применению нейросети для предсказания политики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применение нейросети в алгоритме кросс-энтропии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347217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1856571405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границы применимости классических алгоритмов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переход к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Deep Reinforcement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Постановка задачи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Markov Property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/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blipFill>
                <a:blip r:embed="rId3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100"/>
                  <a:buFont typeface="Roboto"/>
                  <a:buNone/>
                  <a:defRPr sz="3100" b="1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n-US" dirty="0"/>
                  <a:t>Markov Decision Process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𝒫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ℛ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𝜸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blipFill>
                <a:blip r:embed="rId4"/>
                <a:stretch>
                  <a:fillRect l="-1786" t="-4545" b="-45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/>
              <p:nvPr/>
            </p:nvSpPr>
            <p:spPr>
              <a:xfrm>
                <a:off x="590108" y="2243186"/>
                <a:ext cx="5785978" cy="2342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infinite </a:t>
                </a:r>
                <a:r>
                  <a:rPr 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(|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d>
                      <m:dPr>
                        <m:begChr m:val="|"/>
                        <m:ctrlP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state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a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finite/infinite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(|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6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|=</a:t>
                </a:r>
                <a:r>
                  <a:rPr lang="en-US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 action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known</a:t>
                </a:r>
                <a:r>
                  <a:rPr lang="ru-RU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b="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deterministic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transition probability function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6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600" dirty="0"/>
                  <a:t>=</a:t>
                </a:r>
                <a:r>
                  <a:rPr lang="el-G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ℙ</m:t>
                    </m:r>
                    <m:d>
                      <m:dPr>
                        <m:begChr m:val="["/>
                        <m:endChr m:val="]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–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is a deterministic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initial state probability function</a:t>
                </a: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</a:t>
                </a:r>
                <a:r>
                  <a:rPr lang="en-US" sz="16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 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reward function</a:t>
                </a:r>
              </a:p>
              <a:p>
                <a:pPr algn="ctr"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⇔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g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[0, 1]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 a discount coefficient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8" y="2243186"/>
                <a:ext cx="5785978" cy="2342244"/>
              </a:xfrm>
              <a:prstGeom prst="rect">
                <a:avLst/>
              </a:prstGeom>
              <a:blipFill>
                <a:blip r:embed="rId5"/>
                <a:stretch>
                  <a:fillRect l="-1969" t="-1622" b="-4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Применение классического </a:t>
            </a:r>
            <a:r>
              <a:rPr lang="en-US" sz="4900" dirty="0"/>
              <a:t>RL</a:t>
            </a:r>
            <a:br>
              <a:rPr lang="en-US" sz="4900" dirty="0"/>
            </a:br>
            <a:r>
              <a:rPr lang="ru-RU" sz="4900" dirty="0"/>
              <a:t>в непрерывной среде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29070"/>
              </p:ext>
            </p:extLst>
          </p:nvPr>
        </p:nvGraphicFramePr>
        <p:xfrm>
          <a:off x="417726" y="2676170"/>
          <a:ext cx="8229184" cy="146304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Discrete(2)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Box(</a:t>
                      </a:r>
                    </a:p>
                    <a:p>
                      <a:r>
                        <a:rPr lang="en-US" dirty="0">
                          <a:effectLst/>
                        </a:rPr>
                        <a:t>[-4.8000002e+00 -3.4028235e+38 -4.1887903e-01 -3.4028235e+38], [4.8000002e+00 3.4028235e+38 4.1887903e-01 3.4028235e+38], </a:t>
                      </a:r>
                    </a:p>
                    <a:p>
                      <a:r>
                        <a:rPr lang="en-US" dirty="0">
                          <a:effectLst/>
                        </a:rPr>
                        <a:t>(4,), </a:t>
                      </a:r>
                    </a:p>
                    <a:p>
                      <a:r>
                        <a:rPr lang="en-US" dirty="0">
                          <a:effectLst/>
                        </a:rPr>
                        <a:t>float32)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7E440A9-8F18-D44E-A9D6-30E7873B2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318" y="246200"/>
            <a:ext cx="381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226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SARSA and Q-learning</a:t>
            </a:r>
            <a:endParaRPr dirty="0"/>
          </a:p>
        </p:txBody>
      </p:sp>
      <p:sp>
        <p:nvSpPr>
          <p:cNvPr id="7" name="Google Shape;311;p57">
            <a:extLst>
              <a:ext uri="{FF2B5EF4-FFF2-40B4-BE49-F238E27FC236}">
                <a16:creationId xmlns:a16="http://schemas.microsoft.com/office/drawing/2014/main" id="{8A36D44E-7C6A-5342-A463-32C67AE55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238" y="1192019"/>
            <a:ext cx="8801144" cy="37236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Устанавливаем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𝑄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𝑎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)=0,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𝐾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&gt;0,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=1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.</a:t>
            </a:r>
          </a:p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Для каждого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𝑘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∈1,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𝐾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:</a:t>
            </a:r>
          </a:p>
          <a:p>
            <a:pPr marL="590550" lvl="1" indent="0">
              <a:buNone/>
            </a:pP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двигаясь по текущей траектории из </a:t>
            </a:r>
            <a:r>
              <a:rPr lang="ru-RU" sz="1400" dirty="0">
                <a:solidFill>
                  <a:srgbClr val="000000"/>
                </a:solidFill>
                <a:latin typeface="Helvetica Neue" panose="02000503000000020004" pitchFamily="2" charset="0"/>
              </a:rPr>
              <a:t>состояния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действуя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𝐴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в силу политики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(⋅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Variants"/>
              </a:rPr>
              <a:t>|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, и обновляя политику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−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𝑔𝑟𝑒𝑒𝑑𝑦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𝑄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получаем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𝑅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и переходим в состояние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 </a:t>
            </a:r>
            <a:r>
              <a:rPr lang="en-GB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c 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действием 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𝐴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∼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𝜋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(⋅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Variants"/>
              </a:rPr>
              <a:t>|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𝑆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Normal-italic"/>
              </a:rPr>
              <a:t>𝑡</a:t>
            </a:r>
            <a:r>
              <a:rPr lang="ru-RU" sz="1400" b="0" i="0" u="none" strike="noStrike" baseline="-25000" dirty="0">
                <a:solidFill>
                  <a:srgbClr val="000000"/>
                </a:solidFill>
                <a:effectLst/>
                <a:latin typeface="STIXMathJax_Main"/>
              </a:rPr>
              <a:t>+1</a:t>
            </a:r>
            <a:r>
              <a:rPr lang="ru-RU" sz="14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)</a:t>
            </a:r>
            <a:endParaRPr lang="en-US" sz="1400" b="0" i="0" u="none" strike="noStrike" dirty="0">
              <a:solidFill>
                <a:srgbClr val="000000"/>
              </a:solidFill>
              <a:effectLst/>
              <a:latin typeface="STIXMathJax_Main"/>
            </a:endParaRPr>
          </a:p>
          <a:p>
            <a:pPr marL="457200" lvl="1" indent="-323850">
              <a:buSzPts val="1500"/>
              <a:buFont typeface="Roboto"/>
              <a:buChar char="●"/>
            </a:pPr>
            <a:r>
              <a:rPr lang="ru-RU" sz="1600" dirty="0">
                <a:solidFill>
                  <a:srgbClr val="000000"/>
                </a:solidFill>
                <a:latin typeface="Helvetica Neue" panose="02000503000000020004" pitchFamily="2" charset="0"/>
              </a:rPr>
              <a:t>Обновляем 𝑄: </a:t>
            </a:r>
          </a:p>
          <a:p>
            <a:endParaRPr lang="en-US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endParaRPr lang="en-US" sz="1600" dirty="0">
              <a:solidFill>
                <a:srgbClr val="000000"/>
              </a:solidFill>
              <a:latin typeface="Helvetica Neue" panose="02000503000000020004" pitchFamily="2" charset="0"/>
            </a:endParaRPr>
          </a:p>
          <a:p>
            <a:endParaRPr lang="en-US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endParaRPr lang="ru-RU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  <a:p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Helvetica Neue" panose="02000503000000020004" pitchFamily="2" charset="0"/>
              </a:rPr>
              <a:t>Обновляем 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𝜀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Main"/>
              </a:rPr>
              <a:t>=1/</a:t>
            </a:r>
            <a:r>
              <a:rPr lang="ru-RU" sz="1600" b="0" i="0" u="none" strike="noStrike" dirty="0">
                <a:solidFill>
                  <a:srgbClr val="000000"/>
                </a:solidFill>
                <a:effectLst/>
                <a:latin typeface="STIXMathJax_Normal-italic"/>
              </a:rPr>
              <a:t>𝑘</a:t>
            </a:r>
            <a:endParaRPr lang="ru-RU" sz="1600" b="0" i="0" u="none" strike="noStrike" dirty="0">
              <a:solidFill>
                <a:srgbClr val="000000"/>
              </a:solidFill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E15B193F-62F1-F44B-85D9-383DC45B3E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8226221"/>
                  </p:ext>
                </p:extLst>
              </p:nvPr>
            </p:nvGraphicFramePr>
            <p:xfrm>
              <a:off x="717647" y="3219418"/>
              <a:ext cx="8086406" cy="994918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043203">
                      <a:extLst>
                        <a:ext uri="{9D8B030D-6E8A-4147-A177-3AD203B41FA5}">
                          <a16:colId xmlns:a16="http://schemas.microsoft.com/office/drawing/2014/main" val="1307011111"/>
                        </a:ext>
                      </a:extLst>
                    </a:gridCol>
                    <a:gridCol w="4043203">
                      <a:extLst>
                        <a:ext uri="{9D8B030D-6E8A-4147-A177-3AD203B41FA5}">
                          <a16:colId xmlns:a16="http://schemas.microsoft.com/office/drawing/2014/main" val="30655878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Q-learning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SARSA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87692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40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a:t> 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func>
                                      <m:func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40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  <m:d>
                                          <m:d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𝑆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,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400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4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b="0" i="1" u="none" strike="noStrike" smtClean="0">
                                            <a:solidFill>
                                              <a:srgbClr val="00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←</m:t>
                                </m:r>
                                <m:r>
                                  <a:rPr lang="en-US" sz="1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4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oMath>
                            </m:oMathPara>
                          </a14:m>
                          <a:endParaRPr lang="en-US" sz="1400" b="0" i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endParaRP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d>
                                  <m:dPr>
                                    <m:ctrlP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14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sz="14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d>
                                      <m:dPr>
                                        <m:ctrlP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  <m:r>
                                          <a:rPr lang="en-US" sz="1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4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b>
                                            <m:r>
                                              <a:rPr lang="en-US" sz="1400" b="0" i="1" smtClean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0051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2">
                <a:extLst>
                  <a:ext uri="{FF2B5EF4-FFF2-40B4-BE49-F238E27FC236}">
                    <a16:creationId xmlns:a16="http://schemas.microsoft.com/office/drawing/2014/main" id="{E15B193F-62F1-F44B-85D9-383DC45B3E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8226221"/>
                  </p:ext>
                </p:extLst>
              </p:nvPr>
            </p:nvGraphicFramePr>
            <p:xfrm>
              <a:off x="717647" y="3219418"/>
              <a:ext cx="8086406" cy="994918"/>
            </p:xfrm>
            <a:graphic>
              <a:graphicData uri="http://schemas.openxmlformats.org/drawingml/2006/table">
                <a:tbl>
                  <a:tblPr firstRow="1" bandRow="1">
                    <a:tableStyleId>{B623574C-9AE7-4070-A081-93A97D88BCA6}</a:tableStyleId>
                  </a:tblPr>
                  <a:tblGrid>
                    <a:gridCol w="4043203">
                      <a:extLst>
                        <a:ext uri="{9D8B030D-6E8A-4147-A177-3AD203B41FA5}">
                          <a16:colId xmlns:a16="http://schemas.microsoft.com/office/drawing/2014/main" val="1307011111"/>
                        </a:ext>
                      </a:extLst>
                    </a:gridCol>
                    <a:gridCol w="4043203">
                      <a:extLst>
                        <a:ext uri="{9D8B030D-6E8A-4147-A177-3AD203B41FA5}">
                          <a16:colId xmlns:a16="http://schemas.microsoft.com/office/drawing/2014/main" val="306558789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Q-learning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SARSA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48769220"/>
                      </a:ext>
                    </a:extLst>
                  </a:tr>
                  <a:tr h="624078"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3"/>
                          <a:stretch>
                            <a:fillRect l="-313" t="-60000" r="-100313" b="-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TR"/>
                        </a:p>
                      </a:txBody>
                      <a:tcPr>
                        <a:blipFill>
                          <a:blip r:embed="rId3"/>
                          <a:stretch>
                            <a:fillRect l="-100313" t="-60000" r="-313" b="-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0518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38772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дискретизация среды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00550" y="1128558"/>
                <a:ext cx="8373832" cy="2588319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Разделим пространство состояний на дискретные интервалы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.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Тогда размер 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q-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таблицы в памяти будет следующий:</a:t>
                </a:r>
              </a:p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10 интервалов =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⋅2⋅32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bit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=0.6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, 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20.000</a:t>
                </a:r>
                <a:r>
                  <a:rPr lang="ru-RU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q-table</a:t>
                </a: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20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⋅2⋅32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bit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=9.77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320.000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</a:p>
              <a:p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50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⋅2⋅32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bit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=381,74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, </a:t>
                </a:r>
                <a:r>
                  <a:rPr lang="en-TR" dirty="0"/>
                  <a:t>12.500.000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  <a:endParaRPr lang="en-US" sz="1600" b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100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интервалов =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ru-RU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⋅2⋅32</m:t>
                        </m:r>
                        <m:r>
                          <m:rPr>
                            <m:sty m:val="p"/>
                          </m:rPr>
                          <a:rPr lang="en-US" sz="16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bit</m:t>
                        </m:r>
                      </m:num>
                      <m:den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1024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=6.1 </m:t>
                    </m:r>
                    <m:r>
                      <m:rPr>
                        <m:sty m:val="p"/>
                      </m:rPr>
                      <a:rPr 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Gb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, </a:t>
                </a:r>
                <a:r>
                  <a:rPr lang="en-TR" dirty="0"/>
                  <a:t>200.000.000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состояний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q-table</a:t>
                </a:r>
              </a:p>
              <a:p>
                <a:endParaRPr lang="en-US" sz="1600" b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Когда мы рассматривали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Taxi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там было 500 состояний.</a:t>
                </a:r>
                <a:endParaRPr lang="en-US" sz="1600" b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128558"/>
                <a:ext cx="8373832" cy="2588319"/>
              </a:xfrm>
              <a:prstGeom prst="rect">
                <a:avLst/>
              </a:prstGeom>
              <a:blipFill>
                <a:blip r:embed="rId3"/>
                <a:stretch>
                  <a:fillRect b="-331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384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дискретизация среды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417E8B-E379-374D-A6E1-B631EE8E3BB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793"/>
          <a:stretch/>
        </p:blipFill>
        <p:spPr>
          <a:xfrm>
            <a:off x="442029" y="1104643"/>
            <a:ext cx="5842000" cy="39524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275051-B71F-604D-A553-2E3374D24283}"/>
              </a:ext>
            </a:extLst>
          </p:cNvPr>
          <p:cNvSpPr txBox="1"/>
          <p:nvPr/>
        </p:nvSpPr>
        <p:spPr>
          <a:xfrm>
            <a:off x="5952805" y="1426624"/>
            <a:ext cx="2347117" cy="13181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/>
              <a:t>n = 20</a:t>
            </a:r>
          </a:p>
          <a:p>
            <a:pPr>
              <a:lnSpc>
                <a:spcPct val="200000"/>
              </a:lnSpc>
            </a:pPr>
            <a:r>
              <a:rPr lang="en-US" dirty="0" err="1"/>
              <a:t>discrete_state_n</a:t>
            </a:r>
            <a:r>
              <a:rPr lang="en-US" dirty="0"/>
              <a:t> = 320.000</a:t>
            </a:r>
          </a:p>
          <a:p>
            <a:pPr>
              <a:lnSpc>
                <a:spcPct val="200000"/>
              </a:lnSpc>
            </a:pPr>
            <a:r>
              <a:rPr lang="en-US" dirty="0" err="1"/>
              <a:t>episode_n</a:t>
            </a:r>
            <a:r>
              <a:rPr lang="en-US" dirty="0"/>
              <a:t> = 100.000 x 10</a:t>
            </a:r>
          </a:p>
        </p:txBody>
      </p:sp>
    </p:spTree>
    <p:extLst>
      <p:ext uri="{BB962C8B-B14F-4D97-AF65-F5344CB8AC3E}">
        <p14:creationId xmlns:p14="http://schemas.microsoft.com/office/powerpoint/2010/main" val="2165761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72AFF-464C-7342-A06C-3CD18F5F9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cross-entropy</a:t>
            </a:r>
          </a:p>
        </p:txBody>
      </p:sp>
    </p:spTree>
    <p:extLst>
      <p:ext uri="{BB962C8B-B14F-4D97-AF65-F5344CB8AC3E}">
        <p14:creationId xmlns:p14="http://schemas.microsoft.com/office/powerpoint/2010/main" val="2379698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Метод кросс-энтропии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Google Shape;311;p57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00550" y="1032459"/>
                <a:ext cx="7866554" cy="291971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357188" indent="-352425">
                  <a:lnSpc>
                    <a:spcPct val="115000"/>
                  </a:lnSpc>
                  <a:buNone/>
                </a:pPr>
                <a:r>
                  <a:rPr lang="ru-RU" sz="1600" dirty="0"/>
                  <a:t>1. 	Оценка политики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1600" dirty="0"/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Устанавливаем начальное состояние 𝑆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 и политику 𝜋</a:t>
                </a:r>
                <a:r>
                  <a:rPr lang="ru-RU" sz="1200" baseline="-25000" dirty="0"/>
                  <a:t>0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Действуем 𝐴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=𝜋(𝑆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)</a:t>
                </a:r>
                <a:r>
                  <a:rPr lang="en-US" sz="1200" dirty="0"/>
                  <a:t>, </a:t>
                </a:r>
                <a:r>
                  <a:rPr lang="ru-RU" sz="1200" dirty="0"/>
                  <a:t>получаем награду 𝑅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=(𝑆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,𝐴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) и переходим в состояние 𝑆</a:t>
                </a:r>
                <a:r>
                  <a:rPr lang="ru-RU" sz="1200" baseline="-25000" dirty="0"/>
                  <a:t>1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...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Получили траекторию 𝜏={𝑆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,𝐴</a:t>
                </a:r>
                <a:r>
                  <a:rPr lang="ru-RU" sz="1200" baseline="-25000" dirty="0"/>
                  <a:t>0</a:t>
                </a:r>
                <a:r>
                  <a:rPr lang="ru-RU" sz="1200" dirty="0"/>
                  <a:t>,𝑆</a:t>
                </a:r>
                <a:r>
                  <a:rPr lang="ru-RU" sz="1200" baseline="-25000" dirty="0"/>
                  <a:t>1</a:t>
                </a:r>
                <a:r>
                  <a:rPr lang="ru-RU" sz="1200" dirty="0"/>
                  <a:t>,𝐴</a:t>
                </a:r>
                <a:r>
                  <a:rPr lang="ru-RU" sz="1200" baseline="-25000" dirty="0"/>
                  <a:t>1</a:t>
                </a:r>
                <a:r>
                  <a:rPr lang="ru-RU" sz="1200" dirty="0"/>
                  <a:t>,…,𝑆</a:t>
                </a:r>
                <a:r>
                  <a:rPr lang="ru-RU" sz="1200" baseline="-25000" dirty="0"/>
                  <a:t>𝐹</a:t>
                </a:r>
                <a:r>
                  <a:rPr lang="ru-RU" sz="1200" dirty="0"/>
                  <a:t>}, и награду</a:t>
                </a:r>
                <a:r>
                  <a:rPr lang="en-US" sz="1200" dirty="0"/>
                  <a:t> </a:t>
                </a:r>
                <a:r>
                  <a:rPr lang="ru-RU" sz="1200" dirty="0"/>
                  <a:t>по траектории 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</m:oMath>
                </a14:m>
                <a:endParaRPr lang="en-US" sz="1600" dirty="0"/>
              </a:p>
              <a:p>
                <a:pPr marL="357188" indent="-352425">
                  <a:lnSpc>
                    <a:spcPct val="115000"/>
                  </a:lnSpc>
                  <a:buNone/>
                </a:pPr>
                <a:endParaRPr lang="ru-RU" sz="1600" dirty="0"/>
              </a:p>
              <a:p>
                <a:pPr marL="357188" indent="-352425">
                  <a:lnSpc>
                    <a:spcPct val="115000"/>
                  </a:lnSpc>
                  <a:buNone/>
                </a:pPr>
                <a:r>
                  <a:rPr lang="ru-RU" sz="1600" dirty="0"/>
                  <a:t>2.	Улучшение политики </a:t>
                </a:r>
                <a14:m>
                  <m:oMath xmlns:m="http://schemas.openxmlformats.org/officeDocument/2006/math">
                    <m:r>
                      <a:rPr lang="en-US" sz="160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>
                        <a:latin typeface="Cambria Math" panose="02040503050406030204" pitchFamily="18" charset="0"/>
                      </a:rPr>
                      <m:t>→ 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p>
                                <m:r>
                                  <a:rPr lang="en-US" sz="160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  <m:r>
                          <a:rPr lang="en-US" sz="1600">
                            <a:latin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e>
                    </m:d>
                  </m:oMath>
                </a14:m>
                <a:endParaRPr lang="en-US" sz="1600" dirty="0"/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Выбираем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1200" dirty="0"/>
                  <a:t> </a:t>
                </a:r>
                <a:r>
                  <a:rPr lang="ru-RU" sz="1200" dirty="0"/>
                  <a:t>лучших траекторий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"Улучшаем" политику </a:t>
                </a:r>
                <a14:m>
                  <m:oMath xmlns:m="http://schemas.openxmlformats.org/officeDocument/2006/math">
                    <m:r>
                      <a:rPr lang="ru-RU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200" dirty="0"/>
                  <a:t> </a:t>
                </a:r>
                <a:r>
                  <a:rPr lang="ru-RU" sz="1200" dirty="0"/>
                  <a:t>собираем средние действия по каждому состоянию</a:t>
                </a: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ru-RU" sz="1200" dirty="0"/>
                  <a:t>Назначаем новой политикой среднее действие по лучшим траекториям в каждом состоянии</a:t>
                </a:r>
              </a:p>
            </p:txBody>
          </p:sp>
        </mc:Choice>
        <mc:Fallback xmlns="">
          <p:sp>
            <p:nvSpPr>
              <p:cNvPr id="311" name="Google Shape;311;p57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032459"/>
                <a:ext cx="7866554" cy="2919714"/>
              </a:xfrm>
              <a:prstGeom prst="rect">
                <a:avLst/>
              </a:prstGeom>
              <a:blipFill>
                <a:blip r:embed="rId3"/>
                <a:stretch>
                  <a:fillRect l="-322" b="-8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5390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6F4F-692F-6443-AFA6-9F9409A42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Cross-entropy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</p:spPr>
            <p:txBody>
              <a:bodyPr>
                <a:normAutofit fontScale="85000" lnSpcReduction="20000"/>
              </a:bodyPr>
              <a:lstStyle/>
              <a:p>
                <a:pPr marL="133350" indent="0">
                  <a:buNone/>
                </a:pPr>
                <a:r>
                  <a:rPr lang="ru-RU" dirty="0"/>
                  <a:t>Пусть у нас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:r>
                  <a:rPr lang="ru-RU" dirty="0"/>
                  <a:t>т.е. пространство действий и пространство состояний конечномерно и непрерывно.</a:t>
                </a:r>
              </a:p>
              <a:p>
                <a:pPr marL="133350" indent="0">
                  <a:buNone/>
                </a:pPr>
                <a:r>
                  <a:rPr lang="ru-RU" dirty="0"/>
                  <a:t>Будем использовать </a:t>
                </a:r>
                <a:r>
                  <a:rPr lang="ru-RU" dirty="0" err="1"/>
                  <a:t>нейросеть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r>
                  <a:rPr lang="ru-RU" dirty="0"/>
                  <a:t> для аппроксимации политики, </a:t>
                </a:r>
                <a:r>
                  <a:rPr lang="ru-RU" dirty="0" err="1"/>
                  <a:t>т.е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веса нейросети. Будем действовать в среде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раз (эпизодов обучения) и соберем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траекторий для каждого эпизода. Тогда на каждом эпизоде обучения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𝑛𝑜𝑖𝑠𝑒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133350" indent="0">
                  <a:buNone/>
                </a:pPr>
                <a:endParaRPr lang="en-US" sz="1400" dirty="0"/>
              </a:p>
              <a:p>
                <a:pPr marL="133350" indent="0">
                  <a:buNone/>
                </a:pPr>
                <a:r>
                  <a:rPr lang="ru-RU" sz="1600" b="1" dirty="0"/>
                  <a:t>Оценка политики</a:t>
                </a:r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b="1" dirty="0"/>
                  <a:t>:</a:t>
                </a:r>
                <a:endParaRPr lang="ru-RU" sz="1600" b="1" dirty="0"/>
              </a:p>
              <a:p>
                <a:pPr marL="133350" indent="0">
                  <a:buNone/>
                </a:pPr>
                <a:r>
                  <a:rPr lang="ru-RU" sz="1400" dirty="0"/>
                  <a:t>Подавая на вход сети состояние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dirty="0"/>
                  <a:t> </a:t>
                </a:r>
                <a:r>
                  <a:rPr lang="ru-RU" sz="1400" dirty="0"/>
                  <a:t>получаем оценку действия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sz="1400" dirty="0"/>
                  <a:t> и действуя получаем следующее состояние. Получаем траекторию в среде.</a:t>
                </a:r>
                <a:endParaRPr lang="en-US" sz="1400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400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dirty="0"/>
                  <a:t>Нам необходимо найти «наилучшие» действия по конечному набору точек – задача регрессии.</a:t>
                </a:r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  <a:blipFill>
                <a:blip r:embed="rId2"/>
                <a:stretch>
                  <a:fillRect b="-68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9719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6F4F-692F-6443-AFA6-9F9409A42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</a:t>
            </a:r>
            <a:r>
              <a:rPr lang="en-US" dirty="0" err="1"/>
              <a:t>CrossEntropy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996885"/>
                <a:ext cx="8520600" cy="3416400"/>
              </a:xfrm>
            </p:spPr>
            <p:txBody>
              <a:bodyPr/>
              <a:lstStyle/>
              <a:p>
                <a:pPr marL="133350" indent="0">
                  <a:buNone/>
                </a:pPr>
                <a:r>
                  <a:rPr lang="ru-RU" sz="1400" b="1" dirty="0"/>
                  <a:t>Улучшение политики</a:t>
                </a:r>
                <a:r>
                  <a:rPr lang="en-US" sz="1400" b="1" dirty="0"/>
                  <a:t> </a:t>
                </a:r>
                <a:r>
                  <a:rPr lang="ru-RU" sz="1400" dirty="0"/>
                  <a:t>для каждого эпизода обучения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1400" dirty="0"/>
                  <a:t>:</a:t>
                </a:r>
              </a:p>
              <a:p>
                <a:pPr marL="133350" indent="0">
                  <a:buNone/>
                </a:pPr>
                <a:r>
                  <a:rPr lang="ru-RU" sz="1200" dirty="0"/>
                  <a:t>Выбираем «элитные» траектории и усредняем действие на них</a:t>
                </a:r>
                <a:r>
                  <a:rPr lang="en-US" sz="1200" dirty="0"/>
                  <a:t> </a:t>
                </a:r>
                <a:r>
                  <a:rPr lang="ru-RU" sz="1200" dirty="0"/>
                  <a:t>для каждого состояния.</a:t>
                </a:r>
              </a:p>
              <a:p>
                <a:pPr marL="133350" indent="0">
                  <a:buNone/>
                </a:pPr>
                <a:r>
                  <a:rPr lang="ru-RU" sz="1200" dirty="0"/>
                  <a:t>Затем считаем </a:t>
                </a:r>
                <a:r>
                  <a:rPr lang="ru-RU" sz="1200" dirty="0" err="1"/>
                  <a:t>лосс</a:t>
                </a:r>
                <a:r>
                  <a:rPr lang="ru-RU" sz="1200" dirty="0"/>
                  <a:t> и обновляем веса модели: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133350" indent="0">
                  <a:buNone/>
                </a:pPr>
                <a:endParaRPr lang="ru-RU" b="0" i="1" dirty="0"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𝜂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996885"/>
                <a:ext cx="8520600" cy="341640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91660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6251022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Окружения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885060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CartPole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577163"/>
              </p:ext>
            </p:extLst>
          </p:nvPr>
        </p:nvGraphicFramePr>
        <p:xfrm>
          <a:off x="417726" y="2676170"/>
          <a:ext cx="8229184" cy="146304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Discrete(2)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Box(</a:t>
                      </a:r>
                    </a:p>
                    <a:p>
                      <a:r>
                        <a:rPr lang="en-US" dirty="0">
                          <a:effectLst/>
                        </a:rPr>
                        <a:t>[-4.8000002e+00 -3.4028235e+38 -4.1887903e-01 -3.4028235e+38], </a:t>
                      </a:r>
                    </a:p>
                    <a:p>
                      <a:r>
                        <a:rPr lang="en-US" dirty="0">
                          <a:effectLst/>
                        </a:rPr>
                        <a:t>[ 4.8000002e+00  3.4028235e+38   4.1887903e-01  3.4028235e+38], </a:t>
                      </a:r>
                    </a:p>
                    <a:p>
                      <a:r>
                        <a:rPr lang="en-US" dirty="0">
                          <a:effectLst/>
                        </a:rPr>
                        <a:t>(4,), </a:t>
                      </a:r>
                    </a:p>
                    <a:p>
                      <a:r>
                        <a:rPr lang="en-US" dirty="0">
                          <a:effectLst/>
                        </a:rPr>
                        <a:t>float32)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7E440A9-8F18-D44E-A9D6-30E7873B21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318" y="246200"/>
            <a:ext cx="381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40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LunaLander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D8472C-55BC-2D43-8291-441D962AF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7292" y="608278"/>
            <a:ext cx="3810000" cy="2540000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632690"/>
              </p:ext>
            </p:extLst>
          </p:nvPr>
        </p:nvGraphicFramePr>
        <p:xfrm>
          <a:off x="417726" y="2676170"/>
          <a:ext cx="8229184" cy="146304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Discrete(4)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Box(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[-1.5 -1.5 -5. -5. -3.1415927 -5. -0. 0. ],  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[ 1.5  1.5  5.   5.  3.1415927  5.  1. 1. ], 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(8,), 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float32)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6071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075883"/>
              </p:ext>
            </p:extLst>
          </p:nvPr>
        </p:nvGraphicFramePr>
        <p:xfrm>
          <a:off x="417726" y="2676170"/>
          <a:ext cx="8229184" cy="146304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Discrete(3)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Box(</a:t>
                      </a:r>
                    </a:p>
                    <a:p>
                      <a:r>
                        <a:rPr lang="en-US" dirty="0">
                          <a:effectLst/>
                        </a:rPr>
                        <a:t>[-1.2 -0.07], </a:t>
                      </a:r>
                    </a:p>
                    <a:p>
                      <a:r>
                        <a:rPr lang="en-US" dirty="0">
                          <a:effectLst/>
                        </a:rPr>
                        <a:t>[0.6 0.07], </a:t>
                      </a:r>
                    </a:p>
                    <a:p>
                      <a:r>
                        <a:rPr lang="en-US" dirty="0">
                          <a:effectLst/>
                        </a:rPr>
                        <a:t>(2,), </a:t>
                      </a:r>
                    </a:p>
                    <a:p>
                      <a:r>
                        <a:rPr lang="en-US" dirty="0">
                          <a:effectLst/>
                        </a:rPr>
                        <a:t>float32)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MountainCar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98B80A-9739-D742-80E9-A7877CB44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4799" y="246201"/>
            <a:ext cx="381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7377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CarRacing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194699"/>
              </p:ext>
            </p:extLst>
          </p:nvPr>
        </p:nvGraphicFramePr>
        <p:xfrm>
          <a:off x="417726" y="2676170"/>
          <a:ext cx="8229184" cy="124968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Box([-1. 0. 0.], 1.0, (3,), float32)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Box(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0, 255, 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(96, 96, 3), 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uint8)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9B6CF11B-E8D9-8046-9653-AD50EC6B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450" y="330724"/>
            <a:ext cx="381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768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Atari </a:t>
            </a:r>
            <a:r>
              <a:rPr lang="en-US" dirty="0" err="1"/>
              <a:t>battleZone</a:t>
            </a:r>
            <a:endParaRPr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775B6B-B0D1-3048-BB9D-AED095CEF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50753"/>
              </p:ext>
            </p:extLst>
          </p:nvPr>
        </p:nvGraphicFramePr>
        <p:xfrm>
          <a:off x="417726" y="2676170"/>
          <a:ext cx="8229184" cy="1249680"/>
        </p:xfrm>
        <a:graphic>
          <a:graphicData uri="http://schemas.openxmlformats.org/drawingml/2006/table">
            <a:tbl>
              <a:tblPr/>
              <a:tblGrid>
                <a:gridCol w="1285596">
                  <a:extLst>
                    <a:ext uri="{9D8B030D-6E8A-4147-A177-3AD203B41FA5}">
                      <a16:colId xmlns:a16="http://schemas.microsoft.com/office/drawing/2014/main" val="2126498394"/>
                    </a:ext>
                  </a:extLst>
                </a:gridCol>
                <a:gridCol w="6943588">
                  <a:extLst>
                    <a:ext uri="{9D8B030D-6E8A-4147-A177-3AD203B41FA5}">
                      <a16:colId xmlns:a16="http://schemas.microsoft.com/office/drawing/2014/main" val="13392583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Action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Discrete(18)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4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Observation Space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Box(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0, 255, 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(210, 160, 3), </a:t>
                      </a: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uint8)</a:t>
                      </a:r>
                      <a:endParaRPr lang="en-US" dirty="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2124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33694F8-0C55-3746-BA2F-E127F7F68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5276" y="403613"/>
            <a:ext cx="1806929" cy="237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78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1442347080"/>
              </p:ext>
            </p:extLst>
          </p:nvPr>
        </p:nvGraphicFramePr>
        <p:xfrm>
          <a:off x="952500" y="137274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Дискретизация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CartPole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314963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Deep Cross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-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Entropy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метод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0"/>
          <p:cNvSpPr txBox="1">
            <a:spLocks noGrp="1"/>
          </p:cNvSpPr>
          <p:nvPr>
            <p:ph type="subTitle" idx="2"/>
          </p:nvPr>
        </p:nvSpPr>
        <p:spPr>
          <a:xfrm>
            <a:off x="3082400" y="1984350"/>
            <a:ext cx="38646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18501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 i="0" u="none" strike="noStrike" dirty="0">
                <a:solidFill>
                  <a:srgbClr val="1F1F1F"/>
                </a:solidFill>
                <a:effectLst/>
                <a:latin typeface="Google Sans"/>
              </a:rPr>
              <a:t>Deep q-learning (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DQN)</a:t>
            </a:r>
            <a:endParaRPr lang="en-R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AC6A46A-6F56-844C-8FDD-713F2BACAA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9C5DCD4D-1365-BE45-8A1C-BDC9F198AAA7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2175</TotalTime>
  <Words>1241</Words>
  <Application>Microsoft Macintosh PowerPoint</Application>
  <PresentationFormat>On-screen Show (16:9)</PresentationFormat>
  <Paragraphs>247</Paragraphs>
  <Slides>32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46" baseType="lpstr">
      <vt:lpstr>Symbol</vt:lpstr>
      <vt:lpstr>AkayaTelivigala</vt:lpstr>
      <vt:lpstr>Cambria Math</vt:lpstr>
      <vt:lpstr>Bradley Hand</vt:lpstr>
      <vt:lpstr>Google Sans</vt:lpstr>
      <vt:lpstr>STIXMathJax_Main</vt:lpstr>
      <vt:lpstr>Helvetica Neue</vt:lpstr>
      <vt:lpstr>STIXMathJax_Normal-italic</vt:lpstr>
      <vt:lpstr>Arial</vt:lpstr>
      <vt:lpstr>Courier New</vt:lpstr>
      <vt:lpstr>Roboto</vt:lpstr>
      <vt:lpstr>STIXMathJax_Variants</vt:lpstr>
      <vt:lpstr>Светлая тема</vt:lpstr>
      <vt:lpstr>Светлая тема</vt:lpstr>
      <vt:lpstr>Reinforcement learning Введение в DeepRL</vt:lpstr>
      <vt:lpstr>Проверить, идет ли запись</vt:lpstr>
      <vt:lpstr>Правила вебинара</vt:lpstr>
      <vt:lpstr>Reinforcement learning. Введение в DeepRL </vt:lpstr>
      <vt:lpstr>Карта курса</vt:lpstr>
      <vt:lpstr>Программа курса</vt:lpstr>
      <vt:lpstr>Маршрут вебинара</vt:lpstr>
      <vt:lpstr>Цели вебинара</vt:lpstr>
      <vt:lpstr>Смысл</vt:lpstr>
      <vt:lpstr>Постановка задачи</vt:lpstr>
      <vt:lpstr>Markov Property</vt:lpstr>
      <vt:lpstr>Применение классического RL в непрерывной среде</vt:lpstr>
      <vt:lpstr>CartPole</vt:lpstr>
      <vt:lpstr>SARSA and Q-learning</vt:lpstr>
      <vt:lpstr>CartPole дискретизация среды</vt:lpstr>
      <vt:lpstr>CartPole дискретизация среды</vt:lpstr>
      <vt:lpstr>Deep cross-entropy</vt:lpstr>
      <vt:lpstr>Метод кросс-энтропии</vt:lpstr>
      <vt:lpstr>Deep Cross-entropy</vt:lpstr>
      <vt:lpstr>Deep CrossEntropy</vt:lpstr>
      <vt:lpstr>Вопросы?</vt:lpstr>
      <vt:lpstr>Окружения</vt:lpstr>
      <vt:lpstr>CartPole</vt:lpstr>
      <vt:lpstr>LunaLander</vt:lpstr>
      <vt:lpstr>MountainCar</vt:lpstr>
      <vt:lpstr>CarRacing</vt:lpstr>
      <vt:lpstr>Atari battleZone</vt:lpstr>
      <vt:lpstr>Практика</vt:lpstr>
      <vt:lpstr>Практика</vt:lpstr>
      <vt:lpstr>Вопросы?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54</cp:revision>
  <dcterms:modified xsi:type="dcterms:W3CDTF">2025-11-17T14:50:46Z</dcterms:modified>
</cp:coreProperties>
</file>