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90" r:id="rId1"/>
    <p:sldMasterId id="2147483692" r:id="rId2"/>
  </p:sldMasterIdLst>
  <p:notesMasterIdLst>
    <p:notesMasterId r:id="rId36"/>
  </p:notesMasterIdLst>
  <p:sldIdLst>
    <p:sldId id="256" r:id="rId3"/>
    <p:sldId id="257" r:id="rId4"/>
    <p:sldId id="259" r:id="rId5"/>
    <p:sldId id="325" r:id="rId6"/>
    <p:sldId id="268" r:id="rId7"/>
    <p:sldId id="373" r:id="rId8"/>
    <p:sldId id="262" r:id="rId9"/>
    <p:sldId id="263" r:id="rId10"/>
    <p:sldId id="264" r:id="rId11"/>
    <p:sldId id="311" r:id="rId12"/>
    <p:sldId id="267" r:id="rId13"/>
    <p:sldId id="266" r:id="rId14"/>
    <p:sldId id="330" r:id="rId15"/>
    <p:sldId id="380" r:id="rId16"/>
    <p:sldId id="388" r:id="rId17"/>
    <p:sldId id="397" r:id="rId18"/>
    <p:sldId id="390" r:id="rId19"/>
    <p:sldId id="313" r:id="rId20"/>
    <p:sldId id="389" r:id="rId21"/>
    <p:sldId id="398" r:id="rId22"/>
    <p:sldId id="379" r:id="rId23"/>
    <p:sldId id="381" r:id="rId24"/>
    <p:sldId id="391" r:id="rId25"/>
    <p:sldId id="392" r:id="rId26"/>
    <p:sldId id="393" r:id="rId27"/>
    <p:sldId id="394" r:id="rId28"/>
    <p:sldId id="395" r:id="rId29"/>
    <p:sldId id="396" r:id="rId30"/>
    <p:sldId id="278" r:id="rId31"/>
    <p:sldId id="279" r:id="rId32"/>
    <p:sldId id="282" r:id="rId33"/>
    <p:sldId id="289" r:id="rId34"/>
    <p:sldId id="337" r:id="rId35"/>
  </p:sldIdLst>
  <p:sldSz cx="9144000" cy="5143500" type="screen16x9"/>
  <p:notesSz cx="6858000" cy="9144000"/>
  <p:embeddedFontLst>
    <p:embeddedFont>
      <p:font typeface="AkayaTelivigala" pitchFamily="2" charset="77"/>
      <p:regular r:id="rId37"/>
    </p:embeddedFont>
    <p:embeddedFont>
      <p:font typeface="Cambria Math" panose="02040503050406030204" pitchFamily="18" charset="0"/>
      <p:regular r:id="rId38"/>
    </p:embeddedFont>
    <p:embeddedFont>
      <p:font typeface="Helvetica Neue" panose="02000503000000020004" pitchFamily="2" charset="0"/>
      <p:regular r:id="rId39"/>
      <p:bold r:id="rId40"/>
      <p:italic r:id="rId41"/>
      <p:boldItalic r:id="rId42"/>
    </p:embeddedFont>
    <p:embeddedFont>
      <p:font typeface="Roboto" panose="02000000000000000000" pitchFamily="2" charset="0"/>
      <p:regular r:id="rId43"/>
      <p:bold r:id="rId44"/>
      <p:italic r:id="rId45"/>
      <p:boldItalic r:id="rId4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pos="5533">
          <p15:clr>
            <a:srgbClr val="A4A3A4"/>
          </p15:clr>
        </p15:guide>
        <p15:guide id="2" pos="1002">
          <p15:clr>
            <a:srgbClr val="9AA0A6"/>
          </p15:clr>
        </p15:guide>
        <p15:guide id="3" orient="horz" pos="179">
          <p15:clr>
            <a:srgbClr val="9AA0A6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B623574C-9AE7-4070-A081-93A97D88BCA6}">
  <a:tblStyle styleId="{B623574C-9AE7-4070-A081-93A97D88BCA6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6947"/>
    <p:restoredTop sz="97146"/>
  </p:normalViewPr>
  <p:slideViewPr>
    <p:cSldViewPr snapToGrid="0">
      <p:cViewPr varScale="1">
        <p:scale>
          <a:sx n="297" d="100"/>
          <a:sy n="297" d="100"/>
        </p:scale>
        <p:origin x="888" y="184"/>
      </p:cViewPr>
      <p:guideLst>
        <p:guide pos="5533"/>
        <p:guide pos="1002"/>
        <p:guide orient="horz" pos="179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font" Target="fonts/font3.fntdata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font" Target="fonts/font6.fntdata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font" Target="fonts/font1.fntdata"/><Relationship Id="rId40" Type="http://schemas.openxmlformats.org/officeDocument/2006/relationships/font" Target="fonts/font4.fntdata"/><Relationship Id="rId45" Type="http://schemas.openxmlformats.org/officeDocument/2006/relationships/font" Target="fonts/font9.fntdata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notesMaster" Target="notesMasters/notesMaster1.xml"/><Relationship Id="rId49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font" Target="fonts/font8.fntdata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font" Target="fonts/font7.fntdata"/><Relationship Id="rId48" Type="http://schemas.openxmlformats.org/officeDocument/2006/relationships/viewProps" Target="viewProps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font" Target="fonts/font2.fntdata"/><Relationship Id="rId46" Type="http://schemas.openxmlformats.org/officeDocument/2006/relationships/font" Target="fonts/font10.fntdata"/><Relationship Id="rId20" Type="http://schemas.openxmlformats.org/officeDocument/2006/relationships/slide" Target="slides/slide18.xml"/><Relationship Id="rId41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9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de823becd0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gde823becd0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de823becd0_0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" name="Google Shape;212;gde823becd0_0_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de823becd0_0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de823becd0_0_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deaee39f1e_0_1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8" name="Google Shape;268;gdeaee39f1e_0_1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deaee39f1e_0_1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8" name="Google Shape;268;gdeaee39f1e_0_1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8512996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gde823becd0_0_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4" name="Google Shape;264;gde823becd0_0_5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gdf29b9fb24_0_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0" name="Google Shape;280;gdf29b9fb24_0_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df29b9fb24_0_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8" name="Google Shape;288;gdf29b9fb24_0_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gdf29b9fb24_0_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3" name="Google Shape;303;gdf29b9fb24_0_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0109817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df29b9fb24_0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8" name="Google Shape;308;gdf29b9fb24_0_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gdf29b9fb24_0_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3" name="Google Shape;303;gdf29b9fb24_0_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df29b9fb24_0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8" name="Google Shape;308;gdf29b9fb24_0_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725609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df29b9fb24_0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8" name="Google Shape;308;gdf29b9fb24_0_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010152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df29b9fb24_0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8" name="Google Shape;308;gdf29b9fb24_0_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4179782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df29b9fb24_0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8" name="Google Shape;308;gdf29b9fb24_0_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4265794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df29b9fb24_0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8" name="Google Shape;308;gdf29b9fb24_0_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9027451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g18a1909ca36_0_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2" name="Google Shape;412;g18a1909ca36_0_6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2239676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gdf29b9fb24_0_1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2" name="Google Shape;382;gdf29b9fb24_0_15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6873451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df29b9fb24_0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8" name="Google Shape;308;gdf29b9fb24_0_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235640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df29b9fb24_0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8" name="Google Shape;308;gdf29b9fb24_0_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3492425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df29b9fb24_0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8" name="Google Shape;308;gdf29b9fb24_0_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7445188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df29b9fb24_0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8" name="Google Shape;308;gdf29b9fb24_0_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9197131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df29b9fb24_0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8" name="Google Shape;308;gdf29b9fb24_0_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37665634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df29b9fb24_0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8" name="Google Shape;308;gdf29b9fb24_0_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22927248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gdf29b9fb24_0_1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2" name="Google Shape;382;gdf29b9fb24_0_15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gdf29b9fb24_0_1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7" name="Google Shape;387;gdf29b9fb24_0_1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g18a1909ca36_0_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2" name="Google Shape;412;g18a1909ca36_0_6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ge04b8b6756_0_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3" name="Google Shape;473;ge04b8b6756_0_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ge04b8b6756_0_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8" name="Google Shape;478;ge04b8b6756_0_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ИТУЛЬНЫЙ" type="title">
  <p:cSld name="TITLE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 rotWithShape="1">
          <a:blip r:embed="rId2">
            <a:alphaModFix/>
          </a:blip>
          <a:srcRect l="99" r="99"/>
          <a:stretch/>
        </p:blipFill>
        <p:spPr>
          <a:xfrm>
            <a:off x="-17925" y="-10075"/>
            <a:ext cx="9194726" cy="5182151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944650" y="4350425"/>
            <a:ext cx="8293200" cy="48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 b="1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title"/>
          </p:nvPr>
        </p:nvSpPr>
        <p:spPr>
          <a:xfrm>
            <a:off x="944650" y="1769200"/>
            <a:ext cx="7379700" cy="237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 sz="5600">
                <a:solidFill>
                  <a:schemeClr val="lt1"/>
                </a:solidFill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Белый слайд + заголовок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500550" y="1784775"/>
            <a:ext cx="7935300" cy="114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Ваш макет 1">
  <p:cSld name="CUSTOM_5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5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5"/>
          <p:cNvSpPr txBox="1">
            <a:spLocks noGrp="1"/>
          </p:cNvSpPr>
          <p:nvPr>
            <p:ph type="body" idx="1"/>
          </p:nvPr>
        </p:nvSpPr>
        <p:spPr>
          <a:xfrm>
            <a:off x="500550" y="1426469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238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500"/>
              <a:buChar char="●"/>
              <a:defRPr sz="1500"/>
            </a:lvl1pPr>
            <a:lvl2pPr marL="914400" lvl="1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○"/>
              <a:defRPr sz="1300"/>
            </a:lvl2pPr>
            <a:lvl3pPr marL="1371600" lvl="2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■"/>
              <a:defRPr sz="1300"/>
            </a:lvl3pPr>
            <a:lvl4pPr marL="1828800" lvl="3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●"/>
              <a:defRPr sz="1300"/>
            </a:lvl4pPr>
            <a:lvl5pPr marL="2286000" lvl="4" indent="-31115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  <a:defRPr sz="1300"/>
            </a:lvl5pPr>
            <a:lvl6pPr marL="2743200" lvl="5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■"/>
              <a:defRPr sz="1300"/>
            </a:lvl6pPr>
            <a:lvl7pPr marL="3200400" lvl="6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●"/>
              <a:defRPr sz="1300"/>
            </a:lvl7pPr>
            <a:lvl8pPr marL="3657600" lvl="7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○"/>
              <a:defRPr sz="1300"/>
            </a:lvl8pPr>
            <a:lvl9pPr marL="4114800" lvl="8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■"/>
              <a:defRPr sz="1300"/>
            </a:lvl9pPr>
          </a:lstStyle>
          <a:p>
            <a:endParaRPr/>
          </a:p>
        </p:txBody>
      </p:sp>
      <p:sp>
        <p:nvSpPr>
          <p:cNvPr id="21" name="Google Shape;21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ема вебинара" type="twoColTx">
  <p:cSld name="TITLE_AND_TWO_COLUMNS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24" name="Google Shape;24;p6"/>
          <p:cNvSpPr txBox="1">
            <a:spLocks noGrp="1"/>
          </p:cNvSpPr>
          <p:nvPr>
            <p:ph type="title"/>
          </p:nvPr>
        </p:nvSpPr>
        <p:spPr>
          <a:xfrm>
            <a:off x="500550" y="821213"/>
            <a:ext cx="8520600" cy="198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6"/>
          <p:cNvSpPr txBox="1">
            <a:spLocks noGrp="1"/>
          </p:cNvSpPr>
          <p:nvPr>
            <p:ph type="subTitle" idx="1"/>
          </p:nvPr>
        </p:nvSpPr>
        <p:spPr>
          <a:xfrm>
            <a:off x="500550" y="457313"/>
            <a:ext cx="77967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1500"/>
              <a:buNone/>
              <a:defRPr sz="1500">
                <a:solidFill>
                  <a:srgbClr val="FF9900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6"/>
          <p:cNvSpPr txBox="1">
            <a:spLocks noGrp="1"/>
          </p:cNvSpPr>
          <p:nvPr>
            <p:ph type="subTitle" idx="2"/>
          </p:nvPr>
        </p:nvSpPr>
        <p:spPr>
          <a:xfrm>
            <a:off x="3135425" y="2978831"/>
            <a:ext cx="5856300" cy="58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 b="1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ubTitle" idx="3"/>
          </p:nvPr>
        </p:nvSpPr>
        <p:spPr>
          <a:xfrm>
            <a:off x="3135425" y="3278981"/>
            <a:ext cx="58563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8" name="Google Shape;28;p6"/>
          <p:cNvSpPr txBox="1">
            <a:spLocks noGrp="1"/>
          </p:cNvSpPr>
          <p:nvPr>
            <p:ph type="subTitle" idx="4"/>
          </p:nvPr>
        </p:nvSpPr>
        <p:spPr>
          <a:xfrm>
            <a:off x="3135425" y="3662550"/>
            <a:ext cx="5856300" cy="103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397">
          <p15:clr>
            <a:srgbClr val="FA7B17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Разделительный слайд">
  <p:cSld name="MAIN_POINT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pic>
        <p:nvPicPr>
          <p:cNvPr id="31" name="Google Shape;31;p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7"/>
          <p:cNvSpPr txBox="1">
            <a:spLocks noGrp="1"/>
          </p:cNvSpPr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О себе">
  <p:cSld name="CUSTOM_1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8"/>
          <p:cNvSpPr txBox="1">
            <a:spLocks noGrp="1"/>
          </p:cNvSpPr>
          <p:nvPr>
            <p:ph type="subTitle" idx="1"/>
          </p:nvPr>
        </p:nvSpPr>
        <p:spPr>
          <a:xfrm>
            <a:off x="3891775" y="1716281"/>
            <a:ext cx="4391700" cy="58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36" name="Google Shape;36;p8"/>
          <p:cNvSpPr txBox="1">
            <a:spLocks noGrp="1"/>
          </p:cNvSpPr>
          <p:nvPr>
            <p:ph type="subTitle" idx="2"/>
          </p:nvPr>
        </p:nvSpPr>
        <p:spPr>
          <a:xfrm>
            <a:off x="3891775" y="2252801"/>
            <a:ext cx="5095200" cy="251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Раздел+описание">
  <p:cSld name="SECTION_TITLE_AND_DESCRIPTION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title"/>
          </p:nvPr>
        </p:nvSpPr>
        <p:spPr>
          <a:xfrm>
            <a:off x="609075" y="12208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ubTitle" idx="1"/>
          </p:nvPr>
        </p:nvSpPr>
        <p:spPr>
          <a:xfrm>
            <a:off x="609075" y="2916213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>
            <a:endParaRPr/>
          </a:p>
        </p:txBody>
      </p:sp>
      <p:sp>
        <p:nvSpPr>
          <p:cNvPr id="41" name="Google Shape;41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3655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marL="914400" lvl="1" indent="-32385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marL="1371600" lvl="2" indent="-31115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marL="1828800" lvl="3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4pPr>
            <a:lvl5pPr marL="2286000" lvl="4" indent="-311150"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5pPr>
            <a:lvl6pPr marL="2743200" lvl="5" indent="-31115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6pPr>
            <a:lvl7pPr marL="3200400" lvl="6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7pPr>
            <a:lvl8pPr marL="3657600" lvl="7" indent="-311150"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8pPr>
            <a:lvl9pPr marL="4114800" lvl="8" indent="-31115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9pPr>
          </a:lstStyle>
          <a:p>
            <a:endParaRPr/>
          </a:p>
        </p:txBody>
      </p:sp>
      <p:sp>
        <p:nvSpPr>
          <p:cNvPr id="42" name="Google Shape;42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">
  <p:cSld name="CUSTOM_3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1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ИТУЛЬНЫЙ" type="title">
  <p:cSld name="TITLE"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0" name="Google Shape;130;p32"/>
          <p:cNvPicPr preferRelativeResize="0"/>
          <p:nvPr/>
        </p:nvPicPr>
        <p:blipFill rotWithShape="1">
          <a:blip r:embed="rId2">
            <a:alphaModFix/>
          </a:blip>
          <a:srcRect l="99" r="99"/>
          <a:stretch/>
        </p:blipFill>
        <p:spPr>
          <a:xfrm>
            <a:off x="-17925" y="-10075"/>
            <a:ext cx="9194726" cy="5182151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32"/>
          <p:cNvSpPr txBox="1">
            <a:spLocks noGrp="1"/>
          </p:cNvSpPr>
          <p:nvPr>
            <p:ph type="subTitle" idx="1"/>
          </p:nvPr>
        </p:nvSpPr>
        <p:spPr>
          <a:xfrm>
            <a:off x="944650" y="4350425"/>
            <a:ext cx="8293200" cy="48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 b="1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132" name="Google Shape;132;p32"/>
          <p:cNvSpPr txBox="1">
            <a:spLocks noGrp="1"/>
          </p:cNvSpPr>
          <p:nvPr>
            <p:ph type="title"/>
          </p:nvPr>
        </p:nvSpPr>
        <p:spPr>
          <a:xfrm>
            <a:off x="944650" y="1769200"/>
            <a:ext cx="7379700" cy="237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 sz="5600">
                <a:solidFill>
                  <a:schemeClr val="lt1"/>
                </a:solidFill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Белый слайд + заголовок" type="secHead">
  <p:cSld name="SECTION_HEADER"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33"/>
          <p:cNvSpPr txBox="1">
            <a:spLocks noGrp="1"/>
          </p:cNvSpPr>
          <p:nvPr>
            <p:ph type="title"/>
          </p:nvPr>
        </p:nvSpPr>
        <p:spPr>
          <a:xfrm>
            <a:off x="500550" y="1784775"/>
            <a:ext cx="7935300" cy="114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35" name="Google Shape;135;p3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35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40" name="Google Shape;140;p35"/>
          <p:cNvSpPr txBox="1">
            <a:spLocks noGrp="1"/>
          </p:cNvSpPr>
          <p:nvPr>
            <p:ph type="body" idx="1"/>
          </p:nvPr>
        </p:nvSpPr>
        <p:spPr>
          <a:xfrm>
            <a:off x="500550" y="1426469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238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500"/>
              <a:buChar char="●"/>
              <a:defRPr sz="1500"/>
            </a:lvl1pPr>
            <a:lvl2pPr marL="914400" lvl="1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○"/>
              <a:defRPr sz="1300"/>
            </a:lvl2pPr>
            <a:lvl3pPr marL="1371600" lvl="2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■"/>
              <a:defRPr sz="1300"/>
            </a:lvl3pPr>
            <a:lvl4pPr marL="1828800" lvl="3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●"/>
              <a:defRPr sz="1300"/>
            </a:lvl4pPr>
            <a:lvl5pPr marL="2286000" lvl="4" indent="-31115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  <a:defRPr sz="1300"/>
            </a:lvl5pPr>
            <a:lvl6pPr marL="2743200" lvl="5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■"/>
              <a:defRPr sz="1300"/>
            </a:lvl6pPr>
            <a:lvl7pPr marL="3200400" lvl="6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●"/>
              <a:defRPr sz="1300"/>
            </a:lvl7pPr>
            <a:lvl8pPr marL="3657600" lvl="7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○"/>
              <a:defRPr sz="1300"/>
            </a:lvl8pPr>
            <a:lvl9pPr marL="4114800" lvl="8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■"/>
              <a:defRPr sz="1300"/>
            </a:lvl9pPr>
          </a:lstStyle>
          <a:p>
            <a:endParaRPr/>
          </a:p>
        </p:txBody>
      </p:sp>
      <p:sp>
        <p:nvSpPr>
          <p:cNvPr id="141" name="Google Shape;141;p3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ема вебинара" type="twoColTx">
  <p:cSld name="TITLE_AND_TWO_COLUMNS"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3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144" name="Google Shape;144;p36"/>
          <p:cNvSpPr txBox="1">
            <a:spLocks noGrp="1"/>
          </p:cNvSpPr>
          <p:nvPr>
            <p:ph type="title"/>
          </p:nvPr>
        </p:nvSpPr>
        <p:spPr>
          <a:xfrm>
            <a:off x="500550" y="821213"/>
            <a:ext cx="8520600" cy="198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45" name="Google Shape;145;p36"/>
          <p:cNvSpPr txBox="1">
            <a:spLocks noGrp="1"/>
          </p:cNvSpPr>
          <p:nvPr>
            <p:ph type="subTitle" idx="1"/>
          </p:nvPr>
        </p:nvSpPr>
        <p:spPr>
          <a:xfrm>
            <a:off x="500550" y="457313"/>
            <a:ext cx="77967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1500"/>
              <a:buNone/>
              <a:defRPr sz="1500">
                <a:solidFill>
                  <a:srgbClr val="FF9900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9pPr>
          </a:lstStyle>
          <a:p>
            <a:endParaRPr/>
          </a:p>
        </p:txBody>
      </p:sp>
      <p:sp>
        <p:nvSpPr>
          <p:cNvPr id="146" name="Google Shape;146;p36"/>
          <p:cNvSpPr txBox="1">
            <a:spLocks noGrp="1"/>
          </p:cNvSpPr>
          <p:nvPr>
            <p:ph type="subTitle" idx="2"/>
          </p:nvPr>
        </p:nvSpPr>
        <p:spPr>
          <a:xfrm>
            <a:off x="3135425" y="2978831"/>
            <a:ext cx="5856300" cy="58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 b="1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9pPr>
          </a:lstStyle>
          <a:p>
            <a:endParaRPr/>
          </a:p>
        </p:txBody>
      </p:sp>
      <p:sp>
        <p:nvSpPr>
          <p:cNvPr id="147" name="Google Shape;147;p36"/>
          <p:cNvSpPr txBox="1">
            <a:spLocks noGrp="1"/>
          </p:cNvSpPr>
          <p:nvPr>
            <p:ph type="subTitle" idx="3"/>
          </p:nvPr>
        </p:nvSpPr>
        <p:spPr>
          <a:xfrm>
            <a:off x="3135425" y="3278981"/>
            <a:ext cx="58563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48" name="Google Shape;148;p36"/>
          <p:cNvSpPr txBox="1">
            <a:spLocks noGrp="1"/>
          </p:cNvSpPr>
          <p:nvPr>
            <p:ph type="subTitle" idx="4"/>
          </p:nvPr>
        </p:nvSpPr>
        <p:spPr>
          <a:xfrm>
            <a:off x="3135425" y="3662550"/>
            <a:ext cx="5856300" cy="103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397">
          <p15:clr>
            <a:srgbClr val="FA7B17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Разделительный слайд">
  <p:cSld name="MAIN_POINT"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3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pic>
        <p:nvPicPr>
          <p:cNvPr id="151" name="Google Shape;151;p3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37"/>
          <p:cNvSpPr txBox="1">
            <a:spLocks noGrp="1"/>
          </p:cNvSpPr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О себе">
  <p:cSld name="CUSTOM_1"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38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55" name="Google Shape;155;p38"/>
          <p:cNvSpPr txBox="1">
            <a:spLocks noGrp="1"/>
          </p:cNvSpPr>
          <p:nvPr>
            <p:ph type="subTitle" idx="1"/>
          </p:nvPr>
        </p:nvSpPr>
        <p:spPr>
          <a:xfrm>
            <a:off x="3891775" y="1716281"/>
            <a:ext cx="4391700" cy="58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56" name="Google Shape;156;p38"/>
          <p:cNvSpPr txBox="1">
            <a:spLocks noGrp="1"/>
          </p:cNvSpPr>
          <p:nvPr>
            <p:ph type="subTitle" idx="2"/>
          </p:nvPr>
        </p:nvSpPr>
        <p:spPr>
          <a:xfrm>
            <a:off x="3891775" y="2252801"/>
            <a:ext cx="5095200" cy="251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Раздел+описание">
  <p:cSld name="SECTION_TITLE_AND_DESCRIPTION"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3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9" name="Google Shape;159;p39"/>
          <p:cNvSpPr txBox="1">
            <a:spLocks noGrp="1"/>
          </p:cNvSpPr>
          <p:nvPr>
            <p:ph type="title"/>
          </p:nvPr>
        </p:nvSpPr>
        <p:spPr>
          <a:xfrm>
            <a:off x="609075" y="12208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160" name="Google Shape;160;p39"/>
          <p:cNvSpPr txBox="1">
            <a:spLocks noGrp="1"/>
          </p:cNvSpPr>
          <p:nvPr>
            <p:ph type="subTitle" idx="1"/>
          </p:nvPr>
        </p:nvSpPr>
        <p:spPr>
          <a:xfrm>
            <a:off x="609075" y="2916213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>
            <a:endParaRPr/>
          </a:p>
        </p:txBody>
      </p:sp>
      <p:sp>
        <p:nvSpPr>
          <p:cNvPr id="161" name="Google Shape;161;p3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36550" rtl="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marL="914400" lvl="1" indent="-323850" rtl="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marL="1371600" lvl="2" indent="-311150" rtl="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marL="1828800" lvl="3" indent="-311150" rtl="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4pPr>
            <a:lvl5pPr marL="2286000" lvl="4" indent="-311150" rtl="0"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5pPr>
            <a:lvl6pPr marL="2743200" lvl="5" indent="-311150" rtl="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6pPr>
            <a:lvl7pPr marL="3200400" lvl="6" indent="-311150" rtl="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7pPr>
            <a:lvl8pPr marL="3657600" lvl="7" indent="-311150" rtl="0"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8pPr>
            <a:lvl9pPr marL="4114800" lvl="8" indent="-311150" rtl="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9pPr>
          </a:lstStyle>
          <a:p>
            <a:endParaRPr/>
          </a:p>
        </p:txBody>
      </p:sp>
      <p:sp>
        <p:nvSpPr>
          <p:cNvPr id="162" name="Google Shape;162;p3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4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лайд с кодом 1">
  <p:cSld name="CUSTOM_2"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42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69" name="Google Shape;169;p42"/>
          <p:cNvSpPr/>
          <p:nvPr/>
        </p:nvSpPr>
        <p:spPr>
          <a:xfrm>
            <a:off x="590475" y="1364975"/>
            <a:ext cx="7988400" cy="3412500"/>
          </a:xfrm>
          <a:prstGeom prst="rect">
            <a:avLst/>
          </a:prstGeom>
          <a:solidFill>
            <a:srgbClr val="FBFB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0" name="Google Shape;170;p42"/>
          <p:cNvSpPr txBox="1">
            <a:spLocks noGrp="1"/>
          </p:cNvSpPr>
          <p:nvPr>
            <p:ph type="subTitle" idx="1"/>
          </p:nvPr>
        </p:nvSpPr>
        <p:spPr>
          <a:xfrm>
            <a:off x="754725" y="1516446"/>
            <a:ext cx="8226300" cy="345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Courier New"/>
              <a:buNone/>
              <a:defRPr sz="1100">
                <a:latin typeface="Courier New"/>
                <a:ea typeface="Courier New"/>
                <a:cs typeface="Courier New"/>
                <a:sym typeface="Courier New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лайд с кодом 2">
  <p:cSld name="CUSTOM_2_1"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43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73" name="Google Shape;173;p43"/>
          <p:cNvSpPr/>
          <p:nvPr/>
        </p:nvSpPr>
        <p:spPr>
          <a:xfrm>
            <a:off x="590475" y="1364975"/>
            <a:ext cx="7988400" cy="3412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4" name="Google Shape;174;p43"/>
          <p:cNvSpPr txBox="1">
            <a:spLocks noGrp="1"/>
          </p:cNvSpPr>
          <p:nvPr>
            <p:ph type="subTitle" idx="1"/>
          </p:nvPr>
        </p:nvSpPr>
        <p:spPr>
          <a:xfrm>
            <a:off x="754725" y="1516446"/>
            <a:ext cx="8226300" cy="345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Courier New"/>
              <a:buNone/>
              <a:defRPr sz="11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лайд КОД+ТЕКСТ 1">
  <p:cSld name="CUSTOM_4"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44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77" name="Google Shape;177;p44"/>
          <p:cNvSpPr txBox="1">
            <a:spLocks noGrp="1"/>
          </p:cNvSpPr>
          <p:nvPr>
            <p:ph type="subTitle" idx="1"/>
          </p:nvPr>
        </p:nvSpPr>
        <p:spPr>
          <a:xfrm>
            <a:off x="544050" y="1350425"/>
            <a:ext cx="5316300" cy="904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78" name="Google Shape;178;p44"/>
          <p:cNvSpPr/>
          <p:nvPr/>
        </p:nvSpPr>
        <p:spPr>
          <a:xfrm>
            <a:off x="606200" y="2144231"/>
            <a:ext cx="7938600" cy="2464500"/>
          </a:xfrm>
          <a:prstGeom prst="rect">
            <a:avLst/>
          </a:prstGeom>
          <a:solidFill>
            <a:srgbClr val="FBFB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9" name="Google Shape;179;p44"/>
          <p:cNvSpPr txBox="1">
            <a:spLocks noGrp="1"/>
          </p:cNvSpPr>
          <p:nvPr>
            <p:ph type="subTitle" idx="2"/>
          </p:nvPr>
        </p:nvSpPr>
        <p:spPr>
          <a:xfrm>
            <a:off x="795050" y="2220038"/>
            <a:ext cx="7568100" cy="236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Courier New"/>
              <a:buNone/>
              <a:defRPr sz="1300">
                <a:latin typeface="Courier New"/>
                <a:ea typeface="Courier New"/>
                <a:cs typeface="Courier New"/>
                <a:sym typeface="Courier New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лайд КОД+ТЕКСТ 2">
  <p:cSld name="CUSTOM_4_1"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45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2" name="Google Shape;182;p45"/>
          <p:cNvSpPr/>
          <p:nvPr/>
        </p:nvSpPr>
        <p:spPr>
          <a:xfrm>
            <a:off x="362300" y="1384249"/>
            <a:ext cx="4748700" cy="3393300"/>
          </a:xfrm>
          <a:prstGeom prst="rect">
            <a:avLst/>
          </a:prstGeom>
          <a:solidFill>
            <a:srgbClr val="FBFB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3" name="Google Shape;183;p45"/>
          <p:cNvSpPr txBox="1">
            <a:spLocks noGrp="1"/>
          </p:cNvSpPr>
          <p:nvPr>
            <p:ph type="subTitle" idx="1"/>
          </p:nvPr>
        </p:nvSpPr>
        <p:spPr>
          <a:xfrm>
            <a:off x="500550" y="1474819"/>
            <a:ext cx="4428600" cy="345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Courier New"/>
              <a:buNone/>
              <a:defRPr sz="1300">
                <a:latin typeface="Courier New"/>
                <a:ea typeface="Courier New"/>
                <a:cs typeface="Courier New"/>
                <a:sym typeface="Courier New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>
            <a:endParaRPr/>
          </a:p>
        </p:txBody>
      </p:sp>
      <p:sp>
        <p:nvSpPr>
          <p:cNvPr id="184" name="Google Shape;184;p45"/>
          <p:cNvSpPr txBox="1">
            <a:spLocks noGrp="1"/>
          </p:cNvSpPr>
          <p:nvPr>
            <p:ph type="subTitle" idx="2"/>
          </p:nvPr>
        </p:nvSpPr>
        <p:spPr>
          <a:xfrm>
            <a:off x="5555275" y="1474819"/>
            <a:ext cx="3151200" cy="326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jp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7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2.xml"/><Relationship Id="rId7" Type="http://schemas.openxmlformats.org/officeDocument/2006/relationships/slideLayout" Target="../slideLayouts/slideLayout16.xml"/><Relationship Id="rId12" Type="http://schemas.openxmlformats.org/officeDocument/2006/relationships/slideLayout" Target="../slideLayouts/slideLayout21.xml"/><Relationship Id="rId2" Type="http://schemas.openxmlformats.org/officeDocument/2006/relationships/slideLayout" Target="../slideLayouts/slideLayout11.xml"/><Relationship Id="rId1" Type="http://schemas.openxmlformats.org/officeDocument/2006/relationships/slideLayout" Target="../slideLayouts/slideLayout10.xml"/><Relationship Id="rId6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4.xml"/><Relationship Id="rId10" Type="http://schemas.openxmlformats.org/officeDocument/2006/relationships/slideLayout" Target="../slideLayouts/slideLayout19.xml"/><Relationship Id="rId4" Type="http://schemas.openxmlformats.org/officeDocument/2006/relationships/slideLayout" Target="../slideLayouts/slideLayout13.xml"/><Relationship Id="rId9" Type="http://schemas.openxmlformats.org/officeDocument/2006/relationships/slideLayout" Target="../slideLayouts/slideLayout18.xml"/><Relationship Id="rId14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blipFill>
          <a:blip r:embed="rId11">
            <a:alphaModFix/>
          </a:blip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Roboto"/>
              <a:buNone/>
              <a:defRPr sz="31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24350" y="1578869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365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Roboto"/>
              <a:buChar char="●"/>
              <a:defRPr sz="1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238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○"/>
              <a:defRPr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7" r:id="rId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blipFill>
          <a:blip r:embed="rId14">
            <a:alphaModFix/>
          </a:blip>
          <a:stretch>
            <a:fillRect/>
          </a:stretch>
        </a:blipFill>
        <a:effectLst/>
      </p:bgPr>
    </p:bg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31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Roboto"/>
              <a:buNone/>
              <a:defRPr sz="31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127" name="Google Shape;127;p31"/>
          <p:cNvSpPr txBox="1">
            <a:spLocks noGrp="1"/>
          </p:cNvSpPr>
          <p:nvPr>
            <p:ph type="body" idx="1"/>
          </p:nvPr>
        </p:nvSpPr>
        <p:spPr>
          <a:xfrm>
            <a:off x="424350" y="1578869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3655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Roboto"/>
              <a:buChar char="●"/>
              <a:defRPr sz="1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2385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○"/>
              <a:defRPr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115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115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1115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115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1115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1115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1115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128" name="Google Shape;128;p3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 rtl="0">
              <a:buNone/>
              <a:defRPr sz="1000">
                <a:solidFill>
                  <a:schemeClr val="dk2"/>
                </a:solidFill>
              </a:defRPr>
            </a:lvl1pPr>
            <a:lvl2pPr lvl="1" algn="r" rtl="0">
              <a:buNone/>
              <a:defRPr sz="1000">
                <a:solidFill>
                  <a:schemeClr val="dk2"/>
                </a:solidFill>
              </a:defRPr>
            </a:lvl2pPr>
            <a:lvl3pPr lvl="2" algn="r" rtl="0">
              <a:buNone/>
              <a:defRPr sz="1000">
                <a:solidFill>
                  <a:schemeClr val="dk2"/>
                </a:solidFill>
              </a:defRPr>
            </a:lvl3pPr>
            <a:lvl4pPr lvl="3" algn="r" rtl="0">
              <a:buNone/>
              <a:defRPr sz="1000">
                <a:solidFill>
                  <a:schemeClr val="dk2"/>
                </a:solidFill>
              </a:defRPr>
            </a:lvl4pPr>
            <a:lvl5pPr lvl="4" algn="r" rtl="0">
              <a:buNone/>
              <a:defRPr sz="1000">
                <a:solidFill>
                  <a:schemeClr val="dk2"/>
                </a:solidFill>
              </a:defRPr>
            </a:lvl5pPr>
            <a:lvl6pPr lvl="5" algn="r" rtl="0">
              <a:buNone/>
              <a:defRPr sz="1000">
                <a:solidFill>
                  <a:schemeClr val="dk2"/>
                </a:solidFill>
              </a:defRPr>
            </a:lvl6pPr>
            <a:lvl7pPr lvl="6" algn="r" rtl="0">
              <a:buNone/>
              <a:defRPr sz="1000">
                <a:solidFill>
                  <a:schemeClr val="dk2"/>
                </a:solidFill>
              </a:defRPr>
            </a:lvl7pPr>
            <a:lvl8pPr lvl="7" algn="r" rtl="0">
              <a:buNone/>
              <a:defRPr sz="1000">
                <a:solidFill>
                  <a:schemeClr val="dk2"/>
                </a:solidFill>
              </a:defRPr>
            </a:lvl8pPr>
            <a:lvl9pPr lvl="8" algn="r" rtl="0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76" r:id="rId1"/>
    <p:sldLayoutId id="2147483677" r:id="rId2"/>
    <p:sldLayoutId id="2147483679" r:id="rId3"/>
    <p:sldLayoutId id="2147483680" r:id="rId4"/>
    <p:sldLayoutId id="2147483681" r:id="rId5"/>
    <p:sldLayoutId id="2147483682" r:id="rId6"/>
    <p:sldLayoutId id="2147483683" r:id="rId7"/>
    <p:sldLayoutId id="2147483684" r:id="rId8"/>
    <p:sldLayoutId id="2147483686" r:id="rId9"/>
    <p:sldLayoutId id="2147483687" r:id="rId10"/>
    <p:sldLayoutId id="2147483688" r:id="rId11"/>
    <p:sldLayoutId id="2147483689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12" Type="http://schemas.openxmlformats.org/officeDocument/2006/relationships/image" Target="../media/image1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10.png"/><Relationship Id="rId11" Type="http://schemas.openxmlformats.org/officeDocument/2006/relationships/image" Target="../media/image15.png"/><Relationship Id="rId5" Type="http://schemas.openxmlformats.org/officeDocument/2006/relationships/image" Target="../media/image9.png"/><Relationship Id="rId10" Type="http://schemas.openxmlformats.org/officeDocument/2006/relationships/image" Target="../media/image14.png"/><Relationship Id="rId4" Type="http://schemas.openxmlformats.org/officeDocument/2006/relationships/image" Target="../media/image8.png"/><Relationship Id="rId9" Type="http://schemas.openxmlformats.org/officeDocument/2006/relationships/image" Target="../media/image1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4" Type="http://schemas.openxmlformats.org/officeDocument/2006/relationships/hyperlink" Target="http://www.linkedin.com/in/igor-stureiko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3.png"/><Relationship Id="rId4" Type="http://schemas.openxmlformats.org/officeDocument/2006/relationships/image" Target="../media/image230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gif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2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gif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gif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gif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gif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gif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gif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9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22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5.xml"/><Relationship Id="rId4" Type="http://schemas.openxmlformats.org/officeDocument/2006/relationships/hyperlink" Target="http://www.linkedin.com/in/igor-stureiko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46"/>
          <p:cNvSpPr txBox="1">
            <a:spLocks noGrp="1"/>
          </p:cNvSpPr>
          <p:nvPr>
            <p:ph type="subTitle" idx="1"/>
          </p:nvPr>
        </p:nvSpPr>
        <p:spPr>
          <a:xfrm>
            <a:off x="944650" y="4350425"/>
            <a:ext cx="8293200" cy="48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otus.ru</a:t>
            </a:r>
            <a:endParaRPr dirty="0"/>
          </a:p>
        </p:txBody>
      </p:sp>
      <p:sp>
        <p:nvSpPr>
          <p:cNvPr id="190" name="Google Shape;190;p46"/>
          <p:cNvSpPr txBox="1">
            <a:spLocks noGrp="1"/>
          </p:cNvSpPr>
          <p:nvPr>
            <p:ph type="title"/>
          </p:nvPr>
        </p:nvSpPr>
        <p:spPr>
          <a:xfrm>
            <a:off x="944650" y="1769200"/>
            <a:ext cx="7379700" cy="237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/>
              <a:t>Reinforcement learning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3600" dirty="0"/>
              <a:t>Введение в </a:t>
            </a:r>
            <a:r>
              <a:rPr lang="en-US" sz="3600" dirty="0" err="1"/>
              <a:t>DeepRL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47"/>
          <p:cNvSpPr txBox="1">
            <a:spLocks noGrp="1"/>
          </p:cNvSpPr>
          <p:nvPr>
            <p:ph type="title"/>
          </p:nvPr>
        </p:nvSpPr>
        <p:spPr>
          <a:xfrm>
            <a:off x="1635875" y="772125"/>
            <a:ext cx="79353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2100"/>
              <a:t>Проверить, идет ли запись</a:t>
            </a:r>
            <a:endParaRPr sz="2100"/>
          </a:p>
        </p:txBody>
      </p:sp>
      <p:sp>
        <p:nvSpPr>
          <p:cNvPr id="196" name="Google Shape;196;p47"/>
          <p:cNvSpPr txBox="1">
            <a:spLocks noGrp="1"/>
          </p:cNvSpPr>
          <p:nvPr>
            <p:ph type="title"/>
          </p:nvPr>
        </p:nvSpPr>
        <p:spPr>
          <a:xfrm>
            <a:off x="766725" y="1805199"/>
            <a:ext cx="7935300" cy="1295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4000"/>
              <a:t>Меня хорошо видно</a:t>
            </a:r>
            <a:endParaRPr sz="40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4000"/>
              <a:t>&amp;&amp; слышно?</a:t>
            </a:r>
            <a:endParaRPr sz="4000"/>
          </a:p>
        </p:txBody>
      </p:sp>
      <p:pic>
        <p:nvPicPr>
          <p:cNvPr id="197" name="Google Shape;197;p47"/>
          <p:cNvPicPr preferRelativeResize="0"/>
          <p:nvPr/>
        </p:nvPicPr>
        <p:blipFill rotWithShape="1">
          <a:blip r:embed="rId3">
            <a:alphaModFix/>
          </a:blip>
          <a:srcRect l="99" r="99"/>
          <a:stretch/>
        </p:blipFill>
        <p:spPr>
          <a:xfrm>
            <a:off x="880825" y="1032408"/>
            <a:ext cx="642317" cy="321159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4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72375" y="3520050"/>
            <a:ext cx="525600" cy="525600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47"/>
          <p:cNvSpPr txBox="1"/>
          <p:nvPr/>
        </p:nvSpPr>
        <p:spPr>
          <a:xfrm>
            <a:off x="1514225" y="3459600"/>
            <a:ext cx="3000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Ставим “+”, если все хорошо</a:t>
            </a:r>
            <a:br>
              <a:rPr lang="ru"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ru"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“-”, если есть проблемы</a:t>
            </a:r>
            <a:endParaRPr sz="15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49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3200" b="1"/>
              <a:t>Правила вебинара</a:t>
            </a:r>
            <a:endParaRPr sz="3200" b="1"/>
          </a:p>
        </p:txBody>
      </p:sp>
      <p:pic>
        <p:nvPicPr>
          <p:cNvPr id="215" name="Google Shape;215;p4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7650" y="3951281"/>
            <a:ext cx="692621" cy="69262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6" name="Google Shape;216;p4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37650" y="1281613"/>
            <a:ext cx="692621" cy="69262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7" name="Google Shape;217;p49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37651" y="3061406"/>
            <a:ext cx="692621" cy="692599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Google Shape;218;p49"/>
          <p:cNvSpPr txBox="1"/>
          <p:nvPr/>
        </p:nvSpPr>
        <p:spPr>
          <a:xfrm>
            <a:off x="1654525" y="1252250"/>
            <a:ext cx="24753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latin typeface="Roboto"/>
                <a:ea typeface="Roboto"/>
                <a:cs typeface="Roboto"/>
                <a:sym typeface="Roboto"/>
              </a:rPr>
              <a:t>Активно</a:t>
            </a:r>
            <a:endParaRPr sz="150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latin typeface="Roboto"/>
                <a:ea typeface="Roboto"/>
                <a:cs typeface="Roboto"/>
                <a:sym typeface="Roboto"/>
              </a:rPr>
              <a:t>участвуем</a:t>
            </a:r>
            <a:endParaRPr sz="15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9" name="Google Shape;219;p49"/>
          <p:cNvSpPr txBox="1"/>
          <p:nvPr/>
        </p:nvSpPr>
        <p:spPr>
          <a:xfrm>
            <a:off x="1654525" y="3066419"/>
            <a:ext cx="3231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dirty="0">
                <a:latin typeface="Roboto"/>
                <a:ea typeface="Roboto"/>
                <a:cs typeface="Roboto"/>
                <a:sym typeface="Roboto"/>
              </a:rPr>
              <a:t>Задаем вопрос</a:t>
            </a:r>
            <a:endParaRPr sz="1500" dirty="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dirty="0">
                <a:latin typeface="Roboto"/>
                <a:ea typeface="Roboto"/>
                <a:cs typeface="Roboto"/>
                <a:sym typeface="Roboto"/>
              </a:rPr>
              <a:t>в чат</a:t>
            </a:r>
            <a:endParaRPr sz="1500" dirty="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0" name="Google Shape;220;p49"/>
          <p:cNvSpPr txBox="1"/>
          <p:nvPr/>
        </p:nvSpPr>
        <p:spPr>
          <a:xfrm>
            <a:off x="1654525" y="3975059"/>
            <a:ext cx="3231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latin typeface="Roboto"/>
                <a:ea typeface="Roboto"/>
                <a:cs typeface="Roboto"/>
                <a:sym typeface="Roboto"/>
              </a:rPr>
              <a:t>Вопросы вижу в чате,</a:t>
            </a:r>
            <a:endParaRPr sz="150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latin typeface="Roboto"/>
                <a:ea typeface="Roboto"/>
                <a:cs typeface="Roboto"/>
                <a:sym typeface="Roboto"/>
              </a:rPr>
              <a:t>могу ответить не сразу</a:t>
            </a:r>
            <a:endParaRPr sz="15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1" name="Google Shape;221;p49"/>
          <p:cNvSpPr txBox="1"/>
          <p:nvPr/>
        </p:nvSpPr>
        <p:spPr>
          <a:xfrm>
            <a:off x="1654525" y="2049300"/>
            <a:ext cx="2475300" cy="8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dirty="0">
                <a:latin typeface="Roboto"/>
                <a:ea typeface="Roboto"/>
                <a:cs typeface="Roboto"/>
                <a:sym typeface="Roboto"/>
              </a:rPr>
              <a:t>Off-topic обсуждаем</a:t>
            </a:r>
            <a:endParaRPr sz="1500" dirty="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dirty="0">
                <a:latin typeface="Roboto"/>
                <a:ea typeface="Roboto"/>
                <a:cs typeface="Roboto"/>
                <a:sym typeface="Roboto"/>
              </a:rPr>
              <a:t>в учебной группе </a:t>
            </a:r>
            <a:endParaRPr sz="1500" dirty="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dirty="0">
                <a:latin typeface="Roboto"/>
                <a:ea typeface="Roboto"/>
                <a:cs typeface="Roboto"/>
                <a:sym typeface="Roboto"/>
              </a:rPr>
              <a:t> </a:t>
            </a:r>
            <a:endParaRPr sz="1500" dirty="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2" name="Google Shape;222;p49"/>
          <p:cNvSpPr/>
          <p:nvPr/>
        </p:nvSpPr>
        <p:spPr>
          <a:xfrm>
            <a:off x="6046275" y="-8050"/>
            <a:ext cx="3097500" cy="5143500"/>
          </a:xfrm>
          <a:prstGeom prst="rect">
            <a:avLst/>
          </a:prstGeom>
          <a:solidFill>
            <a:srgbClr val="21212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3" name="Google Shape;223;p49"/>
          <p:cNvSpPr txBox="1"/>
          <p:nvPr/>
        </p:nvSpPr>
        <p:spPr>
          <a:xfrm>
            <a:off x="6344063" y="1052963"/>
            <a:ext cx="2044200" cy="8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2000" b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Условные </a:t>
            </a:r>
            <a:endParaRPr sz="2000" b="1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2000" b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обозначения</a:t>
            </a:r>
            <a:endParaRPr sz="2000" b="1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24" name="Google Shape;224;p49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438593" y="1912032"/>
            <a:ext cx="330301" cy="330303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p49"/>
          <p:cNvSpPr txBox="1"/>
          <p:nvPr/>
        </p:nvSpPr>
        <p:spPr>
          <a:xfrm>
            <a:off x="6829363" y="1898744"/>
            <a:ext cx="20442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Индивидуально</a:t>
            </a:r>
            <a:endParaRPr sz="11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26" name="Google Shape;226;p49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438593" y="2392126"/>
            <a:ext cx="330301" cy="330303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49"/>
          <p:cNvSpPr txBox="1"/>
          <p:nvPr/>
        </p:nvSpPr>
        <p:spPr>
          <a:xfrm>
            <a:off x="6829363" y="2291099"/>
            <a:ext cx="20442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Время, необходимое</a:t>
            </a:r>
            <a:endParaRPr sz="11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на активность</a:t>
            </a:r>
            <a:endParaRPr sz="11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28" name="Google Shape;228;p49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438593" y="2872220"/>
            <a:ext cx="330301" cy="330303"/>
          </a:xfrm>
          <a:prstGeom prst="rect">
            <a:avLst/>
          </a:prstGeom>
          <a:noFill/>
          <a:ln>
            <a:noFill/>
          </a:ln>
        </p:spPr>
      </p:pic>
      <p:sp>
        <p:nvSpPr>
          <p:cNvPr id="229" name="Google Shape;229;p49"/>
          <p:cNvSpPr txBox="1"/>
          <p:nvPr/>
        </p:nvSpPr>
        <p:spPr>
          <a:xfrm>
            <a:off x="6829363" y="2873300"/>
            <a:ext cx="20442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Пишем в чат</a:t>
            </a:r>
            <a:endParaRPr sz="11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30" name="Google Shape;230;p49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6438593" y="3352314"/>
            <a:ext cx="330301" cy="330303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49"/>
          <p:cNvSpPr txBox="1"/>
          <p:nvPr/>
        </p:nvSpPr>
        <p:spPr>
          <a:xfrm>
            <a:off x="6829363" y="3359347"/>
            <a:ext cx="20442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Говорим голосом</a:t>
            </a:r>
            <a:endParaRPr sz="11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32" name="Google Shape;232;p49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6438593" y="3832409"/>
            <a:ext cx="330301" cy="330301"/>
          </a:xfrm>
          <a:prstGeom prst="rect">
            <a:avLst/>
          </a:prstGeom>
          <a:noFill/>
          <a:ln>
            <a:noFill/>
          </a:ln>
        </p:spPr>
      </p:pic>
      <p:sp>
        <p:nvSpPr>
          <p:cNvPr id="233" name="Google Shape;233;p49"/>
          <p:cNvSpPr txBox="1"/>
          <p:nvPr/>
        </p:nvSpPr>
        <p:spPr>
          <a:xfrm>
            <a:off x="6829363" y="3827568"/>
            <a:ext cx="20442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Документ</a:t>
            </a:r>
            <a:endParaRPr sz="11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34" name="Google Shape;234;p49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6438593" y="4312503"/>
            <a:ext cx="330301" cy="330303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49"/>
          <p:cNvSpPr txBox="1"/>
          <p:nvPr/>
        </p:nvSpPr>
        <p:spPr>
          <a:xfrm>
            <a:off x="6829363" y="4223086"/>
            <a:ext cx="20442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Ответьте себе или</a:t>
            </a:r>
            <a:endParaRPr sz="11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задайте вопрос</a:t>
            </a:r>
            <a:endParaRPr sz="11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37" name="Google Shape;237;p49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837650" y="2171500"/>
            <a:ext cx="692625" cy="692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48"/>
          <p:cNvSpPr/>
          <p:nvPr/>
        </p:nvSpPr>
        <p:spPr>
          <a:xfrm>
            <a:off x="630000" y="2703050"/>
            <a:ext cx="1033800" cy="19836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6" name="Google Shape;206;p48"/>
          <p:cNvSpPr txBox="1">
            <a:spLocks noGrp="1"/>
          </p:cNvSpPr>
          <p:nvPr>
            <p:ph type="title"/>
          </p:nvPr>
        </p:nvSpPr>
        <p:spPr>
          <a:xfrm>
            <a:off x="500550" y="821219"/>
            <a:ext cx="8520600" cy="103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/>
              <a:t>Reinforcement learning.</a:t>
            </a:r>
            <a:br>
              <a:rPr lang="en-US" dirty="0"/>
            </a:br>
            <a:r>
              <a:rPr lang="ru-RU" dirty="0"/>
              <a:t>Введение в </a:t>
            </a:r>
            <a:r>
              <a:rPr lang="en-US" dirty="0" err="1"/>
              <a:t>DeepRL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07" name="Google Shape;207;p48"/>
          <p:cNvSpPr txBox="1">
            <a:spLocks noGrp="1"/>
          </p:cNvSpPr>
          <p:nvPr>
            <p:ph type="subTitle" idx="1"/>
          </p:nvPr>
        </p:nvSpPr>
        <p:spPr>
          <a:xfrm>
            <a:off x="500550" y="520133"/>
            <a:ext cx="7796700" cy="35692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Тема вебинара</a:t>
            </a:r>
            <a:endParaRPr dirty="0"/>
          </a:p>
        </p:txBody>
      </p:sp>
      <p:sp>
        <p:nvSpPr>
          <p:cNvPr id="208" name="Google Shape;208;p48"/>
          <p:cNvSpPr txBox="1">
            <a:spLocks noGrp="1"/>
          </p:cNvSpPr>
          <p:nvPr>
            <p:ph type="subTitle" idx="2"/>
          </p:nvPr>
        </p:nvSpPr>
        <p:spPr>
          <a:xfrm>
            <a:off x="3082400" y="2306150"/>
            <a:ext cx="5856300" cy="396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Игорь Стурейко</a:t>
            </a:r>
            <a:endParaRPr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75B6C0B-391F-E646-B875-92F9CA29F5A5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t="12156" r="295"/>
          <a:stretch/>
        </p:blipFill>
        <p:spPr>
          <a:xfrm>
            <a:off x="832654" y="2865544"/>
            <a:ext cx="1662292" cy="1657372"/>
          </a:xfrm>
          <a:prstGeom prst="ellipse">
            <a:avLst/>
          </a:prstGeom>
          <a:ln w="127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sp>
        <p:nvSpPr>
          <p:cNvPr id="10" name="Google Shape;209;p48">
            <a:extLst>
              <a:ext uri="{FF2B5EF4-FFF2-40B4-BE49-F238E27FC236}">
                <a16:creationId xmlns:a16="http://schemas.microsoft.com/office/drawing/2014/main" id="{C68FB238-F925-CA4B-8568-161F57E8F14B}"/>
              </a:ext>
            </a:extLst>
          </p:cNvPr>
          <p:cNvSpPr txBox="1">
            <a:spLocks/>
          </p:cNvSpPr>
          <p:nvPr/>
        </p:nvSpPr>
        <p:spPr>
          <a:xfrm>
            <a:off x="3082400" y="2701811"/>
            <a:ext cx="5938750" cy="21336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85000" lnSpcReduction="20000"/>
          </a:bodyPr>
          <a:lstStyle>
            <a:lvl1pPr marL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 i="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470025" indent="-1465263">
              <a:tabLst>
                <a:tab pos="1465263" algn="l"/>
              </a:tabLst>
            </a:pPr>
            <a:r>
              <a:rPr lang="ru-RU" sz="1150" b="1" kern="0" dirty="0"/>
              <a:t>Руководитель курсов: </a:t>
            </a:r>
            <a:r>
              <a:rPr lang="en-US" sz="1150" b="1" kern="0" dirty="0"/>
              <a:t>	Reinforcement Learning, ML Professional, ML Basic, </a:t>
            </a:r>
            <a:br>
              <a:rPr lang="en-US" sz="1150" b="1" kern="0" dirty="0"/>
            </a:br>
            <a:r>
              <a:rPr lang="en-US" sz="1150" b="1" kern="0" dirty="0" err="1"/>
              <a:t>MLOps</a:t>
            </a:r>
            <a:r>
              <a:rPr lang="en-US" sz="1150" b="1" kern="0" dirty="0"/>
              <a:t>, </a:t>
            </a:r>
            <a:r>
              <a:rPr lang="en-US" sz="1150" b="1" kern="0" dirty="0" err="1"/>
              <a:t>FinML</a:t>
            </a:r>
            <a:endParaRPr lang="en-US" sz="1150" b="1" kern="0" dirty="0"/>
          </a:p>
          <a:p>
            <a:pPr rtl="0"/>
            <a:endParaRPr lang="en-US" sz="1150" b="1" kern="0" dirty="0"/>
          </a:p>
          <a:p>
            <a:pPr rtl="0"/>
            <a:r>
              <a:rPr lang="en-US" sz="1150" b="1" kern="0" dirty="0" err="1"/>
              <a:t>Teamlead</a:t>
            </a:r>
            <a:r>
              <a:rPr lang="en-US" sz="1150" b="1" kern="0" dirty="0"/>
              <a:t>, </a:t>
            </a:r>
            <a:r>
              <a:rPr lang="ru-RU" sz="1150" b="1" kern="0" dirty="0"/>
              <a:t>главный инженер проекта, </a:t>
            </a:r>
          </a:p>
          <a:p>
            <a:pPr rtl="0"/>
            <a:r>
              <a:rPr lang="ru-RU" sz="1150" b="1" kern="0" dirty="0"/>
              <a:t>Физический факультет МГУ, </a:t>
            </a:r>
            <a:r>
              <a:rPr lang="en-US" sz="1150" b="1" kern="0" dirty="0"/>
              <a:t>PhD </a:t>
            </a:r>
            <a:r>
              <a:rPr lang="ru-RU" sz="1150" b="1" kern="0" dirty="0"/>
              <a:t>теоретическая физика</a:t>
            </a:r>
          </a:p>
          <a:p>
            <a:pPr rtl="0"/>
            <a:endParaRPr lang="ru-RU" sz="1150" kern="0" dirty="0"/>
          </a:p>
          <a:p>
            <a:pPr rtl="0"/>
            <a:r>
              <a:rPr lang="ru-RU" sz="1150" b="1" kern="0" dirty="0"/>
              <a:t>Опыт:</a:t>
            </a:r>
            <a:endParaRPr lang="ru-RU" sz="1150" kern="0" dirty="0"/>
          </a:p>
          <a:p>
            <a:pPr rtl="0"/>
            <a:r>
              <a:rPr lang="ru-RU" sz="1150" kern="0" dirty="0"/>
              <a:t>Более 15 лет занимался прикладной математикой и мат моделированием</a:t>
            </a:r>
          </a:p>
          <a:p>
            <a:pPr rtl="0"/>
            <a:r>
              <a:rPr lang="ru-RU" sz="1150" kern="0" dirty="0"/>
              <a:t>(</a:t>
            </a:r>
            <a:r>
              <a:rPr lang="en-US" sz="1150" kern="0" dirty="0"/>
              <a:t>Data Scientist) (Python, </a:t>
            </a:r>
            <a:r>
              <a:rPr lang="ru-RU" sz="1150" kern="0" dirty="0"/>
              <a:t>С++) в НИИ ПАО Газпром</a:t>
            </a:r>
          </a:p>
          <a:p>
            <a:pPr rtl="0"/>
            <a:endParaRPr lang="ru-RU" sz="1150" kern="0" dirty="0"/>
          </a:p>
          <a:p>
            <a:pPr rtl="0"/>
            <a:endParaRPr lang="ru-RU" sz="1150" b="1" kern="0" dirty="0"/>
          </a:p>
          <a:p>
            <a:pPr rtl="0"/>
            <a:r>
              <a:rPr lang="ru-RU" sz="1150" b="1" kern="0" dirty="0"/>
              <a:t>@</a:t>
            </a:r>
            <a:r>
              <a:rPr lang="en-US" sz="1150" b="1" kern="0" dirty="0" err="1"/>
              <a:t>stureiko</a:t>
            </a:r>
            <a:r>
              <a:rPr lang="en-US" sz="1150" b="1" kern="0" dirty="0"/>
              <a:t> (TG)</a:t>
            </a:r>
          </a:p>
          <a:p>
            <a:pPr rtl="0"/>
            <a:endParaRPr lang="en-US" sz="1150" b="1" kern="0" dirty="0"/>
          </a:p>
          <a:p>
            <a:pPr rtl="0"/>
            <a:r>
              <a:rPr lang="en-US" sz="1150" b="1" kern="0" dirty="0"/>
              <a:t>LinkedIn: </a:t>
            </a:r>
            <a:r>
              <a:rPr lang="en-US" sz="1150" kern="0" dirty="0">
                <a:hlinkClick r:id="rId4"/>
              </a:rPr>
              <a:t>igor-stureiko</a:t>
            </a:r>
            <a:r>
              <a:rPr lang="en-US" sz="1150" kern="0" dirty="0"/>
              <a:t> </a:t>
            </a:r>
          </a:p>
          <a:p>
            <a:pPr rtl="0"/>
            <a:endParaRPr lang="en-US" sz="1150" kern="0" dirty="0"/>
          </a:p>
          <a:p>
            <a:pPr rtl="0"/>
            <a:r>
              <a:rPr lang="en-US" sz="1150" b="1" kern="0" dirty="0"/>
              <a:t>@</a:t>
            </a:r>
            <a:r>
              <a:rPr lang="en-US" sz="1150" b="1" kern="0" dirty="0" err="1"/>
              <a:t>rl_fintech</a:t>
            </a:r>
            <a:r>
              <a:rPr lang="en-US" sz="1150" b="1" kern="0" dirty="0"/>
              <a:t> </a:t>
            </a:r>
            <a:r>
              <a:rPr lang="en-US" sz="1150" kern="0" dirty="0"/>
              <a:t>(</a:t>
            </a:r>
            <a:r>
              <a:rPr lang="ru-RU" sz="1150" kern="0" dirty="0"/>
              <a:t>Мой канал о моделях в бизнесе)</a:t>
            </a:r>
            <a:endParaRPr lang="ru-RU" sz="1400" kern="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44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Карта курса</a:t>
            </a:r>
            <a:endParaRPr/>
          </a:p>
        </p:txBody>
      </p:sp>
      <p:sp>
        <p:nvSpPr>
          <p:cNvPr id="271" name="Google Shape;271;p44"/>
          <p:cNvSpPr/>
          <p:nvPr/>
        </p:nvSpPr>
        <p:spPr>
          <a:xfrm>
            <a:off x="5805200" y="627325"/>
            <a:ext cx="3034000" cy="576000"/>
          </a:xfrm>
          <a:prstGeom prst="roundRect">
            <a:avLst>
              <a:gd name="adj" fmla="val 16667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" sz="1600" dirty="0">
                <a:solidFill>
                  <a:srgbClr val="1F1F1F"/>
                </a:solidFill>
                <a:latin typeface="Google Sans"/>
                <a:sym typeface="Roboto"/>
              </a:rPr>
              <a:t>Введение</a:t>
            </a:r>
            <a:endParaRPr sz="1600" dirty="0">
              <a:solidFill>
                <a:srgbClr val="1F1F1F"/>
              </a:solidFill>
              <a:latin typeface="Google Sans"/>
              <a:sym typeface="Roboto"/>
            </a:endParaRPr>
          </a:p>
          <a:p>
            <a:r>
              <a:rPr lang="ru" sz="1600" dirty="0">
                <a:solidFill>
                  <a:srgbClr val="1F1F1F"/>
                </a:solidFill>
                <a:latin typeface="Google Sans"/>
                <a:sym typeface="Roboto"/>
              </a:rPr>
              <a:t>в Reinforcement Learning</a:t>
            </a:r>
            <a:endParaRPr sz="1600"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sp>
        <p:nvSpPr>
          <p:cNvPr id="272" name="Google Shape;272;p44"/>
          <p:cNvSpPr/>
          <p:nvPr/>
        </p:nvSpPr>
        <p:spPr>
          <a:xfrm>
            <a:off x="1073088" y="1847675"/>
            <a:ext cx="2473200" cy="5793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 rad="139700"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" sz="1600" dirty="0">
                <a:solidFill>
                  <a:srgbClr val="1F1F1F"/>
                </a:solidFill>
                <a:latin typeface="Google Sans"/>
                <a:sym typeface="Roboto"/>
              </a:rPr>
              <a:t>Deep Reinforcement Learning</a:t>
            </a:r>
            <a:endParaRPr sz="1600"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sp>
        <p:nvSpPr>
          <p:cNvPr id="273" name="Google Shape;273;p44"/>
          <p:cNvSpPr/>
          <p:nvPr/>
        </p:nvSpPr>
        <p:spPr>
          <a:xfrm>
            <a:off x="4491135" y="1847803"/>
            <a:ext cx="2917948" cy="5793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Advanced </a:t>
            </a:r>
            <a:br>
              <a:rPr lang="ru-RU" sz="13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-US" sz="13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Reinforcement Learning</a:t>
            </a:r>
          </a:p>
        </p:txBody>
      </p:sp>
      <p:sp>
        <p:nvSpPr>
          <p:cNvPr id="274" name="Google Shape;274;p44"/>
          <p:cNvSpPr/>
          <p:nvPr/>
        </p:nvSpPr>
        <p:spPr>
          <a:xfrm>
            <a:off x="4140833" y="3254170"/>
            <a:ext cx="2970600" cy="5793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Reinforcement Learning в реальных задачах</a:t>
            </a:r>
            <a:endParaRPr sz="13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76" name="Google Shape;276;p44"/>
          <p:cNvCxnSpPr>
            <a:cxnSpLocks/>
            <a:stCxn id="272" idx="3"/>
            <a:endCxn id="273" idx="1"/>
          </p:cNvCxnSpPr>
          <p:nvPr/>
        </p:nvCxnSpPr>
        <p:spPr>
          <a:xfrm>
            <a:off x="3546288" y="2137325"/>
            <a:ext cx="944847" cy="128"/>
          </a:xfrm>
          <a:prstGeom prst="curvedConnector3">
            <a:avLst>
              <a:gd name="adj1" fmla="val 50000"/>
            </a:avLst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277" name="Google Shape;277;p44"/>
          <p:cNvCxnSpPr>
            <a:cxnSpLocks/>
            <a:stCxn id="271" idx="1"/>
            <a:endCxn id="272" idx="0"/>
          </p:cNvCxnSpPr>
          <p:nvPr/>
        </p:nvCxnSpPr>
        <p:spPr>
          <a:xfrm rot="10800000" flipV="1">
            <a:off x="2309688" y="915325"/>
            <a:ext cx="3495512" cy="932350"/>
          </a:xfrm>
          <a:prstGeom prst="curvedConnector2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278" name="Google Shape;278;p44"/>
          <p:cNvSpPr/>
          <p:nvPr/>
        </p:nvSpPr>
        <p:spPr>
          <a:xfrm>
            <a:off x="767838" y="4137347"/>
            <a:ext cx="3083700" cy="5793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Проектная работа</a:t>
            </a:r>
            <a:endParaRPr sz="13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79" name="Google Shape;279;p44"/>
          <p:cNvCxnSpPr>
            <a:cxnSpLocks/>
            <a:stCxn id="273" idx="3"/>
            <a:endCxn id="274" idx="3"/>
          </p:cNvCxnSpPr>
          <p:nvPr/>
        </p:nvCxnSpPr>
        <p:spPr>
          <a:xfrm flipH="1">
            <a:off x="7111433" y="2137453"/>
            <a:ext cx="297650" cy="1406367"/>
          </a:xfrm>
          <a:prstGeom prst="curvedConnector3">
            <a:avLst>
              <a:gd name="adj1" fmla="val -76802"/>
            </a:avLst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281" name="Google Shape;281;p44"/>
          <p:cNvCxnSpPr>
            <a:cxnSpLocks/>
            <a:stCxn id="274" idx="1"/>
            <a:endCxn id="278" idx="0"/>
          </p:cNvCxnSpPr>
          <p:nvPr/>
        </p:nvCxnSpPr>
        <p:spPr>
          <a:xfrm rot="10800000" flipV="1">
            <a:off x="2309689" y="3543819"/>
            <a:ext cx="1831145" cy="593527"/>
          </a:xfrm>
          <a:prstGeom prst="curvedConnector2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</p:cxnSp>
      <p:pic>
        <p:nvPicPr>
          <p:cNvPr id="33" name="Google Shape;530;p82">
            <a:extLst>
              <a:ext uri="{FF2B5EF4-FFF2-40B4-BE49-F238E27FC236}">
                <a16:creationId xmlns:a16="http://schemas.microsoft.com/office/drawing/2014/main" id="{CCDE05CC-2BC0-2242-878F-9266DBB0C310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3">
            <a:alphaModFix/>
            <a:duotone>
              <a:schemeClr val="accent5">
                <a:shade val="45000"/>
                <a:satMod val="135000"/>
              </a:schemeClr>
              <a:prstClr val="white"/>
            </a:duotone>
          </a:blip>
          <a:srcRect/>
          <a:stretch/>
        </p:blipFill>
        <p:spPr>
          <a:xfrm>
            <a:off x="7820139" y="1283227"/>
            <a:ext cx="180002" cy="180000"/>
          </a:xfrm>
          <a:prstGeom prst="rect">
            <a:avLst/>
          </a:prstGeom>
          <a:noFill/>
          <a:ln>
            <a:noFill/>
          </a:ln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ECD39ED7-986F-C44F-AB9B-9B7D2D7A7297}"/>
              </a:ext>
            </a:extLst>
          </p:cNvPr>
          <p:cNvSpPr txBox="1"/>
          <p:nvPr/>
        </p:nvSpPr>
        <p:spPr>
          <a:xfrm>
            <a:off x="8000141" y="1257005"/>
            <a:ext cx="72006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 err="1">
                <a:latin typeface="AkayaTelivigala" pitchFamily="2" charset="77"/>
                <a:cs typeface="Apple Chancery" panose="03020702040506060504" pitchFamily="66" charset="-79"/>
              </a:rPr>
              <a:t>HomeTask</a:t>
            </a:r>
            <a:endParaRPr lang="en-US" sz="1000" dirty="0">
              <a:latin typeface="Bradley Hand" pitchFamily="2" charset="77"/>
              <a:cs typeface="Apple Chancery" panose="03020702040506060504" pitchFamily="66" charset="-79"/>
            </a:endParaRPr>
          </a:p>
        </p:txBody>
      </p:sp>
      <p:pic>
        <p:nvPicPr>
          <p:cNvPr id="35" name="Google Shape;530;p82">
            <a:extLst>
              <a:ext uri="{FF2B5EF4-FFF2-40B4-BE49-F238E27FC236}">
                <a16:creationId xmlns:a16="http://schemas.microsoft.com/office/drawing/2014/main" id="{F8762030-AB6E-EA48-94AA-05667E56E0B5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3">
            <a:alphaModFix/>
            <a:duotone>
              <a:schemeClr val="accent5">
                <a:shade val="45000"/>
                <a:satMod val="135000"/>
              </a:schemeClr>
              <a:prstClr val="white"/>
            </a:duotone>
          </a:blip>
          <a:srcRect/>
          <a:stretch/>
        </p:blipFill>
        <p:spPr>
          <a:xfrm>
            <a:off x="2646217" y="2464447"/>
            <a:ext cx="180002" cy="180000"/>
          </a:xfrm>
          <a:prstGeom prst="rect">
            <a:avLst/>
          </a:prstGeom>
          <a:noFill/>
          <a:ln>
            <a:noFill/>
          </a:ln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1EE8DB15-D7EB-AF4A-AF42-E23E858A9200}"/>
              </a:ext>
            </a:extLst>
          </p:cNvPr>
          <p:cNvSpPr txBox="1"/>
          <p:nvPr/>
        </p:nvSpPr>
        <p:spPr>
          <a:xfrm>
            <a:off x="2826219" y="2438225"/>
            <a:ext cx="72006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 err="1">
                <a:latin typeface="AkayaTelivigala" pitchFamily="2" charset="77"/>
                <a:cs typeface="Apple Chancery" panose="03020702040506060504" pitchFamily="66" charset="-79"/>
              </a:rPr>
              <a:t>HomeTask</a:t>
            </a:r>
            <a:endParaRPr lang="en-US" sz="1000" dirty="0">
              <a:latin typeface="Bradley Hand" pitchFamily="2" charset="77"/>
              <a:cs typeface="Apple Chancery" panose="03020702040506060504" pitchFamily="66" charset="-79"/>
            </a:endParaRPr>
          </a:p>
        </p:txBody>
      </p:sp>
      <p:pic>
        <p:nvPicPr>
          <p:cNvPr id="37" name="Google Shape;530;p82">
            <a:extLst>
              <a:ext uri="{FF2B5EF4-FFF2-40B4-BE49-F238E27FC236}">
                <a16:creationId xmlns:a16="http://schemas.microsoft.com/office/drawing/2014/main" id="{9B0FF9F4-BD74-6D4A-84F0-EEE42E67D71B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3">
            <a:alphaModFix/>
            <a:duotone>
              <a:schemeClr val="accent5">
                <a:shade val="45000"/>
                <a:satMod val="135000"/>
              </a:schemeClr>
              <a:prstClr val="white"/>
            </a:duotone>
          </a:blip>
          <a:srcRect/>
          <a:stretch/>
        </p:blipFill>
        <p:spPr>
          <a:xfrm>
            <a:off x="2646217" y="2685179"/>
            <a:ext cx="180002" cy="180000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TextBox 37">
            <a:extLst>
              <a:ext uri="{FF2B5EF4-FFF2-40B4-BE49-F238E27FC236}">
                <a16:creationId xmlns:a16="http://schemas.microsoft.com/office/drawing/2014/main" id="{2B8E2FDB-CC58-2148-AEE8-60319C2CDB06}"/>
              </a:ext>
            </a:extLst>
          </p:cNvPr>
          <p:cNvSpPr txBox="1"/>
          <p:nvPr/>
        </p:nvSpPr>
        <p:spPr>
          <a:xfrm>
            <a:off x="2826219" y="2658957"/>
            <a:ext cx="72006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 err="1">
                <a:latin typeface="AkayaTelivigala" pitchFamily="2" charset="77"/>
                <a:cs typeface="Apple Chancery" panose="03020702040506060504" pitchFamily="66" charset="-79"/>
              </a:rPr>
              <a:t>HomeTask</a:t>
            </a:r>
            <a:endParaRPr lang="en-US" sz="1000" dirty="0">
              <a:latin typeface="Bradley Hand" pitchFamily="2" charset="77"/>
              <a:cs typeface="Apple Chancery" panose="03020702040506060504" pitchFamily="66" charset="-79"/>
            </a:endParaRPr>
          </a:p>
        </p:txBody>
      </p:sp>
      <p:pic>
        <p:nvPicPr>
          <p:cNvPr id="39" name="Google Shape;530;p82">
            <a:extLst>
              <a:ext uri="{FF2B5EF4-FFF2-40B4-BE49-F238E27FC236}">
                <a16:creationId xmlns:a16="http://schemas.microsoft.com/office/drawing/2014/main" id="{B93C8975-AB14-2B4C-ABCD-AAE0570C29DB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3">
            <a:alphaModFix/>
            <a:duotone>
              <a:schemeClr val="accent5">
                <a:shade val="45000"/>
                <a:satMod val="135000"/>
              </a:schemeClr>
              <a:prstClr val="white"/>
            </a:duotone>
          </a:blip>
          <a:srcRect/>
          <a:stretch/>
        </p:blipFill>
        <p:spPr>
          <a:xfrm>
            <a:off x="6571396" y="2468443"/>
            <a:ext cx="180002" cy="180000"/>
          </a:xfrm>
          <a:prstGeom prst="rect">
            <a:avLst/>
          </a:prstGeom>
          <a:noFill/>
          <a:ln>
            <a:noFill/>
          </a:ln>
        </p:spPr>
      </p:pic>
      <p:sp>
        <p:nvSpPr>
          <p:cNvPr id="40" name="TextBox 39">
            <a:extLst>
              <a:ext uri="{FF2B5EF4-FFF2-40B4-BE49-F238E27FC236}">
                <a16:creationId xmlns:a16="http://schemas.microsoft.com/office/drawing/2014/main" id="{E3C42D55-1755-C841-9C69-D39873572F99}"/>
              </a:ext>
            </a:extLst>
          </p:cNvPr>
          <p:cNvSpPr txBox="1"/>
          <p:nvPr/>
        </p:nvSpPr>
        <p:spPr>
          <a:xfrm>
            <a:off x="6751398" y="2442221"/>
            <a:ext cx="72006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 err="1">
                <a:latin typeface="AkayaTelivigala" pitchFamily="2" charset="77"/>
                <a:cs typeface="Apple Chancery" panose="03020702040506060504" pitchFamily="66" charset="-79"/>
              </a:rPr>
              <a:t>HomeTask</a:t>
            </a:r>
            <a:endParaRPr lang="en-US" sz="1000" dirty="0">
              <a:latin typeface="Bradley Hand" pitchFamily="2" charset="77"/>
              <a:cs typeface="Apple Chancery" panose="03020702040506060504" pitchFamily="66" charset="-79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44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Программа курса</a:t>
            </a:r>
            <a:endParaRPr dirty="0"/>
          </a:p>
        </p:txBody>
      </p:sp>
      <p:sp>
        <p:nvSpPr>
          <p:cNvPr id="271" name="Google Shape;271;p44"/>
          <p:cNvSpPr/>
          <p:nvPr/>
        </p:nvSpPr>
        <p:spPr>
          <a:xfrm>
            <a:off x="500550" y="1104419"/>
            <a:ext cx="2612467" cy="5793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Deep Reinforcement Learning</a:t>
            </a:r>
          </a:p>
        </p:txBody>
      </p:sp>
      <p:sp>
        <p:nvSpPr>
          <p:cNvPr id="12" name="Google Shape;271;p44">
            <a:extLst>
              <a:ext uri="{FF2B5EF4-FFF2-40B4-BE49-F238E27FC236}">
                <a16:creationId xmlns:a16="http://schemas.microsoft.com/office/drawing/2014/main" id="{D8FD06C8-E377-A548-A8E0-938A22A6A104}"/>
              </a:ext>
            </a:extLst>
          </p:cNvPr>
          <p:cNvSpPr/>
          <p:nvPr/>
        </p:nvSpPr>
        <p:spPr>
          <a:xfrm>
            <a:off x="2226713" y="1892008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 rad="122479"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dirty="0">
                <a:solidFill>
                  <a:srgbClr val="1F1F1F"/>
                </a:solidFill>
                <a:latin typeface="Google Sans"/>
                <a:sym typeface="Roboto"/>
              </a:rPr>
              <a:t>Введение </a:t>
            </a:r>
            <a:r>
              <a:rPr lang="ru-RU">
                <a:solidFill>
                  <a:srgbClr val="1F1F1F"/>
                </a:solidFill>
                <a:latin typeface="Google Sans"/>
                <a:sym typeface="Roboto"/>
              </a:rPr>
              <a:t>в </a:t>
            </a:r>
            <a:r>
              <a:rPr lang="en-US" dirty="0">
                <a:solidFill>
                  <a:srgbClr val="1F1F1F"/>
                </a:solidFill>
                <a:latin typeface="Google Sans"/>
                <a:sym typeface="Roboto"/>
              </a:rPr>
              <a:t>Deep Reinforcement Learning</a:t>
            </a:r>
            <a:endParaRPr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sp>
        <p:nvSpPr>
          <p:cNvPr id="13" name="Google Shape;271;p44">
            <a:extLst>
              <a:ext uri="{FF2B5EF4-FFF2-40B4-BE49-F238E27FC236}">
                <a16:creationId xmlns:a16="http://schemas.microsoft.com/office/drawing/2014/main" id="{0FE2E67F-87DB-BA4A-8DD0-D5FDE2391C49}"/>
              </a:ext>
            </a:extLst>
          </p:cNvPr>
          <p:cNvSpPr/>
          <p:nvPr/>
        </p:nvSpPr>
        <p:spPr>
          <a:xfrm>
            <a:off x="2226713" y="2422029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en-US" dirty="0">
                <a:solidFill>
                  <a:srgbClr val="1F1F1F"/>
                </a:solidFill>
                <a:latin typeface="Google Sans"/>
                <a:sym typeface="Roboto"/>
              </a:rPr>
              <a:t>Deep Q-Network (DQN) </a:t>
            </a:r>
            <a:r>
              <a:rPr lang="ru-RU" dirty="0">
                <a:solidFill>
                  <a:srgbClr val="1F1F1F"/>
                </a:solidFill>
                <a:latin typeface="Google Sans"/>
                <a:sym typeface="Roboto"/>
              </a:rPr>
              <a:t>алгоритм</a:t>
            </a:r>
          </a:p>
        </p:txBody>
      </p:sp>
      <p:sp>
        <p:nvSpPr>
          <p:cNvPr id="15" name="Google Shape;271;p44">
            <a:extLst>
              <a:ext uri="{FF2B5EF4-FFF2-40B4-BE49-F238E27FC236}">
                <a16:creationId xmlns:a16="http://schemas.microsoft.com/office/drawing/2014/main" id="{55C6BCEC-9B97-6546-93F2-CDA7BE006328}"/>
              </a:ext>
            </a:extLst>
          </p:cNvPr>
          <p:cNvSpPr/>
          <p:nvPr/>
        </p:nvSpPr>
        <p:spPr>
          <a:xfrm>
            <a:off x="2226713" y="2952050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en-US" dirty="0">
                <a:solidFill>
                  <a:srgbClr val="1F1F1F"/>
                </a:solidFill>
                <a:latin typeface="Google Sans"/>
                <a:sym typeface="Roboto"/>
              </a:rPr>
              <a:t>Policy Gradient (PG) </a:t>
            </a:r>
            <a:r>
              <a:rPr lang="ru-RU" dirty="0">
                <a:solidFill>
                  <a:srgbClr val="1F1F1F"/>
                </a:solidFill>
                <a:latin typeface="Google Sans"/>
                <a:sym typeface="Roboto"/>
              </a:rPr>
              <a:t>алгоритм</a:t>
            </a:r>
            <a:endParaRPr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sp>
        <p:nvSpPr>
          <p:cNvPr id="16" name="Google Shape;271;p44">
            <a:extLst>
              <a:ext uri="{FF2B5EF4-FFF2-40B4-BE49-F238E27FC236}">
                <a16:creationId xmlns:a16="http://schemas.microsoft.com/office/drawing/2014/main" id="{7A56B114-1520-2F4F-BC28-2EADE862D379}"/>
              </a:ext>
            </a:extLst>
          </p:cNvPr>
          <p:cNvSpPr/>
          <p:nvPr/>
        </p:nvSpPr>
        <p:spPr>
          <a:xfrm>
            <a:off x="2226713" y="3482071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en-US" dirty="0">
                <a:solidFill>
                  <a:srgbClr val="1F1F1F"/>
                </a:solidFill>
                <a:latin typeface="Google Sans"/>
                <a:sym typeface="Roboto"/>
              </a:rPr>
              <a:t>Actor-Critic </a:t>
            </a:r>
            <a:r>
              <a:rPr lang="ru-RU" dirty="0">
                <a:solidFill>
                  <a:srgbClr val="1F1F1F"/>
                </a:solidFill>
                <a:latin typeface="Google Sans"/>
                <a:sym typeface="Roboto"/>
              </a:rPr>
              <a:t>алгоритм</a:t>
            </a:r>
            <a:endParaRPr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cxnSp>
        <p:nvCxnSpPr>
          <p:cNvPr id="3" name="Elbow Connector 2">
            <a:extLst>
              <a:ext uri="{FF2B5EF4-FFF2-40B4-BE49-F238E27FC236}">
                <a16:creationId xmlns:a16="http://schemas.microsoft.com/office/drawing/2014/main" id="{C1180B41-AAC0-2546-8533-191E5D9B7F77}"/>
              </a:ext>
            </a:extLst>
          </p:cNvPr>
          <p:cNvCxnSpPr>
            <a:cxnSpLocks/>
            <a:stCxn id="271" idx="2"/>
            <a:endCxn id="12" idx="1"/>
          </p:cNvCxnSpPr>
          <p:nvPr/>
        </p:nvCxnSpPr>
        <p:spPr>
          <a:xfrm rot="16200000" flipH="1">
            <a:off x="1813604" y="1676898"/>
            <a:ext cx="406289" cy="419929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Elbow Connector 6">
            <a:extLst>
              <a:ext uri="{FF2B5EF4-FFF2-40B4-BE49-F238E27FC236}">
                <a16:creationId xmlns:a16="http://schemas.microsoft.com/office/drawing/2014/main" id="{F828FA00-64F5-D64E-A4E8-78AD68A71E2D}"/>
              </a:ext>
            </a:extLst>
          </p:cNvPr>
          <p:cNvCxnSpPr>
            <a:stCxn id="271" idx="2"/>
            <a:endCxn id="13" idx="1"/>
          </p:cNvCxnSpPr>
          <p:nvPr/>
        </p:nvCxnSpPr>
        <p:spPr>
          <a:xfrm rot="16200000" flipH="1">
            <a:off x="1548593" y="1941909"/>
            <a:ext cx="936310" cy="419929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Elbow Connector 8">
            <a:extLst>
              <a:ext uri="{FF2B5EF4-FFF2-40B4-BE49-F238E27FC236}">
                <a16:creationId xmlns:a16="http://schemas.microsoft.com/office/drawing/2014/main" id="{509552CD-5AFB-3C41-BD1B-73124950E9F0}"/>
              </a:ext>
            </a:extLst>
          </p:cNvPr>
          <p:cNvCxnSpPr>
            <a:stCxn id="271" idx="2"/>
            <a:endCxn id="15" idx="1"/>
          </p:cNvCxnSpPr>
          <p:nvPr/>
        </p:nvCxnSpPr>
        <p:spPr>
          <a:xfrm rot="16200000" flipH="1">
            <a:off x="1283583" y="2206919"/>
            <a:ext cx="1466331" cy="419929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Elbow Connector 10">
            <a:extLst>
              <a:ext uri="{FF2B5EF4-FFF2-40B4-BE49-F238E27FC236}">
                <a16:creationId xmlns:a16="http://schemas.microsoft.com/office/drawing/2014/main" id="{1B9CA35D-F3DD-2349-BB63-178A3D48C12C}"/>
              </a:ext>
            </a:extLst>
          </p:cNvPr>
          <p:cNvCxnSpPr>
            <a:stCxn id="271" idx="2"/>
            <a:endCxn id="16" idx="1"/>
          </p:cNvCxnSpPr>
          <p:nvPr/>
        </p:nvCxnSpPr>
        <p:spPr>
          <a:xfrm rot="16200000" flipH="1">
            <a:off x="1018572" y="2471930"/>
            <a:ext cx="1996352" cy="419929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3" name="Table 23">
            <a:extLst>
              <a:ext uri="{FF2B5EF4-FFF2-40B4-BE49-F238E27FC236}">
                <a16:creationId xmlns:a16="http://schemas.microsoft.com/office/drawing/2014/main" id="{7207DC4F-0418-0E43-AEA2-26001954E05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60703375"/>
              </p:ext>
            </p:extLst>
          </p:nvPr>
        </p:nvGraphicFramePr>
        <p:xfrm>
          <a:off x="5355768" y="573874"/>
          <a:ext cx="2226910" cy="304800"/>
        </p:xfrm>
        <a:graphic>
          <a:graphicData uri="http://schemas.openxmlformats.org/drawingml/2006/table">
            <a:tbl>
              <a:tblPr firstRow="1" bandRow="1"/>
              <a:tblGrid>
                <a:gridCol w="445382">
                  <a:extLst>
                    <a:ext uri="{9D8B030D-6E8A-4147-A177-3AD203B41FA5}">
                      <a16:colId xmlns:a16="http://schemas.microsoft.com/office/drawing/2014/main" val="884960188"/>
                    </a:ext>
                  </a:extLst>
                </a:gridCol>
                <a:gridCol w="445382">
                  <a:extLst>
                    <a:ext uri="{9D8B030D-6E8A-4147-A177-3AD203B41FA5}">
                      <a16:colId xmlns:a16="http://schemas.microsoft.com/office/drawing/2014/main" val="1334008315"/>
                    </a:ext>
                  </a:extLst>
                </a:gridCol>
                <a:gridCol w="445382">
                  <a:extLst>
                    <a:ext uri="{9D8B030D-6E8A-4147-A177-3AD203B41FA5}">
                      <a16:colId xmlns:a16="http://schemas.microsoft.com/office/drawing/2014/main" val="3209860974"/>
                    </a:ext>
                  </a:extLst>
                </a:gridCol>
                <a:gridCol w="445382">
                  <a:extLst>
                    <a:ext uri="{9D8B030D-6E8A-4147-A177-3AD203B41FA5}">
                      <a16:colId xmlns:a16="http://schemas.microsoft.com/office/drawing/2014/main" val="4238538779"/>
                    </a:ext>
                  </a:extLst>
                </a:gridCol>
                <a:gridCol w="445382">
                  <a:extLst>
                    <a:ext uri="{9D8B030D-6E8A-4147-A177-3AD203B41FA5}">
                      <a16:colId xmlns:a16="http://schemas.microsoft.com/office/drawing/2014/main" val="4263781807"/>
                    </a:ext>
                  </a:extLst>
                </a:gridCol>
              </a:tblGrid>
              <a:tr h="25024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FD9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753204"/>
                  </a:ext>
                </a:extLst>
              </a:tr>
            </a:tbl>
          </a:graphicData>
        </a:graphic>
      </p:graphicFrame>
      <p:sp>
        <p:nvSpPr>
          <p:cNvPr id="25" name="Google Shape;271;p44">
            <a:extLst>
              <a:ext uri="{FF2B5EF4-FFF2-40B4-BE49-F238E27FC236}">
                <a16:creationId xmlns:a16="http://schemas.microsoft.com/office/drawing/2014/main" id="{9615838B-B804-D045-AE27-2457EFCC8969}"/>
              </a:ext>
            </a:extLst>
          </p:cNvPr>
          <p:cNvSpPr/>
          <p:nvPr/>
        </p:nvSpPr>
        <p:spPr>
          <a:xfrm>
            <a:off x="2226713" y="4014853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en-US" dirty="0">
                <a:solidFill>
                  <a:srgbClr val="1F1F1F"/>
                </a:solidFill>
                <a:latin typeface="Google Sans"/>
                <a:sym typeface="Roboto"/>
              </a:rPr>
              <a:t>TRPO -&gt; PPO</a:t>
            </a:r>
            <a:endParaRPr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sp>
        <p:nvSpPr>
          <p:cNvPr id="35" name="Google Shape;271;p44">
            <a:extLst>
              <a:ext uri="{FF2B5EF4-FFF2-40B4-BE49-F238E27FC236}">
                <a16:creationId xmlns:a16="http://schemas.microsoft.com/office/drawing/2014/main" id="{5D7505C2-4B5E-6840-BEA8-8DDB58E03DF7}"/>
              </a:ext>
            </a:extLst>
          </p:cNvPr>
          <p:cNvSpPr/>
          <p:nvPr/>
        </p:nvSpPr>
        <p:spPr>
          <a:xfrm>
            <a:off x="2226712" y="4547635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en-US" dirty="0">
                <a:solidFill>
                  <a:srgbClr val="1F1F1F"/>
                </a:solidFill>
                <a:latin typeface="Google Sans"/>
                <a:sym typeface="Roboto"/>
              </a:rPr>
              <a:t>DDPG -&gt; TD3 -&gt; LSTM-TD3</a:t>
            </a:r>
            <a:endParaRPr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cxnSp>
        <p:nvCxnSpPr>
          <p:cNvPr id="36" name="Elbow Connector 35">
            <a:extLst>
              <a:ext uri="{FF2B5EF4-FFF2-40B4-BE49-F238E27FC236}">
                <a16:creationId xmlns:a16="http://schemas.microsoft.com/office/drawing/2014/main" id="{18D73E8C-7771-1D48-9CFA-BC014891DFED}"/>
              </a:ext>
            </a:extLst>
          </p:cNvPr>
          <p:cNvCxnSpPr>
            <a:cxnSpLocks/>
            <a:stCxn id="271" idx="2"/>
            <a:endCxn id="35" idx="1"/>
          </p:cNvCxnSpPr>
          <p:nvPr/>
        </p:nvCxnSpPr>
        <p:spPr>
          <a:xfrm rot="16200000" flipH="1">
            <a:off x="485790" y="3004713"/>
            <a:ext cx="3061916" cy="419928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Elbow Connector 36">
            <a:extLst>
              <a:ext uri="{FF2B5EF4-FFF2-40B4-BE49-F238E27FC236}">
                <a16:creationId xmlns:a16="http://schemas.microsoft.com/office/drawing/2014/main" id="{E786A569-B463-5A4C-8BA8-42624F9DE98D}"/>
              </a:ext>
            </a:extLst>
          </p:cNvPr>
          <p:cNvCxnSpPr>
            <a:cxnSpLocks/>
            <a:stCxn id="271" idx="2"/>
            <a:endCxn id="25" idx="1"/>
          </p:cNvCxnSpPr>
          <p:nvPr/>
        </p:nvCxnSpPr>
        <p:spPr>
          <a:xfrm rot="16200000" flipH="1">
            <a:off x="752181" y="2738321"/>
            <a:ext cx="2529134" cy="419929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202642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52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Маршрут вебинара</a:t>
            </a:r>
            <a:endParaRPr dirty="0"/>
          </a:p>
        </p:txBody>
      </p:sp>
      <p:sp>
        <p:nvSpPr>
          <p:cNvPr id="267" name="Google Shape;267;p52"/>
          <p:cNvSpPr/>
          <p:nvPr/>
        </p:nvSpPr>
        <p:spPr>
          <a:xfrm>
            <a:off x="786525" y="1205525"/>
            <a:ext cx="3384900" cy="3762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Знакомство</a:t>
            </a:r>
            <a:endParaRPr sz="13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9" name="Google Shape;269;p52"/>
          <p:cNvSpPr/>
          <p:nvPr/>
        </p:nvSpPr>
        <p:spPr>
          <a:xfrm>
            <a:off x="786523" y="2427843"/>
            <a:ext cx="3384900" cy="3762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3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Проблемы классического </a:t>
            </a:r>
            <a:r>
              <a:rPr lang="en-US" sz="13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RL</a:t>
            </a:r>
          </a:p>
        </p:txBody>
      </p:sp>
      <p:sp>
        <p:nvSpPr>
          <p:cNvPr id="270" name="Google Shape;270;p52"/>
          <p:cNvSpPr/>
          <p:nvPr/>
        </p:nvSpPr>
        <p:spPr>
          <a:xfrm>
            <a:off x="786523" y="2983907"/>
            <a:ext cx="3384900" cy="3762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3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Идея </a:t>
            </a:r>
            <a:r>
              <a:rPr lang="en-US" sz="13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Deep RL</a:t>
            </a:r>
          </a:p>
        </p:txBody>
      </p:sp>
      <p:sp>
        <p:nvSpPr>
          <p:cNvPr id="271" name="Google Shape;271;p52"/>
          <p:cNvSpPr/>
          <p:nvPr/>
        </p:nvSpPr>
        <p:spPr>
          <a:xfrm>
            <a:off x="786522" y="3539971"/>
            <a:ext cx="3384900" cy="3762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dirty="0">
                <a:latin typeface="Roboto"/>
                <a:ea typeface="Roboto"/>
                <a:cs typeface="Roboto"/>
                <a:sym typeface="Roboto"/>
              </a:rPr>
              <a:t>Deep Cross-Entropy</a:t>
            </a:r>
            <a:endParaRPr sz="1300" dirty="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2" name="Google Shape;272;p52"/>
          <p:cNvSpPr/>
          <p:nvPr/>
        </p:nvSpPr>
        <p:spPr>
          <a:xfrm>
            <a:off x="799825" y="4096034"/>
            <a:ext cx="3384900" cy="3762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3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Заключение</a:t>
            </a:r>
            <a:endParaRPr sz="13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74" name="Google Shape;274;p52"/>
          <p:cNvCxnSpPr>
            <a:cxnSpLocks/>
            <a:stCxn id="267" idx="1"/>
            <a:endCxn id="13" idx="1"/>
          </p:cNvCxnSpPr>
          <p:nvPr/>
        </p:nvCxnSpPr>
        <p:spPr>
          <a:xfrm rot="10800000" flipV="1">
            <a:off x="786523" y="1393624"/>
            <a:ext cx="2" cy="611159"/>
          </a:xfrm>
          <a:prstGeom prst="curvedConnector3">
            <a:avLst>
              <a:gd name="adj1" fmla="val 11430100000"/>
            </a:avLst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med" len="med"/>
            <a:tailEnd type="stealth" w="med" len="med"/>
          </a:ln>
        </p:spPr>
      </p:cxnSp>
      <p:cxnSp>
        <p:nvCxnSpPr>
          <p:cNvPr id="275" name="Google Shape;275;p52"/>
          <p:cNvCxnSpPr>
            <a:stCxn id="269" idx="1"/>
            <a:endCxn id="270" idx="1"/>
          </p:cNvCxnSpPr>
          <p:nvPr/>
        </p:nvCxnSpPr>
        <p:spPr>
          <a:xfrm rot="10800000" flipV="1">
            <a:off x="786523" y="2615943"/>
            <a:ext cx="12700" cy="556064"/>
          </a:xfrm>
          <a:prstGeom prst="curvedConnector3">
            <a:avLst>
              <a:gd name="adj1" fmla="val 1800000"/>
            </a:avLst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med" len="med"/>
            <a:tailEnd type="stealth" w="med" len="med"/>
          </a:ln>
        </p:spPr>
      </p:cxnSp>
      <p:cxnSp>
        <p:nvCxnSpPr>
          <p:cNvPr id="276" name="Google Shape;276;p52"/>
          <p:cNvCxnSpPr>
            <a:stCxn id="270" idx="1"/>
            <a:endCxn id="271" idx="1"/>
          </p:cNvCxnSpPr>
          <p:nvPr/>
        </p:nvCxnSpPr>
        <p:spPr>
          <a:xfrm rot="10800000" flipV="1">
            <a:off x="786523" y="3172007"/>
            <a:ext cx="1" cy="556064"/>
          </a:xfrm>
          <a:prstGeom prst="curvedConnector3">
            <a:avLst>
              <a:gd name="adj1" fmla="val 22860100000"/>
            </a:avLst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med" len="med"/>
            <a:tailEnd type="stealth" w="med" len="med"/>
          </a:ln>
        </p:spPr>
      </p:cxnSp>
      <p:cxnSp>
        <p:nvCxnSpPr>
          <p:cNvPr id="277" name="Google Shape;277;p52"/>
          <p:cNvCxnSpPr>
            <a:stCxn id="271" idx="1"/>
            <a:endCxn id="272" idx="1"/>
          </p:cNvCxnSpPr>
          <p:nvPr/>
        </p:nvCxnSpPr>
        <p:spPr>
          <a:xfrm rot="10800000" flipH="1" flipV="1">
            <a:off x="786521" y="3728070"/>
            <a:ext cx="13303" cy="556063"/>
          </a:xfrm>
          <a:prstGeom prst="curvedConnector3">
            <a:avLst>
              <a:gd name="adj1" fmla="val -1718409"/>
            </a:avLst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med" len="med"/>
            <a:tailEnd type="stealth" w="med" len="med"/>
          </a:ln>
        </p:spPr>
      </p:cxnSp>
      <p:sp>
        <p:nvSpPr>
          <p:cNvPr id="13" name="Google Shape;269;p52">
            <a:extLst>
              <a:ext uri="{FF2B5EF4-FFF2-40B4-BE49-F238E27FC236}">
                <a16:creationId xmlns:a16="http://schemas.microsoft.com/office/drawing/2014/main" id="{17CDD7DE-B110-D043-B8F6-0740A4F83DF7}"/>
              </a:ext>
            </a:extLst>
          </p:cNvPr>
          <p:cNvSpPr/>
          <p:nvPr/>
        </p:nvSpPr>
        <p:spPr>
          <a:xfrm>
            <a:off x="786523" y="1761589"/>
            <a:ext cx="3384900" cy="48639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3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Применение классического </a:t>
            </a:r>
            <a:r>
              <a:rPr lang="en-US" sz="13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RL</a:t>
            </a:r>
            <a:r>
              <a:rPr lang="ru-RU" sz="13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в непрерывных средах</a:t>
            </a:r>
            <a:endParaRPr lang="en-US" sz="13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3" name="Google Shape;274;p52">
            <a:extLst>
              <a:ext uri="{FF2B5EF4-FFF2-40B4-BE49-F238E27FC236}">
                <a16:creationId xmlns:a16="http://schemas.microsoft.com/office/drawing/2014/main" id="{E3A43FEA-1F5C-0C4D-B5CA-6A4C747B8F12}"/>
              </a:ext>
            </a:extLst>
          </p:cNvPr>
          <p:cNvCxnSpPr>
            <a:cxnSpLocks/>
            <a:stCxn id="13" idx="1"/>
            <a:endCxn id="269" idx="1"/>
          </p:cNvCxnSpPr>
          <p:nvPr/>
        </p:nvCxnSpPr>
        <p:spPr>
          <a:xfrm rot="10800000" flipV="1">
            <a:off x="786523" y="2004783"/>
            <a:ext cx="12700" cy="611159"/>
          </a:xfrm>
          <a:prstGeom prst="curvedConnector3">
            <a:avLst>
              <a:gd name="adj1" fmla="val 1800000"/>
            </a:avLst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med" len="med"/>
            <a:tailEnd type="stealth" w="med" len="med"/>
          </a:ln>
        </p:spPr>
      </p:cxnSp>
      <p:grpSp>
        <p:nvGrpSpPr>
          <p:cNvPr id="25" name="Group 24">
            <a:extLst>
              <a:ext uri="{FF2B5EF4-FFF2-40B4-BE49-F238E27FC236}">
                <a16:creationId xmlns:a16="http://schemas.microsoft.com/office/drawing/2014/main" id="{0231DE6E-5CC6-D646-9F32-475C2739CD93}"/>
              </a:ext>
            </a:extLst>
          </p:cNvPr>
          <p:cNvGrpSpPr/>
          <p:nvPr/>
        </p:nvGrpSpPr>
        <p:grpSpPr>
          <a:xfrm>
            <a:off x="5362873" y="598538"/>
            <a:ext cx="3139518" cy="4011545"/>
            <a:chOff x="5362873" y="598538"/>
            <a:chExt cx="3139518" cy="4011545"/>
          </a:xfrm>
        </p:grpSpPr>
        <p:pic>
          <p:nvPicPr>
            <p:cNvPr id="20" name="Picture 19">
              <a:extLst>
                <a:ext uri="{FF2B5EF4-FFF2-40B4-BE49-F238E27FC236}">
                  <a16:creationId xmlns:a16="http://schemas.microsoft.com/office/drawing/2014/main" id="{494AA284-31F3-8940-BFCC-5545D14E5DD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r="51890"/>
            <a:stretch/>
          </p:blipFill>
          <p:spPr>
            <a:xfrm>
              <a:off x="5362873" y="598538"/>
              <a:ext cx="3054665" cy="2156936"/>
            </a:xfrm>
            <a:prstGeom prst="rect">
              <a:avLst/>
            </a:prstGeom>
          </p:spPr>
        </p:pic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308290AA-E176-7943-9CDB-8BFCF24AAB89}"/>
                </a:ext>
              </a:extLst>
            </p:cNvPr>
            <p:cNvSpPr/>
            <p:nvPr/>
          </p:nvSpPr>
          <p:spPr>
            <a:xfrm>
              <a:off x="5389792" y="598538"/>
              <a:ext cx="375746" cy="34366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4" name="Picture 23">
              <a:extLst>
                <a:ext uri="{FF2B5EF4-FFF2-40B4-BE49-F238E27FC236}">
                  <a16:creationId xmlns:a16="http://schemas.microsoft.com/office/drawing/2014/main" id="{A7F7BC5A-415E-BA4B-8013-B5F9E8D2C06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48078"/>
            <a:stretch/>
          </p:blipFill>
          <p:spPr>
            <a:xfrm>
              <a:off x="5917445" y="2846057"/>
              <a:ext cx="2500093" cy="1764026"/>
            </a:xfrm>
            <a:prstGeom prst="rect">
              <a:avLst/>
            </a:prstGeom>
          </p:spPr>
        </p:pic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24EE2359-F561-1E4C-911F-5454C66776FA}"/>
                </a:ext>
              </a:extLst>
            </p:cNvPr>
            <p:cNvSpPr/>
            <p:nvPr/>
          </p:nvSpPr>
          <p:spPr>
            <a:xfrm>
              <a:off x="8126645" y="2828340"/>
              <a:ext cx="375746" cy="34366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53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Цели вебинара</a:t>
            </a:r>
            <a:endParaRPr/>
          </a:p>
        </p:txBody>
      </p:sp>
      <p:sp>
        <p:nvSpPr>
          <p:cNvPr id="285" name="Google Shape;285;p53"/>
          <p:cNvSpPr txBox="1">
            <a:spLocks noGrp="1"/>
          </p:cNvSpPr>
          <p:nvPr>
            <p:ph type="subTitle" idx="4294967295"/>
          </p:nvPr>
        </p:nvSpPr>
        <p:spPr>
          <a:xfrm>
            <a:off x="500550" y="857363"/>
            <a:ext cx="77967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b="1">
                <a:solidFill>
                  <a:srgbClr val="FF9900"/>
                </a:solidFill>
              </a:rPr>
              <a:t>К концу занятия вы сможете</a:t>
            </a:r>
            <a:endParaRPr sz="1500" b="1">
              <a:solidFill>
                <a:srgbClr val="FF9900"/>
              </a:solidFill>
            </a:endParaRPr>
          </a:p>
        </p:txBody>
      </p:sp>
      <p:graphicFrame>
        <p:nvGraphicFramePr>
          <p:cNvPr id="5" name="Google Shape;291;p54">
            <a:extLst>
              <a:ext uri="{FF2B5EF4-FFF2-40B4-BE49-F238E27FC236}">
                <a16:creationId xmlns:a16="http://schemas.microsoft.com/office/drawing/2014/main" id="{E2B54366-1866-A24B-BD49-C56A5B58666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37127137"/>
              </p:ext>
            </p:extLst>
          </p:nvPr>
        </p:nvGraphicFramePr>
        <p:xfrm>
          <a:off x="952500" y="1544194"/>
          <a:ext cx="7239000" cy="1047912"/>
        </p:xfrm>
        <a:graphic>
          <a:graphicData uri="http://schemas.openxmlformats.org/drawingml/2006/table">
            <a:tbl>
              <a:tblPr>
                <a:noFill/>
                <a:tableStyleId>{B623574C-9AE7-4070-A081-93A97D88BCA6}</a:tableStyleId>
              </a:tblPr>
              <a:tblGrid>
                <a:gridCol w="489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49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5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 b="1" dirty="0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1.</a:t>
                      </a:r>
                      <a:endParaRPr sz="1300" b="1" dirty="0">
                        <a:solidFill>
                          <a:srgbClr val="FF99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Понять сложности применения классических алгоритмов к непрерывным средам</a:t>
                      </a:r>
                      <a:endParaRPr sz="1300" dirty="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 b="1" dirty="0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2.</a:t>
                      </a:r>
                      <a:endParaRPr sz="1300" b="1" dirty="0">
                        <a:solidFill>
                          <a:srgbClr val="FF99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Понять подход к применению нейросети для предсказания политики</a:t>
                      </a:r>
                      <a:endParaRPr sz="1300" dirty="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300" b="1" dirty="0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3.</a:t>
                      </a:r>
                      <a:endParaRPr sz="1300" b="1" dirty="0">
                        <a:solidFill>
                          <a:srgbClr val="FF99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Понять применение нейросети в алгоритме кросс-энтропии</a:t>
                      </a:r>
                      <a:endParaRPr sz="1300" dirty="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 algn="ctr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1347217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54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Смысл</a:t>
            </a:r>
            <a:endParaRPr/>
          </a:p>
        </p:txBody>
      </p:sp>
      <p:graphicFrame>
        <p:nvGraphicFramePr>
          <p:cNvPr id="291" name="Google Shape;291;p54"/>
          <p:cNvGraphicFramePr/>
          <p:nvPr>
            <p:extLst>
              <p:ext uri="{D42A27DB-BD31-4B8C-83A1-F6EECF244321}">
                <p14:modId xmlns:p14="http://schemas.microsoft.com/office/powerpoint/2010/main" val="1856571405"/>
              </p:ext>
            </p:extLst>
          </p:nvPr>
        </p:nvGraphicFramePr>
        <p:xfrm>
          <a:off x="952500" y="1544194"/>
          <a:ext cx="7239000" cy="698608"/>
        </p:xfrm>
        <a:graphic>
          <a:graphicData uri="http://schemas.openxmlformats.org/drawingml/2006/table">
            <a:tbl>
              <a:tblPr>
                <a:noFill/>
                <a:tableStyleId>{B623574C-9AE7-4070-A081-93A97D88BCA6}</a:tableStyleId>
              </a:tblPr>
              <a:tblGrid>
                <a:gridCol w="489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49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5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 b="1" dirty="0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1.</a:t>
                      </a:r>
                      <a:endParaRPr sz="1300" b="1" dirty="0">
                        <a:solidFill>
                          <a:srgbClr val="FF99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Понимать границы применимости классических алгоритмов</a:t>
                      </a:r>
                      <a:endParaRPr sz="1300" dirty="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 b="1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2.</a:t>
                      </a:r>
                      <a:endParaRPr sz="1300" b="1">
                        <a:solidFill>
                          <a:srgbClr val="FF99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Понимать переход к </a:t>
                      </a:r>
                      <a:r>
                        <a:rPr lang="en-US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Deep Reinforcement Learning</a:t>
                      </a:r>
                      <a:endParaRPr sz="1300" dirty="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93" name="Google Shape;293;p54"/>
          <p:cNvSpPr txBox="1">
            <a:spLocks noGrp="1"/>
          </p:cNvSpPr>
          <p:nvPr>
            <p:ph type="subTitle" idx="4294967295"/>
          </p:nvPr>
        </p:nvSpPr>
        <p:spPr>
          <a:xfrm>
            <a:off x="500550" y="857363"/>
            <a:ext cx="77967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b="1">
                <a:solidFill>
                  <a:srgbClr val="FF9900"/>
                </a:solidFill>
              </a:rPr>
              <a:t>Зачем вам это уметь</a:t>
            </a:r>
            <a:endParaRPr sz="1500" b="1">
              <a:solidFill>
                <a:srgbClr val="FF9900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56"/>
          <p:cNvSpPr txBox="1">
            <a:spLocks noGrp="1"/>
          </p:cNvSpPr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4900" dirty="0"/>
              <a:t>Постановка задачи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23845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57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5479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Markov Property</a:t>
            </a:r>
            <a:endParaRPr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787D8152-6035-4242-A2B0-D3B47DE2E5A0}"/>
                  </a:ext>
                </a:extLst>
              </p:cNvPr>
              <p:cNvSpPr txBox="1"/>
              <p:nvPr/>
            </p:nvSpPr>
            <p:spPr>
              <a:xfrm>
                <a:off x="590109" y="878674"/>
                <a:ext cx="4172722" cy="73866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l-GR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ℙ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sub>
                          </m:s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sSub>
                            <m:sSubPr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16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d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l-GR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ℙ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sub>
                          </m:sSub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|</m:t>
                          </m:r>
                          <m:sSub>
                            <m:sSubPr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,…,</m:t>
                          </m:r>
                          <m:sSub>
                            <m:sSubPr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1600" dirty="0"/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l-GR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ℙ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sSub>
                            <m:sSubPr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16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d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l-GR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ℙ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|</m:t>
                          </m:r>
                          <m:sSub>
                            <m:sSubPr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,…,</m:t>
                          </m:r>
                          <m:sSub>
                            <m:sSubPr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d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RU" sz="16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787D8152-6035-4242-A2B0-D3B47DE2E5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0109" y="878674"/>
                <a:ext cx="4172722" cy="738664"/>
              </a:xfrm>
              <a:prstGeom prst="rect">
                <a:avLst/>
              </a:prstGeom>
              <a:blipFill>
                <a:blip r:embed="rId3"/>
                <a:stretch>
                  <a:fillRect b="-3390"/>
                </a:stretch>
              </a:blipFill>
            </p:spPr>
            <p:txBody>
              <a:bodyPr/>
              <a:lstStyle/>
              <a:p>
                <a:r>
                  <a:rPr lang="en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Google Shape;310;p57">
                <a:extLst>
                  <a:ext uri="{FF2B5EF4-FFF2-40B4-BE49-F238E27FC236}">
                    <a16:creationId xmlns:a16="http://schemas.microsoft.com/office/drawing/2014/main" id="{A5E7ADB9-6693-0344-980A-1869E5A6D26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00550" y="1695236"/>
                <a:ext cx="8520600" cy="547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3100"/>
                  <a:buFont typeface="Roboto"/>
                  <a:buNone/>
                  <a:defRPr sz="3100" b="1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Roboto"/>
                  <a:buNone/>
                  <a:defRPr sz="28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Roboto"/>
                  <a:buNone/>
                  <a:defRPr sz="28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Roboto"/>
                  <a:buNone/>
                  <a:defRPr sz="28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Roboto"/>
                  <a:buNone/>
                  <a:defRPr sz="28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Roboto"/>
                  <a:buNone/>
                  <a:defRPr sz="28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Roboto"/>
                  <a:buNone/>
                  <a:defRPr sz="28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Roboto"/>
                  <a:buNone/>
                  <a:defRPr sz="28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Roboto"/>
                  <a:buNone/>
                  <a:defRPr sz="28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9pPr>
              </a:lstStyle>
              <a:p>
                <a:r>
                  <a:rPr lang="en-US" dirty="0"/>
                  <a:t>Markov Decision Process </a:t>
                </a:r>
                <a14:m>
                  <m:oMath xmlns:m="http://schemas.openxmlformats.org/officeDocument/2006/math">
                    <m:d>
                      <m:dPr>
                        <m:begChr m:val="⟨"/>
                        <m:endChr m:val="⟩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𝒮</m:t>
                        </m:r>
                        <m:r>
                          <a:rPr lang="en-US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𝒮</m:t>
                            </m:r>
                          </m:e>
                          <m:sub>
                            <m:r>
                              <a:rPr lang="en-US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𝑭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US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𝒜</m:t>
                        </m:r>
                        <m:r>
                          <a:rPr lang="en-US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US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𝒫</m:t>
                        </m:r>
                        <m:r>
                          <a:rPr lang="en-US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𝒫</m:t>
                            </m:r>
                          </m:e>
                          <m:sub>
                            <m:r>
                              <a:rPr lang="en-US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𝟎</m:t>
                            </m:r>
                          </m:sub>
                        </m:sSub>
                        <m:r>
                          <a:rPr lang="en-US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US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ℛ</m:t>
                        </m:r>
                        <m:r>
                          <a:rPr lang="en-US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US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𝜸</m:t>
                        </m:r>
                        <m:r>
                          <a:rPr lang="en-US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</m:e>
                    </m:d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11" name="Google Shape;310;p57">
                <a:extLst>
                  <a:ext uri="{FF2B5EF4-FFF2-40B4-BE49-F238E27FC236}">
                    <a16:creationId xmlns:a16="http://schemas.microsoft.com/office/drawing/2014/main" id="{A5E7ADB9-6693-0344-980A-1869E5A6D2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0550" y="1695236"/>
                <a:ext cx="8520600" cy="547950"/>
              </a:xfrm>
              <a:prstGeom prst="rect">
                <a:avLst/>
              </a:prstGeom>
              <a:blipFill>
                <a:blip r:embed="rId4"/>
                <a:stretch>
                  <a:fillRect l="-1786" t="-4545" b="-4545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BB1A4F26-59DB-FE47-9D15-7B4DEF0E8C2E}"/>
                  </a:ext>
                </a:extLst>
              </p:cNvPr>
              <p:cNvSpPr txBox="1"/>
              <p:nvPr/>
            </p:nvSpPr>
            <p:spPr>
              <a:xfrm>
                <a:off x="590108" y="2243186"/>
                <a:ext cx="5785978" cy="234224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285750" indent="-285750">
                  <a:lnSpc>
                    <a:spcPct val="12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16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𝒮</m:t>
                    </m:r>
                  </m:oMath>
                </a14:m>
                <a:r>
                  <a:rPr lang="en-US" sz="1600" b="0" i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US" sz="1600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– is </a:t>
                </a:r>
                <a:r>
                  <a:rPr lang="en-US" sz="1600" dirty="0">
                    <a:solidFill>
                      <a:srgbClr val="FF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an infinite </a:t>
                </a:r>
                <a:r>
                  <a:rPr lang="en-US" sz="1600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(|</a:t>
                </a:r>
                <a14:m>
                  <m:oMath xmlns:m="http://schemas.openxmlformats.org/officeDocument/2006/math">
                    <m:r>
                      <a:rPr lang="en-US" sz="16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𝒮</m:t>
                    </m:r>
                    <m:d>
                      <m:dPr>
                        <m:begChr m:val="|"/>
                        <m:ctrlPr>
                          <a:rPr lang="en-US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  <m:r>
                          <a:rPr lang="en-US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r>
                  <a:rPr lang="en-US" sz="1600" b="0" i="1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US" sz="1600" b="0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state space</a:t>
                </a:r>
              </a:p>
              <a:p>
                <a:pPr marL="285750" indent="-285750">
                  <a:lnSpc>
                    <a:spcPct val="12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16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𝒜</m:t>
                    </m:r>
                  </m:oMath>
                </a14:m>
                <a:r>
                  <a:rPr lang="en-US" sz="1600" b="0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– is a </a:t>
                </a:r>
                <a:r>
                  <a:rPr lang="en-US" sz="1600" b="0" dirty="0">
                    <a:solidFill>
                      <a:srgbClr val="FF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finite/infinite</a:t>
                </a:r>
                <a:r>
                  <a:rPr lang="en-US" sz="1600" b="0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(|</a:t>
                </a:r>
                <a14:m>
                  <m:oMath xmlns:m="http://schemas.openxmlformats.org/officeDocument/2006/math">
                    <m:r>
                      <a:rPr lang="en-US" sz="16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𝒜</m:t>
                    </m:r>
                    <m:r>
                      <a:rPr lang="en-US" sz="16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1600" b="0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|=</a:t>
                </a:r>
                <a:r>
                  <a:rPr lang="en-US" sz="1600" b="0" i="1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m</a:t>
                </a:r>
                <a:r>
                  <a:rPr lang="en-US" sz="1600" b="0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 action space</a:t>
                </a:r>
              </a:p>
              <a:p>
                <a:pPr marL="285750" indent="-285750">
                  <a:lnSpc>
                    <a:spcPct val="12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16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𝒫</m:t>
                    </m:r>
                  </m:oMath>
                </a14:m>
                <a:r>
                  <a:rPr lang="en-US" sz="1600" b="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– is </a:t>
                </a:r>
                <a:r>
                  <a:rPr lang="en-US" sz="1600" b="0" dirty="0">
                    <a:solidFill>
                      <a:srgbClr val="FF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US" sz="1600" dirty="0">
                    <a:solidFill>
                      <a:srgbClr val="FF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known</a:t>
                </a:r>
                <a:r>
                  <a:rPr lang="ru-RU" sz="1600" b="0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US" sz="1600" b="0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deterministic </a:t>
                </a:r>
                <a:r>
                  <a:rPr lang="en-US" sz="1600" b="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transition probability function</a:t>
                </a:r>
              </a:p>
              <a:p>
                <a:pPr>
                  <a:lnSpc>
                    <a:spcPct val="120000"/>
                  </a:lnSpc>
                </a:pPr>
                <a:r>
                  <a:rPr lang="en-US" sz="1600" b="0" dirty="0">
                    <a:ea typeface="Cambria Math" panose="02040503050406030204" pitchFamily="18" charset="0"/>
                  </a:rPr>
                  <a:t>	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𝒫</m:t>
                    </m:r>
                    <m:r>
                      <a:rPr lang="en-US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𝑠</m:t>
                        </m:r>
                      </m:e>
                      <m:sup>
                        <m: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|</m:t>
                    </m:r>
                    <m:r>
                      <a:rPr lang="en-US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𝑠</m:t>
                    </m:r>
                    <m:r>
                      <a:rPr lang="en-US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</m:t>
                    </m:r>
                    <m:r>
                      <a:rPr lang="en-US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RU" sz="1600" dirty="0"/>
                  <a:t>=</a:t>
                </a:r>
                <a:r>
                  <a:rPr lang="el-GR" sz="160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l-GR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ℙ</m:t>
                    </m:r>
                    <m:d>
                      <m:dPr>
                        <m:begChr m:val="["/>
                        <m:endChr m:val="]"/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+1</m:t>
                            </m:r>
                          </m:sub>
                        </m:s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′|</m:t>
                        </m:r>
                        <m:sSub>
                          <m:sSubPr>
                            <m:ctrlPr>
                              <a:rPr lang="en-US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d>
                  </m:oMath>
                </a14:m>
                <a:endParaRPr lang="en-US" sz="1600" dirty="0"/>
              </a:p>
              <a:p>
                <a:pPr marL="342900" indent="-342900">
                  <a:lnSpc>
                    <a:spcPct val="12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6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𝒫</m:t>
                        </m:r>
                      </m:e>
                      <m:sub>
                        <m:r>
                          <a:rPr lang="en-US" sz="16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𝟎</m:t>
                        </m:r>
                        <m:r>
                          <a:rPr lang="en-US" sz="16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</m:sub>
                    </m:sSub>
                    <m:r>
                      <a:rPr lang="en-US" sz="16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sz="1600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–</m:t>
                    </m:r>
                  </m:oMath>
                </a14:m>
                <a:r>
                  <a:rPr lang="en-US" sz="16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US" sz="1600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is a deterministic </a:t>
                </a:r>
                <a:r>
                  <a:rPr lang="en-US" sz="16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initial state probability function</a:t>
                </a:r>
              </a:p>
              <a:p>
                <a:pPr marL="342900" indent="-342900">
                  <a:lnSpc>
                    <a:spcPct val="12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16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ℛ</m:t>
                    </m:r>
                  </m:oMath>
                </a14:m>
                <a:r>
                  <a:rPr lang="en-US" sz="16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– is</a:t>
                </a:r>
                <a:r>
                  <a:rPr lang="en-US" sz="1600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US" sz="1600" dirty="0">
                    <a:solidFill>
                      <a:srgbClr val="FF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 known </a:t>
                </a:r>
                <a:r>
                  <a:rPr lang="en-US" sz="16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reward function</a:t>
                </a:r>
              </a:p>
              <a:p>
                <a:pPr algn="ctr">
                  <a:lnSpc>
                    <a:spcPct val="12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ℛ</m:t>
                      </m:r>
                      <m:d>
                        <m:dPr>
                          <m:ctrlPr>
                            <a:rPr lang="en-US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 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𝑎</m:t>
                          </m:r>
                        </m:e>
                      </m:d>
                      <m:r>
                        <a:rPr lang="en-US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 ⇔</m:t>
                      </m:r>
                      <m:r>
                        <a:rPr lang="el-GR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ℙ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|</m:t>
                          </m:r>
                          <m:sSub>
                            <m:sSubPr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</m:d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US" sz="16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342900" indent="-342900">
                  <a:lnSpc>
                    <a:spcPct val="120000"/>
                  </a:lnSpc>
                  <a:buFont typeface="Arial" panose="020B0604020202020204" pitchFamily="34" charset="0"/>
                  <a:buChar char="•"/>
                </a:pPr>
                <a:r>
                  <a:rPr lang="en-US" sz="1600" dirty="0">
                    <a:latin typeface="Symbol" pitchFamily="2" charset="2"/>
                    <a:ea typeface="Cambria Math" panose="02040503050406030204" pitchFamily="18" charset="0"/>
                  </a:rPr>
                  <a:t>g</a:t>
                </a:r>
                <a14:m>
                  <m:oMath xmlns:m="http://schemas.openxmlformats.org/officeDocument/2006/math">
                    <m:r>
                      <a:rPr lang="en-US" sz="16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</m:oMath>
                </a14:m>
                <a:r>
                  <a:rPr lang="en-US" sz="1600" dirty="0">
                    <a:latin typeface="Symbol" pitchFamily="2" charset="2"/>
                    <a:ea typeface="Cambria Math" panose="02040503050406030204" pitchFamily="18" charset="0"/>
                  </a:rPr>
                  <a:t>[0, 1] </a:t>
                </a:r>
                <a:r>
                  <a:rPr lang="en-US" sz="16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– is a discount coefficient</a:t>
                </a: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BB1A4F26-59DB-FE47-9D15-7B4DEF0E8C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0108" y="2243186"/>
                <a:ext cx="5785978" cy="2342244"/>
              </a:xfrm>
              <a:prstGeom prst="rect">
                <a:avLst/>
              </a:prstGeom>
              <a:blipFill>
                <a:blip r:embed="rId5"/>
                <a:stretch>
                  <a:fillRect l="-1969" t="-1622" b="-486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56"/>
          <p:cNvSpPr txBox="1">
            <a:spLocks noGrp="1"/>
          </p:cNvSpPr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4900" dirty="0"/>
              <a:t>Применение классического </a:t>
            </a:r>
            <a:r>
              <a:rPr lang="en-US" sz="4900" dirty="0"/>
              <a:t>RL</a:t>
            </a:r>
            <a:br>
              <a:rPr lang="en-US" sz="4900" dirty="0"/>
            </a:br>
            <a:r>
              <a:rPr lang="ru-RU" sz="4900" dirty="0"/>
              <a:t>в непрерывной среде</a:t>
            </a:r>
            <a:endParaRPr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57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 err="1">
                <a:solidFill>
                  <a:srgbClr val="000000"/>
                </a:solidFill>
                <a:latin typeface="Helvetica Neue" panose="02000503000000020004" pitchFamily="2" charset="0"/>
              </a:rPr>
              <a:t>CartPole</a:t>
            </a:r>
            <a:endParaRPr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1A775B6B-B0D1-3048-BB9D-AED095CEFB8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53629070"/>
              </p:ext>
            </p:extLst>
          </p:nvPr>
        </p:nvGraphicFramePr>
        <p:xfrm>
          <a:off x="417726" y="2676170"/>
          <a:ext cx="8229184" cy="1463040"/>
        </p:xfrm>
        <a:graphic>
          <a:graphicData uri="http://schemas.openxmlformats.org/drawingml/2006/table">
            <a:tbl>
              <a:tblPr/>
              <a:tblGrid>
                <a:gridCol w="1285596">
                  <a:extLst>
                    <a:ext uri="{9D8B030D-6E8A-4147-A177-3AD203B41FA5}">
                      <a16:colId xmlns:a16="http://schemas.microsoft.com/office/drawing/2014/main" val="2126498394"/>
                    </a:ext>
                  </a:extLst>
                </a:gridCol>
                <a:gridCol w="6943588">
                  <a:extLst>
                    <a:ext uri="{9D8B030D-6E8A-4147-A177-3AD203B41FA5}">
                      <a16:colId xmlns:a16="http://schemas.microsoft.com/office/drawing/2014/main" val="133925839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dirty="0">
                          <a:effectLst/>
                        </a:rPr>
                        <a:t>Action Space</a:t>
                      </a:r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effectLst/>
                        </a:rPr>
                        <a:t>Discrete(2)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8774382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dirty="0">
                          <a:effectLst/>
                        </a:rPr>
                        <a:t>Observation Space</a:t>
                      </a:r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effectLst/>
                        </a:rPr>
                        <a:t>Box(</a:t>
                      </a:r>
                    </a:p>
                    <a:p>
                      <a:r>
                        <a:rPr lang="en-US" dirty="0">
                          <a:effectLst/>
                        </a:rPr>
                        <a:t>[-4.8000002e+00 -3.4028235e+38 -4.1887903e-01 -3.4028235e+38], [4.8000002e+00 3.4028235e+38 4.1887903e-01 3.4028235e+38], </a:t>
                      </a:r>
                    </a:p>
                    <a:p>
                      <a:r>
                        <a:rPr lang="en-US" dirty="0">
                          <a:effectLst/>
                        </a:rPr>
                        <a:t>(4,), </a:t>
                      </a:r>
                    </a:p>
                    <a:p>
                      <a:r>
                        <a:rPr lang="en-US" dirty="0">
                          <a:effectLst/>
                        </a:rPr>
                        <a:t>float32)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0021246"/>
                  </a:ext>
                </a:extLst>
              </a:tr>
            </a:tbl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47E440A9-8F18-D44E-A9D6-30E7873B21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27318" y="246200"/>
            <a:ext cx="3810000" cy="25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522664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57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>
                <a:solidFill>
                  <a:srgbClr val="000000"/>
                </a:solidFill>
                <a:latin typeface="Helvetica Neue" panose="02000503000000020004" pitchFamily="2" charset="0"/>
              </a:rPr>
              <a:t>SARSA and Q-learning</a:t>
            </a:r>
            <a:endParaRPr dirty="0"/>
          </a:p>
        </p:txBody>
      </p:sp>
      <p:sp>
        <p:nvSpPr>
          <p:cNvPr id="7" name="Google Shape;311;p57">
            <a:extLst>
              <a:ext uri="{FF2B5EF4-FFF2-40B4-BE49-F238E27FC236}">
                <a16:creationId xmlns:a16="http://schemas.microsoft.com/office/drawing/2014/main" id="{8A36D44E-7C6A-5342-A463-32C67AE5582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3238" y="1192019"/>
            <a:ext cx="8801144" cy="372364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ru-RU" sz="1600" b="0" i="0" u="none" strike="noStrike" dirty="0">
                <a:solidFill>
                  <a:srgbClr val="000000"/>
                </a:solidFill>
                <a:effectLst/>
                <a:latin typeface="Helvetica Neue" panose="02000503000000020004" pitchFamily="2" charset="0"/>
              </a:rPr>
              <a:t>Устанавливаем </a:t>
            </a:r>
            <a:r>
              <a:rPr lang="ru-RU" sz="1600" b="0" i="0" u="none" strike="noStrike" dirty="0">
                <a:solidFill>
                  <a:srgbClr val="000000"/>
                </a:solidFill>
                <a:effectLst/>
                <a:latin typeface="STIXMathJax_Normal-italic"/>
              </a:rPr>
              <a:t>𝑄</a:t>
            </a:r>
            <a:r>
              <a:rPr lang="ru-RU" sz="1600" b="0" i="0" u="none" strike="noStrike" dirty="0">
                <a:solidFill>
                  <a:srgbClr val="000000"/>
                </a:solidFill>
                <a:effectLst/>
                <a:latin typeface="STIXMathJax_Main"/>
              </a:rPr>
              <a:t>(</a:t>
            </a:r>
            <a:r>
              <a:rPr lang="ru-RU" sz="1600" b="0" i="0" u="none" strike="noStrike" dirty="0">
                <a:solidFill>
                  <a:srgbClr val="000000"/>
                </a:solidFill>
                <a:effectLst/>
                <a:latin typeface="STIXMathJax_Normal-italic"/>
              </a:rPr>
              <a:t>𝑠</a:t>
            </a:r>
            <a:r>
              <a:rPr lang="ru-RU" sz="1600" b="0" i="0" u="none" strike="noStrike" dirty="0">
                <a:solidFill>
                  <a:srgbClr val="000000"/>
                </a:solidFill>
                <a:effectLst/>
                <a:latin typeface="STIXMathJax_Main"/>
              </a:rPr>
              <a:t>,</a:t>
            </a:r>
            <a:r>
              <a:rPr lang="ru-RU" sz="1600" b="0" i="0" u="none" strike="noStrike" dirty="0">
                <a:solidFill>
                  <a:srgbClr val="000000"/>
                </a:solidFill>
                <a:effectLst/>
                <a:latin typeface="STIXMathJax_Normal-italic"/>
              </a:rPr>
              <a:t>𝑎</a:t>
            </a:r>
            <a:r>
              <a:rPr lang="ru-RU" sz="1600" b="0" i="0" u="none" strike="noStrike" dirty="0">
                <a:solidFill>
                  <a:srgbClr val="000000"/>
                </a:solidFill>
                <a:effectLst/>
                <a:latin typeface="STIXMathJax_Main"/>
              </a:rPr>
              <a:t>)=0,</a:t>
            </a:r>
            <a:r>
              <a:rPr lang="ru-RU" sz="1600" b="0" i="0" u="none" strike="noStrike" dirty="0">
                <a:solidFill>
                  <a:srgbClr val="000000"/>
                </a:solidFill>
                <a:effectLst/>
                <a:latin typeface="STIXMathJax_Normal-italic"/>
              </a:rPr>
              <a:t>𝐾</a:t>
            </a:r>
            <a:r>
              <a:rPr lang="ru-RU" sz="1600" b="0" i="0" u="none" strike="noStrike" dirty="0">
                <a:solidFill>
                  <a:srgbClr val="000000"/>
                </a:solidFill>
                <a:effectLst/>
                <a:latin typeface="STIXMathJax_Main"/>
              </a:rPr>
              <a:t>&gt;0,</a:t>
            </a:r>
            <a:r>
              <a:rPr lang="ru-RU" sz="1600" b="0" i="0" u="none" strike="noStrike" dirty="0">
                <a:solidFill>
                  <a:srgbClr val="000000"/>
                </a:solidFill>
                <a:effectLst/>
                <a:latin typeface="STIXMathJax_Normal-italic"/>
              </a:rPr>
              <a:t>𝜀</a:t>
            </a:r>
            <a:r>
              <a:rPr lang="ru-RU" sz="1600" b="0" i="0" u="none" strike="noStrike" dirty="0">
                <a:solidFill>
                  <a:srgbClr val="000000"/>
                </a:solidFill>
                <a:effectLst/>
                <a:latin typeface="STIXMathJax_Main"/>
              </a:rPr>
              <a:t>=1</a:t>
            </a:r>
            <a:r>
              <a:rPr lang="ru-RU" sz="1600" b="0" i="0" u="none" strike="noStrike" dirty="0">
                <a:solidFill>
                  <a:srgbClr val="000000"/>
                </a:solidFill>
                <a:effectLst/>
                <a:latin typeface="Helvetica Neue" panose="02000503000000020004" pitchFamily="2" charset="0"/>
              </a:rPr>
              <a:t>.</a:t>
            </a:r>
          </a:p>
          <a:p>
            <a:r>
              <a:rPr lang="ru-RU" sz="1600" b="0" i="0" u="none" strike="noStrike" dirty="0">
                <a:solidFill>
                  <a:srgbClr val="000000"/>
                </a:solidFill>
                <a:effectLst/>
                <a:latin typeface="Helvetica Neue" panose="02000503000000020004" pitchFamily="2" charset="0"/>
              </a:rPr>
              <a:t>Для каждого </a:t>
            </a:r>
            <a:r>
              <a:rPr lang="ru-RU" sz="1600" b="0" i="0" u="none" strike="noStrike" dirty="0">
                <a:solidFill>
                  <a:srgbClr val="000000"/>
                </a:solidFill>
                <a:effectLst/>
                <a:latin typeface="STIXMathJax_Normal-italic"/>
              </a:rPr>
              <a:t>𝑘</a:t>
            </a:r>
            <a:r>
              <a:rPr lang="ru-RU" sz="1600" b="0" i="0" u="none" strike="noStrike" dirty="0">
                <a:solidFill>
                  <a:srgbClr val="000000"/>
                </a:solidFill>
                <a:effectLst/>
                <a:latin typeface="STIXMathJax_Main"/>
              </a:rPr>
              <a:t>∈1,</a:t>
            </a:r>
            <a:r>
              <a:rPr lang="ru-RU" sz="1600" b="0" i="0" u="none" strike="noStrike" dirty="0">
                <a:solidFill>
                  <a:srgbClr val="000000"/>
                </a:solidFill>
                <a:effectLst/>
                <a:latin typeface="STIXMathJax_Normal-italic"/>
              </a:rPr>
              <a:t>𝐾</a:t>
            </a:r>
            <a:r>
              <a:rPr lang="ru-RU" sz="1600" b="0" i="0" u="none" strike="noStrike" dirty="0">
                <a:solidFill>
                  <a:srgbClr val="000000"/>
                </a:solidFill>
                <a:effectLst/>
                <a:latin typeface="Helvetica Neue" panose="02000503000000020004" pitchFamily="2" charset="0"/>
              </a:rPr>
              <a:t>:</a:t>
            </a:r>
          </a:p>
          <a:p>
            <a:pPr marL="590550" lvl="1" indent="0">
              <a:buNone/>
            </a:pPr>
            <a:r>
              <a:rPr lang="ru-RU" sz="1400" b="0" i="0" u="none" strike="noStrike" dirty="0">
                <a:solidFill>
                  <a:srgbClr val="000000"/>
                </a:solidFill>
                <a:effectLst/>
                <a:latin typeface="Helvetica Neue" panose="02000503000000020004" pitchFamily="2" charset="0"/>
              </a:rPr>
              <a:t>двигаясь по текущей траектории из </a:t>
            </a:r>
            <a:r>
              <a:rPr lang="ru-RU" sz="1400" dirty="0">
                <a:solidFill>
                  <a:srgbClr val="000000"/>
                </a:solidFill>
                <a:latin typeface="Helvetica Neue" panose="02000503000000020004" pitchFamily="2" charset="0"/>
              </a:rPr>
              <a:t>состояния</a:t>
            </a:r>
            <a:r>
              <a:rPr lang="ru-RU" sz="1400" b="0" i="0" u="none" strike="noStrike" dirty="0">
                <a:solidFill>
                  <a:srgbClr val="000000"/>
                </a:solidFill>
                <a:effectLst/>
                <a:latin typeface="Helvetica Neue" panose="02000503000000020004" pitchFamily="2" charset="0"/>
              </a:rPr>
              <a:t> </a:t>
            </a:r>
            <a:r>
              <a:rPr lang="ru-RU" sz="1400" b="0" i="0" u="none" strike="noStrike" dirty="0">
                <a:solidFill>
                  <a:srgbClr val="000000"/>
                </a:solidFill>
                <a:effectLst/>
                <a:latin typeface="STIXMathJax_Normal-italic"/>
              </a:rPr>
              <a:t>𝑆</a:t>
            </a:r>
            <a:r>
              <a:rPr lang="ru-RU" sz="1400" b="0" i="0" u="none" strike="noStrike" baseline="-25000" dirty="0">
                <a:solidFill>
                  <a:srgbClr val="000000"/>
                </a:solidFill>
                <a:effectLst/>
                <a:latin typeface="STIXMathJax_Normal-italic"/>
              </a:rPr>
              <a:t>𝑡</a:t>
            </a:r>
            <a:r>
              <a:rPr lang="ru-RU" sz="1400" b="0" i="0" u="none" strike="noStrike" dirty="0">
                <a:solidFill>
                  <a:srgbClr val="000000"/>
                </a:solidFill>
                <a:effectLst/>
                <a:latin typeface="Helvetica Neue" panose="02000503000000020004" pitchFamily="2" charset="0"/>
              </a:rPr>
              <a:t> действуя </a:t>
            </a:r>
            <a:r>
              <a:rPr lang="ru-RU" sz="1400" b="0" i="0" u="none" strike="noStrike" dirty="0">
                <a:solidFill>
                  <a:srgbClr val="000000"/>
                </a:solidFill>
                <a:effectLst/>
                <a:latin typeface="STIXMathJax_Normal-italic"/>
              </a:rPr>
              <a:t>𝐴</a:t>
            </a:r>
            <a:r>
              <a:rPr lang="ru-RU" sz="1400" b="0" i="0" u="none" strike="noStrike" baseline="-25000" dirty="0">
                <a:solidFill>
                  <a:srgbClr val="000000"/>
                </a:solidFill>
                <a:effectLst/>
                <a:latin typeface="STIXMathJax_Normal-italic"/>
              </a:rPr>
              <a:t>𝑡</a:t>
            </a:r>
            <a:r>
              <a:rPr lang="ru-RU" sz="1400" b="0" i="0" u="none" strike="noStrike" dirty="0">
                <a:solidFill>
                  <a:srgbClr val="000000"/>
                </a:solidFill>
                <a:effectLst/>
                <a:latin typeface="Helvetica Neue" panose="02000503000000020004" pitchFamily="2" charset="0"/>
              </a:rPr>
              <a:t> в силу политики </a:t>
            </a:r>
            <a:r>
              <a:rPr lang="ru-RU" sz="1400" b="0" i="0" u="none" strike="noStrike" dirty="0">
                <a:solidFill>
                  <a:srgbClr val="000000"/>
                </a:solidFill>
                <a:effectLst/>
                <a:latin typeface="STIXMathJax_Normal-italic"/>
              </a:rPr>
              <a:t>𝜋</a:t>
            </a:r>
            <a:r>
              <a:rPr lang="ru-RU" sz="1400" b="0" i="0" u="none" strike="noStrike" dirty="0">
                <a:solidFill>
                  <a:srgbClr val="000000"/>
                </a:solidFill>
                <a:effectLst/>
                <a:latin typeface="STIXMathJax_Main"/>
              </a:rPr>
              <a:t>(⋅</a:t>
            </a:r>
            <a:r>
              <a:rPr lang="ru-RU" sz="1400" b="0" i="0" u="none" strike="noStrike" dirty="0">
                <a:solidFill>
                  <a:srgbClr val="000000"/>
                </a:solidFill>
                <a:effectLst/>
                <a:latin typeface="STIXMathJax_Variants"/>
              </a:rPr>
              <a:t>|</a:t>
            </a:r>
            <a:r>
              <a:rPr lang="ru-RU" sz="1400" b="0" i="0" u="none" strike="noStrike" dirty="0">
                <a:solidFill>
                  <a:srgbClr val="000000"/>
                </a:solidFill>
                <a:effectLst/>
                <a:latin typeface="STIXMathJax_Normal-italic"/>
              </a:rPr>
              <a:t>𝑆</a:t>
            </a:r>
            <a:r>
              <a:rPr lang="ru-RU" sz="1400" b="0" i="0" u="none" strike="noStrike" baseline="-25000" dirty="0">
                <a:solidFill>
                  <a:srgbClr val="000000"/>
                </a:solidFill>
                <a:effectLst/>
                <a:latin typeface="STIXMathJax_Normal-italic"/>
              </a:rPr>
              <a:t>𝑡</a:t>
            </a:r>
            <a:r>
              <a:rPr lang="ru-RU" sz="1400" b="0" i="0" u="none" strike="noStrike" dirty="0">
                <a:solidFill>
                  <a:srgbClr val="000000"/>
                </a:solidFill>
                <a:effectLst/>
                <a:latin typeface="STIXMathJax_Main"/>
              </a:rPr>
              <a:t>)</a:t>
            </a:r>
            <a:r>
              <a:rPr lang="ru-RU" sz="1400" b="0" i="0" u="none" strike="noStrike" dirty="0">
                <a:solidFill>
                  <a:srgbClr val="000000"/>
                </a:solidFill>
                <a:effectLst/>
                <a:latin typeface="Helvetica Neue" panose="02000503000000020004" pitchFamily="2" charset="0"/>
              </a:rPr>
              <a:t>, и обновляя политику </a:t>
            </a:r>
            <a:r>
              <a:rPr lang="ru-RU" sz="1400" b="0" i="0" u="none" strike="noStrike" dirty="0">
                <a:solidFill>
                  <a:srgbClr val="000000"/>
                </a:solidFill>
                <a:effectLst/>
                <a:latin typeface="STIXMathJax_Normal-italic"/>
              </a:rPr>
              <a:t>𝜋</a:t>
            </a:r>
            <a:r>
              <a:rPr lang="ru-RU" sz="1400" b="0" i="0" u="none" strike="noStrike" dirty="0">
                <a:solidFill>
                  <a:srgbClr val="000000"/>
                </a:solidFill>
                <a:effectLst/>
                <a:latin typeface="STIXMathJax_Main"/>
              </a:rPr>
              <a:t>=</a:t>
            </a:r>
            <a:r>
              <a:rPr lang="ru-RU" sz="1400" b="0" i="0" u="none" strike="noStrike" dirty="0">
                <a:solidFill>
                  <a:srgbClr val="000000"/>
                </a:solidFill>
                <a:effectLst/>
                <a:latin typeface="STIXMathJax_Normal-italic"/>
              </a:rPr>
              <a:t>𝜀</a:t>
            </a:r>
            <a:r>
              <a:rPr lang="ru-RU" sz="1400" b="0" i="0" u="none" strike="noStrike" dirty="0">
                <a:solidFill>
                  <a:srgbClr val="000000"/>
                </a:solidFill>
                <a:effectLst/>
                <a:latin typeface="STIXMathJax_Main"/>
              </a:rPr>
              <a:t>−</a:t>
            </a:r>
            <a:r>
              <a:rPr lang="ru-RU" sz="1400" b="0" i="0" u="none" strike="noStrike" dirty="0">
                <a:solidFill>
                  <a:srgbClr val="000000"/>
                </a:solidFill>
                <a:effectLst/>
                <a:latin typeface="STIXMathJax_Normal-italic"/>
              </a:rPr>
              <a:t>𝑔𝑟𝑒𝑒𝑑𝑦</a:t>
            </a:r>
            <a:r>
              <a:rPr lang="ru-RU" sz="1400" b="0" i="0" u="none" strike="noStrike" dirty="0">
                <a:solidFill>
                  <a:srgbClr val="000000"/>
                </a:solidFill>
                <a:effectLst/>
                <a:latin typeface="STIXMathJax_Main"/>
              </a:rPr>
              <a:t>(</a:t>
            </a:r>
            <a:r>
              <a:rPr lang="ru-RU" sz="1400" b="0" i="0" u="none" strike="noStrike" dirty="0">
                <a:solidFill>
                  <a:srgbClr val="000000"/>
                </a:solidFill>
                <a:effectLst/>
                <a:latin typeface="STIXMathJax_Normal-italic"/>
              </a:rPr>
              <a:t>𝑄</a:t>
            </a:r>
            <a:r>
              <a:rPr lang="ru-RU" sz="1400" b="0" i="0" u="none" strike="noStrike" dirty="0">
                <a:solidFill>
                  <a:srgbClr val="000000"/>
                </a:solidFill>
                <a:effectLst/>
                <a:latin typeface="STIXMathJax_Main"/>
              </a:rPr>
              <a:t>)</a:t>
            </a:r>
            <a:r>
              <a:rPr lang="ru-RU" sz="1400" b="0" i="0" u="none" strike="noStrike" dirty="0">
                <a:solidFill>
                  <a:srgbClr val="000000"/>
                </a:solidFill>
                <a:effectLst/>
                <a:latin typeface="Helvetica Neue" panose="02000503000000020004" pitchFamily="2" charset="0"/>
              </a:rPr>
              <a:t> получаем </a:t>
            </a:r>
            <a:r>
              <a:rPr lang="ru-RU" sz="1400" b="0" i="0" u="none" strike="noStrike" dirty="0">
                <a:solidFill>
                  <a:srgbClr val="000000"/>
                </a:solidFill>
                <a:effectLst/>
                <a:latin typeface="STIXMathJax_Normal-italic"/>
              </a:rPr>
              <a:t>𝑅</a:t>
            </a:r>
            <a:r>
              <a:rPr lang="ru-RU" sz="1400" b="0" i="0" u="none" strike="noStrike" baseline="-25000" dirty="0">
                <a:solidFill>
                  <a:srgbClr val="000000"/>
                </a:solidFill>
                <a:effectLst/>
                <a:latin typeface="STIXMathJax_Normal-italic"/>
              </a:rPr>
              <a:t>𝑡</a:t>
            </a:r>
            <a:r>
              <a:rPr lang="ru-RU" sz="1400" b="0" i="0" u="none" strike="noStrike" dirty="0">
                <a:solidFill>
                  <a:srgbClr val="000000"/>
                </a:solidFill>
                <a:effectLst/>
                <a:latin typeface="Helvetica Neue" panose="02000503000000020004" pitchFamily="2" charset="0"/>
              </a:rPr>
              <a:t> и переходим в состояние </a:t>
            </a:r>
            <a:r>
              <a:rPr lang="ru-RU" sz="1400" b="0" i="0" u="none" strike="noStrike" dirty="0">
                <a:solidFill>
                  <a:srgbClr val="000000"/>
                </a:solidFill>
                <a:effectLst/>
                <a:latin typeface="STIXMathJax_Normal-italic"/>
              </a:rPr>
              <a:t>𝑆</a:t>
            </a:r>
            <a:r>
              <a:rPr lang="ru-RU" sz="1400" b="0" i="0" u="none" strike="noStrike" baseline="-25000" dirty="0">
                <a:solidFill>
                  <a:srgbClr val="000000"/>
                </a:solidFill>
                <a:effectLst/>
                <a:latin typeface="STIXMathJax_Normal-italic"/>
              </a:rPr>
              <a:t>𝑡</a:t>
            </a:r>
            <a:r>
              <a:rPr lang="ru-RU" sz="1400" b="0" i="0" u="none" strike="noStrike" baseline="-25000" dirty="0">
                <a:solidFill>
                  <a:srgbClr val="000000"/>
                </a:solidFill>
                <a:effectLst/>
                <a:latin typeface="STIXMathJax_Main"/>
              </a:rPr>
              <a:t>+1</a:t>
            </a:r>
            <a:r>
              <a:rPr lang="ru-RU" sz="1400" b="0" i="0" u="none" strike="noStrike" dirty="0">
                <a:solidFill>
                  <a:srgbClr val="000000"/>
                </a:solidFill>
                <a:effectLst/>
                <a:latin typeface="Helvetica Neue" panose="02000503000000020004" pitchFamily="2" charset="0"/>
              </a:rPr>
              <a:t> </a:t>
            </a:r>
            <a:r>
              <a:rPr lang="en-GB" sz="1400" b="0" i="0" u="none" strike="noStrike" dirty="0">
                <a:solidFill>
                  <a:srgbClr val="000000"/>
                </a:solidFill>
                <a:effectLst/>
                <a:latin typeface="Helvetica Neue" panose="02000503000000020004" pitchFamily="2" charset="0"/>
              </a:rPr>
              <a:t>c </a:t>
            </a:r>
            <a:r>
              <a:rPr lang="ru-RU" sz="1400" b="0" i="0" u="none" strike="noStrike" dirty="0">
                <a:solidFill>
                  <a:srgbClr val="000000"/>
                </a:solidFill>
                <a:effectLst/>
                <a:latin typeface="Helvetica Neue" panose="02000503000000020004" pitchFamily="2" charset="0"/>
              </a:rPr>
              <a:t>действием </a:t>
            </a:r>
            <a:r>
              <a:rPr lang="ru-RU" sz="1400" b="0" i="0" u="none" strike="noStrike" dirty="0">
                <a:solidFill>
                  <a:srgbClr val="000000"/>
                </a:solidFill>
                <a:effectLst/>
                <a:latin typeface="STIXMathJax_Normal-italic"/>
              </a:rPr>
              <a:t>𝐴</a:t>
            </a:r>
            <a:r>
              <a:rPr lang="ru-RU" sz="1400" b="0" i="0" u="none" strike="noStrike" baseline="-25000" dirty="0">
                <a:solidFill>
                  <a:srgbClr val="000000"/>
                </a:solidFill>
                <a:effectLst/>
                <a:latin typeface="STIXMathJax_Normal-italic"/>
              </a:rPr>
              <a:t>𝑡</a:t>
            </a:r>
            <a:r>
              <a:rPr lang="ru-RU" sz="1400" b="0" i="0" u="none" strike="noStrike" baseline="-25000" dirty="0">
                <a:solidFill>
                  <a:srgbClr val="000000"/>
                </a:solidFill>
                <a:effectLst/>
                <a:latin typeface="STIXMathJax_Main"/>
              </a:rPr>
              <a:t>+1</a:t>
            </a:r>
            <a:r>
              <a:rPr lang="ru-RU" sz="1400" b="0" i="0" u="none" strike="noStrike" dirty="0">
                <a:solidFill>
                  <a:srgbClr val="000000"/>
                </a:solidFill>
                <a:effectLst/>
                <a:latin typeface="STIXMathJax_Main"/>
              </a:rPr>
              <a:t>∼</a:t>
            </a:r>
            <a:r>
              <a:rPr lang="ru-RU" sz="1400" b="0" i="0" u="none" strike="noStrike" dirty="0">
                <a:solidFill>
                  <a:srgbClr val="000000"/>
                </a:solidFill>
                <a:effectLst/>
                <a:latin typeface="STIXMathJax_Normal-italic"/>
              </a:rPr>
              <a:t>𝜋</a:t>
            </a:r>
            <a:r>
              <a:rPr lang="ru-RU" sz="1400" b="0" i="0" u="none" strike="noStrike" dirty="0">
                <a:solidFill>
                  <a:srgbClr val="000000"/>
                </a:solidFill>
                <a:effectLst/>
                <a:latin typeface="STIXMathJax_Main"/>
              </a:rPr>
              <a:t>(⋅</a:t>
            </a:r>
            <a:r>
              <a:rPr lang="ru-RU" sz="1400" b="0" i="0" u="none" strike="noStrike" dirty="0">
                <a:solidFill>
                  <a:srgbClr val="000000"/>
                </a:solidFill>
                <a:effectLst/>
                <a:latin typeface="STIXMathJax_Variants"/>
              </a:rPr>
              <a:t>|</a:t>
            </a:r>
            <a:r>
              <a:rPr lang="ru-RU" sz="1400" b="0" i="0" u="none" strike="noStrike" dirty="0">
                <a:solidFill>
                  <a:srgbClr val="000000"/>
                </a:solidFill>
                <a:effectLst/>
                <a:latin typeface="STIXMathJax_Normal-italic"/>
              </a:rPr>
              <a:t>𝑆</a:t>
            </a:r>
            <a:r>
              <a:rPr lang="ru-RU" sz="1400" b="0" i="0" u="none" strike="noStrike" baseline="-25000" dirty="0">
                <a:solidFill>
                  <a:srgbClr val="000000"/>
                </a:solidFill>
                <a:effectLst/>
                <a:latin typeface="STIXMathJax_Normal-italic"/>
              </a:rPr>
              <a:t>𝑡</a:t>
            </a:r>
            <a:r>
              <a:rPr lang="ru-RU" sz="1400" b="0" i="0" u="none" strike="noStrike" baseline="-25000" dirty="0">
                <a:solidFill>
                  <a:srgbClr val="000000"/>
                </a:solidFill>
                <a:effectLst/>
                <a:latin typeface="STIXMathJax_Main"/>
              </a:rPr>
              <a:t>+1</a:t>
            </a:r>
            <a:r>
              <a:rPr lang="ru-RU" sz="1400" b="0" i="0" u="none" strike="noStrike" dirty="0">
                <a:solidFill>
                  <a:srgbClr val="000000"/>
                </a:solidFill>
                <a:effectLst/>
                <a:latin typeface="STIXMathJax_Main"/>
              </a:rPr>
              <a:t>)</a:t>
            </a:r>
            <a:endParaRPr lang="en-US" sz="1400" b="0" i="0" u="none" strike="noStrike" dirty="0">
              <a:solidFill>
                <a:srgbClr val="000000"/>
              </a:solidFill>
              <a:effectLst/>
              <a:latin typeface="STIXMathJax_Main"/>
            </a:endParaRPr>
          </a:p>
          <a:p>
            <a:pPr marL="457200" lvl="1" indent="-323850">
              <a:buSzPts val="1500"/>
              <a:buFont typeface="Roboto"/>
              <a:buChar char="●"/>
            </a:pPr>
            <a:r>
              <a:rPr lang="ru-RU" sz="1600" dirty="0">
                <a:solidFill>
                  <a:srgbClr val="000000"/>
                </a:solidFill>
                <a:latin typeface="Helvetica Neue" panose="02000503000000020004" pitchFamily="2" charset="0"/>
              </a:rPr>
              <a:t>Обновляем 𝑄: </a:t>
            </a:r>
          </a:p>
          <a:p>
            <a:endParaRPr lang="en-US" sz="1600" b="0" i="0" u="none" strike="noStrike" dirty="0">
              <a:solidFill>
                <a:srgbClr val="000000"/>
              </a:solidFill>
              <a:effectLst/>
              <a:latin typeface="Helvetica Neue" panose="02000503000000020004" pitchFamily="2" charset="0"/>
            </a:endParaRPr>
          </a:p>
          <a:p>
            <a:endParaRPr lang="en-US" sz="1600" dirty="0">
              <a:solidFill>
                <a:srgbClr val="000000"/>
              </a:solidFill>
              <a:latin typeface="Helvetica Neue" panose="02000503000000020004" pitchFamily="2" charset="0"/>
            </a:endParaRPr>
          </a:p>
          <a:p>
            <a:endParaRPr lang="en-US" sz="1600" b="0" i="0" u="none" strike="noStrike" dirty="0">
              <a:solidFill>
                <a:srgbClr val="000000"/>
              </a:solidFill>
              <a:effectLst/>
              <a:latin typeface="Helvetica Neue" panose="02000503000000020004" pitchFamily="2" charset="0"/>
            </a:endParaRPr>
          </a:p>
          <a:p>
            <a:endParaRPr lang="ru-RU" sz="1600" b="0" i="0" u="none" strike="noStrike" dirty="0">
              <a:solidFill>
                <a:srgbClr val="000000"/>
              </a:solidFill>
              <a:effectLst/>
              <a:latin typeface="Helvetica Neue" panose="02000503000000020004" pitchFamily="2" charset="0"/>
            </a:endParaRPr>
          </a:p>
          <a:p>
            <a:r>
              <a:rPr lang="ru-RU" sz="1600" b="0" i="0" u="none" strike="noStrike" dirty="0">
                <a:solidFill>
                  <a:srgbClr val="000000"/>
                </a:solidFill>
                <a:effectLst/>
                <a:latin typeface="Helvetica Neue" panose="02000503000000020004" pitchFamily="2" charset="0"/>
              </a:rPr>
              <a:t>Обновляем </a:t>
            </a:r>
            <a:r>
              <a:rPr lang="ru-RU" sz="1600" b="0" i="0" u="none" strike="noStrike" dirty="0">
                <a:solidFill>
                  <a:srgbClr val="000000"/>
                </a:solidFill>
                <a:effectLst/>
                <a:latin typeface="STIXMathJax_Normal-italic"/>
              </a:rPr>
              <a:t>𝜀</a:t>
            </a:r>
            <a:r>
              <a:rPr lang="ru-RU" sz="1600" b="0" i="0" u="none" strike="noStrike" dirty="0">
                <a:solidFill>
                  <a:srgbClr val="000000"/>
                </a:solidFill>
                <a:effectLst/>
                <a:latin typeface="STIXMathJax_Main"/>
              </a:rPr>
              <a:t>=1/</a:t>
            </a:r>
            <a:r>
              <a:rPr lang="ru-RU" sz="1600" b="0" i="0" u="none" strike="noStrike" dirty="0">
                <a:solidFill>
                  <a:srgbClr val="000000"/>
                </a:solidFill>
                <a:effectLst/>
                <a:latin typeface="STIXMathJax_Normal-italic"/>
              </a:rPr>
              <a:t>𝑘</a:t>
            </a:r>
            <a:endParaRPr lang="ru-RU" sz="1600" b="0" i="0" u="none" strike="noStrike" dirty="0">
              <a:solidFill>
                <a:srgbClr val="000000"/>
              </a:solidFill>
              <a:effectLst/>
              <a:latin typeface="Helvetica Neue" panose="02000503000000020004" pitchFamily="2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2">
                <a:extLst>
                  <a:ext uri="{FF2B5EF4-FFF2-40B4-BE49-F238E27FC236}">
                    <a16:creationId xmlns:a16="http://schemas.microsoft.com/office/drawing/2014/main" id="{E15B193F-62F1-F44B-85D9-383DC45B3ED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808226221"/>
                  </p:ext>
                </p:extLst>
              </p:nvPr>
            </p:nvGraphicFramePr>
            <p:xfrm>
              <a:off x="717647" y="3219418"/>
              <a:ext cx="8086406" cy="994918"/>
            </p:xfrm>
            <a:graphic>
              <a:graphicData uri="http://schemas.openxmlformats.org/drawingml/2006/table">
                <a:tbl>
                  <a:tblPr firstRow="1" bandRow="1">
                    <a:tableStyleId>{B623574C-9AE7-4070-A081-93A97D88BCA6}</a:tableStyleId>
                  </a:tblPr>
                  <a:tblGrid>
                    <a:gridCol w="4043203">
                      <a:extLst>
                        <a:ext uri="{9D8B030D-6E8A-4147-A177-3AD203B41FA5}">
                          <a16:colId xmlns:a16="http://schemas.microsoft.com/office/drawing/2014/main" val="1307011111"/>
                        </a:ext>
                      </a:extLst>
                    </a:gridCol>
                    <a:gridCol w="4043203">
                      <a:extLst>
                        <a:ext uri="{9D8B030D-6E8A-4147-A177-3AD203B41FA5}">
                          <a16:colId xmlns:a16="http://schemas.microsoft.com/office/drawing/2014/main" val="3065587893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Q-learning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SARSA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74876922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r>
                                <a:rPr lang="en-US" sz="140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  <m:d>
                                <m:dPr>
                                  <m:ctrlPr>
                                    <a:rPr lang="en-US" sz="1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14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4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𝑆</m:t>
                                      </m:r>
                                    </m:e>
                                    <m:sub>
                                      <m:r>
                                        <a:rPr lang="en-US" sz="14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sub>
                                  </m:sSub>
                                  <m:r>
                                    <a:rPr lang="en-US" sz="1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sSub>
                                    <m:sSubPr>
                                      <m:ctrlPr>
                                        <a:rPr lang="en-US" sz="14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4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𝐴</m:t>
                                      </m:r>
                                    </m:e>
                                    <m:sub>
                                      <m:r>
                                        <a:rPr lang="en-US" sz="14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sz="1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←</m:t>
                              </m:r>
                              <m:r>
                                <a:rPr lang="en-US" sz="1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  <m:d>
                                <m:dPr>
                                  <m:ctrlPr>
                                    <a:rPr lang="en-US" sz="1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14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4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𝑆</m:t>
                                      </m:r>
                                    </m:e>
                                    <m:sub>
                                      <m:r>
                                        <a:rPr lang="en-US" sz="14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sub>
                                  </m:sSub>
                                  <m:r>
                                    <a:rPr lang="en-US" sz="1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sSub>
                                    <m:sSubPr>
                                      <m:ctrlPr>
                                        <a:rPr lang="en-US" sz="14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4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𝐴</m:t>
                                      </m:r>
                                    </m:e>
                                    <m:sub>
                                      <m:r>
                                        <a:rPr lang="en-US" sz="14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sz="14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sz="1400" b="0" i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oMath>
                          </a14:m>
                          <a:r>
                            <a:rPr lang="en-US" sz="1400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a:t> </a:t>
                          </a:r>
                        </a:p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𝛼</m:t>
                                </m:r>
                                <m:d>
                                  <m:dPr>
                                    <m:ctrlPr>
                                      <a:rPr lang="en-US" sz="14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sz="1400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400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𝑅</m:t>
                                        </m:r>
                                      </m:e>
                                      <m:sub>
                                        <m:r>
                                          <a:rPr lang="en-US" sz="1400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</m:sub>
                                    </m:sSub>
                                    <m:r>
                                      <a:rPr lang="en-US" sz="14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𝛾</m:t>
                                    </m:r>
                                    <m:func>
                                      <m:funcPr>
                                        <m:ctrlPr>
                                          <a:rPr lang="en-US" sz="1400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uncPr>
                                      <m:fName>
                                        <m:limLow>
                                          <m:limLowPr>
                                            <m:ctrlPr>
                                              <a:rPr lang="en-US" sz="1400" i="1">
                                                <a:solidFill>
                                                  <a:srgbClr val="0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limLowPr>
                                          <m:e>
                                            <m:r>
                                              <m:rPr>
                                                <m:sty m:val="p"/>
                                              </m:rPr>
                                              <a:rPr lang="en-US" sz="1400">
                                                <a:solidFill>
                                                  <a:srgbClr val="0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max</m:t>
                                            </m:r>
                                          </m:e>
                                          <m:lim>
                                            <m:sSup>
                                              <m:sSupPr>
                                                <m:ctrlPr>
                                                  <a:rPr lang="en-US" sz="1400" i="1">
                                                    <a:solidFill>
                                                      <a:srgbClr val="000000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pPr>
                                              <m:e>
                                                <m:r>
                                                  <a:rPr lang="en-US" sz="1400" i="1">
                                                    <a:solidFill>
                                                      <a:srgbClr val="000000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𝑎</m:t>
                                                </m:r>
                                              </m:e>
                                              <m:sup>
                                                <m:r>
                                                  <a:rPr lang="en-US" sz="1400" i="1">
                                                    <a:solidFill>
                                                      <a:srgbClr val="000000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′</m:t>
                                                </m:r>
                                              </m:sup>
                                            </m:sSup>
                                          </m:lim>
                                        </m:limLow>
                                      </m:fName>
                                      <m:e>
                                        <m:r>
                                          <a:rPr lang="en-US" sz="1400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𝑄</m:t>
                                        </m:r>
                                        <m:d>
                                          <m:dPr>
                                            <m:ctrlPr>
                                              <a:rPr lang="en-US" sz="1400" i="1">
                                                <a:solidFill>
                                                  <a:srgbClr val="0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sSub>
                                              <m:sSubPr>
                                                <m:ctrlPr>
                                                  <a:rPr lang="en-US" sz="1400" i="1">
                                                    <a:solidFill>
                                                      <a:srgbClr val="000000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sz="1400" i="1">
                                                    <a:solidFill>
                                                      <a:srgbClr val="000000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𝑆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sz="1400" i="1">
                                                    <a:solidFill>
                                                      <a:srgbClr val="000000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𝑡</m:t>
                                                </m:r>
                                                <m:r>
                                                  <a:rPr lang="en-US" sz="1400" i="1">
                                                    <a:solidFill>
                                                      <a:srgbClr val="000000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+1</m:t>
                                                </m:r>
                                              </m:sub>
                                            </m:sSub>
                                            <m:r>
                                              <a:rPr lang="en-US" sz="1400" i="1">
                                                <a:solidFill>
                                                  <a:srgbClr val="0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,</m:t>
                                            </m:r>
                                            <m:sSup>
                                              <m:sSupPr>
                                                <m:ctrlPr>
                                                  <a:rPr lang="en-US" sz="1400" i="1">
                                                    <a:solidFill>
                                                      <a:srgbClr val="000000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pPr>
                                              <m:e>
                                                <m:r>
                                                  <a:rPr lang="en-US" sz="1400" i="1">
                                                    <a:solidFill>
                                                      <a:srgbClr val="000000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𝑎</m:t>
                                                </m:r>
                                              </m:e>
                                              <m:sup>
                                                <m:r>
                                                  <a:rPr lang="en-US" sz="1400" i="1">
                                                    <a:solidFill>
                                                      <a:srgbClr val="000000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′</m:t>
                                                </m:r>
                                              </m:sup>
                                            </m:sSup>
                                            <m:r>
                                              <a:rPr lang="en-US" sz="1400" i="1">
                                                <a:solidFill>
                                                  <a:srgbClr val="0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 </m:t>
                                            </m:r>
                                          </m:e>
                                        </m:d>
                                      </m:e>
                                    </m:func>
                                    <m:r>
                                      <a:rPr lang="en-US" sz="14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sz="14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𝑄</m:t>
                                    </m:r>
                                    <m:d>
                                      <m:dPr>
                                        <m:ctrlPr>
                                          <a:rPr lang="en-US" sz="1400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lang="en-US" sz="1400" i="1">
                                                <a:solidFill>
                                                  <a:srgbClr val="0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sz="1400" i="1">
                                                <a:solidFill>
                                                  <a:srgbClr val="0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𝑆</m:t>
                                            </m:r>
                                          </m:e>
                                          <m:sub>
                                            <m:r>
                                              <a:rPr lang="en-US" sz="1400" i="1">
                                                <a:solidFill>
                                                  <a:srgbClr val="0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𝑡</m:t>
                                            </m:r>
                                          </m:sub>
                                        </m:sSub>
                                        <m:r>
                                          <a:rPr lang="en-US" sz="1400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,</m:t>
                                        </m:r>
                                        <m:sSub>
                                          <m:sSubPr>
                                            <m:ctrlPr>
                                              <a:rPr lang="en-US" sz="1400" i="1">
                                                <a:solidFill>
                                                  <a:srgbClr val="0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sz="1400" i="1">
                                                <a:solidFill>
                                                  <a:srgbClr val="0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𝐴</m:t>
                                            </m:r>
                                          </m:e>
                                          <m:sub>
                                            <m:r>
                                              <a:rPr lang="en-US" sz="1400" i="1">
                                                <a:solidFill>
                                                  <a:srgbClr val="0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𝑡</m:t>
                                            </m:r>
                                          </m:sub>
                                        </m:sSub>
                                      </m:e>
                                    </m:d>
                                  </m:e>
                                </m:d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400" b="0" i="1" u="none" strike="noStrike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𝑄</m:t>
                                </m:r>
                                <m:d>
                                  <m:dPr>
                                    <m:ctrlPr>
                                      <a:rPr lang="en-US" sz="1400" b="0" i="1" u="none" strike="noStrike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sz="1400" b="0" i="1" u="none" strike="noStrike" smtClean="0">
                                            <a:solidFill>
                                              <a:srgbClr val="000000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400" b="0" i="1" u="none" strike="noStrike" smtClean="0">
                                            <a:solidFill>
                                              <a:srgbClr val="000000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𝑆</m:t>
                                        </m:r>
                                      </m:e>
                                      <m:sub>
                                        <m:r>
                                          <a:rPr lang="en-US" sz="1400" b="0" i="1" u="none" strike="noStrike" smtClean="0">
                                            <a:solidFill>
                                              <a:srgbClr val="000000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</m:sub>
                                    </m:sSub>
                                    <m:r>
                                      <a:rPr lang="en-US" sz="1400" b="0" i="1" u="none" strike="noStrike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sSub>
                                      <m:sSubPr>
                                        <m:ctrlPr>
                                          <a:rPr lang="en-US" sz="1400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400" b="0" i="1" smtClean="0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𝐴</m:t>
                                        </m:r>
                                      </m:e>
                                      <m:sub>
                                        <m:r>
                                          <a:rPr lang="en-US" sz="1400" b="0" i="1" smtClean="0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</m:sub>
                                    </m:sSub>
                                  </m:e>
                                </m:d>
                                <m:r>
                                  <a:rPr lang="en-US" sz="1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←</m:t>
                                </m:r>
                                <m:r>
                                  <a:rPr lang="en-US" sz="1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𝑄</m:t>
                                </m:r>
                                <m:d>
                                  <m:dPr>
                                    <m:ctrlPr>
                                      <a:rPr lang="en-US" sz="14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sz="1400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400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𝑆</m:t>
                                        </m:r>
                                      </m:e>
                                      <m:sub>
                                        <m:r>
                                          <a:rPr lang="en-US" sz="1400" b="0" i="1" smtClean="0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</m:sub>
                                    </m:sSub>
                                    <m:r>
                                      <a:rPr lang="en-US" sz="14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sSub>
                                      <m:sSubPr>
                                        <m:ctrlPr>
                                          <a:rPr lang="en-US" sz="1400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400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𝐴</m:t>
                                        </m:r>
                                      </m:e>
                                      <m:sub>
                                        <m:r>
                                          <a:rPr lang="en-US" sz="1400" b="0" i="1" smtClean="0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</m:sub>
                                    </m:sSub>
                                  </m:e>
                                </m:d>
                                <m:r>
                                  <a:rPr lang="en-US" sz="1400" b="0" i="0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</m:oMath>
                            </m:oMathPara>
                          </a14:m>
                          <a:endParaRPr lang="en-US" sz="1400" b="0" i="0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endParaRPr>
                        </a:p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400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𝛼</m:t>
                                </m:r>
                                <m:d>
                                  <m:dPr>
                                    <m:ctrlPr>
                                      <a:rPr lang="en-US" sz="1400" b="0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sz="1400" b="0" i="1" smtClean="0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400" b="0" i="1" smtClean="0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𝑅</m:t>
                                        </m:r>
                                      </m:e>
                                      <m:sub>
                                        <m:r>
                                          <a:rPr lang="en-US" sz="1400" b="0" i="1" smtClean="0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</m:sub>
                                    </m:sSub>
                                    <m:r>
                                      <a:rPr lang="en-US" sz="1400" b="0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n-US" sz="1400" b="0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𝛾</m:t>
                                    </m:r>
                                    <m:r>
                                      <a:rPr lang="en-US" sz="14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𝑄</m:t>
                                    </m:r>
                                    <m:d>
                                      <m:dPr>
                                        <m:ctrlPr>
                                          <a:rPr lang="en-US" sz="1400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lang="en-US" sz="1400" i="1">
                                                <a:solidFill>
                                                  <a:srgbClr val="0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sz="1400" i="1">
                                                <a:solidFill>
                                                  <a:srgbClr val="0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𝑆</m:t>
                                            </m:r>
                                          </m:e>
                                          <m:sub>
                                            <m:r>
                                              <a:rPr lang="en-US" sz="1400" i="1">
                                                <a:solidFill>
                                                  <a:srgbClr val="0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𝑡</m:t>
                                            </m:r>
                                            <m:r>
                                              <a:rPr lang="en-US" sz="1400" b="0" i="1" smtClean="0">
                                                <a:solidFill>
                                                  <a:srgbClr val="0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+1</m:t>
                                            </m:r>
                                          </m:sub>
                                        </m:sSub>
                                        <m:r>
                                          <a:rPr lang="en-US" sz="1400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,</m:t>
                                        </m:r>
                                        <m:sSub>
                                          <m:sSubPr>
                                            <m:ctrlPr>
                                              <a:rPr lang="en-US" sz="1400" i="1">
                                                <a:solidFill>
                                                  <a:srgbClr val="0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sz="1400" i="1">
                                                <a:solidFill>
                                                  <a:srgbClr val="0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𝐴</m:t>
                                            </m:r>
                                          </m:e>
                                          <m:sub>
                                            <m:r>
                                              <a:rPr lang="en-US" sz="1400" i="1">
                                                <a:solidFill>
                                                  <a:srgbClr val="0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𝑡</m:t>
                                            </m:r>
                                            <m:r>
                                              <a:rPr lang="en-US" sz="1400" b="0" i="1" smtClean="0">
                                                <a:solidFill>
                                                  <a:srgbClr val="0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+1</m:t>
                                            </m:r>
                                          </m:sub>
                                        </m:sSub>
                                      </m:e>
                                    </m:d>
                                    <m:r>
                                      <a:rPr lang="en-US" sz="1400" b="0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sz="14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𝑄</m:t>
                                    </m:r>
                                    <m:d>
                                      <m:dPr>
                                        <m:ctrlPr>
                                          <a:rPr lang="en-US" sz="1400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lang="en-US" sz="1400" i="1">
                                                <a:solidFill>
                                                  <a:srgbClr val="0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sz="1400" i="1">
                                                <a:solidFill>
                                                  <a:srgbClr val="0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𝑆</m:t>
                                            </m:r>
                                          </m:e>
                                          <m:sub>
                                            <m:r>
                                              <a:rPr lang="en-US" sz="1400" b="0" i="1" smtClean="0">
                                                <a:solidFill>
                                                  <a:srgbClr val="0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𝑡</m:t>
                                            </m:r>
                                          </m:sub>
                                        </m:sSub>
                                        <m:r>
                                          <a:rPr lang="en-US" sz="1400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,</m:t>
                                        </m:r>
                                        <m:sSub>
                                          <m:sSubPr>
                                            <m:ctrlPr>
                                              <a:rPr lang="en-US" sz="1400" i="1">
                                                <a:solidFill>
                                                  <a:srgbClr val="0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sz="1400" i="1">
                                                <a:solidFill>
                                                  <a:srgbClr val="0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𝐴</m:t>
                                            </m:r>
                                          </m:e>
                                          <m:sub>
                                            <m:r>
                                              <a:rPr lang="en-US" sz="1400" b="0" i="1" smtClean="0">
                                                <a:solidFill>
                                                  <a:srgbClr val="0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𝑡</m:t>
                                            </m:r>
                                          </m:sub>
                                        </m:sSub>
                                      </m:e>
                                    </m:d>
                                  </m:e>
                                </m:d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200518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2">
                <a:extLst>
                  <a:ext uri="{FF2B5EF4-FFF2-40B4-BE49-F238E27FC236}">
                    <a16:creationId xmlns:a16="http://schemas.microsoft.com/office/drawing/2014/main" id="{E15B193F-62F1-F44B-85D9-383DC45B3ED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808226221"/>
                  </p:ext>
                </p:extLst>
              </p:nvPr>
            </p:nvGraphicFramePr>
            <p:xfrm>
              <a:off x="717647" y="3219418"/>
              <a:ext cx="8086406" cy="994918"/>
            </p:xfrm>
            <a:graphic>
              <a:graphicData uri="http://schemas.openxmlformats.org/drawingml/2006/table">
                <a:tbl>
                  <a:tblPr firstRow="1" bandRow="1">
                    <a:tableStyleId>{B623574C-9AE7-4070-A081-93A97D88BCA6}</a:tableStyleId>
                  </a:tblPr>
                  <a:tblGrid>
                    <a:gridCol w="4043203">
                      <a:extLst>
                        <a:ext uri="{9D8B030D-6E8A-4147-A177-3AD203B41FA5}">
                          <a16:colId xmlns:a16="http://schemas.microsoft.com/office/drawing/2014/main" val="1307011111"/>
                        </a:ext>
                      </a:extLst>
                    </a:gridCol>
                    <a:gridCol w="4043203">
                      <a:extLst>
                        <a:ext uri="{9D8B030D-6E8A-4147-A177-3AD203B41FA5}">
                          <a16:colId xmlns:a16="http://schemas.microsoft.com/office/drawing/2014/main" val="3065587893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Q-learning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SARSA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748769220"/>
                      </a:ext>
                    </a:extLst>
                  </a:tr>
                  <a:tr h="624078">
                    <a:tc>
                      <a:txBody>
                        <a:bodyPr/>
                        <a:lstStyle/>
                        <a:p>
                          <a:endParaRPr lang="en-TR"/>
                        </a:p>
                      </a:txBody>
                      <a:tcPr>
                        <a:blipFill>
                          <a:blip r:embed="rId3"/>
                          <a:stretch>
                            <a:fillRect l="-313" t="-60000" r="-100313" b="-2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TR"/>
                        </a:p>
                      </a:txBody>
                      <a:tcPr>
                        <a:blipFill>
                          <a:blip r:embed="rId3"/>
                          <a:stretch>
                            <a:fillRect l="-100313" t="-60000" r="-313" b="-2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005186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33877297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57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 err="1">
                <a:solidFill>
                  <a:srgbClr val="000000"/>
                </a:solidFill>
                <a:latin typeface="Helvetica Neue" panose="02000503000000020004" pitchFamily="2" charset="0"/>
              </a:rPr>
              <a:t>CartPole</a:t>
            </a:r>
            <a:r>
              <a:rPr lang="en-US" dirty="0">
                <a:solidFill>
                  <a:srgbClr val="000000"/>
                </a:solidFill>
                <a:latin typeface="Helvetica Neue" panose="02000503000000020004" pitchFamily="2" charset="0"/>
              </a:rPr>
              <a:t> </a:t>
            </a:r>
            <a:r>
              <a:rPr lang="ru-RU" dirty="0">
                <a:solidFill>
                  <a:srgbClr val="000000"/>
                </a:solidFill>
                <a:latin typeface="Helvetica Neue" panose="02000503000000020004" pitchFamily="2" charset="0"/>
              </a:rPr>
              <a:t>дискретизация среды</a:t>
            </a:r>
            <a:endParaRPr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Google Shape;311;p57">
                <a:extLst>
                  <a:ext uri="{FF2B5EF4-FFF2-40B4-BE49-F238E27FC236}">
                    <a16:creationId xmlns:a16="http://schemas.microsoft.com/office/drawing/2014/main" id="{8A36D44E-7C6A-5342-A463-32C67AE55829}"/>
                  </a:ext>
                </a:extLst>
              </p:cNvPr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500550" y="1128558"/>
                <a:ext cx="8373832" cy="2588319"/>
              </a:xfrm>
              <a:prstGeom prst="rect">
                <a:avLst/>
              </a:prstGeom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r>
                  <a:rPr lang="ru-RU" sz="1600" b="0" i="0" u="none" strike="noStrike" dirty="0">
                    <a:solidFill>
                      <a:srgbClr val="000000"/>
                    </a:solidFill>
                    <a:effectLst/>
                    <a:latin typeface="Helvetica Neue" panose="02000503000000020004" pitchFamily="2" charset="0"/>
                  </a:rPr>
                  <a:t>Разделим пространство состояний на дискретные интервалы</a:t>
                </a:r>
                <a:r>
                  <a:rPr lang="en-US" sz="1600" b="0" i="0" u="none" strike="noStrike" dirty="0">
                    <a:solidFill>
                      <a:srgbClr val="000000"/>
                    </a:solidFill>
                    <a:effectLst/>
                    <a:latin typeface="Helvetica Neue" panose="02000503000000020004" pitchFamily="2" charset="0"/>
                  </a:rPr>
                  <a:t>. </a:t>
                </a:r>
                <a:r>
                  <a:rPr lang="ru-RU" sz="1600" b="0" i="0" u="none" strike="noStrike" dirty="0">
                    <a:solidFill>
                      <a:srgbClr val="000000"/>
                    </a:solidFill>
                    <a:effectLst/>
                    <a:latin typeface="Helvetica Neue" panose="02000503000000020004" pitchFamily="2" charset="0"/>
                  </a:rPr>
                  <a:t>Тогда размер </a:t>
                </a:r>
                <a:r>
                  <a:rPr lang="en-US" sz="1600" b="0" i="0" u="none" strike="noStrike" dirty="0">
                    <a:solidFill>
                      <a:srgbClr val="000000"/>
                    </a:solidFill>
                    <a:effectLst/>
                    <a:latin typeface="Helvetica Neue" panose="02000503000000020004" pitchFamily="2" charset="0"/>
                  </a:rPr>
                  <a:t>q-</a:t>
                </a:r>
                <a:r>
                  <a:rPr lang="ru-RU" sz="1600" b="0" i="0" u="none" strike="noStrike" dirty="0">
                    <a:solidFill>
                      <a:srgbClr val="000000"/>
                    </a:solidFill>
                    <a:effectLst/>
                    <a:latin typeface="Helvetica Neue" panose="02000503000000020004" pitchFamily="2" charset="0"/>
                  </a:rPr>
                  <a:t>таблицы в памяти будет следующий:</a:t>
                </a:r>
              </a:p>
              <a:p>
                <a:r>
                  <a:rPr lang="ru-RU" sz="1600" dirty="0">
                    <a:solidFill>
                      <a:srgbClr val="000000"/>
                    </a:solidFill>
                    <a:latin typeface="Helvetica Neue" panose="02000503000000020004" pitchFamily="2" charset="0"/>
                  </a:rPr>
                  <a:t>10 интервалов =</a:t>
                </a:r>
                <a:r>
                  <a:rPr lang="en-US" sz="1600" dirty="0">
                    <a:solidFill>
                      <a:srgbClr val="000000"/>
                    </a:solidFill>
                    <a:latin typeface="Helvetica Neue" panose="02000503000000020004" pitchFamily="2" charset="0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60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sz="16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ru-RU" sz="16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10</m:t>
                            </m:r>
                          </m:e>
                          <m:sup>
                            <m:r>
                              <a:rPr lang="en-US" sz="16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  <m:r>
                          <a:rPr lang="en-US" sz="1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⋅2⋅32</m:t>
                        </m:r>
                        <m:r>
                          <m:rPr>
                            <m:sty m:val="p"/>
                          </m:rPr>
                          <a:rPr lang="en-US" sz="1600" b="0" i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bit</m:t>
                        </m:r>
                      </m:num>
                      <m:den>
                        <m:sSup>
                          <m:sSupPr>
                            <m:ctrlPr>
                              <a:rPr lang="en-US" sz="16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6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1024</m:t>
                            </m:r>
                          </m:e>
                          <m:sup>
                            <m:r>
                              <a:rPr lang="en-US" sz="16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en-US" sz="16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=0.6 </m:t>
                    </m:r>
                    <m:r>
                      <m:rPr>
                        <m:sty m:val="p"/>
                      </m:rPr>
                      <a:rPr lang="en-US" sz="1600" b="0" i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Mb</m:t>
                    </m:r>
                  </m:oMath>
                </a14:m>
                <a:r>
                  <a:rPr lang="ru-RU" sz="1600" b="0" u="none" strike="noStrike" dirty="0">
                    <a:solidFill>
                      <a:srgbClr val="000000"/>
                    </a:solidFill>
                    <a:effectLst/>
                    <a:latin typeface="Helvetica Neue" panose="02000503000000020004" pitchFamily="2" charset="0"/>
                  </a:rPr>
                  <a:t>, </a:t>
                </a:r>
                <a:r>
                  <a:rPr lang="en-US" sz="1600" b="0" u="none" strike="noStrike" dirty="0">
                    <a:solidFill>
                      <a:srgbClr val="000000"/>
                    </a:solidFill>
                    <a:effectLst/>
                    <a:latin typeface="Helvetica Neue" panose="02000503000000020004" pitchFamily="2" charset="0"/>
                  </a:rPr>
                  <a:t>20.000</a:t>
                </a:r>
                <a:r>
                  <a:rPr lang="ru-RU" sz="1600" b="0" u="none" strike="noStrike" dirty="0">
                    <a:solidFill>
                      <a:srgbClr val="000000"/>
                    </a:solidFill>
                    <a:effectLst/>
                    <a:latin typeface="Helvetica Neue" panose="02000503000000020004" pitchFamily="2" charset="0"/>
                  </a:rPr>
                  <a:t> состояний </a:t>
                </a:r>
                <a:r>
                  <a:rPr lang="en-US" sz="1600" b="0" u="none" strike="noStrike" dirty="0">
                    <a:solidFill>
                      <a:srgbClr val="000000"/>
                    </a:solidFill>
                    <a:effectLst/>
                    <a:latin typeface="Helvetica Neue" panose="02000503000000020004" pitchFamily="2" charset="0"/>
                  </a:rPr>
                  <a:t>q-table</a:t>
                </a:r>
              </a:p>
              <a:p>
                <a:r>
                  <a:rPr lang="en-US" sz="1600" dirty="0">
                    <a:solidFill>
                      <a:srgbClr val="000000"/>
                    </a:solidFill>
                    <a:latin typeface="Helvetica Neue" panose="02000503000000020004" pitchFamily="2" charset="0"/>
                  </a:rPr>
                  <a:t>20 </a:t>
                </a:r>
                <a:r>
                  <a:rPr lang="ru-RU" sz="1600" dirty="0">
                    <a:solidFill>
                      <a:srgbClr val="000000"/>
                    </a:solidFill>
                    <a:latin typeface="Helvetica Neue" panose="02000503000000020004" pitchFamily="2" charset="0"/>
                  </a:rPr>
                  <a:t>интервалов =</a:t>
                </a:r>
                <a:r>
                  <a:rPr lang="en-US" sz="1600" dirty="0">
                    <a:solidFill>
                      <a:srgbClr val="000000"/>
                    </a:solidFill>
                    <a:latin typeface="Helvetica Neue" panose="02000503000000020004" pitchFamily="2" charset="0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60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sz="16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6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ru-RU" sz="16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  <m:sup>
                            <m:r>
                              <a:rPr lang="en-US" sz="16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  <m:r>
                          <a:rPr lang="en-US" sz="1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⋅2⋅32</m:t>
                        </m:r>
                        <m:r>
                          <m:rPr>
                            <m:sty m:val="p"/>
                          </m:rPr>
                          <a:rPr lang="en-US" sz="1600" b="0" i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bit</m:t>
                        </m:r>
                      </m:num>
                      <m:den>
                        <m:sSup>
                          <m:sSupPr>
                            <m:ctrlPr>
                              <a:rPr lang="en-US" sz="16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6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1024</m:t>
                            </m:r>
                          </m:e>
                          <m:sup>
                            <m:r>
                              <a:rPr lang="en-US" sz="16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en-US" sz="16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=9.77 </m:t>
                    </m:r>
                    <m:r>
                      <m:rPr>
                        <m:sty m:val="p"/>
                      </m:rPr>
                      <a:rPr lang="en-US" sz="1600" b="0" i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Mb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latin typeface="Helvetica Neue" panose="02000503000000020004" pitchFamily="2" charset="0"/>
                  </a:rPr>
                  <a:t>, </a:t>
                </a:r>
                <a:r>
                  <a:rPr lang="en-US" sz="1600" dirty="0">
                    <a:solidFill>
                      <a:srgbClr val="000000"/>
                    </a:solidFill>
                    <a:latin typeface="Helvetica Neue" panose="02000503000000020004" pitchFamily="2" charset="0"/>
                  </a:rPr>
                  <a:t>320.000</a:t>
                </a:r>
                <a:r>
                  <a:rPr lang="ru-RU" sz="1600" dirty="0">
                    <a:solidFill>
                      <a:srgbClr val="000000"/>
                    </a:solidFill>
                    <a:latin typeface="Helvetica Neue" panose="02000503000000020004" pitchFamily="2" charset="0"/>
                  </a:rPr>
                  <a:t> состояний </a:t>
                </a:r>
                <a:r>
                  <a:rPr lang="en-US" sz="1600" dirty="0">
                    <a:solidFill>
                      <a:srgbClr val="000000"/>
                    </a:solidFill>
                    <a:latin typeface="Helvetica Neue" panose="02000503000000020004" pitchFamily="2" charset="0"/>
                  </a:rPr>
                  <a:t>q-table</a:t>
                </a:r>
              </a:p>
              <a:p>
                <a:r>
                  <a:rPr lang="en-US" sz="1600" b="0" u="none" strike="noStrike" dirty="0">
                    <a:solidFill>
                      <a:srgbClr val="000000"/>
                    </a:solidFill>
                    <a:effectLst/>
                    <a:latin typeface="Helvetica Neue" panose="02000503000000020004" pitchFamily="2" charset="0"/>
                  </a:rPr>
                  <a:t>50 </a:t>
                </a:r>
                <a:r>
                  <a:rPr lang="ru-RU" sz="1600" dirty="0">
                    <a:solidFill>
                      <a:srgbClr val="000000"/>
                    </a:solidFill>
                    <a:latin typeface="Helvetica Neue" panose="02000503000000020004" pitchFamily="2" charset="0"/>
                  </a:rPr>
                  <a:t>интервалов =</a:t>
                </a:r>
                <a:r>
                  <a:rPr lang="en-US" sz="1600" dirty="0">
                    <a:solidFill>
                      <a:srgbClr val="000000"/>
                    </a:solidFill>
                    <a:latin typeface="Helvetica Neue" panose="02000503000000020004" pitchFamily="2" charset="0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60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sz="16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6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  <m:r>
                              <a:rPr lang="ru-RU" sz="16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  <m:sup>
                            <m:r>
                              <a:rPr lang="en-US" sz="16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  <m:r>
                          <a:rPr lang="en-US" sz="1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⋅2⋅32</m:t>
                        </m:r>
                        <m:r>
                          <m:rPr>
                            <m:sty m:val="p"/>
                          </m:rPr>
                          <a:rPr lang="en-US" sz="1600" b="0" i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bit</m:t>
                        </m:r>
                      </m:num>
                      <m:den>
                        <m:sSup>
                          <m:sSupPr>
                            <m:ctrlPr>
                              <a:rPr lang="en-US" sz="16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6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1024</m:t>
                            </m:r>
                          </m:e>
                          <m:sup>
                            <m:r>
                              <a:rPr lang="en-US" sz="16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en-US" sz="16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=381,74 </m:t>
                    </m:r>
                    <m:r>
                      <m:rPr>
                        <m:sty m:val="p"/>
                      </m:rPr>
                      <a:rPr lang="en-US" sz="1600" b="0" i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Mb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latin typeface="Helvetica Neue" panose="02000503000000020004" pitchFamily="2" charset="0"/>
                  </a:rPr>
                  <a:t> , </a:t>
                </a:r>
                <a:r>
                  <a:rPr lang="en-TR" dirty="0"/>
                  <a:t>12.500.000</a:t>
                </a:r>
                <a:r>
                  <a:rPr lang="ru-RU" sz="1600" dirty="0">
                    <a:solidFill>
                      <a:srgbClr val="000000"/>
                    </a:solidFill>
                    <a:latin typeface="Helvetica Neue" panose="02000503000000020004" pitchFamily="2" charset="0"/>
                  </a:rPr>
                  <a:t> состояний </a:t>
                </a:r>
                <a:r>
                  <a:rPr lang="en-US" sz="1600" dirty="0">
                    <a:solidFill>
                      <a:srgbClr val="000000"/>
                    </a:solidFill>
                    <a:latin typeface="Helvetica Neue" panose="02000503000000020004" pitchFamily="2" charset="0"/>
                  </a:rPr>
                  <a:t>q-table</a:t>
                </a:r>
                <a:endParaRPr lang="en-US" sz="1600" b="0" u="none" strike="noStrike" dirty="0">
                  <a:solidFill>
                    <a:srgbClr val="000000"/>
                  </a:solidFill>
                  <a:effectLst/>
                  <a:latin typeface="Helvetica Neue" panose="02000503000000020004" pitchFamily="2" charset="0"/>
                </a:endParaRPr>
              </a:p>
              <a:p>
                <a:r>
                  <a:rPr lang="en-US" sz="1600" dirty="0">
                    <a:solidFill>
                      <a:srgbClr val="000000"/>
                    </a:solidFill>
                    <a:latin typeface="Helvetica Neue" panose="02000503000000020004" pitchFamily="2" charset="0"/>
                  </a:rPr>
                  <a:t>100 </a:t>
                </a:r>
                <a:r>
                  <a:rPr lang="ru-RU" sz="1600" dirty="0">
                    <a:solidFill>
                      <a:srgbClr val="000000"/>
                    </a:solidFill>
                    <a:latin typeface="Helvetica Neue" panose="02000503000000020004" pitchFamily="2" charset="0"/>
                  </a:rPr>
                  <a:t>интервалов =</a:t>
                </a:r>
                <a:r>
                  <a:rPr lang="en-US" sz="1600" dirty="0">
                    <a:solidFill>
                      <a:srgbClr val="000000"/>
                    </a:solidFill>
                    <a:latin typeface="Helvetica Neue" panose="02000503000000020004" pitchFamily="2" charset="0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60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sz="16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ru-RU" sz="16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en-US" sz="16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  <m:r>
                              <a:rPr lang="ru-RU" sz="16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  <m:sup>
                            <m:r>
                              <a:rPr lang="en-US" sz="16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  <m:r>
                          <a:rPr lang="en-US" sz="1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⋅2⋅32</m:t>
                        </m:r>
                        <m:r>
                          <m:rPr>
                            <m:sty m:val="p"/>
                          </m:rPr>
                          <a:rPr lang="en-US" sz="1600" b="0" i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bit</m:t>
                        </m:r>
                      </m:num>
                      <m:den>
                        <m:sSup>
                          <m:sSupPr>
                            <m:ctrlPr>
                              <a:rPr lang="en-US" sz="16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6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1024</m:t>
                            </m:r>
                          </m:e>
                          <m:sup>
                            <m:r>
                              <a:rPr lang="en-US" sz="16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en-US" sz="16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=6.1 </m:t>
                    </m:r>
                    <m:r>
                      <m:rPr>
                        <m:sty m:val="p"/>
                      </m:rPr>
                      <a:rPr lang="en-US" sz="1600" b="0" i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Gb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latin typeface="Helvetica Neue" panose="02000503000000020004" pitchFamily="2" charset="0"/>
                  </a:rPr>
                  <a:t> , </a:t>
                </a:r>
                <a:r>
                  <a:rPr lang="en-TR" dirty="0"/>
                  <a:t>200.000.000</a:t>
                </a:r>
                <a:r>
                  <a:rPr lang="ru-RU" sz="1600" dirty="0">
                    <a:solidFill>
                      <a:srgbClr val="000000"/>
                    </a:solidFill>
                    <a:latin typeface="Helvetica Neue" panose="02000503000000020004" pitchFamily="2" charset="0"/>
                  </a:rPr>
                  <a:t> состояний </a:t>
                </a:r>
                <a:r>
                  <a:rPr lang="en-US" sz="1600" dirty="0">
                    <a:solidFill>
                      <a:srgbClr val="000000"/>
                    </a:solidFill>
                    <a:latin typeface="Helvetica Neue" panose="02000503000000020004" pitchFamily="2" charset="0"/>
                  </a:rPr>
                  <a:t>q-table</a:t>
                </a:r>
              </a:p>
              <a:p>
                <a:endParaRPr lang="en-US" sz="1600" b="0" u="none" strike="noStrike" dirty="0">
                  <a:solidFill>
                    <a:srgbClr val="000000"/>
                  </a:solidFill>
                  <a:effectLst/>
                  <a:latin typeface="Helvetica Neue" panose="02000503000000020004" pitchFamily="2" charset="0"/>
                </a:endParaRPr>
              </a:p>
              <a:p>
                <a:pPr marL="133350" indent="0">
                  <a:buNone/>
                </a:pPr>
                <a:r>
                  <a:rPr lang="ru-RU" sz="1600" dirty="0">
                    <a:solidFill>
                      <a:srgbClr val="000000"/>
                    </a:solidFill>
                    <a:latin typeface="Helvetica Neue" panose="02000503000000020004" pitchFamily="2" charset="0"/>
                  </a:rPr>
                  <a:t>Когда мы рассматривали </a:t>
                </a:r>
                <a:r>
                  <a:rPr lang="en-US" sz="1600" dirty="0">
                    <a:solidFill>
                      <a:srgbClr val="000000"/>
                    </a:solidFill>
                    <a:latin typeface="Helvetica Neue" panose="02000503000000020004" pitchFamily="2" charset="0"/>
                  </a:rPr>
                  <a:t>Taxi </a:t>
                </a:r>
                <a:r>
                  <a:rPr lang="ru-RU" sz="1600" dirty="0">
                    <a:solidFill>
                      <a:srgbClr val="000000"/>
                    </a:solidFill>
                    <a:latin typeface="Helvetica Neue" panose="02000503000000020004" pitchFamily="2" charset="0"/>
                  </a:rPr>
                  <a:t>там было 500 состояний.</a:t>
                </a:r>
                <a:endParaRPr lang="en-US" sz="1600" b="0" u="none" strike="noStrike" dirty="0">
                  <a:solidFill>
                    <a:srgbClr val="000000"/>
                  </a:solidFill>
                  <a:effectLst/>
                  <a:latin typeface="Helvetica Neue" panose="02000503000000020004" pitchFamily="2" charset="0"/>
                </a:endParaRPr>
              </a:p>
            </p:txBody>
          </p:sp>
        </mc:Choice>
        <mc:Fallback xmlns="">
          <p:sp>
            <p:nvSpPr>
              <p:cNvPr id="7" name="Google Shape;311;p57">
                <a:extLst>
                  <a:ext uri="{FF2B5EF4-FFF2-40B4-BE49-F238E27FC236}">
                    <a16:creationId xmlns:a16="http://schemas.microsoft.com/office/drawing/2014/main" id="{8A36D44E-7C6A-5342-A463-32C67AE55829}"/>
                  </a:ext>
                </a:extLst>
              </p:cNvPr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500550" y="1128558"/>
                <a:ext cx="8373832" cy="2588319"/>
              </a:xfrm>
              <a:prstGeom prst="rect">
                <a:avLst/>
              </a:prstGeom>
              <a:blipFill>
                <a:blip r:embed="rId3"/>
                <a:stretch>
                  <a:fillRect b="-331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1338439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57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 err="1">
                <a:solidFill>
                  <a:srgbClr val="000000"/>
                </a:solidFill>
                <a:latin typeface="Helvetica Neue" panose="02000503000000020004" pitchFamily="2" charset="0"/>
              </a:rPr>
              <a:t>CartPole</a:t>
            </a:r>
            <a:r>
              <a:rPr lang="en-US" dirty="0">
                <a:solidFill>
                  <a:srgbClr val="000000"/>
                </a:solidFill>
                <a:latin typeface="Helvetica Neue" panose="02000503000000020004" pitchFamily="2" charset="0"/>
              </a:rPr>
              <a:t> </a:t>
            </a:r>
            <a:r>
              <a:rPr lang="ru-RU" dirty="0">
                <a:solidFill>
                  <a:srgbClr val="000000"/>
                </a:solidFill>
                <a:latin typeface="Helvetica Neue" panose="02000503000000020004" pitchFamily="2" charset="0"/>
              </a:rPr>
              <a:t>дискретизация среды</a:t>
            </a:r>
            <a:endParaRPr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B417E8B-E379-374D-A6E1-B631EE8E3BB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9793"/>
          <a:stretch/>
        </p:blipFill>
        <p:spPr>
          <a:xfrm>
            <a:off x="442029" y="1104643"/>
            <a:ext cx="5842000" cy="395242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6275051-B71F-604D-A553-2E3374D24283}"/>
              </a:ext>
            </a:extLst>
          </p:cNvPr>
          <p:cNvSpPr txBox="1"/>
          <p:nvPr/>
        </p:nvSpPr>
        <p:spPr>
          <a:xfrm>
            <a:off x="5952805" y="1426624"/>
            <a:ext cx="2347117" cy="13181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dirty="0"/>
              <a:t>n = 20</a:t>
            </a:r>
          </a:p>
          <a:p>
            <a:pPr>
              <a:lnSpc>
                <a:spcPct val="200000"/>
              </a:lnSpc>
            </a:pPr>
            <a:r>
              <a:rPr lang="en-US" dirty="0" err="1"/>
              <a:t>discrete_state_n</a:t>
            </a:r>
            <a:r>
              <a:rPr lang="en-US" dirty="0"/>
              <a:t> = 320.000</a:t>
            </a:r>
          </a:p>
          <a:p>
            <a:pPr>
              <a:lnSpc>
                <a:spcPct val="200000"/>
              </a:lnSpc>
            </a:pPr>
            <a:r>
              <a:rPr lang="en-US" dirty="0" err="1"/>
              <a:t>episode_n</a:t>
            </a:r>
            <a:r>
              <a:rPr lang="en-US" dirty="0"/>
              <a:t> = 100.000 x 10</a:t>
            </a:r>
          </a:p>
        </p:txBody>
      </p:sp>
    </p:spTree>
    <p:extLst>
      <p:ext uri="{BB962C8B-B14F-4D97-AF65-F5344CB8AC3E}">
        <p14:creationId xmlns:p14="http://schemas.microsoft.com/office/powerpoint/2010/main" val="216576120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072AFF-464C-7342-A06C-3CD18F5F9A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Deep cross-entropy</a:t>
            </a:r>
          </a:p>
        </p:txBody>
      </p:sp>
    </p:spTree>
    <p:extLst>
      <p:ext uri="{BB962C8B-B14F-4D97-AF65-F5344CB8AC3E}">
        <p14:creationId xmlns:p14="http://schemas.microsoft.com/office/powerpoint/2010/main" val="237969838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57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Метод кросс-энтропии</a:t>
            </a:r>
            <a:endParaRPr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1" name="Google Shape;311;p57"/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500550" y="1032459"/>
                <a:ext cx="7866554" cy="2919714"/>
              </a:xfrm>
              <a:prstGeom prst="rect">
                <a:avLst/>
              </a:prstGeom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357188" indent="-352425">
                  <a:lnSpc>
                    <a:spcPct val="115000"/>
                  </a:lnSpc>
                  <a:buNone/>
                </a:pPr>
                <a:r>
                  <a:rPr lang="ru-RU" sz="1600" dirty="0"/>
                  <a:t>1. 	Оценка политики</a:t>
                </a:r>
                <a:r>
                  <a:rPr lang="en-US" sz="16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𝔼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sub>
                    </m:sSub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en-US" sz="1600" dirty="0"/>
              </a:p>
              <a:p>
                <a:pPr algn="l">
                  <a:buFont typeface="Arial" panose="020B0604020202020204" pitchFamily="34" charset="0"/>
                  <a:buChar char="•"/>
                </a:pPr>
                <a:r>
                  <a:rPr lang="ru-RU" sz="1200" dirty="0"/>
                  <a:t>Устанавливаем начальное состояние 𝑆</a:t>
                </a:r>
                <a:r>
                  <a:rPr lang="ru-RU" sz="1200" baseline="-25000" dirty="0"/>
                  <a:t>0</a:t>
                </a:r>
                <a:r>
                  <a:rPr lang="ru-RU" sz="1200" dirty="0"/>
                  <a:t> и политику 𝜋</a:t>
                </a:r>
                <a:r>
                  <a:rPr lang="ru-RU" sz="1200" baseline="-25000" dirty="0"/>
                  <a:t>0</a:t>
                </a:r>
              </a:p>
              <a:p>
                <a:pPr algn="l">
                  <a:buFont typeface="Arial" panose="020B0604020202020204" pitchFamily="34" charset="0"/>
                  <a:buChar char="•"/>
                </a:pPr>
                <a:r>
                  <a:rPr lang="ru-RU" sz="1200" dirty="0"/>
                  <a:t>Действуем 𝐴</a:t>
                </a:r>
                <a:r>
                  <a:rPr lang="ru-RU" sz="1200" baseline="-25000" dirty="0"/>
                  <a:t>0</a:t>
                </a:r>
                <a:r>
                  <a:rPr lang="ru-RU" sz="1200" dirty="0"/>
                  <a:t>=𝜋(𝑆</a:t>
                </a:r>
                <a:r>
                  <a:rPr lang="ru-RU" sz="1200" baseline="-25000" dirty="0"/>
                  <a:t>0</a:t>
                </a:r>
                <a:r>
                  <a:rPr lang="ru-RU" sz="1200" dirty="0"/>
                  <a:t>)</a:t>
                </a:r>
                <a:r>
                  <a:rPr lang="en-US" sz="1200" dirty="0"/>
                  <a:t>, </a:t>
                </a:r>
                <a:r>
                  <a:rPr lang="ru-RU" sz="1200" dirty="0"/>
                  <a:t>получаем награду 𝑅</a:t>
                </a:r>
                <a:r>
                  <a:rPr lang="ru-RU" sz="1200" baseline="-25000" dirty="0"/>
                  <a:t>0</a:t>
                </a:r>
                <a:r>
                  <a:rPr lang="ru-RU" sz="1200" dirty="0"/>
                  <a:t>=(𝑆</a:t>
                </a:r>
                <a:r>
                  <a:rPr lang="ru-RU" sz="1200" baseline="-25000" dirty="0"/>
                  <a:t>0</a:t>
                </a:r>
                <a:r>
                  <a:rPr lang="ru-RU" sz="1200" dirty="0"/>
                  <a:t>,𝐴</a:t>
                </a:r>
                <a:r>
                  <a:rPr lang="ru-RU" sz="1200" baseline="-25000" dirty="0"/>
                  <a:t>0</a:t>
                </a:r>
                <a:r>
                  <a:rPr lang="ru-RU" sz="1200" dirty="0"/>
                  <a:t>) и переходим в состояние 𝑆</a:t>
                </a:r>
                <a:r>
                  <a:rPr lang="ru-RU" sz="1200" baseline="-25000" dirty="0"/>
                  <a:t>1</a:t>
                </a:r>
              </a:p>
              <a:p>
                <a:pPr algn="l">
                  <a:buFont typeface="Arial" panose="020B0604020202020204" pitchFamily="34" charset="0"/>
                  <a:buChar char="•"/>
                </a:pPr>
                <a:r>
                  <a:rPr lang="ru-RU" sz="1200" dirty="0"/>
                  <a:t>...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ru-RU" sz="1200" dirty="0"/>
                  <a:t>Получили траекторию 𝜏={𝑆</a:t>
                </a:r>
                <a:r>
                  <a:rPr lang="ru-RU" sz="1200" baseline="-25000" dirty="0"/>
                  <a:t>0</a:t>
                </a:r>
                <a:r>
                  <a:rPr lang="ru-RU" sz="1200" dirty="0"/>
                  <a:t>,𝐴</a:t>
                </a:r>
                <a:r>
                  <a:rPr lang="ru-RU" sz="1200" baseline="-25000" dirty="0"/>
                  <a:t>0</a:t>
                </a:r>
                <a:r>
                  <a:rPr lang="ru-RU" sz="1200" dirty="0"/>
                  <a:t>,𝑆</a:t>
                </a:r>
                <a:r>
                  <a:rPr lang="ru-RU" sz="1200" baseline="-25000" dirty="0"/>
                  <a:t>1</a:t>
                </a:r>
                <a:r>
                  <a:rPr lang="ru-RU" sz="1200" dirty="0"/>
                  <a:t>,𝐴</a:t>
                </a:r>
                <a:r>
                  <a:rPr lang="ru-RU" sz="1200" baseline="-25000" dirty="0"/>
                  <a:t>1</a:t>
                </a:r>
                <a:r>
                  <a:rPr lang="ru-RU" sz="1200" dirty="0"/>
                  <a:t>,…,𝑆</a:t>
                </a:r>
                <a:r>
                  <a:rPr lang="ru-RU" sz="1200" baseline="-25000" dirty="0"/>
                  <a:t>𝐹</a:t>
                </a:r>
                <a:r>
                  <a:rPr lang="ru-RU" sz="1200" dirty="0"/>
                  <a:t>}, и награду</a:t>
                </a:r>
                <a:r>
                  <a:rPr lang="en-US" sz="1200" dirty="0"/>
                  <a:t> </a:t>
                </a:r>
                <a:r>
                  <a:rPr lang="ru-RU" sz="1200" dirty="0"/>
                  <a:t>по траектории </a:t>
                </a:r>
                <a14:m>
                  <m:oMath xmlns:m="http://schemas.openxmlformats.org/officeDocument/2006/math"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𝐺</m:t>
                    </m:r>
                    <m:d>
                      <m:dPr>
                        <m:ctrlPr>
                          <a:rPr lang="en-US" sz="1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𝜏</m:t>
                        </m:r>
                      </m:e>
                    </m:d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lang="en-US" sz="1200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12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=0</m:t>
                        </m:r>
                      </m:sub>
                      <m:sup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  <m:e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𝛾</m:t>
                        </m:r>
                        <m:sSub>
                          <m:sSubPr>
                            <m:ctrlP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e>
                    </m:nary>
                  </m:oMath>
                </a14:m>
                <a:endParaRPr lang="en-US" sz="1600" dirty="0"/>
              </a:p>
              <a:p>
                <a:pPr marL="357188" indent="-352425">
                  <a:lnSpc>
                    <a:spcPct val="115000"/>
                  </a:lnSpc>
                  <a:buNone/>
                </a:pPr>
                <a:endParaRPr lang="ru-RU" sz="1600" dirty="0"/>
              </a:p>
              <a:p>
                <a:pPr marL="357188" indent="-352425">
                  <a:lnSpc>
                    <a:spcPct val="115000"/>
                  </a:lnSpc>
                  <a:buNone/>
                </a:pPr>
                <a:r>
                  <a:rPr lang="ru-RU" sz="1600" dirty="0"/>
                  <a:t>2.	Улучшение политики </a:t>
                </a:r>
                <a14:m>
                  <m:oMath xmlns:m="http://schemas.openxmlformats.org/officeDocument/2006/math">
                    <m:r>
                      <a:rPr lang="en-US" sz="1600">
                        <a:latin typeface="Cambria Math" panose="02040503050406030204" pitchFamily="18" charset="0"/>
                      </a:rPr>
                      <m:t>𝜋</m:t>
                    </m:r>
                    <m:r>
                      <a:rPr lang="en-US" sz="1600">
                        <a:latin typeface="Cambria Math" panose="02040503050406030204" pitchFamily="18" charset="0"/>
                      </a:rPr>
                      <m:t>→ </m:t>
                    </m:r>
                    <m:sSup>
                      <m:sSup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600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p>
                        <m:r>
                          <a:rPr lang="en-US" sz="160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sz="1600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>
                                <a:latin typeface="Cambria Math" panose="02040503050406030204" pitchFamily="18" charset="0"/>
                              </a:rPr>
                              <m:t>𝔼</m:t>
                            </m:r>
                          </m:e>
                          <m:sub>
                            <m:sSup>
                              <m:sSupPr>
                                <m:ctrlPr>
                                  <a:rPr lang="en-US" sz="16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1600">
                                    <a:latin typeface="Cambria Math" panose="02040503050406030204" pitchFamily="18" charset="0"/>
                                  </a:rPr>
                                  <m:t>𝜋</m:t>
                                </m:r>
                              </m:e>
                              <m:sup>
                                <m:r>
                                  <a:rPr lang="en-US" sz="1600"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</m:sub>
                        </m:sSub>
                        <m:d>
                          <m:dPr>
                            <m:begChr m:val="["/>
                            <m:endChr m:val="]"/>
                            <m:ctrlPr>
                              <a:rPr lang="en-US" sz="16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600">
                                <a:latin typeface="Cambria Math" panose="02040503050406030204" pitchFamily="18" charset="0"/>
                              </a:rPr>
                              <m:t>𝐺</m:t>
                            </m:r>
                          </m:e>
                        </m:d>
                        <m:r>
                          <a:rPr lang="en-US" sz="1600">
                            <a:latin typeface="Cambria Math" panose="02040503050406030204" pitchFamily="18" charset="0"/>
                          </a:rPr>
                          <m:t>≥</m:t>
                        </m:r>
                        <m:sSub>
                          <m:sSubPr>
                            <m:ctrlPr>
                              <a:rPr lang="en-US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>
                                <a:latin typeface="Cambria Math" panose="02040503050406030204" pitchFamily="18" charset="0"/>
                              </a:rPr>
                              <m:t>𝔼</m:t>
                            </m:r>
                          </m:e>
                          <m:sub>
                            <m:r>
                              <a:rPr lang="en-US" sz="1600">
                                <a:latin typeface="Cambria Math" panose="02040503050406030204" pitchFamily="18" charset="0"/>
                              </a:rPr>
                              <m:t>𝜋</m:t>
                            </m:r>
                          </m:sub>
                        </m:sSub>
                        <m:d>
                          <m:dPr>
                            <m:begChr m:val="["/>
                            <m:endChr m:val="]"/>
                            <m:ctrlPr>
                              <a:rPr lang="en-US" sz="16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600">
                                <a:latin typeface="Cambria Math" panose="02040503050406030204" pitchFamily="18" charset="0"/>
                              </a:rPr>
                              <m:t>𝐺</m:t>
                            </m:r>
                          </m:e>
                        </m:d>
                      </m:e>
                    </m:d>
                  </m:oMath>
                </a14:m>
                <a:endParaRPr lang="en-US" sz="1600" dirty="0"/>
              </a:p>
              <a:p>
                <a:pPr algn="l">
                  <a:buFont typeface="Arial" panose="020B0604020202020204" pitchFamily="34" charset="0"/>
                  <a:buChar char="•"/>
                </a:pPr>
                <a:r>
                  <a:rPr lang="ru-RU" sz="1200" dirty="0"/>
                  <a:t>Выбираем </a:t>
                </a:r>
                <a14:m>
                  <m:oMath xmlns:m="http://schemas.openxmlformats.org/officeDocument/2006/math"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%</m:t>
                    </m:r>
                  </m:oMath>
                </a14:m>
                <a:r>
                  <a:rPr lang="en-US" sz="1200" dirty="0"/>
                  <a:t> </a:t>
                </a:r>
                <a:r>
                  <a:rPr lang="ru-RU" sz="1200" dirty="0"/>
                  <a:t>лучших траекторий</a:t>
                </a:r>
              </a:p>
              <a:p>
                <a:pPr algn="l">
                  <a:buFont typeface="Arial" panose="020B0604020202020204" pitchFamily="34" charset="0"/>
                  <a:buChar char="•"/>
                </a:pPr>
                <a:r>
                  <a:rPr lang="ru-RU" sz="1200" dirty="0"/>
                  <a:t>"Улучшаем" политику </a:t>
                </a:r>
                <a14:m>
                  <m:oMath xmlns:m="http://schemas.openxmlformats.org/officeDocument/2006/math">
                    <m:r>
                      <a:rPr lang="ru-RU" sz="12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←</m:t>
                    </m:r>
                  </m:oMath>
                </a14:m>
                <a:r>
                  <a:rPr lang="en-US" sz="1200" dirty="0"/>
                  <a:t> </a:t>
                </a:r>
                <a:r>
                  <a:rPr lang="ru-RU" sz="1200" dirty="0"/>
                  <a:t>собираем средние действия по каждому состоянию</a:t>
                </a:r>
              </a:p>
              <a:p>
                <a:pPr algn="l">
                  <a:buFont typeface="Arial" panose="020B0604020202020204" pitchFamily="34" charset="0"/>
                  <a:buChar char="•"/>
                </a:pPr>
                <a:r>
                  <a:rPr lang="ru-RU" sz="1200" dirty="0"/>
                  <a:t>Назначаем новой политикой среднее действие по лучшим траекториям в каждом состоянии</a:t>
                </a:r>
              </a:p>
            </p:txBody>
          </p:sp>
        </mc:Choice>
        <mc:Fallback xmlns="">
          <p:sp>
            <p:nvSpPr>
              <p:cNvPr id="311" name="Google Shape;311;p57"/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500550" y="1032459"/>
                <a:ext cx="7866554" cy="2919714"/>
              </a:xfrm>
              <a:prstGeom prst="rect">
                <a:avLst/>
              </a:prstGeom>
              <a:blipFill>
                <a:blip r:embed="rId3"/>
                <a:stretch>
                  <a:fillRect l="-322" b="-86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7539005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E06F4F-692F-6443-AFA6-9F9409A427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Deep Cross-entropy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B01F0D9C-11BE-764F-B530-80757F51C3FE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>
              <a:xfrm>
                <a:off x="500550" y="1003021"/>
                <a:ext cx="8520600" cy="3888097"/>
              </a:xfrm>
            </p:spPr>
            <p:txBody>
              <a:bodyPr>
                <a:normAutofit fontScale="85000" lnSpcReduction="20000"/>
              </a:bodyPr>
              <a:lstStyle/>
              <a:p>
                <a:pPr marL="133350" indent="0">
                  <a:buNone/>
                </a:pPr>
                <a:r>
                  <a:rPr lang="ru-RU" dirty="0"/>
                  <a:t>Пусть у нас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𝒮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dirty="0"/>
                  <a:t> </a:t>
                </a:r>
                <a:r>
                  <a:rPr lang="ru-RU" dirty="0"/>
                  <a:t>и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𝒜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</m:sSup>
                  </m:oMath>
                </a14:m>
                <a:r>
                  <a:rPr lang="en-US" dirty="0"/>
                  <a:t>, </a:t>
                </a:r>
                <a:r>
                  <a:rPr lang="ru-RU" dirty="0"/>
                  <a:t>т.е. пространство действий и пространство состояний конечномерно и непрерывно.</a:t>
                </a:r>
              </a:p>
              <a:p>
                <a:pPr marL="133350" indent="0">
                  <a:buNone/>
                </a:pPr>
                <a:r>
                  <a:rPr lang="ru-RU" dirty="0"/>
                  <a:t>Будем использовать </a:t>
                </a:r>
                <a:r>
                  <a:rPr lang="ru-RU" dirty="0" err="1"/>
                  <a:t>нейросеть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sup>
                    </m:sSup>
                  </m:oMath>
                </a14:m>
                <a:r>
                  <a:rPr lang="ru-RU" dirty="0"/>
                  <a:t> для аппроксимации политики, </a:t>
                </a:r>
                <a:r>
                  <a:rPr lang="ru-RU" dirty="0" err="1"/>
                  <a:t>т.е</a:t>
                </a:r>
                <a:r>
                  <a:rPr lang="ru-RU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: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↦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</m:sup>
                    </m:sSup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en-US" dirty="0"/>
                  <a:t> – </a:t>
                </a:r>
                <a:r>
                  <a:rPr lang="ru-RU" dirty="0"/>
                  <a:t>веса нейросети. Будем действовать в среде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US" dirty="0"/>
                  <a:t> </a:t>
                </a:r>
                <a:r>
                  <a:rPr lang="ru-RU" dirty="0"/>
                  <a:t>раз (эпизодов обучения) и соберем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n-US" dirty="0"/>
                  <a:t> </a:t>
                </a:r>
                <a:r>
                  <a:rPr lang="ru-RU" dirty="0"/>
                  <a:t>траекторий для каждого эпизода. Тогда на каждом эпизоде обучения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1, 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</m:d>
                  </m:oMath>
                </a14:m>
                <a:r>
                  <a:rPr lang="en-US" dirty="0"/>
                  <a:t>:</a:t>
                </a:r>
              </a:p>
              <a:p>
                <a:pPr marL="133350" indent="0">
                  <a:buNone/>
                </a:pPr>
                <a:endParaRPr lang="ru-RU" dirty="0"/>
              </a:p>
              <a:p>
                <a:pPr marL="13335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𝐹</m:t>
                                  </m:r>
                                </m:e>
                                <m:sup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sub>
                                  </m:sSub>
                                </m:sup>
                              </m:sSup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</m:d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𝑛𝑜𝑖𝑠𝑒</m:t>
                              </m:r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𝜀</m:t>
                                  </m:r>
                                </m:e>
                              </m:d>
                            </m:e>
                          </m:d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𝒜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  <a:p>
                <a:pPr marL="133350" indent="0">
                  <a:buNone/>
                </a:pPr>
                <a:endParaRPr lang="en-US" sz="1400" dirty="0"/>
              </a:p>
              <a:p>
                <a:pPr marL="133350" indent="0">
                  <a:buNone/>
                </a:pPr>
                <a:r>
                  <a:rPr lang="ru-RU" sz="1600" b="1" dirty="0"/>
                  <a:t>Оценка политики</a:t>
                </a:r>
                <a:r>
                  <a:rPr lang="en-US" sz="1600" b="1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1" i="1">
                            <a:latin typeface="Cambria Math" panose="02040503050406030204" pitchFamily="18" charset="0"/>
                          </a:rPr>
                          <m:t>𝔼</m:t>
                        </m:r>
                      </m:e>
                      <m:sub>
                        <m:r>
                          <a:rPr lang="en-US" sz="1600" b="1" i="1" smtClean="0">
                            <a:latin typeface="Cambria Math" panose="02040503050406030204" pitchFamily="18" charset="0"/>
                          </a:rPr>
                          <m:t>𝝅</m:t>
                        </m:r>
                      </m:sub>
                    </m:sSub>
                    <m:r>
                      <a:rPr lang="en-US" sz="1600" b="1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sz="1600" b="1" i="1" smtClean="0">
                        <a:latin typeface="Cambria Math" panose="02040503050406030204" pitchFamily="18" charset="0"/>
                      </a:rPr>
                      <m:t>𝑮</m:t>
                    </m:r>
                    <m:r>
                      <a:rPr lang="en-US" sz="1600" b="1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sz="1600" b="1" dirty="0"/>
                  <a:t>:</a:t>
                </a:r>
                <a:endParaRPr lang="ru-RU" sz="1600" b="1" dirty="0"/>
              </a:p>
              <a:p>
                <a:pPr marL="133350" indent="0">
                  <a:buNone/>
                </a:pPr>
                <a:r>
                  <a:rPr lang="ru-RU" sz="1400" dirty="0"/>
                  <a:t>Подавая на вход сети состояние </a:t>
                </a:r>
                <a14:m>
                  <m:oMath xmlns:m="http://schemas.openxmlformats.org/officeDocument/2006/math"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 sz="1400" dirty="0"/>
                  <a:t> </a:t>
                </a:r>
                <a:r>
                  <a:rPr lang="ru-RU" sz="1400" dirty="0"/>
                  <a:t>получаем оценку действия </a:t>
                </a:r>
                <a14:m>
                  <m:oMath xmlns:m="http://schemas.openxmlformats.org/officeDocument/2006/math"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ru-RU" sz="1400" dirty="0"/>
                  <a:t> и действуя получаем следующее состояние. Получаем траекторию в среде.</a:t>
                </a:r>
                <a:endParaRPr lang="en-US" sz="1400" dirty="0"/>
              </a:p>
              <a:p>
                <a:pPr marL="13335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𝔼</m:t>
                          </m:r>
                        </m:e>
                        <m:sub>
                          <m:sSub>
                            <m:sSubPr>
                              <m:ctrlP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e>
                            <m:sub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</m:d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𝐺</m:t>
                          </m:r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𝜏</m:t>
                              </m:r>
                            </m:e>
                            <m:sub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en-US" sz="1400" dirty="0"/>
              </a:p>
              <a:p>
                <a:pPr marL="133350" indent="0">
                  <a:buNone/>
                </a:pPr>
                <a:endParaRPr lang="ru-RU" dirty="0"/>
              </a:p>
              <a:p>
                <a:pPr marL="133350" indent="0">
                  <a:buNone/>
                </a:pPr>
                <a:r>
                  <a:rPr lang="ru-RU" dirty="0"/>
                  <a:t>Нам необходимо найти «наилучшие» действия по конечному набору точек – задача регрессии.</a:t>
                </a:r>
                <a:endParaRPr lang="en-US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B01F0D9C-11BE-764F-B530-80757F51C3F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500550" y="1003021"/>
                <a:ext cx="8520600" cy="3888097"/>
              </a:xfrm>
              <a:blipFill>
                <a:blip r:embed="rId2"/>
                <a:stretch>
                  <a:fillRect b="-68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1497196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E06F4F-692F-6443-AFA6-9F9409A427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Deep </a:t>
            </a:r>
            <a:r>
              <a:rPr lang="en-US" dirty="0" err="1"/>
              <a:t>CrossEntropy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B01F0D9C-11BE-764F-B530-80757F51C3FE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>
              <a:xfrm>
                <a:off x="500550" y="996885"/>
                <a:ext cx="8520600" cy="3416400"/>
              </a:xfrm>
            </p:spPr>
            <p:txBody>
              <a:bodyPr/>
              <a:lstStyle/>
              <a:p>
                <a:pPr marL="133350" indent="0">
                  <a:buNone/>
                </a:pPr>
                <a:r>
                  <a:rPr lang="ru-RU" sz="1400" b="1" dirty="0"/>
                  <a:t>Улучшение политики</a:t>
                </a:r>
                <a:r>
                  <a:rPr lang="en-US" sz="1400" b="1" dirty="0"/>
                  <a:t> </a:t>
                </a:r>
                <a:r>
                  <a:rPr lang="ru-RU" sz="1400" dirty="0"/>
                  <a:t>для каждого эпизода обучения </a:t>
                </a:r>
                <a14:m>
                  <m:oMath xmlns:m="http://schemas.openxmlformats.org/officeDocument/2006/math"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["/>
                        <m:endChr m:val="]"/>
                        <m:ctrlPr>
                          <a:rPr lang="en-US" sz="1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1, </m:t>
                        </m:r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</m:d>
                  </m:oMath>
                </a14:m>
                <a:r>
                  <a:rPr lang="en-US" sz="1400" dirty="0"/>
                  <a:t>:</a:t>
                </a:r>
              </a:p>
              <a:p>
                <a:pPr marL="133350" indent="0">
                  <a:buNone/>
                </a:pPr>
                <a:r>
                  <a:rPr lang="ru-RU" sz="1200" dirty="0"/>
                  <a:t>Выбираем «элитные» траектории и усредняем действие на них</a:t>
                </a:r>
                <a:r>
                  <a:rPr lang="en-US" sz="1200" dirty="0"/>
                  <a:t> </a:t>
                </a:r>
                <a:r>
                  <a:rPr lang="ru-RU" sz="1200" dirty="0"/>
                  <a:t>для каждого состояния.</a:t>
                </a:r>
              </a:p>
              <a:p>
                <a:pPr marL="133350" indent="0">
                  <a:buNone/>
                </a:pPr>
                <a:r>
                  <a:rPr lang="ru-RU" sz="1200" dirty="0"/>
                  <a:t>Затем считаем </a:t>
                </a:r>
                <a:r>
                  <a:rPr lang="ru-RU" sz="1200" dirty="0" err="1"/>
                  <a:t>лосс</a:t>
                </a:r>
                <a:r>
                  <a:rPr lang="ru-RU" sz="1200" dirty="0"/>
                  <a:t> и обновляем веса модели:</a:t>
                </a:r>
              </a:p>
              <a:p>
                <a:pPr marL="13335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𝐿𝑜𝑠𝑠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𝜏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</m:den>
                      </m:f>
                      <m:nary>
                        <m:naryPr>
                          <m:chr m:val="∑"/>
                          <m:supHide m:val="on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brk m:alnAt="7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e>
                              <m:r>
                                <m:rPr>
                                  <m:brk m:alnAt="7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∈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𝜏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sub>
                        <m:sup/>
                        <m:e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‖"/>
                                  <m:endChr m:val="‖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𝐹</m:t>
                                      </m:r>
                                    </m:e>
                                    <m:sup>
                                      <m:sSub>
                                        <m:sSub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𝜃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𝑛</m:t>
                                          </m:r>
                                        </m:sub>
                                      </m:sSub>
                                    </m:sup>
                                  </m:sSup>
                                  <m:d>
                                    <m:d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𝑠</m:t>
                                      </m:r>
                                    </m:e>
                                  </m:d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US" dirty="0"/>
              </a:p>
              <a:p>
                <a:pPr marL="133350" indent="0">
                  <a:buNone/>
                </a:pPr>
                <a:endParaRPr lang="ru-RU" b="0" i="1" dirty="0">
                  <a:latin typeface="Cambria Math" panose="02040503050406030204" pitchFamily="18" charset="0"/>
                </a:endParaRPr>
              </a:p>
              <a:p>
                <a:pPr marL="13335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𝜂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∇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𝐿𝑜𝑠𝑠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B01F0D9C-11BE-764F-B530-80757F51C3F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500550" y="996885"/>
                <a:ext cx="8520600" cy="3416400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4916605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72"/>
          <p:cNvSpPr txBox="1">
            <a:spLocks noGrp="1"/>
          </p:cNvSpPr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4900"/>
              <a:t>Вопросы?</a:t>
            </a:r>
            <a:endParaRPr/>
          </a:p>
        </p:txBody>
      </p:sp>
      <p:pic>
        <p:nvPicPr>
          <p:cNvPr id="415" name="Google Shape;415;p7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19975" y="3370764"/>
            <a:ext cx="662535" cy="662535"/>
          </a:xfrm>
          <a:prstGeom prst="rect">
            <a:avLst/>
          </a:prstGeom>
          <a:noFill/>
          <a:ln>
            <a:noFill/>
          </a:ln>
        </p:spPr>
      </p:pic>
      <p:sp>
        <p:nvSpPr>
          <p:cNvPr id="416" name="Google Shape;416;p72"/>
          <p:cNvSpPr txBox="1"/>
          <p:nvPr/>
        </p:nvSpPr>
        <p:spPr>
          <a:xfrm>
            <a:off x="1438025" y="3378781"/>
            <a:ext cx="3000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Ставим “+”,</a:t>
            </a:r>
            <a:endParaRPr sz="15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если вопросы есть</a:t>
            </a:r>
            <a:endParaRPr sz="15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417" name="Google Shape;417;p7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102950" y="3370764"/>
            <a:ext cx="662535" cy="662535"/>
          </a:xfrm>
          <a:prstGeom prst="rect">
            <a:avLst/>
          </a:prstGeom>
          <a:noFill/>
          <a:ln>
            <a:noFill/>
          </a:ln>
        </p:spPr>
      </p:pic>
      <p:sp>
        <p:nvSpPr>
          <p:cNvPr id="418" name="Google Shape;418;p72"/>
          <p:cNvSpPr txBox="1"/>
          <p:nvPr/>
        </p:nvSpPr>
        <p:spPr>
          <a:xfrm>
            <a:off x="4806700" y="3378781"/>
            <a:ext cx="3000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Ставим “–”,</a:t>
            </a:r>
            <a:endParaRPr sz="15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если вопросов нет</a:t>
            </a:r>
            <a:endParaRPr sz="15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  <p:extLst>
      <p:ext uri="{BB962C8B-B14F-4D97-AF65-F5344CB8AC3E}">
        <p14:creationId xmlns:p14="http://schemas.microsoft.com/office/powerpoint/2010/main" val="162510220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68"/>
          <p:cNvSpPr txBox="1">
            <a:spLocks noGrp="1"/>
          </p:cNvSpPr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Окружения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78850603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57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 err="1">
                <a:solidFill>
                  <a:srgbClr val="000000"/>
                </a:solidFill>
                <a:latin typeface="Helvetica Neue" panose="02000503000000020004" pitchFamily="2" charset="0"/>
              </a:rPr>
              <a:t>CartPole</a:t>
            </a:r>
            <a:endParaRPr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1A775B6B-B0D1-3048-BB9D-AED095CEFB8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5577163"/>
              </p:ext>
            </p:extLst>
          </p:nvPr>
        </p:nvGraphicFramePr>
        <p:xfrm>
          <a:off x="417726" y="2676170"/>
          <a:ext cx="8229184" cy="1463040"/>
        </p:xfrm>
        <a:graphic>
          <a:graphicData uri="http://schemas.openxmlformats.org/drawingml/2006/table">
            <a:tbl>
              <a:tblPr/>
              <a:tblGrid>
                <a:gridCol w="1285596">
                  <a:extLst>
                    <a:ext uri="{9D8B030D-6E8A-4147-A177-3AD203B41FA5}">
                      <a16:colId xmlns:a16="http://schemas.microsoft.com/office/drawing/2014/main" val="2126498394"/>
                    </a:ext>
                  </a:extLst>
                </a:gridCol>
                <a:gridCol w="6943588">
                  <a:extLst>
                    <a:ext uri="{9D8B030D-6E8A-4147-A177-3AD203B41FA5}">
                      <a16:colId xmlns:a16="http://schemas.microsoft.com/office/drawing/2014/main" val="133925839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dirty="0">
                          <a:effectLst/>
                        </a:rPr>
                        <a:t>Action Space</a:t>
                      </a:r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effectLst/>
                        </a:rPr>
                        <a:t>Discrete(2)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8774382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dirty="0">
                          <a:effectLst/>
                        </a:rPr>
                        <a:t>Observation Space</a:t>
                      </a:r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effectLst/>
                        </a:rPr>
                        <a:t>Box(</a:t>
                      </a:r>
                    </a:p>
                    <a:p>
                      <a:r>
                        <a:rPr lang="en-US" dirty="0">
                          <a:effectLst/>
                        </a:rPr>
                        <a:t>[-4.8000002e+00 -3.4028235e+38 -4.1887903e-01 -3.4028235e+38], </a:t>
                      </a:r>
                    </a:p>
                    <a:p>
                      <a:r>
                        <a:rPr lang="en-US" dirty="0">
                          <a:effectLst/>
                        </a:rPr>
                        <a:t>[ 4.8000002e+00  3.4028235e+38   4.1887903e-01  3.4028235e+38], </a:t>
                      </a:r>
                    </a:p>
                    <a:p>
                      <a:r>
                        <a:rPr lang="en-US" dirty="0">
                          <a:effectLst/>
                        </a:rPr>
                        <a:t>(4,), </a:t>
                      </a:r>
                    </a:p>
                    <a:p>
                      <a:r>
                        <a:rPr lang="en-US" dirty="0">
                          <a:effectLst/>
                        </a:rPr>
                        <a:t>float32)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0021246"/>
                  </a:ext>
                </a:extLst>
              </a:tr>
            </a:tbl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47E440A9-8F18-D44E-A9D6-30E7873B21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27318" y="246200"/>
            <a:ext cx="3810000" cy="25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444045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1A775B6B-B0D1-3048-BB9D-AED095CEFB8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79075883"/>
              </p:ext>
            </p:extLst>
          </p:nvPr>
        </p:nvGraphicFramePr>
        <p:xfrm>
          <a:off x="417726" y="2676170"/>
          <a:ext cx="8229184" cy="1463040"/>
        </p:xfrm>
        <a:graphic>
          <a:graphicData uri="http://schemas.openxmlformats.org/drawingml/2006/table">
            <a:tbl>
              <a:tblPr/>
              <a:tblGrid>
                <a:gridCol w="1285596">
                  <a:extLst>
                    <a:ext uri="{9D8B030D-6E8A-4147-A177-3AD203B41FA5}">
                      <a16:colId xmlns:a16="http://schemas.microsoft.com/office/drawing/2014/main" val="2126498394"/>
                    </a:ext>
                  </a:extLst>
                </a:gridCol>
                <a:gridCol w="6943588">
                  <a:extLst>
                    <a:ext uri="{9D8B030D-6E8A-4147-A177-3AD203B41FA5}">
                      <a16:colId xmlns:a16="http://schemas.microsoft.com/office/drawing/2014/main" val="133925839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dirty="0">
                          <a:effectLst/>
                        </a:rPr>
                        <a:t>Action Space</a:t>
                      </a:r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effectLst/>
                        </a:rPr>
                        <a:t>Discrete(3)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8774382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dirty="0">
                          <a:effectLst/>
                        </a:rPr>
                        <a:t>Observation Space</a:t>
                      </a:r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effectLst/>
                        </a:rPr>
                        <a:t>Box(</a:t>
                      </a:r>
                    </a:p>
                    <a:p>
                      <a:r>
                        <a:rPr lang="en-US" dirty="0">
                          <a:effectLst/>
                        </a:rPr>
                        <a:t>[-1.2 -0.07], </a:t>
                      </a:r>
                    </a:p>
                    <a:p>
                      <a:r>
                        <a:rPr lang="en-US" dirty="0">
                          <a:effectLst/>
                        </a:rPr>
                        <a:t>[0.6 0.07], </a:t>
                      </a:r>
                    </a:p>
                    <a:p>
                      <a:r>
                        <a:rPr lang="en-US" dirty="0">
                          <a:effectLst/>
                        </a:rPr>
                        <a:t>(2,), </a:t>
                      </a:r>
                    </a:p>
                    <a:p>
                      <a:r>
                        <a:rPr lang="en-US" dirty="0">
                          <a:effectLst/>
                        </a:rPr>
                        <a:t>float32)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0021246"/>
                  </a:ext>
                </a:extLst>
              </a:tr>
            </a:tbl>
          </a:graphicData>
        </a:graphic>
      </p:graphicFrame>
      <p:sp>
        <p:nvSpPr>
          <p:cNvPr id="310" name="Google Shape;310;p57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 err="1"/>
              <a:t>MountainCar</a:t>
            </a:r>
            <a:endParaRPr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E98B80A-9739-D742-80E9-A7877CB44E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64799" y="246201"/>
            <a:ext cx="3810000" cy="25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073777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E98B80A-9739-D742-80E9-A7877CB44E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64799" y="246201"/>
            <a:ext cx="3810000" cy="2540000"/>
          </a:xfrm>
          <a:prstGeom prst="rect">
            <a:avLst/>
          </a:prstGeom>
        </p:spPr>
      </p:pic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1A775B6B-B0D1-3048-BB9D-AED095CEFB8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57760242"/>
              </p:ext>
            </p:extLst>
          </p:nvPr>
        </p:nvGraphicFramePr>
        <p:xfrm>
          <a:off x="417726" y="2676170"/>
          <a:ext cx="8229184" cy="1463040"/>
        </p:xfrm>
        <a:graphic>
          <a:graphicData uri="http://schemas.openxmlformats.org/drawingml/2006/table">
            <a:tbl>
              <a:tblPr/>
              <a:tblGrid>
                <a:gridCol w="1285596">
                  <a:extLst>
                    <a:ext uri="{9D8B030D-6E8A-4147-A177-3AD203B41FA5}">
                      <a16:colId xmlns:a16="http://schemas.microsoft.com/office/drawing/2014/main" val="2126498394"/>
                    </a:ext>
                  </a:extLst>
                </a:gridCol>
                <a:gridCol w="6943588">
                  <a:extLst>
                    <a:ext uri="{9D8B030D-6E8A-4147-A177-3AD203B41FA5}">
                      <a16:colId xmlns:a16="http://schemas.microsoft.com/office/drawing/2014/main" val="133925839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dirty="0">
                          <a:effectLst/>
                        </a:rPr>
                        <a:t>Action Space</a:t>
                      </a:r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i="0" u="none" strike="noStrike" cap="non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Box(-1.0, 1.0, (1,), float32)</a:t>
                      </a:r>
                      <a:endParaRPr lang="en-US" dirty="0">
                        <a:effectLst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8774382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dirty="0">
                          <a:effectLst/>
                        </a:rPr>
                        <a:t>Observation Space</a:t>
                      </a:r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effectLst/>
                        </a:rPr>
                        <a:t>Box(</a:t>
                      </a:r>
                    </a:p>
                    <a:p>
                      <a:r>
                        <a:rPr lang="en-US" dirty="0">
                          <a:effectLst/>
                        </a:rPr>
                        <a:t>[-1.2 -0.07], </a:t>
                      </a:r>
                    </a:p>
                    <a:p>
                      <a:r>
                        <a:rPr lang="en-US" dirty="0">
                          <a:effectLst/>
                        </a:rPr>
                        <a:t>[0.6 0.07], </a:t>
                      </a:r>
                    </a:p>
                    <a:p>
                      <a:r>
                        <a:rPr lang="en-US" dirty="0">
                          <a:effectLst/>
                        </a:rPr>
                        <a:t>(2,), </a:t>
                      </a:r>
                    </a:p>
                    <a:p>
                      <a:r>
                        <a:rPr lang="en-US" dirty="0">
                          <a:effectLst/>
                        </a:rPr>
                        <a:t>float32)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0021246"/>
                  </a:ext>
                </a:extLst>
              </a:tr>
            </a:tbl>
          </a:graphicData>
        </a:graphic>
      </p:graphicFrame>
      <p:sp>
        <p:nvSpPr>
          <p:cNvPr id="310" name="Google Shape;310;p57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 err="1"/>
              <a:t>MountainCar</a:t>
            </a:r>
            <a:r>
              <a:rPr lang="en-US" dirty="0"/>
              <a:t> </a:t>
            </a:r>
            <a:r>
              <a:rPr lang="en-US" dirty="0" err="1"/>
              <a:t>continious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44221503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57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 err="1"/>
              <a:t>LunaLander</a:t>
            </a:r>
            <a:endParaRPr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2D8472C-55BC-2D43-8291-441D962AF2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97292" y="608278"/>
            <a:ext cx="3810000" cy="2540000"/>
          </a:xfrm>
          <a:prstGeom prst="rect">
            <a:avLst/>
          </a:prstGeom>
        </p:spPr>
      </p:pic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1A775B6B-B0D1-3048-BB9D-AED095CEFB8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89632690"/>
              </p:ext>
            </p:extLst>
          </p:nvPr>
        </p:nvGraphicFramePr>
        <p:xfrm>
          <a:off x="417726" y="2676170"/>
          <a:ext cx="8229184" cy="1463040"/>
        </p:xfrm>
        <a:graphic>
          <a:graphicData uri="http://schemas.openxmlformats.org/drawingml/2006/table">
            <a:tbl>
              <a:tblPr/>
              <a:tblGrid>
                <a:gridCol w="1285596">
                  <a:extLst>
                    <a:ext uri="{9D8B030D-6E8A-4147-A177-3AD203B41FA5}">
                      <a16:colId xmlns:a16="http://schemas.microsoft.com/office/drawing/2014/main" val="2126498394"/>
                    </a:ext>
                  </a:extLst>
                </a:gridCol>
                <a:gridCol w="6943588">
                  <a:extLst>
                    <a:ext uri="{9D8B030D-6E8A-4147-A177-3AD203B41FA5}">
                      <a16:colId xmlns:a16="http://schemas.microsoft.com/office/drawing/2014/main" val="133925839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dirty="0">
                          <a:effectLst/>
                        </a:rPr>
                        <a:t>Action Space</a:t>
                      </a:r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i="0" u="none" strike="noStrike" cap="non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Discrete(4)</a:t>
                      </a:r>
                      <a:endParaRPr lang="en-US" dirty="0">
                        <a:effectLst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8774382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dirty="0">
                          <a:effectLst/>
                        </a:rPr>
                        <a:t>Observation Space</a:t>
                      </a:r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i="0" u="none" strike="noStrike" cap="non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Box(</a:t>
                      </a:r>
                    </a:p>
                    <a:p>
                      <a:r>
                        <a:rPr lang="en-US" sz="1400" b="0" i="0" u="none" strike="noStrike" cap="non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[-1.5 -1.5 -5. -5. -3.1415927 -5. -0. 0. ],  </a:t>
                      </a:r>
                    </a:p>
                    <a:p>
                      <a:r>
                        <a:rPr lang="en-US" sz="1400" b="0" i="0" u="none" strike="noStrike" cap="non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[ 1.5  1.5  5.   5.  3.1415927  5.  1. 1. ], </a:t>
                      </a:r>
                    </a:p>
                    <a:p>
                      <a:r>
                        <a:rPr lang="en-US" sz="1400" b="0" i="0" u="none" strike="noStrike" cap="non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(8,), </a:t>
                      </a:r>
                    </a:p>
                    <a:p>
                      <a:r>
                        <a:rPr lang="en-US" sz="1400" b="0" i="0" u="none" strike="noStrike" cap="non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float32)</a:t>
                      </a:r>
                      <a:endParaRPr lang="en-US" dirty="0">
                        <a:effectLst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002124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8607135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57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 err="1"/>
              <a:t>CarRacing</a:t>
            </a:r>
            <a:endParaRPr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1A775B6B-B0D1-3048-BB9D-AED095CEFB8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6194699"/>
              </p:ext>
            </p:extLst>
          </p:nvPr>
        </p:nvGraphicFramePr>
        <p:xfrm>
          <a:off x="417726" y="2676170"/>
          <a:ext cx="8229184" cy="1249680"/>
        </p:xfrm>
        <a:graphic>
          <a:graphicData uri="http://schemas.openxmlformats.org/drawingml/2006/table">
            <a:tbl>
              <a:tblPr/>
              <a:tblGrid>
                <a:gridCol w="1285596">
                  <a:extLst>
                    <a:ext uri="{9D8B030D-6E8A-4147-A177-3AD203B41FA5}">
                      <a16:colId xmlns:a16="http://schemas.microsoft.com/office/drawing/2014/main" val="2126498394"/>
                    </a:ext>
                  </a:extLst>
                </a:gridCol>
                <a:gridCol w="6943588">
                  <a:extLst>
                    <a:ext uri="{9D8B030D-6E8A-4147-A177-3AD203B41FA5}">
                      <a16:colId xmlns:a16="http://schemas.microsoft.com/office/drawing/2014/main" val="133925839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dirty="0">
                          <a:effectLst/>
                        </a:rPr>
                        <a:t>Action Space</a:t>
                      </a:r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i="0" u="none" strike="noStrike" cap="non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Box([-1. 0. 0.], 1.0, (3,), float32)</a:t>
                      </a:r>
                      <a:endParaRPr lang="en-US" dirty="0">
                        <a:effectLst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8774382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dirty="0">
                          <a:effectLst/>
                        </a:rPr>
                        <a:t>Observation Space</a:t>
                      </a:r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i="0" u="none" strike="noStrike" cap="non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Box(</a:t>
                      </a:r>
                    </a:p>
                    <a:p>
                      <a:r>
                        <a:rPr lang="en-US" sz="1400" b="0" i="0" u="none" strike="noStrike" cap="non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0, 255, </a:t>
                      </a:r>
                    </a:p>
                    <a:p>
                      <a:r>
                        <a:rPr lang="en-US" sz="1400" b="0" i="0" u="none" strike="noStrike" cap="non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(96, 96, 3), </a:t>
                      </a:r>
                    </a:p>
                    <a:p>
                      <a:r>
                        <a:rPr lang="en-US" sz="1400" b="0" i="0" u="none" strike="noStrike" cap="non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uint8)</a:t>
                      </a:r>
                      <a:endParaRPr lang="en-US" dirty="0">
                        <a:effectLst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0021246"/>
                  </a:ext>
                </a:extLst>
              </a:tr>
            </a:tbl>
          </a:graphicData>
        </a:graphic>
      </p:graphicFrame>
      <p:pic>
        <p:nvPicPr>
          <p:cNvPr id="3" name="Picture 2">
            <a:extLst>
              <a:ext uri="{FF2B5EF4-FFF2-40B4-BE49-F238E27FC236}">
                <a16:creationId xmlns:a16="http://schemas.microsoft.com/office/drawing/2014/main" id="{9B6CF11B-E8D9-8046-9653-AD50EC6BFD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33450" y="330724"/>
            <a:ext cx="3810000" cy="25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276801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57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/>
              <a:t>Atari </a:t>
            </a:r>
            <a:r>
              <a:rPr lang="en-US" dirty="0" err="1"/>
              <a:t>battleZone</a:t>
            </a:r>
            <a:endParaRPr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1A775B6B-B0D1-3048-BB9D-AED095CEFB8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25150753"/>
              </p:ext>
            </p:extLst>
          </p:nvPr>
        </p:nvGraphicFramePr>
        <p:xfrm>
          <a:off x="417726" y="2676170"/>
          <a:ext cx="8229184" cy="1249680"/>
        </p:xfrm>
        <a:graphic>
          <a:graphicData uri="http://schemas.openxmlformats.org/drawingml/2006/table">
            <a:tbl>
              <a:tblPr/>
              <a:tblGrid>
                <a:gridCol w="1285596">
                  <a:extLst>
                    <a:ext uri="{9D8B030D-6E8A-4147-A177-3AD203B41FA5}">
                      <a16:colId xmlns:a16="http://schemas.microsoft.com/office/drawing/2014/main" val="2126498394"/>
                    </a:ext>
                  </a:extLst>
                </a:gridCol>
                <a:gridCol w="6943588">
                  <a:extLst>
                    <a:ext uri="{9D8B030D-6E8A-4147-A177-3AD203B41FA5}">
                      <a16:colId xmlns:a16="http://schemas.microsoft.com/office/drawing/2014/main" val="133925839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dirty="0">
                          <a:effectLst/>
                        </a:rPr>
                        <a:t>Action Space</a:t>
                      </a:r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i="0" u="none" strike="noStrike" cap="non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Discrete(18)</a:t>
                      </a:r>
                      <a:endParaRPr lang="en-US" dirty="0">
                        <a:effectLst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8774382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dirty="0">
                          <a:effectLst/>
                        </a:rPr>
                        <a:t>Observation Space</a:t>
                      </a:r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i="0" u="none" strike="noStrike" cap="non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Box(</a:t>
                      </a:r>
                    </a:p>
                    <a:p>
                      <a:r>
                        <a:rPr lang="en-US" sz="1400" b="0" i="0" u="none" strike="noStrike" cap="non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0, 255, </a:t>
                      </a:r>
                    </a:p>
                    <a:p>
                      <a:r>
                        <a:rPr lang="en-US" sz="1400" b="0" i="0" u="none" strike="noStrike" cap="non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(210, 160, 3), </a:t>
                      </a:r>
                    </a:p>
                    <a:p>
                      <a:r>
                        <a:rPr lang="en-US" sz="1400" b="0" i="0" u="none" strike="noStrike" cap="non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uint8)</a:t>
                      </a:r>
                      <a:endParaRPr lang="en-US" dirty="0">
                        <a:effectLst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0021246"/>
                  </a:ext>
                </a:extLst>
              </a:tr>
            </a:tbl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D33694F8-0C55-3746-BA2F-E127F7F684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15276" y="403613"/>
            <a:ext cx="1806929" cy="23715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10785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68"/>
          <p:cNvSpPr txBox="1">
            <a:spLocks noGrp="1"/>
          </p:cNvSpPr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Практика</a:t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69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Практика</a:t>
            </a:r>
            <a:endParaRPr dirty="0"/>
          </a:p>
        </p:txBody>
      </p:sp>
      <p:graphicFrame>
        <p:nvGraphicFramePr>
          <p:cNvPr id="390" name="Google Shape;390;p69"/>
          <p:cNvGraphicFramePr/>
          <p:nvPr>
            <p:extLst>
              <p:ext uri="{D42A27DB-BD31-4B8C-83A1-F6EECF244321}">
                <p14:modId xmlns:p14="http://schemas.microsoft.com/office/powerpoint/2010/main" val="1442347080"/>
              </p:ext>
            </p:extLst>
          </p:nvPr>
        </p:nvGraphicFramePr>
        <p:xfrm>
          <a:off x="952500" y="1372744"/>
          <a:ext cx="7239000" cy="698608"/>
        </p:xfrm>
        <a:graphic>
          <a:graphicData uri="http://schemas.openxmlformats.org/drawingml/2006/table">
            <a:tbl>
              <a:tblPr>
                <a:noFill/>
                <a:tableStyleId>{B623574C-9AE7-4070-A081-93A97D88BCA6}</a:tableStyleId>
              </a:tblPr>
              <a:tblGrid>
                <a:gridCol w="489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49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5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dirty="0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1.</a:t>
                      </a:r>
                      <a:endParaRPr sz="1300" b="1" dirty="0">
                        <a:solidFill>
                          <a:srgbClr val="FF99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Дискретизация </a:t>
                      </a:r>
                      <a:r>
                        <a:rPr lang="en-US" sz="1300" dirty="0" err="1">
                          <a:latin typeface="Roboto"/>
                          <a:ea typeface="Roboto"/>
                          <a:cs typeface="Roboto"/>
                          <a:sym typeface="Roboto"/>
                        </a:rPr>
                        <a:t>CartPole</a:t>
                      </a:r>
                      <a:endParaRPr sz="1300" dirty="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83149631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 b="1" dirty="0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2.</a:t>
                      </a:r>
                      <a:endParaRPr sz="1300" b="1" dirty="0">
                        <a:solidFill>
                          <a:srgbClr val="FF99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Deep Cross</a:t>
                      </a:r>
                      <a:r>
                        <a:rPr lang="ru-RU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-</a:t>
                      </a:r>
                      <a:r>
                        <a:rPr lang="en-US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Entropy </a:t>
                      </a:r>
                      <a:r>
                        <a:rPr lang="ru-RU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метод</a:t>
                      </a:r>
                      <a:endParaRPr sz="1300" dirty="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72"/>
          <p:cNvSpPr txBox="1">
            <a:spLocks noGrp="1"/>
          </p:cNvSpPr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4900"/>
              <a:t>Вопросы?</a:t>
            </a:r>
            <a:endParaRPr/>
          </a:p>
        </p:txBody>
      </p:sp>
      <p:pic>
        <p:nvPicPr>
          <p:cNvPr id="415" name="Google Shape;415;p7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19975" y="3370764"/>
            <a:ext cx="662535" cy="662535"/>
          </a:xfrm>
          <a:prstGeom prst="rect">
            <a:avLst/>
          </a:prstGeom>
          <a:noFill/>
          <a:ln>
            <a:noFill/>
          </a:ln>
        </p:spPr>
      </p:pic>
      <p:sp>
        <p:nvSpPr>
          <p:cNvPr id="416" name="Google Shape;416;p72"/>
          <p:cNvSpPr txBox="1"/>
          <p:nvPr/>
        </p:nvSpPr>
        <p:spPr>
          <a:xfrm>
            <a:off x="1438025" y="3378781"/>
            <a:ext cx="3000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Ставим “+”,</a:t>
            </a:r>
            <a:endParaRPr sz="15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если вопросы есть</a:t>
            </a:r>
            <a:endParaRPr sz="15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417" name="Google Shape;417;p7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102950" y="3370764"/>
            <a:ext cx="662535" cy="662535"/>
          </a:xfrm>
          <a:prstGeom prst="rect">
            <a:avLst/>
          </a:prstGeom>
          <a:noFill/>
          <a:ln>
            <a:noFill/>
          </a:ln>
        </p:spPr>
      </p:pic>
      <p:sp>
        <p:nvSpPr>
          <p:cNvPr id="418" name="Google Shape;418;p72"/>
          <p:cNvSpPr txBox="1"/>
          <p:nvPr/>
        </p:nvSpPr>
        <p:spPr>
          <a:xfrm>
            <a:off x="4806700" y="3378781"/>
            <a:ext cx="3000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Ставим “–”,</a:t>
            </a:r>
            <a:endParaRPr sz="15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если вопросов нет</a:t>
            </a:r>
            <a:endParaRPr sz="15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p79"/>
          <p:cNvSpPr txBox="1">
            <a:spLocks noGrp="1"/>
          </p:cNvSpPr>
          <p:nvPr>
            <p:ph type="title"/>
          </p:nvPr>
        </p:nvSpPr>
        <p:spPr>
          <a:xfrm>
            <a:off x="956225" y="396394"/>
            <a:ext cx="75591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3800"/>
              <a:t>Заполните, пожалуйста,</a:t>
            </a:r>
            <a:endParaRPr sz="38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3800"/>
              <a:t>опрос о занятии</a:t>
            </a:r>
            <a:endParaRPr sz="38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3800"/>
              <a:t>по ссылке в чате</a:t>
            </a:r>
            <a:endParaRPr sz="380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p80"/>
          <p:cNvSpPr txBox="1">
            <a:spLocks noGrp="1"/>
          </p:cNvSpPr>
          <p:nvPr>
            <p:ph type="title"/>
          </p:nvPr>
        </p:nvSpPr>
        <p:spPr>
          <a:xfrm>
            <a:off x="500550" y="821221"/>
            <a:ext cx="8520600" cy="72239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C</a:t>
            </a:r>
            <a:r>
              <a:rPr lang="ru" dirty="0"/>
              <a:t>ледующие вебинары</a:t>
            </a:r>
            <a:endParaRPr dirty="0"/>
          </a:p>
        </p:txBody>
      </p:sp>
      <p:sp>
        <p:nvSpPr>
          <p:cNvPr id="481" name="Google Shape;481;p80"/>
          <p:cNvSpPr txBox="1">
            <a:spLocks noGrp="1"/>
          </p:cNvSpPr>
          <p:nvPr>
            <p:ph type="subTitle" idx="1"/>
          </p:nvPr>
        </p:nvSpPr>
        <p:spPr>
          <a:xfrm>
            <a:off x="500550" y="457313"/>
            <a:ext cx="77967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Спасибо за внимание!</a:t>
            </a:r>
            <a:endParaRPr/>
          </a:p>
        </p:txBody>
      </p:sp>
      <p:sp>
        <p:nvSpPr>
          <p:cNvPr id="482" name="Google Shape;482;p80"/>
          <p:cNvSpPr/>
          <p:nvPr/>
        </p:nvSpPr>
        <p:spPr>
          <a:xfrm>
            <a:off x="630000" y="2716325"/>
            <a:ext cx="1033800" cy="19836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4" name="Google Shape;484;p80"/>
          <p:cNvSpPr txBox="1">
            <a:spLocks noGrp="1"/>
          </p:cNvSpPr>
          <p:nvPr>
            <p:ph type="subTitle" idx="2"/>
          </p:nvPr>
        </p:nvSpPr>
        <p:spPr>
          <a:xfrm>
            <a:off x="3082400" y="1984350"/>
            <a:ext cx="3864600" cy="58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Игорь Стурейко</a:t>
            </a:r>
            <a:endParaRPr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AAEC2E5-09F0-AC4E-AED3-1C0F260DE54D}"/>
              </a:ext>
            </a:extLst>
          </p:cNvPr>
          <p:cNvSpPr txBox="1"/>
          <p:nvPr/>
        </p:nvSpPr>
        <p:spPr>
          <a:xfrm>
            <a:off x="500550" y="1575703"/>
            <a:ext cx="185018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0" i="0" u="none" strike="noStrike" dirty="0">
                <a:solidFill>
                  <a:srgbClr val="1F1F1F"/>
                </a:solidFill>
                <a:effectLst/>
                <a:latin typeface="Google Sans"/>
              </a:rPr>
              <a:t>Deep q-learning (</a:t>
            </a:r>
            <a:r>
              <a:rPr lang="en-US" dirty="0">
                <a:solidFill>
                  <a:srgbClr val="1F1F1F"/>
                </a:solidFill>
                <a:latin typeface="Google Sans"/>
              </a:rPr>
              <a:t>DQN)</a:t>
            </a:r>
            <a:endParaRPr lang="en-RU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AC6A46A-6F56-844C-8FDD-713F2BACAAA7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t="12156" r="295"/>
          <a:stretch/>
        </p:blipFill>
        <p:spPr>
          <a:xfrm>
            <a:off x="832654" y="2865544"/>
            <a:ext cx="1662292" cy="1657372"/>
          </a:xfrm>
          <a:prstGeom prst="ellipse">
            <a:avLst/>
          </a:prstGeom>
          <a:ln w="127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sp>
        <p:nvSpPr>
          <p:cNvPr id="11" name="Google Shape;209;p48">
            <a:extLst>
              <a:ext uri="{FF2B5EF4-FFF2-40B4-BE49-F238E27FC236}">
                <a16:creationId xmlns:a16="http://schemas.microsoft.com/office/drawing/2014/main" id="{9C5DCD4D-1365-BE45-8A1C-BDC9F198AAA7}"/>
              </a:ext>
            </a:extLst>
          </p:cNvPr>
          <p:cNvSpPr txBox="1">
            <a:spLocks/>
          </p:cNvSpPr>
          <p:nvPr/>
        </p:nvSpPr>
        <p:spPr>
          <a:xfrm>
            <a:off x="3082400" y="2701811"/>
            <a:ext cx="5938750" cy="21336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85000" lnSpcReduction="20000"/>
          </a:bodyPr>
          <a:lstStyle>
            <a:lvl1pPr marL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 i="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470025" indent="-1465263">
              <a:tabLst>
                <a:tab pos="1465263" algn="l"/>
              </a:tabLst>
            </a:pPr>
            <a:r>
              <a:rPr lang="ru-RU" sz="1150" b="1" kern="0" dirty="0"/>
              <a:t>Руководитель курсов: </a:t>
            </a:r>
            <a:r>
              <a:rPr lang="en-US" sz="1150" b="1" kern="0" dirty="0"/>
              <a:t>	Reinforcement Learning, ML Professional, ML Basic, </a:t>
            </a:r>
            <a:br>
              <a:rPr lang="en-US" sz="1150" b="1" kern="0" dirty="0"/>
            </a:br>
            <a:r>
              <a:rPr lang="en-US" sz="1150" b="1" kern="0" dirty="0" err="1"/>
              <a:t>MLOps</a:t>
            </a:r>
            <a:r>
              <a:rPr lang="en-US" sz="1150" b="1" kern="0" dirty="0"/>
              <a:t>, </a:t>
            </a:r>
            <a:r>
              <a:rPr lang="en-US" sz="1150" b="1" kern="0" dirty="0" err="1"/>
              <a:t>FinML</a:t>
            </a:r>
            <a:endParaRPr lang="en-US" sz="1150" b="1" kern="0" dirty="0"/>
          </a:p>
          <a:p>
            <a:pPr rtl="0"/>
            <a:endParaRPr lang="en-US" sz="1150" b="1" kern="0" dirty="0"/>
          </a:p>
          <a:p>
            <a:pPr rtl="0"/>
            <a:r>
              <a:rPr lang="en-US" sz="1150" b="1" kern="0" dirty="0" err="1"/>
              <a:t>Teamlead</a:t>
            </a:r>
            <a:r>
              <a:rPr lang="en-US" sz="1150" b="1" kern="0" dirty="0"/>
              <a:t>, </a:t>
            </a:r>
            <a:r>
              <a:rPr lang="ru-RU" sz="1150" b="1" kern="0" dirty="0"/>
              <a:t>главный инженер проекта, </a:t>
            </a:r>
          </a:p>
          <a:p>
            <a:pPr rtl="0"/>
            <a:r>
              <a:rPr lang="ru-RU" sz="1150" b="1" kern="0" dirty="0"/>
              <a:t>Физический факультет МГУ, </a:t>
            </a:r>
            <a:r>
              <a:rPr lang="en-US" sz="1150" b="1" kern="0" dirty="0"/>
              <a:t>PhD </a:t>
            </a:r>
            <a:r>
              <a:rPr lang="ru-RU" sz="1150" b="1" kern="0" dirty="0"/>
              <a:t>теоретическая физика</a:t>
            </a:r>
          </a:p>
          <a:p>
            <a:pPr rtl="0"/>
            <a:endParaRPr lang="ru-RU" sz="1150" kern="0" dirty="0"/>
          </a:p>
          <a:p>
            <a:pPr rtl="0"/>
            <a:r>
              <a:rPr lang="ru-RU" sz="1150" b="1" kern="0" dirty="0"/>
              <a:t>Опыт:</a:t>
            </a:r>
            <a:endParaRPr lang="ru-RU" sz="1150" kern="0" dirty="0"/>
          </a:p>
          <a:p>
            <a:pPr rtl="0"/>
            <a:r>
              <a:rPr lang="ru-RU" sz="1150" kern="0" dirty="0"/>
              <a:t>Более 15 лет занимался прикладной математикой и мат моделированием</a:t>
            </a:r>
          </a:p>
          <a:p>
            <a:pPr rtl="0"/>
            <a:r>
              <a:rPr lang="ru-RU" sz="1150" kern="0" dirty="0"/>
              <a:t>(</a:t>
            </a:r>
            <a:r>
              <a:rPr lang="en-US" sz="1150" kern="0" dirty="0"/>
              <a:t>Data Scientist) (Python, </a:t>
            </a:r>
            <a:r>
              <a:rPr lang="ru-RU" sz="1150" kern="0" dirty="0"/>
              <a:t>С++) в НИИ ПАО Газпром</a:t>
            </a:r>
          </a:p>
          <a:p>
            <a:pPr rtl="0"/>
            <a:endParaRPr lang="ru-RU" sz="1150" kern="0" dirty="0"/>
          </a:p>
          <a:p>
            <a:pPr rtl="0"/>
            <a:endParaRPr lang="ru-RU" sz="1150" b="1" kern="0" dirty="0"/>
          </a:p>
          <a:p>
            <a:pPr rtl="0"/>
            <a:r>
              <a:rPr lang="ru-RU" sz="1150" b="1" kern="0" dirty="0"/>
              <a:t>@</a:t>
            </a:r>
            <a:r>
              <a:rPr lang="en-US" sz="1150" b="1" kern="0" dirty="0" err="1"/>
              <a:t>stureiko</a:t>
            </a:r>
            <a:r>
              <a:rPr lang="en-US" sz="1150" b="1" kern="0" dirty="0"/>
              <a:t> (TG)</a:t>
            </a:r>
          </a:p>
          <a:p>
            <a:pPr rtl="0"/>
            <a:endParaRPr lang="en-US" sz="1150" b="1" kern="0" dirty="0"/>
          </a:p>
          <a:p>
            <a:pPr rtl="0"/>
            <a:r>
              <a:rPr lang="en-US" sz="1150" b="1" kern="0" dirty="0"/>
              <a:t>LinkedIn: </a:t>
            </a:r>
            <a:r>
              <a:rPr lang="en-US" sz="1150" kern="0" dirty="0">
                <a:hlinkClick r:id="rId4"/>
              </a:rPr>
              <a:t>igor-stureiko</a:t>
            </a:r>
            <a:r>
              <a:rPr lang="en-US" sz="1150" kern="0" dirty="0"/>
              <a:t> </a:t>
            </a:r>
          </a:p>
          <a:p>
            <a:pPr rtl="0"/>
            <a:endParaRPr lang="en-US" sz="1150" kern="0" dirty="0"/>
          </a:p>
          <a:p>
            <a:pPr rtl="0"/>
            <a:r>
              <a:rPr lang="en-US" sz="1150" b="1" kern="0" dirty="0"/>
              <a:t>@</a:t>
            </a:r>
            <a:r>
              <a:rPr lang="en-US" sz="1150" b="1" kern="0" dirty="0" err="1"/>
              <a:t>rl_fintech</a:t>
            </a:r>
            <a:r>
              <a:rPr lang="en-US" sz="1150" b="1" kern="0" dirty="0"/>
              <a:t> </a:t>
            </a:r>
            <a:r>
              <a:rPr lang="en-US" sz="1150" kern="0" dirty="0"/>
              <a:t>(</a:t>
            </a:r>
            <a:r>
              <a:rPr lang="ru-RU" sz="1150" kern="0" dirty="0"/>
              <a:t>Мой канал о моделях в бизнесе)</a:t>
            </a:r>
            <a:endParaRPr lang="ru-RU" sz="1400" kern="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Светлая тема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Светлая тема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2173</TotalTime>
  <Words>1274</Words>
  <Application>Microsoft Macintosh PowerPoint</Application>
  <PresentationFormat>On-screen Show (16:9)</PresentationFormat>
  <Paragraphs>256</Paragraphs>
  <Slides>33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33</vt:i4>
      </vt:variant>
    </vt:vector>
  </HeadingPairs>
  <TitlesOfParts>
    <vt:vector size="47" baseType="lpstr">
      <vt:lpstr>Roboto</vt:lpstr>
      <vt:lpstr>STIXMathJax_Variants</vt:lpstr>
      <vt:lpstr>Symbol</vt:lpstr>
      <vt:lpstr>Cambria Math</vt:lpstr>
      <vt:lpstr>AkayaTelivigala</vt:lpstr>
      <vt:lpstr>Arial</vt:lpstr>
      <vt:lpstr>Courier New</vt:lpstr>
      <vt:lpstr>Bradley Hand</vt:lpstr>
      <vt:lpstr>STIXMathJax_Main</vt:lpstr>
      <vt:lpstr>Google Sans</vt:lpstr>
      <vt:lpstr>STIXMathJax_Normal-italic</vt:lpstr>
      <vt:lpstr>Helvetica Neue</vt:lpstr>
      <vt:lpstr>Светлая тема</vt:lpstr>
      <vt:lpstr>Светлая тема</vt:lpstr>
      <vt:lpstr>Reinforcement learning Введение в DeepRL</vt:lpstr>
      <vt:lpstr>Проверить, идет ли запись</vt:lpstr>
      <vt:lpstr>Правила вебинара</vt:lpstr>
      <vt:lpstr>Reinforcement learning. Введение в DeepRL </vt:lpstr>
      <vt:lpstr>Карта курса</vt:lpstr>
      <vt:lpstr>Программа курса</vt:lpstr>
      <vt:lpstr>Маршрут вебинара</vt:lpstr>
      <vt:lpstr>Цели вебинара</vt:lpstr>
      <vt:lpstr>Смысл</vt:lpstr>
      <vt:lpstr>Постановка задачи</vt:lpstr>
      <vt:lpstr>Markov Property</vt:lpstr>
      <vt:lpstr>Применение классического RL в непрерывной среде</vt:lpstr>
      <vt:lpstr>CartPole</vt:lpstr>
      <vt:lpstr>SARSA and Q-learning</vt:lpstr>
      <vt:lpstr>CartPole дискретизация среды</vt:lpstr>
      <vt:lpstr>CartPole дискретизация среды</vt:lpstr>
      <vt:lpstr>Deep cross-entropy</vt:lpstr>
      <vt:lpstr>Метод кросс-энтропии</vt:lpstr>
      <vt:lpstr>Deep Cross-entropy</vt:lpstr>
      <vt:lpstr>Deep CrossEntropy</vt:lpstr>
      <vt:lpstr>Вопросы?</vt:lpstr>
      <vt:lpstr>Окружения</vt:lpstr>
      <vt:lpstr>CartPole</vt:lpstr>
      <vt:lpstr>MountainCar</vt:lpstr>
      <vt:lpstr>MountainCar continious</vt:lpstr>
      <vt:lpstr>LunaLander</vt:lpstr>
      <vt:lpstr>CarRacing</vt:lpstr>
      <vt:lpstr>Atari battleZone</vt:lpstr>
      <vt:lpstr>Практика</vt:lpstr>
      <vt:lpstr>Практика</vt:lpstr>
      <vt:lpstr>Вопросы?</vt:lpstr>
      <vt:lpstr>Заполните, пожалуйста, опрос о занятии по ссылке в чате</vt:lpstr>
      <vt:lpstr>Cледующие вебинары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Название курса название темы вебинара </dc:title>
  <cp:lastModifiedBy>Стурейко Игорь Олегович</cp:lastModifiedBy>
  <cp:revision>53</cp:revision>
  <dcterms:modified xsi:type="dcterms:W3CDTF">2025-04-16T14:01:46Z</dcterms:modified>
</cp:coreProperties>
</file>