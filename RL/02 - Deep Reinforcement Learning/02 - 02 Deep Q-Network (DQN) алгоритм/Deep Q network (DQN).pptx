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37"/>
  </p:notesMasterIdLst>
  <p:sldIdLst>
    <p:sldId id="256" r:id="rId3"/>
    <p:sldId id="257" r:id="rId4"/>
    <p:sldId id="259" r:id="rId5"/>
    <p:sldId id="325" r:id="rId6"/>
    <p:sldId id="268" r:id="rId7"/>
    <p:sldId id="373" r:id="rId8"/>
    <p:sldId id="262" r:id="rId9"/>
    <p:sldId id="263" r:id="rId10"/>
    <p:sldId id="264" r:id="rId11"/>
    <p:sldId id="311" r:id="rId12"/>
    <p:sldId id="267" r:id="rId13"/>
    <p:sldId id="338" r:id="rId14"/>
    <p:sldId id="333" r:id="rId15"/>
    <p:sldId id="343" r:id="rId16"/>
    <p:sldId id="344" r:id="rId17"/>
    <p:sldId id="339" r:id="rId18"/>
    <p:sldId id="340" r:id="rId19"/>
    <p:sldId id="335" r:id="rId20"/>
    <p:sldId id="341" r:id="rId21"/>
    <p:sldId id="342" r:id="rId22"/>
    <p:sldId id="346" r:id="rId23"/>
    <p:sldId id="377" r:id="rId24"/>
    <p:sldId id="374" r:id="rId25"/>
    <p:sldId id="378" r:id="rId26"/>
    <p:sldId id="379" r:id="rId27"/>
    <p:sldId id="380" r:id="rId28"/>
    <p:sldId id="278" r:id="rId29"/>
    <p:sldId id="279" r:id="rId30"/>
    <p:sldId id="381" r:id="rId31"/>
    <p:sldId id="382" r:id="rId32"/>
    <p:sldId id="281" r:id="rId33"/>
    <p:sldId id="282" r:id="rId34"/>
    <p:sldId id="289" r:id="rId35"/>
    <p:sldId id="337" r:id="rId36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Helvetica Neue" panose="02000503000000020004" pitchFamily="2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46"/>
    <p:restoredTop sz="97146"/>
  </p:normalViewPr>
  <p:slideViewPr>
    <p:cSldViewPr snapToGrid="0">
      <p:cViewPr varScale="1">
        <p:scale>
          <a:sx n="208" d="100"/>
          <a:sy n="208" d="100"/>
        </p:scale>
        <p:origin x="440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657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536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36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033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319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488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226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530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976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992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20458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10.10044" TargetMode="External"/><Relationship Id="rId2" Type="http://schemas.openxmlformats.org/officeDocument/2006/relationships/hyperlink" Target="https://arxiv.org/pdf/1707.06887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rxiv.org/abs/1707.01495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arxiv.org/pdf/1707.06887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arxiv.org/abs/1710.10044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arxiv.org/abs/1707.01495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tutorials/intermediate/mario_rl_tutorial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towardsdatascience.com/deep-q-network-dqn-i-bce08bdf2af" TargetMode="External"/><Relationship Id="rId5" Type="http://schemas.openxmlformats.org/officeDocument/2006/relationships/hyperlink" Target="https://towardsdatascience.com/double-deep-q-networks-905dd8325412" TargetMode="External"/><Relationship Id="rId4" Type="http://schemas.openxmlformats.org/officeDocument/2006/relationships/hyperlink" Target="https://www.mlq.ai/guide-to-deep-reinforcement-learning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Deep Q Network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канал группы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learning.</a:t>
            </a:r>
            <a:br>
              <a:rPr lang="en-US" dirty="0"/>
            </a:br>
            <a:r>
              <a:rPr lang="ru-RU" dirty="0"/>
              <a:t>Введение в </a:t>
            </a:r>
            <a:r>
              <a:rPr lang="en-US" dirty="0" err="1"/>
              <a:t>DeepRL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B6C0B-391F-E646-B875-92F9CA29F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C68FB238-F925-CA4B-8568-161F57E8F14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9615838B-B804-D045-AE27-2457EFCC8969}"/>
              </a:ext>
            </a:extLst>
          </p:cNvPr>
          <p:cNvSpPr/>
          <p:nvPr/>
        </p:nvSpPr>
        <p:spPr>
          <a:xfrm>
            <a:off x="2226713" y="401485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-&gt; PPO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D7505C2-4B5E-6840-BEA8-8DDB58E03DF7}"/>
              </a:ext>
            </a:extLst>
          </p:cNvPr>
          <p:cNvSpPr/>
          <p:nvPr/>
        </p:nvSpPr>
        <p:spPr>
          <a:xfrm>
            <a:off x="2226712" y="454763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18D73E8C-7771-1D48-9CFA-BC014891DFE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5790" y="3004713"/>
            <a:ext cx="3061916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786A569-B463-5A4C-8BA8-42624F9DE98D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181" y="2738321"/>
            <a:ext cx="252913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18339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246232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Алгоритм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DQN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99825" y="371913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Улучшения алгоритма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74940" y="309073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Double DQN +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ReplayBuffer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5"/>
            <a:ext cx="600" cy="628402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87125" y="2022027"/>
            <a:ext cx="12700" cy="628402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V="1">
            <a:off x="774941" y="2650429"/>
            <a:ext cx="12185" cy="628402"/>
          </a:xfrm>
          <a:prstGeom prst="curvedConnector3">
            <a:avLst>
              <a:gd name="adj1" fmla="val 197607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8" name="Google Shape;272;p52">
            <a:extLst>
              <a:ext uri="{FF2B5EF4-FFF2-40B4-BE49-F238E27FC236}">
                <a16:creationId xmlns:a16="http://schemas.microsoft.com/office/drawing/2014/main" id="{D431EAF1-5808-7F4D-8FC1-9FBBFE2350DA}"/>
              </a:ext>
            </a:extLst>
          </p:cNvPr>
          <p:cNvSpPr/>
          <p:nvPr/>
        </p:nvSpPr>
        <p:spPr>
          <a:xfrm>
            <a:off x="786525" y="434753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Общий обзор алгоритмов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" name="Google Shape;277;p52">
            <a:extLst>
              <a:ext uri="{FF2B5EF4-FFF2-40B4-BE49-F238E27FC236}">
                <a16:creationId xmlns:a16="http://schemas.microsoft.com/office/drawing/2014/main" id="{DC4A3018-ECE4-2B44-A92A-BC0573E577C3}"/>
              </a:ext>
            </a:extLst>
          </p:cNvPr>
          <p:cNvCxnSpPr>
            <a:cxnSpLocks/>
            <a:stCxn id="272" idx="1"/>
            <a:endCxn id="271" idx="1"/>
          </p:cNvCxnSpPr>
          <p:nvPr/>
        </p:nvCxnSpPr>
        <p:spPr>
          <a:xfrm rot="10800000" flipH="1" flipV="1">
            <a:off x="774939" y="3278831"/>
            <a:ext cx="24885" cy="628402"/>
          </a:xfrm>
          <a:prstGeom prst="curvedConnector3">
            <a:avLst>
              <a:gd name="adj1" fmla="val -918626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" name="Google Shape;277;p52">
            <a:extLst>
              <a:ext uri="{FF2B5EF4-FFF2-40B4-BE49-F238E27FC236}">
                <a16:creationId xmlns:a16="http://schemas.microsoft.com/office/drawing/2014/main" id="{F7CCCBE8-639F-B943-8316-3A7DD2F0B684}"/>
              </a:ext>
            </a:extLst>
          </p:cNvPr>
          <p:cNvCxnSpPr>
            <a:cxnSpLocks/>
            <a:stCxn id="271" idx="1"/>
            <a:endCxn id="28" idx="1"/>
          </p:cNvCxnSpPr>
          <p:nvPr/>
        </p:nvCxnSpPr>
        <p:spPr>
          <a:xfrm rot="10800000" flipV="1">
            <a:off x="786525" y="3907233"/>
            <a:ext cx="13300" cy="628404"/>
          </a:xfrm>
          <a:prstGeom prst="curvedConnector3">
            <a:avLst>
              <a:gd name="adj1" fmla="val 181879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4FD1A-DAFB-984D-AA84-699B408ECC16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B58BFF-5376-8241-BE03-81F21602E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5DCFFC0-4300-3648-B859-55853B0256D4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71E481-D0AE-1B45-B217-D6E6D626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D1C180-95FC-2843-841A-8EDC89253312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2763844369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приближение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q-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функции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нейросетями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 Q-Network (DQN)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пути улучшения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2334541899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непрерывных сред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базу для перехода к реальным задачам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Постановка задачи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Markov Property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/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100"/>
                  <a:buFont typeface="Roboto"/>
                  <a:buNone/>
                  <a:defRPr sz="3100" b="1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n-US" dirty="0"/>
                  <a:t>Markov Decision Process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blipFill>
                <a:blip r:embed="rId4"/>
                <a:stretch>
                  <a:fillRect l="-1786" t="-4545" b="-45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/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 infinite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state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 set of final states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infinite/finite 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(|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|=</a:t>
                </a:r>
                <a:r>
                  <a:rPr lang="en-US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action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transition probability function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600" dirty="0"/>
                  <a:t>=</a:t>
                </a:r>
                <a:r>
                  <a:rPr lang="el-G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′|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initial state probability function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reward function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⇔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g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[0, 1]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 a discount coefficient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blipFill>
                <a:blip r:embed="rId5"/>
                <a:stretch>
                  <a:fillRect l="-2308" t="-1435" r="-769" b="-3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78031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Уравнение Беллмана для </a:t>
                </a: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STIXMathJax_Normal-italic"/>
                  </a:rPr>
                  <a:t>𝑞</a:t>
                </a:r>
                <a:r>
                  <a:rPr lang="ru-RU" sz="1800" baseline="-25000" dirty="0">
                    <a:solidFill>
                      <a:srgbClr val="000000"/>
                    </a:solidFill>
                    <a:latin typeface="STIXMathJax_Normal-italic"/>
                  </a:rPr>
                  <a:t>*</a:t>
                </a: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:</a:t>
                </a:r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0" indent="0" algn="ctr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𝒫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sSub>
                        <m:sSubPr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latin typeface="Söhne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функцию: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Пространство большой размерности? </a:t>
                </a: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Экран игры 210х160 с 8-битной графикой и 3 действиями дает нам пространство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2</a:t>
                </a:r>
                <a:r>
                  <a:rPr lang="en-US" sz="1600" baseline="30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160*210*8*3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= 2</a:t>
                </a:r>
                <a:r>
                  <a:rPr lang="en-US" sz="1600" baseline="30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806400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–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сопоставимо с числом атомов во вселенной, точнее говоря много больше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  <a:sym typeface="Wingdings" pitchFamily="2" charset="2"/>
                  </a:rPr>
                  <a:t>😱</a:t>
                </a:r>
                <a:endParaRPr lang="en-US" sz="1600" baseline="30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780317"/>
              </a:xfrm>
              <a:prstGeom prst="rect">
                <a:avLst/>
              </a:prstGeom>
              <a:blipFill>
                <a:blip r:embed="rId3"/>
                <a:stretch>
                  <a:fillRect t="-6376" b="-167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5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59E22-D405-3746-8366-A60CC80B9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41222"/>
            <a:ext cx="4660173" cy="39206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/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Будем приближать функцию </a:t>
                </a:r>
                <a:r>
                  <a:rPr lang="en-US" dirty="0"/>
                  <a:t>Q </a:t>
                </a:r>
                <a:r>
                  <a:rPr lang="ru-RU" dirty="0" err="1"/>
                  <a:t>нейросетью</a:t>
                </a:r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Поскольку нам необходимо получить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ru-RU" dirty="0"/>
                  <a:t> то второй подход предпочтительнее.</a:t>
                </a:r>
                <a:endParaRPr lang="en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blipFill>
                <a:blip r:embed="rId4"/>
                <a:stretch>
                  <a:fillRect l="-392" t="-862" b="-25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440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функцию: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Loss: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≈−2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909EFE9-8AF8-534F-AFCA-B36C86C8D18F}"/>
              </a:ext>
            </a:extLst>
          </p:cNvPr>
          <p:cNvSpPr/>
          <p:nvPr/>
        </p:nvSpPr>
        <p:spPr>
          <a:xfrm>
            <a:off x="3970751" y="1426624"/>
            <a:ext cx="3288082" cy="565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82712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DQN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Deep Q-learning Network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9654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Инициализируем </a:t>
                </a:r>
                <a:r>
                  <a:rPr lang="ru-RU" sz="2000" b="0" i="0" u="none" strike="noStrike" dirty="0" err="1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нейросеть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STIXMathJax_Main"/>
                  </a:rPr>
                  <a:t>,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STIXMathJax_Main"/>
                  </a:rPr>
                  <a:t> 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STIXMathJax_Normal-italic"/>
                  </a:rPr>
                  <a:t>𝜀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STIXMathJax_Main"/>
                  </a:rPr>
                  <a:t>=1</a:t>
                </a:r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</a:t>
                </a: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Получаем данные.</a:t>
                </a:r>
                <a:b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</a:b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Из состояния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действуем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(∙|</m:t>
                    </m:r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 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-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жадная политика, получаем награду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и переходим в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 Сохраняем набор в память: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</a:t>
                </a: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Обучаем сеть:</a:t>
                </a:r>
                <a:endParaRPr lang="en-US" sz="20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Получаем из памяти выборку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</m:e>
                              </m:func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          </a:t>
                </a:r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𝐿𝑜𝑠𝑠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965426"/>
              </a:xfrm>
              <a:prstGeom prst="rect">
                <a:avLst/>
              </a:prstGeom>
              <a:blipFill>
                <a:blip r:embed="rId3"/>
                <a:stretch>
                  <a:fillRect b="-3450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371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Deep Q-learning Network</a:t>
            </a:r>
            <a:endParaRPr dirty="0"/>
          </a:p>
        </p:txBody>
      </p:sp>
      <p:sp>
        <p:nvSpPr>
          <p:cNvPr id="7" name="Google Shape;311;p57">
            <a:extLst>
              <a:ext uri="{FF2B5EF4-FFF2-40B4-BE49-F238E27FC236}">
                <a16:creationId xmlns:a16="http://schemas.microsoft.com/office/drawing/2014/main" id="{8A36D44E-7C6A-5342-A463-32C67AE55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850" y="1032459"/>
            <a:ext cx="8801144" cy="35211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3350" indent="0" algn="ctr">
              <a:buNone/>
            </a:pPr>
            <a:r>
              <a:rPr lang="ru-RU" sz="2400" b="0" i="0" u="none" strike="noStrike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Такой подход работает плохо.</a:t>
            </a:r>
          </a:p>
          <a:p>
            <a:pPr marL="133350" indent="0" algn="ctr">
              <a:buNone/>
            </a:pPr>
            <a:endParaRPr lang="ru-RU" sz="2400" dirty="0">
              <a:solidFill>
                <a:srgbClr val="C00000"/>
              </a:solidFill>
              <a:latin typeface="Helvetica Neue" panose="02000503000000020004" pitchFamily="2" charset="0"/>
            </a:endParaRPr>
          </a:p>
          <a:p>
            <a:pPr marL="590550" indent="-457200">
              <a:buAutoNum type="arabicPeriod"/>
            </a:pPr>
            <a:r>
              <a:rPr lang="ru-RU" sz="2000" b="0" i="0" u="none" strike="noStrike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Соседние состояния отличаются незначительно – сильно коррелированные данные для обучения.</a:t>
            </a:r>
          </a:p>
          <a:p>
            <a:pPr marL="590550" indent="-457200"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Helvetica Neue" panose="02000503000000020004" pitchFamily="2" charset="0"/>
              </a:rPr>
              <a:t>Значение </a:t>
            </a:r>
            <a:r>
              <a:rPr lang="ru-RU" sz="2000" dirty="0" err="1">
                <a:solidFill>
                  <a:schemeClr val="tx1"/>
                </a:solidFill>
                <a:latin typeface="Helvetica Neue" panose="02000503000000020004" pitchFamily="2" charset="0"/>
              </a:rPr>
              <a:t>таргета</a:t>
            </a:r>
            <a:r>
              <a:rPr lang="ru-RU" sz="2000" dirty="0">
                <a:solidFill>
                  <a:schemeClr val="tx1"/>
                </a:solidFill>
                <a:latin typeface="Helvetica Neue" panose="02000503000000020004" pitchFamily="2" charset="0"/>
              </a:rPr>
              <a:t> и значение </a:t>
            </a:r>
            <a:r>
              <a:rPr lang="en-US" sz="2000" dirty="0">
                <a:solidFill>
                  <a:schemeClr val="tx1"/>
                </a:solidFill>
                <a:latin typeface="Helvetica Neue" panose="02000503000000020004" pitchFamily="2" charset="0"/>
              </a:rPr>
              <a:t>Q</a:t>
            </a:r>
            <a:r>
              <a:rPr lang="ru-RU" sz="2000" dirty="0">
                <a:solidFill>
                  <a:schemeClr val="tx1"/>
                </a:solidFill>
                <a:latin typeface="Helvetica Neue" panose="02000503000000020004" pitchFamily="2" charset="0"/>
              </a:rPr>
              <a:t>-функции в </a:t>
            </a:r>
            <a:r>
              <a:rPr lang="ru-RU" sz="2000" dirty="0" err="1">
                <a:solidFill>
                  <a:schemeClr val="tx1"/>
                </a:solidFill>
                <a:latin typeface="Helvetica Neue" panose="02000503000000020004" pitchFamily="2" charset="0"/>
              </a:rPr>
              <a:t>лоссе</a:t>
            </a:r>
            <a:r>
              <a:rPr lang="ru-RU" sz="2000" dirty="0">
                <a:solidFill>
                  <a:schemeClr val="tx1"/>
                </a:solidFill>
                <a:latin typeface="Helvetica Neue" panose="02000503000000020004" pitchFamily="2" charset="0"/>
              </a:rPr>
              <a:t> предсказывает одна и та же сеть. В ней стоит </a:t>
            </a:r>
            <a:r>
              <a:rPr lang="en-US" sz="2000" dirty="0">
                <a:solidFill>
                  <a:schemeClr val="tx1"/>
                </a:solidFill>
                <a:latin typeface="Helvetica Neue" panose="02000503000000020004" pitchFamily="2" charset="0"/>
              </a:rPr>
              <a:t>max – </a:t>
            </a:r>
            <a:r>
              <a:rPr lang="ru-RU" sz="2000" dirty="0">
                <a:solidFill>
                  <a:schemeClr val="tx1"/>
                </a:solidFill>
                <a:latin typeface="Helvetica Neue" panose="02000503000000020004" pitchFamily="2" charset="0"/>
              </a:rPr>
              <a:t>предсказания слишком оптимистичны.</a:t>
            </a:r>
            <a:endParaRPr lang="ru-RU" sz="2400" b="0" i="0" u="none" strike="noStrike" dirty="0">
              <a:solidFill>
                <a:schemeClr val="tx1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88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Улучшение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 – </a:t>
            </a:r>
            <a:r>
              <a:rPr lang="en-US" b="0" i="1" dirty="0">
                <a:solidFill>
                  <a:srgbClr val="000000"/>
                </a:solidFill>
                <a:latin typeface="Helvetica Neue" panose="02000503000000020004" pitchFamily="2" charset="0"/>
              </a:rPr>
              <a:t>Experience Replay Buffer</a:t>
            </a:r>
            <a:endParaRPr lang="en-US" b="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6072059" cy="263119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Наполняем 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Buffer:</a:t>
                </a: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</a:rPr>
                  <a:t>Набираем данные и складываем их в </a:t>
                </a:r>
                <a:r>
                  <a:rPr lang="en-US" sz="1400" dirty="0">
                    <a:solidFill>
                      <a:srgbClr val="000000"/>
                    </a:solidFill>
                  </a:rPr>
                  <a:t>Buffer</a:t>
                </a:r>
                <a:r>
                  <a:rPr lang="ru-RU" sz="1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ru-RU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Обучаем сеть:</a:t>
                </a:r>
                <a:endParaRPr lang="en-US" sz="20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Получаем из памяти выборку (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минибатч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u-RU" sz="1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ru-RU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не последовательных, а именно случайно взятых эпизодов и учим на них.</a:t>
                </a: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</m:e>
                              </m:func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          </a:t>
                </a:r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𝐿𝑜𝑠𝑠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6072059" cy="2631197"/>
              </a:xfrm>
              <a:prstGeom prst="rect">
                <a:avLst/>
              </a:prstGeom>
              <a:blipFill>
                <a:blip r:embed="rId3"/>
                <a:stretch>
                  <a:fillRect b="-103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F16D612-7204-CD49-A698-C8AEEFF7C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743" y="1426624"/>
            <a:ext cx="1819633" cy="275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13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Улучшение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 – </a:t>
            </a:r>
            <a:r>
              <a:rPr lang="en-US" b="0" i="1" dirty="0">
                <a:solidFill>
                  <a:srgbClr val="000000"/>
                </a:solidFill>
                <a:latin typeface="Helvetica Neue" panose="02000503000000020004" pitchFamily="2" charset="0"/>
              </a:rPr>
              <a:t>Fixed target network</a:t>
            </a:r>
            <a:endParaRPr lang="en-US" b="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1199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2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Вводим две сети. </a:t>
                </a:r>
              </a:p>
              <a:p>
                <a:pPr lvl="1"/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Одна используется для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вычисления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таргетов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</a:t>
                </a: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Вторая контролирует величину изменений.</a:t>
                </a: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r>
                  <a:rPr lang="ru-RU" sz="20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Обучаем сеть:</a:t>
                </a:r>
                <a:endParaRPr lang="en-US" sz="20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Фиксируем сеть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и вычисляем по ней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</a:t>
                </a: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таргеты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на другой сети: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p>
                                  </m:sSup>
                                </m:e>
                              </m:func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𝐿𝑜𝑠𝑠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параметры фиксированной сети по обучаемой сети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</a:p>
              <a:p>
                <a:pPr lvl="2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 периодичностью в несколько десятков эпизодов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(</a:t>
                </a:r>
                <a:r>
                  <a:rPr lang="en-US" sz="1400" i="1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Hard target network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)</a:t>
                </a:r>
              </a:p>
              <a:p>
                <a:pPr lvl="2"/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Берем взвешенное обновление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𝜏𝜃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+(1−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(</a:t>
                </a:r>
                <a:r>
                  <a:rPr lang="en-US" sz="1400" b="0" i="1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Soft target network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119919"/>
              </a:xfrm>
              <a:prstGeom prst="rect">
                <a:avLst/>
              </a:prstGeom>
              <a:blipFill>
                <a:blip r:embed="rId3"/>
                <a:stretch>
                  <a:fillRect b="-58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131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</a:t>
            </a:r>
            <a:endParaRPr lang="en-US" b="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E0EE1-4156-6F48-98C0-1A5E7E2F9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4790"/>
            <a:ext cx="9144000" cy="333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78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Double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&amp;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dueling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</a:t>
            </a:r>
            <a:endParaRPr lang="en-US" b="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3A2F54-4526-264D-A485-70F694320863}"/>
                  </a:ext>
                </a:extLst>
              </p:cNvPr>
              <p:cNvSpPr txBox="1"/>
              <p:nvPr/>
            </p:nvSpPr>
            <p:spPr>
              <a:xfrm>
                <a:off x="500550" y="3173489"/>
                <a:ext cx="3982615" cy="156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RU" sz="1800" dirty="0"/>
                  <a:t> </a:t>
                </a:r>
              </a:p>
              <a:p>
                <a:endParaRPr lang="en-RU" sz="180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800" dirty="0"/>
                  <a:t> </a:t>
                </a:r>
              </a:p>
              <a:p>
                <a:endParaRPr lang="en-RU" sz="1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𝜏𝜃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8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3A2F54-4526-264D-A485-70F69432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3173489"/>
                <a:ext cx="3982615" cy="15676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408D77-D7C5-C14E-87B8-1E587DEBDD4E}"/>
              </a:ext>
            </a:extLst>
          </p:cNvPr>
          <p:cNvSpPr txBox="1"/>
          <p:nvPr/>
        </p:nvSpPr>
        <p:spPr>
          <a:xfrm>
            <a:off x="500550" y="1118847"/>
            <a:ext cx="1903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Обновляем </a:t>
            </a:r>
            <a:r>
              <a:rPr lang="ru-RU" dirty="0" err="1"/>
              <a:t>таргеты</a:t>
            </a:r>
            <a:r>
              <a:rPr lang="ru-RU" dirty="0"/>
              <a:t>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7AF179E2-F235-5B4A-B72F-62B79AFCA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375746"/>
                  </p:ext>
                </p:extLst>
              </p:nvPr>
            </p:nvGraphicFramePr>
            <p:xfrm>
              <a:off x="500550" y="1689207"/>
              <a:ext cx="8410248" cy="1163765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205124">
                      <a:extLst>
                        <a:ext uri="{9D8B030D-6E8A-4147-A177-3AD203B41FA5}">
                          <a16:colId xmlns:a16="http://schemas.microsoft.com/office/drawing/2014/main" val="2160358528"/>
                        </a:ext>
                      </a:extLst>
                    </a:gridCol>
                    <a:gridCol w="4205124">
                      <a:extLst>
                        <a:ext uri="{9D8B030D-6E8A-4147-A177-3AD203B41FA5}">
                          <a16:colId xmlns:a16="http://schemas.microsoft.com/office/drawing/2014/main" val="10642374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Double DQN</a:t>
                          </a:r>
                        </a:p>
                        <a:p>
                          <a:pPr algn="l"/>
                          <a:r>
                            <a:rPr lang="en-US" dirty="0"/>
                            <a:t>3 </a:t>
                          </a:r>
                          <a:r>
                            <a:rPr lang="ru-RU" dirty="0"/>
                            <a:t>сети: обучающаяся, предсказание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dirty="0"/>
                            <a:t> </a:t>
                          </a:r>
                          <a:br>
                            <a:rPr lang="ru-RU" dirty="0"/>
                          </a:br>
                          <a:r>
                            <a:rPr lang="ru-RU" dirty="0"/>
                            <a:t>и целевая (контроль изменений)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Dueling DQN</a:t>
                          </a:r>
                          <a:endParaRPr lang="ru-RU" dirty="0"/>
                        </a:p>
                        <a:p>
                          <a:pPr algn="l"/>
                          <a:r>
                            <a:rPr lang="en-US" dirty="0"/>
                            <a:t>3</a:t>
                          </a:r>
                          <a:r>
                            <a:rPr lang="ru-RU" dirty="0"/>
                            <a:t> сети: 2 обучающиеся (худшее предсказание) и целевая (контроль изменений)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8481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latin typeface="Cambria Math" panose="02040503050406030204" pitchFamily="18" charset="0"/>
                                          </a:rPr>
                                          <m:t>arg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limLow>
                                              <m:limLow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limLow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>
                                                    <a:latin typeface="Cambria Math" panose="02040503050406030204" pitchFamily="18" charset="0"/>
                                                  </a:rPr>
                                                  <m:t>max</m:t>
                                                </m:r>
                                              </m:e>
                                              <m:lim>
                                                <m:sSup>
                                                  <m:sSupPr>
                                                    <m:ctrl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𝑎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lim>
                                            </m:limLow>
                                          </m:fNam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𝑄</m:t>
                                                </m:r>
                                              </m:e>
                                              <m:sup>
                                                <m:sSup>
                                                  <m:sSupPr>
                                                    <m:ctrl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sup>
                                            </m:sSup>
                                          </m:e>
                                        </m:func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limLow>
                                            <m:limLow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Low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max</m:t>
                                              </m:r>
                                            </m:e>
                                            <m:lim>
                                              <m:sSup>
                                                <m:sSup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lim>
                                          </m:limLow>
                                        </m:fNam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sSup>
                                                <m:sSupPr>
                                                  <m:ctrlP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sup>
                                          </m:sSubSup>
                                        </m:e>
                                      </m:func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ru-RU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func>
                                        <m:func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limLow>
                                            <m:limLow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Low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max</m:t>
                                              </m:r>
                                            </m:e>
                                            <m:lim>
                                              <m:sSup>
                                                <m:sSup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lim>
                                          </m:limLow>
                                        </m:fNam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sSup>
                                                <m:sSupPr>
                                                  <m:ctrlP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sup>
                                          </m:sSubSup>
                                        </m:e>
                                      </m:func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oMath>
                          </a14:m>
                          <a:r>
                            <a:rPr lang="en-US" sz="1400" i="1" dirty="0">
                              <a:latin typeface="Cambria Math" panose="02040503050406030204" pitchFamily="18" charset="0"/>
                            </a:rPr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4728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7AF179E2-F235-5B4A-B72F-62B79AFCA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8375746"/>
                  </p:ext>
                </p:extLst>
              </p:nvPr>
            </p:nvGraphicFramePr>
            <p:xfrm>
              <a:off x="500550" y="1689207"/>
              <a:ext cx="8410248" cy="1163765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205124">
                      <a:extLst>
                        <a:ext uri="{9D8B030D-6E8A-4147-A177-3AD203B41FA5}">
                          <a16:colId xmlns:a16="http://schemas.microsoft.com/office/drawing/2014/main" val="2160358528"/>
                        </a:ext>
                      </a:extLst>
                    </a:gridCol>
                    <a:gridCol w="4205124">
                      <a:extLst>
                        <a:ext uri="{9D8B030D-6E8A-4147-A177-3AD203B41FA5}">
                          <a16:colId xmlns:a16="http://schemas.microsoft.com/office/drawing/2014/main" val="1064237482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4"/>
                          <a:stretch>
                            <a:fillRect l="-301" t="-1724" r="-100000" b="-6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Dueling DQN</a:t>
                          </a:r>
                          <a:endParaRPr lang="ru-RU" dirty="0"/>
                        </a:p>
                        <a:p>
                          <a:pPr algn="l"/>
                          <a:r>
                            <a:rPr lang="en-US" dirty="0"/>
                            <a:t>3</a:t>
                          </a:r>
                          <a:r>
                            <a:rPr lang="ru-RU" dirty="0"/>
                            <a:t> сети: 2 обучающиеся (худшее предсказание) и целевая (контроль изменений)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8481484"/>
                      </a:ext>
                    </a:extLst>
                  </a:tr>
                  <a:tr h="432245"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4"/>
                          <a:stretch>
                            <a:fillRect l="-301" t="-173529" r="-100000" b="-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4"/>
                          <a:stretch>
                            <a:fillRect l="-100604" t="-173529" r="-302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4728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0105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rgbClr val="FF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rgbClr val="FF0000">
              <a:alpha val="29804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rgbClr val="FF0000">
              <a:alpha val="29804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rgbClr val="FF0000">
              <a:alpha val="29804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Улучшения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+mn-lt"/>
              </a:rPr>
              <a:t>С51</a:t>
            </a:r>
          </a:p>
          <a:p>
            <a:r>
              <a:rPr lang="ru-RU" dirty="0">
                <a:solidFill>
                  <a:schemeClr val="tx1"/>
                </a:solidFill>
                <a:latin typeface="+mn-lt"/>
              </a:rPr>
              <a:t>А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лгоритм, который способен оценивать неопределенность в оценках ценности действий, представляет собой расширение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learning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, которое учитывает вероятностное распределение оценок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https://arxiv.org/pdf/1707.06887.pdf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ru-RU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dirty="0">
              <a:solidFill>
                <a:schemeClr val="tx1"/>
              </a:solidFill>
              <a:latin typeface="Söhne"/>
            </a:endParaRPr>
          </a:p>
          <a:p>
            <a:r>
              <a:rPr lang="en-US" b="1" dirty="0">
                <a:solidFill>
                  <a:schemeClr val="tx1"/>
                </a:solidFill>
                <a:latin typeface="Söhne"/>
              </a:rPr>
              <a:t>QR-DQN</a:t>
            </a:r>
            <a:endParaRPr lang="ru-RU" b="1" i="0" u="none" strike="noStrike" dirty="0">
              <a:solidFill>
                <a:schemeClr val="tx1"/>
              </a:solidFill>
              <a:effectLst/>
              <a:latin typeface="Söhne"/>
            </a:endParaRPr>
          </a:p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(Quantile Regression Deep Q-Network)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расширяет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DQN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и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C51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, чтобы лучше оценивать неопределенность в оценках 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Q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 Вместо того, чтобы оценивать средние значения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 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он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оценивает квантили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  <a:hlinkClick r:id="rId3"/>
              </a:rPr>
              <a:t>https://arxiv.org/abs/1710.10044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</a:p>
          <a:p>
            <a:endParaRPr lang="en-US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b="1" dirty="0">
                <a:solidFill>
                  <a:schemeClr val="tx1"/>
                </a:solidFill>
                <a:latin typeface="+mn-lt"/>
              </a:rPr>
              <a:t>HER</a:t>
            </a:r>
            <a:endParaRPr lang="en-US" b="1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(Hindsight Experience Replay)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разработан для задач, где агенту не всегда удается достичь поставленных целей. Он предназначен для решения проблемы отсутствия положительного обратной связи в ранних стадиях обучения и повышения эффективности обучения в условиях неудачных попыток.</a:t>
            </a:r>
          </a:p>
          <a:p>
            <a:r>
              <a:rPr lang="en-US" dirty="0">
                <a:solidFill>
                  <a:schemeClr val="tx1"/>
                </a:solidFill>
                <a:hlinkClick r:id="rId4"/>
              </a:rPr>
              <a:t>https://arxiv.org/abs/1707.01495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</a:t>
            </a:r>
            <a:endParaRPr lang="en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042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С51</a:t>
            </a: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А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лгоритм, который способен оценивать неопределенность в оценках ценности действий, представляет собой расширение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learning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, которое учитывает вероятностное распределение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средних оценок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https://arxiv.org/pdf/1707.06887.pdf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ru-RU" b="0" i="0" u="none" strike="noStrike" dirty="0">
              <a:solidFill>
                <a:schemeClr val="tx1"/>
              </a:solidFill>
              <a:effectLst/>
              <a:latin typeface="+mn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F12F43-4233-D34C-8B45-6E688EB31EEC}"/>
              </a:ext>
            </a:extLst>
          </p:cNvPr>
          <p:cNvGrpSpPr/>
          <p:nvPr/>
        </p:nvGrpSpPr>
        <p:grpSpPr>
          <a:xfrm>
            <a:off x="4041140" y="2509577"/>
            <a:ext cx="4974884" cy="2030139"/>
            <a:chOff x="1560928" y="2090244"/>
            <a:chExt cx="6022144" cy="21369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F486396-771C-9147-9EC6-87D49F452F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3329"/>
            <a:stretch/>
          </p:blipFill>
          <p:spPr>
            <a:xfrm>
              <a:off x="1560928" y="2090244"/>
              <a:ext cx="6022144" cy="12482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4BAC80-56D3-1E46-AAD8-D82006387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6773"/>
            <a:stretch/>
          </p:blipFill>
          <p:spPr>
            <a:xfrm>
              <a:off x="1560928" y="3338482"/>
              <a:ext cx="6022144" cy="88867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66AC91E-1A7C-F143-9514-65117599A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" y="2571750"/>
            <a:ext cx="3844290" cy="190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03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QR-DQN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(Quantile Regression Deep Q-Network)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расширяет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C51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, чтобы лучше оценивать неопределенность в оценках 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Q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 Вместо того, чтобы оценивать средние значения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</a:t>
            </a:r>
            <a:r>
              <a:rPr lang="en-US" dirty="0">
                <a:solidFill>
                  <a:schemeClr val="tx1"/>
                </a:solidFill>
                <a:latin typeface="Söhne"/>
              </a:rPr>
              <a:t> 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он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оценивает квантили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Q-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функции.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  <a:hlinkClick r:id="rId2"/>
              </a:rPr>
              <a:t>https://arxiv.org/abs/1710.10044</a:t>
            </a:r>
            <a:endParaRPr lang="en-US" b="0" i="0" u="none" strike="noStrike" dirty="0">
              <a:solidFill>
                <a:schemeClr val="tx1"/>
              </a:solidFill>
              <a:effectLst/>
              <a:latin typeface="Sö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9A1A5-A29F-FF4E-9D0F-021C85176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42" y="2353178"/>
            <a:ext cx="4506369" cy="1988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E89E5F-C9F5-E240-9FD4-B5DFEE404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557" y="3530243"/>
            <a:ext cx="3600001" cy="1613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2487DA-BAF8-0D44-9B52-4054723B9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872" y="1681761"/>
            <a:ext cx="3489044" cy="185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00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C3FA-C38D-344A-96E1-5045168B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B7F8A-1AFA-9748-A5D1-B0E2A3B9E9E2}"/>
              </a:ext>
            </a:extLst>
          </p:cNvPr>
          <p:cNvSpPr txBox="1"/>
          <p:nvPr/>
        </p:nvSpPr>
        <p:spPr>
          <a:xfrm>
            <a:off x="423442" y="943097"/>
            <a:ext cx="85977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tx1"/>
                </a:solidFill>
                <a:effectLst/>
                <a:latin typeface="Söhne"/>
              </a:rPr>
              <a:t>(Hindsight Experience Replay) -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алгоритм, который разработан для задач, где агенту не всегда удается достичь поставленных целей. Он предназначен для решения проблемы отсутствия положительного обратной связи в ранних стадиях обучения и повышения эффективности обучения в условиях неудачных попыток.</a:t>
            </a:r>
          </a:p>
          <a:p>
            <a:r>
              <a:rPr lang="en-US" dirty="0">
                <a:solidFill>
                  <a:schemeClr val="tx1"/>
                </a:solidFill>
                <a:hlinkClick r:id="rId2"/>
              </a:rPr>
              <a:t>https://arxiv.org/abs/1707.01495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</a:t>
            </a:r>
            <a:endParaRPr lang="en-TR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DE07D-E096-D945-8A6D-FDFF42DED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897204"/>
            <a:ext cx="3949896" cy="32101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275DD7-5B9C-AF46-8728-DC3B33337547}"/>
              </a:ext>
            </a:extLst>
          </p:cNvPr>
          <p:cNvSpPr/>
          <p:nvPr/>
        </p:nvSpPr>
        <p:spPr>
          <a:xfrm>
            <a:off x="705746" y="3528726"/>
            <a:ext cx="3700558" cy="9941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0A0AC-694B-C342-B2EC-F4E9C65B865E}"/>
              </a:ext>
            </a:extLst>
          </p:cNvPr>
          <p:cNvSpPr txBox="1"/>
          <p:nvPr/>
        </p:nvSpPr>
        <p:spPr>
          <a:xfrm>
            <a:off x="4572000" y="1862154"/>
            <a:ext cx="44001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Задается промежуточная цель, вполне достижимая и за ее достижение назначается награда.</a:t>
            </a:r>
          </a:p>
          <a:p>
            <a:r>
              <a:rPr lang="ru-RU" dirty="0"/>
              <a:t>Тем самым обеспечивая алгоритму «направление» движения к глобальной цели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79294E-06CD-A449-B5C6-0FB09A3FC1C3}"/>
              </a:ext>
            </a:extLst>
          </p:cNvPr>
          <p:cNvCxnSpPr/>
          <p:nvPr/>
        </p:nvCxnSpPr>
        <p:spPr>
          <a:xfrm>
            <a:off x="4572000" y="1897204"/>
            <a:ext cx="0" cy="114670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54E378-DC40-D043-A140-A8E95D9577EF}"/>
              </a:ext>
            </a:extLst>
          </p:cNvPr>
          <p:cNvCxnSpPr/>
          <p:nvPr/>
        </p:nvCxnSpPr>
        <p:spPr>
          <a:xfrm>
            <a:off x="4572000" y="3037842"/>
            <a:ext cx="4056499" cy="1220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249DD-9848-A24F-810F-EACA1F36CE42}"/>
              </a:ext>
            </a:extLst>
          </p:cNvPr>
          <p:cNvCxnSpPr>
            <a:endCxn id="5" idx="3"/>
          </p:cNvCxnSpPr>
          <p:nvPr/>
        </p:nvCxnSpPr>
        <p:spPr>
          <a:xfrm flipH="1">
            <a:off x="4450446" y="3043909"/>
            <a:ext cx="121554" cy="4583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DE66D3D-6EAD-D840-867D-D88BD0C8C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642" y="3194444"/>
            <a:ext cx="4187649" cy="170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28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4" name="Google Shape;283;p53">
            <a:extLst>
              <a:ext uri="{FF2B5EF4-FFF2-40B4-BE49-F238E27FC236}">
                <a16:creationId xmlns:a16="http://schemas.microsoft.com/office/drawing/2014/main" id="{936422AA-148B-024E-A4BD-7D9102DA5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337713"/>
              </p:ext>
            </p:extLst>
          </p:nvPr>
        </p:nvGraphicFramePr>
        <p:xfrm>
          <a:off x="952500" y="1495472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примере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CartPole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Сравнить результат с работой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framework’a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StableBaseLine3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ДЗ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5263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Домашнее задание</a:t>
            </a:r>
            <a:endParaRPr dirty="0"/>
          </a:p>
        </p:txBody>
      </p:sp>
      <p:graphicFrame>
        <p:nvGraphicFramePr>
          <p:cNvPr id="4" name="Google Shape;283;p53">
            <a:extLst>
              <a:ext uri="{FF2B5EF4-FFF2-40B4-BE49-F238E27FC236}">
                <a16:creationId xmlns:a16="http://schemas.microsoft.com/office/drawing/2014/main" id="{5A6C0EEF-E17C-AC42-8A28-332B55254F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583453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Обучить модель в среде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LunaLander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Попробовать изменить архитектуру сети (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батч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-нормализация, кол-во слоев и т.п.)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35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3"/>
              </a:rPr>
              <a:t>https://pytorch.org/tutorials/intermediate/mario_rl_tutorial.html</a:t>
            </a:r>
            <a:r>
              <a:rPr lang="en-GB" sz="1300" dirty="0"/>
              <a:t> – </a:t>
            </a:r>
            <a:r>
              <a:rPr lang="ru-RU" sz="1300" dirty="0"/>
              <a:t>реализация для экранной игры. Учить долго и тяжело, но в качестве примера для будущих задач вполне неплохо.</a:t>
            </a:r>
            <a:endParaRPr lang="en-GB"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4"/>
              </a:rPr>
              <a:t>https://www.mlq.ai/guide-to-deep-reinforcement-learning/</a:t>
            </a:r>
            <a:r>
              <a:rPr lang="en-GB" sz="1300" dirty="0"/>
              <a:t> - </a:t>
            </a:r>
            <a:r>
              <a:rPr lang="ru-RU" sz="1300" dirty="0"/>
              <a:t>обзор алгоритмов </a:t>
            </a:r>
            <a:r>
              <a:rPr lang="en-US" sz="1300" dirty="0"/>
              <a:t>RL.</a:t>
            </a:r>
            <a:endParaRPr lang="en-GB"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5"/>
              </a:rPr>
              <a:t>https://towardsdatascience.com/double-deep-q-networks-905dd8325412</a:t>
            </a:r>
            <a:r>
              <a:rPr lang="en-GB" sz="1300" dirty="0"/>
              <a:t> - DDQN.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6"/>
              </a:rPr>
              <a:t>https://towardsdatascience.com/deep-q-network-dqn-i-bce08bdf2af</a:t>
            </a:r>
            <a:r>
              <a:rPr lang="en-GB" sz="1300" dirty="0"/>
              <a:t> – </a:t>
            </a:r>
            <a:r>
              <a:rPr lang="ru-RU" sz="1300" dirty="0"/>
              <a:t>Хорошее объяснение на пальцах, но не рабочие примеры </a:t>
            </a:r>
            <a:r>
              <a:rPr lang="ru-RU" sz="1300" dirty="0">
                <a:sym typeface="Wingdings" pitchFamily="2" charset="2"/>
              </a:rPr>
              <a:t> </a:t>
            </a:r>
            <a:endParaRPr lang="en-GB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2643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Policy Gradient (PG)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алгоритм</a:t>
            </a:r>
          </a:p>
        </p:txBody>
      </p:sp>
      <p:sp>
        <p:nvSpPr>
          <p:cNvPr id="11" name="Google Shape;208;p48">
            <a:extLst>
              <a:ext uri="{FF2B5EF4-FFF2-40B4-BE49-F238E27FC236}">
                <a16:creationId xmlns:a16="http://schemas.microsoft.com/office/drawing/2014/main" id="{CA87BCD8-0D06-7043-9BAA-7EA27A56046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623738-36EE-4149-81DC-2779CF827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F1A5002A-2E94-404A-8C2F-7DD56981AB93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7186</TotalTime>
  <Words>1457</Words>
  <Application>Microsoft Macintosh PowerPoint</Application>
  <PresentationFormat>On-screen Show (16:9)</PresentationFormat>
  <Paragraphs>259</Paragraphs>
  <Slides>34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8" baseType="lpstr">
      <vt:lpstr>Roboto</vt:lpstr>
      <vt:lpstr>Arial</vt:lpstr>
      <vt:lpstr>Courier New</vt:lpstr>
      <vt:lpstr>STIXMathJax_Main</vt:lpstr>
      <vt:lpstr>AkayaTelivigala</vt:lpstr>
      <vt:lpstr>Bradley Hand</vt:lpstr>
      <vt:lpstr>Symbol</vt:lpstr>
      <vt:lpstr>Google Sans</vt:lpstr>
      <vt:lpstr>Söhne</vt:lpstr>
      <vt:lpstr>Helvetica Neue</vt:lpstr>
      <vt:lpstr>STIXMathJax_Normal-italic</vt:lpstr>
      <vt:lpstr>Cambria Math</vt:lpstr>
      <vt:lpstr>Светлая тема</vt:lpstr>
      <vt:lpstr>Светлая тема</vt:lpstr>
      <vt:lpstr>Reinforcement learning Deep Q Network</vt:lpstr>
      <vt:lpstr>Проверить, идет ли запись</vt:lpstr>
      <vt:lpstr>Правила вебинара</vt:lpstr>
      <vt:lpstr>Reinforcement learning. Введение в DeepRL 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Постановка задачи</vt:lpstr>
      <vt:lpstr>Markov Property</vt:lpstr>
      <vt:lpstr>Q-learning</vt:lpstr>
      <vt:lpstr>Q-learning update for NN</vt:lpstr>
      <vt:lpstr>Q-learning update for NN</vt:lpstr>
      <vt:lpstr>Алгоритм DQN</vt:lpstr>
      <vt:lpstr>Deep Q-learning Network</vt:lpstr>
      <vt:lpstr>Deep Q-learning Network</vt:lpstr>
      <vt:lpstr>Улучшение DQN – Experience Replay Buffer</vt:lpstr>
      <vt:lpstr>Улучшение DQN – Fixed target network</vt:lpstr>
      <vt:lpstr>DQN</vt:lpstr>
      <vt:lpstr>Double &amp; dueling DQN</vt:lpstr>
      <vt:lpstr>Обзор алгоритмов RL</vt:lpstr>
      <vt:lpstr>Улучшения</vt:lpstr>
      <vt:lpstr>С51 </vt:lpstr>
      <vt:lpstr>QR-DQN  </vt:lpstr>
      <vt:lpstr>HER  </vt:lpstr>
      <vt:lpstr>Практика</vt:lpstr>
      <vt:lpstr>Практика</vt:lpstr>
      <vt:lpstr>ДЗ</vt:lpstr>
      <vt:lpstr>Домашнее задание</vt:lpstr>
      <vt:lpstr>Список материалов для изучения</vt:lpstr>
      <vt:lpstr>Вопросы?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59</cp:revision>
  <dcterms:modified xsi:type="dcterms:W3CDTF">2025-04-21T12:38:29Z</dcterms:modified>
</cp:coreProperties>
</file>