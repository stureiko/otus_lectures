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3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317" r:id="rId3"/>
    <p:sldId id="259" r:id="rId4"/>
    <p:sldId id="404" r:id="rId5"/>
    <p:sldId id="268" r:id="rId6"/>
    <p:sldId id="314" r:id="rId7"/>
    <p:sldId id="301" r:id="rId8"/>
    <p:sldId id="315" r:id="rId9"/>
    <p:sldId id="316" r:id="rId10"/>
    <p:sldId id="304" r:id="rId1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578"/>
    <p:restoredTop sz="97030"/>
  </p:normalViewPr>
  <p:slideViewPr>
    <p:cSldViewPr>
      <p:cViewPr varScale="1">
        <p:scale>
          <a:sx n="206" d="100"/>
          <a:sy n="206" d="100"/>
        </p:scale>
        <p:origin x="256" y="18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D1C788-56A1-2E45-A024-5C42A74F7F0E}" type="datetimeFigureOut">
              <a:rPr lang="en-US" smtClean="0"/>
              <a:t>12/23/24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12F9F-468F-E040-8F6D-DB6B5D370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3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1322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7666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1634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9274" y="383031"/>
            <a:ext cx="385508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87699" y="1397762"/>
            <a:ext cx="1944370" cy="3142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FF99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22787" y="1120140"/>
            <a:ext cx="1875790" cy="3541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19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ТИТУЛЬНЫЙ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8" y="-10075"/>
            <a:ext cx="9161923" cy="5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327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Белый слайд + заголовок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957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500"/>
              <a:buNone/>
              <a:defRPr sz="1500" b="1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6680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8488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9247" y="4876800"/>
            <a:ext cx="1298448" cy="1463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9274" y="383031"/>
            <a:ext cx="439991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61125" y="2344927"/>
            <a:ext cx="4507230" cy="2405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igor-stureiko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igor-stureiko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Reinforcement learning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dirty="0"/>
              <a:t>Course project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7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96" name="Google Shape;196;p4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&amp;&amp; слышно?</a:t>
            </a:r>
            <a:endParaRPr sz="4000"/>
          </a:p>
        </p:txBody>
      </p:sp>
      <p:pic>
        <p:nvPicPr>
          <p:cNvPr id="197" name="Google Shape;197;p47"/>
          <p:cNvPicPr preferRelativeResize="0"/>
          <p:nvPr/>
        </p:nvPicPr>
        <p:blipFill rotWithShape="1">
          <a:blip r:embed="rId3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7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215" name="Google Shape;21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9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49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49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49"/>
          <p:cNvSpPr txBox="1"/>
          <p:nvPr/>
        </p:nvSpPr>
        <p:spPr>
          <a:xfrm>
            <a:off x="1654525" y="2049300"/>
            <a:ext cx="24753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#</a:t>
            </a: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RL-202</a:t>
            </a:r>
            <a:r>
              <a:rPr lang="ru-RU" sz="1500" b="1" dirty="0"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ru-RU" sz="1500" b="1" dirty="0"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9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49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9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4" name="Google Shape;224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9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9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9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0" name="Google Shape;230;p4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4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9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4" name="Google Shape;234;p4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9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4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7650" y="2171500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Reinforcement learning</a:t>
            </a:r>
            <a:br>
              <a:rPr lang="en-US" dirty="0"/>
            </a:br>
            <a:r>
              <a:rPr lang="en-US" sz="2400" dirty="0"/>
              <a:t>Course project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ABBDF15B-866B-E64C-AF21-19F358C4E05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379538" indent="-137953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</a:t>
            </a:r>
            <a:r>
              <a:rPr lang="ru-RU" sz="1150" b="1" dirty="0"/>
              <a:t>, 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 в НИИ ПАО Газпром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3"/>
              </a:rPr>
              <a:t>igor-stureiko</a:t>
            </a:r>
            <a:r>
              <a:rPr lang="en-US" sz="1150" dirty="0"/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@</a:t>
            </a:r>
            <a:r>
              <a:rPr lang="en-US" sz="1200" b="1" dirty="0" err="1"/>
              <a:t>rl_fintech</a:t>
            </a:r>
            <a:r>
              <a:rPr lang="ru-RU" sz="1200" b="1" dirty="0"/>
              <a:t> </a:t>
            </a:r>
            <a:r>
              <a:rPr lang="ru-RU" sz="1200" dirty="0"/>
              <a:t>(Мой канал посвященный финансовым моделям)</a:t>
            </a:r>
            <a:endParaRPr sz="1200" dirty="0"/>
          </a:p>
        </p:txBody>
      </p:sp>
      <p:grpSp>
        <p:nvGrpSpPr>
          <p:cNvPr id="8" name="object 4">
            <a:extLst>
              <a:ext uri="{FF2B5EF4-FFF2-40B4-BE49-F238E27FC236}">
                <a16:creationId xmlns:a16="http://schemas.microsoft.com/office/drawing/2014/main" id="{5FB241E0-F341-2D41-BAEF-2356ACCC2AE6}"/>
              </a:ext>
            </a:extLst>
          </p:cNvPr>
          <p:cNvGrpSpPr/>
          <p:nvPr/>
        </p:nvGrpSpPr>
        <p:grpSpPr>
          <a:xfrm>
            <a:off x="606551" y="2703050"/>
            <a:ext cx="2115820" cy="2439035"/>
            <a:chOff x="606551" y="2703050"/>
            <a:chExt cx="2115820" cy="2439035"/>
          </a:xfrm>
        </p:grpSpPr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A28AFFA3-12F1-9041-95E0-BC0FB0458F12}"/>
                </a:ext>
              </a:extLst>
            </p:cNvPr>
            <p:cNvSpPr/>
            <p:nvPr/>
          </p:nvSpPr>
          <p:spPr>
            <a:xfrm>
              <a:off x="629999" y="2703050"/>
              <a:ext cx="1034415" cy="1983739"/>
            </a:xfrm>
            <a:custGeom>
              <a:avLst/>
              <a:gdLst/>
              <a:ahLst/>
              <a:cxnLst/>
              <a:rect l="l" t="t" r="r" b="b"/>
              <a:pathLst>
                <a:path w="1034414" h="1983739">
                  <a:moveTo>
                    <a:pt x="1033800" y="0"/>
                  </a:moveTo>
                  <a:lnTo>
                    <a:pt x="0" y="0"/>
                  </a:lnTo>
                  <a:lnTo>
                    <a:pt x="0" y="1983599"/>
                  </a:lnTo>
                  <a:lnTo>
                    <a:pt x="1033800" y="1983599"/>
                  </a:lnTo>
                  <a:lnTo>
                    <a:pt x="10338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6">
              <a:extLst>
                <a:ext uri="{FF2B5EF4-FFF2-40B4-BE49-F238E27FC236}">
                  <a16:creationId xmlns:a16="http://schemas.microsoft.com/office/drawing/2014/main" id="{DD64BE99-88DD-9742-BA44-436464CD281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6551" y="2846831"/>
              <a:ext cx="2115312" cy="22951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Карта курса</a:t>
            </a:r>
            <a:endParaRPr/>
          </a:p>
        </p:txBody>
      </p:sp>
      <p:sp>
        <p:nvSpPr>
          <p:cNvPr id="271" name="Google Shape;271;p44"/>
          <p:cNvSpPr/>
          <p:nvPr/>
        </p:nvSpPr>
        <p:spPr>
          <a:xfrm>
            <a:off x="5805200" y="627325"/>
            <a:ext cx="3034000" cy="57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1073088" y="1847675"/>
            <a:ext cx="24732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Deep 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4491135" y="1847803"/>
            <a:ext cx="2917948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Advanced </a:t>
            </a:r>
            <a:br>
              <a:rPr lang="ru-RU" sz="1600">
                <a:solidFill>
                  <a:srgbClr val="1F1F1F"/>
                </a:solidFill>
                <a:latin typeface="Google Sans"/>
                <a:sym typeface="Roboto"/>
              </a:rPr>
            </a:b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Reinforcement Learning</a:t>
            </a:r>
          </a:p>
        </p:txBody>
      </p:sp>
      <p:sp>
        <p:nvSpPr>
          <p:cNvPr id="274" name="Google Shape;274;p44"/>
          <p:cNvSpPr/>
          <p:nvPr/>
        </p:nvSpPr>
        <p:spPr>
          <a:xfrm>
            <a:off x="4140833" y="3254170"/>
            <a:ext cx="29706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Reinforcement Learning в реальных задачах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73" idx="1"/>
          </p:cNvCxnSpPr>
          <p:nvPr/>
        </p:nvCxnSpPr>
        <p:spPr>
          <a:xfrm>
            <a:off x="3546288" y="2137325"/>
            <a:ext cx="944847" cy="12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2309688" y="915325"/>
            <a:ext cx="3495512" cy="93235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767838" y="4137347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>
                <a:solidFill>
                  <a:srgbClr val="1F1F1F"/>
                </a:solidFill>
                <a:latin typeface="Google Sans"/>
                <a:sym typeface="Roboto"/>
              </a:rPr>
              <a:t>Проектная работа</a:t>
            </a:r>
            <a:endParaRPr sz="160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73" idx="3"/>
            <a:endCxn id="274" idx="3"/>
          </p:cNvCxnSpPr>
          <p:nvPr/>
        </p:nvCxnSpPr>
        <p:spPr>
          <a:xfrm flipH="1">
            <a:off x="7111433" y="2137453"/>
            <a:ext cx="297650" cy="1406367"/>
          </a:xfrm>
          <a:prstGeom prst="curvedConnector3">
            <a:avLst>
              <a:gd name="adj1" fmla="val -7680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1"/>
            <a:endCxn id="278" idx="0"/>
          </p:cNvCxnSpPr>
          <p:nvPr/>
        </p:nvCxnSpPr>
        <p:spPr>
          <a:xfrm rot="10800000" flipV="1">
            <a:off x="2309689" y="3543819"/>
            <a:ext cx="1831145" cy="593527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CCDE05CC-2BC0-2242-878F-9266DBB0C31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820139" y="128322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CD39ED7-986F-C44F-AB9B-9B7D2D7A7297}"/>
              </a:ext>
            </a:extLst>
          </p:cNvPr>
          <p:cNvSpPr txBox="1"/>
          <p:nvPr/>
        </p:nvSpPr>
        <p:spPr>
          <a:xfrm>
            <a:off x="8000141" y="125700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5" name="Google Shape;530;p82">
            <a:extLst>
              <a:ext uri="{FF2B5EF4-FFF2-40B4-BE49-F238E27FC236}">
                <a16:creationId xmlns:a16="http://schemas.microsoft.com/office/drawing/2014/main" id="{F8762030-AB6E-EA48-94AA-05667E56E0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46444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EE8DB15-D7EB-AF4A-AF42-E23E858A9200}"/>
              </a:ext>
            </a:extLst>
          </p:cNvPr>
          <p:cNvSpPr txBox="1"/>
          <p:nvPr/>
        </p:nvSpPr>
        <p:spPr>
          <a:xfrm>
            <a:off x="2826219" y="243822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9B0FF9F4-BD74-6D4A-84F0-EEE42E67D71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685179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E2FDB-CC58-2148-AEE8-60319C2CDB06}"/>
              </a:ext>
            </a:extLst>
          </p:cNvPr>
          <p:cNvSpPr txBox="1"/>
          <p:nvPr/>
        </p:nvSpPr>
        <p:spPr>
          <a:xfrm>
            <a:off x="2826219" y="2658957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9" name="Google Shape;530;p82">
            <a:extLst>
              <a:ext uri="{FF2B5EF4-FFF2-40B4-BE49-F238E27FC236}">
                <a16:creationId xmlns:a16="http://schemas.microsoft.com/office/drawing/2014/main" id="{B93C8975-AB14-2B4C-ABCD-AAE0570C29D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71396" y="246844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C42D55-1755-C841-9C69-D39873572F99}"/>
              </a:ext>
            </a:extLst>
          </p:cNvPr>
          <p:cNvSpPr txBox="1"/>
          <p:nvPr/>
        </p:nvSpPr>
        <p:spPr>
          <a:xfrm>
            <a:off x="6751398" y="244222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03793" y="1200150"/>
            <a:ext cx="77238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Постановка </a:t>
            </a:r>
            <a:r>
              <a:rPr lang="en-US" sz="1400" b="0" dirty="0">
                <a:solidFill>
                  <a:srgbClr val="1E1F21"/>
                </a:solidFill>
              </a:rPr>
              <a:t>ML </a:t>
            </a:r>
            <a:r>
              <a:rPr lang="ru-RU" sz="1400" b="0" dirty="0">
                <a:solidFill>
                  <a:srgbClr val="1E1F21"/>
                </a:solidFill>
              </a:rPr>
              <a:t>задачи;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Формирование среды;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Обоснование выбора алгоритма;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Прогресс обучения – убедиться в прогрессе алгоритма на данной задаче;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Оптимизация гиперпараметров;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 err="1">
                <a:solidFill>
                  <a:srgbClr val="1E1F21"/>
                </a:solidFill>
              </a:rPr>
              <a:t>Дообучение</a:t>
            </a:r>
            <a:r>
              <a:rPr lang="ru-RU" sz="1400" b="0" dirty="0">
                <a:solidFill>
                  <a:srgbClr val="1E1F21"/>
                </a:solidFill>
              </a:rPr>
              <a:t> модели;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Полученные результаты;</a:t>
            </a:r>
            <a:endParaRPr lang="en-US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Формат сдачи – презентация + ссылка на </a:t>
            </a:r>
            <a:r>
              <a:rPr lang="en-US" sz="1400" b="0" dirty="0">
                <a:solidFill>
                  <a:srgbClr val="1E1F21"/>
                </a:solidFill>
              </a:rPr>
              <a:t>git </a:t>
            </a:r>
            <a:r>
              <a:rPr lang="ru-RU" sz="1400" b="0" dirty="0">
                <a:solidFill>
                  <a:srgbClr val="1E1F21"/>
                </a:solidFill>
              </a:rPr>
              <a:t>репозиторий.</a:t>
            </a:r>
            <a:endParaRPr sz="1400" b="0" dirty="0">
              <a:solidFill>
                <a:srgbClr val="1E1F21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Что должно быть в проекте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3316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/>
              <a:t>Программа</a:t>
            </a:r>
            <a:endParaRPr lang="ru-RU" spc="-10"/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6463" y="2943932"/>
            <a:ext cx="2989202" cy="1992801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233721" y="1929345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latin typeface="Calibri"/>
                <a:cs typeface="Calibri"/>
              </a:rPr>
              <a:t>20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en-US" sz="1400" dirty="0">
                <a:latin typeface="Calibri"/>
                <a:cs typeface="Calibri"/>
              </a:rPr>
              <a:t>11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6D51FBD1-EE22-BB4C-B22B-62B217530E17}"/>
              </a:ext>
            </a:extLst>
          </p:cNvPr>
          <p:cNvSpPr txBox="1"/>
          <p:nvPr/>
        </p:nvSpPr>
        <p:spPr>
          <a:xfrm>
            <a:off x="1233721" y="3509770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17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en-US" sz="1400" dirty="0">
                <a:latin typeface="Calibri"/>
                <a:cs typeface="Calibri"/>
              </a:rPr>
              <a:t>01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7915779-E234-3C4D-BA4F-EE25401C044E}"/>
              </a:ext>
            </a:extLst>
          </p:cNvPr>
          <p:cNvSpPr/>
          <p:nvPr/>
        </p:nvSpPr>
        <p:spPr>
          <a:xfrm>
            <a:off x="579274" y="1051909"/>
            <a:ext cx="2613025" cy="57975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Курсовой проект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799" y="1160272"/>
            <a:ext cx="419929" cy="396000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DFC3E53-6FFD-6D45-903D-08C54E65F5DB}"/>
              </a:ext>
            </a:extLst>
          </p:cNvPr>
          <p:cNvSpPr/>
          <p:nvPr/>
        </p:nvSpPr>
        <p:spPr>
          <a:xfrm>
            <a:off x="2225090" y="3445335"/>
            <a:ext cx="305117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Защита проектных работ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6298207-2573-9240-B60B-F5E23F446C25}"/>
              </a:ext>
            </a:extLst>
          </p:cNvPr>
          <p:cNvSpPr/>
          <p:nvPr/>
        </p:nvSpPr>
        <p:spPr>
          <a:xfrm>
            <a:off x="2225090" y="2922971"/>
            <a:ext cx="305117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Предзащита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9675E17-BE43-F34E-98F1-0CFEA89B0E2E}"/>
              </a:ext>
            </a:extLst>
          </p:cNvPr>
          <p:cNvSpPr/>
          <p:nvPr/>
        </p:nvSpPr>
        <p:spPr>
          <a:xfrm>
            <a:off x="2225090" y="2400609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Консультация по проектам и домашним заданиям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12C9734-FC8F-C24C-940E-4BD2B5FA68F3}"/>
              </a:ext>
            </a:extLst>
          </p:cNvPr>
          <p:cNvSpPr/>
          <p:nvPr/>
        </p:nvSpPr>
        <p:spPr>
          <a:xfrm>
            <a:off x="2225090" y="1857286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Выбор темы и организация проектной работы</a:t>
            </a:r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63630A9D-7233-354A-9488-10021EC04EFB}"/>
              </a:ext>
            </a:extLst>
          </p:cNvPr>
          <p:cNvCxnSpPr>
            <a:stCxn id="14" idx="2"/>
            <a:endCxn id="27" idx="1"/>
          </p:cNvCxnSpPr>
          <p:nvPr/>
        </p:nvCxnSpPr>
        <p:spPr>
          <a:xfrm rot="16200000" flipH="1">
            <a:off x="1843567" y="1673883"/>
            <a:ext cx="423742" cy="339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892DAF46-096B-324F-B3B3-A6787F8D1DFE}"/>
              </a:ext>
            </a:extLst>
          </p:cNvPr>
          <p:cNvCxnSpPr>
            <a:cxnSpLocks/>
            <a:stCxn id="14" idx="2"/>
            <a:endCxn id="26" idx="1"/>
          </p:cNvCxnSpPr>
          <p:nvPr/>
        </p:nvCxnSpPr>
        <p:spPr>
          <a:xfrm rot="16200000" flipH="1">
            <a:off x="1571906" y="1945544"/>
            <a:ext cx="967065" cy="339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0DED9A16-3DDE-E148-A5A8-8B84FD095158}"/>
              </a:ext>
            </a:extLst>
          </p:cNvPr>
          <p:cNvCxnSpPr>
            <a:cxnSpLocks/>
            <a:stCxn id="14" idx="2"/>
            <a:endCxn id="25" idx="1"/>
          </p:cNvCxnSpPr>
          <p:nvPr/>
        </p:nvCxnSpPr>
        <p:spPr>
          <a:xfrm rot="16200000" flipH="1">
            <a:off x="1310725" y="2206725"/>
            <a:ext cx="1489427" cy="339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29D8802E-3943-C54F-8F3F-8B24A3DD8DE1}"/>
              </a:ext>
            </a:extLst>
          </p:cNvPr>
          <p:cNvCxnSpPr>
            <a:cxnSpLocks/>
            <a:stCxn id="14" idx="2"/>
            <a:endCxn id="15" idx="1"/>
          </p:cNvCxnSpPr>
          <p:nvPr/>
        </p:nvCxnSpPr>
        <p:spPr>
          <a:xfrm rot="16200000" flipH="1">
            <a:off x="1049543" y="2467907"/>
            <a:ext cx="2011791" cy="339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48FFE73-08C7-6147-B60A-390BA5C5E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505594"/>
              </p:ext>
            </p:extLst>
          </p:nvPr>
        </p:nvGraphicFramePr>
        <p:xfrm>
          <a:off x="5355768" y="573874"/>
          <a:ext cx="2226910" cy="36576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19" name="object 20">
            <a:extLst>
              <a:ext uri="{FF2B5EF4-FFF2-40B4-BE49-F238E27FC236}">
                <a16:creationId xmlns:a16="http://schemas.microsoft.com/office/drawing/2014/main" id="{5896F02B-4619-7A4F-AAAF-3D4F56C28ED4}"/>
              </a:ext>
            </a:extLst>
          </p:cNvPr>
          <p:cNvSpPr txBox="1"/>
          <p:nvPr/>
        </p:nvSpPr>
        <p:spPr>
          <a:xfrm>
            <a:off x="1233721" y="2457616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23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en-US" sz="1400" dirty="0">
                <a:latin typeface="Calibri"/>
                <a:cs typeface="Calibri"/>
              </a:rPr>
              <a:t>12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B97EFCA8-BB17-0B45-AB96-2BA5EF114160}"/>
              </a:ext>
            </a:extLst>
          </p:cNvPr>
          <p:cNvSpPr txBox="1"/>
          <p:nvPr/>
        </p:nvSpPr>
        <p:spPr>
          <a:xfrm>
            <a:off x="1232426" y="2981499"/>
            <a:ext cx="6533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solidFill>
                  <a:schemeClr val="tx1"/>
                </a:solidFill>
                <a:latin typeface="Calibri"/>
                <a:cs typeface="Calibri"/>
              </a:rPr>
              <a:t>1</a:t>
            </a:r>
            <a:r>
              <a:rPr lang="en-US" sz="1400" dirty="0">
                <a:solidFill>
                  <a:schemeClr val="tx1"/>
                </a:solidFill>
                <a:latin typeface="Calibri"/>
                <a:cs typeface="Calibri"/>
              </a:rPr>
              <a:t>4</a:t>
            </a:r>
            <a:r>
              <a:rPr sz="1400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r>
              <a:rPr lang="en-US" sz="1400" dirty="0">
                <a:solidFill>
                  <a:schemeClr val="tx1"/>
                </a:solidFill>
                <a:latin typeface="Calibri"/>
                <a:cs typeface="Calibri"/>
              </a:rPr>
              <a:t>01 -</a:t>
            </a:r>
            <a:endParaRPr sz="14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34597" y="1504950"/>
            <a:ext cx="77238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Постановка</a:t>
            </a:r>
            <a:r>
              <a:rPr lang="en-US" sz="1400" b="0" dirty="0">
                <a:solidFill>
                  <a:srgbClr val="1E1F21"/>
                </a:solidFill>
              </a:rPr>
              <a:t> </a:t>
            </a:r>
            <a:r>
              <a:rPr lang="ru-RU" sz="1400" b="0" dirty="0">
                <a:solidFill>
                  <a:srgbClr val="1E1F21"/>
                </a:solidFill>
              </a:rPr>
              <a:t>задачи;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Описание среды;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Выбор алгоритма;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Графики прогресса обучения;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Полученные результаты;</a:t>
            </a:r>
            <a:endParaRPr lang="en-US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Что планировалось на этапе выбора проекта и что получилось. Причины отклонений.</a:t>
            </a: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Защита проекта - презентация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8050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34597" y="1504950"/>
            <a:ext cx="77238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Используйте облачные технологии – даже бесплатный </a:t>
            </a:r>
            <a:r>
              <a:rPr lang="en-US" sz="1400" b="0" dirty="0">
                <a:solidFill>
                  <a:srgbClr val="1E1F21"/>
                </a:solidFill>
              </a:rPr>
              <a:t>google </a:t>
            </a:r>
            <a:r>
              <a:rPr lang="en-US" sz="1400" b="0" dirty="0" err="1">
                <a:solidFill>
                  <a:srgbClr val="1E1F21"/>
                </a:solidFill>
              </a:rPr>
              <a:t>colab</a:t>
            </a:r>
            <a:r>
              <a:rPr lang="en-US" sz="1400" b="0" dirty="0">
                <a:solidFill>
                  <a:srgbClr val="1E1F21"/>
                </a:solidFill>
              </a:rPr>
              <a:t> </a:t>
            </a:r>
            <a:r>
              <a:rPr lang="ru-RU" sz="1400" b="0" dirty="0">
                <a:solidFill>
                  <a:srgbClr val="1E1F21"/>
                </a:solidFill>
              </a:rPr>
              <a:t>позволяет учить модели эффективнее, чем личный ноутбук.</a:t>
            </a:r>
          </a:p>
          <a:p>
            <a:pPr marL="457200" indent="-342900" algn="l" rtl="0">
              <a:lnSpc>
                <a:spcPct val="115000"/>
              </a:lnSpc>
              <a:spcAft>
                <a:spcPts val="600"/>
              </a:spcAft>
              <a:buClr>
                <a:srgbClr val="FF7700"/>
              </a:buClr>
              <a:buSzPts val="1800"/>
              <a:buFontTx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Помните про </a:t>
            </a:r>
            <a:r>
              <a:rPr lang="en-US" sz="1400" b="0" dirty="0">
                <a:solidFill>
                  <a:srgbClr val="1E1F21"/>
                </a:solidFill>
              </a:rPr>
              <a:t>AGILE. </a:t>
            </a:r>
            <a:r>
              <a:rPr lang="ru-RU" sz="1400" b="0" dirty="0">
                <a:solidFill>
                  <a:srgbClr val="1E1F21"/>
                </a:solidFill>
              </a:rPr>
              <a:t>Начните с </a:t>
            </a:r>
            <a:r>
              <a:rPr lang="en-US" sz="1400" b="0" dirty="0">
                <a:solidFill>
                  <a:srgbClr val="1E1F21"/>
                </a:solidFill>
              </a:rPr>
              <a:t>MVP </a:t>
            </a:r>
            <a:r>
              <a:rPr lang="ru-RU" sz="1400" b="0" dirty="0">
                <a:solidFill>
                  <a:srgbClr val="1E1F21"/>
                </a:solidFill>
              </a:rPr>
              <a:t>и наращивайте функциональность.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Все решения оформляйте в репозитории. 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Для каждого этапа открывайте ветку, добивайтесь стабильной работы и потом сливайте ее в основную ветку. Формируйте метки релизов для каждого этапа.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endParaRPr lang="ru-RU" sz="1400" b="0" dirty="0">
              <a:solidFill>
                <a:srgbClr val="1E1F21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Курсовой проект - рекомендации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9581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9274" y="873252"/>
            <a:ext cx="706818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 err="1">
                <a:latin typeface="Trebuchet MS"/>
                <a:cs typeface="Trebuchet MS"/>
              </a:rPr>
              <a:t>Приходите</a:t>
            </a:r>
            <a:r>
              <a:rPr sz="3200" b="1" spc="-190" dirty="0">
                <a:latin typeface="Trebuchet MS"/>
                <a:cs typeface="Trebuchet MS"/>
              </a:rPr>
              <a:t> </a:t>
            </a:r>
            <a:r>
              <a:rPr lang="ru-RU" sz="3200" b="1" spc="-20" dirty="0">
                <a:latin typeface="Trebuchet MS"/>
                <a:cs typeface="Trebuchet MS"/>
              </a:rPr>
              <a:t>на</a:t>
            </a:r>
            <a:r>
              <a:rPr sz="3200" b="1" spc="-180" dirty="0">
                <a:latin typeface="Trebuchet MS"/>
                <a:cs typeface="Trebuchet MS"/>
              </a:rPr>
              <a:t> </a:t>
            </a:r>
            <a:r>
              <a:rPr lang="ru-RU" sz="3200" b="1" spc="-30" dirty="0">
                <a:latin typeface="Trebuchet MS"/>
                <a:cs typeface="Trebuchet MS"/>
              </a:rPr>
              <a:t>защиту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9274" y="522223"/>
            <a:ext cx="2023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0" dirty="0">
                <a:solidFill>
                  <a:srgbClr val="FF9900"/>
                </a:solidFill>
                <a:latin typeface="Trebuchet MS"/>
                <a:cs typeface="Trebuchet MS"/>
              </a:rPr>
              <a:t>Спасибо</a:t>
            </a:r>
            <a:r>
              <a:rPr sz="1500" b="0" spc="20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0" spc="55" dirty="0">
                <a:solidFill>
                  <a:srgbClr val="FF9900"/>
                </a:solidFill>
                <a:latin typeface="Trebuchet MS"/>
                <a:cs typeface="Trebuchet MS"/>
              </a:rPr>
              <a:t>за</a:t>
            </a:r>
            <a:r>
              <a:rPr sz="1500" b="0" spc="3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0" spc="-10" dirty="0">
                <a:solidFill>
                  <a:srgbClr val="FF9900"/>
                </a:solidFill>
                <a:latin typeface="Trebuchet MS"/>
                <a:cs typeface="Trebuchet MS"/>
              </a:rPr>
              <a:t>внимание!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6551" y="2703050"/>
            <a:ext cx="2115820" cy="2439035"/>
            <a:chOff x="606551" y="2703050"/>
            <a:chExt cx="2115820" cy="2439035"/>
          </a:xfrm>
        </p:grpSpPr>
        <p:sp>
          <p:nvSpPr>
            <p:cNvPr id="5" name="object 5"/>
            <p:cNvSpPr/>
            <p:nvPr/>
          </p:nvSpPr>
          <p:spPr>
            <a:xfrm>
              <a:off x="629999" y="2703050"/>
              <a:ext cx="1034415" cy="1983739"/>
            </a:xfrm>
            <a:custGeom>
              <a:avLst/>
              <a:gdLst/>
              <a:ahLst/>
              <a:cxnLst/>
              <a:rect l="l" t="t" r="r" b="b"/>
              <a:pathLst>
                <a:path w="1034414" h="1983739">
                  <a:moveTo>
                    <a:pt x="1033800" y="0"/>
                  </a:moveTo>
                  <a:lnTo>
                    <a:pt x="0" y="0"/>
                  </a:lnTo>
                  <a:lnTo>
                    <a:pt x="0" y="1983599"/>
                  </a:lnTo>
                  <a:lnTo>
                    <a:pt x="1033800" y="1983599"/>
                  </a:lnTo>
                  <a:lnTo>
                    <a:pt x="10338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51" y="2846831"/>
              <a:ext cx="2115312" cy="2295144"/>
            </a:xfrm>
            <a:prstGeom prst="rect">
              <a:avLst/>
            </a:prstGeom>
          </p:spPr>
        </p:pic>
      </p:grpSp>
      <p:sp>
        <p:nvSpPr>
          <p:cNvPr id="10" name="Google Shape;208;p48">
            <a:extLst>
              <a:ext uri="{FF2B5EF4-FFF2-40B4-BE49-F238E27FC236}">
                <a16:creationId xmlns:a16="http://schemas.microsoft.com/office/drawing/2014/main" id="{F45B4F46-1E82-E94D-A2CF-50DA3C5B7EC6}"/>
              </a:ext>
            </a:extLst>
          </p:cNvPr>
          <p:cNvSpPr txBox="1">
            <a:spLocks/>
          </p:cNvSpPr>
          <p:nvPr/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ru-RU" b="1" dirty="0"/>
              <a:t>Игорь Стурейко</a:t>
            </a:r>
          </a:p>
        </p:txBody>
      </p:sp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D033A29A-5C61-8440-A7AA-1A792E6BB82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3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</TotalTime>
  <Words>446</Words>
  <Application>Microsoft Macintosh PowerPoint</Application>
  <PresentationFormat>On-screen Show (16:9)</PresentationFormat>
  <Paragraphs>113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AkayaTelivigala</vt:lpstr>
      <vt:lpstr>Arial</vt:lpstr>
      <vt:lpstr>Bradley Hand</vt:lpstr>
      <vt:lpstr>Calibri</vt:lpstr>
      <vt:lpstr>Google Sans</vt:lpstr>
      <vt:lpstr>Roboto</vt:lpstr>
      <vt:lpstr>Trebuchet MS</vt:lpstr>
      <vt:lpstr>Office Theme</vt:lpstr>
      <vt:lpstr>Reinforcement learning Course project</vt:lpstr>
      <vt:lpstr>Проверить, идет ли запись</vt:lpstr>
      <vt:lpstr>Правила вебинара</vt:lpstr>
      <vt:lpstr>Reinforcement learning Course project</vt:lpstr>
      <vt:lpstr>Карта курса</vt:lpstr>
      <vt:lpstr>Что должно быть в проекте</vt:lpstr>
      <vt:lpstr>Программа</vt:lpstr>
      <vt:lpstr>Защита проекта - презентация</vt:lpstr>
      <vt:lpstr>Курсовой проект - рекомендации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Ops</dc:title>
  <cp:lastModifiedBy>Стурейко Игорь Олегович</cp:lastModifiedBy>
  <cp:revision>17</cp:revision>
  <dcterms:created xsi:type="dcterms:W3CDTF">2024-07-23T07:20:56Z</dcterms:created>
  <dcterms:modified xsi:type="dcterms:W3CDTF">2024-12-23T16:43:51Z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2024-05-22T00:00:00Z</vt:filetime>
  </property>
  <property fmtid="{D5CDD505-2E9C-101B-9397-08002B2CF9AE}" pid="3" name="LastSaved">
    <vt:filetime>2024-07-23T00:00:00Z</vt:filetime>
  </property>
  <property fmtid="{D5CDD505-2E9C-101B-9397-08002B2CF9AE}" pid="4" name="Producer">
    <vt:lpwstr>macOS Version 14.2.1 (Build 23C71) Quartz PDFContext</vt:lpwstr>
  </property>
</Properties>
</file>