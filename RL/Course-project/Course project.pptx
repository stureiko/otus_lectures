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media/image18.jpg" ContentType="image/jpeg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media/image19.jpg" ContentType="image/jpeg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317" r:id="rId3"/>
    <p:sldId id="259" r:id="rId4"/>
    <p:sldId id="404" r:id="rId5"/>
    <p:sldId id="268" r:id="rId6"/>
    <p:sldId id="405" r:id="rId7"/>
    <p:sldId id="260" r:id="rId8"/>
    <p:sldId id="261" r:id="rId9"/>
    <p:sldId id="313" r:id="rId10"/>
    <p:sldId id="314" r:id="rId11"/>
    <p:sldId id="301" r:id="rId12"/>
    <p:sldId id="315" r:id="rId13"/>
    <p:sldId id="316" r:id="rId14"/>
    <p:sldId id="304" r:id="rId15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846"/>
    <p:restoredTop sz="97030"/>
  </p:normalViewPr>
  <p:slideViewPr>
    <p:cSldViewPr>
      <p:cViewPr varScale="1">
        <p:scale>
          <a:sx n="359" d="100"/>
          <a:sy n="359" d="100"/>
        </p:scale>
        <p:origin x="1128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5/23/25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5129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5/23/25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5/23/25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5/23/25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5/23/25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dirty="0"/>
              <a:t>Course project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br>
              <a:rPr lang="en-US" dirty="0"/>
            </a:br>
            <a:r>
              <a:rPr lang="en-US" sz="2400" dirty="0"/>
              <a:t>Course project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ABBDF15B-866B-E64C-AF21-19F358C4E05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9538" indent="-13795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</a:t>
            </a:r>
            <a:r>
              <a:rPr lang="ru-RU" sz="1150" b="1" dirty="0"/>
              <a:t>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15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 в НИИ ПАО Газпром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3"/>
              </a:rPr>
              <a:t>igor-stureiko</a:t>
            </a:r>
            <a:r>
              <a:rPr lang="en-US" sz="1150" dirty="0"/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/>
              <a:t>@</a:t>
            </a:r>
            <a:r>
              <a:rPr lang="en-US" sz="1200" b="1" dirty="0" err="1"/>
              <a:t>rl_fintech</a:t>
            </a:r>
            <a:r>
              <a:rPr lang="ru-RU" sz="1200" b="1" dirty="0"/>
              <a:t> </a:t>
            </a:r>
            <a:r>
              <a:rPr lang="ru-RU" sz="1200" dirty="0"/>
              <a:t>(Мой канал посвященный финансовым моделям)</a:t>
            </a:r>
            <a:endParaRPr sz="1200" dirty="0"/>
          </a:p>
        </p:txBody>
      </p:sp>
      <p:grpSp>
        <p:nvGrpSpPr>
          <p:cNvPr id="8" name="object 4">
            <a:extLst>
              <a:ext uri="{FF2B5EF4-FFF2-40B4-BE49-F238E27FC236}">
                <a16:creationId xmlns:a16="http://schemas.microsoft.com/office/drawing/2014/main" id="{5FB241E0-F341-2D41-BAEF-2356ACCC2AE6}"/>
              </a:ext>
            </a:extLst>
          </p:cNvPr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9" name="object 5">
              <a:extLst>
                <a:ext uri="{FF2B5EF4-FFF2-40B4-BE49-F238E27FC236}">
                  <a16:creationId xmlns:a16="http://schemas.microsoft.com/office/drawing/2014/main" id="{A28AFFA3-12F1-9041-95E0-BC0FB0458F12}"/>
                </a:ext>
              </a:extLst>
            </p:cNvPr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6">
              <a:extLst>
                <a:ext uri="{FF2B5EF4-FFF2-40B4-BE49-F238E27FC236}">
                  <a16:creationId xmlns:a16="http://schemas.microsoft.com/office/drawing/2014/main" id="{DD64BE99-88DD-9742-BA44-436464CD281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Карта курса</a:t>
            </a:r>
            <a:endParaRPr/>
          </a:p>
        </p:txBody>
      </p:sp>
      <p:sp>
        <p:nvSpPr>
          <p:cNvPr id="271" name="Google Shape;271;p44"/>
          <p:cNvSpPr/>
          <p:nvPr/>
        </p:nvSpPr>
        <p:spPr>
          <a:xfrm>
            <a:off x="5805200" y="627325"/>
            <a:ext cx="3034000" cy="57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Введение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2" name="Google Shape;272;p44"/>
          <p:cNvSpPr/>
          <p:nvPr/>
        </p:nvSpPr>
        <p:spPr>
          <a:xfrm>
            <a:off x="1073088" y="1847675"/>
            <a:ext cx="24732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Deep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3" name="Google Shape;273;p44"/>
          <p:cNvSpPr/>
          <p:nvPr/>
        </p:nvSpPr>
        <p:spPr>
          <a:xfrm>
            <a:off x="4491135" y="1847803"/>
            <a:ext cx="2917948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Advanced </a:t>
            </a:r>
            <a:br>
              <a:rPr lang="ru-RU" sz="1600">
                <a:solidFill>
                  <a:srgbClr val="1F1F1F"/>
                </a:solidFill>
                <a:latin typeface="Google Sans"/>
                <a:sym typeface="Roboto"/>
              </a:rPr>
            </a:b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Reinforcement Learning</a:t>
            </a:r>
          </a:p>
        </p:txBody>
      </p:sp>
      <p:sp>
        <p:nvSpPr>
          <p:cNvPr id="274" name="Google Shape;274;p44"/>
          <p:cNvSpPr/>
          <p:nvPr/>
        </p:nvSpPr>
        <p:spPr>
          <a:xfrm>
            <a:off x="4140833" y="3254170"/>
            <a:ext cx="29706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Reinforcement Learning в реальных задачах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6" name="Google Shape;276;p44"/>
          <p:cNvCxnSpPr>
            <a:cxnSpLocks/>
            <a:stCxn id="272" idx="3"/>
            <a:endCxn id="273" idx="1"/>
          </p:cNvCxnSpPr>
          <p:nvPr/>
        </p:nvCxnSpPr>
        <p:spPr>
          <a:xfrm>
            <a:off x="3546288" y="2137325"/>
            <a:ext cx="944847" cy="128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44"/>
          <p:cNvCxnSpPr>
            <a:cxnSpLocks/>
            <a:stCxn id="271" idx="1"/>
            <a:endCxn id="272" idx="0"/>
          </p:cNvCxnSpPr>
          <p:nvPr/>
        </p:nvCxnSpPr>
        <p:spPr>
          <a:xfrm rot="10800000" flipV="1">
            <a:off x="2309688" y="915325"/>
            <a:ext cx="3495512" cy="93235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8" name="Google Shape;278;p44"/>
          <p:cNvSpPr/>
          <p:nvPr/>
        </p:nvSpPr>
        <p:spPr>
          <a:xfrm>
            <a:off x="767838" y="4137347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9" name="Google Shape;279;p44"/>
          <p:cNvCxnSpPr>
            <a:cxnSpLocks/>
            <a:stCxn id="273" idx="3"/>
            <a:endCxn id="274" idx="3"/>
          </p:cNvCxnSpPr>
          <p:nvPr/>
        </p:nvCxnSpPr>
        <p:spPr>
          <a:xfrm flipH="1">
            <a:off x="7111433" y="2137453"/>
            <a:ext cx="297650" cy="1406367"/>
          </a:xfrm>
          <a:prstGeom prst="curvedConnector3">
            <a:avLst>
              <a:gd name="adj1" fmla="val -76802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44"/>
          <p:cNvCxnSpPr>
            <a:cxnSpLocks/>
            <a:stCxn id="274" idx="1"/>
            <a:endCxn id="278" idx="0"/>
          </p:cNvCxnSpPr>
          <p:nvPr/>
        </p:nvCxnSpPr>
        <p:spPr>
          <a:xfrm rot="10800000" flipV="1">
            <a:off x="2309689" y="3543819"/>
            <a:ext cx="1831145" cy="593527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CCDE05CC-2BC0-2242-878F-9266DBB0C310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820139" y="128322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CD39ED7-986F-C44F-AB9B-9B7D2D7A7297}"/>
              </a:ext>
            </a:extLst>
          </p:cNvPr>
          <p:cNvSpPr txBox="1"/>
          <p:nvPr/>
        </p:nvSpPr>
        <p:spPr>
          <a:xfrm>
            <a:off x="8000141" y="125700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5" name="Google Shape;530;p82">
            <a:extLst>
              <a:ext uri="{FF2B5EF4-FFF2-40B4-BE49-F238E27FC236}">
                <a16:creationId xmlns:a16="http://schemas.microsoft.com/office/drawing/2014/main" id="{F8762030-AB6E-EA48-94AA-05667E56E0B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46444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EE8DB15-D7EB-AF4A-AF42-E23E858A9200}"/>
              </a:ext>
            </a:extLst>
          </p:cNvPr>
          <p:cNvSpPr txBox="1"/>
          <p:nvPr/>
        </p:nvSpPr>
        <p:spPr>
          <a:xfrm>
            <a:off x="2826219" y="243822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9B0FF9F4-BD74-6D4A-84F0-EEE42E67D71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685179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B8E2FDB-CC58-2148-AEE8-60319C2CDB06}"/>
              </a:ext>
            </a:extLst>
          </p:cNvPr>
          <p:cNvSpPr txBox="1"/>
          <p:nvPr/>
        </p:nvSpPr>
        <p:spPr>
          <a:xfrm>
            <a:off x="2826219" y="2658957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9" name="Google Shape;530;p82">
            <a:extLst>
              <a:ext uri="{FF2B5EF4-FFF2-40B4-BE49-F238E27FC236}">
                <a16:creationId xmlns:a16="http://schemas.microsoft.com/office/drawing/2014/main" id="{B93C8975-AB14-2B4C-ABCD-AAE0570C29D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71396" y="2468443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3C42D55-1755-C841-9C69-D39873572F99}"/>
              </a:ext>
            </a:extLst>
          </p:cNvPr>
          <p:cNvSpPr txBox="1"/>
          <p:nvPr/>
        </p:nvSpPr>
        <p:spPr>
          <a:xfrm>
            <a:off x="6751398" y="2442221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Advanced Reinforcement Learning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698087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использованием модели среды (</a:t>
            </a: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model-based </a:t>
            </a:r>
            <a:r>
              <a:rPr lang="en-US" sz="1600" dirty="0" err="1">
                <a:solidFill>
                  <a:srgbClr val="1F1F1F"/>
                </a:solidFill>
                <a:latin typeface="Google Sans"/>
                <a:sym typeface="Roboto"/>
              </a:rPr>
              <a:t>rl</a:t>
            </a: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)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40188"/>
            <a:ext cx="5698087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Model-based,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часть 2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88368"/>
            <a:ext cx="5698087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Иерархическое обучение с подкреплением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2" y="3536548"/>
            <a:ext cx="5698087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Выбор темы и организация проектной работы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539514" y="1950988"/>
            <a:ext cx="95446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cxnSpLocks/>
            <a:stCxn id="271" idx="2"/>
            <a:endCxn id="15" idx="1"/>
          </p:cNvCxnSpPr>
          <p:nvPr/>
        </p:nvCxnSpPr>
        <p:spPr>
          <a:xfrm rot="16200000" flipH="1">
            <a:off x="1265424" y="2225078"/>
            <a:ext cx="150264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991334" y="2499169"/>
            <a:ext cx="2050829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680624"/>
              </p:ext>
            </p:extLst>
          </p:nvPr>
        </p:nvGraphicFramePr>
        <p:xfrm>
          <a:off x="5355768" y="573874"/>
          <a:ext cx="2226910" cy="36576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25" name="Google Shape;271;p44">
            <a:extLst>
              <a:ext uri="{FF2B5EF4-FFF2-40B4-BE49-F238E27FC236}">
                <a16:creationId xmlns:a16="http://schemas.microsoft.com/office/drawing/2014/main" id="{6AAFEF18-6AF7-D742-BED8-1EE0FB9F9DFF}"/>
              </a:ext>
            </a:extLst>
          </p:cNvPr>
          <p:cNvSpPr/>
          <p:nvPr/>
        </p:nvSpPr>
        <p:spPr>
          <a:xfrm>
            <a:off x="2226711" y="4084728"/>
            <a:ext cx="5698087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 err="1">
                <a:solidFill>
                  <a:srgbClr val="1F1F1F"/>
                </a:solidFill>
                <a:latin typeface="Google Sans"/>
                <a:sym typeface="Roboto"/>
              </a:rPr>
              <a:t>Многоагентное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 обучение и кооперация агентов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87453B9F-3AC2-D04F-AE18-4F58FD4BFF65}"/>
              </a:ext>
            </a:extLst>
          </p:cNvPr>
          <p:cNvCxnSpPr>
            <a:cxnSpLocks/>
            <a:stCxn id="271" idx="2"/>
            <a:endCxn id="25" idx="1"/>
          </p:cNvCxnSpPr>
          <p:nvPr/>
        </p:nvCxnSpPr>
        <p:spPr>
          <a:xfrm rot="16200000" flipH="1">
            <a:off x="717243" y="2773259"/>
            <a:ext cx="2599009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DFE4BD41-9927-E140-AC4F-48E39676A188}"/>
              </a:ext>
            </a:extLst>
          </p:cNvPr>
          <p:cNvSpPr/>
          <p:nvPr/>
        </p:nvSpPr>
        <p:spPr>
          <a:xfrm>
            <a:off x="2226710" y="4632908"/>
            <a:ext cx="5698087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Decision transformers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588923E-D2E7-FB40-8553-A8CD8BDE147A}"/>
              </a:ext>
            </a:extLst>
          </p:cNvPr>
          <p:cNvCxnSpPr>
            <a:cxnSpLocks/>
            <a:stCxn id="271" idx="2"/>
            <a:endCxn id="17" idx="1"/>
          </p:cNvCxnSpPr>
          <p:nvPr/>
        </p:nvCxnSpPr>
        <p:spPr>
          <a:xfrm rot="16200000" flipH="1">
            <a:off x="443153" y="3047350"/>
            <a:ext cx="3147189" cy="41992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13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</a:t>
            </a:r>
            <a:r>
              <a:rPr lang="ru-RU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напуствие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D9CA1A-DD74-9F4E-8CE8-F20F5098D2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800" y="1809750"/>
            <a:ext cx="4238012" cy="254280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5837" y="12001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sz="1800" dirty="0">
              <a:solidFill>
                <a:srgbClr val="1E1F21"/>
              </a:solidFill>
            </a:endParaRPr>
          </a:p>
          <a:p>
            <a:pPr marL="114300" lvl="0" algn="r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endParaRPr lang="en-US" sz="1800" dirty="0">
              <a:solidFill>
                <a:srgbClr val="1E1F21"/>
              </a:solidFill>
            </a:endParaRPr>
          </a:p>
          <a:p>
            <a:pPr marL="114300" lvl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</a:t>
            </a:r>
            <a:br>
              <a:rPr lang="en-US" sz="1800" dirty="0">
                <a:solidFill>
                  <a:srgbClr val="1E1F21"/>
                </a:solidFill>
              </a:rPr>
            </a:br>
            <a:r>
              <a:rPr lang="ru" sz="1800" dirty="0">
                <a:solidFill>
                  <a:srgbClr val="1E1F21"/>
                </a:solidFill>
              </a:rPr>
              <a:t>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2DE358-A5F5-3942-ADDE-A90DFC363F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2166877"/>
            <a:ext cx="2641744" cy="13257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74AD93-E7B9-8048-B3D1-0E5F2356AD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666750"/>
            <a:ext cx="2316681" cy="1544454"/>
          </a:xfrm>
          <a:prstGeom prst="rect">
            <a:avLst/>
          </a:prstGeom>
        </p:spPr>
      </p:pic>
      <p:pic>
        <p:nvPicPr>
          <p:cNvPr id="1026" name="Picture 2" descr="How to find data science talent on Kaggle">
            <a:extLst>
              <a:ext uri="{FF2B5EF4-FFF2-40B4-BE49-F238E27FC236}">
                <a16:creationId xmlns:a16="http://schemas.microsoft.com/office/drawing/2014/main" id="{4548062E-BE80-8D45-AD3F-2D149240E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2127" y="3333750"/>
            <a:ext cx="2486025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 </a:t>
            </a:r>
            <a:r>
              <a:rPr lang="en-US" sz="1400" b="0" dirty="0">
                <a:solidFill>
                  <a:srgbClr val="1E1F21"/>
                </a:solidFill>
              </a:rPr>
              <a:t>ML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Формирование среды;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Обоснование выбора алгоритма;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Прогресс обучения;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Полученные результаты;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презентация + 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6463" y="2943932"/>
            <a:ext cx="2989202" cy="1992801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1233721" y="19217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23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ru-RU" sz="1400" dirty="0">
                <a:latin typeface="Calibri"/>
                <a:cs typeface="Calibri"/>
              </a:rPr>
              <a:t>05</a:t>
            </a:r>
            <a:r>
              <a:rPr sz="1400" spc="-40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27882" y="4024318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21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0</a:t>
            </a:r>
            <a:r>
              <a:rPr lang="ru-RU" sz="1400" dirty="0">
                <a:latin typeface="Calibri"/>
                <a:cs typeface="Calibri"/>
              </a:rPr>
              <a:t>7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940332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90" y="3425784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90" y="2400609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по проектам и домашним заданиям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90" y="1857286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Выбор темы и организация проектной работы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843567" y="1673883"/>
            <a:ext cx="423742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571906" y="1945544"/>
            <a:ext cx="967065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059318" y="2458132"/>
            <a:ext cx="1992240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802044" y="2715406"/>
            <a:ext cx="2506788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548FFE73-08C7-6147-B60A-390BA5C5E5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6505594"/>
              </p:ext>
            </p:extLst>
          </p:nvPr>
        </p:nvGraphicFramePr>
        <p:xfrm>
          <a:off x="5355768" y="573874"/>
          <a:ext cx="2226910" cy="36576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19" name="object 22">
            <a:extLst>
              <a:ext uri="{FF2B5EF4-FFF2-40B4-BE49-F238E27FC236}">
                <a16:creationId xmlns:a16="http://schemas.microsoft.com/office/drawing/2014/main" id="{EF229706-DE66-8E47-8018-514387F4B921}"/>
              </a:ext>
            </a:extLst>
          </p:cNvPr>
          <p:cNvSpPr txBox="1"/>
          <p:nvPr/>
        </p:nvSpPr>
        <p:spPr>
          <a:xfrm>
            <a:off x="1233722" y="2973886"/>
            <a:ext cx="511866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lang="ru-RU" sz="1400" spc="-50" dirty="0">
                <a:solidFill>
                  <a:srgbClr val="FF0000"/>
                </a:solidFill>
                <a:latin typeface="Calibri"/>
                <a:cs typeface="Calibri"/>
              </a:rPr>
              <a:t>09.07 ?</a:t>
            </a:r>
            <a:endParaRPr sz="14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1" name="object 22">
            <a:extLst>
              <a:ext uri="{FF2B5EF4-FFF2-40B4-BE49-F238E27FC236}">
                <a16:creationId xmlns:a16="http://schemas.microsoft.com/office/drawing/2014/main" id="{EF2DA713-AEF4-954B-8B47-5E276B7667F1}"/>
              </a:ext>
            </a:extLst>
          </p:cNvPr>
          <p:cNvSpPr txBox="1"/>
          <p:nvPr/>
        </p:nvSpPr>
        <p:spPr>
          <a:xfrm>
            <a:off x="1227882" y="2477676"/>
            <a:ext cx="595079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solidFill>
                  <a:srgbClr val="FF0000"/>
                </a:solidFill>
                <a:latin typeface="Calibri"/>
                <a:cs typeface="Calibri"/>
              </a:rPr>
              <a:t>02</a:t>
            </a:r>
            <a:r>
              <a:rPr sz="1400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lang="en-US" sz="1400" dirty="0">
                <a:solidFill>
                  <a:srgbClr val="FF0000"/>
                </a:solidFill>
                <a:latin typeface="Calibri"/>
                <a:cs typeface="Calibri"/>
              </a:rPr>
              <a:t>0</a:t>
            </a:r>
            <a:r>
              <a:rPr lang="ru-RU" sz="1400" dirty="0">
                <a:solidFill>
                  <a:srgbClr val="FF0000"/>
                </a:solidFill>
                <a:latin typeface="Calibri"/>
                <a:cs typeface="Calibri"/>
              </a:rPr>
              <a:t>7</a:t>
            </a:r>
            <a:r>
              <a:rPr sz="1400" spc="-3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ru-RU" sz="1400" spc="-50" dirty="0">
                <a:solidFill>
                  <a:srgbClr val="FF0000"/>
                </a:solidFill>
                <a:latin typeface="Calibri"/>
                <a:cs typeface="Calibri"/>
              </a:rPr>
              <a:t>?</a:t>
            </a:r>
            <a:endParaRPr sz="14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65A0849-BB03-E046-8A1C-FF655C8D321D}"/>
              </a:ext>
            </a:extLst>
          </p:cNvPr>
          <p:cNvSpPr/>
          <p:nvPr/>
        </p:nvSpPr>
        <p:spPr>
          <a:xfrm>
            <a:off x="2225089" y="2911236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Предзащита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0" name="object 22">
            <a:extLst>
              <a:ext uri="{FF2B5EF4-FFF2-40B4-BE49-F238E27FC236}">
                <a16:creationId xmlns:a16="http://schemas.microsoft.com/office/drawing/2014/main" id="{AF011DD3-9B99-C64A-8471-D77E4A53FB4F}"/>
              </a:ext>
            </a:extLst>
          </p:cNvPr>
          <p:cNvSpPr txBox="1"/>
          <p:nvPr/>
        </p:nvSpPr>
        <p:spPr>
          <a:xfrm>
            <a:off x="1227882" y="3504400"/>
            <a:ext cx="511866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0"/>
              </a:spcBef>
            </a:pPr>
            <a:r>
              <a:rPr lang="ru-RU" sz="1400" spc="-50" dirty="0">
                <a:solidFill>
                  <a:srgbClr val="FF0000"/>
                </a:solidFill>
                <a:latin typeface="Calibri"/>
                <a:cs typeface="Calibri"/>
              </a:rPr>
              <a:t>17.07 ?</a:t>
            </a:r>
            <a:endParaRPr sz="1400" dirty="0">
              <a:solidFill>
                <a:srgbClr val="FF0000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Описание среды;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Выбор алгоритма;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Графики прогресса обучения;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Полученные результаты;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 – даже бесплатный </a:t>
            </a:r>
            <a:r>
              <a:rPr lang="en-US" sz="1400" b="0" dirty="0">
                <a:solidFill>
                  <a:srgbClr val="1E1F21"/>
                </a:solidFill>
              </a:rPr>
              <a:t>google </a:t>
            </a:r>
            <a:r>
              <a:rPr lang="en-US" sz="1400" b="0" dirty="0" err="1">
                <a:solidFill>
                  <a:srgbClr val="1E1F21"/>
                </a:solidFill>
              </a:rPr>
              <a:t>colab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позволяет учить модели эффективнее, чем личный ноутбук.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этапа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endParaRPr lang="ru-RU"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50" dirty="0">
                <a:latin typeface="Trebuchet MS"/>
                <a:cs typeface="Trebuchet MS"/>
              </a:rPr>
              <a:t>Приходите</a:t>
            </a:r>
            <a:r>
              <a:rPr sz="3200" b="1" spc="-190" dirty="0">
                <a:latin typeface="Trebuchet MS"/>
                <a:cs typeface="Trebuchet MS"/>
              </a:rPr>
              <a:t> </a:t>
            </a:r>
            <a:r>
              <a:rPr sz="3200" b="1" spc="-20" dirty="0">
                <a:latin typeface="Trebuchet MS"/>
                <a:cs typeface="Trebuchet MS"/>
              </a:rPr>
              <a:t>на</a:t>
            </a:r>
            <a:r>
              <a:rPr sz="3200" b="1" spc="-180" dirty="0">
                <a:latin typeface="Trebuchet MS"/>
                <a:cs typeface="Trebuchet MS"/>
              </a:rPr>
              <a:t> </a:t>
            </a:r>
            <a:r>
              <a:rPr sz="3200" b="1" spc="-30" dirty="0" err="1">
                <a:latin typeface="Trebuchet MS"/>
                <a:cs typeface="Trebuchet MS"/>
              </a:rPr>
              <a:t>следующие</a:t>
            </a:r>
            <a:r>
              <a:rPr sz="3200" b="1" spc="-185" dirty="0">
                <a:latin typeface="Trebuchet MS"/>
                <a:cs typeface="Trebuchet MS"/>
              </a:rPr>
              <a:t> </a:t>
            </a:r>
            <a:r>
              <a:rPr sz="3200" b="1" spc="-10" dirty="0">
                <a:latin typeface="Trebuchet MS"/>
                <a:cs typeface="Trebuchet MS"/>
              </a:rPr>
              <a:t>вебинары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377</TotalTime>
  <Words>551</Words>
  <Application>Microsoft Macintosh PowerPoint</Application>
  <PresentationFormat>On-screen Show (16:9)</PresentationFormat>
  <Paragraphs>146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AkayaTelivigala</vt:lpstr>
      <vt:lpstr>Arial</vt:lpstr>
      <vt:lpstr>Bradley Hand</vt:lpstr>
      <vt:lpstr>Calibri</vt:lpstr>
      <vt:lpstr>Google Sans</vt:lpstr>
      <vt:lpstr>Roboto</vt:lpstr>
      <vt:lpstr>Trebuchet MS</vt:lpstr>
      <vt:lpstr>Office Theme</vt:lpstr>
      <vt:lpstr>Reinforcement learning Course project</vt:lpstr>
      <vt:lpstr>Проверить, идет ли запись</vt:lpstr>
      <vt:lpstr>Правила вебинара</vt:lpstr>
      <vt:lpstr>Reinforcement learning Course project</vt:lpstr>
      <vt:lpstr>Карта курса</vt:lpstr>
      <vt:lpstr>Программа курса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15</cp:revision>
  <dcterms:created xsi:type="dcterms:W3CDTF">2024-07-23T07:20:56Z</dcterms:created>
  <dcterms:modified xsi:type="dcterms:W3CDTF">2025-05-23T16:24:04Z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