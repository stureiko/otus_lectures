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8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9.jpg" ContentType="image/jpe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17" r:id="rId3"/>
    <p:sldId id="259" r:id="rId4"/>
    <p:sldId id="404" r:id="rId5"/>
    <p:sldId id="268" r:id="rId6"/>
    <p:sldId id="405" r:id="rId7"/>
    <p:sldId id="260" r:id="rId8"/>
    <p:sldId id="261" r:id="rId9"/>
    <p:sldId id="313" r:id="rId10"/>
    <p:sldId id="314" r:id="rId11"/>
    <p:sldId id="301" r:id="rId12"/>
    <p:sldId id="315" r:id="rId13"/>
    <p:sldId id="316" r:id="rId14"/>
    <p:sldId id="304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02"/>
    <p:restoredTop sz="97030"/>
  </p:normalViewPr>
  <p:slideViewPr>
    <p:cSldViewPr>
      <p:cViewPr varScale="1">
        <p:scale>
          <a:sx n="165" d="100"/>
          <a:sy n="165" d="100"/>
        </p:scale>
        <p:origin x="736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690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322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666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63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Course project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RL-202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br>
              <a:rPr lang="en-US" dirty="0"/>
            </a:br>
            <a:r>
              <a:rPr lang="en-US" sz="2400" dirty="0"/>
              <a:t>Course project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3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5FB241E0-F341-2D41-BAEF-2356ACCC2AE6}"/>
              </a:ext>
            </a:extLst>
          </p:cNvPr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A28AFFA3-12F1-9041-95E0-BC0FB0458F12}"/>
                </a:ext>
              </a:extLst>
            </p:cNvPr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D64BE99-88DD-9742-BA44-436464CD28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Advanced </a:t>
            </a:r>
            <a:b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698087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 (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model-based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rl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)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40188"/>
            <a:ext cx="5698087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Model-based,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часть 2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88368"/>
            <a:ext cx="5698087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Иерархическое 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2" y="3536548"/>
            <a:ext cx="5698087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39514" y="1950988"/>
            <a:ext cx="95446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65424" y="2225078"/>
            <a:ext cx="150264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991334" y="2499169"/>
            <a:ext cx="2050829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680624"/>
              </p:ext>
            </p:extLst>
          </p:nvPr>
        </p:nvGraphicFramePr>
        <p:xfrm>
          <a:off x="5355768" y="573874"/>
          <a:ext cx="2226910" cy="36576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1" y="4084728"/>
            <a:ext cx="5698087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 err="1">
                <a:solidFill>
                  <a:srgbClr val="1F1F1F"/>
                </a:solidFill>
                <a:latin typeface="Google Sans"/>
                <a:sym typeface="Roboto"/>
              </a:rPr>
              <a:t>Многоагентное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 обучение и кооперация агентов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17243" y="2773259"/>
            <a:ext cx="2599009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DFE4BD41-9927-E140-AC4F-48E39676A188}"/>
              </a:ext>
            </a:extLst>
          </p:cNvPr>
          <p:cNvSpPr/>
          <p:nvPr/>
        </p:nvSpPr>
        <p:spPr>
          <a:xfrm>
            <a:off x="2226710" y="4632908"/>
            <a:ext cx="5698087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Decision transformers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588923E-D2E7-FB40-8553-A8CD8BDE147A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443153" y="3047350"/>
            <a:ext cx="3147189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курсовая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6655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выбрать тему проекта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119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Расписание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1573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Рекомендации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Пожелания и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напуствие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7027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Защита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9CA1A-DD74-9F4E-8CE8-F20F5098D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809750"/>
            <a:ext cx="4238012" cy="25428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Проектная работа – это просто еще одно ДЗ, просто немного большего объема;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 рамках этапа «Проектная работа» можно и нужно </a:t>
            </a:r>
            <a:r>
              <a:rPr lang="ru-RU" sz="1800" dirty="0" err="1">
                <a:solidFill>
                  <a:srgbClr val="1E1F21"/>
                </a:solidFill>
              </a:rPr>
              <a:t>досдавать</a:t>
            </a:r>
            <a:r>
              <a:rPr lang="ru-RU" sz="1800" dirty="0">
                <a:solidFill>
                  <a:srgbClr val="1E1F21"/>
                </a:solidFill>
              </a:rPr>
              <a:t> ДЗ курса;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Выполненный проект может дополнить ваше портфолио.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Проектная работа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5837" y="12001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r>
              <a:rPr lang="ru" sz="1800" dirty="0">
                <a:solidFill>
                  <a:srgbClr val="1E1F21"/>
                </a:solidFill>
              </a:rPr>
              <a:t>Взять проект на работе;</a:t>
            </a: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sz="1800" dirty="0">
              <a:solidFill>
                <a:srgbClr val="1E1F21"/>
              </a:solidFill>
            </a:endParaRPr>
          </a:p>
          <a:p>
            <a:pPr marL="114300" lvl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r>
              <a:rPr lang="ru-RU" sz="1800" dirty="0">
                <a:solidFill>
                  <a:srgbClr val="1E1F21"/>
                </a:solidFill>
              </a:rPr>
              <a:t>Собственный домашний проект;</a:t>
            </a:r>
            <a:endParaRPr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r>
              <a:rPr lang="ru-RU" sz="1800" dirty="0">
                <a:solidFill>
                  <a:srgbClr val="1E1F21"/>
                </a:solidFill>
              </a:rPr>
              <a:t>Взять </a:t>
            </a:r>
            <a:r>
              <a:rPr lang="ru" sz="1800" dirty="0">
                <a:solidFill>
                  <a:srgbClr val="1E1F21"/>
                </a:solidFill>
              </a:rPr>
              <a:t>интересный вам проект </a:t>
            </a:r>
            <a:br>
              <a:rPr lang="en-US" sz="1800" dirty="0">
                <a:solidFill>
                  <a:srgbClr val="1E1F21"/>
                </a:solidFill>
              </a:rPr>
            </a:br>
            <a:r>
              <a:rPr lang="ru" sz="1800" dirty="0">
                <a:solidFill>
                  <a:srgbClr val="1E1F21"/>
                </a:solidFill>
              </a:rPr>
              <a:t>с </a:t>
            </a:r>
            <a:r>
              <a:rPr lang="en-US" sz="1800" dirty="0">
                <a:solidFill>
                  <a:srgbClr val="1E1F21"/>
                </a:solidFill>
                <a:hlinkClick r:id="rId3"/>
              </a:rPr>
              <a:t>https://www.kaggle.com</a:t>
            </a:r>
            <a:r>
              <a:rPr lang="ru" sz="1800" dirty="0">
                <a:solidFill>
                  <a:srgbClr val="1E1F21"/>
                </a:solidFill>
              </a:rPr>
              <a:t>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Как выбрать тему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2DE358-A5F5-3942-ADDE-A90DFC363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166877"/>
            <a:ext cx="2641744" cy="1325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4AD93-E7B9-8048-B3D1-0E5F2356A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666750"/>
            <a:ext cx="2316681" cy="1544454"/>
          </a:xfrm>
          <a:prstGeom prst="rect">
            <a:avLst/>
          </a:prstGeom>
        </p:spPr>
      </p:pic>
      <p:pic>
        <p:nvPicPr>
          <p:cNvPr id="1026" name="Picture 2" descr="How to find data science talent on Kaggle">
            <a:extLst>
              <a:ext uri="{FF2B5EF4-FFF2-40B4-BE49-F238E27FC236}">
                <a16:creationId xmlns:a16="http://schemas.microsoft.com/office/drawing/2014/main" id="{4548062E-BE80-8D45-AD3F-2D149240E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27" y="3333750"/>
            <a:ext cx="24860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511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03793" y="1200150"/>
            <a:ext cx="7723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 </a:t>
            </a:r>
            <a:r>
              <a:rPr lang="en-US" sz="1400" b="0" dirty="0">
                <a:solidFill>
                  <a:srgbClr val="1E1F21"/>
                </a:solidFill>
              </a:rPr>
              <a:t>ML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Формирование среды;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Обоснование выбора алгоритма;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Прогресс обучения;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Полученные результаты;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Формат сдачи – презентация + ссылка на </a:t>
            </a:r>
            <a:r>
              <a:rPr lang="en-US" sz="1400" b="0" dirty="0">
                <a:solidFill>
                  <a:srgbClr val="1E1F21"/>
                </a:solidFill>
              </a:rPr>
              <a:t>git </a:t>
            </a:r>
            <a:r>
              <a:rPr lang="ru-RU" sz="1400" b="0" dirty="0">
                <a:solidFill>
                  <a:srgbClr val="1E1F21"/>
                </a:solidFill>
              </a:rPr>
              <a:t>репозиторий.</a:t>
            </a:r>
            <a:endParaRPr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Что должно быть в проекте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31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/>
              <a:t>Программа</a:t>
            </a:r>
            <a:endParaRPr lang="ru-RU" spc="-1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33721" y="19217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</a:t>
            </a:r>
            <a:r>
              <a:rPr lang="en-US" sz="1400" dirty="0">
                <a:latin typeface="Calibri"/>
                <a:cs typeface="Calibri"/>
              </a:rPr>
              <a:t>8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D51FBD1-EE22-BB4C-B22B-62B217530E17}"/>
              </a:ext>
            </a:extLst>
          </p:cNvPr>
          <p:cNvSpPr txBox="1"/>
          <p:nvPr/>
        </p:nvSpPr>
        <p:spPr>
          <a:xfrm>
            <a:off x="1233721" y="350977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20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01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915779-E234-3C4D-BA4F-EE25401C044E}"/>
              </a:ext>
            </a:extLst>
          </p:cNvPr>
          <p:cNvSpPr/>
          <p:nvPr/>
        </p:nvSpPr>
        <p:spPr>
          <a:xfrm>
            <a:off x="579274" y="1051909"/>
            <a:ext cx="2613025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Курсовой проект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99" y="1160272"/>
            <a:ext cx="419929" cy="3960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C3E53-6FFD-6D45-903D-08C54E65F5DB}"/>
              </a:ext>
            </a:extLst>
          </p:cNvPr>
          <p:cNvSpPr/>
          <p:nvPr/>
        </p:nvSpPr>
        <p:spPr>
          <a:xfrm>
            <a:off x="2225090" y="3445335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Завершение курса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298207-2573-9240-B60B-F5E23F446C25}"/>
              </a:ext>
            </a:extLst>
          </p:cNvPr>
          <p:cNvSpPr/>
          <p:nvPr/>
        </p:nvSpPr>
        <p:spPr>
          <a:xfrm>
            <a:off x="2225090" y="2922971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Защита проектных работ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675E17-BE43-F34E-98F1-0CFEA89B0E2E}"/>
              </a:ext>
            </a:extLst>
          </p:cNvPr>
          <p:cNvSpPr/>
          <p:nvPr/>
        </p:nvSpPr>
        <p:spPr>
          <a:xfrm>
            <a:off x="2225090" y="2400609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Консультация по проектам и домашним заданиям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12C9734-FC8F-C24C-940E-4BD2B5FA68F3}"/>
              </a:ext>
            </a:extLst>
          </p:cNvPr>
          <p:cNvSpPr/>
          <p:nvPr/>
        </p:nvSpPr>
        <p:spPr>
          <a:xfrm>
            <a:off x="2225090" y="185728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Выбор темы и организация проектной работы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3630A9D-7233-354A-9488-10021EC04EFB}"/>
              </a:ext>
            </a:extLst>
          </p:cNvPr>
          <p:cNvCxnSpPr>
            <a:stCxn id="14" idx="2"/>
            <a:endCxn id="27" idx="1"/>
          </p:cNvCxnSpPr>
          <p:nvPr/>
        </p:nvCxnSpPr>
        <p:spPr>
          <a:xfrm rot="16200000" flipH="1">
            <a:off x="1843567" y="1673883"/>
            <a:ext cx="423742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92DAF46-096B-324F-B3B3-A6787F8D1DFE}"/>
              </a:ext>
            </a:extLst>
          </p:cNvPr>
          <p:cNvCxnSpPr>
            <a:cxnSpLocks/>
            <a:stCxn id="14" idx="2"/>
            <a:endCxn id="26" idx="1"/>
          </p:cNvCxnSpPr>
          <p:nvPr/>
        </p:nvCxnSpPr>
        <p:spPr>
          <a:xfrm rot="16200000" flipH="1">
            <a:off x="1571906" y="1945544"/>
            <a:ext cx="967065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DED9A16-3DDE-E148-A5A8-8B84FD095158}"/>
              </a:ext>
            </a:extLst>
          </p:cNvPr>
          <p:cNvCxnSpPr>
            <a:cxnSpLocks/>
            <a:stCxn id="14" idx="2"/>
            <a:endCxn id="25" idx="1"/>
          </p:cNvCxnSpPr>
          <p:nvPr/>
        </p:nvCxnSpPr>
        <p:spPr>
          <a:xfrm rot="16200000" flipH="1">
            <a:off x="1310725" y="2206725"/>
            <a:ext cx="1489427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9D8802E-3943-C54F-8F3F-8B24A3DD8DE1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16200000" flipH="1">
            <a:off x="1049543" y="2467907"/>
            <a:ext cx="2011791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48FFE73-08C7-6147-B60A-390BA5C5E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505594"/>
              </p:ext>
            </p:extLst>
          </p:nvPr>
        </p:nvGraphicFramePr>
        <p:xfrm>
          <a:off x="5355768" y="573874"/>
          <a:ext cx="2226910" cy="36576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Описание среды;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Выбор алгоритма;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Графики прогресса обучения;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Полученные результаты;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Что планировалось на этапе выбора проекта и что получилось. Причины отклонений.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Защита проекта - презентация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05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Используйте облачные технологии – даже бесплатный </a:t>
            </a:r>
            <a:r>
              <a:rPr lang="en-US" sz="1400" b="0" dirty="0">
                <a:solidFill>
                  <a:srgbClr val="1E1F21"/>
                </a:solidFill>
              </a:rPr>
              <a:t>google </a:t>
            </a:r>
            <a:r>
              <a:rPr lang="en-US" sz="1400" b="0" dirty="0" err="1">
                <a:solidFill>
                  <a:srgbClr val="1E1F21"/>
                </a:solidFill>
              </a:rPr>
              <a:t>colab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позволяет учить модели эффективнее, чем личный ноутбук.</a:t>
            </a:r>
          </a:p>
          <a:p>
            <a:pPr marL="457200" indent="-342900" algn="l" rtl="0">
              <a:lnSpc>
                <a:spcPct val="115000"/>
              </a:lnSpc>
              <a:spcAft>
                <a:spcPts val="600"/>
              </a:spcAft>
              <a:buClr>
                <a:srgbClr val="FF7700"/>
              </a:buClr>
              <a:buSzPts val="1800"/>
              <a:buFontTx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 про </a:t>
            </a:r>
            <a:r>
              <a:rPr lang="en-US" sz="1400" b="0" dirty="0">
                <a:solidFill>
                  <a:srgbClr val="1E1F21"/>
                </a:solidFill>
              </a:rPr>
              <a:t>AGILE. </a:t>
            </a:r>
            <a:r>
              <a:rPr lang="ru-RU" sz="1400" b="0" dirty="0">
                <a:solidFill>
                  <a:srgbClr val="1E1F21"/>
                </a:solidFill>
              </a:rPr>
              <a:t>Начните с </a:t>
            </a:r>
            <a:r>
              <a:rPr lang="en-US" sz="1400" b="0" dirty="0">
                <a:solidFill>
                  <a:srgbClr val="1E1F21"/>
                </a:solidFill>
              </a:rPr>
              <a:t>MVP </a:t>
            </a:r>
            <a:r>
              <a:rPr lang="ru-RU" sz="1400" b="0" dirty="0">
                <a:solidFill>
                  <a:srgbClr val="1E1F21"/>
                </a:solidFill>
              </a:rPr>
              <a:t>и наращивайте функциональность.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решения оформляйте в репозитории.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Для каждого этапа открывайте ветку, добивайтесь стабильной работы и потом сливайте ее в основную ветку. Формируйте метки релизов для каждого этапа.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Курсовой проект - рекомендации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58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30" dirty="0" err="1">
                <a:latin typeface="Trebuchet MS"/>
                <a:cs typeface="Trebuchet MS"/>
              </a:rPr>
              <a:t>следующие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вебинары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545</Words>
  <Application>Microsoft Macintosh PowerPoint</Application>
  <PresentationFormat>On-screen Show (16:9)</PresentationFormat>
  <Paragraphs>143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AkayaTelivigala</vt:lpstr>
      <vt:lpstr>Arial</vt:lpstr>
      <vt:lpstr>Bradley Hand</vt:lpstr>
      <vt:lpstr>Calibri</vt:lpstr>
      <vt:lpstr>Google Sans</vt:lpstr>
      <vt:lpstr>Roboto</vt:lpstr>
      <vt:lpstr>Trebuchet MS</vt:lpstr>
      <vt:lpstr>Office Theme</vt:lpstr>
      <vt:lpstr>Reinforcement learning Course project</vt:lpstr>
      <vt:lpstr>Проверить, идет ли запись</vt:lpstr>
      <vt:lpstr>Правила вебинара</vt:lpstr>
      <vt:lpstr>Reinforcement learning Course project</vt:lpstr>
      <vt:lpstr>Карта курса</vt:lpstr>
      <vt:lpstr>Программа курса</vt:lpstr>
      <vt:lpstr>Маршрут вебинара</vt:lpstr>
      <vt:lpstr>Проектная работа</vt:lpstr>
      <vt:lpstr>Как выбрать тему</vt:lpstr>
      <vt:lpstr>Что должно быть в проекте</vt:lpstr>
      <vt:lpstr>Программа</vt:lpstr>
      <vt:lpstr>Защита проекта - презентация</vt:lpstr>
      <vt:lpstr>Курсовой проект - 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12</cp:revision>
  <dcterms:created xsi:type="dcterms:W3CDTF">2024-07-23T07:20:56Z</dcterms:created>
  <dcterms:modified xsi:type="dcterms:W3CDTF">2024-11-20T13:51:57Z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