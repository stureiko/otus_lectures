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34"/>
  </p:notesMasterIdLst>
  <p:sldIdLst>
    <p:sldId id="257" r:id="rId2"/>
    <p:sldId id="258" r:id="rId3"/>
    <p:sldId id="312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1" r:id="rId12"/>
    <p:sldId id="399" r:id="rId13"/>
    <p:sldId id="359" r:id="rId14"/>
    <p:sldId id="334" r:id="rId15"/>
    <p:sldId id="342" r:id="rId16"/>
    <p:sldId id="343" r:id="rId17"/>
    <p:sldId id="355" r:id="rId18"/>
    <p:sldId id="360" r:id="rId19"/>
    <p:sldId id="407" r:id="rId20"/>
    <p:sldId id="369" r:id="rId21"/>
    <p:sldId id="278" r:id="rId22"/>
    <p:sldId id="280" r:id="rId23"/>
    <p:sldId id="288" r:id="rId24"/>
    <p:sldId id="339" r:id="rId25"/>
    <p:sldId id="289" r:id="rId26"/>
    <p:sldId id="400" r:id="rId27"/>
    <p:sldId id="372" r:id="rId28"/>
    <p:sldId id="373" r:id="rId29"/>
    <p:sldId id="374" r:id="rId30"/>
    <p:sldId id="375" r:id="rId31"/>
    <p:sldId id="376" r:id="rId32"/>
    <p:sldId id="303" r:id="rId33"/>
  </p:sldIdLst>
  <p:sldSz cx="9144000" cy="5143500" type="screen16x9"/>
  <p:notesSz cx="6858000" cy="9144000"/>
  <p:embeddedFontLst>
    <p:embeddedFont>
      <p:font typeface="Adelle Sans Devanagari Thin" panose="020F0502020204030204" pitchFamily="34" charset="0"/>
      <p:regular r:id="rId35"/>
      <p:bold r:id="rId36"/>
      <p:italic r:id="rId37"/>
      <p:boldItalic r:id="rId38"/>
    </p:embeddedFont>
    <p:embeddedFont>
      <p:font typeface="AkayaTelivigala" panose="020F0502020204030204" pitchFamily="34" charset="0"/>
      <p:regular r:id="rId39"/>
      <p:bold r:id="rId40"/>
      <p:italic r:id="rId41"/>
      <p:boldItalic r:id="rId42"/>
    </p:embeddedFont>
    <p:embeddedFont>
      <p:font typeface="Cambria Math" panose="02040503050406030204" pitchFamily="18" charset="0"/>
      <p:regular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F40"/>
    <a:srgbClr val="FF9D54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/>
    <p:restoredTop sz="97146"/>
  </p:normalViewPr>
  <p:slideViewPr>
    <p:cSldViewPr snapToGrid="0">
      <p:cViewPr varScale="1">
        <p:scale>
          <a:sx n="297" d="100"/>
          <a:sy n="297" d="100"/>
        </p:scale>
        <p:origin x="1264" y="176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beb2bd22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beb2bd22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15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711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Модель окружающей среды</a:t>
            </a:r>
            <a:r>
              <a:rPr lang="en-US" sz="3600" dirty="0"/>
              <a:t> </a:t>
            </a:r>
            <a:r>
              <a:rPr lang="ru-RU" sz="3600" dirty="0"/>
              <a:t>на примере биржевой торговли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Reinforcement Learning</a:t>
            </a:r>
            <a:br>
              <a:rPr lang="en-US" sz="3200" dirty="0"/>
            </a:br>
            <a:r>
              <a:rPr lang="ru-RU" sz="2400" dirty="0"/>
              <a:t>Модель окружающей среды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CA2CE4C2-C39C-A54B-AFE5-6E9E10E2AB7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6D9259-66E1-AB46-BFF1-E694B121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49" y="1248783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49" y="1760319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65"/>
          <p:cNvSpPr/>
          <p:nvPr/>
        </p:nvSpPr>
        <p:spPr>
          <a:xfrm>
            <a:off x="680150" y="3806463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одель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окружающей среды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49" y="2271855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Обучение с подкреплением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49" y="2783391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Ал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горитмы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65"/>
          <p:cNvSpPr/>
          <p:nvPr/>
        </p:nvSpPr>
        <p:spPr>
          <a:xfrm>
            <a:off x="680150" y="4317999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7. О курсе, программа обучения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65"/>
          <p:cNvSpPr/>
          <p:nvPr/>
        </p:nvSpPr>
        <p:spPr>
          <a:xfrm>
            <a:off x="680150" y="3294927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Библиотека 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ymnasium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F6C0D3-F5F0-7F49-81E7-240677619B55}"/>
              </a:ext>
            </a:extLst>
          </p:cNvPr>
          <p:cNvGrpSpPr/>
          <p:nvPr/>
        </p:nvGrpSpPr>
        <p:grpSpPr>
          <a:xfrm>
            <a:off x="5409185" y="1645979"/>
            <a:ext cx="3054665" cy="2167750"/>
            <a:chOff x="5389792" y="1588485"/>
            <a:chExt cx="3054665" cy="2167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D36A29-D1B6-E445-9F77-7D2D2DF625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89792" y="1599299"/>
              <a:ext cx="3054665" cy="215693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DA84D5-B7FC-C247-866A-FB86EFFB7892}"/>
                </a:ext>
              </a:extLst>
            </p:cNvPr>
            <p:cNvSpPr/>
            <p:nvPr/>
          </p:nvSpPr>
          <p:spPr>
            <a:xfrm>
              <a:off x="5445600" y="1588485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63E8C6C5-FD30-754C-A10F-39DF18BB5703}"/>
              </a:ext>
            </a:extLst>
          </p:cNvPr>
          <p:cNvCxnSpPr>
            <a:stCxn id="284" idx="1"/>
            <a:endCxn id="285" idx="1"/>
          </p:cNvCxnSpPr>
          <p:nvPr/>
        </p:nvCxnSpPr>
        <p:spPr>
          <a:xfrm rot="10800000" flipV="1">
            <a:off x="680149" y="1436883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5298795-3966-3942-9BCD-12823A964D5A}"/>
              </a:ext>
            </a:extLst>
          </p:cNvPr>
          <p:cNvCxnSpPr>
            <a:cxnSpLocks/>
            <a:stCxn id="285" idx="1"/>
            <a:endCxn id="287" idx="1"/>
          </p:cNvCxnSpPr>
          <p:nvPr/>
        </p:nvCxnSpPr>
        <p:spPr>
          <a:xfrm rot="10800000" flipV="1">
            <a:off x="680149" y="1948419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1459359-84F9-DB45-AF6F-C5C9AA3DF209}"/>
              </a:ext>
            </a:extLst>
          </p:cNvPr>
          <p:cNvCxnSpPr>
            <a:cxnSpLocks/>
            <a:stCxn id="287" idx="1"/>
            <a:endCxn id="288" idx="1"/>
          </p:cNvCxnSpPr>
          <p:nvPr/>
        </p:nvCxnSpPr>
        <p:spPr>
          <a:xfrm rot="10800000" flipV="1">
            <a:off x="680149" y="2459955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E88BF5C-5FA1-4845-811C-2065508066EB}"/>
              </a:ext>
            </a:extLst>
          </p:cNvPr>
          <p:cNvCxnSpPr>
            <a:cxnSpLocks/>
            <a:stCxn id="288" idx="1"/>
            <a:endCxn id="290" idx="1"/>
          </p:cNvCxnSpPr>
          <p:nvPr/>
        </p:nvCxnSpPr>
        <p:spPr>
          <a:xfrm rot="10800000" flipH="1" flipV="1">
            <a:off x="680148" y="2971491"/>
            <a:ext cx="1" cy="511536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C742127-85D2-CF4A-8167-73BB234D2889}"/>
              </a:ext>
            </a:extLst>
          </p:cNvPr>
          <p:cNvCxnSpPr>
            <a:cxnSpLocks/>
            <a:stCxn id="290" idx="1"/>
            <a:endCxn id="286" idx="1"/>
          </p:cNvCxnSpPr>
          <p:nvPr/>
        </p:nvCxnSpPr>
        <p:spPr>
          <a:xfrm rot="10800000" flipV="1">
            <a:off x="680150" y="3483027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72EBBBF6-FE79-2B4E-9556-896FE9477966}"/>
              </a:ext>
            </a:extLst>
          </p:cNvPr>
          <p:cNvCxnSpPr>
            <a:cxnSpLocks/>
            <a:stCxn id="286" idx="1"/>
            <a:endCxn id="289" idx="1"/>
          </p:cNvCxnSpPr>
          <p:nvPr/>
        </p:nvCxnSpPr>
        <p:spPr>
          <a:xfrm rot="10800000" flipV="1">
            <a:off x="680150" y="3994563"/>
            <a:ext cx="12700" cy="51153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парадигма машинного обучения</a:t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75" y="1257599"/>
            <a:ext cx="4770050" cy="32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0" y="1311488"/>
            <a:ext cx="3453575" cy="31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58A245-2071-484B-8B77-BEA3358E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5D672-3E20-9B43-98BC-4823A95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94" y="978013"/>
            <a:ext cx="6244479" cy="389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1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такое Обучение с Подкреплением?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500550" y="1369325"/>
            <a:ext cx="3413400" cy="3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это направление машинного обучения, где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агент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(искусственный интеллект) обучается,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принимая решения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и действуя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некоторой среде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 целью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максимизировать некую награду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Этот метод обучения схож с тем, как люди и животные учатся на основе положительного и отрицательного подкрепления.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4344775" y="3512950"/>
            <a:ext cx="42285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" sz="1392">
                <a:latin typeface="Roboto"/>
                <a:ea typeface="Roboto"/>
                <a:cs typeface="Roboto"/>
                <a:sym typeface="Roboto"/>
              </a:rPr>
              <a:t>https://habr.com/ru/companies/ods/articles/421585/</a:t>
            </a:r>
            <a:endParaRPr sz="139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900" y="1630563"/>
            <a:ext cx="5124250" cy="18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Алгоритмы </a:t>
            </a:r>
            <a:r>
              <a:rPr lang="en-US" dirty="0"/>
              <a:t>RL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198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</a:t>
            </a:r>
            <a:r>
              <a:rPr lang="en-US" dirty="0"/>
              <a:t>RL</a:t>
            </a:r>
            <a:r>
              <a:rPr lang="ru-RU" dirty="0"/>
              <a:t> на курсе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00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/>
              <a:t>Environment</a:t>
            </a:r>
            <a:r>
              <a:rPr lang="ru-RU" sz="4800" dirty="0"/>
              <a:t> – </a:t>
            </a:r>
            <a:br>
              <a:rPr lang="en-US" sz="4800" dirty="0"/>
            </a:br>
            <a:r>
              <a:rPr lang="ru-RU" sz="4800" dirty="0"/>
              <a:t>модель среды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ru-RU" dirty="0"/>
              <a:t>Задача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A239BE-63D2-A246-8709-2E2084F6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89128" y="1712550"/>
            <a:ext cx="2168471" cy="1627568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1560508-5756-8A49-B8D7-7C1CC9D7578F}"/>
              </a:ext>
            </a:extLst>
          </p:cNvPr>
          <p:cNvCxnSpPr>
            <a:cxnSpLocks/>
            <a:stCxn id="13" idx="2"/>
            <a:endCxn id="1026" idx="2"/>
          </p:cNvCxnSpPr>
          <p:nvPr/>
        </p:nvCxnSpPr>
        <p:spPr>
          <a:xfrm rot="5400000" flipH="1" flipV="1">
            <a:off x="4373294" y="1422397"/>
            <a:ext cx="117789" cy="3717653"/>
          </a:xfrm>
          <a:prstGeom prst="bentConnector3">
            <a:avLst>
              <a:gd name="adj1" fmla="val -194076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/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FCD8C5-80A3-5C4E-95D8-B13EA242A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2" y="3760631"/>
                <a:ext cx="40850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542A48A3-B3D1-B04D-9CA9-C333C6217740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V="1">
            <a:off x="4387251" y="-101338"/>
            <a:ext cx="12700" cy="3627775"/>
          </a:xfrm>
          <a:prstGeom prst="bentConnector3">
            <a:avLst>
              <a:gd name="adj1" fmla="val 2509858"/>
            </a:avLst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/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34ACFA-26A7-9D4E-901C-37FEB1D95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091" y="1363729"/>
                <a:ext cx="38606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73F5BC-64FC-8044-B052-87F745C8D468}"/>
              </a:ext>
            </a:extLst>
          </p:cNvPr>
          <p:cNvCxnSpPr>
            <a:cxnSpLocks/>
          </p:cNvCxnSpPr>
          <p:nvPr/>
        </p:nvCxnSpPr>
        <p:spPr>
          <a:xfrm flipV="1">
            <a:off x="6375042" y="1252175"/>
            <a:ext cx="0" cy="45402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2C3C54-991A-5047-841B-81619EF107D6}"/>
              </a:ext>
            </a:extLst>
          </p:cNvPr>
          <p:cNvCxnSpPr>
            <a:cxnSpLocks/>
          </p:cNvCxnSpPr>
          <p:nvPr/>
        </p:nvCxnSpPr>
        <p:spPr>
          <a:xfrm flipH="1">
            <a:off x="2421228" y="1255343"/>
            <a:ext cx="39538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ED3AF5-5EF2-914D-BA13-9B1F54E0C9CB}"/>
              </a:ext>
            </a:extLst>
          </p:cNvPr>
          <p:cNvCxnSpPr>
            <a:cxnSpLocks/>
          </p:cNvCxnSpPr>
          <p:nvPr/>
        </p:nvCxnSpPr>
        <p:spPr>
          <a:xfrm flipH="1" flipV="1">
            <a:off x="2419081" y="1252175"/>
            <a:ext cx="2147" cy="419331"/>
          </a:xfrm>
          <a:prstGeom prst="line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/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TR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C4A248-0711-754F-ADD5-27D01B8B3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057" y="944398"/>
                <a:ext cx="39248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Explore 6,898+ Free Earth Illustrations: Download Now - Pixabay">
            <a:extLst>
              <a:ext uri="{FF2B5EF4-FFF2-40B4-BE49-F238E27FC236}">
                <a16:creationId xmlns:a16="http://schemas.microsoft.com/office/drawing/2014/main" id="{A5E23820-279C-5948-B828-07017984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3" y="1718900"/>
            <a:ext cx="1609226" cy="150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426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 err="1"/>
              <a:t>с</a:t>
            </a:r>
            <a:r>
              <a:rPr lang="ru-RU" dirty="0" err="1"/>
              <a:t>реды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2425A-5E2E-9542-919E-9C4C489DDD44}"/>
              </a:ext>
            </a:extLst>
          </p:cNvPr>
          <p:cNvCxnSpPr>
            <a:cxnSpLocks/>
          </p:cNvCxnSpPr>
          <p:nvPr/>
        </p:nvCxnSpPr>
        <p:spPr>
          <a:xfrm>
            <a:off x="4461531" y="1674910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4970891" y="385423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TR" dirty="0">
                <a:solidFill>
                  <a:srgbClr val="00B050"/>
                </a:solidFill>
              </a:rPr>
              <a:t>nv.reset() → 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977028" y="4269449"/>
            <a:ext cx="3773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TR" dirty="0">
                <a:solidFill>
                  <a:srgbClr val="C00000"/>
                </a:solidFill>
              </a:rPr>
              <a:t>nv.step(action) → (state,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4970891" y="2309827"/>
            <a:ext cx="37008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pPr>
              <a:tabLst>
                <a:tab pos="438150" algn="l"/>
              </a:tabLst>
            </a:pP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долгота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широта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высота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температура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’]</a:t>
            </a:r>
            <a:br>
              <a:rPr lang="en-TR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Box(	[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-18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-9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ru-RU" baseline="300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-10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[ 1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80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90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10</a:t>
            </a:r>
            <a:r>
              <a:rPr lang="ru-RU" baseline="300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100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,),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float32. )</a:t>
            </a:r>
            <a:endParaRPr lang="en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4970891" y="1507984"/>
            <a:ext cx="26468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право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’, 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лево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, ’вверх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вниз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Discrete(4) = [0, 1, 2, 3]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>
            <a:off x="4461531" y="2490102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>
            <a:off x="4461531" y="4029452"/>
            <a:ext cx="4680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>
            <a:off x="4461531" y="4445740"/>
            <a:ext cx="4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208BB71-8DE7-8143-B908-52DE5DA0C9BF}"/>
              </a:ext>
            </a:extLst>
          </p:cNvPr>
          <p:cNvGrpSpPr/>
          <p:nvPr/>
        </p:nvGrpSpPr>
        <p:grpSpPr>
          <a:xfrm>
            <a:off x="0" y="1056470"/>
            <a:ext cx="4464954" cy="3577099"/>
            <a:chOff x="0" y="1056470"/>
            <a:chExt cx="4464954" cy="35770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83EA30-9921-7C44-8FBB-D346EF5B3911}"/>
                </a:ext>
              </a:extLst>
            </p:cNvPr>
            <p:cNvGrpSpPr/>
            <p:nvPr/>
          </p:nvGrpSpPr>
          <p:grpSpPr>
            <a:xfrm>
              <a:off x="0" y="1056470"/>
              <a:ext cx="4464954" cy="3577099"/>
              <a:chOff x="0" y="1056470"/>
              <a:chExt cx="4464954" cy="357709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F3D83E7-19DE-CA4C-B33A-EACDB7C6153E}"/>
                  </a:ext>
                </a:extLst>
              </p:cNvPr>
              <p:cNvGrpSpPr/>
              <p:nvPr/>
            </p:nvGrpSpPr>
            <p:grpSpPr>
              <a:xfrm>
                <a:off x="0" y="1056470"/>
                <a:ext cx="4464954" cy="3577099"/>
                <a:chOff x="278879" y="829204"/>
                <a:chExt cx="4464954" cy="3577099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B5ABD48-4EA7-674D-9BE8-D311C54725FB}"/>
                    </a:ext>
                  </a:extLst>
                </p:cNvPr>
                <p:cNvSpPr/>
                <p:nvPr/>
              </p:nvSpPr>
              <p:spPr>
                <a:xfrm>
                  <a:off x="576869" y="1104643"/>
                  <a:ext cx="4166964" cy="33016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R" dirty="0"/>
                </a:p>
              </p:txBody>
            </p:sp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213F6755-4350-734F-83B2-6D622EF48B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8879" y="829204"/>
                  <a:ext cx="2065421" cy="550877"/>
                </a:xfrm>
                <a:prstGeom prst="rect">
                  <a:avLst/>
                </a:prstGeom>
              </p:spPr>
            </p:pic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CED297-8E35-DB4B-AF39-59CDB93025CC}"/>
                  </a:ext>
                </a:extLst>
              </p:cNvPr>
              <p:cNvSpPr txBox="1"/>
              <p:nvPr/>
            </p:nvSpPr>
            <p:spPr>
              <a:xfrm>
                <a:off x="697844" y="1391938"/>
                <a:ext cx="1244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R" dirty="0">
                    <a:latin typeface="Adelle Sans Devanagari Thin" panose="02000503000000020004" pitchFamily="2" charset="-78"/>
                    <a:cs typeface="Adelle Sans Devanagari Thin" panose="02000503000000020004" pitchFamily="2" charset="-78"/>
                  </a:rPr>
                  <a:t>environment</a:t>
                </a:r>
              </a:p>
            </p:txBody>
          </p:sp>
        </p:grpSp>
        <p:pic>
          <p:nvPicPr>
            <p:cNvPr id="2050" name="Picture 2" descr="Explore 6,898+ Free Earth Illustrations: Download Now - Pixabay">
              <a:extLst>
                <a:ext uri="{FF2B5EF4-FFF2-40B4-BE49-F238E27FC236}">
                  <a16:creationId xmlns:a16="http://schemas.microsoft.com/office/drawing/2014/main" id="{D8B33D7D-9290-F644-959B-312716F327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850" y="1585975"/>
              <a:ext cx="2909244" cy="271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094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Знакомство с командой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и программой курса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2978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>
                <a:solidFill>
                  <a:srgbClr val="FF9900"/>
                </a:solidFill>
              </a:rPr>
              <a:t>Игорь Стурейко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598325"/>
            <a:ext cx="26451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67"/>
              <a:t>15+ лет опыта в прикладной математике и математическом моделировании НИИгазэкономика ПАО Газпром</a:t>
            </a: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Руководил командой̆, решающей прикладные задачи, вывод готовых моделей в продакшн и поддержку решений у клиента</a:t>
            </a:r>
            <a:endParaRPr sz="867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8685" b="8685"/>
          <a:stretch/>
        </p:blipFill>
        <p:spPr>
          <a:xfrm>
            <a:off x="789925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40"/>
          <p:cNvSpPr txBox="1">
            <a:spLocks noGrp="1"/>
          </p:cNvSpPr>
          <p:nvPr>
            <p:ph type="subTitle" idx="4294967295"/>
          </p:nvPr>
        </p:nvSpPr>
        <p:spPr>
          <a:xfrm>
            <a:off x="1708980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Анатолий Чудаков</a:t>
            </a:r>
            <a:endParaRPr sz="1517" b="1" dirty="0">
              <a:solidFill>
                <a:srgbClr val="FF9900"/>
              </a:solidFill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3275450"/>
            <a:ext cx="25542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 err="1"/>
              <a:t>Teamlead</a:t>
            </a:r>
            <a:r>
              <a:rPr lang="en-US" sz="900" dirty="0"/>
              <a:t> </a:t>
            </a:r>
            <a:r>
              <a:rPr lang="ru-RU" sz="900" dirty="0"/>
              <a:t>в команде кинотеатра </a:t>
            </a:r>
            <a:r>
              <a:rPr lang="en-US" sz="900" dirty="0"/>
              <a:t>Wink.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Промышленный опыт </a:t>
            </a:r>
            <a:r>
              <a:rPr lang="en-US" sz="900" dirty="0"/>
              <a:t>SOTA </a:t>
            </a:r>
            <a:r>
              <a:rPr lang="ru-RU" sz="900" dirty="0"/>
              <a:t>разработки </a:t>
            </a:r>
            <a:r>
              <a:rPr lang="en-US" sz="900" dirty="0"/>
              <a:t>RL </a:t>
            </a:r>
            <a:r>
              <a:rPr lang="ru-RU" sz="900" dirty="0"/>
              <a:t>в рекомендательных системах и </a:t>
            </a:r>
            <a:r>
              <a:rPr lang="en-US" sz="900" dirty="0"/>
              <a:t>uplift </a:t>
            </a:r>
            <a:r>
              <a:rPr lang="ru-RU" sz="900" dirty="0"/>
              <a:t>моделировании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Образование: Прикладная макроэкономика (СПбГУ) </a:t>
            </a:r>
            <a:r>
              <a:rPr lang="en-US" sz="900" dirty="0" err="1"/>
              <a:t>Otus</a:t>
            </a:r>
            <a:r>
              <a:rPr lang="en-US" sz="900" dirty="0"/>
              <a:t> Certified Educator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 dirty="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4"/>
          <a:srcRect t="11003" b="11003"/>
          <a:stretch/>
        </p:blipFill>
        <p:spPr>
          <a:xfrm>
            <a:off x="789925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>
            <a:spLocks noGrp="1"/>
          </p:cNvSpPr>
          <p:nvPr>
            <p:ph type="subTitle" idx="4294967295"/>
          </p:nvPr>
        </p:nvSpPr>
        <p:spPr>
          <a:xfrm>
            <a:off x="5880205" y="1297880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" sz="1517" b="1">
                <a:solidFill>
                  <a:srgbClr val="FF9900"/>
                </a:solidFill>
              </a:rPr>
              <a:t>Сергей Доронин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4294967295"/>
          </p:nvPr>
        </p:nvSpPr>
        <p:spPr>
          <a:xfrm>
            <a:off x="5880200" y="1598325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12+ лет опыта создания и разработки корпоративных сервисов (</a:t>
            </a: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ЭкспрессВолгаБанк, ПАО "Ростелеком" и др.)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Подбирал технологии виртуальных датацентров, методов защиты информации (DLP/WAF), проектирования систем видеонаблюдения, Wi-Fi, VoIP, IPTV и т.д.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</p:txBody>
      </p:sp>
      <p:pic>
        <p:nvPicPr>
          <p:cNvPr id="231" name="Google Shape;231;p40"/>
          <p:cNvPicPr preferRelativeResize="0"/>
          <p:nvPr/>
        </p:nvPicPr>
        <p:blipFill>
          <a:blip r:embed="rId5"/>
          <a:srcRect t="16085" b="16085"/>
          <a:stretch/>
        </p:blipFill>
        <p:spPr>
          <a:xfrm>
            <a:off x="4961150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Google Shape;229;p40">
            <a:extLst>
              <a:ext uri="{FF2B5EF4-FFF2-40B4-BE49-F238E27FC236}">
                <a16:creationId xmlns:a16="http://schemas.microsoft.com/office/drawing/2014/main" id="{03269C19-D016-C44E-BBD6-4138BEE95808}"/>
              </a:ext>
            </a:extLst>
          </p:cNvPr>
          <p:cNvSpPr txBox="1">
            <a:spLocks/>
          </p:cNvSpPr>
          <p:nvPr/>
        </p:nvSpPr>
        <p:spPr>
          <a:xfrm>
            <a:off x="5880205" y="3032156"/>
            <a:ext cx="19917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ts val="852"/>
              <a:buFont typeface="Roboto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</p:txBody>
      </p:sp>
      <p:sp>
        <p:nvSpPr>
          <p:cNvPr id="14" name="Google Shape;230;p40">
            <a:extLst>
              <a:ext uri="{FF2B5EF4-FFF2-40B4-BE49-F238E27FC236}">
                <a16:creationId xmlns:a16="http://schemas.microsoft.com/office/drawing/2014/main" id="{171F4BBF-1C4F-994C-9045-0291BC30CBB2}"/>
              </a:ext>
            </a:extLst>
          </p:cNvPr>
          <p:cNvSpPr txBox="1">
            <a:spLocks/>
          </p:cNvSpPr>
          <p:nvPr/>
        </p:nvSpPr>
        <p:spPr>
          <a:xfrm>
            <a:off x="5880200" y="3332601"/>
            <a:ext cx="2585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Занимался задачами с использованием как классического </a:t>
            </a:r>
            <a:r>
              <a:rPr lang="en-US" sz="850" dirty="0"/>
              <a:t>Machine Learning, </a:t>
            </a:r>
            <a:r>
              <a:rPr lang="ru-RU" sz="850" dirty="0"/>
              <a:t>так и </a:t>
            </a:r>
            <a:r>
              <a:rPr lang="en-US" sz="850" dirty="0"/>
              <a:t>Deep Learning </a:t>
            </a:r>
            <a:r>
              <a:rPr lang="ru-RU" sz="850" dirty="0"/>
              <a:t>алгоритмов с использованием нейронных сетей в задачах </a:t>
            </a:r>
            <a:r>
              <a:rPr lang="en-US" sz="850" dirty="0"/>
              <a:t>NLP </a:t>
            </a:r>
            <a:r>
              <a:rPr lang="ru-RU" sz="850" dirty="0"/>
              <a:t>и </a:t>
            </a:r>
            <a:r>
              <a:rPr lang="en-US" sz="850" dirty="0"/>
              <a:t>CV, </a:t>
            </a:r>
            <a:r>
              <a:rPr lang="ru-RU" sz="850" dirty="0"/>
              <a:t>а также проведением различных аналитических исследований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endParaRPr lang="ru-RU" sz="850" dirty="0"/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Образование: 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Уральский государственный университет (УРФУ)</a:t>
            </a:r>
          </a:p>
        </p:txBody>
      </p:sp>
      <p:pic>
        <p:nvPicPr>
          <p:cNvPr id="15" name="Google Shape;231;p40">
            <a:extLst>
              <a:ext uri="{FF2B5EF4-FFF2-40B4-BE49-F238E27FC236}">
                <a16:creationId xmlns:a16="http://schemas.microsoft.com/office/drawing/2014/main" id="{2FC4A030-452A-234A-A24E-D2EC2DC6A146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4961150" y="308930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6975"/>
            <a:ext cx="3495512" cy="9307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53001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Ключевые понятия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агент, среда, награда, политика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модели среды и агента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08174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Value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0091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Policy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15089" y="1975413"/>
            <a:ext cx="100331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218735" y="2271767"/>
            <a:ext cx="159602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59150" y="2531352"/>
            <a:ext cx="211519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363691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7328" y="358082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2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Иерархическое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Многоагентное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обучение и кооперация агентов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755F353F-0B1F-B440-BA17-EF3647C41A67}"/>
              </a:ext>
            </a:extLst>
          </p:cNvPr>
          <p:cNvSpPr/>
          <p:nvPr/>
        </p:nvSpPr>
        <p:spPr>
          <a:xfrm>
            <a:off x="2226713" y="40106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C92A012-1145-1246-AD75-982BADB552EE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754267" y="2736235"/>
            <a:ext cx="25249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реальных задачах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игровой индустрии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робототехнике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рекомендательных системах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задаче кредитного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скоринга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E3F9BED0-D7E7-2341-8AE5-D7D3EAFD76DD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управлении финансовым портфелем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35560F-9E10-534D-9CE5-B89267D68A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 dirty="0"/>
              <a:t>Заполните, пожалуйста,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/>
              <a:t>опрос</a:t>
            </a:r>
            <a:r>
              <a:rPr lang="ru" sz="3500" b="0" dirty="0"/>
              <a:t> о занятии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 dirty="0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 dirty="0">
                <a:solidFill>
                  <a:srgbClr val="E06666"/>
                </a:solidFill>
              </a:rPr>
              <a:t> </a:t>
            </a: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 dirty="0"/>
              <a:t>Спасибо за внимание!</a:t>
            </a:r>
            <a:endParaRPr dirty="0"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1239</Words>
  <Application>Microsoft Macintosh PowerPoint</Application>
  <PresentationFormat>On-screen Show (16:9)</PresentationFormat>
  <Paragraphs>258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AkayaTelivigala</vt:lpstr>
      <vt:lpstr>Bradley Hand</vt:lpstr>
      <vt:lpstr>Roboto</vt:lpstr>
      <vt:lpstr>Adelle Sans Devanagari Thin</vt:lpstr>
      <vt:lpstr>Arial</vt:lpstr>
      <vt:lpstr>Cambria Math</vt:lpstr>
      <vt:lpstr>Google Sans</vt:lpstr>
      <vt:lpstr>Светлая тема</vt:lpstr>
      <vt:lpstr>Reinforcement Learning Модель окружающей среды на примере биржевой торговли </vt:lpstr>
      <vt:lpstr>PowerPoint Presentation</vt:lpstr>
      <vt:lpstr>Reinforcement Learning Модель окружающей среды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Что такое Reinforcement Learning</vt:lpstr>
      <vt:lpstr>Третья парадигма машинного обучения</vt:lpstr>
      <vt:lpstr>Reinforcement Learning</vt:lpstr>
      <vt:lpstr>PowerPoint Presentation</vt:lpstr>
      <vt:lpstr>Алгоритмы RL</vt:lpstr>
      <vt:lpstr>Обзор алгоритмов RL</vt:lpstr>
      <vt:lpstr>Алгоритмы RL на курсе</vt:lpstr>
      <vt:lpstr>Environment –  модель среды</vt:lpstr>
      <vt:lpstr>Задача</vt:lpstr>
      <vt:lpstr>Модель среды</vt:lpstr>
      <vt:lpstr>Практика</vt:lpstr>
      <vt:lpstr>Вопросы?</vt:lpstr>
      <vt:lpstr>Знакомство с командой и программой курса</vt:lpstr>
      <vt:lpstr>Команда курса</vt:lpstr>
      <vt:lpstr>PowerPoint Presentation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69</cp:revision>
  <dcterms:modified xsi:type="dcterms:W3CDTF">2026-01-11T11:44:01Z</dcterms:modified>
</cp:coreProperties>
</file>