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34" r:id="rId4"/>
    <p:sldId id="259" r:id="rId5"/>
    <p:sldId id="260" r:id="rId6"/>
    <p:sldId id="373" r:id="rId7"/>
    <p:sldId id="305" r:id="rId8"/>
    <p:sldId id="270" r:id="rId9"/>
    <p:sldId id="265" r:id="rId10"/>
    <p:sldId id="271" r:id="rId11"/>
    <p:sldId id="272" r:id="rId12"/>
    <p:sldId id="313" r:id="rId13"/>
    <p:sldId id="314" r:id="rId14"/>
    <p:sldId id="273" r:id="rId15"/>
    <p:sldId id="318" r:id="rId16"/>
    <p:sldId id="317" r:id="rId17"/>
    <p:sldId id="275" r:id="rId18"/>
    <p:sldId id="320" r:id="rId19"/>
    <p:sldId id="321" r:id="rId20"/>
    <p:sldId id="322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278" r:id="rId32"/>
    <p:sldId id="364" r:id="rId33"/>
    <p:sldId id="281" r:id="rId34"/>
    <p:sldId id="377" r:id="rId35"/>
    <p:sldId id="302" r:id="rId36"/>
    <p:sldId id="335" r:id="rId37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69"/>
    <p:restoredTop sz="97030"/>
  </p:normalViewPr>
  <p:slideViewPr>
    <p:cSldViewPr>
      <p:cViewPr varScale="1">
        <p:scale>
          <a:sx n="208" d="100"/>
          <a:sy n="208" d="100"/>
        </p:scale>
        <p:origin x="23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605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618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8a1700b9f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8a1700b9f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016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534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218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151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648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71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357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219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46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224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6078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083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773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456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Слайд с кодом 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0246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Pipelines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70925FEE-E5A3-664F-8141-28265BD44E2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" name="object 3"/>
          <p:cNvSpPr/>
          <p:nvPr/>
        </p:nvSpPr>
        <p:spPr>
          <a:xfrm>
            <a:off x="5805201" y="62732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с учителем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0" y="1684386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</a:t>
            </a:r>
            <a:r>
              <a:rPr lang="ru-RU" sz="1400" spc="-10">
                <a:latin typeface="Roboto"/>
                <a:cs typeface="Roboto"/>
              </a:rPr>
              <a:t>без учителя</a:t>
            </a:r>
            <a:endParaRPr lang="en-US" sz="1400" spc="-1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5882" y="1847802"/>
            <a:ext cx="2203450" cy="579755"/>
          </a:xfrm>
          <a:custGeom>
            <a:avLst/>
            <a:gdLst/>
            <a:ahLst/>
            <a:cxnLst/>
            <a:rect l="l" t="t" r="r" b="b"/>
            <a:pathLst>
              <a:path w="2203450" h="579755">
                <a:moveTo>
                  <a:pt x="21066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106648" y="0"/>
                </a:lnTo>
                <a:lnTo>
                  <a:pt x="2160214" y="16221"/>
                </a:lnTo>
                <a:lnTo>
                  <a:pt x="2195850" y="59603"/>
                </a:lnTo>
                <a:lnTo>
                  <a:pt x="2203199" y="96551"/>
                </a:lnTo>
                <a:lnTo>
                  <a:pt x="2203199" y="482747"/>
                </a:lnTo>
                <a:lnTo>
                  <a:pt x="2195612" y="520330"/>
                </a:lnTo>
                <a:lnTo>
                  <a:pt x="2174920" y="551020"/>
                </a:lnTo>
                <a:lnTo>
                  <a:pt x="2144230" y="571712"/>
                </a:lnTo>
                <a:lnTo>
                  <a:pt x="21066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Введение в </a:t>
            </a:r>
            <a:r>
              <a:rPr lang="en-US" sz="1400" spc="-20" dirty="0">
                <a:latin typeface="Roboto"/>
                <a:cs typeface="Roboto"/>
              </a:rPr>
              <a:t>Deep learning</a:t>
            </a:r>
            <a:endParaRPr sz="1400" spc="-20" dirty="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6500" y="3022737"/>
            <a:ext cx="2971165" cy="579755"/>
          </a:xfrm>
          <a:custGeom>
            <a:avLst/>
            <a:gdLst/>
            <a:ahLst/>
            <a:cxnLst/>
            <a:rect l="l" t="t" r="r" b="b"/>
            <a:pathLst>
              <a:path w="2971165" h="579754">
                <a:moveTo>
                  <a:pt x="28740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874047" y="0"/>
                </a:lnTo>
                <a:lnTo>
                  <a:pt x="2927615" y="16221"/>
                </a:lnTo>
                <a:lnTo>
                  <a:pt x="2963250" y="59603"/>
                </a:lnTo>
                <a:lnTo>
                  <a:pt x="2970599" y="96551"/>
                </a:lnTo>
                <a:lnTo>
                  <a:pt x="2970599" y="482747"/>
                </a:lnTo>
                <a:lnTo>
                  <a:pt x="2963012" y="520330"/>
                </a:lnTo>
                <a:lnTo>
                  <a:pt x="2942320" y="551020"/>
                </a:lnTo>
                <a:lnTo>
                  <a:pt x="2911630" y="571712"/>
                </a:lnTo>
                <a:lnTo>
                  <a:pt x="28740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Анализ временных рядов</a:t>
            </a:r>
          </a:p>
        </p:txBody>
      </p:sp>
      <p:sp>
        <p:nvSpPr>
          <p:cNvPr id="11" name="object 11"/>
          <p:cNvSpPr/>
          <p:nvPr/>
        </p:nvSpPr>
        <p:spPr>
          <a:xfrm>
            <a:off x="5840299" y="277863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4">
                <a:moveTo>
                  <a:pt x="2376647" y="579300"/>
                </a:moveTo>
                <a:lnTo>
                  <a:pt x="96551" y="579300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8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200" y="96551"/>
                </a:lnTo>
                <a:lnTo>
                  <a:pt x="2473200" y="482748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30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Сбор данных. Анализ текстовых данных</a:t>
            </a:r>
          </a:p>
        </p:txBody>
      </p:sp>
      <p:sp>
        <p:nvSpPr>
          <p:cNvPr id="14" name="object 14"/>
          <p:cNvSpPr/>
          <p:nvPr/>
        </p:nvSpPr>
        <p:spPr>
          <a:xfrm>
            <a:off x="1472660" y="916975"/>
            <a:ext cx="4332605" cy="1220470"/>
          </a:xfrm>
          <a:custGeom>
            <a:avLst/>
            <a:gdLst/>
            <a:ahLst/>
            <a:cxnLst/>
            <a:rect l="l" t="t" r="r" b="b"/>
            <a:pathLst>
              <a:path w="4332605" h="1220470">
                <a:moveTo>
                  <a:pt x="2898413" y="1010949"/>
                </a:moveTo>
                <a:lnTo>
                  <a:pt x="2964258" y="1012817"/>
                </a:lnTo>
                <a:lnTo>
                  <a:pt x="3023231" y="1018131"/>
                </a:lnTo>
                <a:lnTo>
                  <a:pt x="3076192" y="1026461"/>
                </a:lnTo>
                <a:lnTo>
                  <a:pt x="3124000" y="1037376"/>
                </a:lnTo>
                <a:lnTo>
                  <a:pt x="3167514" y="1050445"/>
                </a:lnTo>
                <a:lnTo>
                  <a:pt x="3207593" y="1065238"/>
                </a:lnTo>
                <a:lnTo>
                  <a:pt x="3245096" y="1081324"/>
                </a:lnTo>
                <a:lnTo>
                  <a:pt x="3280884" y="1098271"/>
                </a:lnTo>
                <a:lnTo>
                  <a:pt x="3315813" y="1115649"/>
                </a:lnTo>
                <a:lnTo>
                  <a:pt x="3350745" y="1133028"/>
                </a:lnTo>
                <a:lnTo>
                  <a:pt x="3386537" y="1149975"/>
                </a:lnTo>
                <a:lnTo>
                  <a:pt x="3424048" y="1166061"/>
                </a:lnTo>
                <a:lnTo>
                  <a:pt x="3464138" y="1180854"/>
                </a:lnTo>
                <a:lnTo>
                  <a:pt x="3507664" y="1193923"/>
                </a:lnTo>
                <a:lnTo>
                  <a:pt x="3555486" y="1204838"/>
                </a:lnTo>
                <a:lnTo>
                  <a:pt x="3608463" y="1213168"/>
                </a:lnTo>
                <a:lnTo>
                  <a:pt x="3667452" y="1218482"/>
                </a:lnTo>
                <a:lnTo>
                  <a:pt x="3733313" y="1220349"/>
                </a:lnTo>
              </a:path>
              <a:path w="4332605" h="1220470">
                <a:moveTo>
                  <a:pt x="4332540" y="0"/>
                </a:moveTo>
                <a:lnTo>
                  <a:pt x="4257836" y="109"/>
                </a:lnTo>
                <a:lnTo>
                  <a:pt x="4183563" y="436"/>
                </a:lnTo>
                <a:lnTo>
                  <a:pt x="4109729" y="978"/>
                </a:lnTo>
                <a:lnTo>
                  <a:pt x="4036339" y="1732"/>
                </a:lnTo>
                <a:lnTo>
                  <a:pt x="3963400" y="2696"/>
                </a:lnTo>
                <a:lnTo>
                  <a:pt x="3890918" y="3866"/>
                </a:lnTo>
                <a:lnTo>
                  <a:pt x="3818900" y="5241"/>
                </a:lnTo>
                <a:lnTo>
                  <a:pt x="3747352" y="6817"/>
                </a:lnTo>
                <a:lnTo>
                  <a:pt x="3676281" y="8593"/>
                </a:lnTo>
                <a:lnTo>
                  <a:pt x="3605692" y="10564"/>
                </a:lnTo>
                <a:lnTo>
                  <a:pt x="3535592" y="12729"/>
                </a:lnTo>
                <a:lnTo>
                  <a:pt x="3465987" y="15085"/>
                </a:lnTo>
                <a:lnTo>
                  <a:pt x="3396885" y="17630"/>
                </a:lnTo>
                <a:lnTo>
                  <a:pt x="3328291" y="20360"/>
                </a:lnTo>
                <a:lnTo>
                  <a:pt x="3260211" y="23273"/>
                </a:lnTo>
                <a:lnTo>
                  <a:pt x="3192652" y="26366"/>
                </a:lnTo>
                <a:lnTo>
                  <a:pt x="3125621" y="29637"/>
                </a:lnTo>
                <a:lnTo>
                  <a:pt x="3059124" y="33083"/>
                </a:lnTo>
                <a:lnTo>
                  <a:pt x="2993166" y="36702"/>
                </a:lnTo>
                <a:lnTo>
                  <a:pt x="2927755" y="40490"/>
                </a:lnTo>
                <a:lnTo>
                  <a:pt x="2862897" y="44445"/>
                </a:lnTo>
                <a:lnTo>
                  <a:pt x="2798599" y="48565"/>
                </a:lnTo>
                <a:lnTo>
                  <a:pt x="2734866" y="52847"/>
                </a:lnTo>
                <a:lnTo>
                  <a:pt x="2671705" y="57287"/>
                </a:lnTo>
                <a:lnTo>
                  <a:pt x="2609122" y="61884"/>
                </a:lnTo>
                <a:lnTo>
                  <a:pt x="2547124" y="66635"/>
                </a:lnTo>
                <a:lnTo>
                  <a:pt x="2485717" y="71538"/>
                </a:lnTo>
                <a:lnTo>
                  <a:pt x="2424908" y="76588"/>
                </a:lnTo>
                <a:lnTo>
                  <a:pt x="2364702" y="81785"/>
                </a:lnTo>
                <a:lnTo>
                  <a:pt x="2305107" y="87125"/>
                </a:lnTo>
                <a:lnTo>
                  <a:pt x="2246128" y="92605"/>
                </a:lnTo>
                <a:lnTo>
                  <a:pt x="2187773" y="98223"/>
                </a:lnTo>
                <a:lnTo>
                  <a:pt x="2130046" y="103977"/>
                </a:lnTo>
                <a:lnTo>
                  <a:pt x="2072956" y="109863"/>
                </a:lnTo>
                <a:lnTo>
                  <a:pt x="2016508" y="115879"/>
                </a:lnTo>
                <a:lnTo>
                  <a:pt x="1960708" y="122022"/>
                </a:lnTo>
                <a:lnTo>
                  <a:pt x="1905563" y="128291"/>
                </a:lnTo>
                <a:lnTo>
                  <a:pt x="1851079" y="134681"/>
                </a:lnTo>
                <a:lnTo>
                  <a:pt x="1797263" y="141190"/>
                </a:lnTo>
                <a:lnTo>
                  <a:pt x="1744121" y="147816"/>
                </a:lnTo>
                <a:lnTo>
                  <a:pt x="1691659" y="154556"/>
                </a:lnTo>
                <a:lnTo>
                  <a:pt x="1639884" y="161408"/>
                </a:lnTo>
                <a:lnTo>
                  <a:pt x="1588802" y="168368"/>
                </a:lnTo>
                <a:lnTo>
                  <a:pt x="1538420" y="175434"/>
                </a:lnTo>
                <a:lnTo>
                  <a:pt x="1488744" y="182604"/>
                </a:lnTo>
                <a:lnTo>
                  <a:pt x="1439779" y="189875"/>
                </a:lnTo>
                <a:lnTo>
                  <a:pt x="1391534" y="197244"/>
                </a:lnTo>
                <a:lnTo>
                  <a:pt x="1344013" y="204708"/>
                </a:lnTo>
                <a:lnTo>
                  <a:pt x="1297224" y="212265"/>
                </a:lnTo>
                <a:lnTo>
                  <a:pt x="1251173" y="219912"/>
                </a:lnTo>
                <a:lnTo>
                  <a:pt x="1205865" y="227647"/>
                </a:lnTo>
                <a:lnTo>
                  <a:pt x="1161308" y="235466"/>
                </a:lnTo>
                <a:lnTo>
                  <a:pt x="1117509" y="243368"/>
                </a:lnTo>
                <a:lnTo>
                  <a:pt x="1074472" y="251350"/>
                </a:lnTo>
                <a:lnTo>
                  <a:pt x="1032205" y="259408"/>
                </a:lnTo>
                <a:lnTo>
                  <a:pt x="990714" y="267540"/>
                </a:lnTo>
                <a:lnTo>
                  <a:pt x="950005" y="275745"/>
                </a:lnTo>
                <a:lnTo>
                  <a:pt x="910085" y="284018"/>
                </a:lnTo>
                <a:lnTo>
                  <a:pt x="870960" y="292357"/>
                </a:lnTo>
                <a:lnTo>
                  <a:pt x="832637" y="300760"/>
                </a:lnTo>
                <a:lnTo>
                  <a:pt x="795122" y="309224"/>
                </a:lnTo>
                <a:lnTo>
                  <a:pt x="722540" y="326325"/>
                </a:lnTo>
                <a:lnTo>
                  <a:pt x="653266" y="343638"/>
                </a:lnTo>
                <a:lnTo>
                  <a:pt x="587352" y="361141"/>
                </a:lnTo>
                <a:lnTo>
                  <a:pt x="524847" y="378815"/>
                </a:lnTo>
                <a:lnTo>
                  <a:pt x="465803" y="396637"/>
                </a:lnTo>
                <a:lnTo>
                  <a:pt x="410272" y="414586"/>
                </a:lnTo>
                <a:lnTo>
                  <a:pt x="358303" y="432641"/>
                </a:lnTo>
                <a:lnTo>
                  <a:pt x="309948" y="450782"/>
                </a:lnTo>
                <a:lnTo>
                  <a:pt x="265259" y="468986"/>
                </a:lnTo>
                <a:lnTo>
                  <a:pt x="224285" y="487232"/>
                </a:lnTo>
                <a:lnTo>
                  <a:pt x="187079" y="505499"/>
                </a:lnTo>
                <a:lnTo>
                  <a:pt x="135498" y="534649"/>
                </a:lnTo>
                <a:lnTo>
                  <a:pt x="93104" y="563711"/>
                </a:lnTo>
                <a:lnTo>
                  <a:pt x="59356" y="592602"/>
                </a:lnTo>
                <a:lnTo>
                  <a:pt x="33712" y="621233"/>
                </a:lnTo>
                <a:lnTo>
                  <a:pt x="4575" y="677374"/>
                </a:lnTo>
                <a:lnTo>
                  <a:pt x="0" y="704711"/>
                </a:lnTo>
                <a:lnTo>
                  <a:pt x="1366" y="731444"/>
                </a:lnTo>
                <a:lnTo>
                  <a:pt x="19758" y="782754"/>
                </a:lnTo>
                <a:lnTo>
                  <a:pt x="55426" y="830612"/>
                </a:lnTo>
                <a:lnTo>
                  <a:pt x="104041" y="874328"/>
                </a:lnTo>
                <a:lnTo>
                  <a:pt x="161278" y="913213"/>
                </a:lnTo>
                <a:lnTo>
                  <a:pt x="222809" y="946575"/>
                </a:lnTo>
                <a:lnTo>
                  <a:pt x="284307" y="973725"/>
                </a:lnTo>
                <a:lnTo>
                  <a:pt x="341446" y="993973"/>
                </a:lnTo>
                <a:lnTo>
                  <a:pt x="389899" y="1006628"/>
                </a:lnTo>
                <a:lnTo>
                  <a:pt x="409517" y="1009892"/>
                </a:lnTo>
                <a:lnTo>
                  <a:pt x="425340" y="101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01749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7" y="0"/>
                </a:lnTo>
                <a:lnTo>
                  <a:pt x="3040715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Рекомендательные системы</a:t>
            </a:r>
          </a:p>
        </p:txBody>
      </p:sp>
      <p:sp>
        <p:nvSpPr>
          <p:cNvPr id="18" name="object 18"/>
          <p:cNvSpPr/>
          <p:nvPr/>
        </p:nvSpPr>
        <p:spPr>
          <a:xfrm>
            <a:off x="870483" y="2137452"/>
            <a:ext cx="7710805" cy="2184400"/>
          </a:xfrm>
          <a:custGeom>
            <a:avLst/>
            <a:gdLst/>
            <a:ahLst/>
            <a:cxnLst/>
            <a:rect l="l" t="t" r="r" b="b"/>
            <a:pathLst>
              <a:path w="7710805" h="2184400">
                <a:moveTo>
                  <a:pt x="6538599" y="0"/>
                </a:moveTo>
                <a:lnTo>
                  <a:pt x="6604000" y="1019"/>
                </a:lnTo>
                <a:lnTo>
                  <a:pt x="6668319" y="4025"/>
                </a:lnTo>
                <a:lnTo>
                  <a:pt x="6731475" y="8937"/>
                </a:lnTo>
                <a:lnTo>
                  <a:pt x="6793390" y="15677"/>
                </a:lnTo>
                <a:lnTo>
                  <a:pt x="6853985" y="24164"/>
                </a:lnTo>
                <a:lnTo>
                  <a:pt x="6913181" y="34320"/>
                </a:lnTo>
                <a:lnTo>
                  <a:pt x="6970897" y="46065"/>
                </a:lnTo>
                <a:lnTo>
                  <a:pt x="7027055" y="59319"/>
                </a:lnTo>
                <a:lnTo>
                  <a:pt x="7081576" y="74004"/>
                </a:lnTo>
                <a:lnTo>
                  <a:pt x="7134380" y="90039"/>
                </a:lnTo>
                <a:lnTo>
                  <a:pt x="7185389" y="107345"/>
                </a:lnTo>
                <a:lnTo>
                  <a:pt x="7234522" y="125843"/>
                </a:lnTo>
                <a:lnTo>
                  <a:pt x="7281701" y="145453"/>
                </a:lnTo>
                <a:lnTo>
                  <a:pt x="7326847" y="166095"/>
                </a:lnTo>
                <a:lnTo>
                  <a:pt x="7369880" y="187692"/>
                </a:lnTo>
                <a:lnTo>
                  <a:pt x="7410721" y="210162"/>
                </a:lnTo>
                <a:lnTo>
                  <a:pt x="7449291" y="233426"/>
                </a:lnTo>
                <a:lnTo>
                  <a:pt x="7485511" y="257406"/>
                </a:lnTo>
                <a:lnTo>
                  <a:pt x="7519301" y="282021"/>
                </a:lnTo>
                <a:lnTo>
                  <a:pt x="7550582" y="307192"/>
                </a:lnTo>
                <a:lnTo>
                  <a:pt x="7579275" y="332840"/>
                </a:lnTo>
                <a:lnTo>
                  <a:pt x="7628579" y="385248"/>
                </a:lnTo>
                <a:lnTo>
                  <a:pt x="7666581" y="438610"/>
                </a:lnTo>
                <a:lnTo>
                  <a:pt x="7700257" y="515234"/>
                </a:lnTo>
                <a:lnTo>
                  <a:pt x="7709805" y="564510"/>
                </a:lnTo>
                <a:lnTo>
                  <a:pt x="7710791" y="612768"/>
                </a:lnTo>
                <a:lnTo>
                  <a:pt x="7704217" y="659500"/>
                </a:lnTo>
                <a:lnTo>
                  <a:pt x="7691085" y="704196"/>
                </a:lnTo>
                <a:lnTo>
                  <a:pt x="7672397" y="746348"/>
                </a:lnTo>
                <a:lnTo>
                  <a:pt x="7649154" y="785446"/>
                </a:lnTo>
                <a:lnTo>
                  <a:pt x="7622360" y="820983"/>
                </a:lnTo>
                <a:lnTo>
                  <a:pt x="7593014" y="852448"/>
                </a:lnTo>
                <a:lnTo>
                  <a:pt x="7562121" y="879334"/>
                </a:lnTo>
                <a:lnTo>
                  <a:pt x="7530680" y="901130"/>
                </a:lnTo>
                <a:lnTo>
                  <a:pt x="7470168" y="927422"/>
                </a:lnTo>
                <a:lnTo>
                  <a:pt x="7443099" y="930899"/>
                </a:lnTo>
              </a:path>
              <a:path w="7710805" h="2184400">
                <a:moveTo>
                  <a:pt x="4969816" y="930831"/>
                </a:moveTo>
                <a:lnTo>
                  <a:pt x="4898757" y="931386"/>
                </a:lnTo>
                <a:lnTo>
                  <a:pt x="4831532" y="933009"/>
                </a:lnTo>
                <a:lnTo>
                  <a:pt x="4767914" y="935636"/>
                </a:lnTo>
                <a:lnTo>
                  <a:pt x="4707678" y="939206"/>
                </a:lnTo>
                <a:lnTo>
                  <a:pt x="4650598" y="943655"/>
                </a:lnTo>
                <a:lnTo>
                  <a:pt x="4596449" y="948920"/>
                </a:lnTo>
                <a:lnTo>
                  <a:pt x="4545006" y="954939"/>
                </a:lnTo>
                <a:lnTo>
                  <a:pt x="4496043" y="961649"/>
                </a:lnTo>
                <a:lnTo>
                  <a:pt x="4449335" y="968988"/>
                </a:lnTo>
                <a:lnTo>
                  <a:pt x="4404655" y="976891"/>
                </a:lnTo>
                <a:lnTo>
                  <a:pt x="4361780" y="985297"/>
                </a:lnTo>
                <a:lnTo>
                  <a:pt x="4320483" y="994142"/>
                </a:lnTo>
                <a:lnTo>
                  <a:pt x="4280538" y="1003365"/>
                </a:lnTo>
                <a:lnTo>
                  <a:pt x="4241721" y="1012901"/>
                </a:lnTo>
                <a:lnTo>
                  <a:pt x="4203805" y="1022689"/>
                </a:lnTo>
                <a:lnTo>
                  <a:pt x="4166567" y="1032665"/>
                </a:lnTo>
                <a:lnTo>
                  <a:pt x="4129778" y="1042767"/>
                </a:lnTo>
                <a:lnTo>
                  <a:pt x="4056653" y="1063096"/>
                </a:lnTo>
                <a:lnTo>
                  <a:pt x="4019865" y="1073198"/>
                </a:lnTo>
                <a:lnTo>
                  <a:pt x="3982626" y="1083174"/>
                </a:lnTo>
                <a:lnTo>
                  <a:pt x="3944711" y="1092961"/>
                </a:lnTo>
                <a:lnTo>
                  <a:pt x="3905894" y="1102498"/>
                </a:lnTo>
                <a:lnTo>
                  <a:pt x="3865949" y="1111720"/>
                </a:lnTo>
                <a:lnTo>
                  <a:pt x="3824652" y="1120566"/>
                </a:lnTo>
                <a:lnTo>
                  <a:pt x="3781776" y="1128972"/>
                </a:lnTo>
                <a:lnTo>
                  <a:pt x="3737097" y="1136875"/>
                </a:lnTo>
                <a:lnTo>
                  <a:pt x="3690389" y="1144213"/>
                </a:lnTo>
                <a:lnTo>
                  <a:pt x="3641426" y="1150923"/>
                </a:lnTo>
                <a:lnTo>
                  <a:pt x="3589983" y="1156943"/>
                </a:lnTo>
                <a:lnTo>
                  <a:pt x="3535834" y="1162208"/>
                </a:lnTo>
                <a:lnTo>
                  <a:pt x="3478754" y="1166657"/>
                </a:lnTo>
                <a:lnTo>
                  <a:pt x="3418518" y="1170227"/>
                </a:lnTo>
                <a:lnTo>
                  <a:pt x="3354900" y="1172854"/>
                </a:lnTo>
                <a:lnTo>
                  <a:pt x="3287674" y="1174477"/>
                </a:lnTo>
                <a:lnTo>
                  <a:pt x="3216616" y="1175031"/>
                </a:lnTo>
              </a:path>
              <a:path w="7710805" h="2184400">
                <a:moveTo>
                  <a:pt x="246017" y="1174934"/>
                </a:moveTo>
                <a:lnTo>
                  <a:pt x="188605" y="1191926"/>
                </a:lnTo>
                <a:lnTo>
                  <a:pt x="130113" y="1239225"/>
                </a:lnTo>
                <a:lnTo>
                  <a:pt x="102260" y="1272518"/>
                </a:lnTo>
                <a:lnTo>
                  <a:pt x="76297" y="1311322"/>
                </a:lnTo>
                <a:lnTo>
                  <a:pt x="52942" y="1354948"/>
                </a:lnTo>
                <a:lnTo>
                  <a:pt x="32915" y="1402706"/>
                </a:lnTo>
                <a:lnTo>
                  <a:pt x="16936" y="1453909"/>
                </a:lnTo>
                <a:lnTo>
                  <a:pt x="5724" y="1507867"/>
                </a:lnTo>
                <a:lnTo>
                  <a:pt x="0" y="1563891"/>
                </a:lnTo>
                <a:lnTo>
                  <a:pt x="482" y="1621294"/>
                </a:lnTo>
                <a:lnTo>
                  <a:pt x="7890" y="1679384"/>
                </a:lnTo>
                <a:lnTo>
                  <a:pt x="17880" y="1721379"/>
                </a:lnTo>
                <a:lnTo>
                  <a:pt x="31687" y="1763114"/>
                </a:lnTo>
                <a:lnTo>
                  <a:pt x="49138" y="1804329"/>
                </a:lnTo>
                <a:lnTo>
                  <a:pt x="70061" y="1844767"/>
                </a:lnTo>
                <a:lnTo>
                  <a:pt x="94284" y="1884166"/>
                </a:lnTo>
                <a:lnTo>
                  <a:pt x="121635" y="1922268"/>
                </a:lnTo>
                <a:lnTo>
                  <a:pt x="151942" y="1958813"/>
                </a:lnTo>
                <a:lnTo>
                  <a:pt x="185033" y="1993541"/>
                </a:lnTo>
                <a:lnTo>
                  <a:pt x="220736" y="2026194"/>
                </a:lnTo>
                <a:lnTo>
                  <a:pt x="258879" y="2056511"/>
                </a:lnTo>
                <a:lnTo>
                  <a:pt x="299290" y="2084233"/>
                </a:lnTo>
                <a:lnTo>
                  <a:pt x="341797" y="2109101"/>
                </a:lnTo>
                <a:lnTo>
                  <a:pt x="386227" y="2130855"/>
                </a:lnTo>
                <a:lnTo>
                  <a:pt x="432410" y="2149236"/>
                </a:lnTo>
                <a:lnTo>
                  <a:pt x="480172" y="2163983"/>
                </a:lnTo>
                <a:lnTo>
                  <a:pt x="529342" y="2174839"/>
                </a:lnTo>
                <a:lnTo>
                  <a:pt x="579748" y="2181542"/>
                </a:lnTo>
                <a:lnTo>
                  <a:pt x="631217" y="218383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3000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8" y="0"/>
                </a:lnTo>
                <a:lnTo>
                  <a:pt x="3040714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Проектная работа</a:t>
            </a:r>
          </a:p>
        </p:txBody>
      </p:sp>
      <p:sp>
        <p:nvSpPr>
          <p:cNvPr id="21" name="object 21"/>
          <p:cNvSpPr/>
          <p:nvPr/>
        </p:nvSpPr>
        <p:spPr>
          <a:xfrm>
            <a:off x="4585449" y="432124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6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15558" y="1726124"/>
            <a:ext cx="5861643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Метод уменьшения размерности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08662" y="2200041"/>
            <a:ext cx="5861643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без учителя.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K-means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15557" y="2673958"/>
            <a:ext cx="5861643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Иерархическая кластеризация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DB-Scan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2335" y="3621792"/>
            <a:ext cx="5861643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Построение 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и сериализация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90969" y="1599534"/>
            <a:ext cx="240405" cy="4087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0562" y="1839941"/>
            <a:ext cx="714322" cy="4018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17051" y="2073451"/>
            <a:ext cx="1188239" cy="4087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946523" y="2543979"/>
            <a:ext cx="2136073" cy="41555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62284"/>
              </p:ext>
            </p:extLst>
          </p:nvPr>
        </p:nvGraphicFramePr>
        <p:xfrm>
          <a:off x="4495800" y="573874"/>
          <a:ext cx="3086874" cy="365760"/>
        </p:xfrm>
        <a:graphic>
          <a:graphicData uri="http://schemas.openxmlformats.org/drawingml/2006/table">
            <a:tbl>
              <a:tblPr firstRow="1" bandRow="1"/>
              <a:tblGrid>
                <a:gridCol w="4409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490757732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1652086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8099498" y="3998891"/>
            <a:ext cx="105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urlz MT" pitchFamily="82" charset="77"/>
                <a:ea typeface="Brush Script MT" panose="03060802040406070304" pitchFamily="66" charset="-122"/>
                <a:cs typeface="Brush Script MT" panose="03060802040406070304" pitchFamily="66" charset="-122"/>
              </a:rPr>
              <a:t>HomeTask</a:t>
            </a:r>
            <a:endParaRPr lang="en-US" dirty="0">
              <a:latin typeface="Curlz MT" pitchFamily="82" charset="77"/>
              <a:ea typeface="Brush Script MT" panose="03060802040406070304" pitchFamily="66" charset="-122"/>
              <a:cs typeface="Brush Script MT" panose="03060802040406070304" pitchFamily="66" charset="-122"/>
            </a:endParaRPr>
          </a:p>
        </p:txBody>
      </p:sp>
      <p:sp>
        <p:nvSpPr>
          <p:cNvPr id="36" name="Google Shape;271;p44">
            <a:extLst>
              <a:ext uri="{FF2B5EF4-FFF2-40B4-BE49-F238E27FC236}">
                <a16:creationId xmlns:a16="http://schemas.microsoft.com/office/drawing/2014/main" id="{F60BC49E-A536-B34B-AF24-8AFC035465EB}"/>
              </a:ext>
            </a:extLst>
          </p:cNvPr>
          <p:cNvSpPr/>
          <p:nvPr/>
        </p:nvSpPr>
        <p:spPr>
          <a:xfrm>
            <a:off x="2236006" y="4095709"/>
            <a:ext cx="5861643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7" name="Google Shape;271;p44">
            <a:extLst>
              <a:ext uri="{FF2B5EF4-FFF2-40B4-BE49-F238E27FC236}">
                <a16:creationId xmlns:a16="http://schemas.microsoft.com/office/drawing/2014/main" id="{B8247EF9-F349-4047-B64B-B24CAB779659}"/>
              </a:ext>
            </a:extLst>
          </p:cNvPr>
          <p:cNvSpPr/>
          <p:nvPr/>
        </p:nvSpPr>
        <p:spPr>
          <a:xfrm>
            <a:off x="2236005" y="4569626"/>
            <a:ext cx="5861643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графах: продолжение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716868" y="4104109"/>
            <a:ext cx="324002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6B1FC711-FBE3-434C-AEF7-F2DA3AA51B14}"/>
              </a:ext>
            </a:extLst>
          </p:cNvPr>
          <p:cNvCxnSpPr>
            <a:cxnSpLocks/>
            <a:stCxn id="271" idx="2"/>
            <a:endCxn id="36" idx="1"/>
          </p:cNvCxnSpPr>
          <p:nvPr/>
        </p:nvCxnSpPr>
        <p:spPr>
          <a:xfrm rot="16200000" flipH="1">
            <a:off x="716400" y="2774103"/>
            <a:ext cx="2609990" cy="4292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0880369-3A08-E74F-921D-8DDC467E8498}"/>
              </a:ext>
            </a:extLst>
          </p:cNvPr>
          <p:cNvCxnSpPr>
            <a:cxnSpLocks/>
            <a:stCxn id="271" idx="2"/>
            <a:endCxn id="37" idx="1"/>
          </p:cNvCxnSpPr>
          <p:nvPr/>
        </p:nvCxnSpPr>
        <p:spPr>
          <a:xfrm rot="16200000" flipH="1">
            <a:off x="479441" y="3011061"/>
            <a:ext cx="3083907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202A737D-E7DC-8C41-BE46-91412B9E7E94}"/>
              </a:ext>
            </a:extLst>
          </p:cNvPr>
          <p:cNvSpPr/>
          <p:nvPr/>
        </p:nvSpPr>
        <p:spPr>
          <a:xfrm>
            <a:off x="2236005" y="3147875"/>
            <a:ext cx="5861643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 данных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3E77C231-10B1-314C-9215-CB3F9F5ABE27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1190316" y="2300186"/>
            <a:ext cx="1662156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29499" y="24014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pipeline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29499" y="291829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Зачем нужен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29499" y="2589566"/>
            <a:ext cx="12700" cy="51682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29499" y="3435125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построить 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29499" y="3106395"/>
            <a:ext cx="12700" cy="51682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29499" y="3951954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Кросс-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валидация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29499" y="3623224"/>
            <a:ext cx="12700" cy="51682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AFDBBF7-53C8-8047-AC11-A925ED503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67" y="1128464"/>
            <a:ext cx="5849566" cy="1043996"/>
          </a:xfrm>
          <a:prstGeom prst="rect">
            <a:avLst/>
          </a:prstGeom>
        </p:spPr>
      </p:pic>
      <p:sp>
        <p:nvSpPr>
          <p:cNvPr id="19" name="Google Shape;238;p37">
            <a:extLst>
              <a:ext uri="{FF2B5EF4-FFF2-40B4-BE49-F238E27FC236}">
                <a16:creationId xmlns:a16="http://schemas.microsoft.com/office/drawing/2014/main" id="{939E384A-D345-BD40-BD51-679E094712B9}"/>
              </a:ext>
            </a:extLst>
          </p:cNvPr>
          <p:cNvSpPr/>
          <p:nvPr/>
        </p:nvSpPr>
        <p:spPr>
          <a:xfrm>
            <a:off x="729499" y="4468784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сохранять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" name="Google Shape;242;p37">
            <a:extLst>
              <a:ext uri="{FF2B5EF4-FFF2-40B4-BE49-F238E27FC236}">
                <a16:creationId xmlns:a16="http://schemas.microsoft.com/office/drawing/2014/main" id="{071EE37C-61BE-9747-842E-03048DEF1E20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rot="10800000" flipV="1">
            <a:off x="729499" y="4140054"/>
            <a:ext cx="12700" cy="516830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388" name="Google Shape;388;p75"/>
          <p:cNvSpPr txBox="1">
            <a:spLocks noGrp="1"/>
          </p:cNvSpPr>
          <p:nvPr>
            <p:ph type="subTitle" idx="4294967295"/>
          </p:nvPr>
        </p:nvSpPr>
        <p:spPr>
          <a:xfrm>
            <a:off x="544450" y="840919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7700"/>
                </a:solidFill>
              </a:rPr>
              <a:t>После занятия вы сможете</a:t>
            </a:r>
            <a:endParaRPr sz="1500" b="1" dirty="0">
              <a:solidFill>
                <a:srgbClr val="FF7700"/>
              </a:solidFill>
            </a:endParaRPr>
          </a:p>
        </p:txBody>
      </p:sp>
      <p:graphicFrame>
        <p:nvGraphicFramePr>
          <p:cNvPr id="389" name="Google Shape;389;p75"/>
          <p:cNvGraphicFramePr/>
          <p:nvPr/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Знать, что такое пайплайны и для чего они нужны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Понимать, когда следует их использовать и когда нет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Построить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end-to-end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для несложной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DS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91" name="Google Shape;391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781040577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метрики качества и основы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валидации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Перейти к ансамблям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ru-RU" dirty="0" err="1"/>
              <a:t>пайплайны</a:t>
            </a:r>
            <a:r>
              <a:rPr lang="ru-RU" dirty="0"/>
              <a:t> и зачем они нужны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Pipeline</a:t>
            </a:r>
            <a:endParaRPr dirty="0"/>
          </a:p>
        </p:txBody>
      </p:sp>
      <p:sp>
        <p:nvSpPr>
          <p:cNvPr id="402" name="Google Shape;402;p77"/>
          <p:cNvSpPr txBox="1">
            <a:spLocks noGrp="1"/>
          </p:cNvSpPr>
          <p:nvPr>
            <p:ph type="body" idx="1"/>
          </p:nvPr>
        </p:nvSpPr>
        <p:spPr>
          <a:xfrm>
            <a:off x="305997" y="2451369"/>
            <a:ext cx="8715153" cy="2062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15000"/>
              </a:lnSpc>
            </a:pPr>
            <a:r>
              <a:rPr lang="ru-RU" sz="1600" dirty="0"/>
              <a:t>Объединить несколько действий в один объект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Убрать дублирование кода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Работать с </a:t>
            </a:r>
            <a:r>
              <a:rPr lang="ru-RU" sz="1600" dirty="0" err="1"/>
              <a:t>пайплайном</a:t>
            </a:r>
            <a:r>
              <a:rPr lang="ru-RU" sz="1600" dirty="0"/>
              <a:t> как объектом </a:t>
            </a:r>
            <a:r>
              <a:rPr lang="en-US" sz="1600" dirty="0" err="1"/>
              <a:t>sklearn</a:t>
            </a:r>
            <a:r>
              <a:rPr lang="en-US" sz="1600" dirty="0"/>
              <a:t> </a:t>
            </a:r>
            <a:r>
              <a:rPr lang="ru-RU" sz="1600" dirty="0"/>
              <a:t>вызывая стандартные функции </a:t>
            </a:r>
            <a:br>
              <a:rPr lang="ru-RU" sz="1600" dirty="0"/>
            </a:br>
            <a:r>
              <a:rPr lang="en-US" sz="1600" dirty="0"/>
              <a:t>.fit </a:t>
            </a:r>
            <a:r>
              <a:rPr lang="ru-RU" sz="1600" dirty="0"/>
              <a:t>и </a:t>
            </a:r>
            <a:r>
              <a:rPr lang="en-US" sz="1600" dirty="0"/>
              <a:t>.predict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Сохранить пайплайн в виде целого объекта для дальнейшего </a:t>
            </a:r>
            <a:r>
              <a:rPr lang="ru-RU" sz="1600" dirty="0" err="1"/>
              <a:t>переиспользования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BD66A-F3F3-5647-8179-0B4849FF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67" y="1072656"/>
            <a:ext cx="5849566" cy="10439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Pipeline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9BACD1-61D6-6B4B-9383-CFE000742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82" y="958491"/>
            <a:ext cx="4968001" cy="35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3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Когда применять </a:t>
            </a:r>
            <a:r>
              <a:rPr lang="ru-RU" dirty="0" err="1"/>
              <a:t>пайплайны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1693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Применение пайплайна</a:t>
            </a:r>
            <a:endParaRPr dirty="0"/>
          </a:p>
        </p:txBody>
      </p:sp>
      <p:graphicFrame>
        <p:nvGraphicFramePr>
          <p:cNvPr id="409" name="Google Shape;409;p78"/>
          <p:cNvGraphicFramePr/>
          <p:nvPr>
            <p:extLst>
              <p:ext uri="{D42A27DB-BD31-4B8C-83A1-F6EECF244321}">
                <p14:modId xmlns:p14="http://schemas.microsoft.com/office/powerpoint/2010/main" val="3462537828"/>
              </p:ext>
            </p:extLst>
          </p:nvPr>
        </p:nvGraphicFramePr>
        <p:xfrm>
          <a:off x="598250" y="971550"/>
          <a:ext cx="7689850" cy="18230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50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9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dirty="0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 sz="1800" b="1" dirty="0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dirty="0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</a:t>
                      </a:r>
                      <a:endParaRPr sz="1800" b="1" dirty="0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EDA </a:t>
                      </a:r>
                      <a:r>
                        <a:rPr lang="ru-RU" dirty="0"/>
                        <a:t>завершен и модель готова для фиксации и тюнинга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Roboto"/>
                        <a:buNone/>
                      </a:pPr>
                      <a:r>
                        <a:rPr lang="ru-RU" dirty="0"/>
                        <a:t>Стадия </a:t>
                      </a:r>
                      <a:r>
                        <a:rPr lang="en-US" dirty="0"/>
                        <a:t>EDA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Roboto"/>
                          <a:cs typeface="Arial"/>
                          <a:sym typeface="Roboto"/>
                        </a:rPr>
                        <a:t>Модель готова для передачи в продакшн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Нет понимания итоговой структуры модели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69AF60A-D6E6-3A47-8B67-1F98EC0D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031868"/>
            <a:ext cx="1952911" cy="1879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03734-1BD4-CC47-87EE-35D361BF41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5" r="55316" b="29324"/>
          <a:stretch/>
        </p:blipFill>
        <p:spPr>
          <a:xfrm>
            <a:off x="1447800" y="3066336"/>
            <a:ext cx="1952911" cy="1810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>
                <a:latin typeface="Roboto"/>
                <a:ea typeface="Roboto"/>
                <a:cs typeface="Roboto"/>
                <a:sym typeface="Roboto"/>
              </a:rPr>
              <a:t>DS </a:t>
            </a: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задач</a:t>
            </a:r>
            <a:r>
              <a:rPr lang="ru-RU" sz="4800" dirty="0"/>
              <a:t>а – традиционный путь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874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25EF-9856-7F4E-9509-377BE5EE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Предсказание уровня счастья</a:t>
            </a:r>
            <a:endParaRPr lang="en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D1538-8668-0C4F-A9E8-D5250014F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простую задачу регрессии – предсказание численного значения по совокупности признаков</a:t>
            </a:r>
          </a:p>
          <a:p>
            <a:r>
              <a:rPr lang="ru-RU" dirty="0"/>
              <a:t>Признаки могут быть разных типов</a:t>
            </a:r>
          </a:p>
          <a:p>
            <a:r>
              <a:rPr lang="ru-RU" dirty="0"/>
              <a:t>В признаках есть пропуски и выбросы</a:t>
            </a:r>
          </a:p>
          <a:p>
            <a:r>
              <a:rPr lang="ru-RU" dirty="0"/>
              <a:t>Модель должна быть готова для переобучения на вновь поступивших данных</a:t>
            </a:r>
          </a:p>
          <a:p>
            <a:r>
              <a:rPr lang="ru-RU" dirty="0"/>
              <a:t>Модель </a:t>
            </a:r>
            <a:r>
              <a:rPr lang="ru-RU"/>
              <a:t>должна быть </a:t>
            </a:r>
            <a:r>
              <a:rPr lang="ru-RU" dirty="0"/>
              <a:t>готова к кросс-</a:t>
            </a:r>
            <a:r>
              <a:rPr lang="ru-RU" dirty="0" err="1"/>
              <a:t>валидации</a:t>
            </a:r>
            <a:endParaRPr lang="ru-RU" dirty="0"/>
          </a:p>
          <a:p>
            <a:r>
              <a:rPr lang="ru-RU" dirty="0"/>
              <a:t>Модель должна быть сохранена как единый объект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24870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Загрузим данные и посмотрим на признаки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6174632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file_path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'https://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raw.githubusercontent.com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/a-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milenkin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Datasetes_for_Piplines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/main/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responses.csv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’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read_csv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file_path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interesting_features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"Happiness in life"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"Age"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"Height"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"Gender"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"Weight"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"Left - right handed"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"Village - town"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"Getting up"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"God"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"Health"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"Borrowed stuff"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"Self-criticism"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"Elections"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"Smoking"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"Alcohol"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,</a:t>
            </a: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"Number of friends"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"Spending on healthy eating"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"Music"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"Movies"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"Friends versus money"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"Changing the past"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"Happiness in life"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0974C-8797-A14B-8069-86D4B7B68DF9}"/>
              </a:ext>
            </a:extLst>
          </p:cNvPr>
          <p:cNvSpPr/>
          <p:nvPr/>
        </p:nvSpPr>
        <p:spPr>
          <a:xfrm>
            <a:off x="706877" y="1470130"/>
            <a:ext cx="6115455" cy="8839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FBD4C-FC62-A14F-AF16-45D7DA3B6FEE}"/>
              </a:ext>
            </a:extLst>
          </p:cNvPr>
          <p:cNvSpPr txBox="1"/>
          <p:nvPr/>
        </p:nvSpPr>
        <p:spPr>
          <a:xfrm>
            <a:off x="6945549" y="1758223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Загружаем данные</a:t>
            </a:r>
            <a:endParaRPr lang="en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21E37-DA23-6648-9E5E-E5D3724D135F}"/>
              </a:ext>
            </a:extLst>
          </p:cNvPr>
          <p:cNvSpPr/>
          <p:nvPr/>
        </p:nvSpPr>
        <p:spPr>
          <a:xfrm>
            <a:off x="706877" y="2354094"/>
            <a:ext cx="6115455" cy="17834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04AB5-448B-4649-906E-45E6F6173698}"/>
              </a:ext>
            </a:extLst>
          </p:cNvPr>
          <p:cNvSpPr txBox="1"/>
          <p:nvPr/>
        </p:nvSpPr>
        <p:spPr>
          <a:xfrm>
            <a:off x="6945549" y="2984186"/>
            <a:ext cx="2075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Отбираем признаки для моделирования</a:t>
            </a:r>
            <a:endParaRPr lang="en-T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</a:t>
            </a:r>
            <a:r>
              <a:rPr lang="ru" dirty="0"/>
              <a:t>осмотрим какие признаки есть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Численные признаки</a:t>
            </a:r>
            <a:endParaRPr lang="ru-RU" sz="20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'Age'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'Height'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'Weight’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ru-RU" sz="1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20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Бинарные признаки</a:t>
            </a:r>
            <a:endParaRPr lang="ru-RU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'Gender'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'Left - right handed'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'Village - town'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'Smoking'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"Alcohol"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ru-RU" sz="20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Категориальные признаки</a:t>
            </a:r>
            <a:endParaRPr lang="ru-RU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categorical_features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</a:p>
          <a:p>
            <a:r>
              <a:rPr lang="en-US" sz="19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9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9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9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9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62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Преобразуем признаки для модели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Нормировка для численных признаков</a:t>
            </a:r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scaler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StandardScaler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data_train_scaled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scaler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fit_transform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12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кодирование для категориальных признаков</a:t>
            </a:r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OneHotEncoder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sparse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handle_unknown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'ignore'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fit_transform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endParaRPr lang="ru-RU" sz="12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объединение признаков после предобработки</a:t>
            </a:r>
            <a:endParaRPr lang="ru-RU" sz="12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data_train_scaled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ru-RU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.get_feature_names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())], 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8629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Создадим модель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4294967295"/>
          </p:nvPr>
        </p:nvSpPr>
        <p:spPr>
          <a:xfrm>
            <a:off x="605632" y="1310536"/>
            <a:ext cx="4744582" cy="2638894"/>
          </a:xfrm>
          <a:prstGeom prst="rect">
            <a:avLst/>
          </a:prstGeom>
          <a:solidFill>
            <a:srgbClr val="FCFCFC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preds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463675" algn="l"/>
                <a:tab pos="2130425" algn="l"/>
                <a:tab pos="2752725" algn="l"/>
                <a:tab pos="3465513" algn="l"/>
                <a:tab pos="4087813" algn="l"/>
              </a:tabLst>
            </a:pP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precision recall f1-score support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0.52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0.07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0.12</a:t>
            </a:r>
            <a:r>
              <a:rPr lang="ru-RU" sz="105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259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0.97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0.67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374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107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accuracy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macro avg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0.26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weighted avg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0.44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0.38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2BB89-34BB-D64F-8344-F05F411B41F9}"/>
              </a:ext>
            </a:extLst>
          </p:cNvPr>
          <p:cNvSpPr txBox="1"/>
          <p:nvPr/>
        </p:nvSpPr>
        <p:spPr>
          <a:xfrm>
            <a:off x="771728" y="4156953"/>
            <a:ext cx="7109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валидации</a:t>
            </a:r>
            <a:r>
              <a:rPr lang="ru-RU" dirty="0"/>
              <a:t> необходимо проделать все эти шаги на тестовой выборке еще раз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336915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25EF-9856-7F4E-9509-377BE5EE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endParaRPr lang="en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D1538-8668-0C4F-A9E8-D5250014F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8520600" cy="1770688"/>
          </a:xfr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Дублируем код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Сложно ма</a:t>
            </a:r>
            <a:r>
              <a:rPr lang="ru-RU" dirty="0">
                <a:solidFill>
                  <a:srgbClr val="000000"/>
                </a:solidFill>
                <a:latin typeface="Menlo" panose="020B0609030804020204" pitchFamily="49" charset="0"/>
              </a:rPr>
              <a:t>с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штабировать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Сложно поддерживать свой код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Много времени</a:t>
            </a:r>
          </a:p>
        </p:txBody>
      </p:sp>
      <p:pic>
        <p:nvPicPr>
          <p:cNvPr id="4" name="Google Shape;767;p112">
            <a:extLst>
              <a:ext uri="{FF2B5EF4-FFF2-40B4-BE49-F238E27FC236}">
                <a16:creationId xmlns:a16="http://schemas.microsoft.com/office/drawing/2014/main" id="{90040795-B9CF-ED43-A982-2740A75255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83268" y="330736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AF6A7-A136-AA41-974C-98576328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309" y="1290281"/>
            <a:ext cx="2748776" cy="32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4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>
                <a:latin typeface="Roboto"/>
                <a:ea typeface="Roboto"/>
                <a:cs typeface="Roboto"/>
                <a:sym typeface="Roboto"/>
              </a:rPr>
              <a:t>DS </a:t>
            </a: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задач</a:t>
            </a:r>
            <a:r>
              <a:rPr lang="ru-RU" sz="4800" dirty="0"/>
              <a:t>а – формируем пайплайн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05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Предобработка </a:t>
            </a:r>
            <a:r>
              <a:rPr lang="ru" dirty="0"/>
              <a:t>признаков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Для категориальных - применяем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а затем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StandardScaler</a:t>
            </a: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"imputer"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"scaler"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StandardScaler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"fs"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SelectKBest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score_func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f_classif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Для категориальных - применяем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а затем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OneHotEncoder</a:t>
            </a: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"imputer"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onehot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OneHotEncoder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handle_unknown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"ignore"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endParaRPr lang="ru-RU" sz="1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Собираем воедино </a:t>
            </a:r>
            <a:r>
              <a:rPr lang="ru-RU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трансформеры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для числовых и категориальных признаков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ColumnTransformer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transformers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"numerical"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"categorical"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categorical_features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832837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Собираем пайплайн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05952" y="135255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Создание конвейера препроцессора, который сначала преобразует данные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)])</a:t>
            </a:r>
          </a:p>
          <a:p>
            <a:endParaRPr lang="ru-RU" sz="1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classifier_pipline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ru-RU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"preprocessor"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"classifier"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AB90A-5C38-8546-AC62-B3F0A7E65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085" y="2114550"/>
            <a:ext cx="3897915" cy="297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25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Еще раз по шагам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4294967295"/>
          </p:nvPr>
        </p:nvSpPr>
        <p:spPr>
          <a:xfrm>
            <a:off x="609600" y="1200150"/>
            <a:ext cx="7444400" cy="36126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indent="0">
              <a:buNone/>
            </a:pP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Для категориальных - применяем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а затем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StandardScaler</a:t>
            </a: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"imputer"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  <a:r>
              <a:rPr lang="ru-RU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"scaler"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StandardScaler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</a:p>
          <a:p>
            <a:pPr marL="120650" indent="0">
              <a:buNone/>
            </a:pPr>
            <a:r>
              <a:rPr lang="ru-RU" sz="1000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"fs"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SelectKBest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score_func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f_classif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))])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Для категориальных - применяем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а затем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OneHotEncoder</a:t>
            </a: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"imputer"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SimpleImputer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()),</a:t>
            </a:r>
          </a:p>
          <a:p>
            <a:pPr marL="120650" indent="0">
              <a:buNone/>
            </a:pPr>
            <a:r>
              <a:rPr lang="ru-RU" sz="1000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onehot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OneHotEncoder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handle_unknown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"ignore"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))]</a:t>
            </a:r>
            <a:r>
              <a:rPr lang="ru-RU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Собираем воедино </a:t>
            </a:r>
            <a:r>
              <a:rPr lang="ru-RU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трансформеры</a:t>
            </a: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для числовых и категориальных признаков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ColumnTransformer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transformers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"numerical"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marL="120650" indent="0">
              <a:buNone/>
              <a:tabLst>
                <a:tab pos="1062038" algn="l"/>
              </a:tabLst>
            </a:pPr>
            <a:r>
              <a:rPr lang="ru-RU" sz="10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"categorical"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categorical_features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)])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062038" algn="l"/>
              </a:tabLst>
            </a:pP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Создание конвейера препроцессора, который сначала преобразует данные.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data_transformer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)])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Создание конвейера </a:t>
            </a:r>
            <a:r>
              <a:rPr lang="ru-RU" sz="1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пайплайна</a:t>
            </a:r>
            <a:endParaRPr lang="ru-RU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classifier_pipline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'preprocessor'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marL="120650" indent="0">
              <a:buNone/>
              <a:tabLst>
                <a:tab pos="2662238" algn="l"/>
              </a:tabLst>
            </a:pPr>
            <a:r>
              <a:rPr lang="ru-RU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'classifier'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())])</a:t>
            </a:r>
          </a:p>
          <a:p>
            <a:pPr marL="120650" indent="0">
              <a:buNone/>
            </a:pPr>
            <a:endParaRPr lang="en-US" sz="1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80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Добавляем модели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4294967295"/>
          </p:nvPr>
        </p:nvSpPr>
        <p:spPr>
          <a:xfrm>
            <a:off x="122850" y="923924"/>
            <a:ext cx="7931150" cy="3888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multi_class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"multinomial"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RandomForestClassifier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n_estimators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GaussianNB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120650" indent="0"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blending_classifier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VotingClassifier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estimators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log_regrassion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  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random_forest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clf2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  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gnb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clf3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)])</a:t>
            </a:r>
          </a:p>
          <a:p>
            <a:pPr marL="120650" indent="0">
              <a:buNone/>
            </a:pPr>
            <a:endParaRPr lang="en-US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classifier_pipline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=[(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"preprocessor"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marL="120650" indent="0">
              <a:buNone/>
              <a:tabLst>
                <a:tab pos="660400" algn="l"/>
              </a:tabLst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"classifier"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blending_classifier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)])</a:t>
            </a:r>
          </a:p>
          <a:p>
            <a:pPr marL="120650" indent="0">
              <a:buNone/>
            </a:pP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DAB141-D6BD-434E-803B-437BF9A14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706" y="1668109"/>
            <a:ext cx="4974444" cy="302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2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Добавим </a:t>
            </a:r>
            <a:r>
              <a:rPr lang="ru-RU" dirty="0" err="1"/>
              <a:t>стеккинг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4294967295"/>
          </p:nvPr>
        </p:nvSpPr>
        <p:spPr>
          <a:xfrm>
            <a:off x="122850" y="1254665"/>
            <a:ext cx="7931150" cy="2980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indent="0">
              <a:buNone/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получим список </a:t>
            </a:r>
            <a:r>
              <a:rPr lang="ru-RU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эстиматоров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estimators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"SVM"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make_pipeline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PCA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(),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LinearSVC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())),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Random_Forest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make_pipeline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RandomForestClassifier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())),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Xgboost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make_pipeline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preprocessor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xgboost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XGBClassifier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())),</a:t>
            </a:r>
          </a:p>
          <a:p>
            <a:pPr marL="120650" indent="0"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marL="120650" indent="0"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построим классификатор используя </a:t>
            </a:r>
            <a:r>
              <a:rPr lang="ru-RU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стекинг</a:t>
            </a: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и наш список классификаторов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stacking_classifier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StackingClassifier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marL="120650" indent="0">
              <a:buNone/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estimators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estimators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120650" indent="0">
              <a:buNone/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final_estimator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n_jobs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=-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verbose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pPr marL="120650" indent="0">
              <a:buNone/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n_jobs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=-</a:t>
            </a:r>
            <a:r>
              <a:rPr lang="en-US" sz="10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120650" indent="0">
              <a:buNone/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verbose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,)</a:t>
            </a:r>
          </a:p>
          <a:p>
            <a:pPr marL="120650" indent="0">
              <a:buNone/>
            </a:pP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673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Финальный классификатор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50303-13AE-B24B-9AA9-D6EBAB524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7355"/>
            <a:ext cx="9144000" cy="322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61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Сохранение модели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2190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Сохранение/загрузка сложной модели</a:t>
            </a:r>
            <a:endParaRPr dirty="0"/>
          </a:p>
        </p:txBody>
      </p:sp>
      <p:sp>
        <p:nvSpPr>
          <p:cNvPr id="4" name="Google Shape;422;p80">
            <a:extLst>
              <a:ext uri="{FF2B5EF4-FFF2-40B4-BE49-F238E27FC236}">
                <a16:creationId xmlns:a16="http://schemas.microsoft.com/office/drawing/2014/main" id="{41314840-B531-8E41-80D2-75C6FBF8BE9D}"/>
              </a:ext>
            </a:extLst>
          </p:cNvPr>
          <p:cNvSpPr txBox="1">
            <a:spLocks/>
          </p:cNvSpPr>
          <p:nvPr/>
        </p:nvSpPr>
        <p:spPr>
          <a:xfrm>
            <a:off x="168246" y="1559465"/>
            <a:ext cx="7931150" cy="29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0650" indent="0">
              <a:buNone/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Для </a:t>
            </a:r>
            <a:r>
              <a:rPr lang="ru-RU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сериализации</a:t>
            </a: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моделей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Сохранение модели</a:t>
            </a: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open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owesome_pipeline.pkl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dump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stacking_classifier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  <a:tabLst>
                <a:tab pos="439738" algn="l"/>
              </a:tabLst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Загрузка модели</a:t>
            </a:r>
            <a:endParaRPr lang="en-US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open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owesome_pipeline.pkl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rb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pipeline_from_saved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endParaRPr lang="en-US" sz="105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A5CB0-2534-8940-B1A5-C0730FE3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34" y="1742464"/>
            <a:ext cx="3135752" cy="20905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AF94CB-3989-544C-8182-150B06E18D5B}"/>
              </a:ext>
            </a:extLst>
          </p:cNvPr>
          <p:cNvSpPr/>
          <p:nvPr/>
        </p:nvSpPr>
        <p:spPr>
          <a:xfrm>
            <a:off x="4909226" y="1559465"/>
            <a:ext cx="778212" cy="528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74523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6" name="Google Shape;466;p86"/>
          <p:cNvGraphicFramePr/>
          <p:nvPr/>
        </p:nvGraphicFramePr>
        <p:xfrm>
          <a:off x="952500" y="1544194"/>
          <a:ext cx="7239000" cy="1275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помогает строить сложные модели быстрее и единообразным образом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следует применять на стадии перехода от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finetuning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помогает стабилизировать модель и подготовить ее к переходу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Алгоритмы на графах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2709E59E-AA4B-724E-AE72-D43EDE36C29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12431</TotalTime>
  <Words>1617</Words>
  <Application>Microsoft Macintosh PowerPoint</Application>
  <PresentationFormat>On-screen Show (16:9)</PresentationFormat>
  <Paragraphs>284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Courier New</vt:lpstr>
      <vt:lpstr>Curlz MT</vt:lpstr>
      <vt:lpstr>Google Sans</vt:lpstr>
      <vt:lpstr>Menlo</vt:lpstr>
      <vt:lpstr>Roboto</vt:lpstr>
      <vt:lpstr>Roboto</vt:lpstr>
      <vt:lpstr>Office Theme</vt:lpstr>
      <vt:lpstr>ML Professional Pipelines</vt:lpstr>
      <vt:lpstr>Проверить, идет ли запись</vt:lpstr>
      <vt:lpstr>ML Professional Pipelines</vt:lpstr>
      <vt:lpstr>Правила вебинара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Что такое пайплайны и зачем они нужны</vt:lpstr>
      <vt:lpstr>Pipeline</vt:lpstr>
      <vt:lpstr>Pipeline</vt:lpstr>
      <vt:lpstr>Когда применять пайплайны</vt:lpstr>
      <vt:lpstr>Применение пайплайна</vt:lpstr>
      <vt:lpstr>DS задача – традиционный путь</vt:lpstr>
      <vt:lpstr>Предсказание уровня счастья</vt:lpstr>
      <vt:lpstr>Загрузим данные и посмотрим на признаки</vt:lpstr>
      <vt:lpstr>Посмотрим какие признаки есть</vt:lpstr>
      <vt:lpstr>Преобразуем признаки для модели</vt:lpstr>
      <vt:lpstr>Создадим модель</vt:lpstr>
      <vt:lpstr>Недостатки </vt:lpstr>
      <vt:lpstr>DS задача – формируем пайплайн</vt:lpstr>
      <vt:lpstr>Предобработка признаков</vt:lpstr>
      <vt:lpstr>Собираем пайплайн</vt:lpstr>
      <vt:lpstr>Еще раз по шагам</vt:lpstr>
      <vt:lpstr>Добавляем модели</vt:lpstr>
      <vt:lpstr>Добавим стеккинг</vt:lpstr>
      <vt:lpstr>Финальный классификатор</vt:lpstr>
      <vt:lpstr>Сохранение модели</vt:lpstr>
      <vt:lpstr>Сохранение/загрузка сложной модели</vt:lpstr>
      <vt:lpstr>Практика</vt:lpstr>
      <vt:lpstr>Вопросы?</vt:lpstr>
      <vt:lpstr>Ключевые тезисы  </vt:lpstr>
      <vt:lpstr>Рефлексия</vt:lpstr>
      <vt:lpstr>Заполните, пожалуйста, опрос о занятии по ссылке в чате</vt:lpstr>
      <vt:lpstr>Приходите на следующие вебинары Алгоритмы на графах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118</cp:revision>
  <dcterms:created xsi:type="dcterms:W3CDTF">2023-10-10T14:19:39Z</dcterms:created>
  <dcterms:modified xsi:type="dcterms:W3CDTF">2024-12-10T12:59:53Z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