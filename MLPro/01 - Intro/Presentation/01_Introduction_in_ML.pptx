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media/image62.jpg" ContentType="image/jpg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  <p:sldMasterId id="2147483678" r:id="rId2"/>
  </p:sldMasterIdLst>
  <p:notesMasterIdLst>
    <p:notesMasterId r:id="rId95"/>
  </p:notesMasterIdLst>
  <p:sldIdLst>
    <p:sldId id="256" r:id="rId3"/>
    <p:sldId id="257" r:id="rId4"/>
    <p:sldId id="334" r:id="rId5"/>
    <p:sldId id="259" r:id="rId6"/>
    <p:sldId id="260" r:id="rId7"/>
    <p:sldId id="261" r:id="rId8"/>
    <p:sldId id="262" r:id="rId9"/>
    <p:sldId id="263" r:id="rId10"/>
    <p:sldId id="389" r:id="rId11"/>
    <p:sldId id="371" r:id="rId12"/>
    <p:sldId id="388" r:id="rId13"/>
    <p:sldId id="265" r:id="rId14"/>
    <p:sldId id="266" r:id="rId15"/>
    <p:sldId id="391" r:id="rId16"/>
    <p:sldId id="268" r:id="rId17"/>
    <p:sldId id="372" r:id="rId18"/>
    <p:sldId id="402" r:id="rId19"/>
    <p:sldId id="403" r:id="rId20"/>
    <p:sldId id="373" r:id="rId21"/>
    <p:sldId id="393" r:id="rId22"/>
    <p:sldId id="374" r:id="rId23"/>
    <p:sldId id="404" r:id="rId24"/>
    <p:sldId id="376" r:id="rId25"/>
    <p:sldId id="270" r:id="rId26"/>
    <p:sldId id="271" r:id="rId27"/>
    <p:sldId id="272" r:id="rId28"/>
    <p:sldId id="273" r:id="rId29"/>
    <p:sldId id="274" r:id="rId30"/>
    <p:sldId id="398" r:id="rId31"/>
    <p:sldId id="379" r:id="rId32"/>
    <p:sldId id="380" r:id="rId33"/>
    <p:sldId id="275" r:id="rId34"/>
    <p:sldId id="276" r:id="rId35"/>
    <p:sldId id="377" r:id="rId36"/>
    <p:sldId id="400" r:id="rId37"/>
    <p:sldId id="378" r:id="rId38"/>
    <p:sldId id="401" r:id="rId39"/>
    <p:sldId id="405" r:id="rId40"/>
    <p:sldId id="406" r:id="rId41"/>
    <p:sldId id="407" r:id="rId42"/>
    <p:sldId id="408" r:id="rId43"/>
    <p:sldId id="409" r:id="rId44"/>
    <p:sldId id="410" r:id="rId45"/>
    <p:sldId id="411" r:id="rId46"/>
    <p:sldId id="399" r:id="rId47"/>
    <p:sldId id="285" r:id="rId48"/>
    <p:sldId id="292" r:id="rId49"/>
    <p:sldId id="293" r:id="rId50"/>
    <p:sldId id="348" r:id="rId51"/>
    <p:sldId id="412" r:id="rId52"/>
    <p:sldId id="413" r:id="rId53"/>
    <p:sldId id="349" r:id="rId54"/>
    <p:sldId id="299" r:id="rId55"/>
    <p:sldId id="300" r:id="rId56"/>
    <p:sldId id="350" r:id="rId57"/>
    <p:sldId id="351" r:id="rId58"/>
    <p:sldId id="352" r:id="rId59"/>
    <p:sldId id="353" r:id="rId60"/>
    <p:sldId id="303" r:id="rId61"/>
    <p:sldId id="354" r:id="rId62"/>
    <p:sldId id="355" r:id="rId63"/>
    <p:sldId id="356" r:id="rId64"/>
    <p:sldId id="414" r:id="rId65"/>
    <p:sldId id="359" r:id="rId66"/>
    <p:sldId id="358" r:id="rId67"/>
    <p:sldId id="415" r:id="rId68"/>
    <p:sldId id="416" r:id="rId69"/>
    <p:sldId id="308" r:id="rId70"/>
    <p:sldId id="309" r:id="rId71"/>
    <p:sldId id="310" r:id="rId72"/>
    <p:sldId id="311" r:id="rId73"/>
    <p:sldId id="360" r:id="rId74"/>
    <p:sldId id="417" r:id="rId75"/>
    <p:sldId id="343" r:id="rId76"/>
    <p:sldId id="314" r:id="rId77"/>
    <p:sldId id="365" r:id="rId78"/>
    <p:sldId id="418" r:id="rId79"/>
    <p:sldId id="366" r:id="rId80"/>
    <p:sldId id="419" r:id="rId81"/>
    <p:sldId id="321" r:id="rId82"/>
    <p:sldId id="322" r:id="rId83"/>
    <p:sldId id="420" r:id="rId84"/>
    <p:sldId id="326" r:id="rId85"/>
    <p:sldId id="327" r:id="rId86"/>
    <p:sldId id="328" r:id="rId87"/>
    <p:sldId id="329" r:id="rId88"/>
    <p:sldId id="330" r:id="rId89"/>
    <p:sldId id="296" r:id="rId90"/>
    <p:sldId id="297" r:id="rId91"/>
    <p:sldId id="315" r:id="rId92"/>
    <p:sldId id="318" r:id="rId93"/>
    <p:sldId id="319" r:id="rId94"/>
  </p:sldIdLst>
  <p:sldSz cx="9144000" cy="5143500" type="screen16x9"/>
  <p:notesSz cx="6858000" cy="9144000"/>
  <p:embeddedFontLst>
    <p:embeddedFont>
      <p:font typeface="AkayaTelivigala" pitchFamily="2" charset="77"/>
      <p:regular r:id="rId96"/>
    </p:embeddedFont>
    <p:embeddedFont>
      <p:font typeface="Avenir" panose="02000503020000020003" pitchFamily="2" charset="0"/>
      <p:regular r:id="rId97"/>
      <p:italic r:id="rId98"/>
    </p:embeddedFont>
    <p:embeddedFont>
      <p:font typeface="Avenir Roman" panose="02000503020000020003" pitchFamily="2" charset="0"/>
      <p:regular r:id="rId99"/>
      <p:bold r:id="rId100"/>
      <p:italic r:id="rId101"/>
      <p:boldItalic r:id="rId102"/>
    </p:embeddedFont>
    <p:embeddedFont>
      <p:font typeface="Cambria Math" panose="02040503050406030204" pitchFamily="18" charset="0"/>
      <p:regular r:id="rId103"/>
    </p:embeddedFont>
    <p:embeddedFont>
      <p:font typeface="Open Sans" panose="020B0606030504020204" pitchFamily="34" charset="0"/>
      <p:regular r:id="rId104"/>
      <p:bold r:id="rId105"/>
      <p:italic r:id="rId106"/>
      <p:boldItalic r:id="rId107"/>
    </p:embeddedFont>
    <p:embeddedFont>
      <p:font typeface="Roboto" panose="02000000000000000000" pitchFamily="2" charset="0"/>
      <p:regular r:id="rId108"/>
      <p:bold r:id="rId109"/>
      <p:italic r:id="rId110"/>
      <p:boldItalic r:id="rId1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687"/>
    <p:restoredTop sz="97030"/>
  </p:normalViewPr>
  <p:slideViewPr>
    <p:cSldViewPr snapToGrid="0">
      <p:cViewPr varScale="1">
        <p:scale>
          <a:sx n="178" d="100"/>
          <a:sy n="178" d="100"/>
        </p:scale>
        <p:origin x="184" y="328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12" Type="http://schemas.openxmlformats.org/officeDocument/2006/relationships/presProps" Target="presProps.xml"/><Relationship Id="rId16" Type="http://schemas.openxmlformats.org/officeDocument/2006/relationships/slide" Target="slides/slide14.xml"/><Relationship Id="rId107" Type="http://schemas.openxmlformats.org/officeDocument/2006/relationships/font" Target="fonts/font12.fntdata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font" Target="fonts/font7.fntdata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113" Type="http://schemas.openxmlformats.org/officeDocument/2006/relationships/viewProps" Target="viewProps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font" Target="fonts/font8.fntdata"/><Relationship Id="rId108" Type="http://schemas.openxmlformats.org/officeDocument/2006/relationships/font" Target="fonts/font13.fntdata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font" Target="fonts/font11.fntdata"/><Relationship Id="rId114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font" Target="fonts/font4.fntdata"/><Relationship Id="rId101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font" Target="fonts/font14.fntdata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font" Target="fonts/font2.fntdata"/><Relationship Id="rId104" Type="http://schemas.openxmlformats.org/officeDocument/2006/relationships/font" Target="fonts/font9.fntdata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font" Target="fonts/font15.fntdata"/><Relationship Id="rId115" Type="http://schemas.openxmlformats.org/officeDocument/2006/relationships/tableStyles" Target="tableStyle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font" Target="fonts/font5.fntdata"/><Relationship Id="rId105" Type="http://schemas.openxmlformats.org/officeDocument/2006/relationships/font" Target="fonts/font10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font" Target="fonts/font3.fntdata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638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deaee39f1e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deaee39f1e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88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07856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7906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1564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60106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6995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83578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7772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9bc73b5b4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29bc73b5b4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296403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9893088cf9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9893088cf9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5beb2bd227_0_9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5beb2bd227_0_9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18908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25beb2bd227_0_9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25beb2bd227_0_9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25beb2bd227_0_9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25beb2bd227_0_9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текст 1">
  <p:cSld name="Заголовок и текст 1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050241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8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8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95" name="Google Shape;95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24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4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5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04" name="Google Shape;104;p25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05" name="Google Shape;105;p2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8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28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29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9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0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30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30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31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3490059"/>
      </p:ext>
    </p:extLst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Text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14661914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15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5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  <p:sldLayoutId id="214748367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7">
            <a:alphaModFix/>
          </a:blip>
          <a:stretch>
            <a:fillRect/>
          </a:stretch>
        </a:blip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80" r:id="rId14"/>
    <p:sldLayoutId id="2147483681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0.jp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45.png"/><Relationship Id="rId4" Type="http://schemas.openxmlformats.org/officeDocument/2006/relationships/image" Target="../media/image11.png"/><Relationship Id="rId9" Type="http://schemas.openxmlformats.org/officeDocument/2006/relationships/image" Target="../media/image4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companies/otus/articles/651895/" TargetMode="External"/><Relationship Id="rId3" Type="http://schemas.openxmlformats.org/officeDocument/2006/relationships/hyperlink" Target="https://habr.com/ru/feed/" TargetMode="External"/><Relationship Id="rId7" Type="http://schemas.openxmlformats.org/officeDocument/2006/relationships/hyperlink" Target="https://habr.com/ru/companies/otus/articles/672450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habr.com/ru/companies/otus/articles/675954/" TargetMode="External"/><Relationship Id="rId5" Type="http://schemas.openxmlformats.org/officeDocument/2006/relationships/hyperlink" Target="https://habr.com/ru/companies/otus/articles/503398/" TargetMode="External"/><Relationship Id="rId10" Type="http://schemas.openxmlformats.org/officeDocument/2006/relationships/hyperlink" Target="https://habr.com/ru/companies/otus/articles/675898/" TargetMode="External"/><Relationship Id="rId4" Type="http://schemas.openxmlformats.org/officeDocument/2006/relationships/hyperlink" Target="https://habr.com/ru/companies/otus/articles/648891/" TargetMode="External"/><Relationship Id="rId9" Type="http://schemas.openxmlformats.org/officeDocument/2006/relationships/hyperlink" Target="https://habr.com/ru/companies/otus/articles/504806/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.ru/lessons/reinforcement-learning-cours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jp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2.xml"/><Relationship Id="rId4" Type="http://schemas.openxmlformats.org/officeDocument/2006/relationships/image" Target="../media/image70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28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8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8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8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8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8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8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8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4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9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Machine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Professional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" sz="2400" b="0" dirty="0"/>
              <a:t>Ставть «+» в чате, если все в порядке</a:t>
            </a:r>
            <a:r>
              <a:rPr lang="ru" sz="4000" dirty="0"/>
              <a:t> </a:t>
            </a:r>
            <a:endParaRPr sz="400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Professional</a:t>
            </a:r>
            <a:br>
              <a:rPr lang="en-US" dirty="0"/>
            </a:br>
            <a:r>
              <a:rPr lang="ru-RU" sz="2400" dirty="0"/>
              <a:t>Знакомство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0FA2F94C-CC32-2B4B-B8A8-896E95498CF5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09550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Learning, 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en-US" sz="1150" b="1" dirty="0"/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 err="1"/>
              <a:t>Teamlead</a:t>
            </a:r>
            <a:r>
              <a:rPr lang="en-US" sz="1150" b="1" dirty="0"/>
              <a:t>, </a:t>
            </a:r>
            <a:r>
              <a:rPr lang="ru-RU" sz="1150" b="1" dirty="0"/>
              <a:t>главный инженер проекта, </a:t>
            </a:r>
          </a:p>
          <a:p>
            <a:pPr marL="0" indent="0"/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indent="0"/>
            <a:endParaRPr lang="ru-RU" sz="1150" dirty="0"/>
          </a:p>
          <a:p>
            <a:pPr marL="0" indent="0"/>
            <a:r>
              <a:rPr lang="ru-RU" sz="1150" b="1" dirty="0"/>
              <a:t>Опыт:</a:t>
            </a:r>
            <a:endParaRPr lang="ru-RU" sz="1150" dirty="0"/>
          </a:p>
          <a:p>
            <a:pPr marL="0" indent="0"/>
            <a:r>
              <a:rPr lang="ru-RU" sz="1150" dirty="0"/>
              <a:t>Более 20 лет занимаюсь прикладной математикой и мат моделированием</a:t>
            </a:r>
          </a:p>
          <a:p>
            <a:pPr marL="0" indent="0"/>
            <a:r>
              <a:rPr lang="ru-RU" sz="1150" dirty="0"/>
              <a:t>(</a:t>
            </a:r>
            <a:r>
              <a:rPr lang="en-US" sz="1150" dirty="0"/>
              <a:t>Data Scientist) (Python, </a:t>
            </a:r>
            <a:r>
              <a:rPr lang="ru-RU" sz="1150" dirty="0"/>
              <a:t>С++)</a:t>
            </a:r>
          </a:p>
          <a:p>
            <a:pPr marL="0" indent="0"/>
            <a:endParaRPr lang="ru-RU" sz="1150" dirty="0"/>
          </a:p>
          <a:p>
            <a:pPr marL="0" indent="0"/>
            <a:endParaRPr lang="ru-RU" sz="1150" b="1" dirty="0"/>
          </a:p>
          <a:p>
            <a:pPr marL="0" indent="0"/>
            <a:r>
              <a:rPr lang="ru-RU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159434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92874" y="163880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</a:p>
        </p:txBody>
      </p:sp>
      <p:sp>
        <p:nvSpPr>
          <p:cNvPr id="190" name="Google Shape;190;p36"/>
          <p:cNvSpPr/>
          <p:nvPr/>
        </p:nvSpPr>
        <p:spPr>
          <a:xfrm>
            <a:off x="786525" y="2072089"/>
            <a:ext cx="3384900" cy="5769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Что будем осваивать – </a:t>
            </a: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Machine Learning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4" y="2706071"/>
            <a:ext cx="3384900" cy="57689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Как будем осваивать -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4" y="440731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сможем после курса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cxnSpLocks/>
            <a:stCxn id="187" idx="1"/>
            <a:endCxn id="189" idx="1"/>
          </p:cNvCxnSpPr>
          <p:nvPr/>
        </p:nvCxnSpPr>
        <p:spPr>
          <a:xfrm rot="10800000" flipH="1" flipV="1">
            <a:off x="786524" y="1393625"/>
            <a:ext cx="6349" cy="433282"/>
          </a:xfrm>
          <a:prstGeom prst="curvedConnector3">
            <a:avLst>
              <a:gd name="adj1" fmla="val -360056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6" y="1826907"/>
            <a:ext cx="6349" cy="533632"/>
          </a:xfrm>
          <a:prstGeom prst="curvedConnector3">
            <a:avLst>
              <a:gd name="adj1" fmla="val 370056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2360539"/>
            <a:ext cx="1" cy="633982"/>
          </a:xfrm>
          <a:prstGeom prst="curvedConnector3">
            <a:avLst>
              <a:gd name="adj1" fmla="val 22860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B3B91C7-0A28-CB48-8BB4-387724CD1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400" y="1274489"/>
            <a:ext cx="4445000" cy="3016724"/>
          </a:xfrm>
          <a:prstGeom prst="rect">
            <a:avLst/>
          </a:prstGeom>
        </p:spPr>
      </p:pic>
      <p:sp>
        <p:nvSpPr>
          <p:cNvPr id="24" name="Google Shape;192;p36">
            <a:extLst>
              <a:ext uri="{FF2B5EF4-FFF2-40B4-BE49-F238E27FC236}">
                <a16:creationId xmlns:a16="http://schemas.microsoft.com/office/drawing/2014/main" id="{D11D718B-8D24-5C4D-96A6-DA1111A3C82F}"/>
              </a:ext>
            </a:extLst>
          </p:cNvPr>
          <p:cNvSpPr/>
          <p:nvPr/>
        </p:nvSpPr>
        <p:spPr>
          <a:xfrm>
            <a:off x="786524" y="397403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Задачи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" name="Google Shape;191;p36">
            <a:extLst>
              <a:ext uri="{FF2B5EF4-FFF2-40B4-BE49-F238E27FC236}">
                <a16:creationId xmlns:a16="http://schemas.microsoft.com/office/drawing/2014/main" id="{50621431-B589-D346-A64A-2D63D366F981}"/>
              </a:ext>
            </a:extLst>
          </p:cNvPr>
          <p:cNvSpPr/>
          <p:nvPr/>
        </p:nvSpPr>
        <p:spPr>
          <a:xfrm>
            <a:off x="792874" y="3340052"/>
            <a:ext cx="3384900" cy="576899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 Pipeline –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порядок построения модели</a:t>
            </a:r>
          </a:p>
        </p:txBody>
      </p:sp>
      <p:cxnSp>
        <p:nvCxnSpPr>
          <p:cNvPr id="26" name="Google Shape;196;p36">
            <a:extLst>
              <a:ext uri="{FF2B5EF4-FFF2-40B4-BE49-F238E27FC236}">
                <a16:creationId xmlns:a16="http://schemas.microsoft.com/office/drawing/2014/main" id="{51D4F194-A9BA-3849-99A9-36EF1FD5051D}"/>
              </a:ext>
            </a:extLst>
          </p:cNvPr>
          <p:cNvCxnSpPr>
            <a:cxnSpLocks/>
            <a:stCxn id="191" idx="1"/>
            <a:endCxn id="25" idx="1"/>
          </p:cNvCxnSpPr>
          <p:nvPr/>
        </p:nvCxnSpPr>
        <p:spPr>
          <a:xfrm rot="10800000" flipH="1" flipV="1">
            <a:off x="786524" y="2994520"/>
            <a:ext cx="6350" cy="633981"/>
          </a:xfrm>
          <a:prstGeom prst="curvedConnector3">
            <a:avLst>
              <a:gd name="adj1" fmla="val -36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1" name="Google Shape;196;p36">
            <a:extLst>
              <a:ext uri="{FF2B5EF4-FFF2-40B4-BE49-F238E27FC236}">
                <a16:creationId xmlns:a16="http://schemas.microsoft.com/office/drawing/2014/main" id="{1C2AE807-D8D6-6243-8575-58E6356E9913}"/>
              </a:ext>
            </a:extLst>
          </p:cNvPr>
          <p:cNvCxnSpPr>
            <a:cxnSpLocks/>
            <a:stCxn id="25" idx="1"/>
            <a:endCxn id="24" idx="1"/>
          </p:cNvCxnSpPr>
          <p:nvPr/>
        </p:nvCxnSpPr>
        <p:spPr>
          <a:xfrm rot="10800000" flipV="1">
            <a:off x="786524" y="3628501"/>
            <a:ext cx="6350" cy="533631"/>
          </a:xfrm>
          <a:prstGeom prst="curvedConnector3">
            <a:avLst>
              <a:gd name="adj1" fmla="val 37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34" name="Google Shape;196;p36">
            <a:extLst>
              <a:ext uri="{FF2B5EF4-FFF2-40B4-BE49-F238E27FC236}">
                <a16:creationId xmlns:a16="http://schemas.microsoft.com/office/drawing/2014/main" id="{392BAE92-218A-8648-BC4A-D0F558F2EAE5}"/>
              </a:ext>
            </a:extLst>
          </p:cNvPr>
          <p:cNvCxnSpPr>
            <a:cxnSpLocks/>
            <a:stCxn id="24" idx="1"/>
            <a:endCxn id="192" idx="1"/>
          </p:cNvCxnSpPr>
          <p:nvPr/>
        </p:nvCxnSpPr>
        <p:spPr>
          <a:xfrm rot="10800000" flipV="1">
            <a:off x="786524" y="4162133"/>
            <a:ext cx="12700" cy="433282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539976706"/>
              </p:ext>
            </p:extLst>
          </p:nvPr>
        </p:nvGraphicFramePr>
        <p:xfrm>
          <a:off x="952500" y="1544194"/>
          <a:ext cx="7239000" cy="174652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как будет устроено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программу курса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Разобраться в основных парадигмах 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порядок построения моделей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88834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основные типы задач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ML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753441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3212701874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общего понимания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Machine</a:t>
                      </a: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Learning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rgbClr val="FF9900"/>
                </a:solidFill>
              </a:rPr>
              <a:t>Мария Тихонова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/>
              <a:t>Senior Data</a:t>
            </a:r>
            <a:r>
              <a:rPr lang="ru-RU" sz="1200" b="1" dirty="0"/>
              <a:t> </a:t>
            </a:r>
            <a:r>
              <a:rPr lang="en-US" sz="1200" b="1" dirty="0"/>
              <a:t>Scientist </a:t>
            </a:r>
            <a:r>
              <a:rPr lang="en-US" sz="1200" b="1" dirty="0" err="1"/>
              <a:t>SberDevices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 err="1"/>
              <a:t>МехМат</a:t>
            </a:r>
            <a:r>
              <a:rPr lang="ru-RU" sz="1200" b="1" dirty="0"/>
              <a:t> МГУ</a:t>
            </a:r>
            <a:r>
              <a:rPr lang="en-US" sz="1200" b="1" dirty="0"/>
              <a:t>, PhD Computer Science</a:t>
            </a:r>
            <a:endParaRPr lang="ru-RU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Занимается обучением больших языковых моделей, а также их оценкой. Участвовала в создании </a:t>
            </a:r>
            <a:r>
              <a:rPr lang="ru-RU" sz="1200" dirty="0" err="1"/>
              <a:t>мультиязычной</a:t>
            </a:r>
            <a:r>
              <a:rPr lang="ru-RU" sz="1200" dirty="0"/>
              <a:t> нейросети </a:t>
            </a:r>
            <a:r>
              <a:rPr lang="en-US" sz="1200" dirty="0" err="1"/>
              <a:t>mGPT</a:t>
            </a:r>
            <a:r>
              <a:rPr lang="en-US" sz="1200" dirty="0"/>
              <a:t> </a:t>
            </a:r>
            <a:r>
              <a:rPr lang="ru-RU" sz="1200" dirty="0"/>
              <a:t>на 61 язык, первого русскоязычного </a:t>
            </a:r>
            <a:r>
              <a:rPr lang="ru-RU" sz="1200" dirty="0" err="1"/>
              <a:t>бенчмарк</a:t>
            </a:r>
            <a:r>
              <a:rPr lang="ru-RU" sz="1200" dirty="0"/>
              <a:t> для русского языка, а также в проекте </a:t>
            </a:r>
            <a:r>
              <a:rPr lang="en-US" sz="1200" dirty="0" err="1"/>
              <a:t>GigaChat</a:t>
            </a:r>
            <a:r>
              <a:rPr lang="en-US" sz="1200" dirty="0"/>
              <a:t>. </a:t>
            </a: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-RU" sz="1200" dirty="0"/>
              <a:t>Преподает в Высшей Школе Экономики дисциплины по анализу данных, машинному обучению и </a:t>
            </a:r>
            <a:r>
              <a:rPr lang="en-US" sz="1200" dirty="0"/>
              <a:t>data science. 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11830" b="11830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7" name="Google Shape;222;p40">
            <a:extLst>
              <a:ext uri="{FF2B5EF4-FFF2-40B4-BE49-F238E27FC236}">
                <a16:creationId xmlns:a16="http://schemas.microsoft.com/office/drawing/2014/main" id="{E575E226-45E6-AE48-8B19-560BA1F78F51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  <p:extLst>
      <p:ext uri="{BB962C8B-B14F-4D97-AF65-F5344CB8AC3E}">
        <p14:creationId xmlns:p14="http://schemas.microsoft.com/office/powerpoint/2010/main" val="173388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4108393" y="1576774"/>
            <a:ext cx="1991700" cy="30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" sz="1600" b="1" dirty="0">
                <a:solidFill>
                  <a:srgbClr val="FF9900"/>
                </a:solidFill>
              </a:rPr>
              <a:t>Игорь Стурейко</a:t>
            </a:r>
            <a:endParaRPr sz="1600" b="1" dirty="0">
              <a:solidFill>
                <a:srgbClr val="FF9900"/>
              </a:solidFill>
            </a:endParaRPr>
          </a:p>
        </p:txBody>
      </p:sp>
      <p:sp>
        <p:nvSpPr>
          <p:cNvPr id="223" name="Google Shape;223;p40"/>
          <p:cNvSpPr txBox="1">
            <a:spLocks noGrp="1"/>
          </p:cNvSpPr>
          <p:nvPr>
            <p:ph type="subTitle" idx="4294967295"/>
          </p:nvPr>
        </p:nvSpPr>
        <p:spPr>
          <a:xfrm>
            <a:off x="4102371" y="2027224"/>
            <a:ext cx="4808426" cy="20713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00000"/>
              </a:lnSpc>
              <a:buSzPts val="597"/>
              <a:buNone/>
            </a:pPr>
            <a:r>
              <a:rPr lang="en-US" sz="1200" b="1" dirty="0" err="1"/>
              <a:t>Teamlead</a:t>
            </a:r>
            <a:r>
              <a:rPr lang="ru-RU" sz="1200" b="1" dirty="0"/>
              <a:t>, главный инженер проекта</a:t>
            </a:r>
            <a:endParaRPr lang="en-US" sz="1200" b="1" dirty="0"/>
          </a:p>
          <a:p>
            <a:pPr marL="0" indent="0">
              <a:lnSpc>
                <a:spcPct val="100000"/>
              </a:lnSpc>
              <a:buSzPts val="597"/>
              <a:buNone/>
            </a:pPr>
            <a:r>
              <a:rPr lang="ru-RU" sz="1200" b="1" dirty="0"/>
              <a:t>Физический факультет МГУ</a:t>
            </a:r>
            <a:r>
              <a:rPr lang="en-US" sz="1200" b="1" dirty="0"/>
              <a:t>, PhD </a:t>
            </a:r>
            <a:r>
              <a:rPr lang="ru-RU" sz="1200" b="1" dirty="0"/>
              <a:t>теоретическая физика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" sz="1200" dirty="0"/>
              <a:t>20+ лет опыта в прикладной математике и математическом моделировании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endParaRPr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97"/>
              <a:buNone/>
            </a:pPr>
            <a:r>
              <a:rPr lang="ru" sz="1200" dirty="0"/>
              <a:t>Руководил командой, решающей прикладные задачи, вывод готовых моделей в продакшн и поддержку решений у клиента</a:t>
            </a:r>
            <a:endParaRPr sz="1200" dirty="0"/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232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408" b="6408"/>
          <a:stretch/>
        </p:blipFill>
        <p:spPr>
          <a:xfrm>
            <a:off x="789925" y="1576774"/>
            <a:ext cx="2253984" cy="2210521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C1D32E20-496A-5641-9195-7B125A28579B}"/>
              </a:ext>
            </a:extLst>
          </p:cNvPr>
          <p:cNvSpPr txBox="1">
            <a:spLocks/>
          </p:cNvSpPr>
          <p:nvPr/>
        </p:nvSpPr>
        <p:spPr>
          <a:xfrm>
            <a:off x="4102370" y="1195200"/>
            <a:ext cx="2850751" cy="3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600" b="1" dirty="0">
                <a:solidFill>
                  <a:schemeClr val="tx1"/>
                </a:solidFill>
              </a:rPr>
              <a:t>Руководитель курса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Команда курса</a:t>
            </a:r>
            <a:endParaRPr/>
          </a:p>
        </p:txBody>
      </p:sp>
      <p:sp>
        <p:nvSpPr>
          <p:cNvPr id="222" name="Google Shape;222;p40"/>
          <p:cNvSpPr txBox="1">
            <a:spLocks noGrp="1"/>
          </p:cNvSpPr>
          <p:nvPr>
            <p:ph type="subTitle" idx="4294967295"/>
          </p:nvPr>
        </p:nvSpPr>
        <p:spPr>
          <a:xfrm>
            <a:off x="1708975" y="1377655"/>
            <a:ext cx="1991700" cy="622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Вадим </a:t>
            </a:r>
            <a:r>
              <a:rPr lang="ru-RU" sz="1517" b="1" dirty="0" err="1">
                <a:solidFill>
                  <a:srgbClr val="FF9900"/>
                </a:solidFill>
              </a:rPr>
              <a:t>Заигрин</a:t>
            </a:r>
            <a:endParaRPr lang="ru" sz="1517" b="1" dirty="0">
              <a:solidFill>
                <a:srgbClr val="FF99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Ведущий консультант</a:t>
            </a:r>
            <a:endParaRPr sz="1000" dirty="0">
              <a:solidFill>
                <a:schemeClr val="tx1"/>
              </a:solidFill>
            </a:endParaRPr>
          </a:p>
        </p:txBody>
      </p:sp>
      <p:sp>
        <p:nvSpPr>
          <p:cNvPr id="224" name="Google Shape;224;p40"/>
          <p:cNvSpPr/>
          <p:nvPr/>
        </p:nvSpPr>
        <p:spPr>
          <a:xfrm>
            <a:off x="614100" y="1195200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5" name="Google Shape;225;p40"/>
          <p:cNvPicPr preferRelativeResize="0"/>
          <p:nvPr/>
        </p:nvPicPr>
        <p:blipFill>
          <a:blip r:embed="rId3"/>
          <a:srcRect t="669" b="669"/>
          <a:stretch/>
        </p:blipFill>
        <p:spPr>
          <a:xfrm>
            <a:off x="789920" y="1279645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3" name="Google Shape;225;p40">
            <a:extLst>
              <a:ext uri="{FF2B5EF4-FFF2-40B4-BE49-F238E27FC236}">
                <a16:creationId xmlns:a16="http://schemas.microsoft.com/office/drawing/2014/main" id="{C18948FA-AA9F-A34D-979C-C7E1397B69E5}"/>
              </a:ext>
            </a:extLst>
          </p:cNvPr>
          <p:cNvPicPr preferRelativeResize="0"/>
          <p:nvPr/>
        </p:nvPicPr>
        <p:blipFill>
          <a:blip r:embed="rId4"/>
          <a:srcRect t="3752" b="3752"/>
          <a:stretch/>
        </p:blipFill>
        <p:spPr>
          <a:xfrm>
            <a:off x="789920" y="2150641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4" name="Google Shape;225;p40">
            <a:extLst>
              <a:ext uri="{FF2B5EF4-FFF2-40B4-BE49-F238E27FC236}">
                <a16:creationId xmlns:a16="http://schemas.microsoft.com/office/drawing/2014/main" id="{401B034C-4DD5-3A42-B042-0F0E1FD288C3}"/>
              </a:ext>
            </a:extLst>
          </p:cNvPr>
          <p:cNvPicPr preferRelativeResize="0"/>
          <p:nvPr/>
        </p:nvPicPr>
        <p:blipFill>
          <a:blip r:embed="rId5"/>
          <a:srcRect t="11306" b="11306"/>
          <a:stretch/>
        </p:blipFill>
        <p:spPr>
          <a:xfrm>
            <a:off x="789920" y="3021637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15" name="Google Shape;225;p40">
            <a:extLst>
              <a:ext uri="{FF2B5EF4-FFF2-40B4-BE49-F238E27FC236}">
                <a16:creationId xmlns:a16="http://schemas.microsoft.com/office/drawing/2014/main" id="{6EF89EA8-22F9-5748-A259-8EC70A56A3CB}"/>
              </a:ext>
            </a:extLst>
          </p:cNvPr>
          <p:cNvPicPr preferRelativeResize="0"/>
          <p:nvPr/>
        </p:nvPicPr>
        <p:blipFill>
          <a:blip r:embed="rId6"/>
          <a:srcRect t="12897" b="12897"/>
          <a:stretch/>
        </p:blipFill>
        <p:spPr>
          <a:xfrm>
            <a:off x="789920" y="3894442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" name="Google Shape;222;p40">
            <a:extLst>
              <a:ext uri="{FF2B5EF4-FFF2-40B4-BE49-F238E27FC236}">
                <a16:creationId xmlns:a16="http://schemas.microsoft.com/office/drawing/2014/main" id="{0445F228-9D2B-3744-9505-97096EC8A520}"/>
              </a:ext>
            </a:extLst>
          </p:cNvPr>
          <p:cNvSpPr txBox="1">
            <a:spLocks/>
          </p:cNvSpPr>
          <p:nvPr/>
        </p:nvSpPr>
        <p:spPr>
          <a:xfrm>
            <a:off x="1708975" y="2248651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Антон </a:t>
            </a:r>
            <a:r>
              <a:rPr lang="ru-RU" sz="1517" b="1" dirty="0" err="1">
                <a:solidFill>
                  <a:srgbClr val="FF9900"/>
                </a:solidFill>
              </a:rPr>
              <a:t>Витвицкий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к.ф.-м.н. </a:t>
            </a:r>
            <a:r>
              <a:rPr lang="en-US" sz="1000" dirty="0">
                <a:solidFill>
                  <a:schemeClr val="tx1"/>
                </a:solidFill>
              </a:rPr>
              <a:t>Director of Computer Vision</a:t>
            </a:r>
          </a:p>
        </p:txBody>
      </p:sp>
      <p:sp>
        <p:nvSpPr>
          <p:cNvPr id="17" name="Google Shape;222;p40">
            <a:extLst>
              <a:ext uri="{FF2B5EF4-FFF2-40B4-BE49-F238E27FC236}">
                <a16:creationId xmlns:a16="http://schemas.microsoft.com/office/drawing/2014/main" id="{7D39B9E1-749C-A44D-8756-AE2FE1059967}"/>
              </a:ext>
            </a:extLst>
          </p:cNvPr>
          <p:cNvSpPr txBox="1">
            <a:spLocks/>
          </p:cNvSpPr>
          <p:nvPr/>
        </p:nvSpPr>
        <p:spPr>
          <a:xfrm>
            <a:off x="1708974" y="3123707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Виталий Сидоренко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Data Scientist</a:t>
            </a:r>
          </a:p>
        </p:txBody>
      </p:sp>
      <p:sp>
        <p:nvSpPr>
          <p:cNvPr id="18" name="Google Shape;222;p40">
            <a:extLst>
              <a:ext uri="{FF2B5EF4-FFF2-40B4-BE49-F238E27FC236}">
                <a16:creationId xmlns:a16="http://schemas.microsoft.com/office/drawing/2014/main" id="{5E38E83A-2787-5041-81F3-6A9D17FCAD22}"/>
              </a:ext>
            </a:extLst>
          </p:cNvPr>
          <p:cNvSpPr txBox="1">
            <a:spLocks/>
          </p:cNvSpPr>
          <p:nvPr/>
        </p:nvSpPr>
        <p:spPr>
          <a:xfrm>
            <a:off x="1708975" y="3992452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Андрей </a:t>
            </a:r>
            <a:r>
              <a:rPr lang="ru-RU" sz="1517" b="1" dirty="0" err="1">
                <a:solidFill>
                  <a:srgbClr val="FF9900"/>
                </a:solidFill>
              </a:rPr>
              <a:t>Канашов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Senior Data Scientist</a:t>
            </a:r>
          </a:p>
        </p:txBody>
      </p:sp>
      <p:sp>
        <p:nvSpPr>
          <p:cNvPr id="19" name="Google Shape;222;p40">
            <a:extLst>
              <a:ext uri="{FF2B5EF4-FFF2-40B4-BE49-F238E27FC236}">
                <a16:creationId xmlns:a16="http://schemas.microsoft.com/office/drawing/2014/main" id="{974809FF-7808-8A4F-AD58-B2F44123551C}"/>
              </a:ext>
            </a:extLst>
          </p:cNvPr>
          <p:cNvSpPr txBox="1">
            <a:spLocks/>
          </p:cNvSpPr>
          <p:nvPr/>
        </p:nvSpPr>
        <p:spPr>
          <a:xfrm>
            <a:off x="5293637" y="1426624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 err="1">
                <a:solidFill>
                  <a:srgbClr val="FF9900"/>
                </a:solidFill>
              </a:rPr>
              <a:t>Раиль</a:t>
            </a:r>
            <a:r>
              <a:rPr lang="ru-RU" sz="1517" b="1" dirty="0">
                <a:solidFill>
                  <a:srgbClr val="FF9900"/>
                </a:solidFill>
              </a:rPr>
              <a:t> Сулейманов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ML Engineer</a:t>
            </a:r>
          </a:p>
        </p:txBody>
      </p:sp>
      <p:sp>
        <p:nvSpPr>
          <p:cNvPr id="20" name="Google Shape;224;p40">
            <a:extLst>
              <a:ext uri="{FF2B5EF4-FFF2-40B4-BE49-F238E27FC236}">
                <a16:creationId xmlns:a16="http://schemas.microsoft.com/office/drawing/2014/main" id="{9C3D8589-53EF-4845-8266-7436B042D915}"/>
              </a:ext>
            </a:extLst>
          </p:cNvPr>
          <p:cNvSpPr/>
          <p:nvPr/>
        </p:nvSpPr>
        <p:spPr>
          <a:xfrm>
            <a:off x="7885691" y="1160853"/>
            <a:ext cx="520200" cy="361757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1" name="Google Shape;225;p40">
            <a:extLst>
              <a:ext uri="{FF2B5EF4-FFF2-40B4-BE49-F238E27FC236}">
                <a16:creationId xmlns:a16="http://schemas.microsoft.com/office/drawing/2014/main" id="{FA2761CE-DF28-0C43-A3F4-71C2EE7C4962}"/>
              </a:ext>
            </a:extLst>
          </p:cNvPr>
          <p:cNvPicPr preferRelativeResize="0"/>
          <p:nvPr/>
        </p:nvPicPr>
        <p:blipFill>
          <a:blip r:embed="rId7"/>
          <a:srcRect t="15240" b="15240"/>
          <a:stretch/>
        </p:blipFill>
        <p:spPr>
          <a:xfrm>
            <a:off x="7466227" y="1245298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3" name="Google Shape;225;p40">
            <a:extLst>
              <a:ext uri="{FF2B5EF4-FFF2-40B4-BE49-F238E27FC236}">
                <a16:creationId xmlns:a16="http://schemas.microsoft.com/office/drawing/2014/main" id="{1C0F122C-D206-FD4C-A64D-2A9D3CCEEB9C}"/>
              </a:ext>
            </a:extLst>
          </p:cNvPr>
          <p:cNvPicPr preferRelativeResize="0"/>
          <p:nvPr/>
        </p:nvPicPr>
        <p:blipFill>
          <a:blip r:embed="rId8"/>
          <a:srcRect t="9778" b="9778"/>
          <a:stretch/>
        </p:blipFill>
        <p:spPr>
          <a:xfrm>
            <a:off x="7466227" y="2987290"/>
            <a:ext cx="830100" cy="819000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24" name="Google Shape;225;p40">
            <a:extLst>
              <a:ext uri="{FF2B5EF4-FFF2-40B4-BE49-F238E27FC236}">
                <a16:creationId xmlns:a16="http://schemas.microsoft.com/office/drawing/2014/main" id="{9ACFEDD3-C2C5-2E43-B960-BE4DDAC3509D}"/>
              </a:ext>
            </a:extLst>
          </p:cNvPr>
          <p:cNvPicPr preferRelativeResize="0"/>
          <p:nvPr/>
        </p:nvPicPr>
        <p:blipFill>
          <a:blip r:embed="rId9"/>
          <a:srcRect l="963" r="963"/>
          <a:stretch/>
        </p:blipFill>
        <p:spPr>
          <a:xfrm>
            <a:off x="7466227" y="3860095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" name="Google Shape;222;p40">
            <a:extLst>
              <a:ext uri="{FF2B5EF4-FFF2-40B4-BE49-F238E27FC236}">
                <a16:creationId xmlns:a16="http://schemas.microsoft.com/office/drawing/2014/main" id="{6FEB9B0C-599D-6348-817F-440794CF89E4}"/>
              </a:ext>
            </a:extLst>
          </p:cNvPr>
          <p:cNvSpPr txBox="1">
            <a:spLocks/>
          </p:cNvSpPr>
          <p:nvPr/>
        </p:nvSpPr>
        <p:spPr>
          <a:xfrm>
            <a:off x="5293636" y="3172676"/>
            <a:ext cx="2083637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Евгений Романов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en-US" sz="1000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27" name="Google Shape;222;p40">
            <a:extLst>
              <a:ext uri="{FF2B5EF4-FFF2-40B4-BE49-F238E27FC236}">
                <a16:creationId xmlns:a16="http://schemas.microsoft.com/office/drawing/2014/main" id="{6C274C22-D92B-534C-B217-44DCDAD42111}"/>
              </a:ext>
            </a:extLst>
          </p:cNvPr>
          <p:cNvSpPr txBox="1">
            <a:spLocks/>
          </p:cNvSpPr>
          <p:nvPr/>
        </p:nvSpPr>
        <p:spPr>
          <a:xfrm>
            <a:off x="5293636" y="3992452"/>
            <a:ext cx="1991700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Александр </a:t>
            </a:r>
            <a:br>
              <a:rPr lang="ru-RU" sz="1517" b="1" dirty="0">
                <a:solidFill>
                  <a:srgbClr val="FF9900"/>
                </a:solidFill>
              </a:rPr>
            </a:br>
            <a:r>
              <a:rPr lang="ru-RU" sz="1517" b="1" dirty="0">
                <a:solidFill>
                  <a:srgbClr val="FF9900"/>
                </a:solidFill>
              </a:rPr>
              <a:t>Брут-</a:t>
            </a:r>
            <a:r>
              <a:rPr lang="ru-RU" sz="1517" b="1" dirty="0" err="1">
                <a:solidFill>
                  <a:srgbClr val="FF9900"/>
                </a:solidFill>
              </a:rPr>
              <a:t>Бруляко</a:t>
            </a:r>
            <a:endParaRPr lang="ru-RU" sz="1517" b="1" dirty="0">
              <a:solidFill>
                <a:srgbClr val="FF9900"/>
              </a:solidFill>
            </a:endParaRP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 инженер</a:t>
            </a:r>
            <a:endParaRPr lang="en-US" sz="1000" dirty="0">
              <a:solidFill>
                <a:schemeClr val="tx1"/>
              </a:solidFill>
            </a:endParaRPr>
          </a:p>
        </p:txBody>
      </p:sp>
      <p:pic>
        <p:nvPicPr>
          <p:cNvPr id="28" name="Google Shape;225;p40">
            <a:extLst>
              <a:ext uri="{FF2B5EF4-FFF2-40B4-BE49-F238E27FC236}">
                <a16:creationId xmlns:a16="http://schemas.microsoft.com/office/drawing/2014/main" id="{0AFAC779-1EA5-B545-A412-FB1501A1858C}"/>
              </a:ext>
            </a:extLst>
          </p:cNvPr>
          <p:cNvPicPr preferRelativeResize="0"/>
          <p:nvPr/>
        </p:nvPicPr>
        <p:blipFill>
          <a:blip r:embed="rId10"/>
          <a:srcRect t="10689" b="10689"/>
          <a:stretch/>
        </p:blipFill>
        <p:spPr>
          <a:xfrm>
            <a:off x="7466227" y="2116294"/>
            <a:ext cx="830100" cy="819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9" name="Google Shape;222;p40">
            <a:extLst>
              <a:ext uri="{FF2B5EF4-FFF2-40B4-BE49-F238E27FC236}">
                <a16:creationId xmlns:a16="http://schemas.microsoft.com/office/drawing/2014/main" id="{BA8E8661-1BB1-014A-A869-7370C93A1643}"/>
              </a:ext>
            </a:extLst>
          </p:cNvPr>
          <p:cNvSpPr txBox="1">
            <a:spLocks/>
          </p:cNvSpPr>
          <p:nvPr/>
        </p:nvSpPr>
        <p:spPr>
          <a:xfrm>
            <a:off x="5293636" y="2211034"/>
            <a:ext cx="2083636" cy="622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517" b="1" dirty="0">
                <a:solidFill>
                  <a:srgbClr val="FF9900"/>
                </a:solidFill>
              </a:rPr>
              <a:t>Алексей Кисляков</a:t>
            </a:r>
          </a:p>
          <a:p>
            <a:pPr marL="0" indent="0">
              <a:buClr>
                <a:srgbClr val="000000"/>
              </a:buClr>
              <a:buSzPts val="852"/>
              <a:buFont typeface="Arial"/>
              <a:buNone/>
            </a:pPr>
            <a:r>
              <a:rPr lang="ru-RU" sz="1000" dirty="0">
                <a:solidFill>
                  <a:schemeClr val="tx1"/>
                </a:solidFill>
              </a:rPr>
              <a:t>к.э.н., к.т.н. преподаватель/исследователь</a:t>
            </a:r>
            <a:endParaRPr 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17812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Расскажите о себе</a:t>
            </a:r>
            <a:endParaRPr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О курсе</a:t>
            </a:r>
            <a:r>
              <a:rPr lang="en-US" dirty="0"/>
              <a:t> ML Pro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9090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4664054" y="669270"/>
            <a:ext cx="2861081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учителем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657428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Обучение без учителя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657556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Введение в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2867539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текстовых данных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1947078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58920"/>
            <a:ext cx="2354366" cy="698508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500550" y="3512423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временных рядов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1947206"/>
            <a:ext cx="297650" cy="1209983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042401" y="3157189"/>
            <a:ext cx="2098433" cy="355234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06074" y="132517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6686076" y="129895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27420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24797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94932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468710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278196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251974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50" name="Google Shape;278;p44">
            <a:extLst>
              <a:ext uri="{FF2B5EF4-FFF2-40B4-BE49-F238E27FC236}">
                <a16:creationId xmlns:a16="http://schemas.microsoft.com/office/drawing/2014/main" id="{97C3207F-070C-984C-AB48-D6E345C22189}"/>
              </a:ext>
            </a:extLst>
          </p:cNvPr>
          <p:cNvSpPr/>
          <p:nvPr/>
        </p:nvSpPr>
        <p:spPr>
          <a:xfrm>
            <a:off x="5029546" y="4015038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Рекомендательные системы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" name="Curved Connector 5">
            <a:extLst>
              <a:ext uri="{FF2B5EF4-FFF2-40B4-BE49-F238E27FC236}">
                <a16:creationId xmlns:a16="http://schemas.microsoft.com/office/drawing/2014/main" id="{B500AC69-3C3E-EF47-9E8E-5DF23250CB04}"/>
              </a:ext>
            </a:extLst>
          </p:cNvPr>
          <p:cNvCxnSpPr>
            <a:cxnSpLocks/>
            <a:stCxn id="278" idx="3"/>
            <a:endCxn id="50" idx="1"/>
          </p:cNvCxnSpPr>
          <p:nvPr/>
        </p:nvCxnSpPr>
        <p:spPr>
          <a:xfrm>
            <a:off x="3584250" y="3802073"/>
            <a:ext cx="1445296" cy="502615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53" name="Google Shape;530;p82">
            <a:extLst>
              <a:ext uri="{FF2B5EF4-FFF2-40B4-BE49-F238E27FC236}">
                <a16:creationId xmlns:a16="http://schemas.microsoft.com/office/drawing/2014/main" id="{71E0AD10-6167-104D-86AB-51E4A2F2747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89306" y="351242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FFCD16D1-7338-474C-87C0-C4E822AF1808}"/>
              </a:ext>
            </a:extLst>
          </p:cNvPr>
          <p:cNvSpPr txBox="1"/>
          <p:nvPr/>
        </p:nvSpPr>
        <p:spPr>
          <a:xfrm>
            <a:off x="6469308" y="348620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5" name="Google Shape;530;p82">
            <a:extLst>
              <a:ext uri="{FF2B5EF4-FFF2-40B4-BE49-F238E27FC236}">
                <a16:creationId xmlns:a16="http://schemas.microsoft.com/office/drawing/2014/main" id="{1EACA93C-958F-BA4F-B67A-91550009AF9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89559" y="4119546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26E6D77-612D-964F-B16D-A944AF51913D}"/>
              </a:ext>
            </a:extLst>
          </p:cNvPr>
          <p:cNvSpPr txBox="1"/>
          <p:nvPr/>
        </p:nvSpPr>
        <p:spPr>
          <a:xfrm>
            <a:off x="2869561" y="4093324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6A74D20B-D29C-D14D-8BC8-1FDB5963C096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729441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8A4A8C1A-43F7-F643-A4B3-06134C736607}"/>
              </a:ext>
            </a:extLst>
          </p:cNvPr>
          <p:cNvSpPr txBox="1"/>
          <p:nvPr/>
        </p:nvSpPr>
        <p:spPr>
          <a:xfrm>
            <a:off x="2826219" y="2703219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61" name="Google Shape;530;p82">
            <a:extLst>
              <a:ext uri="{FF2B5EF4-FFF2-40B4-BE49-F238E27FC236}">
                <a16:creationId xmlns:a16="http://schemas.microsoft.com/office/drawing/2014/main" id="{EDDB19FF-038D-CF42-BC43-7D8BA7729002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7991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03ACE17-444B-A745-BBA3-68ACDF3B87FE}"/>
              </a:ext>
            </a:extLst>
          </p:cNvPr>
          <p:cNvSpPr txBox="1"/>
          <p:nvPr/>
        </p:nvSpPr>
        <p:spPr>
          <a:xfrm>
            <a:off x="6751398" y="245368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63" name="Google Shape;530;p82">
            <a:extLst>
              <a:ext uri="{FF2B5EF4-FFF2-40B4-BE49-F238E27FC236}">
                <a16:creationId xmlns:a16="http://schemas.microsoft.com/office/drawing/2014/main" id="{516E46BC-D0F7-364A-B41C-2B316294471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289306" y="3743731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EFC6AB73-366D-7D4A-9D2F-87F3E227209B}"/>
              </a:ext>
            </a:extLst>
          </p:cNvPr>
          <p:cNvSpPr txBox="1"/>
          <p:nvPr/>
        </p:nvSpPr>
        <p:spPr>
          <a:xfrm>
            <a:off x="6469308" y="3717509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65" name="Google Shape;278;p44">
            <a:extLst>
              <a:ext uri="{FF2B5EF4-FFF2-40B4-BE49-F238E27FC236}">
                <a16:creationId xmlns:a16="http://schemas.microsoft.com/office/drawing/2014/main" id="{6897773D-B894-8E4A-AAE1-7249D3456087}"/>
              </a:ext>
            </a:extLst>
          </p:cNvPr>
          <p:cNvSpPr/>
          <p:nvPr/>
        </p:nvSpPr>
        <p:spPr>
          <a:xfrm>
            <a:off x="500550" y="4471081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6" name="Curved Connector 65">
            <a:extLst>
              <a:ext uri="{FF2B5EF4-FFF2-40B4-BE49-F238E27FC236}">
                <a16:creationId xmlns:a16="http://schemas.microsoft.com/office/drawing/2014/main" id="{D054DBC9-5CA6-BE4B-A41E-B45733722C37}"/>
              </a:ext>
            </a:extLst>
          </p:cNvPr>
          <p:cNvCxnSpPr>
            <a:cxnSpLocks/>
            <a:stCxn id="65" idx="3"/>
            <a:endCxn id="50" idx="2"/>
          </p:cNvCxnSpPr>
          <p:nvPr/>
        </p:nvCxnSpPr>
        <p:spPr>
          <a:xfrm flipV="1">
            <a:off x="3584250" y="4594338"/>
            <a:ext cx="2987146" cy="166393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69" name="Google Shape;530;p82">
            <a:extLst>
              <a:ext uri="{FF2B5EF4-FFF2-40B4-BE49-F238E27FC236}">
                <a16:creationId xmlns:a16="http://schemas.microsoft.com/office/drawing/2014/main" id="{EF098809-DE09-5A45-A08C-26A3ABFAED7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91465" y="4669450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0237C4BE-881B-704D-B08A-86E380F5132F}"/>
              </a:ext>
            </a:extLst>
          </p:cNvPr>
          <p:cNvSpPr txBox="1"/>
          <p:nvPr/>
        </p:nvSpPr>
        <p:spPr>
          <a:xfrm>
            <a:off x="7471467" y="4643228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учителем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22479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Вводная лекция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 градиентного спуска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EDA, cross-validation,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метрики качества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Деревья решений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Ансамбли моделей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Градиентный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бустинг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975739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4140743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534369" y="4084649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 опорных векторов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060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без учителя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Методы уменьшения размерности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K-means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Иерархическая кластеризация.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DB-Scan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Поиск аномалий в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Построение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end-to-end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пайплайнов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сериализация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моделей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Алгоритмы на графах, часть 1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Google Shape;530;p82">
            <a:extLst>
              <a:ext uri="{FF2B5EF4-FFF2-40B4-BE49-F238E27FC236}">
                <a16:creationId xmlns:a16="http://schemas.microsoft.com/office/drawing/2014/main" id="{43F299C2-9666-D540-A69A-8BF402009BEF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07797" y="2741182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B64000B9-CA8D-D74A-98B4-3BFBB2C52658}"/>
              </a:ext>
            </a:extLst>
          </p:cNvPr>
          <p:cNvSpPr txBox="1"/>
          <p:nvPr/>
        </p:nvSpPr>
        <p:spPr>
          <a:xfrm rot="20748746">
            <a:off x="7576099" y="2689130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Алгоритмы на графах, часть 2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oogle Shape;530;p82">
            <a:extLst>
              <a:ext uri="{FF2B5EF4-FFF2-40B4-BE49-F238E27FC236}">
                <a16:creationId xmlns:a16="http://schemas.microsoft.com/office/drawing/2014/main" id="{2B006970-76D2-C94D-B5E6-1A29F1933D1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6946" y="3210981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5ED362C-B448-6340-9345-CF19C9B1B553}"/>
              </a:ext>
            </a:extLst>
          </p:cNvPr>
          <p:cNvSpPr txBox="1"/>
          <p:nvPr/>
        </p:nvSpPr>
        <p:spPr>
          <a:xfrm rot="20748746">
            <a:off x="7576100" y="3154887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28661" y="414448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87815" y="408838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61" name="Table 23">
            <a:extLst>
              <a:ext uri="{FF2B5EF4-FFF2-40B4-BE49-F238E27FC236}">
                <a16:creationId xmlns:a16="http://schemas.microsoft.com/office/drawing/2014/main" id="{65C7F050-A8DF-1B43-B566-D167AFB531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16848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0002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 в </a:t>
            </a:r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Deep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нейросети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PyTorch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, часть 1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Продвинутые методы оптимизации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Борьба с переобучение нейросетей, взрыв и затухание градиентов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 err="1">
                <a:solidFill>
                  <a:srgbClr val="1F1F1F"/>
                </a:solidFill>
                <a:latin typeface="Google Sans"/>
                <a:sym typeface="Roboto"/>
              </a:rPr>
              <a:t>PyTorch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, часть 2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Сверточные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сети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Google Shape;271;p44">
            <a:extLst>
              <a:ext uri="{FF2B5EF4-FFF2-40B4-BE49-F238E27FC236}">
                <a16:creationId xmlns:a16="http://schemas.microsoft.com/office/drawing/2014/main" id="{CD4648EE-4981-1C40-98CD-846EEDC388C8}"/>
              </a:ext>
            </a:extLst>
          </p:cNvPr>
          <p:cNvSpPr/>
          <p:nvPr/>
        </p:nvSpPr>
        <p:spPr>
          <a:xfrm>
            <a:off x="2226712" y="456962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Рекуррентные сети</a:t>
            </a:r>
          </a:p>
        </p:txBody>
      </p:sp>
      <p:cxnSp>
        <p:nvCxnSpPr>
          <p:cNvPr id="50" name="Elbow Connector 49">
            <a:extLst>
              <a:ext uri="{FF2B5EF4-FFF2-40B4-BE49-F238E27FC236}">
                <a16:creationId xmlns:a16="http://schemas.microsoft.com/office/drawing/2014/main" id="{806C2769-7006-144D-B0DC-4BE4A7051D5B}"/>
              </a:ext>
            </a:extLst>
          </p:cNvPr>
          <p:cNvCxnSpPr>
            <a:cxnSpLocks/>
            <a:stCxn id="271" idx="2"/>
            <a:endCxn id="49" idx="1"/>
          </p:cNvCxnSpPr>
          <p:nvPr/>
        </p:nvCxnSpPr>
        <p:spPr>
          <a:xfrm rot="16200000" flipH="1">
            <a:off x="474795" y="3015708"/>
            <a:ext cx="308390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oogle Shape;530;p82">
            <a:extLst>
              <a:ext uri="{FF2B5EF4-FFF2-40B4-BE49-F238E27FC236}">
                <a16:creationId xmlns:a16="http://schemas.microsoft.com/office/drawing/2014/main" id="{2B006970-76D2-C94D-B5E6-1A29F1933D1C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6945" y="4605626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5ED362C-B448-6340-9345-CF19C9B1B553}"/>
              </a:ext>
            </a:extLst>
          </p:cNvPr>
          <p:cNvSpPr txBox="1"/>
          <p:nvPr/>
        </p:nvSpPr>
        <p:spPr>
          <a:xfrm rot="20748746">
            <a:off x="7576099" y="4549532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28661" y="414448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87815" y="408838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61" name="Table 23">
            <a:extLst>
              <a:ext uri="{FF2B5EF4-FFF2-40B4-BE49-F238E27FC236}">
                <a16:creationId xmlns:a16="http://schemas.microsoft.com/office/drawing/2014/main" id="{387AF42C-47DF-2F4C-A291-F3FAD04C9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328278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9836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Анализ текстовых данных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Сбор данных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Предобработка и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токенизация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Векторные представления слов, </a:t>
            </a:r>
            <a:b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работа с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предобученными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эмбеддингами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Понятие языковой модели,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RNN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для работы с текстом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2458029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71191" y="2401935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4" name="Notched Right Arrow 3">
            <a:extLst>
              <a:ext uri="{FF2B5EF4-FFF2-40B4-BE49-F238E27FC236}">
                <a16:creationId xmlns:a16="http://schemas.microsoft.com/office/drawing/2014/main" id="{6C70E98D-9B16-3848-B370-110B5BFC3522}"/>
              </a:ext>
            </a:extLst>
          </p:cNvPr>
          <p:cNvSpPr/>
          <p:nvPr/>
        </p:nvSpPr>
        <p:spPr>
          <a:xfrm rot="5400000">
            <a:off x="3056373" y="4179237"/>
            <a:ext cx="597920" cy="484632"/>
          </a:xfrm>
          <a:prstGeom prst="notchedRightArrow">
            <a:avLst/>
          </a:prstGeom>
          <a:solidFill>
            <a:srgbClr val="FFD966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5" name="Table 23">
            <a:extLst>
              <a:ext uri="{FF2B5EF4-FFF2-40B4-BE49-F238E27FC236}">
                <a16:creationId xmlns:a16="http://schemas.microsoft.com/office/drawing/2014/main" id="{E0DB47F0-1577-A045-82C1-EE21529681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76005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02642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данных. Анализ текстовых данных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43205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Архитектура </a:t>
            </a:r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трансформер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962077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Transfer Learning.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Архитектура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BERT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9209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Named Entity Recognition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402211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Тематическое моделирование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543580" y="1946922"/>
            <a:ext cx="94633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278569" y="2211933"/>
            <a:ext cx="1476358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013559" y="2476943"/>
            <a:ext cx="200637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748548" y="2741954"/>
            <a:ext cx="253640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3006" y="2995284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72160" y="2939190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33" name="Google Shape;271;p44">
            <a:extLst>
              <a:ext uri="{FF2B5EF4-FFF2-40B4-BE49-F238E27FC236}">
                <a16:creationId xmlns:a16="http://schemas.microsoft.com/office/drawing/2014/main" id="{3FED2974-94C2-824C-B391-10805E2D36B3}"/>
              </a:ext>
            </a:extLst>
          </p:cNvPr>
          <p:cNvSpPr/>
          <p:nvPr/>
        </p:nvSpPr>
        <p:spPr>
          <a:xfrm>
            <a:off x="2238429" y="1904328"/>
            <a:ext cx="5355965" cy="396000"/>
          </a:xfrm>
          <a:prstGeom prst="roundRect">
            <a:avLst>
              <a:gd name="adj" fmla="val 16667"/>
            </a:avLst>
          </a:prstGeom>
          <a:gradFill flip="none" rotWithShape="1">
            <a:gsLst>
              <a:gs pos="0">
                <a:schemeClr val="bg1">
                  <a:lumMod val="0"/>
                  <a:lumOff val="100000"/>
                </a:schemeClr>
              </a:gs>
              <a:gs pos="100000">
                <a:srgbClr val="FFD966"/>
              </a:gs>
              <a:gs pos="100000">
                <a:schemeClr val="accent1">
                  <a:lumMod val="45000"/>
                  <a:lumOff val="55000"/>
                </a:schemeClr>
              </a:gs>
              <a:gs pos="51000">
                <a:srgbClr val="FFD966">
                  <a:lumMod val="22592"/>
                  <a:lumOff val="77408"/>
                </a:srgbClr>
              </a:gs>
            </a:gsLst>
            <a:lin ang="5400000" scaled="1"/>
            <a:tileRect/>
          </a:gra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…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5" name="Elbow Connector 4">
            <a:extLst>
              <a:ext uri="{FF2B5EF4-FFF2-40B4-BE49-F238E27FC236}">
                <a16:creationId xmlns:a16="http://schemas.microsoft.com/office/drawing/2014/main" id="{9979A166-FE18-0143-9C5F-3262DEC8F68F}"/>
              </a:ext>
            </a:extLst>
          </p:cNvPr>
          <p:cNvCxnSpPr>
            <a:stCxn id="271" idx="2"/>
            <a:endCxn id="33" idx="1"/>
          </p:cNvCxnSpPr>
          <p:nvPr/>
        </p:nvCxnSpPr>
        <p:spPr>
          <a:xfrm rot="16200000" flipH="1">
            <a:off x="1813302" y="1677200"/>
            <a:ext cx="418609" cy="43164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1" name="Table 23">
            <a:extLst>
              <a:ext uri="{FF2B5EF4-FFF2-40B4-BE49-F238E27FC236}">
                <a16:creationId xmlns:a16="http://schemas.microsoft.com/office/drawing/2014/main" id="{1738E95F-CCBA-3141-B23A-F828A74404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881633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48166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Анализ временных рядов</a:t>
            </a:r>
            <a:endParaRPr lang="en-US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Постановка задачи, простейшие методы.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ARIMA-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модель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Извлечение признаков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Кластеризация временных рядов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F1CFE2F-28F6-854C-B875-84E1551E53BA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8174" y="246137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AAA4539-F01D-3B46-8649-E7BCB5ED75D3}"/>
              </a:ext>
            </a:extLst>
          </p:cNvPr>
          <p:cNvSpPr txBox="1"/>
          <p:nvPr/>
        </p:nvSpPr>
        <p:spPr>
          <a:xfrm rot="20748746">
            <a:off x="7577328" y="240527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39" name="Table 23">
            <a:extLst>
              <a:ext uri="{FF2B5EF4-FFF2-40B4-BE49-F238E27FC236}">
                <a16:creationId xmlns:a16="http://schemas.microsoft.com/office/drawing/2014/main" id="{3C31679A-FB0A-3C47-A6F2-01B73019F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142745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73818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78033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рекомендательные системы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245220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 err="1">
                <a:solidFill>
                  <a:srgbClr val="1F1F1F"/>
                </a:solidFill>
                <a:latin typeface="Google Sans"/>
                <a:sym typeface="Roboto"/>
              </a:rPr>
              <a:t>Коллаборативная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 фильтрация</a:t>
            </a:r>
            <a:endParaRPr lang="en-US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710101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Контентная фильтрация, гибридные подходы. </a:t>
            </a:r>
            <a:b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</a:b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Ассоциативные правила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17498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Методы матричной факторизации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7" name="Google Shape;271;p44">
            <a:extLst>
              <a:ext uri="{FF2B5EF4-FFF2-40B4-BE49-F238E27FC236}">
                <a16:creationId xmlns:a16="http://schemas.microsoft.com/office/drawing/2014/main" id="{93DB87C6-9A77-BE48-AFE8-9E6FD684BDEB}"/>
              </a:ext>
            </a:extLst>
          </p:cNvPr>
          <p:cNvSpPr/>
          <p:nvPr/>
        </p:nvSpPr>
        <p:spPr>
          <a:xfrm>
            <a:off x="2226712" y="363986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Практическое занятие по рекомендательным системам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" name="Google Shape;271;p44">
            <a:extLst>
              <a:ext uri="{FF2B5EF4-FFF2-40B4-BE49-F238E27FC236}">
                <a16:creationId xmlns:a16="http://schemas.microsoft.com/office/drawing/2014/main" id="{FCFA0A0F-0529-E544-9923-E3AAE4181126}"/>
              </a:ext>
            </a:extLst>
          </p:cNvPr>
          <p:cNvSpPr/>
          <p:nvPr/>
        </p:nvSpPr>
        <p:spPr>
          <a:xfrm>
            <a:off x="2226713" y="410474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Apache Spark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69438" y="1621064"/>
            <a:ext cx="29462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636998" y="1853504"/>
            <a:ext cx="75950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404557" y="2085945"/>
            <a:ext cx="122438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172117" y="2318385"/>
            <a:ext cx="1689263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77BABB97-37B4-2248-9138-F1BB4D6122DE}"/>
              </a:ext>
            </a:extLst>
          </p:cNvPr>
          <p:cNvCxnSpPr>
            <a:stCxn id="271" idx="2"/>
            <a:endCxn id="17" idx="1"/>
          </p:cNvCxnSpPr>
          <p:nvPr/>
        </p:nvCxnSpPr>
        <p:spPr>
          <a:xfrm rot="16200000" flipH="1">
            <a:off x="939676" y="2550827"/>
            <a:ext cx="2154144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E9CB2CD1-40F9-FB4A-9875-639CC68A7199}"/>
              </a:ext>
            </a:extLst>
          </p:cNvPr>
          <p:cNvCxnSpPr>
            <a:stCxn id="271" idx="2"/>
            <a:endCxn id="18" idx="1"/>
          </p:cNvCxnSpPr>
          <p:nvPr/>
        </p:nvCxnSpPr>
        <p:spPr>
          <a:xfrm rot="16200000" flipH="1">
            <a:off x="707236" y="2783266"/>
            <a:ext cx="261902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oogle Shape;530;p82">
            <a:extLst>
              <a:ext uri="{FF2B5EF4-FFF2-40B4-BE49-F238E27FC236}">
                <a16:creationId xmlns:a16="http://schemas.microsoft.com/office/drawing/2014/main" id="{D059CBA0-57A7-9244-B33B-1844B71555C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09579" y="274060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698F3392-9D7A-FB49-835B-462B8F38FD32}"/>
              </a:ext>
            </a:extLst>
          </p:cNvPr>
          <p:cNvSpPr txBox="1"/>
          <p:nvPr/>
        </p:nvSpPr>
        <p:spPr>
          <a:xfrm rot="20748746">
            <a:off x="7568733" y="268450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graphicFrame>
        <p:nvGraphicFramePr>
          <p:cNvPr id="46" name="Table 23">
            <a:extLst>
              <a:ext uri="{FF2B5EF4-FFF2-40B4-BE49-F238E27FC236}">
                <a16:creationId xmlns:a16="http://schemas.microsoft.com/office/drawing/2014/main" id="{47AF300B-F13F-C547-8315-DAEA8D78C1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2429774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131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Выбор и обсуждение темы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Предзащита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461414"/>
            <a:ext cx="3035751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Защита проектных работ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cxnSpLocks/>
            <a:stCxn id="271" idx="2"/>
            <a:endCxn id="15" idx="1"/>
          </p:cNvCxnSpPr>
          <p:nvPr/>
        </p:nvCxnSpPr>
        <p:spPr>
          <a:xfrm rot="16200000" flipH="1">
            <a:off x="1028901" y="2461601"/>
            <a:ext cx="1975695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7D3A5F98-F024-0E46-989B-34E1B0491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464" y="2943932"/>
            <a:ext cx="2989203" cy="1992802"/>
          </a:xfrm>
          <a:prstGeom prst="rect">
            <a:avLst/>
          </a:prstGeom>
          <a:effectLst>
            <a:softEdge rad="0"/>
          </a:effectLst>
        </p:spPr>
      </p:pic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116D62D7-867B-F541-8C02-1D8DC2EB3E4F}"/>
              </a:ext>
            </a:extLst>
          </p:cNvPr>
          <p:cNvSpPr/>
          <p:nvPr/>
        </p:nvSpPr>
        <p:spPr>
          <a:xfrm>
            <a:off x="2226713" y="2931393"/>
            <a:ext cx="3035751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Предзащита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A294CF90-DC78-094B-8AE5-A31327A356E2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1293911" y="2196591"/>
            <a:ext cx="144567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Table 23">
            <a:extLst>
              <a:ext uri="{FF2B5EF4-FFF2-40B4-BE49-F238E27FC236}">
                <a16:creationId xmlns:a16="http://schemas.microsoft.com/office/drawing/2014/main" id="{24303127-D7C4-E749-9E8B-5548EA3E8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1082169"/>
              </p:ext>
            </p:extLst>
          </p:nvPr>
        </p:nvGraphicFramePr>
        <p:xfrm>
          <a:off x="5355767" y="573874"/>
          <a:ext cx="2419494" cy="304800"/>
        </p:xfrm>
        <a:graphic>
          <a:graphicData uri="http://schemas.openxmlformats.org/drawingml/2006/table">
            <a:tbl>
              <a:tblPr firstRow="1" bandRow="1">
                <a:tableStyleId>{91CB5BBF-14A1-44A8-AE45-40D0EF8F1E93}</a:tableStyleId>
              </a:tblPr>
              <a:tblGrid>
                <a:gridCol w="34564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45642">
                  <a:extLst>
                    <a:ext uri="{9D8B030D-6E8A-4147-A177-3AD203B41FA5}">
                      <a16:colId xmlns:a16="http://schemas.microsoft.com/office/drawing/2014/main" val="23960839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52229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</a:t>
            </a:r>
            <a:r>
              <a:rPr lang="en-US" sz="1300" b="1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</a:t>
            </a: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 дня в неделю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984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 такие моменты вспоминайте</a:t>
            </a:r>
            <a:endParaRPr sz="11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 :) </a:t>
            </a:r>
            <a:endParaRPr sz="1100" dirty="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Комьюнити менеджер: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На связи в рабочее время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Ответит на все организационные вопросы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Поможет с подключениями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Преподаватель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Проводит вебинары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Отвечает на вопросы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Проверяет ДЗ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Руководитель курса: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Выбор курсового проекта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Консультирование по сложным вопросам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Консульирование по курсовому проекту</a:t>
            </a:r>
          </a:p>
        </p:txBody>
      </p:sp>
      <p:pic>
        <p:nvPicPr>
          <p:cNvPr id="9" name="Google Shape;530;p82">
            <a:extLst>
              <a:ext uri="{FF2B5EF4-FFF2-40B4-BE49-F238E27FC236}">
                <a16:creationId xmlns:a16="http://schemas.microsoft.com/office/drawing/2014/main" id="{6399020F-EA36-354A-BDAF-1F3E86191C1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67831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553;p83">
            <a:extLst>
              <a:ext uri="{FF2B5EF4-FFF2-40B4-BE49-F238E27FC236}">
                <a16:creationId xmlns:a16="http://schemas.microsoft.com/office/drawing/2014/main" id="{E02214EB-08B0-264A-85A5-18B9DEBACBA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3922565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47;p83">
            <a:extLst>
              <a:ext uri="{FF2B5EF4-FFF2-40B4-BE49-F238E27FC236}">
                <a16:creationId xmlns:a16="http://schemas.microsoft.com/office/drawing/2014/main" id="{579BB668-A6A3-0649-B4B7-6E200F44F9A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2611580"/>
            <a:ext cx="620721" cy="6207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Технические моменты</a:t>
            </a:r>
            <a:endParaRPr dirty="0"/>
          </a:p>
        </p:txBody>
      </p:sp>
      <p:pic>
        <p:nvPicPr>
          <p:cNvPr id="335" name="Google Shape;335;p50"/>
          <p:cNvPicPr preferRelativeResize="0">
            <a:picLocks noChangeAspect="1"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622800" cy="622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>
            <a:picLocks noChangeAspect="1"/>
          </p:cNvPicPr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547150"/>
            <a:ext cx="622800" cy="6228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Стек технологий: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Пакетные менеджеры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 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512846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Jupyter notebook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VSCode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PyCharm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762975"/>
            <a:ext cx="6825300" cy="1104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разработка алгоритмов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рименение алгоритмов для решения практических задач</a:t>
            </a:r>
            <a:endParaRPr lang="en-US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применение популярных фреймворков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762975"/>
            <a:ext cx="622800" cy="62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 txBox="1">
            <a:spLocks noGrp="1"/>
          </p:cNvSpPr>
          <p:nvPr>
            <p:ph type="title"/>
          </p:nvPr>
        </p:nvSpPr>
        <p:spPr>
          <a:xfrm>
            <a:off x="956225" y="396400"/>
            <a:ext cx="6931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Проекты выполненные студентами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Проекты студентов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823D37-2F38-AE43-9D46-FB37EB703A26}"/>
              </a:ext>
            </a:extLst>
          </p:cNvPr>
          <p:cNvSpPr txBox="1"/>
          <p:nvPr/>
        </p:nvSpPr>
        <p:spPr>
          <a:xfrm>
            <a:off x="500550" y="986700"/>
            <a:ext cx="8459343" cy="41242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</a:pPr>
            <a:r>
              <a:rPr lang="ru-RU" b="1" dirty="0"/>
              <a:t>Вы все имеете возможность опубликовать ваш курсовой проект в нашем канале на сайте </a:t>
            </a:r>
            <a:r>
              <a:rPr lang="en-US" b="1" dirty="0" err="1">
                <a:hlinkClick r:id="rId3"/>
              </a:rPr>
              <a:t>habr.com</a:t>
            </a:r>
            <a:endParaRPr lang="ru-RU" b="1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Рекомендательная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торговой</a:t>
            </a:r>
            <a:r>
              <a:rPr lang="en-US" dirty="0"/>
              <a:t> </a:t>
            </a:r>
            <a:r>
              <a:rPr lang="en-US" dirty="0" err="1"/>
              <a:t>сети</a:t>
            </a:r>
            <a:r>
              <a:rPr lang="en-US" dirty="0"/>
              <a:t> </a:t>
            </a:r>
            <a:r>
              <a:rPr lang="en-US" dirty="0">
                <a:hlinkClick r:id="rId4"/>
              </a:rPr>
              <a:t>https://habr.com/ru/companies/otus/articles/648891/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форума </a:t>
            </a:r>
            <a:r>
              <a:rPr lang="en-US" dirty="0">
                <a:hlinkClick r:id="rId5"/>
              </a:rPr>
              <a:t>https://habr.com/ru/companies/otus/articles/503398/</a:t>
            </a:r>
            <a:endParaRPr lang="ru-RU" dirty="0"/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 Предсказание </a:t>
            </a:r>
            <a:r>
              <a:rPr lang="ru-RU" dirty="0" err="1"/>
              <a:t>горимости</a:t>
            </a:r>
            <a:r>
              <a:rPr lang="ru-RU" dirty="0"/>
              <a:t> территорий</a:t>
            </a:r>
            <a:r>
              <a:rPr lang="en-US" dirty="0"/>
              <a:t> </a:t>
            </a:r>
            <a:r>
              <a:rPr lang="en-US" dirty="0">
                <a:hlinkClick r:id="rId6"/>
              </a:rPr>
              <a:t>https://habr.com/ru/companies/otus/articles/675954/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Тематическое моделирование сообществ в </a:t>
            </a:r>
            <a:r>
              <a:rPr lang="en-US" dirty="0"/>
              <a:t>Telegram </a:t>
            </a:r>
            <a:r>
              <a:rPr lang="en-US" dirty="0">
                <a:hlinkClick r:id="rId7"/>
              </a:rPr>
              <a:t>https://habr.com/ru/companies/otus/articles/672450/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Обработка временных рядов и байесовские модели для распознавания рукописного текста</a:t>
            </a:r>
            <a:r>
              <a:rPr lang="en-US" dirty="0"/>
              <a:t> </a:t>
            </a:r>
            <a:r>
              <a:rPr lang="en-US" dirty="0">
                <a:hlinkClick r:id="rId8"/>
              </a:rPr>
              <a:t>https://habr.com/ru/companies/otus/articles/651895/</a:t>
            </a:r>
            <a:r>
              <a:rPr lang="en-US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Анализ шедевров живописи </a:t>
            </a:r>
            <a:r>
              <a:rPr lang="en-US" dirty="0">
                <a:hlinkClick r:id="rId9"/>
              </a:rPr>
              <a:t>https://habr.com/ru/companies/otus/articles/504806/</a:t>
            </a:r>
            <a:r>
              <a:rPr lang="ru-RU" dirty="0"/>
              <a:t> </a:t>
            </a: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dirty="0"/>
              <a:t>Построение векторов личности по характеристикам человека </a:t>
            </a:r>
            <a:r>
              <a:rPr lang="en-US" dirty="0">
                <a:hlinkClick r:id="rId10"/>
              </a:rPr>
              <a:t>https://habr.com/ru/companies/otus/articles/675898/</a:t>
            </a:r>
            <a:r>
              <a:rPr lang="ru-RU" dirty="0"/>
              <a:t> </a:t>
            </a:r>
            <a:endParaRPr lang="en-US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Machine</a:t>
            </a:r>
            <a:r>
              <a:rPr lang="ru" sz="4900" dirty="0"/>
              <a:t> Learning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Место</a:t>
            </a:r>
            <a:r>
              <a:rPr lang="ru" dirty="0"/>
              <a:t> машинного обучения</a:t>
            </a:r>
            <a:endParaRPr dirty="0"/>
          </a:p>
        </p:txBody>
      </p:sp>
      <p:pic>
        <p:nvPicPr>
          <p:cNvPr id="325" name="Google Shape;32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551" y="985329"/>
            <a:ext cx="4970898" cy="41581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</a:t>
            </a:r>
            <a:r>
              <a:rPr lang="ru-RU" dirty="0"/>
              <a:t>и</a:t>
            </a:r>
            <a:r>
              <a:rPr lang="ru" dirty="0"/>
              <a:t> парадигмы машинного обучения</a:t>
            </a:r>
            <a:endParaRPr dirty="0"/>
          </a:p>
        </p:txBody>
      </p:sp>
      <p:pic>
        <p:nvPicPr>
          <p:cNvPr id="324" name="Google Shape;324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2068" y="985329"/>
            <a:ext cx="6199864" cy="41581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089486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8"/>
          <p:cNvSpPr txBox="1"/>
          <p:nvPr/>
        </p:nvSpPr>
        <p:spPr>
          <a:xfrm>
            <a:off x="197494" y="3597909"/>
            <a:ext cx="8641705" cy="1431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подкреплением</a:t>
            </a:r>
            <a:endParaRPr sz="1200" b="1" dirty="0">
              <a:solidFill>
                <a:srgbClr val="FF77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взаимодействует со средой методом проб и ошибок, чтобы выработать наиболее оптимальное поведение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 максимизации получаемого вознаграждения.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Агент своими действиями может влиять на последующие состояния среды и получаемое вознаграждение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 том числе отложенное).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https://otus.ru/lessons/reinforcement-learning-cours/</a:t>
            </a:r>
            <a:r>
              <a:rPr lang="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48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Три парадигмы машинного обучения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924AF-833D-D94B-AA07-D19892893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32" y="1195426"/>
            <a:ext cx="3482225" cy="19532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11D4F1-8530-D443-A772-64D4E93E7018}"/>
              </a:ext>
            </a:extLst>
          </p:cNvPr>
          <p:cNvSpPr txBox="1"/>
          <p:nvPr/>
        </p:nvSpPr>
        <p:spPr>
          <a:xfrm>
            <a:off x="3614057" y="1110201"/>
            <a:ext cx="5225142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с учителем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на основе прецедентов (пары стимул-реакция), с целью восстановления / приближения потенциальной функциональной связи между входными и выходными сигналами.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7700"/>
                </a:solidFill>
                <a:latin typeface="Roboto"/>
                <a:ea typeface="Roboto"/>
                <a:cs typeface="Roboto"/>
                <a:sym typeface="Roboto"/>
              </a:rPr>
              <a:t>Обучение без учителя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Модель обучается с целью обнаружения структуры в некотором пространстве объектов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(внутренние взаимосвязи, зависимости, закономерности).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B890C84-D27A-BD48-9093-2272F13E250F}"/>
              </a:ext>
            </a:extLst>
          </p:cNvPr>
          <p:cNvSpPr/>
          <p:nvPr/>
        </p:nvSpPr>
        <p:spPr>
          <a:xfrm>
            <a:off x="3657600" y="1110201"/>
            <a:ext cx="5044542" cy="2038433"/>
          </a:xfrm>
          <a:prstGeom prst="roundRect">
            <a:avLst>
              <a:gd name="adj" fmla="val 7936"/>
            </a:avLst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576C4-96A4-314B-ACEB-15F5BE54B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Machine Learning vs Software development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342B6-76BF-224A-9C1B-2D128F3E4D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551"/>
          <a:stretch/>
        </p:blipFill>
        <p:spPr>
          <a:xfrm>
            <a:off x="311700" y="1479691"/>
            <a:ext cx="4018007" cy="27670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D17F3-48DC-A140-BA5A-3684A310B6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304" b="27626"/>
          <a:stretch/>
        </p:blipFill>
        <p:spPr>
          <a:xfrm>
            <a:off x="4814295" y="1479691"/>
            <a:ext cx="4084228" cy="2767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7900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914F0-D94C-9547-9686-BBFDDE8B6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Задача: кошка или собака</a:t>
            </a:r>
            <a:endParaRPr lang="en-US" dirty="0"/>
          </a:p>
        </p:txBody>
      </p:sp>
      <p:pic>
        <p:nvPicPr>
          <p:cNvPr id="4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04D9B734-C5DB-7B4A-86D8-9AC656C0DF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75" y="1153161"/>
            <a:ext cx="6834527" cy="3838727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785942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4" name="Google Shape;308;gaf7c1d9c3d_0_148">
            <a:extLst>
              <a:ext uri="{FF2B5EF4-FFF2-40B4-BE49-F238E27FC236}">
                <a16:creationId xmlns:a16="http://schemas.microsoft.com/office/drawing/2014/main" id="{E844D687-472B-2248-9E7C-5607ADE25BA6}"/>
              </a:ext>
            </a:extLst>
          </p:cNvPr>
          <p:cNvGrpSpPr/>
          <p:nvPr/>
        </p:nvGrpSpPr>
        <p:grpSpPr>
          <a:xfrm>
            <a:off x="3419886" y="2455485"/>
            <a:ext cx="2304227" cy="863777"/>
            <a:chOff x="-1" y="0"/>
            <a:chExt cx="3072302" cy="1151700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1155120E-04E2-144E-99E9-2AC2B2BEE52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6" name="Computer">
              <a:extLst>
                <a:ext uri="{FF2B5EF4-FFF2-40B4-BE49-F238E27FC236}">
                  <a16:creationId xmlns:a16="http://schemas.microsoft.com/office/drawing/2014/main" id="{BE4B0D49-C5F5-D44C-BD9F-93CA5EB50F1C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7" name="Google Shape;309;gaf7c1d9c3d_0_148">
            <a:extLst>
              <a:ext uri="{FF2B5EF4-FFF2-40B4-BE49-F238E27FC236}">
                <a16:creationId xmlns:a16="http://schemas.microsoft.com/office/drawing/2014/main" id="{E7F5699E-51E6-374B-92A5-B3C62ACC4871}"/>
              </a:ext>
            </a:extLst>
          </p:cNvPr>
          <p:cNvGrpSpPr/>
          <p:nvPr/>
        </p:nvGrpSpPr>
        <p:grpSpPr>
          <a:xfrm>
            <a:off x="785346" y="2204498"/>
            <a:ext cx="1800226" cy="501977"/>
            <a:chOff x="0" y="0"/>
            <a:chExt cx="2400300" cy="669300"/>
          </a:xfrm>
        </p:grpSpPr>
        <p:sp>
          <p:nvSpPr>
            <p:cNvPr id="8" name="Rectangle">
              <a:extLst>
                <a:ext uri="{FF2B5EF4-FFF2-40B4-BE49-F238E27FC236}">
                  <a16:creationId xmlns:a16="http://schemas.microsoft.com/office/drawing/2014/main" id="{C04A12AE-B9D0-5E40-9861-7403FF083791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" name="Data">
              <a:extLst>
                <a:ext uri="{FF2B5EF4-FFF2-40B4-BE49-F238E27FC236}">
                  <a16:creationId xmlns:a16="http://schemas.microsoft.com/office/drawing/2014/main" id="{62EA0BA7-7121-894D-B057-482F1BC0CD1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10" name="Google Shape;310;gaf7c1d9c3d_0_148">
            <a:extLst>
              <a:ext uri="{FF2B5EF4-FFF2-40B4-BE49-F238E27FC236}">
                <a16:creationId xmlns:a16="http://schemas.microsoft.com/office/drawing/2014/main" id="{D41BC859-E925-784D-B316-2B80499D7C05}"/>
              </a:ext>
            </a:extLst>
          </p:cNvPr>
          <p:cNvGrpSpPr/>
          <p:nvPr/>
        </p:nvGrpSpPr>
        <p:grpSpPr>
          <a:xfrm>
            <a:off x="6426351" y="2636351"/>
            <a:ext cx="1800226" cy="501977"/>
            <a:chOff x="0" y="0"/>
            <a:chExt cx="2400300" cy="669300"/>
          </a:xfrm>
        </p:grpSpPr>
        <p:sp>
          <p:nvSpPr>
            <p:cNvPr id="11" name="Rectangle">
              <a:extLst>
                <a:ext uri="{FF2B5EF4-FFF2-40B4-BE49-F238E27FC236}">
                  <a16:creationId xmlns:a16="http://schemas.microsoft.com/office/drawing/2014/main" id="{27D1E655-8915-1043-A374-0ABD9DA8021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2" name="Answer">
              <a:extLst>
                <a:ext uri="{FF2B5EF4-FFF2-40B4-BE49-F238E27FC236}">
                  <a16:creationId xmlns:a16="http://schemas.microsoft.com/office/drawing/2014/main" id="{D4910811-08B0-FB4F-83BC-EBACBE31916C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13" name="Google Shape;311;gaf7c1d9c3d_0_148">
            <a:extLst>
              <a:ext uri="{FF2B5EF4-FFF2-40B4-BE49-F238E27FC236}">
                <a16:creationId xmlns:a16="http://schemas.microsoft.com/office/drawing/2014/main" id="{E1A0EB03-1D85-D045-942F-661635811B9B}"/>
              </a:ext>
            </a:extLst>
          </p:cNvPr>
          <p:cNvGrpSpPr/>
          <p:nvPr/>
        </p:nvGrpSpPr>
        <p:grpSpPr>
          <a:xfrm>
            <a:off x="785346" y="3087628"/>
            <a:ext cx="1800226" cy="501977"/>
            <a:chOff x="0" y="0"/>
            <a:chExt cx="2400300" cy="669300"/>
          </a:xfrm>
        </p:grpSpPr>
        <p:sp>
          <p:nvSpPr>
            <p:cNvPr id="14" name="Rectangle">
              <a:extLst>
                <a:ext uri="{FF2B5EF4-FFF2-40B4-BE49-F238E27FC236}">
                  <a16:creationId xmlns:a16="http://schemas.microsoft.com/office/drawing/2014/main" id="{2C88BA06-0465-A643-A6CF-5B9D27DCFCF4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5" name="Algorithm">
              <a:extLst>
                <a:ext uri="{FF2B5EF4-FFF2-40B4-BE49-F238E27FC236}">
                  <a16:creationId xmlns:a16="http://schemas.microsoft.com/office/drawing/2014/main" id="{B0D3E655-DDC5-E24D-8369-544F19EE12B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16" name="Google Shape;312;gaf7c1d9c3d_0_148">
            <a:extLst>
              <a:ext uri="{FF2B5EF4-FFF2-40B4-BE49-F238E27FC236}">
                <a16:creationId xmlns:a16="http://schemas.microsoft.com/office/drawing/2014/main" id="{97B531BA-5233-5340-A09E-278BB99EC533}"/>
              </a:ext>
            </a:extLst>
          </p:cNvPr>
          <p:cNvSpPr/>
          <p:nvPr/>
        </p:nvSpPr>
        <p:spPr>
          <a:xfrm>
            <a:off x="2599859" y="2592299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7" name="Google Shape;313;gaf7c1d9c3d_0_148">
            <a:extLst>
              <a:ext uri="{FF2B5EF4-FFF2-40B4-BE49-F238E27FC236}">
                <a16:creationId xmlns:a16="http://schemas.microsoft.com/office/drawing/2014/main" id="{3521CABD-9862-6441-A6D4-5267FB5BCCEF}"/>
              </a:ext>
            </a:extLst>
          </p:cNvPr>
          <p:cNvSpPr/>
          <p:nvPr/>
        </p:nvSpPr>
        <p:spPr>
          <a:xfrm flipV="1">
            <a:off x="2585571" y="2988965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14;gaf7c1d9c3d_0_148">
            <a:extLst>
              <a:ext uri="{FF2B5EF4-FFF2-40B4-BE49-F238E27FC236}">
                <a16:creationId xmlns:a16="http://schemas.microsoft.com/office/drawing/2014/main" id="{F92D993A-1C4E-2846-A0BB-F20660FC6685}"/>
              </a:ext>
            </a:extLst>
          </p:cNvPr>
          <p:cNvSpPr/>
          <p:nvPr/>
        </p:nvSpPr>
        <p:spPr>
          <a:xfrm flipV="1">
            <a:off x="5724111" y="2882874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19106252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4" name="Google Shape;308;gaf7c1d9c3d_0_148">
            <a:extLst>
              <a:ext uri="{FF2B5EF4-FFF2-40B4-BE49-F238E27FC236}">
                <a16:creationId xmlns:a16="http://schemas.microsoft.com/office/drawing/2014/main" id="{E844D687-472B-2248-9E7C-5607ADE25BA6}"/>
              </a:ext>
            </a:extLst>
          </p:cNvPr>
          <p:cNvGrpSpPr/>
          <p:nvPr/>
        </p:nvGrpSpPr>
        <p:grpSpPr>
          <a:xfrm>
            <a:off x="3419886" y="2455485"/>
            <a:ext cx="2304227" cy="863777"/>
            <a:chOff x="-1" y="0"/>
            <a:chExt cx="3072302" cy="1151700"/>
          </a:xfrm>
        </p:grpSpPr>
        <p:sp>
          <p:nvSpPr>
            <p:cNvPr id="5" name="Rectangle">
              <a:extLst>
                <a:ext uri="{FF2B5EF4-FFF2-40B4-BE49-F238E27FC236}">
                  <a16:creationId xmlns:a16="http://schemas.microsoft.com/office/drawing/2014/main" id="{1155120E-04E2-144E-99E9-2AC2B2BEE52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6" name="Computer">
              <a:extLst>
                <a:ext uri="{FF2B5EF4-FFF2-40B4-BE49-F238E27FC236}">
                  <a16:creationId xmlns:a16="http://schemas.microsoft.com/office/drawing/2014/main" id="{BE4B0D49-C5F5-D44C-BD9F-93CA5EB50F1C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7" name="Google Shape;309;gaf7c1d9c3d_0_148">
            <a:extLst>
              <a:ext uri="{FF2B5EF4-FFF2-40B4-BE49-F238E27FC236}">
                <a16:creationId xmlns:a16="http://schemas.microsoft.com/office/drawing/2014/main" id="{E7F5699E-51E6-374B-92A5-B3C62ACC4871}"/>
              </a:ext>
            </a:extLst>
          </p:cNvPr>
          <p:cNvGrpSpPr/>
          <p:nvPr/>
        </p:nvGrpSpPr>
        <p:grpSpPr>
          <a:xfrm>
            <a:off x="785346" y="2204498"/>
            <a:ext cx="1800226" cy="501977"/>
            <a:chOff x="0" y="0"/>
            <a:chExt cx="2400300" cy="669300"/>
          </a:xfrm>
        </p:grpSpPr>
        <p:sp>
          <p:nvSpPr>
            <p:cNvPr id="8" name="Rectangle">
              <a:extLst>
                <a:ext uri="{FF2B5EF4-FFF2-40B4-BE49-F238E27FC236}">
                  <a16:creationId xmlns:a16="http://schemas.microsoft.com/office/drawing/2014/main" id="{C04A12AE-B9D0-5E40-9861-7403FF083791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Data">
                  <a:extLst>
                    <a:ext uri="{FF2B5EF4-FFF2-40B4-BE49-F238E27FC236}">
                      <a16:creationId xmlns:a16="http://schemas.microsoft.com/office/drawing/2014/main" id="{62EA0BA7-7121-894D-B057-482F1BC0CD14}"/>
                    </a:ext>
                  </a:extLst>
                </p:cNvPr>
                <p:cNvSpPr txBox="1"/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ma14="http://schemas.microsoft.com/office/mac/drawingml/2011/main" val="1"/>
                  </a:ext>
                </a:extLst>
              </p:spPr>
              <p:txBody>
                <a:bodyPr wrap="square" lIns="34274" tIns="34274" rIns="34274" bIns="34274" numCol="1" anchor="ctr">
                  <a:spAutoFit/>
                </a:bodyPr>
                <a:lstStyle>
                  <a:lvl1pPr algn="ctr">
                    <a:defRPr sz="2400">
                      <a:solidFill>
                        <a:srgbClr val="171717"/>
                      </a:solidFill>
                      <a:latin typeface="Open Sans"/>
                      <a:ea typeface="Open Sans"/>
                      <a:cs typeface="Open Sans"/>
                      <a:sym typeface="Open Sans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=5</m:t>
                        </m:r>
                      </m:oMath>
                    </m:oMathPara>
                  </a14:m>
                  <a:endParaRPr sz="1800" dirty="0"/>
                </a:p>
              </p:txBody>
            </p:sp>
          </mc:Choice>
          <mc:Fallback xmlns="">
            <p:sp>
              <p:nvSpPr>
                <p:cNvPr id="9" name="Data">
                  <a:extLst>
                    <a:ext uri="{FF2B5EF4-FFF2-40B4-BE49-F238E27FC236}">
                      <a16:creationId xmlns:a16="http://schemas.microsoft.com/office/drawing/2014/main" id="{62EA0BA7-7121-894D-B057-482F1BC0CD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oogle Shape;310;gaf7c1d9c3d_0_148">
            <a:extLst>
              <a:ext uri="{FF2B5EF4-FFF2-40B4-BE49-F238E27FC236}">
                <a16:creationId xmlns:a16="http://schemas.microsoft.com/office/drawing/2014/main" id="{D41BC859-E925-784D-B316-2B80499D7C05}"/>
              </a:ext>
            </a:extLst>
          </p:cNvPr>
          <p:cNvGrpSpPr/>
          <p:nvPr/>
        </p:nvGrpSpPr>
        <p:grpSpPr>
          <a:xfrm>
            <a:off x="6426351" y="2636351"/>
            <a:ext cx="1800226" cy="501977"/>
            <a:chOff x="0" y="0"/>
            <a:chExt cx="2400300" cy="669300"/>
          </a:xfrm>
        </p:grpSpPr>
        <p:sp>
          <p:nvSpPr>
            <p:cNvPr id="11" name="Rectangle">
              <a:extLst>
                <a:ext uri="{FF2B5EF4-FFF2-40B4-BE49-F238E27FC236}">
                  <a16:creationId xmlns:a16="http://schemas.microsoft.com/office/drawing/2014/main" id="{27D1E655-8915-1043-A374-0ABD9DA8021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12" name="Answer">
              <a:extLst>
                <a:ext uri="{FF2B5EF4-FFF2-40B4-BE49-F238E27FC236}">
                  <a16:creationId xmlns:a16="http://schemas.microsoft.com/office/drawing/2014/main" id="{D4910811-08B0-FB4F-83BC-EBACBE31916C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dirty="0"/>
                <a:t>300</a:t>
              </a:r>
              <a:endParaRPr sz="1800" dirty="0"/>
            </a:p>
          </p:txBody>
        </p:sp>
      </p:grpSp>
      <p:grpSp>
        <p:nvGrpSpPr>
          <p:cNvPr id="13" name="Google Shape;311;gaf7c1d9c3d_0_148">
            <a:extLst>
              <a:ext uri="{FF2B5EF4-FFF2-40B4-BE49-F238E27FC236}">
                <a16:creationId xmlns:a16="http://schemas.microsoft.com/office/drawing/2014/main" id="{E1A0EB03-1D85-D045-942F-661635811B9B}"/>
              </a:ext>
            </a:extLst>
          </p:cNvPr>
          <p:cNvGrpSpPr/>
          <p:nvPr/>
        </p:nvGrpSpPr>
        <p:grpSpPr>
          <a:xfrm>
            <a:off x="785346" y="3087628"/>
            <a:ext cx="1800226" cy="501977"/>
            <a:chOff x="0" y="0"/>
            <a:chExt cx="2400300" cy="669300"/>
          </a:xfrm>
        </p:grpSpPr>
        <p:sp>
          <p:nvSpPr>
            <p:cNvPr id="14" name="Rectangle">
              <a:extLst>
                <a:ext uri="{FF2B5EF4-FFF2-40B4-BE49-F238E27FC236}">
                  <a16:creationId xmlns:a16="http://schemas.microsoft.com/office/drawing/2014/main" id="{2C88BA06-0465-A643-A6CF-5B9D27DCFCF4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Algorithm">
                  <a:extLst>
                    <a:ext uri="{FF2B5EF4-FFF2-40B4-BE49-F238E27FC236}">
                      <a16:creationId xmlns:a16="http://schemas.microsoft.com/office/drawing/2014/main" id="{B0D3E655-DDC5-E24D-8369-544F19EE12B8}"/>
                    </a:ext>
                  </a:extLst>
                </p:cNvPr>
                <p:cNvSpPr txBox="1"/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ma14="http://schemas.microsoft.com/office/mac/drawingml/2011/main" val="1"/>
                  </a:ext>
                </a:extLst>
              </p:spPr>
              <p:txBody>
                <a:bodyPr wrap="square" lIns="34274" tIns="34274" rIns="34274" bIns="34274" numCol="1" anchor="ctr">
                  <a:spAutoFit/>
                </a:bodyPr>
                <a:lstStyle>
                  <a:lvl1pPr algn="ctr">
                    <a:defRPr sz="2400">
                      <a:solidFill>
                        <a:srgbClr val="171717"/>
                      </a:solidFill>
                      <a:latin typeface="Open Sans"/>
                      <a:ea typeface="Open Sans"/>
                      <a:cs typeface="Open Sans"/>
                      <a:sym typeface="Open Sans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=60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sz="1800" dirty="0"/>
                </a:p>
              </p:txBody>
            </p:sp>
          </mc:Choice>
          <mc:Fallback xmlns="">
            <p:sp>
              <p:nvSpPr>
                <p:cNvPr id="15" name="Algorithm">
                  <a:extLst>
                    <a:ext uri="{FF2B5EF4-FFF2-40B4-BE49-F238E27FC236}">
                      <a16:creationId xmlns:a16="http://schemas.microsoft.com/office/drawing/2014/main" id="{B0D3E655-DDC5-E24D-8369-544F19EE1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75" y="103840"/>
                  <a:ext cx="2270751" cy="461619"/>
                </a:xfrm>
                <a:prstGeom prst="rect">
                  <a:avLst/>
                </a:prstGeom>
                <a:blipFill>
                  <a:blip r:embed="rId3"/>
                  <a:stretch>
                    <a:fillRect b="-17857"/>
                  </a:stretch>
                </a:blipFill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  </a:ext>
                </a:ex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Google Shape;312;gaf7c1d9c3d_0_148">
            <a:extLst>
              <a:ext uri="{FF2B5EF4-FFF2-40B4-BE49-F238E27FC236}">
                <a16:creationId xmlns:a16="http://schemas.microsoft.com/office/drawing/2014/main" id="{97B531BA-5233-5340-A09E-278BB99EC533}"/>
              </a:ext>
            </a:extLst>
          </p:cNvPr>
          <p:cNvSpPr/>
          <p:nvPr/>
        </p:nvSpPr>
        <p:spPr>
          <a:xfrm>
            <a:off x="2599859" y="2592299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7" name="Google Shape;313;gaf7c1d9c3d_0_148">
            <a:extLst>
              <a:ext uri="{FF2B5EF4-FFF2-40B4-BE49-F238E27FC236}">
                <a16:creationId xmlns:a16="http://schemas.microsoft.com/office/drawing/2014/main" id="{3521CABD-9862-6441-A6D4-5267FB5BCCEF}"/>
              </a:ext>
            </a:extLst>
          </p:cNvPr>
          <p:cNvSpPr/>
          <p:nvPr/>
        </p:nvSpPr>
        <p:spPr>
          <a:xfrm flipV="1">
            <a:off x="2585571" y="2988965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14;gaf7c1d9c3d_0_148">
            <a:extLst>
              <a:ext uri="{FF2B5EF4-FFF2-40B4-BE49-F238E27FC236}">
                <a16:creationId xmlns:a16="http://schemas.microsoft.com/office/drawing/2014/main" id="{F92D993A-1C4E-2846-A0BB-F20660FC6685}"/>
              </a:ext>
            </a:extLst>
          </p:cNvPr>
          <p:cNvSpPr/>
          <p:nvPr/>
        </p:nvSpPr>
        <p:spPr>
          <a:xfrm flipV="1">
            <a:off x="5724111" y="2882874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47112083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19" name="Google Shape;308;gaf7c1d9c3d_0_148">
            <a:extLst>
              <a:ext uri="{FF2B5EF4-FFF2-40B4-BE49-F238E27FC236}">
                <a16:creationId xmlns:a16="http://schemas.microsoft.com/office/drawing/2014/main" id="{BE09A44F-0CB8-A148-8697-47AF331A7AEF}"/>
              </a:ext>
            </a:extLst>
          </p:cNvPr>
          <p:cNvGrpSpPr/>
          <p:nvPr/>
        </p:nvGrpSpPr>
        <p:grpSpPr>
          <a:xfrm>
            <a:off x="3358641" y="2033768"/>
            <a:ext cx="2304227" cy="863777"/>
            <a:chOff x="-1" y="0"/>
            <a:chExt cx="3072302" cy="1151700"/>
          </a:xfrm>
        </p:grpSpPr>
        <p:sp>
          <p:nvSpPr>
            <p:cNvPr id="20" name="Rectangle">
              <a:extLst>
                <a:ext uri="{FF2B5EF4-FFF2-40B4-BE49-F238E27FC236}">
                  <a16:creationId xmlns:a16="http://schemas.microsoft.com/office/drawing/2014/main" id="{65889011-A3D0-2545-A4CB-98AEF8DCA39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1" name="Computer">
              <a:extLst>
                <a:ext uri="{FF2B5EF4-FFF2-40B4-BE49-F238E27FC236}">
                  <a16:creationId xmlns:a16="http://schemas.microsoft.com/office/drawing/2014/main" id="{F87AC29E-0BEF-8640-A275-F125E13F1E29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22" name="Google Shape;309;gaf7c1d9c3d_0_148">
            <a:extLst>
              <a:ext uri="{FF2B5EF4-FFF2-40B4-BE49-F238E27FC236}">
                <a16:creationId xmlns:a16="http://schemas.microsoft.com/office/drawing/2014/main" id="{F3DF6DFC-CB77-4647-8F8C-1ABC891812DA}"/>
              </a:ext>
            </a:extLst>
          </p:cNvPr>
          <p:cNvGrpSpPr/>
          <p:nvPr/>
        </p:nvGrpSpPr>
        <p:grpSpPr>
          <a:xfrm>
            <a:off x="724101" y="1782781"/>
            <a:ext cx="1800226" cy="501977"/>
            <a:chOff x="0" y="0"/>
            <a:chExt cx="2400300" cy="669300"/>
          </a:xfrm>
        </p:grpSpPr>
        <p:sp>
          <p:nvSpPr>
            <p:cNvPr id="23" name="Rectangle">
              <a:extLst>
                <a:ext uri="{FF2B5EF4-FFF2-40B4-BE49-F238E27FC236}">
                  <a16:creationId xmlns:a16="http://schemas.microsoft.com/office/drawing/2014/main" id="{980CE0B1-A402-7B45-BBF8-D2D9C366400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4" name="Data">
              <a:extLst>
                <a:ext uri="{FF2B5EF4-FFF2-40B4-BE49-F238E27FC236}">
                  <a16:creationId xmlns:a16="http://schemas.microsoft.com/office/drawing/2014/main" id="{C1064D1F-CB38-2B4B-B09A-2FA68FAD7020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25" name="Google Shape;310;gaf7c1d9c3d_0_148">
            <a:extLst>
              <a:ext uri="{FF2B5EF4-FFF2-40B4-BE49-F238E27FC236}">
                <a16:creationId xmlns:a16="http://schemas.microsoft.com/office/drawing/2014/main" id="{F8114B3B-3988-E045-90C7-8D05AAEDE17E}"/>
              </a:ext>
            </a:extLst>
          </p:cNvPr>
          <p:cNvGrpSpPr/>
          <p:nvPr/>
        </p:nvGrpSpPr>
        <p:grpSpPr>
          <a:xfrm>
            <a:off x="6365106" y="2214634"/>
            <a:ext cx="1800226" cy="501977"/>
            <a:chOff x="0" y="0"/>
            <a:chExt cx="2400300" cy="669300"/>
          </a:xfrm>
        </p:grpSpPr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70F5B771-B305-F846-A065-CFF18AE5D71C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7" name="Answer">
              <a:extLst>
                <a:ext uri="{FF2B5EF4-FFF2-40B4-BE49-F238E27FC236}">
                  <a16:creationId xmlns:a16="http://schemas.microsoft.com/office/drawing/2014/main" id="{173B278A-ADD3-4843-AB5A-A3B7AF90AA7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28" name="Google Shape;311;gaf7c1d9c3d_0_148">
            <a:extLst>
              <a:ext uri="{FF2B5EF4-FFF2-40B4-BE49-F238E27FC236}">
                <a16:creationId xmlns:a16="http://schemas.microsoft.com/office/drawing/2014/main" id="{7BA22C56-66BE-164B-A5E8-B73218368A92}"/>
              </a:ext>
            </a:extLst>
          </p:cNvPr>
          <p:cNvGrpSpPr/>
          <p:nvPr/>
        </p:nvGrpSpPr>
        <p:grpSpPr>
          <a:xfrm>
            <a:off x="724101" y="2665911"/>
            <a:ext cx="1800226" cy="501977"/>
            <a:chOff x="0" y="0"/>
            <a:chExt cx="2400300" cy="669300"/>
          </a:xfrm>
        </p:grpSpPr>
        <p:sp>
          <p:nvSpPr>
            <p:cNvPr id="29" name="Rectangle">
              <a:extLst>
                <a:ext uri="{FF2B5EF4-FFF2-40B4-BE49-F238E27FC236}">
                  <a16:creationId xmlns:a16="http://schemas.microsoft.com/office/drawing/2014/main" id="{A5E4AB25-18E6-F849-BA7D-26C8D0DD73E5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0" name="Algorithm">
              <a:extLst>
                <a:ext uri="{FF2B5EF4-FFF2-40B4-BE49-F238E27FC236}">
                  <a16:creationId xmlns:a16="http://schemas.microsoft.com/office/drawing/2014/main" id="{78946988-6FAA-6A4B-83EA-8D69E6300AE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31" name="Google Shape;312;gaf7c1d9c3d_0_148">
            <a:extLst>
              <a:ext uri="{FF2B5EF4-FFF2-40B4-BE49-F238E27FC236}">
                <a16:creationId xmlns:a16="http://schemas.microsoft.com/office/drawing/2014/main" id="{A1F3C4D9-C4B3-2B42-8A00-AE1095F66D18}"/>
              </a:ext>
            </a:extLst>
          </p:cNvPr>
          <p:cNvSpPr/>
          <p:nvPr/>
        </p:nvSpPr>
        <p:spPr>
          <a:xfrm>
            <a:off x="2538614" y="217058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2" name="Google Shape;313;gaf7c1d9c3d_0_148">
            <a:extLst>
              <a:ext uri="{FF2B5EF4-FFF2-40B4-BE49-F238E27FC236}">
                <a16:creationId xmlns:a16="http://schemas.microsoft.com/office/drawing/2014/main" id="{6D1D4868-BC43-214B-BA53-F3641AB88245}"/>
              </a:ext>
            </a:extLst>
          </p:cNvPr>
          <p:cNvSpPr/>
          <p:nvPr/>
        </p:nvSpPr>
        <p:spPr>
          <a:xfrm flipV="1">
            <a:off x="2524326" y="256724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3" name="Google Shape;314;gaf7c1d9c3d_0_148">
            <a:extLst>
              <a:ext uri="{FF2B5EF4-FFF2-40B4-BE49-F238E27FC236}">
                <a16:creationId xmlns:a16="http://schemas.microsoft.com/office/drawing/2014/main" id="{D68345D9-7699-1F48-9264-D602FAD3DC85}"/>
              </a:ext>
            </a:extLst>
          </p:cNvPr>
          <p:cNvSpPr/>
          <p:nvPr/>
        </p:nvSpPr>
        <p:spPr>
          <a:xfrm flipV="1">
            <a:off x="5662866" y="246115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58641" y="3731343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724101" y="3480356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65106" y="3912209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Алгоритм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724101" y="4363485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538614" y="3868157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524326" y="4264823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62866" y="4158730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8320898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Машинное обучение </a:t>
            </a:r>
            <a:r>
              <a:rPr lang="en-US" dirty="0"/>
              <a:t>vs</a:t>
            </a:r>
            <a:br>
              <a:rPr lang="ru-RU" dirty="0"/>
            </a:br>
            <a:r>
              <a:rPr lang="ru-RU" dirty="0"/>
              <a:t>традиционное программирование</a:t>
            </a:r>
            <a:endParaRPr lang="en-US" dirty="0"/>
          </a:p>
        </p:txBody>
      </p:sp>
      <p:grpSp>
        <p:nvGrpSpPr>
          <p:cNvPr id="19" name="Google Shape;308;gaf7c1d9c3d_0_148">
            <a:extLst>
              <a:ext uri="{FF2B5EF4-FFF2-40B4-BE49-F238E27FC236}">
                <a16:creationId xmlns:a16="http://schemas.microsoft.com/office/drawing/2014/main" id="{BE09A44F-0CB8-A148-8697-47AF331A7AEF}"/>
              </a:ext>
            </a:extLst>
          </p:cNvPr>
          <p:cNvGrpSpPr/>
          <p:nvPr/>
        </p:nvGrpSpPr>
        <p:grpSpPr>
          <a:xfrm>
            <a:off x="3358641" y="2033768"/>
            <a:ext cx="2304227" cy="863777"/>
            <a:chOff x="-1" y="0"/>
            <a:chExt cx="3072302" cy="1151700"/>
          </a:xfrm>
        </p:grpSpPr>
        <p:sp>
          <p:nvSpPr>
            <p:cNvPr id="20" name="Rectangle">
              <a:extLst>
                <a:ext uri="{FF2B5EF4-FFF2-40B4-BE49-F238E27FC236}">
                  <a16:creationId xmlns:a16="http://schemas.microsoft.com/office/drawing/2014/main" id="{65889011-A3D0-2545-A4CB-98AEF8DCA39D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1" name="Computer">
              <a:extLst>
                <a:ext uri="{FF2B5EF4-FFF2-40B4-BE49-F238E27FC236}">
                  <a16:creationId xmlns:a16="http://schemas.microsoft.com/office/drawing/2014/main" id="{F87AC29E-0BEF-8640-A275-F125E13F1E29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22" name="Google Shape;309;gaf7c1d9c3d_0_148">
            <a:extLst>
              <a:ext uri="{FF2B5EF4-FFF2-40B4-BE49-F238E27FC236}">
                <a16:creationId xmlns:a16="http://schemas.microsoft.com/office/drawing/2014/main" id="{F3DF6DFC-CB77-4647-8F8C-1ABC891812DA}"/>
              </a:ext>
            </a:extLst>
          </p:cNvPr>
          <p:cNvGrpSpPr/>
          <p:nvPr/>
        </p:nvGrpSpPr>
        <p:grpSpPr>
          <a:xfrm>
            <a:off x="724101" y="1782781"/>
            <a:ext cx="1800226" cy="501977"/>
            <a:chOff x="0" y="0"/>
            <a:chExt cx="2400300" cy="669300"/>
          </a:xfrm>
        </p:grpSpPr>
        <p:sp>
          <p:nvSpPr>
            <p:cNvPr id="23" name="Rectangle">
              <a:extLst>
                <a:ext uri="{FF2B5EF4-FFF2-40B4-BE49-F238E27FC236}">
                  <a16:creationId xmlns:a16="http://schemas.microsoft.com/office/drawing/2014/main" id="{980CE0B1-A402-7B45-BBF8-D2D9C366400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4" name="Data">
              <a:extLst>
                <a:ext uri="{FF2B5EF4-FFF2-40B4-BE49-F238E27FC236}">
                  <a16:creationId xmlns:a16="http://schemas.microsoft.com/office/drawing/2014/main" id="{C1064D1F-CB38-2B4B-B09A-2FA68FAD7020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Данные</a:t>
              </a:r>
              <a:endParaRPr sz="1800" dirty="0"/>
            </a:p>
          </p:txBody>
        </p:sp>
      </p:grpSp>
      <p:grpSp>
        <p:nvGrpSpPr>
          <p:cNvPr id="25" name="Google Shape;310;gaf7c1d9c3d_0_148">
            <a:extLst>
              <a:ext uri="{FF2B5EF4-FFF2-40B4-BE49-F238E27FC236}">
                <a16:creationId xmlns:a16="http://schemas.microsoft.com/office/drawing/2014/main" id="{F8114B3B-3988-E045-90C7-8D05AAEDE17E}"/>
              </a:ext>
            </a:extLst>
          </p:cNvPr>
          <p:cNvGrpSpPr/>
          <p:nvPr/>
        </p:nvGrpSpPr>
        <p:grpSpPr>
          <a:xfrm>
            <a:off x="6365106" y="2214634"/>
            <a:ext cx="1800226" cy="501977"/>
            <a:chOff x="0" y="0"/>
            <a:chExt cx="2400300" cy="669300"/>
          </a:xfrm>
        </p:grpSpPr>
        <p:sp>
          <p:nvSpPr>
            <p:cNvPr id="26" name="Rectangle">
              <a:extLst>
                <a:ext uri="{FF2B5EF4-FFF2-40B4-BE49-F238E27FC236}">
                  <a16:creationId xmlns:a16="http://schemas.microsoft.com/office/drawing/2014/main" id="{70F5B771-B305-F846-A065-CFF18AE5D71C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27" name="Answer">
              <a:extLst>
                <a:ext uri="{FF2B5EF4-FFF2-40B4-BE49-F238E27FC236}">
                  <a16:creationId xmlns:a16="http://schemas.microsoft.com/office/drawing/2014/main" id="{173B278A-ADD3-4843-AB5A-A3B7AF90AA78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Ответ</a:t>
              </a:r>
              <a:endParaRPr sz="1800" dirty="0"/>
            </a:p>
          </p:txBody>
        </p:sp>
      </p:grpSp>
      <p:grpSp>
        <p:nvGrpSpPr>
          <p:cNvPr id="28" name="Google Shape;311;gaf7c1d9c3d_0_148">
            <a:extLst>
              <a:ext uri="{FF2B5EF4-FFF2-40B4-BE49-F238E27FC236}">
                <a16:creationId xmlns:a16="http://schemas.microsoft.com/office/drawing/2014/main" id="{7BA22C56-66BE-164B-A5E8-B73218368A92}"/>
              </a:ext>
            </a:extLst>
          </p:cNvPr>
          <p:cNvGrpSpPr/>
          <p:nvPr/>
        </p:nvGrpSpPr>
        <p:grpSpPr>
          <a:xfrm>
            <a:off x="724101" y="2665911"/>
            <a:ext cx="1800226" cy="501977"/>
            <a:chOff x="0" y="0"/>
            <a:chExt cx="2400300" cy="669300"/>
          </a:xfrm>
        </p:grpSpPr>
        <p:sp>
          <p:nvSpPr>
            <p:cNvPr id="29" name="Rectangle">
              <a:extLst>
                <a:ext uri="{FF2B5EF4-FFF2-40B4-BE49-F238E27FC236}">
                  <a16:creationId xmlns:a16="http://schemas.microsoft.com/office/drawing/2014/main" id="{A5E4AB25-18E6-F849-BA7D-26C8D0DD73E5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0" name="Algorithm">
              <a:extLst>
                <a:ext uri="{FF2B5EF4-FFF2-40B4-BE49-F238E27FC236}">
                  <a16:creationId xmlns:a16="http://schemas.microsoft.com/office/drawing/2014/main" id="{78946988-6FAA-6A4B-83EA-8D69E6300AE4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sp>
        <p:nvSpPr>
          <p:cNvPr id="31" name="Google Shape;312;gaf7c1d9c3d_0_148">
            <a:extLst>
              <a:ext uri="{FF2B5EF4-FFF2-40B4-BE49-F238E27FC236}">
                <a16:creationId xmlns:a16="http://schemas.microsoft.com/office/drawing/2014/main" id="{A1F3C4D9-C4B3-2B42-8A00-AE1095F66D18}"/>
              </a:ext>
            </a:extLst>
          </p:cNvPr>
          <p:cNvSpPr/>
          <p:nvPr/>
        </p:nvSpPr>
        <p:spPr>
          <a:xfrm>
            <a:off x="2538614" y="2170582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2" name="Google Shape;313;gaf7c1d9c3d_0_148">
            <a:extLst>
              <a:ext uri="{FF2B5EF4-FFF2-40B4-BE49-F238E27FC236}">
                <a16:creationId xmlns:a16="http://schemas.microsoft.com/office/drawing/2014/main" id="{6D1D4868-BC43-214B-BA53-F3641AB88245}"/>
              </a:ext>
            </a:extLst>
          </p:cNvPr>
          <p:cNvSpPr/>
          <p:nvPr/>
        </p:nvSpPr>
        <p:spPr>
          <a:xfrm flipV="1">
            <a:off x="2524326" y="2567248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33" name="Google Shape;314;gaf7c1d9c3d_0_148">
            <a:extLst>
              <a:ext uri="{FF2B5EF4-FFF2-40B4-BE49-F238E27FC236}">
                <a16:creationId xmlns:a16="http://schemas.microsoft.com/office/drawing/2014/main" id="{D68345D9-7699-1F48-9264-D602FAD3DC85}"/>
              </a:ext>
            </a:extLst>
          </p:cNvPr>
          <p:cNvSpPr/>
          <p:nvPr/>
        </p:nvSpPr>
        <p:spPr>
          <a:xfrm flipV="1">
            <a:off x="5662866" y="2461157"/>
            <a:ext cx="680400" cy="4501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58641" y="3731343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724101" y="3480356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65106" y="3912209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724101" y="4363485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24358"/>
              <a:ext cx="2270751" cy="4205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600" dirty="0"/>
                <a:t>лейблы</a:t>
              </a:r>
              <a:r>
                <a:rPr lang="en-US" sz="1600" dirty="0"/>
                <a:t>: cat/dog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538614" y="3868157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524326" y="4264823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62866" y="4158730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22363306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Мы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обучили</a:t>
            </a:r>
            <a:r>
              <a:rPr lang="ru-RU" dirty="0"/>
              <a:t> нашу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модель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03408" y="2411907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Компьютер</a:t>
              </a:r>
              <a:endParaRPr sz="1800" dirty="0"/>
            </a:p>
          </p:txBody>
        </p:sp>
      </p:grpSp>
      <p:grpSp>
        <p:nvGrpSpPr>
          <p:cNvPr id="37" name="Google Shape;316;gaf7c1d9c3d_0_148">
            <a:extLst>
              <a:ext uri="{FF2B5EF4-FFF2-40B4-BE49-F238E27FC236}">
                <a16:creationId xmlns:a16="http://schemas.microsoft.com/office/drawing/2014/main" id="{E737C0A8-3202-B045-A93D-7E8470173FC3}"/>
              </a:ext>
            </a:extLst>
          </p:cNvPr>
          <p:cNvGrpSpPr/>
          <p:nvPr/>
        </p:nvGrpSpPr>
        <p:grpSpPr>
          <a:xfrm>
            <a:off x="668868" y="2160920"/>
            <a:ext cx="1800226" cy="501977"/>
            <a:chOff x="0" y="0"/>
            <a:chExt cx="2400300" cy="669300"/>
          </a:xfrm>
        </p:grpSpPr>
        <p:sp>
          <p:nvSpPr>
            <p:cNvPr id="38" name="Rectangle">
              <a:extLst>
                <a:ext uri="{FF2B5EF4-FFF2-40B4-BE49-F238E27FC236}">
                  <a16:creationId xmlns:a16="http://schemas.microsoft.com/office/drawing/2014/main" id="{74EF9959-3B56-5A4A-889B-1C7B188E8309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9" name="Data">
              <a:extLst>
                <a:ext uri="{FF2B5EF4-FFF2-40B4-BE49-F238E27FC236}">
                  <a16:creationId xmlns:a16="http://schemas.microsoft.com/office/drawing/2014/main" id="{BF4F91ED-C4AA-C84F-9468-18446E777846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Изображения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09873" y="2592773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b="1" dirty="0">
                  <a:solidFill>
                    <a:schemeClr val="accent6">
                      <a:lumMod val="50000"/>
                    </a:schemeClr>
                  </a:solidFill>
                </a:rPr>
                <a:t>Модель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oogle Shape;318;gaf7c1d9c3d_0_148">
            <a:extLst>
              <a:ext uri="{FF2B5EF4-FFF2-40B4-BE49-F238E27FC236}">
                <a16:creationId xmlns:a16="http://schemas.microsoft.com/office/drawing/2014/main" id="{114F6B91-9A17-8E45-BE5E-705E9599C19C}"/>
              </a:ext>
            </a:extLst>
          </p:cNvPr>
          <p:cNvGrpSpPr/>
          <p:nvPr/>
        </p:nvGrpSpPr>
        <p:grpSpPr>
          <a:xfrm>
            <a:off x="668868" y="3044049"/>
            <a:ext cx="1800226" cy="501977"/>
            <a:chOff x="0" y="0"/>
            <a:chExt cx="2400300" cy="669300"/>
          </a:xfrm>
        </p:grpSpPr>
        <p:sp>
          <p:nvSpPr>
            <p:cNvPr id="44" name="Rectangle">
              <a:extLst>
                <a:ext uri="{FF2B5EF4-FFF2-40B4-BE49-F238E27FC236}">
                  <a16:creationId xmlns:a16="http://schemas.microsoft.com/office/drawing/2014/main" id="{A2C49A50-111B-944F-AFFA-E26A6F26114D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5" name="Answer">
              <a:extLst>
                <a:ext uri="{FF2B5EF4-FFF2-40B4-BE49-F238E27FC236}">
                  <a16:creationId xmlns:a16="http://schemas.microsoft.com/office/drawing/2014/main" id="{2E31E5B7-F112-7841-A369-4276718E4702}"/>
                </a:ext>
              </a:extLst>
            </p:cNvPr>
            <p:cNvSpPr txBox="1"/>
            <p:nvPr/>
          </p:nvSpPr>
          <p:spPr>
            <a:xfrm>
              <a:off x="64775" y="124358"/>
              <a:ext cx="2270751" cy="4205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600" dirty="0"/>
                <a:t>лейблы</a:t>
              </a:r>
              <a:r>
                <a:rPr lang="en-US" sz="1600" dirty="0"/>
                <a:t>: cat/dog</a:t>
              </a:r>
              <a:endParaRPr sz="1800" dirty="0"/>
            </a:p>
          </p:txBody>
        </p:sp>
      </p:grpSp>
      <p:sp>
        <p:nvSpPr>
          <p:cNvPr id="46" name="Google Shape;319;gaf7c1d9c3d_0_148">
            <a:extLst>
              <a:ext uri="{FF2B5EF4-FFF2-40B4-BE49-F238E27FC236}">
                <a16:creationId xmlns:a16="http://schemas.microsoft.com/office/drawing/2014/main" id="{DA96B25F-9085-3B4F-950E-562F27798DE3}"/>
              </a:ext>
            </a:extLst>
          </p:cNvPr>
          <p:cNvSpPr/>
          <p:nvPr/>
        </p:nvSpPr>
        <p:spPr>
          <a:xfrm>
            <a:off x="2483381" y="2548721"/>
            <a:ext cx="805741" cy="12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38761D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47" name="Google Shape;320;gaf7c1d9c3d_0_148">
            <a:extLst>
              <a:ext uri="{FF2B5EF4-FFF2-40B4-BE49-F238E27FC236}">
                <a16:creationId xmlns:a16="http://schemas.microsoft.com/office/drawing/2014/main" id="{C89A5BD6-A557-BC44-86BF-0BF0DEED85F3}"/>
              </a:ext>
            </a:extLst>
          </p:cNvPr>
          <p:cNvSpPr/>
          <p:nvPr/>
        </p:nvSpPr>
        <p:spPr>
          <a:xfrm flipV="1">
            <a:off x="2469093" y="2945387"/>
            <a:ext cx="834301" cy="349650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07633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8679917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743BC-6A80-0B48-974C-0AB5FBCBE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Мы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обучили</a:t>
            </a:r>
            <a:r>
              <a:rPr lang="ru-RU" dirty="0"/>
              <a:t> нашу </a:t>
            </a:r>
            <a:r>
              <a:rPr lang="ru-RU" dirty="0">
                <a:solidFill>
                  <a:schemeClr val="accent6">
                    <a:lumMod val="50000"/>
                  </a:schemeClr>
                </a:solidFill>
              </a:rPr>
              <a:t>модель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grpSp>
        <p:nvGrpSpPr>
          <p:cNvPr id="34" name="Google Shape;315;gaf7c1d9c3d_0_148">
            <a:extLst>
              <a:ext uri="{FF2B5EF4-FFF2-40B4-BE49-F238E27FC236}">
                <a16:creationId xmlns:a16="http://schemas.microsoft.com/office/drawing/2014/main" id="{2EACEF29-08C4-604A-8D3D-700015729712}"/>
              </a:ext>
            </a:extLst>
          </p:cNvPr>
          <p:cNvGrpSpPr/>
          <p:nvPr/>
        </p:nvGrpSpPr>
        <p:grpSpPr>
          <a:xfrm>
            <a:off x="3303408" y="2411907"/>
            <a:ext cx="2304227" cy="863777"/>
            <a:chOff x="-1" y="0"/>
            <a:chExt cx="3072302" cy="1151700"/>
          </a:xfrm>
        </p:grpSpPr>
        <p:sp>
          <p:nvSpPr>
            <p:cNvPr id="35" name="Rectangle">
              <a:extLst>
                <a:ext uri="{FF2B5EF4-FFF2-40B4-BE49-F238E27FC236}">
                  <a16:creationId xmlns:a16="http://schemas.microsoft.com/office/drawing/2014/main" id="{32E2B80B-B41E-5348-A9F8-52B1407A1D30}"/>
                </a:ext>
              </a:extLst>
            </p:cNvPr>
            <p:cNvSpPr/>
            <p:nvPr/>
          </p:nvSpPr>
          <p:spPr>
            <a:xfrm>
              <a:off x="-1" y="0"/>
              <a:ext cx="3072302" cy="1151700"/>
            </a:xfrm>
            <a:prstGeom prst="rect">
              <a:avLst/>
            </a:prstGeom>
            <a:solidFill>
              <a:srgbClr val="D9EAD3"/>
            </a:solidFill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36" name="Computer">
              <a:extLst>
                <a:ext uri="{FF2B5EF4-FFF2-40B4-BE49-F238E27FC236}">
                  <a16:creationId xmlns:a16="http://schemas.microsoft.com/office/drawing/2014/main" id="{C4342754-8DDF-8A43-824A-4CA3DEB90417}"/>
                </a:ext>
              </a:extLst>
            </p:cNvPr>
            <p:cNvSpPr txBox="1"/>
            <p:nvPr/>
          </p:nvSpPr>
          <p:spPr>
            <a:xfrm>
              <a:off x="64774" y="345039"/>
              <a:ext cx="2942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ru-RU" sz="1800" dirty="0"/>
                <a:t>Алгоритм</a:t>
              </a:r>
              <a:endParaRPr sz="1800" dirty="0"/>
            </a:p>
          </p:txBody>
        </p:sp>
      </p:grpSp>
      <p:grpSp>
        <p:nvGrpSpPr>
          <p:cNvPr id="40" name="Google Shape;317;gaf7c1d9c3d_0_148">
            <a:extLst>
              <a:ext uri="{FF2B5EF4-FFF2-40B4-BE49-F238E27FC236}">
                <a16:creationId xmlns:a16="http://schemas.microsoft.com/office/drawing/2014/main" id="{FFB8BE45-1010-AB42-B9A8-D4D8CDE67678}"/>
              </a:ext>
            </a:extLst>
          </p:cNvPr>
          <p:cNvGrpSpPr/>
          <p:nvPr/>
        </p:nvGrpSpPr>
        <p:grpSpPr>
          <a:xfrm>
            <a:off x="6309873" y="2592773"/>
            <a:ext cx="1800226" cy="501977"/>
            <a:chOff x="0" y="0"/>
            <a:chExt cx="2400300" cy="669300"/>
          </a:xfrm>
        </p:grpSpPr>
        <p:sp>
          <p:nvSpPr>
            <p:cNvPr id="41" name="Rectangle">
              <a:extLst>
                <a:ext uri="{FF2B5EF4-FFF2-40B4-BE49-F238E27FC236}">
                  <a16:creationId xmlns:a16="http://schemas.microsoft.com/office/drawing/2014/main" id="{C28FAA5E-D64E-604A-BE74-6962495F7F5A}"/>
                </a:ext>
              </a:extLst>
            </p:cNvPr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38761D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42" name="Algorithm">
              <a:extLst>
                <a:ext uri="{FF2B5EF4-FFF2-40B4-BE49-F238E27FC236}">
                  <a16:creationId xmlns:a16="http://schemas.microsoft.com/office/drawing/2014/main" id="{4507AE8E-C807-3F48-B4D6-A6F6464BBF0B}"/>
                </a:ext>
              </a:extLst>
            </p:cNvPr>
            <p:cNvSpPr txBox="1"/>
            <p:nvPr/>
          </p:nvSpPr>
          <p:spPr>
            <a:xfrm>
              <a:off x="64775" y="103840"/>
              <a:ext cx="2270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lang="en-US" sz="1800" b="1" dirty="0">
                  <a:solidFill>
                    <a:schemeClr val="accent6">
                      <a:lumMod val="50000"/>
                    </a:schemeClr>
                  </a:solidFill>
                </a:rPr>
                <a:t>Dog</a:t>
              </a:r>
              <a:endParaRPr sz="1800" b="1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</p:grpSp>
      <p:sp>
        <p:nvSpPr>
          <p:cNvPr id="48" name="Google Shape;321;gaf7c1d9c3d_0_148">
            <a:extLst>
              <a:ext uri="{FF2B5EF4-FFF2-40B4-BE49-F238E27FC236}">
                <a16:creationId xmlns:a16="http://schemas.microsoft.com/office/drawing/2014/main" id="{144EC234-80DC-D749-A5E8-BE7DB4A5AB43}"/>
              </a:ext>
            </a:extLst>
          </p:cNvPr>
          <p:cNvSpPr/>
          <p:nvPr/>
        </p:nvSpPr>
        <p:spPr>
          <a:xfrm flipV="1">
            <a:off x="5607633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18" name="Google Shape;321;gaf7c1d9c3d_0_148">
            <a:extLst>
              <a:ext uri="{FF2B5EF4-FFF2-40B4-BE49-F238E27FC236}">
                <a16:creationId xmlns:a16="http://schemas.microsoft.com/office/drawing/2014/main" id="{F01CB5DD-C82B-894A-9A4D-E4D973439A2C}"/>
              </a:ext>
            </a:extLst>
          </p:cNvPr>
          <p:cNvSpPr/>
          <p:nvPr/>
        </p:nvSpPr>
        <p:spPr>
          <a:xfrm flipV="1">
            <a:off x="2601168" y="2839294"/>
            <a:ext cx="680400" cy="4501"/>
          </a:xfrm>
          <a:prstGeom prst="line">
            <a:avLst/>
          </a:prstGeom>
          <a:ln w="28575">
            <a:solidFill>
              <a:srgbClr val="38761D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pic>
        <p:nvPicPr>
          <p:cNvPr id="19" name="Рисунок 1">
            <a:extLst>
              <a:ext uri="{FF2B5EF4-FFF2-40B4-BE49-F238E27FC236}">
                <a16:creationId xmlns:a16="http://schemas.microsoft.com/office/drawing/2014/main" id="{3B6EECED-CAB9-4E4D-8FC0-0D1C1FC8F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890" y="1810081"/>
            <a:ext cx="2075696" cy="20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2680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96D4C-D966-7F4E-BB0D-27073ABB4A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Классический </a:t>
            </a:r>
            <a:r>
              <a:rPr lang="en-US" dirty="0"/>
              <a:t>ML</a:t>
            </a:r>
          </a:p>
        </p:txBody>
      </p:sp>
      <p:pic>
        <p:nvPicPr>
          <p:cNvPr id="3" name="object 2">
            <a:extLst>
              <a:ext uri="{FF2B5EF4-FFF2-40B4-BE49-F238E27FC236}">
                <a16:creationId xmlns:a16="http://schemas.microsoft.com/office/drawing/2014/main" id="{B85E4FB4-2C5B-934F-817A-E81C6554DE9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9685" y="911003"/>
            <a:ext cx="5604630" cy="4232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46542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1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13" name="Google Shape;413;p6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61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5" name="Google Shape;415;p6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61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921EDC-6600-9345-A654-2B7358B22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</a:t>
            </a:r>
            <a:r>
              <a:rPr lang="en-US" dirty="0"/>
              <a:t>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475;gb10daea3ca_0_1227"/>
          <p:cNvSpPr txBox="1"/>
          <p:nvPr/>
        </p:nvSpPr>
        <p:spPr>
          <a:xfrm>
            <a:off x="500549" y="1089019"/>
            <a:ext cx="5222043" cy="11900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Хотим научиться предсказывать цену дома…</a:t>
            </a:r>
          </a:p>
        </p:txBody>
      </p:sp>
      <p:pic>
        <p:nvPicPr>
          <p:cNvPr id="569" name="Google Shape;476;gb10daea3ca_0_1227" descr="Google Shape;476;gb10daea3ca_0_12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477;gb10daea3ca_0_1227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574" name="Google Shape;479;gb10daea3ca_0_12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Пример: предсказание цен на жилье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475;gb10daea3ca_0_1227"/>
          <p:cNvSpPr txBox="1"/>
          <p:nvPr/>
        </p:nvSpPr>
        <p:spPr>
          <a:xfrm>
            <a:off x="500549" y="1089019"/>
            <a:ext cx="5222043" cy="1923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endParaRPr lang="ru-RU" sz="1800" dirty="0">
              <a:latin typeface="Open Sans"/>
              <a:ea typeface="Open Sans"/>
              <a:cs typeface="Open Sans"/>
              <a:sym typeface="Open Sans"/>
            </a:endParaRP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Хотим научиться предсказывать цену дома…</a:t>
            </a:r>
          </a:p>
          <a:p>
            <a:pPr>
              <a:spcBef>
                <a:spcPts val="1350"/>
              </a:spcBef>
            </a:pPr>
            <a:r>
              <a:rPr lang="ru-RU" sz="1800" dirty="0">
                <a:latin typeface="Open Sans"/>
                <a:ea typeface="Open Sans"/>
                <a:cs typeface="Open Sans"/>
                <a:sym typeface="Open Sans"/>
              </a:rPr>
              <a:t>… анализируя информацию о 100500 домах  и ценах на них</a:t>
            </a:r>
          </a:p>
        </p:txBody>
      </p:sp>
      <p:pic>
        <p:nvPicPr>
          <p:cNvPr id="569" name="Google Shape;476;gb10daea3ca_0_1227" descr="Google Shape;476;gb10daea3ca_0_122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70" name="Google Shape;477;gb10daea3ca_0_1227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574" name="Google Shape;479;gb10daea3ca_0_122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Пример: предсказание цен на жилье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29335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02;gb10daea3ca_0_1249"/>
          <p:cNvSpPr txBox="1"/>
          <p:nvPr/>
        </p:nvSpPr>
        <p:spPr>
          <a:xfrm>
            <a:off x="500549" y="1089019"/>
            <a:ext cx="5222043" cy="27238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наблюдение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дом (информация о нем)</a:t>
            </a:r>
            <a:b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𝕏 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пространство объектов</a:t>
            </a:r>
            <a:b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всевозможные дома</a:t>
            </a: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𝒚 — target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/ ответ / целевая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переменная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цена дома</a:t>
            </a:r>
            <a:b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𝕐 —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пространство ответов</a:t>
            </a:r>
            <a:b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sz="1500" dirty="0"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положительные действительные числа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93" name="Google Shape;503;gb10daea3ca_0_1249" descr="Google Shape;503;gb10daea3ca_0_124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94" name="Google Shape;504;gb10daea3ca_0_1249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17902A-DF8E-C742-906A-2CE3B397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Определения</a:t>
            </a:r>
            <a:endParaRPr 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10;gb472e075ec_0_133"/>
          <p:cNvSpPr txBox="1"/>
          <p:nvPr/>
        </p:nvSpPr>
        <p:spPr>
          <a:xfrm>
            <a:off x="500550" y="1665889"/>
            <a:ext cx="7335737" cy="12875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 / наблюдение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35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Каждый пример (дом) описывается набором характеристик  (например, чисел)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b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3" name="Google Shape;512;gb472e075ec_0_1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признаки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4" name="Google Shape;513;gb472e075ec_0_133" descr="Google Shape;513;gb472e075ec_0_1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3132768"/>
            <a:ext cx="3559407" cy="42815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10;gb472e075ec_0_133"/>
          <p:cNvSpPr txBox="1"/>
          <p:nvPr/>
        </p:nvSpPr>
        <p:spPr>
          <a:xfrm>
            <a:off x="500550" y="1426624"/>
            <a:ext cx="5139273" cy="37548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60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𝒙 — 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example /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объект / наблюдение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Каждый пример (дом) описывается набором характеристик  (например, чисел) 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r>
              <a:rPr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b="1" dirty="0">
              <a:solidFill>
                <a:schemeClr val="accent6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6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 нас будут разные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признаки </a:t>
            </a:r>
            <a:r>
              <a:rPr lang="ru-RU"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 домах: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Площадь дома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Число комнат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Район</a:t>
            </a:r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….</a:t>
            </a:r>
            <a:br>
              <a:rPr sz="1800" dirty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sz="1800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3" name="Google Shape;512;gb472e075ec_0_13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признаки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4" name="Google Shape;513;gb472e075ec_0_133" descr="Google Shape;513;gb472e075ec_0_13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43" y="2726579"/>
            <a:ext cx="3559407" cy="428157"/>
          </a:xfrm>
          <a:prstGeom prst="rect">
            <a:avLst/>
          </a:prstGeom>
          <a:ln w="12700">
            <a:miter lim="400000"/>
          </a:ln>
        </p:spPr>
      </p:pic>
      <p:pic>
        <p:nvPicPr>
          <p:cNvPr id="8" name="Google Shape;519;gb472e075ec_0_147" descr="Google Shape;519;gb472e075ec_0_147">
            <a:extLst>
              <a:ext uri="{FF2B5EF4-FFF2-40B4-BE49-F238E27FC236}">
                <a16:creationId xmlns:a16="http://schemas.microsoft.com/office/drawing/2014/main" id="{84580252-C50F-EE48-ABA7-D65C0AA609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7344066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Google Shape;528;gb472e075ec_0_156"/>
              <p:cNvSpPr txBox="1"/>
              <p:nvPr/>
            </p:nvSpPr>
            <p:spPr>
              <a:xfrm>
                <a:off x="500550" y="1518789"/>
                <a:ext cx="4880270" cy="237731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Набор объектов и ответов к ним</a:t>
                </a: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ar-AE" sz="240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sSubSup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ar-AE" sz="24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  <a:sym typeface="Avenir Roman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  <a:sym typeface="Avenir Roman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cs typeface="Arial" panose="020B0604020202020204" pitchFamily="34" charset="0"/>
                                          <a:sym typeface="Avenir Roman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𝑁</m:t>
                          </m:r>
                        </m:sup>
                      </m:sSubSup>
                    </m:oMath>
                  </m:oMathPara>
                </a14:m>
                <a:endParaRPr lang="ar-AE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ar-AE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ar-AE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—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размер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датасета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(число примеров)</a:t>
                </a:r>
                <a:endParaRPr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15" name="Google Shape;528;gb472e075ec_0_1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518789"/>
                <a:ext cx="4880270" cy="2377317"/>
              </a:xfrm>
              <a:prstGeom prst="rect">
                <a:avLst/>
              </a:prstGeom>
              <a:blipFill>
                <a:blip r:embed="rId2"/>
                <a:stretch>
                  <a:fillRect l="-2857" b="-266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6" name="Google Shape;529;gb472e075ec_0_156" descr="Google Shape;529;gb472e075ec_0_1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617" name="Google Shape;530;gb472e075ec_0_156"/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15" name="Google Shape;512;gb472e075ec_0_133">
            <a:extLst>
              <a:ext uri="{FF2B5EF4-FFF2-40B4-BE49-F238E27FC236}">
                <a16:creationId xmlns:a16="http://schemas.microsoft.com/office/drawing/2014/main" id="{D165716C-462B-8443-BEA0-B4AA15B7C8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датасет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dataset)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579972"/>
            <a:ext cx="4880270" cy="1661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237" y="2754303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модель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089019"/>
            <a:ext cx="4880270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линейная модель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963" y="2365462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модель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52;gb472e075ec_0_178" descr="Google Shape;552;gb472e075ec_0_178">
            <a:extLst>
              <a:ext uri="{FF2B5EF4-FFF2-40B4-BE49-F238E27FC236}">
                <a16:creationId xmlns:a16="http://schemas.microsoft.com/office/drawing/2014/main" id="{73EC8EBE-2BF3-724B-AAE1-F35524F6BB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393" y="3834630"/>
            <a:ext cx="4876427" cy="2198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20757428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488789"/>
            <a:ext cx="6673054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то, что мы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выучиваем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про </a:t>
            </a:r>
            <a:r>
              <a:rPr lang="en-US" sz="1800" i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a(x)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из данных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			(коэффициенты нашей функции)</a:t>
            </a: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1964" y="2738206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42782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500550" y="1346770"/>
            <a:ext cx="6673054" cy="360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линейная модель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Где здесь параметры?</a:t>
            </a: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62" y="2571750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52;gb472e075ec_0_178" descr="Google Shape;552;gb472e075ec_0_178">
            <a:extLst>
              <a:ext uri="{FF2B5EF4-FFF2-40B4-BE49-F238E27FC236}">
                <a16:creationId xmlns:a16="http://schemas.microsoft.com/office/drawing/2014/main" id="{043C886F-417E-8047-9FFB-C13CFC358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370" y="4175513"/>
            <a:ext cx="4876427" cy="219851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7980247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538;gb472e075ec_0_167"/>
          <p:cNvSpPr txBox="1"/>
          <p:nvPr/>
        </p:nvSpPr>
        <p:spPr>
          <a:xfrm>
            <a:off x="494524" y="1426624"/>
            <a:ext cx="8299671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функция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, которая предсказывает ответ для любого объекта </a:t>
            </a:r>
            <a:r>
              <a:rPr sz="1800" dirty="0"/>
              <a:t>𝒙: </a:t>
            </a: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/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то, что мы </a:t>
            </a:r>
            <a:r>
              <a:rPr lang="ru-RU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выучиваем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про </a:t>
            </a:r>
            <a:r>
              <a:rPr lang="en-US" sz="1800" i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a(x)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из данных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			(коэффициенты нашей функции)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b="1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Гиперпараметры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конфигурация модели, которую мы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                                задаем вручную при выборе алгоритма</a:t>
            </a:r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29" name="Google Shape;541;gb472e075ec_0_167" descr="Google Shape;541;gb472e075ec_0_1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868" y="2469753"/>
            <a:ext cx="2336222" cy="412576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80F316DF-1AFE-D745-9B81-609FA82292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параметры и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гиперпараметры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87790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00662" y="1224428"/>
            <a:ext cx="5085697" cy="2215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  <a:endParaRPr sz="1800" dirty="0"/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  <a:p>
            <a:endParaRPr sz="1800" dirty="0">
              <a:latin typeface="Avenir"/>
              <a:ea typeface="Avenir"/>
              <a:cs typeface="Avenir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755" y="2467437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84193" y="1246271"/>
            <a:ext cx="5085697" cy="3323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Предсказываем цену на жилье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Какую функцию можно взять?</a:t>
            </a:r>
            <a:endParaRPr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659" y="2571750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74;gb472e075ec_0_215" descr="Google Shape;574;gb472e075ec_0_215">
            <a:extLst>
              <a:ext uri="{FF2B5EF4-FFF2-40B4-BE49-F238E27FC236}">
                <a16:creationId xmlns:a16="http://schemas.microsoft.com/office/drawing/2014/main" id="{19EAB8D1-B580-404D-955B-A163E8ABB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Google Shape;575;gb472e075ec_0_215">
            <a:extLst>
              <a:ext uri="{FF2B5EF4-FFF2-40B4-BE49-F238E27FC236}">
                <a16:creationId xmlns:a16="http://schemas.microsoft.com/office/drawing/2014/main" id="{22E4AAFE-3358-9E43-98AB-32BCE61BE191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</p:spTree>
    <p:extLst>
      <p:ext uri="{BB962C8B-B14F-4D97-AF65-F5344CB8AC3E}">
        <p14:creationId xmlns:p14="http://schemas.microsoft.com/office/powerpoint/2010/main" val="38948575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565;gb472e075ec_0_188"/>
          <p:cNvSpPr txBox="1"/>
          <p:nvPr/>
        </p:nvSpPr>
        <p:spPr>
          <a:xfrm>
            <a:off x="500550" y="1211790"/>
            <a:ext cx="5085697" cy="3600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42900"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Loss (function)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– функция, которая измеряет, насколько предсказание отличается от ответа</a:t>
            </a: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Предсказываем цену на жилье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Квадрат разности:</a:t>
            </a:r>
          </a:p>
          <a:p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pic>
        <p:nvPicPr>
          <p:cNvPr id="653" name="Google Shape;568;gb472e075ec_0_188" descr="Google Shape;568;gb472e075ec_0_18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683" y="2479426"/>
            <a:ext cx="1521530" cy="532857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574;gb472e075ec_0_215" descr="Google Shape;574;gb472e075ec_0_215">
            <a:extLst>
              <a:ext uri="{FF2B5EF4-FFF2-40B4-BE49-F238E27FC236}">
                <a16:creationId xmlns:a16="http://schemas.microsoft.com/office/drawing/2014/main" id="{19EAB8D1-B580-404D-955B-A163E8ABB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Google Shape;575;gb472e075ec_0_215">
            <a:extLst>
              <a:ext uri="{FF2B5EF4-FFF2-40B4-BE49-F238E27FC236}">
                <a16:creationId xmlns:a16="http://schemas.microsoft.com/office/drawing/2014/main" id="{22E4AAFE-3358-9E43-98AB-32BCE61BE191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pic>
        <p:nvPicPr>
          <p:cNvPr id="14" name="Google Shape;578;gb472e075ec_0_215" descr="Google Shape;578;gb472e075ec_0_215">
            <a:extLst>
              <a:ext uri="{FF2B5EF4-FFF2-40B4-BE49-F238E27FC236}">
                <a16:creationId xmlns:a16="http://schemas.microsoft.com/office/drawing/2014/main" id="{B279674B-034F-574E-A75F-C5711682A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260" y="4303825"/>
            <a:ext cx="3933788" cy="532865"/>
          </a:xfrm>
          <a:prstGeom prst="rect">
            <a:avLst/>
          </a:prstGeom>
          <a:ln w="12700">
            <a:miter lim="400000"/>
          </a:ln>
        </p:spPr>
      </p:pic>
    </p:spTree>
    <p:extLst>
      <p:ext uri="{BB962C8B-B14F-4D97-AF65-F5344CB8AC3E}">
        <p14:creationId xmlns:p14="http://schemas.microsoft.com/office/powerpoint/2010/main" val="342841118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48" name="Google Shape;565;gb472e075ec_0_188"/>
              <p:cNvSpPr txBox="1"/>
              <p:nvPr/>
            </p:nvSpPr>
            <p:spPr>
              <a:xfrm>
                <a:off x="516499" y="1409307"/>
                <a:ext cx="5085697" cy="3477875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en-US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en-US" sz="1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Loss (function)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–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функция, которая измеряет, насколько предсказание отличается от ответа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⟹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endParaRPr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</p:txBody>
          </p:sp>
        </mc:Choice>
        <mc:Fallback xmlns="">
          <p:sp>
            <p:nvSpPr>
              <p:cNvPr id="648" name="Google Shape;565;gb472e075ec_0_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99" y="1409307"/>
                <a:ext cx="5085697" cy="3477875"/>
              </a:xfrm>
              <a:prstGeom prst="rect">
                <a:avLst/>
              </a:prstGeom>
              <a:blipFill>
                <a:blip r:embed="rId2"/>
                <a:stretch>
                  <a:fillRect l="-2736" r="-498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786492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48" name="Google Shape;565;gb472e075ec_0_188"/>
              <p:cNvSpPr txBox="1"/>
              <p:nvPr/>
            </p:nvSpPr>
            <p:spPr>
              <a:xfrm>
                <a:off x="516499" y="1409307"/>
                <a:ext cx="5086502" cy="340836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indent="342900">
                  <a:spcBef>
                    <a:spcPts val="1350"/>
                  </a:spcBef>
                </a:pPr>
                <a:endParaRPr lang="en-US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en-US" sz="1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Loss (function) 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–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функция, которая измеряет, насколько предсказание отличается от ответа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ru-RU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𝐿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⟹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𝑎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,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endParaRPr lang="en-US" sz="1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Квадрат разности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⇒</m:t>
                    </m:r>
                  </m:oMath>
                </a14:m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среднеквадратичная</a:t>
                </a:r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b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ошибка </a:t>
                </a:r>
              </a:p>
              <a:p>
                <a:pPr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ℒ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,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𝑋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𝑎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  <a:cs typeface="Arial" panose="020B0604020202020204" pitchFamily="34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Arial" panose="020B0604020202020204" pitchFamily="34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48" name="Google Shape;565;gb472e075ec_0_1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99" y="1409307"/>
                <a:ext cx="5086502" cy="3408369"/>
              </a:xfrm>
              <a:prstGeom prst="rect">
                <a:avLst/>
              </a:prstGeom>
              <a:blipFill>
                <a:blip r:embed="rId2"/>
                <a:stretch>
                  <a:fillRect l="-2736" r="-498" b="-5333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B59A0F1B-B081-B84B-8DCB-43E5610E06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функция потерь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492F1FF3-2AB9-0A42-BDB3-081ACE106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Google Shape;596;gb472e075ec_0_225">
            <a:extLst>
              <a:ext uri="{FF2B5EF4-FFF2-40B4-BE49-F238E27FC236}">
                <a16:creationId xmlns:a16="http://schemas.microsoft.com/office/drawing/2014/main" id="{14A2AFE0-643C-8A46-97DE-29D65B2DDEC9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</p:spTree>
    <p:extLst>
      <p:ext uri="{BB962C8B-B14F-4D97-AF65-F5344CB8AC3E}">
        <p14:creationId xmlns:p14="http://schemas.microsoft.com/office/powerpoint/2010/main" val="13847580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07;gb10daea3ca_0_1347"/>
          <p:cNvSpPr txBox="1"/>
          <p:nvPr/>
        </p:nvSpPr>
        <p:spPr>
          <a:xfrm>
            <a:off x="500550" y="1089019"/>
            <a:ext cx="8275520" cy="73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marL="57150">
              <a:spcBef>
                <a:spcPts val="1350"/>
              </a:spcBef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У нас есть 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датасет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и функция потерь</a:t>
            </a:r>
            <a:endParaRPr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indent="685800">
              <a:spcBef>
                <a:spcPts val="1350"/>
              </a:spcBef>
            </a:pPr>
            <a:endParaRPr lang="en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</p:txBody>
      </p:sp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32416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86" name="Google Shape;607;gb10daea3ca_0_1347"/>
              <p:cNvSpPr txBox="1"/>
              <p:nvPr/>
            </p:nvSpPr>
            <p:spPr>
              <a:xfrm>
                <a:off x="500550" y="1089019"/>
                <a:ext cx="8275520" cy="2287806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ma14="http://schemas.microsoft.com/office/mac/drawingml/2011/main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У нас есть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и функция потерь</a:t>
                </a: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Мы выбираем семейство моделей 𝒜  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То есть модели какого </a:t>
                </a:r>
                <a:r>
                  <a:rPr lang="ru-RU" sz="15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типа</a:t>
                </a: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 мы будем рассматривать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Например, линейная регрессия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,⋯, 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ℝ</m:t>
                          </m:r>
                        </m:e>
                      </m:d>
                    </m:oMath>
                  </m:oMathPara>
                </a14:m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>
                  <a:spcBef>
                    <a:spcPts val="1350"/>
                  </a:spcBef>
                </a:pPr>
                <a:endParaRPr lang="en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</p:txBody>
          </p:sp>
        </mc:Choice>
        <mc:Fallback xmlns="">
          <p:sp>
            <p:nvSpPr>
              <p:cNvPr id="686" name="Google Shape;607;gb10daea3ca_0_13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089019"/>
                <a:ext cx="8275520" cy="2287806"/>
              </a:xfrm>
              <a:prstGeom prst="rect">
                <a:avLst/>
              </a:prstGeom>
              <a:blipFill>
                <a:blip r:embed="rId2"/>
                <a:stretch>
                  <a:fillRect l="-1072" t="-2762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19135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86" name="Google Shape;607;gb10daea3ca_0_1347"/>
              <p:cNvSpPr txBox="1"/>
              <p:nvPr/>
            </p:nvSpPr>
            <p:spPr>
              <a:xfrm>
                <a:off x="500550" y="1089019"/>
                <a:ext cx="8275520" cy="329833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square" lIns="0" tIns="0" rIns="0" bIns="0">
                <a:spAutoFit/>
              </a:bodyPr>
              <a:lstStyle/>
              <a:p>
                <a:pPr marL="342900" indent="-285750">
                  <a:spcBef>
                    <a:spcPts val="1350"/>
                  </a:spcBef>
                  <a:buSzPts val="2400"/>
                  <a:buFont typeface="Arial" panose="020B0604020202020204" pitchFamily="34" charset="0"/>
                  <a:buChar char="•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У нас есть </a:t>
                </a:r>
                <a:r>
                  <a:rPr lang="ru-RU" sz="18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датасет</a:t>
                </a: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 и функция потерь</a:t>
                </a:r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342900" indent="-285750">
                  <a:spcBef>
                    <a:spcPts val="1350"/>
                  </a:spcBef>
                  <a:buSzPts val="2400"/>
                  <a:buFont typeface="Arial" panose="020B0604020202020204" pitchFamily="34" charset="0"/>
                  <a:buChar char="•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Мы выбираем семейство моделей 𝒜  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То есть модели какого </a:t>
                </a:r>
                <a:r>
                  <a:rPr lang="ru-RU" sz="15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типа</a:t>
                </a:r>
                <a:r>
                  <a:rPr lang="ru-RU" sz="1500" dirty="0">
                    <a:latin typeface="Arial" panose="020B0604020202020204" pitchFamily="34" charset="0"/>
                    <a:cs typeface="Arial" panose="020B0604020202020204" pitchFamily="34" charset="0"/>
                  </a:rPr>
                  <a:t> мы будем рассматривать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:r>
                  <a:rPr lang="ru-RU" sz="15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Например, линейная регрессия</a:t>
                </a:r>
              </a:p>
              <a:p>
                <a:pPr marL="57150">
                  <a:spcBef>
                    <a:spcPts val="1350"/>
                  </a:spcBef>
                  <a:buSzPts val="2400"/>
                  <a:defRPr sz="2400">
                    <a:latin typeface="Avenir"/>
                    <a:ea typeface="Avenir"/>
                    <a:cs typeface="Avenir"/>
                    <a:sym typeface="Avenir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𝒜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venir"/>
                          <a:cs typeface="Arial" panose="020B0604020202020204" pitchFamily="34" charset="0"/>
                          <a:sym typeface="Avenir Roman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+⋯+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,⋯, 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  <a:sym typeface="Avenir Roman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∈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  <a:sym typeface="Avenir Roman"/>
                            </a:rPr>
                            <m:t>ℝ</m:t>
                          </m:r>
                        </m:e>
                      </m:d>
                    </m:oMath>
                  </m:oMathPara>
                </a14:m>
                <a:endParaRPr lang="ru-RU" sz="1800" dirty="0">
                  <a:latin typeface="Arial" panose="020B0604020202020204" pitchFamily="34" charset="0"/>
                  <a:ea typeface="Avenir"/>
                  <a:cs typeface="Arial" panose="020B0604020202020204" pitchFamily="34" charset="0"/>
                  <a:sym typeface="Avenir Roman"/>
                </a:endParaRPr>
              </a:p>
              <a:p>
                <a:pPr marL="285750" indent="-285750">
                  <a:spcBef>
                    <a:spcPts val="1350"/>
                  </a:spcBef>
                  <a:buFont typeface="Arial" panose="020B0604020202020204" pitchFamily="34" charset="0"/>
                  <a:buChar char="•"/>
                </a:pP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Обучение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 – поиск </a:t>
                </a: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оптимальной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 модели (из выбранного семейства) в терминах функции потерь </a:t>
                </a:r>
              </a:p>
              <a:p>
                <a:pPr marL="285750" indent="-285750">
                  <a:spcBef>
                    <a:spcPts val="1350"/>
                  </a:spcBef>
                  <a:buFont typeface="Arial" panose="020B0604020202020204" pitchFamily="34" charset="0"/>
                  <a:buChar char="•"/>
                </a:pP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Неформально: </a:t>
                </a:r>
                <a:r>
                  <a:rPr lang="ru-RU" sz="1800" b="1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обучение – поиск лучшего набора параметров </a:t>
                </a:r>
                <a:r>
                  <a:rPr lang="ru-RU" sz="1800" dirty="0">
                    <a:latin typeface="Arial" panose="020B0604020202020204" pitchFamily="34" charset="0"/>
                    <a:ea typeface="Avenir"/>
                    <a:cs typeface="Arial" panose="020B0604020202020204" pitchFamily="34" charset="0"/>
                    <a:sym typeface="Avenir Roman"/>
                  </a:rPr>
                  <a:t>среди всех возможных</a:t>
                </a:r>
              </a:p>
            </p:txBody>
          </p:sp>
        </mc:Choice>
        <mc:Fallback xmlns="">
          <p:sp>
            <p:nvSpPr>
              <p:cNvPr id="686" name="Google Shape;607;gb10daea3ca_0_13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089019"/>
                <a:ext cx="8275520" cy="3298339"/>
              </a:xfrm>
              <a:prstGeom prst="rect">
                <a:avLst/>
              </a:prstGeom>
              <a:blipFill>
                <a:blip r:embed="rId2"/>
                <a:stretch>
                  <a:fillRect l="-1531" t="-4215" b="-3065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Google Shape;512;gb472e075ec_0_133">
            <a:extLst>
              <a:ext uri="{FF2B5EF4-FFF2-40B4-BE49-F238E27FC236}">
                <a16:creationId xmlns:a16="http://schemas.microsoft.com/office/drawing/2014/main" id="{DBEFD706-0191-2348-9DA8-45758A7BC5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Определения: обучение модели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36285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ML Pipeline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480046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5" name="Google Shape;616;gb10daea3ca_0_1407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693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694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698" name="Google Shape;617;gb10daea3ca_0_1407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69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697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01" name="Google Shape;618;gb10daea3ca_0_1407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699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0" name="Trained model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</a:t>
              </a:r>
            </a:p>
          </p:txBody>
        </p:sp>
      </p:grpSp>
      <p:sp>
        <p:nvSpPr>
          <p:cNvPr id="702" name="Google Shape;619;gb10daea3ca_0_1407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03" name="Google Shape;620;gb10daea3ca_0_1407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06" name="Google Shape;621;gb10daea3ca_0_1407"/>
          <p:cNvGrpSpPr/>
          <p:nvPr/>
        </p:nvGrpSpPr>
        <p:grpSpPr>
          <a:xfrm>
            <a:off x="584950" y="1145026"/>
            <a:ext cx="1800226" cy="501977"/>
            <a:chOff x="0" y="130149"/>
            <a:chExt cx="2400300" cy="669301"/>
          </a:xfrm>
        </p:grpSpPr>
        <p:sp>
          <p:nvSpPr>
            <p:cNvPr id="704" name="Rectangle"/>
            <p:cNvSpPr/>
            <p:nvPr/>
          </p:nvSpPr>
          <p:spPr>
            <a:xfrm>
              <a:off x="0" y="130149"/>
              <a:ext cx="2400300" cy="669301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5" name="Linear Regression"/>
            <p:cNvSpPr txBox="1"/>
            <p:nvPr/>
          </p:nvSpPr>
          <p:spPr>
            <a:xfrm>
              <a:off x="64775" y="233989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Model</a:t>
              </a:r>
              <a:endParaRPr sz="1800" dirty="0"/>
            </a:p>
          </p:txBody>
        </p:sp>
      </p:grpSp>
      <p:grpSp>
        <p:nvGrpSpPr>
          <p:cNvPr id="709" name="Google Shape;622;gb10daea3ca_0_1407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07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08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10" name="Google Shape;623;gb10daea3ca_0_1407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16" name="Google Shape;624;gb10daea3ca_0_1407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30" name="Google Shape;723;gb472e075ec_0_439">
            <a:extLst>
              <a:ext uri="{FF2B5EF4-FFF2-40B4-BE49-F238E27FC236}">
                <a16:creationId xmlns:a16="http://schemas.microsoft.com/office/drawing/2014/main" id="{51910965-E20C-AB42-A81A-B220281E11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0" name="Google Shape;632;gb472e075ec_0_273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718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19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723" name="Google Shape;633;gb472e075ec_0_273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721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22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26" name="Google Shape;634;gb472e075ec_0_273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724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25" name="Trained model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</a:t>
              </a:r>
            </a:p>
          </p:txBody>
        </p:sp>
      </p:grpSp>
      <p:sp>
        <p:nvSpPr>
          <p:cNvPr id="727" name="Google Shape;635;gb472e075ec_0_273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28" name="Google Shape;636;gb472e075ec_0_273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31" name="Google Shape;637;gb472e075ec_0_273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72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30" name="Model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 dirty="0"/>
                <a:t>Model</a:t>
              </a:r>
            </a:p>
          </p:txBody>
        </p:sp>
      </p:grpSp>
      <p:grpSp>
        <p:nvGrpSpPr>
          <p:cNvPr id="734" name="Google Shape;638;gb472e075ec_0_273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32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33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35" name="Google Shape;639;gb472e075ec_0_273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38" name="Google Shape;640;gb472e075ec_0_273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73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37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741" name="Google Shape;641;gb472e075ec_0_273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739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0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744" name="Google Shape;642;gb472e075ec_0_273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742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3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757" name="Google Shape;643;gb472e075ec_0_273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58" name="Google Shape;644;gb472e075ec_0_273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749" name="Google Shape;645;gb472e075ec_0_273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747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48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759" name="Google Shape;646;gb472e075ec_0_273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55" name="Google Shape;649;gb472e075ec_0_273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56" name="Google Shape;650;gb472e075ec_0_273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6" name="Google Shape;723;gb472e075ec_0_439">
            <a:extLst>
              <a:ext uri="{FF2B5EF4-FFF2-40B4-BE49-F238E27FC236}">
                <a16:creationId xmlns:a16="http://schemas.microsoft.com/office/drawing/2014/main" id="{58427215-3CF0-1646-B3B0-980E723F4B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3" name="Google Shape;656;gb472e075ec_0_390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761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62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766" name="Google Shape;657;gb472e075ec_0_390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764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65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769" name="Google Shape;658;gb472e075ec_0_390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767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68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770" name="Google Shape;659;gb472e075ec_0_390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71" name="Google Shape;660;gb472e075ec_0_390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74" name="Google Shape;661;gb472e075ec_0_390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772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73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Models</a:t>
              </a:r>
            </a:p>
          </p:txBody>
        </p:sp>
      </p:grpSp>
      <p:grpSp>
        <p:nvGrpSpPr>
          <p:cNvPr id="777" name="Google Shape;662;gb472e075ec_0_390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775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76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778" name="Google Shape;663;gb472e075ec_0_390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781" name="Google Shape;664;gb472e075ec_0_390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779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780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784" name="Google Shape;665;gb472e075ec_0_390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782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83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787" name="Google Shape;666;gb472e075ec_0_390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785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86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801" name="Google Shape;667;gb472e075ec_0_390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02" name="Google Shape;668;gb472e075ec_0_390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792" name="Google Shape;669;gb472e075ec_0_390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790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791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803" name="Google Shape;670;gb472e075ec_0_390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798" name="Google Shape;673;gb472e075ec_0_390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799" name="Google Shape;674;gb472e075ec_0_390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47" name="Google Shape;723;gb472e075ec_0_439">
            <a:extLst>
              <a:ext uri="{FF2B5EF4-FFF2-40B4-BE49-F238E27FC236}">
                <a16:creationId xmlns:a16="http://schemas.microsoft.com/office/drawing/2014/main" id="{8C98DFBA-C24B-0B44-9563-BEB69BC91A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  <p:sp>
        <p:nvSpPr>
          <p:cNvPr id="39" name="Google Shape;700;gb472e075ec_0_414">
            <a:extLst>
              <a:ext uri="{FF2B5EF4-FFF2-40B4-BE49-F238E27FC236}">
                <a16:creationId xmlns:a16="http://schemas.microsoft.com/office/drawing/2014/main" id="{4239AC46-2B9F-C74E-A711-50FAF692B206}"/>
              </a:ext>
            </a:extLst>
          </p:cNvPr>
          <p:cNvSpPr txBox="1"/>
          <p:nvPr/>
        </p:nvSpPr>
        <p:spPr>
          <a:xfrm>
            <a:off x="3488137" y="3128551"/>
            <a:ext cx="3232351" cy="276999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ts val="18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sz="1800" dirty="0"/>
              <a:t>How to select the best model?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7" name="Google Shape;681;gb472e075ec_0_414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805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06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810" name="Google Shape;682;gb472e075ec_0_414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808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09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Training Dataset</a:t>
              </a:r>
            </a:p>
          </p:txBody>
        </p:sp>
      </p:grpSp>
      <p:grpSp>
        <p:nvGrpSpPr>
          <p:cNvPr id="813" name="Google Shape;683;gb472e075ec_0_414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811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12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814" name="Google Shape;684;gb472e075ec_0_414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15" name="Google Shape;685;gb472e075ec_0_414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18" name="Google Shape;686;gb472e075ec_0_414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816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17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Models</a:t>
              </a:r>
            </a:p>
          </p:txBody>
        </p:sp>
      </p:grpSp>
      <p:grpSp>
        <p:nvGrpSpPr>
          <p:cNvPr id="821" name="Google Shape;687;gb472e075ec_0_414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819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20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822" name="Google Shape;688;gb472e075ec_0_414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25" name="Google Shape;689;gb472e075ec_0_414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823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24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828" name="Google Shape;690;gb472e075ec_0_414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826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27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831" name="Google Shape;691;gb472e075ec_0_414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829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30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848" name="Google Shape;692;gb472e075ec_0_414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49" name="Google Shape;693;gb472e075ec_0_414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836" name="Google Shape;694;gb472e075ec_0_414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834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35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850" name="Google Shape;695;gb472e075ec_0_414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42" name="Google Shape;698;gb472e075ec_0_414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43" name="Google Shape;699;gb472e075ec_0_414"/>
          <p:cNvSpPr/>
          <p:nvPr/>
        </p:nvSpPr>
        <p:spPr>
          <a:xfrm>
            <a:off x="4955531" y="2740612"/>
            <a:ext cx="225" cy="15792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44" name="Google Shape;700;gb472e075ec_0_414"/>
          <p:cNvSpPr txBox="1"/>
          <p:nvPr/>
        </p:nvSpPr>
        <p:spPr>
          <a:xfrm>
            <a:off x="3488137" y="3128551"/>
            <a:ext cx="3232351" cy="276999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ts val="1800"/>
              </a:spcBef>
              <a:defRPr sz="240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sz="1800" dirty="0"/>
              <a:t>How to select the best model?</a:t>
            </a:r>
          </a:p>
        </p:txBody>
      </p:sp>
      <p:grpSp>
        <p:nvGrpSpPr>
          <p:cNvPr id="847" name="Google Shape;701;gb472e075ec_0_414"/>
          <p:cNvGrpSpPr/>
          <p:nvPr/>
        </p:nvGrpSpPr>
        <p:grpSpPr>
          <a:xfrm>
            <a:off x="584942" y="2920409"/>
            <a:ext cx="1800226" cy="577049"/>
            <a:chOff x="0" y="42001"/>
            <a:chExt cx="2400300" cy="769397"/>
          </a:xfrm>
        </p:grpSpPr>
        <p:sp>
          <p:nvSpPr>
            <p:cNvPr id="845" name="Rectangle"/>
            <p:cNvSpPr/>
            <p:nvPr/>
          </p:nvSpPr>
          <p:spPr>
            <a:xfrm>
              <a:off x="0" y="9205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46" name="Validation Dataset"/>
            <p:cNvSpPr txBox="1"/>
            <p:nvPr/>
          </p:nvSpPr>
          <p:spPr>
            <a:xfrm>
              <a:off x="64775" y="42001"/>
              <a:ext cx="2270751" cy="769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Validation Dataset</a:t>
              </a:r>
            </a:p>
          </p:txBody>
        </p:sp>
      </p:grpSp>
      <p:sp>
        <p:nvSpPr>
          <p:cNvPr id="50" name="Google Shape;723;gb472e075ec_0_439">
            <a:extLst>
              <a:ext uri="{FF2B5EF4-FFF2-40B4-BE49-F238E27FC236}">
                <a16:creationId xmlns:a16="http://schemas.microsoft.com/office/drawing/2014/main" id="{52DD07DC-82CF-E145-B10A-68709F06B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4" name="Google Shape;707;gb472e075ec_0_439"/>
          <p:cNvGrpSpPr/>
          <p:nvPr/>
        </p:nvGrpSpPr>
        <p:grpSpPr>
          <a:xfrm>
            <a:off x="3323155" y="1617148"/>
            <a:ext cx="3265202" cy="427727"/>
            <a:chOff x="-1" y="0"/>
            <a:chExt cx="4353602" cy="570300"/>
          </a:xfrm>
        </p:grpSpPr>
        <p:sp>
          <p:nvSpPr>
            <p:cNvPr id="852" name="Rectangle"/>
            <p:cNvSpPr/>
            <p:nvPr/>
          </p:nvSpPr>
          <p:spPr>
            <a:xfrm>
              <a:off x="-1" y="0"/>
              <a:ext cx="43536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53" name="Training"/>
            <p:cNvSpPr txBox="1"/>
            <p:nvPr/>
          </p:nvSpPr>
          <p:spPr>
            <a:xfrm>
              <a:off x="64774" y="54341"/>
              <a:ext cx="42240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Training</a:t>
              </a:r>
            </a:p>
          </p:txBody>
        </p:sp>
      </p:grpSp>
      <p:grpSp>
        <p:nvGrpSpPr>
          <p:cNvPr id="857" name="Google Shape;708;gb472e075ec_0_439"/>
          <p:cNvGrpSpPr/>
          <p:nvPr/>
        </p:nvGrpSpPr>
        <p:grpSpPr>
          <a:xfrm>
            <a:off x="591916" y="2198856"/>
            <a:ext cx="1800226" cy="501977"/>
            <a:chOff x="0" y="0"/>
            <a:chExt cx="2400300" cy="669300"/>
          </a:xfrm>
        </p:grpSpPr>
        <p:sp>
          <p:nvSpPr>
            <p:cNvPr id="855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56" name="Training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" sz="1650" dirty="0"/>
                <a:t>Training Dataset</a:t>
              </a:r>
              <a:endParaRPr sz="1650" dirty="0"/>
            </a:p>
          </p:txBody>
        </p:sp>
      </p:grpSp>
      <p:grpSp>
        <p:nvGrpSpPr>
          <p:cNvPr id="860" name="Google Shape;709;gb472e075ec_0_439"/>
          <p:cNvGrpSpPr/>
          <p:nvPr/>
        </p:nvGrpSpPr>
        <p:grpSpPr>
          <a:xfrm>
            <a:off x="3322067" y="2312994"/>
            <a:ext cx="3266328" cy="427726"/>
            <a:chOff x="-1" y="0"/>
            <a:chExt cx="4355102" cy="570300"/>
          </a:xfrm>
        </p:grpSpPr>
        <p:sp>
          <p:nvSpPr>
            <p:cNvPr id="858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59" name="Trained models"/>
            <p:cNvSpPr txBox="1"/>
            <p:nvPr/>
          </p:nvSpPr>
          <p:spPr>
            <a:xfrm>
              <a:off x="64774" y="54340"/>
              <a:ext cx="42255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Trained models</a:t>
              </a:r>
            </a:p>
          </p:txBody>
        </p:sp>
      </p:grpSp>
      <p:sp>
        <p:nvSpPr>
          <p:cNvPr id="861" name="Google Shape;710;gb472e075ec_0_439"/>
          <p:cNvSpPr/>
          <p:nvPr/>
        </p:nvSpPr>
        <p:spPr>
          <a:xfrm flipV="1">
            <a:off x="2392140" y="1955970"/>
            <a:ext cx="929926" cy="5067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862" name="Google Shape;711;gb472e075ec_0_439"/>
          <p:cNvSpPr/>
          <p:nvPr/>
        </p:nvSpPr>
        <p:spPr>
          <a:xfrm flipV="1">
            <a:off x="2386256" y="1874549"/>
            <a:ext cx="936901" cy="252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65" name="Google Shape;712;gb472e075ec_0_439"/>
          <p:cNvGrpSpPr/>
          <p:nvPr/>
        </p:nvGrpSpPr>
        <p:grpSpPr>
          <a:xfrm>
            <a:off x="584950" y="1145028"/>
            <a:ext cx="1800226" cy="501976"/>
            <a:chOff x="0" y="0"/>
            <a:chExt cx="2400300" cy="669300"/>
          </a:xfrm>
        </p:grpSpPr>
        <p:sp>
          <p:nvSpPr>
            <p:cNvPr id="863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64" name="Models"/>
            <p:cNvSpPr txBox="1"/>
            <p:nvPr/>
          </p:nvSpPr>
          <p:spPr>
            <a:xfrm>
              <a:off x="64775" y="1038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" sz="1800" dirty="0"/>
                <a:t>Models</a:t>
              </a:r>
              <a:endParaRPr sz="1800" dirty="0"/>
            </a:p>
          </p:txBody>
        </p:sp>
      </p:grpSp>
      <p:grpSp>
        <p:nvGrpSpPr>
          <p:cNvPr id="868" name="Google Shape;713;gb472e075ec_0_439"/>
          <p:cNvGrpSpPr/>
          <p:nvPr/>
        </p:nvGrpSpPr>
        <p:grpSpPr>
          <a:xfrm>
            <a:off x="586068" y="1689507"/>
            <a:ext cx="1800226" cy="471828"/>
            <a:chOff x="0" y="-1"/>
            <a:chExt cx="2400300" cy="629102"/>
          </a:xfrm>
        </p:grpSpPr>
        <p:sp>
          <p:nvSpPr>
            <p:cNvPr id="866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67" name="Cost Function"/>
            <p:cNvSpPr txBox="1"/>
            <p:nvPr/>
          </p:nvSpPr>
          <p:spPr>
            <a:xfrm>
              <a:off x="64775" y="83741"/>
              <a:ext cx="2270751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en-US" sz="1800" dirty="0"/>
                <a:t>Loss</a:t>
              </a:r>
              <a:endParaRPr sz="1800" dirty="0"/>
            </a:p>
          </p:txBody>
        </p:sp>
      </p:grpSp>
      <p:sp>
        <p:nvSpPr>
          <p:cNvPr id="869" name="Google Shape;714;gb472e075ec_0_439"/>
          <p:cNvSpPr/>
          <p:nvPr/>
        </p:nvSpPr>
        <p:spPr>
          <a:xfrm>
            <a:off x="2385175" y="1338295"/>
            <a:ext cx="938025" cy="427727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72" name="Google Shape;715;gb472e075ec_0_439"/>
          <p:cNvGrpSpPr/>
          <p:nvPr/>
        </p:nvGrpSpPr>
        <p:grpSpPr>
          <a:xfrm>
            <a:off x="584942" y="4302775"/>
            <a:ext cx="1800226" cy="501977"/>
            <a:chOff x="0" y="0"/>
            <a:chExt cx="2400300" cy="669300"/>
          </a:xfrm>
        </p:grpSpPr>
        <p:sp>
          <p:nvSpPr>
            <p:cNvPr id="870" name="Rectangle"/>
            <p:cNvSpPr/>
            <p:nvPr/>
          </p:nvSpPr>
          <p:spPr>
            <a:xfrm>
              <a:off x="0" y="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71" name="Test Dataset"/>
            <p:cNvSpPr txBox="1"/>
            <p:nvPr/>
          </p:nvSpPr>
          <p:spPr>
            <a:xfrm>
              <a:off x="64775" y="119229"/>
              <a:ext cx="2270751" cy="430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/>
                <a:t>Test Dataset</a:t>
              </a:r>
            </a:p>
          </p:txBody>
        </p:sp>
      </p:grpSp>
      <p:grpSp>
        <p:nvGrpSpPr>
          <p:cNvPr id="875" name="Google Shape;716;gb472e075ec_0_439"/>
          <p:cNvGrpSpPr/>
          <p:nvPr/>
        </p:nvGrpSpPr>
        <p:grpSpPr>
          <a:xfrm>
            <a:off x="3323155" y="4319886"/>
            <a:ext cx="3265202" cy="471827"/>
            <a:chOff x="-1" y="-1"/>
            <a:chExt cx="4353602" cy="629102"/>
          </a:xfrm>
        </p:grpSpPr>
        <p:sp>
          <p:nvSpPr>
            <p:cNvPr id="873" name="Rectangle"/>
            <p:cNvSpPr/>
            <p:nvPr/>
          </p:nvSpPr>
          <p:spPr>
            <a:xfrm>
              <a:off x="-1" y="-1"/>
              <a:ext cx="4353602" cy="629102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74" name="Testing"/>
            <p:cNvSpPr txBox="1"/>
            <p:nvPr/>
          </p:nvSpPr>
          <p:spPr>
            <a:xfrm>
              <a:off x="64774" y="83739"/>
              <a:ext cx="42240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Testing</a:t>
              </a:r>
            </a:p>
          </p:txBody>
        </p:sp>
      </p:grpSp>
      <p:grpSp>
        <p:nvGrpSpPr>
          <p:cNvPr id="878" name="Google Shape;717;gb472e075ec_0_439"/>
          <p:cNvGrpSpPr/>
          <p:nvPr/>
        </p:nvGrpSpPr>
        <p:grpSpPr>
          <a:xfrm>
            <a:off x="584944" y="3668306"/>
            <a:ext cx="1800226" cy="471827"/>
            <a:chOff x="0" y="-1"/>
            <a:chExt cx="2400300" cy="629102"/>
          </a:xfrm>
        </p:grpSpPr>
        <p:sp>
          <p:nvSpPr>
            <p:cNvPr id="876" name="Rectangle"/>
            <p:cNvSpPr/>
            <p:nvPr/>
          </p:nvSpPr>
          <p:spPr>
            <a:xfrm>
              <a:off x="0" y="-1"/>
              <a:ext cx="2400300" cy="629102"/>
            </a:xfrm>
            <a:prstGeom prst="rect">
              <a:avLst/>
            </a:prstGeom>
            <a:noFill/>
            <a:ln w="38100" cap="flat">
              <a:solidFill>
                <a:schemeClr val="accent1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77" name="Metric"/>
            <p:cNvSpPr txBox="1"/>
            <p:nvPr/>
          </p:nvSpPr>
          <p:spPr>
            <a:xfrm>
              <a:off x="64775" y="83739"/>
              <a:ext cx="2270751" cy="4616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Metric</a:t>
              </a:r>
            </a:p>
          </p:txBody>
        </p:sp>
      </p:grpSp>
      <p:sp>
        <p:nvSpPr>
          <p:cNvPr id="904" name="Google Shape;718;gb472e075ec_0_439"/>
          <p:cNvSpPr/>
          <p:nvPr/>
        </p:nvSpPr>
        <p:spPr>
          <a:xfrm>
            <a:off x="2399454" y="4554299"/>
            <a:ext cx="909415" cy="5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905" name="Google Shape;719;gb472e075ec_0_439"/>
          <p:cNvSpPr/>
          <p:nvPr/>
        </p:nvSpPr>
        <p:spPr>
          <a:xfrm>
            <a:off x="4955403" y="2059168"/>
            <a:ext cx="182" cy="2395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grpSp>
        <p:nvGrpSpPr>
          <p:cNvPr id="883" name="Google Shape;720;gb472e075ec_0_439"/>
          <p:cNvGrpSpPr/>
          <p:nvPr/>
        </p:nvGrpSpPr>
        <p:grpSpPr>
          <a:xfrm>
            <a:off x="7214999" y="4305334"/>
            <a:ext cx="1725302" cy="501977"/>
            <a:chOff x="-1" y="0"/>
            <a:chExt cx="2300402" cy="669300"/>
          </a:xfrm>
        </p:grpSpPr>
        <p:sp>
          <p:nvSpPr>
            <p:cNvPr id="881" name="Rectangle"/>
            <p:cNvSpPr/>
            <p:nvPr/>
          </p:nvSpPr>
          <p:spPr>
            <a:xfrm>
              <a:off x="-1" y="0"/>
              <a:ext cx="2300402" cy="669300"/>
            </a:xfrm>
            <a:prstGeom prst="rect">
              <a:avLst/>
            </a:prstGeom>
            <a:noFill/>
            <a:ln w="38100" cap="flat">
              <a:solidFill>
                <a:srgbClr val="FF0000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82" name="Model Quality"/>
            <p:cNvSpPr txBox="1"/>
            <p:nvPr/>
          </p:nvSpPr>
          <p:spPr>
            <a:xfrm>
              <a:off x="64774" y="103842"/>
              <a:ext cx="2170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Model Quality</a:t>
              </a:r>
            </a:p>
          </p:txBody>
        </p:sp>
      </p:grpSp>
      <p:sp>
        <p:nvSpPr>
          <p:cNvPr id="906" name="Google Shape;721;gb472e075ec_0_439"/>
          <p:cNvSpPr/>
          <p:nvPr/>
        </p:nvSpPr>
        <p:spPr>
          <a:xfrm>
            <a:off x="6602733" y="4556075"/>
            <a:ext cx="597980" cy="1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888" name="Google Shape;723;gb472e075ec_0_4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ML 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Pipeline</a:t>
            </a:r>
          </a:p>
        </p:txBody>
      </p:sp>
      <p:sp>
        <p:nvSpPr>
          <p:cNvPr id="889" name="Google Shape;724;gb472e075ec_0_439"/>
          <p:cNvSpPr/>
          <p:nvPr/>
        </p:nvSpPr>
        <p:spPr>
          <a:xfrm>
            <a:off x="2385169" y="3904219"/>
            <a:ext cx="904951" cy="4826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92" name="Google Shape;725;gb472e075ec_0_439"/>
          <p:cNvGrpSpPr/>
          <p:nvPr/>
        </p:nvGrpSpPr>
        <p:grpSpPr>
          <a:xfrm>
            <a:off x="584942" y="2920409"/>
            <a:ext cx="1800226" cy="577049"/>
            <a:chOff x="0" y="42001"/>
            <a:chExt cx="2400300" cy="769397"/>
          </a:xfrm>
        </p:grpSpPr>
        <p:sp>
          <p:nvSpPr>
            <p:cNvPr id="890" name="Rectangle"/>
            <p:cNvSpPr/>
            <p:nvPr/>
          </p:nvSpPr>
          <p:spPr>
            <a:xfrm>
              <a:off x="0" y="92050"/>
              <a:ext cx="2400300" cy="669300"/>
            </a:xfrm>
            <a:prstGeom prst="rect">
              <a:avLst/>
            </a:prstGeom>
            <a:noFill/>
            <a:ln w="38100" cap="flat">
              <a:solidFill>
                <a:srgbClr val="6AA84F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650"/>
            </a:p>
          </p:txBody>
        </p:sp>
        <p:sp>
          <p:nvSpPr>
            <p:cNvPr id="891" name="Validation Dataset"/>
            <p:cNvSpPr txBox="1"/>
            <p:nvPr/>
          </p:nvSpPr>
          <p:spPr>
            <a:xfrm>
              <a:off x="64775" y="42001"/>
              <a:ext cx="2270751" cy="76939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2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650" dirty="0"/>
                <a:t>Validation Dataset</a:t>
              </a:r>
            </a:p>
          </p:txBody>
        </p:sp>
      </p:grpSp>
      <p:sp>
        <p:nvSpPr>
          <p:cNvPr id="893" name="Google Shape;726;gb472e075ec_0_439"/>
          <p:cNvSpPr/>
          <p:nvPr/>
        </p:nvSpPr>
        <p:spPr>
          <a:xfrm>
            <a:off x="4955232" y="2740732"/>
            <a:ext cx="1126" cy="24907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grpSp>
        <p:nvGrpSpPr>
          <p:cNvPr id="896" name="Google Shape;727;gb472e075ec_0_439"/>
          <p:cNvGrpSpPr/>
          <p:nvPr/>
        </p:nvGrpSpPr>
        <p:grpSpPr>
          <a:xfrm>
            <a:off x="3323193" y="2989807"/>
            <a:ext cx="3266327" cy="427727"/>
            <a:chOff x="-1" y="0"/>
            <a:chExt cx="4355102" cy="570300"/>
          </a:xfrm>
        </p:grpSpPr>
        <p:sp>
          <p:nvSpPr>
            <p:cNvPr id="894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95" name="Compare the models"/>
            <p:cNvSpPr txBox="1"/>
            <p:nvPr/>
          </p:nvSpPr>
          <p:spPr>
            <a:xfrm>
              <a:off x="64774" y="54341"/>
              <a:ext cx="42255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Compare the models</a:t>
              </a:r>
            </a:p>
          </p:txBody>
        </p:sp>
      </p:grpSp>
      <p:grpSp>
        <p:nvGrpSpPr>
          <p:cNvPr id="899" name="Google Shape;728;gb472e075ec_0_439"/>
          <p:cNvGrpSpPr/>
          <p:nvPr/>
        </p:nvGrpSpPr>
        <p:grpSpPr>
          <a:xfrm>
            <a:off x="3323193" y="3642884"/>
            <a:ext cx="3266327" cy="427727"/>
            <a:chOff x="-1" y="0"/>
            <a:chExt cx="4355102" cy="570300"/>
          </a:xfrm>
        </p:grpSpPr>
        <p:sp>
          <p:nvSpPr>
            <p:cNvPr id="897" name="Rectangle"/>
            <p:cNvSpPr/>
            <p:nvPr/>
          </p:nvSpPr>
          <p:spPr>
            <a:xfrm>
              <a:off x="-1" y="0"/>
              <a:ext cx="4355102" cy="570300"/>
            </a:xfrm>
            <a:prstGeom prst="rect">
              <a:avLst/>
            </a:prstGeom>
            <a:noFill/>
            <a:ln w="38100" cap="flat">
              <a:solidFill>
                <a:schemeClr val="accent2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898" name="Best model"/>
            <p:cNvSpPr txBox="1"/>
            <p:nvPr/>
          </p:nvSpPr>
          <p:spPr>
            <a:xfrm>
              <a:off x="64774" y="54341"/>
              <a:ext cx="42255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Best model</a:t>
              </a:r>
            </a:p>
          </p:txBody>
        </p:sp>
      </p:grpSp>
      <p:sp>
        <p:nvSpPr>
          <p:cNvPr id="907" name="Google Shape;729;gb472e075ec_0_439"/>
          <p:cNvSpPr/>
          <p:nvPr/>
        </p:nvSpPr>
        <p:spPr>
          <a:xfrm>
            <a:off x="4956356" y="3431827"/>
            <a:ext cx="1" cy="1967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21600" y="7200"/>
                  <a:pt x="21600" y="14400"/>
                  <a:pt x="0" y="21600"/>
                </a:cubicBezTo>
              </a:path>
            </a:pathLst>
          </a:custGeom>
          <a:ln w="38100">
            <a:solidFill>
              <a:srgbClr val="4A7DBA"/>
            </a:solidFill>
            <a:tailEnd type="stealth"/>
          </a:ln>
        </p:spPr>
        <p:txBody>
          <a:bodyPr/>
          <a:lstStyle/>
          <a:p>
            <a:endParaRPr sz="1050"/>
          </a:p>
        </p:txBody>
      </p:sp>
      <p:sp>
        <p:nvSpPr>
          <p:cNvPr id="901" name="Google Shape;730;gb472e075ec_0_439"/>
          <p:cNvSpPr/>
          <p:nvPr/>
        </p:nvSpPr>
        <p:spPr>
          <a:xfrm flipH="1">
            <a:off x="4955681" y="4070610"/>
            <a:ext cx="676" cy="249301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02" name="Google Shape;731;gb472e075ec_0_439"/>
          <p:cNvSpPr/>
          <p:nvPr/>
        </p:nvSpPr>
        <p:spPr>
          <a:xfrm flipV="1">
            <a:off x="2385169" y="3354094"/>
            <a:ext cx="917776" cy="550126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03" name="Google Shape;732;gb472e075ec_0_439"/>
          <p:cNvSpPr/>
          <p:nvPr/>
        </p:nvSpPr>
        <p:spPr>
          <a:xfrm flipV="1">
            <a:off x="2385166" y="3203758"/>
            <a:ext cx="938026" cy="5175"/>
          </a:xfrm>
          <a:prstGeom prst="line">
            <a:avLst/>
          </a:prstGeom>
          <a:ln w="38100">
            <a:solidFill>
              <a:srgbClr val="4A7DBA"/>
            </a:solidFill>
            <a:tailEnd type="stealth"/>
          </a:ln>
        </p:spPr>
        <p:txBody>
          <a:bodyPr lIns="0" tIns="0" rIns="0" bIns="0"/>
          <a:lstStyle/>
          <a:p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634717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3A2927-8216-0B49-B9BC-9F152AA4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  <a:r>
              <a:rPr lang="en-US" dirty="0"/>
              <a:t>ML</a:t>
            </a:r>
          </a:p>
        </p:txBody>
      </p:sp>
    </p:spTree>
    <p:extLst>
      <p:ext uri="{BB962C8B-B14F-4D97-AF65-F5344CB8AC3E}">
        <p14:creationId xmlns:p14="http://schemas.microsoft.com/office/powerpoint/2010/main" val="27887826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6DD6E-3591-C042-8B08-55176A61E5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</a:t>
            </a:r>
            <a:r>
              <a:rPr lang="en-US" dirty="0"/>
              <a:t>ML</a:t>
            </a:r>
          </a:p>
        </p:txBody>
      </p:sp>
      <p:pic>
        <p:nvPicPr>
          <p:cNvPr id="3" name="object 2">
            <a:extLst>
              <a:ext uri="{FF2B5EF4-FFF2-40B4-BE49-F238E27FC236}">
                <a16:creationId xmlns:a16="http://schemas.microsoft.com/office/drawing/2014/main" id="{2220A3B7-627E-E441-A25A-2DDF1B6BAB3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66946" y="1271427"/>
            <a:ext cx="4844820" cy="373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748298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3" name="Google Shape;742;gb472e075ec_0_475"/>
          <p:cNvGrpSpPr/>
          <p:nvPr/>
        </p:nvGrpSpPr>
        <p:grpSpPr>
          <a:xfrm>
            <a:off x="5275743" y="1596318"/>
            <a:ext cx="1617977" cy="863777"/>
            <a:chOff x="0" y="0"/>
            <a:chExt cx="2157300" cy="1151700"/>
          </a:xfrm>
        </p:grpSpPr>
        <p:sp>
          <p:nvSpPr>
            <p:cNvPr id="911" name="Rectangle"/>
            <p:cNvSpPr/>
            <p:nvPr/>
          </p:nvSpPr>
          <p:spPr>
            <a:xfrm>
              <a:off x="0" y="0"/>
              <a:ext cx="2157300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12" name="Computer"/>
            <p:cNvSpPr txBox="1"/>
            <p:nvPr/>
          </p:nvSpPr>
          <p:spPr>
            <a:xfrm>
              <a:off x="64775" y="345039"/>
              <a:ext cx="2027749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1800" dirty="0">
                  <a:latin typeface="Arial" panose="020B0604020202020204" pitchFamily="34" charset="0"/>
                  <a:cs typeface="Arial" panose="020B0604020202020204" pitchFamily="34" charset="0"/>
                </a:rPr>
                <a:t>Компьютер</a:t>
              </a:r>
              <a:endParaRPr sz="1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16" name="Google Shape;743;gb472e075ec_0_475"/>
          <p:cNvGrpSpPr/>
          <p:nvPr/>
        </p:nvGrpSpPr>
        <p:grpSpPr>
          <a:xfrm>
            <a:off x="3572233" y="1345331"/>
            <a:ext cx="868727" cy="501977"/>
            <a:chOff x="-1" y="0"/>
            <a:chExt cx="1158302" cy="669300"/>
          </a:xfrm>
        </p:grpSpPr>
        <p:sp>
          <p:nvSpPr>
            <p:cNvPr id="914" name="Rectangle"/>
            <p:cNvSpPr/>
            <p:nvPr/>
          </p:nvSpPr>
          <p:spPr>
            <a:xfrm>
              <a:off x="-1" y="0"/>
              <a:ext cx="11583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15" name="x"/>
            <p:cNvSpPr txBox="1"/>
            <p:nvPr/>
          </p:nvSpPr>
          <p:spPr>
            <a:xfrm>
              <a:off x="64774" y="103840"/>
              <a:ext cx="1028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sz="1800"/>
                <a:t>x</a:t>
              </a:r>
            </a:p>
          </p:txBody>
        </p:sp>
      </p:grpSp>
      <p:sp>
        <p:nvSpPr>
          <p:cNvPr id="917" name="Google Shape;744;gb472e075ec_0_475"/>
          <p:cNvSpPr/>
          <p:nvPr/>
        </p:nvSpPr>
        <p:spPr>
          <a:xfrm>
            <a:off x="7338149" y="1777181"/>
            <a:ext cx="1372276" cy="501976"/>
          </a:xfrm>
          <a:prstGeom prst="rect">
            <a:avLst/>
          </a:prstGeom>
          <a:ln w="38100">
            <a:solidFill>
              <a:srgbClr val="0059A9"/>
            </a:solidFill>
          </a:ln>
        </p:spPr>
        <p:txBody>
          <a:bodyPr lIns="0" tIns="0" rIns="0" bIns="0" anchor="ctr"/>
          <a:lstStyle/>
          <a:p>
            <a:pPr algn="ctr">
              <a:defRPr sz="2400">
                <a:solidFill>
                  <a:srgbClr val="171717"/>
                </a:solidFill>
                <a:latin typeface="Avenir"/>
                <a:ea typeface="Avenir"/>
                <a:cs typeface="Avenir"/>
                <a:sym typeface="Avenir Roman"/>
              </a:defRPr>
            </a:pPr>
            <a:endParaRPr sz="1800"/>
          </a:p>
        </p:txBody>
      </p:sp>
      <p:grpSp>
        <p:nvGrpSpPr>
          <p:cNvPr id="920" name="Google Shape;745;gb472e075ec_0_475"/>
          <p:cNvGrpSpPr/>
          <p:nvPr/>
        </p:nvGrpSpPr>
        <p:grpSpPr>
          <a:xfrm>
            <a:off x="3606658" y="2228456"/>
            <a:ext cx="834302" cy="501977"/>
            <a:chOff x="-1" y="0"/>
            <a:chExt cx="1112402" cy="669300"/>
          </a:xfrm>
        </p:grpSpPr>
        <p:sp>
          <p:nvSpPr>
            <p:cNvPr id="918" name="Rectangle"/>
            <p:cNvSpPr/>
            <p:nvPr/>
          </p:nvSpPr>
          <p:spPr>
            <a:xfrm>
              <a:off x="-1" y="0"/>
              <a:ext cx="11124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pPr>
              <a:endParaRPr sz="1800"/>
            </a:p>
          </p:txBody>
        </p:sp>
        <p:sp>
          <p:nvSpPr>
            <p:cNvPr id="919" name="y"/>
            <p:cNvSpPr txBox="1"/>
            <p:nvPr/>
          </p:nvSpPr>
          <p:spPr>
            <a:xfrm>
              <a:off x="64774" y="103840"/>
              <a:ext cx="9828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Open Sans"/>
                  <a:ea typeface="Open Sans"/>
                  <a:cs typeface="Open Sans"/>
                  <a:sym typeface="Open Sans"/>
                </a:defRPr>
              </a:lvl1pPr>
            </a:lstStyle>
            <a:p>
              <a:r>
                <a:rPr sz="1800"/>
                <a:t>y</a:t>
              </a:r>
            </a:p>
          </p:txBody>
        </p:sp>
      </p:grpSp>
      <p:sp>
        <p:nvSpPr>
          <p:cNvPr id="944" name="Google Shape;746;gb472e075ec_0_475"/>
          <p:cNvSpPr/>
          <p:nvPr/>
        </p:nvSpPr>
        <p:spPr>
          <a:xfrm>
            <a:off x="4455380" y="1689587"/>
            <a:ext cx="806077" cy="1675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22" name="Google Shape;747;gb472e075ec_0_475"/>
          <p:cNvSpPr/>
          <p:nvPr/>
        </p:nvSpPr>
        <p:spPr>
          <a:xfrm flipV="1">
            <a:off x="4440959" y="2129794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45" name="Google Shape;748;gb472e075ec_0_475"/>
          <p:cNvSpPr/>
          <p:nvPr/>
        </p:nvSpPr>
        <p:spPr>
          <a:xfrm>
            <a:off x="6908090" y="2028182"/>
            <a:ext cx="415772" cy="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27" name="Google Shape;750;gb472e075ec_0_47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Supervised vs</a:t>
            </a:r>
            <a:r>
              <a:rPr dirty="0">
                <a:latin typeface="Arial" panose="020B0604020202020204" pitchFamily="34" charset="0"/>
                <a:cs typeface="Arial" panose="020B0604020202020204" pitchFamily="34" charset="0"/>
              </a:rPr>
              <a:t> Unsupervised</a:t>
            </a:r>
          </a:p>
        </p:txBody>
      </p:sp>
      <p:pic>
        <p:nvPicPr>
          <p:cNvPr id="928" name="Google Shape;751;gb472e075ec_0_475" descr="Google Shape;751;gb472e075ec_0_47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1856" y="1853381"/>
            <a:ext cx="1284860" cy="34965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31" name="Google Shape;752;gb472e075ec_0_475"/>
          <p:cNvGrpSpPr/>
          <p:nvPr/>
        </p:nvGrpSpPr>
        <p:grpSpPr>
          <a:xfrm>
            <a:off x="5310169" y="3487124"/>
            <a:ext cx="1617977" cy="863777"/>
            <a:chOff x="0" y="0"/>
            <a:chExt cx="2157300" cy="1151700"/>
          </a:xfrm>
        </p:grpSpPr>
        <p:sp>
          <p:nvSpPr>
            <p:cNvPr id="929" name="Rectangle"/>
            <p:cNvSpPr/>
            <p:nvPr/>
          </p:nvSpPr>
          <p:spPr>
            <a:xfrm>
              <a:off x="0" y="0"/>
              <a:ext cx="2157300" cy="1151700"/>
            </a:xfrm>
            <a:prstGeom prst="rect">
              <a:avLst/>
            </a:prstGeom>
            <a:solidFill>
              <a:srgbClr val="B7CCE4"/>
            </a:solidFill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30" name="Computer"/>
            <p:cNvSpPr txBox="1"/>
            <p:nvPr/>
          </p:nvSpPr>
          <p:spPr>
            <a:xfrm>
              <a:off x="64775" y="345039"/>
              <a:ext cx="2027749" cy="46162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lang="ru-RU" sz="1800" dirty="0">
                  <a:latin typeface="Arial" panose="020B0604020202020204" pitchFamily="34" charset="0"/>
                  <a:cs typeface="Arial" panose="020B0604020202020204" pitchFamily="34" charset="0"/>
                </a:rPr>
                <a:t>Компьютер</a:t>
              </a:r>
              <a:endParaRPr sz="1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34" name="Google Shape;753;gb472e075ec_0_475"/>
          <p:cNvGrpSpPr/>
          <p:nvPr/>
        </p:nvGrpSpPr>
        <p:grpSpPr>
          <a:xfrm>
            <a:off x="3606658" y="3236137"/>
            <a:ext cx="868727" cy="501977"/>
            <a:chOff x="-1" y="0"/>
            <a:chExt cx="1158302" cy="669300"/>
          </a:xfrm>
        </p:grpSpPr>
        <p:sp>
          <p:nvSpPr>
            <p:cNvPr id="932" name="Rectangle"/>
            <p:cNvSpPr/>
            <p:nvPr/>
          </p:nvSpPr>
          <p:spPr>
            <a:xfrm>
              <a:off x="-1" y="0"/>
              <a:ext cx="1158302" cy="669300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800"/>
            </a:p>
          </p:txBody>
        </p:sp>
        <p:sp>
          <p:nvSpPr>
            <p:cNvPr id="933" name="x"/>
            <p:cNvSpPr txBox="1"/>
            <p:nvPr/>
          </p:nvSpPr>
          <p:spPr>
            <a:xfrm>
              <a:off x="64774" y="103842"/>
              <a:ext cx="1028751" cy="4616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24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800"/>
                <a:t>x</a:t>
              </a:r>
            </a:p>
          </p:txBody>
        </p:sp>
      </p:grpSp>
      <p:sp>
        <p:nvSpPr>
          <p:cNvPr id="935" name="Google Shape;754;gb472e075ec_0_475"/>
          <p:cNvSpPr/>
          <p:nvPr/>
        </p:nvSpPr>
        <p:spPr>
          <a:xfrm>
            <a:off x="7372575" y="3667987"/>
            <a:ext cx="1372276" cy="501976"/>
          </a:xfrm>
          <a:prstGeom prst="rect">
            <a:avLst/>
          </a:prstGeom>
          <a:ln w="38100">
            <a:solidFill>
              <a:srgbClr val="0059A9"/>
            </a:solidFill>
          </a:ln>
        </p:spPr>
        <p:txBody>
          <a:bodyPr lIns="0" tIns="0" rIns="0" bIns="0" anchor="ctr"/>
          <a:lstStyle/>
          <a:p>
            <a:pPr algn="ctr">
              <a:defRPr sz="2400">
                <a:solidFill>
                  <a:srgbClr val="171717"/>
                </a:solidFill>
                <a:latin typeface="Avenir"/>
                <a:ea typeface="Avenir"/>
                <a:cs typeface="Avenir"/>
                <a:sym typeface="Avenir Roman"/>
              </a:defRPr>
            </a:pPr>
            <a:endParaRPr sz="1800"/>
          </a:p>
        </p:txBody>
      </p:sp>
      <p:grpSp>
        <p:nvGrpSpPr>
          <p:cNvPr id="938" name="Google Shape;755;gb472e075ec_0_475"/>
          <p:cNvGrpSpPr/>
          <p:nvPr/>
        </p:nvGrpSpPr>
        <p:grpSpPr>
          <a:xfrm>
            <a:off x="3641083" y="4116351"/>
            <a:ext cx="834302" cy="507799"/>
            <a:chOff x="0" y="37369"/>
            <a:chExt cx="1112401" cy="677064"/>
          </a:xfrm>
        </p:grpSpPr>
        <p:sp>
          <p:nvSpPr>
            <p:cNvPr id="936" name="Rectangle"/>
            <p:cNvSpPr/>
            <p:nvPr/>
          </p:nvSpPr>
          <p:spPr>
            <a:xfrm>
              <a:off x="0" y="41250"/>
              <a:ext cx="1112401" cy="669301"/>
            </a:xfrm>
            <a:prstGeom prst="rect">
              <a:avLst/>
            </a:prstGeom>
            <a:noFill/>
            <a:ln w="38100" cap="flat">
              <a:solidFill>
                <a:srgbClr val="0059A9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19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pPr>
              <a:endParaRPr sz="1425"/>
            </a:p>
          </p:txBody>
        </p:sp>
        <p:sp>
          <p:nvSpPr>
            <p:cNvPr id="937" name="Property of y"/>
            <p:cNvSpPr txBox="1"/>
            <p:nvPr/>
          </p:nvSpPr>
          <p:spPr>
            <a:xfrm>
              <a:off x="64775" y="37369"/>
              <a:ext cx="982851" cy="67706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34274" tIns="34274" rIns="34274" bIns="34274" numCol="1" anchor="ctr">
              <a:spAutoFit/>
            </a:bodyPr>
            <a:lstStyle>
              <a:lvl1pPr algn="ctr">
                <a:defRPr sz="1900">
                  <a:solidFill>
                    <a:srgbClr val="171717"/>
                  </a:solidFill>
                  <a:latin typeface="Avenir"/>
                  <a:ea typeface="Avenir"/>
                  <a:cs typeface="Avenir"/>
                  <a:sym typeface="Avenir Roman"/>
                </a:defRPr>
              </a:lvl1pPr>
            </a:lstStyle>
            <a:p>
              <a:r>
                <a:rPr sz="1425"/>
                <a:t>Property of y</a:t>
              </a:r>
            </a:p>
          </p:txBody>
        </p:sp>
      </p:grpSp>
      <p:sp>
        <p:nvSpPr>
          <p:cNvPr id="946" name="Google Shape;756;gb472e075ec_0_475"/>
          <p:cNvSpPr/>
          <p:nvPr/>
        </p:nvSpPr>
        <p:spPr>
          <a:xfrm>
            <a:off x="4489804" y="3580393"/>
            <a:ext cx="806078" cy="1675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940" name="Google Shape;757;gb472e075ec_0_475"/>
          <p:cNvSpPr/>
          <p:nvPr/>
        </p:nvSpPr>
        <p:spPr>
          <a:xfrm flipV="1">
            <a:off x="4475383" y="4020600"/>
            <a:ext cx="834301" cy="349650"/>
          </a:xfrm>
          <a:prstGeom prst="line">
            <a:avLst/>
          </a:prstGeom>
          <a:ln w="28575">
            <a:solidFill>
              <a:srgbClr val="4A7DBA"/>
            </a:solidFill>
            <a:tailEnd type="triangle"/>
          </a:ln>
        </p:spPr>
        <p:txBody>
          <a:bodyPr lIns="0" tIns="0" rIns="0" bIns="0"/>
          <a:lstStyle/>
          <a:p>
            <a:endParaRPr sz="1050"/>
          </a:p>
        </p:txBody>
      </p:sp>
      <p:sp>
        <p:nvSpPr>
          <p:cNvPr id="947" name="Google Shape;758;gb472e075ec_0_475"/>
          <p:cNvSpPr/>
          <p:nvPr/>
        </p:nvSpPr>
        <p:spPr>
          <a:xfrm>
            <a:off x="6942516" y="3918988"/>
            <a:ext cx="415772" cy="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8575">
            <a:solidFill>
              <a:srgbClr val="4A7DBA"/>
            </a:solidFill>
            <a:tailEnd type="triangle"/>
          </a:ln>
        </p:spPr>
        <p:txBody>
          <a:bodyPr/>
          <a:lstStyle/>
          <a:p>
            <a:endParaRPr sz="1050"/>
          </a:p>
        </p:txBody>
      </p:sp>
      <p:pic>
        <p:nvPicPr>
          <p:cNvPr id="942" name="Google Shape;759;gb472e075ec_0_475" descr="Google Shape;759;gb472e075ec_0_4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2022" y="3738112"/>
            <a:ext cx="657529" cy="378995"/>
          </a:xfrm>
          <a:prstGeom prst="rect">
            <a:avLst/>
          </a:prstGeom>
          <a:ln w="12700">
            <a:miter lim="400000"/>
          </a:ln>
        </p:spPr>
      </p:pic>
      <p:sp>
        <p:nvSpPr>
          <p:cNvPr id="943" name="Google Shape;760;gb472e075ec_0_475"/>
          <p:cNvSpPr txBox="1"/>
          <p:nvPr/>
        </p:nvSpPr>
        <p:spPr>
          <a:xfrm>
            <a:off x="89793" y="1182150"/>
            <a:ext cx="3564962" cy="3257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Обучение с учителем</a:t>
            </a: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(s</a:t>
            </a:r>
            <a:r>
              <a:rPr sz="1800" dirty="0">
                <a:latin typeface="Arial" panose="020B0604020202020204" pitchFamily="34" charset="0"/>
                <a:cs typeface="Arial" panose="020B0604020202020204" pitchFamily="34" charset="0"/>
              </a:rPr>
              <a:t>upervised learning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spcBef>
                <a:spcPts val="1350"/>
              </a:spcBef>
              <a:buSzPts val="2400"/>
              <a:buFont typeface="Arial"/>
              <a:buChar char="•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 обучающих данных есть правильные ответы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350"/>
              </a:spcBef>
            </a:pPr>
            <a:endParaRPr sz="1800" dirty="0">
              <a:latin typeface="Arial" panose="020B0604020202020204" pitchFamily="34" charset="0"/>
              <a:ea typeface="Open Sans"/>
              <a:cs typeface="Arial" panose="020B0604020202020204" pitchFamily="34" charset="0"/>
              <a:sym typeface="Open Sans"/>
            </a:endParaRPr>
          </a:p>
          <a:p>
            <a:pPr>
              <a:spcBef>
                <a:spcPts val="1350"/>
              </a:spcBef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Обучение без учителя</a:t>
            </a: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unsupervised learning)</a:t>
            </a:r>
            <a:endParaRPr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spcBef>
                <a:spcPts val="1350"/>
              </a:spcBef>
              <a:buSzPts val="2400"/>
              <a:buFont typeface="Arial"/>
              <a:buChar char="•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В обучающих данных есть только примеры, а зависимости алгоритм находит сам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Google Shape;767;p9" descr="Google Shape;767;p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70" y="2705993"/>
            <a:ext cx="3257550" cy="47939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760;gb472e075ec_0_475">
            <a:extLst>
              <a:ext uri="{FF2B5EF4-FFF2-40B4-BE49-F238E27FC236}">
                <a16:creationId xmlns:a16="http://schemas.microsoft.com/office/drawing/2014/main" id="{76D2DAA4-3F7D-9049-9860-E785C421BD08}"/>
              </a:ext>
            </a:extLst>
          </p:cNvPr>
          <p:cNvSpPr txBox="1"/>
          <p:nvPr/>
        </p:nvSpPr>
        <p:spPr>
          <a:xfrm>
            <a:off x="628650" y="1200560"/>
            <a:ext cx="5581542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принадлежит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одному из классов:</a:t>
            </a: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Бинарная классификация</a:t>
            </a: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Мультиклассовая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классификация 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B24D39B0-36F4-FE40-9E7A-ADDDFDE02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181" y="1991466"/>
            <a:ext cx="3397826" cy="1908446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55AB8F8-BB02-DC45-A5BC-C263C6BE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68413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3" name="Google Shape;767;p9" descr="Google Shape;767;p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116" y="2767546"/>
            <a:ext cx="3257550" cy="47939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760;gb472e075ec_0_475">
            <a:extLst>
              <a:ext uri="{FF2B5EF4-FFF2-40B4-BE49-F238E27FC236}">
                <a16:creationId xmlns:a16="http://schemas.microsoft.com/office/drawing/2014/main" id="{76D2DAA4-3F7D-9049-9860-E785C421BD08}"/>
              </a:ext>
            </a:extLst>
          </p:cNvPr>
          <p:cNvSpPr txBox="1"/>
          <p:nvPr/>
        </p:nvSpPr>
        <p:spPr>
          <a:xfrm>
            <a:off x="628650" y="1145023"/>
            <a:ext cx="5581542" cy="1015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</a:t>
            </a:r>
            <a:r>
              <a:rPr lang="en-US" sz="1800" i="1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принадлежит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одному из классов:</a:t>
            </a: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Бинарная классификация</a:t>
            </a:r>
          </a:p>
          <a:p>
            <a:pPr marL="257175" indent="-257175">
              <a:buFontTx/>
              <a:buChar char="-"/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Мультиклассовая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классификация 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260;gaf7c1d9c3d_0_100" descr="Google Shape;260;gaf7c1d9c3d_0_100">
            <a:extLst>
              <a:ext uri="{FF2B5EF4-FFF2-40B4-BE49-F238E27FC236}">
                <a16:creationId xmlns:a16="http://schemas.microsoft.com/office/drawing/2014/main" id="{B24D39B0-36F4-FE40-9E7A-ADDDFDE02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181" y="1991466"/>
            <a:ext cx="3397826" cy="1908446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1D0790-005B-5346-95DA-E5996DC3CC9C}"/>
              </a:ext>
            </a:extLst>
          </p:cNvPr>
          <p:cNvSpPr txBox="1"/>
          <p:nvPr/>
        </p:nvSpPr>
        <p:spPr>
          <a:xfrm>
            <a:off x="628650" y="3909021"/>
            <a:ext cx="4599432" cy="10156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Кредитный </a:t>
            </a: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скоринг</a:t>
            </a:r>
            <a:endParaRPr lang="ru-RU" sz="1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Анализ тональности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Классификация спама</a:t>
            </a:r>
            <a:endParaRPr lang="ru-RU" sz="15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4001A9-12D6-BC49-B1EC-28657D037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3" name="Google Shape;793;gb10daea3ca_0_1538" descr="Google Shape;793;gb10daea3ca_0_15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2940658"/>
            <a:ext cx="1410545" cy="351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Google Shape;760;gb472e075ec_0_475">
            <a:extLst>
              <a:ext uri="{FF2B5EF4-FFF2-40B4-BE49-F238E27FC236}">
                <a16:creationId xmlns:a16="http://schemas.microsoft.com/office/drawing/2014/main" id="{49DD7396-526E-2740-8F2F-1FBFD79CEF71}"/>
              </a:ext>
            </a:extLst>
          </p:cNvPr>
          <p:cNvSpPr txBox="1"/>
          <p:nvPr/>
        </p:nvSpPr>
        <p:spPr>
          <a:xfrm>
            <a:off x="628649" y="1182149"/>
            <a:ext cx="5042685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– действительно число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C6A4906A-BA4E-1B42-82EA-F86E54985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Google Shape;596;gb472e075ec_0_225">
            <a:extLst>
              <a:ext uri="{FF2B5EF4-FFF2-40B4-BE49-F238E27FC236}">
                <a16:creationId xmlns:a16="http://schemas.microsoft.com/office/drawing/2014/main" id="{79D114E6-C659-5A45-AA35-6BCFDE3FC31E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4D48F9-6937-6447-A977-FCC829D52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Регрессия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5617469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3" name="Google Shape;793;gb10daea3ca_0_1538" descr="Google Shape;793;gb10daea3ca_0_15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49" y="2940658"/>
            <a:ext cx="1410545" cy="351095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Google Shape;760;gb472e075ec_0_475">
            <a:extLst>
              <a:ext uri="{FF2B5EF4-FFF2-40B4-BE49-F238E27FC236}">
                <a16:creationId xmlns:a16="http://schemas.microsoft.com/office/drawing/2014/main" id="{49DD7396-526E-2740-8F2F-1FBFD79CEF71}"/>
              </a:ext>
            </a:extLst>
          </p:cNvPr>
          <p:cNvSpPr txBox="1"/>
          <p:nvPr/>
        </p:nvSpPr>
        <p:spPr>
          <a:xfrm>
            <a:off x="628649" y="1182149"/>
            <a:ext cx="5042685" cy="55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400">
                <a:latin typeface="Open Sans"/>
                <a:ea typeface="Open Sans"/>
                <a:cs typeface="Open Sans"/>
                <a:sym typeface="Open Sans"/>
              </a:defRPr>
            </a:pP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Ответ – действительно число</a:t>
            </a:r>
            <a:endParaRPr sz="1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" name="Google Shape;595;gb472e075ec_0_225" descr="Google Shape;595;gb472e075ec_0_225">
            <a:extLst>
              <a:ext uri="{FF2B5EF4-FFF2-40B4-BE49-F238E27FC236}">
                <a16:creationId xmlns:a16="http://schemas.microsoft.com/office/drawing/2014/main" id="{C6A4906A-BA4E-1B42-82EA-F86E54985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2577" y="1518789"/>
            <a:ext cx="3217593" cy="2843738"/>
          </a:xfrm>
          <a:prstGeom prst="rect">
            <a:avLst/>
          </a:prstGeom>
          <a:ln w="12700">
            <a:miter lim="400000"/>
          </a:ln>
        </p:spPr>
      </p:pic>
      <p:sp>
        <p:nvSpPr>
          <p:cNvPr id="12" name="Google Shape;596;gb472e075ec_0_225">
            <a:extLst>
              <a:ext uri="{FF2B5EF4-FFF2-40B4-BE49-F238E27FC236}">
                <a16:creationId xmlns:a16="http://schemas.microsoft.com/office/drawing/2014/main" id="{79D114E6-C659-5A45-AA35-6BCFDE3FC31E}"/>
              </a:ext>
            </a:extLst>
          </p:cNvPr>
          <p:cNvSpPr txBox="1"/>
          <p:nvPr/>
        </p:nvSpPr>
        <p:spPr>
          <a:xfrm>
            <a:off x="5756869" y="4362525"/>
            <a:ext cx="3148913" cy="4154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>
            <a:spAutoFit/>
          </a:bodyPr>
          <a:lstStyle>
            <a:lvl1pPr>
              <a:defRPr sz="1500">
                <a:solidFill>
                  <a:srgbClr val="AEAEAE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</a:lstStyle>
          <a:p>
            <a:r>
              <a:rPr sz="1125"/>
              <a:t>https://www.kaggle.com/c/zillow-prize-1/overview/competition-overview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DA311-0B00-8E48-B37B-7B36B3EC9BE3}"/>
              </a:ext>
            </a:extLst>
          </p:cNvPr>
          <p:cNvSpPr txBox="1"/>
          <p:nvPr/>
        </p:nvSpPr>
        <p:spPr>
          <a:xfrm>
            <a:off x="628649" y="3899911"/>
            <a:ext cx="4205054" cy="7848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Предсказание цен на жилье</a:t>
            </a:r>
          </a:p>
          <a:p>
            <a:pPr marL="257175" indent="-257175">
              <a:buFont typeface="Arial" panose="020B0604020202020204" pitchFamily="34" charset="0"/>
              <a:buChar char="•"/>
              <a:defRPr sz="40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Предсказание курса валют</a:t>
            </a:r>
            <a:endParaRPr lang="ru-RU" sz="15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1D5F39-5F7E-4D43-A0E1-2952404B0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Регрессия</a:t>
            </a:r>
            <a:endParaRPr lang="en-US" dirty="0"/>
          </a:p>
        </p:txBody>
      </p:sp>
    </p:spTree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9AD9F-278F-A34D-B066-1FB6796E0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Кластеризация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59BFCE-932F-A449-A5A8-144040757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09" y="1139360"/>
            <a:ext cx="7671141" cy="359108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2" name="Google Shape;809;gb10daea3ca_0_1556" descr="Google Shape;809;gb10daea3ca_0_155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457" y="1187662"/>
            <a:ext cx="5738821" cy="3825881"/>
          </a:xfrm>
          <a:prstGeom prst="rect">
            <a:avLst/>
          </a:prstGeom>
          <a:ln w="12700">
            <a:miter lim="400000"/>
          </a:ln>
        </p:spPr>
      </p:pic>
      <p:sp>
        <p:nvSpPr>
          <p:cNvPr id="986" name="Google Shape;811;gb10daea3ca_0_155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>
            <a:lvl1pPr defTabSz="822959">
              <a:lnSpc>
                <a:spcPct val="100000"/>
              </a:lnSpc>
              <a:defRPr sz="3330">
                <a:latin typeface="Avenir"/>
                <a:ea typeface="Avenir"/>
                <a:cs typeface="Avenir"/>
                <a:sym typeface="Avenir Roman"/>
              </a:defRPr>
            </a:lvl1pPr>
          </a:lstStyle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Детекция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аномалий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207630-E25F-6E4D-A78D-68B30885C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признаков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29958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6" name="Google Shape;837;gb472e075ec_0_540" descr="Google Shape;837;gb472e075ec_0_54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550" y="1554097"/>
            <a:ext cx="1498838" cy="447995"/>
          </a:xfrm>
          <a:prstGeom prst="rect">
            <a:avLst/>
          </a:prstGeom>
          <a:ln w="12700">
            <a:miter lim="400000"/>
          </a:ln>
        </p:spPr>
      </p:pic>
      <p:sp>
        <p:nvSpPr>
          <p:cNvPr id="1007" name="Google Shape;838;gb472e075ec_0_54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/>
              <a:t>Числовые</a:t>
            </a:r>
            <a:endParaRPr dirty="0"/>
          </a:p>
        </p:txBody>
      </p:sp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A117F624-8066-7748-A68C-6680FC538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AF415CAF-01E5-F54A-9557-69EF3EDE8B35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7C7CB1-9F54-F64D-ABA3-E4D011C3FA1E}"/>
              </a:ext>
            </a:extLst>
          </p:cNvPr>
          <p:cNvSpPr txBox="1"/>
          <p:nvPr/>
        </p:nvSpPr>
        <p:spPr>
          <a:xfrm>
            <a:off x="500550" y="2229404"/>
            <a:ext cx="326243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u="sng" dirty="0">
                <a:latin typeface="Arial" panose="020B0604020202020204" pitchFamily="34" charset="0"/>
                <a:cs typeface="Arial" panose="020B0604020202020204" pitchFamily="34" charset="0"/>
              </a:rPr>
              <a:t>Примеры:</a:t>
            </a:r>
            <a:br>
              <a:rPr lang="ru-RU" u="sng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Площадь дома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Зарплата клиента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 Давление пациента</a:t>
            </a:r>
            <a:endParaRPr lang="en-US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3" name="Google Shape;845;gb472e075ec_0_548" descr="Google Shape;845;gb472e075ec_0_54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30" y="1426624"/>
            <a:ext cx="2336776" cy="4913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DA87955F-5EBA-0B47-8EE5-85118F6D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6F639823-F007-5D4C-987A-4EA02C827066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Google Shape;838;gb472e075ec_0_540">
            <a:extLst>
              <a:ext uri="{FF2B5EF4-FFF2-40B4-BE49-F238E27FC236}">
                <a16:creationId xmlns:a16="http://schemas.microsoft.com/office/drawing/2014/main" id="{DA952E9B-7788-3048-A09F-BABEAE05E2F2}"/>
              </a:ext>
            </a:extLst>
          </p:cNvPr>
          <p:cNvSpPr txBox="1">
            <a:spLocks/>
          </p:cNvSpPr>
          <p:nvPr/>
        </p:nvSpPr>
        <p:spPr>
          <a:xfrm>
            <a:off x="500550" y="1089018"/>
            <a:ext cx="8014820" cy="3779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Переменные</a:t>
            </a:r>
            <a:r>
              <a:rPr lang="en-US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</a:t>
            </a: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флаги</a:t>
            </a: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в доме гараж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у клиента дети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Есть ли у пациента аллергия на цитрусовые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8FC97-32C9-9945-8D03-B69CD359E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Бинарные</a:t>
            </a:r>
            <a:endParaRPr lang="en-US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9" name="Google Shape;852;gb472e075ec_0_555" descr="Google Shape;852;gb472e075ec_0_5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74" y="1406396"/>
            <a:ext cx="3726076" cy="479701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Google Shape;830;gb472e075ec_0_533" descr="Google Shape;830;gb472e075ec_0_533">
            <a:extLst>
              <a:ext uri="{FF2B5EF4-FFF2-40B4-BE49-F238E27FC236}">
                <a16:creationId xmlns:a16="http://schemas.microsoft.com/office/drawing/2014/main" id="{DD0CC9AD-ED8B-DE4A-8D63-13BAC7736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3750" y="4168396"/>
            <a:ext cx="308251" cy="271407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Google Shape;831;gb472e075ec_0_533">
            <a:extLst>
              <a:ext uri="{FF2B5EF4-FFF2-40B4-BE49-F238E27FC236}">
                <a16:creationId xmlns:a16="http://schemas.microsoft.com/office/drawing/2014/main" id="{0BFDC08D-7178-7643-BCF4-095D6A4B4E4A}"/>
              </a:ext>
            </a:extLst>
          </p:cNvPr>
          <p:cNvSpPr txBox="1">
            <a:spLocks/>
          </p:cNvSpPr>
          <p:nvPr/>
        </p:nvSpPr>
        <p:spPr>
          <a:xfrm>
            <a:off x="4630424" y="4014750"/>
            <a:ext cx="4513502" cy="578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Avenir"/>
                <a:ea typeface="Avenir"/>
                <a:cs typeface="Avenir"/>
                <a:sym typeface="Avenir Roman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/>
            <a:r>
              <a:rPr lang="en" sz="1800" dirty="0"/>
              <a:t>—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возможные значения</a:t>
            </a:r>
            <a:r>
              <a:rPr lang="en" sz="1800" dirty="0">
                <a:latin typeface="Arial" panose="020B0604020202020204" pitchFamily="34" charset="0"/>
                <a:cs typeface="Arial" panose="020B0604020202020204" pitchFamily="34" charset="0"/>
              </a:rPr>
              <a:t> j-</a:t>
            </a:r>
            <a:r>
              <a:rPr lang="ru-RU" sz="1800" dirty="0" err="1">
                <a:latin typeface="Arial" panose="020B0604020202020204" pitchFamily="34" charset="0"/>
                <a:cs typeface="Arial" panose="020B0604020202020204" pitchFamily="34" charset="0"/>
              </a:rPr>
              <a:t>го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признака</a:t>
            </a:r>
            <a:endParaRPr lang="en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Google Shape;838;gb472e075ec_0_540">
            <a:extLst>
              <a:ext uri="{FF2B5EF4-FFF2-40B4-BE49-F238E27FC236}">
                <a16:creationId xmlns:a16="http://schemas.microsoft.com/office/drawing/2014/main" id="{C2ECFC4D-C52F-9749-9689-30F333A2A916}"/>
              </a:ext>
            </a:extLst>
          </p:cNvPr>
          <p:cNvSpPr txBox="1">
            <a:spLocks/>
          </p:cNvSpPr>
          <p:nvPr/>
        </p:nvSpPr>
        <p:spPr>
          <a:xfrm>
            <a:off x="500550" y="1099720"/>
            <a:ext cx="8313451" cy="37793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Значения признака нельзя упорядочить!</a:t>
            </a:r>
            <a:endParaRPr lang="en-US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en-US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Район, в котором построен дом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Гражданство клиента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Специалист, у которого изначально лечился пациент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B96A8F-BF58-F947-B250-3C1939548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Категориальные</a:t>
            </a:r>
            <a:endParaRPr lang="en-US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Google Shape;858;gb472e075ec_0_56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Категориальные - кодирование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915DF9-DA20-E843-B32B-3D11250079A5}"/>
              </a:ext>
            </a:extLst>
          </p:cNvPr>
          <p:cNvSpPr txBox="1"/>
          <p:nvPr/>
        </p:nvSpPr>
        <p:spPr>
          <a:xfrm>
            <a:off x="500550" y="1426624"/>
            <a:ext cx="85206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One-hot-encoding</a:t>
            </a:r>
            <a:b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вместо признака с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значениями создать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бинарных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признаков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Frequency Encoding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как часто категория встречается в обучающих данных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Mean Target Encoding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285750">
              <a:buClr>
                <a:srgbClr val="000000"/>
              </a:buClr>
              <a:buSzPts val="2400"/>
              <a:buFont typeface="Avenir Roman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среднее значения целевой переменной для категории</a:t>
            </a:r>
            <a:endParaRPr lang="en-US" sz="2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1" name="Google Shape;866;gb9a0d999ea_2_0" descr="Google Shape;866;gb9a0d999ea_2_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925" y="1569960"/>
            <a:ext cx="3726076" cy="479701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Google Shape;838;gb472e075ec_0_540">
            <a:extLst>
              <a:ext uri="{FF2B5EF4-FFF2-40B4-BE49-F238E27FC236}">
                <a16:creationId xmlns:a16="http://schemas.microsoft.com/office/drawing/2014/main" id="{AF33A5C3-8DC8-3542-A97C-0FE86F79C7D1}"/>
              </a:ext>
            </a:extLst>
          </p:cNvPr>
          <p:cNvSpPr txBox="1">
            <a:spLocks/>
          </p:cNvSpPr>
          <p:nvPr/>
        </p:nvSpPr>
        <p:spPr>
          <a:xfrm>
            <a:off x="500550" y="1569959"/>
            <a:ext cx="8313451" cy="32428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4274" tIns="34274" rIns="34274" bIns="34274" anchor="ctr">
            <a:norm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1pPr>
            <a:lvl2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2pPr>
            <a:lvl3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3pPr>
            <a:lvl4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4pPr>
            <a:lvl5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5pPr>
            <a:lvl6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6pPr>
            <a:lvl7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7pPr>
            <a:lvl8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8pPr>
            <a:lvl9pPr marL="0" marR="0" indent="0" algn="l" defTabSz="914400" rtl="0" latinLnBrk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400" b="0" i="0" u="none" strike="noStrike" cap="none" spc="0" baseline="0">
                <a:solidFill>
                  <a:srgbClr val="000000"/>
                </a:solidFill>
                <a:uFillTx/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ru-RU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Можно ввести порядок для значения признака!</a:t>
            </a:r>
            <a:endParaRPr lang="en-US" sz="1800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endParaRPr lang="en-US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hangingPunct="1"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Примеры:</a:t>
            </a:r>
            <a:br>
              <a:rPr lang="ru-RU" sz="1800" u="sng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endParaRPr lang="ru-RU" sz="1800" u="sng" dirty="0">
              <a:latin typeface="Arial" panose="020B0604020202020204" pitchFamily="34" charset="0"/>
              <a:ea typeface="Avenir"/>
              <a:cs typeface="Arial" panose="020B0604020202020204" pitchFamily="34" charset="0"/>
              <a:sym typeface="Avenir Roman"/>
            </a:endParaRP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Тип города (маленький город, большой город, мегаполис)</a:t>
            </a:r>
          </a:p>
          <a:p>
            <a:pPr marL="57150">
              <a:buClr>
                <a:srgbClr val="000000"/>
              </a:buClr>
              <a:buSzPts val="2400"/>
              <a:defRPr sz="2400">
                <a:latin typeface="Avenir"/>
                <a:ea typeface="Avenir"/>
                <a:cs typeface="Avenir"/>
                <a:sym typeface="Avenir Roman"/>
              </a:defRPr>
            </a:pP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Количество детей у клиента</a:t>
            </a:r>
            <a:b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</a:br>
            <a:r>
              <a:rPr lang="ru-RU" sz="1800" dirty="0">
                <a:latin typeface="Arial" panose="020B0604020202020204" pitchFamily="34" charset="0"/>
                <a:ea typeface="Avenir"/>
                <a:cs typeface="Arial" panose="020B0604020202020204" pitchFamily="34" charset="0"/>
                <a:sym typeface="Avenir Roman"/>
              </a:rPr>
              <a:t>- Фактор риска пациента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3FD92D-3BD2-0E40-ADFE-217ED926F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Порядковые</a:t>
            </a:r>
            <a:endParaRPr lang="en-US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72"/>
          <p:cNvSpPr txBox="1">
            <a:spLocks noGrp="1"/>
          </p:cNvSpPr>
          <p:nvPr>
            <p:ph type="title"/>
          </p:nvPr>
        </p:nvSpPr>
        <p:spPr>
          <a:xfrm>
            <a:off x="956225" y="11064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Вопросы?</a:t>
            </a:r>
            <a:endParaRPr/>
          </a:p>
        </p:txBody>
      </p:sp>
      <p:pic>
        <p:nvPicPr>
          <p:cNvPr id="488" name="Google Shape;488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32750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72"/>
          <p:cNvSpPr txBox="1"/>
          <p:nvPr/>
        </p:nvSpPr>
        <p:spPr>
          <a:xfrm>
            <a:off x="1750800" y="2887700"/>
            <a:ext cx="1635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Задаем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0" name="Google Shape;490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15725" y="2962492"/>
            <a:ext cx="496901" cy="496901"/>
          </a:xfrm>
          <a:prstGeom prst="rect">
            <a:avLst/>
          </a:prstGeom>
          <a:noFill/>
          <a:ln>
            <a:noFill/>
          </a:ln>
        </p:spPr>
      </p:pic>
      <p:sp>
        <p:nvSpPr>
          <p:cNvPr id="491" name="Google Shape;491;p72"/>
          <p:cNvSpPr txBox="1"/>
          <p:nvPr/>
        </p:nvSpPr>
        <p:spPr>
          <a:xfrm>
            <a:off x="5119475" y="289230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7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Ключевые тезисы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97" name="Google Shape;497;p73"/>
          <p:cNvGraphicFramePr/>
          <p:nvPr>
            <p:extLst>
              <p:ext uri="{D42A27DB-BD31-4B8C-83A1-F6EECF244321}">
                <p14:modId xmlns:p14="http://schemas.microsoft.com/office/powerpoint/2010/main" val="3702958315"/>
              </p:ext>
            </p:extLst>
          </p:nvPr>
        </p:nvGraphicFramePr>
        <p:xfrm>
          <a:off x="952500" y="1544194"/>
          <a:ext cx="7239000" cy="240786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Познакомились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из чего состоит курс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 anchor="ctr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какие парадигмы машинного обучения существуют и какими из них мы будем заниматься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807049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в чем разница между машинным обучением и классическим программированием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2014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представляет собой порядок обучения модели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670685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Выяснили, какие задачи решает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ML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какие бывают признаки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38574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0640" y="1144299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78930" y="1349475"/>
            <a:ext cx="4672200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78930" y="2298350"/>
            <a:ext cx="4996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lang="en-US"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мы можем улучшить?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0640" y="2198876"/>
            <a:ext cx="845250" cy="84524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87085A8-1FF2-8D4D-96B1-5A89706D8720}"/>
              </a:ext>
            </a:extLst>
          </p:cNvPr>
          <p:cNvSpPr txBox="1"/>
          <p:nvPr/>
        </p:nvSpPr>
        <p:spPr>
          <a:xfrm>
            <a:off x="1014901" y="3691424"/>
            <a:ext cx="5244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400" dirty="0"/>
              <a:t>Заполните, пожалуйста, опрос о занятии по ссылке в чате</a:t>
            </a:r>
            <a:endParaRPr lang="en-US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9" name="Google Shape;649;p95"/>
          <p:cNvSpPr txBox="1"/>
          <p:nvPr/>
        </p:nvSpPr>
        <p:spPr>
          <a:xfrm>
            <a:off x="1798823" y="1653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Метод градиентного спуска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3659</TotalTime>
  <Words>2742</Words>
  <Application>Microsoft Macintosh PowerPoint</Application>
  <PresentationFormat>On-screen Show (16:9)</PresentationFormat>
  <Paragraphs>667</Paragraphs>
  <Slides>92</Slides>
  <Notes>43</Notes>
  <HiddenSlides>6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92</vt:i4>
      </vt:variant>
    </vt:vector>
  </HeadingPairs>
  <TitlesOfParts>
    <vt:vector size="104" baseType="lpstr">
      <vt:lpstr>Open Sans</vt:lpstr>
      <vt:lpstr>Google Sans</vt:lpstr>
      <vt:lpstr>Bradley Hand</vt:lpstr>
      <vt:lpstr>Roboto</vt:lpstr>
      <vt:lpstr>Avenir Roman</vt:lpstr>
      <vt:lpstr>Cambria Math</vt:lpstr>
      <vt:lpstr>AkayaTelivigala</vt:lpstr>
      <vt:lpstr>Arial</vt:lpstr>
      <vt:lpstr>Avenir</vt:lpstr>
      <vt:lpstr>Courier New</vt:lpstr>
      <vt:lpstr>Светлая тема</vt:lpstr>
      <vt:lpstr>Светлая тема</vt:lpstr>
      <vt:lpstr>Machine Learning Professional </vt:lpstr>
      <vt:lpstr>Проверить, идет ли запись</vt:lpstr>
      <vt:lpstr>ML Professional Знакомство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Команда курса</vt:lpstr>
      <vt:lpstr>Команда курса</vt:lpstr>
      <vt:lpstr>Команда курса</vt:lpstr>
      <vt:lpstr>Расскажите о себе</vt:lpstr>
      <vt:lpstr>Как подготовиться к обучению</vt:lpstr>
      <vt:lpstr>О курсе ML Pro</vt:lpstr>
      <vt:lpstr>Карта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Программа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Технические моменты</vt:lpstr>
      <vt:lpstr>Проекты выполненные студентами</vt:lpstr>
      <vt:lpstr>Проекты студентов</vt:lpstr>
      <vt:lpstr>Ваши вопросы?</vt:lpstr>
      <vt:lpstr>Machine Learning</vt:lpstr>
      <vt:lpstr>Место машинного обучения</vt:lpstr>
      <vt:lpstr>Три парадигмы машинного обучения</vt:lpstr>
      <vt:lpstr>Три парадигмы машинного обучения</vt:lpstr>
      <vt:lpstr>Machine Learning vs Software development</vt:lpstr>
      <vt:lpstr>Задача: кошка или собака</vt:lpstr>
      <vt:lpstr>Машинное обучение vs традиционное программирование</vt:lpstr>
      <vt:lpstr>Машинное обучение vs традиционное программирование</vt:lpstr>
      <vt:lpstr>Машинное обучение vs традиционное программирование</vt:lpstr>
      <vt:lpstr>Машинное обучение vs традиционное программирование</vt:lpstr>
      <vt:lpstr>Мы обучили нашу модель</vt:lpstr>
      <vt:lpstr>Мы обучили нашу модель</vt:lpstr>
      <vt:lpstr>Классический ML</vt:lpstr>
      <vt:lpstr>Вопросы?</vt:lpstr>
      <vt:lpstr>Основные понятия ML</vt:lpstr>
      <vt:lpstr>Пример: предсказание цен на жилье</vt:lpstr>
      <vt:lpstr>Пример: предсказание цен на жилье</vt:lpstr>
      <vt:lpstr>Определения</vt:lpstr>
      <vt:lpstr>Определения: признаки</vt:lpstr>
      <vt:lpstr>Определения: признаки</vt:lpstr>
      <vt:lpstr>Определения: датасет (dataset)</vt:lpstr>
      <vt:lpstr>Определения: модель</vt:lpstr>
      <vt:lpstr>Определения: модель</vt:lpstr>
      <vt:lpstr>Определения: параметры и гиперпараметры</vt:lpstr>
      <vt:lpstr>Определения: параметры и гиперпараметры</vt:lpstr>
      <vt:lpstr>Определения: параметры и гиперпараметры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функция потерь</vt:lpstr>
      <vt:lpstr>Определения: обучение модели</vt:lpstr>
      <vt:lpstr>Определения: обучение модели</vt:lpstr>
      <vt:lpstr>Определения: обучение модели</vt:lpstr>
      <vt:lpstr>ML Pipeline</vt:lpstr>
      <vt:lpstr>ML Pipeline</vt:lpstr>
      <vt:lpstr>ML Pipeline</vt:lpstr>
      <vt:lpstr>ML Pipeline</vt:lpstr>
      <vt:lpstr>ML Pipeline</vt:lpstr>
      <vt:lpstr>ML Pipeline</vt:lpstr>
      <vt:lpstr>Задачи ML</vt:lpstr>
      <vt:lpstr>Задачи ML</vt:lpstr>
      <vt:lpstr>Supervised vs Unsupervised</vt:lpstr>
      <vt:lpstr>Классификация</vt:lpstr>
      <vt:lpstr>Классификация</vt:lpstr>
      <vt:lpstr>Регрессия</vt:lpstr>
      <vt:lpstr>Регрессия</vt:lpstr>
      <vt:lpstr>Кластеризация</vt:lpstr>
      <vt:lpstr>Детекция аномалий</vt:lpstr>
      <vt:lpstr>Типы признаков</vt:lpstr>
      <vt:lpstr>Числовые</vt:lpstr>
      <vt:lpstr>Бинарные</vt:lpstr>
      <vt:lpstr>Категориальные</vt:lpstr>
      <vt:lpstr>Категориальные - кодирование</vt:lpstr>
      <vt:lpstr>Порядковые</vt:lpstr>
      <vt:lpstr>Вопросы?</vt:lpstr>
      <vt:lpstr>Ключевые тезисы  </vt:lpstr>
      <vt:lpstr>Рефлексия</vt:lpstr>
      <vt:lpstr>Рефлексия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76</cp:revision>
  <dcterms:modified xsi:type="dcterms:W3CDTF">2025-12-25T16:58:28Z</dcterms:modified>
</cp:coreProperties>
</file>