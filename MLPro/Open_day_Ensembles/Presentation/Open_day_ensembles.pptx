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3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6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53.JP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media/image62.jpg" ContentType="image/jpeg"/>
  <Override PartName="/ppt/notesSlides/notesSlide27.xml" ContentType="application/vnd.openxmlformats-officedocument.presentationml.notesSlide+xml"/>
  <Override PartName="/ppt/media/image66.jpg" ContentType="image/jpeg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34" r:id="rId4"/>
    <p:sldId id="259" r:id="rId5"/>
    <p:sldId id="305" r:id="rId6"/>
    <p:sldId id="261" r:id="rId7"/>
    <p:sldId id="263" r:id="rId8"/>
    <p:sldId id="264" r:id="rId9"/>
    <p:sldId id="265" r:id="rId10"/>
    <p:sldId id="476" r:id="rId11"/>
    <p:sldId id="440" r:id="rId12"/>
    <p:sldId id="472" r:id="rId13"/>
    <p:sldId id="473" r:id="rId14"/>
    <p:sldId id="453" r:id="rId15"/>
    <p:sldId id="454" r:id="rId16"/>
    <p:sldId id="451" r:id="rId17"/>
    <p:sldId id="458" r:id="rId18"/>
    <p:sldId id="459" r:id="rId19"/>
    <p:sldId id="460" r:id="rId20"/>
    <p:sldId id="461" r:id="rId21"/>
    <p:sldId id="465" r:id="rId22"/>
    <p:sldId id="463" r:id="rId23"/>
    <p:sldId id="464" r:id="rId24"/>
    <p:sldId id="466" r:id="rId25"/>
    <p:sldId id="457" r:id="rId26"/>
    <p:sldId id="474" r:id="rId27"/>
    <p:sldId id="469" r:id="rId28"/>
    <p:sldId id="470" r:id="rId29"/>
    <p:sldId id="480" r:id="rId30"/>
    <p:sldId id="342" r:id="rId31"/>
    <p:sldId id="477" r:id="rId32"/>
    <p:sldId id="478" r:id="rId33"/>
    <p:sldId id="471" r:id="rId34"/>
    <p:sldId id="479" r:id="rId35"/>
    <p:sldId id="364" r:id="rId36"/>
    <p:sldId id="468" r:id="rId37"/>
    <p:sldId id="391" r:id="rId38"/>
    <p:sldId id="389" r:id="rId39"/>
    <p:sldId id="371" r:id="rId40"/>
    <p:sldId id="388" r:id="rId41"/>
    <p:sldId id="390" r:id="rId42"/>
    <p:sldId id="392" r:id="rId43"/>
    <p:sldId id="268" r:id="rId44"/>
    <p:sldId id="372" r:id="rId45"/>
    <p:sldId id="411" r:id="rId46"/>
    <p:sldId id="403" r:id="rId47"/>
    <p:sldId id="373" r:id="rId48"/>
    <p:sldId id="393" r:id="rId49"/>
    <p:sldId id="374" r:id="rId50"/>
    <p:sldId id="404" r:id="rId51"/>
    <p:sldId id="376" r:id="rId52"/>
    <p:sldId id="270" r:id="rId53"/>
    <p:sldId id="302" r:id="rId54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92"/>
    <p:restoredTop sz="97030"/>
  </p:normalViewPr>
  <p:slideViewPr>
    <p:cSldViewPr>
      <p:cViewPr varScale="1">
        <p:scale>
          <a:sx n="297" d="100"/>
          <a:sy n="297" d="100"/>
        </p:scale>
        <p:origin x="110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485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595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9066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56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357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36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JP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jp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Ensembles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en-US" dirty="0"/>
              <a:t>Ensembles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16D5E13-FDDC-224D-A970-DD681138BF8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2616457"/>
            <a:ext cx="692621" cy="6925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TR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TR" sz="1700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17" name="Google Shape;235;p37">
            <a:extLst>
              <a:ext uri="{FF2B5EF4-FFF2-40B4-BE49-F238E27FC236}">
                <a16:creationId xmlns:a16="http://schemas.microsoft.com/office/drawing/2014/main" id="{4B96D085-0EF6-444F-B760-331C744CFAF6}"/>
              </a:ext>
            </a:extLst>
          </p:cNvPr>
          <p:cNvSpPr/>
          <p:nvPr/>
        </p:nvSpPr>
        <p:spPr>
          <a:xfrm>
            <a:off x="709480" y="109590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</a:p>
        </p:txBody>
      </p:sp>
      <p:sp>
        <p:nvSpPr>
          <p:cNvPr id="25" name="Google Shape;235;p37">
            <a:extLst>
              <a:ext uri="{FF2B5EF4-FFF2-40B4-BE49-F238E27FC236}">
                <a16:creationId xmlns:a16="http://schemas.microsoft.com/office/drawing/2014/main" id="{997DCA64-D31D-544D-B5A2-2A5FF11419C5}"/>
              </a:ext>
            </a:extLst>
          </p:cNvPr>
          <p:cNvSpPr/>
          <p:nvPr/>
        </p:nvSpPr>
        <p:spPr>
          <a:xfrm>
            <a:off x="709480" y="1652679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 </a:t>
            </a:r>
            <a:r>
              <a:rPr lang="ru-RU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Отус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238;p37">
            <a:extLst>
              <a:ext uri="{FF2B5EF4-FFF2-40B4-BE49-F238E27FC236}">
                <a16:creationId xmlns:a16="http://schemas.microsoft.com/office/drawing/2014/main" id="{A111B34A-B3D1-3248-BDC7-18F43907C007}"/>
              </a:ext>
            </a:extLst>
          </p:cNvPr>
          <p:cNvSpPr/>
          <p:nvPr/>
        </p:nvSpPr>
        <p:spPr>
          <a:xfrm>
            <a:off x="709480" y="443657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242;p37">
            <a:extLst>
              <a:ext uri="{FF2B5EF4-FFF2-40B4-BE49-F238E27FC236}">
                <a16:creationId xmlns:a16="http://schemas.microsoft.com/office/drawing/2014/main" id="{C9220660-64D4-C448-9463-506753DCA396}"/>
              </a:ext>
            </a:extLst>
          </p:cNvPr>
          <p:cNvCxnSpPr>
            <a:cxnSpLocks/>
            <a:stCxn id="17" idx="1"/>
            <a:endCxn id="25" idx="1"/>
          </p:cNvCxnSpPr>
          <p:nvPr/>
        </p:nvCxnSpPr>
        <p:spPr>
          <a:xfrm rot="10800000" flipV="1">
            <a:off x="709480" y="1283999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6;p37">
            <a:extLst>
              <a:ext uri="{FF2B5EF4-FFF2-40B4-BE49-F238E27FC236}">
                <a16:creationId xmlns:a16="http://schemas.microsoft.com/office/drawing/2014/main" id="{D823E706-4CA1-104E-ADB8-D59AE00C5F3F}"/>
              </a:ext>
            </a:extLst>
          </p:cNvPr>
          <p:cNvSpPr/>
          <p:nvPr/>
        </p:nvSpPr>
        <p:spPr>
          <a:xfrm>
            <a:off x="707197" y="276623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Бэггинг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</a:p>
        </p:txBody>
      </p:sp>
      <p:sp>
        <p:nvSpPr>
          <p:cNvPr id="19" name="Google Shape;238;p37">
            <a:extLst>
              <a:ext uri="{FF2B5EF4-FFF2-40B4-BE49-F238E27FC236}">
                <a16:creationId xmlns:a16="http://schemas.microsoft.com/office/drawing/2014/main" id="{CB19E94D-3B7F-AC4C-AB7A-7AFC5329BB48}"/>
              </a:ext>
            </a:extLst>
          </p:cNvPr>
          <p:cNvSpPr/>
          <p:nvPr/>
        </p:nvSpPr>
        <p:spPr>
          <a:xfrm>
            <a:off x="709479" y="332301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Случайный лес /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</a:p>
        </p:txBody>
      </p:sp>
      <p:sp>
        <p:nvSpPr>
          <p:cNvPr id="20" name="Google Shape;238;p37">
            <a:extLst>
              <a:ext uri="{FF2B5EF4-FFF2-40B4-BE49-F238E27FC236}">
                <a16:creationId xmlns:a16="http://schemas.microsoft.com/office/drawing/2014/main" id="{0A24E5F1-3074-3049-BC8D-2D2B229F7E5A}"/>
              </a:ext>
            </a:extLst>
          </p:cNvPr>
          <p:cNvSpPr/>
          <p:nvPr/>
        </p:nvSpPr>
        <p:spPr>
          <a:xfrm>
            <a:off x="709479" y="3879795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Стэкинг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и 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Блэндинг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35;p37">
            <a:extLst>
              <a:ext uri="{FF2B5EF4-FFF2-40B4-BE49-F238E27FC236}">
                <a16:creationId xmlns:a16="http://schemas.microsoft.com/office/drawing/2014/main" id="{B62059E4-F08B-504B-B55F-01A34380CCA3}"/>
              </a:ext>
            </a:extLst>
          </p:cNvPr>
          <p:cNvSpPr/>
          <p:nvPr/>
        </p:nvSpPr>
        <p:spPr>
          <a:xfrm>
            <a:off x="707197" y="2209458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Бутстрап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42;p37">
            <a:extLst>
              <a:ext uri="{FF2B5EF4-FFF2-40B4-BE49-F238E27FC236}">
                <a16:creationId xmlns:a16="http://schemas.microsoft.com/office/drawing/2014/main" id="{1A993B1C-81B3-AF4E-B8C6-F9DE907339FF}"/>
              </a:ext>
            </a:extLst>
          </p:cNvPr>
          <p:cNvCxnSpPr>
            <a:cxnSpLocks/>
            <a:stCxn id="25" idx="1"/>
            <a:endCxn id="21" idx="1"/>
          </p:cNvCxnSpPr>
          <p:nvPr/>
        </p:nvCxnSpPr>
        <p:spPr>
          <a:xfrm rot="10800000" flipV="1">
            <a:off x="707198" y="1840778"/>
            <a:ext cx="2283" cy="556779"/>
          </a:xfrm>
          <a:prstGeom prst="curvedConnector3">
            <a:avLst>
              <a:gd name="adj1" fmla="val 101131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3" name="Google Shape;242;p37">
            <a:extLst>
              <a:ext uri="{FF2B5EF4-FFF2-40B4-BE49-F238E27FC236}">
                <a16:creationId xmlns:a16="http://schemas.microsoft.com/office/drawing/2014/main" id="{39C5B747-6048-494E-88AA-A689EB8D832B}"/>
              </a:ext>
            </a:extLst>
          </p:cNvPr>
          <p:cNvCxnSpPr>
            <a:cxnSpLocks/>
            <a:stCxn id="21" idx="1"/>
            <a:endCxn id="16" idx="1"/>
          </p:cNvCxnSpPr>
          <p:nvPr/>
        </p:nvCxnSpPr>
        <p:spPr>
          <a:xfrm rot="10800000" flipV="1">
            <a:off x="707197" y="2397557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" name="Google Shape;242;p37">
            <a:extLst>
              <a:ext uri="{FF2B5EF4-FFF2-40B4-BE49-F238E27FC236}">
                <a16:creationId xmlns:a16="http://schemas.microsoft.com/office/drawing/2014/main" id="{732FE197-E51A-BE49-9B51-4ADF11D72AB1}"/>
              </a:ext>
            </a:extLst>
          </p:cNvPr>
          <p:cNvCxnSpPr>
            <a:cxnSpLocks/>
            <a:stCxn id="16" idx="1"/>
            <a:endCxn id="19" idx="1"/>
          </p:cNvCxnSpPr>
          <p:nvPr/>
        </p:nvCxnSpPr>
        <p:spPr>
          <a:xfrm rot="10800000" flipH="1" flipV="1">
            <a:off x="707197" y="2954336"/>
            <a:ext cx="2282" cy="556779"/>
          </a:xfrm>
          <a:prstGeom prst="curvedConnector3">
            <a:avLst>
              <a:gd name="adj1" fmla="val -10017528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6" name="Google Shape;242;p37">
            <a:extLst>
              <a:ext uri="{FF2B5EF4-FFF2-40B4-BE49-F238E27FC236}">
                <a16:creationId xmlns:a16="http://schemas.microsoft.com/office/drawing/2014/main" id="{4958EB31-8272-954E-B671-51FEF9870755}"/>
              </a:ext>
            </a:extLst>
          </p:cNvPr>
          <p:cNvCxnSpPr>
            <a:cxnSpLocks/>
            <a:stCxn id="19" idx="1"/>
            <a:endCxn id="20" idx="1"/>
          </p:cNvCxnSpPr>
          <p:nvPr/>
        </p:nvCxnSpPr>
        <p:spPr>
          <a:xfrm rot="10800000" flipV="1">
            <a:off x="709479" y="3511115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" name="Google Shape;242;p37">
            <a:extLst>
              <a:ext uri="{FF2B5EF4-FFF2-40B4-BE49-F238E27FC236}">
                <a16:creationId xmlns:a16="http://schemas.microsoft.com/office/drawing/2014/main" id="{FB3479EF-D8CA-2A4F-88F9-16EF4167153E}"/>
              </a:ext>
            </a:extLst>
          </p:cNvPr>
          <p:cNvCxnSpPr>
            <a:cxnSpLocks/>
            <a:stCxn id="20" idx="1"/>
            <a:endCxn id="36" idx="1"/>
          </p:cNvCxnSpPr>
          <p:nvPr/>
        </p:nvCxnSpPr>
        <p:spPr>
          <a:xfrm rot="10800000" flipH="1" flipV="1">
            <a:off x="709478" y="4067894"/>
            <a:ext cx="1" cy="556781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11A1CAF-D60A-4548-BD3A-5AB0F9A16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Bagging &amp; 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80ED6A-50AD-F748-A6F5-48852325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Кондорсе (1784 г.)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9BFFA-EA10-D44F-A889-614CF281F46A}"/>
              </a:ext>
            </a:extLst>
          </p:cNvPr>
          <p:cNvSpPr txBox="1"/>
          <p:nvPr/>
        </p:nvSpPr>
        <p:spPr>
          <a:xfrm>
            <a:off x="609600" y="1276350"/>
            <a:ext cx="8305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больше или равна 0.5 то с увеличением числа членов жюри вероятность правильного ответа возрастает и стремиться к 1 по мере увеличения их количества.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меньше 0.5 то с увеличением числа членов жюри вероятность правильного ответа стремиться к 0 по мере увеличения их количества.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/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blipFill>
                <a:blip r:embed="rId2"/>
                <a:stretch>
                  <a:fillRect l="-16580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/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&gt;0.5 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blipFill>
                <a:blip r:embed="rId3"/>
                <a:stretch>
                  <a:fillRect l="-159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86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7B93-6AFD-4D44-BFDD-33F05F2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 </a:t>
            </a:r>
            <a:r>
              <a:rPr lang="ru-RU" dirty="0" err="1"/>
              <a:t>Гальтона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2E09B-2E98-8B40-98A7-C2B72EDD2481}"/>
              </a:ext>
            </a:extLst>
          </p:cNvPr>
          <p:cNvSpPr txBox="1"/>
          <p:nvPr/>
        </p:nvSpPr>
        <p:spPr>
          <a:xfrm>
            <a:off x="490582" y="1657350"/>
            <a:ext cx="4078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На ярмарке около 800 человек пытались угадать вес быка. Бык весил 1198 фунтов.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Ни один из участников не дал точного ответа.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Среднее предсказание по всем ответам оказалось 1197 фунтов.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CF9DA-0961-4B4E-B4FB-2DAC3C57AD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953"/>
          <a:stretch/>
        </p:blipFill>
        <p:spPr>
          <a:xfrm>
            <a:off x="4953000" y="1200150"/>
            <a:ext cx="35052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0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77A3E0-0E9B-C743-BF92-DF18E8ABE3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78674"/>
            <a:ext cx="7543800" cy="40061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11745-E226-8C4C-9988-9AB592159A6E}"/>
              </a:ext>
            </a:extLst>
          </p:cNvPr>
          <p:cNvSpPr txBox="1"/>
          <p:nvPr/>
        </p:nvSpPr>
        <p:spPr>
          <a:xfrm>
            <a:off x="2971800" y="1581150"/>
            <a:ext cx="87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Выбор с </a:t>
            </a:r>
          </a:p>
          <a:p>
            <a:pPr algn="ctr"/>
            <a:r>
              <a:rPr lang="ru-RU" sz="1200" dirty="0"/>
              <a:t>возвратом</a:t>
            </a:r>
            <a:endParaRPr lang="en-US" sz="1200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3FA5F6B-A2B9-B442-A00C-9A2B747EEEE5}"/>
              </a:ext>
            </a:extLst>
          </p:cNvPr>
          <p:cNvSpPr/>
          <p:nvPr/>
        </p:nvSpPr>
        <p:spPr>
          <a:xfrm rot="6324136">
            <a:off x="2974724" y="1822241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3D3566D3-B8E9-E34D-8539-AB7DBBB512C8}"/>
              </a:ext>
            </a:extLst>
          </p:cNvPr>
          <p:cNvSpPr/>
          <p:nvPr/>
        </p:nvSpPr>
        <p:spPr>
          <a:xfrm rot="8480726">
            <a:off x="3101908" y="2336769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5CE3C8D-CF06-AC49-B891-DB0344A7D35D}"/>
              </a:ext>
            </a:extLst>
          </p:cNvPr>
          <p:cNvSpPr/>
          <p:nvPr/>
        </p:nvSpPr>
        <p:spPr>
          <a:xfrm rot="10029697">
            <a:off x="3101908" y="2855767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2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= bootstrap aggregation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BD53D5E-4109-754F-8E58-0AE2D9486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276350"/>
            <a:ext cx="6715124" cy="339089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6C8367-4798-324A-91CF-8E38AD085CE1}"/>
              </a:ext>
            </a:extLst>
          </p:cNvPr>
          <p:cNvSpPr/>
          <p:nvPr/>
        </p:nvSpPr>
        <p:spPr>
          <a:xfrm>
            <a:off x="914400" y="1123950"/>
            <a:ext cx="5943600" cy="3429000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AAB63-2C17-2B4A-88DC-C17A897A76E6}"/>
              </a:ext>
            </a:extLst>
          </p:cNvPr>
          <p:cNvSpPr txBox="1"/>
          <p:nvPr/>
        </p:nvSpPr>
        <p:spPr>
          <a:xfrm>
            <a:off x="981076" y="1150641"/>
            <a:ext cx="527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train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C707DB-A6A1-7642-99D5-3CEF6D65E61F}"/>
              </a:ext>
            </a:extLst>
          </p:cNvPr>
          <p:cNvSpPr/>
          <p:nvPr/>
        </p:nvSpPr>
        <p:spPr>
          <a:xfrm>
            <a:off x="6948712" y="742950"/>
            <a:ext cx="1433288" cy="4069825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D890-897A-9045-B0B5-FD9E3A083015}"/>
              </a:ext>
            </a:extLst>
          </p:cNvPr>
          <p:cNvSpPr txBox="1"/>
          <p:nvPr/>
        </p:nvSpPr>
        <p:spPr>
          <a:xfrm>
            <a:off x="7612622" y="742950"/>
            <a:ext cx="769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1530672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9499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0D718-C39B-0449-8EEC-5DF9B526F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9" y="895350"/>
            <a:ext cx="7127082" cy="407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96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48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600" y="2190750"/>
            <a:ext cx="2209800" cy="2819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885631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397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525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67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92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1219199" y="2088449"/>
            <a:ext cx="167639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00951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1219199" y="3096449"/>
            <a:ext cx="16764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00950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913921" y="4104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913921" y="4608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549310" y="2876550"/>
            <a:ext cx="1686281" cy="533399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549309" y="3409949"/>
            <a:ext cx="1686282" cy="504000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2936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7508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11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1" name="object 5">
            <a:extLst>
              <a:ext uri="{FF2B5EF4-FFF2-40B4-BE49-F238E27FC236}">
                <a16:creationId xmlns:a16="http://schemas.microsoft.com/office/drawing/2014/main" id="{4ABF14FA-40BB-2E45-AC37-043B350AC7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60" y="1856965"/>
            <a:ext cx="8772233" cy="32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6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Stacking &amp; blending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199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9809D1-FA41-8F4B-B81D-FEF6B828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80A6BF-B0BE-2040-AF7A-E43C0C9F7B23}"/>
              </a:ext>
            </a:extLst>
          </p:cNvPr>
          <p:cNvSpPr/>
          <p:nvPr/>
        </p:nvSpPr>
        <p:spPr>
          <a:xfrm>
            <a:off x="1447800" y="1879572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180BA-2474-1040-9DC2-830E2D42B569}"/>
              </a:ext>
            </a:extLst>
          </p:cNvPr>
          <p:cNvSpPr/>
          <p:nvPr/>
        </p:nvSpPr>
        <p:spPr>
          <a:xfrm>
            <a:off x="1447800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7907E1-996D-7744-AE9F-B09E64ACFF23}"/>
              </a:ext>
            </a:extLst>
          </p:cNvPr>
          <p:cNvSpPr/>
          <p:nvPr/>
        </p:nvSpPr>
        <p:spPr>
          <a:xfrm>
            <a:off x="1447800" y="3865024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8B55E5-23F8-F44C-8E4C-2FF09D2440AF}"/>
              </a:ext>
            </a:extLst>
          </p:cNvPr>
          <p:cNvSpPr/>
          <p:nvPr/>
        </p:nvSpPr>
        <p:spPr>
          <a:xfrm>
            <a:off x="3810000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m(A, B, C)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B52931-5F0C-6C4A-9D52-90F6D76313FC}"/>
              </a:ext>
            </a:extLst>
          </p:cNvPr>
          <p:cNvSpPr/>
          <p:nvPr/>
        </p:nvSpPr>
        <p:spPr>
          <a:xfrm>
            <a:off x="6144072" y="2872298"/>
            <a:ext cx="1676400" cy="764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6913CC14-896B-534B-9723-18131883F338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124200" y="2261635"/>
            <a:ext cx="685800" cy="9927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4037592-314B-244C-8400-430B3ACE482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3124200" y="3254361"/>
            <a:ext cx="685800" cy="9927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784F6A-FD5A-0D49-BA43-CB1A59D00C71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124200" y="3254361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7E8467-B952-3B43-B40D-E992A91D901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486400" y="3254361"/>
            <a:ext cx="657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41F577-79F8-214C-88AF-D022C6898C36}"/>
              </a:ext>
            </a:extLst>
          </p:cNvPr>
          <p:cNvSpPr txBox="1"/>
          <p:nvPr/>
        </p:nvSpPr>
        <p:spPr>
          <a:xfrm>
            <a:off x="609600" y="1123950"/>
            <a:ext cx="8237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Используем прогнозы других алгоритмов как признаки и на них построим модель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945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DDB68-8331-4D4C-99A7-5801BB37CBB9}"/>
              </a:ext>
            </a:extLst>
          </p:cNvPr>
          <p:cNvSpPr txBox="1"/>
          <p:nvPr/>
        </p:nvSpPr>
        <p:spPr>
          <a:xfrm>
            <a:off x="609600" y="1123950"/>
            <a:ext cx="497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Blending – </a:t>
            </a:r>
            <a:r>
              <a:rPr lang="ru-RU" dirty="0"/>
              <a:t>как простейшая реализация </a:t>
            </a:r>
            <a:r>
              <a:rPr lang="en-US" dirty="0" err="1"/>
              <a:t>Stacking’a</a:t>
            </a:r>
            <a:endParaRPr lang="en-US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826670C-5B11-B549-98A7-EB904FF8F1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756" y="1733550"/>
            <a:ext cx="8044815" cy="29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30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DDB68-8331-4D4C-99A7-5801BB37CBB9}"/>
              </a:ext>
            </a:extLst>
          </p:cNvPr>
          <p:cNvSpPr txBox="1"/>
          <p:nvPr/>
        </p:nvSpPr>
        <p:spPr>
          <a:xfrm>
            <a:off x="505664" y="1134555"/>
            <a:ext cx="160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улучшить?</a:t>
            </a:r>
            <a:endParaRPr lang="en-US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19C062EC-F10D-184C-A756-1F0739A40F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733" y="1581150"/>
            <a:ext cx="7937548" cy="330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2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C22E-A7C4-3746-928A-61B5E211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</a:t>
            </a:r>
            <a:r>
              <a:rPr lang="en-US" dirty="0" err="1"/>
              <a:t>klearn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B87CCC-4527-5C40-872D-17834F20EFA4}"/>
              </a:ext>
            </a:extLst>
          </p:cNvPr>
          <p:cNvSpPr/>
          <p:nvPr/>
        </p:nvSpPr>
        <p:spPr>
          <a:xfrm>
            <a:off x="411471" y="2417223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E80C34-CC56-194C-A7C6-20A8EAEC9776}"/>
              </a:ext>
            </a:extLst>
          </p:cNvPr>
          <p:cNvSpPr/>
          <p:nvPr/>
        </p:nvSpPr>
        <p:spPr>
          <a:xfrm>
            <a:off x="1752600" y="2417223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19893F-381F-934A-AA3E-D0EF11C98D33}"/>
              </a:ext>
            </a:extLst>
          </p:cNvPr>
          <p:cNvSpPr/>
          <p:nvPr/>
        </p:nvSpPr>
        <p:spPr>
          <a:xfrm>
            <a:off x="3123780" y="2417223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C935000-44FE-744E-AC84-6FDAD0D2F741}"/>
              </a:ext>
            </a:extLst>
          </p:cNvPr>
          <p:cNvSpPr/>
          <p:nvPr/>
        </p:nvSpPr>
        <p:spPr>
          <a:xfrm>
            <a:off x="1752600" y="3409950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A92AF28-8AB5-0748-8123-0C556E5CF059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16200000" flipH="1">
            <a:off x="1424935" y="2434584"/>
            <a:ext cx="609601" cy="1341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9A6DE48-A650-5A47-9EEB-3E44B10A2881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2781090" y="2419559"/>
            <a:ext cx="609601" cy="13711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1550D1-FE69-F745-A573-F5F7DA9BF98D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2400300" y="2800349"/>
            <a:ext cx="0" cy="60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83C11E-2CAA-A64F-B012-5618D2CB2857}"/>
              </a:ext>
            </a:extLst>
          </p:cNvPr>
          <p:cNvSpPr txBox="1"/>
          <p:nvPr/>
        </p:nvSpPr>
        <p:spPr>
          <a:xfrm>
            <a:off x="1546572" y="1867737"/>
            <a:ext cx="170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Voting classifier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073FC7-3864-2A40-9AE1-3770765810F9}"/>
              </a:ext>
            </a:extLst>
          </p:cNvPr>
          <p:cNvSpPr/>
          <p:nvPr/>
        </p:nvSpPr>
        <p:spPr>
          <a:xfrm>
            <a:off x="5021607" y="1426624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41D8F10-6D64-0947-8756-E62A50D3C997}"/>
              </a:ext>
            </a:extLst>
          </p:cNvPr>
          <p:cNvSpPr/>
          <p:nvPr/>
        </p:nvSpPr>
        <p:spPr>
          <a:xfrm>
            <a:off x="6362736" y="1426624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E7800CE-9BEC-F441-8455-D949C6320C1D}"/>
              </a:ext>
            </a:extLst>
          </p:cNvPr>
          <p:cNvSpPr/>
          <p:nvPr/>
        </p:nvSpPr>
        <p:spPr>
          <a:xfrm>
            <a:off x="7733916" y="1426624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3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AE80DAD-AA47-BE40-86D4-59684BC956FC}"/>
              </a:ext>
            </a:extLst>
          </p:cNvPr>
          <p:cNvSpPr/>
          <p:nvPr/>
        </p:nvSpPr>
        <p:spPr>
          <a:xfrm>
            <a:off x="6362736" y="2419351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metamodel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90E0B20D-FA1B-D64C-83F1-B769A6C87A29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 rot="16200000" flipH="1">
            <a:off x="6035071" y="1443985"/>
            <a:ext cx="609601" cy="1341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A334F6AB-64FD-2E47-AABD-D109A429E7D9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 rot="5400000">
            <a:off x="7391226" y="1428960"/>
            <a:ext cx="609601" cy="13711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498459-5AA8-3542-9D46-889349C7779B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>
            <a:off x="7010436" y="1809750"/>
            <a:ext cx="0" cy="60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E27536D-46A6-F948-A7DC-93EE14CD6FF1}"/>
              </a:ext>
            </a:extLst>
          </p:cNvPr>
          <p:cNvSpPr/>
          <p:nvPr/>
        </p:nvSpPr>
        <p:spPr>
          <a:xfrm>
            <a:off x="6362736" y="3413561"/>
            <a:ext cx="1295400" cy="383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B2C7D5-3769-8B40-925A-EDF3F5752175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7010436" y="2802477"/>
            <a:ext cx="0" cy="61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E7BB9D6-6ED5-294F-829E-420139ABF9CC}"/>
              </a:ext>
            </a:extLst>
          </p:cNvPr>
          <p:cNvSpPr txBox="1"/>
          <p:nvPr/>
        </p:nvSpPr>
        <p:spPr>
          <a:xfrm>
            <a:off x="6156708" y="878674"/>
            <a:ext cx="1807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stacking classifier</a:t>
            </a:r>
          </a:p>
        </p:txBody>
      </p:sp>
    </p:spTree>
    <p:extLst>
      <p:ext uri="{BB962C8B-B14F-4D97-AF65-F5344CB8AC3E}">
        <p14:creationId xmlns:p14="http://schemas.microsoft.com/office/powerpoint/2010/main" val="2274016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en-US" dirty="0"/>
              <a:t>Gradient boosting</a:t>
            </a:r>
            <a:br>
              <a:rPr lang="en-US" dirty="0"/>
            </a:br>
            <a:br>
              <a:rPr lang="en-US" dirty="0"/>
            </a:br>
            <a:r>
              <a:rPr lang="ru-RU" sz="3200" dirty="0"/>
              <a:t>идея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9685-B50A-204E-9954-8694A6CC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vs Boosting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D1D66-0E28-D54B-8976-48D245B5B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9" y="1200150"/>
            <a:ext cx="79502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33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4EA5C2-64F5-DC4B-A1B7-58A586896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90" y="895350"/>
            <a:ext cx="7306019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15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B8E2-3D51-BE44-BF02-785CC901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– </a:t>
            </a:r>
            <a:r>
              <a:rPr lang="ru-RU" dirty="0"/>
              <a:t>Последовательное улучшение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BC3938-2419-1E46-9A5A-DFDAD3A4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25190"/>
            <a:ext cx="5138941" cy="318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64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Реализации </a:t>
            </a:r>
            <a:r>
              <a:rPr lang="ru-RU" dirty="0" err="1"/>
              <a:t>бустинга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AF1A9-6149-154C-8669-5112647AE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76350"/>
            <a:ext cx="1625600" cy="5842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F38796-3866-EC4D-86DA-9C4154EEE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087" y="2348454"/>
            <a:ext cx="2698226" cy="610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36CDD9-9453-3A49-A9A5-BEE2B100C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081859"/>
            <a:ext cx="2438400" cy="938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B2466-AD7A-5A4D-9D7F-84E46D48D5B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338"/>
          <a:stretch/>
        </p:blipFill>
        <p:spPr>
          <a:xfrm>
            <a:off x="2819400" y="3548653"/>
            <a:ext cx="3132871" cy="100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69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Professional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Евгений Ревняков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к.т.н. </a:t>
            </a:r>
            <a:r>
              <a:rPr lang="en-US" sz="1000" dirty="0">
                <a:solidFill>
                  <a:schemeClr val="tx1"/>
                </a:solidFill>
              </a:rPr>
              <a:t>Senior Software Engineer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527" b="652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6701" b="6701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Борис </a:t>
            </a:r>
            <a:r>
              <a:rPr lang="ru-RU" sz="1517" b="1" dirty="0" err="1">
                <a:solidFill>
                  <a:srgbClr val="FF9900"/>
                </a:solidFill>
              </a:rPr>
              <a:t>Цейтлин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ML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Глеб Карпов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4466" b="14466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4" y="1389897"/>
            <a:ext cx="2141389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Константин Алексин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Специалист по прогнозному моделированию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4503" b="4503"/>
          <a:stretch/>
        </p:blipFill>
        <p:spPr>
          <a:xfrm>
            <a:off x="789920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0689" b="10689"/>
          <a:stretch/>
        </p:blipFill>
        <p:spPr>
          <a:xfrm>
            <a:off x="749302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5853" b="15853"/>
          <a:stretch/>
        </p:blipFill>
        <p:spPr>
          <a:xfrm>
            <a:off x="789920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4" y="2772890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26080" y="3978021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5293637" y="3978021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389897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Валерий Валов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EdTech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6"/>
          <a:srcRect t="12308" b="12308"/>
          <a:stretch/>
        </p:blipFill>
        <p:spPr>
          <a:xfrm>
            <a:off x="7468371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7"/>
          <a:srcRect t="669" b="669"/>
          <a:stretch/>
        </p:blipFill>
        <p:spPr>
          <a:xfrm>
            <a:off x="7466228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315408" y="277289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Кирилл Панфилов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Блогер</a:t>
            </a:r>
            <a:r>
              <a:rPr lang="ru-RU" sz="1000" dirty="0">
                <a:solidFill>
                  <a:schemeClr val="tx1"/>
                </a:solidFill>
              </a:rPr>
              <a:t>/программист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8"/>
          <a:srcRect t="7452" b="7452"/>
          <a:stretch/>
        </p:blipFill>
        <p:spPr>
          <a:xfrm>
            <a:off x="7466228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500550" y="310170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 Professional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4664054" y="669270"/>
            <a:ext cx="2861081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657428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без учителя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657556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Введение 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2867539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текстовых данных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1947078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58920"/>
            <a:ext cx="2354366" cy="698508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512423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1947206"/>
            <a:ext cx="297650" cy="1209983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042401" y="3157189"/>
            <a:ext cx="2098433" cy="355234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27420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24797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9493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46871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27819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25197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029546" y="4015038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3"/>
            <a:endCxn id="50" idx="1"/>
          </p:cNvCxnSpPr>
          <p:nvPr/>
        </p:nvCxnSpPr>
        <p:spPr>
          <a:xfrm>
            <a:off x="3584250" y="3802073"/>
            <a:ext cx="1445296" cy="50261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1242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48620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89559" y="4119546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2869561" y="4093324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6A74D20B-D29C-D14D-8BC8-1FDB5963C09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72944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A4A8C1A-43F7-F643-A4B3-06134C736607}"/>
              </a:ext>
            </a:extLst>
          </p:cNvPr>
          <p:cNvSpPr txBox="1"/>
          <p:nvPr/>
        </p:nvSpPr>
        <p:spPr>
          <a:xfrm>
            <a:off x="2826219" y="270321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1" name="Google Shape;530;p82">
            <a:extLst>
              <a:ext uri="{FF2B5EF4-FFF2-40B4-BE49-F238E27FC236}">
                <a16:creationId xmlns:a16="http://schemas.microsoft.com/office/drawing/2014/main" id="{EDDB19FF-038D-CF42-BC43-7D8BA772900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7991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03ACE17-444B-A745-BBA3-68ACDF3B87FE}"/>
              </a:ext>
            </a:extLst>
          </p:cNvPr>
          <p:cNvSpPr txBox="1"/>
          <p:nvPr/>
        </p:nvSpPr>
        <p:spPr>
          <a:xfrm>
            <a:off x="6751398" y="245368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63" name="Google Shape;530;p82">
            <a:extLst>
              <a:ext uri="{FF2B5EF4-FFF2-40B4-BE49-F238E27FC236}">
                <a16:creationId xmlns:a16="http://schemas.microsoft.com/office/drawing/2014/main" id="{516E46BC-D0F7-364A-B41C-2B31629447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743731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FC6AB73-366D-7D4A-9D2F-87F3E227209B}"/>
              </a:ext>
            </a:extLst>
          </p:cNvPr>
          <p:cNvSpPr txBox="1"/>
          <p:nvPr/>
        </p:nvSpPr>
        <p:spPr>
          <a:xfrm>
            <a:off x="6469308" y="3717509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65" name="Google Shape;278;p44">
            <a:extLst>
              <a:ext uri="{FF2B5EF4-FFF2-40B4-BE49-F238E27FC236}">
                <a16:creationId xmlns:a16="http://schemas.microsoft.com/office/drawing/2014/main" id="{6897773D-B894-8E4A-AAE1-7249D3456087}"/>
              </a:ext>
            </a:extLst>
          </p:cNvPr>
          <p:cNvSpPr/>
          <p:nvPr/>
        </p:nvSpPr>
        <p:spPr>
          <a:xfrm>
            <a:off x="500550" y="447108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D054DBC9-5CA6-BE4B-A41E-B45733722C37}"/>
              </a:ext>
            </a:extLst>
          </p:cNvPr>
          <p:cNvCxnSpPr>
            <a:cxnSpLocks/>
            <a:stCxn id="65" idx="3"/>
            <a:endCxn id="50" idx="2"/>
          </p:cNvCxnSpPr>
          <p:nvPr/>
        </p:nvCxnSpPr>
        <p:spPr>
          <a:xfrm flipV="1">
            <a:off x="3584250" y="4594338"/>
            <a:ext cx="2987146" cy="1663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9" name="Google Shape;530;p82">
            <a:extLst>
              <a:ext uri="{FF2B5EF4-FFF2-40B4-BE49-F238E27FC236}">
                <a16:creationId xmlns:a16="http://schemas.microsoft.com/office/drawing/2014/main" id="{EF098809-DE09-5A45-A08C-26A3ABFAED7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91465" y="4669450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237C4BE-881B-704D-B08A-86E380F5132F}"/>
              </a:ext>
            </a:extLst>
          </p:cNvPr>
          <p:cNvSpPr txBox="1"/>
          <p:nvPr/>
        </p:nvSpPr>
        <p:spPr>
          <a:xfrm>
            <a:off x="7471467" y="4643228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учителем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градиентного спуска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EDA, cross-validation,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метрики качества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Градиентный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бустинг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6576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14074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4084649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опорных векторов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без учителя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Методы уменьшения размерности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K-means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Иерархическая кластеризация.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DB-Scan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Построение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сериализация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графах, часть 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7797" y="274118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76099" y="268913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 на графах, часть 2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2B006970-76D2-C94D-B5E6-1A29F1933D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6946" y="321098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5ED362C-B448-6340-9345-CF19C9B1B553}"/>
              </a:ext>
            </a:extLst>
          </p:cNvPr>
          <p:cNvSpPr txBox="1"/>
          <p:nvPr/>
        </p:nvSpPr>
        <p:spPr>
          <a:xfrm rot="20748746">
            <a:off x="7576100" y="315488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8661" y="414448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87815" y="408838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61" name="Table 23">
            <a:extLst>
              <a:ext uri="{FF2B5EF4-FFF2-40B4-BE49-F238E27FC236}">
                <a16:creationId xmlns:a16="http://schemas.microsoft.com/office/drawing/2014/main" id="{65C7F050-A8DF-1B43-B566-D167AFB53183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002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Deep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нейросети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PyTorch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, часть 1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Продвинутые методы оптимизации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Борьба с переобучение нейросетей, взрыв и затухание градиентов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PyTorch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, часть 2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Сверточные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сети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271;p44">
            <a:extLst>
              <a:ext uri="{FF2B5EF4-FFF2-40B4-BE49-F238E27FC236}">
                <a16:creationId xmlns:a16="http://schemas.microsoft.com/office/drawing/2014/main" id="{CD4648EE-4981-1C40-98CD-846EEDC388C8}"/>
              </a:ext>
            </a:extLst>
          </p:cNvPr>
          <p:cNvSpPr/>
          <p:nvPr/>
        </p:nvSpPr>
        <p:spPr>
          <a:xfrm>
            <a:off x="2226712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Рекуррентные сети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06C2769-7006-144D-B0DC-4BE4A7051D5B}"/>
              </a:ext>
            </a:extLst>
          </p:cNvPr>
          <p:cNvCxnSpPr>
            <a:cxnSpLocks/>
            <a:stCxn id="271" idx="2"/>
            <a:endCxn id="49" idx="1"/>
          </p:cNvCxnSpPr>
          <p:nvPr/>
        </p:nvCxnSpPr>
        <p:spPr>
          <a:xfrm rot="16200000" flipH="1">
            <a:off x="474795" y="3015708"/>
            <a:ext cx="308390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2B006970-76D2-C94D-B5E6-1A29F1933D1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6945" y="4605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5ED362C-B448-6340-9345-CF19C9B1B553}"/>
              </a:ext>
            </a:extLst>
          </p:cNvPr>
          <p:cNvSpPr txBox="1"/>
          <p:nvPr/>
        </p:nvSpPr>
        <p:spPr>
          <a:xfrm rot="20748746">
            <a:off x="7576099" y="4549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8661" y="414448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87815" y="408838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61" name="Table 23">
            <a:extLst>
              <a:ext uri="{FF2B5EF4-FFF2-40B4-BE49-F238E27FC236}">
                <a16:creationId xmlns:a16="http://schemas.microsoft.com/office/drawing/2014/main" id="{387AF42C-47DF-2F4C-A291-F3FAD04C91E2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836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Анализ текстовых данных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Сбор данных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Предобработка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токенизация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Векторные представления слов, 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работа с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предобученными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эмбеддингами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Понятие языковой модели,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RNN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для работы с текстом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5802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0193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23">
            <a:extLst>
              <a:ext uri="{FF2B5EF4-FFF2-40B4-BE49-F238E27FC236}">
                <a16:creationId xmlns:a16="http://schemas.microsoft.com/office/drawing/2014/main" id="{E0DB47F0-1577-A045-82C1-EE21529681BD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Сбор данных. Анализ текстовых данных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трансформер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Transfer Learning.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BERT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Named Entity Recognition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Тематическое моделирование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3006" y="2995284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2160" y="293919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23">
            <a:extLst>
              <a:ext uri="{FF2B5EF4-FFF2-40B4-BE49-F238E27FC236}">
                <a16:creationId xmlns:a16="http://schemas.microsoft.com/office/drawing/2014/main" id="{1738E95F-CCBA-3141-B23A-F828A7440458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временных рядов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Постановка задачи, простейшие методы.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ARIMA-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модель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Извлечение признаков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Кластеризация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8174" y="246137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77328" y="240527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39" name="Table 23">
            <a:extLst>
              <a:ext uri="{FF2B5EF4-FFF2-40B4-BE49-F238E27FC236}">
                <a16:creationId xmlns:a16="http://schemas.microsoft.com/office/drawing/2014/main" id="{3C31679A-FB0A-3C47-A6F2-01B73019F411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6576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рекомендательные системы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452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Коллаборативная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фильтрация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71010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Контентная фильтрация, гибридные подходы. </a:t>
            </a:r>
            <a:b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Ассоциативные правила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7498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Методы матричной факторизации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63986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рекомендательным системам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1047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Apache Spark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36998" y="1853504"/>
            <a:ext cx="75950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4557" y="2085945"/>
            <a:ext cx="122438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172117" y="2318385"/>
            <a:ext cx="168926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39676" y="2550827"/>
            <a:ext cx="215414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707236" y="2783266"/>
            <a:ext cx="26190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oogle Shape;530;p82">
            <a:extLst>
              <a:ext uri="{FF2B5EF4-FFF2-40B4-BE49-F238E27FC236}">
                <a16:creationId xmlns:a16="http://schemas.microsoft.com/office/drawing/2014/main" id="{D059CBA0-57A7-9244-B33B-1844B71555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09579" y="274060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98F3392-9D7A-FB49-835B-462B8F38FD32}"/>
              </a:ext>
            </a:extLst>
          </p:cNvPr>
          <p:cNvSpPr txBox="1"/>
          <p:nvPr/>
        </p:nvSpPr>
        <p:spPr>
          <a:xfrm rot="20748746">
            <a:off x="7568733" y="268450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46" name="Table 23">
            <a:extLst>
              <a:ext uri="{FF2B5EF4-FFF2-40B4-BE49-F238E27FC236}">
                <a16:creationId xmlns:a16="http://schemas.microsoft.com/office/drawing/2014/main" id="{47AF300B-F13F-C547-8315-DAEA8D78C145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1314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и обсуждение темы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61414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028901" y="2461601"/>
            <a:ext cx="197569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116D62D7-867B-F541-8C02-1D8DC2EB3E4F}"/>
              </a:ext>
            </a:extLst>
          </p:cNvPr>
          <p:cNvSpPr/>
          <p:nvPr/>
        </p:nvSpPr>
        <p:spPr>
          <a:xfrm>
            <a:off x="2226713" y="2931393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294CF90-DC78-094B-8AE5-A31327A356E2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1293911" y="2196591"/>
            <a:ext cx="144567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23">
            <a:extLst>
              <a:ext uri="{FF2B5EF4-FFF2-40B4-BE49-F238E27FC236}">
                <a16:creationId xmlns:a16="http://schemas.microsoft.com/office/drawing/2014/main" id="{24303127-D7C4-E749-9E8B-5548EA3E8F29}"/>
              </a:ext>
            </a:extLst>
          </p:cNvPr>
          <p:cNvGraphicFramePr>
            <a:graphicFrameLocks noGrp="1"/>
          </p:cNvGraphicFramePr>
          <p:nvPr/>
        </p:nvGraphicFramePr>
        <p:xfrm>
          <a:off x="5355767" y="573874"/>
          <a:ext cx="2419494" cy="304800"/>
        </p:xfrm>
        <a:graphic>
          <a:graphicData uri="http://schemas.openxmlformats.org/drawingml/2006/table">
            <a:tbl>
              <a:tblPr firstRow="1" bandRow="1"/>
              <a:tblGrid>
                <a:gridCol w="34564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45642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раза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15737</TotalTime>
  <Words>1430</Words>
  <Application>Microsoft Macintosh PowerPoint</Application>
  <PresentationFormat>On-screen Show (16:9)</PresentationFormat>
  <Paragraphs>366</Paragraphs>
  <Slides>53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AkayaTelivigala</vt:lpstr>
      <vt:lpstr>Arial</vt:lpstr>
      <vt:lpstr>Bradley Hand</vt:lpstr>
      <vt:lpstr>Calibri</vt:lpstr>
      <vt:lpstr>Cambria Math</vt:lpstr>
      <vt:lpstr>Google Sans</vt:lpstr>
      <vt:lpstr>roboto</vt:lpstr>
      <vt:lpstr>roboto</vt:lpstr>
      <vt:lpstr>Office Theme</vt:lpstr>
      <vt:lpstr>ML Professional Ensembles</vt:lpstr>
      <vt:lpstr>Проверить, идет ли запись</vt:lpstr>
      <vt:lpstr>ML Professional Ensembles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Bagging &amp; Random forest</vt:lpstr>
      <vt:lpstr>Принцип Кондорсе (1784 г.)</vt:lpstr>
      <vt:lpstr>Эксперимент Гальтона</vt:lpstr>
      <vt:lpstr>Bootstrap</vt:lpstr>
      <vt:lpstr>Bagging = bootstrap aggregation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Stacking &amp; blending</vt:lpstr>
      <vt:lpstr>Stacking</vt:lpstr>
      <vt:lpstr>Blending</vt:lpstr>
      <vt:lpstr>Blending</vt:lpstr>
      <vt:lpstr>sklearn</vt:lpstr>
      <vt:lpstr>  Gradient boosting  идея </vt:lpstr>
      <vt:lpstr>Bagging vs Boosting</vt:lpstr>
      <vt:lpstr>PowerPoint Presentation</vt:lpstr>
      <vt:lpstr>AdaBoost – Последовательное улучшение</vt:lpstr>
      <vt:lpstr>Реализации бустинга</vt:lpstr>
      <vt:lpstr>Вопросы?</vt:lpstr>
      <vt:lpstr>Практика</vt:lpstr>
      <vt:lpstr>О курсе ML Professional</vt:lpstr>
      <vt:lpstr>Команда курса</vt:lpstr>
      <vt:lpstr>Команда курса</vt:lpstr>
      <vt:lpstr>Команда курса</vt:lpstr>
      <vt:lpstr>Команда курса</vt:lpstr>
      <vt:lpstr>Специализация Machine Learning</vt:lpstr>
      <vt:lpstr>ML Professional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Как будем учиться?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164</cp:revision>
  <dcterms:created xsi:type="dcterms:W3CDTF">2023-10-10T14:19:39Z</dcterms:created>
  <dcterms:modified xsi:type="dcterms:W3CDTF">2025-12-02T11:46:20Z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