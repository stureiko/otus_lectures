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24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34" r:id="rId4"/>
    <p:sldId id="259" r:id="rId5"/>
    <p:sldId id="260" r:id="rId6"/>
    <p:sldId id="373" r:id="rId7"/>
    <p:sldId id="305" r:id="rId8"/>
    <p:sldId id="265" r:id="rId9"/>
    <p:sldId id="425" r:id="rId10"/>
    <p:sldId id="342" r:id="rId11"/>
    <p:sldId id="470" r:id="rId12"/>
    <p:sldId id="473" r:id="rId13"/>
    <p:sldId id="471" r:id="rId14"/>
    <p:sldId id="474" r:id="rId15"/>
    <p:sldId id="478" r:id="rId16"/>
    <p:sldId id="396" r:id="rId17"/>
    <p:sldId id="475" r:id="rId18"/>
    <p:sldId id="477" r:id="rId19"/>
    <p:sldId id="476" r:id="rId20"/>
    <p:sldId id="409" r:id="rId21"/>
    <p:sldId id="398" r:id="rId22"/>
    <p:sldId id="480" r:id="rId23"/>
    <p:sldId id="469" r:id="rId24"/>
    <p:sldId id="481" r:id="rId25"/>
    <p:sldId id="479" r:id="rId26"/>
    <p:sldId id="482" r:id="rId27"/>
    <p:sldId id="468" r:id="rId28"/>
    <p:sldId id="364" r:id="rId29"/>
    <p:sldId id="302" r:id="rId30"/>
    <p:sldId id="335" r:id="rId31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6"/>
    <p:restoredTop sz="97030"/>
  </p:normalViewPr>
  <p:slideViewPr>
    <p:cSldViewPr>
      <p:cViewPr varScale="1">
        <p:scale>
          <a:sx n="297" d="100"/>
          <a:sy n="297" d="100"/>
        </p:scale>
        <p:origin x="104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501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45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12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Gradient boosting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Gradient boosting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C49159E6-6548-0741-AE51-2E3247B0D94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 </a:t>
            </a:r>
            <a:endParaRPr sz="1400" b="1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" name="object 3"/>
          <p:cNvSpPr/>
          <p:nvPr/>
        </p:nvSpPr>
        <p:spPr>
          <a:xfrm>
            <a:off x="5805201" y="62732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с учителем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0" y="1684386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Обучение без учителя</a:t>
            </a:r>
            <a:endParaRPr lang="en-US" sz="1400" spc="-2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5882" y="1847802"/>
            <a:ext cx="2203450" cy="579755"/>
          </a:xfrm>
          <a:custGeom>
            <a:avLst/>
            <a:gdLst/>
            <a:ahLst/>
            <a:cxnLst/>
            <a:rect l="l" t="t" r="r" b="b"/>
            <a:pathLst>
              <a:path w="2203450" h="579755">
                <a:moveTo>
                  <a:pt x="21066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106648" y="0"/>
                </a:lnTo>
                <a:lnTo>
                  <a:pt x="2160214" y="16221"/>
                </a:lnTo>
                <a:lnTo>
                  <a:pt x="2195850" y="59603"/>
                </a:lnTo>
                <a:lnTo>
                  <a:pt x="2203199" y="96551"/>
                </a:lnTo>
                <a:lnTo>
                  <a:pt x="2203199" y="482747"/>
                </a:lnTo>
                <a:lnTo>
                  <a:pt x="2195612" y="520330"/>
                </a:lnTo>
                <a:lnTo>
                  <a:pt x="2174920" y="551020"/>
                </a:lnTo>
                <a:lnTo>
                  <a:pt x="2144230" y="571712"/>
                </a:lnTo>
                <a:lnTo>
                  <a:pt x="21066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Введение в </a:t>
            </a:r>
            <a:r>
              <a:rPr lang="en-US" sz="1400" spc="-20" dirty="0">
                <a:latin typeface="Roboto"/>
                <a:cs typeface="Roboto"/>
              </a:rPr>
              <a:t>Deep learning</a:t>
            </a:r>
            <a:endParaRPr sz="1400" spc="-20" dirty="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6500" y="3022737"/>
            <a:ext cx="2971165" cy="579755"/>
          </a:xfrm>
          <a:custGeom>
            <a:avLst/>
            <a:gdLst/>
            <a:ahLst/>
            <a:cxnLst/>
            <a:rect l="l" t="t" r="r" b="b"/>
            <a:pathLst>
              <a:path w="2971165" h="579754">
                <a:moveTo>
                  <a:pt x="28740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874047" y="0"/>
                </a:lnTo>
                <a:lnTo>
                  <a:pt x="2927615" y="16221"/>
                </a:lnTo>
                <a:lnTo>
                  <a:pt x="2963250" y="59603"/>
                </a:lnTo>
                <a:lnTo>
                  <a:pt x="2970599" y="96551"/>
                </a:lnTo>
                <a:lnTo>
                  <a:pt x="2970599" y="482747"/>
                </a:lnTo>
                <a:lnTo>
                  <a:pt x="2963012" y="520330"/>
                </a:lnTo>
                <a:lnTo>
                  <a:pt x="2942320" y="551020"/>
                </a:lnTo>
                <a:lnTo>
                  <a:pt x="2911630" y="571712"/>
                </a:lnTo>
                <a:lnTo>
                  <a:pt x="28740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Анализ временных рядов</a:t>
            </a:r>
          </a:p>
        </p:txBody>
      </p:sp>
      <p:sp>
        <p:nvSpPr>
          <p:cNvPr id="11" name="object 11"/>
          <p:cNvSpPr/>
          <p:nvPr/>
        </p:nvSpPr>
        <p:spPr>
          <a:xfrm>
            <a:off x="5840299" y="277863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4">
                <a:moveTo>
                  <a:pt x="2376647" y="579300"/>
                </a:moveTo>
                <a:lnTo>
                  <a:pt x="96551" y="579300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8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200" y="96551"/>
                </a:lnTo>
                <a:lnTo>
                  <a:pt x="2473200" y="482748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30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Сбор данных. Анализ текстовых данных</a:t>
            </a:r>
          </a:p>
        </p:txBody>
      </p:sp>
      <p:sp>
        <p:nvSpPr>
          <p:cNvPr id="14" name="object 14"/>
          <p:cNvSpPr/>
          <p:nvPr/>
        </p:nvSpPr>
        <p:spPr>
          <a:xfrm>
            <a:off x="1472660" y="916975"/>
            <a:ext cx="4332605" cy="1220470"/>
          </a:xfrm>
          <a:custGeom>
            <a:avLst/>
            <a:gdLst/>
            <a:ahLst/>
            <a:cxnLst/>
            <a:rect l="l" t="t" r="r" b="b"/>
            <a:pathLst>
              <a:path w="4332605" h="1220470">
                <a:moveTo>
                  <a:pt x="2898413" y="1010949"/>
                </a:moveTo>
                <a:lnTo>
                  <a:pt x="2964258" y="1012817"/>
                </a:lnTo>
                <a:lnTo>
                  <a:pt x="3023231" y="1018131"/>
                </a:lnTo>
                <a:lnTo>
                  <a:pt x="3076192" y="1026461"/>
                </a:lnTo>
                <a:lnTo>
                  <a:pt x="3124000" y="1037376"/>
                </a:lnTo>
                <a:lnTo>
                  <a:pt x="3167514" y="1050445"/>
                </a:lnTo>
                <a:lnTo>
                  <a:pt x="3207593" y="1065238"/>
                </a:lnTo>
                <a:lnTo>
                  <a:pt x="3245096" y="1081324"/>
                </a:lnTo>
                <a:lnTo>
                  <a:pt x="3280884" y="1098271"/>
                </a:lnTo>
                <a:lnTo>
                  <a:pt x="3315813" y="1115649"/>
                </a:lnTo>
                <a:lnTo>
                  <a:pt x="3350745" y="1133028"/>
                </a:lnTo>
                <a:lnTo>
                  <a:pt x="3386537" y="1149975"/>
                </a:lnTo>
                <a:lnTo>
                  <a:pt x="3424048" y="1166061"/>
                </a:lnTo>
                <a:lnTo>
                  <a:pt x="3464138" y="1180854"/>
                </a:lnTo>
                <a:lnTo>
                  <a:pt x="3507664" y="1193923"/>
                </a:lnTo>
                <a:lnTo>
                  <a:pt x="3555486" y="1204838"/>
                </a:lnTo>
                <a:lnTo>
                  <a:pt x="3608463" y="1213168"/>
                </a:lnTo>
                <a:lnTo>
                  <a:pt x="3667452" y="1218482"/>
                </a:lnTo>
                <a:lnTo>
                  <a:pt x="3733313" y="1220349"/>
                </a:lnTo>
              </a:path>
              <a:path w="4332605" h="1220470">
                <a:moveTo>
                  <a:pt x="4332540" y="0"/>
                </a:moveTo>
                <a:lnTo>
                  <a:pt x="4257836" y="109"/>
                </a:lnTo>
                <a:lnTo>
                  <a:pt x="4183563" y="436"/>
                </a:lnTo>
                <a:lnTo>
                  <a:pt x="4109729" y="978"/>
                </a:lnTo>
                <a:lnTo>
                  <a:pt x="4036339" y="1732"/>
                </a:lnTo>
                <a:lnTo>
                  <a:pt x="3963400" y="2696"/>
                </a:lnTo>
                <a:lnTo>
                  <a:pt x="3890918" y="3866"/>
                </a:lnTo>
                <a:lnTo>
                  <a:pt x="3818900" y="5241"/>
                </a:lnTo>
                <a:lnTo>
                  <a:pt x="3747352" y="6817"/>
                </a:lnTo>
                <a:lnTo>
                  <a:pt x="3676281" y="8593"/>
                </a:lnTo>
                <a:lnTo>
                  <a:pt x="3605692" y="10564"/>
                </a:lnTo>
                <a:lnTo>
                  <a:pt x="3535592" y="12729"/>
                </a:lnTo>
                <a:lnTo>
                  <a:pt x="3465987" y="15085"/>
                </a:lnTo>
                <a:lnTo>
                  <a:pt x="3396885" y="17630"/>
                </a:lnTo>
                <a:lnTo>
                  <a:pt x="3328291" y="20360"/>
                </a:lnTo>
                <a:lnTo>
                  <a:pt x="3260211" y="23273"/>
                </a:lnTo>
                <a:lnTo>
                  <a:pt x="3192652" y="26366"/>
                </a:lnTo>
                <a:lnTo>
                  <a:pt x="3125621" y="29637"/>
                </a:lnTo>
                <a:lnTo>
                  <a:pt x="3059124" y="33083"/>
                </a:lnTo>
                <a:lnTo>
                  <a:pt x="2993166" y="36702"/>
                </a:lnTo>
                <a:lnTo>
                  <a:pt x="2927755" y="40490"/>
                </a:lnTo>
                <a:lnTo>
                  <a:pt x="2862897" y="44445"/>
                </a:lnTo>
                <a:lnTo>
                  <a:pt x="2798599" y="48565"/>
                </a:lnTo>
                <a:lnTo>
                  <a:pt x="2734866" y="52847"/>
                </a:lnTo>
                <a:lnTo>
                  <a:pt x="2671705" y="57287"/>
                </a:lnTo>
                <a:lnTo>
                  <a:pt x="2609122" y="61884"/>
                </a:lnTo>
                <a:lnTo>
                  <a:pt x="2547124" y="66635"/>
                </a:lnTo>
                <a:lnTo>
                  <a:pt x="2485717" y="71538"/>
                </a:lnTo>
                <a:lnTo>
                  <a:pt x="2424908" y="76588"/>
                </a:lnTo>
                <a:lnTo>
                  <a:pt x="2364702" y="81785"/>
                </a:lnTo>
                <a:lnTo>
                  <a:pt x="2305107" y="87125"/>
                </a:lnTo>
                <a:lnTo>
                  <a:pt x="2246128" y="92605"/>
                </a:lnTo>
                <a:lnTo>
                  <a:pt x="2187773" y="98223"/>
                </a:lnTo>
                <a:lnTo>
                  <a:pt x="2130046" y="103977"/>
                </a:lnTo>
                <a:lnTo>
                  <a:pt x="2072956" y="109863"/>
                </a:lnTo>
                <a:lnTo>
                  <a:pt x="2016508" y="115879"/>
                </a:lnTo>
                <a:lnTo>
                  <a:pt x="1960708" y="122022"/>
                </a:lnTo>
                <a:lnTo>
                  <a:pt x="1905563" y="128291"/>
                </a:lnTo>
                <a:lnTo>
                  <a:pt x="1851079" y="134681"/>
                </a:lnTo>
                <a:lnTo>
                  <a:pt x="1797263" y="141190"/>
                </a:lnTo>
                <a:lnTo>
                  <a:pt x="1744121" y="147816"/>
                </a:lnTo>
                <a:lnTo>
                  <a:pt x="1691659" y="154556"/>
                </a:lnTo>
                <a:lnTo>
                  <a:pt x="1639884" y="161408"/>
                </a:lnTo>
                <a:lnTo>
                  <a:pt x="1588802" y="168368"/>
                </a:lnTo>
                <a:lnTo>
                  <a:pt x="1538420" y="175434"/>
                </a:lnTo>
                <a:lnTo>
                  <a:pt x="1488744" y="182604"/>
                </a:lnTo>
                <a:lnTo>
                  <a:pt x="1439779" y="189875"/>
                </a:lnTo>
                <a:lnTo>
                  <a:pt x="1391534" y="197244"/>
                </a:lnTo>
                <a:lnTo>
                  <a:pt x="1344013" y="204708"/>
                </a:lnTo>
                <a:lnTo>
                  <a:pt x="1297224" y="212265"/>
                </a:lnTo>
                <a:lnTo>
                  <a:pt x="1251173" y="219912"/>
                </a:lnTo>
                <a:lnTo>
                  <a:pt x="1205865" y="227647"/>
                </a:lnTo>
                <a:lnTo>
                  <a:pt x="1161308" y="235466"/>
                </a:lnTo>
                <a:lnTo>
                  <a:pt x="1117509" y="243368"/>
                </a:lnTo>
                <a:lnTo>
                  <a:pt x="1074472" y="251350"/>
                </a:lnTo>
                <a:lnTo>
                  <a:pt x="1032205" y="259408"/>
                </a:lnTo>
                <a:lnTo>
                  <a:pt x="990714" y="267540"/>
                </a:lnTo>
                <a:lnTo>
                  <a:pt x="950005" y="275745"/>
                </a:lnTo>
                <a:lnTo>
                  <a:pt x="910085" y="284018"/>
                </a:lnTo>
                <a:lnTo>
                  <a:pt x="870960" y="292357"/>
                </a:lnTo>
                <a:lnTo>
                  <a:pt x="832637" y="300760"/>
                </a:lnTo>
                <a:lnTo>
                  <a:pt x="795122" y="309224"/>
                </a:lnTo>
                <a:lnTo>
                  <a:pt x="722540" y="326325"/>
                </a:lnTo>
                <a:lnTo>
                  <a:pt x="653266" y="343638"/>
                </a:lnTo>
                <a:lnTo>
                  <a:pt x="587352" y="361141"/>
                </a:lnTo>
                <a:lnTo>
                  <a:pt x="524847" y="378815"/>
                </a:lnTo>
                <a:lnTo>
                  <a:pt x="465803" y="396637"/>
                </a:lnTo>
                <a:lnTo>
                  <a:pt x="410272" y="414586"/>
                </a:lnTo>
                <a:lnTo>
                  <a:pt x="358303" y="432641"/>
                </a:lnTo>
                <a:lnTo>
                  <a:pt x="309948" y="450782"/>
                </a:lnTo>
                <a:lnTo>
                  <a:pt x="265259" y="468986"/>
                </a:lnTo>
                <a:lnTo>
                  <a:pt x="224285" y="487232"/>
                </a:lnTo>
                <a:lnTo>
                  <a:pt x="187079" y="505499"/>
                </a:lnTo>
                <a:lnTo>
                  <a:pt x="135498" y="534649"/>
                </a:lnTo>
                <a:lnTo>
                  <a:pt x="93104" y="563711"/>
                </a:lnTo>
                <a:lnTo>
                  <a:pt x="59356" y="592602"/>
                </a:lnTo>
                <a:lnTo>
                  <a:pt x="33712" y="621233"/>
                </a:lnTo>
                <a:lnTo>
                  <a:pt x="4575" y="677374"/>
                </a:lnTo>
                <a:lnTo>
                  <a:pt x="0" y="704711"/>
                </a:lnTo>
                <a:lnTo>
                  <a:pt x="1366" y="731444"/>
                </a:lnTo>
                <a:lnTo>
                  <a:pt x="19758" y="782754"/>
                </a:lnTo>
                <a:lnTo>
                  <a:pt x="55426" y="830612"/>
                </a:lnTo>
                <a:lnTo>
                  <a:pt x="104041" y="874328"/>
                </a:lnTo>
                <a:lnTo>
                  <a:pt x="161278" y="913213"/>
                </a:lnTo>
                <a:lnTo>
                  <a:pt x="222809" y="946575"/>
                </a:lnTo>
                <a:lnTo>
                  <a:pt x="284307" y="973725"/>
                </a:lnTo>
                <a:lnTo>
                  <a:pt x="341446" y="993973"/>
                </a:lnTo>
                <a:lnTo>
                  <a:pt x="389899" y="1006628"/>
                </a:lnTo>
                <a:lnTo>
                  <a:pt x="409517" y="1009892"/>
                </a:lnTo>
                <a:lnTo>
                  <a:pt x="425340" y="101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01749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7" y="0"/>
                </a:lnTo>
                <a:lnTo>
                  <a:pt x="3040715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Рекомендательные системы</a:t>
            </a:r>
          </a:p>
        </p:txBody>
      </p:sp>
      <p:sp>
        <p:nvSpPr>
          <p:cNvPr id="18" name="object 18"/>
          <p:cNvSpPr/>
          <p:nvPr/>
        </p:nvSpPr>
        <p:spPr>
          <a:xfrm>
            <a:off x="870483" y="2137452"/>
            <a:ext cx="7710805" cy="2184400"/>
          </a:xfrm>
          <a:custGeom>
            <a:avLst/>
            <a:gdLst/>
            <a:ahLst/>
            <a:cxnLst/>
            <a:rect l="l" t="t" r="r" b="b"/>
            <a:pathLst>
              <a:path w="7710805" h="2184400">
                <a:moveTo>
                  <a:pt x="6538599" y="0"/>
                </a:moveTo>
                <a:lnTo>
                  <a:pt x="6604000" y="1019"/>
                </a:lnTo>
                <a:lnTo>
                  <a:pt x="6668319" y="4025"/>
                </a:lnTo>
                <a:lnTo>
                  <a:pt x="6731475" y="8937"/>
                </a:lnTo>
                <a:lnTo>
                  <a:pt x="6793390" y="15677"/>
                </a:lnTo>
                <a:lnTo>
                  <a:pt x="6853985" y="24164"/>
                </a:lnTo>
                <a:lnTo>
                  <a:pt x="6913181" y="34320"/>
                </a:lnTo>
                <a:lnTo>
                  <a:pt x="6970897" y="46065"/>
                </a:lnTo>
                <a:lnTo>
                  <a:pt x="7027055" y="59319"/>
                </a:lnTo>
                <a:lnTo>
                  <a:pt x="7081576" y="74004"/>
                </a:lnTo>
                <a:lnTo>
                  <a:pt x="7134380" y="90039"/>
                </a:lnTo>
                <a:lnTo>
                  <a:pt x="7185389" y="107345"/>
                </a:lnTo>
                <a:lnTo>
                  <a:pt x="7234522" y="125843"/>
                </a:lnTo>
                <a:lnTo>
                  <a:pt x="7281701" y="145453"/>
                </a:lnTo>
                <a:lnTo>
                  <a:pt x="7326847" y="166095"/>
                </a:lnTo>
                <a:lnTo>
                  <a:pt x="7369880" y="187692"/>
                </a:lnTo>
                <a:lnTo>
                  <a:pt x="7410721" y="210162"/>
                </a:lnTo>
                <a:lnTo>
                  <a:pt x="7449291" y="233426"/>
                </a:lnTo>
                <a:lnTo>
                  <a:pt x="7485511" y="257406"/>
                </a:lnTo>
                <a:lnTo>
                  <a:pt x="7519301" y="282021"/>
                </a:lnTo>
                <a:lnTo>
                  <a:pt x="7550582" y="307192"/>
                </a:lnTo>
                <a:lnTo>
                  <a:pt x="7579275" y="332840"/>
                </a:lnTo>
                <a:lnTo>
                  <a:pt x="7628579" y="385248"/>
                </a:lnTo>
                <a:lnTo>
                  <a:pt x="7666581" y="438610"/>
                </a:lnTo>
                <a:lnTo>
                  <a:pt x="7700257" y="515234"/>
                </a:lnTo>
                <a:lnTo>
                  <a:pt x="7709805" y="564510"/>
                </a:lnTo>
                <a:lnTo>
                  <a:pt x="7710791" y="612768"/>
                </a:lnTo>
                <a:lnTo>
                  <a:pt x="7704217" y="659500"/>
                </a:lnTo>
                <a:lnTo>
                  <a:pt x="7691085" y="704196"/>
                </a:lnTo>
                <a:lnTo>
                  <a:pt x="7672397" y="746348"/>
                </a:lnTo>
                <a:lnTo>
                  <a:pt x="7649154" y="785446"/>
                </a:lnTo>
                <a:lnTo>
                  <a:pt x="7622360" y="820983"/>
                </a:lnTo>
                <a:lnTo>
                  <a:pt x="7593014" y="852448"/>
                </a:lnTo>
                <a:lnTo>
                  <a:pt x="7562121" y="879334"/>
                </a:lnTo>
                <a:lnTo>
                  <a:pt x="7530680" y="901130"/>
                </a:lnTo>
                <a:lnTo>
                  <a:pt x="7470168" y="927422"/>
                </a:lnTo>
                <a:lnTo>
                  <a:pt x="7443099" y="930899"/>
                </a:lnTo>
              </a:path>
              <a:path w="7710805" h="2184400">
                <a:moveTo>
                  <a:pt x="4969816" y="930831"/>
                </a:moveTo>
                <a:lnTo>
                  <a:pt x="4898757" y="931386"/>
                </a:lnTo>
                <a:lnTo>
                  <a:pt x="4831532" y="933009"/>
                </a:lnTo>
                <a:lnTo>
                  <a:pt x="4767914" y="935636"/>
                </a:lnTo>
                <a:lnTo>
                  <a:pt x="4707678" y="939206"/>
                </a:lnTo>
                <a:lnTo>
                  <a:pt x="4650598" y="943655"/>
                </a:lnTo>
                <a:lnTo>
                  <a:pt x="4596449" y="948920"/>
                </a:lnTo>
                <a:lnTo>
                  <a:pt x="4545006" y="954939"/>
                </a:lnTo>
                <a:lnTo>
                  <a:pt x="4496043" y="961649"/>
                </a:lnTo>
                <a:lnTo>
                  <a:pt x="4449335" y="968988"/>
                </a:lnTo>
                <a:lnTo>
                  <a:pt x="4404655" y="976891"/>
                </a:lnTo>
                <a:lnTo>
                  <a:pt x="4361780" y="985297"/>
                </a:lnTo>
                <a:lnTo>
                  <a:pt x="4320483" y="994142"/>
                </a:lnTo>
                <a:lnTo>
                  <a:pt x="4280538" y="1003365"/>
                </a:lnTo>
                <a:lnTo>
                  <a:pt x="4241721" y="1012901"/>
                </a:lnTo>
                <a:lnTo>
                  <a:pt x="4203805" y="1022689"/>
                </a:lnTo>
                <a:lnTo>
                  <a:pt x="4166567" y="1032665"/>
                </a:lnTo>
                <a:lnTo>
                  <a:pt x="4129778" y="1042767"/>
                </a:lnTo>
                <a:lnTo>
                  <a:pt x="4056653" y="1063096"/>
                </a:lnTo>
                <a:lnTo>
                  <a:pt x="4019865" y="1073198"/>
                </a:lnTo>
                <a:lnTo>
                  <a:pt x="3982626" y="1083174"/>
                </a:lnTo>
                <a:lnTo>
                  <a:pt x="3944711" y="1092961"/>
                </a:lnTo>
                <a:lnTo>
                  <a:pt x="3905894" y="1102498"/>
                </a:lnTo>
                <a:lnTo>
                  <a:pt x="3865949" y="1111720"/>
                </a:lnTo>
                <a:lnTo>
                  <a:pt x="3824652" y="1120566"/>
                </a:lnTo>
                <a:lnTo>
                  <a:pt x="3781776" y="1128972"/>
                </a:lnTo>
                <a:lnTo>
                  <a:pt x="3737097" y="1136875"/>
                </a:lnTo>
                <a:lnTo>
                  <a:pt x="3690389" y="1144213"/>
                </a:lnTo>
                <a:lnTo>
                  <a:pt x="3641426" y="1150923"/>
                </a:lnTo>
                <a:lnTo>
                  <a:pt x="3589983" y="1156943"/>
                </a:lnTo>
                <a:lnTo>
                  <a:pt x="3535834" y="1162208"/>
                </a:lnTo>
                <a:lnTo>
                  <a:pt x="3478754" y="1166657"/>
                </a:lnTo>
                <a:lnTo>
                  <a:pt x="3418518" y="1170227"/>
                </a:lnTo>
                <a:lnTo>
                  <a:pt x="3354900" y="1172854"/>
                </a:lnTo>
                <a:lnTo>
                  <a:pt x="3287674" y="1174477"/>
                </a:lnTo>
                <a:lnTo>
                  <a:pt x="3216616" y="1175031"/>
                </a:lnTo>
              </a:path>
              <a:path w="7710805" h="2184400">
                <a:moveTo>
                  <a:pt x="246017" y="1174934"/>
                </a:moveTo>
                <a:lnTo>
                  <a:pt x="188605" y="1191926"/>
                </a:lnTo>
                <a:lnTo>
                  <a:pt x="130113" y="1239225"/>
                </a:lnTo>
                <a:lnTo>
                  <a:pt x="102260" y="1272518"/>
                </a:lnTo>
                <a:lnTo>
                  <a:pt x="76297" y="1311322"/>
                </a:lnTo>
                <a:lnTo>
                  <a:pt x="52942" y="1354948"/>
                </a:lnTo>
                <a:lnTo>
                  <a:pt x="32915" y="1402706"/>
                </a:lnTo>
                <a:lnTo>
                  <a:pt x="16936" y="1453909"/>
                </a:lnTo>
                <a:lnTo>
                  <a:pt x="5724" y="1507867"/>
                </a:lnTo>
                <a:lnTo>
                  <a:pt x="0" y="1563891"/>
                </a:lnTo>
                <a:lnTo>
                  <a:pt x="482" y="1621294"/>
                </a:lnTo>
                <a:lnTo>
                  <a:pt x="7890" y="1679384"/>
                </a:lnTo>
                <a:lnTo>
                  <a:pt x="17880" y="1721379"/>
                </a:lnTo>
                <a:lnTo>
                  <a:pt x="31687" y="1763114"/>
                </a:lnTo>
                <a:lnTo>
                  <a:pt x="49138" y="1804329"/>
                </a:lnTo>
                <a:lnTo>
                  <a:pt x="70061" y="1844767"/>
                </a:lnTo>
                <a:lnTo>
                  <a:pt x="94284" y="1884166"/>
                </a:lnTo>
                <a:lnTo>
                  <a:pt x="121635" y="1922268"/>
                </a:lnTo>
                <a:lnTo>
                  <a:pt x="151942" y="1958813"/>
                </a:lnTo>
                <a:lnTo>
                  <a:pt x="185033" y="1993541"/>
                </a:lnTo>
                <a:lnTo>
                  <a:pt x="220736" y="2026194"/>
                </a:lnTo>
                <a:lnTo>
                  <a:pt x="258879" y="2056511"/>
                </a:lnTo>
                <a:lnTo>
                  <a:pt x="299290" y="2084233"/>
                </a:lnTo>
                <a:lnTo>
                  <a:pt x="341797" y="2109101"/>
                </a:lnTo>
                <a:lnTo>
                  <a:pt x="386227" y="2130855"/>
                </a:lnTo>
                <a:lnTo>
                  <a:pt x="432410" y="2149236"/>
                </a:lnTo>
                <a:lnTo>
                  <a:pt x="480172" y="2163983"/>
                </a:lnTo>
                <a:lnTo>
                  <a:pt x="529342" y="2174839"/>
                </a:lnTo>
                <a:lnTo>
                  <a:pt x="579748" y="2181542"/>
                </a:lnTo>
                <a:lnTo>
                  <a:pt x="631217" y="218383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3000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8" y="0"/>
                </a:lnTo>
                <a:lnTo>
                  <a:pt x="3040714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Проектная работа</a:t>
            </a:r>
          </a:p>
        </p:txBody>
      </p:sp>
      <p:sp>
        <p:nvSpPr>
          <p:cNvPr id="21" name="object 21"/>
          <p:cNvSpPr/>
          <p:nvPr/>
        </p:nvSpPr>
        <p:spPr>
          <a:xfrm>
            <a:off x="4585449" y="432124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6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15558" y="1726124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Вводный урок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08662" y="220004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15557" y="267395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2335" y="3621792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90969" y="1599534"/>
            <a:ext cx="240405" cy="4087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50562" y="1839941"/>
            <a:ext cx="714322" cy="4018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17051" y="2073451"/>
            <a:ext cx="1188239" cy="4087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523" y="2543979"/>
            <a:ext cx="2136073" cy="41555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02224"/>
              </p:ext>
            </p:extLst>
          </p:nvPr>
        </p:nvGraphicFramePr>
        <p:xfrm>
          <a:off x="4495800" y="573874"/>
          <a:ext cx="3086874" cy="365760"/>
        </p:xfrm>
        <a:graphic>
          <a:graphicData uri="http://schemas.openxmlformats.org/drawingml/2006/table">
            <a:tbl>
              <a:tblPr firstRow="1" bandRow="1"/>
              <a:tblGrid>
                <a:gridCol w="4409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490757732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1652086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608774" y="405342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6" name="Google Shape;271;p44">
            <a:extLst>
              <a:ext uri="{FF2B5EF4-FFF2-40B4-BE49-F238E27FC236}">
                <a16:creationId xmlns:a16="http://schemas.microsoft.com/office/drawing/2014/main" id="{F60BC49E-A536-B34B-AF24-8AFC035465EB}"/>
              </a:ext>
            </a:extLst>
          </p:cNvPr>
          <p:cNvSpPr/>
          <p:nvPr/>
        </p:nvSpPr>
        <p:spPr>
          <a:xfrm>
            <a:off x="2236006" y="409570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7" name="Google Shape;271;p44">
            <a:extLst>
              <a:ext uri="{FF2B5EF4-FFF2-40B4-BE49-F238E27FC236}">
                <a16:creationId xmlns:a16="http://schemas.microsoft.com/office/drawing/2014/main" id="{B8247EF9-F349-4047-B64B-B24CAB779659}"/>
              </a:ext>
            </a:extLst>
          </p:cNvPr>
          <p:cNvSpPr/>
          <p:nvPr/>
        </p:nvSpPr>
        <p:spPr>
          <a:xfrm>
            <a:off x="2236005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67571" y="4127861"/>
            <a:ext cx="324002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6B1FC711-FBE3-434C-AEF7-F2DA3AA51B14}"/>
              </a:ext>
            </a:extLst>
          </p:cNvPr>
          <p:cNvCxnSpPr>
            <a:cxnSpLocks/>
            <a:stCxn id="271" idx="2"/>
            <a:endCxn id="36" idx="1"/>
          </p:cNvCxnSpPr>
          <p:nvPr/>
        </p:nvCxnSpPr>
        <p:spPr>
          <a:xfrm rot="16200000" flipH="1">
            <a:off x="716400" y="2774103"/>
            <a:ext cx="2609990" cy="4292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0880369-3A08-E74F-921D-8DDC467E8498}"/>
              </a:ext>
            </a:extLst>
          </p:cNvPr>
          <p:cNvCxnSpPr>
            <a:cxnSpLocks/>
            <a:stCxn id="271" idx="2"/>
            <a:endCxn id="37" idx="1"/>
          </p:cNvCxnSpPr>
          <p:nvPr/>
        </p:nvCxnSpPr>
        <p:spPr>
          <a:xfrm rot="16200000" flipH="1">
            <a:off x="479441" y="3011061"/>
            <a:ext cx="3083907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202A737D-E7DC-8C41-BE46-91412B9E7E94}"/>
              </a:ext>
            </a:extLst>
          </p:cNvPr>
          <p:cNvSpPr/>
          <p:nvPr/>
        </p:nvSpPr>
        <p:spPr>
          <a:xfrm>
            <a:off x="2236005" y="3147875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3E77C231-10B1-314C-9215-CB3F9F5ABE27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1190316" y="2300186"/>
            <a:ext cx="1662156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Идея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39029" y="2307417"/>
            <a:ext cx="3556275" cy="564297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Градиентный </a:t>
            </a:r>
            <a:r>
              <a:rPr lang="ru-RU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бустинг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над деревьями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06474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Гиперпараметры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H="1" flipV="1">
            <a:off x="739029" y="2589566"/>
            <a:ext cx="1210" cy="663282"/>
          </a:xfrm>
          <a:prstGeom prst="curvedConnector3">
            <a:avLst>
              <a:gd name="adj1" fmla="val -1889256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7280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XGBoost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CatBoost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252847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73818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Последовательное улучшение</a:t>
            </a: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39029" y="1926286"/>
            <a:ext cx="1210" cy="663280"/>
          </a:xfrm>
          <a:prstGeom prst="curvedConnector3">
            <a:avLst>
              <a:gd name="adj1" fmla="val 1899256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применения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916128"/>
            <a:ext cx="1" cy="66328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4168776535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метод градиентного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бустинга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применять современные библиотеки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2092894784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применять методы градиентного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бустинга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en-US" dirty="0"/>
              <a:t>Gradient boosting</a:t>
            </a:r>
            <a:br>
              <a:rPr lang="en-US" dirty="0"/>
            </a:br>
            <a:br>
              <a:rPr lang="en-US" dirty="0"/>
            </a:br>
            <a:r>
              <a:rPr lang="ru-RU" sz="3200" dirty="0"/>
              <a:t>идея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9685-B50A-204E-9954-8694A6CC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vs Boosting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D1D66-0E28-D54B-8976-48D245B5B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9" y="1200150"/>
            <a:ext cx="79502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3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4EA5C2-64F5-DC4B-A1B7-58A58689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90" y="895350"/>
            <a:ext cx="7306019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1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B8E2-3D51-BE44-BF02-785CC901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– </a:t>
            </a:r>
            <a:r>
              <a:rPr lang="ru-RU" dirty="0"/>
              <a:t>Последовательное улучшение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BC3938-2419-1E46-9A5A-DFDAD3A4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25190"/>
            <a:ext cx="5138941" cy="318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6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CE78-6E50-0148-BA9E-074ABC41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- </a:t>
            </a:r>
            <a:r>
              <a:rPr lang="en-US" dirty="0"/>
              <a:t>AdaBoost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86F0A7-6EA2-7B43-A080-A29A525202B8}"/>
                  </a:ext>
                </a:extLst>
              </p:cNvPr>
              <p:cNvSpPr txBox="1"/>
              <p:nvPr/>
            </p:nvSpPr>
            <p:spPr>
              <a:xfrm>
                <a:off x="500550" y="1123950"/>
                <a:ext cx="8414850" cy="3984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последовательное приближение решения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- </a:t>
                </a:r>
                <a:r>
                  <a:rPr lang="ru-RU" dirty="0"/>
                  <a:t>функция потерь</a:t>
                </a:r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Построим </a:t>
                </a:r>
                <a:r>
                  <a:rPr lang="ru-RU" b="1" dirty="0">
                    <a:solidFill>
                      <a:srgbClr val="0070C0"/>
                    </a:solidFill>
                  </a:rPr>
                  <a:t>первое</a:t>
                </a:r>
                <a:r>
                  <a:rPr lang="ru-RU" dirty="0"/>
                  <a:t> приближение: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ℬ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ru-RU" dirty="0"/>
                  <a:t> </a:t>
                </a:r>
                <a:r>
                  <a:rPr lang="ru-RU" b="1" dirty="0"/>
                  <a:t>на исходных </a:t>
                </a:r>
                <a:r>
                  <a:rPr lang="ru-RU" dirty="0"/>
                  <a:t>данных и вычислим ошибки: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ru-RU" b="0" dirty="0"/>
                  <a:t>Построим </a:t>
                </a:r>
                <a:r>
                  <a:rPr lang="ru-RU" b="1" dirty="0">
                    <a:solidFill>
                      <a:srgbClr val="00B050"/>
                    </a:solidFill>
                  </a:rPr>
                  <a:t>второе</a:t>
                </a:r>
                <a:r>
                  <a:rPr lang="ru-RU" b="0" dirty="0"/>
                  <a:t> приближение </a:t>
                </a:r>
                <a:r>
                  <a:rPr lang="ru-RU" b="1" dirty="0">
                    <a:solidFill>
                      <a:srgbClr val="0070C0"/>
                    </a:solidFill>
                  </a:rPr>
                  <a:t>на ошибках первого</a:t>
                </a:r>
                <a:r>
                  <a:rPr lang="ru-RU" b="0" dirty="0"/>
                  <a:t>: </a:t>
                </a:r>
                <a:br>
                  <a:rPr lang="ru-RU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ℬ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ru-RU" dirty="0"/>
                  <a:t> и вычислим его ошибки: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…</a:t>
                </a:r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Приближение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на ошибках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ℬ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/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86F0A7-6EA2-7B43-A080-A29A52520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123950"/>
                <a:ext cx="8414850" cy="3984360"/>
              </a:xfrm>
              <a:prstGeom prst="rect">
                <a:avLst/>
              </a:prstGeom>
              <a:blipFill>
                <a:blip r:embed="rId2"/>
                <a:stretch>
                  <a:fillRect l="-452" t="-635" r="-904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E95ABA-351C-134D-B98F-F25A6A8B4A24}"/>
              </a:ext>
            </a:extLst>
          </p:cNvPr>
          <p:cNvSpPr/>
          <p:nvPr/>
        </p:nvSpPr>
        <p:spPr>
          <a:xfrm>
            <a:off x="2971800" y="2343150"/>
            <a:ext cx="17526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D517ED-05FF-9040-AF8C-BE088DF9367E}"/>
              </a:ext>
            </a:extLst>
          </p:cNvPr>
          <p:cNvSpPr/>
          <p:nvPr/>
        </p:nvSpPr>
        <p:spPr>
          <a:xfrm>
            <a:off x="2743200" y="3181350"/>
            <a:ext cx="228600" cy="3048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A9FB80-D176-3540-8B38-145841EBB875}"/>
              </a:ext>
            </a:extLst>
          </p:cNvPr>
          <p:cNvSpPr/>
          <p:nvPr/>
        </p:nvSpPr>
        <p:spPr>
          <a:xfrm>
            <a:off x="6096000" y="3181350"/>
            <a:ext cx="1752600" cy="3048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95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53FD-DE65-4D4F-9D5F-79B9C424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ru-RU" dirty="0" err="1"/>
              <a:t>бустинга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80885-670E-4D48-A810-3FD1157993B3}"/>
              </a:ext>
            </a:extLst>
          </p:cNvPr>
          <p:cNvSpPr txBox="1"/>
          <p:nvPr/>
        </p:nvSpPr>
        <p:spPr>
          <a:xfrm>
            <a:off x="457200" y="1123950"/>
            <a:ext cx="85205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 err="1">
                <a:effectLst/>
                <a:latin typeface="SFSO1200"/>
              </a:rPr>
              <a:t>Бустинг</a:t>
            </a:r>
            <a:r>
              <a:rPr lang="ru-RU" sz="1800" dirty="0">
                <a:effectLst/>
                <a:latin typeface="SFSO1200"/>
              </a:rPr>
              <a:t> </a:t>
            </a:r>
            <a:r>
              <a:rPr lang="ru-RU" sz="1800" dirty="0">
                <a:effectLst/>
                <a:latin typeface="SFSI1200"/>
              </a:rPr>
              <a:t>- итерационный алгоритм, реализующий «</a:t>
            </a:r>
            <a:r>
              <a:rPr lang="ru-RU" sz="1800" dirty="0">
                <a:effectLst/>
                <a:latin typeface="SFSO1200"/>
              </a:rPr>
              <a:t>сильный»</a:t>
            </a:r>
            <a:r>
              <a:rPr lang="ru-RU" sz="1800" dirty="0">
                <a:effectLst/>
                <a:latin typeface="SFSI1200"/>
              </a:rPr>
              <a:t> классификатор, который позволяет добиться произвольно малой ошибки обучения на основе композиции «</a:t>
            </a:r>
            <a:r>
              <a:rPr lang="ru-RU" sz="1800" dirty="0">
                <a:effectLst/>
                <a:latin typeface="SFSO1200"/>
              </a:rPr>
              <a:t>слабых</a:t>
            </a:r>
            <a:r>
              <a:rPr lang="ru-RU" sz="1800" dirty="0">
                <a:effectLst/>
                <a:latin typeface="SFSI1200"/>
              </a:rPr>
              <a:t>» классификаторов, кажды</a:t>
            </a:r>
            <a:r>
              <a:rPr lang="ru-RU" dirty="0">
                <a:latin typeface="SFSI1200"/>
              </a:rPr>
              <a:t>й</a:t>
            </a:r>
            <a:r>
              <a:rPr lang="ru-RU" sz="1800" dirty="0">
                <a:effectLst/>
                <a:latin typeface="SFSI1200"/>
              </a:rPr>
              <a:t> из которых немного лучше, чем просто угадывание. </a:t>
            </a:r>
            <a:endParaRPr lang="en-US" sz="1800" dirty="0">
              <a:effectLst/>
              <a:latin typeface="SFSI1200"/>
            </a:endParaRPr>
          </a:p>
          <a:p>
            <a:pPr>
              <a:spcAft>
                <a:spcPts val="1200"/>
              </a:spcAft>
            </a:pPr>
            <a:r>
              <a:rPr lang="ru-RU" sz="1800" dirty="0">
                <a:effectLst/>
                <a:latin typeface="SFSS1200"/>
              </a:rPr>
              <a:t>Базовые классификаторы должны быть слабыми, из сильных хорошую композицию не построить («бритва Оккама») </a:t>
            </a:r>
            <a:endParaRPr lang="ru-RU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SFSS1095"/>
              </a:rPr>
              <a:t>сильный классификатор, давая нулевую ошибку на обучающих данных, не адаптируется и композиция будет состоять из одного классификатора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SFSS1095"/>
              </a:rPr>
              <a:t>один, даже сильный, классификатор может дать «плохое» предсказание на данных тестирования, давая «хорошие» результаты на обучающих данных. 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067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2643BA-A9A6-BC40-9E6A-6DD333058F8D}"/>
              </a:ext>
            </a:extLst>
          </p:cNvPr>
          <p:cNvGrpSpPr/>
          <p:nvPr/>
        </p:nvGrpSpPr>
        <p:grpSpPr>
          <a:xfrm>
            <a:off x="381000" y="1047750"/>
            <a:ext cx="5105400" cy="3729682"/>
            <a:chOff x="1219200" y="1123950"/>
            <a:chExt cx="4724400" cy="37296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43173A2-C31D-454C-91C1-1AABFA9A07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8" t="24000" r="29125"/>
            <a:stretch/>
          </p:blipFill>
          <p:spPr>
            <a:xfrm>
              <a:off x="1524000" y="1123950"/>
              <a:ext cx="4419600" cy="34988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B2B6687-4CF0-0D46-939E-DE1E70F806BF}"/>
                    </a:ext>
                  </a:extLst>
                </p:cNvPr>
                <p:cNvSpPr txBox="1"/>
                <p:nvPr/>
              </p:nvSpPr>
              <p:spPr>
                <a:xfrm>
                  <a:off x="1219200" y="1448998"/>
                  <a:ext cx="4444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B2B6687-4CF0-0D46-939E-DE1E70F80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1448998"/>
                  <a:ext cx="444481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D2ED84-AE55-1540-9668-C511BFF99EE5}"/>
                    </a:ext>
                  </a:extLst>
                </p:cNvPr>
                <p:cNvSpPr txBox="1"/>
                <p:nvPr/>
              </p:nvSpPr>
              <p:spPr>
                <a:xfrm>
                  <a:off x="5105400" y="4391967"/>
                  <a:ext cx="4444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D2ED84-AE55-1540-9668-C511BFF99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4391967"/>
                  <a:ext cx="44448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FCC3D7F-95A0-2745-8274-A9DDFC53F951}"/>
              </a:ext>
            </a:extLst>
          </p:cNvPr>
          <p:cNvSpPr txBox="1"/>
          <p:nvPr/>
        </p:nvSpPr>
        <p:spPr>
          <a:xfrm>
            <a:off x="4648199" y="1446456"/>
            <a:ext cx="43729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Строим алгоритмы последовательно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Каждый следующий строится на ошибках предыдущего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Решение принимается методом взвешенного голосования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3F5E5-A7DD-BF44-BE76-EC356A99B7FE}"/>
              </a:ext>
            </a:extLst>
          </p:cNvPr>
          <p:cNvSpPr txBox="1"/>
          <p:nvPr/>
        </p:nvSpPr>
        <p:spPr>
          <a:xfrm>
            <a:off x="3733800" y="1058362"/>
            <a:ext cx="52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Градиентный </a:t>
            </a:r>
            <a:r>
              <a:rPr lang="ru-RU" b="1" dirty="0" err="1"/>
              <a:t>бустинг</a:t>
            </a:r>
            <a:r>
              <a:rPr lang="ru-RU" b="1" dirty="0"/>
              <a:t> над решающими деревьями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2280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41E3-7F1F-9D4C-967E-6311ED07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градиентного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32127-174C-E94D-85EB-AF2AA0A4C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47749"/>
            <a:ext cx="5334000" cy="38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58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41E3-7F1F-9D4C-967E-6311ED07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градиентного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BB99CE-703E-4040-BCB5-C6648018F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190608"/>
            <a:ext cx="6502400" cy="181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8128D3-47EF-7E48-8B27-0CD5868CEBA6}"/>
              </a:ext>
            </a:extLst>
          </p:cNvPr>
          <p:cNvSpPr txBox="1"/>
          <p:nvPr/>
        </p:nvSpPr>
        <p:spPr>
          <a:xfrm>
            <a:off x="304800" y="1913992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Первый шаг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EDDD8-371A-9848-9CC6-7D5296271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220222"/>
            <a:ext cx="6413500" cy="179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5B76A-6A8B-B849-ADCA-423FF631D70C}"/>
              </a:ext>
            </a:extLst>
          </p:cNvPr>
          <p:cNvSpPr txBox="1"/>
          <p:nvPr/>
        </p:nvSpPr>
        <p:spPr>
          <a:xfrm>
            <a:off x="304800" y="3930906"/>
            <a:ext cx="129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Второй шаг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86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41E3-7F1F-9D4C-967E-6311ED07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градиентного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F0C7C1-CFC3-1D46-ABCF-A2CF6268D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47750"/>
            <a:ext cx="7315200" cy="39172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48D262-D98C-3D44-9C15-EFFD45EA6A86}"/>
              </a:ext>
            </a:extLst>
          </p:cNvPr>
          <p:cNvSpPr txBox="1"/>
          <p:nvPr/>
        </p:nvSpPr>
        <p:spPr>
          <a:xfrm>
            <a:off x="304800" y="1913992"/>
            <a:ext cx="12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Третий шаг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CF6F82-5B68-2A45-A97C-46CEEF2D91E2}"/>
              </a:ext>
            </a:extLst>
          </p:cNvPr>
          <p:cNvSpPr txBox="1"/>
          <p:nvPr/>
        </p:nvSpPr>
        <p:spPr>
          <a:xfrm>
            <a:off x="304800" y="3930906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11-й шаг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53ADF-C7E2-7844-BAA1-9F6B4C749CFC}"/>
              </a:ext>
            </a:extLst>
          </p:cNvPr>
          <p:cNvSpPr txBox="1"/>
          <p:nvPr/>
        </p:nvSpPr>
        <p:spPr>
          <a:xfrm>
            <a:off x="401279" y="28895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15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AdaBoost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D6D5F7-B52A-834B-A19A-5A9527D71EF8}"/>
              </a:ext>
            </a:extLst>
          </p:cNvPr>
          <p:cNvSpPr txBox="1"/>
          <p:nvPr/>
        </p:nvSpPr>
        <p:spPr>
          <a:xfrm>
            <a:off x="6339891" y="1182927"/>
            <a:ext cx="2681259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Слишком эффективные или сложные классификаторы могут привести к переобучению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Чрезмерная чувствительность к выбросам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Громоздкие композиции из сотен алгоритмов не интерпретируемы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Требуются достаточно большие обучающие выборки </a:t>
            </a:r>
            <a:endParaRPr lang="en-US" sz="1200" dirty="0">
              <a:solidFill>
                <a:srgbClr val="C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Не удается строить короткие композиции из «сильных» алгоритмов типа </a:t>
            </a:r>
            <a:r>
              <a:rPr lang="en-US" sz="1200" dirty="0">
                <a:solidFill>
                  <a:srgbClr val="C00000"/>
                </a:solidFill>
              </a:rPr>
              <a:t>SVM (</a:t>
            </a:r>
            <a:r>
              <a:rPr lang="ru-RU" sz="1200" dirty="0">
                <a:solidFill>
                  <a:srgbClr val="C00000"/>
                </a:solidFill>
              </a:rPr>
              <a:t>только длинные из слабых)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00000"/>
                </a:solidFill>
              </a:rPr>
              <a:t>Слишком “слабые” слабые классификаторы плохо работают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57A5D-043C-2047-9AAF-ADA1B20BE362}"/>
              </a:ext>
            </a:extLst>
          </p:cNvPr>
          <p:cNvSpPr txBox="1"/>
          <p:nvPr/>
        </p:nvSpPr>
        <p:spPr>
          <a:xfrm>
            <a:off x="322532" y="1025746"/>
            <a:ext cx="2573068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Эффективный с вычислительной точки зрения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Позволяет решать сложные задачи, которые плохо решаются отдельными алгоритмами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Простой с точки зрения программирования Только один параметр настройки - число итераций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Не требует априорной информации о слабом классификаторе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Обеспечивает во многих случаях высокую точность прогнозирования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58D40"/>
                </a:solidFill>
              </a:rPr>
              <a:t>Прост для модификаций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347807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787506" y="3010905"/>
            <a:ext cx="1689494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75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1454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Современные реализации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1643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AF1A9-6149-154C-8669-5112647AE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76350"/>
            <a:ext cx="1625600" cy="584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F38796-3866-EC4D-86DA-9C4154EEE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087" y="2348454"/>
            <a:ext cx="2698226" cy="610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36CDD9-9453-3A49-A9A5-BEE2B100C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081859"/>
            <a:ext cx="2438400" cy="938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B2466-AD7A-5A4D-9D7F-84E46D48D5B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338"/>
          <a:stretch/>
        </p:blipFill>
        <p:spPr>
          <a:xfrm>
            <a:off x="2819400" y="3548653"/>
            <a:ext cx="3132871" cy="10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69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6B727D06-8F22-A54F-8FEE-0E7ABE970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721453"/>
              </p:ext>
            </p:extLst>
          </p:nvPr>
        </p:nvGraphicFramePr>
        <p:xfrm>
          <a:off x="607949" y="1047750"/>
          <a:ext cx="8305800" cy="3820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720964353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991149869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45976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98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rgbClr val="0E0E0E"/>
                          </a:solidFill>
                          <a:latin typeface="HelveticaNeue-Bold" panose="02000503000000020004" pitchFamily="2" charset="0"/>
                        </a:rPr>
                        <a:t>Разработчик</a:t>
                      </a:r>
                      <a:r>
                        <a:rPr lang="ru-RU" sz="1000" b="0" dirty="0">
                          <a:solidFill>
                            <a:srgbClr val="0E0E0E"/>
                          </a:solidFill>
                          <a:latin typeface=".SFNS-Regular"/>
                        </a:rPr>
                        <a:t>: </a:t>
                      </a:r>
                      <a:r>
                        <a:rPr lang="en-US" sz="1000" b="0" dirty="0">
                          <a:solidFill>
                            <a:srgbClr val="0E0E0E"/>
                          </a:solidFill>
                          <a:latin typeface=".SFNS-Regular"/>
                        </a:rPr>
                        <a:t>Tianqi Chen (</a:t>
                      </a:r>
                      <a:r>
                        <a:rPr lang="ru-RU" sz="1000" b="0" dirty="0">
                          <a:solidFill>
                            <a:srgbClr val="0E0E0E"/>
                          </a:solidFill>
                          <a:latin typeface=".SFNS-Regular"/>
                        </a:rPr>
                        <a:t>и команда </a:t>
                      </a:r>
                      <a:r>
                        <a:rPr lang="en-US" sz="1000" b="0" dirty="0">
                          <a:solidFill>
                            <a:srgbClr val="0E0E0E"/>
                          </a:solidFill>
                          <a:latin typeface=".SFNS-Regular"/>
                        </a:rPr>
                        <a:t>DMLC)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Разработчик:</a:t>
                      </a:r>
                      <a:r>
                        <a:rPr lang="ru-RU" sz="1000" dirty="0"/>
                        <a:t> </a:t>
                      </a:r>
                      <a:r>
                        <a:rPr lang="en-US" sz="1000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Разработчик:</a:t>
                      </a:r>
                      <a:r>
                        <a:rPr lang="ru-RU" sz="1000" dirty="0"/>
                        <a:t> Яндекс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3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 dirty="0"/>
                        <a:t>Особенности: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Поддержка предельно оптимизированного </a:t>
                      </a:r>
                      <a:r>
                        <a:rPr lang="ru-RU" sz="1000" dirty="0" err="1"/>
                        <a:t>бустинга</a:t>
                      </a:r>
                      <a:r>
                        <a:rPr lang="ru-RU" sz="1000" dirty="0"/>
                        <a:t>: продвинутый </a:t>
                      </a:r>
                      <a:r>
                        <a:rPr lang="ru-RU" sz="1000" dirty="0" err="1"/>
                        <a:t>бустинг</a:t>
                      </a:r>
                      <a:r>
                        <a:rPr lang="ru-RU" sz="1000" dirty="0"/>
                        <a:t> с регуляризацией </a:t>
                      </a:r>
                      <a:r>
                        <a:rPr lang="en-US" sz="1000" dirty="0"/>
                        <a:t>L1 </a:t>
                      </a:r>
                      <a:r>
                        <a:rPr lang="ru-RU" sz="1000" dirty="0"/>
                        <a:t>и </a:t>
                      </a:r>
                      <a:r>
                        <a:rPr lang="en-US" sz="1000" dirty="0"/>
                        <a:t>L2.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Обработка пропусков встроена.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Работает медленнее, чем </a:t>
                      </a:r>
                      <a:r>
                        <a:rPr lang="en-US" sz="1000" dirty="0"/>
                        <a:t>LGBM </a:t>
                      </a:r>
                      <a:r>
                        <a:rPr lang="ru-RU" sz="1000" dirty="0"/>
                        <a:t>и </a:t>
                      </a:r>
                      <a:r>
                        <a:rPr lang="en-US" sz="1000" dirty="0" err="1"/>
                        <a:t>CatBoost</a:t>
                      </a:r>
                      <a:r>
                        <a:rPr lang="en-US" sz="1000" dirty="0"/>
                        <a:t> </a:t>
                      </a:r>
                      <a:r>
                        <a:rPr lang="ru-RU" sz="1000" dirty="0"/>
                        <a:t>на больших данных, но очень стабилен и хорошо документирован.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Строит деревья в глубину (</a:t>
                      </a:r>
                      <a:r>
                        <a:rPr lang="en-US" sz="1000" dirty="0"/>
                        <a:t>depth-wise) — </a:t>
                      </a:r>
                      <a:r>
                        <a:rPr lang="ru-RU" sz="1000" dirty="0"/>
                        <a:t>выбирает узлы по максимальной «выигрышной» глубине.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Поддержка </a:t>
                      </a:r>
                      <a:r>
                        <a:rPr lang="en-US" sz="1000" dirty="0"/>
                        <a:t>custom objective functions.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Особенности: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Очень быстрый и эффективный по памяти, особенно на больших наборах данных.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Строит деревья по листьям (</a:t>
                      </a:r>
                      <a:r>
                        <a:rPr lang="en-US" sz="1000" dirty="0"/>
                        <a:t>leaf-wise), </a:t>
                      </a:r>
                      <a:r>
                        <a:rPr lang="ru-RU" sz="1000" dirty="0"/>
                        <a:t>а не по глубине — быстрее находит оптимальное разбиение, но требует контроля глубины (иначе можно переобучиться).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Поддерживает категориальные признаки напрямую (через </a:t>
                      </a:r>
                      <a:r>
                        <a:rPr lang="en-US" sz="1000" dirty="0" err="1"/>
                        <a:t>categorical_feature</a:t>
                      </a:r>
                      <a:r>
                        <a:rPr lang="en-US" sz="1000" dirty="0"/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Поддержка </a:t>
                      </a:r>
                      <a:r>
                        <a:rPr lang="en-US" sz="1000" dirty="0"/>
                        <a:t>histogram-based training — </a:t>
                      </a:r>
                      <a:r>
                        <a:rPr lang="ru-RU" sz="1000" dirty="0"/>
                        <a:t>данные сначала </a:t>
                      </a:r>
                      <a:r>
                        <a:rPr lang="ru-RU" sz="1000" dirty="0" err="1"/>
                        <a:t>дискретизируются</a:t>
                      </a:r>
                      <a:r>
                        <a:rPr lang="ru-RU" sz="1000" dirty="0"/>
                        <a:t> (</a:t>
                      </a:r>
                      <a:r>
                        <a:rPr lang="ru-RU" sz="1000" dirty="0" err="1"/>
                        <a:t>бининг</a:t>
                      </a:r>
                      <a:r>
                        <a:rPr lang="ru-RU" sz="1000" dirty="0"/>
                        <a:t>), что сильно ускоряет обучение.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Особенности: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Идеален для табличных данных с категориальными признаками — автоматически кодирует категориальные переменные по собственному алгоритму на основе </a:t>
                      </a:r>
                      <a:r>
                        <a:rPr lang="en-US" sz="1000" dirty="0"/>
                        <a:t>target statistics (</a:t>
                      </a:r>
                      <a:r>
                        <a:rPr lang="ru-RU" sz="1000" dirty="0"/>
                        <a:t>необычно и эффективно).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Менее чувствителен к порядку данных и не требует сильной предобработки (в отличие от </a:t>
                      </a:r>
                      <a:r>
                        <a:rPr lang="en-US" sz="1000" dirty="0"/>
                        <a:t>LGBM/</a:t>
                      </a:r>
                      <a:r>
                        <a:rPr lang="en-US" sz="1000" dirty="0" err="1"/>
                        <a:t>XGBoost</a:t>
                      </a:r>
                      <a:r>
                        <a:rPr lang="en-US" sz="1000" dirty="0"/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Использует схему обучения с порядком (</a:t>
                      </a:r>
                      <a:r>
                        <a:rPr lang="en-US" sz="1000" dirty="0"/>
                        <a:t>ordered boosting) — </a:t>
                      </a:r>
                      <a:r>
                        <a:rPr lang="ru-RU" sz="1000" dirty="0"/>
                        <a:t>защищает от утечек </a:t>
                      </a:r>
                      <a:r>
                        <a:rPr lang="ru-RU" sz="1000" dirty="0" err="1"/>
                        <a:t>таргета</a:t>
                      </a:r>
                      <a:r>
                        <a:rPr lang="ru-RU" sz="1000" dirty="0"/>
                        <a:t>.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1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 dirty="0"/>
                        <a:t>Минусы: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Не поддерживает категориальные признаки напрямую — нужно делать </a:t>
                      </a:r>
                      <a:r>
                        <a:rPr lang="en-US" sz="1000" dirty="0"/>
                        <a:t>one-hot </a:t>
                      </a:r>
                      <a:r>
                        <a:rPr lang="ru-RU" sz="1000" dirty="0"/>
                        <a:t>или </a:t>
                      </a:r>
                      <a:r>
                        <a:rPr lang="en-US" sz="1000" dirty="0"/>
                        <a:t>label encoding </a:t>
                      </a:r>
                      <a:r>
                        <a:rPr lang="ru-RU" sz="1000" dirty="0"/>
                        <a:t>вручную.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Менее эффективен по памяти по сравнению с </a:t>
                      </a:r>
                      <a:r>
                        <a:rPr lang="en-US" sz="1000" dirty="0"/>
                        <a:t>LGBM.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Минусы: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Может переобучаться быстрее, особенно на малых выборках.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Более чувствителен к настройке параметров.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1" dirty="0"/>
                        <a:t>Минусы: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Больше времени на обучение, чем </a:t>
                      </a:r>
                      <a:r>
                        <a:rPr lang="en-US" sz="1000" dirty="0"/>
                        <a:t>LGBM (</a:t>
                      </a:r>
                      <a:r>
                        <a:rPr lang="ru-RU" sz="1000" dirty="0"/>
                        <a:t>но стабильнее).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/>
                        <a:t>Поддержка </a:t>
                      </a:r>
                      <a:r>
                        <a:rPr lang="ru-RU" sz="1000" dirty="0" err="1"/>
                        <a:t>многоклассовой</a:t>
                      </a:r>
                      <a:r>
                        <a:rPr lang="ru-RU" sz="1000" dirty="0"/>
                        <a:t> классификации не всегда столь гибка, как в </a:t>
                      </a:r>
                      <a:r>
                        <a:rPr lang="en-US" sz="1000" dirty="0" err="1"/>
                        <a:t>XGBoost</a:t>
                      </a:r>
                      <a:r>
                        <a:rPr lang="en-US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903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36CDD9-9453-3A49-A9A5-BEE2B100C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00550"/>
            <a:ext cx="654881" cy="25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B2466-AD7A-5A4D-9D7F-84E46D48D5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338"/>
          <a:stretch/>
        </p:blipFill>
        <p:spPr>
          <a:xfrm>
            <a:off x="7150748" y="1100550"/>
            <a:ext cx="786104" cy="252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9C97AB1-38AE-4043-873F-57FACD678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4098" y="1100550"/>
            <a:ext cx="1113503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66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 </a:t>
            </a:r>
            <a:r>
              <a:rPr lang="ru-RU" dirty="0" err="1"/>
              <a:t>бустинга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174387-BC8E-594A-BFFD-0EBA73FCB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87930"/>
              </p:ext>
            </p:extLst>
          </p:nvPr>
        </p:nvGraphicFramePr>
        <p:xfrm>
          <a:off x="838200" y="1123950"/>
          <a:ext cx="7086600" cy="3276600"/>
        </p:xfrm>
        <a:graphic>
          <a:graphicData uri="http://schemas.openxmlformats.org/drawingml/2006/table">
            <a:tbl>
              <a:tblPr firstRow="1" firstCol="1">
                <a:tableStyleId>{BC89EF96-8CEA-46FF-86C4-4CE0E7609802}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783256946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615712069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106800714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36988798"/>
                    </a:ext>
                  </a:extLst>
                </a:gridCol>
              </a:tblGrid>
              <a:tr h="233110">
                <a:tc>
                  <a:txBody>
                    <a:bodyPr/>
                    <a:lstStyle/>
                    <a:p>
                      <a:r>
                        <a:rPr lang="ru-RU" sz="1100" b="1"/>
                        <a:t>Характеристика</a:t>
                      </a:r>
                      <a:endParaRPr lang="ru-RU" sz="1100"/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XGBoost</a:t>
                      </a:r>
                      <a:endParaRPr lang="en-US" sz="1100"/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LightGBM</a:t>
                      </a:r>
                      <a:endParaRPr lang="en-US" sz="1100"/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CatBoost</a:t>
                      </a:r>
                      <a:endParaRPr lang="en-US" sz="1100" dirty="0"/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5835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ru-RU" sz="1100"/>
                        <a:t>Скорость обучения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Средняя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Очень высокая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Высокая (особенно на </a:t>
                      </a:r>
                      <a:r>
                        <a:rPr lang="en-US" sz="1100"/>
                        <a:t>CPU)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359124627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ru-RU" sz="1100"/>
                        <a:t>Обработка категориальных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вручную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встроено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встроено (лучше всех)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421997502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ru-RU" sz="1100"/>
                        <a:t>Алгоритм роста дерева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depth-wise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leaf-wise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symmetric tree (</a:t>
                      </a:r>
                      <a:r>
                        <a:rPr lang="ru-RU" sz="1100"/>
                        <a:t>бинарный)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1244602543"/>
                  </a:ext>
                </a:extLst>
              </a:tr>
              <a:tr h="586040">
                <a:tc>
                  <a:txBody>
                    <a:bodyPr/>
                    <a:lstStyle/>
                    <a:p>
                      <a:r>
                        <a:rPr lang="ru-RU" sz="1100"/>
                        <a:t>Поддержка пропущенных данных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2574297298"/>
                  </a:ext>
                </a:extLst>
              </a:tr>
              <a:tr h="586040">
                <a:tc>
                  <a:txBody>
                    <a:bodyPr/>
                    <a:lstStyle/>
                    <a:p>
                      <a:r>
                        <a:rPr lang="ru-RU" sz="1100"/>
                        <a:t>Устойчивость к переобучению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Высокая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Низкая/средняя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Высокая (благодаря </a:t>
                      </a:r>
                      <a:r>
                        <a:rPr lang="en-US" sz="1100"/>
                        <a:t>ordered boosting)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424068507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ru-RU" sz="1100"/>
                        <a:t>Легкость настройки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Средняя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Сложнее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Простая (автообработка)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2932411005"/>
                  </a:ext>
                </a:extLst>
              </a:tr>
              <a:tr h="233110">
                <a:tc>
                  <a:txBody>
                    <a:bodyPr/>
                    <a:lstStyle/>
                    <a:p>
                      <a:r>
                        <a:rPr lang="ru-RU" sz="1100" dirty="0"/>
                        <a:t>Поддержка </a:t>
                      </a:r>
                      <a:r>
                        <a:rPr lang="en-US" sz="1100" dirty="0"/>
                        <a:t>GPU</a:t>
                      </a:r>
                    </a:p>
                  </a:txBody>
                  <a:tcPr marL="34245" marR="34245" marT="17122" marB="1712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</a:t>
                      </a:r>
                    </a:p>
                  </a:txBody>
                  <a:tcPr marL="34245" marR="34245" marT="17122" marB="17122" anchor="ctr"/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</a:t>
                      </a:r>
                    </a:p>
                  </a:txBody>
                  <a:tcPr marL="34245" marR="34245" marT="17122" marB="17122" anchor="ctr"/>
                </a:tc>
                <a:extLst>
                  <a:ext uri="{0D108BD9-81ED-4DB2-BD59-A6C34878D82A}">
                    <a16:rowId xmlns:a16="http://schemas.microsoft.com/office/drawing/2014/main" val="3053304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00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 </a:t>
            </a:r>
            <a:r>
              <a:rPr lang="ru-RU" dirty="0" err="1"/>
              <a:t>бустинга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74A792-C882-9D46-BED8-22EB8FF60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572907"/>
              </p:ext>
            </p:extLst>
          </p:nvPr>
        </p:nvGraphicFramePr>
        <p:xfrm>
          <a:off x="914400" y="1200150"/>
          <a:ext cx="7467600" cy="3276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121492721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449791158"/>
                    </a:ext>
                  </a:extLst>
                </a:gridCol>
              </a:tblGrid>
              <a:tr h="397163">
                <a:tc>
                  <a:txBody>
                    <a:bodyPr/>
                    <a:lstStyle/>
                    <a:p>
                      <a:r>
                        <a:rPr lang="ru-RU" sz="1400" b="1"/>
                        <a:t>Если у вас…</a:t>
                      </a:r>
                      <a:endParaRPr lang="ru-RU" sz="1400"/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Лучше использовать</a:t>
                      </a:r>
                      <a:endParaRPr lang="ru-RU" sz="1400" dirty="0"/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779307"/>
                  </a:ext>
                </a:extLst>
              </a:tr>
              <a:tr h="397163">
                <a:tc>
                  <a:txBody>
                    <a:bodyPr/>
                    <a:lstStyle/>
                    <a:p>
                      <a:r>
                        <a:rPr lang="ru-RU" sz="1400"/>
                        <a:t>Большие объёмы числовых данных</a:t>
                      </a:r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LightGBM</a:t>
                      </a:r>
                      <a:endParaRPr lang="en-US" sz="1400" dirty="0"/>
                    </a:p>
                  </a:txBody>
                  <a:tcPr marL="58112" marR="58112" marT="29056" marB="29056" anchor="ctr"/>
                </a:tc>
                <a:extLst>
                  <a:ext uri="{0D108BD9-81ED-4DB2-BD59-A6C34878D82A}">
                    <a16:rowId xmlns:a16="http://schemas.microsoft.com/office/drawing/2014/main" val="2675753950"/>
                  </a:ext>
                </a:extLst>
              </a:tr>
              <a:tr h="695037">
                <a:tc>
                  <a:txBody>
                    <a:bodyPr/>
                    <a:lstStyle/>
                    <a:p>
                      <a:r>
                        <a:rPr lang="ru-RU" sz="1400"/>
                        <a:t>Много категориальных признаков без обработки</a:t>
                      </a:r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CatBoost</a:t>
                      </a:r>
                      <a:endParaRPr lang="en-US" sz="1400" dirty="0"/>
                    </a:p>
                  </a:txBody>
                  <a:tcPr marL="58112" marR="58112" marT="29056" marB="29056" anchor="ctr"/>
                </a:tc>
                <a:extLst>
                  <a:ext uri="{0D108BD9-81ED-4DB2-BD59-A6C34878D82A}">
                    <a16:rowId xmlns:a16="http://schemas.microsoft.com/office/drawing/2014/main" val="2263420505"/>
                  </a:ext>
                </a:extLst>
              </a:tr>
              <a:tr h="695037">
                <a:tc>
                  <a:txBody>
                    <a:bodyPr/>
                    <a:lstStyle/>
                    <a:p>
                      <a:r>
                        <a:rPr lang="ru-RU" sz="1400"/>
                        <a:t>Нужна максимальная стабильность и гибкость</a:t>
                      </a:r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XGBoost</a:t>
                      </a:r>
                      <a:endParaRPr lang="en-US" sz="1400" dirty="0"/>
                    </a:p>
                  </a:txBody>
                  <a:tcPr marL="58112" marR="58112" marT="29056" marB="29056" anchor="ctr"/>
                </a:tc>
                <a:extLst>
                  <a:ext uri="{0D108BD9-81ED-4DB2-BD59-A6C34878D82A}">
                    <a16:rowId xmlns:a16="http://schemas.microsoft.com/office/drawing/2014/main" val="638625945"/>
                  </a:ext>
                </a:extLst>
              </a:tr>
              <a:tr h="695037">
                <a:tc>
                  <a:txBody>
                    <a:bodyPr/>
                    <a:lstStyle/>
                    <a:p>
                      <a:r>
                        <a:rPr lang="ru-RU" sz="1400"/>
                        <a:t>Много пропусков и хочется «просто работает»</a:t>
                      </a:r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CatBoost</a:t>
                      </a:r>
                      <a:endParaRPr lang="en-US" sz="1400" dirty="0"/>
                    </a:p>
                  </a:txBody>
                  <a:tcPr marL="58112" marR="58112" marT="29056" marB="29056" anchor="ctr"/>
                </a:tc>
                <a:extLst>
                  <a:ext uri="{0D108BD9-81ED-4DB2-BD59-A6C34878D82A}">
                    <a16:rowId xmlns:a16="http://schemas.microsoft.com/office/drawing/2014/main" val="4192626805"/>
                  </a:ext>
                </a:extLst>
              </a:tr>
              <a:tr h="397163">
                <a:tc>
                  <a:txBody>
                    <a:bodyPr/>
                    <a:lstStyle/>
                    <a:p>
                      <a:r>
                        <a:rPr lang="ru-RU" sz="1400" dirty="0"/>
                        <a:t>Ограничения по </a:t>
                      </a:r>
                      <a:r>
                        <a:rPr lang="en-US" sz="1400" dirty="0"/>
                        <a:t>CPU </a:t>
                      </a:r>
                      <a:r>
                        <a:rPr lang="ru-RU" sz="1400" dirty="0"/>
                        <a:t>и памяти</a:t>
                      </a:r>
                    </a:p>
                  </a:txBody>
                  <a:tcPr marL="58112" marR="58112" marT="29056" marB="290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LightGBM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или </a:t>
                      </a:r>
                      <a:r>
                        <a:rPr lang="en-US" sz="1400" b="1" dirty="0" err="1"/>
                        <a:t>CatBoost</a:t>
                      </a:r>
                      <a:endParaRPr lang="en-US" sz="1400" b="1" dirty="0"/>
                    </a:p>
                  </a:txBody>
                  <a:tcPr marL="58112" marR="58112" marT="29056" marB="29056" anchor="ctr"/>
                </a:tc>
                <a:extLst>
                  <a:ext uri="{0D108BD9-81ED-4DB2-BD59-A6C34878D82A}">
                    <a16:rowId xmlns:a16="http://schemas.microsoft.com/office/drawing/2014/main" val="2199478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930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Метод опорных векторов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CE4434E-0C03-DF46-91B9-DC03A4A9FB0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14379</TotalTime>
  <Words>1121</Words>
  <Application>Microsoft Macintosh PowerPoint</Application>
  <PresentationFormat>On-screen Show (16:9)</PresentationFormat>
  <Paragraphs>235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.SFNS-Regular</vt:lpstr>
      <vt:lpstr>AkayaTelivigala</vt:lpstr>
      <vt:lpstr>Arial</vt:lpstr>
      <vt:lpstr>Bradley Hand</vt:lpstr>
      <vt:lpstr>Calibri</vt:lpstr>
      <vt:lpstr>Cambria Math</vt:lpstr>
      <vt:lpstr>Google Sans</vt:lpstr>
      <vt:lpstr>Helvetica Neue</vt:lpstr>
      <vt:lpstr>HelveticaNeue-Bold</vt:lpstr>
      <vt:lpstr>roboto</vt:lpstr>
      <vt:lpstr>roboto</vt:lpstr>
      <vt:lpstr>SFSI1200</vt:lpstr>
      <vt:lpstr>SFSO1200</vt:lpstr>
      <vt:lpstr>SFSS1095</vt:lpstr>
      <vt:lpstr>SFSS1200</vt:lpstr>
      <vt:lpstr>Office Theme</vt:lpstr>
      <vt:lpstr>ML Professional Gradient boosting</vt:lpstr>
      <vt:lpstr>Проверить, идет ли запись</vt:lpstr>
      <vt:lpstr>ML Professional Gradient boosting</vt:lpstr>
      <vt:lpstr>Правила вебинара</vt:lpstr>
      <vt:lpstr>Карта курса</vt:lpstr>
      <vt:lpstr>Программа курса</vt:lpstr>
      <vt:lpstr>Маршрут вебинара</vt:lpstr>
      <vt:lpstr>Цели занятия</vt:lpstr>
      <vt:lpstr>Смысл</vt:lpstr>
      <vt:lpstr>  Gradient boosting  идея </vt:lpstr>
      <vt:lpstr>Bagging vs Boosting</vt:lpstr>
      <vt:lpstr>PowerPoint Presentation</vt:lpstr>
      <vt:lpstr>AdaBoost – Последовательное улучшение</vt:lpstr>
      <vt:lpstr>Алгоритм - AdaBoost</vt:lpstr>
      <vt:lpstr>Особенности бустинга</vt:lpstr>
      <vt:lpstr>Gradient boosting</vt:lpstr>
      <vt:lpstr>Пример работы градиентного бустинга</vt:lpstr>
      <vt:lpstr>Пример работы градиентного бустинга</vt:lpstr>
      <vt:lpstr>Пример работы градиентного бустинга</vt:lpstr>
      <vt:lpstr>AdaBoost – достоинства и недостатки</vt:lpstr>
      <vt:lpstr>Вопросы?</vt:lpstr>
      <vt:lpstr>Современные реализации</vt:lpstr>
      <vt:lpstr>Реализации бустинга</vt:lpstr>
      <vt:lpstr>Реализации бустинга</vt:lpstr>
      <vt:lpstr>Реализации бустинга</vt:lpstr>
      <vt:lpstr>Реализации бустинга</vt:lpstr>
      <vt:lpstr>Практика</vt:lpstr>
      <vt:lpstr>Вопросы?</vt:lpstr>
      <vt:lpstr>Заполните, пожалуйста, опрос о занятии по ссылке в чате</vt:lpstr>
      <vt:lpstr>Приходите на следующие вебинары Метод опорных векторов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153</cp:revision>
  <dcterms:created xsi:type="dcterms:W3CDTF">2023-10-10T14:19:39Z</dcterms:created>
  <dcterms:modified xsi:type="dcterms:W3CDTF">2025-04-18T08:29:00Z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