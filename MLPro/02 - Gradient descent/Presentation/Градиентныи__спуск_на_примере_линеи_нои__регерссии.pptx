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2"/>
  </p:notesMasterIdLst>
  <p:sldIdLst>
    <p:sldId id="258" r:id="rId2"/>
    <p:sldId id="297" r:id="rId3"/>
    <p:sldId id="298" r:id="rId4"/>
    <p:sldId id="299" r:id="rId5"/>
    <p:sldId id="263" r:id="rId6"/>
    <p:sldId id="303" r:id="rId7"/>
    <p:sldId id="305" r:id="rId8"/>
    <p:sldId id="321" r:id="rId9"/>
    <p:sldId id="264" r:id="rId10"/>
    <p:sldId id="265" r:id="rId11"/>
    <p:sldId id="266" r:id="rId12"/>
    <p:sldId id="308" r:id="rId13"/>
    <p:sldId id="307" r:id="rId14"/>
    <p:sldId id="306" r:id="rId15"/>
    <p:sldId id="309" r:id="rId16"/>
    <p:sldId id="312" r:id="rId17"/>
    <p:sldId id="310" r:id="rId18"/>
    <p:sldId id="269" r:id="rId19"/>
    <p:sldId id="274" r:id="rId20"/>
    <p:sldId id="313" r:id="rId21"/>
    <p:sldId id="315" r:id="rId22"/>
    <p:sldId id="311" r:id="rId23"/>
    <p:sldId id="314" r:id="rId24"/>
    <p:sldId id="268" r:id="rId25"/>
    <p:sldId id="295" r:id="rId26"/>
    <p:sldId id="316" r:id="rId27"/>
    <p:sldId id="270" r:id="rId28"/>
    <p:sldId id="317" r:id="rId29"/>
    <p:sldId id="318" r:id="rId30"/>
    <p:sldId id="319" r:id="rId31"/>
  </p:sldIdLst>
  <p:sldSz cx="12192000" cy="6858000"/>
  <p:notesSz cx="12192000" cy="6858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mbria Math" panose="02040503050406030204" pitchFamily="18" charset="0"/>
      <p:regular r:id="rId37"/>
    </p:embeddedFont>
    <p:embeddedFont>
      <p:font typeface="Century Gothic" panose="020B0502020202020204" pitchFamily="34" charset="0"/>
      <p:regular r:id="rId38"/>
      <p:bold r:id="rId39"/>
      <p:italic r:id="rId40"/>
      <p:boldItalic r:id="rId41"/>
    </p:embeddedFont>
    <p:embeddedFont>
      <p:font typeface="Microsoft Sans Serif" panose="020B0604020202020204" pitchFamily="34" charset="0"/>
      <p:regular r:id="rId42"/>
    </p:embeddedFont>
    <p:embeddedFont>
      <p:font typeface="Trebuchet MS" panose="020B0703020202090204" pitchFamily="34" charset="0"/>
      <p:regular r:id="rId43"/>
      <p:bold r:id="rId44"/>
      <p:italic r:id="rId45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6"/>
    <p:restoredTop sz="94641"/>
  </p:normalViewPr>
  <p:slideViewPr>
    <p:cSldViewPr>
      <p:cViewPr varScale="1">
        <p:scale>
          <a:sx n="210" d="100"/>
          <a:sy n="210" d="100"/>
        </p:scale>
        <p:origin x="1080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B9C8B9-3178-6C48-8D89-56479C388B31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057BE-B584-2D4D-9160-1D92168B5E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7266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9057BE-B584-2D4D-9160-1D92168B5E6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120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525" y="241200"/>
            <a:ext cx="11326949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23100" y="1864850"/>
            <a:ext cx="5435600" cy="3808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4A86E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1339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5786" y="2207188"/>
            <a:ext cx="10280426" cy="1303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7859" y="1887990"/>
            <a:ext cx="10156280" cy="2159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4.png"/><Relationship Id="rId7" Type="http://schemas.openxmlformats.org/officeDocument/2006/relationships/image" Target="../media/image22.png"/><Relationship Id="rId12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16.png"/><Relationship Id="rId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22.png"/><Relationship Id="rId12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16.png"/><Relationship Id="rId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4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8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14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4.png"/><Relationship Id="rId7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3.png"/><Relationship Id="rId5" Type="http://schemas.openxmlformats.org/officeDocument/2006/relationships/image" Target="../media/image26.png"/><Relationship Id="rId10" Type="http://schemas.openxmlformats.org/officeDocument/2006/relationships/image" Target="../media/image32.png"/><Relationship Id="rId4" Type="http://schemas.openxmlformats.org/officeDocument/2006/relationships/image" Target="../media/image32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8.png"/><Relationship Id="rId7" Type="http://schemas.openxmlformats.org/officeDocument/2006/relationships/image" Target="../media/image39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8.png"/><Relationship Id="rId7" Type="http://schemas.openxmlformats.org/officeDocument/2006/relationships/image" Target="../media/image39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8.png"/><Relationship Id="rId7" Type="http://schemas.openxmlformats.org/officeDocument/2006/relationships/image" Target="../media/image39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8.png"/><Relationship Id="rId7" Type="http://schemas.openxmlformats.org/officeDocument/2006/relationships/image" Target="../media/image39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8.png"/><Relationship Id="rId7" Type="http://schemas.openxmlformats.org/officeDocument/2006/relationships/image" Target="../media/image39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8.png"/><Relationship Id="rId7" Type="http://schemas.openxmlformats.org/officeDocument/2006/relationships/image" Target="../media/image2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43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14.png"/><Relationship Id="rId9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80.png"/><Relationship Id="rId4" Type="http://schemas.openxmlformats.org/officeDocument/2006/relationships/image" Target="../media/image47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0.png"/><Relationship Id="rId5" Type="http://schemas.openxmlformats.org/officeDocument/2006/relationships/image" Target="../media/image470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5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0.png"/><Relationship Id="rId5" Type="http://schemas.openxmlformats.org/officeDocument/2006/relationships/image" Target="../media/image470.pn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607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5786" y="2685311"/>
            <a:ext cx="10280426" cy="667489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023619" marR="5080" indent="-1011555" algn="ctr">
              <a:lnSpc>
                <a:spcPts val="5030"/>
              </a:lnSpc>
              <a:spcBef>
                <a:spcPts val="204"/>
              </a:spcBef>
            </a:pPr>
            <a:r>
              <a:rPr b="1" spc="30" dirty="0">
                <a:latin typeface="Trebuchet MS"/>
                <a:cs typeface="Trebuchet MS"/>
              </a:rPr>
              <a:t>«</a:t>
            </a:r>
            <a:r>
              <a:rPr lang="ru-RU" b="1" spc="30" dirty="0">
                <a:latin typeface="Trebuchet MS"/>
                <a:cs typeface="Trebuchet MS"/>
              </a:rPr>
              <a:t>Градиентный спуск</a:t>
            </a:r>
            <a:r>
              <a:rPr b="1" spc="75" dirty="0">
                <a:latin typeface="Trebuchet MS"/>
                <a:cs typeface="Trebuchet MS"/>
              </a:rPr>
              <a:t>»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12423" y="3730042"/>
            <a:ext cx="356679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600" spc="60" dirty="0">
                <a:solidFill>
                  <a:srgbClr val="FFFFFF"/>
                </a:solidFill>
                <a:latin typeface="Trebuchet MS"/>
                <a:cs typeface="Trebuchet MS"/>
              </a:rPr>
              <a:t>ML Professional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45849" y="3639199"/>
            <a:ext cx="5153025" cy="24130"/>
          </a:xfrm>
          <a:custGeom>
            <a:avLst/>
            <a:gdLst/>
            <a:ahLst/>
            <a:cxnLst/>
            <a:rect l="l" t="t" r="r" b="b"/>
            <a:pathLst>
              <a:path w="5153025" h="24129">
                <a:moveTo>
                  <a:pt x="0" y="23999"/>
                </a:moveTo>
                <a:lnTo>
                  <a:pt x="5152499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" y="0"/>
            <a:ext cx="12176759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06932" y="272541"/>
            <a:ext cx="94722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FFFFFF"/>
                </a:solidFill>
                <a:latin typeface="Arial"/>
                <a:cs typeface="Arial"/>
              </a:rPr>
              <a:t>Цели вебинара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36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После</a:t>
            </a:r>
            <a:r>
              <a:rPr sz="3600" spc="-5" dirty="0">
                <a:solidFill>
                  <a:srgbClr val="FFFFFF"/>
                </a:solidFill>
                <a:latin typeface="Arial"/>
                <a:cs typeface="Arial"/>
              </a:rPr>
              <a:t> занятия вы узнаете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61032" y="1264919"/>
            <a:ext cx="7924800" cy="1553210"/>
            <a:chOff x="2161032" y="1264919"/>
            <a:chExt cx="7924800" cy="15532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61032" y="1264919"/>
              <a:ext cx="7924800" cy="155295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31720" y="1435607"/>
              <a:ext cx="7542530" cy="1170940"/>
            </a:xfrm>
            <a:custGeom>
              <a:avLst/>
              <a:gdLst/>
              <a:ahLst/>
              <a:cxnLst/>
              <a:rect l="l" t="t" r="r" b="b"/>
              <a:pathLst>
                <a:path w="7542530" h="1170939">
                  <a:moveTo>
                    <a:pt x="7542276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7542276" y="1170432"/>
                  </a:lnTo>
                  <a:lnTo>
                    <a:pt x="754227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31720" y="1435607"/>
              <a:ext cx="7542530" cy="1170940"/>
            </a:xfrm>
            <a:custGeom>
              <a:avLst/>
              <a:gdLst/>
              <a:ahLst/>
              <a:cxnLst/>
              <a:rect l="l" t="t" r="r" b="b"/>
              <a:pathLst>
                <a:path w="7542530" h="1170939">
                  <a:moveTo>
                    <a:pt x="0" y="1170432"/>
                  </a:moveTo>
                  <a:lnTo>
                    <a:pt x="7542276" y="1170432"/>
                  </a:lnTo>
                  <a:lnTo>
                    <a:pt x="7542276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192">
              <a:solidFill>
                <a:srgbClr val="D4DD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33492" y="1818513"/>
            <a:ext cx="400570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2400" spc="-10" dirty="0">
                <a:solidFill>
                  <a:srgbClr val="3E3E3E"/>
                </a:solidFill>
                <a:latin typeface="Arial"/>
                <a:cs typeface="Arial"/>
              </a:rPr>
              <a:t>Recap: </a:t>
            </a:r>
            <a:r>
              <a:rPr lang="ru-RU" sz="2400" spc="-10" dirty="0">
                <a:solidFill>
                  <a:srgbClr val="3E3E3E"/>
                </a:solidFill>
                <a:latin typeface="Arial"/>
                <a:cs typeface="Arial"/>
              </a:rPr>
              <a:t>л</a:t>
            </a:r>
            <a:r>
              <a:rPr sz="2400" spc="-10" dirty="0" err="1">
                <a:solidFill>
                  <a:srgbClr val="3E3E3E"/>
                </a:solidFill>
                <a:latin typeface="Arial"/>
                <a:cs typeface="Arial"/>
              </a:rPr>
              <a:t>инейная</a:t>
            </a:r>
            <a:r>
              <a:rPr sz="2400" spc="-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регрессия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67304" y="1458214"/>
            <a:ext cx="47879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600" spc="-5" dirty="0">
                <a:solidFill>
                  <a:srgbClr val="40CDD0"/>
                </a:solidFill>
              </a:rPr>
              <a:t>1</a:t>
            </a:r>
            <a:endParaRPr sz="6600"/>
          </a:p>
        </p:txBody>
      </p:sp>
      <p:grpSp>
        <p:nvGrpSpPr>
          <p:cNvPr id="10" name="object 10"/>
          <p:cNvGrpSpPr/>
          <p:nvPr/>
        </p:nvGrpSpPr>
        <p:grpSpPr>
          <a:xfrm>
            <a:off x="2154935" y="2639567"/>
            <a:ext cx="7923530" cy="1553210"/>
            <a:chOff x="2154935" y="2639567"/>
            <a:chExt cx="7923530" cy="155321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4935" y="2639567"/>
              <a:ext cx="7923275" cy="155295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25623" y="2810255"/>
              <a:ext cx="7541259" cy="1170940"/>
            </a:xfrm>
            <a:custGeom>
              <a:avLst/>
              <a:gdLst/>
              <a:ahLst/>
              <a:cxnLst/>
              <a:rect l="l" t="t" r="r" b="b"/>
              <a:pathLst>
                <a:path w="7541259" h="1170939">
                  <a:moveTo>
                    <a:pt x="7540752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7540752" y="1170432"/>
                  </a:lnTo>
                  <a:lnTo>
                    <a:pt x="7540752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25623" y="2810255"/>
              <a:ext cx="7541259" cy="1170940"/>
            </a:xfrm>
            <a:custGeom>
              <a:avLst/>
              <a:gdLst/>
              <a:ahLst/>
              <a:cxnLst/>
              <a:rect l="l" t="t" r="r" b="b"/>
              <a:pathLst>
                <a:path w="7541259" h="1170939">
                  <a:moveTo>
                    <a:pt x="0" y="1170432"/>
                  </a:moveTo>
                  <a:lnTo>
                    <a:pt x="7540752" y="1170432"/>
                  </a:lnTo>
                  <a:lnTo>
                    <a:pt x="7540752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192">
              <a:solidFill>
                <a:srgbClr val="D4DD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000878" y="3192856"/>
            <a:ext cx="368592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ru-RU" sz="2400" dirty="0">
                <a:solidFill>
                  <a:srgbClr val="3E3E3E"/>
                </a:solidFill>
                <a:latin typeface="Arial"/>
                <a:cs typeface="Arial"/>
              </a:rPr>
              <a:t>Градиентный спуск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99054" y="2873197"/>
            <a:ext cx="47942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600" b="1" dirty="0">
                <a:solidFill>
                  <a:srgbClr val="40CDD0"/>
                </a:solidFill>
                <a:latin typeface="Arial"/>
                <a:cs typeface="Arial"/>
              </a:rPr>
              <a:t>2</a:t>
            </a:r>
            <a:endParaRPr sz="66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170176" y="5349212"/>
            <a:ext cx="7924800" cy="1509395"/>
            <a:chOff x="2170176" y="5349212"/>
            <a:chExt cx="7924800" cy="150939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70176" y="5349212"/>
              <a:ext cx="7924800" cy="150878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340864" y="5519928"/>
              <a:ext cx="7542530" cy="1170940"/>
            </a:xfrm>
            <a:custGeom>
              <a:avLst/>
              <a:gdLst/>
              <a:ahLst/>
              <a:cxnLst/>
              <a:rect l="l" t="t" r="r" b="b"/>
              <a:pathLst>
                <a:path w="7542530" h="1170940">
                  <a:moveTo>
                    <a:pt x="7542276" y="0"/>
                  </a:moveTo>
                  <a:lnTo>
                    <a:pt x="0" y="0"/>
                  </a:lnTo>
                  <a:lnTo>
                    <a:pt x="0" y="1170432"/>
                  </a:lnTo>
                  <a:lnTo>
                    <a:pt x="7542276" y="1170432"/>
                  </a:lnTo>
                  <a:lnTo>
                    <a:pt x="754227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40864" y="5519928"/>
              <a:ext cx="7542530" cy="1170940"/>
            </a:xfrm>
            <a:custGeom>
              <a:avLst/>
              <a:gdLst/>
              <a:ahLst/>
              <a:cxnLst/>
              <a:rect l="l" t="t" r="r" b="b"/>
              <a:pathLst>
                <a:path w="7542530" h="1170940">
                  <a:moveTo>
                    <a:pt x="0" y="1170432"/>
                  </a:moveTo>
                  <a:lnTo>
                    <a:pt x="7542276" y="1170432"/>
                  </a:lnTo>
                  <a:lnTo>
                    <a:pt x="7542276" y="0"/>
                  </a:lnTo>
                  <a:lnTo>
                    <a:pt x="0" y="0"/>
                  </a:lnTo>
                  <a:lnTo>
                    <a:pt x="0" y="1170432"/>
                  </a:lnTo>
                  <a:close/>
                </a:path>
              </a:pathLst>
            </a:custGeom>
            <a:ln w="12192">
              <a:solidFill>
                <a:srgbClr val="D4DD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036821" y="5902858"/>
            <a:ext cx="45173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ru-RU" sz="2400" spc="-5" dirty="0">
                <a:solidFill>
                  <a:srgbClr val="3E3E3E"/>
                </a:solidFill>
                <a:latin typeface="Arial"/>
                <a:cs typeface="Arial"/>
              </a:rPr>
              <a:t>Применение на практике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67304" y="5564225"/>
            <a:ext cx="47942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600" b="1" dirty="0">
                <a:solidFill>
                  <a:srgbClr val="40CDD0"/>
                </a:solidFill>
                <a:latin typeface="Arial"/>
                <a:cs typeface="Arial"/>
              </a:rPr>
              <a:t>4</a:t>
            </a:r>
            <a:endParaRPr sz="66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170176" y="3970020"/>
            <a:ext cx="7924800" cy="1553210"/>
            <a:chOff x="2170176" y="3970020"/>
            <a:chExt cx="7924800" cy="155321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70176" y="3970020"/>
              <a:ext cx="7924800" cy="155295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340864" y="4140708"/>
              <a:ext cx="7542530" cy="1170940"/>
            </a:xfrm>
            <a:custGeom>
              <a:avLst/>
              <a:gdLst/>
              <a:ahLst/>
              <a:cxnLst/>
              <a:rect l="l" t="t" r="r" b="b"/>
              <a:pathLst>
                <a:path w="7542530" h="1170939">
                  <a:moveTo>
                    <a:pt x="7542276" y="0"/>
                  </a:moveTo>
                  <a:lnTo>
                    <a:pt x="0" y="0"/>
                  </a:lnTo>
                  <a:lnTo>
                    <a:pt x="0" y="1170431"/>
                  </a:lnTo>
                  <a:lnTo>
                    <a:pt x="7542276" y="1170431"/>
                  </a:lnTo>
                  <a:lnTo>
                    <a:pt x="7542276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340864" y="4140708"/>
              <a:ext cx="7542530" cy="1170940"/>
            </a:xfrm>
            <a:custGeom>
              <a:avLst/>
              <a:gdLst/>
              <a:ahLst/>
              <a:cxnLst/>
              <a:rect l="l" t="t" r="r" b="b"/>
              <a:pathLst>
                <a:path w="7542530" h="1170939">
                  <a:moveTo>
                    <a:pt x="0" y="1170431"/>
                  </a:moveTo>
                  <a:lnTo>
                    <a:pt x="7542276" y="1170431"/>
                  </a:lnTo>
                  <a:lnTo>
                    <a:pt x="7542276" y="0"/>
                  </a:lnTo>
                  <a:lnTo>
                    <a:pt x="0" y="0"/>
                  </a:lnTo>
                  <a:lnTo>
                    <a:pt x="0" y="1170431"/>
                  </a:lnTo>
                  <a:close/>
                </a:path>
              </a:pathLst>
            </a:custGeom>
            <a:ln w="12192">
              <a:solidFill>
                <a:srgbClr val="D4DD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518405" y="4523613"/>
            <a:ext cx="3555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ru-RU" sz="2400" spc="-5" dirty="0">
                <a:solidFill>
                  <a:srgbClr val="3E3E3E"/>
                </a:solidFill>
                <a:latin typeface="Arial"/>
                <a:cs typeface="Arial"/>
              </a:rPr>
              <a:t>Регуляризация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67304" y="4184726"/>
            <a:ext cx="47942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600" b="1" dirty="0">
                <a:solidFill>
                  <a:srgbClr val="40CDD0"/>
                </a:solidFill>
                <a:latin typeface="Arial"/>
                <a:cs typeface="Arial"/>
              </a:rPr>
              <a:t>3</a:t>
            </a:r>
            <a:endParaRPr sz="6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277" y="417067"/>
            <a:ext cx="66224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Arial"/>
                <a:cs typeface="Arial"/>
              </a:rPr>
              <a:t>Задачи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spc="-5" dirty="0">
                <a:latin typeface="Arial"/>
                <a:cs typeface="Arial"/>
              </a:rPr>
              <a:t>машинного обучения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4483" y="1982723"/>
            <a:ext cx="2142744" cy="185165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61744" y="2086355"/>
            <a:ext cx="2651760" cy="17678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28994" y="4756530"/>
            <a:ext cx="181546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Microsoft Sans Serif"/>
                <a:cs typeface="Microsoft Sans Serif"/>
              </a:rPr>
              <a:t>Кластеризация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22704" y="3969639"/>
            <a:ext cx="899794" cy="714375"/>
          </a:xfrm>
          <a:custGeom>
            <a:avLst/>
            <a:gdLst/>
            <a:ahLst/>
            <a:cxnLst/>
            <a:rect l="l" t="t" r="r" b="b"/>
            <a:pathLst>
              <a:path w="899794" h="714375">
                <a:moveTo>
                  <a:pt x="36068" y="636905"/>
                </a:moveTo>
                <a:lnTo>
                  <a:pt x="0" y="714121"/>
                </a:lnTo>
                <a:lnTo>
                  <a:pt x="83438" y="696594"/>
                </a:lnTo>
                <a:lnTo>
                  <a:pt x="70034" y="679704"/>
                </a:lnTo>
                <a:lnTo>
                  <a:pt x="53720" y="679704"/>
                </a:lnTo>
                <a:lnTo>
                  <a:pt x="45846" y="669671"/>
                </a:lnTo>
                <a:lnTo>
                  <a:pt x="55811" y="661782"/>
                </a:lnTo>
                <a:lnTo>
                  <a:pt x="36068" y="636905"/>
                </a:lnTo>
                <a:close/>
              </a:path>
              <a:path w="899794" h="714375">
                <a:moveTo>
                  <a:pt x="55811" y="661782"/>
                </a:moveTo>
                <a:lnTo>
                  <a:pt x="45846" y="669671"/>
                </a:lnTo>
                <a:lnTo>
                  <a:pt x="53720" y="679704"/>
                </a:lnTo>
                <a:lnTo>
                  <a:pt x="63739" y="671771"/>
                </a:lnTo>
                <a:lnTo>
                  <a:pt x="55811" y="661782"/>
                </a:lnTo>
                <a:close/>
              </a:path>
              <a:path w="899794" h="714375">
                <a:moveTo>
                  <a:pt x="63739" y="671771"/>
                </a:moveTo>
                <a:lnTo>
                  <a:pt x="53720" y="679704"/>
                </a:lnTo>
                <a:lnTo>
                  <a:pt x="70034" y="679704"/>
                </a:lnTo>
                <a:lnTo>
                  <a:pt x="63739" y="671771"/>
                </a:lnTo>
                <a:close/>
              </a:path>
              <a:path w="899794" h="714375">
                <a:moveTo>
                  <a:pt x="891794" y="0"/>
                </a:moveTo>
                <a:lnTo>
                  <a:pt x="55811" y="661782"/>
                </a:lnTo>
                <a:lnTo>
                  <a:pt x="63739" y="671771"/>
                </a:lnTo>
                <a:lnTo>
                  <a:pt x="899668" y="9906"/>
                </a:lnTo>
                <a:lnTo>
                  <a:pt x="891794" y="0"/>
                </a:lnTo>
                <a:close/>
              </a:path>
            </a:pathLst>
          </a:custGeom>
          <a:solidFill>
            <a:srgbClr val="3E6D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96539" y="3970020"/>
            <a:ext cx="741680" cy="713740"/>
          </a:xfrm>
          <a:custGeom>
            <a:avLst/>
            <a:gdLst/>
            <a:ahLst/>
            <a:cxnLst/>
            <a:rect l="l" t="t" r="r" b="b"/>
            <a:pathLst>
              <a:path w="741679" h="713739">
                <a:moveTo>
                  <a:pt x="682256" y="665458"/>
                </a:moveTo>
                <a:lnTo>
                  <a:pt x="660273" y="688339"/>
                </a:lnTo>
                <a:lnTo>
                  <a:pt x="741552" y="713739"/>
                </a:lnTo>
                <a:lnTo>
                  <a:pt x="727576" y="674242"/>
                </a:lnTo>
                <a:lnTo>
                  <a:pt x="691388" y="674242"/>
                </a:lnTo>
                <a:lnTo>
                  <a:pt x="682256" y="665458"/>
                </a:lnTo>
                <a:close/>
              </a:path>
              <a:path w="741679" h="713739">
                <a:moveTo>
                  <a:pt x="691031" y="656324"/>
                </a:moveTo>
                <a:lnTo>
                  <a:pt x="682256" y="665458"/>
                </a:lnTo>
                <a:lnTo>
                  <a:pt x="691388" y="674242"/>
                </a:lnTo>
                <a:lnTo>
                  <a:pt x="700151" y="665098"/>
                </a:lnTo>
                <a:lnTo>
                  <a:pt x="691031" y="656324"/>
                </a:lnTo>
                <a:close/>
              </a:path>
              <a:path w="741679" h="713739">
                <a:moveTo>
                  <a:pt x="713105" y="633348"/>
                </a:moveTo>
                <a:lnTo>
                  <a:pt x="691031" y="656324"/>
                </a:lnTo>
                <a:lnTo>
                  <a:pt x="700151" y="665098"/>
                </a:lnTo>
                <a:lnTo>
                  <a:pt x="691388" y="674242"/>
                </a:lnTo>
                <a:lnTo>
                  <a:pt x="727576" y="674242"/>
                </a:lnTo>
                <a:lnTo>
                  <a:pt x="713105" y="633348"/>
                </a:lnTo>
                <a:close/>
              </a:path>
              <a:path w="741679" h="713739">
                <a:moveTo>
                  <a:pt x="8889" y="0"/>
                </a:moveTo>
                <a:lnTo>
                  <a:pt x="0" y="9143"/>
                </a:lnTo>
                <a:lnTo>
                  <a:pt x="682256" y="665458"/>
                </a:lnTo>
                <a:lnTo>
                  <a:pt x="691031" y="656324"/>
                </a:lnTo>
                <a:lnTo>
                  <a:pt x="8889" y="0"/>
                </a:lnTo>
                <a:close/>
              </a:path>
            </a:pathLst>
          </a:custGeom>
          <a:solidFill>
            <a:srgbClr val="3E6D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18305" y="4751323"/>
            <a:ext cx="12484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Microsoft Sans Serif"/>
                <a:cs typeface="Microsoft Sans Serif"/>
              </a:rPr>
              <a:t>Регрессия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5759" y="5166359"/>
            <a:ext cx="1245108" cy="109423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72995" y="5201411"/>
            <a:ext cx="1298447" cy="115671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32632" y="5225796"/>
            <a:ext cx="1763267" cy="1175003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7626095" y="4009897"/>
            <a:ext cx="1581785" cy="728980"/>
          </a:xfrm>
          <a:custGeom>
            <a:avLst/>
            <a:gdLst/>
            <a:ahLst/>
            <a:cxnLst/>
            <a:rect l="l" t="t" r="r" b="b"/>
            <a:pathLst>
              <a:path w="1581784" h="728979">
                <a:moveTo>
                  <a:pt x="53594" y="659129"/>
                </a:moveTo>
                <a:lnTo>
                  <a:pt x="0" y="725424"/>
                </a:lnTo>
                <a:lnTo>
                  <a:pt x="85089" y="728471"/>
                </a:lnTo>
                <a:lnTo>
                  <a:pt x="74360" y="704850"/>
                </a:lnTo>
                <a:lnTo>
                  <a:pt x="60451" y="704850"/>
                </a:lnTo>
                <a:lnTo>
                  <a:pt x="55118" y="693293"/>
                </a:lnTo>
                <a:lnTo>
                  <a:pt x="66711" y="688009"/>
                </a:lnTo>
                <a:lnTo>
                  <a:pt x="53594" y="659129"/>
                </a:lnTo>
                <a:close/>
              </a:path>
              <a:path w="1581784" h="728979">
                <a:moveTo>
                  <a:pt x="66711" y="688009"/>
                </a:moveTo>
                <a:lnTo>
                  <a:pt x="55118" y="693293"/>
                </a:lnTo>
                <a:lnTo>
                  <a:pt x="60451" y="704850"/>
                </a:lnTo>
                <a:lnTo>
                  <a:pt x="71975" y="699598"/>
                </a:lnTo>
                <a:lnTo>
                  <a:pt x="66711" y="688009"/>
                </a:lnTo>
                <a:close/>
              </a:path>
              <a:path w="1581784" h="728979">
                <a:moveTo>
                  <a:pt x="71975" y="699598"/>
                </a:moveTo>
                <a:lnTo>
                  <a:pt x="60451" y="704850"/>
                </a:lnTo>
                <a:lnTo>
                  <a:pt x="74360" y="704850"/>
                </a:lnTo>
                <a:lnTo>
                  <a:pt x="71975" y="699598"/>
                </a:lnTo>
                <a:close/>
              </a:path>
              <a:path w="1581784" h="728979">
                <a:moveTo>
                  <a:pt x="1576451" y="0"/>
                </a:moveTo>
                <a:lnTo>
                  <a:pt x="66711" y="688009"/>
                </a:lnTo>
                <a:lnTo>
                  <a:pt x="71975" y="699598"/>
                </a:lnTo>
                <a:lnTo>
                  <a:pt x="1581657" y="11556"/>
                </a:lnTo>
                <a:lnTo>
                  <a:pt x="1576451" y="0"/>
                </a:lnTo>
                <a:close/>
              </a:path>
            </a:pathLst>
          </a:custGeom>
          <a:solidFill>
            <a:srgbClr val="3E6D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469373" y="4014215"/>
            <a:ext cx="198755" cy="716280"/>
          </a:xfrm>
          <a:custGeom>
            <a:avLst/>
            <a:gdLst/>
            <a:ahLst/>
            <a:cxnLst/>
            <a:rect l="l" t="t" r="r" b="b"/>
            <a:pathLst>
              <a:path w="198754" h="716279">
                <a:moveTo>
                  <a:pt x="0" y="632840"/>
                </a:moveTo>
                <a:lnTo>
                  <a:pt x="19050" y="715898"/>
                </a:lnTo>
                <a:lnTo>
                  <a:pt x="69860" y="655700"/>
                </a:lnTo>
                <a:lnTo>
                  <a:pt x="40131" y="655700"/>
                </a:lnTo>
                <a:lnTo>
                  <a:pt x="27812" y="652652"/>
                </a:lnTo>
                <a:lnTo>
                  <a:pt x="30812" y="640293"/>
                </a:lnTo>
                <a:lnTo>
                  <a:pt x="0" y="632840"/>
                </a:lnTo>
                <a:close/>
              </a:path>
              <a:path w="198754" h="716279">
                <a:moveTo>
                  <a:pt x="30812" y="640293"/>
                </a:moveTo>
                <a:lnTo>
                  <a:pt x="27812" y="652652"/>
                </a:lnTo>
                <a:lnTo>
                  <a:pt x="40131" y="655700"/>
                </a:lnTo>
                <a:lnTo>
                  <a:pt x="43146" y="643276"/>
                </a:lnTo>
                <a:lnTo>
                  <a:pt x="30812" y="640293"/>
                </a:lnTo>
                <a:close/>
              </a:path>
              <a:path w="198754" h="716279">
                <a:moveTo>
                  <a:pt x="43146" y="643276"/>
                </a:moveTo>
                <a:lnTo>
                  <a:pt x="40131" y="655700"/>
                </a:lnTo>
                <a:lnTo>
                  <a:pt x="69860" y="655700"/>
                </a:lnTo>
                <a:lnTo>
                  <a:pt x="74041" y="650747"/>
                </a:lnTo>
                <a:lnTo>
                  <a:pt x="43146" y="643276"/>
                </a:lnTo>
                <a:close/>
              </a:path>
              <a:path w="198754" h="716279">
                <a:moveTo>
                  <a:pt x="186181" y="0"/>
                </a:moveTo>
                <a:lnTo>
                  <a:pt x="30812" y="640293"/>
                </a:lnTo>
                <a:lnTo>
                  <a:pt x="43146" y="643276"/>
                </a:lnTo>
                <a:lnTo>
                  <a:pt x="198500" y="3047"/>
                </a:lnTo>
                <a:lnTo>
                  <a:pt x="186181" y="0"/>
                </a:lnTo>
                <a:close/>
              </a:path>
            </a:pathLst>
          </a:custGeom>
          <a:solidFill>
            <a:srgbClr val="3E6D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713089" y="4756530"/>
            <a:ext cx="15525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9539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latin typeface="Microsoft Sans Serif"/>
                <a:cs typeface="Microsoft Sans Serif"/>
              </a:rPr>
              <a:t>Снижение 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р</a:t>
            </a:r>
            <a:r>
              <a:rPr sz="2000" spc="-50" dirty="0">
                <a:latin typeface="Microsoft Sans Serif"/>
                <a:cs typeface="Microsoft Sans Serif"/>
              </a:rPr>
              <a:t>а</a:t>
            </a:r>
            <a:r>
              <a:rPr sz="2000" spc="-35" dirty="0">
                <a:latin typeface="Microsoft Sans Serif"/>
                <a:cs typeface="Microsoft Sans Serif"/>
              </a:rPr>
              <a:t>з</a:t>
            </a:r>
            <a:r>
              <a:rPr sz="2000" spc="-10" dirty="0">
                <a:latin typeface="Microsoft Sans Serif"/>
                <a:cs typeface="Microsoft Sans Serif"/>
              </a:rPr>
              <a:t>мернос</a:t>
            </a:r>
            <a:r>
              <a:rPr sz="2000" spc="-20" dirty="0">
                <a:latin typeface="Microsoft Sans Serif"/>
                <a:cs typeface="Microsoft Sans Serif"/>
              </a:rPr>
              <a:t>т</a:t>
            </a:r>
            <a:r>
              <a:rPr sz="2000" dirty="0">
                <a:latin typeface="Microsoft Sans Serif"/>
                <a:cs typeface="Microsoft Sans Serif"/>
              </a:rPr>
              <a:t>и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656319" y="5497067"/>
            <a:ext cx="668020" cy="688975"/>
            <a:chOff x="8656319" y="5497067"/>
            <a:chExt cx="668020" cy="688975"/>
          </a:xfrm>
        </p:grpSpPr>
        <p:sp>
          <p:nvSpPr>
            <p:cNvPr id="16" name="object 16"/>
            <p:cNvSpPr/>
            <p:nvPr/>
          </p:nvSpPr>
          <p:spPr>
            <a:xfrm>
              <a:off x="8669273" y="5670422"/>
              <a:ext cx="481330" cy="502920"/>
            </a:xfrm>
            <a:custGeom>
              <a:avLst/>
              <a:gdLst/>
              <a:ahLst/>
              <a:cxnLst/>
              <a:rect l="l" t="t" r="r" b="b"/>
              <a:pathLst>
                <a:path w="481329" h="502920">
                  <a:moveTo>
                    <a:pt x="481202" y="0"/>
                  </a:moveTo>
                  <a:lnTo>
                    <a:pt x="0" y="0"/>
                  </a:lnTo>
                  <a:lnTo>
                    <a:pt x="0" y="502538"/>
                  </a:lnTo>
                  <a:lnTo>
                    <a:pt x="481202" y="502538"/>
                  </a:lnTo>
                  <a:lnTo>
                    <a:pt x="4812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50476" y="5510021"/>
              <a:ext cx="160655" cy="662940"/>
            </a:xfrm>
            <a:custGeom>
              <a:avLst/>
              <a:gdLst/>
              <a:ahLst/>
              <a:cxnLst/>
              <a:rect l="l" t="t" r="r" b="b"/>
              <a:pathLst>
                <a:path w="160654" h="662939">
                  <a:moveTo>
                    <a:pt x="160400" y="0"/>
                  </a:moveTo>
                  <a:lnTo>
                    <a:pt x="0" y="160400"/>
                  </a:lnTo>
                  <a:lnTo>
                    <a:pt x="0" y="662939"/>
                  </a:lnTo>
                  <a:lnTo>
                    <a:pt x="160400" y="502538"/>
                  </a:lnTo>
                  <a:lnTo>
                    <a:pt x="16040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669273" y="5510021"/>
              <a:ext cx="641985" cy="160655"/>
            </a:xfrm>
            <a:custGeom>
              <a:avLst/>
              <a:gdLst/>
              <a:ahLst/>
              <a:cxnLst/>
              <a:rect l="l" t="t" r="r" b="b"/>
              <a:pathLst>
                <a:path w="641984" h="160654">
                  <a:moveTo>
                    <a:pt x="641603" y="0"/>
                  </a:moveTo>
                  <a:lnTo>
                    <a:pt x="160400" y="0"/>
                  </a:lnTo>
                  <a:lnTo>
                    <a:pt x="0" y="160400"/>
                  </a:lnTo>
                  <a:lnTo>
                    <a:pt x="481202" y="160400"/>
                  </a:lnTo>
                  <a:lnTo>
                    <a:pt x="6416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669273" y="5510021"/>
              <a:ext cx="641985" cy="662940"/>
            </a:xfrm>
            <a:custGeom>
              <a:avLst/>
              <a:gdLst/>
              <a:ahLst/>
              <a:cxnLst/>
              <a:rect l="l" t="t" r="r" b="b"/>
              <a:pathLst>
                <a:path w="641984" h="662939">
                  <a:moveTo>
                    <a:pt x="0" y="160400"/>
                  </a:moveTo>
                  <a:lnTo>
                    <a:pt x="160400" y="0"/>
                  </a:lnTo>
                  <a:lnTo>
                    <a:pt x="641603" y="0"/>
                  </a:lnTo>
                  <a:lnTo>
                    <a:pt x="641603" y="502538"/>
                  </a:lnTo>
                  <a:lnTo>
                    <a:pt x="481202" y="662939"/>
                  </a:lnTo>
                  <a:lnTo>
                    <a:pt x="0" y="662939"/>
                  </a:lnTo>
                  <a:lnTo>
                    <a:pt x="0" y="160400"/>
                  </a:lnTo>
                  <a:close/>
                </a:path>
                <a:path w="641984" h="662939">
                  <a:moveTo>
                    <a:pt x="0" y="160400"/>
                  </a:moveTo>
                  <a:lnTo>
                    <a:pt x="481202" y="160400"/>
                  </a:lnTo>
                  <a:lnTo>
                    <a:pt x="641603" y="0"/>
                  </a:lnTo>
                </a:path>
                <a:path w="641984" h="662939">
                  <a:moveTo>
                    <a:pt x="481202" y="160400"/>
                  </a:moveTo>
                  <a:lnTo>
                    <a:pt x="481202" y="662939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9816083" y="5497067"/>
            <a:ext cx="571500" cy="574675"/>
            <a:chOff x="9816083" y="5497067"/>
            <a:chExt cx="571500" cy="574675"/>
          </a:xfrm>
        </p:grpSpPr>
        <p:sp>
          <p:nvSpPr>
            <p:cNvPr id="21" name="object 21"/>
            <p:cNvSpPr/>
            <p:nvPr/>
          </p:nvSpPr>
          <p:spPr>
            <a:xfrm>
              <a:off x="9829037" y="5510021"/>
              <a:ext cx="546100" cy="548640"/>
            </a:xfrm>
            <a:custGeom>
              <a:avLst/>
              <a:gdLst/>
              <a:ahLst/>
              <a:cxnLst/>
              <a:rect l="l" t="t" r="r" b="b"/>
              <a:pathLst>
                <a:path w="546100" h="548639">
                  <a:moveTo>
                    <a:pt x="545592" y="0"/>
                  </a:moveTo>
                  <a:lnTo>
                    <a:pt x="0" y="0"/>
                  </a:lnTo>
                  <a:lnTo>
                    <a:pt x="0" y="548639"/>
                  </a:lnTo>
                  <a:lnTo>
                    <a:pt x="545592" y="548639"/>
                  </a:lnTo>
                  <a:lnTo>
                    <a:pt x="5455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829037" y="5510021"/>
              <a:ext cx="546100" cy="548640"/>
            </a:xfrm>
            <a:custGeom>
              <a:avLst/>
              <a:gdLst/>
              <a:ahLst/>
              <a:cxnLst/>
              <a:rect l="l" t="t" r="r" b="b"/>
              <a:pathLst>
                <a:path w="546100" h="548639">
                  <a:moveTo>
                    <a:pt x="0" y="548639"/>
                  </a:moveTo>
                  <a:lnTo>
                    <a:pt x="545592" y="548639"/>
                  </a:lnTo>
                  <a:lnTo>
                    <a:pt x="545592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9404604" y="5728715"/>
            <a:ext cx="354965" cy="76200"/>
          </a:xfrm>
          <a:custGeom>
            <a:avLst/>
            <a:gdLst/>
            <a:ahLst/>
            <a:cxnLst/>
            <a:rect l="l" t="t" r="r" b="b"/>
            <a:pathLst>
              <a:path w="354965" h="76200">
                <a:moveTo>
                  <a:pt x="278384" y="0"/>
                </a:moveTo>
                <a:lnTo>
                  <a:pt x="278384" y="76200"/>
                </a:lnTo>
                <a:lnTo>
                  <a:pt x="341884" y="44450"/>
                </a:lnTo>
                <a:lnTo>
                  <a:pt x="291084" y="44450"/>
                </a:lnTo>
                <a:lnTo>
                  <a:pt x="291084" y="31750"/>
                </a:lnTo>
                <a:lnTo>
                  <a:pt x="341884" y="31750"/>
                </a:lnTo>
                <a:lnTo>
                  <a:pt x="278384" y="0"/>
                </a:lnTo>
                <a:close/>
              </a:path>
              <a:path w="354965" h="76200">
                <a:moveTo>
                  <a:pt x="27838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78384" y="44450"/>
                </a:lnTo>
                <a:lnTo>
                  <a:pt x="278384" y="31750"/>
                </a:lnTo>
                <a:close/>
              </a:path>
              <a:path w="354965" h="76200">
                <a:moveTo>
                  <a:pt x="341884" y="31750"/>
                </a:moveTo>
                <a:lnTo>
                  <a:pt x="291084" y="31750"/>
                </a:lnTo>
                <a:lnTo>
                  <a:pt x="291084" y="44450"/>
                </a:lnTo>
                <a:lnTo>
                  <a:pt x="341884" y="44450"/>
                </a:lnTo>
                <a:lnTo>
                  <a:pt x="354584" y="38100"/>
                </a:lnTo>
                <a:lnTo>
                  <a:pt x="34188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32484" y="4756530"/>
            <a:ext cx="18903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Microsoft Sans Serif"/>
                <a:cs typeface="Microsoft Sans Serif"/>
              </a:rPr>
              <a:t>Классификация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92240" y="5225796"/>
            <a:ext cx="1805939" cy="151028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0762233" y="4797297"/>
            <a:ext cx="11982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939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Microsoft Sans Serif"/>
                <a:cs typeface="Microsoft Sans Serif"/>
              </a:rPr>
              <a:t>Поиск 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аномалий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677143" y="5608320"/>
            <a:ext cx="1367027" cy="1127760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10240644" y="3958716"/>
            <a:ext cx="1118870" cy="812165"/>
          </a:xfrm>
          <a:custGeom>
            <a:avLst/>
            <a:gdLst/>
            <a:ahLst/>
            <a:cxnLst/>
            <a:rect l="l" t="t" r="r" b="b"/>
            <a:pathLst>
              <a:path w="1118870" h="812164">
                <a:moveTo>
                  <a:pt x="1053315" y="772322"/>
                </a:moveTo>
                <a:lnTo>
                  <a:pt x="1034669" y="798067"/>
                </a:lnTo>
                <a:lnTo>
                  <a:pt x="1118743" y="811910"/>
                </a:lnTo>
                <a:lnTo>
                  <a:pt x="1102002" y="779779"/>
                </a:lnTo>
                <a:lnTo>
                  <a:pt x="1063625" y="779779"/>
                </a:lnTo>
                <a:lnTo>
                  <a:pt x="1053315" y="772322"/>
                </a:lnTo>
                <a:close/>
              </a:path>
              <a:path w="1118870" h="812164">
                <a:moveTo>
                  <a:pt x="1060737" y="762075"/>
                </a:moveTo>
                <a:lnTo>
                  <a:pt x="1053315" y="772322"/>
                </a:lnTo>
                <a:lnTo>
                  <a:pt x="1063625" y="779779"/>
                </a:lnTo>
                <a:lnTo>
                  <a:pt x="1070990" y="769492"/>
                </a:lnTo>
                <a:lnTo>
                  <a:pt x="1060737" y="762075"/>
                </a:lnTo>
                <a:close/>
              </a:path>
              <a:path w="1118870" h="812164">
                <a:moveTo>
                  <a:pt x="1079373" y="736345"/>
                </a:moveTo>
                <a:lnTo>
                  <a:pt x="1060737" y="762075"/>
                </a:lnTo>
                <a:lnTo>
                  <a:pt x="1070990" y="769492"/>
                </a:lnTo>
                <a:lnTo>
                  <a:pt x="1063625" y="779779"/>
                </a:lnTo>
                <a:lnTo>
                  <a:pt x="1102002" y="779779"/>
                </a:lnTo>
                <a:lnTo>
                  <a:pt x="1079373" y="736345"/>
                </a:lnTo>
                <a:close/>
              </a:path>
              <a:path w="1118870" h="812164">
                <a:moveTo>
                  <a:pt x="7365" y="0"/>
                </a:moveTo>
                <a:lnTo>
                  <a:pt x="0" y="10413"/>
                </a:lnTo>
                <a:lnTo>
                  <a:pt x="1053315" y="772322"/>
                </a:lnTo>
                <a:lnTo>
                  <a:pt x="1060737" y="762075"/>
                </a:lnTo>
                <a:lnTo>
                  <a:pt x="7365" y="0"/>
                </a:lnTo>
                <a:close/>
              </a:path>
            </a:pathLst>
          </a:custGeom>
          <a:solidFill>
            <a:srgbClr val="3E6D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245867" y="1436877"/>
            <a:ext cx="1597660" cy="547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C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учителем</a:t>
            </a:r>
            <a:endParaRPr sz="20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400" spc="-5" dirty="0">
                <a:solidFill>
                  <a:srgbClr val="51555E"/>
                </a:solidFill>
                <a:latin typeface="Microsoft Sans Serif"/>
                <a:cs typeface="Microsoft Sans Serif"/>
              </a:rPr>
              <a:t>Supervised</a:t>
            </a:r>
            <a:r>
              <a:rPr sz="1400" spc="-45" dirty="0">
                <a:solidFill>
                  <a:srgbClr val="51555E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51555E"/>
                </a:solidFill>
                <a:latin typeface="Microsoft Sans Serif"/>
                <a:cs typeface="Microsoft Sans Serif"/>
              </a:rPr>
              <a:t>learning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12505" y="1422272"/>
            <a:ext cx="1794510" cy="530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350"/>
              </a:lnSpc>
              <a:spcBef>
                <a:spcPts val="105"/>
              </a:spcBef>
            </a:pPr>
            <a:r>
              <a:rPr sz="2000" spc="-25" dirty="0">
                <a:latin typeface="Microsoft Sans Serif"/>
                <a:cs typeface="Microsoft Sans Serif"/>
              </a:rPr>
              <a:t>Без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учителя</a:t>
            </a:r>
            <a:endParaRPr sz="2000">
              <a:latin typeface="Microsoft Sans Serif"/>
              <a:cs typeface="Microsoft Sans Serif"/>
            </a:endParaRPr>
          </a:p>
          <a:p>
            <a:pPr algn="ctr">
              <a:lnSpc>
                <a:spcPts val="1630"/>
              </a:lnSpc>
            </a:pPr>
            <a:r>
              <a:rPr sz="1400" spc="-5" dirty="0">
                <a:solidFill>
                  <a:srgbClr val="51555E"/>
                </a:solidFill>
                <a:latin typeface="Microsoft Sans Serif"/>
                <a:cs typeface="Microsoft Sans Serif"/>
              </a:rPr>
              <a:t>Unsupervised</a:t>
            </a:r>
            <a:r>
              <a:rPr sz="1400" spc="-25" dirty="0">
                <a:solidFill>
                  <a:srgbClr val="51555E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51555E"/>
                </a:solidFill>
                <a:latin typeface="Microsoft Sans Serif"/>
                <a:cs typeface="Microsoft Sans Serif"/>
              </a:rPr>
              <a:t>learning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9232" y="2805430"/>
            <a:ext cx="9821545" cy="84638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en-US" sz="5400" b="1" spc="15" dirty="0">
                <a:solidFill>
                  <a:srgbClr val="FDFDFD"/>
                </a:solidFill>
              </a:rPr>
              <a:t>Recap: </a:t>
            </a:r>
            <a:r>
              <a:rPr lang="ru-RU" sz="5400" b="1" spc="15" dirty="0">
                <a:solidFill>
                  <a:srgbClr val="FDFDFD"/>
                </a:solidFill>
              </a:rPr>
              <a:t>линейная регрессия</a:t>
            </a:r>
            <a:endParaRPr sz="49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7976" y="345087"/>
            <a:ext cx="6681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00" b="1" spc="15" dirty="0">
                <a:solidFill>
                  <a:srgbClr val="FDFDFD"/>
                </a:solidFill>
              </a:rPr>
              <a:t>Линейная регрессия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8425" y="1721049"/>
            <a:ext cx="472567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spc="-15" dirty="0">
                <a:latin typeface="Arial"/>
                <a:cs typeface="Arial"/>
              </a:rPr>
              <a:t>Через две </a:t>
            </a:r>
            <a:r>
              <a:rPr sz="2500" spc="-20" dirty="0">
                <a:latin typeface="Arial"/>
                <a:cs typeface="Arial"/>
              </a:rPr>
              <a:t>точки </a:t>
            </a:r>
            <a:r>
              <a:rPr sz="2500" spc="-5" dirty="0">
                <a:latin typeface="Arial"/>
                <a:cs typeface="Arial"/>
              </a:rPr>
              <a:t>на </a:t>
            </a:r>
            <a:r>
              <a:rPr sz="2500" dirty="0">
                <a:latin typeface="Arial"/>
                <a:cs typeface="Arial"/>
              </a:rPr>
              <a:t>плоскости 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можно</a:t>
            </a:r>
            <a:r>
              <a:rPr sz="2500" spc="-14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легко</a:t>
            </a:r>
            <a:r>
              <a:rPr sz="2500" spc="-13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провести</a:t>
            </a:r>
            <a:r>
              <a:rPr sz="2500" spc="-14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прямую</a:t>
            </a:r>
            <a:r>
              <a:rPr sz="2500" spc="-14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и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spc="-15" dirty="0">
                <a:latin typeface="Arial"/>
                <a:cs typeface="Arial"/>
              </a:rPr>
              <a:t>тольку</a:t>
            </a:r>
            <a:r>
              <a:rPr sz="2500" spc="-135" dirty="0">
                <a:latin typeface="Arial"/>
                <a:cs typeface="Arial"/>
              </a:rPr>
              <a:t> </a:t>
            </a:r>
            <a:r>
              <a:rPr sz="2500" spc="-20" dirty="0">
                <a:latin typeface="Arial"/>
                <a:cs typeface="Arial"/>
              </a:rPr>
              <a:t>одну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2342420" y="3421001"/>
            <a:ext cx="2447290" cy="2389505"/>
            <a:chOff x="2342420" y="3421001"/>
            <a:chExt cx="2447290" cy="2389505"/>
          </a:xfrm>
        </p:grpSpPr>
        <p:sp>
          <p:nvSpPr>
            <p:cNvPr id="81" name="object 81"/>
            <p:cNvSpPr/>
            <p:nvPr/>
          </p:nvSpPr>
          <p:spPr>
            <a:xfrm>
              <a:off x="2404317" y="3514925"/>
              <a:ext cx="0" cy="2233295"/>
            </a:xfrm>
            <a:custGeom>
              <a:avLst/>
              <a:gdLst/>
              <a:ahLst/>
              <a:cxnLst/>
              <a:rect l="l" t="t" r="r" b="b"/>
              <a:pathLst>
                <a:path h="2233295">
                  <a:moveTo>
                    <a:pt x="0" y="0"/>
                  </a:moveTo>
                  <a:lnTo>
                    <a:pt x="0" y="2233127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2420" y="3421001"/>
              <a:ext cx="123793" cy="155820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2403886" y="5748357"/>
              <a:ext cx="2291715" cy="0"/>
            </a:xfrm>
            <a:custGeom>
              <a:avLst/>
              <a:gdLst/>
              <a:ahLst/>
              <a:cxnLst/>
              <a:rect l="l" t="t" r="r" b="b"/>
              <a:pathLst>
                <a:path w="2291715">
                  <a:moveTo>
                    <a:pt x="2291628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3617" y="5686460"/>
              <a:ext cx="155820" cy="123792"/>
            </a:xfrm>
            <a:prstGeom prst="rect">
              <a:avLst/>
            </a:prstGeom>
          </p:spPr>
        </p:pic>
      </p:grpSp>
      <p:sp>
        <p:nvSpPr>
          <p:cNvPr id="85" name="object 85"/>
          <p:cNvSpPr txBox="1"/>
          <p:nvPr/>
        </p:nvSpPr>
        <p:spPr>
          <a:xfrm>
            <a:off x="2147025" y="3112034"/>
            <a:ext cx="1981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y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2547900" y="3667608"/>
            <a:ext cx="2079625" cy="2000250"/>
            <a:chOff x="2547900" y="3667608"/>
            <a:chExt cx="2079625" cy="2000250"/>
          </a:xfrm>
        </p:grpSpPr>
        <p:sp>
          <p:nvSpPr>
            <p:cNvPr id="87" name="object 87"/>
            <p:cNvSpPr/>
            <p:nvPr/>
          </p:nvSpPr>
          <p:spPr>
            <a:xfrm>
              <a:off x="2552663" y="3672370"/>
              <a:ext cx="2070100" cy="1990725"/>
            </a:xfrm>
            <a:custGeom>
              <a:avLst/>
              <a:gdLst/>
              <a:ahLst/>
              <a:cxnLst/>
              <a:rect l="l" t="t" r="r" b="b"/>
              <a:pathLst>
                <a:path w="2070100" h="1990725">
                  <a:moveTo>
                    <a:pt x="0" y="1990499"/>
                  </a:moveTo>
                  <a:lnTo>
                    <a:pt x="2069699" y="0"/>
                  </a:lnTo>
                </a:path>
              </a:pathLst>
            </a:custGeom>
            <a:ln w="952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83615" y="4222326"/>
              <a:ext cx="120524" cy="156524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30674" y="5054659"/>
              <a:ext cx="120524" cy="156524"/>
            </a:xfrm>
            <a:prstGeom prst="rect">
              <a:avLst/>
            </a:prstGeom>
          </p:spPr>
        </p:pic>
      </p:grpSp>
      <p:sp>
        <p:nvSpPr>
          <p:cNvPr id="90" name="object 90"/>
          <p:cNvSpPr txBox="1"/>
          <p:nvPr/>
        </p:nvSpPr>
        <p:spPr>
          <a:xfrm>
            <a:off x="4708899" y="5730224"/>
            <a:ext cx="2235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X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A8EFC6D5-4848-6F41-A682-FB379E1DA9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9327" y="6007353"/>
            <a:ext cx="20955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7976" y="345087"/>
            <a:ext cx="6681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00" b="1" spc="15" dirty="0">
                <a:solidFill>
                  <a:srgbClr val="FDFDFD"/>
                </a:solidFill>
              </a:rPr>
              <a:t>Линейная регрессия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1200" y="1816299"/>
            <a:ext cx="443293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latin typeface="Arial"/>
                <a:cs typeface="Arial"/>
              </a:rPr>
              <a:t>А</a:t>
            </a:r>
            <a:r>
              <a:rPr sz="2500" b="1" spc="-140" dirty="0">
                <a:latin typeface="Arial"/>
                <a:cs typeface="Arial"/>
              </a:rPr>
              <a:t> </a:t>
            </a:r>
            <a:r>
              <a:rPr sz="2500" b="1" spc="-15" dirty="0">
                <a:latin typeface="Arial"/>
                <a:cs typeface="Arial"/>
              </a:rPr>
              <a:t>если</a:t>
            </a:r>
            <a:r>
              <a:rPr sz="2500" b="1" spc="-140" dirty="0">
                <a:latin typeface="Arial"/>
                <a:cs typeface="Arial"/>
              </a:rPr>
              <a:t> </a:t>
            </a:r>
            <a:r>
              <a:rPr sz="2500" b="1" spc="-25" dirty="0">
                <a:latin typeface="Arial"/>
                <a:cs typeface="Arial"/>
              </a:rPr>
              <a:t>точек</a:t>
            </a:r>
            <a:r>
              <a:rPr sz="2500" b="1" spc="-140" dirty="0">
                <a:latin typeface="Arial"/>
                <a:cs typeface="Arial"/>
              </a:rPr>
              <a:t> </a:t>
            </a:r>
            <a:r>
              <a:rPr sz="2500" b="1" spc="-5" dirty="0">
                <a:latin typeface="Arial"/>
                <a:cs typeface="Arial"/>
              </a:rPr>
              <a:t>три</a:t>
            </a:r>
            <a:r>
              <a:rPr sz="2500" b="1" spc="-140" dirty="0">
                <a:latin typeface="Arial"/>
                <a:cs typeface="Arial"/>
              </a:rPr>
              <a:t> </a:t>
            </a:r>
            <a:r>
              <a:rPr sz="2500" b="1" spc="-5" dirty="0">
                <a:latin typeface="Arial"/>
                <a:cs typeface="Arial"/>
              </a:rPr>
              <a:t>или</a:t>
            </a:r>
            <a:r>
              <a:rPr sz="2500" b="1" spc="-140" dirty="0">
                <a:latin typeface="Arial"/>
                <a:cs typeface="Arial"/>
              </a:rPr>
              <a:t> </a:t>
            </a:r>
            <a:r>
              <a:rPr sz="2500" b="1" spc="-20" dirty="0">
                <a:latin typeface="Arial"/>
                <a:cs typeface="Arial"/>
              </a:rPr>
              <a:t>более</a:t>
            </a:r>
            <a:r>
              <a:rPr sz="2500" b="1" spc="-20" dirty="0">
                <a:latin typeface="Calibri"/>
                <a:cs typeface="Calibri"/>
              </a:rPr>
              <a:t>?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8425" y="1721049"/>
            <a:ext cx="472567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spc="-15" dirty="0">
                <a:latin typeface="Arial"/>
                <a:cs typeface="Arial"/>
              </a:rPr>
              <a:t>Через две </a:t>
            </a:r>
            <a:r>
              <a:rPr sz="2500" spc="-20" dirty="0">
                <a:latin typeface="Arial"/>
                <a:cs typeface="Arial"/>
              </a:rPr>
              <a:t>точки </a:t>
            </a:r>
            <a:r>
              <a:rPr sz="2500" spc="-5" dirty="0">
                <a:latin typeface="Arial"/>
                <a:cs typeface="Arial"/>
              </a:rPr>
              <a:t>на </a:t>
            </a:r>
            <a:r>
              <a:rPr sz="2500" dirty="0">
                <a:latin typeface="Arial"/>
                <a:cs typeface="Arial"/>
              </a:rPr>
              <a:t>плоскости 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можно</a:t>
            </a:r>
            <a:r>
              <a:rPr sz="2500" spc="-14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легко</a:t>
            </a:r>
            <a:r>
              <a:rPr sz="2500" spc="-13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провести</a:t>
            </a:r>
            <a:r>
              <a:rPr sz="2500" spc="-14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прямую</a:t>
            </a:r>
            <a:r>
              <a:rPr sz="2500" spc="-14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и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spc="-15" dirty="0">
                <a:latin typeface="Arial"/>
                <a:cs typeface="Arial"/>
              </a:rPr>
              <a:t>тольку</a:t>
            </a:r>
            <a:r>
              <a:rPr sz="2500" spc="-135" dirty="0">
                <a:latin typeface="Arial"/>
                <a:cs typeface="Arial"/>
              </a:rPr>
              <a:t> </a:t>
            </a:r>
            <a:r>
              <a:rPr sz="2500" spc="-20" dirty="0">
                <a:latin typeface="Arial"/>
                <a:cs typeface="Arial"/>
              </a:rPr>
              <a:t>одну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262367" y="3680135"/>
            <a:ext cx="2447290" cy="2389505"/>
            <a:chOff x="7262367" y="3680135"/>
            <a:chExt cx="2447290" cy="2389505"/>
          </a:xfrm>
        </p:grpSpPr>
        <p:sp>
          <p:nvSpPr>
            <p:cNvPr id="6" name="object 6"/>
            <p:cNvSpPr/>
            <p:nvPr/>
          </p:nvSpPr>
          <p:spPr>
            <a:xfrm>
              <a:off x="7324264" y="3774058"/>
              <a:ext cx="0" cy="2233295"/>
            </a:xfrm>
            <a:custGeom>
              <a:avLst/>
              <a:gdLst/>
              <a:ahLst/>
              <a:cxnLst/>
              <a:rect l="l" t="t" r="r" b="b"/>
              <a:pathLst>
                <a:path h="2233295">
                  <a:moveTo>
                    <a:pt x="0" y="0"/>
                  </a:moveTo>
                  <a:lnTo>
                    <a:pt x="0" y="2233128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62367" y="3680135"/>
              <a:ext cx="123793" cy="1558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323832" y="6007490"/>
              <a:ext cx="2291715" cy="0"/>
            </a:xfrm>
            <a:custGeom>
              <a:avLst/>
              <a:gdLst/>
              <a:ahLst/>
              <a:cxnLst/>
              <a:rect l="l" t="t" r="r" b="b"/>
              <a:pathLst>
                <a:path w="2291715">
                  <a:moveTo>
                    <a:pt x="2291628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53564" y="5945594"/>
              <a:ext cx="155820" cy="12379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066972" y="3371168"/>
            <a:ext cx="1981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y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28845" y="5989358"/>
            <a:ext cx="2235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X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479335" y="3535941"/>
            <a:ext cx="1510030" cy="1922780"/>
            <a:chOff x="7479335" y="3535941"/>
            <a:chExt cx="1510030" cy="192278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25068" y="4650511"/>
              <a:ext cx="75824" cy="908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23809" y="4628859"/>
              <a:ext cx="75824" cy="908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56932" y="4440912"/>
              <a:ext cx="75824" cy="9082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360435" y="44037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5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360435" y="44037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8796" y="4105553"/>
              <a:ext cx="75824" cy="908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06015" y="4983332"/>
              <a:ext cx="75824" cy="908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41027" y="5067172"/>
              <a:ext cx="75824" cy="9082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588210" y="4140024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88210" y="4140024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542655" y="37180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542655" y="37180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4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54568" y="4820961"/>
              <a:ext cx="75824" cy="9082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360435" y="44037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5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360435" y="44037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19008" y="4240754"/>
              <a:ext cx="75824" cy="908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497101" y="4245516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497101" y="4245516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07110" y="5209298"/>
              <a:ext cx="75824" cy="9082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74558" y="3977023"/>
              <a:ext cx="75824" cy="9082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65668" y="3818785"/>
              <a:ext cx="75824" cy="9082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6461" y="3588687"/>
              <a:ext cx="75824" cy="9082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13126" y="3694179"/>
              <a:ext cx="75824" cy="9082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13126" y="3535941"/>
              <a:ext cx="75824" cy="9082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98220" y="4998313"/>
              <a:ext cx="75824" cy="9082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36787" y="4768215"/>
              <a:ext cx="75824" cy="9082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79335" y="5367536"/>
              <a:ext cx="75824" cy="9082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633766" y="3823548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4" y="56472"/>
                  </a:lnTo>
                  <a:lnTo>
                    <a:pt x="0" y="40649"/>
                  </a:lnTo>
                  <a:lnTo>
                    <a:pt x="2604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633766" y="3823548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4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4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4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360435" y="47085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5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360435" y="47085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8796" y="4410353"/>
              <a:ext cx="75824" cy="90824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588210" y="4444824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588210" y="4444824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542655" y="40228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542655" y="40228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4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360435" y="47085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5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360435" y="47085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497101" y="4550316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497101" y="4550316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74558" y="4281823"/>
              <a:ext cx="75824" cy="9082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65668" y="4123585"/>
              <a:ext cx="75824" cy="9082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6461" y="3893487"/>
              <a:ext cx="75824" cy="9082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13126" y="3998979"/>
              <a:ext cx="75824" cy="9082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13126" y="3840741"/>
              <a:ext cx="75824" cy="90824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8633766" y="4128348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4" y="56472"/>
                  </a:lnTo>
                  <a:lnTo>
                    <a:pt x="0" y="40649"/>
                  </a:lnTo>
                  <a:lnTo>
                    <a:pt x="2604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633766" y="4128348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4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4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4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750835" y="49371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5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750835" y="49371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79196" y="4638953"/>
              <a:ext cx="75824" cy="90824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7978610" y="4673424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978610" y="4673424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933055" y="42514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933055" y="42514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4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750835" y="49371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5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750835" y="49371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887501" y="4778916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887501" y="4778916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4958" y="4510423"/>
              <a:ext cx="75824" cy="90824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56068" y="4352185"/>
              <a:ext cx="75824" cy="90824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66861" y="4122087"/>
              <a:ext cx="75824" cy="90824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03526" y="4227579"/>
              <a:ext cx="75824" cy="90824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03526" y="4069341"/>
              <a:ext cx="75824" cy="9082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8024166" y="4356948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4" y="56472"/>
                  </a:lnTo>
                  <a:lnTo>
                    <a:pt x="0" y="40649"/>
                  </a:lnTo>
                  <a:lnTo>
                    <a:pt x="2604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024166" y="4356948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4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4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4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8" name="object 7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58681" y="3324956"/>
            <a:ext cx="75824" cy="90824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40901" y="3219464"/>
            <a:ext cx="75824" cy="90824"/>
          </a:xfrm>
          <a:prstGeom prst="rect">
            <a:avLst/>
          </a:prstGeom>
        </p:spPr>
      </p:pic>
      <p:grpSp>
        <p:nvGrpSpPr>
          <p:cNvPr id="80" name="object 80"/>
          <p:cNvGrpSpPr/>
          <p:nvPr/>
        </p:nvGrpSpPr>
        <p:grpSpPr>
          <a:xfrm>
            <a:off x="2342420" y="3421001"/>
            <a:ext cx="2447290" cy="2389505"/>
            <a:chOff x="2342420" y="3421001"/>
            <a:chExt cx="2447290" cy="2389505"/>
          </a:xfrm>
        </p:grpSpPr>
        <p:sp>
          <p:nvSpPr>
            <p:cNvPr id="81" name="object 81"/>
            <p:cNvSpPr/>
            <p:nvPr/>
          </p:nvSpPr>
          <p:spPr>
            <a:xfrm>
              <a:off x="2404317" y="3514925"/>
              <a:ext cx="0" cy="2233295"/>
            </a:xfrm>
            <a:custGeom>
              <a:avLst/>
              <a:gdLst/>
              <a:ahLst/>
              <a:cxnLst/>
              <a:rect l="l" t="t" r="r" b="b"/>
              <a:pathLst>
                <a:path h="2233295">
                  <a:moveTo>
                    <a:pt x="0" y="0"/>
                  </a:moveTo>
                  <a:lnTo>
                    <a:pt x="0" y="2233127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42420" y="3421001"/>
              <a:ext cx="123793" cy="155820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2403886" y="5748357"/>
              <a:ext cx="2291715" cy="0"/>
            </a:xfrm>
            <a:custGeom>
              <a:avLst/>
              <a:gdLst/>
              <a:ahLst/>
              <a:cxnLst/>
              <a:rect l="l" t="t" r="r" b="b"/>
              <a:pathLst>
                <a:path w="2291715">
                  <a:moveTo>
                    <a:pt x="2291628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3617" y="5686460"/>
              <a:ext cx="155820" cy="123792"/>
            </a:xfrm>
            <a:prstGeom prst="rect">
              <a:avLst/>
            </a:prstGeom>
          </p:spPr>
        </p:pic>
      </p:grpSp>
      <p:sp>
        <p:nvSpPr>
          <p:cNvPr id="85" name="object 85"/>
          <p:cNvSpPr txBox="1"/>
          <p:nvPr/>
        </p:nvSpPr>
        <p:spPr>
          <a:xfrm>
            <a:off x="2147025" y="3112034"/>
            <a:ext cx="1981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y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2547900" y="3667608"/>
            <a:ext cx="2079625" cy="2000250"/>
            <a:chOff x="2547900" y="3667608"/>
            <a:chExt cx="2079625" cy="2000250"/>
          </a:xfrm>
        </p:grpSpPr>
        <p:sp>
          <p:nvSpPr>
            <p:cNvPr id="87" name="object 87"/>
            <p:cNvSpPr/>
            <p:nvPr/>
          </p:nvSpPr>
          <p:spPr>
            <a:xfrm>
              <a:off x="2552663" y="3672370"/>
              <a:ext cx="2070100" cy="1990725"/>
            </a:xfrm>
            <a:custGeom>
              <a:avLst/>
              <a:gdLst/>
              <a:ahLst/>
              <a:cxnLst/>
              <a:rect l="l" t="t" r="r" b="b"/>
              <a:pathLst>
                <a:path w="2070100" h="1990725">
                  <a:moveTo>
                    <a:pt x="0" y="1990499"/>
                  </a:moveTo>
                  <a:lnTo>
                    <a:pt x="2069699" y="0"/>
                  </a:lnTo>
                </a:path>
              </a:pathLst>
            </a:custGeom>
            <a:ln w="952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83615" y="4222326"/>
              <a:ext cx="120524" cy="156524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30674" y="5054659"/>
              <a:ext cx="120524" cy="156524"/>
            </a:xfrm>
            <a:prstGeom prst="rect">
              <a:avLst/>
            </a:prstGeom>
          </p:spPr>
        </p:pic>
      </p:grpSp>
      <p:sp>
        <p:nvSpPr>
          <p:cNvPr id="90" name="object 90"/>
          <p:cNvSpPr txBox="1"/>
          <p:nvPr/>
        </p:nvSpPr>
        <p:spPr>
          <a:xfrm>
            <a:off x="4708899" y="5730224"/>
            <a:ext cx="2235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X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A8EFC6D5-4848-6F41-A682-FB379E1DA91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59327" y="6007353"/>
            <a:ext cx="20955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14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7976" y="345087"/>
            <a:ext cx="6681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00" b="1" spc="15" dirty="0">
                <a:solidFill>
                  <a:srgbClr val="FDFDFD"/>
                </a:solidFill>
              </a:rPr>
              <a:t>Линейная регрессия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1200" y="1816299"/>
            <a:ext cx="443293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latin typeface="Arial"/>
                <a:cs typeface="Arial"/>
              </a:rPr>
              <a:t>А</a:t>
            </a:r>
            <a:r>
              <a:rPr sz="2500" b="1" spc="-140" dirty="0">
                <a:latin typeface="Arial"/>
                <a:cs typeface="Arial"/>
              </a:rPr>
              <a:t> </a:t>
            </a:r>
            <a:r>
              <a:rPr sz="2500" b="1" spc="-15" dirty="0">
                <a:latin typeface="Arial"/>
                <a:cs typeface="Arial"/>
              </a:rPr>
              <a:t>если</a:t>
            </a:r>
            <a:r>
              <a:rPr sz="2500" b="1" spc="-140" dirty="0">
                <a:latin typeface="Arial"/>
                <a:cs typeface="Arial"/>
              </a:rPr>
              <a:t> </a:t>
            </a:r>
            <a:r>
              <a:rPr sz="2500" b="1" spc="-25" dirty="0">
                <a:latin typeface="Arial"/>
                <a:cs typeface="Arial"/>
              </a:rPr>
              <a:t>точек</a:t>
            </a:r>
            <a:r>
              <a:rPr sz="2500" b="1" spc="-140" dirty="0">
                <a:latin typeface="Arial"/>
                <a:cs typeface="Arial"/>
              </a:rPr>
              <a:t> </a:t>
            </a:r>
            <a:r>
              <a:rPr sz="2500" b="1" spc="-5" dirty="0">
                <a:latin typeface="Arial"/>
                <a:cs typeface="Arial"/>
              </a:rPr>
              <a:t>три</a:t>
            </a:r>
            <a:r>
              <a:rPr sz="2500" b="1" spc="-140" dirty="0">
                <a:latin typeface="Arial"/>
                <a:cs typeface="Arial"/>
              </a:rPr>
              <a:t> </a:t>
            </a:r>
            <a:r>
              <a:rPr sz="2500" b="1" spc="-5" dirty="0">
                <a:latin typeface="Arial"/>
                <a:cs typeface="Arial"/>
              </a:rPr>
              <a:t>или</a:t>
            </a:r>
            <a:r>
              <a:rPr sz="2500" b="1" spc="-140" dirty="0">
                <a:latin typeface="Arial"/>
                <a:cs typeface="Arial"/>
              </a:rPr>
              <a:t> </a:t>
            </a:r>
            <a:r>
              <a:rPr sz="2500" b="1" spc="-20" dirty="0">
                <a:latin typeface="Arial"/>
                <a:cs typeface="Arial"/>
              </a:rPr>
              <a:t>более</a:t>
            </a:r>
            <a:r>
              <a:rPr sz="2500" b="1" spc="-20" dirty="0">
                <a:latin typeface="Calibri"/>
                <a:cs typeface="Calibri"/>
              </a:rPr>
              <a:t>?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8425" y="1721049"/>
            <a:ext cx="472567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spc="-15" dirty="0">
                <a:latin typeface="Arial"/>
                <a:cs typeface="Arial"/>
              </a:rPr>
              <a:t>Через две </a:t>
            </a:r>
            <a:r>
              <a:rPr sz="2500" spc="-20" dirty="0">
                <a:latin typeface="Arial"/>
                <a:cs typeface="Arial"/>
              </a:rPr>
              <a:t>точки </a:t>
            </a:r>
            <a:r>
              <a:rPr sz="2500" spc="-5" dirty="0">
                <a:latin typeface="Arial"/>
                <a:cs typeface="Arial"/>
              </a:rPr>
              <a:t>на </a:t>
            </a:r>
            <a:r>
              <a:rPr sz="2500" dirty="0">
                <a:latin typeface="Arial"/>
                <a:cs typeface="Arial"/>
              </a:rPr>
              <a:t>плоскости 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можно</a:t>
            </a:r>
            <a:r>
              <a:rPr sz="2500" spc="-14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легко</a:t>
            </a:r>
            <a:r>
              <a:rPr sz="2500" spc="-13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провести</a:t>
            </a:r>
            <a:r>
              <a:rPr sz="2500" spc="-14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прямую</a:t>
            </a:r>
            <a:r>
              <a:rPr sz="2500" spc="-14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и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spc="-15" dirty="0">
                <a:latin typeface="Arial"/>
                <a:cs typeface="Arial"/>
              </a:rPr>
              <a:t>тольку</a:t>
            </a:r>
            <a:r>
              <a:rPr sz="2500" spc="-135" dirty="0">
                <a:latin typeface="Arial"/>
                <a:cs typeface="Arial"/>
              </a:rPr>
              <a:t> </a:t>
            </a:r>
            <a:r>
              <a:rPr sz="2500" spc="-20" dirty="0">
                <a:latin typeface="Arial"/>
                <a:cs typeface="Arial"/>
              </a:rPr>
              <a:t>одну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262367" y="3680135"/>
            <a:ext cx="2447290" cy="2389505"/>
            <a:chOff x="7262367" y="3680135"/>
            <a:chExt cx="2447290" cy="2389505"/>
          </a:xfrm>
        </p:grpSpPr>
        <p:sp>
          <p:nvSpPr>
            <p:cNvPr id="6" name="object 6"/>
            <p:cNvSpPr/>
            <p:nvPr/>
          </p:nvSpPr>
          <p:spPr>
            <a:xfrm>
              <a:off x="7324264" y="3774058"/>
              <a:ext cx="0" cy="2233295"/>
            </a:xfrm>
            <a:custGeom>
              <a:avLst/>
              <a:gdLst/>
              <a:ahLst/>
              <a:cxnLst/>
              <a:rect l="l" t="t" r="r" b="b"/>
              <a:pathLst>
                <a:path h="2233295">
                  <a:moveTo>
                    <a:pt x="0" y="0"/>
                  </a:moveTo>
                  <a:lnTo>
                    <a:pt x="0" y="2233128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62367" y="3680135"/>
              <a:ext cx="123793" cy="1558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323832" y="6007490"/>
              <a:ext cx="2291715" cy="0"/>
            </a:xfrm>
            <a:custGeom>
              <a:avLst/>
              <a:gdLst/>
              <a:ahLst/>
              <a:cxnLst/>
              <a:rect l="l" t="t" r="r" b="b"/>
              <a:pathLst>
                <a:path w="2291715">
                  <a:moveTo>
                    <a:pt x="2291628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53564" y="5945594"/>
              <a:ext cx="155820" cy="12379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066972" y="3371168"/>
            <a:ext cx="1981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y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28845" y="5989358"/>
            <a:ext cx="2235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X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479335" y="3535941"/>
            <a:ext cx="1510030" cy="1922780"/>
            <a:chOff x="7479335" y="3535941"/>
            <a:chExt cx="1510030" cy="192278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25068" y="4650511"/>
              <a:ext cx="75824" cy="908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23809" y="4628859"/>
              <a:ext cx="75824" cy="908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56932" y="4440912"/>
              <a:ext cx="75824" cy="9082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360435" y="44037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5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360435" y="44037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8796" y="4105553"/>
              <a:ext cx="75824" cy="908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06015" y="4983332"/>
              <a:ext cx="75824" cy="908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41027" y="5067172"/>
              <a:ext cx="75824" cy="9082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588210" y="4140024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88210" y="4140024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542655" y="37180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542655" y="37180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4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54568" y="4820961"/>
              <a:ext cx="75824" cy="9082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360435" y="44037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5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360435" y="44037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19008" y="4240754"/>
              <a:ext cx="75824" cy="908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497101" y="4245516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497101" y="4245516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07110" y="5209298"/>
              <a:ext cx="75824" cy="9082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74558" y="3977023"/>
              <a:ext cx="75824" cy="9082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65668" y="3818785"/>
              <a:ext cx="75824" cy="9082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6461" y="3588687"/>
              <a:ext cx="75824" cy="9082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13126" y="3694179"/>
              <a:ext cx="75824" cy="9082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13126" y="3535941"/>
              <a:ext cx="75824" cy="9082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98220" y="4998313"/>
              <a:ext cx="75824" cy="9082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36787" y="4768215"/>
              <a:ext cx="75824" cy="9082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79335" y="5367536"/>
              <a:ext cx="75824" cy="9082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633766" y="3823548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4" y="56472"/>
                  </a:lnTo>
                  <a:lnTo>
                    <a:pt x="0" y="40649"/>
                  </a:lnTo>
                  <a:lnTo>
                    <a:pt x="2604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633766" y="3823548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4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4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4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360435" y="47085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5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360435" y="47085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8796" y="4410353"/>
              <a:ext cx="75824" cy="90824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588210" y="4444824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588210" y="4444824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542655" y="40228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542655" y="40228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4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360435" y="47085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5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360435" y="47085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497101" y="4550316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497101" y="4550316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74558" y="4281823"/>
              <a:ext cx="75824" cy="9082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65668" y="4123585"/>
              <a:ext cx="75824" cy="9082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6461" y="3893487"/>
              <a:ext cx="75824" cy="9082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13126" y="3998979"/>
              <a:ext cx="75824" cy="9082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13126" y="3840741"/>
              <a:ext cx="75824" cy="90824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8633766" y="4128348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4" y="56472"/>
                  </a:lnTo>
                  <a:lnTo>
                    <a:pt x="0" y="40649"/>
                  </a:lnTo>
                  <a:lnTo>
                    <a:pt x="2604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633766" y="4128348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4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4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4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750835" y="49371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5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750835" y="49371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79196" y="4638953"/>
              <a:ext cx="75824" cy="90824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7978610" y="4673424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978610" y="4673424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933055" y="42514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933055" y="42514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4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750835" y="49371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5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750835" y="49371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887501" y="4778916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887501" y="4778916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4958" y="4510423"/>
              <a:ext cx="75824" cy="90824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56068" y="4352185"/>
              <a:ext cx="75824" cy="90824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66861" y="4122087"/>
              <a:ext cx="75824" cy="90824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03526" y="4227579"/>
              <a:ext cx="75824" cy="90824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03526" y="4069341"/>
              <a:ext cx="75824" cy="9082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8024166" y="4356948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4" y="56472"/>
                  </a:lnTo>
                  <a:lnTo>
                    <a:pt x="0" y="40649"/>
                  </a:lnTo>
                  <a:lnTo>
                    <a:pt x="2604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024166" y="4356948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4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4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4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8" name="object 7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58681" y="3324956"/>
            <a:ext cx="75824" cy="90824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40901" y="3219464"/>
            <a:ext cx="75824" cy="90824"/>
          </a:xfrm>
          <a:prstGeom prst="rect">
            <a:avLst/>
          </a:prstGeom>
        </p:spPr>
      </p:pic>
      <p:grpSp>
        <p:nvGrpSpPr>
          <p:cNvPr id="80" name="object 80"/>
          <p:cNvGrpSpPr/>
          <p:nvPr/>
        </p:nvGrpSpPr>
        <p:grpSpPr>
          <a:xfrm>
            <a:off x="2342420" y="3421001"/>
            <a:ext cx="2447290" cy="2389505"/>
            <a:chOff x="2342420" y="3421001"/>
            <a:chExt cx="2447290" cy="2389505"/>
          </a:xfrm>
        </p:grpSpPr>
        <p:sp>
          <p:nvSpPr>
            <p:cNvPr id="81" name="object 81"/>
            <p:cNvSpPr/>
            <p:nvPr/>
          </p:nvSpPr>
          <p:spPr>
            <a:xfrm>
              <a:off x="2404317" y="3514925"/>
              <a:ext cx="0" cy="2233295"/>
            </a:xfrm>
            <a:custGeom>
              <a:avLst/>
              <a:gdLst/>
              <a:ahLst/>
              <a:cxnLst/>
              <a:rect l="l" t="t" r="r" b="b"/>
              <a:pathLst>
                <a:path h="2233295">
                  <a:moveTo>
                    <a:pt x="0" y="0"/>
                  </a:moveTo>
                  <a:lnTo>
                    <a:pt x="0" y="2233127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42420" y="3421001"/>
              <a:ext cx="123793" cy="155820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2403886" y="5748357"/>
              <a:ext cx="2291715" cy="0"/>
            </a:xfrm>
            <a:custGeom>
              <a:avLst/>
              <a:gdLst/>
              <a:ahLst/>
              <a:cxnLst/>
              <a:rect l="l" t="t" r="r" b="b"/>
              <a:pathLst>
                <a:path w="2291715">
                  <a:moveTo>
                    <a:pt x="2291628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3617" y="5686460"/>
              <a:ext cx="155820" cy="123792"/>
            </a:xfrm>
            <a:prstGeom prst="rect">
              <a:avLst/>
            </a:prstGeom>
          </p:spPr>
        </p:pic>
      </p:grpSp>
      <p:sp>
        <p:nvSpPr>
          <p:cNvPr id="85" name="object 85"/>
          <p:cNvSpPr txBox="1"/>
          <p:nvPr/>
        </p:nvSpPr>
        <p:spPr>
          <a:xfrm>
            <a:off x="2147025" y="3112034"/>
            <a:ext cx="1981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y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2547900" y="3667608"/>
            <a:ext cx="2079625" cy="2000250"/>
            <a:chOff x="2547900" y="3667608"/>
            <a:chExt cx="2079625" cy="2000250"/>
          </a:xfrm>
        </p:grpSpPr>
        <p:sp>
          <p:nvSpPr>
            <p:cNvPr id="87" name="object 87"/>
            <p:cNvSpPr/>
            <p:nvPr/>
          </p:nvSpPr>
          <p:spPr>
            <a:xfrm>
              <a:off x="2552663" y="3672370"/>
              <a:ext cx="2070100" cy="1990725"/>
            </a:xfrm>
            <a:custGeom>
              <a:avLst/>
              <a:gdLst/>
              <a:ahLst/>
              <a:cxnLst/>
              <a:rect l="l" t="t" r="r" b="b"/>
              <a:pathLst>
                <a:path w="2070100" h="1990725">
                  <a:moveTo>
                    <a:pt x="0" y="1990499"/>
                  </a:moveTo>
                  <a:lnTo>
                    <a:pt x="2069699" y="0"/>
                  </a:lnTo>
                </a:path>
              </a:pathLst>
            </a:custGeom>
            <a:ln w="952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83615" y="4222326"/>
              <a:ext cx="120524" cy="156524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30674" y="5054659"/>
              <a:ext cx="120524" cy="156524"/>
            </a:xfrm>
            <a:prstGeom prst="rect">
              <a:avLst/>
            </a:prstGeom>
          </p:spPr>
        </p:pic>
      </p:grpSp>
      <p:sp>
        <p:nvSpPr>
          <p:cNvPr id="90" name="object 90"/>
          <p:cNvSpPr txBox="1"/>
          <p:nvPr/>
        </p:nvSpPr>
        <p:spPr>
          <a:xfrm>
            <a:off x="4708899" y="5730224"/>
            <a:ext cx="2235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X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A8EFC6D5-4848-6F41-A682-FB379E1DA91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59327" y="6007353"/>
            <a:ext cx="2095500" cy="685800"/>
          </a:xfrm>
          <a:prstGeom prst="rect">
            <a:avLst/>
          </a:prstGeom>
        </p:spPr>
      </p:pic>
      <p:pic>
        <p:nvPicPr>
          <p:cNvPr id="92" name="Рисунок 91">
            <a:extLst>
              <a:ext uri="{FF2B5EF4-FFF2-40B4-BE49-F238E27FC236}">
                <a16:creationId xmlns:a16="http://schemas.microsoft.com/office/drawing/2014/main" id="{067427A3-5367-E74F-B755-30689FADF8D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99370" y="2331261"/>
            <a:ext cx="27305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64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Рисунок 92">
            <a:extLst>
              <a:ext uri="{FF2B5EF4-FFF2-40B4-BE49-F238E27FC236}">
                <a16:creationId xmlns:a16="http://schemas.microsoft.com/office/drawing/2014/main" id="{6F244D1C-D0DD-3043-9B7F-267DC1A53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36" y="3145113"/>
            <a:ext cx="9260674" cy="2158587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7976" y="345087"/>
            <a:ext cx="6681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00" b="1" spc="15" dirty="0">
                <a:solidFill>
                  <a:srgbClr val="FDFDFD"/>
                </a:solidFill>
              </a:rPr>
              <a:t>Линейная регрессия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" y="1421994"/>
            <a:ext cx="443293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500" b="1" dirty="0">
                <a:latin typeface="Arial"/>
                <a:cs typeface="Arial"/>
              </a:rPr>
              <a:t>Картина мира:</a:t>
            </a:r>
            <a:endParaRPr sz="25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263195" y="3680135"/>
            <a:ext cx="2447290" cy="2389505"/>
            <a:chOff x="7262367" y="3680135"/>
            <a:chExt cx="2447290" cy="2389505"/>
          </a:xfrm>
        </p:grpSpPr>
        <p:sp>
          <p:nvSpPr>
            <p:cNvPr id="6" name="object 6"/>
            <p:cNvSpPr/>
            <p:nvPr/>
          </p:nvSpPr>
          <p:spPr>
            <a:xfrm>
              <a:off x="7324264" y="3774058"/>
              <a:ext cx="0" cy="2233295"/>
            </a:xfrm>
            <a:custGeom>
              <a:avLst/>
              <a:gdLst/>
              <a:ahLst/>
              <a:cxnLst/>
              <a:rect l="l" t="t" r="r" b="b"/>
              <a:pathLst>
                <a:path h="2233295">
                  <a:moveTo>
                    <a:pt x="0" y="0"/>
                  </a:moveTo>
                  <a:lnTo>
                    <a:pt x="0" y="2233128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62367" y="3680135"/>
              <a:ext cx="123793" cy="1558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323832" y="6007490"/>
              <a:ext cx="2291715" cy="0"/>
            </a:xfrm>
            <a:custGeom>
              <a:avLst/>
              <a:gdLst/>
              <a:ahLst/>
              <a:cxnLst/>
              <a:rect l="l" t="t" r="r" b="b"/>
              <a:pathLst>
                <a:path w="2291715">
                  <a:moveTo>
                    <a:pt x="2291628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53564" y="5945594"/>
              <a:ext cx="155820" cy="12379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067800" y="3371168"/>
            <a:ext cx="1981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y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29673" y="5989358"/>
            <a:ext cx="2235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X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480163" y="3535941"/>
            <a:ext cx="1510030" cy="1922780"/>
            <a:chOff x="7479335" y="3535941"/>
            <a:chExt cx="1510030" cy="192278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25068" y="4650511"/>
              <a:ext cx="75824" cy="908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23809" y="4628859"/>
              <a:ext cx="75824" cy="908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56932" y="4440912"/>
              <a:ext cx="75824" cy="9082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360435" y="44037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5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360435" y="44037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8796" y="4105553"/>
              <a:ext cx="75824" cy="908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06015" y="4983332"/>
              <a:ext cx="75824" cy="908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41027" y="5067172"/>
              <a:ext cx="75824" cy="9082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588210" y="4140024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88210" y="4140024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542655" y="37180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542655" y="37180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4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54568" y="4820961"/>
              <a:ext cx="75824" cy="9082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360435" y="44037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5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360435" y="44037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19008" y="4240754"/>
              <a:ext cx="75824" cy="908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497101" y="4245516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497101" y="4245516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07110" y="5209298"/>
              <a:ext cx="75824" cy="9082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74558" y="3977023"/>
              <a:ext cx="75824" cy="9082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65668" y="3818785"/>
              <a:ext cx="75824" cy="9082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6461" y="3588687"/>
              <a:ext cx="75824" cy="9082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13126" y="3694179"/>
              <a:ext cx="75824" cy="9082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13126" y="3535941"/>
              <a:ext cx="75824" cy="9082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98220" y="4998313"/>
              <a:ext cx="75824" cy="9082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36787" y="4768215"/>
              <a:ext cx="75824" cy="9082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79335" y="5367536"/>
              <a:ext cx="75824" cy="9082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633766" y="3823548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4" y="56472"/>
                  </a:lnTo>
                  <a:lnTo>
                    <a:pt x="0" y="40649"/>
                  </a:lnTo>
                  <a:lnTo>
                    <a:pt x="2604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633766" y="3823548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4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4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4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360435" y="47085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5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360435" y="47085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8796" y="4410353"/>
              <a:ext cx="75824" cy="90824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588210" y="4444824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588210" y="4444824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542655" y="40228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542655" y="40228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4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360435" y="47085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5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360435" y="47085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497101" y="4550316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497101" y="4550316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74558" y="4281823"/>
              <a:ext cx="75824" cy="9082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65668" y="4123585"/>
              <a:ext cx="75824" cy="9082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6461" y="3893487"/>
              <a:ext cx="75824" cy="9082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13126" y="3998979"/>
              <a:ext cx="75824" cy="9082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13126" y="3840741"/>
              <a:ext cx="75824" cy="90824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8633766" y="4128348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4" y="56472"/>
                  </a:lnTo>
                  <a:lnTo>
                    <a:pt x="0" y="40649"/>
                  </a:lnTo>
                  <a:lnTo>
                    <a:pt x="2604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633766" y="4128348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4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4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4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750835" y="49371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5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750835" y="49371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79196" y="4638953"/>
              <a:ext cx="75824" cy="90824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7978610" y="4673424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978610" y="4673424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933055" y="42514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933055" y="42514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4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750835" y="49371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5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750835" y="4937155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887501" y="4778916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887501" y="4778916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5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3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5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64958" y="4510423"/>
              <a:ext cx="75824" cy="90824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56068" y="4352185"/>
              <a:ext cx="75824" cy="90824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66861" y="4122087"/>
              <a:ext cx="75824" cy="90824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03526" y="4227579"/>
              <a:ext cx="75824" cy="90824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03526" y="4069341"/>
              <a:ext cx="75824" cy="9082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8024166" y="4356948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33149" y="81299"/>
                  </a:moveTo>
                  <a:lnTo>
                    <a:pt x="20246" y="78105"/>
                  </a:lnTo>
                  <a:lnTo>
                    <a:pt x="9709" y="69393"/>
                  </a:lnTo>
                  <a:lnTo>
                    <a:pt x="2604" y="56472"/>
                  </a:lnTo>
                  <a:lnTo>
                    <a:pt x="0" y="40649"/>
                  </a:lnTo>
                  <a:lnTo>
                    <a:pt x="2604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39647" y="788"/>
                  </a:lnTo>
                  <a:lnTo>
                    <a:pt x="65657" y="32682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024166" y="4356948"/>
              <a:ext cx="66675" cy="81915"/>
            </a:xfrm>
            <a:custGeom>
              <a:avLst/>
              <a:gdLst/>
              <a:ahLst/>
              <a:cxnLst/>
              <a:rect l="l" t="t" r="r" b="b"/>
              <a:pathLst>
                <a:path w="66675" h="81914">
                  <a:moveTo>
                    <a:pt x="0" y="40649"/>
                  </a:moveTo>
                  <a:lnTo>
                    <a:pt x="2604" y="24827"/>
                  </a:lnTo>
                  <a:lnTo>
                    <a:pt x="9709" y="11906"/>
                  </a:lnTo>
                  <a:lnTo>
                    <a:pt x="20246" y="3194"/>
                  </a:lnTo>
                  <a:lnTo>
                    <a:pt x="33149" y="0"/>
                  </a:lnTo>
                  <a:lnTo>
                    <a:pt x="63776" y="25094"/>
                  </a:lnTo>
                  <a:lnTo>
                    <a:pt x="66299" y="40649"/>
                  </a:lnTo>
                  <a:lnTo>
                    <a:pt x="63694" y="56472"/>
                  </a:lnTo>
                  <a:lnTo>
                    <a:pt x="56590" y="69393"/>
                  </a:lnTo>
                  <a:lnTo>
                    <a:pt x="46053" y="78105"/>
                  </a:lnTo>
                  <a:lnTo>
                    <a:pt x="33149" y="81299"/>
                  </a:lnTo>
                  <a:lnTo>
                    <a:pt x="20246" y="78105"/>
                  </a:lnTo>
                  <a:lnTo>
                    <a:pt x="9709" y="69393"/>
                  </a:lnTo>
                  <a:lnTo>
                    <a:pt x="2604" y="56472"/>
                  </a:lnTo>
                  <a:lnTo>
                    <a:pt x="0" y="4064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2" name="Рисунок 91">
            <a:extLst>
              <a:ext uri="{FF2B5EF4-FFF2-40B4-BE49-F238E27FC236}">
                <a16:creationId xmlns:a16="http://schemas.microsoft.com/office/drawing/2014/main" id="{067427A3-5367-E74F-B755-30689FADF8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356" y="1962961"/>
            <a:ext cx="27305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91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7976" y="345087"/>
            <a:ext cx="6681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00" b="1" spc="15" dirty="0">
                <a:solidFill>
                  <a:srgbClr val="FDFDFD"/>
                </a:solidFill>
              </a:rPr>
              <a:t>Линейная регрессия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85837" y="1816299"/>
            <a:ext cx="443293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latin typeface="Arial"/>
                <a:cs typeface="Arial"/>
              </a:rPr>
              <a:t>А</a:t>
            </a:r>
            <a:r>
              <a:rPr sz="2500" b="1" spc="-140" dirty="0">
                <a:latin typeface="Arial"/>
                <a:cs typeface="Arial"/>
              </a:rPr>
              <a:t> </a:t>
            </a:r>
            <a:r>
              <a:rPr sz="2500" b="1" spc="-15" dirty="0">
                <a:latin typeface="Arial"/>
                <a:cs typeface="Arial"/>
              </a:rPr>
              <a:t>если</a:t>
            </a:r>
            <a:r>
              <a:rPr sz="2500" b="1" spc="-140" dirty="0">
                <a:latin typeface="Arial"/>
                <a:cs typeface="Arial"/>
              </a:rPr>
              <a:t> </a:t>
            </a:r>
            <a:r>
              <a:rPr sz="2500" b="1" spc="-25" dirty="0">
                <a:latin typeface="Arial"/>
                <a:cs typeface="Arial"/>
              </a:rPr>
              <a:t>точек</a:t>
            </a:r>
            <a:r>
              <a:rPr sz="2500" b="1" spc="-140" dirty="0">
                <a:latin typeface="Arial"/>
                <a:cs typeface="Arial"/>
              </a:rPr>
              <a:t> </a:t>
            </a:r>
            <a:r>
              <a:rPr sz="2500" b="1" spc="-5" dirty="0">
                <a:latin typeface="Arial"/>
                <a:cs typeface="Arial"/>
              </a:rPr>
              <a:t>три</a:t>
            </a:r>
            <a:r>
              <a:rPr sz="2500" b="1" spc="-140" dirty="0">
                <a:latin typeface="Arial"/>
                <a:cs typeface="Arial"/>
              </a:rPr>
              <a:t> </a:t>
            </a:r>
            <a:r>
              <a:rPr sz="2500" b="1" spc="-5" dirty="0">
                <a:latin typeface="Arial"/>
                <a:cs typeface="Arial"/>
              </a:rPr>
              <a:t>или</a:t>
            </a:r>
            <a:r>
              <a:rPr sz="2500" b="1" spc="-140" dirty="0">
                <a:latin typeface="Arial"/>
                <a:cs typeface="Arial"/>
              </a:rPr>
              <a:t> </a:t>
            </a:r>
            <a:r>
              <a:rPr sz="2500" b="1" spc="-20" dirty="0">
                <a:latin typeface="Arial"/>
                <a:cs typeface="Arial"/>
              </a:rPr>
              <a:t>более</a:t>
            </a:r>
            <a:r>
              <a:rPr sz="2500" b="1" spc="-20" dirty="0">
                <a:latin typeface="Calibri"/>
                <a:cs typeface="Calibri"/>
              </a:rPr>
              <a:t>?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67005" y="3680135"/>
            <a:ext cx="2447290" cy="2389505"/>
            <a:chOff x="2867005" y="3680135"/>
            <a:chExt cx="2447290" cy="2389505"/>
          </a:xfrm>
        </p:grpSpPr>
        <p:sp>
          <p:nvSpPr>
            <p:cNvPr id="5" name="object 5"/>
            <p:cNvSpPr/>
            <p:nvPr/>
          </p:nvSpPr>
          <p:spPr>
            <a:xfrm>
              <a:off x="2928901" y="3774058"/>
              <a:ext cx="0" cy="2233295"/>
            </a:xfrm>
            <a:custGeom>
              <a:avLst/>
              <a:gdLst/>
              <a:ahLst/>
              <a:cxnLst/>
              <a:rect l="l" t="t" r="r" b="b"/>
              <a:pathLst>
                <a:path h="2233295">
                  <a:moveTo>
                    <a:pt x="0" y="0"/>
                  </a:moveTo>
                  <a:lnTo>
                    <a:pt x="0" y="2233128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7005" y="3680135"/>
              <a:ext cx="123793" cy="1558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928470" y="6007490"/>
              <a:ext cx="2291715" cy="0"/>
            </a:xfrm>
            <a:custGeom>
              <a:avLst/>
              <a:gdLst/>
              <a:ahLst/>
              <a:cxnLst/>
              <a:rect l="l" t="t" r="r" b="b"/>
              <a:pathLst>
                <a:path w="2291715">
                  <a:moveTo>
                    <a:pt x="2291628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58202" y="5945594"/>
              <a:ext cx="155820" cy="12379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620062" y="3371160"/>
            <a:ext cx="1981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y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33482" y="4855075"/>
            <a:ext cx="4969510" cy="1617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2900" marR="5080">
              <a:lnSpc>
                <a:spcPct val="100000"/>
              </a:lnSpc>
              <a:spcBef>
                <a:spcPts val="100"/>
              </a:spcBef>
            </a:pPr>
            <a:r>
              <a:rPr sz="2500" spc="-5" dirty="0">
                <a:latin typeface="Arial"/>
                <a:cs typeface="Arial"/>
              </a:rPr>
              <a:t>Но </a:t>
            </a:r>
            <a:r>
              <a:rPr sz="2500" spc="15" dirty="0">
                <a:latin typeface="Arial"/>
                <a:cs typeface="Arial"/>
              </a:rPr>
              <a:t>как </a:t>
            </a:r>
            <a:r>
              <a:rPr sz="2500" spc="-5" dirty="0">
                <a:latin typeface="Arial"/>
                <a:cs typeface="Arial"/>
              </a:rPr>
              <a:t>понять</a:t>
            </a:r>
            <a:r>
              <a:rPr sz="2500" spc="-5" dirty="0">
                <a:latin typeface="Calibri"/>
                <a:cs typeface="Calibri"/>
              </a:rPr>
              <a:t>, </a:t>
            </a:r>
            <a:r>
              <a:rPr sz="2500" spc="-15" dirty="0">
                <a:latin typeface="Arial"/>
                <a:cs typeface="Arial"/>
              </a:rPr>
              <a:t>что </a:t>
            </a:r>
            <a:r>
              <a:rPr sz="2500" spc="-5" dirty="0">
                <a:latin typeface="Arial"/>
                <a:cs typeface="Arial"/>
              </a:rPr>
              <a:t>вы 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проверили</a:t>
            </a:r>
            <a:r>
              <a:rPr sz="2500" spc="-16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ее</a:t>
            </a:r>
            <a:r>
              <a:rPr sz="2500" spc="-15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хорошо</a:t>
            </a:r>
            <a:r>
              <a:rPr sz="2500" spc="-10" dirty="0">
                <a:latin typeface="Calibri"/>
                <a:cs typeface="Calibri"/>
              </a:rPr>
              <a:t>?</a:t>
            </a:r>
            <a:endParaRPr sz="2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latin typeface="Calibri"/>
                <a:cs typeface="Calibri"/>
              </a:rPr>
              <a:t>X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906956" y="2222699"/>
            <a:ext cx="4432935" cy="19620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spc="-5" dirty="0">
                <a:latin typeface="Arial"/>
                <a:cs typeface="Arial"/>
              </a:rPr>
              <a:t>Можно </a:t>
            </a:r>
            <a:r>
              <a:rPr sz="2500" spc="-15" dirty="0">
                <a:latin typeface="Arial"/>
                <a:cs typeface="Arial"/>
              </a:rPr>
              <a:t>конечно 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spc="-15" dirty="0">
                <a:latin typeface="Arial"/>
                <a:cs typeface="Arial"/>
              </a:rPr>
              <a:t>попробовать</a:t>
            </a:r>
            <a:r>
              <a:rPr sz="2500" spc="-14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провести</a:t>
            </a:r>
            <a:r>
              <a:rPr sz="2500" spc="-14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ее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руками</a:t>
            </a:r>
            <a:r>
              <a:rPr sz="2500" dirty="0">
                <a:latin typeface="Calibri"/>
                <a:cs typeface="Calibri"/>
              </a:rPr>
              <a:t>, </a:t>
            </a:r>
            <a:r>
              <a:rPr sz="2500" spc="-5" dirty="0" err="1">
                <a:latin typeface="Arial"/>
                <a:cs typeface="Arial"/>
              </a:rPr>
              <a:t>опираясь</a:t>
            </a:r>
            <a:r>
              <a:rPr lang="ru-RU" sz="2500" spc="-5" dirty="0">
                <a:latin typeface="Arial"/>
                <a:cs typeface="Arial"/>
              </a:rPr>
              <a:t> </a:t>
            </a:r>
            <a:r>
              <a:rPr sz="2500" spc="-15" dirty="0" err="1">
                <a:latin typeface="Arial"/>
                <a:cs typeface="Arial"/>
              </a:rPr>
              <a:t>зрительно</a:t>
            </a:r>
            <a:r>
              <a:rPr lang="ru-RU" sz="2500" spc="-15" dirty="0">
                <a:latin typeface="Arial"/>
                <a:cs typeface="Arial"/>
              </a:rPr>
              <a:t>.</a:t>
            </a:r>
            <a:endParaRPr lang="ru-RU" sz="2500" spc="-15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ru-RU" sz="2500" spc="-15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sz="2500" dirty="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38762" y="2391787"/>
            <a:ext cx="3568700" cy="3609975"/>
            <a:chOff x="2938762" y="2391787"/>
            <a:chExt cx="3568700" cy="360997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73315" y="3579294"/>
              <a:ext cx="86924" cy="971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52183" y="3445067"/>
              <a:ext cx="86924" cy="971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11934" y="3558704"/>
              <a:ext cx="86924" cy="971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11934" y="3388249"/>
              <a:ext cx="86924" cy="971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35937" y="5361260"/>
              <a:ext cx="86924" cy="971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79816" y="3692932"/>
              <a:ext cx="86924" cy="971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24943" y="3692932"/>
              <a:ext cx="1414164" cy="159499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165075" y="4651031"/>
              <a:ext cx="77470" cy="87630"/>
            </a:xfrm>
            <a:custGeom>
              <a:avLst/>
              <a:gdLst/>
              <a:ahLst/>
              <a:cxnLst/>
              <a:rect l="l" t="t" r="r" b="b"/>
              <a:pathLst>
                <a:path w="77470" h="87629">
                  <a:moveTo>
                    <a:pt x="38699" y="87599"/>
                  </a:moveTo>
                  <a:lnTo>
                    <a:pt x="23636" y="84158"/>
                  </a:lnTo>
                  <a:lnTo>
                    <a:pt x="11335" y="74771"/>
                  </a:lnTo>
                  <a:lnTo>
                    <a:pt x="3041" y="60849"/>
                  </a:lnTo>
                  <a:lnTo>
                    <a:pt x="0" y="43799"/>
                  </a:lnTo>
                  <a:lnTo>
                    <a:pt x="3041" y="26751"/>
                  </a:lnTo>
                  <a:lnTo>
                    <a:pt x="11335" y="12828"/>
                  </a:lnTo>
                  <a:lnTo>
                    <a:pt x="23636" y="3442"/>
                  </a:lnTo>
                  <a:lnTo>
                    <a:pt x="38699" y="0"/>
                  </a:lnTo>
                  <a:lnTo>
                    <a:pt x="46285" y="849"/>
                  </a:lnTo>
                  <a:lnTo>
                    <a:pt x="74454" y="27038"/>
                  </a:lnTo>
                  <a:lnTo>
                    <a:pt x="77399" y="43799"/>
                  </a:lnTo>
                  <a:lnTo>
                    <a:pt x="74358" y="60849"/>
                  </a:lnTo>
                  <a:lnTo>
                    <a:pt x="66065" y="74771"/>
                  </a:lnTo>
                  <a:lnTo>
                    <a:pt x="53763" y="84158"/>
                  </a:lnTo>
                  <a:lnTo>
                    <a:pt x="38699" y="875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65075" y="4651031"/>
              <a:ext cx="77470" cy="87630"/>
            </a:xfrm>
            <a:custGeom>
              <a:avLst/>
              <a:gdLst/>
              <a:ahLst/>
              <a:cxnLst/>
              <a:rect l="l" t="t" r="r" b="b"/>
              <a:pathLst>
                <a:path w="77470" h="87629">
                  <a:moveTo>
                    <a:pt x="0" y="43799"/>
                  </a:moveTo>
                  <a:lnTo>
                    <a:pt x="3041" y="26751"/>
                  </a:lnTo>
                  <a:lnTo>
                    <a:pt x="11335" y="12828"/>
                  </a:lnTo>
                  <a:lnTo>
                    <a:pt x="23636" y="3442"/>
                  </a:lnTo>
                  <a:lnTo>
                    <a:pt x="38699" y="0"/>
                  </a:lnTo>
                  <a:lnTo>
                    <a:pt x="74454" y="27038"/>
                  </a:lnTo>
                  <a:lnTo>
                    <a:pt x="77399" y="43799"/>
                  </a:lnTo>
                  <a:lnTo>
                    <a:pt x="74358" y="60849"/>
                  </a:lnTo>
                  <a:lnTo>
                    <a:pt x="66065" y="74771"/>
                  </a:lnTo>
                  <a:lnTo>
                    <a:pt x="53763" y="84158"/>
                  </a:lnTo>
                  <a:lnTo>
                    <a:pt x="38699" y="87599"/>
                  </a:lnTo>
                  <a:lnTo>
                    <a:pt x="23636" y="84158"/>
                  </a:lnTo>
                  <a:lnTo>
                    <a:pt x="11335" y="74771"/>
                  </a:lnTo>
                  <a:lnTo>
                    <a:pt x="3041" y="60849"/>
                  </a:lnTo>
                  <a:lnTo>
                    <a:pt x="0" y="437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65075" y="4651031"/>
              <a:ext cx="77470" cy="87630"/>
            </a:xfrm>
            <a:custGeom>
              <a:avLst/>
              <a:gdLst/>
              <a:ahLst/>
              <a:cxnLst/>
              <a:rect l="l" t="t" r="r" b="b"/>
              <a:pathLst>
                <a:path w="77470" h="87629">
                  <a:moveTo>
                    <a:pt x="38699" y="87599"/>
                  </a:moveTo>
                  <a:lnTo>
                    <a:pt x="23636" y="84158"/>
                  </a:lnTo>
                  <a:lnTo>
                    <a:pt x="11335" y="74771"/>
                  </a:lnTo>
                  <a:lnTo>
                    <a:pt x="3041" y="60849"/>
                  </a:lnTo>
                  <a:lnTo>
                    <a:pt x="0" y="43799"/>
                  </a:lnTo>
                  <a:lnTo>
                    <a:pt x="3041" y="26751"/>
                  </a:lnTo>
                  <a:lnTo>
                    <a:pt x="11335" y="12828"/>
                  </a:lnTo>
                  <a:lnTo>
                    <a:pt x="23636" y="3442"/>
                  </a:lnTo>
                  <a:lnTo>
                    <a:pt x="38699" y="0"/>
                  </a:lnTo>
                  <a:lnTo>
                    <a:pt x="46285" y="849"/>
                  </a:lnTo>
                  <a:lnTo>
                    <a:pt x="74454" y="27038"/>
                  </a:lnTo>
                  <a:lnTo>
                    <a:pt x="77399" y="43799"/>
                  </a:lnTo>
                  <a:lnTo>
                    <a:pt x="74358" y="60849"/>
                  </a:lnTo>
                  <a:lnTo>
                    <a:pt x="66065" y="74771"/>
                  </a:lnTo>
                  <a:lnTo>
                    <a:pt x="53763" y="84158"/>
                  </a:lnTo>
                  <a:lnTo>
                    <a:pt x="38699" y="875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165075" y="4651031"/>
              <a:ext cx="77470" cy="87630"/>
            </a:xfrm>
            <a:custGeom>
              <a:avLst/>
              <a:gdLst/>
              <a:ahLst/>
              <a:cxnLst/>
              <a:rect l="l" t="t" r="r" b="b"/>
              <a:pathLst>
                <a:path w="77470" h="87629">
                  <a:moveTo>
                    <a:pt x="0" y="43799"/>
                  </a:moveTo>
                  <a:lnTo>
                    <a:pt x="3041" y="26751"/>
                  </a:lnTo>
                  <a:lnTo>
                    <a:pt x="11335" y="12828"/>
                  </a:lnTo>
                  <a:lnTo>
                    <a:pt x="23636" y="3442"/>
                  </a:lnTo>
                  <a:lnTo>
                    <a:pt x="38699" y="0"/>
                  </a:lnTo>
                  <a:lnTo>
                    <a:pt x="74454" y="27038"/>
                  </a:lnTo>
                  <a:lnTo>
                    <a:pt x="77399" y="43799"/>
                  </a:lnTo>
                  <a:lnTo>
                    <a:pt x="74358" y="60849"/>
                  </a:lnTo>
                  <a:lnTo>
                    <a:pt x="66065" y="74771"/>
                  </a:lnTo>
                  <a:lnTo>
                    <a:pt x="53763" y="84158"/>
                  </a:lnTo>
                  <a:lnTo>
                    <a:pt x="38699" y="87599"/>
                  </a:lnTo>
                  <a:lnTo>
                    <a:pt x="23636" y="84158"/>
                  </a:lnTo>
                  <a:lnTo>
                    <a:pt x="11335" y="74771"/>
                  </a:lnTo>
                  <a:lnTo>
                    <a:pt x="3041" y="60849"/>
                  </a:lnTo>
                  <a:lnTo>
                    <a:pt x="0" y="437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11934" y="3887038"/>
              <a:ext cx="86924" cy="971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11934" y="3716582"/>
              <a:ext cx="86924" cy="971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65185" y="3160974"/>
              <a:ext cx="86924" cy="971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78187" y="3047337"/>
              <a:ext cx="86924" cy="9712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953049" y="2495150"/>
              <a:ext cx="3540125" cy="3070225"/>
            </a:xfrm>
            <a:custGeom>
              <a:avLst/>
              <a:gdLst/>
              <a:ahLst/>
              <a:cxnLst/>
              <a:rect l="l" t="t" r="r" b="b"/>
              <a:pathLst>
                <a:path w="3540125" h="3070225">
                  <a:moveTo>
                    <a:pt x="0" y="3069599"/>
                  </a:moveTo>
                  <a:lnTo>
                    <a:pt x="3539699" y="0"/>
                  </a:lnTo>
                </a:path>
              </a:pathLst>
            </a:custGeom>
            <a:ln w="2857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5715" y="3731694"/>
              <a:ext cx="86924" cy="9712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04583" y="3597467"/>
              <a:ext cx="86924" cy="9712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64334" y="3711104"/>
              <a:ext cx="86924" cy="9712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17585" y="3313374"/>
              <a:ext cx="86924" cy="9712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64334" y="3540649"/>
              <a:ext cx="86924" cy="9712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30587" y="3199737"/>
              <a:ext cx="86924" cy="9712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88337" y="5513660"/>
              <a:ext cx="86924" cy="9712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32216" y="3845332"/>
              <a:ext cx="86924" cy="9712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77343" y="3845332"/>
              <a:ext cx="1414164" cy="159499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317475" y="4803431"/>
              <a:ext cx="77470" cy="87630"/>
            </a:xfrm>
            <a:custGeom>
              <a:avLst/>
              <a:gdLst/>
              <a:ahLst/>
              <a:cxnLst/>
              <a:rect l="l" t="t" r="r" b="b"/>
              <a:pathLst>
                <a:path w="77470" h="87629">
                  <a:moveTo>
                    <a:pt x="38699" y="87599"/>
                  </a:moveTo>
                  <a:lnTo>
                    <a:pt x="23636" y="84158"/>
                  </a:lnTo>
                  <a:lnTo>
                    <a:pt x="11335" y="74771"/>
                  </a:lnTo>
                  <a:lnTo>
                    <a:pt x="3041" y="60849"/>
                  </a:lnTo>
                  <a:lnTo>
                    <a:pt x="0" y="43799"/>
                  </a:lnTo>
                  <a:lnTo>
                    <a:pt x="3041" y="26751"/>
                  </a:lnTo>
                  <a:lnTo>
                    <a:pt x="11335" y="12828"/>
                  </a:lnTo>
                  <a:lnTo>
                    <a:pt x="23636" y="3442"/>
                  </a:lnTo>
                  <a:lnTo>
                    <a:pt x="38699" y="0"/>
                  </a:lnTo>
                  <a:lnTo>
                    <a:pt x="46285" y="849"/>
                  </a:lnTo>
                  <a:lnTo>
                    <a:pt x="74454" y="27038"/>
                  </a:lnTo>
                  <a:lnTo>
                    <a:pt x="77399" y="43799"/>
                  </a:lnTo>
                  <a:lnTo>
                    <a:pt x="74358" y="60849"/>
                  </a:lnTo>
                  <a:lnTo>
                    <a:pt x="66065" y="74771"/>
                  </a:lnTo>
                  <a:lnTo>
                    <a:pt x="53763" y="84158"/>
                  </a:lnTo>
                  <a:lnTo>
                    <a:pt x="38699" y="875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317475" y="4803431"/>
              <a:ext cx="77470" cy="87630"/>
            </a:xfrm>
            <a:custGeom>
              <a:avLst/>
              <a:gdLst/>
              <a:ahLst/>
              <a:cxnLst/>
              <a:rect l="l" t="t" r="r" b="b"/>
              <a:pathLst>
                <a:path w="77470" h="87629">
                  <a:moveTo>
                    <a:pt x="0" y="43799"/>
                  </a:moveTo>
                  <a:lnTo>
                    <a:pt x="3041" y="26751"/>
                  </a:lnTo>
                  <a:lnTo>
                    <a:pt x="11335" y="12828"/>
                  </a:lnTo>
                  <a:lnTo>
                    <a:pt x="23636" y="3442"/>
                  </a:lnTo>
                  <a:lnTo>
                    <a:pt x="38699" y="0"/>
                  </a:lnTo>
                  <a:lnTo>
                    <a:pt x="74454" y="27038"/>
                  </a:lnTo>
                  <a:lnTo>
                    <a:pt x="77399" y="43799"/>
                  </a:lnTo>
                  <a:lnTo>
                    <a:pt x="74358" y="60849"/>
                  </a:lnTo>
                  <a:lnTo>
                    <a:pt x="66065" y="74771"/>
                  </a:lnTo>
                  <a:lnTo>
                    <a:pt x="53763" y="84158"/>
                  </a:lnTo>
                  <a:lnTo>
                    <a:pt x="38699" y="87599"/>
                  </a:lnTo>
                  <a:lnTo>
                    <a:pt x="23636" y="84158"/>
                  </a:lnTo>
                  <a:lnTo>
                    <a:pt x="11335" y="74771"/>
                  </a:lnTo>
                  <a:lnTo>
                    <a:pt x="3041" y="60849"/>
                  </a:lnTo>
                  <a:lnTo>
                    <a:pt x="0" y="437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317475" y="4803431"/>
              <a:ext cx="77470" cy="87630"/>
            </a:xfrm>
            <a:custGeom>
              <a:avLst/>
              <a:gdLst/>
              <a:ahLst/>
              <a:cxnLst/>
              <a:rect l="l" t="t" r="r" b="b"/>
              <a:pathLst>
                <a:path w="77470" h="87629">
                  <a:moveTo>
                    <a:pt x="38699" y="87599"/>
                  </a:moveTo>
                  <a:lnTo>
                    <a:pt x="23636" y="84158"/>
                  </a:lnTo>
                  <a:lnTo>
                    <a:pt x="11335" y="74771"/>
                  </a:lnTo>
                  <a:lnTo>
                    <a:pt x="3041" y="60849"/>
                  </a:lnTo>
                  <a:lnTo>
                    <a:pt x="0" y="43799"/>
                  </a:lnTo>
                  <a:lnTo>
                    <a:pt x="3041" y="26751"/>
                  </a:lnTo>
                  <a:lnTo>
                    <a:pt x="11335" y="12828"/>
                  </a:lnTo>
                  <a:lnTo>
                    <a:pt x="23636" y="3442"/>
                  </a:lnTo>
                  <a:lnTo>
                    <a:pt x="38699" y="0"/>
                  </a:lnTo>
                  <a:lnTo>
                    <a:pt x="46285" y="849"/>
                  </a:lnTo>
                  <a:lnTo>
                    <a:pt x="74454" y="27038"/>
                  </a:lnTo>
                  <a:lnTo>
                    <a:pt x="77399" y="43799"/>
                  </a:lnTo>
                  <a:lnTo>
                    <a:pt x="74358" y="60849"/>
                  </a:lnTo>
                  <a:lnTo>
                    <a:pt x="66065" y="74771"/>
                  </a:lnTo>
                  <a:lnTo>
                    <a:pt x="53763" y="84158"/>
                  </a:lnTo>
                  <a:lnTo>
                    <a:pt x="38699" y="875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317475" y="4803431"/>
              <a:ext cx="77470" cy="87630"/>
            </a:xfrm>
            <a:custGeom>
              <a:avLst/>
              <a:gdLst/>
              <a:ahLst/>
              <a:cxnLst/>
              <a:rect l="l" t="t" r="r" b="b"/>
              <a:pathLst>
                <a:path w="77470" h="87629">
                  <a:moveTo>
                    <a:pt x="0" y="43799"/>
                  </a:moveTo>
                  <a:lnTo>
                    <a:pt x="3041" y="26751"/>
                  </a:lnTo>
                  <a:lnTo>
                    <a:pt x="11335" y="12828"/>
                  </a:lnTo>
                  <a:lnTo>
                    <a:pt x="23636" y="3442"/>
                  </a:lnTo>
                  <a:lnTo>
                    <a:pt x="38699" y="0"/>
                  </a:lnTo>
                  <a:lnTo>
                    <a:pt x="74454" y="27038"/>
                  </a:lnTo>
                  <a:lnTo>
                    <a:pt x="77399" y="43799"/>
                  </a:lnTo>
                  <a:lnTo>
                    <a:pt x="74358" y="60849"/>
                  </a:lnTo>
                  <a:lnTo>
                    <a:pt x="66065" y="74771"/>
                  </a:lnTo>
                  <a:lnTo>
                    <a:pt x="53763" y="84158"/>
                  </a:lnTo>
                  <a:lnTo>
                    <a:pt x="38699" y="87599"/>
                  </a:lnTo>
                  <a:lnTo>
                    <a:pt x="23636" y="84158"/>
                  </a:lnTo>
                  <a:lnTo>
                    <a:pt x="11335" y="74771"/>
                  </a:lnTo>
                  <a:lnTo>
                    <a:pt x="3041" y="60849"/>
                  </a:lnTo>
                  <a:lnTo>
                    <a:pt x="0" y="437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64334" y="4039438"/>
              <a:ext cx="86924" cy="9712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64334" y="3868982"/>
              <a:ext cx="86924" cy="9712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055674" y="2613425"/>
              <a:ext cx="2461260" cy="3373754"/>
            </a:xfrm>
            <a:custGeom>
              <a:avLst/>
              <a:gdLst/>
              <a:ahLst/>
              <a:cxnLst/>
              <a:rect l="l" t="t" r="r" b="b"/>
              <a:pathLst>
                <a:path w="2461260" h="3373754">
                  <a:moveTo>
                    <a:pt x="0" y="3373499"/>
                  </a:moveTo>
                  <a:lnTo>
                    <a:pt x="2461199" y="0"/>
                  </a:lnTo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972724" y="2406075"/>
              <a:ext cx="3381375" cy="3249295"/>
            </a:xfrm>
            <a:custGeom>
              <a:avLst/>
              <a:gdLst/>
              <a:ahLst/>
              <a:cxnLst/>
              <a:rect l="l" t="t" r="r" b="b"/>
              <a:pathLst>
                <a:path w="3381375" h="3249295">
                  <a:moveTo>
                    <a:pt x="0" y="3248999"/>
                  </a:moveTo>
                  <a:lnTo>
                    <a:pt x="3380999" y="0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972724" y="3995774"/>
              <a:ext cx="3498215" cy="249554"/>
            </a:xfrm>
            <a:custGeom>
              <a:avLst/>
              <a:gdLst/>
              <a:ahLst/>
              <a:cxnLst/>
              <a:rect l="l" t="t" r="r" b="b"/>
              <a:pathLst>
                <a:path w="3498215" h="249554">
                  <a:moveTo>
                    <a:pt x="0" y="248999"/>
                  </a:moveTo>
                  <a:lnTo>
                    <a:pt x="3497999" y="0"/>
                  </a:lnTo>
                </a:path>
              </a:pathLst>
            </a:custGeom>
            <a:ln w="28574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7976" y="345087"/>
            <a:ext cx="6681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00" b="1" spc="15" dirty="0">
                <a:solidFill>
                  <a:srgbClr val="FDFDFD"/>
                </a:solidFill>
              </a:rPr>
              <a:t>Линейная регрессия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85837" y="1816299"/>
            <a:ext cx="443293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latin typeface="Arial"/>
                <a:cs typeface="Arial"/>
              </a:rPr>
              <a:t>А</a:t>
            </a:r>
            <a:r>
              <a:rPr sz="2500" b="1" spc="-140" dirty="0">
                <a:latin typeface="Arial"/>
                <a:cs typeface="Arial"/>
              </a:rPr>
              <a:t> </a:t>
            </a:r>
            <a:r>
              <a:rPr sz="2500" b="1" spc="-15" dirty="0">
                <a:latin typeface="Arial"/>
                <a:cs typeface="Arial"/>
              </a:rPr>
              <a:t>если</a:t>
            </a:r>
            <a:r>
              <a:rPr sz="2500" b="1" spc="-140" dirty="0">
                <a:latin typeface="Arial"/>
                <a:cs typeface="Arial"/>
              </a:rPr>
              <a:t> </a:t>
            </a:r>
            <a:r>
              <a:rPr sz="2500" b="1" spc="-25" dirty="0">
                <a:latin typeface="Arial"/>
                <a:cs typeface="Arial"/>
              </a:rPr>
              <a:t>точек</a:t>
            </a:r>
            <a:r>
              <a:rPr sz="2500" b="1" spc="-140" dirty="0">
                <a:latin typeface="Arial"/>
                <a:cs typeface="Arial"/>
              </a:rPr>
              <a:t> </a:t>
            </a:r>
            <a:r>
              <a:rPr sz="2500" b="1" spc="-5" dirty="0">
                <a:latin typeface="Arial"/>
                <a:cs typeface="Arial"/>
              </a:rPr>
              <a:t>три</a:t>
            </a:r>
            <a:r>
              <a:rPr sz="2500" b="1" spc="-140" dirty="0">
                <a:latin typeface="Arial"/>
                <a:cs typeface="Arial"/>
              </a:rPr>
              <a:t> </a:t>
            </a:r>
            <a:r>
              <a:rPr sz="2500" b="1" spc="-5" dirty="0">
                <a:latin typeface="Arial"/>
                <a:cs typeface="Arial"/>
              </a:rPr>
              <a:t>или</a:t>
            </a:r>
            <a:r>
              <a:rPr sz="2500" b="1" spc="-140" dirty="0">
                <a:latin typeface="Arial"/>
                <a:cs typeface="Arial"/>
              </a:rPr>
              <a:t> </a:t>
            </a:r>
            <a:r>
              <a:rPr sz="2500" b="1" spc="-20" dirty="0">
                <a:latin typeface="Arial"/>
                <a:cs typeface="Arial"/>
              </a:rPr>
              <a:t>более</a:t>
            </a:r>
            <a:r>
              <a:rPr sz="2500" b="1" spc="-20" dirty="0">
                <a:latin typeface="Calibri"/>
                <a:cs typeface="Calibri"/>
              </a:rPr>
              <a:t>?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67005" y="3680135"/>
            <a:ext cx="2447290" cy="2389505"/>
            <a:chOff x="2867005" y="3680135"/>
            <a:chExt cx="2447290" cy="2389505"/>
          </a:xfrm>
        </p:grpSpPr>
        <p:sp>
          <p:nvSpPr>
            <p:cNvPr id="5" name="object 5"/>
            <p:cNvSpPr/>
            <p:nvPr/>
          </p:nvSpPr>
          <p:spPr>
            <a:xfrm>
              <a:off x="2928901" y="3774058"/>
              <a:ext cx="0" cy="2233295"/>
            </a:xfrm>
            <a:custGeom>
              <a:avLst/>
              <a:gdLst/>
              <a:ahLst/>
              <a:cxnLst/>
              <a:rect l="l" t="t" r="r" b="b"/>
              <a:pathLst>
                <a:path h="2233295">
                  <a:moveTo>
                    <a:pt x="0" y="0"/>
                  </a:moveTo>
                  <a:lnTo>
                    <a:pt x="0" y="2233128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67005" y="3680135"/>
              <a:ext cx="123793" cy="1558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928470" y="6007490"/>
              <a:ext cx="2291715" cy="0"/>
            </a:xfrm>
            <a:custGeom>
              <a:avLst/>
              <a:gdLst/>
              <a:ahLst/>
              <a:cxnLst/>
              <a:rect l="l" t="t" r="r" b="b"/>
              <a:pathLst>
                <a:path w="2291715">
                  <a:moveTo>
                    <a:pt x="2291628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58202" y="5945594"/>
              <a:ext cx="155820" cy="12379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620062" y="3371160"/>
            <a:ext cx="1981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y</a:t>
            </a:r>
            <a:endParaRPr sz="30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/>
              <p:cNvSpPr txBox="1"/>
              <p:nvPr/>
            </p:nvSpPr>
            <p:spPr>
              <a:xfrm>
                <a:off x="5236112" y="5243519"/>
                <a:ext cx="5663115" cy="85921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01346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ru-RU" sz="2500" spc="-5" dirty="0">
                    <a:latin typeface="Arial"/>
                    <a:cs typeface="Arial"/>
                  </a:rPr>
                  <a:t>К</a:t>
                </a:r>
                <a:r>
                  <a:rPr lang="ru-RU" sz="2500" spc="5" dirty="0">
                    <a:latin typeface="Arial"/>
                    <a:cs typeface="Arial"/>
                  </a:rPr>
                  <a:t>акие</a:t>
                </a:r>
                <a:r>
                  <a:rPr lang="ru-RU" sz="2500" spc="-145" dirty="0">
                    <a:latin typeface="Arial"/>
                    <a:cs typeface="Arial"/>
                  </a:rPr>
                  <a:t> </a:t>
                </a:r>
                <a:r>
                  <a:rPr lang="ru-RU" sz="2500" spc="-10" dirty="0">
                    <a:latin typeface="Arial"/>
                    <a:cs typeface="Arial"/>
                  </a:rPr>
                  <a:t>взять</a:t>
                </a:r>
                <a:r>
                  <a:rPr lang="ru-RU" sz="2500" spc="-140" dirty="0"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500" i="1" spc="-14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ar-AE" sz="2500" i="1" spc="-14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ar-AE" sz="2500" i="1" spc="-14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  <m:t>𝜔</m:t>
                            </m:r>
                          </m:e>
                          <m:sub>
                            <m:r>
                              <a:rPr lang="ar-AE" sz="2500" b="0" i="1" spc="-14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ru-RU" sz="2500" dirty="0">
                    <a:latin typeface="Arial"/>
                    <a:cs typeface="Arial"/>
                  </a:rPr>
                  <a:t> </a:t>
                </a:r>
                <a:r>
                  <a:rPr lang="ru-RU" sz="2500" dirty="0" err="1">
                    <a:latin typeface="Arial"/>
                    <a:cs typeface="Arial"/>
                  </a:rPr>
                  <a:t>и</a:t>
                </a:r>
                <a:r>
                  <a:rPr lang="ru-RU" sz="2500" spc="-140" dirty="0"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500" i="1" spc="-14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ar-AE" sz="2500" i="1" spc="-14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ar-AE" sz="2500" i="1" spc="-14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  <m:t>𝜔</m:t>
                            </m:r>
                          </m:e>
                          <m:sub>
                            <m:r>
                              <a:rPr lang="ru-RU" sz="2500" b="0" i="1" spc="-14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ru-RU" sz="2500" spc="-5" dirty="0">
                    <a:latin typeface="Calibri"/>
                    <a:cs typeface="Calibri"/>
                  </a:rPr>
                  <a:t> </a:t>
                </a:r>
                <a:r>
                  <a:rPr lang="en" sz="2500" spc="-5" dirty="0">
                    <a:latin typeface="Calibri"/>
                    <a:cs typeface="Calibri"/>
                  </a:rPr>
                  <a:t>?</a:t>
                </a:r>
                <a:endParaRPr lang="ru-RU" sz="2650" dirty="0">
                  <a:latin typeface="Calibri"/>
                  <a:cs typeface="Calibri"/>
                </a:endParaRPr>
              </a:p>
              <a:p>
                <a:pPr marL="12700">
                  <a:lnSpc>
                    <a:spcPct val="100000"/>
                  </a:lnSpc>
                </a:pPr>
                <a:r>
                  <a:rPr lang="en" sz="3000" dirty="0">
                    <a:latin typeface="Calibri"/>
                    <a:cs typeface="Calibri"/>
                  </a:rPr>
                  <a:t>X</a:t>
                </a:r>
                <a:endParaRPr sz="30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112" y="5243519"/>
                <a:ext cx="5663115" cy="859210"/>
              </a:xfrm>
              <a:prstGeom prst="rect">
                <a:avLst/>
              </a:prstGeom>
              <a:blipFill>
                <a:blip r:embed="rId4"/>
                <a:stretch>
                  <a:fillRect l="-3803" t="-8696" b="-260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bject 12"/>
          <p:cNvSpPr txBox="1"/>
          <p:nvPr/>
        </p:nvSpPr>
        <p:spPr>
          <a:xfrm>
            <a:off x="6234736" y="2548249"/>
            <a:ext cx="5195264" cy="1577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spc="-5" dirty="0">
                <a:latin typeface="Arial"/>
                <a:cs typeface="Arial"/>
              </a:rPr>
              <a:t>Можно </a:t>
            </a:r>
            <a:r>
              <a:rPr sz="2500" spc="-25" dirty="0">
                <a:latin typeface="Arial"/>
                <a:cs typeface="Arial"/>
              </a:rPr>
              <a:t>сделать </a:t>
            </a:r>
            <a:r>
              <a:rPr sz="2500" spc="-10" dirty="0">
                <a:latin typeface="Arial"/>
                <a:cs typeface="Arial"/>
              </a:rPr>
              <a:t>умнее</a:t>
            </a:r>
            <a:r>
              <a:rPr sz="2500" spc="-10" dirty="0">
                <a:latin typeface="Calibri"/>
                <a:cs typeface="Calibri"/>
              </a:rPr>
              <a:t>. </a:t>
            </a:r>
            <a:r>
              <a:rPr sz="2500" spc="-5" dirty="0">
                <a:latin typeface="Calibri"/>
                <a:cs typeface="Calibri"/>
              </a:rPr>
              <a:t> </a:t>
            </a:r>
            <a:endParaRPr lang="ru-RU" sz="2500" spc="-5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spc="-10" dirty="0" err="1">
                <a:latin typeface="Arial"/>
                <a:cs typeface="Arial"/>
              </a:rPr>
              <a:t>Пусть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spc="-5" dirty="0" err="1">
                <a:latin typeface="Arial"/>
                <a:cs typeface="Arial"/>
              </a:rPr>
              <a:t>зависимость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spc="-5" dirty="0" err="1">
                <a:latin typeface="Arial"/>
                <a:cs typeface="Arial"/>
              </a:rPr>
              <a:t>линейна</a:t>
            </a:r>
            <a:r>
              <a:rPr sz="2500" spc="5" dirty="0" err="1">
                <a:latin typeface="Arial"/>
                <a:cs typeface="Arial"/>
              </a:rPr>
              <a:t>я</a:t>
            </a:r>
            <a:r>
              <a:rPr sz="2500" dirty="0">
                <a:latin typeface="Calibri"/>
                <a:cs typeface="Calibri"/>
              </a:rPr>
              <a:t>,</a:t>
            </a:r>
            <a:r>
              <a:rPr sz="2500" spc="-5" dirty="0">
                <a:latin typeface="Calibri"/>
                <a:cs typeface="Calibri"/>
              </a:rPr>
              <a:t> </a:t>
            </a:r>
            <a:r>
              <a:rPr sz="2500" spc="-30" dirty="0" err="1">
                <a:latin typeface="Arial"/>
                <a:cs typeface="Arial"/>
              </a:rPr>
              <a:t>т</a:t>
            </a:r>
            <a:r>
              <a:rPr sz="2500" spc="-5" dirty="0" err="1">
                <a:latin typeface="Arial"/>
                <a:cs typeface="Arial"/>
              </a:rPr>
              <a:t>о</a:t>
            </a:r>
            <a:r>
              <a:rPr sz="2500" spc="-114" dirty="0" err="1">
                <a:latin typeface="Arial"/>
                <a:cs typeface="Arial"/>
              </a:rPr>
              <a:t>г</a:t>
            </a:r>
            <a:r>
              <a:rPr sz="2500" spc="-5" dirty="0" err="1">
                <a:latin typeface="Arial"/>
                <a:cs typeface="Arial"/>
              </a:rPr>
              <a:t>д</a:t>
            </a:r>
            <a:r>
              <a:rPr sz="2500" dirty="0" err="1">
                <a:latin typeface="Arial"/>
                <a:cs typeface="Arial"/>
              </a:rPr>
              <a:t>а</a:t>
            </a:r>
            <a:r>
              <a:rPr sz="2500" spc="-135" dirty="0">
                <a:latin typeface="Arial"/>
                <a:cs typeface="Arial"/>
              </a:rPr>
              <a:t> </a:t>
            </a:r>
            <a:r>
              <a:rPr sz="2500" spc="-5" dirty="0" err="1">
                <a:latin typeface="Arial"/>
                <a:cs typeface="Arial"/>
              </a:rPr>
              <a:t>п</a:t>
            </a:r>
            <a:r>
              <a:rPr sz="2500" spc="-30" dirty="0" err="1">
                <a:latin typeface="Arial"/>
                <a:cs typeface="Arial"/>
              </a:rPr>
              <a:t>р</a:t>
            </a:r>
            <a:r>
              <a:rPr sz="2500" spc="-5" dirty="0" err="1">
                <a:latin typeface="Arial"/>
                <a:cs typeface="Arial"/>
              </a:rPr>
              <a:t>яма</a:t>
            </a:r>
            <a:r>
              <a:rPr sz="2500" dirty="0" err="1">
                <a:latin typeface="Arial"/>
                <a:cs typeface="Arial"/>
              </a:rPr>
              <a:t>я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-55" dirty="0" err="1">
                <a:latin typeface="Arial"/>
                <a:cs typeface="Arial"/>
              </a:rPr>
              <a:t>б</a:t>
            </a:r>
            <a:r>
              <a:rPr sz="2500" spc="-85" dirty="0" err="1">
                <a:latin typeface="Arial"/>
                <a:cs typeface="Arial"/>
              </a:rPr>
              <a:t>у</a:t>
            </a:r>
            <a:r>
              <a:rPr sz="2500" spc="-5" dirty="0" err="1">
                <a:latin typeface="Arial"/>
                <a:cs typeface="Arial"/>
              </a:rPr>
              <a:t>д</a:t>
            </a:r>
            <a:r>
              <a:rPr sz="2500" spc="-85" dirty="0" err="1">
                <a:latin typeface="Arial"/>
                <a:cs typeface="Arial"/>
              </a:rPr>
              <a:t>е</a:t>
            </a:r>
            <a:r>
              <a:rPr sz="2500" dirty="0" err="1">
                <a:latin typeface="Arial"/>
                <a:cs typeface="Arial"/>
              </a:rPr>
              <a:t>т</a:t>
            </a:r>
            <a:r>
              <a:rPr lang="ru-RU" sz="2500" spc="-130" dirty="0">
                <a:latin typeface="Arial"/>
                <a:cs typeface="Arial"/>
              </a:rPr>
              <a:t> </a:t>
            </a:r>
            <a:r>
              <a:rPr sz="2500" spc="-5" dirty="0" err="1">
                <a:latin typeface="Arial"/>
                <a:cs typeface="Arial"/>
              </a:rPr>
              <a:t>им</a:t>
            </a:r>
            <a:r>
              <a:rPr sz="2500" spc="-85" dirty="0" err="1">
                <a:latin typeface="Arial"/>
                <a:cs typeface="Arial"/>
              </a:rPr>
              <a:t>е</a:t>
            </a:r>
            <a:r>
              <a:rPr sz="2500" dirty="0" err="1">
                <a:latin typeface="Arial"/>
                <a:cs typeface="Arial"/>
              </a:rPr>
              <a:t>ть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-5" dirty="0" err="1">
                <a:latin typeface="Arial"/>
                <a:cs typeface="Arial"/>
              </a:rPr>
              <a:t>вид</a:t>
            </a:r>
            <a:r>
              <a:rPr sz="2500" spc="-5" dirty="0">
                <a:latin typeface="Calibri"/>
                <a:cs typeface="Calibri"/>
              </a:rPr>
              <a:t>:</a:t>
            </a:r>
            <a:endParaRPr lang="ru-RU" sz="2500" spc="-5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sz="2500" dirty="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135937" y="3388249"/>
            <a:ext cx="1763395" cy="2070735"/>
            <a:chOff x="3135937" y="3388249"/>
            <a:chExt cx="1763395" cy="207073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73315" y="3579295"/>
              <a:ext cx="86924" cy="971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52183" y="3445067"/>
              <a:ext cx="86924" cy="971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11934" y="3558704"/>
              <a:ext cx="86924" cy="971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11934" y="3388249"/>
              <a:ext cx="86924" cy="971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35937" y="5361260"/>
              <a:ext cx="86924" cy="971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79816" y="3692932"/>
              <a:ext cx="86924" cy="971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24943" y="3692932"/>
              <a:ext cx="1414164" cy="159499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165075" y="4651032"/>
              <a:ext cx="77470" cy="87630"/>
            </a:xfrm>
            <a:custGeom>
              <a:avLst/>
              <a:gdLst/>
              <a:ahLst/>
              <a:cxnLst/>
              <a:rect l="l" t="t" r="r" b="b"/>
              <a:pathLst>
                <a:path w="77470" h="87629">
                  <a:moveTo>
                    <a:pt x="38699" y="87599"/>
                  </a:moveTo>
                  <a:lnTo>
                    <a:pt x="23636" y="84158"/>
                  </a:lnTo>
                  <a:lnTo>
                    <a:pt x="11335" y="74771"/>
                  </a:lnTo>
                  <a:lnTo>
                    <a:pt x="3041" y="60849"/>
                  </a:lnTo>
                  <a:lnTo>
                    <a:pt x="0" y="43799"/>
                  </a:lnTo>
                  <a:lnTo>
                    <a:pt x="3041" y="26751"/>
                  </a:lnTo>
                  <a:lnTo>
                    <a:pt x="11335" y="12828"/>
                  </a:lnTo>
                  <a:lnTo>
                    <a:pt x="23636" y="3442"/>
                  </a:lnTo>
                  <a:lnTo>
                    <a:pt x="38699" y="0"/>
                  </a:lnTo>
                  <a:lnTo>
                    <a:pt x="46285" y="849"/>
                  </a:lnTo>
                  <a:lnTo>
                    <a:pt x="74454" y="27038"/>
                  </a:lnTo>
                  <a:lnTo>
                    <a:pt x="77399" y="43799"/>
                  </a:lnTo>
                  <a:lnTo>
                    <a:pt x="74358" y="60849"/>
                  </a:lnTo>
                  <a:lnTo>
                    <a:pt x="66065" y="74771"/>
                  </a:lnTo>
                  <a:lnTo>
                    <a:pt x="53763" y="84158"/>
                  </a:lnTo>
                  <a:lnTo>
                    <a:pt x="38699" y="875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65075" y="4651032"/>
              <a:ext cx="77470" cy="87630"/>
            </a:xfrm>
            <a:custGeom>
              <a:avLst/>
              <a:gdLst/>
              <a:ahLst/>
              <a:cxnLst/>
              <a:rect l="l" t="t" r="r" b="b"/>
              <a:pathLst>
                <a:path w="77470" h="87629">
                  <a:moveTo>
                    <a:pt x="0" y="43799"/>
                  </a:moveTo>
                  <a:lnTo>
                    <a:pt x="3041" y="26751"/>
                  </a:lnTo>
                  <a:lnTo>
                    <a:pt x="11335" y="12828"/>
                  </a:lnTo>
                  <a:lnTo>
                    <a:pt x="23636" y="3442"/>
                  </a:lnTo>
                  <a:lnTo>
                    <a:pt x="38699" y="0"/>
                  </a:lnTo>
                  <a:lnTo>
                    <a:pt x="74454" y="27038"/>
                  </a:lnTo>
                  <a:lnTo>
                    <a:pt x="77399" y="43799"/>
                  </a:lnTo>
                  <a:lnTo>
                    <a:pt x="74358" y="60849"/>
                  </a:lnTo>
                  <a:lnTo>
                    <a:pt x="66065" y="74771"/>
                  </a:lnTo>
                  <a:lnTo>
                    <a:pt x="53763" y="84158"/>
                  </a:lnTo>
                  <a:lnTo>
                    <a:pt x="38699" y="87599"/>
                  </a:lnTo>
                  <a:lnTo>
                    <a:pt x="23636" y="84158"/>
                  </a:lnTo>
                  <a:lnTo>
                    <a:pt x="11335" y="74771"/>
                  </a:lnTo>
                  <a:lnTo>
                    <a:pt x="3041" y="60849"/>
                  </a:lnTo>
                  <a:lnTo>
                    <a:pt x="0" y="437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165075" y="4651032"/>
              <a:ext cx="77470" cy="87630"/>
            </a:xfrm>
            <a:custGeom>
              <a:avLst/>
              <a:gdLst/>
              <a:ahLst/>
              <a:cxnLst/>
              <a:rect l="l" t="t" r="r" b="b"/>
              <a:pathLst>
                <a:path w="77470" h="87629">
                  <a:moveTo>
                    <a:pt x="38699" y="87599"/>
                  </a:moveTo>
                  <a:lnTo>
                    <a:pt x="23636" y="84158"/>
                  </a:lnTo>
                  <a:lnTo>
                    <a:pt x="11335" y="74771"/>
                  </a:lnTo>
                  <a:lnTo>
                    <a:pt x="3041" y="60849"/>
                  </a:lnTo>
                  <a:lnTo>
                    <a:pt x="0" y="43799"/>
                  </a:lnTo>
                  <a:lnTo>
                    <a:pt x="3041" y="26751"/>
                  </a:lnTo>
                  <a:lnTo>
                    <a:pt x="11335" y="12828"/>
                  </a:lnTo>
                  <a:lnTo>
                    <a:pt x="23636" y="3442"/>
                  </a:lnTo>
                  <a:lnTo>
                    <a:pt x="38699" y="0"/>
                  </a:lnTo>
                  <a:lnTo>
                    <a:pt x="46285" y="849"/>
                  </a:lnTo>
                  <a:lnTo>
                    <a:pt x="74454" y="27038"/>
                  </a:lnTo>
                  <a:lnTo>
                    <a:pt x="77399" y="43799"/>
                  </a:lnTo>
                  <a:lnTo>
                    <a:pt x="74358" y="60849"/>
                  </a:lnTo>
                  <a:lnTo>
                    <a:pt x="66065" y="74771"/>
                  </a:lnTo>
                  <a:lnTo>
                    <a:pt x="53763" y="84158"/>
                  </a:lnTo>
                  <a:lnTo>
                    <a:pt x="38699" y="875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65075" y="4651032"/>
              <a:ext cx="77470" cy="87630"/>
            </a:xfrm>
            <a:custGeom>
              <a:avLst/>
              <a:gdLst/>
              <a:ahLst/>
              <a:cxnLst/>
              <a:rect l="l" t="t" r="r" b="b"/>
              <a:pathLst>
                <a:path w="77470" h="87629">
                  <a:moveTo>
                    <a:pt x="0" y="43799"/>
                  </a:moveTo>
                  <a:lnTo>
                    <a:pt x="3041" y="26751"/>
                  </a:lnTo>
                  <a:lnTo>
                    <a:pt x="11335" y="12828"/>
                  </a:lnTo>
                  <a:lnTo>
                    <a:pt x="23636" y="3442"/>
                  </a:lnTo>
                  <a:lnTo>
                    <a:pt x="38699" y="0"/>
                  </a:lnTo>
                  <a:lnTo>
                    <a:pt x="74454" y="27038"/>
                  </a:lnTo>
                  <a:lnTo>
                    <a:pt x="77399" y="43799"/>
                  </a:lnTo>
                  <a:lnTo>
                    <a:pt x="74358" y="60849"/>
                  </a:lnTo>
                  <a:lnTo>
                    <a:pt x="66065" y="74771"/>
                  </a:lnTo>
                  <a:lnTo>
                    <a:pt x="53763" y="84158"/>
                  </a:lnTo>
                  <a:lnTo>
                    <a:pt x="38699" y="87599"/>
                  </a:lnTo>
                  <a:lnTo>
                    <a:pt x="23636" y="84158"/>
                  </a:lnTo>
                  <a:lnTo>
                    <a:pt x="11335" y="74771"/>
                  </a:lnTo>
                  <a:lnTo>
                    <a:pt x="3041" y="60849"/>
                  </a:lnTo>
                  <a:lnTo>
                    <a:pt x="0" y="437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11934" y="3887038"/>
              <a:ext cx="86924" cy="971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11934" y="3716582"/>
              <a:ext cx="86924" cy="97124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865185" y="3160974"/>
            <a:ext cx="86924" cy="9712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78188" y="3047337"/>
            <a:ext cx="86924" cy="97124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4D706A45-0EE9-BA4C-96FA-B9EDFB82270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25387" y="4054004"/>
            <a:ext cx="22225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7976" y="345087"/>
            <a:ext cx="6681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00" b="1" spc="15" dirty="0">
                <a:solidFill>
                  <a:srgbClr val="FDFDFD"/>
                </a:solidFill>
                <a:latin typeface="Trebuchet MS"/>
                <a:cs typeface="Trebuchet MS"/>
              </a:rPr>
              <a:t>Линейная регрессия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40991" y="2250087"/>
            <a:ext cx="91516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7745" marR="5080" indent="-2265680">
              <a:lnSpc>
                <a:spcPct val="100000"/>
              </a:lnSpc>
              <a:spcBef>
                <a:spcPts val="100"/>
              </a:spcBef>
            </a:pPr>
            <a:r>
              <a:rPr sz="3600" b="1" spc="70" dirty="0">
                <a:latin typeface="Trebuchet MS"/>
                <a:cs typeface="Trebuchet MS"/>
              </a:rPr>
              <a:t>Нам</a:t>
            </a:r>
            <a:r>
              <a:rPr sz="3600" b="1" spc="-195" dirty="0">
                <a:latin typeface="Trebuchet MS"/>
                <a:cs typeface="Trebuchet MS"/>
              </a:rPr>
              <a:t> </a:t>
            </a:r>
            <a:r>
              <a:rPr sz="3600" b="1" spc="-50" dirty="0">
                <a:latin typeface="Trebuchet MS"/>
                <a:cs typeface="Trebuchet MS"/>
              </a:rPr>
              <a:t>нужен</a:t>
            </a:r>
            <a:r>
              <a:rPr sz="3600" b="1" spc="-190" dirty="0">
                <a:latin typeface="Trebuchet MS"/>
                <a:cs typeface="Trebuchet MS"/>
              </a:rPr>
              <a:t> </a:t>
            </a:r>
            <a:r>
              <a:rPr sz="3600" b="1" spc="-10" dirty="0">
                <a:latin typeface="Trebuchet MS"/>
                <a:cs typeface="Trebuchet MS"/>
              </a:rPr>
              <a:t>какой-то</a:t>
            </a:r>
            <a:r>
              <a:rPr sz="3600" b="1" spc="-190" dirty="0">
                <a:latin typeface="Trebuchet MS"/>
                <a:cs typeface="Trebuchet MS"/>
              </a:rPr>
              <a:t> </a:t>
            </a:r>
            <a:r>
              <a:rPr sz="3600" b="1" spc="-20" dirty="0">
                <a:latin typeface="Trebuchet MS"/>
                <a:cs typeface="Trebuchet MS"/>
              </a:rPr>
              <a:t>показатель</a:t>
            </a:r>
            <a:r>
              <a:rPr sz="3600" b="1" spc="-190" dirty="0">
                <a:latin typeface="Trebuchet MS"/>
                <a:cs typeface="Trebuchet MS"/>
              </a:rPr>
              <a:t> </a:t>
            </a:r>
            <a:r>
              <a:rPr sz="3600" b="1" dirty="0">
                <a:latin typeface="Trebuchet MS"/>
                <a:cs typeface="Trebuchet MS"/>
              </a:rPr>
              <a:t>качества </a:t>
            </a:r>
            <a:r>
              <a:rPr sz="3600" b="1" spc="-1070" dirty="0">
                <a:latin typeface="Trebuchet MS"/>
                <a:cs typeface="Trebuchet MS"/>
              </a:rPr>
              <a:t> </a:t>
            </a:r>
            <a:r>
              <a:rPr sz="3600" b="1" spc="-65" dirty="0">
                <a:latin typeface="Trebuchet MS"/>
                <a:cs typeface="Trebuchet MS"/>
              </a:rPr>
              <a:t>проведенной</a:t>
            </a:r>
            <a:r>
              <a:rPr sz="3600" b="1" spc="-200" dirty="0">
                <a:latin typeface="Trebuchet MS"/>
                <a:cs typeface="Trebuchet MS"/>
              </a:rPr>
              <a:t> </a:t>
            </a:r>
            <a:r>
              <a:rPr sz="3600" b="1" spc="-30" dirty="0">
                <a:latin typeface="Trebuchet MS"/>
                <a:cs typeface="Trebuchet MS"/>
              </a:rPr>
              <a:t>прямой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49887" y="3467025"/>
            <a:ext cx="2143124" cy="21431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7976" y="345087"/>
            <a:ext cx="6681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15" dirty="0" err="1">
                <a:solidFill>
                  <a:srgbClr val="FDFDFD"/>
                </a:solidFill>
                <a:latin typeface="Trebuchet MS"/>
                <a:cs typeface="Trebuchet MS"/>
              </a:rPr>
              <a:t>Метод</a:t>
            </a:r>
            <a:r>
              <a:rPr sz="3600" b="1" spc="-2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600" b="1" spc="-50" dirty="0" err="1">
                <a:solidFill>
                  <a:srgbClr val="FDFDFD"/>
                </a:solidFill>
                <a:latin typeface="Trebuchet MS"/>
                <a:cs typeface="Trebuchet MS"/>
              </a:rPr>
              <a:t>наименьших</a:t>
            </a:r>
            <a:r>
              <a:rPr sz="3600" b="1" spc="-1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600" b="1" spc="5" dirty="0" err="1">
                <a:solidFill>
                  <a:srgbClr val="FDFDFD"/>
                </a:solidFill>
                <a:latin typeface="Trebuchet MS"/>
                <a:cs typeface="Trebuchet MS"/>
              </a:rPr>
              <a:t>квадратов</a:t>
            </a:r>
            <a:endParaRPr sz="360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76405" y="3680135"/>
            <a:ext cx="3094355" cy="2383155"/>
            <a:chOff x="1876405" y="3680135"/>
            <a:chExt cx="3094355" cy="23831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7875" y="4253550"/>
              <a:ext cx="2792676" cy="14032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38301" y="3774058"/>
              <a:ext cx="0" cy="2233295"/>
            </a:xfrm>
            <a:custGeom>
              <a:avLst/>
              <a:gdLst/>
              <a:ahLst/>
              <a:cxnLst/>
              <a:rect l="l" t="t" r="r" b="b"/>
              <a:pathLst>
                <a:path h="2233295">
                  <a:moveTo>
                    <a:pt x="0" y="0"/>
                  </a:moveTo>
                  <a:lnTo>
                    <a:pt x="0" y="2233128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6405" y="3680135"/>
              <a:ext cx="123793" cy="1558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37775" y="6001030"/>
              <a:ext cx="2938780" cy="6350"/>
            </a:xfrm>
            <a:custGeom>
              <a:avLst/>
              <a:gdLst/>
              <a:ahLst/>
              <a:cxnLst/>
              <a:rect l="l" t="t" r="r" b="b"/>
              <a:pathLst>
                <a:path w="2938779" h="6350">
                  <a:moveTo>
                    <a:pt x="2938727" y="0"/>
                  </a:moveTo>
                  <a:lnTo>
                    <a:pt x="0" y="6319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14514" y="5939226"/>
              <a:ext cx="155911" cy="12379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68026" y="4114598"/>
              <a:ext cx="248999" cy="2333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68026" y="4114598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0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0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7151" y="4564923"/>
              <a:ext cx="248999" cy="2333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387151" y="4564923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0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0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49901" y="4798323"/>
              <a:ext cx="248999" cy="2333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49901" y="4798323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0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0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9301" y="4945361"/>
              <a:ext cx="248999" cy="2333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389301" y="4945361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0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0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79701" y="4564361"/>
              <a:ext cx="248999" cy="23339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779701" y="4564361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5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1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1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49701" y="5423461"/>
              <a:ext cx="248999" cy="23339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149701" y="5423461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5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1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1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8701" y="4792961"/>
              <a:ext cx="248999" cy="2333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398701" y="4792961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5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1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1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74301" y="4649598"/>
              <a:ext cx="248999" cy="23339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074301" y="4649598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1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1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29461" y="3371160"/>
            <a:ext cx="1981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y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43525" y="5913160"/>
            <a:ext cx="2235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X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25075" y="2082239"/>
            <a:ext cx="312229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000" dirty="0">
                <a:latin typeface="Arial"/>
                <a:cs typeface="Arial"/>
              </a:rPr>
              <a:t>В чем проблема с такой функцией ошибок?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CF6114AE-07BB-E448-A3C3-5B2D4799AB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7775" y="1819959"/>
            <a:ext cx="40386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907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7976" y="345087"/>
            <a:ext cx="6681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15" dirty="0">
                <a:solidFill>
                  <a:srgbClr val="FDFDFD"/>
                </a:solidFill>
                <a:latin typeface="Trebuchet MS"/>
                <a:cs typeface="Trebuchet MS"/>
              </a:rPr>
              <a:t>Метод</a:t>
            </a:r>
            <a:r>
              <a:rPr sz="3600" b="1" spc="-2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600" b="1" spc="-50" dirty="0">
                <a:solidFill>
                  <a:srgbClr val="FDFDFD"/>
                </a:solidFill>
                <a:latin typeface="Trebuchet MS"/>
                <a:cs typeface="Trebuchet MS"/>
              </a:rPr>
              <a:t>наименьших</a:t>
            </a:r>
            <a:r>
              <a:rPr sz="3600" b="1" spc="-1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600" b="1" spc="5" dirty="0">
                <a:solidFill>
                  <a:srgbClr val="FDFDFD"/>
                </a:solidFill>
                <a:latin typeface="Trebuchet MS"/>
                <a:cs typeface="Trebuchet MS"/>
              </a:rPr>
              <a:t>квадратов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76405" y="3680135"/>
            <a:ext cx="3094355" cy="2383155"/>
            <a:chOff x="1876405" y="3680135"/>
            <a:chExt cx="3094355" cy="23831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7875" y="4253550"/>
              <a:ext cx="2792676" cy="14032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38301" y="3774058"/>
              <a:ext cx="0" cy="2233295"/>
            </a:xfrm>
            <a:custGeom>
              <a:avLst/>
              <a:gdLst/>
              <a:ahLst/>
              <a:cxnLst/>
              <a:rect l="l" t="t" r="r" b="b"/>
              <a:pathLst>
                <a:path h="2233295">
                  <a:moveTo>
                    <a:pt x="0" y="0"/>
                  </a:moveTo>
                  <a:lnTo>
                    <a:pt x="0" y="2233128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6405" y="3680135"/>
              <a:ext cx="123793" cy="1558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37775" y="6001030"/>
              <a:ext cx="2938780" cy="6350"/>
            </a:xfrm>
            <a:custGeom>
              <a:avLst/>
              <a:gdLst/>
              <a:ahLst/>
              <a:cxnLst/>
              <a:rect l="l" t="t" r="r" b="b"/>
              <a:pathLst>
                <a:path w="2938779" h="6350">
                  <a:moveTo>
                    <a:pt x="2938727" y="0"/>
                  </a:moveTo>
                  <a:lnTo>
                    <a:pt x="0" y="6319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14514" y="5939226"/>
              <a:ext cx="155911" cy="12379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68026" y="4114598"/>
              <a:ext cx="248999" cy="2333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68026" y="4114598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0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0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7151" y="4564923"/>
              <a:ext cx="248999" cy="2333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387151" y="4564923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0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0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49901" y="4798323"/>
              <a:ext cx="248999" cy="2333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49901" y="4798323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0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0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9301" y="4945361"/>
              <a:ext cx="248999" cy="2333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389301" y="4945361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0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0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79701" y="4564361"/>
              <a:ext cx="248999" cy="23339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779701" y="4564361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5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1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1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49701" y="5423461"/>
              <a:ext cx="248999" cy="23339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149701" y="5423461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5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1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1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8701" y="4792961"/>
              <a:ext cx="248999" cy="2333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398701" y="4792961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5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1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1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74301" y="4649598"/>
              <a:ext cx="248999" cy="23339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074301" y="4649598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1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1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29461" y="3371160"/>
            <a:ext cx="1981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y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43525" y="5913160"/>
            <a:ext cx="2235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X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25075" y="2082239"/>
            <a:ext cx="312229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000" dirty="0">
                <a:latin typeface="Arial"/>
                <a:cs typeface="Arial"/>
              </a:rPr>
              <a:t>В чем проблема с такой функцией ошибок?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CF6114AE-07BB-E448-A3C3-5B2D4799AB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7775" y="1819959"/>
            <a:ext cx="4038600" cy="11938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2C6851C-357F-A140-A977-4AF3CD5EE9DE}"/>
              </a:ext>
            </a:extLst>
          </p:cNvPr>
          <p:cNvSpPr txBox="1"/>
          <p:nvPr/>
        </p:nvSpPr>
        <p:spPr>
          <a:xfrm>
            <a:off x="5155285" y="5123399"/>
            <a:ext cx="2227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Отрицательная ошибка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77AE17-53D8-524C-B28C-73C580E47F69}"/>
              </a:ext>
            </a:extLst>
          </p:cNvPr>
          <p:cNvSpPr txBox="1"/>
          <p:nvPr/>
        </p:nvSpPr>
        <p:spPr>
          <a:xfrm>
            <a:off x="2274200" y="3304367"/>
            <a:ext cx="365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Положительная ошибка</a:t>
            </a:r>
          </a:p>
        </p:txBody>
      </p:sp>
      <p:cxnSp>
        <p:nvCxnSpPr>
          <p:cNvPr id="36" name="Прямая со стрелкой 9">
            <a:extLst>
              <a:ext uri="{FF2B5EF4-FFF2-40B4-BE49-F238E27FC236}">
                <a16:creationId xmlns:a16="http://schemas.microsoft.com/office/drawing/2014/main" id="{A9D756A6-14CD-B94E-9C4F-71194058B0EF}"/>
              </a:ext>
            </a:extLst>
          </p:cNvPr>
          <p:cNvCxnSpPr>
            <a:cxnSpLocks/>
          </p:cNvCxnSpPr>
          <p:nvPr/>
        </p:nvCxnSpPr>
        <p:spPr>
          <a:xfrm>
            <a:off x="2936152" y="3705552"/>
            <a:ext cx="50554" cy="757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 стрелкой 11">
            <a:extLst>
              <a:ext uri="{FF2B5EF4-FFF2-40B4-BE49-F238E27FC236}">
                <a16:creationId xmlns:a16="http://schemas.microsoft.com/office/drawing/2014/main" id="{D51B1635-9EC1-0D4C-99A5-0C8846811D4F}"/>
              </a:ext>
            </a:extLst>
          </p:cNvPr>
          <p:cNvCxnSpPr>
            <a:cxnSpLocks/>
          </p:cNvCxnSpPr>
          <p:nvPr/>
        </p:nvCxnSpPr>
        <p:spPr>
          <a:xfrm flipH="1" flipV="1">
            <a:off x="3849699" y="5178761"/>
            <a:ext cx="1239600" cy="267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009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7976" y="345087"/>
            <a:ext cx="6681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15" dirty="0">
                <a:solidFill>
                  <a:srgbClr val="FDFDFD"/>
                </a:solidFill>
                <a:latin typeface="Trebuchet MS"/>
                <a:cs typeface="Trebuchet MS"/>
              </a:rPr>
              <a:t>Метод</a:t>
            </a:r>
            <a:r>
              <a:rPr sz="3600" b="1" spc="-2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600" b="1" spc="-50" dirty="0">
                <a:solidFill>
                  <a:srgbClr val="FDFDFD"/>
                </a:solidFill>
                <a:latin typeface="Trebuchet MS"/>
                <a:cs typeface="Trebuchet MS"/>
              </a:rPr>
              <a:t>наименьших</a:t>
            </a:r>
            <a:r>
              <a:rPr sz="3600" b="1" spc="-1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600" b="1" spc="5" dirty="0">
                <a:solidFill>
                  <a:srgbClr val="FDFDFD"/>
                </a:solidFill>
                <a:latin typeface="Trebuchet MS"/>
                <a:cs typeface="Trebuchet MS"/>
              </a:rPr>
              <a:t>квадратов</a:t>
            </a:r>
            <a:endParaRPr sz="360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76405" y="3680135"/>
            <a:ext cx="3094355" cy="2383155"/>
            <a:chOff x="1876405" y="3680135"/>
            <a:chExt cx="3094355" cy="23831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7875" y="4253550"/>
              <a:ext cx="2792676" cy="14032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38301" y="3774058"/>
              <a:ext cx="0" cy="2233295"/>
            </a:xfrm>
            <a:custGeom>
              <a:avLst/>
              <a:gdLst/>
              <a:ahLst/>
              <a:cxnLst/>
              <a:rect l="l" t="t" r="r" b="b"/>
              <a:pathLst>
                <a:path h="2233295">
                  <a:moveTo>
                    <a:pt x="0" y="0"/>
                  </a:moveTo>
                  <a:lnTo>
                    <a:pt x="0" y="2233128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6405" y="3680135"/>
              <a:ext cx="123793" cy="1558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37775" y="6001030"/>
              <a:ext cx="2938780" cy="6350"/>
            </a:xfrm>
            <a:custGeom>
              <a:avLst/>
              <a:gdLst/>
              <a:ahLst/>
              <a:cxnLst/>
              <a:rect l="l" t="t" r="r" b="b"/>
              <a:pathLst>
                <a:path w="2938779" h="6350">
                  <a:moveTo>
                    <a:pt x="2938727" y="0"/>
                  </a:moveTo>
                  <a:lnTo>
                    <a:pt x="0" y="6319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14514" y="5939226"/>
              <a:ext cx="155911" cy="12379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68026" y="4114598"/>
              <a:ext cx="248999" cy="2333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68026" y="4114598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0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0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7151" y="4564923"/>
              <a:ext cx="248999" cy="2333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387151" y="4564923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0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0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49901" y="4798323"/>
              <a:ext cx="248999" cy="2333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49901" y="4798323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0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0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9301" y="4945361"/>
              <a:ext cx="248999" cy="2333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389301" y="4945361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0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0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79701" y="4564361"/>
              <a:ext cx="248999" cy="23339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779701" y="4564361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5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1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1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49701" y="5423461"/>
              <a:ext cx="248999" cy="23339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149701" y="5423461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5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1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1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8701" y="4792961"/>
              <a:ext cx="248999" cy="2333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398701" y="4792961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5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1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1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74301" y="4649598"/>
              <a:ext cx="248999" cy="23339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074301" y="4649598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1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1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29461" y="3371160"/>
            <a:ext cx="1981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y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43525" y="5913160"/>
            <a:ext cx="2235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X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25075" y="2082239"/>
            <a:ext cx="312229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000" dirty="0">
                <a:latin typeface="Arial"/>
                <a:cs typeface="Arial"/>
              </a:rPr>
              <a:t>В чем проблема с такой функцией ошибок?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CF6114AE-07BB-E448-A3C3-5B2D4799AB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7775" y="1819959"/>
            <a:ext cx="4038600" cy="11938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2C6851C-357F-A140-A977-4AF3CD5EE9DE}"/>
              </a:ext>
            </a:extLst>
          </p:cNvPr>
          <p:cNvSpPr txBox="1"/>
          <p:nvPr/>
        </p:nvSpPr>
        <p:spPr>
          <a:xfrm>
            <a:off x="5155285" y="5123399"/>
            <a:ext cx="2227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Отрицательная ошибка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77AE17-53D8-524C-B28C-73C580E47F69}"/>
              </a:ext>
            </a:extLst>
          </p:cNvPr>
          <p:cNvSpPr txBox="1"/>
          <p:nvPr/>
        </p:nvSpPr>
        <p:spPr>
          <a:xfrm>
            <a:off x="2274200" y="3304367"/>
            <a:ext cx="365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Положительная ошибка</a:t>
            </a:r>
          </a:p>
        </p:txBody>
      </p:sp>
      <p:cxnSp>
        <p:nvCxnSpPr>
          <p:cNvPr id="36" name="Прямая со стрелкой 9">
            <a:extLst>
              <a:ext uri="{FF2B5EF4-FFF2-40B4-BE49-F238E27FC236}">
                <a16:creationId xmlns:a16="http://schemas.microsoft.com/office/drawing/2014/main" id="{A9D756A6-14CD-B94E-9C4F-71194058B0EF}"/>
              </a:ext>
            </a:extLst>
          </p:cNvPr>
          <p:cNvCxnSpPr>
            <a:cxnSpLocks/>
          </p:cNvCxnSpPr>
          <p:nvPr/>
        </p:nvCxnSpPr>
        <p:spPr>
          <a:xfrm>
            <a:off x="2936152" y="3705552"/>
            <a:ext cx="50554" cy="757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 стрелкой 11">
            <a:extLst>
              <a:ext uri="{FF2B5EF4-FFF2-40B4-BE49-F238E27FC236}">
                <a16:creationId xmlns:a16="http://schemas.microsoft.com/office/drawing/2014/main" id="{D51B1635-9EC1-0D4C-99A5-0C8846811D4F}"/>
              </a:ext>
            </a:extLst>
          </p:cNvPr>
          <p:cNvCxnSpPr>
            <a:cxnSpLocks/>
          </p:cNvCxnSpPr>
          <p:nvPr/>
        </p:nvCxnSpPr>
        <p:spPr>
          <a:xfrm flipH="1" flipV="1">
            <a:off x="3849699" y="5178761"/>
            <a:ext cx="1239600" cy="267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B3DAD37-2261-5240-9749-7D3BD9756F5B}"/>
              </a:ext>
            </a:extLst>
          </p:cNvPr>
          <p:cNvSpPr txBox="1"/>
          <p:nvPr/>
        </p:nvSpPr>
        <p:spPr>
          <a:xfrm>
            <a:off x="6268888" y="3669094"/>
            <a:ext cx="2036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Положительная ошибка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974E18-D855-8441-8FDA-3D164A401014}"/>
              </a:ext>
            </a:extLst>
          </p:cNvPr>
          <p:cNvSpPr txBox="1"/>
          <p:nvPr/>
        </p:nvSpPr>
        <p:spPr>
          <a:xfrm>
            <a:off x="8585715" y="3680135"/>
            <a:ext cx="2227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Отрицательная ошибка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bject 29">
                <a:extLst>
                  <a:ext uri="{FF2B5EF4-FFF2-40B4-BE49-F238E27FC236}">
                    <a16:creationId xmlns:a16="http://schemas.microsoft.com/office/drawing/2014/main" id="{A2F0A1C7-BE26-7943-9E62-C1EB261B8B3E}"/>
                  </a:ext>
                </a:extLst>
              </p:cNvPr>
              <p:cNvSpPr txBox="1"/>
              <p:nvPr/>
            </p:nvSpPr>
            <p:spPr>
              <a:xfrm>
                <a:off x="8287069" y="3873728"/>
                <a:ext cx="3122295" cy="320601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ru-RU" sz="2000" dirty="0">
                    <a:latin typeface="Arial"/>
                    <a:cs typeface="Arial"/>
                  </a:rPr>
                  <a:t>+                              </a:t>
                </a:r>
                <a14:m>
                  <m:oMath xmlns:m="http://schemas.openxmlformats.org/officeDocument/2006/math">
                    <m:r>
                      <a:rPr lang="ru-R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≈</m:t>
                    </m:r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0</m:t>
                    </m:r>
                  </m:oMath>
                </a14:m>
                <a:endParaRPr sz="20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45" name="object 29">
                <a:extLst>
                  <a:ext uri="{FF2B5EF4-FFF2-40B4-BE49-F238E27FC236}">
                    <a16:creationId xmlns:a16="http://schemas.microsoft.com/office/drawing/2014/main" id="{A2F0A1C7-BE26-7943-9E62-C1EB261B8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7069" y="3873728"/>
                <a:ext cx="3122295" cy="320601"/>
              </a:xfrm>
              <a:prstGeom prst="rect">
                <a:avLst/>
              </a:prstGeom>
              <a:blipFill>
                <a:blip r:embed="rId9"/>
                <a:stretch>
                  <a:fillRect l="-4453" t="-14815" b="-4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038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7976" y="345087"/>
            <a:ext cx="6681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00" b="1" spc="15" dirty="0">
                <a:solidFill>
                  <a:srgbClr val="FDFDFD"/>
                </a:solidFill>
                <a:latin typeface="Trebuchet MS"/>
                <a:cs typeface="Trebuchet MS"/>
              </a:rPr>
              <a:t>Метод</a:t>
            </a:r>
            <a:r>
              <a:rPr lang="ru-RU" sz="3600" b="1" spc="-2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lang="ru-RU" sz="3600" b="1" spc="-50" dirty="0">
                <a:solidFill>
                  <a:srgbClr val="FDFDFD"/>
                </a:solidFill>
                <a:latin typeface="Trebuchet MS"/>
                <a:cs typeface="Trebuchet MS"/>
              </a:rPr>
              <a:t>наименьших</a:t>
            </a:r>
            <a:r>
              <a:rPr lang="ru-RU" sz="3600" b="1" spc="-1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lang="ru-RU" sz="3600" b="1" spc="5" dirty="0">
                <a:solidFill>
                  <a:srgbClr val="FDFDFD"/>
                </a:solidFill>
                <a:latin typeface="Trebuchet MS"/>
                <a:cs typeface="Trebuchet MS"/>
              </a:rPr>
              <a:t>квадратов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40991" y="2250087"/>
            <a:ext cx="915162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7745" marR="5080" indent="-2265680" algn="ctr">
              <a:lnSpc>
                <a:spcPct val="100000"/>
              </a:lnSpc>
              <a:spcBef>
                <a:spcPts val="100"/>
              </a:spcBef>
            </a:pPr>
            <a:r>
              <a:rPr lang="ru-RU" sz="3600" b="1" spc="70" dirty="0">
                <a:latin typeface="Trebuchet MS"/>
                <a:cs typeface="Trebuchet MS"/>
              </a:rPr>
              <a:t>Идея: брать квадраты!</a:t>
            </a:r>
            <a:endParaRPr sz="36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49887" y="3467025"/>
            <a:ext cx="2143124" cy="214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02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7976" y="345087"/>
            <a:ext cx="6681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15" dirty="0">
                <a:solidFill>
                  <a:srgbClr val="FDFDFD"/>
                </a:solidFill>
                <a:latin typeface="Trebuchet MS"/>
                <a:cs typeface="Trebuchet MS"/>
              </a:rPr>
              <a:t>Метод</a:t>
            </a:r>
            <a:r>
              <a:rPr sz="3600" b="1" spc="-2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600" b="1" spc="-50" dirty="0">
                <a:solidFill>
                  <a:srgbClr val="FDFDFD"/>
                </a:solidFill>
                <a:latin typeface="Trebuchet MS"/>
                <a:cs typeface="Trebuchet MS"/>
              </a:rPr>
              <a:t>наименьших</a:t>
            </a:r>
            <a:r>
              <a:rPr sz="3600" b="1" spc="-1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600" b="1" spc="5" dirty="0">
                <a:solidFill>
                  <a:srgbClr val="FDFDFD"/>
                </a:solidFill>
                <a:latin typeface="Trebuchet MS"/>
                <a:cs typeface="Trebuchet MS"/>
              </a:rPr>
              <a:t>квадратов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76405" y="3680135"/>
            <a:ext cx="3094355" cy="2383155"/>
            <a:chOff x="1876405" y="3680135"/>
            <a:chExt cx="3094355" cy="23831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7875" y="4253550"/>
              <a:ext cx="2792676" cy="14032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38301" y="3774058"/>
              <a:ext cx="0" cy="2233295"/>
            </a:xfrm>
            <a:custGeom>
              <a:avLst/>
              <a:gdLst/>
              <a:ahLst/>
              <a:cxnLst/>
              <a:rect l="l" t="t" r="r" b="b"/>
              <a:pathLst>
                <a:path h="2233295">
                  <a:moveTo>
                    <a:pt x="0" y="0"/>
                  </a:moveTo>
                  <a:lnTo>
                    <a:pt x="0" y="2233128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6405" y="3680135"/>
              <a:ext cx="123793" cy="1558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37775" y="6001030"/>
              <a:ext cx="2938780" cy="6350"/>
            </a:xfrm>
            <a:custGeom>
              <a:avLst/>
              <a:gdLst/>
              <a:ahLst/>
              <a:cxnLst/>
              <a:rect l="l" t="t" r="r" b="b"/>
              <a:pathLst>
                <a:path w="2938779" h="6350">
                  <a:moveTo>
                    <a:pt x="2938727" y="0"/>
                  </a:moveTo>
                  <a:lnTo>
                    <a:pt x="0" y="6319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14514" y="5939226"/>
              <a:ext cx="155911" cy="12379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68026" y="4114598"/>
              <a:ext cx="248999" cy="2333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68026" y="4114598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0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0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7151" y="4564923"/>
              <a:ext cx="248999" cy="2333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387151" y="4564923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0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0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49901" y="4798323"/>
              <a:ext cx="248999" cy="2333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49901" y="4798323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0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0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9301" y="4945361"/>
              <a:ext cx="248999" cy="2333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389301" y="4945361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0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0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79701" y="4564361"/>
              <a:ext cx="248999" cy="23339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779701" y="4564361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5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1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1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49701" y="5423461"/>
              <a:ext cx="248999" cy="23339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149701" y="5423461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5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1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1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8701" y="4792961"/>
              <a:ext cx="248999" cy="2333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398701" y="4792961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5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1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1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74301" y="4649598"/>
              <a:ext cx="248999" cy="23339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074301" y="4649598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1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1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29461" y="3371160"/>
            <a:ext cx="1981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y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43525" y="5913160"/>
            <a:ext cx="2235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X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21374" y="4310065"/>
            <a:ext cx="3669029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Arial"/>
                <a:cs typeface="Arial"/>
              </a:rPr>
              <a:t>Простым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20" dirty="0">
                <a:latin typeface="Arial"/>
                <a:cs typeface="Arial"/>
              </a:rPr>
              <a:t>л</a:t>
            </a:r>
            <a:r>
              <a:rPr sz="2000" spc="-5" dirty="0">
                <a:latin typeface="Arial"/>
                <a:cs typeface="Arial"/>
              </a:rPr>
              <a:t>о</a:t>
            </a:r>
            <a:r>
              <a:rPr sz="2000" spc="-25" dirty="0">
                <a:latin typeface="Arial"/>
                <a:cs typeface="Arial"/>
              </a:rPr>
              <a:t>в</a:t>
            </a:r>
            <a:r>
              <a:rPr sz="2000" spc="-5" dirty="0">
                <a:latin typeface="Arial"/>
                <a:cs typeface="Arial"/>
              </a:rPr>
              <a:t>ам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45" dirty="0">
                <a:latin typeface="Arial"/>
                <a:cs typeface="Arial"/>
              </a:rPr>
              <a:t>э</a:t>
            </a:r>
            <a:r>
              <a:rPr sz="2000" spc="-25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5" dirty="0">
                <a:latin typeface="Arial"/>
                <a:cs typeface="Arial"/>
              </a:rPr>
              <a:t>у</a:t>
            </a:r>
            <a:r>
              <a:rPr sz="2000" spc="-5" dirty="0">
                <a:latin typeface="Arial"/>
                <a:cs typeface="Arial"/>
              </a:rPr>
              <a:t>мма  </a:t>
            </a:r>
            <a:r>
              <a:rPr sz="2000" spc="-15" dirty="0">
                <a:latin typeface="Arial"/>
                <a:cs typeface="Arial"/>
              </a:rPr>
              <a:t>квадратов </a:t>
            </a:r>
            <a:r>
              <a:rPr sz="2000" spc="-10" dirty="0">
                <a:latin typeface="Arial"/>
                <a:cs typeface="Arial"/>
              </a:rPr>
              <a:t>разности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между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00FF"/>
                </a:solidFill>
                <a:latin typeface="Arial"/>
                <a:cs typeface="Arial"/>
              </a:rPr>
              <a:t>точкой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и </a:t>
            </a:r>
            <a:r>
              <a:rPr sz="2000" b="1" spc="-15" dirty="0">
                <a:solidFill>
                  <a:srgbClr val="0000FF"/>
                </a:solidFill>
                <a:latin typeface="Arial"/>
                <a:cs typeface="Arial"/>
              </a:rPr>
              <a:t>значением </a:t>
            </a:r>
            <a:r>
              <a:rPr sz="20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0000FF"/>
                </a:solidFill>
                <a:latin typeface="Arial"/>
                <a:cs typeface="Arial"/>
              </a:rPr>
              <a:t>проведенной</a:t>
            </a:r>
            <a:r>
              <a:rPr sz="20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0000FF"/>
                </a:solidFill>
                <a:latin typeface="Arial"/>
                <a:cs typeface="Arial"/>
              </a:rPr>
              <a:t>прямой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25075" y="2082239"/>
            <a:ext cx="312229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lang="en-US" sz="2000" b="1" dirty="0">
                <a:latin typeface="Arial"/>
                <a:cs typeface="Arial"/>
              </a:rPr>
              <a:t>R</a:t>
            </a:r>
            <a:r>
              <a:rPr sz="2000" b="1" dirty="0">
                <a:latin typeface="Arial"/>
                <a:cs typeface="Arial"/>
              </a:rPr>
              <a:t>S</a:t>
            </a:r>
            <a:r>
              <a:rPr lang="en-US" sz="2000" b="1" dirty="0">
                <a:latin typeface="Arial"/>
                <a:cs typeface="Arial"/>
              </a:rPr>
              <a:t>S</a:t>
            </a:r>
            <a:r>
              <a:rPr sz="2000" b="1" dirty="0">
                <a:latin typeface="Arial"/>
                <a:cs typeface="Arial"/>
              </a:rPr>
              <a:t> - </a:t>
            </a:r>
            <a:r>
              <a:rPr lang="en" sz="2000" dirty="0">
                <a:latin typeface="Arial"/>
                <a:cs typeface="Arial"/>
              </a:rPr>
              <a:t>Residual Sum of Squares  </a:t>
            </a:r>
            <a:r>
              <a:rPr sz="2000" spc="-10" dirty="0">
                <a:latin typeface="Arial"/>
                <a:cs typeface="Arial"/>
              </a:rPr>
              <a:t>(</a:t>
            </a:r>
            <a:r>
              <a:rPr lang="ru-RU" sz="2000" spc="-10" dirty="0">
                <a:latin typeface="Arial"/>
                <a:cs typeface="Arial"/>
              </a:rPr>
              <a:t>сумма квадратов ошибок</a:t>
            </a:r>
            <a:r>
              <a:rPr sz="2000" spc="-5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5D6BE5-DB9C-A64C-B70B-BE5F610EC2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3000" y="1797865"/>
            <a:ext cx="55118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342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7976" y="345087"/>
            <a:ext cx="6681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15" dirty="0">
                <a:solidFill>
                  <a:srgbClr val="FDFDFD"/>
                </a:solidFill>
                <a:latin typeface="Trebuchet MS"/>
                <a:cs typeface="Trebuchet MS"/>
              </a:rPr>
              <a:t>Метод</a:t>
            </a:r>
            <a:r>
              <a:rPr sz="3600" b="1" spc="-2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600" b="1" spc="-50" dirty="0">
                <a:solidFill>
                  <a:srgbClr val="FDFDFD"/>
                </a:solidFill>
                <a:latin typeface="Trebuchet MS"/>
                <a:cs typeface="Trebuchet MS"/>
              </a:rPr>
              <a:t>наименьших</a:t>
            </a:r>
            <a:r>
              <a:rPr sz="3600" b="1" spc="-1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600" b="1" spc="5" dirty="0">
                <a:solidFill>
                  <a:srgbClr val="FDFDFD"/>
                </a:solidFill>
                <a:latin typeface="Trebuchet MS"/>
                <a:cs typeface="Trebuchet MS"/>
              </a:rPr>
              <a:t>квадратов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76405" y="3680135"/>
            <a:ext cx="3094355" cy="2383155"/>
            <a:chOff x="1876405" y="3680135"/>
            <a:chExt cx="3094355" cy="23831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7875" y="4253550"/>
              <a:ext cx="2792676" cy="14032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38301" y="3774058"/>
              <a:ext cx="0" cy="2233295"/>
            </a:xfrm>
            <a:custGeom>
              <a:avLst/>
              <a:gdLst/>
              <a:ahLst/>
              <a:cxnLst/>
              <a:rect l="l" t="t" r="r" b="b"/>
              <a:pathLst>
                <a:path h="2233295">
                  <a:moveTo>
                    <a:pt x="0" y="0"/>
                  </a:moveTo>
                  <a:lnTo>
                    <a:pt x="0" y="2233128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6405" y="3680135"/>
              <a:ext cx="123793" cy="1558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37775" y="6001030"/>
              <a:ext cx="2938780" cy="6350"/>
            </a:xfrm>
            <a:custGeom>
              <a:avLst/>
              <a:gdLst/>
              <a:ahLst/>
              <a:cxnLst/>
              <a:rect l="l" t="t" r="r" b="b"/>
              <a:pathLst>
                <a:path w="2938779" h="6350">
                  <a:moveTo>
                    <a:pt x="2938727" y="0"/>
                  </a:moveTo>
                  <a:lnTo>
                    <a:pt x="0" y="6319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14514" y="5939226"/>
              <a:ext cx="155911" cy="12379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68026" y="4114598"/>
              <a:ext cx="248999" cy="2333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68026" y="4114598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0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0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7151" y="4564923"/>
              <a:ext cx="248999" cy="2333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387151" y="4564923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0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0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49901" y="4798323"/>
              <a:ext cx="248999" cy="2333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49901" y="4798323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0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0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9301" y="4945361"/>
              <a:ext cx="248999" cy="2333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389301" y="4945361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0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0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79701" y="4564361"/>
              <a:ext cx="248999" cy="23339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779701" y="4564361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5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1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1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49701" y="5423461"/>
              <a:ext cx="248999" cy="23339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149701" y="5423461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5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1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1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8701" y="4792961"/>
              <a:ext cx="248999" cy="2333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398701" y="4792961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5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1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1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74301" y="4649598"/>
              <a:ext cx="248999" cy="23339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074301" y="4649598"/>
              <a:ext cx="249554" cy="233679"/>
            </a:xfrm>
            <a:custGeom>
              <a:avLst/>
              <a:gdLst/>
              <a:ahLst/>
              <a:cxnLst/>
              <a:rect l="l" t="t" r="r" b="b"/>
              <a:pathLst>
                <a:path w="249554" h="233679">
                  <a:moveTo>
                    <a:pt x="0" y="116699"/>
                  </a:moveTo>
                  <a:lnTo>
                    <a:pt x="9783" y="71275"/>
                  </a:lnTo>
                  <a:lnTo>
                    <a:pt x="36465" y="34180"/>
                  </a:lnTo>
                  <a:lnTo>
                    <a:pt x="76038" y="9170"/>
                  </a:lnTo>
                  <a:lnTo>
                    <a:pt x="124499" y="0"/>
                  </a:lnTo>
                  <a:lnTo>
                    <a:pt x="172961" y="9170"/>
                  </a:lnTo>
                  <a:lnTo>
                    <a:pt x="212534" y="34180"/>
                  </a:lnTo>
                  <a:lnTo>
                    <a:pt x="239216" y="71275"/>
                  </a:lnTo>
                  <a:lnTo>
                    <a:pt x="248999" y="116699"/>
                  </a:lnTo>
                  <a:lnTo>
                    <a:pt x="239216" y="162125"/>
                  </a:lnTo>
                  <a:lnTo>
                    <a:pt x="212534" y="199219"/>
                  </a:lnTo>
                  <a:lnTo>
                    <a:pt x="172961" y="224229"/>
                  </a:lnTo>
                  <a:lnTo>
                    <a:pt x="124499" y="233399"/>
                  </a:lnTo>
                  <a:lnTo>
                    <a:pt x="76038" y="224229"/>
                  </a:lnTo>
                  <a:lnTo>
                    <a:pt x="36465" y="199219"/>
                  </a:lnTo>
                  <a:lnTo>
                    <a:pt x="9783" y="162125"/>
                  </a:lnTo>
                  <a:lnTo>
                    <a:pt x="0" y="1166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29461" y="3371160"/>
            <a:ext cx="1981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y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43525" y="5913160"/>
            <a:ext cx="2235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X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21374" y="4310065"/>
            <a:ext cx="3669029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Arial"/>
                <a:cs typeface="Arial"/>
              </a:rPr>
              <a:t>Простым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20" dirty="0">
                <a:latin typeface="Arial"/>
                <a:cs typeface="Arial"/>
              </a:rPr>
              <a:t>л</a:t>
            </a:r>
            <a:r>
              <a:rPr sz="2000" spc="-5" dirty="0">
                <a:latin typeface="Arial"/>
                <a:cs typeface="Arial"/>
              </a:rPr>
              <a:t>о</a:t>
            </a:r>
            <a:r>
              <a:rPr sz="2000" spc="-25" dirty="0">
                <a:latin typeface="Arial"/>
                <a:cs typeface="Arial"/>
              </a:rPr>
              <a:t>в</a:t>
            </a:r>
            <a:r>
              <a:rPr sz="2000" spc="-5" dirty="0">
                <a:latin typeface="Arial"/>
                <a:cs typeface="Arial"/>
              </a:rPr>
              <a:t>ам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45" dirty="0">
                <a:latin typeface="Arial"/>
                <a:cs typeface="Arial"/>
              </a:rPr>
              <a:t>э</a:t>
            </a:r>
            <a:r>
              <a:rPr sz="2000" spc="-25" dirty="0">
                <a:latin typeface="Arial"/>
                <a:cs typeface="Arial"/>
              </a:rPr>
              <a:t>т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25" dirty="0">
                <a:latin typeface="Arial"/>
                <a:cs typeface="Arial"/>
              </a:rPr>
              <a:t>у</a:t>
            </a:r>
            <a:r>
              <a:rPr sz="2000" spc="-5" dirty="0">
                <a:latin typeface="Arial"/>
                <a:cs typeface="Arial"/>
              </a:rPr>
              <a:t>мма  </a:t>
            </a:r>
            <a:r>
              <a:rPr sz="2000" spc="-15" dirty="0">
                <a:latin typeface="Arial"/>
                <a:cs typeface="Arial"/>
              </a:rPr>
              <a:t>квадратов </a:t>
            </a:r>
            <a:r>
              <a:rPr sz="2000" spc="-10" dirty="0">
                <a:latin typeface="Arial"/>
                <a:cs typeface="Arial"/>
              </a:rPr>
              <a:t>разности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между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00FF"/>
                </a:solidFill>
                <a:latin typeface="Arial"/>
                <a:cs typeface="Arial"/>
              </a:rPr>
              <a:t>точкой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и </a:t>
            </a:r>
            <a:r>
              <a:rPr sz="2000" b="1" spc="-15" dirty="0">
                <a:solidFill>
                  <a:srgbClr val="0000FF"/>
                </a:solidFill>
                <a:latin typeface="Arial"/>
                <a:cs typeface="Arial"/>
              </a:rPr>
              <a:t>значением </a:t>
            </a:r>
            <a:r>
              <a:rPr sz="20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0000FF"/>
                </a:solidFill>
                <a:latin typeface="Arial"/>
                <a:cs typeface="Arial"/>
              </a:rPr>
              <a:t>проведенной</a:t>
            </a:r>
            <a:r>
              <a:rPr sz="20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0" dirty="0" err="1">
                <a:solidFill>
                  <a:srgbClr val="0000FF"/>
                </a:solidFill>
                <a:latin typeface="Arial"/>
                <a:cs typeface="Arial"/>
              </a:rPr>
              <a:t>прямой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25075" y="2082239"/>
            <a:ext cx="312229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lang="en-US" sz="2000" b="1" dirty="0">
                <a:latin typeface="Arial"/>
                <a:cs typeface="Arial"/>
              </a:rPr>
              <a:t>R</a:t>
            </a:r>
            <a:r>
              <a:rPr sz="2000" b="1" dirty="0">
                <a:latin typeface="Arial"/>
                <a:cs typeface="Arial"/>
              </a:rPr>
              <a:t>S</a:t>
            </a:r>
            <a:r>
              <a:rPr lang="en-US" sz="2000" b="1" dirty="0">
                <a:latin typeface="Arial"/>
                <a:cs typeface="Arial"/>
              </a:rPr>
              <a:t>S</a:t>
            </a:r>
            <a:r>
              <a:rPr sz="2000" b="1" dirty="0">
                <a:latin typeface="Arial"/>
                <a:cs typeface="Arial"/>
              </a:rPr>
              <a:t> - </a:t>
            </a:r>
            <a:r>
              <a:rPr lang="en" sz="2000" dirty="0">
                <a:latin typeface="Arial"/>
                <a:cs typeface="Arial"/>
              </a:rPr>
              <a:t>Residual Sum of Squares  </a:t>
            </a:r>
            <a:r>
              <a:rPr sz="2000" spc="-10" dirty="0">
                <a:latin typeface="Arial"/>
                <a:cs typeface="Arial"/>
              </a:rPr>
              <a:t>(</a:t>
            </a:r>
            <a:r>
              <a:rPr lang="ru-RU" sz="2000" spc="-10" dirty="0">
                <a:latin typeface="Arial"/>
                <a:cs typeface="Arial"/>
              </a:rPr>
              <a:t>сумма квадратов ошибок</a:t>
            </a:r>
            <a:r>
              <a:rPr sz="2000" spc="-5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D946344-4873-1F40-8EF8-35B17F21E4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900" y="1547796"/>
            <a:ext cx="69088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864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7976" y="345087"/>
            <a:ext cx="6681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15" dirty="0">
                <a:solidFill>
                  <a:srgbClr val="FDFDFD"/>
                </a:solidFill>
                <a:latin typeface="Trebuchet MS"/>
                <a:cs typeface="Trebuchet MS"/>
              </a:rPr>
              <a:t>Метод</a:t>
            </a:r>
            <a:r>
              <a:rPr sz="3600" b="1" spc="-2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600" b="1" spc="-50" dirty="0">
                <a:solidFill>
                  <a:srgbClr val="FDFDFD"/>
                </a:solidFill>
                <a:latin typeface="Trebuchet MS"/>
                <a:cs typeface="Trebuchet MS"/>
              </a:rPr>
              <a:t>наименьших</a:t>
            </a:r>
            <a:r>
              <a:rPr sz="3600" b="1" spc="-1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600" b="1" spc="5" dirty="0">
                <a:solidFill>
                  <a:srgbClr val="FDFDFD"/>
                </a:solidFill>
                <a:latin typeface="Trebuchet MS"/>
                <a:cs typeface="Trebuchet MS"/>
              </a:rPr>
              <a:t>квадратов</a:t>
            </a:r>
            <a:endParaRPr sz="360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7162009" y="4803431"/>
                <a:ext cx="4394873" cy="82843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ru-RU" sz="2500" spc="-145" dirty="0">
                    <a:latin typeface="Arial"/>
                    <a:cs typeface="Arial"/>
                  </a:rPr>
                  <a:t>Выбираем</a:t>
                </a:r>
                <a:r>
                  <a:rPr lang="en-US" sz="2500" dirty="0"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800" i="1" spc="-14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ar-AE" sz="2800" i="1" spc="-14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ar-AE" sz="2800" i="1" spc="-14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  <m:t>𝜔</m:t>
                            </m:r>
                          </m:e>
                          <m:sub>
                            <m:r>
                              <a:rPr lang="ar-AE" sz="2800" b="0" i="1" spc="-14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ru-R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28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и</a:t>
                </a:r>
                <a:r>
                  <a:rPr lang="ru-RU" sz="2800" spc="-14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800" i="1" spc="-14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ar-AE" sz="2800" i="1" spc="-14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ar-AE" sz="2800" i="1" spc="-14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  <m:t>𝜔</m:t>
                            </m:r>
                          </m:e>
                          <m:sub>
                            <m:r>
                              <a:rPr lang="ru-RU" sz="2800" b="0" i="1" spc="-14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ru-RU" sz="2500" dirty="0">
                    <a:latin typeface="Calibri"/>
                    <a:cs typeface="Calibri"/>
                  </a:rPr>
                  <a:t>, </a:t>
                </a:r>
                <a:r>
                  <a:rPr lang="ru-RU" sz="2500" dirty="0">
                    <a:latin typeface="Arial" panose="020B0604020202020204" pitchFamily="34" charset="0"/>
                    <a:cs typeface="Arial" panose="020B0604020202020204" pitchFamily="34" charset="0"/>
                  </a:rPr>
                  <a:t>для которых </a:t>
                </a:r>
                <a:r>
                  <a:rPr lang="en-US" sz="2500" dirty="0">
                    <a:latin typeface="Arial" panose="020B0604020202020204" pitchFamily="34" charset="0"/>
                    <a:cs typeface="Arial" panose="020B0604020202020204" pitchFamily="34" charset="0"/>
                  </a:rPr>
                  <a:t>RSS</a:t>
                </a:r>
                <a:r>
                  <a:rPr lang="ru-RU" sz="2500" dirty="0">
                    <a:latin typeface="Arial" panose="020B0604020202020204" pitchFamily="34" charset="0"/>
                    <a:cs typeface="Arial" panose="020B0604020202020204" pitchFamily="34" charset="0"/>
                  </a:rPr>
                  <a:t> минимально!</a:t>
                </a:r>
                <a:endParaRPr sz="2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009" y="4803431"/>
                <a:ext cx="4394873" cy="828432"/>
              </a:xfrm>
              <a:prstGeom prst="rect">
                <a:avLst/>
              </a:prstGeom>
              <a:blipFill>
                <a:blip r:embed="rId2"/>
                <a:stretch>
                  <a:fillRect l="-4323" t="-12121" b="-227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object 4"/>
          <p:cNvGrpSpPr/>
          <p:nvPr/>
        </p:nvGrpSpPr>
        <p:grpSpPr>
          <a:xfrm>
            <a:off x="2867005" y="3680135"/>
            <a:ext cx="2447290" cy="2389505"/>
            <a:chOff x="2867005" y="3680135"/>
            <a:chExt cx="2447290" cy="2389505"/>
          </a:xfrm>
        </p:grpSpPr>
        <p:sp>
          <p:nvSpPr>
            <p:cNvPr id="5" name="object 5"/>
            <p:cNvSpPr/>
            <p:nvPr/>
          </p:nvSpPr>
          <p:spPr>
            <a:xfrm>
              <a:off x="2928901" y="3774058"/>
              <a:ext cx="0" cy="2233295"/>
            </a:xfrm>
            <a:custGeom>
              <a:avLst/>
              <a:gdLst/>
              <a:ahLst/>
              <a:cxnLst/>
              <a:rect l="l" t="t" r="r" b="b"/>
              <a:pathLst>
                <a:path h="2233295">
                  <a:moveTo>
                    <a:pt x="0" y="0"/>
                  </a:moveTo>
                  <a:lnTo>
                    <a:pt x="0" y="2233128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7005" y="3680135"/>
              <a:ext cx="123793" cy="1558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928470" y="6007490"/>
              <a:ext cx="2291715" cy="0"/>
            </a:xfrm>
            <a:custGeom>
              <a:avLst/>
              <a:gdLst/>
              <a:ahLst/>
              <a:cxnLst/>
              <a:rect l="l" t="t" r="r" b="b"/>
              <a:pathLst>
                <a:path w="2291715">
                  <a:moveTo>
                    <a:pt x="2291628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58202" y="5945594"/>
              <a:ext cx="155820" cy="12379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620062" y="3371160"/>
            <a:ext cx="1981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y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33482" y="5989358"/>
            <a:ext cx="2235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X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903137" y="2599137"/>
            <a:ext cx="3416300" cy="3402329"/>
            <a:chOff x="2903137" y="2599137"/>
            <a:chExt cx="3416300" cy="3402329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73315" y="3579294"/>
              <a:ext cx="86924" cy="971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52183" y="3445067"/>
              <a:ext cx="86924" cy="971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11934" y="3558704"/>
              <a:ext cx="86924" cy="971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11934" y="3388249"/>
              <a:ext cx="86924" cy="971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35937" y="5361260"/>
              <a:ext cx="86924" cy="971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79816" y="3692931"/>
              <a:ext cx="86924" cy="971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24943" y="3692931"/>
              <a:ext cx="1414164" cy="159499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165075" y="4651031"/>
              <a:ext cx="77470" cy="87630"/>
            </a:xfrm>
            <a:custGeom>
              <a:avLst/>
              <a:gdLst/>
              <a:ahLst/>
              <a:cxnLst/>
              <a:rect l="l" t="t" r="r" b="b"/>
              <a:pathLst>
                <a:path w="77470" h="87629">
                  <a:moveTo>
                    <a:pt x="38699" y="87599"/>
                  </a:moveTo>
                  <a:lnTo>
                    <a:pt x="23636" y="84158"/>
                  </a:lnTo>
                  <a:lnTo>
                    <a:pt x="11335" y="74771"/>
                  </a:lnTo>
                  <a:lnTo>
                    <a:pt x="3041" y="60849"/>
                  </a:lnTo>
                  <a:lnTo>
                    <a:pt x="0" y="43799"/>
                  </a:lnTo>
                  <a:lnTo>
                    <a:pt x="3041" y="26751"/>
                  </a:lnTo>
                  <a:lnTo>
                    <a:pt x="11335" y="12828"/>
                  </a:lnTo>
                  <a:lnTo>
                    <a:pt x="23636" y="3442"/>
                  </a:lnTo>
                  <a:lnTo>
                    <a:pt x="38699" y="0"/>
                  </a:lnTo>
                  <a:lnTo>
                    <a:pt x="46285" y="849"/>
                  </a:lnTo>
                  <a:lnTo>
                    <a:pt x="74454" y="27038"/>
                  </a:lnTo>
                  <a:lnTo>
                    <a:pt x="77399" y="43799"/>
                  </a:lnTo>
                  <a:lnTo>
                    <a:pt x="74358" y="60849"/>
                  </a:lnTo>
                  <a:lnTo>
                    <a:pt x="66065" y="74771"/>
                  </a:lnTo>
                  <a:lnTo>
                    <a:pt x="53763" y="84158"/>
                  </a:lnTo>
                  <a:lnTo>
                    <a:pt x="38699" y="875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165075" y="4651031"/>
              <a:ext cx="77470" cy="87630"/>
            </a:xfrm>
            <a:custGeom>
              <a:avLst/>
              <a:gdLst/>
              <a:ahLst/>
              <a:cxnLst/>
              <a:rect l="l" t="t" r="r" b="b"/>
              <a:pathLst>
                <a:path w="77470" h="87629">
                  <a:moveTo>
                    <a:pt x="0" y="43799"/>
                  </a:moveTo>
                  <a:lnTo>
                    <a:pt x="3041" y="26751"/>
                  </a:lnTo>
                  <a:lnTo>
                    <a:pt x="11335" y="12828"/>
                  </a:lnTo>
                  <a:lnTo>
                    <a:pt x="23636" y="3442"/>
                  </a:lnTo>
                  <a:lnTo>
                    <a:pt x="38699" y="0"/>
                  </a:lnTo>
                  <a:lnTo>
                    <a:pt x="74454" y="27038"/>
                  </a:lnTo>
                  <a:lnTo>
                    <a:pt x="77399" y="43799"/>
                  </a:lnTo>
                  <a:lnTo>
                    <a:pt x="74358" y="60849"/>
                  </a:lnTo>
                  <a:lnTo>
                    <a:pt x="66065" y="74771"/>
                  </a:lnTo>
                  <a:lnTo>
                    <a:pt x="53763" y="84158"/>
                  </a:lnTo>
                  <a:lnTo>
                    <a:pt x="38699" y="87599"/>
                  </a:lnTo>
                  <a:lnTo>
                    <a:pt x="23636" y="84158"/>
                  </a:lnTo>
                  <a:lnTo>
                    <a:pt x="11335" y="74771"/>
                  </a:lnTo>
                  <a:lnTo>
                    <a:pt x="3041" y="60849"/>
                  </a:lnTo>
                  <a:lnTo>
                    <a:pt x="0" y="437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65075" y="4651031"/>
              <a:ext cx="77470" cy="87630"/>
            </a:xfrm>
            <a:custGeom>
              <a:avLst/>
              <a:gdLst/>
              <a:ahLst/>
              <a:cxnLst/>
              <a:rect l="l" t="t" r="r" b="b"/>
              <a:pathLst>
                <a:path w="77470" h="87629">
                  <a:moveTo>
                    <a:pt x="38699" y="87599"/>
                  </a:moveTo>
                  <a:lnTo>
                    <a:pt x="23636" y="84158"/>
                  </a:lnTo>
                  <a:lnTo>
                    <a:pt x="11335" y="74771"/>
                  </a:lnTo>
                  <a:lnTo>
                    <a:pt x="3041" y="60849"/>
                  </a:lnTo>
                  <a:lnTo>
                    <a:pt x="0" y="43799"/>
                  </a:lnTo>
                  <a:lnTo>
                    <a:pt x="3041" y="26751"/>
                  </a:lnTo>
                  <a:lnTo>
                    <a:pt x="11335" y="12828"/>
                  </a:lnTo>
                  <a:lnTo>
                    <a:pt x="23636" y="3442"/>
                  </a:lnTo>
                  <a:lnTo>
                    <a:pt x="38699" y="0"/>
                  </a:lnTo>
                  <a:lnTo>
                    <a:pt x="46285" y="849"/>
                  </a:lnTo>
                  <a:lnTo>
                    <a:pt x="74454" y="27038"/>
                  </a:lnTo>
                  <a:lnTo>
                    <a:pt x="77399" y="43799"/>
                  </a:lnTo>
                  <a:lnTo>
                    <a:pt x="74358" y="60849"/>
                  </a:lnTo>
                  <a:lnTo>
                    <a:pt x="66065" y="74771"/>
                  </a:lnTo>
                  <a:lnTo>
                    <a:pt x="53763" y="84158"/>
                  </a:lnTo>
                  <a:lnTo>
                    <a:pt x="38699" y="875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65075" y="4651031"/>
              <a:ext cx="77470" cy="87630"/>
            </a:xfrm>
            <a:custGeom>
              <a:avLst/>
              <a:gdLst/>
              <a:ahLst/>
              <a:cxnLst/>
              <a:rect l="l" t="t" r="r" b="b"/>
              <a:pathLst>
                <a:path w="77470" h="87629">
                  <a:moveTo>
                    <a:pt x="0" y="43799"/>
                  </a:moveTo>
                  <a:lnTo>
                    <a:pt x="3041" y="26751"/>
                  </a:lnTo>
                  <a:lnTo>
                    <a:pt x="11335" y="12828"/>
                  </a:lnTo>
                  <a:lnTo>
                    <a:pt x="23636" y="3442"/>
                  </a:lnTo>
                  <a:lnTo>
                    <a:pt x="38699" y="0"/>
                  </a:lnTo>
                  <a:lnTo>
                    <a:pt x="74454" y="27038"/>
                  </a:lnTo>
                  <a:lnTo>
                    <a:pt x="77399" y="43799"/>
                  </a:lnTo>
                  <a:lnTo>
                    <a:pt x="74358" y="60849"/>
                  </a:lnTo>
                  <a:lnTo>
                    <a:pt x="66065" y="74771"/>
                  </a:lnTo>
                  <a:lnTo>
                    <a:pt x="53763" y="84158"/>
                  </a:lnTo>
                  <a:lnTo>
                    <a:pt x="38699" y="87599"/>
                  </a:lnTo>
                  <a:lnTo>
                    <a:pt x="23636" y="84158"/>
                  </a:lnTo>
                  <a:lnTo>
                    <a:pt x="11335" y="74771"/>
                  </a:lnTo>
                  <a:lnTo>
                    <a:pt x="3041" y="60849"/>
                  </a:lnTo>
                  <a:lnTo>
                    <a:pt x="0" y="437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11934" y="3887038"/>
              <a:ext cx="86924" cy="971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11934" y="3716582"/>
              <a:ext cx="86924" cy="971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65185" y="3160974"/>
              <a:ext cx="86924" cy="9712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917425" y="3276774"/>
              <a:ext cx="3000375" cy="2419985"/>
            </a:xfrm>
            <a:custGeom>
              <a:avLst/>
              <a:gdLst/>
              <a:ahLst/>
              <a:cxnLst/>
              <a:rect l="l" t="t" r="r" b="b"/>
              <a:pathLst>
                <a:path w="3000375" h="2419985">
                  <a:moveTo>
                    <a:pt x="0" y="2419799"/>
                  </a:moveTo>
                  <a:lnTo>
                    <a:pt x="3000299" y="0"/>
                  </a:lnTo>
                </a:path>
              </a:pathLst>
            </a:custGeom>
            <a:ln w="2857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5715" y="3731694"/>
              <a:ext cx="86924" cy="971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04583" y="3597467"/>
              <a:ext cx="86924" cy="9712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64334" y="3711104"/>
              <a:ext cx="86924" cy="9712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17585" y="3313374"/>
              <a:ext cx="86924" cy="9712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64334" y="3540649"/>
              <a:ext cx="86924" cy="9712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30588" y="3199737"/>
              <a:ext cx="86924" cy="9712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88338" y="5513660"/>
              <a:ext cx="86924" cy="9712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32216" y="3845331"/>
              <a:ext cx="86924" cy="9712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77343" y="3845331"/>
              <a:ext cx="1414164" cy="159499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317475" y="4803431"/>
              <a:ext cx="77470" cy="87630"/>
            </a:xfrm>
            <a:custGeom>
              <a:avLst/>
              <a:gdLst/>
              <a:ahLst/>
              <a:cxnLst/>
              <a:rect l="l" t="t" r="r" b="b"/>
              <a:pathLst>
                <a:path w="77470" h="87629">
                  <a:moveTo>
                    <a:pt x="38699" y="87599"/>
                  </a:moveTo>
                  <a:lnTo>
                    <a:pt x="23636" y="84158"/>
                  </a:lnTo>
                  <a:lnTo>
                    <a:pt x="11335" y="74771"/>
                  </a:lnTo>
                  <a:lnTo>
                    <a:pt x="3041" y="60849"/>
                  </a:lnTo>
                  <a:lnTo>
                    <a:pt x="0" y="43799"/>
                  </a:lnTo>
                  <a:lnTo>
                    <a:pt x="3041" y="26751"/>
                  </a:lnTo>
                  <a:lnTo>
                    <a:pt x="11335" y="12828"/>
                  </a:lnTo>
                  <a:lnTo>
                    <a:pt x="23636" y="3442"/>
                  </a:lnTo>
                  <a:lnTo>
                    <a:pt x="38699" y="0"/>
                  </a:lnTo>
                  <a:lnTo>
                    <a:pt x="46285" y="849"/>
                  </a:lnTo>
                  <a:lnTo>
                    <a:pt x="74454" y="27038"/>
                  </a:lnTo>
                  <a:lnTo>
                    <a:pt x="77399" y="43799"/>
                  </a:lnTo>
                  <a:lnTo>
                    <a:pt x="74358" y="60849"/>
                  </a:lnTo>
                  <a:lnTo>
                    <a:pt x="66065" y="74771"/>
                  </a:lnTo>
                  <a:lnTo>
                    <a:pt x="53763" y="84158"/>
                  </a:lnTo>
                  <a:lnTo>
                    <a:pt x="38699" y="875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317475" y="4803431"/>
              <a:ext cx="77470" cy="87630"/>
            </a:xfrm>
            <a:custGeom>
              <a:avLst/>
              <a:gdLst/>
              <a:ahLst/>
              <a:cxnLst/>
              <a:rect l="l" t="t" r="r" b="b"/>
              <a:pathLst>
                <a:path w="77470" h="87629">
                  <a:moveTo>
                    <a:pt x="0" y="43799"/>
                  </a:moveTo>
                  <a:lnTo>
                    <a:pt x="3041" y="26751"/>
                  </a:lnTo>
                  <a:lnTo>
                    <a:pt x="11335" y="12828"/>
                  </a:lnTo>
                  <a:lnTo>
                    <a:pt x="23636" y="3442"/>
                  </a:lnTo>
                  <a:lnTo>
                    <a:pt x="38699" y="0"/>
                  </a:lnTo>
                  <a:lnTo>
                    <a:pt x="74454" y="27038"/>
                  </a:lnTo>
                  <a:lnTo>
                    <a:pt x="77399" y="43799"/>
                  </a:lnTo>
                  <a:lnTo>
                    <a:pt x="74358" y="60849"/>
                  </a:lnTo>
                  <a:lnTo>
                    <a:pt x="66065" y="74771"/>
                  </a:lnTo>
                  <a:lnTo>
                    <a:pt x="53763" y="84158"/>
                  </a:lnTo>
                  <a:lnTo>
                    <a:pt x="38699" y="87599"/>
                  </a:lnTo>
                  <a:lnTo>
                    <a:pt x="23636" y="84158"/>
                  </a:lnTo>
                  <a:lnTo>
                    <a:pt x="11335" y="74771"/>
                  </a:lnTo>
                  <a:lnTo>
                    <a:pt x="3041" y="60849"/>
                  </a:lnTo>
                  <a:lnTo>
                    <a:pt x="0" y="437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317475" y="4803431"/>
              <a:ext cx="77470" cy="87630"/>
            </a:xfrm>
            <a:custGeom>
              <a:avLst/>
              <a:gdLst/>
              <a:ahLst/>
              <a:cxnLst/>
              <a:rect l="l" t="t" r="r" b="b"/>
              <a:pathLst>
                <a:path w="77470" h="87629">
                  <a:moveTo>
                    <a:pt x="38699" y="87599"/>
                  </a:moveTo>
                  <a:lnTo>
                    <a:pt x="23636" y="84158"/>
                  </a:lnTo>
                  <a:lnTo>
                    <a:pt x="11335" y="74771"/>
                  </a:lnTo>
                  <a:lnTo>
                    <a:pt x="3041" y="60849"/>
                  </a:lnTo>
                  <a:lnTo>
                    <a:pt x="0" y="43799"/>
                  </a:lnTo>
                  <a:lnTo>
                    <a:pt x="3041" y="26751"/>
                  </a:lnTo>
                  <a:lnTo>
                    <a:pt x="11335" y="12828"/>
                  </a:lnTo>
                  <a:lnTo>
                    <a:pt x="23636" y="3442"/>
                  </a:lnTo>
                  <a:lnTo>
                    <a:pt x="38699" y="0"/>
                  </a:lnTo>
                  <a:lnTo>
                    <a:pt x="46285" y="849"/>
                  </a:lnTo>
                  <a:lnTo>
                    <a:pt x="74454" y="27038"/>
                  </a:lnTo>
                  <a:lnTo>
                    <a:pt x="77399" y="43799"/>
                  </a:lnTo>
                  <a:lnTo>
                    <a:pt x="74358" y="60849"/>
                  </a:lnTo>
                  <a:lnTo>
                    <a:pt x="66065" y="74771"/>
                  </a:lnTo>
                  <a:lnTo>
                    <a:pt x="53763" y="84158"/>
                  </a:lnTo>
                  <a:lnTo>
                    <a:pt x="38699" y="875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317475" y="4803431"/>
              <a:ext cx="77470" cy="87630"/>
            </a:xfrm>
            <a:custGeom>
              <a:avLst/>
              <a:gdLst/>
              <a:ahLst/>
              <a:cxnLst/>
              <a:rect l="l" t="t" r="r" b="b"/>
              <a:pathLst>
                <a:path w="77470" h="87629">
                  <a:moveTo>
                    <a:pt x="0" y="43799"/>
                  </a:moveTo>
                  <a:lnTo>
                    <a:pt x="3041" y="26751"/>
                  </a:lnTo>
                  <a:lnTo>
                    <a:pt x="11335" y="12828"/>
                  </a:lnTo>
                  <a:lnTo>
                    <a:pt x="23636" y="3442"/>
                  </a:lnTo>
                  <a:lnTo>
                    <a:pt x="38699" y="0"/>
                  </a:lnTo>
                  <a:lnTo>
                    <a:pt x="74454" y="27038"/>
                  </a:lnTo>
                  <a:lnTo>
                    <a:pt x="77399" y="43799"/>
                  </a:lnTo>
                  <a:lnTo>
                    <a:pt x="74358" y="60849"/>
                  </a:lnTo>
                  <a:lnTo>
                    <a:pt x="66065" y="74771"/>
                  </a:lnTo>
                  <a:lnTo>
                    <a:pt x="53763" y="84158"/>
                  </a:lnTo>
                  <a:lnTo>
                    <a:pt x="38699" y="87599"/>
                  </a:lnTo>
                  <a:lnTo>
                    <a:pt x="23636" y="84158"/>
                  </a:lnTo>
                  <a:lnTo>
                    <a:pt x="11335" y="74771"/>
                  </a:lnTo>
                  <a:lnTo>
                    <a:pt x="3041" y="60849"/>
                  </a:lnTo>
                  <a:lnTo>
                    <a:pt x="0" y="43799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64334" y="4039438"/>
              <a:ext cx="86924" cy="9712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64334" y="3868982"/>
              <a:ext cx="86924" cy="9712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78188" y="3047337"/>
              <a:ext cx="86924" cy="9712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055675" y="2613424"/>
              <a:ext cx="2461260" cy="3373754"/>
            </a:xfrm>
            <a:custGeom>
              <a:avLst/>
              <a:gdLst/>
              <a:ahLst/>
              <a:cxnLst/>
              <a:rect l="l" t="t" r="r" b="b"/>
              <a:pathLst>
                <a:path w="2461260" h="3373754">
                  <a:moveTo>
                    <a:pt x="0" y="3373499"/>
                  </a:moveTo>
                  <a:lnTo>
                    <a:pt x="2461199" y="0"/>
                  </a:lnTo>
                </a:path>
              </a:pathLst>
            </a:custGeom>
            <a:ln w="2857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72725" y="4051275"/>
              <a:ext cx="3332479" cy="193675"/>
            </a:xfrm>
            <a:custGeom>
              <a:avLst/>
              <a:gdLst/>
              <a:ahLst/>
              <a:cxnLst/>
              <a:rect l="l" t="t" r="r" b="b"/>
              <a:pathLst>
                <a:path w="3332479" h="193675">
                  <a:moveTo>
                    <a:pt x="0" y="193499"/>
                  </a:moveTo>
                  <a:lnTo>
                    <a:pt x="3332099" y="0"/>
                  </a:lnTo>
                </a:path>
              </a:pathLst>
            </a:custGeom>
            <a:ln w="28574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483225" y="2193925"/>
            <a:ext cx="2343234" cy="10823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spc="-5" dirty="0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sz="2500" spc="-5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lang="en-US" sz="2500" spc="-5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sz="25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sz="25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0000FF"/>
                </a:solidFill>
                <a:latin typeface="Calibri"/>
                <a:cs typeface="Calibri"/>
              </a:rPr>
              <a:t>12</a:t>
            </a:r>
            <a:r>
              <a:rPr lang="en-US" sz="2500" spc="-5" dirty="0">
                <a:solidFill>
                  <a:srgbClr val="0000FF"/>
                </a:solidFill>
                <a:latin typeface="Calibri"/>
                <a:cs typeface="Calibri"/>
              </a:rPr>
              <a:t>0</a:t>
            </a:r>
            <a:endParaRPr sz="2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5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lang="en-US" sz="2500" spc="-5" dirty="0">
                <a:solidFill>
                  <a:srgbClr val="00FF00"/>
                </a:solidFill>
                <a:latin typeface="Calibri"/>
                <a:cs typeface="Calibri"/>
              </a:rPr>
              <a:t>R</a:t>
            </a:r>
            <a:r>
              <a:rPr sz="2500" spc="-5" dirty="0">
                <a:solidFill>
                  <a:srgbClr val="00FF00"/>
                </a:solidFill>
                <a:latin typeface="Calibri"/>
                <a:cs typeface="Calibri"/>
              </a:rPr>
              <a:t>S</a:t>
            </a:r>
            <a:r>
              <a:rPr lang="en-US" sz="2500" spc="-5" dirty="0">
                <a:solidFill>
                  <a:srgbClr val="00FF00"/>
                </a:solidFill>
                <a:latin typeface="Calibri"/>
                <a:cs typeface="Calibri"/>
              </a:rPr>
              <a:t>S</a:t>
            </a:r>
            <a:r>
              <a:rPr sz="2500" spc="-55" dirty="0">
                <a:solidFill>
                  <a:srgbClr val="00FF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00FF00"/>
                </a:solidFill>
                <a:latin typeface="Calibri"/>
                <a:cs typeface="Calibri"/>
              </a:rPr>
              <a:t>=</a:t>
            </a:r>
            <a:r>
              <a:rPr sz="2500" spc="-50" dirty="0">
                <a:solidFill>
                  <a:srgbClr val="00FF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00FF00"/>
                </a:solidFill>
                <a:latin typeface="Calibri"/>
                <a:cs typeface="Calibri"/>
              </a:rPr>
              <a:t>15</a:t>
            </a:r>
            <a:r>
              <a:rPr lang="en-US" sz="2500" spc="-5" dirty="0">
                <a:solidFill>
                  <a:srgbClr val="00FF00"/>
                </a:solidFill>
                <a:latin typeface="Calibri"/>
                <a:cs typeface="Calibri"/>
              </a:rPr>
              <a:t>0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321425" y="3641725"/>
            <a:ext cx="221297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spc="-5" dirty="0">
                <a:solidFill>
                  <a:srgbClr val="00FF00"/>
                </a:solidFill>
                <a:latin typeface="Calibri"/>
                <a:cs typeface="Calibri"/>
              </a:rPr>
              <a:t>R</a:t>
            </a:r>
            <a:r>
              <a:rPr sz="2500" spc="-5" dirty="0">
                <a:solidFill>
                  <a:srgbClr val="00FF00"/>
                </a:solidFill>
                <a:latin typeface="Calibri"/>
                <a:cs typeface="Calibri"/>
              </a:rPr>
              <a:t>S</a:t>
            </a:r>
            <a:r>
              <a:rPr lang="en-US" sz="2500" spc="-5" dirty="0">
                <a:solidFill>
                  <a:srgbClr val="00FF00"/>
                </a:solidFill>
                <a:latin typeface="Calibri"/>
                <a:cs typeface="Calibri"/>
              </a:rPr>
              <a:t>S</a:t>
            </a:r>
            <a:r>
              <a:rPr sz="2500" spc="-55" dirty="0">
                <a:solidFill>
                  <a:srgbClr val="00FF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00FF00"/>
                </a:solidFill>
                <a:latin typeface="Calibri"/>
                <a:cs typeface="Calibri"/>
              </a:rPr>
              <a:t>=</a:t>
            </a:r>
            <a:r>
              <a:rPr sz="2500" spc="-50" dirty="0">
                <a:solidFill>
                  <a:srgbClr val="00FF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00FF00"/>
                </a:solidFill>
                <a:latin typeface="Calibri"/>
                <a:cs typeface="Calibri"/>
              </a:rPr>
              <a:t>100</a:t>
            </a:r>
            <a:r>
              <a:rPr lang="en-US" sz="2500" spc="-5" dirty="0">
                <a:solidFill>
                  <a:srgbClr val="00FF00"/>
                </a:solidFill>
                <a:latin typeface="Calibri"/>
                <a:cs typeface="Calibri"/>
              </a:rPr>
              <a:t>0</a:t>
            </a:r>
            <a:endParaRPr sz="2500" dirty="0">
              <a:latin typeface="Calibri"/>
              <a:cs typeface="Calibri"/>
            </a:endParaRPr>
          </a:p>
        </p:txBody>
      </p:sp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24819B10-C03E-D749-B3C7-F01F163D7D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8035" y="1463697"/>
            <a:ext cx="4952553" cy="15294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8737" y="345087"/>
            <a:ext cx="8440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00" b="1" spc="15" dirty="0">
                <a:solidFill>
                  <a:srgbClr val="FDFDFD"/>
                </a:solidFill>
              </a:rPr>
              <a:t>Градиентный спуск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600" y="1600200"/>
            <a:ext cx="7056531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lang="ru-RU" sz="2500" spc="-10" dirty="0">
                <a:latin typeface="Arial"/>
                <a:cs typeface="Arial"/>
              </a:rPr>
              <a:t>Оптимизируем </a:t>
            </a:r>
            <a:r>
              <a:rPr lang="en-US" sz="2500" spc="-10" dirty="0">
                <a:latin typeface="Arial"/>
                <a:cs typeface="Arial"/>
              </a:rPr>
              <a:t>RSS </a:t>
            </a:r>
            <a:r>
              <a:rPr lang="ru-RU" sz="2500" b="1" spc="-10" dirty="0">
                <a:latin typeface="Arial"/>
                <a:cs typeface="Arial"/>
              </a:rPr>
              <a:t>градиентным спуском</a:t>
            </a:r>
            <a:endParaRPr sz="2500" b="1" dirty="0">
              <a:latin typeface="Arial"/>
              <a:cs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3F8153D-2601-A243-B873-606D77452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2201211"/>
            <a:ext cx="5109071" cy="431170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0AC3DA-8A34-9D42-9EA6-E85605BFB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130" y="2381250"/>
            <a:ext cx="5109070" cy="15299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80806BB7-3B42-EF4B-9B72-06ECCA74D686}"/>
                  </a:ext>
                </a:extLst>
              </p:cNvPr>
              <p:cNvSpPr/>
              <p:nvPr/>
            </p:nvSpPr>
            <p:spPr>
              <a:xfrm>
                <a:off x="8705124" y="6328247"/>
                <a:ext cx="4026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800" i="1" spc="-14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𝜔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80806BB7-3B42-EF4B-9B72-06ECCA74D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5124" y="6328247"/>
                <a:ext cx="40261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7E8AF101-DDA9-BC47-B0E4-5AA5B5136B8E}"/>
                  </a:ext>
                </a:extLst>
              </p:cNvPr>
              <p:cNvSpPr/>
              <p:nvPr/>
            </p:nvSpPr>
            <p:spPr>
              <a:xfrm>
                <a:off x="5939615" y="3618829"/>
                <a:ext cx="6444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𝑅𝑆𝑆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7E8AF101-DDA9-BC47-B0E4-5AA5B5136B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615" y="3618829"/>
                <a:ext cx="64440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2372D03-31D4-7240-9B55-E3CC9E5E43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357062"/>
            <a:ext cx="5555268" cy="50319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8737" y="345087"/>
            <a:ext cx="8440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00" b="1" spc="15" dirty="0">
                <a:solidFill>
                  <a:srgbClr val="FDFDFD"/>
                </a:solidFill>
              </a:rPr>
              <a:t>Градиентный спуск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600" y="1600200"/>
            <a:ext cx="7056531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lang="ru-RU" sz="2500" spc="-10" dirty="0">
                <a:latin typeface="Arial"/>
                <a:cs typeface="Arial"/>
              </a:rPr>
              <a:t>Оптимизируем </a:t>
            </a:r>
            <a:r>
              <a:rPr lang="en-US" sz="2500" spc="-10" dirty="0">
                <a:latin typeface="Arial"/>
                <a:cs typeface="Arial"/>
              </a:rPr>
              <a:t>RSS </a:t>
            </a:r>
            <a:r>
              <a:rPr lang="ru-RU" sz="2500" b="1" spc="-10" dirty="0">
                <a:latin typeface="Arial"/>
                <a:cs typeface="Arial"/>
              </a:rPr>
              <a:t>градиентным спуском</a:t>
            </a:r>
            <a:endParaRPr sz="2500" b="1" dirty="0">
              <a:latin typeface="Arial"/>
              <a:cs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3F8153D-2601-A243-B873-606D77452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2201211"/>
            <a:ext cx="5109071" cy="431170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0AC3DA-8A34-9D42-9EA6-E85605BFB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130" y="2381250"/>
            <a:ext cx="5109070" cy="152993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0D568AE-B2F7-264A-9082-76A0D835F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203" y="4089894"/>
            <a:ext cx="5867400" cy="466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80806BB7-3B42-EF4B-9B72-06ECCA74D686}"/>
                  </a:ext>
                </a:extLst>
              </p:cNvPr>
              <p:cNvSpPr/>
              <p:nvPr/>
            </p:nvSpPr>
            <p:spPr>
              <a:xfrm>
                <a:off x="8705124" y="6328247"/>
                <a:ext cx="4026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800" i="1" spc="-14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𝜔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80806BB7-3B42-EF4B-9B72-06ECCA74D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5124" y="6328247"/>
                <a:ext cx="40261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7E8AF101-DDA9-BC47-B0E4-5AA5B5136B8E}"/>
                  </a:ext>
                </a:extLst>
              </p:cNvPr>
              <p:cNvSpPr/>
              <p:nvPr/>
            </p:nvSpPr>
            <p:spPr>
              <a:xfrm>
                <a:off x="5939615" y="3618829"/>
                <a:ext cx="6444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𝑅𝑆𝑆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7E8AF101-DDA9-BC47-B0E4-5AA5B5136B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615" y="3618829"/>
                <a:ext cx="64440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7F02004-372C-A148-8A13-1F6B53E419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0703" y="5058401"/>
            <a:ext cx="39624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35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8737" y="345087"/>
            <a:ext cx="8440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00" b="1" spc="15" dirty="0">
                <a:solidFill>
                  <a:srgbClr val="FDFDFD"/>
                </a:solidFill>
              </a:rPr>
              <a:t>Градиентный спуск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600" y="1600200"/>
            <a:ext cx="7056531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lang="ru-RU" sz="2500" spc="-10" dirty="0">
                <a:latin typeface="Arial"/>
                <a:cs typeface="Arial"/>
              </a:rPr>
              <a:t>Оптимизируем </a:t>
            </a:r>
            <a:r>
              <a:rPr lang="en-US" sz="2500" spc="-10" dirty="0">
                <a:latin typeface="Arial"/>
                <a:cs typeface="Arial"/>
              </a:rPr>
              <a:t>RSS </a:t>
            </a:r>
            <a:r>
              <a:rPr lang="ru-RU" sz="2500" b="1" spc="-10" dirty="0">
                <a:latin typeface="Arial"/>
                <a:cs typeface="Arial"/>
              </a:rPr>
              <a:t>градиентным спуском</a:t>
            </a:r>
            <a:endParaRPr sz="2500" b="1" dirty="0">
              <a:latin typeface="Arial"/>
              <a:cs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3F8153D-2601-A243-B873-606D77452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2201211"/>
            <a:ext cx="5109071" cy="431170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0AC3DA-8A34-9D42-9EA6-E85605BFB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130" y="2381250"/>
            <a:ext cx="5109070" cy="152993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0D568AE-B2F7-264A-9082-76A0D835F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202" y="4089894"/>
            <a:ext cx="6060761" cy="4821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80806BB7-3B42-EF4B-9B72-06ECCA74D686}"/>
                  </a:ext>
                </a:extLst>
              </p:cNvPr>
              <p:cNvSpPr/>
              <p:nvPr/>
            </p:nvSpPr>
            <p:spPr>
              <a:xfrm>
                <a:off x="8705124" y="6328247"/>
                <a:ext cx="4026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800" i="1" spc="-14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𝜔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80806BB7-3B42-EF4B-9B72-06ECCA74D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5124" y="6328247"/>
                <a:ext cx="40261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7E8AF101-DDA9-BC47-B0E4-5AA5B5136B8E}"/>
                  </a:ext>
                </a:extLst>
              </p:cNvPr>
              <p:cNvSpPr/>
              <p:nvPr/>
            </p:nvSpPr>
            <p:spPr>
              <a:xfrm>
                <a:off x="5939615" y="3618829"/>
                <a:ext cx="6444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𝑅𝑆𝑆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7E8AF101-DDA9-BC47-B0E4-5AA5B5136B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615" y="3618829"/>
                <a:ext cx="64440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A83449E-8576-A44D-944B-C273A25A13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" y="5105400"/>
            <a:ext cx="3937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157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7976" y="345087"/>
            <a:ext cx="837102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00" b="1" spc="15" dirty="0">
                <a:solidFill>
                  <a:srgbClr val="FDFDFD"/>
                </a:solidFill>
              </a:rPr>
              <a:t>Градиентный спуск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50" name="object 28">
            <a:extLst>
              <a:ext uri="{FF2B5EF4-FFF2-40B4-BE49-F238E27FC236}">
                <a16:creationId xmlns:a16="http://schemas.microsoft.com/office/drawing/2014/main" id="{E19BF386-B554-ED4F-9DD7-D04672E47FF1}"/>
              </a:ext>
            </a:extLst>
          </p:cNvPr>
          <p:cNvSpPr txBox="1"/>
          <p:nvPr/>
        </p:nvSpPr>
        <p:spPr>
          <a:xfrm>
            <a:off x="1549446" y="1460380"/>
            <a:ext cx="7368071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000" spc="-5" dirty="0">
                <a:latin typeface="Arial"/>
                <a:cs typeface="Arial"/>
              </a:rPr>
              <a:t>Градиентный спуск работает и когда признаков много!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51" name="Picture 2" descr="https://upload.wikimedia.org/wikipedia/commons/7/79/Gradient_descent.png">
            <a:extLst>
              <a:ext uri="{FF2B5EF4-FFF2-40B4-BE49-F238E27FC236}">
                <a16:creationId xmlns:a16="http://schemas.microsoft.com/office/drawing/2014/main" id="{7971358E-A502-AA40-9E29-75B2C8C0C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643546"/>
            <a:ext cx="2809982" cy="3083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ÐÑÐ°Ð´Ð¸ÐµÐ½ÑÐ½ÑÐ¹ Ð¼ÐµÑÐ¾Ð´ Ð² Ð´ÐµÐ¹ÑÑÐ²Ð¸Ð¸. ÐÐ»Ð»ÑÑÑÑÐ°ÑÐ¸Ñ Ð´Ð»Ñ Ð¿Ð¾Ð²ÐµÑÑÐ½Ð¾ÑÑÐ¸.">
            <a:extLst>
              <a:ext uri="{FF2B5EF4-FFF2-40B4-BE49-F238E27FC236}">
                <a16:creationId xmlns:a16="http://schemas.microsoft.com/office/drawing/2014/main" id="{9F81B9FF-A987-8F4E-92F5-D0CF0DDE3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835" y="3175572"/>
            <a:ext cx="4283364" cy="351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9ECAC7F4-D804-2843-8ECE-325D12304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200" y="2819400"/>
            <a:ext cx="3937000" cy="914400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9C4C8432-007C-2A48-8099-1297608E4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8634" y="1906334"/>
            <a:ext cx="5651766" cy="91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83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9232" y="2805430"/>
            <a:ext cx="9821545" cy="84638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ru-RU" sz="5400" b="1" spc="15" dirty="0">
                <a:solidFill>
                  <a:srgbClr val="FDFDFD"/>
                </a:solidFill>
                <a:latin typeface="Trebuchet MS"/>
                <a:cs typeface="Trebuchet MS"/>
              </a:rPr>
              <a:t>Метрики качества</a:t>
            </a:r>
            <a:endParaRPr sz="49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981145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7976" y="345087"/>
            <a:ext cx="6681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00" b="1" spc="15" dirty="0">
                <a:solidFill>
                  <a:srgbClr val="FDFDFD"/>
                </a:solidFill>
                <a:latin typeface="Trebuchet MS"/>
                <a:cs typeface="Trebuchet MS"/>
              </a:rPr>
              <a:t>Метрики качества</a:t>
            </a:r>
            <a:endParaRPr sz="3600" dirty="0">
              <a:latin typeface="Trebuchet MS"/>
              <a:cs typeface="Trebuchet MS"/>
            </a:endParaRPr>
          </a:p>
        </p:txBody>
      </p:sp>
      <p:pic>
        <p:nvPicPr>
          <p:cNvPr id="30" name="Picture 2" descr="https://cdn-images-1.medium.com/max/1600/1*kInlS5dY0gD3p2Mhd7v2cw.png">
            <a:extLst>
              <a:ext uri="{FF2B5EF4-FFF2-40B4-BE49-F238E27FC236}">
                <a16:creationId xmlns:a16="http://schemas.microsoft.com/office/drawing/2014/main" id="{51D48966-F46B-A640-9F24-B7D304CF3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62269"/>
            <a:ext cx="3793850" cy="1075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8" descr="https://s3.amazonaws.com/media-p.slid.es/uploads/759308/images/5478762/pasted-from-clipboard.png">
            <a:extLst>
              <a:ext uri="{FF2B5EF4-FFF2-40B4-BE49-F238E27FC236}">
                <a16:creationId xmlns:a16="http://schemas.microsoft.com/office/drawing/2014/main" id="{C5FB1AA1-9D36-674C-989B-3A20B9CF2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962268"/>
            <a:ext cx="3898063" cy="107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5BA0A0F-9278-7B4D-BE84-DE20A3D8D941}"/>
              </a:ext>
            </a:extLst>
          </p:cNvPr>
          <p:cNvSpPr txBox="1"/>
          <p:nvPr/>
        </p:nvSpPr>
        <p:spPr>
          <a:xfrm>
            <a:off x="666108" y="1472322"/>
            <a:ext cx="398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Средняя абсолютная ошибка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E53B8E-7E12-D84B-B69B-7B96DF40988A}"/>
              </a:ext>
            </a:extLst>
          </p:cNvPr>
          <p:cNvSpPr txBox="1"/>
          <p:nvPr/>
        </p:nvSpPr>
        <p:spPr>
          <a:xfrm>
            <a:off x="7162799" y="1472322"/>
            <a:ext cx="398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Средняя квадратичная ошибка</a:t>
            </a:r>
          </a:p>
        </p:txBody>
      </p:sp>
      <p:pic>
        <p:nvPicPr>
          <p:cNvPr id="34" name="Picture 2" descr="http://qaru.site/img/26350c9a68b5c89564147132e1ff1d83.png">
            <a:extLst>
              <a:ext uri="{FF2B5EF4-FFF2-40B4-BE49-F238E27FC236}">
                <a16:creationId xmlns:a16="http://schemas.microsoft.com/office/drawing/2014/main" id="{DD7C2A0D-B96D-7D47-B517-EE4A1C22F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63" y="4492417"/>
            <a:ext cx="3807225" cy="1047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D0FEF2B-CD72-D84C-8BEA-2F44977BEF2E}"/>
              </a:ext>
            </a:extLst>
          </p:cNvPr>
          <p:cNvSpPr txBox="1"/>
          <p:nvPr/>
        </p:nvSpPr>
        <p:spPr>
          <a:xfrm>
            <a:off x="768370" y="3820405"/>
            <a:ext cx="4184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entury Gothic" panose="020B0502020202020204" pitchFamily="34" charset="0"/>
              </a:rPr>
              <a:t>Корень из средней квадратичной ошибки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298EEB-8B22-244F-919B-35FE23F32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548" y="2036283"/>
            <a:ext cx="6267450" cy="237903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9232" y="2805430"/>
            <a:ext cx="9821545" cy="84638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ru-RU" sz="5400" b="1" spc="15" dirty="0">
                <a:solidFill>
                  <a:srgbClr val="FDFDFD"/>
                </a:solidFill>
              </a:rPr>
              <a:t>Регуляризация</a:t>
            </a:r>
            <a:endParaRPr sz="49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998017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7976" y="345087"/>
            <a:ext cx="66814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00" b="1" spc="15" dirty="0">
                <a:solidFill>
                  <a:srgbClr val="FDFDFD"/>
                </a:solidFill>
              </a:rPr>
              <a:t>Регуляризация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41949" y="1847509"/>
            <a:ext cx="6369051" cy="7950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500" b="1" dirty="0">
                <a:latin typeface="Calibri"/>
                <a:cs typeface="Calibri"/>
              </a:rPr>
              <a:t>Проблема:</a:t>
            </a:r>
            <a:r>
              <a:rPr sz="2500" b="1" spc="-10" dirty="0">
                <a:latin typeface="Calibri"/>
                <a:cs typeface="Calibri"/>
              </a:rPr>
              <a:t> </a:t>
            </a:r>
            <a:r>
              <a:rPr lang="ru-RU" sz="2500" spc="-10" dirty="0">
                <a:latin typeface="Calibri"/>
                <a:cs typeface="Calibri"/>
              </a:rPr>
              <a:t>выбросы и переобучение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ru-RU" sz="2500" b="1" spc="-10" dirty="0">
              <a:latin typeface="Calibri"/>
              <a:cs typeface="Calibri"/>
            </a:endParaRPr>
          </a:p>
        </p:txBody>
      </p:sp>
      <p:pic>
        <p:nvPicPr>
          <p:cNvPr id="53" name="object 3">
            <a:extLst>
              <a:ext uri="{FF2B5EF4-FFF2-40B4-BE49-F238E27FC236}">
                <a16:creationId xmlns:a16="http://schemas.microsoft.com/office/drawing/2014/main" id="{E46C6931-BC2C-5F45-B554-0686DECD0DA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1878331"/>
            <a:ext cx="3763894" cy="433958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7976" y="345087"/>
            <a:ext cx="66814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00" b="1" spc="15" dirty="0">
                <a:solidFill>
                  <a:srgbClr val="FDFDFD"/>
                </a:solidFill>
              </a:rPr>
              <a:t>Регуляризация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41949" y="1847509"/>
            <a:ext cx="6369051" cy="23724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500" b="1" dirty="0">
                <a:latin typeface="Calibri"/>
                <a:cs typeface="Calibri"/>
              </a:rPr>
              <a:t>Проблема:</a:t>
            </a:r>
            <a:r>
              <a:rPr sz="2500" b="1" spc="-10" dirty="0">
                <a:latin typeface="Calibri"/>
                <a:cs typeface="Calibri"/>
              </a:rPr>
              <a:t> </a:t>
            </a:r>
            <a:r>
              <a:rPr lang="ru-RU" sz="2500" spc="-10" dirty="0">
                <a:latin typeface="Calibri"/>
                <a:cs typeface="Calibri"/>
              </a:rPr>
              <a:t>выбросы и переобучение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ru-RU" sz="2500" b="1" spc="-1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500" b="1" spc="-10" dirty="0">
                <a:latin typeface="Calibri"/>
                <a:cs typeface="Calibri"/>
              </a:rPr>
              <a:t>Идея: </a:t>
            </a:r>
            <a:r>
              <a:rPr lang="ru-RU" sz="2500" spc="-10" dirty="0">
                <a:latin typeface="Calibri"/>
                <a:cs typeface="Calibri"/>
              </a:rPr>
              <a:t>ввести штраф за излишнюю сложность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ru-RU" sz="2500" b="1" spc="-1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500" b="1" spc="-10" dirty="0">
                <a:latin typeface="Calibri"/>
                <a:cs typeface="Calibri"/>
              </a:rPr>
              <a:t>Регуляризация – </a:t>
            </a:r>
            <a:r>
              <a:rPr lang="ru-RU" sz="2500" spc="-10" dirty="0">
                <a:latin typeface="Calibri"/>
                <a:cs typeface="Calibri"/>
              </a:rPr>
              <a:t>ограничение на норму вектора весов</a:t>
            </a:r>
            <a:endParaRPr lang="ru-RU" sz="2500" spc="-5" dirty="0">
              <a:latin typeface="Calibri"/>
              <a:cs typeface="Calibri"/>
            </a:endParaRPr>
          </a:p>
        </p:txBody>
      </p:sp>
      <p:pic>
        <p:nvPicPr>
          <p:cNvPr id="53" name="object 3">
            <a:extLst>
              <a:ext uri="{FF2B5EF4-FFF2-40B4-BE49-F238E27FC236}">
                <a16:creationId xmlns:a16="http://schemas.microsoft.com/office/drawing/2014/main" id="{E46C6931-BC2C-5F45-B554-0686DECD0DA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1878331"/>
            <a:ext cx="3763894" cy="4339588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D4278213-EB68-2746-9535-43E17AFA5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711" y="4419600"/>
            <a:ext cx="47244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517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7976" y="345087"/>
            <a:ext cx="66814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600" b="1" spc="15" dirty="0">
                <a:solidFill>
                  <a:srgbClr val="FDFDFD"/>
                </a:solidFill>
              </a:rPr>
              <a:t>Регуляризация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41949" y="1847509"/>
            <a:ext cx="6369051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500" b="1" spc="-10" dirty="0">
                <a:latin typeface="Calibri"/>
                <a:cs typeface="Calibri"/>
              </a:rPr>
              <a:t>Регуляризация – </a:t>
            </a:r>
            <a:r>
              <a:rPr lang="ru-RU" sz="2500" spc="-10" dirty="0">
                <a:latin typeface="Calibri"/>
                <a:cs typeface="Calibri"/>
              </a:rPr>
              <a:t>ограничение на норму вектора весов</a:t>
            </a:r>
            <a:endParaRPr lang="ru-RU" sz="2500" spc="-5" dirty="0">
              <a:latin typeface="Calibri"/>
              <a:cs typeface="Calibri"/>
            </a:endParaRPr>
          </a:p>
        </p:txBody>
      </p:sp>
      <p:pic>
        <p:nvPicPr>
          <p:cNvPr id="53" name="object 3">
            <a:extLst>
              <a:ext uri="{FF2B5EF4-FFF2-40B4-BE49-F238E27FC236}">
                <a16:creationId xmlns:a16="http://schemas.microsoft.com/office/drawing/2014/main" id="{E46C6931-BC2C-5F45-B554-0686DECD0DA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1878331"/>
            <a:ext cx="3763894" cy="4339588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D4278213-EB68-2746-9535-43E17AFA5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2980306"/>
            <a:ext cx="4724400" cy="11557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2DF7DE-AA2C-A540-B8EA-0359915376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4491675"/>
            <a:ext cx="5257800" cy="13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4399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298EEB-8B22-244F-919B-35FE23F32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548" y="2036283"/>
            <a:ext cx="6267450" cy="237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781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685</TotalTime>
  <Words>436</Words>
  <Application>Microsoft Macintosh PowerPoint</Application>
  <PresentationFormat>Widescreen</PresentationFormat>
  <Paragraphs>130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Calibri</vt:lpstr>
      <vt:lpstr>Cambria Math</vt:lpstr>
      <vt:lpstr>Arial</vt:lpstr>
      <vt:lpstr>Trebuchet MS</vt:lpstr>
      <vt:lpstr>Century Gothic</vt:lpstr>
      <vt:lpstr>Microsoft Sans Serif</vt:lpstr>
      <vt:lpstr>Office Theme</vt:lpstr>
      <vt:lpstr>«Градиентный спуск»</vt:lpstr>
      <vt:lpstr>1</vt:lpstr>
      <vt:lpstr>Задачи машинного обучения</vt:lpstr>
      <vt:lpstr>Recap: линейная регрессия</vt:lpstr>
      <vt:lpstr>Линейная регрессия</vt:lpstr>
      <vt:lpstr>Линейная регрессия</vt:lpstr>
      <vt:lpstr>Линейная регрессия</vt:lpstr>
      <vt:lpstr>Линейная регрессия</vt:lpstr>
      <vt:lpstr>Линейная регрессия</vt:lpstr>
      <vt:lpstr>Линейная регрессия</vt:lpstr>
      <vt:lpstr>PowerPoint Presentation</vt:lpstr>
      <vt:lpstr>Метод наименьших квадратов</vt:lpstr>
      <vt:lpstr>Метод наименьших квадратов</vt:lpstr>
      <vt:lpstr>Метод наименьших квадратов</vt:lpstr>
      <vt:lpstr>PowerPoint Presentation</vt:lpstr>
      <vt:lpstr>Метод наименьших квадратов</vt:lpstr>
      <vt:lpstr>Метод наименьших квадратов</vt:lpstr>
      <vt:lpstr>Метод наименьших квадратов</vt:lpstr>
      <vt:lpstr>Градиентный спуск</vt:lpstr>
      <vt:lpstr>Градиентный спуск</vt:lpstr>
      <vt:lpstr>Градиентный спуск</vt:lpstr>
      <vt:lpstr>Градиентный спуск</vt:lpstr>
      <vt:lpstr>Метрики качества</vt:lpstr>
      <vt:lpstr>Метрики качества</vt:lpstr>
      <vt:lpstr>PowerPoint Presentation</vt:lpstr>
      <vt:lpstr>Регуляризация</vt:lpstr>
      <vt:lpstr>Регуляризация</vt:lpstr>
      <vt:lpstr>Регуляризация</vt:lpstr>
      <vt:lpstr>Регуляризация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МНК_ММП_Миленькин</dc:title>
  <cp:lastModifiedBy>Стурейко Игорь Олегович</cp:lastModifiedBy>
  <cp:revision>12</cp:revision>
  <dcterms:created xsi:type="dcterms:W3CDTF">2021-09-15T05:55:53Z</dcterms:created>
  <dcterms:modified xsi:type="dcterms:W3CDTF">2025-10-03T13:03:50Z</dcterms:modified>
</cp:coreProperties>
</file>