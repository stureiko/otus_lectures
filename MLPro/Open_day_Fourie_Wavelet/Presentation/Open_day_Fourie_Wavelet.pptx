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45"/>
  </p:notesMasterIdLst>
  <p:sldIdLst>
    <p:sldId id="256" r:id="rId2"/>
    <p:sldId id="257" r:id="rId3"/>
    <p:sldId id="259" r:id="rId4"/>
    <p:sldId id="383" r:id="rId5"/>
    <p:sldId id="384" r:id="rId6"/>
    <p:sldId id="462" r:id="rId7"/>
    <p:sldId id="463" r:id="rId8"/>
    <p:sldId id="419" r:id="rId9"/>
    <p:sldId id="415" r:id="rId10"/>
    <p:sldId id="416" r:id="rId11"/>
    <p:sldId id="422" r:id="rId12"/>
    <p:sldId id="529" r:id="rId13"/>
    <p:sldId id="530" r:id="rId14"/>
    <p:sldId id="472" r:id="rId15"/>
    <p:sldId id="520" r:id="rId16"/>
    <p:sldId id="521" r:id="rId17"/>
    <p:sldId id="522" r:id="rId18"/>
    <p:sldId id="266" r:id="rId19"/>
    <p:sldId id="473" r:id="rId20"/>
    <p:sldId id="474" r:id="rId21"/>
    <p:sldId id="475" r:id="rId22"/>
    <p:sldId id="478" r:id="rId23"/>
    <p:sldId id="481" r:id="rId24"/>
    <p:sldId id="476" r:id="rId25"/>
    <p:sldId id="477" r:id="rId26"/>
    <p:sldId id="484" r:id="rId27"/>
    <p:sldId id="279" r:id="rId28"/>
    <p:sldId id="531" r:id="rId29"/>
    <p:sldId id="456" r:id="rId30"/>
    <p:sldId id="409" r:id="rId31"/>
    <p:sldId id="389" r:id="rId32"/>
    <p:sldId id="371" r:id="rId33"/>
    <p:sldId id="388" r:id="rId34"/>
    <p:sldId id="390" r:id="rId35"/>
    <p:sldId id="523" r:id="rId36"/>
    <p:sldId id="392" r:id="rId37"/>
    <p:sldId id="528" r:id="rId38"/>
    <p:sldId id="268" r:id="rId39"/>
    <p:sldId id="270" r:id="rId40"/>
    <p:sldId id="269" r:id="rId41"/>
    <p:sldId id="274" r:id="rId42"/>
    <p:sldId id="398" r:id="rId43"/>
    <p:sldId id="302" r:id="rId44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46"/>
      <p:bold r:id="rId47"/>
      <p:italic r:id="rId48"/>
      <p:boldItalic r:id="rId49"/>
    </p:embeddedFont>
    <p:embeddedFont>
      <p:font typeface="Cambria Math" panose="02040503050406030204" pitchFamily="18" charset="0"/>
      <p:regular r:id="rId50"/>
    </p:embeddedFont>
    <p:embeddedFont>
      <p:font typeface="Roboto" panose="02000000000000000000" pitchFamily="2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578"/>
    <p:restoredTop sz="97030"/>
  </p:normalViewPr>
  <p:slideViewPr>
    <p:cSldViewPr snapToGrid="0">
      <p:cViewPr varScale="1">
        <p:scale>
          <a:sx n="183" d="100"/>
          <a:sy n="183" d="100"/>
        </p:scale>
        <p:origin x="688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323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a117b1dc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2ca117b1dc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a117b1dc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ca117b1dc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a117b1dc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ca117b1dc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ca7005655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g2ca7005655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ca7005655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g2ca7005655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1640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3172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eaee39f1e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eaee39f1e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 содержании проектной работы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формате защиты, а также можно ли будет добавить проект в своей портфолио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6110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301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7" r:id="rId13"/>
    <p:sldLayoutId id="214748367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hyperlink" Target="https://eponym.ru/Article/20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16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JP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jp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err="1"/>
              <a:t>otus.ru</a:t>
            </a:r>
            <a:endParaRPr dirty="0"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</a:t>
            </a:r>
            <a:r>
              <a:rPr lang="en-US" dirty="0"/>
              <a:t>Professional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Фурье и </a:t>
            </a:r>
            <a:r>
              <a:rPr lang="ru-RU" sz="2400" b="1" dirty="0" err="1">
                <a:latin typeface="Roboto"/>
                <a:ea typeface="Roboto"/>
                <a:cs typeface="Roboto"/>
                <a:sym typeface="Roboto"/>
              </a:rPr>
              <a:t>вейвлет</a:t>
            </a: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 анализ</a:t>
            </a: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для временных рядов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626905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2631918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ru-RU" sz="2400" dirty="0"/>
              <a:t>Фурье и </a:t>
            </a:r>
            <a:r>
              <a:rPr lang="ru-RU" sz="2400" dirty="0" err="1"/>
              <a:t>вейвлет</a:t>
            </a:r>
            <a:r>
              <a:rPr lang="ru-RU" sz="2400" dirty="0"/>
              <a:t> анализ для временных рядов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9D74D6E-4B24-7043-95C1-5ECC1C800B2C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6524" y="182818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Стационарный временной ряд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6524" y="294915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Разложение Фурье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V="1">
            <a:off x="786525" y="1393624"/>
            <a:ext cx="1" cy="622661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cxnSpLocks/>
            <a:stCxn id="17" idx="1"/>
            <a:endCxn id="189" idx="1"/>
          </p:cNvCxnSpPr>
          <p:nvPr/>
        </p:nvCxnSpPr>
        <p:spPr>
          <a:xfrm rot="10800000" flipH="1" flipV="1">
            <a:off x="786522" y="2572949"/>
            <a:ext cx="2" cy="564301"/>
          </a:xfrm>
          <a:prstGeom prst="curvedConnector3">
            <a:avLst>
              <a:gd name="adj1" fmla="val -1143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89" idx="1"/>
            <a:endCxn id="18" idx="1"/>
          </p:cNvCxnSpPr>
          <p:nvPr/>
        </p:nvCxnSpPr>
        <p:spPr>
          <a:xfrm rot="10800000" flipV="1">
            <a:off x="786522" y="3137250"/>
            <a:ext cx="2" cy="590655"/>
          </a:xfrm>
          <a:prstGeom prst="curvedConnector3">
            <a:avLst>
              <a:gd name="adj1" fmla="val 1143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Google Shape;188;p36">
            <a:extLst>
              <a:ext uri="{FF2B5EF4-FFF2-40B4-BE49-F238E27FC236}">
                <a16:creationId xmlns:a16="http://schemas.microsoft.com/office/drawing/2014/main" id="{B83F9D17-78A7-D948-B13E-0CD21E4A792A}"/>
              </a:ext>
            </a:extLst>
          </p:cNvPr>
          <p:cNvSpPr/>
          <p:nvPr/>
        </p:nvSpPr>
        <p:spPr>
          <a:xfrm>
            <a:off x="786522" y="23848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Нормальный временной ряд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189;p36">
            <a:extLst>
              <a:ext uri="{FF2B5EF4-FFF2-40B4-BE49-F238E27FC236}">
                <a16:creationId xmlns:a16="http://schemas.microsoft.com/office/drawing/2014/main" id="{4AD91D38-5E3D-AF45-A0D4-2812086D24CF}"/>
              </a:ext>
            </a:extLst>
          </p:cNvPr>
          <p:cNvSpPr/>
          <p:nvPr/>
        </p:nvSpPr>
        <p:spPr>
          <a:xfrm>
            <a:off x="786522" y="353980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Вейвлет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анализ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" name="Google Shape;194;p36">
            <a:extLst>
              <a:ext uri="{FF2B5EF4-FFF2-40B4-BE49-F238E27FC236}">
                <a16:creationId xmlns:a16="http://schemas.microsoft.com/office/drawing/2014/main" id="{A3DB4C22-DCFC-204E-9C35-68BD32A9AB5C}"/>
              </a:ext>
            </a:extLst>
          </p:cNvPr>
          <p:cNvCxnSpPr>
            <a:cxnSpLocks/>
            <a:stCxn id="188" idx="1"/>
            <a:endCxn id="17" idx="1"/>
          </p:cNvCxnSpPr>
          <p:nvPr/>
        </p:nvCxnSpPr>
        <p:spPr>
          <a:xfrm rot="10800000" flipV="1">
            <a:off x="786522" y="2016286"/>
            <a:ext cx="2" cy="556664"/>
          </a:xfrm>
          <a:prstGeom prst="curvedConnector3">
            <a:avLst>
              <a:gd name="adj1" fmla="val 1143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4" name="Google Shape;194;p36">
            <a:extLst>
              <a:ext uri="{FF2B5EF4-FFF2-40B4-BE49-F238E27FC236}">
                <a16:creationId xmlns:a16="http://schemas.microsoft.com/office/drawing/2014/main" id="{DC041E37-92D4-DF47-8D92-8AB91E761F65}"/>
              </a:ext>
            </a:extLst>
          </p:cNvPr>
          <p:cNvCxnSpPr>
            <a:cxnSpLocks/>
            <a:stCxn id="18" idx="1"/>
            <a:endCxn id="192" idx="1"/>
          </p:cNvCxnSpPr>
          <p:nvPr/>
        </p:nvCxnSpPr>
        <p:spPr>
          <a:xfrm rot="10800000" flipH="1" flipV="1">
            <a:off x="786521" y="3727905"/>
            <a:ext cx="3" cy="563307"/>
          </a:xfrm>
          <a:prstGeom prst="curvedConnector3">
            <a:avLst>
              <a:gd name="adj1" fmla="val -762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8" name="Google Shape;190;g2ca117b1dc8_0_41">
            <a:extLst>
              <a:ext uri="{FF2B5EF4-FFF2-40B4-BE49-F238E27FC236}">
                <a16:creationId xmlns:a16="http://schemas.microsoft.com/office/drawing/2014/main" id="{A1234519-93D7-4342-B089-EE908BA395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605" y="1205525"/>
            <a:ext cx="3602353" cy="16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3C6D1E-AF4C-FE4E-8444-29400A178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71891"/>
            <a:ext cx="4453454" cy="13839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/>
              <a:t>Временной ряд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Временной ряд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A2EFA-FC60-9D44-8A15-402A66F5B9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82" t="9069" r="8440" b="6108"/>
          <a:stretch/>
        </p:blipFill>
        <p:spPr>
          <a:xfrm>
            <a:off x="732817" y="934682"/>
            <a:ext cx="7587574" cy="3097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2B2CD0-68F9-2C42-B378-84DF3D6FAED5}"/>
              </a:ext>
            </a:extLst>
          </p:cNvPr>
          <p:cNvSpPr txBox="1"/>
          <p:nvPr/>
        </p:nvSpPr>
        <p:spPr>
          <a:xfrm>
            <a:off x="881974" y="4111731"/>
            <a:ext cx="5298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statsmodels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tsa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seasonal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seasonal_decompose</a:t>
            </a:r>
            <a:endParaRPr lang="ru-RU" sz="1200" b="0" dirty="0">
              <a:solidFill>
                <a:srgbClr val="DCDCAA"/>
              </a:solidFill>
              <a:effectLst/>
              <a:latin typeface="Menlo" panose="020B060903080402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result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seasonal_decompose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series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'additive'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Временной ряд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00FFC-D22F-6345-95A7-3B76478C88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69" t="7226" r="8227" b="5965"/>
          <a:stretch/>
        </p:blipFill>
        <p:spPr>
          <a:xfrm>
            <a:off x="758757" y="843891"/>
            <a:ext cx="7626485" cy="39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8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9F495-C006-4F45-BBBB-DBB5B15C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Стационарный ряд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D7072-D441-6741-8383-3ED780FD98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7" r="4137" b="48664"/>
          <a:stretch/>
        </p:blipFill>
        <p:spPr>
          <a:xfrm>
            <a:off x="1869959" y="1002211"/>
            <a:ext cx="5037730" cy="1835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2063F3-863A-604B-9393-46099A6D3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52838" r="67202" b="-239"/>
          <a:stretch/>
        </p:blipFill>
        <p:spPr>
          <a:xfrm>
            <a:off x="903060" y="2952517"/>
            <a:ext cx="1712068" cy="1720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83125-F125-8B4D-A09D-8C07BBBBAE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600" t="52659" r="33600" b="-60"/>
          <a:stretch/>
        </p:blipFill>
        <p:spPr>
          <a:xfrm>
            <a:off x="3826213" y="2952517"/>
            <a:ext cx="1712068" cy="1720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AAC15B-89B2-A441-A4C6-2919751099C3}"/>
              </a:ext>
            </a:extLst>
          </p:cNvPr>
          <p:cNvSpPr txBox="1"/>
          <p:nvPr/>
        </p:nvSpPr>
        <p:spPr>
          <a:xfrm>
            <a:off x="890091" y="2875837"/>
            <a:ext cx="1744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Нарушение мат ожидания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3D8B2-C1D6-0840-A7EC-C8FED7BC4DFB}"/>
              </a:ext>
            </a:extLst>
          </p:cNvPr>
          <p:cNvSpPr txBox="1"/>
          <p:nvPr/>
        </p:nvSpPr>
        <p:spPr>
          <a:xfrm>
            <a:off x="3915050" y="2875837"/>
            <a:ext cx="15343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Нарушение дисперсии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BB830B-F4F3-D34F-9800-2800D33541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070" t="52894" r="130" b="-295"/>
          <a:stretch/>
        </p:blipFill>
        <p:spPr>
          <a:xfrm>
            <a:off x="6818852" y="2952517"/>
            <a:ext cx="1712068" cy="17200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BEDA09-168E-7148-891C-2AE6172C1E01}"/>
              </a:ext>
            </a:extLst>
          </p:cNvPr>
          <p:cNvSpPr txBox="1"/>
          <p:nvPr/>
        </p:nvSpPr>
        <p:spPr>
          <a:xfrm>
            <a:off x="6907689" y="2875837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Нарушение ковариаций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555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554-B77D-CE46-956B-F5DEEC34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стационарность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09857-2615-1742-A4C0-741DA977B29A}"/>
                  </a:ext>
                </a:extLst>
              </p:cNvPr>
              <p:cNvSpPr txBox="1"/>
              <p:nvPr/>
            </p:nvSpPr>
            <p:spPr>
              <a:xfrm>
                <a:off x="500551" y="1316477"/>
                <a:ext cx="8520600" cy="3589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/>
                  <a:t>Тест Дики-</a:t>
                </a:r>
                <a:r>
                  <a:rPr lang="ru-RU" b="1" dirty="0" err="1"/>
                  <a:t>Фуллера</a:t>
                </a:r>
                <a:r>
                  <a:rPr lang="ru-RU" b="1" dirty="0"/>
                  <a:t> </a:t>
                </a:r>
                <a:r>
                  <a:rPr lang="en-US" b="1" dirty="0"/>
                  <a:t>(DF-test)</a:t>
                </a:r>
                <a:endParaRPr lang="ru-RU" b="1" dirty="0"/>
              </a:p>
              <a:p>
                <a:r>
                  <a:rPr lang="ru-RU" dirty="0"/>
                  <a:t>Временной ряд имеет единичный корень, или порядок интеграции один, если его первые разности образуют стационарный ряд.</a:t>
                </a:r>
                <a:r>
                  <a:rPr lang="en-US" dirty="0"/>
                  <a:t> </a:t>
                </a:r>
                <a:r>
                  <a:rPr lang="ru-RU" dirty="0"/>
                  <a:t>Проверяем по авторегрессионному уравнению: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ряд стационарный.</a:t>
                </a:r>
              </a:p>
              <a:p>
                <a:endParaRPr lang="ru-RU" dirty="0"/>
              </a:p>
              <a:p>
                <a:r>
                  <a:rPr lang="ru-RU" b="1" dirty="0"/>
                  <a:t>Расширенный тест Дики-</a:t>
                </a:r>
                <a:r>
                  <a:rPr lang="ru-RU" b="1" dirty="0" err="1"/>
                  <a:t>Фуллера</a:t>
                </a:r>
                <a:r>
                  <a:rPr lang="ru-RU" b="1" dirty="0"/>
                  <a:t> </a:t>
                </a:r>
                <a:r>
                  <a:rPr lang="en-US" b="1" dirty="0"/>
                  <a:t>(ADF-test)</a:t>
                </a:r>
              </a:p>
              <a:p>
                <a:r>
                  <a:rPr lang="ru-RU" dirty="0"/>
                  <a:t>ошибки модели могут не быть белым шумом, а быть некоторым стационарным процессом, поэтому следует проверить наличие единичного корня для нескольких лагов. Следует, однако учесть, что увеличение числа лагов приводит к снижению мощности теста. Обычно ограничиваются тремя-четырьмя лагами. </a:t>
                </a:r>
              </a:p>
              <a:p>
                <a:r>
                  <a:rPr lang="ru-RU" dirty="0"/>
                  <a:t>Для интегрированного ряда 2-го порядка: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ряд стационарный, интегрированный 2-го порядка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09857-2615-1742-A4C0-741DA977B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1" y="1316477"/>
                <a:ext cx="8520600" cy="3589124"/>
              </a:xfrm>
              <a:prstGeom prst="rect">
                <a:avLst/>
              </a:prstGeom>
              <a:blipFill>
                <a:blip r:embed="rId2"/>
                <a:stretch>
                  <a:fillRect l="-9375" t="-352" b="-40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82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554-B77D-CE46-956B-F5DEEC34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Нормальный временной ряд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3D7DE-55C6-024C-896B-435794604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51" y="1274134"/>
            <a:ext cx="4368800" cy="345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41D5C6-1DA0-6F42-8474-3C6B0EE84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250" y="1274134"/>
            <a:ext cx="44069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11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554-B77D-CE46-956B-F5DEEC34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Бокса-Кокса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233B2-E3F8-7B47-A984-33604247D5C3}"/>
              </a:ext>
            </a:extLst>
          </p:cNvPr>
          <p:cNvSpPr txBox="1"/>
          <p:nvPr/>
        </p:nvSpPr>
        <p:spPr>
          <a:xfrm>
            <a:off x="500550" y="1370945"/>
            <a:ext cx="4396706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Метод, используемый для стабилизации дисперсии и приведения временного ряда к нормальному распределению. </a:t>
            </a:r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>
              <a:spcAft>
                <a:spcPts val="600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Этот метод полезен при анализе временных рядов, поскольку помогает устранить такие проблемы, как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гетероскедастичность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(непостоянная дисперсия) и асимметричность распределения данных.</a:t>
            </a:r>
          </a:p>
          <a:p>
            <a:pPr>
              <a:spcAft>
                <a:spcPts val="600"/>
              </a:spcAft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Преобразование Бокса-Кокса часто применяется для улучшения качества прогнозов и анализа временных рядов, особенно при использовании моделей, чувствительных к нормальности данных, таких как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ARIMA.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CCBB83-7A99-9D4E-A2F8-62194E48FE4B}"/>
                  </a:ext>
                </a:extLst>
              </p:cNvPr>
              <p:cNvSpPr txBox="1"/>
              <p:nvPr/>
            </p:nvSpPr>
            <p:spPr>
              <a:xfrm>
                <a:off x="5720049" y="2170715"/>
                <a:ext cx="2478307" cy="12320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CCBB83-7A99-9D4E-A2F8-62194E48F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049" y="2170715"/>
                <a:ext cx="2478307" cy="1232004"/>
              </a:xfrm>
              <a:prstGeom prst="rect">
                <a:avLst/>
              </a:prstGeom>
              <a:blipFill>
                <a:blip r:embed="rId2"/>
                <a:stretch>
                  <a:fillRect l="-59694" t="-212245" r="-16837" b="-30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511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554-B77D-CE46-956B-F5DEEC34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Бокса-Кокса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BCFF8-75CB-F941-9A00-1AF2AFB26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5" y="866400"/>
            <a:ext cx="3985200" cy="2159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1E7E27-F9E0-C147-9A9D-1EF45B1C6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35" y="2982474"/>
            <a:ext cx="3985200" cy="21610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3E125E-C061-6A4A-88B5-842F4287F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571" y="878674"/>
            <a:ext cx="4010400" cy="2160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82B48-FE20-424B-808D-4AD43386C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986" y="2982474"/>
            <a:ext cx="3959986" cy="2160000"/>
          </a:xfrm>
          <a:prstGeom prst="rect">
            <a:avLst/>
          </a:prstGeom>
        </p:spPr>
      </p:pic>
      <p:sp>
        <p:nvSpPr>
          <p:cNvPr id="10" name="Notched Right Arrow 9">
            <a:extLst>
              <a:ext uri="{FF2B5EF4-FFF2-40B4-BE49-F238E27FC236}">
                <a16:creationId xmlns:a16="http://schemas.microsoft.com/office/drawing/2014/main" id="{CEBCD904-08D8-1048-949B-9E3569486CA6}"/>
              </a:ext>
            </a:extLst>
          </p:cNvPr>
          <p:cNvSpPr/>
          <p:nvPr/>
        </p:nvSpPr>
        <p:spPr>
          <a:xfrm>
            <a:off x="4381756" y="2740158"/>
            <a:ext cx="679707" cy="484632"/>
          </a:xfrm>
          <a:prstGeom prst="notched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93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E30260-58A5-0F43-AFDB-64DAD620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Фурье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745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7C688C-765D-AD49-B23A-17F33844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83F98-9383-324A-AC33-C024B23B6F66}"/>
              </a:ext>
            </a:extLst>
          </p:cNvPr>
          <p:cNvSpPr txBox="1"/>
          <p:nvPr/>
        </p:nvSpPr>
        <p:spPr>
          <a:xfrm>
            <a:off x="609600" y="1199504"/>
            <a:ext cx="533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Временные ряды можно рассматривать как подмножество сигналов, а извлечение признаков из временных рядов можно осуществлять при помощи методов </a:t>
            </a:r>
            <a:r>
              <a:rPr lang="ru-RU" b="1" dirty="0"/>
              <a:t>теории сигналов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Обработка сигналов - это область науки, которая включает в себя преобразование сигнала из временной области в частотную и наоборот, сглаживание сигнала, отделение шума от сигнала, т.е. фильтрацию, извлечение информации из сигнала.</a:t>
            </a:r>
          </a:p>
        </p:txBody>
      </p:sp>
      <p:pic>
        <p:nvPicPr>
          <p:cNvPr id="7" name="Google Shape;155;g2bc7ab72ca1_0_129">
            <a:extLst>
              <a:ext uri="{FF2B5EF4-FFF2-40B4-BE49-F238E27FC236}">
                <a16:creationId xmlns:a16="http://schemas.microsoft.com/office/drawing/2014/main" id="{5B838153-3078-9D46-AB53-6A21130C5A6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77000" y="1047750"/>
            <a:ext cx="2312526" cy="3291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823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a117b1dc8_0_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Основы</a:t>
            </a:r>
            <a:endParaRPr/>
          </a:p>
        </p:txBody>
      </p:sp>
      <p:sp>
        <p:nvSpPr>
          <p:cNvPr id="161" name="Google Shape;161;g2ca117b1dc8_0_2"/>
          <p:cNvSpPr txBox="1"/>
          <p:nvPr/>
        </p:nvSpPr>
        <p:spPr>
          <a:xfrm>
            <a:off x="500550" y="1045350"/>
            <a:ext cx="81954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Все сигналы по способу представления можно разделить на группы: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-RU" sz="1600"/>
              <a:t>аналоговые — описываются непрерывными во времени функциями,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-RU" sz="1600"/>
              <a:t>дискретные — прерываются во времени с шагом заданным дискретизации,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-RU" sz="1600"/>
              <a:t>квантованные — имеют набор конечных уровней (как правило, по амплитуде),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-RU" sz="1600"/>
              <a:t>цифровые — комбинация свойств дискретных и квантованных сигналов.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/>
          </a:p>
        </p:txBody>
      </p:sp>
      <p:pic>
        <p:nvPicPr>
          <p:cNvPr id="162" name="Google Shape;162;g2ca117b1dc8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075" y="2546250"/>
            <a:ext cx="7760650" cy="19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a117b1dc8_0_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dirty="0"/>
              <a:t>Разложение в ряд Фурье</a:t>
            </a:r>
            <a:endParaRPr dirty="0"/>
          </a:p>
        </p:txBody>
      </p:sp>
      <p:pic>
        <p:nvPicPr>
          <p:cNvPr id="168" name="Google Shape;168;g2ca117b1dc8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50" y="1123150"/>
            <a:ext cx="3954850" cy="8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2ca117b1dc8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50" y="1979846"/>
            <a:ext cx="4323626" cy="14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ca117b1dc8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242" y="3600411"/>
            <a:ext cx="2230101" cy="917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ca117b1dc8_0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8555" y="3543338"/>
            <a:ext cx="2740400" cy="103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2ca117b1dc8_0_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9393" y="3516326"/>
            <a:ext cx="2444258" cy="9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ca117b1dc8_0_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0336" y="547175"/>
            <a:ext cx="1806625" cy="228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ca117b1dc8_0_23"/>
          <p:cNvSpPr txBox="1"/>
          <p:nvPr/>
        </p:nvSpPr>
        <p:spPr>
          <a:xfrm>
            <a:off x="5783650" y="2830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>
                <a:solidFill>
                  <a:schemeClr val="hlink"/>
                </a:solidFill>
                <a:hlinkClick r:id="rId9"/>
              </a:rPr>
              <a:t>Жан-Батист Жозеф Фурье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a117b1dc8_0_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Преобразование Фурье</a:t>
            </a:r>
            <a:endParaRPr/>
          </a:p>
        </p:txBody>
      </p:sp>
      <p:pic>
        <p:nvPicPr>
          <p:cNvPr id="188" name="Google Shape;188;g2ca117b1dc8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3001" y="3103835"/>
            <a:ext cx="2014358" cy="159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2ca117b1dc8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525" y="3237950"/>
            <a:ext cx="2691751" cy="14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2ca117b1dc8_0_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5525" y="3156575"/>
            <a:ext cx="2980225" cy="16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2ca117b1dc8_0_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8999" y="1544900"/>
            <a:ext cx="2398050" cy="13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2ca117b1dc8_0_41"/>
          <p:cNvSpPr txBox="1"/>
          <p:nvPr/>
        </p:nvSpPr>
        <p:spPr>
          <a:xfrm>
            <a:off x="3233100" y="1625938"/>
            <a:ext cx="1143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СПЕКТР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СИГНАЛ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3" name="Google Shape;193;g2ca117b1dc8_0_41"/>
          <p:cNvSpPr/>
          <p:nvPr/>
        </p:nvSpPr>
        <p:spPr>
          <a:xfrm>
            <a:off x="3646900" y="2040725"/>
            <a:ext cx="195900" cy="34410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4" name="Google Shape;194;g2ca117b1dc8_0_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4025" y="1468188"/>
            <a:ext cx="3568542" cy="15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2ca117b1dc8_0_41"/>
          <p:cNvSpPr txBox="1"/>
          <p:nvPr/>
        </p:nvSpPr>
        <p:spPr>
          <a:xfrm>
            <a:off x="500550" y="973700"/>
            <a:ext cx="843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позволяет представить любую функцию в виде набора гармонических сигналов!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80085A-7613-D24E-9889-D28C995A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в ряд Фурье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3BEE25-8D90-384A-B125-CE49EA4E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7308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27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80085A-7613-D24E-9889-D28C995A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в ряд Фурье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5791A6-4BCE-B34D-93FA-D6DDC3B38C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42" t="10393" r="8951" b="7089"/>
          <a:stretch/>
        </p:blipFill>
        <p:spPr>
          <a:xfrm>
            <a:off x="808892" y="984738"/>
            <a:ext cx="7526215" cy="37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22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80085A-7613-D24E-9889-D28C995A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в ряд Фурье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0928D-AFB1-E740-A784-4430F14F7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61" t="9834" r="8881" b="5411"/>
          <a:stretch/>
        </p:blipFill>
        <p:spPr>
          <a:xfrm>
            <a:off x="824878" y="937766"/>
            <a:ext cx="7494243" cy="387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0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B6035B-8CD3-5F40-8C99-DBBBBE29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если ряд меняется во времени?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BEA72-8B2A-FF47-BA0A-4C7D72C3B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34" y="935936"/>
            <a:ext cx="6222068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66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B6035B-8CD3-5F40-8C99-DBBBBE29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если ряды разные, а спектры похожи?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DF1D01-E0A1-5740-83C3-61C912E0C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176"/>
            <a:ext cx="9144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9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F8D44-53AB-D644-BF3F-39930A47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Вейвлет</a:t>
            </a:r>
            <a:r>
              <a:rPr lang="ru-RU" dirty="0"/>
              <a:t> анализ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960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DF63B0-F91C-7745-BAC1-BD8E0A8A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Вейвлет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45811-6668-404A-84E8-DE7A0E2C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34" y="1227726"/>
            <a:ext cx="8003731" cy="333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27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DF63B0-F91C-7745-BAC1-BD8E0A8A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Вейвлет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4B8C3F-223E-F14A-A473-40586D959818}"/>
                  </a:ext>
                </a:extLst>
              </p:cNvPr>
              <p:cNvSpPr txBox="1"/>
              <p:nvPr/>
            </p:nvSpPr>
            <p:spPr>
              <a:xfrm>
                <a:off x="985882" y="1818980"/>
                <a:ext cx="2938625" cy="752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Вейвлет «Мексиканская шляпа»: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4B8C3F-223E-F14A-A473-40586D959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82" y="1818980"/>
                <a:ext cx="2938625" cy="752770"/>
              </a:xfrm>
              <a:prstGeom prst="rect">
                <a:avLst/>
              </a:prstGeom>
              <a:blipFill>
                <a:blip r:embed="rId2"/>
                <a:stretch>
                  <a:fillRect l="-429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E75B2C-D8BB-B94C-996E-86B8697DE6EE}"/>
                  </a:ext>
                </a:extLst>
              </p:cNvPr>
              <p:cNvSpPr txBox="1"/>
              <p:nvPr/>
            </p:nvSpPr>
            <p:spPr>
              <a:xfrm>
                <a:off x="500550" y="3694015"/>
                <a:ext cx="4038285" cy="95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Спектр</a:t>
                </a:r>
                <a:r>
                  <a:rPr lang="en-US" dirty="0"/>
                  <a:t> </a:t>
                </a:r>
                <a:r>
                  <a:rPr lang="ru-RU" dirty="0"/>
                  <a:t>дискретного </a:t>
                </a:r>
                <a:r>
                  <a:rPr lang="ru-RU" dirty="0" err="1"/>
                  <a:t>вейвлет</a:t>
                </a:r>
                <a:r>
                  <a:rPr lang="ru-RU" dirty="0"/>
                  <a:t> преобразования: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E75B2C-D8BB-B94C-996E-86B8697DE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3694015"/>
                <a:ext cx="4038285" cy="955774"/>
              </a:xfrm>
              <a:prstGeom prst="rect">
                <a:avLst/>
              </a:prstGeom>
              <a:blipFill>
                <a:blip r:embed="rId3"/>
                <a:stretch>
                  <a:fillRect l="-627" t="-54545" b="-119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8C6A4C5B-4076-8943-B12B-260B4236E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50320"/>
            <a:ext cx="4560000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84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ca70056557_0_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/>
              <a:t>Вейвлет-семейства</a:t>
            </a:r>
            <a:endParaRPr/>
          </a:p>
        </p:txBody>
      </p:sp>
      <p:pic>
        <p:nvPicPr>
          <p:cNvPr id="295" name="Google Shape;295;g2ca70056557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700" y="1130053"/>
            <a:ext cx="6758150" cy="34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ca70056557_0_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dirty="0" err="1"/>
              <a:t>Вейвлет</a:t>
            </a:r>
            <a:r>
              <a:rPr lang="ru-RU" dirty="0"/>
              <a:t>-анализ возникновения </a:t>
            </a:r>
            <a:r>
              <a:rPr lang="ru-RU" dirty="0" err="1"/>
              <a:t>эль-ниньо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BB5C85-66F6-CE48-A322-93F7AFFC44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93" r="10136"/>
          <a:stretch/>
        </p:blipFill>
        <p:spPr>
          <a:xfrm>
            <a:off x="1104756" y="1147602"/>
            <a:ext cx="6583409" cy="39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31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7244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Знакомство с командой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15+ лет опыта в прикладной математике и математическом моделировании НИИгазэкономика ПАО Газпром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Вадим </a:t>
            </a:r>
            <a:r>
              <a:rPr lang="ru-RU" sz="1517" b="1" dirty="0" err="1">
                <a:solidFill>
                  <a:srgbClr val="FF9900"/>
                </a:solidFill>
              </a:rPr>
              <a:t>Заигрин</a:t>
            </a:r>
            <a:endParaRPr lang="ru" sz="1517" b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Ведущий консультант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69" b="669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12897" b="12897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Андрей </a:t>
            </a:r>
            <a:r>
              <a:rPr lang="ru-RU" sz="1517" b="1" dirty="0" err="1">
                <a:solidFill>
                  <a:srgbClr val="FF9900"/>
                </a:solidFill>
              </a:rPr>
              <a:t>Канашов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 err="1">
                <a:solidFill>
                  <a:srgbClr val="FF9900"/>
                </a:solidFill>
              </a:rPr>
              <a:t>Раиль</a:t>
            </a:r>
            <a:r>
              <a:rPr lang="ru-RU" sz="1517" b="1" dirty="0">
                <a:solidFill>
                  <a:srgbClr val="FF9900"/>
                </a:solidFill>
              </a:rPr>
              <a:t> Сулейманов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5240" b="15240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8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9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6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0AFAC779-1EA5-B545-A412-FB1501A1858C}"/>
              </a:ext>
            </a:extLst>
          </p:cNvPr>
          <p:cNvPicPr preferRelativeResize="0"/>
          <p:nvPr/>
        </p:nvPicPr>
        <p:blipFill>
          <a:blip r:embed="rId10"/>
          <a:srcRect t="10689" b="10689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" name="Google Shape;222;p40">
            <a:extLst>
              <a:ext uri="{FF2B5EF4-FFF2-40B4-BE49-F238E27FC236}">
                <a16:creationId xmlns:a16="http://schemas.microsoft.com/office/drawing/2014/main" id="{BA8E8661-1BB1-014A-A869-7370C93A1643}"/>
              </a:ext>
            </a:extLst>
          </p:cNvPr>
          <p:cNvSpPr txBox="1">
            <a:spLocks/>
          </p:cNvSpPr>
          <p:nvPr/>
        </p:nvSpPr>
        <p:spPr>
          <a:xfrm>
            <a:off x="5293636" y="2211034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3"/>
          <a:srcRect t="15853" b="15853"/>
          <a:stretch/>
        </p:blipFill>
        <p:spPr>
          <a:xfrm>
            <a:off x="738109" y="1297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4"/>
          <a:srcRect t="7452" b="7452"/>
          <a:stretch/>
        </p:blipFill>
        <p:spPr>
          <a:xfrm>
            <a:off x="738109" y="2170099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657163" y="1399364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657164" y="2268109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5"/>
          <a:srcRect t="669" b="669"/>
          <a:stretch/>
        </p:blipFill>
        <p:spPr>
          <a:xfrm>
            <a:off x="738109" y="305503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6"/>
          <a:srcRect t="669" b="669"/>
          <a:stretch/>
        </p:blipFill>
        <p:spPr>
          <a:xfrm>
            <a:off x="738109" y="3927840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1657163" y="3136854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Мария Кузьмина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Продакт</a:t>
            </a:r>
            <a:r>
              <a:rPr lang="ru-RU" sz="1000" dirty="0">
                <a:solidFill>
                  <a:schemeClr val="tx1"/>
                </a:solidFill>
              </a:rPr>
              <a:t> менеджер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1657164" y="4005599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Инна Мельникова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Комьюнити</a:t>
            </a:r>
            <a:r>
              <a:rPr lang="ru-RU" sz="1000" dirty="0">
                <a:solidFill>
                  <a:schemeClr val="tx1"/>
                </a:solidFill>
              </a:rPr>
              <a:t> менеджер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2B8350B-14ED-264D-B5C1-04082A8D52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9514" y="1351099"/>
            <a:ext cx="2775500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Специализация </a:t>
            </a:r>
            <a:br>
              <a:rPr lang="en-US" dirty="0"/>
            </a:br>
            <a:r>
              <a:rPr lang="en-US" dirty="0"/>
              <a:t>Machine Learning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7756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BEA234-3E9C-E742-8BD0-54484070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</a:t>
            </a:r>
            <a:r>
              <a:rPr lang="en-US" dirty="0"/>
              <a:t>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15DDE-BB5B-CE4A-BAB6-73133001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150118"/>
            <a:ext cx="3600000" cy="162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DC8DA-C12E-F44E-9F42-F3D6161A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878" y="3088743"/>
            <a:ext cx="3600000" cy="1613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6EBD08-2F28-AA41-B3A1-F0482BB47925}"/>
              </a:ext>
            </a:extLst>
          </p:cNvPr>
          <p:cNvSpPr txBox="1"/>
          <p:nvPr/>
        </p:nvSpPr>
        <p:spPr>
          <a:xfrm>
            <a:off x="4314250" y="1215109"/>
            <a:ext cx="38266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ru-RU" dirty="0"/>
              <a:t>для </a:t>
            </a:r>
            <a:r>
              <a:rPr lang="en-US" dirty="0"/>
              <a:t>ML </a:t>
            </a:r>
            <a:r>
              <a:rPr lang="ru-RU" dirty="0"/>
              <a:t>и работа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Теоретический минимум для </a:t>
            </a:r>
            <a:r>
              <a:rPr lang="en-US" dirty="0"/>
              <a:t>ML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методы машинного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4246A-87CF-FF41-A486-7F43AB7F85D3}"/>
              </a:ext>
            </a:extLst>
          </p:cNvPr>
          <p:cNvSpPr txBox="1"/>
          <p:nvPr/>
        </p:nvSpPr>
        <p:spPr>
          <a:xfrm>
            <a:off x="500550" y="3101702"/>
            <a:ext cx="383630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с учителем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без учителя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Deep Learning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Сбор и анализ текстовых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Рекомендательные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424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 Basic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4491135" y="669270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534821" y="1862921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3980224" y="1847803"/>
            <a:ext cx="3428859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БД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4140833" y="294732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минимум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 flipV="1">
            <a:off x="3008021" y="2137453"/>
            <a:ext cx="972203" cy="1511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1771421" y="958919"/>
            <a:ext cx="2719714" cy="90400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983922"/>
            <a:ext cx="335098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машинного обучения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09951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176045" y="3236970"/>
            <a:ext cx="1964789" cy="746952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32517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686076" y="129895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7950" y="247969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287952" y="245347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7950" y="270042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287952" y="267420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5" name="Google Shape;530;p82">
            <a:extLst>
              <a:ext uri="{FF2B5EF4-FFF2-40B4-BE49-F238E27FC236}">
                <a16:creationId xmlns:a16="http://schemas.microsoft.com/office/drawing/2014/main" id="{F83CD1EB-5BF6-BC4C-B06B-F4343799D9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52101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7504E57-C94A-3C4D-A330-D4A7DEF3FED0}"/>
              </a:ext>
            </a:extLst>
          </p:cNvPr>
          <p:cNvSpPr txBox="1"/>
          <p:nvPr/>
        </p:nvSpPr>
        <p:spPr>
          <a:xfrm>
            <a:off x="6686076" y="149479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144226" y="398392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2"/>
            <a:endCxn id="50" idx="2"/>
          </p:cNvCxnSpPr>
          <p:nvPr/>
        </p:nvCxnSpPr>
        <p:spPr>
          <a:xfrm rot="5400000" flipH="1" flipV="1">
            <a:off x="4431059" y="2308206"/>
            <a:ext cx="1" cy="4510032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9220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56598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61979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1771421" y="459357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9F00384A-E8B0-D24D-9B4C-0D8D4931E6E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84052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6FC6F23-1F7D-8047-B30E-35ED5FA579FC}"/>
              </a:ext>
            </a:extLst>
          </p:cNvPr>
          <p:cNvSpPr txBox="1"/>
          <p:nvPr/>
        </p:nvSpPr>
        <p:spPr>
          <a:xfrm>
            <a:off x="1771421" y="481430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 Professional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4664054" y="669270"/>
            <a:ext cx="2861081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учителем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657428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657556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Введение в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2867539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текстовых данных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1947078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58920"/>
            <a:ext cx="2354366" cy="698508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512423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временных рядов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1947206"/>
            <a:ext cx="297650" cy="1209983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042401" y="3157189"/>
            <a:ext cx="2098433" cy="355234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32517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686076" y="129895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27420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24797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9493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46871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278196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251974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029546" y="4015038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Рекомендательные системы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3"/>
            <a:endCxn id="50" idx="1"/>
          </p:cNvCxnSpPr>
          <p:nvPr/>
        </p:nvCxnSpPr>
        <p:spPr>
          <a:xfrm>
            <a:off x="3584250" y="3802073"/>
            <a:ext cx="1445296" cy="50261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1242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48620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89559" y="4119546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2869561" y="4093324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6A74D20B-D29C-D14D-8BC8-1FDB5963C09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729441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A4A8C1A-43F7-F643-A4B3-06134C736607}"/>
              </a:ext>
            </a:extLst>
          </p:cNvPr>
          <p:cNvSpPr txBox="1"/>
          <p:nvPr/>
        </p:nvSpPr>
        <p:spPr>
          <a:xfrm>
            <a:off x="2826219" y="2703219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61" name="Google Shape;530;p82">
            <a:extLst>
              <a:ext uri="{FF2B5EF4-FFF2-40B4-BE49-F238E27FC236}">
                <a16:creationId xmlns:a16="http://schemas.microsoft.com/office/drawing/2014/main" id="{EDDB19FF-038D-CF42-BC43-7D8BA772900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7991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03ACE17-444B-A745-BBA3-68ACDF3B87FE}"/>
              </a:ext>
            </a:extLst>
          </p:cNvPr>
          <p:cNvSpPr txBox="1"/>
          <p:nvPr/>
        </p:nvSpPr>
        <p:spPr>
          <a:xfrm>
            <a:off x="6751398" y="245368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63" name="Google Shape;530;p82">
            <a:extLst>
              <a:ext uri="{FF2B5EF4-FFF2-40B4-BE49-F238E27FC236}">
                <a16:creationId xmlns:a16="http://schemas.microsoft.com/office/drawing/2014/main" id="{516E46BC-D0F7-364A-B41C-2B316294471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743731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FC6AB73-366D-7D4A-9D2F-87F3E227209B}"/>
              </a:ext>
            </a:extLst>
          </p:cNvPr>
          <p:cNvSpPr txBox="1"/>
          <p:nvPr/>
        </p:nvSpPr>
        <p:spPr>
          <a:xfrm>
            <a:off x="6469308" y="3717509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65" name="Google Shape;278;p44">
            <a:extLst>
              <a:ext uri="{FF2B5EF4-FFF2-40B4-BE49-F238E27FC236}">
                <a16:creationId xmlns:a16="http://schemas.microsoft.com/office/drawing/2014/main" id="{6897773D-B894-8E4A-AAE1-7249D3456087}"/>
              </a:ext>
            </a:extLst>
          </p:cNvPr>
          <p:cNvSpPr/>
          <p:nvPr/>
        </p:nvSpPr>
        <p:spPr>
          <a:xfrm>
            <a:off x="500550" y="447108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D054DBC9-5CA6-BE4B-A41E-B45733722C37}"/>
              </a:ext>
            </a:extLst>
          </p:cNvPr>
          <p:cNvCxnSpPr>
            <a:cxnSpLocks/>
            <a:stCxn id="65" idx="3"/>
            <a:endCxn id="50" idx="2"/>
          </p:cNvCxnSpPr>
          <p:nvPr/>
        </p:nvCxnSpPr>
        <p:spPr>
          <a:xfrm flipV="1">
            <a:off x="3584250" y="4594338"/>
            <a:ext cx="2987146" cy="1663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9" name="Google Shape;530;p82">
            <a:extLst>
              <a:ext uri="{FF2B5EF4-FFF2-40B4-BE49-F238E27FC236}">
                <a16:creationId xmlns:a16="http://schemas.microsoft.com/office/drawing/2014/main" id="{EF098809-DE09-5A45-A08C-26A3ABFAED7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91465" y="466945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0237C4BE-881B-704D-B08A-86E380F5132F}"/>
              </a:ext>
            </a:extLst>
          </p:cNvPr>
          <p:cNvSpPr txBox="1"/>
          <p:nvPr/>
        </p:nvSpPr>
        <p:spPr>
          <a:xfrm>
            <a:off x="7471467" y="464322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 дня в неделю,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Наш чат – это </a:t>
            </a:r>
            <a:br>
              <a:rPr lang="ru" sz="1300" dirty="0">
                <a:latin typeface="Roboto"/>
                <a:ea typeface="Roboto"/>
                <a:cs typeface="Roboto"/>
                <a:sym typeface="Roboto"/>
              </a:rPr>
            </a:b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Результат</a:t>
            </a:r>
            <a:endParaRPr dirty="0"/>
          </a:p>
        </p:txBody>
      </p:sp>
      <p:sp>
        <p:nvSpPr>
          <p:cNvPr id="287" name="Google Shape;287;p45"/>
          <p:cNvSpPr txBox="1">
            <a:spLocks noGrp="1"/>
          </p:cNvSpPr>
          <p:nvPr>
            <p:ph type="body" idx="1"/>
          </p:nvPr>
        </p:nvSpPr>
        <p:spPr>
          <a:xfrm>
            <a:off x="500550" y="1076131"/>
            <a:ext cx="8520600" cy="3736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Что получите от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en-US" sz="1200" dirty="0"/>
              <a:t>Python. </a:t>
            </a:r>
            <a:r>
              <a:rPr lang="ru-RU" sz="1200" dirty="0"/>
              <a:t>Освоите основы и научитесь использовать его в задачах </a:t>
            </a:r>
            <a:r>
              <a:rPr lang="en-US" sz="1200" dirty="0"/>
              <a:t>Machine Learning.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Математика. Вспомните ключевые разделы, чтобы понимать теоретические основы и принципы работы алгоритмов Машинного Обучения.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Классические модели </a:t>
            </a:r>
            <a:r>
              <a:rPr lang="en-US" sz="1200" dirty="0"/>
              <a:t>Machine Learning</a:t>
            </a:r>
            <a:r>
              <a:rPr lang="ru-RU" sz="1200" dirty="0"/>
              <a:t> и модели глубокого обучения</a:t>
            </a:r>
            <a:r>
              <a:rPr lang="en-US" sz="1200" dirty="0"/>
              <a:t>.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Познакомитесь с коллегами и возможно </a:t>
            </a:r>
            <a:r>
              <a:rPr lang="ru-RU" sz="1200" b="1" i="1" dirty="0"/>
              <a:t>создадите группу </a:t>
            </a:r>
            <a:r>
              <a:rPr lang="ru-RU" sz="1200" dirty="0"/>
              <a:t>для собственного пет-проекта</a:t>
            </a:r>
            <a:endParaRPr sz="1200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endParaRPr lang="en-US" sz="1200" b="1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За время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Git, Shell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Вспомните теорию вероятностей и математическую статистику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Попробуете решать реальные бизнес-задачи при помощи методов машинного обучения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Python-</a:t>
            </a:r>
            <a:r>
              <a:rPr lang="ru-RU" sz="1200" dirty="0"/>
              <a:t>библиотеками для </a:t>
            </a:r>
            <a:r>
              <a:rPr lang="en-US" sz="1200" dirty="0"/>
              <a:t>Machine Learning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ориентироваться в различных направлениях </a:t>
            </a:r>
            <a:r>
              <a:rPr lang="en-US" sz="1200" dirty="0"/>
              <a:t>Data Science</a:t>
            </a:r>
            <a:endParaRPr lang="en-TR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Организационные вопросы</a:t>
            </a:r>
            <a:endParaRPr/>
          </a:p>
        </p:txBody>
      </p:sp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Комьюнити менеджер: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На связи в рабочее время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Ответит на все организационные вопросы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Поможет с подключениями</a:t>
            </a: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Преподаватель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Проводит вебинары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Отвечает на вопросы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Проверяет ДЗ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Руководитель курса: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Выбор курсового проекта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Консультирование по сложным вопросам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Консульирование по курсовому проекту</a:t>
            </a:r>
          </a:p>
        </p:txBody>
      </p:sp>
      <p:pic>
        <p:nvPicPr>
          <p:cNvPr id="9" name="Google Shape;530;p82">
            <a:extLst>
              <a:ext uri="{FF2B5EF4-FFF2-40B4-BE49-F238E27FC236}">
                <a16:creationId xmlns:a16="http://schemas.microsoft.com/office/drawing/2014/main" id="{6399020F-EA36-354A-BDAF-1F3E86191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678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53;p83">
            <a:extLst>
              <a:ext uri="{FF2B5EF4-FFF2-40B4-BE49-F238E27FC236}">
                <a16:creationId xmlns:a16="http://schemas.microsoft.com/office/drawing/2014/main" id="{E02214EB-08B0-264A-85A5-18B9DEBACB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392256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47;p83">
            <a:extLst>
              <a:ext uri="{FF2B5EF4-FFF2-40B4-BE49-F238E27FC236}">
                <a16:creationId xmlns:a16="http://schemas.microsoft.com/office/drawing/2014/main" id="{579BB668-A6A3-0649-B4B7-6E200F44F9A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2611580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Технические моменты</a:t>
            </a:r>
            <a:endParaRPr dirty="0"/>
          </a:p>
        </p:txBody>
      </p:sp>
      <p:pic>
        <p:nvPicPr>
          <p:cNvPr id="335" name="Google Shape;335;p5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23699"/>
            <a:ext cx="622800" cy="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0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2547150"/>
            <a:ext cx="622800" cy="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Стек технологий: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Python 3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, virtual environment (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venv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conda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poertry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Пакетные менеджеры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pip / conda 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Git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Github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инструменты будем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использовать: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Jupyter notebook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VSCode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PyCharm</a:t>
            </a: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 на курсе: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разработка алгоритмов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рименение алгоритмов для решения практических задач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применение популярных фреймворков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50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3762975"/>
            <a:ext cx="622800" cy="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1233</Words>
  <Application>Microsoft Macintosh PowerPoint</Application>
  <PresentationFormat>On-screen Show (16:9)</PresentationFormat>
  <Paragraphs>273</Paragraphs>
  <Slides>43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Bradley Hand</vt:lpstr>
      <vt:lpstr>Google Sans</vt:lpstr>
      <vt:lpstr>Menlo</vt:lpstr>
      <vt:lpstr>AkayaTelivigala</vt:lpstr>
      <vt:lpstr>Arial</vt:lpstr>
      <vt:lpstr>Courier New</vt:lpstr>
      <vt:lpstr>Roboto</vt:lpstr>
      <vt:lpstr>-webkit-standard</vt:lpstr>
      <vt:lpstr>Cambria Math</vt:lpstr>
      <vt:lpstr>Светлая тема</vt:lpstr>
      <vt:lpstr>ML Professional Фурье и вейвлет анализ для временных рядов</vt:lpstr>
      <vt:lpstr>Проверить, идет ли запись</vt:lpstr>
      <vt:lpstr>Правила вебинара</vt:lpstr>
      <vt:lpstr>ML Professional Фурье и вейвлет анализ для временных рядов</vt:lpstr>
      <vt:lpstr>Маршрут вебинара</vt:lpstr>
      <vt:lpstr>Временной ряд</vt:lpstr>
      <vt:lpstr>Временной ряд</vt:lpstr>
      <vt:lpstr>Временной ряд</vt:lpstr>
      <vt:lpstr>Стационарный ряд</vt:lpstr>
      <vt:lpstr>Проверка на стационарность</vt:lpstr>
      <vt:lpstr>Нормальный временной ряд</vt:lpstr>
      <vt:lpstr>Преобразование Бокса-Кокса</vt:lpstr>
      <vt:lpstr>Преобразование Бокса-Кокса</vt:lpstr>
      <vt:lpstr>Разложение Фурье</vt:lpstr>
      <vt:lpstr>Основы</vt:lpstr>
      <vt:lpstr>Основы</vt:lpstr>
      <vt:lpstr>Разложение в ряд Фурье</vt:lpstr>
      <vt:lpstr>Преобразование Фурье</vt:lpstr>
      <vt:lpstr>Разложение в ряд Фурье</vt:lpstr>
      <vt:lpstr>Разложение в ряд Фурье</vt:lpstr>
      <vt:lpstr>Разложение в ряд Фурье</vt:lpstr>
      <vt:lpstr>А если ряд меняется во времени?</vt:lpstr>
      <vt:lpstr>А если ряды разные, а спектры похожи?</vt:lpstr>
      <vt:lpstr>Вейвлет анализ</vt:lpstr>
      <vt:lpstr>Вейвлет</vt:lpstr>
      <vt:lpstr>Вейвлет</vt:lpstr>
      <vt:lpstr>Вейвлет-семейства</vt:lpstr>
      <vt:lpstr>Вейвлет-анализ возникновения эль-ниньо</vt:lpstr>
      <vt:lpstr>Практика</vt:lpstr>
      <vt:lpstr>Знакомство с командой</vt:lpstr>
      <vt:lpstr>Команда курса</vt:lpstr>
      <vt:lpstr>Команда курса</vt:lpstr>
      <vt:lpstr>Команда курса</vt:lpstr>
      <vt:lpstr>Команда курса</vt:lpstr>
      <vt:lpstr>Специализация  Machine Learning</vt:lpstr>
      <vt:lpstr>Специализация Machine Learning</vt:lpstr>
      <vt:lpstr>ML Basic</vt:lpstr>
      <vt:lpstr>ML Professional</vt:lpstr>
      <vt:lpstr>Как будем учиться?</vt:lpstr>
      <vt:lpstr>Результат</vt:lpstr>
      <vt:lpstr>Организационные вопросы</vt:lpstr>
      <vt:lpstr>Технические моменты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Production Code проекта на примере задачи классификации/регрессии, Virtual environments, dependency management, pypi/gemfur</dc:title>
  <cp:lastModifiedBy>Стурейко Игорь Олегович</cp:lastModifiedBy>
  <cp:revision>37</cp:revision>
  <dcterms:modified xsi:type="dcterms:W3CDTF">2024-11-11T18:30:59Z</dcterms:modified>
</cp:coreProperties>
</file>