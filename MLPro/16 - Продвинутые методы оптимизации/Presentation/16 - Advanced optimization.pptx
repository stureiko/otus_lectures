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9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334" r:id="rId4"/>
    <p:sldId id="259" r:id="rId5"/>
    <p:sldId id="305" r:id="rId6"/>
    <p:sldId id="265" r:id="rId7"/>
    <p:sldId id="342" r:id="rId8"/>
    <p:sldId id="385" r:id="rId9"/>
    <p:sldId id="270" r:id="rId10"/>
    <p:sldId id="393" r:id="rId11"/>
    <p:sldId id="273" r:id="rId12"/>
    <p:sldId id="390" r:id="rId13"/>
    <p:sldId id="387" r:id="rId14"/>
    <p:sldId id="384" r:id="rId15"/>
    <p:sldId id="378" r:id="rId16"/>
    <p:sldId id="267" r:id="rId17"/>
    <p:sldId id="380" r:id="rId18"/>
    <p:sldId id="381" r:id="rId19"/>
    <p:sldId id="382" r:id="rId20"/>
    <p:sldId id="347" r:id="rId21"/>
    <p:sldId id="348" r:id="rId22"/>
    <p:sldId id="383" r:id="rId23"/>
    <p:sldId id="391" r:id="rId24"/>
    <p:sldId id="379" r:id="rId25"/>
    <p:sldId id="350" r:id="rId26"/>
    <p:sldId id="351" r:id="rId27"/>
    <p:sldId id="352" r:id="rId28"/>
    <p:sldId id="353" r:id="rId29"/>
    <p:sldId id="354" r:id="rId30"/>
    <p:sldId id="272" r:id="rId31"/>
    <p:sldId id="392" r:id="rId32"/>
    <p:sldId id="306" r:id="rId33"/>
    <p:sldId id="355" r:id="rId34"/>
    <p:sldId id="356" r:id="rId35"/>
    <p:sldId id="304" r:id="rId36"/>
    <p:sldId id="312" r:id="rId37"/>
    <p:sldId id="313" r:id="rId38"/>
    <p:sldId id="300" r:id="rId39"/>
    <p:sldId id="364" r:id="rId40"/>
    <p:sldId id="281" r:id="rId41"/>
    <p:sldId id="377" r:id="rId42"/>
    <p:sldId id="301" r:id="rId43"/>
    <p:sldId id="302" r:id="rId44"/>
    <p:sldId id="335" r:id="rId45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44"/>
    <p:restoredTop sz="94760"/>
  </p:normalViewPr>
  <p:slideViewPr>
    <p:cSldViewPr>
      <p:cViewPr varScale="1">
        <p:scale>
          <a:sx n="280" d="100"/>
          <a:sy n="280" d="100"/>
        </p:scale>
        <p:origin x="164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0820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849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968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885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952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5116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9022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170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1088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940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723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911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8052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3476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33055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5412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9538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83641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7940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5340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74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9oDe4Yq4E0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P_k8cpsNWY" TargetMode="External"/><Relationship Id="rId2" Type="http://schemas.openxmlformats.org/officeDocument/2006/relationships/hyperlink" Target="https://www.youtube.com/watch?v=JwpFvFpbOGc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distill.pub/2017/momentum/" TargetMode="External"/><Relationship Id="rId4" Type="http://schemas.openxmlformats.org/officeDocument/2006/relationships/image" Target="../media/image2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0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distill.pub/2017/momentum/" TargetMode="External"/><Relationship Id="rId3" Type="http://schemas.openxmlformats.org/officeDocument/2006/relationships/hyperlink" Target="https://www.youtube.com/watch?v=f9oDe4Yq4E0" TargetMode="External"/><Relationship Id="rId7" Type="http://schemas.openxmlformats.org/officeDocument/2006/relationships/hyperlink" Target="https://habr.com/ru/companies/skillfactory/articles/552394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habr.com/ru/articles/318970/" TargetMode="External"/><Relationship Id="rId5" Type="http://schemas.openxmlformats.org/officeDocument/2006/relationships/hyperlink" Target="https://www.youtube.com/watch?v=rP_k8cpsNWY" TargetMode="External"/><Relationship Id="rId4" Type="http://schemas.openxmlformats.org/officeDocument/2006/relationships/hyperlink" Target="https://www.youtube.com/watch?v=JwpFvFpbOGc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Professional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Продвинутые методы оптимизации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Продвинутые методы оптимизации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24E3FE13-3A97-E44E-BB5B-56871AE0600B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9" y="107490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</a:p>
        </p:txBody>
      </p:sp>
      <p:sp>
        <p:nvSpPr>
          <p:cNvPr id="236" name="Google Shape;236;p37"/>
          <p:cNvSpPr/>
          <p:nvPr/>
        </p:nvSpPr>
        <p:spPr>
          <a:xfrm>
            <a:off x="740239" y="221956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Adadelta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Adagrad</a:t>
            </a:r>
            <a:endParaRPr lang="en-US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2791898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RMSprop</a:t>
            </a: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9" y="1263004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407666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364229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Adam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2979997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9" y="1647236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SGD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40239" y="1835335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3C19897-C658-D047-A9B1-7FA552363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444" y="1295400"/>
            <a:ext cx="3835400" cy="2552700"/>
          </a:xfrm>
          <a:prstGeom prst="rect">
            <a:avLst/>
          </a:prstGeom>
        </p:spPr>
      </p:pic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9" y="3936560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AdamW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38;p37">
            <a:extLst>
              <a:ext uri="{FF2B5EF4-FFF2-40B4-BE49-F238E27FC236}">
                <a16:creationId xmlns:a16="http://schemas.microsoft.com/office/drawing/2014/main" id="{A9FEECAF-5693-6943-B6A3-087594019852}"/>
              </a:ext>
            </a:extLst>
          </p:cNvPr>
          <p:cNvSpPr/>
          <p:nvPr/>
        </p:nvSpPr>
        <p:spPr>
          <a:xfrm>
            <a:off x="740239" y="4508891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552328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" name="Google Shape;242;p37">
            <a:extLst>
              <a:ext uri="{FF2B5EF4-FFF2-40B4-BE49-F238E27FC236}">
                <a16:creationId xmlns:a16="http://schemas.microsoft.com/office/drawing/2014/main" id="{291BD154-5459-924F-A6F6-82CAD3D94BB7}"/>
              </a:ext>
            </a:extLst>
          </p:cNvPr>
          <p:cNvCxnSpPr>
            <a:cxnSpLocks/>
            <a:stCxn id="16" idx="1"/>
            <a:endCxn id="17" idx="1"/>
          </p:cNvCxnSpPr>
          <p:nvPr/>
        </p:nvCxnSpPr>
        <p:spPr>
          <a:xfrm rot="10800000" flipV="1">
            <a:off x="740239" y="4124659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3175037669"/>
              </p:ext>
            </p:extLst>
          </p:nvPr>
        </p:nvGraphicFramePr>
        <p:xfrm>
          <a:off x="1219200" y="1511273"/>
          <a:ext cx="7239000" cy="1047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Необходимо для обучения глубоких сетей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Улучшить понимание устройства функции потерь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Уметь подбирать нужный оптимизатор в зависимости от задачи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Зачем вам это уметь</a:t>
            </a:r>
            <a:endParaRPr sz="15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br>
              <a:rPr lang="ru-RU" dirty="0"/>
            </a:br>
            <a:br>
              <a:rPr lang="ru-RU" dirty="0"/>
            </a:br>
            <a:r>
              <a:rPr lang="ru-RU" dirty="0"/>
              <a:t>Постановка задачи</a:t>
            </a:r>
            <a:br>
              <a:rPr lang="ru-RU" dirty="0"/>
            </a:br>
            <a:br>
              <a:rPr lang="ru-RU" dirty="0"/>
            </a:br>
            <a:r>
              <a:rPr lang="ru-RU" sz="2800" dirty="0"/>
              <a:t>Зачем нам оптимизатор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8B270-3BFF-8040-A673-24605FB00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нейросети</a:t>
            </a:r>
            <a:endParaRPr lang="en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CF23F-00D9-6B4D-9B0B-4FAFABFC7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426624"/>
            <a:ext cx="3810000" cy="271786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666083-7B58-1A41-94E3-32D9732AA0B0}"/>
              </a:ext>
            </a:extLst>
          </p:cNvPr>
          <p:cNvCxnSpPr>
            <a:cxnSpLocks/>
          </p:cNvCxnSpPr>
          <p:nvPr/>
        </p:nvCxnSpPr>
        <p:spPr>
          <a:xfrm>
            <a:off x="1752600" y="2785557"/>
            <a:ext cx="533400" cy="0"/>
          </a:xfrm>
          <a:prstGeom prst="straightConnector1">
            <a:avLst/>
          </a:prstGeom>
          <a:ln w="25400"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7427BE-E4A4-834B-8048-B041E778FBF7}"/>
              </a:ext>
            </a:extLst>
          </p:cNvPr>
          <p:cNvCxnSpPr>
            <a:cxnSpLocks/>
          </p:cNvCxnSpPr>
          <p:nvPr/>
        </p:nvCxnSpPr>
        <p:spPr>
          <a:xfrm>
            <a:off x="6553200" y="2785557"/>
            <a:ext cx="533400" cy="0"/>
          </a:xfrm>
          <a:prstGeom prst="straightConnector1">
            <a:avLst/>
          </a:prstGeom>
          <a:ln w="25400"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76A097D-6485-2E46-819D-B9C3B6B26880}"/>
              </a:ext>
            </a:extLst>
          </p:cNvPr>
          <p:cNvSpPr txBox="1"/>
          <p:nvPr/>
        </p:nvSpPr>
        <p:spPr>
          <a:xfrm>
            <a:off x="1219200" y="2343150"/>
            <a:ext cx="633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вход</a:t>
            </a:r>
            <a:endParaRPr lang="en-T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44A106-98EE-D041-BFCC-34DA495B9206}"/>
              </a:ext>
            </a:extLst>
          </p:cNvPr>
          <p:cNvSpPr txBox="1"/>
          <p:nvPr/>
        </p:nvSpPr>
        <p:spPr>
          <a:xfrm>
            <a:off x="6986429" y="2343150"/>
            <a:ext cx="788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выход</a:t>
            </a:r>
            <a:endParaRPr lang="en-T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DEF65-3A7C-5446-817E-F37DA59FCDA5}"/>
              </a:ext>
            </a:extLst>
          </p:cNvPr>
          <p:cNvSpPr txBox="1"/>
          <p:nvPr/>
        </p:nvSpPr>
        <p:spPr>
          <a:xfrm>
            <a:off x="1866899" y="4442228"/>
            <a:ext cx="5410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hlinkClick r:id="rId3"/>
              </a:rPr>
              <a:t>https://www.youtube.com/watch?v=f9oDe4Yq4E0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9280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478" y="404083"/>
            <a:ext cx="5512744" cy="343557"/>
          </a:xfrm>
          <a:prstGeom prst="rect">
            <a:avLst/>
          </a:prstGeom>
        </p:spPr>
        <p:txBody>
          <a:bodyPr vert="horz" wrap="square" lIns="0" tIns="8637" rIns="0" bIns="0" rtlCol="0">
            <a:spAutoFit/>
          </a:bodyPr>
          <a:lstStyle/>
          <a:p>
            <a:pPr marL="8637">
              <a:spcBef>
                <a:spcPts val="68"/>
              </a:spcBef>
            </a:pPr>
            <a:r>
              <a:rPr sz="2176" spc="-78" dirty="0" err="1"/>
              <a:t>Нейрон</a:t>
            </a:r>
            <a:r>
              <a:rPr sz="2176" spc="-78" dirty="0"/>
              <a:t> j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91758" y="2190554"/>
            <a:ext cx="484551" cy="658954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0662" rIns="0" bIns="0" rtlCol="0">
            <a:spAutoFit/>
          </a:bodyPr>
          <a:lstStyle/>
          <a:p>
            <a:pPr marL="60893">
              <a:spcBef>
                <a:spcPts val="241"/>
              </a:spcBef>
            </a:pPr>
            <a:r>
              <a:rPr sz="4081" spc="-58" dirty="0">
                <a:latin typeface="Symbol"/>
                <a:cs typeface="Symbol"/>
              </a:rPr>
              <a:t></a:t>
            </a:r>
            <a:endParaRPr sz="4081">
              <a:latin typeface="Symbol"/>
              <a:cs typeface="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6139" y="2078904"/>
            <a:ext cx="705666" cy="435319"/>
            <a:chOff x="1680838" y="3056759"/>
            <a:chExt cx="1037590" cy="640080"/>
          </a:xfrm>
        </p:grpSpPr>
        <p:sp>
          <p:nvSpPr>
            <p:cNvPr id="5" name="object 5"/>
            <p:cNvSpPr/>
            <p:nvPr/>
          </p:nvSpPr>
          <p:spPr>
            <a:xfrm>
              <a:off x="1685518" y="3061439"/>
              <a:ext cx="972819" cy="598805"/>
            </a:xfrm>
            <a:custGeom>
              <a:avLst/>
              <a:gdLst/>
              <a:ahLst/>
              <a:cxnLst/>
              <a:rect l="l" t="t" r="r" b="b"/>
              <a:pathLst>
                <a:path w="972819" h="598804">
                  <a:moveTo>
                    <a:pt x="0" y="0"/>
                  </a:moveTo>
                  <a:lnTo>
                    <a:pt x="972362" y="59832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6" name="object 6"/>
            <p:cNvSpPr/>
            <p:nvPr/>
          </p:nvSpPr>
          <p:spPr>
            <a:xfrm>
              <a:off x="2633764" y="3625205"/>
              <a:ext cx="84455" cy="71755"/>
            </a:xfrm>
            <a:custGeom>
              <a:avLst/>
              <a:gdLst/>
              <a:ahLst/>
              <a:cxnLst/>
              <a:rect l="l" t="t" r="r" b="b"/>
              <a:pathLst>
                <a:path w="84455" h="71754">
                  <a:moveTo>
                    <a:pt x="39598" y="0"/>
                  </a:moveTo>
                  <a:lnTo>
                    <a:pt x="0" y="64071"/>
                  </a:lnTo>
                  <a:lnTo>
                    <a:pt x="84239" y="71640"/>
                  </a:lnTo>
                  <a:lnTo>
                    <a:pt x="395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177867" y="2779383"/>
            <a:ext cx="814064" cy="979468"/>
            <a:chOff x="1521637" y="4086723"/>
            <a:chExt cx="1196975" cy="1440180"/>
          </a:xfrm>
        </p:grpSpPr>
        <p:sp>
          <p:nvSpPr>
            <p:cNvPr id="8" name="object 8"/>
            <p:cNvSpPr/>
            <p:nvPr/>
          </p:nvSpPr>
          <p:spPr>
            <a:xfrm>
              <a:off x="1526400" y="4120200"/>
              <a:ext cx="1126490" cy="450215"/>
            </a:xfrm>
            <a:custGeom>
              <a:avLst/>
              <a:gdLst/>
              <a:ahLst/>
              <a:cxnLst/>
              <a:rect l="l" t="t" r="r" b="b"/>
              <a:pathLst>
                <a:path w="1126489" h="450214">
                  <a:moveTo>
                    <a:pt x="0" y="449643"/>
                  </a:moveTo>
                  <a:lnTo>
                    <a:pt x="1126083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9" name="object 9"/>
            <p:cNvSpPr/>
            <p:nvPr/>
          </p:nvSpPr>
          <p:spPr>
            <a:xfrm>
              <a:off x="2633764" y="4086723"/>
              <a:ext cx="84455" cy="70485"/>
            </a:xfrm>
            <a:custGeom>
              <a:avLst/>
              <a:gdLst/>
              <a:ahLst/>
              <a:cxnLst/>
              <a:rect l="l" t="t" r="r" b="b"/>
              <a:pathLst>
                <a:path w="84455" h="70485">
                  <a:moveTo>
                    <a:pt x="0" y="0"/>
                  </a:moveTo>
                  <a:lnTo>
                    <a:pt x="28079" y="70205"/>
                  </a:lnTo>
                  <a:lnTo>
                    <a:pt x="84239" y="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6400" y="4303080"/>
              <a:ext cx="1143635" cy="1219200"/>
            </a:xfrm>
            <a:custGeom>
              <a:avLst/>
              <a:gdLst/>
              <a:ahLst/>
              <a:cxnLst/>
              <a:rect l="l" t="t" r="r" b="b"/>
              <a:pathLst>
                <a:path w="1143635" h="1219200">
                  <a:moveTo>
                    <a:pt x="0" y="1218603"/>
                  </a:moveTo>
                  <a:lnTo>
                    <a:pt x="1143355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1" name="object 11"/>
            <p:cNvSpPr/>
            <p:nvPr/>
          </p:nvSpPr>
          <p:spPr>
            <a:xfrm>
              <a:off x="2638806" y="4251607"/>
              <a:ext cx="79375" cy="81280"/>
            </a:xfrm>
            <a:custGeom>
              <a:avLst/>
              <a:gdLst/>
              <a:ahLst/>
              <a:cxnLst/>
              <a:rect l="l" t="t" r="r" b="b"/>
              <a:pathLst>
                <a:path w="79375" h="81279">
                  <a:moveTo>
                    <a:pt x="79197" y="0"/>
                  </a:moveTo>
                  <a:lnTo>
                    <a:pt x="0" y="29159"/>
                  </a:lnTo>
                  <a:lnTo>
                    <a:pt x="55079" y="81000"/>
                  </a:lnTo>
                  <a:lnTo>
                    <a:pt x="79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474085" y="2542385"/>
            <a:ext cx="650818" cy="51824"/>
            <a:chOff x="3427558" y="3738248"/>
            <a:chExt cx="956944" cy="76200"/>
          </a:xfrm>
        </p:grpSpPr>
        <p:sp>
          <p:nvSpPr>
            <p:cNvPr id="16" name="object 16"/>
            <p:cNvSpPr/>
            <p:nvPr/>
          </p:nvSpPr>
          <p:spPr>
            <a:xfrm>
              <a:off x="3432238" y="3775687"/>
              <a:ext cx="881380" cy="635"/>
            </a:xfrm>
            <a:custGeom>
              <a:avLst/>
              <a:gdLst/>
              <a:ahLst/>
              <a:cxnLst/>
              <a:rect l="l" t="t" r="r" b="b"/>
              <a:pathLst>
                <a:path w="881379" h="635">
                  <a:moveTo>
                    <a:pt x="0" y="0"/>
                  </a:moveTo>
                  <a:lnTo>
                    <a:pt x="881278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17" name="object 17"/>
            <p:cNvSpPr/>
            <p:nvPr/>
          </p:nvSpPr>
          <p:spPr>
            <a:xfrm>
              <a:off x="4308475" y="37382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86870" y="2085266"/>
            <a:ext cx="970398" cy="812357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389973" rIns="0" bIns="0" rtlCol="0" anchor="ctr">
            <a:spAutoFit/>
          </a:bodyPr>
          <a:lstStyle/>
          <a:p>
            <a:pPr marL="60893">
              <a:spcBef>
                <a:spcPts val="3071"/>
              </a:spcBef>
            </a:pPr>
            <a:endParaRPr sz="272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02387" y="2488765"/>
            <a:ext cx="1190217" cy="51824"/>
            <a:chOff x="5968803" y="3659406"/>
            <a:chExt cx="1750060" cy="76200"/>
          </a:xfrm>
        </p:grpSpPr>
        <p:sp>
          <p:nvSpPr>
            <p:cNvPr id="21" name="object 21"/>
            <p:cNvSpPr/>
            <p:nvPr/>
          </p:nvSpPr>
          <p:spPr>
            <a:xfrm>
              <a:off x="5973482" y="3696846"/>
              <a:ext cx="1674495" cy="635"/>
            </a:xfrm>
            <a:custGeom>
              <a:avLst/>
              <a:gdLst/>
              <a:ahLst/>
              <a:cxnLst/>
              <a:rect l="l" t="t" r="r" b="b"/>
              <a:pathLst>
                <a:path w="1674495" h="635">
                  <a:moveTo>
                    <a:pt x="0" y="0"/>
                  </a:moveTo>
                  <a:lnTo>
                    <a:pt x="1674355" y="355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4"/>
            </a:p>
          </p:txBody>
        </p:sp>
        <p:sp>
          <p:nvSpPr>
            <p:cNvPr id="22" name="object 22"/>
            <p:cNvSpPr/>
            <p:nvPr/>
          </p:nvSpPr>
          <p:spPr>
            <a:xfrm>
              <a:off x="7642796" y="365940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4"/>
            </a:p>
          </p:txBody>
        </p:sp>
      </p:grpSp>
      <p:sp>
        <p:nvSpPr>
          <p:cNvPr id="70" name="Freeform 69">
            <a:extLst>
              <a:ext uri="{FF2B5EF4-FFF2-40B4-BE49-F238E27FC236}">
                <a16:creationId xmlns:a16="http://schemas.microsoft.com/office/drawing/2014/main" id="{496D293E-FE6A-9C4B-9108-A2DCB26A151E}"/>
              </a:ext>
            </a:extLst>
          </p:cNvPr>
          <p:cNvSpPr/>
          <p:nvPr/>
        </p:nvSpPr>
        <p:spPr>
          <a:xfrm>
            <a:off x="6133210" y="893889"/>
            <a:ext cx="1197945" cy="981923"/>
          </a:xfrm>
          <a:custGeom>
            <a:avLst/>
            <a:gdLst>
              <a:gd name="connsiteX0" fmla="*/ 582606 w 1197945"/>
              <a:gd name="connsiteY0" fmla="*/ 52369 h 981923"/>
              <a:gd name="connsiteX1" fmla="*/ 536783 w 1197945"/>
              <a:gd name="connsiteY1" fmla="*/ 58915 h 981923"/>
              <a:gd name="connsiteX2" fmla="*/ 425499 w 1197945"/>
              <a:gd name="connsiteY2" fmla="*/ 72007 h 981923"/>
              <a:gd name="connsiteX3" fmla="*/ 360037 w 1197945"/>
              <a:gd name="connsiteY3" fmla="*/ 117830 h 981923"/>
              <a:gd name="connsiteX4" fmla="*/ 340399 w 1197945"/>
              <a:gd name="connsiteY4" fmla="*/ 130922 h 981923"/>
              <a:gd name="connsiteX5" fmla="*/ 320761 w 1197945"/>
              <a:gd name="connsiteY5" fmla="*/ 150561 h 981923"/>
              <a:gd name="connsiteX6" fmla="*/ 294576 w 1197945"/>
              <a:gd name="connsiteY6" fmla="*/ 170200 h 981923"/>
              <a:gd name="connsiteX7" fmla="*/ 274938 w 1197945"/>
              <a:gd name="connsiteY7" fmla="*/ 196384 h 981923"/>
              <a:gd name="connsiteX8" fmla="*/ 229115 w 1197945"/>
              <a:gd name="connsiteY8" fmla="*/ 229115 h 981923"/>
              <a:gd name="connsiteX9" fmla="*/ 189837 w 1197945"/>
              <a:gd name="connsiteY9" fmla="*/ 268392 h 981923"/>
              <a:gd name="connsiteX10" fmla="*/ 163653 w 1197945"/>
              <a:gd name="connsiteY10" fmla="*/ 294576 h 981923"/>
              <a:gd name="connsiteX11" fmla="*/ 117830 w 1197945"/>
              <a:gd name="connsiteY11" fmla="*/ 333854 h 981923"/>
              <a:gd name="connsiteX12" fmla="*/ 104738 w 1197945"/>
              <a:gd name="connsiteY12" fmla="*/ 353492 h 981923"/>
              <a:gd name="connsiteX13" fmla="*/ 78553 w 1197945"/>
              <a:gd name="connsiteY13" fmla="*/ 379676 h 981923"/>
              <a:gd name="connsiteX14" fmla="*/ 32730 w 1197945"/>
              <a:gd name="connsiteY14" fmla="*/ 438592 h 981923"/>
              <a:gd name="connsiteX15" fmla="*/ 26184 w 1197945"/>
              <a:gd name="connsiteY15" fmla="*/ 458230 h 981923"/>
              <a:gd name="connsiteX16" fmla="*/ 13091 w 1197945"/>
              <a:gd name="connsiteY16" fmla="*/ 477868 h 981923"/>
              <a:gd name="connsiteX17" fmla="*/ 0 w 1197945"/>
              <a:gd name="connsiteY17" fmla="*/ 517146 h 981923"/>
              <a:gd name="connsiteX18" fmla="*/ 13091 w 1197945"/>
              <a:gd name="connsiteY18" fmla="*/ 621884 h 981923"/>
              <a:gd name="connsiteX19" fmla="*/ 26184 w 1197945"/>
              <a:gd name="connsiteY19" fmla="*/ 648068 h 981923"/>
              <a:gd name="connsiteX20" fmla="*/ 32730 w 1197945"/>
              <a:gd name="connsiteY20" fmla="*/ 667707 h 981923"/>
              <a:gd name="connsiteX21" fmla="*/ 45823 w 1197945"/>
              <a:gd name="connsiteY21" fmla="*/ 693892 h 981923"/>
              <a:gd name="connsiteX22" fmla="*/ 52369 w 1197945"/>
              <a:gd name="connsiteY22" fmla="*/ 713530 h 981923"/>
              <a:gd name="connsiteX23" fmla="*/ 72007 w 1197945"/>
              <a:gd name="connsiteY23" fmla="*/ 739715 h 981923"/>
              <a:gd name="connsiteX24" fmla="*/ 85099 w 1197945"/>
              <a:gd name="connsiteY24" fmla="*/ 765899 h 981923"/>
              <a:gd name="connsiteX25" fmla="*/ 144015 w 1197945"/>
              <a:gd name="connsiteY25" fmla="*/ 818268 h 981923"/>
              <a:gd name="connsiteX26" fmla="*/ 170199 w 1197945"/>
              <a:gd name="connsiteY26" fmla="*/ 837907 h 981923"/>
              <a:gd name="connsiteX27" fmla="*/ 202930 w 1197945"/>
              <a:gd name="connsiteY27" fmla="*/ 857546 h 981923"/>
              <a:gd name="connsiteX28" fmla="*/ 229115 w 1197945"/>
              <a:gd name="connsiteY28" fmla="*/ 877184 h 981923"/>
              <a:gd name="connsiteX29" fmla="*/ 248753 w 1197945"/>
              <a:gd name="connsiteY29" fmla="*/ 883730 h 981923"/>
              <a:gd name="connsiteX30" fmla="*/ 314214 w 1197945"/>
              <a:gd name="connsiteY30" fmla="*/ 923007 h 981923"/>
              <a:gd name="connsiteX31" fmla="*/ 353491 w 1197945"/>
              <a:gd name="connsiteY31" fmla="*/ 936099 h 981923"/>
              <a:gd name="connsiteX32" fmla="*/ 379676 w 1197945"/>
              <a:gd name="connsiteY32" fmla="*/ 949191 h 981923"/>
              <a:gd name="connsiteX33" fmla="*/ 477868 w 1197945"/>
              <a:gd name="connsiteY33" fmla="*/ 968830 h 981923"/>
              <a:gd name="connsiteX34" fmla="*/ 615337 w 1197945"/>
              <a:gd name="connsiteY34" fmla="*/ 981923 h 981923"/>
              <a:gd name="connsiteX35" fmla="*/ 890276 w 1197945"/>
              <a:gd name="connsiteY35" fmla="*/ 975376 h 981923"/>
              <a:gd name="connsiteX36" fmla="*/ 916460 w 1197945"/>
              <a:gd name="connsiteY36" fmla="*/ 968830 h 981923"/>
              <a:gd name="connsiteX37" fmla="*/ 975375 w 1197945"/>
              <a:gd name="connsiteY37" fmla="*/ 936099 h 981923"/>
              <a:gd name="connsiteX38" fmla="*/ 995014 w 1197945"/>
              <a:gd name="connsiteY38" fmla="*/ 929553 h 981923"/>
              <a:gd name="connsiteX39" fmla="*/ 1027745 w 1197945"/>
              <a:gd name="connsiteY39" fmla="*/ 903368 h 981923"/>
              <a:gd name="connsiteX40" fmla="*/ 1073568 w 1197945"/>
              <a:gd name="connsiteY40" fmla="*/ 870638 h 981923"/>
              <a:gd name="connsiteX41" fmla="*/ 1119391 w 1197945"/>
              <a:gd name="connsiteY41" fmla="*/ 824814 h 981923"/>
              <a:gd name="connsiteX42" fmla="*/ 1145575 w 1197945"/>
              <a:gd name="connsiteY42" fmla="*/ 798630 h 981923"/>
              <a:gd name="connsiteX43" fmla="*/ 1184852 w 1197945"/>
              <a:gd name="connsiteY43" fmla="*/ 726622 h 981923"/>
              <a:gd name="connsiteX44" fmla="*/ 1197945 w 1197945"/>
              <a:gd name="connsiteY44" fmla="*/ 680799 h 981923"/>
              <a:gd name="connsiteX45" fmla="*/ 1191399 w 1197945"/>
              <a:gd name="connsiteY45" fmla="*/ 543330 h 981923"/>
              <a:gd name="connsiteX46" fmla="*/ 1184852 w 1197945"/>
              <a:gd name="connsiteY46" fmla="*/ 523692 h 981923"/>
              <a:gd name="connsiteX47" fmla="*/ 1178306 w 1197945"/>
              <a:gd name="connsiteY47" fmla="*/ 497507 h 981923"/>
              <a:gd name="connsiteX48" fmla="*/ 1145575 w 1197945"/>
              <a:gd name="connsiteY48" fmla="*/ 458230 h 981923"/>
              <a:gd name="connsiteX49" fmla="*/ 1125937 w 1197945"/>
              <a:gd name="connsiteY49" fmla="*/ 432045 h 981923"/>
              <a:gd name="connsiteX50" fmla="*/ 1080114 w 1197945"/>
              <a:gd name="connsiteY50" fmla="*/ 399315 h 981923"/>
              <a:gd name="connsiteX51" fmla="*/ 1047383 w 1197945"/>
              <a:gd name="connsiteY51" fmla="*/ 373130 h 981923"/>
              <a:gd name="connsiteX52" fmla="*/ 995014 w 1197945"/>
              <a:gd name="connsiteY52" fmla="*/ 320761 h 981923"/>
              <a:gd name="connsiteX53" fmla="*/ 929552 w 1197945"/>
              <a:gd name="connsiteY53" fmla="*/ 268392 h 981923"/>
              <a:gd name="connsiteX54" fmla="*/ 909914 w 1197945"/>
              <a:gd name="connsiteY54" fmla="*/ 255299 h 981923"/>
              <a:gd name="connsiteX55" fmla="*/ 844453 w 1197945"/>
              <a:gd name="connsiteY55" fmla="*/ 209477 h 981923"/>
              <a:gd name="connsiteX56" fmla="*/ 818268 w 1197945"/>
              <a:gd name="connsiteY56" fmla="*/ 196384 h 981923"/>
              <a:gd name="connsiteX57" fmla="*/ 798630 w 1197945"/>
              <a:gd name="connsiteY57" fmla="*/ 176746 h 981923"/>
              <a:gd name="connsiteX58" fmla="*/ 772445 w 1197945"/>
              <a:gd name="connsiteY58" fmla="*/ 157107 h 981923"/>
              <a:gd name="connsiteX59" fmla="*/ 693891 w 1197945"/>
              <a:gd name="connsiteY59" fmla="*/ 91646 h 981923"/>
              <a:gd name="connsiteX60" fmla="*/ 615337 w 1197945"/>
              <a:gd name="connsiteY60" fmla="*/ 52369 h 981923"/>
              <a:gd name="connsiteX61" fmla="*/ 589152 w 1197945"/>
              <a:gd name="connsiteY61" fmla="*/ 39277 h 981923"/>
              <a:gd name="connsiteX62" fmla="*/ 549876 w 1197945"/>
              <a:gd name="connsiteY62" fmla="*/ 26184 h 981923"/>
              <a:gd name="connsiteX63" fmla="*/ 530237 w 1197945"/>
              <a:gd name="connsiteY63" fmla="*/ 13092 h 981923"/>
              <a:gd name="connsiteX64" fmla="*/ 477868 w 1197945"/>
              <a:gd name="connsiteY64" fmla="*/ 0 h 981923"/>
              <a:gd name="connsiteX65" fmla="*/ 274938 w 1197945"/>
              <a:gd name="connsiteY65" fmla="*/ 6545 h 981923"/>
              <a:gd name="connsiteX66" fmla="*/ 242206 w 1197945"/>
              <a:gd name="connsiteY66" fmla="*/ 13092 h 981923"/>
              <a:gd name="connsiteX67" fmla="*/ 202930 w 1197945"/>
              <a:gd name="connsiteY67" fmla="*/ 26184 h 981923"/>
              <a:gd name="connsiteX68" fmla="*/ 163653 w 1197945"/>
              <a:gd name="connsiteY68" fmla="*/ 52369 h 981923"/>
              <a:gd name="connsiteX69" fmla="*/ 144015 w 1197945"/>
              <a:gd name="connsiteY69" fmla="*/ 65461 h 981923"/>
              <a:gd name="connsiteX70" fmla="*/ 124376 w 1197945"/>
              <a:gd name="connsiteY70" fmla="*/ 85100 h 981923"/>
              <a:gd name="connsiteX71" fmla="*/ 72007 w 1197945"/>
              <a:gd name="connsiteY71" fmla="*/ 124376 h 981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197945" h="981923" extrusionOk="0">
                <a:moveTo>
                  <a:pt x="582606" y="52369"/>
                </a:moveTo>
                <a:cubicBezTo>
                  <a:pt x="565612" y="54624"/>
                  <a:pt x="553456" y="58743"/>
                  <a:pt x="536783" y="58915"/>
                </a:cubicBezTo>
                <a:cubicBezTo>
                  <a:pt x="432597" y="77845"/>
                  <a:pt x="476514" y="58152"/>
                  <a:pt x="425499" y="72007"/>
                </a:cubicBezTo>
                <a:cubicBezTo>
                  <a:pt x="329277" y="123294"/>
                  <a:pt x="432776" y="75254"/>
                  <a:pt x="360037" y="117830"/>
                </a:cubicBezTo>
                <a:cubicBezTo>
                  <a:pt x="353860" y="121568"/>
                  <a:pt x="346892" y="126723"/>
                  <a:pt x="340399" y="130922"/>
                </a:cubicBezTo>
                <a:cubicBezTo>
                  <a:pt x="335074" y="136981"/>
                  <a:pt x="328499" y="145776"/>
                  <a:pt x="320761" y="150561"/>
                </a:cubicBezTo>
                <a:cubicBezTo>
                  <a:pt x="312635" y="159115"/>
                  <a:pt x="302018" y="163390"/>
                  <a:pt x="294576" y="170200"/>
                </a:cubicBezTo>
                <a:cubicBezTo>
                  <a:pt x="287329" y="177292"/>
                  <a:pt x="281192" y="189011"/>
                  <a:pt x="274938" y="196384"/>
                </a:cubicBezTo>
                <a:cubicBezTo>
                  <a:pt x="267314" y="204438"/>
                  <a:pt x="241632" y="220761"/>
                  <a:pt x="229115" y="229115"/>
                </a:cubicBezTo>
                <a:cubicBezTo>
                  <a:pt x="206693" y="265964"/>
                  <a:pt x="230183" y="235601"/>
                  <a:pt x="189837" y="268392"/>
                </a:cubicBezTo>
                <a:cubicBezTo>
                  <a:pt x="180590" y="276827"/>
                  <a:pt x="173976" y="284589"/>
                  <a:pt x="163653" y="294576"/>
                </a:cubicBezTo>
                <a:cubicBezTo>
                  <a:pt x="136609" y="317729"/>
                  <a:pt x="139607" y="307834"/>
                  <a:pt x="117830" y="333854"/>
                </a:cubicBezTo>
                <a:cubicBezTo>
                  <a:pt x="111507" y="339391"/>
                  <a:pt x="108721" y="347376"/>
                  <a:pt x="104738" y="353492"/>
                </a:cubicBezTo>
                <a:cubicBezTo>
                  <a:pt x="96207" y="363026"/>
                  <a:pt x="87496" y="370072"/>
                  <a:pt x="78553" y="379676"/>
                </a:cubicBezTo>
                <a:cubicBezTo>
                  <a:pt x="13561" y="453793"/>
                  <a:pt x="84510" y="391381"/>
                  <a:pt x="32730" y="438592"/>
                </a:cubicBezTo>
                <a:cubicBezTo>
                  <a:pt x="30008" y="444789"/>
                  <a:pt x="30439" y="452688"/>
                  <a:pt x="26184" y="458230"/>
                </a:cubicBezTo>
                <a:cubicBezTo>
                  <a:pt x="23366" y="463967"/>
                  <a:pt x="16304" y="470839"/>
                  <a:pt x="13091" y="477868"/>
                </a:cubicBezTo>
                <a:cubicBezTo>
                  <a:pt x="7487" y="490478"/>
                  <a:pt x="0" y="517145"/>
                  <a:pt x="0" y="517146"/>
                </a:cubicBezTo>
                <a:cubicBezTo>
                  <a:pt x="3638" y="529301"/>
                  <a:pt x="6225" y="599216"/>
                  <a:pt x="13091" y="621884"/>
                </a:cubicBezTo>
                <a:cubicBezTo>
                  <a:pt x="16426" y="629504"/>
                  <a:pt x="22311" y="639814"/>
                  <a:pt x="26184" y="648068"/>
                </a:cubicBezTo>
                <a:cubicBezTo>
                  <a:pt x="28764" y="654443"/>
                  <a:pt x="29963" y="661284"/>
                  <a:pt x="32730" y="667707"/>
                </a:cubicBezTo>
                <a:cubicBezTo>
                  <a:pt x="36817" y="676676"/>
                  <a:pt x="43482" y="686166"/>
                  <a:pt x="45823" y="693892"/>
                </a:cubicBezTo>
                <a:cubicBezTo>
                  <a:pt x="47371" y="700894"/>
                  <a:pt x="49777" y="708072"/>
                  <a:pt x="52369" y="713530"/>
                </a:cubicBezTo>
                <a:cubicBezTo>
                  <a:pt x="57793" y="723973"/>
                  <a:pt x="66129" y="729474"/>
                  <a:pt x="72007" y="739715"/>
                </a:cubicBezTo>
                <a:cubicBezTo>
                  <a:pt x="77580" y="747557"/>
                  <a:pt x="78724" y="757793"/>
                  <a:pt x="85099" y="765899"/>
                </a:cubicBezTo>
                <a:cubicBezTo>
                  <a:pt x="116137" y="804900"/>
                  <a:pt x="114521" y="797576"/>
                  <a:pt x="144015" y="818268"/>
                </a:cubicBezTo>
                <a:cubicBezTo>
                  <a:pt x="154200" y="824754"/>
                  <a:pt x="159819" y="833257"/>
                  <a:pt x="170199" y="837907"/>
                </a:cubicBezTo>
                <a:cubicBezTo>
                  <a:pt x="182046" y="844249"/>
                  <a:pt x="189815" y="850361"/>
                  <a:pt x="202930" y="857546"/>
                </a:cubicBezTo>
                <a:cubicBezTo>
                  <a:pt x="212874" y="862332"/>
                  <a:pt x="219278" y="871347"/>
                  <a:pt x="229115" y="877184"/>
                </a:cubicBezTo>
                <a:cubicBezTo>
                  <a:pt x="234990" y="880622"/>
                  <a:pt x="242590" y="881658"/>
                  <a:pt x="248753" y="883730"/>
                </a:cubicBezTo>
                <a:cubicBezTo>
                  <a:pt x="287955" y="906611"/>
                  <a:pt x="278133" y="909550"/>
                  <a:pt x="314214" y="923007"/>
                </a:cubicBezTo>
                <a:cubicBezTo>
                  <a:pt x="326370" y="925721"/>
                  <a:pt x="340875" y="929672"/>
                  <a:pt x="353491" y="936099"/>
                </a:cubicBezTo>
                <a:cubicBezTo>
                  <a:pt x="361830" y="942167"/>
                  <a:pt x="370035" y="945832"/>
                  <a:pt x="379676" y="949191"/>
                </a:cubicBezTo>
                <a:cubicBezTo>
                  <a:pt x="423430" y="963666"/>
                  <a:pt x="434908" y="959987"/>
                  <a:pt x="477868" y="968830"/>
                </a:cubicBezTo>
                <a:cubicBezTo>
                  <a:pt x="583075" y="967587"/>
                  <a:pt x="414272" y="970292"/>
                  <a:pt x="615337" y="981923"/>
                </a:cubicBezTo>
                <a:cubicBezTo>
                  <a:pt x="749237" y="984868"/>
                  <a:pt x="771441" y="983695"/>
                  <a:pt x="890276" y="975376"/>
                </a:cubicBezTo>
                <a:cubicBezTo>
                  <a:pt x="899175" y="974725"/>
                  <a:pt x="909161" y="973056"/>
                  <a:pt x="916460" y="968830"/>
                </a:cubicBezTo>
                <a:cubicBezTo>
                  <a:pt x="941559" y="960530"/>
                  <a:pt x="951018" y="947710"/>
                  <a:pt x="975375" y="936099"/>
                </a:cubicBezTo>
                <a:cubicBezTo>
                  <a:pt x="982025" y="933505"/>
                  <a:pt x="988011" y="930580"/>
                  <a:pt x="995014" y="929553"/>
                </a:cubicBezTo>
                <a:cubicBezTo>
                  <a:pt x="1005295" y="921651"/>
                  <a:pt x="1017332" y="911353"/>
                  <a:pt x="1027745" y="903368"/>
                </a:cubicBezTo>
                <a:cubicBezTo>
                  <a:pt x="1048254" y="888326"/>
                  <a:pt x="1052842" y="890213"/>
                  <a:pt x="1073568" y="870638"/>
                </a:cubicBezTo>
                <a:cubicBezTo>
                  <a:pt x="1091594" y="857083"/>
                  <a:pt x="1103589" y="841978"/>
                  <a:pt x="1119391" y="824814"/>
                </a:cubicBezTo>
                <a:cubicBezTo>
                  <a:pt x="1127593" y="818447"/>
                  <a:pt x="1137299" y="808871"/>
                  <a:pt x="1145575" y="798630"/>
                </a:cubicBezTo>
                <a:cubicBezTo>
                  <a:pt x="1161769" y="770622"/>
                  <a:pt x="1172027" y="753937"/>
                  <a:pt x="1184852" y="726622"/>
                </a:cubicBezTo>
                <a:cubicBezTo>
                  <a:pt x="1196252" y="697544"/>
                  <a:pt x="1190571" y="710925"/>
                  <a:pt x="1197945" y="680799"/>
                </a:cubicBezTo>
                <a:cubicBezTo>
                  <a:pt x="1191598" y="641735"/>
                  <a:pt x="1189775" y="587480"/>
                  <a:pt x="1191399" y="543330"/>
                </a:cubicBezTo>
                <a:cubicBezTo>
                  <a:pt x="1190563" y="536766"/>
                  <a:pt x="1186718" y="529964"/>
                  <a:pt x="1184852" y="523692"/>
                </a:cubicBezTo>
                <a:cubicBezTo>
                  <a:pt x="1181742" y="513662"/>
                  <a:pt x="1182066" y="505509"/>
                  <a:pt x="1178306" y="497507"/>
                </a:cubicBezTo>
                <a:cubicBezTo>
                  <a:pt x="1168671" y="476305"/>
                  <a:pt x="1158568" y="473746"/>
                  <a:pt x="1145575" y="458230"/>
                </a:cubicBezTo>
                <a:cubicBezTo>
                  <a:pt x="1138463" y="450901"/>
                  <a:pt x="1132784" y="437831"/>
                  <a:pt x="1125937" y="432045"/>
                </a:cubicBezTo>
                <a:cubicBezTo>
                  <a:pt x="1110801" y="418544"/>
                  <a:pt x="1098254" y="411206"/>
                  <a:pt x="1080114" y="399315"/>
                </a:cubicBezTo>
                <a:cubicBezTo>
                  <a:pt x="1068242" y="391586"/>
                  <a:pt x="1056038" y="383166"/>
                  <a:pt x="1047383" y="373130"/>
                </a:cubicBezTo>
                <a:cubicBezTo>
                  <a:pt x="1028756" y="356869"/>
                  <a:pt x="1014134" y="334257"/>
                  <a:pt x="995014" y="320761"/>
                </a:cubicBezTo>
                <a:cubicBezTo>
                  <a:pt x="912209" y="271519"/>
                  <a:pt x="984184" y="326443"/>
                  <a:pt x="929552" y="268392"/>
                </a:cubicBezTo>
                <a:cubicBezTo>
                  <a:pt x="923358" y="263057"/>
                  <a:pt x="917687" y="259285"/>
                  <a:pt x="909914" y="255299"/>
                </a:cubicBezTo>
                <a:cubicBezTo>
                  <a:pt x="890752" y="242489"/>
                  <a:pt x="864593" y="217403"/>
                  <a:pt x="844453" y="209477"/>
                </a:cubicBezTo>
                <a:cubicBezTo>
                  <a:pt x="836048" y="205294"/>
                  <a:pt x="824548" y="201633"/>
                  <a:pt x="818268" y="196384"/>
                </a:cubicBezTo>
                <a:cubicBezTo>
                  <a:pt x="810546" y="191515"/>
                  <a:pt x="804979" y="184186"/>
                  <a:pt x="798630" y="176746"/>
                </a:cubicBezTo>
                <a:cubicBezTo>
                  <a:pt x="790589" y="169116"/>
                  <a:pt x="781331" y="165215"/>
                  <a:pt x="772445" y="157107"/>
                </a:cubicBezTo>
                <a:cubicBezTo>
                  <a:pt x="742376" y="130429"/>
                  <a:pt x="739458" y="115489"/>
                  <a:pt x="693891" y="91646"/>
                </a:cubicBezTo>
                <a:cubicBezTo>
                  <a:pt x="655755" y="73018"/>
                  <a:pt x="641215" y="64622"/>
                  <a:pt x="615337" y="52369"/>
                </a:cubicBezTo>
                <a:cubicBezTo>
                  <a:pt x="605260" y="47514"/>
                  <a:pt x="599862" y="42460"/>
                  <a:pt x="589152" y="39277"/>
                </a:cubicBezTo>
                <a:cubicBezTo>
                  <a:pt x="576939" y="36374"/>
                  <a:pt x="563039" y="31726"/>
                  <a:pt x="549876" y="26184"/>
                </a:cubicBezTo>
                <a:cubicBezTo>
                  <a:pt x="542714" y="22045"/>
                  <a:pt x="537705" y="16870"/>
                  <a:pt x="530237" y="13092"/>
                </a:cubicBezTo>
                <a:cubicBezTo>
                  <a:pt x="517246" y="6734"/>
                  <a:pt x="490463" y="1591"/>
                  <a:pt x="477868" y="0"/>
                </a:cubicBezTo>
                <a:cubicBezTo>
                  <a:pt x="405211" y="7139"/>
                  <a:pt x="341224" y="14550"/>
                  <a:pt x="274938" y="6545"/>
                </a:cubicBezTo>
                <a:cubicBezTo>
                  <a:pt x="264217" y="7566"/>
                  <a:pt x="251741" y="9078"/>
                  <a:pt x="242206" y="13092"/>
                </a:cubicBezTo>
                <a:cubicBezTo>
                  <a:pt x="228891" y="16723"/>
                  <a:pt x="202931" y="26184"/>
                  <a:pt x="202930" y="26184"/>
                </a:cubicBezTo>
                <a:cubicBezTo>
                  <a:pt x="193807" y="29209"/>
                  <a:pt x="175896" y="48022"/>
                  <a:pt x="163653" y="52369"/>
                </a:cubicBezTo>
                <a:cubicBezTo>
                  <a:pt x="157013" y="55247"/>
                  <a:pt x="149237" y="60188"/>
                  <a:pt x="144015" y="65461"/>
                </a:cubicBezTo>
                <a:cubicBezTo>
                  <a:pt x="137675" y="70607"/>
                  <a:pt x="131488" y="79087"/>
                  <a:pt x="124376" y="85100"/>
                </a:cubicBezTo>
                <a:cubicBezTo>
                  <a:pt x="53116" y="129678"/>
                  <a:pt x="106492" y="94857"/>
                  <a:pt x="72007" y="124376"/>
                </a:cubicBezTo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856648 w 1761423"/>
                      <a:gd name="connsiteY0" fmla="*/ 77002 h 1443790"/>
                      <a:gd name="connsiteX1" fmla="*/ 789271 w 1761423"/>
                      <a:gd name="connsiteY1" fmla="*/ 86627 h 1443790"/>
                      <a:gd name="connsiteX2" fmla="*/ 625642 w 1761423"/>
                      <a:gd name="connsiteY2" fmla="*/ 105878 h 1443790"/>
                      <a:gd name="connsiteX3" fmla="*/ 529389 w 1761423"/>
                      <a:gd name="connsiteY3" fmla="*/ 173255 h 1443790"/>
                      <a:gd name="connsiteX4" fmla="*/ 500513 w 1761423"/>
                      <a:gd name="connsiteY4" fmla="*/ 192505 h 1443790"/>
                      <a:gd name="connsiteX5" fmla="*/ 471638 w 1761423"/>
                      <a:gd name="connsiteY5" fmla="*/ 221381 h 1443790"/>
                      <a:gd name="connsiteX6" fmla="*/ 433137 w 1761423"/>
                      <a:gd name="connsiteY6" fmla="*/ 250257 h 1443790"/>
                      <a:gd name="connsiteX7" fmla="*/ 404261 w 1761423"/>
                      <a:gd name="connsiteY7" fmla="*/ 288758 h 1443790"/>
                      <a:gd name="connsiteX8" fmla="*/ 336884 w 1761423"/>
                      <a:gd name="connsiteY8" fmla="*/ 336884 h 1443790"/>
                      <a:gd name="connsiteX9" fmla="*/ 279132 w 1761423"/>
                      <a:gd name="connsiteY9" fmla="*/ 394636 h 1443790"/>
                      <a:gd name="connsiteX10" fmla="*/ 240631 w 1761423"/>
                      <a:gd name="connsiteY10" fmla="*/ 433137 h 1443790"/>
                      <a:gd name="connsiteX11" fmla="*/ 173254 w 1761423"/>
                      <a:gd name="connsiteY11" fmla="*/ 490889 h 1443790"/>
                      <a:gd name="connsiteX12" fmla="*/ 154004 w 1761423"/>
                      <a:gd name="connsiteY12" fmla="*/ 519764 h 1443790"/>
                      <a:gd name="connsiteX13" fmla="*/ 115503 w 1761423"/>
                      <a:gd name="connsiteY13" fmla="*/ 558265 h 1443790"/>
                      <a:gd name="connsiteX14" fmla="*/ 48126 w 1761423"/>
                      <a:gd name="connsiteY14" fmla="*/ 644893 h 1443790"/>
                      <a:gd name="connsiteX15" fmla="*/ 38501 w 1761423"/>
                      <a:gd name="connsiteY15" fmla="*/ 673769 h 1443790"/>
                      <a:gd name="connsiteX16" fmla="*/ 19250 w 1761423"/>
                      <a:gd name="connsiteY16" fmla="*/ 702644 h 1443790"/>
                      <a:gd name="connsiteX17" fmla="*/ 0 w 1761423"/>
                      <a:gd name="connsiteY17" fmla="*/ 760396 h 1443790"/>
                      <a:gd name="connsiteX18" fmla="*/ 19250 w 1761423"/>
                      <a:gd name="connsiteY18" fmla="*/ 914400 h 1443790"/>
                      <a:gd name="connsiteX19" fmla="*/ 38501 w 1761423"/>
                      <a:gd name="connsiteY19" fmla="*/ 952901 h 1443790"/>
                      <a:gd name="connsiteX20" fmla="*/ 48126 w 1761423"/>
                      <a:gd name="connsiteY20" fmla="*/ 981777 h 1443790"/>
                      <a:gd name="connsiteX21" fmla="*/ 67377 w 1761423"/>
                      <a:gd name="connsiteY21" fmla="*/ 1020278 h 1443790"/>
                      <a:gd name="connsiteX22" fmla="*/ 77002 w 1761423"/>
                      <a:gd name="connsiteY22" fmla="*/ 1049154 h 1443790"/>
                      <a:gd name="connsiteX23" fmla="*/ 105878 w 1761423"/>
                      <a:gd name="connsiteY23" fmla="*/ 1087655 h 1443790"/>
                      <a:gd name="connsiteX24" fmla="*/ 125128 w 1761423"/>
                      <a:gd name="connsiteY24" fmla="*/ 1126156 h 1443790"/>
                      <a:gd name="connsiteX25" fmla="*/ 211756 w 1761423"/>
                      <a:gd name="connsiteY25" fmla="*/ 1203158 h 1443790"/>
                      <a:gd name="connsiteX26" fmla="*/ 250257 w 1761423"/>
                      <a:gd name="connsiteY26" fmla="*/ 1232034 h 1443790"/>
                      <a:gd name="connsiteX27" fmla="*/ 298383 w 1761423"/>
                      <a:gd name="connsiteY27" fmla="*/ 1260910 h 1443790"/>
                      <a:gd name="connsiteX28" fmla="*/ 336884 w 1761423"/>
                      <a:gd name="connsiteY28" fmla="*/ 1289785 h 1443790"/>
                      <a:gd name="connsiteX29" fmla="*/ 365760 w 1761423"/>
                      <a:gd name="connsiteY29" fmla="*/ 1299411 h 1443790"/>
                      <a:gd name="connsiteX30" fmla="*/ 462012 w 1761423"/>
                      <a:gd name="connsiteY30" fmla="*/ 1357162 h 1443790"/>
                      <a:gd name="connsiteX31" fmla="*/ 519764 w 1761423"/>
                      <a:gd name="connsiteY31" fmla="*/ 1376413 h 1443790"/>
                      <a:gd name="connsiteX32" fmla="*/ 558265 w 1761423"/>
                      <a:gd name="connsiteY32" fmla="*/ 1395663 h 1443790"/>
                      <a:gd name="connsiteX33" fmla="*/ 702644 w 1761423"/>
                      <a:gd name="connsiteY33" fmla="*/ 1424539 h 1443790"/>
                      <a:gd name="connsiteX34" fmla="*/ 904774 w 1761423"/>
                      <a:gd name="connsiteY34" fmla="*/ 1443790 h 1443790"/>
                      <a:gd name="connsiteX35" fmla="*/ 1309036 w 1761423"/>
                      <a:gd name="connsiteY35" fmla="*/ 1434164 h 1443790"/>
                      <a:gd name="connsiteX36" fmla="*/ 1347537 w 1761423"/>
                      <a:gd name="connsiteY36" fmla="*/ 1424539 h 1443790"/>
                      <a:gd name="connsiteX37" fmla="*/ 1434164 w 1761423"/>
                      <a:gd name="connsiteY37" fmla="*/ 1376413 h 1443790"/>
                      <a:gd name="connsiteX38" fmla="*/ 1463040 w 1761423"/>
                      <a:gd name="connsiteY38" fmla="*/ 1366787 h 1443790"/>
                      <a:gd name="connsiteX39" fmla="*/ 1511166 w 1761423"/>
                      <a:gd name="connsiteY39" fmla="*/ 1328286 h 1443790"/>
                      <a:gd name="connsiteX40" fmla="*/ 1578543 w 1761423"/>
                      <a:gd name="connsiteY40" fmla="*/ 1280160 h 1443790"/>
                      <a:gd name="connsiteX41" fmla="*/ 1645920 w 1761423"/>
                      <a:gd name="connsiteY41" fmla="*/ 1212783 h 1443790"/>
                      <a:gd name="connsiteX42" fmla="*/ 1684421 w 1761423"/>
                      <a:gd name="connsiteY42" fmla="*/ 1174282 h 1443790"/>
                      <a:gd name="connsiteX43" fmla="*/ 1742172 w 1761423"/>
                      <a:gd name="connsiteY43" fmla="*/ 1068404 h 1443790"/>
                      <a:gd name="connsiteX44" fmla="*/ 1761423 w 1761423"/>
                      <a:gd name="connsiteY44" fmla="*/ 1001027 h 1443790"/>
                      <a:gd name="connsiteX45" fmla="*/ 1751798 w 1761423"/>
                      <a:gd name="connsiteY45" fmla="*/ 798897 h 1443790"/>
                      <a:gd name="connsiteX46" fmla="*/ 1742172 w 1761423"/>
                      <a:gd name="connsiteY46" fmla="*/ 770021 h 1443790"/>
                      <a:gd name="connsiteX47" fmla="*/ 1732547 w 1761423"/>
                      <a:gd name="connsiteY47" fmla="*/ 731520 h 1443790"/>
                      <a:gd name="connsiteX48" fmla="*/ 1684421 w 1761423"/>
                      <a:gd name="connsiteY48" fmla="*/ 673769 h 1443790"/>
                      <a:gd name="connsiteX49" fmla="*/ 1655545 w 1761423"/>
                      <a:gd name="connsiteY49" fmla="*/ 635267 h 1443790"/>
                      <a:gd name="connsiteX50" fmla="*/ 1588168 w 1761423"/>
                      <a:gd name="connsiteY50" fmla="*/ 587141 h 1443790"/>
                      <a:gd name="connsiteX51" fmla="*/ 1540042 w 1761423"/>
                      <a:gd name="connsiteY51" fmla="*/ 548640 h 1443790"/>
                      <a:gd name="connsiteX52" fmla="*/ 1463040 w 1761423"/>
                      <a:gd name="connsiteY52" fmla="*/ 471638 h 1443790"/>
                      <a:gd name="connsiteX53" fmla="*/ 1366787 w 1761423"/>
                      <a:gd name="connsiteY53" fmla="*/ 394636 h 1443790"/>
                      <a:gd name="connsiteX54" fmla="*/ 1337911 w 1761423"/>
                      <a:gd name="connsiteY54" fmla="*/ 375385 h 1443790"/>
                      <a:gd name="connsiteX55" fmla="*/ 1241659 w 1761423"/>
                      <a:gd name="connsiteY55" fmla="*/ 308009 h 1443790"/>
                      <a:gd name="connsiteX56" fmla="*/ 1203158 w 1761423"/>
                      <a:gd name="connsiteY56" fmla="*/ 288758 h 1443790"/>
                      <a:gd name="connsiteX57" fmla="*/ 1174282 w 1761423"/>
                      <a:gd name="connsiteY57" fmla="*/ 259882 h 1443790"/>
                      <a:gd name="connsiteX58" fmla="*/ 1135781 w 1761423"/>
                      <a:gd name="connsiteY58" fmla="*/ 231006 h 1443790"/>
                      <a:gd name="connsiteX59" fmla="*/ 1020278 w 1761423"/>
                      <a:gd name="connsiteY59" fmla="*/ 134754 h 1443790"/>
                      <a:gd name="connsiteX60" fmla="*/ 904774 w 1761423"/>
                      <a:gd name="connsiteY60" fmla="*/ 77002 h 1443790"/>
                      <a:gd name="connsiteX61" fmla="*/ 866273 w 1761423"/>
                      <a:gd name="connsiteY61" fmla="*/ 57752 h 1443790"/>
                      <a:gd name="connsiteX62" fmla="*/ 808522 w 1761423"/>
                      <a:gd name="connsiteY62" fmla="*/ 38501 h 1443790"/>
                      <a:gd name="connsiteX63" fmla="*/ 779646 w 1761423"/>
                      <a:gd name="connsiteY63" fmla="*/ 19251 h 1443790"/>
                      <a:gd name="connsiteX64" fmla="*/ 702644 w 1761423"/>
                      <a:gd name="connsiteY64" fmla="*/ 0 h 1443790"/>
                      <a:gd name="connsiteX65" fmla="*/ 404261 w 1761423"/>
                      <a:gd name="connsiteY65" fmla="*/ 9625 h 1443790"/>
                      <a:gd name="connsiteX66" fmla="*/ 356134 w 1761423"/>
                      <a:gd name="connsiteY66" fmla="*/ 19251 h 1443790"/>
                      <a:gd name="connsiteX67" fmla="*/ 298383 w 1761423"/>
                      <a:gd name="connsiteY67" fmla="*/ 38501 h 1443790"/>
                      <a:gd name="connsiteX68" fmla="*/ 240631 w 1761423"/>
                      <a:gd name="connsiteY68" fmla="*/ 77002 h 1443790"/>
                      <a:gd name="connsiteX69" fmla="*/ 211756 w 1761423"/>
                      <a:gd name="connsiteY69" fmla="*/ 96253 h 1443790"/>
                      <a:gd name="connsiteX70" fmla="*/ 182880 w 1761423"/>
                      <a:gd name="connsiteY70" fmla="*/ 125129 h 1443790"/>
                      <a:gd name="connsiteX71" fmla="*/ 105878 w 1761423"/>
                      <a:gd name="connsiteY71" fmla="*/ 182880 h 1443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</a:cxnLst>
                    <a:rect l="l" t="t" r="r" b="b"/>
                    <a:pathLst>
                      <a:path w="1761423" h="1443790">
                        <a:moveTo>
                          <a:pt x="856648" y="77002"/>
                        </a:moveTo>
                        <a:cubicBezTo>
                          <a:pt x="834189" y="80210"/>
                          <a:pt x="811856" y="84476"/>
                          <a:pt x="789271" y="86627"/>
                        </a:cubicBezTo>
                        <a:cubicBezTo>
                          <a:pt x="629912" y="101804"/>
                          <a:pt x="700503" y="80925"/>
                          <a:pt x="625642" y="105878"/>
                        </a:cubicBezTo>
                        <a:cubicBezTo>
                          <a:pt x="492853" y="194403"/>
                          <a:pt x="629172" y="101982"/>
                          <a:pt x="529389" y="173255"/>
                        </a:cubicBezTo>
                        <a:cubicBezTo>
                          <a:pt x="519976" y="179979"/>
                          <a:pt x="509400" y="185099"/>
                          <a:pt x="500513" y="192505"/>
                        </a:cubicBezTo>
                        <a:cubicBezTo>
                          <a:pt x="490056" y="201219"/>
                          <a:pt x="481973" y="212522"/>
                          <a:pt x="471638" y="221381"/>
                        </a:cubicBezTo>
                        <a:cubicBezTo>
                          <a:pt x="459458" y="231821"/>
                          <a:pt x="444481" y="238913"/>
                          <a:pt x="433137" y="250257"/>
                        </a:cubicBezTo>
                        <a:cubicBezTo>
                          <a:pt x="421793" y="261601"/>
                          <a:pt x="415605" y="277414"/>
                          <a:pt x="404261" y="288758"/>
                        </a:cubicBezTo>
                        <a:cubicBezTo>
                          <a:pt x="392319" y="300700"/>
                          <a:pt x="353283" y="325952"/>
                          <a:pt x="336884" y="336884"/>
                        </a:cubicBezTo>
                        <a:cubicBezTo>
                          <a:pt x="301847" y="389439"/>
                          <a:pt x="336439" y="344492"/>
                          <a:pt x="279132" y="394636"/>
                        </a:cubicBezTo>
                        <a:cubicBezTo>
                          <a:pt x="265473" y="406588"/>
                          <a:pt x="254290" y="421185"/>
                          <a:pt x="240631" y="433137"/>
                        </a:cubicBezTo>
                        <a:cubicBezTo>
                          <a:pt x="201412" y="467453"/>
                          <a:pt x="204842" y="452983"/>
                          <a:pt x="173254" y="490889"/>
                        </a:cubicBezTo>
                        <a:cubicBezTo>
                          <a:pt x="165848" y="499776"/>
                          <a:pt x="161532" y="510981"/>
                          <a:pt x="154004" y="519764"/>
                        </a:cubicBezTo>
                        <a:cubicBezTo>
                          <a:pt x="142192" y="533544"/>
                          <a:pt x="126841" y="544093"/>
                          <a:pt x="115503" y="558265"/>
                        </a:cubicBezTo>
                        <a:cubicBezTo>
                          <a:pt x="23400" y="673395"/>
                          <a:pt x="120456" y="572563"/>
                          <a:pt x="48126" y="644893"/>
                        </a:cubicBezTo>
                        <a:cubicBezTo>
                          <a:pt x="44918" y="654518"/>
                          <a:pt x="43038" y="664694"/>
                          <a:pt x="38501" y="673769"/>
                        </a:cubicBezTo>
                        <a:cubicBezTo>
                          <a:pt x="33328" y="684116"/>
                          <a:pt x="23948" y="692073"/>
                          <a:pt x="19250" y="702644"/>
                        </a:cubicBezTo>
                        <a:cubicBezTo>
                          <a:pt x="11009" y="721187"/>
                          <a:pt x="0" y="760396"/>
                          <a:pt x="0" y="760396"/>
                        </a:cubicBezTo>
                        <a:cubicBezTo>
                          <a:pt x="2130" y="783824"/>
                          <a:pt x="6819" y="877107"/>
                          <a:pt x="19250" y="914400"/>
                        </a:cubicBezTo>
                        <a:cubicBezTo>
                          <a:pt x="23787" y="928012"/>
                          <a:pt x="32849" y="939713"/>
                          <a:pt x="38501" y="952901"/>
                        </a:cubicBezTo>
                        <a:cubicBezTo>
                          <a:pt x="42498" y="962227"/>
                          <a:pt x="44129" y="972451"/>
                          <a:pt x="48126" y="981777"/>
                        </a:cubicBezTo>
                        <a:cubicBezTo>
                          <a:pt x="53778" y="994965"/>
                          <a:pt x="61725" y="1007090"/>
                          <a:pt x="67377" y="1020278"/>
                        </a:cubicBezTo>
                        <a:cubicBezTo>
                          <a:pt x="71374" y="1029604"/>
                          <a:pt x="71968" y="1040345"/>
                          <a:pt x="77002" y="1049154"/>
                        </a:cubicBezTo>
                        <a:cubicBezTo>
                          <a:pt x="84961" y="1063082"/>
                          <a:pt x="97376" y="1074051"/>
                          <a:pt x="105878" y="1087655"/>
                        </a:cubicBezTo>
                        <a:cubicBezTo>
                          <a:pt x="113483" y="1099822"/>
                          <a:pt x="116165" y="1114952"/>
                          <a:pt x="125128" y="1126156"/>
                        </a:cubicBezTo>
                        <a:cubicBezTo>
                          <a:pt x="171068" y="1183581"/>
                          <a:pt x="168723" y="1172420"/>
                          <a:pt x="211756" y="1203158"/>
                        </a:cubicBezTo>
                        <a:cubicBezTo>
                          <a:pt x="224810" y="1212482"/>
                          <a:pt x="236909" y="1223135"/>
                          <a:pt x="250257" y="1232034"/>
                        </a:cubicBezTo>
                        <a:cubicBezTo>
                          <a:pt x="265823" y="1242411"/>
                          <a:pt x="282817" y="1250533"/>
                          <a:pt x="298383" y="1260910"/>
                        </a:cubicBezTo>
                        <a:cubicBezTo>
                          <a:pt x="311731" y="1269808"/>
                          <a:pt x="322956" y="1281826"/>
                          <a:pt x="336884" y="1289785"/>
                        </a:cubicBezTo>
                        <a:cubicBezTo>
                          <a:pt x="345693" y="1294819"/>
                          <a:pt x="356891" y="1294484"/>
                          <a:pt x="365760" y="1299411"/>
                        </a:cubicBezTo>
                        <a:cubicBezTo>
                          <a:pt x="423874" y="1331697"/>
                          <a:pt x="409996" y="1336356"/>
                          <a:pt x="462012" y="1357162"/>
                        </a:cubicBezTo>
                        <a:cubicBezTo>
                          <a:pt x="480853" y="1364698"/>
                          <a:pt x="501614" y="1367338"/>
                          <a:pt x="519764" y="1376413"/>
                        </a:cubicBezTo>
                        <a:cubicBezTo>
                          <a:pt x="532598" y="1382830"/>
                          <a:pt x="544653" y="1391126"/>
                          <a:pt x="558265" y="1395663"/>
                        </a:cubicBezTo>
                        <a:cubicBezTo>
                          <a:pt x="623364" y="1417363"/>
                          <a:pt x="638156" y="1413791"/>
                          <a:pt x="702644" y="1424539"/>
                        </a:cubicBezTo>
                        <a:cubicBezTo>
                          <a:pt x="832749" y="1446223"/>
                          <a:pt x="635272" y="1426945"/>
                          <a:pt x="904774" y="1443790"/>
                        </a:cubicBezTo>
                        <a:lnTo>
                          <a:pt x="1309036" y="1434164"/>
                        </a:lnTo>
                        <a:cubicBezTo>
                          <a:pt x="1322252" y="1433589"/>
                          <a:pt x="1335151" y="1429184"/>
                          <a:pt x="1347537" y="1424539"/>
                        </a:cubicBezTo>
                        <a:cubicBezTo>
                          <a:pt x="1384618" y="1410634"/>
                          <a:pt x="1397404" y="1394794"/>
                          <a:pt x="1434164" y="1376413"/>
                        </a:cubicBezTo>
                        <a:cubicBezTo>
                          <a:pt x="1443239" y="1371875"/>
                          <a:pt x="1453415" y="1369996"/>
                          <a:pt x="1463040" y="1366787"/>
                        </a:cubicBezTo>
                        <a:cubicBezTo>
                          <a:pt x="1479082" y="1353953"/>
                          <a:pt x="1494731" y="1340612"/>
                          <a:pt x="1511166" y="1328286"/>
                        </a:cubicBezTo>
                        <a:cubicBezTo>
                          <a:pt x="1541077" y="1305853"/>
                          <a:pt x="1547863" y="1308051"/>
                          <a:pt x="1578543" y="1280160"/>
                        </a:cubicBezTo>
                        <a:cubicBezTo>
                          <a:pt x="1602045" y="1258795"/>
                          <a:pt x="1623461" y="1235242"/>
                          <a:pt x="1645920" y="1212783"/>
                        </a:cubicBezTo>
                        <a:cubicBezTo>
                          <a:pt x="1658754" y="1199949"/>
                          <a:pt x="1674354" y="1189383"/>
                          <a:pt x="1684421" y="1174282"/>
                        </a:cubicBezTo>
                        <a:cubicBezTo>
                          <a:pt x="1707853" y="1139134"/>
                          <a:pt x="1727612" y="1112080"/>
                          <a:pt x="1742172" y="1068404"/>
                        </a:cubicBezTo>
                        <a:cubicBezTo>
                          <a:pt x="1755982" y="1026979"/>
                          <a:pt x="1749337" y="1049372"/>
                          <a:pt x="1761423" y="1001027"/>
                        </a:cubicBezTo>
                        <a:cubicBezTo>
                          <a:pt x="1758215" y="933650"/>
                          <a:pt x="1757400" y="866117"/>
                          <a:pt x="1751798" y="798897"/>
                        </a:cubicBezTo>
                        <a:cubicBezTo>
                          <a:pt x="1750955" y="788786"/>
                          <a:pt x="1744959" y="779777"/>
                          <a:pt x="1742172" y="770021"/>
                        </a:cubicBezTo>
                        <a:cubicBezTo>
                          <a:pt x="1738538" y="757301"/>
                          <a:pt x="1737758" y="743679"/>
                          <a:pt x="1732547" y="731520"/>
                        </a:cubicBezTo>
                        <a:cubicBezTo>
                          <a:pt x="1720390" y="703152"/>
                          <a:pt x="1704247" y="696899"/>
                          <a:pt x="1684421" y="673769"/>
                        </a:cubicBezTo>
                        <a:cubicBezTo>
                          <a:pt x="1673981" y="661589"/>
                          <a:pt x="1666889" y="646611"/>
                          <a:pt x="1655545" y="635267"/>
                        </a:cubicBezTo>
                        <a:cubicBezTo>
                          <a:pt x="1636033" y="615755"/>
                          <a:pt x="1610024" y="603533"/>
                          <a:pt x="1588168" y="587141"/>
                        </a:cubicBezTo>
                        <a:cubicBezTo>
                          <a:pt x="1571733" y="574815"/>
                          <a:pt x="1555138" y="562574"/>
                          <a:pt x="1540042" y="548640"/>
                        </a:cubicBezTo>
                        <a:cubicBezTo>
                          <a:pt x="1513369" y="524019"/>
                          <a:pt x="1493243" y="491773"/>
                          <a:pt x="1463040" y="471638"/>
                        </a:cubicBezTo>
                        <a:cubicBezTo>
                          <a:pt x="1337740" y="388105"/>
                          <a:pt x="1462790" y="476925"/>
                          <a:pt x="1366787" y="394636"/>
                        </a:cubicBezTo>
                        <a:cubicBezTo>
                          <a:pt x="1358004" y="387107"/>
                          <a:pt x="1347325" y="382109"/>
                          <a:pt x="1337911" y="375385"/>
                        </a:cubicBezTo>
                        <a:cubicBezTo>
                          <a:pt x="1309747" y="355268"/>
                          <a:pt x="1271156" y="322758"/>
                          <a:pt x="1241659" y="308009"/>
                        </a:cubicBezTo>
                        <a:cubicBezTo>
                          <a:pt x="1228825" y="301592"/>
                          <a:pt x="1214834" y="297098"/>
                          <a:pt x="1203158" y="288758"/>
                        </a:cubicBezTo>
                        <a:cubicBezTo>
                          <a:pt x="1192081" y="280846"/>
                          <a:pt x="1184617" y="268741"/>
                          <a:pt x="1174282" y="259882"/>
                        </a:cubicBezTo>
                        <a:cubicBezTo>
                          <a:pt x="1162102" y="249442"/>
                          <a:pt x="1147854" y="241570"/>
                          <a:pt x="1135781" y="231006"/>
                        </a:cubicBezTo>
                        <a:cubicBezTo>
                          <a:pt x="1088712" y="189820"/>
                          <a:pt x="1086841" y="168036"/>
                          <a:pt x="1020278" y="134754"/>
                        </a:cubicBezTo>
                        <a:lnTo>
                          <a:pt x="904774" y="77002"/>
                        </a:lnTo>
                        <a:cubicBezTo>
                          <a:pt x="891940" y="70585"/>
                          <a:pt x="879885" y="62290"/>
                          <a:pt x="866273" y="57752"/>
                        </a:cubicBezTo>
                        <a:cubicBezTo>
                          <a:pt x="847023" y="51335"/>
                          <a:pt x="825406" y="49757"/>
                          <a:pt x="808522" y="38501"/>
                        </a:cubicBezTo>
                        <a:cubicBezTo>
                          <a:pt x="798897" y="32084"/>
                          <a:pt x="789993" y="24424"/>
                          <a:pt x="779646" y="19251"/>
                        </a:cubicBezTo>
                        <a:cubicBezTo>
                          <a:pt x="759911" y="9383"/>
                          <a:pt x="720956" y="3662"/>
                          <a:pt x="702644" y="0"/>
                        </a:cubicBezTo>
                        <a:cubicBezTo>
                          <a:pt x="603183" y="3208"/>
                          <a:pt x="503621" y="4105"/>
                          <a:pt x="404261" y="9625"/>
                        </a:cubicBezTo>
                        <a:cubicBezTo>
                          <a:pt x="387926" y="10533"/>
                          <a:pt x="371918" y="14946"/>
                          <a:pt x="356134" y="19251"/>
                        </a:cubicBezTo>
                        <a:cubicBezTo>
                          <a:pt x="336557" y="24590"/>
                          <a:pt x="298383" y="38501"/>
                          <a:pt x="298383" y="38501"/>
                        </a:cubicBezTo>
                        <a:lnTo>
                          <a:pt x="240631" y="77002"/>
                        </a:lnTo>
                        <a:cubicBezTo>
                          <a:pt x="231006" y="83419"/>
                          <a:pt x="219936" y="88073"/>
                          <a:pt x="211756" y="96253"/>
                        </a:cubicBezTo>
                        <a:cubicBezTo>
                          <a:pt x="202131" y="105878"/>
                          <a:pt x="193625" y="116772"/>
                          <a:pt x="182880" y="125129"/>
                        </a:cubicBezTo>
                        <a:cubicBezTo>
                          <a:pt x="84926" y="201315"/>
                          <a:pt x="154294" y="134464"/>
                          <a:pt x="105878" y="18288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2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0EB6218-6C4E-1344-89F1-E65C8EBC7FDB}"/>
                  </a:ext>
                </a:extLst>
              </p:cNvPr>
              <p:cNvSpPr txBox="1"/>
              <p:nvPr/>
            </p:nvSpPr>
            <p:spPr>
              <a:xfrm>
                <a:off x="4462296" y="3598423"/>
                <a:ext cx="407099" cy="62074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0EB6218-6C4E-1344-89F1-E65C8EBC7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296" y="3598423"/>
                <a:ext cx="407099" cy="620747"/>
              </a:xfrm>
              <a:prstGeom prst="rect">
                <a:avLst/>
              </a:prstGeom>
              <a:blipFill>
                <a:blip r:embed="rId2"/>
                <a:stretch>
                  <a:fillRect l="-8824" r="-8824" b="-1176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0CAD42-3BB4-254A-B77C-9935D7949F21}"/>
                  </a:ext>
                </a:extLst>
              </p:cNvPr>
              <p:cNvSpPr txBox="1"/>
              <p:nvPr/>
            </p:nvSpPr>
            <p:spPr>
              <a:xfrm>
                <a:off x="2994217" y="1109728"/>
                <a:ext cx="512896" cy="620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0CAD42-3BB4-254A-B77C-9935D7949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217" y="1109728"/>
                <a:ext cx="512896" cy="620747"/>
              </a:xfrm>
              <a:prstGeom prst="rect">
                <a:avLst/>
              </a:prstGeom>
              <a:blipFill>
                <a:blip r:embed="rId3"/>
                <a:stretch>
                  <a:fillRect l="-9756" t="-2000" r="-9756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7F342B2-27D1-CF47-A907-ADB350717D40}"/>
                  </a:ext>
                </a:extLst>
              </p:cNvPr>
              <p:cNvSpPr txBox="1"/>
              <p:nvPr/>
            </p:nvSpPr>
            <p:spPr>
              <a:xfrm>
                <a:off x="6725089" y="3728783"/>
                <a:ext cx="355034" cy="555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7F342B2-27D1-CF47-A907-ADB350717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089" y="3728783"/>
                <a:ext cx="355034" cy="555280"/>
              </a:xfrm>
              <a:prstGeom prst="rect">
                <a:avLst/>
              </a:prstGeom>
              <a:blipFill>
                <a:blip r:embed="rId4"/>
                <a:stretch>
                  <a:fillRect l="-13793" t="-2222" r="-689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9A8135A-490F-6F4A-B7D4-98E67B04138C}"/>
                  </a:ext>
                </a:extLst>
              </p:cNvPr>
              <p:cNvSpPr txBox="1"/>
              <p:nvPr/>
            </p:nvSpPr>
            <p:spPr>
              <a:xfrm>
                <a:off x="6554675" y="2425314"/>
                <a:ext cx="1676934" cy="34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2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sz="1632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32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32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632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632" b="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32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9A8135A-490F-6F4A-B7D4-98E67B041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675" y="2425314"/>
                <a:ext cx="1676934" cy="348044"/>
              </a:xfrm>
              <a:prstGeom prst="rect">
                <a:avLst/>
              </a:prstGeom>
              <a:blipFill>
                <a:blip r:embed="rId5"/>
                <a:stretch>
                  <a:fillRect l="-1515" r="-758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CFA246E-2145-4B48-BF03-C18548450A45}"/>
                  </a:ext>
                </a:extLst>
              </p:cNvPr>
              <p:cNvSpPr txBox="1"/>
              <p:nvPr/>
            </p:nvSpPr>
            <p:spPr>
              <a:xfrm>
                <a:off x="6456154" y="1164992"/>
                <a:ext cx="456279" cy="555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CFA246E-2145-4B48-BF03-C18548450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154" y="1164992"/>
                <a:ext cx="456279" cy="555280"/>
              </a:xfrm>
              <a:prstGeom prst="rect">
                <a:avLst/>
              </a:prstGeom>
              <a:blipFill>
                <a:blip r:embed="rId6"/>
                <a:stretch>
                  <a:fillRect l="-10811" t="-2222" r="-540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CBD079C-DC59-0340-8DA1-2C31E2C5EDF1}"/>
                  </a:ext>
                </a:extLst>
              </p:cNvPr>
              <p:cNvSpPr txBox="1"/>
              <p:nvPr/>
            </p:nvSpPr>
            <p:spPr>
              <a:xfrm>
                <a:off x="6118442" y="2149336"/>
                <a:ext cx="266035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CBD079C-DC59-0340-8DA1-2C31E2C5E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442" y="2149336"/>
                <a:ext cx="266035" cy="303288"/>
              </a:xfrm>
              <a:prstGeom prst="rect">
                <a:avLst/>
              </a:prstGeom>
              <a:blipFill>
                <a:blip r:embed="rId7"/>
                <a:stretch>
                  <a:fillRect l="-18182" r="-13636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7EB97A-F107-D54C-8BFB-D9F1635364A5}"/>
                  </a:ext>
                </a:extLst>
              </p:cNvPr>
              <p:cNvSpPr txBox="1"/>
              <p:nvPr/>
            </p:nvSpPr>
            <p:spPr>
              <a:xfrm>
                <a:off x="3708297" y="2226145"/>
                <a:ext cx="216982" cy="271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7EB97A-F107-D54C-8BFB-D9F163536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297" y="2226145"/>
                <a:ext cx="216982" cy="271100"/>
              </a:xfrm>
              <a:prstGeom prst="rect">
                <a:avLst/>
              </a:prstGeom>
              <a:blipFill>
                <a:blip r:embed="rId8"/>
                <a:stretch>
                  <a:fillRect l="-15789" r="-10526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9E19FD-459E-EC41-9559-0EA316E97BE6}"/>
                  </a:ext>
                </a:extLst>
              </p:cNvPr>
              <p:cNvSpPr txBox="1"/>
              <p:nvPr/>
            </p:nvSpPr>
            <p:spPr>
              <a:xfrm>
                <a:off x="1575713" y="2473045"/>
                <a:ext cx="581762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9E19FD-459E-EC41-9559-0EA316E97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713" y="2473045"/>
                <a:ext cx="581762" cy="303288"/>
              </a:xfrm>
              <a:prstGeom prst="rect">
                <a:avLst/>
              </a:prstGeom>
              <a:blipFill>
                <a:blip r:embed="rId9"/>
                <a:stretch>
                  <a:fillRect l="-8511" r="-8511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0A210-0518-7640-AAEB-0EC63DC4F0B0}"/>
                  </a:ext>
                </a:extLst>
              </p:cNvPr>
              <p:cNvSpPr txBox="1"/>
              <p:nvPr/>
            </p:nvSpPr>
            <p:spPr>
              <a:xfrm>
                <a:off x="4283153" y="2314686"/>
                <a:ext cx="789255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0A210-0518-7640-AAEB-0EC63DC4F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153" y="2314686"/>
                <a:ext cx="789255" cy="399084"/>
              </a:xfrm>
              <a:prstGeom prst="rect">
                <a:avLst/>
              </a:prstGeom>
              <a:blipFill>
                <a:blip r:embed="rId10"/>
                <a:stretch>
                  <a:fillRect l="-7937" r="-12698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loud Callout 13">
            <a:extLst>
              <a:ext uri="{FF2B5EF4-FFF2-40B4-BE49-F238E27FC236}">
                <a16:creationId xmlns:a16="http://schemas.microsoft.com/office/drawing/2014/main" id="{5C262FA8-EC96-014D-96E3-8DAB7BA914C2}"/>
              </a:ext>
            </a:extLst>
          </p:cNvPr>
          <p:cNvSpPr/>
          <p:nvPr/>
        </p:nvSpPr>
        <p:spPr>
          <a:xfrm>
            <a:off x="7435247" y="1536540"/>
            <a:ext cx="1303797" cy="697176"/>
          </a:xfrm>
          <a:prstGeom prst="cloudCallout">
            <a:avLst>
              <a:gd name="adj1" fmla="val -105391"/>
              <a:gd name="adj2" fmla="val 96918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/>
              <a:t>Потери на выходе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C4AC8-3142-D047-8FAD-422C49178948}"/>
              </a:ext>
            </a:extLst>
          </p:cNvPr>
          <p:cNvSpPr txBox="1"/>
          <p:nvPr/>
        </p:nvSpPr>
        <p:spPr>
          <a:xfrm>
            <a:off x="6876098" y="747640"/>
            <a:ext cx="1862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Коррекция весов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F369A623-A5A0-C749-A552-40EA0FFFD944}"/>
              </a:ext>
            </a:extLst>
          </p:cNvPr>
          <p:cNvSpPr/>
          <p:nvPr/>
        </p:nvSpPr>
        <p:spPr>
          <a:xfrm>
            <a:off x="6372799" y="3496710"/>
            <a:ext cx="1197945" cy="981923"/>
          </a:xfrm>
          <a:custGeom>
            <a:avLst/>
            <a:gdLst>
              <a:gd name="connsiteX0" fmla="*/ 582606 w 1197945"/>
              <a:gd name="connsiteY0" fmla="*/ 52369 h 981923"/>
              <a:gd name="connsiteX1" fmla="*/ 536783 w 1197945"/>
              <a:gd name="connsiteY1" fmla="*/ 58915 h 981923"/>
              <a:gd name="connsiteX2" fmla="*/ 425499 w 1197945"/>
              <a:gd name="connsiteY2" fmla="*/ 72007 h 981923"/>
              <a:gd name="connsiteX3" fmla="*/ 360037 w 1197945"/>
              <a:gd name="connsiteY3" fmla="*/ 117830 h 981923"/>
              <a:gd name="connsiteX4" fmla="*/ 340399 w 1197945"/>
              <a:gd name="connsiteY4" fmla="*/ 130922 h 981923"/>
              <a:gd name="connsiteX5" fmla="*/ 320761 w 1197945"/>
              <a:gd name="connsiteY5" fmla="*/ 150561 h 981923"/>
              <a:gd name="connsiteX6" fmla="*/ 294576 w 1197945"/>
              <a:gd name="connsiteY6" fmla="*/ 170200 h 981923"/>
              <a:gd name="connsiteX7" fmla="*/ 274938 w 1197945"/>
              <a:gd name="connsiteY7" fmla="*/ 196384 h 981923"/>
              <a:gd name="connsiteX8" fmla="*/ 229115 w 1197945"/>
              <a:gd name="connsiteY8" fmla="*/ 229115 h 981923"/>
              <a:gd name="connsiteX9" fmla="*/ 189837 w 1197945"/>
              <a:gd name="connsiteY9" fmla="*/ 268392 h 981923"/>
              <a:gd name="connsiteX10" fmla="*/ 163653 w 1197945"/>
              <a:gd name="connsiteY10" fmla="*/ 294576 h 981923"/>
              <a:gd name="connsiteX11" fmla="*/ 117830 w 1197945"/>
              <a:gd name="connsiteY11" fmla="*/ 333854 h 981923"/>
              <a:gd name="connsiteX12" fmla="*/ 104738 w 1197945"/>
              <a:gd name="connsiteY12" fmla="*/ 353492 h 981923"/>
              <a:gd name="connsiteX13" fmla="*/ 78553 w 1197945"/>
              <a:gd name="connsiteY13" fmla="*/ 379676 h 981923"/>
              <a:gd name="connsiteX14" fmla="*/ 32730 w 1197945"/>
              <a:gd name="connsiteY14" fmla="*/ 438592 h 981923"/>
              <a:gd name="connsiteX15" fmla="*/ 26184 w 1197945"/>
              <a:gd name="connsiteY15" fmla="*/ 458230 h 981923"/>
              <a:gd name="connsiteX16" fmla="*/ 13091 w 1197945"/>
              <a:gd name="connsiteY16" fmla="*/ 477868 h 981923"/>
              <a:gd name="connsiteX17" fmla="*/ 0 w 1197945"/>
              <a:gd name="connsiteY17" fmla="*/ 517146 h 981923"/>
              <a:gd name="connsiteX18" fmla="*/ 13091 w 1197945"/>
              <a:gd name="connsiteY18" fmla="*/ 621884 h 981923"/>
              <a:gd name="connsiteX19" fmla="*/ 26184 w 1197945"/>
              <a:gd name="connsiteY19" fmla="*/ 648068 h 981923"/>
              <a:gd name="connsiteX20" fmla="*/ 32730 w 1197945"/>
              <a:gd name="connsiteY20" fmla="*/ 667707 h 981923"/>
              <a:gd name="connsiteX21" fmla="*/ 45823 w 1197945"/>
              <a:gd name="connsiteY21" fmla="*/ 693892 h 981923"/>
              <a:gd name="connsiteX22" fmla="*/ 52369 w 1197945"/>
              <a:gd name="connsiteY22" fmla="*/ 713530 h 981923"/>
              <a:gd name="connsiteX23" fmla="*/ 72007 w 1197945"/>
              <a:gd name="connsiteY23" fmla="*/ 739715 h 981923"/>
              <a:gd name="connsiteX24" fmla="*/ 85099 w 1197945"/>
              <a:gd name="connsiteY24" fmla="*/ 765899 h 981923"/>
              <a:gd name="connsiteX25" fmla="*/ 144015 w 1197945"/>
              <a:gd name="connsiteY25" fmla="*/ 818268 h 981923"/>
              <a:gd name="connsiteX26" fmla="*/ 170199 w 1197945"/>
              <a:gd name="connsiteY26" fmla="*/ 837907 h 981923"/>
              <a:gd name="connsiteX27" fmla="*/ 202930 w 1197945"/>
              <a:gd name="connsiteY27" fmla="*/ 857546 h 981923"/>
              <a:gd name="connsiteX28" fmla="*/ 229115 w 1197945"/>
              <a:gd name="connsiteY28" fmla="*/ 877184 h 981923"/>
              <a:gd name="connsiteX29" fmla="*/ 248753 w 1197945"/>
              <a:gd name="connsiteY29" fmla="*/ 883730 h 981923"/>
              <a:gd name="connsiteX30" fmla="*/ 314214 w 1197945"/>
              <a:gd name="connsiteY30" fmla="*/ 923007 h 981923"/>
              <a:gd name="connsiteX31" fmla="*/ 353491 w 1197945"/>
              <a:gd name="connsiteY31" fmla="*/ 936099 h 981923"/>
              <a:gd name="connsiteX32" fmla="*/ 379676 w 1197945"/>
              <a:gd name="connsiteY32" fmla="*/ 949191 h 981923"/>
              <a:gd name="connsiteX33" fmla="*/ 477868 w 1197945"/>
              <a:gd name="connsiteY33" fmla="*/ 968830 h 981923"/>
              <a:gd name="connsiteX34" fmla="*/ 615337 w 1197945"/>
              <a:gd name="connsiteY34" fmla="*/ 981923 h 981923"/>
              <a:gd name="connsiteX35" fmla="*/ 890276 w 1197945"/>
              <a:gd name="connsiteY35" fmla="*/ 975376 h 981923"/>
              <a:gd name="connsiteX36" fmla="*/ 916460 w 1197945"/>
              <a:gd name="connsiteY36" fmla="*/ 968830 h 981923"/>
              <a:gd name="connsiteX37" fmla="*/ 975375 w 1197945"/>
              <a:gd name="connsiteY37" fmla="*/ 936099 h 981923"/>
              <a:gd name="connsiteX38" fmla="*/ 995014 w 1197945"/>
              <a:gd name="connsiteY38" fmla="*/ 929553 h 981923"/>
              <a:gd name="connsiteX39" fmla="*/ 1027745 w 1197945"/>
              <a:gd name="connsiteY39" fmla="*/ 903368 h 981923"/>
              <a:gd name="connsiteX40" fmla="*/ 1073568 w 1197945"/>
              <a:gd name="connsiteY40" fmla="*/ 870638 h 981923"/>
              <a:gd name="connsiteX41" fmla="*/ 1119391 w 1197945"/>
              <a:gd name="connsiteY41" fmla="*/ 824814 h 981923"/>
              <a:gd name="connsiteX42" fmla="*/ 1145575 w 1197945"/>
              <a:gd name="connsiteY42" fmla="*/ 798630 h 981923"/>
              <a:gd name="connsiteX43" fmla="*/ 1184852 w 1197945"/>
              <a:gd name="connsiteY43" fmla="*/ 726622 h 981923"/>
              <a:gd name="connsiteX44" fmla="*/ 1197945 w 1197945"/>
              <a:gd name="connsiteY44" fmla="*/ 680799 h 981923"/>
              <a:gd name="connsiteX45" fmla="*/ 1191399 w 1197945"/>
              <a:gd name="connsiteY45" fmla="*/ 543330 h 981923"/>
              <a:gd name="connsiteX46" fmla="*/ 1184852 w 1197945"/>
              <a:gd name="connsiteY46" fmla="*/ 523692 h 981923"/>
              <a:gd name="connsiteX47" fmla="*/ 1178306 w 1197945"/>
              <a:gd name="connsiteY47" fmla="*/ 497507 h 981923"/>
              <a:gd name="connsiteX48" fmla="*/ 1145575 w 1197945"/>
              <a:gd name="connsiteY48" fmla="*/ 458230 h 981923"/>
              <a:gd name="connsiteX49" fmla="*/ 1125937 w 1197945"/>
              <a:gd name="connsiteY49" fmla="*/ 432045 h 981923"/>
              <a:gd name="connsiteX50" fmla="*/ 1080114 w 1197945"/>
              <a:gd name="connsiteY50" fmla="*/ 399315 h 981923"/>
              <a:gd name="connsiteX51" fmla="*/ 1047383 w 1197945"/>
              <a:gd name="connsiteY51" fmla="*/ 373130 h 981923"/>
              <a:gd name="connsiteX52" fmla="*/ 995014 w 1197945"/>
              <a:gd name="connsiteY52" fmla="*/ 320761 h 981923"/>
              <a:gd name="connsiteX53" fmla="*/ 929552 w 1197945"/>
              <a:gd name="connsiteY53" fmla="*/ 268392 h 981923"/>
              <a:gd name="connsiteX54" fmla="*/ 909914 w 1197945"/>
              <a:gd name="connsiteY54" fmla="*/ 255299 h 981923"/>
              <a:gd name="connsiteX55" fmla="*/ 844453 w 1197945"/>
              <a:gd name="connsiteY55" fmla="*/ 209477 h 981923"/>
              <a:gd name="connsiteX56" fmla="*/ 818268 w 1197945"/>
              <a:gd name="connsiteY56" fmla="*/ 196384 h 981923"/>
              <a:gd name="connsiteX57" fmla="*/ 798630 w 1197945"/>
              <a:gd name="connsiteY57" fmla="*/ 176746 h 981923"/>
              <a:gd name="connsiteX58" fmla="*/ 772445 w 1197945"/>
              <a:gd name="connsiteY58" fmla="*/ 157107 h 981923"/>
              <a:gd name="connsiteX59" fmla="*/ 693891 w 1197945"/>
              <a:gd name="connsiteY59" fmla="*/ 91646 h 981923"/>
              <a:gd name="connsiteX60" fmla="*/ 615337 w 1197945"/>
              <a:gd name="connsiteY60" fmla="*/ 52369 h 981923"/>
              <a:gd name="connsiteX61" fmla="*/ 589152 w 1197945"/>
              <a:gd name="connsiteY61" fmla="*/ 39277 h 981923"/>
              <a:gd name="connsiteX62" fmla="*/ 549876 w 1197945"/>
              <a:gd name="connsiteY62" fmla="*/ 26184 h 981923"/>
              <a:gd name="connsiteX63" fmla="*/ 530237 w 1197945"/>
              <a:gd name="connsiteY63" fmla="*/ 13092 h 981923"/>
              <a:gd name="connsiteX64" fmla="*/ 477868 w 1197945"/>
              <a:gd name="connsiteY64" fmla="*/ 0 h 981923"/>
              <a:gd name="connsiteX65" fmla="*/ 274938 w 1197945"/>
              <a:gd name="connsiteY65" fmla="*/ 6545 h 981923"/>
              <a:gd name="connsiteX66" fmla="*/ 242206 w 1197945"/>
              <a:gd name="connsiteY66" fmla="*/ 13092 h 981923"/>
              <a:gd name="connsiteX67" fmla="*/ 202930 w 1197945"/>
              <a:gd name="connsiteY67" fmla="*/ 26184 h 981923"/>
              <a:gd name="connsiteX68" fmla="*/ 163653 w 1197945"/>
              <a:gd name="connsiteY68" fmla="*/ 52369 h 981923"/>
              <a:gd name="connsiteX69" fmla="*/ 144015 w 1197945"/>
              <a:gd name="connsiteY69" fmla="*/ 65461 h 981923"/>
              <a:gd name="connsiteX70" fmla="*/ 124376 w 1197945"/>
              <a:gd name="connsiteY70" fmla="*/ 85100 h 981923"/>
              <a:gd name="connsiteX71" fmla="*/ 72007 w 1197945"/>
              <a:gd name="connsiteY71" fmla="*/ 124376 h 981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197945" h="981923" extrusionOk="0">
                <a:moveTo>
                  <a:pt x="582606" y="52369"/>
                </a:moveTo>
                <a:cubicBezTo>
                  <a:pt x="565612" y="54624"/>
                  <a:pt x="553456" y="58743"/>
                  <a:pt x="536783" y="58915"/>
                </a:cubicBezTo>
                <a:cubicBezTo>
                  <a:pt x="432597" y="77845"/>
                  <a:pt x="476514" y="58152"/>
                  <a:pt x="425499" y="72007"/>
                </a:cubicBezTo>
                <a:cubicBezTo>
                  <a:pt x="329277" y="123294"/>
                  <a:pt x="432776" y="75254"/>
                  <a:pt x="360037" y="117830"/>
                </a:cubicBezTo>
                <a:cubicBezTo>
                  <a:pt x="353860" y="121568"/>
                  <a:pt x="346892" y="126723"/>
                  <a:pt x="340399" y="130922"/>
                </a:cubicBezTo>
                <a:cubicBezTo>
                  <a:pt x="335074" y="136981"/>
                  <a:pt x="328499" y="145776"/>
                  <a:pt x="320761" y="150561"/>
                </a:cubicBezTo>
                <a:cubicBezTo>
                  <a:pt x="312635" y="159115"/>
                  <a:pt x="302018" y="163390"/>
                  <a:pt x="294576" y="170200"/>
                </a:cubicBezTo>
                <a:cubicBezTo>
                  <a:pt x="287329" y="177292"/>
                  <a:pt x="281192" y="189011"/>
                  <a:pt x="274938" y="196384"/>
                </a:cubicBezTo>
                <a:cubicBezTo>
                  <a:pt x="267314" y="204438"/>
                  <a:pt x="241632" y="220761"/>
                  <a:pt x="229115" y="229115"/>
                </a:cubicBezTo>
                <a:cubicBezTo>
                  <a:pt x="206693" y="265964"/>
                  <a:pt x="230183" y="235601"/>
                  <a:pt x="189837" y="268392"/>
                </a:cubicBezTo>
                <a:cubicBezTo>
                  <a:pt x="180590" y="276827"/>
                  <a:pt x="173976" y="284589"/>
                  <a:pt x="163653" y="294576"/>
                </a:cubicBezTo>
                <a:cubicBezTo>
                  <a:pt x="136609" y="317729"/>
                  <a:pt x="139607" y="307834"/>
                  <a:pt x="117830" y="333854"/>
                </a:cubicBezTo>
                <a:cubicBezTo>
                  <a:pt x="111507" y="339391"/>
                  <a:pt x="108721" y="347376"/>
                  <a:pt x="104738" y="353492"/>
                </a:cubicBezTo>
                <a:cubicBezTo>
                  <a:pt x="96207" y="363026"/>
                  <a:pt x="87496" y="370072"/>
                  <a:pt x="78553" y="379676"/>
                </a:cubicBezTo>
                <a:cubicBezTo>
                  <a:pt x="13561" y="453793"/>
                  <a:pt x="84510" y="391381"/>
                  <a:pt x="32730" y="438592"/>
                </a:cubicBezTo>
                <a:cubicBezTo>
                  <a:pt x="30008" y="444789"/>
                  <a:pt x="30439" y="452688"/>
                  <a:pt x="26184" y="458230"/>
                </a:cubicBezTo>
                <a:cubicBezTo>
                  <a:pt x="23366" y="463967"/>
                  <a:pt x="16304" y="470839"/>
                  <a:pt x="13091" y="477868"/>
                </a:cubicBezTo>
                <a:cubicBezTo>
                  <a:pt x="7487" y="490478"/>
                  <a:pt x="0" y="517145"/>
                  <a:pt x="0" y="517146"/>
                </a:cubicBezTo>
                <a:cubicBezTo>
                  <a:pt x="3638" y="529301"/>
                  <a:pt x="6225" y="599216"/>
                  <a:pt x="13091" y="621884"/>
                </a:cubicBezTo>
                <a:cubicBezTo>
                  <a:pt x="16426" y="629504"/>
                  <a:pt x="22311" y="639814"/>
                  <a:pt x="26184" y="648068"/>
                </a:cubicBezTo>
                <a:cubicBezTo>
                  <a:pt x="28764" y="654443"/>
                  <a:pt x="29963" y="661284"/>
                  <a:pt x="32730" y="667707"/>
                </a:cubicBezTo>
                <a:cubicBezTo>
                  <a:pt x="36817" y="676676"/>
                  <a:pt x="43482" y="686166"/>
                  <a:pt x="45823" y="693892"/>
                </a:cubicBezTo>
                <a:cubicBezTo>
                  <a:pt x="47371" y="700894"/>
                  <a:pt x="49777" y="708072"/>
                  <a:pt x="52369" y="713530"/>
                </a:cubicBezTo>
                <a:cubicBezTo>
                  <a:pt x="57793" y="723973"/>
                  <a:pt x="66129" y="729474"/>
                  <a:pt x="72007" y="739715"/>
                </a:cubicBezTo>
                <a:cubicBezTo>
                  <a:pt x="77580" y="747557"/>
                  <a:pt x="78724" y="757793"/>
                  <a:pt x="85099" y="765899"/>
                </a:cubicBezTo>
                <a:cubicBezTo>
                  <a:pt x="116137" y="804900"/>
                  <a:pt x="114521" y="797576"/>
                  <a:pt x="144015" y="818268"/>
                </a:cubicBezTo>
                <a:cubicBezTo>
                  <a:pt x="154200" y="824754"/>
                  <a:pt x="159819" y="833257"/>
                  <a:pt x="170199" y="837907"/>
                </a:cubicBezTo>
                <a:cubicBezTo>
                  <a:pt x="182046" y="844249"/>
                  <a:pt x="189815" y="850361"/>
                  <a:pt x="202930" y="857546"/>
                </a:cubicBezTo>
                <a:cubicBezTo>
                  <a:pt x="212874" y="862332"/>
                  <a:pt x="219278" y="871347"/>
                  <a:pt x="229115" y="877184"/>
                </a:cubicBezTo>
                <a:cubicBezTo>
                  <a:pt x="234990" y="880622"/>
                  <a:pt x="242590" y="881658"/>
                  <a:pt x="248753" y="883730"/>
                </a:cubicBezTo>
                <a:cubicBezTo>
                  <a:pt x="287955" y="906611"/>
                  <a:pt x="278133" y="909550"/>
                  <a:pt x="314214" y="923007"/>
                </a:cubicBezTo>
                <a:cubicBezTo>
                  <a:pt x="326370" y="925721"/>
                  <a:pt x="340875" y="929672"/>
                  <a:pt x="353491" y="936099"/>
                </a:cubicBezTo>
                <a:cubicBezTo>
                  <a:pt x="361830" y="942167"/>
                  <a:pt x="370035" y="945832"/>
                  <a:pt x="379676" y="949191"/>
                </a:cubicBezTo>
                <a:cubicBezTo>
                  <a:pt x="423430" y="963666"/>
                  <a:pt x="434908" y="959987"/>
                  <a:pt x="477868" y="968830"/>
                </a:cubicBezTo>
                <a:cubicBezTo>
                  <a:pt x="583075" y="967587"/>
                  <a:pt x="414272" y="970292"/>
                  <a:pt x="615337" y="981923"/>
                </a:cubicBezTo>
                <a:cubicBezTo>
                  <a:pt x="749237" y="984868"/>
                  <a:pt x="771441" y="983695"/>
                  <a:pt x="890276" y="975376"/>
                </a:cubicBezTo>
                <a:cubicBezTo>
                  <a:pt x="899175" y="974725"/>
                  <a:pt x="909161" y="973056"/>
                  <a:pt x="916460" y="968830"/>
                </a:cubicBezTo>
                <a:cubicBezTo>
                  <a:pt x="941559" y="960530"/>
                  <a:pt x="951018" y="947710"/>
                  <a:pt x="975375" y="936099"/>
                </a:cubicBezTo>
                <a:cubicBezTo>
                  <a:pt x="982025" y="933505"/>
                  <a:pt x="988011" y="930580"/>
                  <a:pt x="995014" y="929553"/>
                </a:cubicBezTo>
                <a:cubicBezTo>
                  <a:pt x="1005295" y="921651"/>
                  <a:pt x="1017332" y="911353"/>
                  <a:pt x="1027745" y="903368"/>
                </a:cubicBezTo>
                <a:cubicBezTo>
                  <a:pt x="1048254" y="888326"/>
                  <a:pt x="1052842" y="890213"/>
                  <a:pt x="1073568" y="870638"/>
                </a:cubicBezTo>
                <a:cubicBezTo>
                  <a:pt x="1091594" y="857083"/>
                  <a:pt x="1103589" y="841978"/>
                  <a:pt x="1119391" y="824814"/>
                </a:cubicBezTo>
                <a:cubicBezTo>
                  <a:pt x="1127593" y="818447"/>
                  <a:pt x="1137299" y="808871"/>
                  <a:pt x="1145575" y="798630"/>
                </a:cubicBezTo>
                <a:cubicBezTo>
                  <a:pt x="1161769" y="770622"/>
                  <a:pt x="1172027" y="753937"/>
                  <a:pt x="1184852" y="726622"/>
                </a:cubicBezTo>
                <a:cubicBezTo>
                  <a:pt x="1196252" y="697544"/>
                  <a:pt x="1190571" y="710925"/>
                  <a:pt x="1197945" y="680799"/>
                </a:cubicBezTo>
                <a:cubicBezTo>
                  <a:pt x="1191598" y="641735"/>
                  <a:pt x="1189775" y="587480"/>
                  <a:pt x="1191399" y="543330"/>
                </a:cubicBezTo>
                <a:cubicBezTo>
                  <a:pt x="1190563" y="536766"/>
                  <a:pt x="1186718" y="529964"/>
                  <a:pt x="1184852" y="523692"/>
                </a:cubicBezTo>
                <a:cubicBezTo>
                  <a:pt x="1181742" y="513662"/>
                  <a:pt x="1182066" y="505509"/>
                  <a:pt x="1178306" y="497507"/>
                </a:cubicBezTo>
                <a:cubicBezTo>
                  <a:pt x="1168671" y="476305"/>
                  <a:pt x="1158568" y="473746"/>
                  <a:pt x="1145575" y="458230"/>
                </a:cubicBezTo>
                <a:cubicBezTo>
                  <a:pt x="1138463" y="450901"/>
                  <a:pt x="1132784" y="437831"/>
                  <a:pt x="1125937" y="432045"/>
                </a:cubicBezTo>
                <a:cubicBezTo>
                  <a:pt x="1110801" y="418544"/>
                  <a:pt x="1098254" y="411206"/>
                  <a:pt x="1080114" y="399315"/>
                </a:cubicBezTo>
                <a:cubicBezTo>
                  <a:pt x="1068242" y="391586"/>
                  <a:pt x="1056038" y="383166"/>
                  <a:pt x="1047383" y="373130"/>
                </a:cubicBezTo>
                <a:cubicBezTo>
                  <a:pt x="1028756" y="356869"/>
                  <a:pt x="1014134" y="334257"/>
                  <a:pt x="995014" y="320761"/>
                </a:cubicBezTo>
                <a:cubicBezTo>
                  <a:pt x="912209" y="271519"/>
                  <a:pt x="984184" y="326443"/>
                  <a:pt x="929552" y="268392"/>
                </a:cubicBezTo>
                <a:cubicBezTo>
                  <a:pt x="923358" y="263057"/>
                  <a:pt x="917687" y="259285"/>
                  <a:pt x="909914" y="255299"/>
                </a:cubicBezTo>
                <a:cubicBezTo>
                  <a:pt x="890752" y="242489"/>
                  <a:pt x="864593" y="217403"/>
                  <a:pt x="844453" y="209477"/>
                </a:cubicBezTo>
                <a:cubicBezTo>
                  <a:pt x="836048" y="205294"/>
                  <a:pt x="824548" y="201633"/>
                  <a:pt x="818268" y="196384"/>
                </a:cubicBezTo>
                <a:cubicBezTo>
                  <a:pt x="810546" y="191515"/>
                  <a:pt x="804979" y="184186"/>
                  <a:pt x="798630" y="176746"/>
                </a:cubicBezTo>
                <a:cubicBezTo>
                  <a:pt x="790589" y="169116"/>
                  <a:pt x="781331" y="165215"/>
                  <a:pt x="772445" y="157107"/>
                </a:cubicBezTo>
                <a:cubicBezTo>
                  <a:pt x="742376" y="130429"/>
                  <a:pt x="739458" y="115489"/>
                  <a:pt x="693891" y="91646"/>
                </a:cubicBezTo>
                <a:cubicBezTo>
                  <a:pt x="655755" y="73018"/>
                  <a:pt x="641215" y="64622"/>
                  <a:pt x="615337" y="52369"/>
                </a:cubicBezTo>
                <a:cubicBezTo>
                  <a:pt x="605260" y="47514"/>
                  <a:pt x="599862" y="42460"/>
                  <a:pt x="589152" y="39277"/>
                </a:cubicBezTo>
                <a:cubicBezTo>
                  <a:pt x="576939" y="36374"/>
                  <a:pt x="563039" y="31726"/>
                  <a:pt x="549876" y="26184"/>
                </a:cubicBezTo>
                <a:cubicBezTo>
                  <a:pt x="542714" y="22045"/>
                  <a:pt x="537705" y="16870"/>
                  <a:pt x="530237" y="13092"/>
                </a:cubicBezTo>
                <a:cubicBezTo>
                  <a:pt x="517246" y="6734"/>
                  <a:pt x="490463" y="1591"/>
                  <a:pt x="477868" y="0"/>
                </a:cubicBezTo>
                <a:cubicBezTo>
                  <a:pt x="405211" y="7139"/>
                  <a:pt x="341224" y="14550"/>
                  <a:pt x="274938" y="6545"/>
                </a:cubicBezTo>
                <a:cubicBezTo>
                  <a:pt x="264217" y="7566"/>
                  <a:pt x="251741" y="9078"/>
                  <a:pt x="242206" y="13092"/>
                </a:cubicBezTo>
                <a:cubicBezTo>
                  <a:pt x="228891" y="16723"/>
                  <a:pt x="202931" y="26184"/>
                  <a:pt x="202930" y="26184"/>
                </a:cubicBezTo>
                <a:cubicBezTo>
                  <a:pt x="193807" y="29209"/>
                  <a:pt x="175896" y="48022"/>
                  <a:pt x="163653" y="52369"/>
                </a:cubicBezTo>
                <a:cubicBezTo>
                  <a:pt x="157013" y="55247"/>
                  <a:pt x="149237" y="60188"/>
                  <a:pt x="144015" y="65461"/>
                </a:cubicBezTo>
                <a:cubicBezTo>
                  <a:pt x="137675" y="70607"/>
                  <a:pt x="131488" y="79087"/>
                  <a:pt x="124376" y="85100"/>
                </a:cubicBezTo>
                <a:cubicBezTo>
                  <a:pt x="53116" y="129678"/>
                  <a:pt x="106492" y="94857"/>
                  <a:pt x="72007" y="124376"/>
                </a:cubicBezTo>
              </a:path>
            </a:pathLst>
          </a:custGeom>
          <a:noFill/>
          <a:ln w="28575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856648 w 1761423"/>
                      <a:gd name="connsiteY0" fmla="*/ 77002 h 1443790"/>
                      <a:gd name="connsiteX1" fmla="*/ 789271 w 1761423"/>
                      <a:gd name="connsiteY1" fmla="*/ 86627 h 1443790"/>
                      <a:gd name="connsiteX2" fmla="*/ 625642 w 1761423"/>
                      <a:gd name="connsiteY2" fmla="*/ 105878 h 1443790"/>
                      <a:gd name="connsiteX3" fmla="*/ 529389 w 1761423"/>
                      <a:gd name="connsiteY3" fmla="*/ 173255 h 1443790"/>
                      <a:gd name="connsiteX4" fmla="*/ 500513 w 1761423"/>
                      <a:gd name="connsiteY4" fmla="*/ 192505 h 1443790"/>
                      <a:gd name="connsiteX5" fmla="*/ 471638 w 1761423"/>
                      <a:gd name="connsiteY5" fmla="*/ 221381 h 1443790"/>
                      <a:gd name="connsiteX6" fmla="*/ 433137 w 1761423"/>
                      <a:gd name="connsiteY6" fmla="*/ 250257 h 1443790"/>
                      <a:gd name="connsiteX7" fmla="*/ 404261 w 1761423"/>
                      <a:gd name="connsiteY7" fmla="*/ 288758 h 1443790"/>
                      <a:gd name="connsiteX8" fmla="*/ 336884 w 1761423"/>
                      <a:gd name="connsiteY8" fmla="*/ 336884 h 1443790"/>
                      <a:gd name="connsiteX9" fmla="*/ 279132 w 1761423"/>
                      <a:gd name="connsiteY9" fmla="*/ 394636 h 1443790"/>
                      <a:gd name="connsiteX10" fmla="*/ 240631 w 1761423"/>
                      <a:gd name="connsiteY10" fmla="*/ 433137 h 1443790"/>
                      <a:gd name="connsiteX11" fmla="*/ 173254 w 1761423"/>
                      <a:gd name="connsiteY11" fmla="*/ 490889 h 1443790"/>
                      <a:gd name="connsiteX12" fmla="*/ 154004 w 1761423"/>
                      <a:gd name="connsiteY12" fmla="*/ 519764 h 1443790"/>
                      <a:gd name="connsiteX13" fmla="*/ 115503 w 1761423"/>
                      <a:gd name="connsiteY13" fmla="*/ 558265 h 1443790"/>
                      <a:gd name="connsiteX14" fmla="*/ 48126 w 1761423"/>
                      <a:gd name="connsiteY14" fmla="*/ 644893 h 1443790"/>
                      <a:gd name="connsiteX15" fmla="*/ 38501 w 1761423"/>
                      <a:gd name="connsiteY15" fmla="*/ 673769 h 1443790"/>
                      <a:gd name="connsiteX16" fmla="*/ 19250 w 1761423"/>
                      <a:gd name="connsiteY16" fmla="*/ 702644 h 1443790"/>
                      <a:gd name="connsiteX17" fmla="*/ 0 w 1761423"/>
                      <a:gd name="connsiteY17" fmla="*/ 760396 h 1443790"/>
                      <a:gd name="connsiteX18" fmla="*/ 19250 w 1761423"/>
                      <a:gd name="connsiteY18" fmla="*/ 914400 h 1443790"/>
                      <a:gd name="connsiteX19" fmla="*/ 38501 w 1761423"/>
                      <a:gd name="connsiteY19" fmla="*/ 952901 h 1443790"/>
                      <a:gd name="connsiteX20" fmla="*/ 48126 w 1761423"/>
                      <a:gd name="connsiteY20" fmla="*/ 981777 h 1443790"/>
                      <a:gd name="connsiteX21" fmla="*/ 67377 w 1761423"/>
                      <a:gd name="connsiteY21" fmla="*/ 1020278 h 1443790"/>
                      <a:gd name="connsiteX22" fmla="*/ 77002 w 1761423"/>
                      <a:gd name="connsiteY22" fmla="*/ 1049154 h 1443790"/>
                      <a:gd name="connsiteX23" fmla="*/ 105878 w 1761423"/>
                      <a:gd name="connsiteY23" fmla="*/ 1087655 h 1443790"/>
                      <a:gd name="connsiteX24" fmla="*/ 125128 w 1761423"/>
                      <a:gd name="connsiteY24" fmla="*/ 1126156 h 1443790"/>
                      <a:gd name="connsiteX25" fmla="*/ 211756 w 1761423"/>
                      <a:gd name="connsiteY25" fmla="*/ 1203158 h 1443790"/>
                      <a:gd name="connsiteX26" fmla="*/ 250257 w 1761423"/>
                      <a:gd name="connsiteY26" fmla="*/ 1232034 h 1443790"/>
                      <a:gd name="connsiteX27" fmla="*/ 298383 w 1761423"/>
                      <a:gd name="connsiteY27" fmla="*/ 1260910 h 1443790"/>
                      <a:gd name="connsiteX28" fmla="*/ 336884 w 1761423"/>
                      <a:gd name="connsiteY28" fmla="*/ 1289785 h 1443790"/>
                      <a:gd name="connsiteX29" fmla="*/ 365760 w 1761423"/>
                      <a:gd name="connsiteY29" fmla="*/ 1299411 h 1443790"/>
                      <a:gd name="connsiteX30" fmla="*/ 462012 w 1761423"/>
                      <a:gd name="connsiteY30" fmla="*/ 1357162 h 1443790"/>
                      <a:gd name="connsiteX31" fmla="*/ 519764 w 1761423"/>
                      <a:gd name="connsiteY31" fmla="*/ 1376413 h 1443790"/>
                      <a:gd name="connsiteX32" fmla="*/ 558265 w 1761423"/>
                      <a:gd name="connsiteY32" fmla="*/ 1395663 h 1443790"/>
                      <a:gd name="connsiteX33" fmla="*/ 702644 w 1761423"/>
                      <a:gd name="connsiteY33" fmla="*/ 1424539 h 1443790"/>
                      <a:gd name="connsiteX34" fmla="*/ 904774 w 1761423"/>
                      <a:gd name="connsiteY34" fmla="*/ 1443790 h 1443790"/>
                      <a:gd name="connsiteX35" fmla="*/ 1309036 w 1761423"/>
                      <a:gd name="connsiteY35" fmla="*/ 1434164 h 1443790"/>
                      <a:gd name="connsiteX36" fmla="*/ 1347537 w 1761423"/>
                      <a:gd name="connsiteY36" fmla="*/ 1424539 h 1443790"/>
                      <a:gd name="connsiteX37" fmla="*/ 1434164 w 1761423"/>
                      <a:gd name="connsiteY37" fmla="*/ 1376413 h 1443790"/>
                      <a:gd name="connsiteX38" fmla="*/ 1463040 w 1761423"/>
                      <a:gd name="connsiteY38" fmla="*/ 1366787 h 1443790"/>
                      <a:gd name="connsiteX39" fmla="*/ 1511166 w 1761423"/>
                      <a:gd name="connsiteY39" fmla="*/ 1328286 h 1443790"/>
                      <a:gd name="connsiteX40" fmla="*/ 1578543 w 1761423"/>
                      <a:gd name="connsiteY40" fmla="*/ 1280160 h 1443790"/>
                      <a:gd name="connsiteX41" fmla="*/ 1645920 w 1761423"/>
                      <a:gd name="connsiteY41" fmla="*/ 1212783 h 1443790"/>
                      <a:gd name="connsiteX42" fmla="*/ 1684421 w 1761423"/>
                      <a:gd name="connsiteY42" fmla="*/ 1174282 h 1443790"/>
                      <a:gd name="connsiteX43" fmla="*/ 1742172 w 1761423"/>
                      <a:gd name="connsiteY43" fmla="*/ 1068404 h 1443790"/>
                      <a:gd name="connsiteX44" fmla="*/ 1761423 w 1761423"/>
                      <a:gd name="connsiteY44" fmla="*/ 1001027 h 1443790"/>
                      <a:gd name="connsiteX45" fmla="*/ 1751798 w 1761423"/>
                      <a:gd name="connsiteY45" fmla="*/ 798897 h 1443790"/>
                      <a:gd name="connsiteX46" fmla="*/ 1742172 w 1761423"/>
                      <a:gd name="connsiteY46" fmla="*/ 770021 h 1443790"/>
                      <a:gd name="connsiteX47" fmla="*/ 1732547 w 1761423"/>
                      <a:gd name="connsiteY47" fmla="*/ 731520 h 1443790"/>
                      <a:gd name="connsiteX48" fmla="*/ 1684421 w 1761423"/>
                      <a:gd name="connsiteY48" fmla="*/ 673769 h 1443790"/>
                      <a:gd name="connsiteX49" fmla="*/ 1655545 w 1761423"/>
                      <a:gd name="connsiteY49" fmla="*/ 635267 h 1443790"/>
                      <a:gd name="connsiteX50" fmla="*/ 1588168 w 1761423"/>
                      <a:gd name="connsiteY50" fmla="*/ 587141 h 1443790"/>
                      <a:gd name="connsiteX51" fmla="*/ 1540042 w 1761423"/>
                      <a:gd name="connsiteY51" fmla="*/ 548640 h 1443790"/>
                      <a:gd name="connsiteX52" fmla="*/ 1463040 w 1761423"/>
                      <a:gd name="connsiteY52" fmla="*/ 471638 h 1443790"/>
                      <a:gd name="connsiteX53" fmla="*/ 1366787 w 1761423"/>
                      <a:gd name="connsiteY53" fmla="*/ 394636 h 1443790"/>
                      <a:gd name="connsiteX54" fmla="*/ 1337911 w 1761423"/>
                      <a:gd name="connsiteY54" fmla="*/ 375385 h 1443790"/>
                      <a:gd name="connsiteX55" fmla="*/ 1241659 w 1761423"/>
                      <a:gd name="connsiteY55" fmla="*/ 308009 h 1443790"/>
                      <a:gd name="connsiteX56" fmla="*/ 1203158 w 1761423"/>
                      <a:gd name="connsiteY56" fmla="*/ 288758 h 1443790"/>
                      <a:gd name="connsiteX57" fmla="*/ 1174282 w 1761423"/>
                      <a:gd name="connsiteY57" fmla="*/ 259882 h 1443790"/>
                      <a:gd name="connsiteX58" fmla="*/ 1135781 w 1761423"/>
                      <a:gd name="connsiteY58" fmla="*/ 231006 h 1443790"/>
                      <a:gd name="connsiteX59" fmla="*/ 1020278 w 1761423"/>
                      <a:gd name="connsiteY59" fmla="*/ 134754 h 1443790"/>
                      <a:gd name="connsiteX60" fmla="*/ 904774 w 1761423"/>
                      <a:gd name="connsiteY60" fmla="*/ 77002 h 1443790"/>
                      <a:gd name="connsiteX61" fmla="*/ 866273 w 1761423"/>
                      <a:gd name="connsiteY61" fmla="*/ 57752 h 1443790"/>
                      <a:gd name="connsiteX62" fmla="*/ 808522 w 1761423"/>
                      <a:gd name="connsiteY62" fmla="*/ 38501 h 1443790"/>
                      <a:gd name="connsiteX63" fmla="*/ 779646 w 1761423"/>
                      <a:gd name="connsiteY63" fmla="*/ 19251 h 1443790"/>
                      <a:gd name="connsiteX64" fmla="*/ 702644 w 1761423"/>
                      <a:gd name="connsiteY64" fmla="*/ 0 h 1443790"/>
                      <a:gd name="connsiteX65" fmla="*/ 404261 w 1761423"/>
                      <a:gd name="connsiteY65" fmla="*/ 9625 h 1443790"/>
                      <a:gd name="connsiteX66" fmla="*/ 356134 w 1761423"/>
                      <a:gd name="connsiteY66" fmla="*/ 19251 h 1443790"/>
                      <a:gd name="connsiteX67" fmla="*/ 298383 w 1761423"/>
                      <a:gd name="connsiteY67" fmla="*/ 38501 h 1443790"/>
                      <a:gd name="connsiteX68" fmla="*/ 240631 w 1761423"/>
                      <a:gd name="connsiteY68" fmla="*/ 77002 h 1443790"/>
                      <a:gd name="connsiteX69" fmla="*/ 211756 w 1761423"/>
                      <a:gd name="connsiteY69" fmla="*/ 96253 h 1443790"/>
                      <a:gd name="connsiteX70" fmla="*/ 182880 w 1761423"/>
                      <a:gd name="connsiteY70" fmla="*/ 125129 h 1443790"/>
                      <a:gd name="connsiteX71" fmla="*/ 105878 w 1761423"/>
                      <a:gd name="connsiteY71" fmla="*/ 182880 h 1443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</a:cxnLst>
                    <a:rect l="l" t="t" r="r" b="b"/>
                    <a:pathLst>
                      <a:path w="1761423" h="1443790">
                        <a:moveTo>
                          <a:pt x="856648" y="77002"/>
                        </a:moveTo>
                        <a:cubicBezTo>
                          <a:pt x="834189" y="80210"/>
                          <a:pt x="811856" y="84476"/>
                          <a:pt x="789271" y="86627"/>
                        </a:cubicBezTo>
                        <a:cubicBezTo>
                          <a:pt x="629912" y="101804"/>
                          <a:pt x="700503" y="80925"/>
                          <a:pt x="625642" y="105878"/>
                        </a:cubicBezTo>
                        <a:cubicBezTo>
                          <a:pt x="492853" y="194403"/>
                          <a:pt x="629172" y="101982"/>
                          <a:pt x="529389" y="173255"/>
                        </a:cubicBezTo>
                        <a:cubicBezTo>
                          <a:pt x="519976" y="179979"/>
                          <a:pt x="509400" y="185099"/>
                          <a:pt x="500513" y="192505"/>
                        </a:cubicBezTo>
                        <a:cubicBezTo>
                          <a:pt x="490056" y="201219"/>
                          <a:pt x="481973" y="212522"/>
                          <a:pt x="471638" y="221381"/>
                        </a:cubicBezTo>
                        <a:cubicBezTo>
                          <a:pt x="459458" y="231821"/>
                          <a:pt x="444481" y="238913"/>
                          <a:pt x="433137" y="250257"/>
                        </a:cubicBezTo>
                        <a:cubicBezTo>
                          <a:pt x="421793" y="261601"/>
                          <a:pt x="415605" y="277414"/>
                          <a:pt x="404261" y="288758"/>
                        </a:cubicBezTo>
                        <a:cubicBezTo>
                          <a:pt x="392319" y="300700"/>
                          <a:pt x="353283" y="325952"/>
                          <a:pt x="336884" y="336884"/>
                        </a:cubicBezTo>
                        <a:cubicBezTo>
                          <a:pt x="301847" y="389439"/>
                          <a:pt x="336439" y="344492"/>
                          <a:pt x="279132" y="394636"/>
                        </a:cubicBezTo>
                        <a:cubicBezTo>
                          <a:pt x="265473" y="406588"/>
                          <a:pt x="254290" y="421185"/>
                          <a:pt x="240631" y="433137"/>
                        </a:cubicBezTo>
                        <a:cubicBezTo>
                          <a:pt x="201412" y="467453"/>
                          <a:pt x="204842" y="452983"/>
                          <a:pt x="173254" y="490889"/>
                        </a:cubicBezTo>
                        <a:cubicBezTo>
                          <a:pt x="165848" y="499776"/>
                          <a:pt x="161532" y="510981"/>
                          <a:pt x="154004" y="519764"/>
                        </a:cubicBezTo>
                        <a:cubicBezTo>
                          <a:pt x="142192" y="533544"/>
                          <a:pt x="126841" y="544093"/>
                          <a:pt x="115503" y="558265"/>
                        </a:cubicBezTo>
                        <a:cubicBezTo>
                          <a:pt x="23400" y="673395"/>
                          <a:pt x="120456" y="572563"/>
                          <a:pt x="48126" y="644893"/>
                        </a:cubicBezTo>
                        <a:cubicBezTo>
                          <a:pt x="44918" y="654518"/>
                          <a:pt x="43038" y="664694"/>
                          <a:pt x="38501" y="673769"/>
                        </a:cubicBezTo>
                        <a:cubicBezTo>
                          <a:pt x="33328" y="684116"/>
                          <a:pt x="23948" y="692073"/>
                          <a:pt x="19250" y="702644"/>
                        </a:cubicBezTo>
                        <a:cubicBezTo>
                          <a:pt x="11009" y="721187"/>
                          <a:pt x="0" y="760396"/>
                          <a:pt x="0" y="760396"/>
                        </a:cubicBezTo>
                        <a:cubicBezTo>
                          <a:pt x="2130" y="783824"/>
                          <a:pt x="6819" y="877107"/>
                          <a:pt x="19250" y="914400"/>
                        </a:cubicBezTo>
                        <a:cubicBezTo>
                          <a:pt x="23787" y="928012"/>
                          <a:pt x="32849" y="939713"/>
                          <a:pt x="38501" y="952901"/>
                        </a:cubicBezTo>
                        <a:cubicBezTo>
                          <a:pt x="42498" y="962227"/>
                          <a:pt x="44129" y="972451"/>
                          <a:pt x="48126" y="981777"/>
                        </a:cubicBezTo>
                        <a:cubicBezTo>
                          <a:pt x="53778" y="994965"/>
                          <a:pt x="61725" y="1007090"/>
                          <a:pt x="67377" y="1020278"/>
                        </a:cubicBezTo>
                        <a:cubicBezTo>
                          <a:pt x="71374" y="1029604"/>
                          <a:pt x="71968" y="1040345"/>
                          <a:pt x="77002" y="1049154"/>
                        </a:cubicBezTo>
                        <a:cubicBezTo>
                          <a:pt x="84961" y="1063082"/>
                          <a:pt x="97376" y="1074051"/>
                          <a:pt x="105878" y="1087655"/>
                        </a:cubicBezTo>
                        <a:cubicBezTo>
                          <a:pt x="113483" y="1099822"/>
                          <a:pt x="116165" y="1114952"/>
                          <a:pt x="125128" y="1126156"/>
                        </a:cubicBezTo>
                        <a:cubicBezTo>
                          <a:pt x="171068" y="1183581"/>
                          <a:pt x="168723" y="1172420"/>
                          <a:pt x="211756" y="1203158"/>
                        </a:cubicBezTo>
                        <a:cubicBezTo>
                          <a:pt x="224810" y="1212482"/>
                          <a:pt x="236909" y="1223135"/>
                          <a:pt x="250257" y="1232034"/>
                        </a:cubicBezTo>
                        <a:cubicBezTo>
                          <a:pt x="265823" y="1242411"/>
                          <a:pt x="282817" y="1250533"/>
                          <a:pt x="298383" y="1260910"/>
                        </a:cubicBezTo>
                        <a:cubicBezTo>
                          <a:pt x="311731" y="1269808"/>
                          <a:pt x="322956" y="1281826"/>
                          <a:pt x="336884" y="1289785"/>
                        </a:cubicBezTo>
                        <a:cubicBezTo>
                          <a:pt x="345693" y="1294819"/>
                          <a:pt x="356891" y="1294484"/>
                          <a:pt x="365760" y="1299411"/>
                        </a:cubicBezTo>
                        <a:cubicBezTo>
                          <a:pt x="423874" y="1331697"/>
                          <a:pt x="409996" y="1336356"/>
                          <a:pt x="462012" y="1357162"/>
                        </a:cubicBezTo>
                        <a:cubicBezTo>
                          <a:pt x="480853" y="1364698"/>
                          <a:pt x="501614" y="1367338"/>
                          <a:pt x="519764" y="1376413"/>
                        </a:cubicBezTo>
                        <a:cubicBezTo>
                          <a:pt x="532598" y="1382830"/>
                          <a:pt x="544653" y="1391126"/>
                          <a:pt x="558265" y="1395663"/>
                        </a:cubicBezTo>
                        <a:cubicBezTo>
                          <a:pt x="623364" y="1417363"/>
                          <a:pt x="638156" y="1413791"/>
                          <a:pt x="702644" y="1424539"/>
                        </a:cubicBezTo>
                        <a:cubicBezTo>
                          <a:pt x="832749" y="1446223"/>
                          <a:pt x="635272" y="1426945"/>
                          <a:pt x="904774" y="1443790"/>
                        </a:cubicBezTo>
                        <a:lnTo>
                          <a:pt x="1309036" y="1434164"/>
                        </a:lnTo>
                        <a:cubicBezTo>
                          <a:pt x="1322252" y="1433589"/>
                          <a:pt x="1335151" y="1429184"/>
                          <a:pt x="1347537" y="1424539"/>
                        </a:cubicBezTo>
                        <a:cubicBezTo>
                          <a:pt x="1384618" y="1410634"/>
                          <a:pt x="1397404" y="1394794"/>
                          <a:pt x="1434164" y="1376413"/>
                        </a:cubicBezTo>
                        <a:cubicBezTo>
                          <a:pt x="1443239" y="1371875"/>
                          <a:pt x="1453415" y="1369996"/>
                          <a:pt x="1463040" y="1366787"/>
                        </a:cubicBezTo>
                        <a:cubicBezTo>
                          <a:pt x="1479082" y="1353953"/>
                          <a:pt x="1494731" y="1340612"/>
                          <a:pt x="1511166" y="1328286"/>
                        </a:cubicBezTo>
                        <a:cubicBezTo>
                          <a:pt x="1541077" y="1305853"/>
                          <a:pt x="1547863" y="1308051"/>
                          <a:pt x="1578543" y="1280160"/>
                        </a:cubicBezTo>
                        <a:cubicBezTo>
                          <a:pt x="1602045" y="1258795"/>
                          <a:pt x="1623461" y="1235242"/>
                          <a:pt x="1645920" y="1212783"/>
                        </a:cubicBezTo>
                        <a:cubicBezTo>
                          <a:pt x="1658754" y="1199949"/>
                          <a:pt x="1674354" y="1189383"/>
                          <a:pt x="1684421" y="1174282"/>
                        </a:cubicBezTo>
                        <a:cubicBezTo>
                          <a:pt x="1707853" y="1139134"/>
                          <a:pt x="1727612" y="1112080"/>
                          <a:pt x="1742172" y="1068404"/>
                        </a:cubicBezTo>
                        <a:cubicBezTo>
                          <a:pt x="1755982" y="1026979"/>
                          <a:pt x="1749337" y="1049372"/>
                          <a:pt x="1761423" y="1001027"/>
                        </a:cubicBezTo>
                        <a:cubicBezTo>
                          <a:pt x="1758215" y="933650"/>
                          <a:pt x="1757400" y="866117"/>
                          <a:pt x="1751798" y="798897"/>
                        </a:cubicBezTo>
                        <a:cubicBezTo>
                          <a:pt x="1750955" y="788786"/>
                          <a:pt x="1744959" y="779777"/>
                          <a:pt x="1742172" y="770021"/>
                        </a:cubicBezTo>
                        <a:cubicBezTo>
                          <a:pt x="1738538" y="757301"/>
                          <a:pt x="1737758" y="743679"/>
                          <a:pt x="1732547" y="731520"/>
                        </a:cubicBezTo>
                        <a:cubicBezTo>
                          <a:pt x="1720390" y="703152"/>
                          <a:pt x="1704247" y="696899"/>
                          <a:pt x="1684421" y="673769"/>
                        </a:cubicBezTo>
                        <a:cubicBezTo>
                          <a:pt x="1673981" y="661589"/>
                          <a:pt x="1666889" y="646611"/>
                          <a:pt x="1655545" y="635267"/>
                        </a:cubicBezTo>
                        <a:cubicBezTo>
                          <a:pt x="1636033" y="615755"/>
                          <a:pt x="1610024" y="603533"/>
                          <a:pt x="1588168" y="587141"/>
                        </a:cubicBezTo>
                        <a:cubicBezTo>
                          <a:pt x="1571733" y="574815"/>
                          <a:pt x="1555138" y="562574"/>
                          <a:pt x="1540042" y="548640"/>
                        </a:cubicBezTo>
                        <a:cubicBezTo>
                          <a:pt x="1513369" y="524019"/>
                          <a:pt x="1493243" y="491773"/>
                          <a:pt x="1463040" y="471638"/>
                        </a:cubicBezTo>
                        <a:cubicBezTo>
                          <a:pt x="1337740" y="388105"/>
                          <a:pt x="1462790" y="476925"/>
                          <a:pt x="1366787" y="394636"/>
                        </a:cubicBezTo>
                        <a:cubicBezTo>
                          <a:pt x="1358004" y="387107"/>
                          <a:pt x="1347325" y="382109"/>
                          <a:pt x="1337911" y="375385"/>
                        </a:cubicBezTo>
                        <a:cubicBezTo>
                          <a:pt x="1309747" y="355268"/>
                          <a:pt x="1271156" y="322758"/>
                          <a:pt x="1241659" y="308009"/>
                        </a:cubicBezTo>
                        <a:cubicBezTo>
                          <a:pt x="1228825" y="301592"/>
                          <a:pt x="1214834" y="297098"/>
                          <a:pt x="1203158" y="288758"/>
                        </a:cubicBezTo>
                        <a:cubicBezTo>
                          <a:pt x="1192081" y="280846"/>
                          <a:pt x="1184617" y="268741"/>
                          <a:pt x="1174282" y="259882"/>
                        </a:cubicBezTo>
                        <a:cubicBezTo>
                          <a:pt x="1162102" y="249442"/>
                          <a:pt x="1147854" y="241570"/>
                          <a:pt x="1135781" y="231006"/>
                        </a:cubicBezTo>
                        <a:cubicBezTo>
                          <a:pt x="1088712" y="189820"/>
                          <a:pt x="1086841" y="168036"/>
                          <a:pt x="1020278" y="134754"/>
                        </a:cubicBezTo>
                        <a:lnTo>
                          <a:pt x="904774" y="77002"/>
                        </a:lnTo>
                        <a:cubicBezTo>
                          <a:pt x="891940" y="70585"/>
                          <a:pt x="879885" y="62290"/>
                          <a:pt x="866273" y="57752"/>
                        </a:cubicBezTo>
                        <a:cubicBezTo>
                          <a:pt x="847023" y="51335"/>
                          <a:pt x="825406" y="49757"/>
                          <a:pt x="808522" y="38501"/>
                        </a:cubicBezTo>
                        <a:cubicBezTo>
                          <a:pt x="798897" y="32084"/>
                          <a:pt x="789993" y="24424"/>
                          <a:pt x="779646" y="19251"/>
                        </a:cubicBezTo>
                        <a:cubicBezTo>
                          <a:pt x="759911" y="9383"/>
                          <a:pt x="720956" y="3662"/>
                          <a:pt x="702644" y="0"/>
                        </a:cubicBezTo>
                        <a:cubicBezTo>
                          <a:pt x="603183" y="3208"/>
                          <a:pt x="503621" y="4105"/>
                          <a:pt x="404261" y="9625"/>
                        </a:cubicBezTo>
                        <a:cubicBezTo>
                          <a:pt x="387926" y="10533"/>
                          <a:pt x="371918" y="14946"/>
                          <a:pt x="356134" y="19251"/>
                        </a:cubicBezTo>
                        <a:cubicBezTo>
                          <a:pt x="336557" y="24590"/>
                          <a:pt x="298383" y="38501"/>
                          <a:pt x="298383" y="38501"/>
                        </a:cubicBezTo>
                        <a:lnTo>
                          <a:pt x="240631" y="77002"/>
                        </a:lnTo>
                        <a:cubicBezTo>
                          <a:pt x="231006" y="83419"/>
                          <a:pt x="219936" y="88073"/>
                          <a:pt x="211756" y="96253"/>
                        </a:cubicBezTo>
                        <a:cubicBezTo>
                          <a:pt x="202131" y="105878"/>
                          <a:pt x="193625" y="116772"/>
                          <a:pt x="182880" y="125129"/>
                        </a:cubicBezTo>
                        <a:cubicBezTo>
                          <a:pt x="84926" y="201315"/>
                          <a:pt x="154294" y="134464"/>
                          <a:pt x="105878" y="18288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24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E19811-B0D8-7247-B8C0-7DAD2C5339E9}"/>
              </a:ext>
            </a:extLst>
          </p:cNvPr>
          <p:cNvSpPr txBox="1"/>
          <p:nvPr/>
        </p:nvSpPr>
        <p:spPr>
          <a:xfrm>
            <a:off x="7115687" y="3350461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Перенос ошибки</a:t>
            </a:r>
            <a:endParaRPr lang="en-US" dirty="0"/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B702344-F91D-1345-9780-F49E829C26D3}"/>
              </a:ext>
            </a:extLst>
          </p:cNvPr>
          <p:cNvSpPr/>
          <p:nvPr/>
        </p:nvSpPr>
        <p:spPr>
          <a:xfrm>
            <a:off x="2162585" y="1646056"/>
            <a:ext cx="3823023" cy="1916294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35F3C1-A8A4-5B41-A781-DF14B2BBFDDA}"/>
              </a:ext>
            </a:extLst>
          </p:cNvPr>
          <p:cNvCxnSpPr>
            <a:stCxn id="19" idx="2"/>
            <a:endCxn id="72" idx="0"/>
          </p:cNvCxnSpPr>
          <p:nvPr/>
        </p:nvCxnSpPr>
        <p:spPr>
          <a:xfrm flipH="1">
            <a:off x="4665846" y="2897623"/>
            <a:ext cx="6223" cy="700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94F01F-FC3A-C14D-AED1-39848DB67E34}"/>
              </a:ext>
            </a:extLst>
          </p:cNvPr>
          <p:cNvCxnSpPr>
            <a:stCxn id="73" idx="2"/>
            <a:endCxn id="3" idx="0"/>
          </p:cNvCxnSpPr>
          <p:nvPr/>
        </p:nvCxnSpPr>
        <p:spPr>
          <a:xfrm flipH="1">
            <a:off x="3234034" y="1730475"/>
            <a:ext cx="16631" cy="4600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FF4C518-43EE-434C-8676-81B363740FB3}"/>
              </a:ext>
            </a:extLst>
          </p:cNvPr>
          <p:cNvCxnSpPr>
            <a:stCxn id="70" idx="25"/>
            <a:endCxn id="72" idx="0"/>
          </p:cNvCxnSpPr>
          <p:nvPr/>
        </p:nvCxnSpPr>
        <p:spPr>
          <a:xfrm flipH="1">
            <a:off x="4665846" y="1712158"/>
            <a:ext cx="1611379" cy="1886265"/>
          </a:xfrm>
          <a:prstGeom prst="curvedConnector4">
            <a:avLst>
              <a:gd name="adj1" fmla="val -14187"/>
              <a:gd name="adj2" fmla="val 6705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19ADEF44-9F2A-1E4B-9FF8-AFF7B1C7D40F}"/>
              </a:ext>
            </a:extLst>
          </p:cNvPr>
          <p:cNvCxnSpPr>
            <a:stCxn id="72" idx="0"/>
            <a:endCxn id="73" idx="2"/>
          </p:cNvCxnSpPr>
          <p:nvPr/>
        </p:nvCxnSpPr>
        <p:spPr>
          <a:xfrm rot="16200000" flipV="1">
            <a:off x="3024282" y="1956858"/>
            <a:ext cx="1867948" cy="1415181"/>
          </a:xfrm>
          <a:prstGeom prst="curvedConnector3">
            <a:avLst>
              <a:gd name="adj1" fmla="val 4757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86DE81D-8C3B-2146-87D5-441371EE3437}"/>
                  </a:ext>
                </a:extLst>
              </p:cNvPr>
              <p:cNvSpPr txBox="1"/>
              <p:nvPr/>
            </p:nvSpPr>
            <p:spPr>
              <a:xfrm>
                <a:off x="2975524" y="3474226"/>
                <a:ext cx="512896" cy="620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86DE81D-8C3B-2146-87D5-441371EE3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524" y="3474226"/>
                <a:ext cx="512896" cy="620747"/>
              </a:xfrm>
              <a:prstGeom prst="rect">
                <a:avLst/>
              </a:prstGeom>
              <a:blipFill>
                <a:blip r:embed="rId11"/>
                <a:stretch>
                  <a:fillRect l="-12195" t="-2000" r="-7317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493B587-17B7-E844-9000-D6F6C490CB86}"/>
              </a:ext>
            </a:extLst>
          </p:cNvPr>
          <p:cNvCxnSpPr>
            <a:stCxn id="3" idx="2"/>
            <a:endCxn id="61" idx="0"/>
          </p:cNvCxnSpPr>
          <p:nvPr/>
        </p:nvCxnSpPr>
        <p:spPr>
          <a:xfrm flipH="1">
            <a:off x="3231972" y="2849508"/>
            <a:ext cx="2062" cy="6247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838F3B6-1657-2A41-8F5D-A77455988037}"/>
              </a:ext>
            </a:extLst>
          </p:cNvPr>
          <p:cNvSpPr/>
          <p:nvPr/>
        </p:nvSpPr>
        <p:spPr>
          <a:xfrm>
            <a:off x="4419600" y="3562350"/>
            <a:ext cx="490704" cy="72171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98DE26A0-D0EE-CF43-BB51-001E28C9BA32}"/>
              </a:ext>
            </a:extLst>
          </p:cNvPr>
          <p:cNvCxnSpPr>
            <a:cxnSpLocks/>
            <a:stCxn id="40" idx="17"/>
            <a:endCxn id="44" idx="3"/>
          </p:cNvCxnSpPr>
          <p:nvPr/>
        </p:nvCxnSpPr>
        <p:spPr>
          <a:xfrm flipH="1" flipV="1">
            <a:off x="4910304" y="3923207"/>
            <a:ext cx="1462495" cy="90649"/>
          </a:xfrm>
          <a:prstGeom prst="curvedConnector5">
            <a:avLst>
              <a:gd name="adj1" fmla="val 29155"/>
              <a:gd name="adj2" fmla="val 57278"/>
              <a:gd name="adj3" fmla="val 74265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>
            <a:extLst>
              <a:ext uri="{FF2B5EF4-FFF2-40B4-BE49-F238E27FC236}">
                <a16:creationId xmlns:a16="http://schemas.microsoft.com/office/drawing/2014/main" id="{23231B4C-18C7-6846-A85A-EDD9413EC722}"/>
              </a:ext>
            </a:extLst>
          </p:cNvPr>
          <p:cNvCxnSpPr>
            <a:stCxn id="44" idx="1"/>
            <a:endCxn id="61" idx="3"/>
          </p:cNvCxnSpPr>
          <p:nvPr/>
        </p:nvCxnSpPr>
        <p:spPr>
          <a:xfrm rot="10800000">
            <a:off x="3488420" y="3784601"/>
            <a:ext cx="931180" cy="138607"/>
          </a:xfrm>
          <a:prstGeom prst="curvedConnector3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132EB9-8713-B440-9319-D612DDFDFAC6}"/>
              </a:ext>
            </a:extLst>
          </p:cNvPr>
          <p:cNvCxnSpPr/>
          <p:nvPr/>
        </p:nvCxnSpPr>
        <p:spPr>
          <a:xfrm>
            <a:off x="7003923" y="1047750"/>
            <a:ext cx="160667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3B48266-B30F-DA4B-8E3F-63F668627C7C}"/>
              </a:ext>
            </a:extLst>
          </p:cNvPr>
          <p:cNvCxnSpPr/>
          <p:nvPr/>
        </p:nvCxnSpPr>
        <p:spPr>
          <a:xfrm>
            <a:off x="7236639" y="3638550"/>
            <a:ext cx="160667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497" y="392282"/>
            <a:ext cx="5492462" cy="343557"/>
          </a:xfrm>
          <a:prstGeom prst="rect">
            <a:avLst/>
          </a:prstGeom>
        </p:spPr>
        <p:txBody>
          <a:bodyPr vert="horz" wrap="square" lIns="0" tIns="8637" rIns="0" bIns="0" rtlCol="0">
            <a:spAutoFit/>
          </a:bodyPr>
          <a:lstStyle/>
          <a:p>
            <a:pPr marL="8637">
              <a:spcBef>
                <a:spcPts val="68"/>
              </a:spcBef>
            </a:pPr>
            <a:r>
              <a:rPr sz="2176" spc="-78" dirty="0"/>
              <a:t>Математика BackProp  шаг коррекции</a:t>
            </a:r>
          </a:p>
        </p:txBody>
      </p:sp>
      <p:sp>
        <p:nvSpPr>
          <p:cNvPr id="48" name="object 48"/>
          <p:cNvSpPr/>
          <p:nvPr/>
        </p:nvSpPr>
        <p:spPr>
          <a:xfrm>
            <a:off x="5981862" y="590551"/>
            <a:ext cx="2628738" cy="17118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15EF9CC-B919-5342-8429-13B8A17DE6EF}"/>
                  </a:ext>
                </a:extLst>
              </p:cNvPr>
              <p:cNvSpPr txBox="1"/>
              <p:nvPr/>
            </p:nvSpPr>
            <p:spPr>
              <a:xfrm>
                <a:off x="1504520" y="1327982"/>
                <a:ext cx="3478260" cy="5179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904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904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4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en-US" sz="1904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en-US" sz="1904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904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4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904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4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1904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15EF9CC-B919-5342-8429-13B8A17DE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520" y="1327982"/>
                <a:ext cx="3478260" cy="517962"/>
              </a:xfrm>
              <a:prstGeom prst="rect">
                <a:avLst/>
              </a:prstGeom>
              <a:blipFill>
                <a:blip r:embed="rId3"/>
                <a:stretch>
                  <a:fillRect l="-2182" t="-2381" r="-109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4447B8A-0224-594C-8572-E6F46BC200C5}"/>
                  </a:ext>
                </a:extLst>
              </p:cNvPr>
              <p:cNvSpPr txBox="1"/>
              <p:nvPr/>
            </p:nvSpPr>
            <p:spPr>
              <a:xfrm>
                <a:off x="1507702" y="2084172"/>
                <a:ext cx="1480213" cy="616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6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36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36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36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36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36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36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4447B8A-0224-594C-8572-E6F46BC20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702" y="2084172"/>
                <a:ext cx="1480213" cy="616451"/>
              </a:xfrm>
              <a:prstGeom prst="rect">
                <a:avLst/>
              </a:prstGeom>
              <a:blipFill>
                <a:blip r:embed="rId4"/>
                <a:stretch>
                  <a:fillRect l="-1695" t="-114286" b="-175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D43F037-5467-3545-8652-B71EFCFEDE10}"/>
                  </a:ext>
                </a:extLst>
              </p:cNvPr>
              <p:cNvSpPr txBox="1"/>
              <p:nvPr/>
            </p:nvSpPr>
            <p:spPr>
              <a:xfrm>
                <a:off x="3220979" y="2163582"/>
                <a:ext cx="2127442" cy="4576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36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36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36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136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D43F037-5467-3545-8652-B71EFCFED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979" y="2163582"/>
                <a:ext cx="2127442" cy="457689"/>
              </a:xfrm>
              <a:prstGeom prst="rect">
                <a:avLst/>
              </a:prstGeom>
              <a:blipFill>
                <a:blip r:embed="rId5"/>
                <a:stretch>
                  <a:fillRect l="-1786" t="-2703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3ACEA4C-0684-EF4A-9CDE-31BFF26B311D}"/>
                  </a:ext>
                </a:extLst>
              </p:cNvPr>
              <p:cNvSpPr txBox="1"/>
              <p:nvPr/>
            </p:nvSpPr>
            <p:spPr>
              <a:xfrm>
                <a:off x="5584147" y="2156779"/>
                <a:ext cx="995594" cy="471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6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6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  <m:r>
                        <a:rPr lang="en-US" sz="136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sz="136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3ACEA4C-0684-EF4A-9CDE-31BFF26B3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147" y="2156779"/>
                <a:ext cx="995594" cy="471155"/>
              </a:xfrm>
              <a:prstGeom prst="rect">
                <a:avLst/>
              </a:prstGeom>
              <a:blipFill>
                <a:blip r:embed="rId6"/>
                <a:stretch>
                  <a:fillRect l="-3797" r="-3797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433A080-5229-5742-8E94-3A1468E53737}"/>
                  </a:ext>
                </a:extLst>
              </p:cNvPr>
              <p:cNvSpPr txBox="1"/>
              <p:nvPr/>
            </p:nvSpPr>
            <p:spPr>
              <a:xfrm>
                <a:off x="1504520" y="2746097"/>
                <a:ext cx="2866169" cy="463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36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6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36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36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36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433A080-5229-5742-8E94-3A1468E53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520" y="2746097"/>
                <a:ext cx="2866169" cy="463653"/>
              </a:xfrm>
              <a:prstGeom prst="rect">
                <a:avLst/>
              </a:prstGeom>
              <a:blipFill>
                <a:blip r:embed="rId7"/>
                <a:stretch>
                  <a:fillRect l="-881" t="-5405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F59DF99-A2AA-4F4B-A1B7-F44C40D77A24}"/>
                  </a:ext>
                </a:extLst>
              </p:cNvPr>
              <p:cNvSpPr txBox="1"/>
              <p:nvPr/>
            </p:nvSpPr>
            <p:spPr>
              <a:xfrm>
                <a:off x="1543148" y="3334673"/>
                <a:ext cx="3113160" cy="5100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36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36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36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36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36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36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36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36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136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36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F59DF99-A2AA-4F4B-A1B7-F44C40D77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148" y="3334673"/>
                <a:ext cx="3113160" cy="510011"/>
              </a:xfrm>
              <a:prstGeom prst="rect">
                <a:avLst/>
              </a:prstGeom>
              <a:blipFill>
                <a:blip r:embed="rId8"/>
                <a:stretch>
                  <a:fillRect l="-1220" t="-151220" r="-1626" b="-2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44A7FF7-C953-AE4E-B05E-D16AC2E4D71A}"/>
                  </a:ext>
                </a:extLst>
              </p:cNvPr>
              <p:cNvSpPr txBox="1"/>
              <p:nvPr/>
            </p:nvSpPr>
            <p:spPr>
              <a:xfrm>
                <a:off x="1526824" y="4015552"/>
                <a:ext cx="5020477" cy="4276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32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32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32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32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32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32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632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1632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1632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p>
                      <m:sSupPr>
                        <m:ctrlPr>
                          <a:rPr lang="en-US" sz="1632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632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32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32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32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sz="163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32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sz="1632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1632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32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632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1632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632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1632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632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632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32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32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32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32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32" dirty="0"/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44A7FF7-C953-AE4E-B05E-D16AC2E4D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824" y="4015552"/>
                <a:ext cx="5020477" cy="427681"/>
              </a:xfrm>
              <a:prstGeom prst="rect">
                <a:avLst/>
              </a:prstGeom>
              <a:blipFill>
                <a:blip r:embed="rId9"/>
                <a:stretch>
                  <a:fillRect l="-1263" t="-2941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663FDA90-EED3-AB4A-805E-B79551BD2729}"/>
              </a:ext>
            </a:extLst>
          </p:cNvPr>
          <p:cNvSpPr/>
          <p:nvPr/>
        </p:nvSpPr>
        <p:spPr>
          <a:xfrm>
            <a:off x="4664749" y="3969604"/>
            <a:ext cx="1980198" cy="510128"/>
          </a:xfrm>
          <a:custGeom>
            <a:avLst/>
            <a:gdLst>
              <a:gd name="connsiteX0" fmla="*/ 0 w 1980198"/>
              <a:gd name="connsiteY0" fmla="*/ 0 h 510128"/>
              <a:gd name="connsiteX1" fmla="*/ 640264 w 1980198"/>
              <a:gd name="connsiteY1" fmla="*/ 0 h 510128"/>
              <a:gd name="connsiteX2" fmla="*/ 1240924 w 1980198"/>
              <a:gd name="connsiteY2" fmla="*/ 0 h 510128"/>
              <a:gd name="connsiteX3" fmla="*/ 1980198 w 1980198"/>
              <a:gd name="connsiteY3" fmla="*/ 0 h 510128"/>
              <a:gd name="connsiteX4" fmla="*/ 1980198 w 1980198"/>
              <a:gd name="connsiteY4" fmla="*/ 510128 h 510128"/>
              <a:gd name="connsiteX5" fmla="*/ 1359736 w 1980198"/>
              <a:gd name="connsiteY5" fmla="*/ 510128 h 510128"/>
              <a:gd name="connsiteX6" fmla="*/ 660066 w 1980198"/>
              <a:gd name="connsiteY6" fmla="*/ 510128 h 510128"/>
              <a:gd name="connsiteX7" fmla="*/ 0 w 1980198"/>
              <a:gd name="connsiteY7" fmla="*/ 510128 h 510128"/>
              <a:gd name="connsiteX8" fmla="*/ 0 w 1980198"/>
              <a:gd name="connsiteY8" fmla="*/ 0 h 510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80198" h="510128" extrusionOk="0">
                <a:moveTo>
                  <a:pt x="0" y="0"/>
                </a:moveTo>
                <a:cubicBezTo>
                  <a:pt x="315799" y="19413"/>
                  <a:pt x="390459" y="13881"/>
                  <a:pt x="640264" y="0"/>
                </a:cubicBezTo>
                <a:cubicBezTo>
                  <a:pt x="890069" y="-13881"/>
                  <a:pt x="1109499" y="-18130"/>
                  <a:pt x="1240924" y="0"/>
                </a:cubicBezTo>
                <a:cubicBezTo>
                  <a:pt x="1372349" y="18130"/>
                  <a:pt x="1800098" y="29394"/>
                  <a:pt x="1980198" y="0"/>
                </a:cubicBezTo>
                <a:cubicBezTo>
                  <a:pt x="1977567" y="122415"/>
                  <a:pt x="1955453" y="404784"/>
                  <a:pt x="1980198" y="510128"/>
                </a:cubicBezTo>
                <a:cubicBezTo>
                  <a:pt x="1784022" y="486295"/>
                  <a:pt x="1532265" y="535070"/>
                  <a:pt x="1359736" y="510128"/>
                </a:cubicBezTo>
                <a:cubicBezTo>
                  <a:pt x="1187207" y="485186"/>
                  <a:pt x="1001708" y="519272"/>
                  <a:pt x="660066" y="510128"/>
                </a:cubicBezTo>
                <a:cubicBezTo>
                  <a:pt x="318424" y="500985"/>
                  <a:pt x="279712" y="530768"/>
                  <a:pt x="0" y="510128"/>
                </a:cubicBezTo>
                <a:cubicBezTo>
                  <a:pt x="-9399" y="288822"/>
                  <a:pt x="18777" y="219097"/>
                  <a:pt x="0" y="0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24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37" rIns="0" bIns="0" rtlCol="0">
            <a:spAutoFit/>
          </a:bodyPr>
          <a:lstStyle/>
          <a:p>
            <a:pPr marL="8637">
              <a:spcBef>
                <a:spcPts val="68"/>
              </a:spcBef>
            </a:pPr>
            <a:r>
              <a:rPr sz="2176" spc="-78" dirty="0"/>
              <a:t>Математика BackProp  обратный шаг</a:t>
            </a:r>
          </a:p>
        </p:txBody>
      </p:sp>
      <p:sp>
        <p:nvSpPr>
          <p:cNvPr id="7" name="object 7"/>
          <p:cNvSpPr/>
          <p:nvPr/>
        </p:nvSpPr>
        <p:spPr>
          <a:xfrm>
            <a:off x="548010" y="1555889"/>
            <a:ext cx="5243189" cy="27684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4"/>
          </a:p>
        </p:txBody>
      </p:sp>
      <p:sp>
        <p:nvSpPr>
          <p:cNvPr id="8" name="object 8"/>
          <p:cNvSpPr/>
          <p:nvPr/>
        </p:nvSpPr>
        <p:spPr>
          <a:xfrm>
            <a:off x="5181600" y="1082762"/>
            <a:ext cx="2225626" cy="1606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4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11AFA78-AE0D-E64C-9E65-B40B10D33559}"/>
              </a:ext>
            </a:extLst>
          </p:cNvPr>
          <p:cNvSpPr/>
          <p:nvPr/>
        </p:nvSpPr>
        <p:spPr>
          <a:xfrm>
            <a:off x="7315200" y="1082762"/>
            <a:ext cx="1197945" cy="981923"/>
          </a:xfrm>
          <a:custGeom>
            <a:avLst/>
            <a:gdLst>
              <a:gd name="connsiteX0" fmla="*/ 582606 w 1197945"/>
              <a:gd name="connsiteY0" fmla="*/ 52369 h 981923"/>
              <a:gd name="connsiteX1" fmla="*/ 536783 w 1197945"/>
              <a:gd name="connsiteY1" fmla="*/ 58915 h 981923"/>
              <a:gd name="connsiteX2" fmla="*/ 425499 w 1197945"/>
              <a:gd name="connsiteY2" fmla="*/ 72007 h 981923"/>
              <a:gd name="connsiteX3" fmla="*/ 360037 w 1197945"/>
              <a:gd name="connsiteY3" fmla="*/ 117830 h 981923"/>
              <a:gd name="connsiteX4" fmla="*/ 340399 w 1197945"/>
              <a:gd name="connsiteY4" fmla="*/ 130922 h 981923"/>
              <a:gd name="connsiteX5" fmla="*/ 320761 w 1197945"/>
              <a:gd name="connsiteY5" fmla="*/ 150561 h 981923"/>
              <a:gd name="connsiteX6" fmla="*/ 294576 w 1197945"/>
              <a:gd name="connsiteY6" fmla="*/ 170200 h 981923"/>
              <a:gd name="connsiteX7" fmla="*/ 274938 w 1197945"/>
              <a:gd name="connsiteY7" fmla="*/ 196384 h 981923"/>
              <a:gd name="connsiteX8" fmla="*/ 229115 w 1197945"/>
              <a:gd name="connsiteY8" fmla="*/ 229115 h 981923"/>
              <a:gd name="connsiteX9" fmla="*/ 189837 w 1197945"/>
              <a:gd name="connsiteY9" fmla="*/ 268392 h 981923"/>
              <a:gd name="connsiteX10" fmla="*/ 163653 w 1197945"/>
              <a:gd name="connsiteY10" fmla="*/ 294576 h 981923"/>
              <a:gd name="connsiteX11" fmla="*/ 117830 w 1197945"/>
              <a:gd name="connsiteY11" fmla="*/ 333854 h 981923"/>
              <a:gd name="connsiteX12" fmla="*/ 104738 w 1197945"/>
              <a:gd name="connsiteY12" fmla="*/ 353492 h 981923"/>
              <a:gd name="connsiteX13" fmla="*/ 78553 w 1197945"/>
              <a:gd name="connsiteY13" fmla="*/ 379676 h 981923"/>
              <a:gd name="connsiteX14" fmla="*/ 32730 w 1197945"/>
              <a:gd name="connsiteY14" fmla="*/ 438592 h 981923"/>
              <a:gd name="connsiteX15" fmla="*/ 26184 w 1197945"/>
              <a:gd name="connsiteY15" fmla="*/ 458230 h 981923"/>
              <a:gd name="connsiteX16" fmla="*/ 13091 w 1197945"/>
              <a:gd name="connsiteY16" fmla="*/ 477868 h 981923"/>
              <a:gd name="connsiteX17" fmla="*/ 0 w 1197945"/>
              <a:gd name="connsiteY17" fmla="*/ 517146 h 981923"/>
              <a:gd name="connsiteX18" fmla="*/ 13091 w 1197945"/>
              <a:gd name="connsiteY18" fmla="*/ 621884 h 981923"/>
              <a:gd name="connsiteX19" fmla="*/ 26184 w 1197945"/>
              <a:gd name="connsiteY19" fmla="*/ 648068 h 981923"/>
              <a:gd name="connsiteX20" fmla="*/ 32730 w 1197945"/>
              <a:gd name="connsiteY20" fmla="*/ 667707 h 981923"/>
              <a:gd name="connsiteX21" fmla="*/ 45823 w 1197945"/>
              <a:gd name="connsiteY21" fmla="*/ 693892 h 981923"/>
              <a:gd name="connsiteX22" fmla="*/ 52369 w 1197945"/>
              <a:gd name="connsiteY22" fmla="*/ 713530 h 981923"/>
              <a:gd name="connsiteX23" fmla="*/ 72007 w 1197945"/>
              <a:gd name="connsiteY23" fmla="*/ 739715 h 981923"/>
              <a:gd name="connsiteX24" fmla="*/ 85099 w 1197945"/>
              <a:gd name="connsiteY24" fmla="*/ 765899 h 981923"/>
              <a:gd name="connsiteX25" fmla="*/ 144015 w 1197945"/>
              <a:gd name="connsiteY25" fmla="*/ 818268 h 981923"/>
              <a:gd name="connsiteX26" fmla="*/ 170199 w 1197945"/>
              <a:gd name="connsiteY26" fmla="*/ 837907 h 981923"/>
              <a:gd name="connsiteX27" fmla="*/ 202930 w 1197945"/>
              <a:gd name="connsiteY27" fmla="*/ 857546 h 981923"/>
              <a:gd name="connsiteX28" fmla="*/ 229115 w 1197945"/>
              <a:gd name="connsiteY28" fmla="*/ 877184 h 981923"/>
              <a:gd name="connsiteX29" fmla="*/ 248753 w 1197945"/>
              <a:gd name="connsiteY29" fmla="*/ 883730 h 981923"/>
              <a:gd name="connsiteX30" fmla="*/ 314214 w 1197945"/>
              <a:gd name="connsiteY30" fmla="*/ 923007 h 981923"/>
              <a:gd name="connsiteX31" fmla="*/ 353491 w 1197945"/>
              <a:gd name="connsiteY31" fmla="*/ 936099 h 981923"/>
              <a:gd name="connsiteX32" fmla="*/ 379676 w 1197945"/>
              <a:gd name="connsiteY32" fmla="*/ 949191 h 981923"/>
              <a:gd name="connsiteX33" fmla="*/ 477868 w 1197945"/>
              <a:gd name="connsiteY33" fmla="*/ 968830 h 981923"/>
              <a:gd name="connsiteX34" fmla="*/ 615337 w 1197945"/>
              <a:gd name="connsiteY34" fmla="*/ 981923 h 981923"/>
              <a:gd name="connsiteX35" fmla="*/ 890276 w 1197945"/>
              <a:gd name="connsiteY35" fmla="*/ 975376 h 981923"/>
              <a:gd name="connsiteX36" fmla="*/ 916460 w 1197945"/>
              <a:gd name="connsiteY36" fmla="*/ 968830 h 981923"/>
              <a:gd name="connsiteX37" fmla="*/ 975375 w 1197945"/>
              <a:gd name="connsiteY37" fmla="*/ 936099 h 981923"/>
              <a:gd name="connsiteX38" fmla="*/ 995014 w 1197945"/>
              <a:gd name="connsiteY38" fmla="*/ 929553 h 981923"/>
              <a:gd name="connsiteX39" fmla="*/ 1027745 w 1197945"/>
              <a:gd name="connsiteY39" fmla="*/ 903368 h 981923"/>
              <a:gd name="connsiteX40" fmla="*/ 1073568 w 1197945"/>
              <a:gd name="connsiteY40" fmla="*/ 870638 h 981923"/>
              <a:gd name="connsiteX41" fmla="*/ 1119391 w 1197945"/>
              <a:gd name="connsiteY41" fmla="*/ 824814 h 981923"/>
              <a:gd name="connsiteX42" fmla="*/ 1145575 w 1197945"/>
              <a:gd name="connsiteY42" fmla="*/ 798630 h 981923"/>
              <a:gd name="connsiteX43" fmla="*/ 1184852 w 1197945"/>
              <a:gd name="connsiteY43" fmla="*/ 726622 h 981923"/>
              <a:gd name="connsiteX44" fmla="*/ 1197945 w 1197945"/>
              <a:gd name="connsiteY44" fmla="*/ 680799 h 981923"/>
              <a:gd name="connsiteX45" fmla="*/ 1191399 w 1197945"/>
              <a:gd name="connsiteY45" fmla="*/ 543330 h 981923"/>
              <a:gd name="connsiteX46" fmla="*/ 1184852 w 1197945"/>
              <a:gd name="connsiteY46" fmla="*/ 523692 h 981923"/>
              <a:gd name="connsiteX47" fmla="*/ 1178306 w 1197945"/>
              <a:gd name="connsiteY47" fmla="*/ 497507 h 981923"/>
              <a:gd name="connsiteX48" fmla="*/ 1145575 w 1197945"/>
              <a:gd name="connsiteY48" fmla="*/ 458230 h 981923"/>
              <a:gd name="connsiteX49" fmla="*/ 1125937 w 1197945"/>
              <a:gd name="connsiteY49" fmla="*/ 432045 h 981923"/>
              <a:gd name="connsiteX50" fmla="*/ 1080114 w 1197945"/>
              <a:gd name="connsiteY50" fmla="*/ 399315 h 981923"/>
              <a:gd name="connsiteX51" fmla="*/ 1047383 w 1197945"/>
              <a:gd name="connsiteY51" fmla="*/ 373130 h 981923"/>
              <a:gd name="connsiteX52" fmla="*/ 995014 w 1197945"/>
              <a:gd name="connsiteY52" fmla="*/ 320761 h 981923"/>
              <a:gd name="connsiteX53" fmla="*/ 929552 w 1197945"/>
              <a:gd name="connsiteY53" fmla="*/ 268392 h 981923"/>
              <a:gd name="connsiteX54" fmla="*/ 909914 w 1197945"/>
              <a:gd name="connsiteY54" fmla="*/ 255299 h 981923"/>
              <a:gd name="connsiteX55" fmla="*/ 844453 w 1197945"/>
              <a:gd name="connsiteY55" fmla="*/ 209477 h 981923"/>
              <a:gd name="connsiteX56" fmla="*/ 818268 w 1197945"/>
              <a:gd name="connsiteY56" fmla="*/ 196384 h 981923"/>
              <a:gd name="connsiteX57" fmla="*/ 798630 w 1197945"/>
              <a:gd name="connsiteY57" fmla="*/ 176746 h 981923"/>
              <a:gd name="connsiteX58" fmla="*/ 772445 w 1197945"/>
              <a:gd name="connsiteY58" fmla="*/ 157107 h 981923"/>
              <a:gd name="connsiteX59" fmla="*/ 693891 w 1197945"/>
              <a:gd name="connsiteY59" fmla="*/ 91646 h 981923"/>
              <a:gd name="connsiteX60" fmla="*/ 615337 w 1197945"/>
              <a:gd name="connsiteY60" fmla="*/ 52369 h 981923"/>
              <a:gd name="connsiteX61" fmla="*/ 589152 w 1197945"/>
              <a:gd name="connsiteY61" fmla="*/ 39277 h 981923"/>
              <a:gd name="connsiteX62" fmla="*/ 549876 w 1197945"/>
              <a:gd name="connsiteY62" fmla="*/ 26184 h 981923"/>
              <a:gd name="connsiteX63" fmla="*/ 530237 w 1197945"/>
              <a:gd name="connsiteY63" fmla="*/ 13092 h 981923"/>
              <a:gd name="connsiteX64" fmla="*/ 477868 w 1197945"/>
              <a:gd name="connsiteY64" fmla="*/ 0 h 981923"/>
              <a:gd name="connsiteX65" fmla="*/ 274938 w 1197945"/>
              <a:gd name="connsiteY65" fmla="*/ 6545 h 981923"/>
              <a:gd name="connsiteX66" fmla="*/ 242206 w 1197945"/>
              <a:gd name="connsiteY66" fmla="*/ 13092 h 981923"/>
              <a:gd name="connsiteX67" fmla="*/ 202930 w 1197945"/>
              <a:gd name="connsiteY67" fmla="*/ 26184 h 981923"/>
              <a:gd name="connsiteX68" fmla="*/ 163653 w 1197945"/>
              <a:gd name="connsiteY68" fmla="*/ 52369 h 981923"/>
              <a:gd name="connsiteX69" fmla="*/ 144015 w 1197945"/>
              <a:gd name="connsiteY69" fmla="*/ 65461 h 981923"/>
              <a:gd name="connsiteX70" fmla="*/ 124376 w 1197945"/>
              <a:gd name="connsiteY70" fmla="*/ 85100 h 981923"/>
              <a:gd name="connsiteX71" fmla="*/ 72007 w 1197945"/>
              <a:gd name="connsiteY71" fmla="*/ 124376 h 981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197945" h="981923" extrusionOk="0">
                <a:moveTo>
                  <a:pt x="582606" y="52369"/>
                </a:moveTo>
                <a:cubicBezTo>
                  <a:pt x="565612" y="54624"/>
                  <a:pt x="553456" y="58743"/>
                  <a:pt x="536783" y="58915"/>
                </a:cubicBezTo>
                <a:cubicBezTo>
                  <a:pt x="432597" y="77845"/>
                  <a:pt x="476514" y="58152"/>
                  <a:pt x="425499" y="72007"/>
                </a:cubicBezTo>
                <a:cubicBezTo>
                  <a:pt x="329277" y="123294"/>
                  <a:pt x="432776" y="75254"/>
                  <a:pt x="360037" y="117830"/>
                </a:cubicBezTo>
                <a:cubicBezTo>
                  <a:pt x="353860" y="121568"/>
                  <a:pt x="346892" y="126723"/>
                  <a:pt x="340399" y="130922"/>
                </a:cubicBezTo>
                <a:cubicBezTo>
                  <a:pt x="335074" y="136981"/>
                  <a:pt x="328499" y="145776"/>
                  <a:pt x="320761" y="150561"/>
                </a:cubicBezTo>
                <a:cubicBezTo>
                  <a:pt x="312635" y="159115"/>
                  <a:pt x="302018" y="163390"/>
                  <a:pt x="294576" y="170200"/>
                </a:cubicBezTo>
                <a:cubicBezTo>
                  <a:pt x="287329" y="177292"/>
                  <a:pt x="281192" y="189011"/>
                  <a:pt x="274938" y="196384"/>
                </a:cubicBezTo>
                <a:cubicBezTo>
                  <a:pt x="267314" y="204438"/>
                  <a:pt x="241632" y="220761"/>
                  <a:pt x="229115" y="229115"/>
                </a:cubicBezTo>
                <a:cubicBezTo>
                  <a:pt x="206693" y="265964"/>
                  <a:pt x="230183" y="235601"/>
                  <a:pt x="189837" y="268392"/>
                </a:cubicBezTo>
                <a:cubicBezTo>
                  <a:pt x="180590" y="276827"/>
                  <a:pt x="173976" y="284589"/>
                  <a:pt x="163653" y="294576"/>
                </a:cubicBezTo>
                <a:cubicBezTo>
                  <a:pt x="136609" y="317729"/>
                  <a:pt x="139607" y="307834"/>
                  <a:pt x="117830" y="333854"/>
                </a:cubicBezTo>
                <a:cubicBezTo>
                  <a:pt x="111507" y="339391"/>
                  <a:pt x="108721" y="347376"/>
                  <a:pt x="104738" y="353492"/>
                </a:cubicBezTo>
                <a:cubicBezTo>
                  <a:pt x="96207" y="363026"/>
                  <a:pt x="87496" y="370072"/>
                  <a:pt x="78553" y="379676"/>
                </a:cubicBezTo>
                <a:cubicBezTo>
                  <a:pt x="13561" y="453793"/>
                  <a:pt x="84510" y="391381"/>
                  <a:pt x="32730" y="438592"/>
                </a:cubicBezTo>
                <a:cubicBezTo>
                  <a:pt x="30008" y="444789"/>
                  <a:pt x="30439" y="452688"/>
                  <a:pt x="26184" y="458230"/>
                </a:cubicBezTo>
                <a:cubicBezTo>
                  <a:pt x="23366" y="463967"/>
                  <a:pt x="16304" y="470839"/>
                  <a:pt x="13091" y="477868"/>
                </a:cubicBezTo>
                <a:cubicBezTo>
                  <a:pt x="7487" y="490478"/>
                  <a:pt x="0" y="517145"/>
                  <a:pt x="0" y="517146"/>
                </a:cubicBezTo>
                <a:cubicBezTo>
                  <a:pt x="3638" y="529301"/>
                  <a:pt x="6225" y="599216"/>
                  <a:pt x="13091" y="621884"/>
                </a:cubicBezTo>
                <a:cubicBezTo>
                  <a:pt x="16426" y="629504"/>
                  <a:pt x="22311" y="639814"/>
                  <a:pt x="26184" y="648068"/>
                </a:cubicBezTo>
                <a:cubicBezTo>
                  <a:pt x="28764" y="654443"/>
                  <a:pt x="29963" y="661284"/>
                  <a:pt x="32730" y="667707"/>
                </a:cubicBezTo>
                <a:cubicBezTo>
                  <a:pt x="36817" y="676676"/>
                  <a:pt x="43482" y="686166"/>
                  <a:pt x="45823" y="693892"/>
                </a:cubicBezTo>
                <a:cubicBezTo>
                  <a:pt x="47371" y="700894"/>
                  <a:pt x="49777" y="708072"/>
                  <a:pt x="52369" y="713530"/>
                </a:cubicBezTo>
                <a:cubicBezTo>
                  <a:pt x="57793" y="723973"/>
                  <a:pt x="66129" y="729474"/>
                  <a:pt x="72007" y="739715"/>
                </a:cubicBezTo>
                <a:cubicBezTo>
                  <a:pt x="77580" y="747557"/>
                  <a:pt x="78724" y="757793"/>
                  <a:pt x="85099" y="765899"/>
                </a:cubicBezTo>
                <a:cubicBezTo>
                  <a:pt x="116137" y="804900"/>
                  <a:pt x="114521" y="797576"/>
                  <a:pt x="144015" y="818268"/>
                </a:cubicBezTo>
                <a:cubicBezTo>
                  <a:pt x="154200" y="824754"/>
                  <a:pt x="159819" y="833257"/>
                  <a:pt x="170199" y="837907"/>
                </a:cubicBezTo>
                <a:cubicBezTo>
                  <a:pt x="182046" y="844249"/>
                  <a:pt x="189815" y="850361"/>
                  <a:pt x="202930" y="857546"/>
                </a:cubicBezTo>
                <a:cubicBezTo>
                  <a:pt x="212874" y="862332"/>
                  <a:pt x="219278" y="871347"/>
                  <a:pt x="229115" y="877184"/>
                </a:cubicBezTo>
                <a:cubicBezTo>
                  <a:pt x="234990" y="880622"/>
                  <a:pt x="242590" y="881658"/>
                  <a:pt x="248753" y="883730"/>
                </a:cubicBezTo>
                <a:cubicBezTo>
                  <a:pt x="287955" y="906611"/>
                  <a:pt x="278133" y="909550"/>
                  <a:pt x="314214" y="923007"/>
                </a:cubicBezTo>
                <a:cubicBezTo>
                  <a:pt x="326370" y="925721"/>
                  <a:pt x="340875" y="929672"/>
                  <a:pt x="353491" y="936099"/>
                </a:cubicBezTo>
                <a:cubicBezTo>
                  <a:pt x="361830" y="942167"/>
                  <a:pt x="370035" y="945832"/>
                  <a:pt x="379676" y="949191"/>
                </a:cubicBezTo>
                <a:cubicBezTo>
                  <a:pt x="423430" y="963666"/>
                  <a:pt x="434908" y="959987"/>
                  <a:pt x="477868" y="968830"/>
                </a:cubicBezTo>
                <a:cubicBezTo>
                  <a:pt x="583075" y="967587"/>
                  <a:pt x="414272" y="970292"/>
                  <a:pt x="615337" y="981923"/>
                </a:cubicBezTo>
                <a:cubicBezTo>
                  <a:pt x="749237" y="984868"/>
                  <a:pt x="771441" y="983695"/>
                  <a:pt x="890276" y="975376"/>
                </a:cubicBezTo>
                <a:cubicBezTo>
                  <a:pt x="899175" y="974725"/>
                  <a:pt x="909161" y="973056"/>
                  <a:pt x="916460" y="968830"/>
                </a:cubicBezTo>
                <a:cubicBezTo>
                  <a:pt x="941559" y="960530"/>
                  <a:pt x="951018" y="947710"/>
                  <a:pt x="975375" y="936099"/>
                </a:cubicBezTo>
                <a:cubicBezTo>
                  <a:pt x="982025" y="933505"/>
                  <a:pt x="988011" y="930580"/>
                  <a:pt x="995014" y="929553"/>
                </a:cubicBezTo>
                <a:cubicBezTo>
                  <a:pt x="1005295" y="921651"/>
                  <a:pt x="1017332" y="911353"/>
                  <a:pt x="1027745" y="903368"/>
                </a:cubicBezTo>
                <a:cubicBezTo>
                  <a:pt x="1048254" y="888326"/>
                  <a:pt x="1052842" y="890213"/>
                  <a:pt x="1073568" y="870638"/>
                </a:cubicBezTo>
                <a:cubicBezTo>
                  <a:pt x="1091594" y="857083"/>
                  <a:pt x="1103589" y="841978"/>
                  <a:pt x="1119391" y="824814"/>
                </a:cubicBezTo>
                <a:cubicBezTo>
                  <a:pt x="1127593" y="818447"/>
                  <a:pt x="1137299" y="808871"/>
                  <a:pt x="1145575" y="798630"/>
                </a:cubicBezTo>
                <a:cubicBezTo>
                  <a:pt x="1161769" y="770622"/>
                  <a:pt x="1172027" y="753937"/>
                  <a:pt x="1184852" y="726622"/>
                </a:cubicBezTo>
                <a:cubicBezTo>
                  <a:pt x="1196252" y="697544"/>
                  <a:pt x="1190571" y="710925"/>
                  <a:pt x="1197945" y="680799"/>
                </a:cubicBezTo>
                <a:cubicBezTo>
                  <a:pt x="1191598" y="641735"/>
                  <a:pt x="1189775" y="587480"/>
                  <a:pt x="1191399" y="543330"/>
                </a:cubicBezTo>
                <a:cubicBezTo>
                  <a:pt x="1190563" y="536766"/>
                  <a:pt x="1186718" y="529964"/>
                  <a:pt x="1184852" y="523692"/>
                </a:cubicBezTo>
                <a:cubicBezTo>
                  <a:pt x="1181742" y="513662"/>
                  <a:pt x="1182066" y="505509"/>
                  <a:pt x="1178306" y="497507"/>
                </a:cubicBezTo>
                <a:cubicBezTo>
                  <a:pt x="1168671" y="476305"/>
                  <a:pt x="1158568" y="473746"/>
                  <a:pt x="1145575" y="458230"/>
                </a:cubicBezTo>
                <a:cubicBezTo>
                  <a:pt x="1138463" y="450901"/>
                  <a:pt x="1132784" y="437831"/>
                  <a:pt x="1125937" y="432045"/>
                </a:cubicBezTo>
                <a:cubicBezTo>
                  <a:pt x="1110801" y="418544"/>
                  <a:pt x="1098254" y="411206"/>
                  <a:pt x="1080114" y="399315"/>
                </a:cubicBezTo>
                <a:cubicBezTo>
                  <a:pt x="1068242" y="391586"/>
                  <a:pt x="1056038" y="383166"/>
                  <a:pt x="1047383" y="373130"/>
                </a:cubicBezTo>
                <a:cubicBezTo>
                  <a:pt x="1028756" y="356869"/>
                  <a:pt x="1014134" y="334257"/>
                  <a:pt x="995014" y="320761"/>
                </a:cubicBezTo>
                <a:cubicBezTo>
                  <a:pt x="912209" y="271519"/>
                  <a:pt x="984184" y="326443"/>
                  <a:pt x="929552" y="268392"/>
                </a:cubicBezTo>
                <a:cubicBezTo>
                  <a:pt x="923358" y="263057"/>
                  <a:pt x="917687" y="259285"/>
                  <a:pt x="909914" y="255299"/>
                </a:cubicBezTo>
                <a:cubicBezTo>
                  <a:pt x="890752" y="242489"/>
                  <a:pt x="864593" y="217403"/>
                  <a:pt x="844453" y="209477"/>
                </a:cubicBezTo>
                <a:cubicBezTo>
                  <a:pt x="836048" y="205294"/>
                  <a:pt x="824548" y="201633"/>
                  <a:pt x="818268" y="196384"/>
                </a:cubicBezTo>
                <a:cubicBezTo>
                  <a:pt x="810546" y="191515"/>
                  <a:pt x="804979" y="184186"/>
                  <a:pt x="798630" y="176746"/>
                </a:cubicBezTo>
                <a:cubicBezTo>
                  <a:pt x="790589" y="169116"/>
                  <a:pt x="781331" y="165215"/>
                  <a:pt x="772445" y="157107"/>
                </a:cubicBezTo>
                <a:cubicBezTo>
                  <a:pt x="742376" y="130429"/>
                  <a:pt x="739458" y="115489"/>
                  <a:pt x="693891" y="91646"/>
                </a:cubicBezTo>
                <a:cubicBezTo>
                  <a:pt x="655755" y="73018"/>
                  <a:pt x="641215" y="64622"/>
                  <a:pt x="615337" y="52369"/>
                </a:cubicBezTo>
                <a:cubicBezTo>
                  <a:pt x="605260" y="47514"/>
                  <a:pt x="599862" y="42460"/>
                  <a:pt x="589152" y="39277"/>
                </a:cubicBezTo>
                <a:cubicBezTo>
                  <a:pt x="576939" y="36374"/>
                  <a:pt x="563039" y="31726"/>
                  <a:pt x="549876" y="26184"/>
                </a:cubicBezTo>
                <a:cubicBezTo>
                  <a:pt x="542714" y="22045"/>
                  <a:pt x="537705" y="16870"/>
                  <a:pt x="530237" y="13092"/>
                </a:cubicBezTo>
                <a:cubicBezTo>
                  <a:pt x="517246" y="6734"/>
                  <a:pt x="490463" y="1591"/>
                  <a:pt x="477868" y="0"/>
                </a:cubicBezTo>
                <a:cubicBezTo>
                  <a:pt x="405211" y="7139"/>
                  <a:pt x="341224" y="14550"/>
                  <a:pt x="274938" y="6545"/>
                </a:cubicBezTo>
                <a:cubicBezTo>
                  <a:pt x="264217" y="7566"/>
                  <a:pt x="251741" y="9078"/>
                  <a:pt x="242206" y="13092"/>
                </a:cubicBezTo>
                <a:cubicBezTo>
                  <a:pt x="228891" y="16723"/>
                  <a:pt x="202931" y="26184"/>
                  <a:pt x="202930" y="26184"/>
                </a:cubicBezTo>
                <a:cubicBezTo>
                  <a:pt x="193807" y="29209"/>
                  <a:pt x="175896" y="48022"/>
                  <a:pt x="163653" y="52369"/>
                </a:cubicBezTo>
                <a:cubicBezTo>
                  <a:pt x="157013" y="55247"/>
                  <a:pt x="149237" y="60188"/>
                  <a:pt x="144015" y="65461"/>
                </a:cubicBezTo>
                <a:cubicBezTo>
                  <a:pt x="137675" y="70607"/>
                  <a:pt x="131488" y="79087"/>
                  <a:pt x="124376" y="85100"/>
                </a:cubicBezTo>
                <a:cubicBezTo>
                  <a:pt x="53116" y="129678"/>
                  <a:pt x="106492" y="94857"/>
                  <a:pt x="72007" y="124376"/>
                </a:cubicBezTo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856648 w 1761423"/>
                      <a:gd name="connsiteY0" fmla="*/ 77002 h 1443790"/>
                      <a:gd name="connsiteX1" fmla="*/ 789271 w 1761423"/>
                      <a:gd name="connsiteY1" fmla="*/ 86627 h 1443790"/>
                      <a:gd name="connsiteX2" fmla="*/ 625642 w 1761423"/>
                      <a:gd name="connsiteY2" fmla="*/ 105878 h 1443790"/>
                      <a:gd name="connsiteX3" fmla="*/ 529389 w 1761423"/>
                      <a:gd name="connsiteY3" fmla="*/ 173255 h 1443790"/>
                      <a:gd name="connsiteX4" fmla="*/ 500513 w 1761423"/>
                      <a:gd name="connsiteY4" fmla="*/ 192505 h 1443790"/>
                      <a:gd name="connsiteX5" fmla="*/ 471638 w 1761423"/>
                      <a:gd name="connsiteY5" fmla="*/ 221381 h 1443790"/>
                      <a:gd name="connsiteX6" fmla="*/ 433137 w 1761423"/>
                      <a:gd name="connsiteY6" fmla="*/ 250257 h 1443790"/>
                      <a:gd name="connsiteX7" fmla="*/ 404261 w 1761423"/>
                      <a:gd name="connsiteY7" fmla="*/ 288758 h 1443790"/>
                      <a:gd name="connsiteX8" fmla="*/ 336884 w 1761423"/>
                      <a:gd name="connsiteY8" fmla="*/ 336884 h 1443790"/>
                      <a:gd name="connsiteX9" fmla="*/ 279132 w 1761423"/>
                      <a:gd name="connsiteY9" fmla="*/ 394636 h 1443790"/>
                      <a:gd name="connsiteX10" fmla="*/ 240631 w 1761423"/>
                      <a:gd name="connsiteY10" fmla="*/ 433137 h 1443790"/>
                      <a:gd name="connsiteX11" fmla="*/ 173254 w 1761423"/>
                      <a:gd name="connsiteY11" fmla="*/ 490889 h 1443790"/>
                      <a:gd name="connsiteX12" fmla="*/ 154004 w 1761423"/>
                      <a:gd name="connsiteY12" fmla="*/ 519764 h 1443790"/>
                      <a:gd name="connsiteX13" fmla="*/ 115503 w 1761423"/>
                      <a:gd name="connsiteY13" fmla="*/ 558265 h 1443790"/>
                      <a:gd name="connsiteX14" fmla="*/ 48126 w 1761423"/>
                      <a:gd name="connsiteY14" fmla="*/ 644893 h 1443790"/>
                      <a:gd name="connsiteX15" fmla="*/ 38501 w 1761423"/>
                      <a:gd name="connsiteY15" fmla="*/ 673769 h 1443790"/>
                      <a:gd name="connsiteX16" fmla="*/ 19250 w 1761423"/>
                      <a:gd name="connsiteY16" fmla="*/ 702644 h 1443790"/>
                      <a:gd name="connsiteX17" fmla="*/ 0 w 1761423"/>
                      <a:gd name="connsiteY17" fmla="*/ 760396 h 1443790"/>
                      <a:gd name="connsiteX18" fmla="*/ 19250 w 1761423"/>
                      <a:gd name="connsiteY18" fmla="*/ 914400 h 1443790"/>
                      <a:gd name="connsiteX19" fmla="*/ 38501 w 1761423"/>
                      <a:gd name="connsiteY19" fmla="*/ 952901 h 1443790"/>
                      <a:gd name="connsiteX20" fmla="*/ 48126 w 1761423"/>
                      <a:gd name="connsiteY20" fmla="*/ 981777 h 1443790"/>
                      <a:gd name="connsiteX21" fmla="*/ 67377 w 1761423"/>
                      <a:gd name="connsiteY21" fmla="*/ 1020278 h 1443790"/>
                      <a:gd name="connsiteX22" fmla="*/ 77002 w 1761423"/>
                      <a:gd name="connsiteY22" fmla="*/ 1049154 h 1443790"/>
                      <a:gd name="connsiteX23" fmla="*/ 105878 w 1761423"/>
                      <a:gd name="connsiteY23" fmla="*/ 1087655 h 1443790"/>
                      <a:gd name="connsiteX24" fmla="*/ 125128 w 1761423"/>
                      <a:gd name="connsiteY24" fmla="*/ 1126156 h 1443790"/>
                      <a:gd name="connsiteX25" fmla="*/ 211756 w 1761423"/>
                      <a:gd name="connsiteY25" fmla="*/ 1203158 h 1443790"/>
                      <a:gd name="connsiteX26" fmla="*/ 250257 w 1761423"/>
                      <a:gd name="connsiteY26" fmla="*/ 1232034 h 1443790"/>
                      <a:gd name="connsiteX27" fmla="*/ 298383 w 1761423"/>
                      <a:gd name="connsiteY27" fmla="*/ 1260910 h 1443790"/>
                      <a:gd name="connsiteX28" fmla="*/ 336884 w 1761423"/>
                      <a:gd name="connsiteY28" fmla="*/ 1289785 h 1443790"/>
                      <a:gd name="connsiteX29" fmla="*/ 365760 w 1761423"/>
                      <a:gd name="connsiteY29" fmla="*/ 1299411 h 1443790"/>
                      <a:gd name="connsiteX30" fmla="*/ 462012 w 1761423"/>
                      <a:gd name="connsiteY30" fmla="*/ 1357162 h 1443790"/>
                      <a:gd name="connsiteX31" fmla="*/ 519764 w 1761423"/>
                      <a:gd name="connsiteY31" fmla="*/ 1376413 h 1443790"/>
                      <a:gd name="connsiteX32" fmla="*/ 558265 w 1761423"/>
                      <a:gd name="connsiteY32" fmla="*/ 1395663 h 1443790"/>
                      <a:gd name="connsiteX33" fmla="*/ 702644 w 1761423"/>
                      <a:gd name="connsiteY33" fmla="*/ 1424539 h 1443790"/>
                      <a:gd name="connsiteX34" fmla="*/ 904774 w 1761423"/>
                      <a:gd name="connsiteY34" fmla="*/ 1443790 h 1443790"/>
                      <a:gd name="connsiteX35" fmla="*/ 1309036 w 1761423"/>
                      <a:gd name="connsiteY35" fmla="*/ 1434164 h 1443790"/>
                      <a:gd name="connsiteX36" fmla="*/ 1347537 w 1761423"/>
                      <a:gd name="connsiteY36" fmla="*/ 1424539 h 1443790"/>
                      <a:gd name="connsiteX37" fmla="*/ 1434164 w 1761423"/>
                      <a:gd name="connsiteY37" fmla="*/ 1376413 h 1443790"/>
                      <a:gd name="connsiteX38" fmla="*/ 1463040 w 1761423"/>
                      <a:gd name="connsiteY38" fmla="*/ 1366787 h 1443790"/>
                      <a:gd name="connsiteX39" fmla="*/ 1511166 w 1761423"/>
                      <a:gd name="connsiteY39" fmla="*/ 1328286 h 1443790"/>
                      <a:gd name="connsiteX40" fmla="*/ 1578543 w 1761423"/>
                      <a:gd name="connsiteY40" fmla="*/ 1280160 h 1443790"/>
                      <a:gd name="connsiteX41" fmla="*/ 1645920 w 1761423"/>
                      <a:gd name="connsiteY41" fmla="*/ 1212783 h 1443790"/>
                      <a:gd name="connsiteX42" fmla="*/ 1684421 w 1761423"/>
                      <a:gd name="connsiteY42" fmla="*/ 1174282 h 1443790"/>
                      <a:gd name="connsiteX43" fmla="*/ 1742172 w 1761423"/>
                      <a:gd name="connsiteY43" fmla="*/ 1068404 h 1443790"/>
                      <a:gd name="connsiteX44" fmla="*/ 1761423 w 1761423"/>
                      <a:gd name="connsiteY44" fmla="*/ 1001027 h 1443790"/>
                      <a:gd name="connsiteX45" fmla="*/ 1751798 w 1761423"/>
                      <a:gd name="connsiteY45" fmla="*/ 798897 h 1443790"/>
                      <a:gd name="connsiteX46" fmla="*/ 1742172 w 1761423"/>
                      <a:gd name="connsiteY46" fmla="*/ 770021 h 1443790"/>
                      <a:gd name="connsiteX47" fmla="*/ 1732547 w 1761423"/>
                      <a:gd name="connsiteY47" fmla="*/ 731520 h 1443790"/>
                      <a:gd name="connsiteX48" fmla="*/ 1684421 w 1761423"/>
                      <a:gd name="connsiteY48" fmla="*/ 673769 h 1443790"/>
                      <a:gd name="connsiteX49" fmla="*/ 1655545 w 1761423"/>
                      <a:gd name="connsiteY49" fmla="*/ 635267 h 1443790"/>
                      <a:gd name="connsiteX50" fmla="*/ 1588168 w 1761423"/>
                      <a:gd name="connsiteY50" fmla="*/ 587141 h 1443790"/>
                      <a:gd name="connsiteX51" fmla="*/ 1540042 w 1761423"/>
                      <a:gd name="connsiteY51" fmla="*/ 548640 h 1443790"/>
                      <a:gd name="connsiteX52" fmla="*/ 1463040 w 1761423"/>
                      <a:gd name="connsiteY52" fmla="*/ 471638 h 1443790"/>
                      <a:gd name="connsiteX53" fmla="*/ 1366787 w 1761423"/>
                      <a:gd name="connsiteY53" fmla="*/ 394636 h 1443790"/>
                      <a:gd name="connsiteX54" fmla="*/ 1337911 w 1761423"/>
                      <a:gd name="connsiteY54" fmla="*/ 375385 h 1443790"/>
                      <a:gd name="connsiteX55" fmla="*/ 1241659 w 1761423"/>
                      <a:gd name="connsiteY55" fmla="*/ 308009 h 1443790"/>
                      <a:gd name="connsiteX56" fmla="*/ 1203158 w 1761423"/>
                      <a:gd name="connsiteY56" fmla="*/ 288758 h 1443790"/>
                      <a:gd name="connsiteX57" fmla="*/ 1174282 w 1761423"/>
                      <a:gd name="connsiteY57" fmla="*/ 259882 h 1443790"/>
                      <a:gd name="connsiteX58" fmla="*/ 1135781 w 1761423"/>
                      <a:gd name="connsiteY58" fmla="*/ 231006 h 1443790"/>
                      <a:gd name="connsiteX59" fmla="*/ 1020278 w 1761423"/>
                      <a:gd name="connsiteY59" fmla="*/ 134754 h 1443790"/>
                      <a:gd name="connsiteX60" fmla="*/ 904774 w 1761423"/>
                      <a:gd name="connsiteY60" fmla="*/ 77002 h 1443790"/>
                      <a:gd name="connsiteX61" fmla="*/ 866273 w 1761423"/>
                      <a:gd name="connsiteY61" fmla="*/ 57752 h 1443790"/>
                      <a:gd name="connsiteX62" fmla="*/ 808522 w 1761423"/>
                      <a:gd name="connsiteY62" fmla="*/ 38501 h 1443790"/>
                      <a:gd name="connsiteX63" fmla="*/ 779646 w 1761423"/>
                      <a:gd name="connsiteY63" fmla="*/ 19251 h 1443790"/>
                      <a:gd name="connsiteX64" fmla="*/ 702644 w 1761423"/>
                      <a:gd name="connsiteY64" fmla="*/ 0 h 1443790"/>
                      <a:gd name="connsiteX65" fmla="*/ 404261 w 1761423"/>
                      <a:gd name="connsiteY65" fmla="*/ 9625 h 1443790"/>
                      <a:gd name="connsiteX66" fmla="*/ 356134 w 1761423"/>
                      <a:gd name="connsiteY66" fmla="*/ 19251 h 1443790"/>
                      <a:gd name="connsiteX67" fmla="*/ 298383 w 1761423"/>
                      <a:gd name="connsiteY67" fmla="*/ 38501 h 1443790"/>
                      <a:gd name="connsiteX68" fmla="*/ 240631 w 1761423"/>
                      <a:gd name="connsiteY68" fmla="*/ 77002 h 1443790"/>
                      <a:gd name="connsiteX69" fmla="*/ 211756 w 1761423"/>
                      <a:gd name="connsiteY69" fmla="*/ 96253 h 1443790"/>
                      <a:gd name="connsiteX70" fmla="*/ 182880 w 1761423"/>
                      <a:gd name="connsiteY70" fmla="*/ 125129 h 1443790"/>
                      <a:gd name="connsiteX71" fmla="*/ 105878 w 1761423"/>
                      <a:gd name="connsiteY71" fmla="*/ 182880 h 1443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</a:cxnLst>
                    <a:rect l="l" t="t" r="r" b="b"/>
                    <a:pathLst>
                      <a:path w="1761423" h="1443790">
                        <a:moveTo>
                          <a:pt x="856648" y="77002"/>
                        </a:moveTo>
                        <a:cubicBezTo>
                          <a:pt x="834189" y="80210"/>
                          <a:pt x="811856" y="84476"/>
                          <a:pt x="789271" y="86627"/>
                        </a:cubicBezTo>
                        <a:cubicBezTo>
                          <a:pt x="629912" y="101804"/>
                          <a:pt x="700503" y="80925"/>
                          <a:pt x="625642" y="105878"/>
                        </a:cubicBezTo>
                        <a:cubicBezTo>
                          <a:pt x="492853" y="194403"/>
                          <a:pt x="629172" y="101982"/>
                          <a:pt x="529389" y="173255"/>
                        </a:cubicBezTo>
                        <a:cubicBezTo>
                          <a:pt x="519976" y="179979"/>
                          <a:pt x="509400" y="185099"/>
                          <a:pt x="500513" y="192505"/>
                        </a:cubicBezTo>
                        <a:cubicBezTo>
                          <a:pt x="490056" y="201219"/>
                          <a:pt x="481973" y="212522"/>
                          <a:pt x="471638" y="221381"/>
                        </a:cubicBezTo>
                        <a:cubicBezTo>
                          <a:pt x="459458" y="231821"/>
                          <a:pt x="444481" y="238913"/>
                          <a:pt x="433137" y="250257"/>
                        </a:cubicBezTo>
                        <a:cubicBezTo>
                          <a:pt x="421793" y="261601"/>
                          <a:pt x="415605" y="277414"/>
                          <a:pt x="404261" y="288758"/>
                        </a:cubicBezTo>
                        <a:cubicBezTo>
                          <a:pt x="392319" y="300700"/>
                          <a:pt x="353283" y="325952"/>
                          <a:pt x="336884" y="336884"/>
                        </a:cubicBezTo>
                        <a:cubicBezTo>
                          <a:pt x="301847" y="389439"/>
                          <a:pt x="336439" y="344492"/>
                          <a:pt x="279132" y="394636"/>
                        </a:cubicBezTo>
                        <a:cubicBezTo>
                          <a:pt x="265473" y="406588"/>
                          <a:pt x="254290" y="421185"/>
                          <a:pt x="240631" y="433137"/>
                        </a:cubicBezTo>
                        <a:cubicBezTo>
                          <a:pt x="201412" y="467453"/>
                          <a:pt x="204842" y="452983"/>
                          <a:pt x="173254" y="490889"/>
                        </a:cubicBezTo>
                        <a:cubicBezTo>
                          <a:pt x="165848" y="499776"/>
                          <a:pt x="161532" y="510981"/>
                          <a:pt x="154004" y="519764"/>
                        </a:cubicBezTo>
                        <a:cubicBezTo>
                          <a:pt x="142192" y="533544"/>
                          <a:pt x="126841" y="544093"/>
                          <a:pt x="115503" y="558265"/>
                        </a:cubicBezTo>
                        <a:cubicBezTo>
                          <a:pt x="23400" y="673395"/>
                          <a:pt x="120456" y="572563"/>
                          <a:pt x="48126" y="644893"/>
                        </a:cubicBezTo>
                        <a:cubicBezTo>
                          <a:pt x="44918" y="654518"/>
                          <a:pt x="43038" y="664694"/>
                          <a:pt x="38501" y="673769"/>
                        </a:cubicBezTo>
                        <a:cubicBezTo>
                          <a:pt x="33328" y="684116"/>
                          <a:pt x="23948" y="692073"/>
                          <a:pt x="19250" y="702644"/>
                        </a:cubicBezTo>
                        <a:cubicBezTo>
                          <a:pt x="11009" y="721187"/>
                          <a:pt x="0" y="760396"/>
                          <a:pt x="0" y="760396"/>
                        </a:cubicBezTo>
                        <a:cubicBezTo>
                          <a:pt x="2130" y="783824"/>
                          <a:pt x="6819" y="877107"/>
                          <a:pt x="19250" y="914400"/>
                        </a:cubicBezTo>
                        <a:cubicBezTo>
                          <a:pt x="23787" y="928012"/>
                          <a:pt x="32849" y="939713"/>
                          <a:pt x="38501" y="952901"/>
                        </a:cubicBezTo>
                        <a:cubicBezTo>
                          <a:pt x="42498" y="962227"/>
                          <a:pt x="44129" y="972451"/>
                          <a:pt x="48126" y="981777"/>
                        </a:cubicBezTo>
                        <a:cubicBezTo>
                          <a:pt x="53778" y="994965"/>
                          <a:pt x="61725" y="1007090"/>
                          <a:pt x="67377" y="1020278"/>
                        </a:cubicBezTo>
                        <a:cubicBezTo>
                          <a:pt x="71374" y="1029604"/>
                          <a:pt x="71968" y="1040345"/>
                          <a:pt x="77002" y="1049154"/>
                        </a:cubicBezTo>
                        <a:cubicBezTo>
                          <a:pt x="84961" y="1063082"/>
                          <a:pt x="97376" y="1074051"/>
                          <a:pt x="105878" y="1087655"/>
                        </a:cubicBezTo>
                        <a:cubicBezTo>
                          <a:pt x="113483" y="1099822"/>
                          <a:pt x="116165" y="1114952"/>
                          <a:pt x="125128" y="1126156"/>
                        </a:cubicBezTo>
                        <a:cubicBezTo>
                          <a:pt x="171068" y="1183581"/>
                          <a:pt x="168723" y="1172420"/>
                          <a:pt x="211756" y="1203158"/>
                        </a:cubicBezTo>
                        <a:cubicBezTo>
                          <a:pt x="224810" y="1212482"/>
                          <a:pt x="236909" y="1223135"/>
                          <a:pt x="250257" y="1232034"/>
                        </a:cubicBezTo>
                        <a:cubicBezTo>
                          <a:pt x="265823" y="1242411"/>
                          <a:pt x="282817" y="1250533"/>
                          <a:pt x="298383" y="1260910"/>
                        </a:cubicBezTo>
                        <a:cubicBezTo>
                          <a:pt x="311731" y="1269808"/>
                          <a:pt x="322956" y="1281826"/>
                          <a:pt x="336884" y="1289785"/>
                        </a:cubicBezTo>
                        <a:cubicBezTo>
                          <a:pt x="345693" y="1294819"/>
                          <a:pt x="356891" y="1294484"/>
                          <a:pt x="365760" y="1299411"/>
                        </a:cubicBezTo>
                        <a:cubicBezTo>
                          <a:pt x="423874" y="1331697"/>
                          <a:pt x="409996" y="1336356"/>
                          <a:pt x="462012" y="1357162"/>
                        </a:cubicBezTo>
                        <a:cubicBezTo>
                          <a:pt x="480853" y="1364698"/>
                          <a:pt x="501614" y="1367338"/>
                          <a:pt x="519764" y="1376413"/>
                        </a:cubicBezTo>
                        <a:cubicBezTo>
                          <a:pt x="532598" y="1382830"/>
                          <a:pt x="544653" y="1391126"/>
                          <a:pt x="558265" y="1395663"/>
                        </a:cubicBezTo>
                        <a:cubicBezTo>
                          <a:pt x="623364" y="1417363"/>
                          <a:pt x="638156" y="1413791"/>
                          <a:pt x="702644" y="1424539"/>
                        </a:cubicBezTo>
                        <a:cubicBezTo>
                          <a:pt x="832749" y="1446223"/>
                          <a:pt x="635272" y="1426945"/>
                          <a:pt x="904774" y="1443790"/>
                        </a:cubicBezTo>
                        <a:lnTo>
                          <a:pt x="1309036" y="1434164"/>
                        </a:lnTo>
                        <a:cubicBezTo>
                          <a:pt x="1322252" y="1433589"/>
                          <a:pt x="1335151" y="1429184"/>
                          <a:pt x="1347537" y="1424539"/>
                        </a:cubicBezTo>
                        <a:cubicBezTo>
                          <a:pt x="1384618" y="1410634"/>
                          <a:pt x="1397404" y="1394794"/>
                          <a:pt x="1434164" y="1376413"/>
                        </a:cubicBezTo>
                        <a:cubicBezTo>
                          <a:pt x="1443239" y="1371875"/>
                          <a:pt x="1453415" y="1369996"/>
                          <a:pt x="1463040" y="1366787"/>
                        </a:cubicBezTo>
                        <a:cubicBezTo>
                          <a:pt x="1479082" y="1353953"/>
                          <a:pt x="1494731" y="1340612"/>
                          <a:pt x="1511166" y="1328286"/>
                        </a:cubicBezTo>
                        <a:cubicBezTo>
                          <a:pt x="1541077" y="1305853"/>
                          <a:pt x="1547863" y="1308051"/>
                          <a:pt x="1578543" y="1280160"/>
                        </a:cubicBezTo>
                        <a:cubicBezTo>
                          <a:pt x="1602045" y="1258795"/>
                          <a:pt x="1623461" y="1235242"/>
                          <a:pt x="1645920" y="1212783"/>
                        </a:cubicBezTo>
                        <a:cubicBezTo>
                          <a:pt x="1658754" y="1199949"/>
                          <a:pt x="1674354" y="1189383"/>
                          <a:pt x="1684421" y="1174282"/>
                        </a:cubicBezTo>
                        <a:cubicBezTo>
                          <a:pt x="1707853" y="1139134"/>
                          <a:pt x="1727612" y="1112080"/>
                          <a:pt x="1742172" y="1068404"/>
                        </a:cubicBezTo>
                        <a:cubicBezTo>
                          <a:pt x="1755982" y="1026979"/>
                          <a:pt x="1749337" y="1049372"/>
                          <a:pt x="1761423" y="1001027"/>
                        </a:cubicBezTo>
                        <a:cubicBezTo>
                          <a:pt x="1758215" y="933650"/>
                          <a:pt x="1757400" y="866117"/>
                          <a:pt x="1751798" y="798897"/>
                        </a:cubicBezTo>
                        <a:cubicBezTo>
                          <a:pt x="1750955" y="788786"/>
                          <a:pt x="1744959" y="779777"/>
                          <a:pt x="1742172" y="770021"/>
                        </a:cubicBezTo>
                        <a:cubicBezTo>
                          <a:pt x="1738538" y="757301"/>
                          <a:pt x="1737758" y="743679"/>
                          <a:pt x="1732547" y="731520"/>
                        </a:cubicBezTo>
                        <a:cubicBezTo>
                          <a:pt x="1720390" y="703152"/>
                          <a:pt x="1704247" y="696899"/>
                          <a:pt x="1684421" y="673769"/>
                        </a:cubicBezTo>
                        <a:cubicBezTo>
                          <a:pt x="1673981" y="661589"/>
                          <a:pt x="1666889" y="646611"/>
                          <a:pt x="1655545" y="635267"/>
                        </a:cubicBezTo>
                        <a:cubicBezTo>
                          <a:pt x="1636033" y="615755"/>
                          <a:pt x="1610024" y="603533"/>
                          <a:pt x="1588168" y="587141"/>
                        </a:cubicBezTo>
                        <a:cubicBezTo>
                          <a:pt x="1571733" y="574815"/>
                          <a:pt x="1555138" y="562574"/>
                          <a:pt x="1540042" y="548640"/>
                        </a:cubicBezTo>
                        <a:cubicBezTo>
                          <a:pt x="1513369" y="524019"/>
                          <a:pt x="1493243" y="491773"/>
                          <a:pt x="1463040" y="471638"/>
                        </a:cubicBezTo>
                        <a:cubicBezTo>
                          <a:pt x="1337740" y="388105"/>
                          <a:pt x="1462790" y="476925"/>
                          <a:pt x="1366787" y="394636"/>
                        </a:cubicBezTo>
                        <a:cubicBezTo>
                          <a:pt x="1358004" y="387107"/>
                          <a:pt x="1347325" y="382109"/>
                          <a:pt x="1337911" y="375385"/>
                        </a:cubicBezTo>
                        <a:cubicBezTo>
                          <a:pt x="1309747" y="355268"/>
                          <a:pt x="1271156" y="322758"/>
                          <a:pt x="1241659" y="308009"/>
                        </a:cubicBezTo>
                        <a:cubicBezTo>
                          <a:pt x="1228825" y="301592"/>
                          <a:pt x="1214834" y="297098"/>
                          <a:pt x="1203158" y="288758"/>
                        </a:cubicBezTo>
                        <a:cubicBezTo>
                          <a:pt x="1192081" y="280846"/>
                          <a:pt x="1184617" y="268741"/>
                          <a:pt x="1174282" y="259882"/>
                        </a:cubicBezTo>
                        <a:cubicBezTo>
                          <a:pt x="1162102" y="249442"/>
                          <a:pt x="1147854" y="241570"/>
                          <a:pt x="1135781" y="231006"/>
                        </a:cubicBezTo>
                        <a:cubicBezTo>
                          <a:pt x="1088712" y="189820"/>
                          <a:pt x="1086841" y="168036"/>
                          <a:pt x="1020278" y="134754"/>
                        </a:cubicBezTo>
                        <a:lnTo>
                          <a:pt x="904774" y="77002"/>
                        </a:lnTo>
                        <a:cubicBezTo>
                          <a:pt x="891940" y="70585"/>
                          <a:pt x="879885" y="62290"/>
                          <a:pt x="866273" y="57752"/>
                        </a:cubicBezTo>
                        <a:cubicBezTo>
                          <a:pt x="847023" y="51335"/>
                          <a:pt x="825406" y="49757"/>
                          <a:pt x="808522" y="38501"/>
                        </a:cubicBezTo>
                        <a:cubicBezTo>
                          <a:pt x="798897" y="32084"/>
                          <a:pt x="789993" y="24424"/>
                          <a:pt x="779646" y="19251"/>
                        </a:cubicBezTo>
                        <a:cubicBezTo>
                          <a:pt x="759911" y="9383"/>
                          <a:pt x="720956" y="3662"/>
                          <a:pt x="702644" y="0"/>
                        </a:cubicBezTo>
                        <a:cubicBezTo>
                          <a:pt x="603183" y="3208"/>
                          <a:pt x="503621" y="4105"/>
                          <a:pt x="404261" y="9625"/>
                        </a:cubicBezTo>
                        <a:cubicBezTo>
                          <a:pt x="387926" y="10533"/>
                          <a:pt x="371918" y="14946"/>
                          <a:pt x="356134" y="19251"/>
                        </a:cubicBezTo>
                        <a:cubicBezTo>
                          <a:pt x="336557" y="24590"/>
                          <a:pt x="298383" y="38501"/>
                          <a:pt x="298383" y="38501"/>
                        </a:cubicBezTo>
                        <a:lnTo>
                          <a:pt x="240631" y="77002"/>
                        </a:lnTo>
                        <a:cubicBezTo>
                          <a:pt x="231006" y="83419"/>
                          <a:pt x="219936" y="88073"/>
                          <a:pt x="211756" y="96253"/>
                        </a:cubicBezTo>
                        <a:cubicBezTo>
                          <a:pt x="202131" y="105878"/>
                          <a:pt x="193625" y="116772"/>
                          <a:pt x="182880" y="125129"/>
                        </a:cubicBezTo>
                        <a:cubicBezTo>
                          <a:pt x="84926" y="201315"/>
                          <a:pt x="154294" y="134464"/>
                          <a:pt x="105878" y="18288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2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E826E8-BEB6-B14B-853C-F14E0458A990}"/>
                  </a:ext>
                </a:extLst>
              </p:cNvPr>
              <p:cNvSpPr txBox="1"/>
              <p:nvPr/>
            </p:nvSpPr>
            <p:spPr>
              <a:xfrm>
                <a:off x="7659659" y="1295852"/>
                <a:ext cx="347852" cy="5273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32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1632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3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32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32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E826E8-BEB6-B14B-853C-F14E0458A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659" y="1295852"/>
                <a:ext cx="347852" cy="527388"/>
              </a:xfrm>
              <a:prstGeom prst="rect">
                <a:avLst/>
              </a:prstGeom>
              <a:blipFill>
                <a:blip r:embed="rId4"/>
                <a:stretch>
                  <a:fillRect l="-14286" t="-4762" r="-714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880D-FAD4-1041-B477-E10478EF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Обратное распространение ошибки</a:t>
            </a:r>
            <a:endParaRPr lang="en-T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E022D-E5E4-9342-966C-A0987DBA433D}"/>
              </a:ext>
            </a:extLst>
          </p:cNvPr>
          <p:cNvSpPr txBox="1"/>
          <p:nvPr/>
        </p:nvSpPr>
        <p:spPr>
          <a:xfrm>
            <a:off x="1676400" y="4154943"/>
            <a:ext cx="510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https://www.youtube.com/watch?v=JwpFvFpbOGc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https://www.youtube.com/watch?v=rP_k8cpsNWY</a:t>
            </a:r>
            <a:r>
              <a:rPr lang="en-US" dirty="0"/>
              <a:t> 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B705411-0B70-FE4B-8131-036E1BDA9570}"/>
              </a:ext>
            </a:extLst>
          </p:cNvPr>
          <p:cNvSpPr/>
          <p:nvPr/>
        </p:nvSpPr>
        <p:spPr>
          <a:xfrm>
            <a:off x="1828800" y="1047750"/>
            <a:ext cx="5039283" cy="27399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475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09082-F725-E849-894F-960A7F4A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Градиентный спуск</a:t>
            </a:r>
            <a:endParaRPr lang="en-T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2E77E2-B774-9741-AC9E-0008EBC5E969}"/>
              </a:ext>
            </a:extLst>
          </p:cNvPr>
          <p:cNvSpPr txBox="1"/>
          <p:nvPr/>
        </p:nvSpPr>
        <p:spPr>
          <a:xfrm>
            <a:off x="1905000" y="1000056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Функция потерь</a:t>
            </a:r>
            <a:endParaRPr lang="en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C7A81C-1641-0242-9A31-8DB3C0D3C899}"/>
                  </a:ext>
                </a:extLst>
              </p:cNvPr>
              <p:cNvSpPr txBox="1"/>
              <p:nvPr/>
            </p:nvSpPr>
            <p:spPr>
              <a:xfrm>
                <a:off x="5715000" y="514350"/>
                <a:ext cx="1933863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dirty="0"/>
                  <a:t>Веса сети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TR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T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TR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T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C7A81C-1641-0242-9A31-8DB3C0D3C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14350"/>
                <a:ext cx="1933863" cy="1020472"/>
              </a:xfrm>
              <a:prstGeom prst="rect">
                <a:avLst/>
              </a:prstGeom>
              <a:blipFill>
                <a:blip r:embed="rId2"/>
                <a:stretch>
                  <a:fillRect l="-7843" b="-2469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C8FECD9-EFFE-1F46-A85E-657CD4E33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50" y="1534822"/>
            <a:ext cx="4147650" cy="3457142"/>
          </a:xfrm>
          <a:prstGeom prst="rect">
            <a:avLst/>
          </a:prstGeom>
          <a:ln>
            <a:noFill/>
          </a:ln>
          <a:effectLst>
            <a:softEdge rad="508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9EFBF8-9C4D-564F-8A4C-DA2B3E1301CA}"/>
                  </a:ext>
                </a:extLst>
              </p:cNvPr>
              <p:cNvSpPr txBox="1"/>
              <p:nvPr/>
            </p:nvSpPr>
            <p:spPr>
              <a:xfrm>
                <a:off x="6248400" y="1718448"/>
                <a:ext cx="1682484" cy="2113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T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TR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T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9EFBF8-9C4D-564F-8A4C-DA2B3E130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1718448"/>
                <a:ext cx="1682484" cy="21138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02FDBA-0D4D-B54A-BAA2-B63B8C8D9779}"/>
                  </a:ext>
                </a:extLst>
              </p:cNvPr>
              <p:cNvSpPr txBox="1"/>
              <p:nvPr/>
            </p:nvSpPr>
            <p:spPr>
              <a:xfrm>
                <a:off x="5053499" y="4095750"/>
                <a:ext cx="5442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p>
                      </m:sSup>
                    </m:oMath>
                  </m:oMathPara>
                </a14:m>
                <a:endParaRPr lang="en-TR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02FDBA-0D4D-B54A-BAA2-B63B8C8D9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99" y="4095750"/>
                <a:ext cx="544252" cy="276999"/>
              </a:xfrm>
              <a:prstGeom prst="rect">
                <a:avLst/>
              </a:prstGeom>
              <a:blipFill>
                <a:blip r:embed="rId5"/>
                <a:stretch>
                  <a:fillRect l="-2273" t="-4348" r="-454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787995-FD60-0D41-A6AB-C2C433D9E8A2}"/>
                  </a:ext>
                </a:extLst>
              </p:cNvPr>
              <p:cNvSpPr txBox="1"/>
              <p:nvPr/>
            </p:nvSpPr>
            <p:spPr>
              <a:xfrm>
                <a:off x="5053499" y="4405633"/>
                <a:ext cx="27072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787995-FD60-0D41-A6AB-C2C433D9E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99" y="4405633"/>
                <a:ext cx="2707280" cy="276999"/>
              </a:xfrm>
              <a:prstGeom prst="rect">
                <a:avLst/>
              </a:prstGeom>
              <a:blipFill>
                <a:blip r:embed="rId6"/>
                <a:stretch>
                  <a:fillRect l="-465" t="-9091" r="-2326" b="-36364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946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Градиентный спуск</a:t>
            </a: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777FD03-3865-BEEA-5489-9DA9D0AE7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0" y="817424"/>
            <a:ext cx="5262439" cy="4149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FB4D40-C656-0147-91C5-6D326771B3D7}"/>
                  </a:ext>
                </a:extLst>
              </p:cNvPr>
              <p:cNvSpPr txBox="1"/>
              <p:nvPr/>
            </p:nvSpPr>
            <p:spPr>
              <a:xfrm>
                <a:off x="5638800" y="803238"/>
                <a:ext cx="5442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p>
                      </m:sSup>
                    </m:oMath>
                  </m:oMathPara>
                </a14:m>
                <a:endParaRPr lang="en-TR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FB4D40-C656-0147-91C5-6D326771B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803238"/>
                <a:ext cx="544252" cy="276999"/>
              </a:xfrm>
              <a:prstGeom prst="rect">
                <a:avLst/>
              </a:prstGeom>
              <a:blipFill>
                <a:blip r:embed="rId4"/>
                <a:stretch>
                  <a:fillRect l="-4651" t="-4545" r="-4651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0BF5D0-FEE2-2D4A-9F67-E8F8BB29CA6B}"/>
                  </a:ext>
                </a:extLst>
              </p:cNvPr>
              <p:cNvSpPr txBox="1"/>
              <p:nvPr/>
            </p:nvSpPr>
            <p:spPr>
              <a:xfrm>
                <a:off x="5638800" y="1091374"/>
                <a:ext cx="27072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0BF5D0-FEE2-2D4A-9F67-E8F8BB29C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1091374"/>
                <a:ext cx="2707280" cy="276999"/>
              </a:xfrm>
              <a:prstGeom prst="rect">
                <a:avLst/>
              </a:prstGeom>
              <a:blipFill>
                <a:blip r:embed="rId5"/>
                <a:stretch>
                  <a:fillRect l="-467" t="-4348" r="-2336" b="-34783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6BC42D-0F90-084D-8012-3CBC9C4551C1}"/>
                  </a:ext>
                </a:extLst>
              </p:cNvPr>
              <p:cNvSpPr txBox="1"/>
              <p:nvPr/>
            </p:nvSpPr>
            <p:spPr>
              <a:xfrm>
                <a:off x="5638800" y="1667646"/>
                <a:ext cx="27072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6BC42D-0F90-084D-8012-3CBC9C455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1667646"/>
                <a:ext cx="2707280" cy="276999"/>
              </a:xfrm>
              <a:prstGeom prst="rect">
                <a:avLst/>
              </a:prstGeom>
              <a:blipFill>
                <a:blip r:embed="rId6"/>
                <a:stretch>
                  <a:fillRect l="-467" t="-4348" r="-2336" b="-34783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298A21-DB7F-7146-9D64-02CD5962FB27}"/>
                  </a:ext>
                </a:extLst>
              </p:cNvPr>
              <p:cNvSpPr txBox="1"/>
              <p:nvPr/>
            </p:nvSpPr>
            <p:spPr>
              <a:xfrm>
                <a:off x="5638800" y="1379510"/>
                <a:ext cx="27072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298A21-DB7F-7146-9D64-02CD5962F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1379510"/>
                <a:ext cx="2707280" cy="276999"/>
              </a:xfrm>
              <a:prstGeom prst="rect">
                <a:avLst/>
              </a:prstGeom>
              <a:blipFill>
                <a:blip r:embed="rId7"/>
                <a:stretch>
                  <a:fillRect l="-467" t="-4348" r="-2336" b="-34783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F4C52A-714C-8A49-A3A8-290563A0EF93}"/>
                  </a:ext>
                </a:extLst>
              </p:cNvPr>
              <p:cNvSpPr txBox="1"/>
              <p:nvPr/>
            </p:nvSpPr>
            <p:spPr>
              <a:xfrm>
                <a:off x="5638800" y="2243916"/>
                <a:ext cx="25807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F4C52A-714C-8A49-A3A8-290563A0E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243916"/>
                <a:ext cx="2580771" cy="276999"/>
              </a:xfrm>
              <a:prstGeom prst="rect">
                <a:avLst/>
              </a:prstGeom>
              <a:blipFill>
                <a:blip r:embed="rId8"/>
                <a:stretch>
                  <a:fillRect l="-980" t="-4348" r="-2451" b="-34783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BFC1EA-7517-4E4B-9EED-657B568A6B3D}"/>
                  </a:ext>
                </a:extLst>
              </p:cNvPr>
              <p:cNvSpPr txBox="1"/>
              <p:nvPr/>
            </p:nvSpPr>
            <p:spPr>
              <a:xfrm>
                <a:off x="5638800" y="1955782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TR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BFC1EA-7517-4E4B-9EED-657B568A6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1955782"/>
                <a:ext cx="22602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195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SGD </a:t>
            </a:r>
            <a:r>
              <a:rPr lang="ru-RU" dirty="0"/>
              <a:t>и метод моментов</a:t>
            </a:r>
          </a:p>
        </p:txBody>
      </p:sp>
    </p:spTree>
    <p:extLst>
      <p:ext uri="{BB962C8B-B14F-4D97-AF65-F5344CB8AC3E}">
        <p14:creationId xmlns:p14="http://schemas.microsoft.com/office/powerpoint/2010/main" val="1312907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Градиентный спуск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D02D29-3306-CA49-B5A6-F6B79BFD47C8}"/>
              </a:ext>
            </a:extLst>
          </p:cNvPr>
          <p:cNvGrpSpPr/>
          <p:nvPr/>
        </p:nvGrpSpPr>
        <p:grpSpPr>
          <a:xfrm>
            <a:off x="304800" y="971550"/>
            <a:ext cx="6019800" cy="3761678"/>
            <a:chOff x="304800" y="971550"/>
            <a:chExt cx="6019800" cy="376167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4537E0-DB1C-9B47-9C80-393428B0E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800" y="971550"/>
              <a:ext cx="6019800" cy="376167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C7964A-0A94-1740-834D-9899FED66FA4}"/>
                </a:ext>
              </a:extLst>
            </p:cNvPr>
            <p:cNvSpPr txBox="1"/>
            <p:nvPr/>
          </p:nvSpPr>
          <p:spPr>
            <a:xfrm>
              <a:off x="762000" y="1015484"/>
              <a:ext cx="179312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Gradient descent</a:t>
              </a:r>
              <a:endParaRPr lang="en-TR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A9A3607-A232-3B4A-BE7A-008FFB800A53}"/>
                </a:ext>
              </a:extLst>
            </p:cNvPr>
            <p:cNvSpPr txBox="1"/>
            <p:nvPr/>
          </p:nvSpPr>
          <p:spPr>
            <a:xfrm>
              <a:off x="1600200" y="2952750"/>
              <a:ext cx="279339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Stochastic Gradient descent</a:t>
              </a:r>
              <a:endParaRPr lang="en-TR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388F2B-DB16-F648-9D3B-2505CDCF1206}"/>
                </a:ext>
              </a:extLst>
            </p:cNvPr>
            <p:cNvSpPr txBox="1"/>
            <p:nvPr/>
          </p:nvSpPr>
          <p:spPr>
            <a:xfrm>
              <a:off x="3326547" y="1015484"/>
              <a:ext cx="286860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Mini-Batch Gradient descent</a:t>
              </a:r>
              <a:endParaRPr lang="en-TR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1ADC3CB-64D7-A54B-91D2-211E6D3A6673}"/>
              </a:ext>
            </a:extLst>
          </p:cNvPr>
          <p:cNvSpPr txBox="1"/>
          <p:nvPr/>
        </p:nvSpPr>
        <p:spPr>
          <a:xfrm>
            <a:off x="6081225" y="1500044"/>
            <a:ext cx="292515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Mini-batch gradient descent:</a:t>
            </a: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вариант градиентного спуска, который обновляет параметры модели, используя небольшую случайно выбранную партию обучающих примеров за итерацию.</a:t>
            </a:r>
          </a:p>
          <a:p>
            <a:pPr algn="l"/>
            <a:endParaRPr lang="ru-RU" sz="1400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ru-RU" sz="14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Стохастический градиентный спуск (</a:t>
            </a:r>
            <a:r>
              <a:rPr lang="en-US" sz="14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SGD):</a:t>
            </a: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вариант градиентного спуска, который обновляет параметры модели, используя только один случайно выбранный обучающий пример за итерацию.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Градиентный спуск</a:t>
            </a:r>
            <a:r>
              <a:rPr lang="en-US" dirty="0"/>
              <a:t> </a:t>
            </a:r>
            <a:r>
              <a:rPr lang="ru-RU" dirty="0"/>
              <a:t>по </a:t>
            </a:r>
            <a:r>
              <a:rPr lang="ru-RU" dirty="0" err="1"/>
              <a:t>батчам</a:t>
            </a: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777FD03-3865-BEEA-5489-9DA9D0AE7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0" y="817424"/>
            <a:ext cx="5262439" cy="4149588"/>
          </a:xfrm>
          <a:prstGeom prst="rect">
            <a:avLst/>
          </a:prstGeom>
          <a:ln>
            <a:noFill/>
          </a:ln>
          <a:effectLst>
            <a:softEdge rad="59432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16A7FC-94FB-4E89-321A-6F88F14C549E}"/>
              </a:ext>
            </a:extLst>
          </p:cNvPr>
          <p:cNvSpPr txBox="1"/>
          <p:nvPr/>
        </p:nvSpPr>
        <p:spPr>
          <a:xfrm>
            <a:off x="5762989" y="1968557"/>
            <a:ext cx="32581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𝐿 = 𝐿</a:t>
            </a:r>
            <a:r>
              <a:rPr lang="ru-RU" sz="1600" baseline="-25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  <a:r>
              <a:rPr lang="ru-RU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+ 𝐿</a:t>
            </a:r>
            <a:r>
              <a:rPr lang="ru-RU" sz="1600" baseline="-25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ru-RU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+ 𝐿</a:t>
            </a:r>
            <a:r>
              <a:rPr lang="ru-RU" sz="1600" baseline="-25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r>
              <a:rPr lang="ru-RU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+ ... + 𝐿</a:t>
            </a:r>
            <a:r>
              <a:rPr lang="en-US" sz="1600" baseline="-25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</a:t>
            </a:r>
          </a:p>
          <a:p>
            <a:endParaRPr lang="ru-RU" sz="160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sz="160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Лосс</a:t>
            </a:r>
            <a:r>
              <a:rPr 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lang="ru-RU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функция – сумма </a:t>
            </a:r>
            <a:r>
              <a:rPr lang="ru-RU" sz="160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лоссов</a:t>
            </a:r>
            <a:endParaRPr lang="ru-RU" sz="160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 нескольких примерах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A4EBB-8EA0-8920-D372-AD285E002D74}"/>
              </a:ext>
            </a:extLst>
          </p:cNvPr>
          <p:cNvSpPr txBox="1"/>
          <p:nvPr/>
        </p:nvSpPr>
        <p:spPr>
          <a:xfrm>
            <a:off x="5762989" y="3191719"/>
            <a:ext cx="31524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𝑡=0</a:t>
            </a:r>
          </a:p>
          <a:p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𝑡=1 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= 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𝑡=0 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− 𝛼∇𝐿𝑠</a:t>
            </a:r>
            <a:r>
              <a:rPr lang="en-US" sz="1600" baseline="-25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0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(w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𝑡=0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𝑡=2 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= 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𝑡=1 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− 𝛼∇𝐿𝑠</a:t>
            </a:r>
            <a:r>
              <a:rPr lang="en-US" sz="1600" baseline="-25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(w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𝑡=1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𝑡=3 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= 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𝑡=2 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− 𝛼∇𝐿𝑠</a:t>
            </a:r>
            <a:r>
              <a:rPr lang="en-US" sz="1600" baseline="-25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(w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𝑡=2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. . .</a:t>
            </a:r>
          </a:p>
          <a:p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𝑇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= 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𝑇−1 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− 𝛼∇𝐿𝑠</a:t>
            </a:r>
            <a:r>
              <a:rPr lang="en-US" sz="1600" baseline="-25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T-1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(w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𝑇−1</a:t>
            </a:r>
            <a:r>
              <a:rPr lang="en-US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BF3ECE-0551-424F-9824-1AE959D32701}"/>
              </a:ext>
            </a:extLst>
          </p:cNvPr>
          <p:cNvSpPr txBox="1"/>
          <p:nvPr/>
        </p:nvSpPr>
        <p:spPr>
          <a:xfrm>
            <a:off x="5762989" y="903056"/>
            <a:ext cx="252383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Размер </a:t>
            </a:r>
            <a:r>
              <a:rPr lang="ru-RU" b="1" dirty="0" err="1"/>
              <a:t>батча</a:t>
            </a:r>
            <a:r>
              <a:rPr lang="ru-RU" b="1" dirty="0"/>
              <a:t>?</a:t>
            </a:r>
          </a:p>
          <a:p>
            <a:r>
              <a:rPr lang="ru-RU" sz="1400" dirty="0"/>
              <a:t>Влияет на </a:t>
            </a:r>
            <a:r>
              <a:rPr lang="ru-RU" sz="1400" dirty="0" err="1"/>
              <a:t>батч</a:t>
            </a:r>
            <a:r>
              <a:rPr lang="ru-RU" sz="1400" dirty="0"/>
              <a:t> нормализацию</a:t>
            </a:r>
          </a:p>
          <a:p>
            <a:r>
              <a:rPr lang="en-US" sz="1400" dirty="0"/>
              <a:t>[8, 16, 32, 64]</a:t>
            </a:r>
            <a:endParaRPr lang="en-TR" sz="1400" dirty="0"/>
          </a:p>
        </p:txBody>
      </p:sp>
    </p:spTree>
    <p:extLst>
      <p:ext uri="{BB962C8B-B14F-4D97-AF65-F5344CB8AC3E}">
        <p14:creationId xmlns:p14="http://schemas.microsoft.com/office/powerpoint/2010/main" val="2538731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SGD </a:t>
            </a:r>
            <a:r>
              <a:rPr lang="ru-RU" dirty="0"/>
              <a:t>В чем проблема?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EB825CB-9FF7-E423-26FE-03A2E047E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07" y="1095900"/>
            <a:ext cx="4356493" cy="3871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B80209-DD55-A1E2-5E99-D7893B9C7F32}"/>
              </a:ext>
            </a:extLst>
          </p:cNvPr>
          <p:cNvSpPr txBox="1"/>
          <p:nvPr/>
        </p:nvSpPr>
        <p:spPr>
          <a:xfrm>
            <a:off x="4664657" y="1272388"/>
            <a:ext cx="4356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Необходимо делать много шагов, чтобы сойтись к оптимальному значению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92980-DF1F-2339-CAD4-4197D9C18413}"/>
              </a:ext>
            </a:extLst>
          </p:cNvPr>
          <p:cNvSpPr txBox="1"/>
          <p:nvPr/>
        </p:nvSpPr>
        <p:spPr>
          <a:xfrm>
            <a:off x="4389664" y="4565069"/>
            <a:ext cx="4838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664"/>
                </a:solidFill>
                <a:effectLst/>
                <a:latin typeface="Helvetica" pitchFamily="2" charset="0"/>
              </a:rPr>
              <a:t>𝑤</a:t>
            </a:r>
            <a:r>
              <a:rPr lang="en-US" baseline="-25000" dirty="0" err="1">
                <a:solidFill>
                  <a:srgbClr val="FFD664"/>
                </a:solidFill>
                <a:effectLst/>
                <a:latin typeface="Helvetica" pitchFamily="2" charset="0"/>
              </a:rPr>
              <a:t>i</a:t>
            </a:r>
            <a:endParaRPr lang="ru-RU" dirty="0">
              <a:solidFill>
                <a:srgbClr val="FFD664"/>
              </a:solidFill>
              <a:effectLst/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747C7-5C16-C37D-7677-1AFC1491B4F8}"/>
              </a:ext>
            </a:extLst>
          </p:cNvPr>
          <p:cNvSpPr txBox="1"/>
          <p:nvPr/>
        </p:nvSpPr>
        <p:spPr>
          <a:xfrm>
            <a:off x="122465" y="1357509"/>
            <a:ext cx="4838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664"/>
                </a:solidFill>
                <a:effectLst/>
                <a:latin typeface="Helvetica" pitchFamily="2" charset="0"/>
              </a:rPr>
              <a:t>𝑤</a:t>
            </a:r>
            <a:r>
              <a:rPr lang="en-US" baseline="-25000" dirty="0">
                <a:solidFill>
                  <a:srgbClr val="FFD664"/>
                </a:solidFill>
                <a:latin typeface="Helvetica" pitchFamily="2" charset="0"/>
              </a:rPr>
              <a:t>j</a:t>
            </a:r>
            <a:endParaRPr lang="ru-RU" dirty="0">
              <a:solidFill>
                <a:srgbClr val="FFD664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788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Физика спешит на помощь!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05A75A-50ED-1444-C516-6E4D27E2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0" y="1004744"/>
            <a:ext cx="4657695" cy="41387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BF7E20-7B28-702D-7E63-A08343D25ED0}"/>
                  </a:ext>
                </a:extLst>
              </p:cNvPr>
              <p:cNvSpPr txBox="1"/>
              <p:nvPr/>
            </p:nvSpPr>
            <p:spPr>
              <a:xfrm>
                <a:off x="5156588" y="1272388"/>
                <a:ext cx="3530903" cy="120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ru-RU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тр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BF7E20-7B28-702D-7E63-A08343D25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588" y="1272388"/>
                <a:ext cx="3530903" cy="12021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AB6E87B-B90E-419E-7C56-A63A24010111}"/>
              </a:ext>
            </a:extLst>
          </p:cNvPr>
          <p:cNvSpPr txBox="1"/>
          <p:nvPr/>
        </p:nvSpPr>
        <p:spPr>
          <a:xfrm>
            <a:off x="5900057" y="259464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effectLst/>
                <a:latin typeface="Helvetica" pitchFamily="2" charset="0"/>
              </a:rPr>
              <a:t>𝛾 – коэффициент трения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CD7B8D-402A-5305-44C9-C7399EAD78BC}"/>
              </a:ext>
            </a:extLst>
          </p:cNvPr>
          <p:cNvSpPr txBox="1"/>
          <p:nvPr/>
        </p:nvSpPr>
        <p:spPr>
          <a:xfrm>
            <a:off x="4572000" y="4741870"/>
            <a:ext cx="5236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664"/>
                </a:solidFill>
                <a:effectLst/>
                <a:latin typeface="Helvetica" pitchFamily="2" charset="0"/>
              </a:rPr>
              <a:t>𝑤</a:t>
            </a:r>
            <a:r>
              <a:rPr lang="en-US" baseline="-25000" dirty="0" err="1">
                <a:solidFill>
                  <a:srgbClr val="FFD664"/>
                </a:solidFill>
                <a:effectLst/>
                <a:latin typeface="Helvetica" pitchFamily="2" charset="0"/>
              </a:rPr>
              <a:t>i</a:t>
            </a:r>
            <a:endParaRPr lang="ru-RU" dirty="0">
              <a:solidFill>
                <a:srgbClr val="FFD664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CF8A0D-951D-265D-E4F4-8A11710AE348}"/>
              </a:ext>
            </a:extLst>
          </p:cNvPr>
          <p:cNvSpPr txBox="1"/>
          <p:nvPr/>
        </p:nvSpPr>
        <p:spPr>
          <a:xfrm>
            <a:off x="122850" y="1319451"/>
            <a:ext cx="5236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664"/>
                </a:solidFill>
                <a:effectLst/>
                <a:latin typeface="Helvetica" pitchFamily="2" charset="0"/>
              </a:rPr>
              <a:t>𝑤</a:t>
            </a:r>
            <a:r>
              <a:rPr lang="en-US" baseline="-25000" dirty="0">
                <a:solidFill>
                  <a:srgbClr val="FFD664"/>
                </a:solidFill>
                <a:latin typeface="Helvetica" pitchFamily="2" charset="0"/>
              </a:rPr>
              <a:t>j</a:t>
            </a:r>
            <a:endParaRPr lang="ru-RU" dirty="0">
              <a:solidFill>
                <a:srgbClr val="FFD664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160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SGD with momentum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05A75A-50ED-1444-C516-6E4D27E2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0" y="1004744"/>
            <a:ext cx="4657695" cy="41387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BF7E20-7B28-702D-7E63-A08343D25ED0}"/>
                  </a:ext>
                </a:extLst>
              </p:cNvPr>
              <p:cNvSpPr txBox="1"/>
              <p:nvPr/>
            </p:nvSpPr>
            <p:spPr>
              <a:xfrm>
                <a:off x="5156588" y="1272388"/>
                <a:ext cx="3530903" cy="120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ru-RU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тр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BF7E20-7B28-702D-7E63-A08343D25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588" y="1272388"/>
                <a:ext cx="3530903" cy="12021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AB6E87B-B90E-419E-7C56-A63A24010111}"/>
              </a:ext>
            </a:extLst>
          </p:cNvPr>
          <p:cNvSpPr txBox="1"/>
          <p:nvPr/>
        </p:nvSpPr>
        <p:spPr>
          <a:xfrm>
            <a:off x="5900057" y="259464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effectLst/>
                <a:latin typeface="Helvetica" pitchFamily="2" charset="0"/>
              </a:rPr>
              <a:t>𝛾 – коэффициент трения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1D9BAB6-82E4-9E05-EDB8-A1FACE239727}"/>
                  </a:ext>
                </a:extLst>
              </p:cNvPr>
              <p:cNvSpPr txBox="1"/>
              <p:nvPr/>
            </p:nvSpPr>
            <p:spPr>
              <a:xfrm>
                <a:off x="6106816" y="3210907"/>
                <a:ext cx="1588063" cy="585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1D9BAB6-82E4-9E05-EDB8-A1FACE239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816" y="3210907"/>
                <a:ext cx="1588063" cy="585930"/>
              </a:xfrm>
              <a:prstGeom prst="rect">
                <a:avLst/>
              </a:prstGeom>
              <a:blipFill>
                <a:blip r:embed="rId5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13AF44-D0D8-8E56-FE5A-B7D16635037F}"/>
                  </a:ext>
                </a:extLst>
              </p:cNvPr>
              <p:cNvSpPr txBox="1"/>
              <p:nvPr/>
            </p:nvSpPr>
            <p:spPr>
              <a:xfrm>
                <a:off x="6106816" y="3962497"/>
                <a:ext cx="1576970" cy="585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13AF44-D0D8-8E56-FE5A-B7D166350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816" y="3962497"/>
                <a:ext cx="1576970" cy="585930"/>
              </a:xfrm>
              <a:prstGeom prst="rect">
                <a:avLst/>
              </a:prstGeom>
              <a:blipFill>
                <a:blip r:embed="rId6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41B5074-3938-41ED-CAA3-953F50878160}"/>
              </a:ext>
            </a:extLst>
          </p:cNvPr>
          <p:cNvSpPr txBox="1"/>
          <p:nvPr/>
        </p:nvSpPr>
        <p:spPr>
          <a:xfrm>
            <a:off x="4572000" y="4672156"/>
            <a:ext cx="5236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664"/>
                </a:solidFill>
                <a:effectLst/>
                <a:latin typeface="Helvetica" pitchFamily="2" charset="0"/>
              </a:rPr>
              <a:t>𝑤</a:t>
            </a:r>
            <a:r>
              <a:rPr lang="en-US" baseline="-25000" dirty="0" err="1">
                <a:solidFill>
                  <a:srgbClr val="FFD664"/>
                </a:solidFill>
                <a:effectLst/>
                <a:latin typeface="Helvetica" pitchFamily="2" charset="0"/>
              </a:rPr>
              <a:t>i</a:t>
            </a:r>
            <a:endParaRPr lang="ru-RU" dirty="0">
              <a:solidFill>
                <a:srgbClr val="FFD664"/>
              </a:solidFill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38061-3AA5-C142-6A0F-521EC6C441E5}"/>
              </a:ext>
            </a:extLst>
          </p:cNvPr>
          <p:cNvSpPr txBox="1"/>
          <p:nvPr/>
        </p:nvSpPr>
        <p:spPr>
          <a:xfrm>
            <a:off x="122850" y="1319451"/>
            <a:ext cx="5236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664"/>
                </a:solidFill>
                <a:effectLst/>
                <a:latin typeface="Helvetica" pitchFamily="2" charset="0"/>
              </a:rPr>
              <a:t>𝑤</a:t>
            </a:r>
            <a:r>
              <a:rPr lang="en-US" baseline="-25000" dirty="0">
                <a:solidFill>
                  <a:srgbClr val="FFD664"/>
                </a:solidFill>
                <a:latin typeface="Helvetica" pitchFamily="2" charset="0"/>
              </a:rPr>
              <a:t>j</a:t>
            </a:r>
            <a:endParaRPr lang="ru-RU" dirty="0">
              <a:solidFill>
                <a:srgbClr val="FFD664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999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SGD with momentum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05A75A-50ED-1444-C516-6E4D27E2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0" y="1004744"/>
            <a:ext cx="4657695" cy="41387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BF7E20-7B28-702D-7E63-A08343D25ED0}"/>
                  </a:ext>
                </a:extLst>
              </p:cNvPr>
              <p:cNvSpPr txBox="1"/>
              <p:nvPr/>
            </p:nvSpPr>
            <p:spPr>
              <a:xfrm>
                <a:off x="5156588" y="1272388"/>
                <a:ext cx="3488519" cy="120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ru-RU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тр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BF7E20-7B28-702D-7E63-A08343D25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588" y="1272388"/>
                <a:ext cx="3488519" cy="12021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1E1E10-F882-8AB3-EE1A-F8D6557BFA96}"/>
              </a:ext>
            </a:extLst>
          </p:cNvPr>
          <p:cNvSpPr txBox="1"/>
          <p:nvPr/>
        </p:nvSpPr>
        <p:spPr>
          <a:xfrm>
            <a:off x="5156588" y="290484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𝑡+1 </a:t>
            </a:r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 −𝛼∇𝐿(︀w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</a:t>
            </a:r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 − 𝛽v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60374E-A880-1252-C931-1E9CDE078137}"/>
              </a:ext>
            </a:extLst>
          </p:cNvPr>
          <p:cNvSpPr txBox="1"/>
          <p:nvPr/>
        </p:nvSpPr>
        <p:spPr>
          <a:xfrm>
            <a:off x="5156588" y="34012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𝑡+1 </a:t>
            </a:r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 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</a:t>
            </a:r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+ v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EAD680-236C-7D20-CE27-5C680150445E}"/>
              </a:ext>
            </a:extLst>
          </p:cNvPr>
          <p:cNvSpPr txBox="1"/>
          <p:nvPr/>
        </p:nvSpPr>
        <p:spPr>
          <a:xfrm>
            <a:off x="4572000" y="4760735"/>
            <a:ext cx="4865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664"/>
                </a:solidFill>
                <a:effectLst/>
                <a:latin typeface="Helvetica" pitchFamily="2" charset="0"/>
              </a:rPr>
              <a:t>𝑤</a:t>
            </a:r>
            <a:r>
              <a:rPr lang="en-US" baseline="-25000" dirty="0" err="1">
                <a:solidFill>
                  <a:srgbClr val="FFD664"/>
                </a:solidFill>
                <a:effectLst/>
                <a:latin typeface="Helvetica" pitchFamily="2" charset="0"/>
              </a:rPr>
              <a:t>i</a:t>
            </a:r>
            <a:endParaRPr lang="ru-RU" dirty="0">
              <a:solidFill>
                <a:srgbClr val="FFD664"/>
              </a:solidFill>
              <a:effectLst/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3B14C-E04E-8D40-642F-6DE30ABCE1D9}"/>
              </a:ext>
            </a:extLst>
          </p:cNvPr>
          <p:cNvSpPr txBox="1"/>
          <p:nvPr/>
        </p:nvSpPr>
        <p:spPr>
          <a:xfrm>
            <a:off x="102653" y="1367034"/>
            <a:ext cx="4865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664"/>
                </a:solidFill>
                <a:effectLst/>
                <a:latin typeface="Helvetica" pitchFamily="2" charset="0"/>
              </a:rPr>
              <a:t>𝑤</a:t>
            </a:r>
            <a:r>
              <a:rPr lang="en-US" baseline="-25000" dirty="0">
                <a:solidFill>
                  <a:srgbClr val="FFD664"/>
                </a:solidFill>
                <a:latin typeface="Helvetica" pitchFamily="2" charset="0"/>
              </a:rPr>
              <a:t>j</a:t>
            </a:r>
            <a:endParaRPr lang="ru-RU" dirty="0">
              <a:solidFill>
                <a:srgbClr val="FFD664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22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SGD with </a:t>
            </a:r>
            <a:r>
              <a:rPr lang="en-US" dirty="0" err="1"/>
              <a:t>Nesterov</a:t>
            </a:r>
            <a:r>
              <a:rPr lang="en-US" dirty="0"/>
              <a:t> momentum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05A75A-50ED-1444-C516-6E4D27E2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0" y="1004744"/>
            <a:ext cx="4657695" cy="41387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BF7E20-7B28-702D-7E63-A08343D25ED0}"/>
                  </a:ext>
                </a:extLst>
              </p:cNvPr>
              <p:cNvSpPr txBox="1"/>
              <p:nvPr/>
            </p:nvSpPr>
            <p:spPr>
              <a:xfrm>
                <a:off x="5156588" y="1272388"/>
                <a:ext cx="3488519" cy="1202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ru-RU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тр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BF7E20-7B28-702D-7E63-A08343D25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588" y="1272388"/>
                <a:ext cx="3488519" cy="12021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1E1E10-F882-8AB3-EE1A-F8D6557BFA96}"/>
              </a:ext>
            </a:extLst>
          </p:cNvPr>
          <p:cNvSpPr txBox="1"/>
          <p:nvPr/>
        </p:nvSpPr>
        <p:spPr>
          <a:xfrm>
            <a:off x="5156588" y="290484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𝑡+1 </a:t>
            </a:r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 −𝛼∇𝐿(︀w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</a:t>
            </a:r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+ v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</a:t>
            </a:r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)︀− 𝛽v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60374E-A880-1252-C931-1E9CDE078137}"/>
              </a:ext>
            </a:extLst>
          </p:cNvPr>
          <p:cNvSpPr txBox="1"/>
          <p:nvPr/>
        </p:nvSpPr>
        <p:spPr>
          <a:xfrm>
            <a:off x="5156588" y="34012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𝑡+1 </a:t>
            </a:r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 w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</a:t>
            </a:r>
            <a:r>
              <a:rPr lang="en-US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+ v</a:t>
            </a:r>
            <a:r>
              <a:rPr lang="en-US" sz="1600" baseline="300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𝑡+1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EAD680-236C-7D20-CE27-5C680150445E}"/>
              </a:ext>
            </a:extLst>
          </p:cNvPr>
          <p:cNvSpPr txBox="1"/>
          <p:nvPr/>
        </p:nvSpPr>
        <p:spPr>
          <a:xfrm>
            <a:off x="4467891" y="4760735"/>
            <a:ext cx="500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664"/>
                </a:solidFill>
                <a:effectLst/>
                <a:latin typeface="Helvetica" pitchFamily="2" charset="0"/>
              </a:rPr>
              <a:t>𝑤</a:t>
            </a:r>
            <a:r>
              <a:rPr lang="en-US" baseline="-25000" dirty="0" err="1">
                <a:solidFill>
                  <a:srgbClr val="FFD664"/>
                </a:solidFill>
                <a:effectLst/>
                <a:latin typeface="Helvetica" pitchFamily="2" charset="0"/>
              </a:rPr>
              <a:t>i</a:t>
            </a:r>
            <a:endParaRPr lang="ru-RU" dirty="0">
              <a:solidFill>
                <a:srgbClr val="FFD664"/>
              </a:solidFill>
              <a:effectLst/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3B14C-E04E-8D40-642F-6DE30ABCE1D9}"/>
              </a:ext>
            </a:extLst>
          </p:cNvPr>
          <p:cNvSpPr txBox="1"/>
          <p:nvPr/>
        </p:nvSpPr>
        <p:spPr>
          <a:xfrm>
            <a:off x="102653" y="1367034"/>
            <a:ext cx="4865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664"/>
                </a:solidFill>
                <a:effectLst/>
                <a:latin typeface="Helvetica" pitchFamily="2" charset="0"/>
              </a:rPr>
              <a:t>𝑤</a:t>
            </a:r>
            <a:r>
              <a:rPr lang="en-US" baseline="-25000" dirty="0">
                <a:solidFill>
                  <a:srgbClr val="FFD664"/>
                </a:solidFill>
                <a:latin typeface="Helvetica" pitchFamily="2" charset="0"/>
              </a:rPr>
              <a:t>j</a:t>
            </a:r>
            <a:endParaRPr lang="ru-RU" dirty="0">
              <a:solidFill>
                <a:srgbClr val="FFD664"/>
              </a:solidFill>
              <a:effectLst/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137F58-81B0-2B47-9AB4-8A4F3501CDDA}"/>
              </a:ext>
            </a:extLst>
          </p:cNvPr>
          <p:cNvSpPr txBox="1"/>
          <p:nvPr/>
        </p:nvSpPr>
        <p:spPr>
          <a:xfrm>
            <a:off x="5364392" y="4417345"/>
            <a:ext cx="3761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https://distill.pub/2017/momentum/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4660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RMSprop, </a:t>
            </a:r>
            <a:r>
              <a:rPr lang="en-US" dirty="0" err="1"/>
              <a:t>Adagrad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Adadelta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6897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Adagrad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72208-035C-A675-EC14-EBCEBE7B8F3C}"/>
              </a:ext>
            </a:extLst>
          </p:cNvPr>
          <p:cNvSpPr txBox="1"/>
          <p:nvPr/>
        </p:nvSpPr>
        <p:spPr>
          <a:xfrm>
            <a:off x="315686" y="1002090"/>
            <a:ext cx="8599714" cy="175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Adagrad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 - это алгоритм градиентной оптимизации, который адаптирует скорость обучения к параметрам, выполняя меньшие обновления (т.е. низкие скорости обучения) для параметров, связанных с часто встречающимися признаками, и большие обновления (т.е. высокие скорости обучения) для параметров, связанных с нечастыми признаками. </a:t>
            </a:r>
            <a:b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По этой причине он хорошо подходит для работы с разреженными данными.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6E0A00-0DEB-1F49-808D-8EAC1CDA05F1}"/>
                  </a:ext>
                </a:extLst>
              </p:cNvPr>
              <p:cNvSpPr txBox="1"/>
              <p:nvPr/>
            </p:nvSpPr>
            <p:spPr>
              <a:xfrm>
                <a:off x="1219200" y="2972243"/>
                <a:ext cx="2034531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6E0A00-0DEB-1F49-808D-8EAC1CDA0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972243"/>
                <a:ext cx="2034531" cy="385555"/>
              </a:xfrm>
              <a:prstGeom prst="rect">
                <a:avLst/>
              </a:prstGeom>
              <a:blipFill>
                <a:blip r:embed="rId3"/>
                <a:stretch>
                  <a:fillRect l="-3106" r="-4348" b="-29032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3ECB53-52CF-424B-910A-B1DA1950951C}"/>
                  </a:ext>
                </a:extLst>
              </p:cNvPr>
              <p:cNvSpPr txBox="1"/>
              <p:nvPr/>
            </p:nvSpPr>
            <p:spPr>
              <a:xfrm>
                <a:off x="3581400" y="2972243"/>
                <a:ext cx="2553776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3ECB53-52CF-424B-910A-B1DA19509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972243"/>
                <a:ext cx="2553776" cy="385555"/>
              </a:xfrm>
              <a:prstGeom prst="rect">
                <a:avLst/>
              </a:prstGeom>
              <a:blipFill>
                <a:blip r:embed="rId4"/>
                <a:stretch>
                  <a:fillRect l="-2488" r="-498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072B48-1913-B442-8DAF-65A77FCFEBA2}"/>
                  </a:ext>
                </a:extLst>
              </p:cNvPr>
              <p:cNvSpPr txBox="1"/>
              <p:nvPr/>
            </p:nvSpPr>
            <p:spPr>
              <a:xfrm>
                <a:off x="2667000" y="3867150"/>
                <a:ext cx="3082895" cy="7873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072B48-1913-B442-8DAF-65A77FCFE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67150"/>
                <a:ext cx="3082895" cy="787395"/>
              </a:xfrm>
              <a:prstGeom prst="rect">
                <a:avLst/>
              </a:prstGeom>
              <a:blipFill>
                <a:blip r:embed="rId5"/>
                <a:stretch>
                  <a:fillRect l="-2058" r="-412" b="-317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AEE4ED-3A2C-BE4A-B81E-16EF4873CD1B}"/>
                  </a:ext>
                </a:extLst>
              </p:cNvPr>
              <p:cNvSpPr txBox="1"/>
              <p:nvPr/>
            </p:nvSpPr>
            <p:spPr>
              <a:xfrm>
                <a:off x="6705600" y="2818543"/>
                <a:ext cx="1659429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AEE4ED-3A2C-BE4A-B81E-16EF4873C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818543"/>
                <a:ext cx="1659429" cy="896207"/>
              </a:xfrm>
              <a:prstGeom prst="rect">
                <a:avLst/>
              </a:prstGeom>
              <a:blipFill>
                <a:blip r:embed="rId6"/>
                <a:stretch>
                  <a:fillRect l="-26718" t="-147222" r="-15267" b="-20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0981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Adagrad</a:t>
            </a:r>
            <a:r>
              <a:rPr lang="en-US" dirty="0"/>
              <a:t>: </a:t>
            </a:r>
            <a:r>
              <a:rPr lang="ru-RU" dirty="0"/>
              <a:t>недостатки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72208-035C-A675-EC14-EBCEBE7B8F3C}"/>
              </a:ext>
            </a:extLst>
          </p:cNvPr>
          <p:cNvSpPr txBox="1"/>
          <p:nvPr/>
        </p:nvSpPr>
        <p:spPr>
          <a:xfrm>
            <a:off x="381000" y="1123950"/>
            <a:ext cx="8520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Основным недостатком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Adagrad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является накопление квадратичных градиентов в знаменателе: поскольку каждый добавленный член положителен, накопленная сумма продолжает расти в процессе обучения. 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Это, в свою очередь, приводит к тому, что скорость обучения уменьшается и в конечном итоге становится бесконечно малой, и в этот момент алгоритм уже не способен приобретать дополнительную информацию. 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</a:rPr>
              <a:t>Таким образом он может перестать сходится вообще, просто зависнув «где-то», даже не придя в локальный минимум.</a:t>
            </a:r>
          </a:p>
        </p:txBody>
      </p:sp>
    </p:spTree>
    <p:extLst>
      <p:ext uri="{BB962C8B-B14F-4D97-AF65-F5344CB8AC3E}">
        <p14:creationId xmlns:p14="http://schemas.microsoft.com/office/powerpoint/2010/main" val="2698879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RMSprop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72208-035C-A675-EC14-EBCEBE7B8F3C}"/>
              </a:ext>
            </a:extLst>
          </p:cNvPr>
          <p:cNvSpPr txBox="1"/>
          <p:nvPr/>
        </p:nvSpPr>
        <p:spPr>
          <a:xfrm>
            <a:off x="315686" y="1002090"/>
            <a:ext cx="8599714" cy="1196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Модифицируем идею </a:t>
            </a:r>
            <a:r>
              <a:rPr lang="en-US" sz="16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Adagrad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мы всё так же собираемся обновлять меньше веса, которые слишком часто обновляются, но вместо полной суммы обновлений, будем использовать усреднённый по истории квадрат градиента. </a:t>
            </a:r>
          </a:p>
          <a:p>
            <a:pPr>
              <a:lnSpc>
                <a:spcPct val="114000"/>
              </a:lnSpc>
            </a:pPr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Будем использовать экспоненциально затухающее бегущее среднее.</a:t>
            </a:r>
            <a:endParaRPr lang="ru-RU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21E0E095-24EC-38AD-5BFD-986EFE92F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4" y="2345892"/>
            <a:ext cx="6506936" cy="119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55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RMSprop</a:t>
            </a:r>
            <a:endParaRPr dirty="0"/>
          </a:p>
        </p:txBody>
      </p:sp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21E0E095-24EC-38AD-5BFD-986EFE92F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57" y="1265235"/>
            <a:ext cx="6506936" cy="1198331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8EF3F2E-2132-1F5F-48C4-99D113329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57" y="2381096"/>
            <a:ext cx="8077200" cy="218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79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Adadelta</a:t>
            </a:r>
            <a:endParaRPr dirty="0"/>
          </a:p>
        </p:txBody>
      </p:sp>
      <p:pic>
        <p:nvPicPr>
          <p:cNvPr id="12" name="Рисунок 1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38C4792-E2B0-E8B3-CC00-03C1FB8A4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6771"/>
            <a:ext cx="7772400" cy="27806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639849-E61E-1135-D792-05FD1CCB74BC}"/>
                  </a:ext>
                </a:extLst>
              </p:cNvPr>
              <p:cNvSpPr txBox="1"/>
              <p:nvPr/>
            </p:nvSpPr>
            <p:spPr>
              <a:xfrm>
                <a:off x="315686" y="849553"/>
                <a:ext cx="832776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b="0" i="0" dirty="0">
                    <a:solidFill>
                      <a:schemeClr val="tx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Модифицируем </a:t>
                </a:r>
                <a:r>
                  <a:rPr lang="en-US" sz="1600" b="0" i="0" dirty="0">
                    <a:solidFill>
                      <a:schemeClr val="tx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RMSprop: </a:t>
                </a:r>
                <a:r>
                  <a:rPr lang="ru-RU" sz="1600" b="0" i="0" dirty="0">
                    <a:solidFill>
                      <a:schemeClr val="tx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будем обновлять параметры не в 2 этапа, а в 3. Сначала накапливаем квадрат градиента, затем обновляем </a:t>
                </a:r>
                <a14:m>
                  <m:oMath xmlns:m="http://schemas.openxmlformats.org/officeDocument/2006/math">
                    <m:r>
                      <a:rPr lang="ru-RU" sz="16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и далее обновляем </a:t>
                </a:r>
                <a:r>
                  <a:rPr lang="en-US" sz="16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RMS. </a:t>
                </a:r>
                <a:endParaRPr lang="ru-RU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639849-E61E-1135-D792-05FD1CCB7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86" y="849553"/>
                <a:ext cx="8327764" cy="584775"/>
              </a:xfrm>
              <a:prstGeom prst="rect">
                <a:avLst/>
              </a:prstGeom>
              <a:blipFill>
                <a:blip r:embed="rId4"/>
                <a:stretch>
                  <a:fillRect l="-304" t="-2128" b="-12766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403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Adam </a:t>
            </a:r>
            <a:r>
              <a:rPr lang="ru-RU" sz="4900" dirty="0"/>
              <a:t>и </a:t>
            </a:r>
            <a:r>
              <a:rPr lang="en-US" sz="4900" dirty="0" err="1"/>
              <a:t>AdamW</a:t>
            </a:r>
            <a:endParaRPr sz="4900" dirty="0"/>
          </a:p>
        </p:txBody>
      </p:sp>
    </p:spTree>
    <p:extLst>
      <p:ext uri="{BB962C8B-B14F-4D97-AF65-F5344CB8AC3E}">
        <p14:creationId xmlns:p14="http://schemas.microsoft.com/office/powerpoint/2010/main" val="2814769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Adam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F2E30-86A9-EC5A-DA9E-7B7FF20865AF}"/>
              </a:ext>
            </a:extLst>
          </p:cNvPr>
          <p:cNvSpPr txBox="1"/>
          <p:nvPr/>
        </p:nvSpPr>
        <p:spPr>
          <a:xfrm>
            <a:off x="500549" y="1063275"/>
            <a:ext cx="81100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Adam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 — adaptive moment estimation, 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ещё один оптимизационный алгоритм. Он сочетает в себе и идею накопления движения и идею более слабого обновления весов для типичных признаков.</a:t>
            </a:r>
            <a:endParaRPr lang="ru-RU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6" name="Рисунок 5" descr="Изображение выглядит как текст, часы&#10;&#10;Автоматически созданное описание">
            <a:extLst>
              <a:ext uri="{FF2B5EF4-FFF2-40B4-BE49-F238E27FC236}">
                <a16:creationId xmlns:a16="http://schemas.microsoft.com/office/drawing/2014/main" id="{4E67E7F9-8EE6-ECA0-4E65-200F0848E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49" y="2120114"/>
            <a:ext cx="2897839" cy="83099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9963A5-E63D-6925-B6F7-A9810D117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630" y="2120114"/>
            <a:ext cx="1814984" cy="1475921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часы, датчик&#10;&#10;Автоматически созданное описание">
            <a:extLst>
              <a:ext uri="{FF2B5EF4-FFF2-40B4-BE49-F238E27FC236}">
                <a16:creationId xmlns:a16="http://schemas.microsoft.com/office/drawing/2014/main" id="{1D3B8850-279A-4704-A051-2B032E69F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49" y="3440878"/>
            <a:ext cx="2897839" cy="8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67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78516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AdamW</a:t>
            </a:r>
            <a:r>
              <a:rPr lang="en-US" dirty="0"/>
              <a:t> = Adam + weight decay</a:t>
            </a:r>
            <a:endParaRPr dirty="0"/>
          </a:p>
        </p:txBody>
      </p:sp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1A4ED876-CFA5-1969-48E4-DE38D7A96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80" y="639941"/>
            <a:ext cx="5003640" cy="442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250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78516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Сравнение алгоритмов</a:t>
            </a:r>
            <a:endParaRPr dirty="0"/>
          </a:p>
        </p:txBody>
      </p:sp>
      <p:pic>
        <p:nvPicPr>
          <p:cNvPr id="4" name="Рисунок 3" descr="Изображение выглядит как текст, электроника, векторная графика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493CEA4C-5FAF-CC91-A3B1-2782ACA54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047750"/>
            <a:ext cx="3937000" cy="304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4A6EF2-1880-7174-7C14-B546E4FC5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849" y="1047750"/>
            <a:ext cx="3937001" cy="304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08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6763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621602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SAM-optimizer</a:t>
            </a:r>
            <a:endParaRPr sz="4900" dirty="0"/>
          </a:p>
        </p:txBody>
      </p:sp>
    </p:spTree>
    <p:extLst>
      <p:ext uri="{BB962C8B-B14F-4D97-AF65-F5344CB8AC3E}">
        <p14:creationId xmlns:p14="http://schemas.microsoft.com/office/powerpoint/2010/main" val="1491655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00550" y="17648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SHARPNESS-AWARE MINIMIZATION</a:t>
            </a:r>
            <a:endParaRPr dirty="0"/>
          </a:p>
        </p:txBody>
      </p:sp>
      <p:pic>
        <p:nvPicPr>
          <p:cNvPr id="4" name="Рисунок 3" descr="Изображение выглядит как наружный объект, вертушка&#10;&#10;Автоматически созданное описание">
            <a:extLst>
              <a:ext uri="{FF2B5EF4-FFF2-40B4-BE49-F238E27FC236}">
                <a16:creationId xmlns:a16="http://schemas.microsoft.com/office/drawing/2014/main" id="{4AB368F7-EE1F-D4D3-0CE8-FCD40251B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623" y="847641"/>
            <a:ext cx="4702822" cy="2057484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E7BA3924-9A99-F8DD-46C4-8B50D785F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55" y="2229708"/>
            <a:ext cx="41783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743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/>
              <a:t>Как учится </a:t>
            </a:r>
            <a:r>
              <a:rPr lang="ru-RU" sz="1900" b="1" dirty="0" err="1"/>
              <a:t>нейросеть</a:t>
            </a:r>
            <a:r>
              <a:rPr lang="ru-RU" sz="1900" b="1" dirty="0"/>
              <a:t> – обратное распространение ошибки</a:t>
            </a:r>
            <a:endParaRPr lang="en-US" sz="19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https://www.youtube.com/watch?v=f9oDe4Yq4E0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https://www.youtube.com/watch?v=JwpFvFpbOGc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5"/>
              </a:rPr>
              <a:t>https://www.youtube.com/watch?v=rP_k8cpsNWY</a:t>
            </a:r>
            <a:r>
              <a:rPr lang="en-US" sz="1400" dirty="0"/>
              <a:t>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ru-RU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/>
              <a:t>Обзор оптимизаторов</a:t>
            </a:r>
            <a:r>
              <a:rPr lang="ru-RU" sz="1700" b="1" dirty="0"/>
              <a:t> </a:t>
            </a:r>
            <a:endParaRPr lang="en-US" sz="17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6"/>
              </a:rPr>
              <a:t>https://habr.com/ru/articles/318970/</a:t>
            </a:r>
            <a:r>
              <a:rPr lang="ru-RU" sz="13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7"/>
              </a:rPr>
              <a:t>https://habr.com/ru/companies/skillfactory/articles/552394/</a:t>
            </a:r>
            <a:r>
              <a:rPr lang="ru-RU" sz="1300" dirty="0"/>
              <a:t> </a:t>
            </a:r>
            <a:endParaRPr lang="en-US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ru-RU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/>
              <a:t>Влияние момента на обучение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8"/>
              </a:rPr>
              <a:t>https://distill.pub/2017/momentum/</a:t>
            </a:r>
            <a:r>
              <a:rPr lang="en-US" sz="1400" dirty="0"/>
              <a:t> </a:t>
            </a:r>
            <a:endParaRPr lang="en-US" sz="1300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endParaRPr lang="ru-RU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GB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Рефлексия</a:t>
            </a:r>
            <a:endParaRPr dirty="0"/>
          </a:p>
        </p:txBody>
      </p:sp>
      <p:pic>
        <p:nvPicPr>
          <p:cNvPr id="486" name="Google Shape;48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5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5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9" name="Google Shape;48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800" dirty="0"/>
              <a:t>Борьба с переобучение нейросетей, взрыв и затухание градиентов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9CBF8D9B-9E81-1D41-AF54-9F2B6EDEE2A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9813</TotalTime>
  <Words>1308</Words>
  <Application>Microsoft Macintosh PowerPoint</Application>
  <PresentationFormat>On-screen Show (16:9)</PresentationFormat>
  <Paragraphs>244</Paragraphs>
  <Slides>44</Slides>
  <Notes>31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-apple-system</vt:lpstr>
      <vt:lpstr>Arial</vt:lpstr>
      <vt:lpstr>Calibri</vt:lpstr>
      <vt:lpstr>Cambria Math</vt:lpstr>
      <vt:lpstr>Helvetica</vt:lpstr>
      <vt:lpstr>Roboto</vt:lpstr>
      <vt:lpstr>Symbol</vt:lpstr>
      <vt:lpstr>Office Theme</vt:lpstr>
      <vt:lpstr>ML Professional Продвинутые методы оптимизации</vt:lpstr>
      <vt:lpstr>Проверить, идет ли запись</vt:lpstr>
      <vt:lpstr>ML Professional Продвинутые методы оптимизации</vt:lpstr>
      <vt:lpstr>Правила вебинара</vt:lpstr>
      <vt:lpstr>Маршрут вебинара</vt:lpstr>
      <vt:lpstr>Смысл</vt:lpstr>
      <vt:lpstr>  Постановка задачи  Зачем нам оптимизатор</vt:lpstr>
      <vt:lpstr>Обучение нейросети</vt:lpstr>
      <vt:lpstr>Нейрон j</vt:lpstr>
      <vt:lpstr>Математика BackProp  шаг коррекции</vt:lpstr>
      <vt:lpstr>Математика BackProp  обратный шаг</vt:lpstr>
      <vt:lpstr>Обратное распространение ошибки</vt:lpstr>
      <vt:lpstr>Градиентный спуск</vt:lpstr>
      <vt:lpstr>Градиентный спуск</vt:lpstr>
      <vt:lpstr>SGD и метод моментов</vt:lpstr>
      <vt:lpstr>Градиентный спуск</vt:lpstr>
      <vt:lpstr>Градиентный спуск по батчам</vt:lpstr>
      <vt:lpstr>SGD В чем проблема?</vt:lpstr>
      <vt:lpstr>Физика спешит на помощь!</vt:lpstr>
      <vt:lpstr>SGD with momentum</vt:lpstr>
      <vt:lpstr>SGD with momentum</vt:lpstr>
      <vt:lpstr>SGD with Nesterov momentum</vt:lpstr>
      <vt:lpstr>Вопросы?</vt:lpstr>
      <vt:lpstr>RMSprop, Adagrad и Adadelta</vt:lpstr>
      <vt:lpstr>Adagrad</vt:lpstr>
      <vt:lpstr>Adagrad: недостатки</vt:lpstr>
      <vt:lpstr>RMSprop</vt:lpstr>
      <vt:lpstr>RMSprop</vt:lpstr>
      <vt:lpstr>Adadelta</vt:lpstr>
      <vt:lpstr>Вопросы?</vt:lpstr>
      <vt:lpstr>Adam и AdamW</vt:lpstr>
      <vt:lpstr>Adam</vt:lpstr>
      <vt:lpstr>AdamW = Adam + weight decay</vt:lpstr>
      <vt:lpstr>Сравнение алгоритмов</vt:lpstr>
      <vt:lpstr>Вопросы?</vt:lpstr>
      <vt:lpstr>SAM-optimizer</vt:lpstr>
      <vt:lpstr>SHARPNESS-AWARE MINIMIZATION</vt:lpstr>
      <vt:lpstr>Практика</vt:lpstr>
      <vt:lpstr>Вопросы?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 Борьба с переобучение нейросетей, взрыв и затухание градиентов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91</cp:revision>
  <dcterms:created xsi:type="dcterms:W3CDTF">2023-10-10T14:19:39Z</dcterms:created>
  <dcterms:modified xsi:type="dcterms:W3CDTF">2025-06-04T16:23:35Z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