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50"/>
  </p:notesMasterIdLst>
  <p:sldIdLst>
    <p:sldId id="256" r:id="rId2"/>
    <p:sldId id="257" r:id="rId3"/>
    <p:sldId id="383" r:id="rId4"/>
    <p:sldId id="259" r:id="rId5"/>
    <p:sldId id="384" r:id="rId6"/>
    <p:sldId id="385" r:id="rId7"/>
    <p:sldId id="407" r:id="rId8"/>
    <p:sldId id="263" r:id="rId9"/>
    <p:sldId id="264" r:id="rId10"/>
    <p:sldId id="408" r:id="rId11"/>
    <p:sldId id="313" r:id="rId12"/>
    <p:sldId id="443" r:id="rId13"/>
    <p:sldId id="450" r:id="rId14"/>
    <p:sldId id="453" r:id="rId15"/>
    <p:sldId id="446" r:id="rId16"/>
    <p:sldId id="455" r:id="rId17"/>
    <p:sldId id="451" r:id="rId18"/>
    <p:sldId id="448" r:id="rId19"/>
    <p:sldId id="452" r:id="rId20"/>
    <p:sldId id="454" r:id="rId21"/>
    <p:sldId id="300" r:id="rId22"/>
    <p:sldId id="457" r:id="rId23"/>
    <p:sldId id="458" r:id="rId24"/>
    <p:sldId id="459" r:id="rId25"/>
    <p:sldId id="460" r:id="rId26"/>
    <p:sldId id="461" r:id="rId27"/>
    <p:sldId id="456" r:id="rId28"/>
    <p:sldId id="409" r:id="rId29"/>
    <p:sldId id="389" r:id="rId30"/>
    <p:sldId id="371" r:id="rId31"/>
    <p:sldId id="388" r:id="rId32"/>
    <p:sldId id="390" r:id="rId33"/>
    <p:sldId id="265" r:id="rId34"/>
    <p:sldId id="410" r:id="rId35"/>
    <p:sldId id="391" r:id="rId36"/>
    <p:sldId id="268" r:id="rId37"/>
    <p:sldId id="372" r:id="rId38"/>
    <p:sldId id="411" r:id="rId39"/>
    <p:sldId id="403" r:id="rId40"/>
    <p:sldId id="373" r:id="rId41"/>
    <p:sldId id="393" r:id="rId42"/>
    <p:sldId id="374" r:id="rId43"/>
    <p:sldId id="404" r:id="rId44"/>
    <p:sldId id="376" r:id="rId45"/>
    <p:sldId id="270" r:id="rId46"/>
    <p:sldId id="274" r:id="rId47"/>
    <p:sldId id="398" r:id="rId48"/>
    <p:sldId id="302" r:id="rId49"/>
  </p:sldIdLst>
  <p:sldSz cx="9144000" cy="5143500" type="screen16x9"/>
  <p:notesSz cx="6858000" cy="9144000"/>
  <p:embeddedFontLst>
    <p:embeddedFont>
      <p:font typeface="AkayaTelivigala" pitchFamily="2" charset="77"/>
      <p:regular r:id="rId51"/>
      <p:bold r:id="rId52"/>
      <p:italic r:id="rId53"/>
      <p:boldItalic r:id="rId54"/>
    </p:embeddedFont>
    <p:embeddedFont>
      <p:font typeface="Roboto" panose="02000000000000000000" pitchFamily="2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65"/>
    <p:restoredTop sz="97030"/>
  </p:normalViewPr>
  <p:slideViewPr>
    <p:cSldViewPr snapToGrid="0">
      <p:cViewPr varScale="1">
        <p:scale>
          <a:sx n="208" d="100"/>
          <a:sy n="208" d="100"/>
        </p:scale>
        <p:origin x="416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3172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eaee39f1e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eaee39f1e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dc08f4a2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dc08f4a2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Рассказать про бесплатный текстовый курс о том, как учиться. где найти: доступен в ЛК + приложена ссылка в материалы вводного занятия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9066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564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06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3578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611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the-easiest-way-to-forecast-time-series-using-n-beats-d778fcc2ba60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6.10466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@findalexli/ts2vec-review-towards-universial-time-series-representation-learning-with-hierarchical-contra-c50dd789e85c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tinkoff/articles/598823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tna-docs.netlify.app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https://towardsdatascience.com/time-series-forecasting-with-tide-b043acc60f79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pubby.com/understanding-tsmixer-google-ais-new-all-mlp-architecture-for-time-series-forecasting-c7f3f7a7a682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pubby.com/understanding-tsmixer-google-ais-new-all-mlp-architecture-for-time-series-forecasting-c7f3f7a7a682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otusbook.notion.site/Otus-Heroes-8736ea4e22294c6e8794fbbc167df612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jp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err="1"/>
              <a:t>otus.ru</a:t>
            </a:r>
            <a:endParaRPr dirty="0"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</a:t>
            </a:r>
            <a:r>
              <a:rPr lang="en-US" dirty="0"/>
              <a:t>Professional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 err="1">
                <a:latin typeface="Roboto"/>
                <a:ea typeface="Roboto"/>
                <a:cs typeface="Roboto"/>
                <a:sym typeface="Roboto"/>
              </a:rPr>
              <a:t>TSMixter</a:t>
            </a: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современная архитектура разложения временных рядов от </a:t>
            </a: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Google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en-US" sz="2400" dirty="0" err="1"/>
              <a:t>TSMixter</a:t>
            </a:r>
            <a:r>
              <a:rPr lang="en-US" sz="2400" dirty="0"/>
              <a:t> </a:t>
            </a:r>
            <a:r>
              <a:rPr lang="ru-RU" sz="2400" dirty="0"/>
              <a:t>современная архитектура разложения временных рядов от </a:t>
            </a:r>
            <a:r>
              <a:rPr lang="en-US" sz="2400" dirty="0"/>
              <a:t>Google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9D74D6E-4B24-7043-95C1-5ECC1C800B2C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626905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2631918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217138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Современные подходы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313725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TSMixter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965863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2359487"/>
            <a:ext cx="12700" cy="96586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89" idx="1"/>
            <a:endCxn id="192" idx="1"/>
          </p:cNvCxnSpPr>
          <p:nvPr/>
        </p:nvCxnSpPr>
        <p:spPr>
          <a:xfrm rot="10800000" flipV="1">
            <a:off x="786525" y="3325351"/>
            <a:ext cx="600" cy="965862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26" name="Picture 2" descr="TSMixer: The Latest Forecasting Model by Google">
            <a:extLst>
              <a:ext uri="{FF2B5EF4-FFF2-40B4-BE49-F238E27FC236}">
                <a16:creationId xmlns:a16="http://schemas.microsoft.com/office/drawing/2014/main" id="{40390967-B1D8-614C-A9EE-3592FC7A7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400" y="980926"/>
            <a:ext cx="4468959" cy="380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Знакомство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6E0E91-2E5A-D648-9276-7A0590FF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Современные архитектуры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976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E42C-2088-024D-ADB6-947BE0F8F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N-BEATS (2020)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77253-752C-E74F-A257-2541C5C5E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677" y="905868"/>
            <a:ext cx="5447489" cy="3588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B71B66-C7E6-DF4E-A84A-0B18600F70F5}"/>
              </a:ext>
            </a:extLst>
          </p:cNvPr>
          <p:cNvSpPr txBox="1"/>
          <p:nvPr/>
        </p:nvSpPr>
        <p:spPr>
          <a:xfrm>
            <a:off x="376136" y="4649821"/>
            <a:ext cx="81596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https://towardsdatascience.com/the-easiest-way-to-forecast-time-series-using-n-beats-d778fcc2ba60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5518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925F-A683-1549-82BD-4386449E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TS2Vec encoder (2021)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20C9B2B-9C5E-5147-97BE-9EC12A70B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987" y="878674"/>
            <a:ext cx="6173822" cy="357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8B62EB-82F1-8044-BEB3-5D4D4FBBE41C}"/>
              </a:ext>
            </a:extLst>
          </p:cNvPr>
          <p:cNvSpPr txBox="1"/>
          <p:nvPr/>
        </p:nvSpPr>
        <p:spPr>
          <a:xfrm>
            <a:off x="156968" y="4351111"/>
            <a:ext cx="8864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3"/>
              </a:rPr>
              <a:t>https://arxiv.org/abs/2106.10466</a:t>
            </a:r>
            <a:endParaRPr lang="en-US" sz="1100" dirty="0"/>
          </a:p>
          <a:p>
            <a:r>
              <a:rPr lang="en-US" sz="1100" dirty="0">
                <a:hlinkClick r:id="rId4"/>
              </a:rPr>
              <a:t>https://medium.com/@findalexli/ts2vec-review-towards-universial-time-series-representation-learning-with-hierarchical-contra-c50dd789e85c</a:t>
            </a:r>
            <a:r>
              <a:rPr lang="en-US" sz="11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83975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4C8976-6E21-664B-81C8-BFB7E54F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</a:t>
            </a:r>
            <a:r>
              <a:rPr lang="en-US" dirty="0" err="1"/>
              <a:t>HiTS</a:t>
            </a:r>
            <a:r>
              <a:rPr lang="en-US" dirty="0"/>
              <a:t> (2022)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EA355-F2C2-6344-AA73-560976713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31" y="1052118"/>
            <a:ext cx="7211438" cy="386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1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AA5C-26F9-164D-B2E7-5E278376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ETNA (2022, Tinkoff bank)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C2EB3-943B-C34B-B165-914351683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20" y="991185"/>
            <a:ext cx="5782959" cy="3295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12674C-F960-644A-BFE2-780C5B866F58}"/>
              </a:ext>
            </a:extLst>
          </p:cNvPr>
          <p:cNvSpPr txBox="1"/>
          <p:nvPr/>
        </p:nvSpPr>
        <p:spPr>
          <a:xfrm>
            <a:off x="500550" y="4448783"/>
            <a:ext cx="4467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https://habr.com/ru/companies/tinkoff/articles/598823/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https://etna-docs.netlify.app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2242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4F8D-4033-B246-AE96-8029B74AB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PatchTST</a:t>
            </a:r>
            <a:r>
              <a:rPr lang="en-US" dirty="0"/>
              <a:t> (2023)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F1DA3-E378-0147-9714-50B74E384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207" y="868991"/>
            <a:ext cx="5107585" cy="394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89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9838-04B6-644B-ADA8-0A299AEA6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TiDe</a:t>
            </a:r>
            <a:r>
              <a:rPr lang="en-US" dirty="0"/>
              <a:t> (2023)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53CC7-0482-C343-BF78-886A05C53FB8}"/>
              </a:ext>
            </a:extLst>
          </p:cNvPr>
          <p:cNvSpPr txBox="1"/>
          <p:nvPr/>
        </p:nvSpPr>
        <p:spPr>
          <a:xfrm>
            <a:off x="500550" y="4504999"/>
            <a:ext cx="6460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https://towardsdatascience.com/time-series-forecasting-with-tide-b043acc60f79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99938-731B-814A-8123-EE9060899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146" y="465167"/>
            <a:ext cx="4601637" cy="391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77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0DB3-3576-E14E-B04D-56E730CA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TimesNet</a:t>
            </a:r>
            <a:r>
              <a:rPr lang="en-US" dirty="0"/>
              <a:t> (2023)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AF8C8-37A5-DB44-8EF3-3FB2F6D99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8019"/>
            <a:ext cx="9144000" cy="294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61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C3B2-BCB9-E044-851E-452B1CA3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TsMixter</a:t>
            </a:r>
            <a:r>
              <a:rPr lang="en-US" dirty="0"/>
              <a:t> (2023)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D57D8-1E4D-2C4A-AB3A-A2684F634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194" y="664007"/>
            <a:ext cx="4575793" cy="38154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B5B86D-1A34-4140-AD83-7D303B98FBFE}"/>
              </a:ext>
            </a:extLst>
          </p:cNvPr>
          <p:cNvSpPr txBox="1"/>
          <p:nvPr/>
        </p:nvSpPr>
        <p:spPr>
          <a:xfrm>
            <a:off x="277394" y="4683056"/>
            <a:ext cx="858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3"/>
              </a:rPr>
              <a:t>https://ai.gopubby.com/understanding-tsmixer-google-ais-new-all-mlp-architecture-for-time-series-forecasting-c7f3f7a7a682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6824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 err="1"/>
              <a:t>TSMixter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C3B2-BCB9-E044-851E-452B1CA3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TsMixter</a:t>
            </a:r>
            <a:r>
              <a:rPr lang="en-US" dirty="0"/>
              <a:t> – main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D57D8-1E4D-2C4A-AB3A-A2684F634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357" y="878674"/>
            <a:ext cx="4575793" cy="38154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B5B86D-1A34-4140-AD83-7D303B98FBFE}"/>
              </a:ext>
            </a:extLst>
          </p:cNvPr>
          <p:cNvSpPr txBox="1"/>
          <p:nvPr/>
        </p:nvSpPr>
        <p:spPr>
          <a:xfrm>
            <a:off x="277394" y="4683056"/>
            <a:ext cx="858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3"/>
              </a:rPr>
              <a:t>https://ai.gopubby.com/understanding-tsmixer-google-ais-new-all-mlp-architecture-for-time-series-forecasting-c7f3f7a7a682</a:t>
            </a:r>
            <a:r>
              <a:rPr lang="en-US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F6398-3E1D-B14D-9910-85C237B3BBB3}"/>
              </a:ext>
            </a:extLst>
          </p:cNvPr>
          <p:cNvSpPr txBox="1"/>
          <p:nvPr/>
        </p:nvSpPr>
        <p:spPr>
          <a:xfrm>
            <a:off x="500550" y="1356258"/>
            <a:ext cx="383210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TSMixer</a:t>
            </a:r>
            <a:r>
              <a:rPr lang="en-US" dirty="0"/>
              <a:t>, </a:t>
            </a:r>
            <a:r>
              <a:rPr lang="ru-RU" dirty="0"/>
              <a:t>модель на основе многослойного </a:t>
            </a:r>
            <a:r>
              <a:rPr lang="ru-RU" dirty="0" err="1"/>
              <a:t>перцептрона</a:t>
            </a:r>
            <a:r>
              <a:rPr lang="ru-RU" dirty="0"/>
              <a:t> (</a:t>
            </a:r>
            <a:r>
              <a:rPr lang="en-US" dirty="0"/>
              <a:t>MLP), </a:t>
            </a:r>
            <a:r>
              <a:rPr lang="ru-RU" dirty="0"/>
              <a:t>которая фокусируется на смешивании временных и функциональных параметров для более точного прогнозирования.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Например, погода и осадки, скорее всего, повлияют на количество посетителей парка аттракционов. Аналогичным образом влияют дни недели и праздники.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34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C3B2-BCB9-E044-851E-452B1CA3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TsMixter</a:t>
            </a:r>
            <a:r>
              <a:rPr lang="en-US" dirty="0"/>
              <a:t> – main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D57D8-1E4D-2C4A-AB3A-A2684F634A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84" t="38521" r="25613" b="38961"/>
          <a:stretch/>
        </p:blipFill>
        <p:spPr>
          <a:xfrm>
            <a:off x="2024186" y="3036797"/>
            <a:ext cx="4616945" cy="16702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CF6398-3E1D-B14D-9910-85C237B3BBB3}"/>
              </a:ext>
            </a:extLst>
          </p:cNvPr>
          <p:cNvSpPr txBox="1"/>
          <p:nvPr/>
        </p:nvSpPr>
        <p:spPr>
          <a:xfrm>
            <a:off x="500550" y="1356258"/>
            <a:ext cx="7753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TSMixer</a:t>
            </a:r>
            <a:r>
              <a:rPr lang="en-US" dirty="0"/>
              <a:t> </a:t>
            </a:r>
            <a:r>
              <a:rPr lang="ru-RU" dirty="0"/>
              <a:t>просто расширяет линейные модели</a:t>
            </a:r>
            <a:r>
              <a:rPr lang="en-US" dirty="0"/>
              <a:t> </a:t>
            </a:r>
            <a:r>
              <a:rPr lang="ru-RU" dirty="0"/>
              <a:t>и его архитектура довольно проста</a:t>
            </a:r>
            <a:r>
              <a:rPr lang="en-US" dirty="0"/>
              <a:t>.</a:t>
            </a:r>
          </a:p>
          <a:p>
            <a:r>
              <a:rPr lang="ru-RU" dirty="0"/>
              <a:t>Его модель состоит из двух этапов: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слоя микшера и временной проекции.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93F251-7469-3041-A70A-EBFFBB430E6B}"/>
              </a:ext>
            </a:extLst>
          </p:cNvPr>
          <p:cNvCxnSpPr/>
          <p:nvPr/>
        </p:nvCxnSpPr>
        <p:spPr>
          <a:xfrm>
            <a:off x="853031" y="2094922"/>
            <a:ext cx="117115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B15537-D8B1-364E-9195-3FB1F0EEE7F9}"/>
              </a:ext>
            </a:extLst>
          </p:cNvPr>
          <p:cNvCxnSpPr/>
          <p:nvPr/>
        </p:nvCxnSpPr>
        <p:spPr>
          <a:xfrm>
            <a:off x="2264521" y="2094922"/>
            <a:ext cx="180425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409654-9697-C149-B59E-27502BA32E2A}"/>
              </a:ext>
            </a:extLst>
          </p:cNvPr>
          <p:cNvCxnSpPr/>
          <p:nvPr/>
        </p:nvCxnSpPr>
        <p:spPr>
          <a:xfrm>
            <a:off x="1438608" y="2094922"/>
            <a:ext cx="2108528" cy="1151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6AC2B9-EA0A-3A4D-BB51-46B280E2B0CA}"/>
              </a:ext>
            </a:extLst>
          </p:cNvPr>
          <p:cNvCxnSpPr/>
          <p:nvPr/>
        </p:nvCxnSpPr>
        <p:spPr>
          <a:xfrm>
            <a:off x="3307796" y="2094922"/>
            <a:ext cx="1571050" cy="1151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018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C3B2-BCB9-E044-851E-452B1CA3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Mixter</a:t>
            </a:r>
            <a:r>
              <a:rPr lang="ru-RU" dirty="0"/>
              <a:t> </a:t>
            </a:r>
            <a:r>
              <a:rPr lang="en-US" dirty="0"/>
              <a:t>layer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448E2F8-14C2-6048-A915-D07DC1A09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3" b="8119"/>
          <a:stretch/>
        </p:blipFill>
        <p:spPr bwMode="auto">
          <a:xfrm>
            <a:off x="131150" y="2638872"/>
            <a:ext cx="8890000" cy="2424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656269-8420-D246-91F4-6D7C8CD56238}"/>
              </a:ext>
            </a:extLst>
          </p:cNvPr>
          <p:cNvSpPr txBox="1"/>
          <p:nvPr/>
        </p:nvSpPr>
        <p:spPr>
          <a:xfrm>
            <a:off x="500550" y="878674"/>
            <a:ext cx="85205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происходит смешивание времени и характеристик, отсюда и название </a:t>
            </a:r>
            <a:r>
              <a:rPr lang="en-US" dirty="0" err="1"/>
              <a:t>TSMixer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Входные данные, где строки представляют время, а столбцы - признаки, транспонируются, поэтому </a:t>
            </a:r>
            <a:r>
              <a:rPr lang="en-US" dirty="0"/>
              <a:t>MLP </a:t>
            </a:r>
            <a:r>
              <a:rPr lang="ru-RU" dirty="0"/>
              <a:t>применяется во временной области и обрабатывает все признаки. Этот блок отвечает за обучение временным шаблонам.</a:t>
            </a:r>
          </a:p>
          <a:p>
            <a:r>
              <a:rPr lang="ru-RU" dirty="0"/>
              <a:t>Перед тем как покинуть блок смешивания времени, матрица снова транспонируется и отправляется в блок смешивания признаков.</a:t>
            </a:r>
            <a:endParaRPr lang="en-US" dirty="0"/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9645A836-AE7F-D34F-B8AF-23DF41F13488}"/>
              </a:ext>
            </a:extLst>
          </p:cNvPr>
          <p:cNvSpPr/>
          <p:nvPr/>
        </p:nvSpPr>
        <p:spPr>
          <a:xfrm>
            <a:off x="491405" y="1391367"/>
            <a:ext cx="45719" cy="103885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AD15B1A5-1FE4-F940-B33C-9A10859B10FB}"/>
              </a:ext>
            </a:extLst>
          </p:cNvPr>
          <p:cNvCxnSpPr>
            <a:stCxn id="6" idx="1"/>
          </p:cNvCxnSpPr>
          <p:nvPr/>
        </p:nvCxnSpPr>
        <p:spPr>
          <a:xfrm rot="10800000" flipV="1">
            <a:off x="355941" y="1910792"/>
            <a:ext cx="135464" cy="10472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EA6696C-B1E7-154D-AF87-7264469D52D4}"/>
              </a:ext>
            </a:extLst>
          </p:cNvPr>
          <p:cNvSpPr/>
          <p:nvPr/>
        </p:nvSpPr>
        <p:spPr>
          <a:xfrm>
            <a:off x="214337" y="3020924"/>
            <a:ext cx="6223283" cy="1999071"/>
          </a:xfrm>
          <a:prstGeom prst="roundRect">
            <a:avLst>
              <a:gd name="adj" fmla="val 7021"/>
            </a:avLst>
          </a:prstGeom>
          <a:noFill/>
          <a:ln>
            <a:solidFill>
              <a:srgbClr val="4285F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57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C3B2-BCB9-E044-851E-452B1CA3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Mixter</a:t>
            </a:r>
            <a:r>
              <a:rPr lang="ru-RU" dirty="0"/>
              <a:t> </a:t>
            </a:r>
            <a:r>
              <a:rPr lang="en-US" dirty="0"/>
              <a:t>layer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448E2F8-14C2-6048-A915-D07DC1A09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3" b="8119"/>
          <a:stretch/>
        </p:blipFill>
        <p:spPr bwMode="auto">
          <a:xfrm>
            <a:off x="131150" y="2638872"/>
            <a:ext cx="8890000" cy="2424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656269-8420-D246-91F4-6D7C8CD56238}"/>
              </a:ext>
            </a:extLst>
          </p:cNvPr>
          <p:cNvSpPr txBox="1"/>
          <p:nvPr/>
        </p:nvSpPr>
        <p:spPr>
          <a:xfrm>
            <a:off x="500550" y="878674"/>
            <a:ext cx="84286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происходит смешивание времени и характеристик, отсюда и название </a:t>
            </a:r>
            <a:r>
              <a:rPr lang="en-US" dirty="0" err="1"/>
              <a:t>TSMixer</a:t>
            </a:r>
            <a:r>
              <a:rPr lang="en-US" dirty="0"/>
              <a:t>.</a:t>
            </a:r>
          </a:p>
          <a:p>
            <a:endParaRPr lang="en-US" dirty="0"/>
          </a:p>
          <a:p>
            <a:pPr marL="4763"/>
            <a:r>
              <a:rPr lang="ru-RU" dirty="0"/>
              <a:t>Блок смешивания признаков является общим для всех временных шагов. </a:t>
            </a:r>
            <a:br>
              <a:rPr lang="ru-RU" dirty="0"/>
            </a:br>
            <a:r>
              <a:rPr lang="ru-RU" dirty="0"/>
              <a:t>Здесь нет необходимости в транспонировании, поскольку признаки уже расположены на горизонтальной оси.</a:t>
            </a:r>
            <a:endParaRPr lang="en-US" dirty="0"/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9645A836-AE7F-D34F-B8AF-23DF41F13488}"/>
              </a:ext>
            </a:extLst>
          </p:cNvPr>
          <p:cNvSpPr/>
          <p:nvPr/>
        </p:nvSpPr>
        <p:spPr>
          <a:xfrm flipH="1">
            <a:off x="8643449" y="1375369"/>
            <a:ext cx="45719" cy="672856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AD15B1A5-1FE4-F940-B33C-9A10859B10FB}"/>
              </a:ext>
            </a:extLst>
          </p:cNvPr>
          <p:cNvCxnSpPr>
            <a:cxnSpLocks/>
            <a:stCxn id="6" idx="1"/>
          </p:cNvCxnSpPr>
          <p:nvPr/>
        </p:nvCxnSpPr>
        <p:spPr>
          <a:xfrm>
            <a:off x="8689168" y="1711797"/>
            <a:ext cx="183406" cy="1309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EA6696C-B1E7-154D-AF87-7264469D52D4}"/>
              </a:ext>
            </a:extLst>
          </p:cNvPr>
          <p:cNvSpPr/>
          <p:nvPr/>
        </p:nvSpPr>
        <p:spPr>
          <a:xfrm>
            <a:off x="6456032" y="3022487"/>
            <a:ext cx="2473176" cy="1999071"/>
          </a:xfrm>
          <a:prstGeom prst="roundRect">
            <a:avLst>
              <a:gd name="adj" fmla="val 7021"/>
            </a:avLst>
          </a:prstGeom>
          <a:noFill/>
          <a:ln>
            <a:solidFill>
              <a:srgbClr val="4285F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93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C3B2-BCB9-E044-851E-452B1CA3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projection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56269-8420-D246-91F4-6D7C8CD56238}"/>
              </a:ext>
            </a:extLst>
          </p:cNvPr>
          <p:cNvSpPr txBox="1"/>
          <p:nvPr/>
        </p:nvSpPr>
        <p:spPr>
          <a:xfrm>
            <a:off x="500550" y="878674"/>
            <a:ext cx="84286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Шаг временной проекции - это то, что генерирует предсказания в </a:t>
            </a:r>
            <a:r>
              <a:rPr lang="en-US" dirty="0" err="1"/>
              <a:t>TSMixer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Здесь матрица снова транспонируется и передается через </a:t>
            </a:r>
            <a:r>
              <a:rPr lang="ru-RU" dirty="0" err="1"/>
              <a:t>полносвязный</a:t>
            </a:r>
            <a:r>
              <a:rPr lang="ru-RU" dirty="0"/>
              <a:t> слой для генерации прогнозов. На последнем этапе матрица снова транспонируется, чтобы по горизонтальной оси располагались признаки, а по вертикальной - временные шаги.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449FE06-6210-AC4E-855E-FD9DD455B1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1"/>
          <a:stretch/>
        </p:blipFill>
        <p:spPr bwMode="auto">
          <a:xfrm>
            <a:off x="127000" y="2442594"/>
            <a:ext cx="8890000" cy="254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650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7244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Знакомство с командой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15+ лет опыта в прикладной математике и математическом моделировании НИИгазэкономика ПАО Газпром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Вадим </a:t>
            </a:r>
            <a:r>
              <a:rPr lang="ru-RU" sz="1517" b="1" dirty="0" err="1">
                <a:solidFill>
                  <a:srgbClr val="FF9900"/>
                </a:solidFill>
              </a:rPr>
              <a:t>Заигрин</a:t>
            </a:r>
            <a:endParaRPr lang="ru" sz="1517" b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Ведущий консультант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69" b="669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12897" b="12897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Андрей </a:t>
            </a:r>
            <a:r>
              <a:rPr lang="ru-RU" sz="1517" b="1" dirty="0" err="1">
                <a:solidFill>
                  <a:srgbClr val="FF9900"/>
                </a:solidFill>
              </a:rPr>
              <a:t>Канашов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 err="1">
                <a:solidFill>
                  <a:srgbClr val="FF9900"/>
                </a:solidFill>
              </a:rPr>
              <a:t>Раиль</a:t>
            </a:r>
            <a:r>
              <a:rPr lang="ru-RU" sz="1517" b="1" dirty="0">
                <a:solidFill>
                  <a:srgbClr val="FF9900"/>
                </a:solidFill>
              </a:rPr>
              <a:t> Сулейманов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5240" b="15240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8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9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6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0AFAC779-1EA5-B545-A412-FB1501A1858C}"/>
              </a:ext>
            </a:extLst>
          </p:cNvPr>
          <p:cNvPicPr preferRelativeResize="0"/>
          <p:nvPr/>
        </p:nvPicPr>
        <p:blipFill>
          <a:blip r:embed="rId10"/>
          <a:srcRect t="10689" b="10689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" name="Google Shape;222;p40">
            <a:extLst>
              <a:ext uri="{FF2B5EF4-FFF2-40B4-BE49-F238E27FC236}">
                <a16:creationId xmlns:a16="http://schemas.microsoft.com/office/drawing/2014/main" id="{BA8E8661-1BB1-014A-A869-7370C93A1643}"/>
              </a:ext>
            </a:extLst>
          </p:cNvPr>
          <p:cNvSpPr txBox="1">
            <a:spLocks/>
          </p:cNvSpPr>
          <p:nvPr/>
        </p:nvSpPr>
        <p:spPr>
          <a:xfrm>
            <a:off x="5293636" y="2211034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3"/>
          <a:srcRect t="15853" b="15853"/>
          <a:stretch/>
        </p:blipFill>
        <p:spPr>
          <a:xfrm>
            <a:off x="738109" y="1297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4"/>
          <a:srcRect t="7452" b="7452"/>
          <a:stretch/>
        </p:blipFill>
        <p:spPr>
          <a:xfrm>
            <a:off x="738109" y="2170099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657163" y="1399364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657164" y="2268109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5"/>
          <a:srcRect t="669" b="669"/>
          <a:stretch/>
        </p:blipFill>
        <p:spPr>
          <a:xfrm>
            <a:off x="738109" y="305503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6"/>
          <a:srcRect t="669" b="669"/>
          <a:stretch/>
        </p:blipFill>
        <p:spPr>
          <a:xfrm>
            <a:off x="738109" y="3927840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1657163" y="3136854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Мария Кузьмина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Продакт</a:t>
            </a:r>
            <a:r>
              <a:rPr lang="ru-RU" sz="1000" dirty="0">
                <a:solidFill>
                  <a:schemeClr val="tx1"/>
                </a:solidFill>
              </a:rPr>
              <a:t> менеджер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1657164" y="4005599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Инна Мельникова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Комьюнити</a:t>
            </a:r>
            <a:r>
              <a:rPr lang="ru-RU" sz="1000" dirty="0">
                <a:solidFill>
                  <a:schemeClr val="tx1"/>
                </a:solidFill>
              </a:rPr>
              <a:t> менеджер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2B8350B-14ED-264D-B5C1-04082A8D52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9514" y="1351099"/>
            <a:ext cx="2775500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sp>
        <p:nvSpPr>
          <p:cNvPr id="240" name="Google Shape;240;p41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Напишите, пожалуйста, в чат или скажите голосом </a:t>
            </a:r>
            <a:endParaRPr sz="1500" b="1">
              <a:solidFill>
                <a:srgbClr val="FF9900"/>
              </a:solidFill>
            </a:endParaRPr>
          </a:p>
        </p:txBody>
      </p:sp>
      <p:pic>
        <p:nvPicPr>
          <p:cNvPr id="241" name="Google Shape;24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925" y="1880900"/>
            <a:ext cx="730678" cy="73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0173" y="1880910"/>
            <a:ext cx="730678" cy="73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6925" y="2982867"/>
            <a:ext cx="730678" cy="73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1"/>
          <p:cNvSpPr txBox="1"/>
          <p:nvPr/>
        </p:nvSpPr>
        <p:spPr>
          <a:xfrm>
            <a:off x="2006125" y="2038489"/>
            <a:ext cx="247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 вас зовут?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5561550" y="2038489"/>
            <a:ext cx="3231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Какой опыт в IT?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2006125" y="3024956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Какие ожидания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от курса?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8355" y="2996505"/>
            <a:ext cx="703404" cy="703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/>
        </p:nvSpPr>
        <p:spPr>
          <a:xfrm>
            <a:off x="5561550" y="2909606"/>
            <a:ext cx="2768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Заполните информацию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разделе «О себе»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личном кабинете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500550" y="248043"/>
            <a:ext cx="8520600" cy="8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подготовиться к обучению</a:t>
            </a:r>
            <a:endParaRPr/>
          </a:p>
        </p:txBody>
      </p:sp>
      <p:sp>
        <p:nvSpPr>
          <p:cNvPr id="254" name="Google Shape;254;p42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u="sng">
                <a:solidFill>
                  <a:schemeClr val="hlink"/>
                </a:solidFill>
                <a:hlinkClick r:id="rId3"/>
              </a:rPr>
              <a:t>Полезный курс о том, как эффективно учиться </a:t>
            </a:r>
            <a:endParaRPr sz="1600" b="1">
              <a:solidFill>
                <a:srgbClr val="FF9900"/>
              </a:solidFill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2006125" y="205001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2006125" y="297476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6131100" y="2909606"/>
            <a:ext cx="276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50" y="1222130"/>
            <a:ext cx="1856475" cy="82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000" y="2102681"/>
            <a:ext cx="3835574" cy="2718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2"/>
          <p:cNvSpPr txBox="1"/>
          <p:nvPr/>
        </p:nvSpPr>
        <p:spPr>
          <a:xfrm>
            <a:off x="2831425" y="1872769"/>
            <a:ext cx="570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Pro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4664054" y="669270"/>
            <a:ext cx="2861081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учителем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657428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657556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Введение в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2867539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текстовых данных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1947078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58920"/>
            <a:ext cx="2354366" cy="698508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512423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временных рядов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1947206"/>
            <a:ext cx="297650" cy="1209983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042401" y="3157189"/>
            <a:ext cx="2098433" cy="355234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32517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686076" y="129895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27420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24797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9493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46871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278196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251974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029546" y="4015038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Рекомендательные системы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3"/>
            <a:endCxn id="50" idx="1"/>
          </p:cNvCxnSpPr>
          <p:nvPr/>
        </p:nvCxnSpPr>
        <p:spPr>
          <a:xfrm>
            <a:off x="3584250" y="3802073"/>
            <a:ext cx="1445296" cy="50261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1242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48620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89559" y="4119546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2869561" y="4093324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6A74D20B-D29C-D14D-8BC8-1FDB5963C09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729441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A4A8C1A-43F7-F643-A4B3-06134C736607}"/>
              </a:ext>
            </a:extLst>
          </p:cNvPr>
          <p:cNvSpPr txBox="1"/>
          <p:nvPr/>
        </p:nvSpPr>
        <p:spPr>
          <a:xfrm>
            <a:off x="2826219" y="2703219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61" name="Google Shape;530;p82">
            <a:extLst>
              <a:ext uri="{FF2B5EF4-FFF2-40B4-BE49-F238E27FC236}">
                <a16:creationId xmlns:a16="http://schemas.microsoft.com/office/drawing/2014/main" id="{EDDB19FF-038D-CF42-BC43-7D8BA772900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7991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03ACE17-444B-A745-BBA3-68ACDF3B87FE}"/>
              </a:ext>
            </a:extLst>
          </p:cNvPr>
          <p:cNvSpPr txBox="1"/>
          <p:nvPr/>
        </p:nvSpPr>
        <p:spPr>
          <a:xfrm>
            <a:off x="6751398" y="245368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63" name="Google Shape;530;p82">
            <a:extLst>
              <a:ext uri="{FF2B5EF4-FFF2-40B4-BE49-F238E27FC236}">
                <a16:creationId xmlns:a16="http://schemas.microsoft.com/office/drawing/2014/main" id="{516E46BC-D0F7-364A-B41C-2B316294471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743731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FC6AB73-366D-7D4A-9D2F-87F3E227209B}"/>
              </a:ext>
            </a:extLst>
          </p:cNvPr>
          <p:cNvSpPr txBox="1"/>
          <p:nvPr/>
        </p:nvSpPr>
        <p:spPr>
          <a:xfrm>
            <a:off x="6469308" y="3717509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65" name="Google Shape;278;p44">
            <a:extLst>
              <a:ext uri="{FF2B5EF4-FFF2-40B4-BE49-F238E27FC236}">
                <a16:creationId xmlns:a16="http://schemas.microsoft.com/office/drawing/2014/main" id="{6897773D-B894-8E4A-AAE1-7249D3456087}"/>
              </a:ext>
            </a:extLst>
          </p:cNvPr>
          <p:cNvSpPr/>
          <p:nvPr/>
        </p:nvSpPr>
        <p:spPr>
          <a:xfrm>
            <a:off x="500550" y="447108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D054DBC9-5CA6-BE4B-A41E-B45733722C37}"/>
              </a:ext>
            </a:extLst>
          </p:cNvPr>
          <p:cNvCxnSpPr>
            <a:cxnSpLocks/>
            <a:stCxn id="65" idx="3"/>
            <a:endCxn id="50" idx="2"/>
          </p:cNvCxnSpPr>
          <p:nvPr/>
        </p:nvCxnSpPr>
        <p:spPr>
          <a:xfrm flipV="1">
            <a:off x="3584250" y="4594338"/>
            <a:ext cx="2987146" cy="1663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9" name="Google Shape;530;p82">
            <a:extLst>
              <a:ext uri="{FF2B5EF4-FFF2-40B4-BE49-F238E27FC236}">
                <a16:creationId xmlns:a16="http://schemas.microsoft.com/office/drawing/2014/main" id="{EF098809-DE09-5A45-A08C-26A3ABFAED7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91465" y="466945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0237C4BE-881B-704D-B08A-86E380F5132F}"/>
              </a:ext>
            </a:extLst>
          </p:cNvPr>
          <p:cNvSpPr txBox="1"/>
          <p:nvPr/>
        </p:nvSpPr>
        <p:spPr>
          <a:xfrm>
            <a:off x="7471467" y="464322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учителем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Вводная лекция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градиентного спуска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EDA, cross-validation,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метрики качества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Градиентный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бустинг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4140743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4369" y="4084649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опорных векторов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без учителя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Методы уменьшения размерности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K-means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Иерархическая кластеризация.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DB-Scan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аномалий в данных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Построение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end-to-end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пайплайнов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сериализация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 на графах, часть 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07797" y="274118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76099" y="268913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 на графах, часть 2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2B006970-76D2-C94D-B5E6-1A29F1933D1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6946" y="321098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5ED362C-B448-6340-9345-CF19C9B1B553}"/>
              </a:ext>
            </a:extLst>
          </p:cNvPr>
          <p:cNvSpPr txBox="1"/>
          <p:nvPr/>
        </p:nvSpPr>
        <p:spPr>
          <a:xfrm rot="20748746">
            <a:off x="7576100" y="315488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8661" y="414448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87815" y="408838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61" name="Table 23">
            <a:extLst>
              <a:ext uri="{FF2B5EF4-FFF2-40B4-BE49-F238E27FC236}">
                <a16:creationId xmlns:a16="http://schemas.microsoft.com/office/drawing/2014/main" id="{65C7F050-A8DF-1B43-B566-D167AFB53183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002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Deep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нейросети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PyTorch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, часть 1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Продвинутые методы оптимизации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Борьба с переобучение нейросетей, взрыв и затухание градиентов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PyTorch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, часть 2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Сверточные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сети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Рекуррентные сети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2B006970-76D2-C94D-B5E6-1A29F1933D1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6945" y="460562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5ED362C-B448-6340-9345-CF19C9B1B553}"/>
              </a:ext>
            </a:extLst>
          </p:cNvPr>
          <p:cNvSpPr txBox="1"/>
          <p:nvPr/>
        </p:nvSpPr>
        <p:spPr>
          <a:xfrm rot="20748746">
            <a:off x="7576099" y="454953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8661" y="414448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87815" y="408838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61" name="Table 23">
            <a:extLst>
              <a:ext uri="{FF2B5EF4-FFF2-40B4-BE49-F238E27FC236}">
                <a16:creationId xmlns:a16="http://schemas.microsoft.com/office/drawing/2014/main" id="{387AF42C-47DF-2F4C-A291-F3FAD04C91E2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8363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Анализ текстовых данных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Сбор данных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Предобработка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токенизация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Векторные представления слов, 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работа с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предобученными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эмбеддингами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Понятие языковой модели,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RNN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для работы с текстом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245802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1191" y="240193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23">
            <a:extLst>
              <a:ext uri="{FF2B5EF4-FFF2-40B4-BE49-F238E27FC236}">
                <a16:creationId xmlns:a16="http://schemas.microsoft.com/office/drawing/2014/main" id="{E0DB47F0-1577-A045-82C1-EE21529681BD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Анализ текстовых данных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трансформер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Transfer Learning.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BERT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Named Entity Recognition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Тематическое моделирование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3006" y="2995284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2160" y="293919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23">
            <a:extLst>
              <a:ext uri="{FF2B5EF4-FFF2-40B4-BE49-F238E27FC236}">
                <a16:creationId xmlns:a16="http://schemas.microsoft.com/office/drawing/2014/main" id="{1738E95F-CCBA-3141-B23A-F828A7440458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816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временных рядов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Постановка задачи, простейшие методы.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ARIMA-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модель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Извлечение признаков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Кластеризация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8174" y="246137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77328" y="240527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39" name="Table 23">
            <a:extLst>
              <a:ext uri="{FF2B5EF4-FFF2-40B4-BE49-F238E27FC236}">
                <a16:creationId xmlns:a16="http://schemas.microsoft.com/office/drawing/2014/main" id="{3C31679A-FB0A-3C47-A6F2-01B73019F411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рекомендательные системы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Коллаборативная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фильтрация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Контентная фильтрация, гибридные подходы. </a:t>
            </a:r>
            <a:b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Ассоциативные правила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Методы матричной факторизации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рекомендательным системам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Apache Spark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09579" y="274060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68733" y="268450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46" name="Table 23">
            <a:extLst>
              <a:ext uri="{FF2B5EF4-FFF2-40B4-BE49-F238E27FC236}">
                <a16:creationId xmlns:a16="http://schemas.microsoft.com/office/drawing/2014/main" id="{47AF300B-F13F-C547-8315-DAEA8D78C145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131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и обсуждение темы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61414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028901" y="2461601"/>
            <a:ext cx="197569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116D62D7-867B-F541-8C02-1D8DC2EB3E4F}"/>
              </a:ext>
            </a:extLst>
          </p:cNvPr>
          <p:cNvSpPr/>
          <p:nvPr/>
        </p:nvSpPr>
        <p:spPr>
          <a:xfrm>
            <a:off x="2226713" y="2931393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A294CF90-DC78-094B-8AE5-A31327A356E2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1293911" y="2196591"/>
            <a:ext cx="144567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23">
            <a:extLst>
              <a:ext uri="{FF2B5EF4-FFF2-40B4-BE49-F238E27FC236}">
                <a16:creationId xmlns:a16="http://schemas.microsoft.com/office/drawing/2014/main" id="{24303127-D7C4-E749-9E8B-5548EA3E8F29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 дня в неделю,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Наш чат – это </a:t>
            </a:r>
            <a:br>
              <a:rPr lang="ru" sz="1300" dirty="0">
                <a:latin typeface="Roboto"/>
                <a:ea typeface="Roboto"/>
                <a:cs typeface="Roboto"/>
                <a:sym typeface="Roboto"/>
              </a:rPr>
            </a:b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Организационные вопросы</a:t>
            </a:r>
            <a:endParaRPr/>
          </a:p>
        </p:txBody>
      </p:sp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Комьюнити менеджер: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На связи в рабочее время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Ответит на все организационные вопросы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Поможет с подключениями</a:t>
            </a: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Преподаватель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Проводит вебинары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Отвечает на вопросы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Проверяет ДЗ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Руководитель курса: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Выбор курсового проекта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Консультирование по сложным вопросам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Консульирование по курсовому проекту</a:t>
            </a:r>
          </a:p>
        </p:txBody>
      </p:sp>
      <p:pic>
        <p:nvPicPr>
          <p:cNvPr id="9" name="Google Shape;530;p82">
            <a:extLst>
              <a:ext uri="{FF2B5EF4-FFF2-40B4-BE49-F238E27FC236}">
                <a16:creationId xmlns:a16="http://schemas.microsoft.com/office/drawing/2014/main" id="{6399020F-EA36-354A-BDAF-1F3E86191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678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53;p83">
            <a:extLst>
              <a:ext uri="{FF2B5EF4-FFF2-40B4-BE49-F238E27FC236}">
                <a16:creationId xmlns:a16="http://schemas.microsoft.com/office/drawing/2014/main" id="{E02214EB-08B0-264A-85A5-18B9DEBACB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392256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47;p83">
            <a:extLst>
              <a:ext uri="{FF2B5EF4-FFF2-40B4-BE49-F238E27FC236}">
                <a16:creationId xmlns:a16="http://schemas.microsoft.com/office/drawing/2014/main" id="{579BB668-A6A3-0649-B4B7-6E200F44F9A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2611580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Технические моменты</a:t>
            </a:r>
            <a:endParaRPr dirty="0"/>
          </a:p>
        </p:txBody>
      </p:sp>
      <p:pic>
        <p:nvPicPr>
          <p:cNvPr id="335" name="Google Shape;335;p5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23699"/>
            <a:ext cx="622800" cy="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0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2547150"/>
            <a:ext cx="622800" cy="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Стек технологий: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Python 3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, virtual environment (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venv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conda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poertry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Пакетные менеджеры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pip / conda 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Git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Github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инструменты будем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использовать: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Jupyter notebook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VSCode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PyCharm</a:t>
            </a: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 на курсе: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разработка алгоритмов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рименение алгоритмов для решения практических задач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применение популярных фреймворков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50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3762975"/>
            <a:ext cx="622800" cy="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1524</Words>
  <Application>Microsoft Macintosh PowerPoint</Application>
  <PresentationFormat>On-screen Show (16:9)</PresentationFormat>
  <Paragraphs>312</Paragraphs>
  <Slides>48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Bradley Hand</vt:lpstr>
      <vt:lpstr>Arial</vt:lpstr>
      <vt:lpstr>Roboto</vt:lpstr>
      <vt:lpstr>Courier New</vt:lpstr>
      <vt:lpstr>Google Sans</vt:lpstr>
      <vt:lpstr>AkayaTelivigala</vt:lpstr>
      <vt:lpstr>Светлая тема</vt:lpstr>
      <vt:lpstr>ML Professional TSMixter современная архитектура разложения временных рядов от Google</vt:lpstr>
      <vt:lpstr>Проверить, идет ли запись</vt:lpstr>
      <vt:lpstr>ML Professional TSMixter современная архитектура разложения временных рядов от Google</vt:lpstr>
      <vt:lpstr>Правила вебинара</vt:lpstr>
      <vt:lpstr>Маршрут вебинара</vt:lpstr>
      <vt:lpstr>Знакомство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Современные архитектуры</vt:lpstr>
      <vt:lpstr>N-BEATS (2020)</vt:lpstr>
      <vt:lpstr>TS2Vec encoder (2021)</vt:lpstr>
      <vt:lpstr>N-HiTS (2022)</vt:lpstr>
      <vt:lpstr>ETNA (2022, Tinkoff bank)</vt:lpstr>
      <vt:lpstr>PatchTST (2023)</vt:lpstr>
      <vt:lpstr>TiDe (2023)</vt:lpstr>
      <vt:lpstr>TimesNet (2023)</vt:lpstr>
      <vt:lpstr>TsMixter (2023)</vt:lpstr>
      <vt:lpstr>TSMixter</vt:lpstr>
      <vt:lpstr>TsMixter – main architecture</vt:lpstr>
      <vt:lpstr>TsMixter – main architecture</vt:lpstr>
      <vt:lpstr>Mixter layer</vt:lpstr>
      <vt:lpstr>Mixter layer</vt:lpstr>
      <vt:lpstr>Temporal projection</vt:lpstr>
      <vt:lpstr>Практика</vt:lpstr>
      <vt:lpstr>Знакомство с командой</vt:lpstr>
      <vt:lpstr>Команда курса</vt:lpstr>
      <vt:lpstr>Команда курса</vt:lpstr>
      <vt:lpstr>Команда курса</vt:lpstr>
      <vt:lpstr>Команда курса</vt:lpstr>
      <vt:lpstr>Расскажите о себе</vt:lpstr>
      <vt:lpstr>Как подготовиться к обучению</vt:lpstr>
      <vt:lpstr>О курсе ML Pro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Как будем учиться?</vt:lpstr>
      <vt:lpstr>Организационные вопросы</vt:lpstr>
      <vt:lpstr>Технические моменты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Production Code проекта на примере задачи классификации/регрессии, Virtual environments, dependency management, pypi/gemfur</dc:title>
  <cp:lastModifiedBy>Стурейко Игорь Олегович</cp:lastModifiedBy>
  <cp:revision>33</cp:revision>
  <dcterms:modified xsi:type="dcterms:W3CDTF">2024-10-20T18:04:43Z</dcterms:modified>
</cp:coreProperties>
</file>