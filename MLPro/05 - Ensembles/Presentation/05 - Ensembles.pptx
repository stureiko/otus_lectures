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35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34" r:id="rId4"/>
    <p:sldId id="259" r:id="rId5"/>
    <p:sldId id="260" r:id="rId6"/>
    <p:sldId id="373" r:id="rId7"/>
    <p:sldId id="305" r:id="rId8"/>
    <p:sldId id="265" r:id="rId9"/>
    <p:sldId id="425" r:id="rId10"/>
    <p:sldId id="342" r:id="rId11"/>
    <p:sldId id="396" r:id="rId12"/>
    <p:sldId id="441" r:id="rId13"/>
    <p:sldId id="442" r:id="rId14"/>
    <p:sldId id="443" r:id="rId15"/>
    <p:sldId id="444" r:id="rId16"/>
    <p:sldId id="446" r:id="rId17"/>
    <p:sldId id="447" r:id="rId18"/>
    <p:sldId id="448" r:id="rId19"/>
    <p:sldId id="449" r:id="rId20"/>
    <p:sldId id="450" r:id="rId21"/>
    <p:sldId id="398" r:id="rId22"/>
    <p:sldId id="440" r:id="rId23"/>
    <p:sldId id="472" r:id="rId24"/>
    <p:sldId id="473" r:id="rId25"/>
    <p:sldId id="453" r:id="rId26"/>
    <p:sldId id="454" r:id="rId27"/>
    <p:sldId id="452" r:id="rId28"/>
    <p:sldId id="451" r:id="rId29"/>
    <p:sldId id="458" r:id="rId30"/>
    <p:sldId id="459" r:id="rId31"/>
    <p:sldId id="460" r:id="rId32"/>
    <p:sldId id="461" r:id="rId33"/>
    <p:sldId id="465" r:id="rId34"/>
    <p:sldId id="463" r:id="rId35"/>
    <p:sldId id="464" r:id="rId36"/>
    <p:sldId id="466" r:id="rId37"/>
    <p:sldId id="467" r:id="rId38"/>
    <p:sldId id="457" r:id="rId39"/>
    <p:sldId id="474" r:id="rId40"/>
    <p:sldId id="469" r:id="rId41"/>
    <p:sldId id="470" r:id="rId42"/>
    <p:sldId id="364" r:id="rId43"/>
    <p:sldId id="468" r:id="rId44"/>
    <p:sldId id="377" r:id="rId45"/>
    <p:sldId id="302" r:id="rId46"/>
    <p:sldId id="335" r:id="rId47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7"/>
    <p:restoredTop sz="97030"/>
  </p:normalViewPr>
  <p:slideViewPr>
    <p:cSldViewPr>
      <p:cViewPr varScale="1">
        <p:scale>
          <a:sx n="208" d="100"/>
          <a:sy n="208" d="100"/>
        </p:scale>
        <p:origin x="25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18.07.2025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23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485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595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Ensembles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ru-RU" sz="2400" dirty="0" err="1">
                <a:ea typeface="Roboto"/>
                <a:sym typeface="Roboto"/>
              </a:rPr>
              <a:t>E</a:t>
            </a:r>
            <a:r>
              <a:rPr lang="en-US" sz="2400" b="1" dirty="0" err="1">
                <a:latin typeface="Roboto"/>
                <a:ea typeface="Roboto"/>
                <a:cs typeface="Roboto"/>
                <a:sym typeface="Roboto"/>
              </a:rPr>
              <a:t>nsembles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622D254-4BE4-9F43-8A56-A3A90374D0FF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 err="1"/>
              <a:t>учебной</a:t>
            </a:r>
            <a:r>
              <a:rPr spc="-15" dirty="0"/>
              <a:t> </a:t>
            </a:r>
            <a:r>
              <a:rPr spc="-10" dirty="0" err="1"/>
              <a:t>группе</a:t>
            </a:r>
            <a:endParaRPr lang="ru-RU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ru-RU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" name="object 3"/>
          <p:cNvSpPr/>
          <p:nvPr/>
        </p:nvSpPr>
        <p:spPr>
          <a:xfrm>
            <a:off x="5805201" y="62732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ru-RU" sz="1400" spc="-10" dirty="0">
                <a:latin typeface="Roboto"/>
                <a:cs typeface="Roboto"/>
              </a:rPr>
              <a:t>Обучение с учителем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0" y="1684386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Обучение без учителя</a:t>
            </a:r>
            <a:endParaRPr lang="en-US" sz="1400" spc="-2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05882" y="1847802"/>
            <a:ext cx="2203450" cy="579755"/>
          </a:xfrm>
          <a:custGeom>
            <a:avLst/>
            <a:gdLst/>
            <a:ahLst/>
            <a:cxnLst/>
            <a:rect l="l" t="t" r="r" b="b"/>
            <a:pathLst>
              <a:path w="2203450" h="579755">
                <a:moveTo>
                  <a:pt x="21066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106648" y="0"/>
                </a:lnTo>
                <a:lnTo>
                  <a:pt x="2160214" y="16221"/>
                </a:lnTo>
                <a:lnTo>
                  <a:pt x="2195850" y="59603"/>
                </a:lnTo>
                <a:lnTo>
                  <a:pt x="2203199" y="96551"/>
                </a:lnTo>
                <a:lnTo>
                  <a:pt x="2203199" y="482747"/>
                </a:lnTo>
                <a:lnTo>
                  <a:pt x="2195612" y="520330"/>
                </a:lnTo>
                <a:lnTo>
                  <a:pt x="2174920" y="551020"/>
                </a:lnTo>
                <a:lnTo>
                  <a:pt x="2144230" y="571712"/>
                </a:lnTo>
                <a:lnTo>
                  <a:pt x="21066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Введение в </a:t>
            </a:r>
            <a:r>
              <a:rPr lang="en-US" sz="1400" spc="-20" dirty="0">
                <a:latin typeface="Roboto"/>
                <a:cs typeface="Roboto"/>
              </a:rPr>
              <a:t>Deep learning</a:t>
            </a:r>
            <a:endParaRPr sz="1400" spc="-20" dirty="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6500" y="3022737"/>
            <a:ext cx="2971165" cy="579755"/>
          </a:xfrm>
          <a:custGeom>
            <a:avLst/>
            <a:gdLst/>
            <a:ahLst/>
            <a:cxnLst/>
            <a:rect l="l" t="t" r="r" b="b"/>
            <a:pathLst>
              <a:path w="2971165" h="579754">
                <a:moveTo>
                  <a:pt x="28740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874047" y="0"/>
                </a:lnTo>
                <a:lnTo>
                  <a:pt x="2927615" y="16221"/>
                </a:lnTo>
                <a:lnTo>
                  <a:pt x="2963250" y="59603"/>
                </a:lnTo>
                <a:lnTo>
                  <a:pt x="2970599" y="96551"/>
                </a:lnTo>
                <a:lnTo>
                  <a:pt x="2970599" y="482747"/>
                </a:lnTo>
                <a:lnTo>
                  <a:pt x="2963012" y="520330"/>
                </a:lnTo>
                <a:lnTo>
                  <a:pt x="2942320" y="551020"/>
                </a:lnTo>
                <a:lnTo>
                  <a:pt x="2911630" y="571712"/>
                </a:lnTo>
                <a:lnTo>
                  <a:pt x="28740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Анализ временных рядов</a:t>
            </a:r>
          </a:p>
        </p:txBody>
      </p:sp>
      <p:sp>
        <p:nvSpPr>
          <p:cNvPr id="11" name="object 11"/>
          <p:cNvSpPr/>
          <p:nvPr/>
        </p:nvSpPr>
        <p:spPr>
          <a:xfrm>
            <a:off x="5840299" y="277863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4">
                <a:moveTo>
                  <a:pt x="2376647" y="579300"/>
                </a:moveTo>
                <a:lnTo>
                  <a:pt x="96551" y="579300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8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200" y="96551"/>
                </a:lnTo>
                <a:lnTo>
                  <a:pt x="2473200" y="482748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30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Сбор данных. Анализ текстовых данных</a:t>
            </a:r>
          </a:p>
        </p:txBody>
      </p:sp>
      <p:sp>
        <p:nvSpPr>
          <p:cNvPr id="14" name="object 14"/>
          <p:cNvSpPr/>
          <p:nvPr/>
        </p:nvSpPr>
        <p:spPr>
          <a:xfrm>
            <a:off x="1472660" y="916975"/>
            <a:ext cx="4332605" cy="1220470"/>
          </a:xfrm>
          <a:custGeom>
            <a:avLst/>
            <a:gdLst/>
            <a:ahLst/>
            <a:cxnLst/>
            <a:rect l="l" t="t" r="r" b="b"/>
            <a:pathLst>
              <a:path w="4332605" h="1220470">
                <a:moveTo>
                  <a:pt x="2898413" y="1010949"/>
                </a:moveTo>
                <a:lnTo>
                  <a:pt x="2964258" y="1012817"/>
                </a:lnTo>
                <a:lnTo>
                  <a:pt x="3023231" y="1018131"/>
                </a:lnTo>
                <a:lnTo>
                  <a:pt x="3076192" y="1026461"/>
                </a:lnTo>
                <a:lnTo>
                  <a:pt x="3124000" y="1037376"/>
                </a:lnTo>
                <a:lnTo>
                  <a:pt x="3167514" y="1050445"/>
                </a:lnTo>
                <a:lnTo>
                  <a:pt x="3207593" y="1065238"/>
                </a:lnTo>
                <a:lnTo>
                  <a:pt x="3245096" y="1081324"/>
                </a:lnTo>
                <a:lnTo>
                  <a:pt x="3280884" y="1098271"/>
                </a:lnTo>
                <a:lnTo>
                  <a:pt x="3315813" y="1115649"/>
                </a:lnTo>
                <a:lnTo>
                  <a:pt x="3350745" y="1133028"/>
                </a:lnTo>
                <a:lnTo>
                  <a:pt x="3386537" y="1149975"/>
                </a:lnTo>
                <a:lnTo>
                  <a:pt x="3424048" y="1166061"/>
                </a:lnTo>
                <a:lnTo>
                  <a:pt x="3464138" y="1180854"/>
                </a:lnTo>
                <a:lnTo>
                  <a:pt x="3507664" y="1193923"/>
                </a:lnTo>
                <a:lnTo>
                  <a:pt x="3555486" y="1204838"/>
                </a:lnTo>
                <a:lnTo>
                  <a:pt x="3608463" y="1213168"/>
                </a:lnTo>
                <a:lnTo>
                  <a:pt x="3667452" y="1218482"/>
                </a:lnTo>
                <a:lnTo>
                  <a:pt x="3733313" y="1220349"/>
                </a:lnTo>
              </a:path>
              <a:path w="4332605" h="1220470">
                <a:moveTo>
                  <a:pt x="4332540" y="0"/>
                </a:moveTo>
                <a:lnTo>
                  <a:pt x="4257836" y="109"/>
                </a:lnTo>
                <a:lnTo>
                  <a:pt x="4183563" y="436"/>
                </a:lnTo>
                <a:lnTo>
                  <a:pt x="4109729" y="978"/>
                </a:lnTo>
                <a:lnTo>
                  <a:pt x="4036339" y="1732"/>
                </a:lnTo>
                <a:lnTo>
                  <a:pt x="3963400" y="2696"/>
                </a:lnTo>
                <a:lnTo>
                  <a:pt x="3890918" y="3866"/>
                </a:lnTo>
                <a:lnTo>
                  <a:pt x="3818900" y="5241"/>
                </a:lnTo>
                <a:lnTo>
                  <a:pt x="3747352" y="6817"/>
                </a:lnTo>
                <a:lnTo>
                  <a:pt x="3676281" y="8593"/>
                </a:lnTo>
                <a:lnTo>
                  <a:pt x="3605692" y="10564"/>
                </a:lnTo>
                <a:lnTo>
                  <a:pt x="3535592" y="12729"/>
                </a:lnTo>
                <a:lnTo>
                  <a:pt x="3465987" y="15085"/>
                </a:lnTo>
                <a:lnTo>
                  <a:pt x="3396885" y="17630"/>
                </a:lnTo>
                <a:lnTo>
                  <a:pt x="3328291" y="20360"/>
                </a:lnTo>
                <a:lnTo>
                  <a:pt x="3260211" y="23273"/>
                </a:lnTo>
                <a:lnTo>
                  <a:pt x="3192652" y="26366"/>
                </a:lnTo>
                <a:lnTo>
                  <a:pt x="3125621" y="29637"/>
                </a:lnTo>
                <a:lnTo>
                  <a:pt x="3059124" y="33083"/>
                </a:lnTo>
                <a:lnTo>
                  <a:pt x="2993166" y="36702"/>
                </a:lnTo>
                <a:lnTo>
                  <a:pt x="2927755" y="40490"/>
                </a:lnTo>
                <a:lnTo>
                  <a:pt x="2862897" y="44445"/>
                </a:lnTo>
                <a:lnTo>
                  <a:pt x="2798599" y="48565"/>
                </a:lnTo>
                <a:lnTo>
                  <a:pt x="2734866" y="52847"/>
                </a:lnTo>
                <a:lnTo>
                  <a:pt x="2671705" y="57287"/>
                </a:lnTo>
                <a:lnTo>
                  <a:pt x="2609122" y="61884"/>
                </a:lnTo>
                <a:lnTo>
                  <a:pt x="2547124" y="66635"/>
                </a:lnTo>
                <a:lnTo>
                  <a:pt x="2485717" y="71538"/>
                </a:lnTo>
                <a:lnTo>
                  <a:pt x="2424908" y="76588"/>
                </a:lnTo>
                <a:lnTo>
                  <a:pt x="2364702" y="81785"/>
                </a:lnTo>
                <a:lnTo>
                  <a:pt x="2305107" y="87125"/>
                </a:lnTo>
                <a:lnTo>
                  <a:pt x="2246128" y="92605"/>
                </a:lnTo>
                <a:lnTo>
                  <a:pt x="2187773" y="98223"/>
                </a:lnTo>
                <a:lnTo>
                  <a:pt x="2130046" y="103977"/>
                </a:lnTo>
                <a:lnTo>
                  <a:pt x="2072956" y="109863"/>
                </a:lnTo>
                <a:lnTo>
                  <a:pt x="2016508" y="115879"/>
                </a:lnTo>
                <a:lnTo>
                  <a:pt x="1960708" y="122022"/>
                </a:lnTo>
                <a:lnTo>
                  <a:pt x="1905563" y="128291"/>
                </a:lnTo>
                <a:lnTo>
                  <a:pt x="1851079" y="134681"/>
                </a:lnTo>
                <a:lnTo>
                  <a:pt x="1797263" y="141190"/>
                </a:lnTo>
                <a:lnTo>
                  <a:pt x="1744121" y="147816"/>
                </a:lnTo>
                <a:lnTo>
                  <a:pt x="1691659" y="154556"/>
                </a:lnTo>
                <a:lnTo>
                  <a:pt x="1639884" y="161408"/>
                </a:lnTo>
                <a:lnTo>
                  <a:pt x="1588802" y="168368"/>
                </a:lnTo>
                <a:lnTo>
                  <a:pt x="1538420" y="175434"/>
                </a:lnTo>
                <a:lnTo>
                  <a:pt x="1488744" y="182604"/>
                </a:lnTo>
                <a:lnTo>
                  <a:pt x="1439779" y="189875"/>
                </a:lnTo>
                <a:lnTo>
                  <a:pt x="1391534" y="197244"/>
                </a:lnTo>
                <a:lnTo>
                  <a:pt x="1344013" y="204708"/>
                </a:lnTo>
                <a:lnTo>
                  <a:pt x="1297224" y="212265"/>
                </a:lnTo>
                <a:lnTo>
                  <a:pt x="1251173" y="219912"/>
                </a:lnTo>
                <a:lnTo>
                  <a:pt x="1205865" y="227647"/>
                </a:lnTo>
                <a:lnTo>
                  <a:pt x="1161308" y="235466"/>
                </a:lnTo>
                <a:lnTo>
                  <a:pt x="1117509" y="243368"/>
                </a:lnTo>
                <a:lnTo>
                  <a:pt x="1074472" y="251350"/>
                </a:lnTo>
                <a:lnTo>
                  <a:pt x="1032205" y="259408"/>
                </a:lnTo>
                <a:lnTo>
                  <a:pt x="990714" y="267540"/>
                </a:lnTo>
                <a:lnTo>
                  <a:pt x="950005" y="275745"/>
                </a:lnTo>
                <a:lnTo>
                  <a:pt x="910085" y="284018"/>
                </a:lnTo>
                <a:lnTo>
                  <a:pt x="870960" y="292357"/>
                </a:lnTo>
                <a:lnTo>
                  <a:pt x="832637" y="300760"/>
                </a:lnTo>
                <a:lnTo>
                  <a:pt x="795122" y="309224"/>
                </a:lnTo>
                <a:lnTo>
                  <a:pt x="722540" y="326325"/>
                </a:lnTo>
                <a:lnTo>
                  <a:pt x="653266" y="343638"/>
                </a:lnTo>
                <a:lnTo>
                  <a:pt x="587352" y="361141"/>
                </a:lnTo>
                <a:lnTo>
                  <a:pt x="524847" y="378815"/>
                </a:lnTo>
                <a:lnTo>
                  <a:pt x="465803" y="396637"/>
                </a:lnTo>
                <a:lnTo>
                  <a:pt x="410272" y="414586"/>
                </a:lnTo>
                <a:lnTo>
                  <a:pt x="358303" y="432641"/>
                </a:lnTo>
                <a:lnTo>
                  <a:pt x="309948" y="450782"/>
                </a:lnTo>
                <a:lnTo>
                  <a:pt x="265259" y="468986"/>
                </a:lnTo>
                <a:lnTo>
                  <a:pt x="224285" y="487232"/>
                </a:lnTo>
                <a:lnTo>
                  <a:pt x="187079" y="505499"/>
                </a:lnTo>
                <a:lnTo>
                  <a:pt x="135498" y="534649"/>
                </a:lnTo>
                <a:lnTo>
                  <a:pt x="93104" y="563711"/>
                </a:lnTo>
                <a:lnTo>
                  <a:pt x="59356" y="592602"/>
                </a:lnTo>
                <a:lnTo>
                  <a:pt x="33712" y="621233"/>
                </a:lnTo>
                <a:lnTo>
                  <a:pt x="4575" y="677374"/>
                </a:lnTo>
                <a:lnTo>
                  <a:pt x="0" y="704711"/>
                </a:lnTo>
                <a:lnTo>
                  <a:pt x="1366" y="731444"/>
                </a:lnTo>
                <a:lnTo>
                  <a:pt x="19758" y="782754"/>
                </a:lnTo>
                <a:lnTo>
                  <a:pt x="55426" y="830612"/>
                </a:lnTo>
                <a:lnTo>
                  <a:pt x="104041" y="874328"/>
                </a:lnTo>
                <a:lnTo>
                  <a:pt x="161278" y="913213"/>
                </a:lnTo>
                <a:lnTo>
                  <a:pt x="222809" y="946575"/>
                </a:lnTo>
                <a:lnTo>
                  <a:pt x="284307" y="973725"/>
                </a:lnTo>
                <a:lnTo>
                  <a:pt x="341446" y="993973"/>
                </a:lnTo>
                <a:lnTo>
                  <a:pt x="389899" y="1006628"/>
                </a:lnTo>
                <a:lnTo>
                  <a:pt x="409517" y="1009892"/>
                </a:lnTo>
                <a:lnTo>
                  <a:pt x="425340" y="101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01749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7" y="0"/>
                </a:lnTo>
                <a:lnTo>
                  <a:pt x="3040715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Рекомендательные системы</a:t>
            </a:r>
          </a:p>
        </p:txBody>
      </p:sp>
      <p:sp>
        <p:nvSpPr>
          <p:cNvPr id="18" name="object 18"/>
          <p:cNvSpPr/>
          <p:nvPr/>
        </p:nvSpPr>
        <p:spPr>
          <a:xfrm>
            <a:off x="870483" y="2137452"/>
            <a:ext cx="7710805" cy="2184400"/>
          </a:xfrm>
          <a:custGeom>
            <a:avLst/>
            <a:gdLst/>
            <a:ahLst/>
            <a:cxnLst/>
            <a:rect l="l" t="t" r="r" b="b"/>
            <a:pathLst>
              <a:path w="7710805" h="2184400">
                <a:moveTo>
                  <a:pt x="6538599" y="0"/>
                </a:moveTo>
                <a:lnTo>
                  <a:pt x="6604000" y="1019"/>
                </a:lnTo>
                <a:lnTo>
                  <a:pt x="6668319" y="4025"/>
                </a:lnTo>
                <a:lnTo>
                  <a:pt x="6731475" y="8937"/>
                </a:lnTo>
                <a:lnTo>
                  <a:pt x="6793390" y="15677"/>
                </a:lnTo>
                <a:lnTo>
                  <a:pt x="6853985" y="24164"/>
                </a:lnTo>
                <a:lnTo>
                  <a:pt x="6913181" y="34320"/>
                </a:lnTo>
                <a:lnTo>
                  <a:pt x="6970897" y="46065"/>
                </a:lnTo>
                <a:lnTo>
                  <a:pt x="7027055" y="59319"/>
                </a:lnTo>
                <a:lnTo>
                  <a:pt x="7081576" y="74004"/>
                </a:lnTo>
                <a:lnTo>
                  <a:pt x="7134380" y="90039"/>
                </a:lnTo>
                <a:lnTo>
                  <a:pt x="7185389" y="107345"/>
                </a:lnTo>
                <a:lnTo>
                  <a:pt x="7234522" y="125843"/>
                </a:lnTo>
                <a:lnTo>
                  <a:pt x="7281701" y="145453"/>
                </a:lnTo>
                <a:lnTo>
                  <a:pt x="7326847" y="166095"/>
                </a:lnTo>
                <a:lnTo>
                  <a:pt x="7369880" y="187692"/>
                </a:lnTo>
                <a:lnTo>
                  <a:pt x="7410721" y="210162"/>
                </a:lnTo>
                <a:lnTo>
                  <a:pt x="7449291" y="233426"/>
                </a:lnTo>
                <a:lnTo>
                  <a:pt x="7485511" y="257406"/>
                </a:lnTo>
                <a:lnTo>
                  <a:pt x="7519301" y="282021"/>
                </a:lnTo>
                <a:lnTo>
                  <a:pt x="7550582" y="307192"/>
                </a:lnTo>
                <a:lnTo>
                  <a:pt x="7579275" y="332840"/>
                </a:lnTo>
                <a:lnTo>
                  <a:pt x="7628579" y="385248"/>
                </a:lnTo>
                <a:lnTo>
                  <a:pt x="7666581" y="438610"/>
                </a:lnTo>
                <a:lnTo>
                  <a:pt x="7700257" y="515234"/>
                </a:lnTo>
                <a:lnTo>
                  <a:pt x="7709805" y="564510"/>
                </a:lnTo>
                <a:lnTo>
                  <a:pt x="7710791" y="612768"/>
                </a:lnTo>
                <a:lnTo>
                  <a:pt x="7704217" y="659500"/>
                </a:lnTo>
                <a:lnTo>
                  <a:pt x="7691085" y="704196"/>
                </a:lnTo>
                <a:lnTo>
                  <a:pt x="7672397" y="746348"/>
                </a:lnTo>
                <a:lnTo>
                  <a:pt x="7649154" y="785446"/>
                </a:lnTo>
                <a:lnTo>
                  <a:pt x="7622360" y="820983"/>
                </a:lnTo>
                <a:lnTo>
                  <a:pt x="7593014" y="852448"/>
                </a:lnTo>
                <a:lnTo>
                  <a:pt x="7562121" y="879334"/>
                </a:lnTo>
                <a:lnTo>
                  <a:pt x="7530680" y="901130"/>
                </a:lnTo>
                <a:lnTo>
                  <a:pt x="7470168" y="927422"/>
                </a:lnTo>
                <a:lnTo>
                  <a:pt x="7443099" y="930899"/>
                </a:lnTo>
              </a:path>
              <a:path w="7710805" h="2184400">
                <a:moveTo>
                  <a:pt x="4969816" y="930831"/>
                </a:moveTo>
                <a:lnTo>
                  <a:pt x="4898757" y="931386"/>
                </a:lnTo>
                <a:lnTo>
                  <a:pt x="4831532" y="933009"/>
                </a:lnTo>
                <a:lnTo>
                  <a:pt x="4767914" y="935636"/>
                </a:lnTo>
                <a:lnTo>
                  <a:pt x="4707678" y="939206"/>
                </a:lnTo>
                <a:lnTo>
                  <a:pt x="4650598" y="943655"/>
                </a:lnTo>
                <a:lnTo>
                  <a:pt x="4596449" y="948920"/>
                </a:lnTo>
                <a:lnTo>
                  <a:pt x="4545006" y="954939"/>
                </a:lnTo>
                <a:lnTo>
                  <a:pt x="4496043" y="961649"/>
                </a:lnTo>
                <a:lnTo>
                  <a:pt x="4449335" y="968988"/>
                </a:lnTo>
                <a:lnTo>
                  <a:pt x="4404655" y="976891"/>
                </a:lnTo>
                <a:lnTo>
                  <a:pt x="4361780" y="985297"/>
                </a:lnTo>
                <a:lnTo>
                  <a:pt x="4320483" y="994142"/>
                </a:lnTo>
                <a:lnTo>
                  <a:pt x="4280538" y="1003365"/>
                </a:lnTo>
                <a:lnTo>
                  <a:pt x="4241721" y="1012901"/>
                </a:lnTo>
                <a:lnTo>
                  <a:pt x="4203805" y="1022689"/>
                </a:lnTo>
                <a:lnTo>
                  <a:pt x="4166567" y="1032665"/>
                </a:lnTo>
                <a:lnTo>
                  <a:pt x="4129778" y="1042767"/>
                </a:lnTo>
                <a:lnTo>
                  <a:pt x="4056653" y="1063096"/>
                </a:lnTo>
                <a:lnTo>
                  <a:pt x="4019865" y="1073198"/>
                </a:lnTo>
                <a:lnTo>
                  <a:pt x="3982626" y="1083174"/>
                </a:lnTo>
                <a:lnTo>
                  <a:pt x="3944711" y="1092961"/>
                </a:lnTo>
                <a:lnTo>
                  <a:pt x="3905894" y="1102498"/>
                </a:lnTo>
                <a:lnTo>
                  <a:pt x="3865949" y="1111720"/>
                </a:lnTo>
                <a:lnTo>
                  <a:pt x="3824652" y="1120566"/>
                </a:lnTo>
                <a:lnTo>
                  <a:pt x="3781776" y="1128972"/>
                </a:lnTo>
                <a:lnTo>
                  <a:pt x="3737097" y="1136875"/>
                </a:lnTo>
                <a:lnTo>
                  <a:pt x="3690389" y="1144213"/>
                </a:lnTo>
                <a:lnTo>
                  <a:pt x="3641426" y="1150923"/>
                </a:lnTo>
                <a:lnTo>
                  <a:pt x="3589983" y="1156943"/>
                </a:lnTo>
                <a:lnTo>
                  <a:pt x="3535834" y="1162208"/>
                </a:lnTo>
                <a:lnTo>
                  <a:pt x="3478754" y="1166657"/>
                </a:lnTo>
                <a:lnTo>
                  <a:pt x="3418518" y="1170227"/>
                </a:lnTo>
                <a:lnTo>
                  <a:pt x="3354900" y="1172854"/>
                </a:lnTo>
                <a:lnTo>
                  <a:pt x="3287674" y="1174477"/>
                </a:lnTo>
                <a:lnTo>
                  <a:pt x="3216616" y="1175031"/>
                </a:lnTo>
              </a:path>
              <a:path w="7710805" h="2184400">
                <a:moveTo>
                  <a:pt x="246017" y="1174934"/>
                </a:moveTo>
                <a:lnTo>
                  <a:pt x="188605" y="1191926"/>
                </a:lnTo>
                <a:lnTo>
                  <a:pt x="130113" y="1239225"/>
                </a:lnTo>
                <a:lnTo>
                  <a:pt x="102260" y="1272518"/>
                </a:lnTo>
                <a:lnTo>
                  <a:pt x="76297" y="1311322"/>
                </a:lnTo>
                <a:lnTo>
                  <a:pt x="52942" y="1354948"/>
                </a:lnTo>
                <a:lnTo>
                  <a:pt x="32915" y="1402706"/>
                </a:lnTo>
                <a:lnTo>
                  <a:pt x="16936" y="1453909"/>
                </a:lnTo>
                <a:lnTo>
                  <a:pt x="5724" y="1507867"/>
                </a:lnTo>
                <a:lnTo>
                  <a:pt x="0" y="1563891"/>
                </a:lnTo>
                <a:lnTo>
                  <a:pt x="482" y="1621294"/>
                </a:lnTo>
                <a:lnTo>
                  <a:pt x="7890" y="1679384"/>
                </a:lnTo>
                <a:lnTo>
                  <a:pt x="17880" y="1721379"/>
                </a:lnTo>
                <a:lnTo>
                  <a:pt x="31687" y="1763114"/>
                </a:lnTo>
                <a:lnTo>
                  <a:pt x="49138" y="1804329"/>
                </a:lnTo>
                <a:lnTo>
                  <a:pt x="70061" y="1844767"/>
                </a:lnTo>
                <a:lnTo>
                  <a:pt x="94284" y="1884166"/>
                </a:lnTo>
                <a:lnTo>
                  <a:pt x="121635" y="1922268"/>
                </a:lnTo>
                <a:lnTo>
                  <a:pt x="151942" y="1958813"/>
                </a:lnTo>
                <a:lnTo>
                  <a:pt x="185033" y="1993541"/>
                </a:lnTo>
                <a:lnTo>
                  <a:pt x="220736" y="2026194"/>
                </a:lnTo>
                <a:lnTo>
                  <a:pt x="258879" y="2056511"/>
                </a:lnTo>
                <a:lnTo>
                  <a:pt x="299290" y="2084233"/>
                </a:lnTo>
                <a:lnTo>
                  <a:pt x="341797" y="2109101"/>
                </a:lnTo>
                <a:lnTo>
                  <a:pt x="386227" y="2130855"/>
                </a:lnTo>
                <a:lnTo>
                  <a:pt x="432410" y="2149236"/>
                </a:lnTo>
                <a:lnTo>
                  <a:pt x="480172" y="2163983"/>
                </a:lnTo>
                <a:lnTo>
                  <a:pt x="529342" y="2174839"/>
                </a:lnTo>
                <a:lnTo>
                  <a:pt x="579748" y="2181542"/>
                </a:lnTo>
                <a:lnTo>
                  <a:pt x="631217" y="218383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3000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8" y="0"/>
                </a:lnTo>
                <a:lnTo>
                  <a:pt x="3040714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Проектная работа</a:t>
            </a:r>
          </a:p>
        </p:txBody>
      </p:sp>
      <p:sp>
        <p:nvSpPr>
          <p:cNvPr id="21" name="object 21"/>
          <p:cNvSpPr/>
          <p:nvPr/>
        </p:nvSpPr>
        <p:spPr>
          <a:xfrm>
            <a:off x="4585449" y="4321249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>
                <a:moveTo>
                  <a:pt x="0" y="0"/>
                </a:moveTo>
                <a:lnTo>
                  <a:pt x="4976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15558" y="1726124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Вводный урок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08662" y="2200041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градиентного спуска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15557" y="2673958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EDA, cross-validation</a:t>
            </a:r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метрики качества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2335" y="36217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90969" y="1599534"/>
            <a:ext cx="240405" cy="4087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50562" y="1839941"/>
            <a:ext cx="714322" cy="4018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17051" y="2073451"/>
            <a:ext cx="1188239" cy="4087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946523" y="2543979"/>
            <a:ext cx="2136073" cy="41555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02224"/>
              </p:ext>
            </p:extLst>
          </p:nvPr>
        </p:nvGraphicFramePr>
        <p:xfrm>
          <a:off x="4495800" y="573874"/>
          <a:ext cx="3086874" cy="365760"/>
        </p:xfrm>
        <a:graphic>
          <a:graphicData uri="http://schemas.openxmlformats.org/drawingml/2006/table">
            <a:tbl>
              <a:tblPr firstRow="1" bandRow="1"/>
              <a:tblGrid>
                <a:gridCol w="4409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490757732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1652086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608774" y="405342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36" name="Google Shape;271;p44">
            <a:extLst>
              <a:ext uri="{FF2B5EF4-FFF2-40B4-BE49-F238E27FC236}">
                <a16:creationId xmlns:a16="http://schemas.microsoft.com/office/drawing/2014/main" id="{F60BC49E-A536-B34B-AF24-8AFC035465EB}"/>
              </a:ext>
            </a:extLst>
          </p:cNvPr>
          <p:cNvSpPr/>
          <p:nvPr/>
        </p:nvSpPr>
        <p:spPr>
          <a:xfrm>
            <a:off x="2236006" y="409570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Градиентный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бустинг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7" name="Google Shape;271;p44">
            <a:extLst>
              <a:ext uri="{FF2B5EF4-FFF2-40B4-BE49-F238E27FC236}">
                <a16:creationId xmlns:a16="http://schemas.microsoft.com/office/drawing/2014/main" id="{B8247EF9-F349-4047-B64B-B24CAB779659}"/>
              </a:ext>
            </a:extLst>
          </p:cNvPr>
          <p:cNvSpPr/>
          <p:nvPr/>
        </p:nvSpPr>
        <p:spPr>
          <a:xfrm>
            <a:off x="2236005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опорных векторов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67571" y="4127861"/>
            <a:ext cx="324002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6B1FC711-FBE3-434C-AEF7-F2DA3AA51B14}"/>
              </a:ext>
            </a:extLst>
          </p:cNvPr>
          <p:cNvCxnSpPr>
            <a:cxnSpLocks/>
            <a:stCxn id="271" idx="2"/>
            <a:endCxn id="36" idx="1"/>
          </p:cNvCxnSpPr>
          <p:nvPr/>
        </p:nvCxnSpPr>
        <p:spPr>
          <a:xfrm rot="16200000" flipH="1">
            <a:off x="716400" y="2774103"/>
            <a:ext cx="2609990" cy="4292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0880369-3A08-E74F-921D-8DDC467E8498}"/>
              </a:ext>
            </a:extLst>
          </p:cNvPr>
          <p:cNvCxnSpPr>
            <a:cxnSpLocks/>
            <a:stCxn id="271" idx="2"/>
            <a:endCxn id="37" idx="1"/>
          </p:cNvCxnSpPr>
          <p:nvPr/>
        </p:nvCxnSpPr>
        <p:spPr>
          <a:xfrm rot="16200000" flipH="1">
            <a:off x="479441" y="3011061"/>
            <a:ext cx="3083907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202A737D-E7DC-8C41-BE46-91412B9E7E94}"/>
              </a:ext>
            </a:extLst>
          </p:cNvPr>
          <p:cNvSpPr/>
          <p:nvPr/>
        </p:nvSpPr>
        <p:spPr>
          <a:xfrm>
            <a:off x="2236005" y="3147875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3E77C231-10B1-314C-9215-CB3F9F5ABE27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1190316" y="2300186"/>
            <a:ext cx="1662156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Bias - Variance Trade-Off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4014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Бэггинг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</a:p>
        </p:txBody>
      </p:sp>
      <p:sp>
        <p:nvSpPr>
          <p:cNvPr id="238" name="Google Shape;238;p37"/>
          <p:cNvSpPr/>
          <p:nvPr/>
        </p:nvSpPr>
        <p:spPr>
          <a:xfrm>
            <a:off x="740239" y="306474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Случайный лес /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589566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7280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Стэкинг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Блэндинг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252847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73818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Бутстрап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926285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439131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916128"/>
            <a:ext cx="1" cy="663283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занятия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4276601341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методы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ансамблирования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моделей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 строить ансамбли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Что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1032943374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и когда применять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ансамблирование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особенности 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3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en-US" dirty="0"/>
              <a:t>Bias-Variance Trade-Off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1517B079-FA48-4143-9129-95E369A6AF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971550"/>
            <a:ext cx="5996371" cy="396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80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750E2FB3-D4AC-8F4E-8310-3B217DBD9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47750"/>
            <a:ext cx="4045308" cy="3901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B864A5-4C44-5847-B23A-0FD9D20C383F}"/>
                  </a:ext>
                </a:extLst>
              </p:cNvPr>
              <p:cNvSpPr txBox="1"/>
              <p:nvPr/>
            </p:nvSpPr>
            <p:spPr>
              <a:xfrm>
                <a:off x="5638800" y="2628964"/>
                <a:ext cx="2637450" cy="738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B864A5-4C44-5847-B23A-0FD9D20C3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628964"/>
                <a:ext cx="2637450" cy="738857"/>
              </a:xfrm>
              <a:prstGeom prst="rect">
                <a:avLst/>
              </a:prstGeom>
              <a:blipFill>
                <a:blip r:embed="rId3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422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BC89CC-5817-6843-80FB-DFD256951A42}"/>
                  </a:ext>
                </a:extLst>
              </p:cNvPr>
              <p:cNvSpPr txBox="1"/>
              <p:nvPr/>
            </p:nvSpPr>
            <p:spPr>
              <a:xfrm>
                <a:off x="685800" y="1200150"/>
                <a:ext cx="597330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Модель</a:t>
                </a:r>
                <a:r>
                  <a:rPr lang="en-US" dirty="0"/>
                  <a:t> </a:t>
                </a:r>
                <a:r>
                  <a:rPr lang="ru-RU" dirty="0"/>
                  <a:t>реального мира: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,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ru-RU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ru-RU" dirty="0"/>
                  <a:t>Охарактеризуем целевую переменную: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BC89CC-5817-6843-80FB-DFD256951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200150"/>
                <a:ext cx="5973302" cy="923330"/>
              </a:xfrm>
              <a:prstGeom prst="rect">
                <a:avLst/>
              </a:prstGeom>
              <a:blipFill>
                <a:blip r:embed="rId2"/>
                <a:stretch>
                  <a:fillRect l="-1062" t="-5405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1EFEB-35C3-FE43-943F-FA0428B336D9}"/>
                  </a:ext>
                </a:extLst>
              </p:cNvPr>
              <p:cNvSpPr txBox="1"/>
              <p:nvPr/>
            </p:nvSpPr>
            <p:spPr>
              <a:xfrm>
                <a:off x="2776091" y="2141763"/>
                <a:ext cx="3591817" cy="2492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3366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3366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3366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1EFEB-35C3-FE43-943F-FA0428B3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091" y="2141763"/>
                <a:ext cx="3591817" cy="2492990"/>
              </a:xfrm>
              <a:prstGeom prst="rect">
                <a:avLst/>
              </a:prstGeom>
              <a:blipFill>
                <a:blip r:embed="rId3"/>
                <a:stretch>
                  <a:fillRect r="-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22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C89CC-5817-6843-80FB-DFD256951A42}"/>
              </a:ext>
            </a:extLst>
          </p:cNvPr>
          <p:cNvSpPr txBox="1"/>
          <p:nvPr/>
        </p:nvSpPr>
        <p:spPr>
          <a:xfrm>
            <a:off x="685800" y="1200150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Найдем ошибку в конкретной точке:</a:t>
            </a:r>
            <a:endParaRPr lang="ru-RU" b="0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/>
              <p:nvPr/>
            </p:nvSpPr>
            <p:spPr>
              <a:xfrm>
                <a:off x="2819400" y="1567820"/>
                <a:ext cx="4267200" cy="19531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567820"/>
                <a:ext cx="4267200" cy="1953163"/>
              </a:xfrm>
              <a:prstGeom prst="rect">
                <a:avLst/>
              </a:prstGeom>
              <a:blipFill>
                <a:blip r:embed="rId2"/>
                <a:stretch>
                  <a:fillRect l="-1780" b="-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8CEEF-B195-964E-84AD-6D520A877028}"/>
                  </a:ext>
                </a:extLst>
              </p:cNvPr>
              <p:cNvSpPr txBox="1"/>
              <p:nvPr/>
            </p:nvSpPr>
            <p:spPr>
              <a:xfrm>
                <a:off x="685799" y="3758684"/>
                <a:ext cx="5577617" cy="384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0" dirty="0">
                    <a:ea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:r>
                  <a:rPr lang="ru-RU" b="0" dirty="0">
                    <a:ea typeface="Cambria Math" panose="02040503050406030204" pitchFamily="18" charset="0"/>
                  </a:rPr>
                  <a:t>функция аппроксимирующая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b="0" dirty="0">
                    <a:ea typeface="Cambria Math" panose="02040503050406030204" pitchFamily="18" charset="0"/>
                  </a:rPr>
                  <a:t>, </a:t>
                </a:r>
                <a:r>
                  <a:rPr lang="ru-RU" b="0" dirty="0" err="1">
                    <a:ea typeface="Cambria Math" panose="02040503050406030204" pitchFamily="18" charset="0"/>
                  </a:rPr>
                  <a:t>т.е</a:t>
                </a:r>
                <a:r>
                  <a:rPr lang="ru-RU" b="0" dirty="0">
                    <a:ea typeface="Cambria Math" panose="02040503050406030204" pitchFamily="18" charset="0"/>
                  </a:rPr>
                  <a:t> наша модель.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8CEEF-B195-964E-84AD-6D520A877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3758684"/>
                <a:ext cx="5577617" cy="384914"/>
              </a:xfrm>
              <a:prstGeom prst="rect">
                <a:avLst/>
              </a:prstGeom>
              <a:blipFill>
                <a:blip r:embed="rId3"/>
                <a:stretch>
                  <a:fillRect l="-909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86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/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blipFill>
                <a:blip r:embed="rId2"/>
                <a:stretch>
                  <a:fillRect l="-178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2966C1-3476-BE4A-83D3-793808E22B69}"/>
              </a:ext>
            </a:extLst>
          </p:cNvPr>
          <p:cNvSpPr/>
          <p:nvPr/>
        </p:nvSpPr>
        <p:spPr>
          <a:xfrm>
            <a:off x="3733800" y="2343150"/>
            <a:ext cx="6858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AF3F83-698A-244F-832F-0F0E198E664D}"/>
              </a:ext>
            </a:extLst>
          </p:cNvPr>
          <p:cNvSpPr/>
          <p:nvPr/>
        </p:nvSpPr>
        <p:spPr>
          <a:xfrm>
            <a:off x="4572000" y="2347113"/>
            <a:ext cx="685800" cy="3810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2998AE-3383-8745-9CED-A031E4ECBC7E}"/>
              </a:ext>
            </a:extLst>
          </p:cNvPr>
          <p:cNvSpPr/>
          <p:nvPr/>
        </p:nvSpPr>
        <p:spPr>
          <a:xfrm>
            <a:off x="5410200" y="2347113"/>
            <a:ext cx="8382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7091-A66C-F44E-9DA2-40364266CAD0}"/>
              </a:ext>
            </a:extLst>
          </p:cNvPr>
          <p:cNvSpPr txBox="1"/>
          <p:nvPr/>
        </p:nvSpPr>
        <p:spPr>
          <a:xfrm>
            <a:off x="556851" y="971550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Найдем ошибку в конкретной точке:</a:t>
            </a:r>
            <a:endParaRPr lang="ru-RU" b="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857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/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blipFill>
                <a:blip r:embed="rId2"/>
                <a:stretch>
                  <a:fillRect l="-178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2966C1-3476-BE4A-83D3-793808E22B69}"/>
              </a:ext>
            </a:extLst>
          </p:cNvPr>
          <p:cNvSpPr/>
          <p:nvPr/>
        </p:nvSpPr>
        <p:spPr>
          <a:xfrm>
            <a:off x="3733800" y="2343150"/>
            <a:ext cx="6858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AF3F83-698A-244F-832F-0F0E198E664D}"/>
              </a:ext>
            </a:extLst>
          </p:cNvPr>
          <p:cNvSpPr/>
          <p:nvPr/>
        </p:nvSpPr>
        <p:spPr>
          <a:xfrm>
            <a:off x="4572000" y="2347113"/>
            <a:ext cx="685800" cy="3810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2998AE-3383-8745-9CED-A031E4ECBC7E}"/>
              </a:ext>
            </a:extLst>
          </p:cNvPr>
          <p:cNvSpPr/>
          <p:nvPr/>
        </p:nvSpPr>
        <p:spPr>
          <a:xfrm>
            <a:off x="5410200" y="2347113"/>
            <a:ext cx="8382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7091-A66C-F44E-9DA2-40364266CAD0}"/>
              </a:ext>
            </a:extLst>
          </p:cNvPr>
          <p:cNvSpPr txBox="1"/>
          <p:nvPr/>
        </p:nvSpPr>
        <p:spPr>
          <a:xfrm>
            <a:off x="556851" y="971550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Найдем ошибку в конкретной точке:</a:t>
            </a:r>
            <a:endParaRPr lang="ru-RU" b="0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/>
              <p:nvPr/>
            </p:nvSpPr>
            <p:spPr>
              <a:xfrm>
                <a:off x="467049" y="2834999"/>
                <a:ext cx="3531929" cy="360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9" y="2834999"/>
                <a:ext cx="3531929" cy="360099"/>
              </a:xfrm>
              <a:prstGeom prst="rect">
                <a:avLst/>
              </a:prstGeom>
              <a:blipFill>
                <a:blip r:embed="rId3"/>
                <a:stretch>
                  <a:fillRect l="-2151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2B848F-7996-6F45-A055-E820587E684A}"/>
              </a:ext>
            </a:extLst>
          </p:cNvPr>
          <p:cNvSpPr/>
          <p:nvPr/>
        </p:nvSpPr>
        <p:spPr>
          <a:xfrm>
            <a:off x="3124200" y="2834999"/>
            <a:ext cx="864929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21D595-6A8D-A14C-9654-C6D55FA855F4}"/>
                  </a:ext>
                </a:extLst>
              </p:cNvPr>
              <p:cNvSpPr txBox="1"/>
              <p:nvPr/>
            </p:nvSpPr>
            <p:spPr>
              <a:xfrm>
                <a:off x="467049" y="2229763"/>
                <a:ext cx="24513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dirty="0"/>
                  <a:t>Вспомним: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21D595-6A8D-A14C-9654-C6D55FA8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9" y="2229763"/>
                <a:ext cx="2451312" cy="553998"/>
              </a:xfrm>
              <a:prstGeom prst="rect">
                <a:avLst/>
              </a:prstGeom>
              <a:blipFill>
                <a:blip r:embed="rId4"/>
                <a:stretch>
                  <a:fillRect l="-5670" t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745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/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blipFill>
                <a:blip r:embed="rId2"/>
                <a:stretch>
                  <a:fillRect l="-178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2966C1-3476-BE4A-83D3-793808E22B69}"/>
              </a:ext>
            </a:extLst>
          </p:cNvPr>
          <p:cNvSpPr/>
          <p:nvPr/>
        </p:nvSpPr>
        <p:spPr>
          <a:xfrm>
            <a:off x="3733800" y="2343150"/>
            <a:ext cx="6858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AF3F83-698A-244F-832F-0F0E198E664D}"/>
              </a:ext>
            </a:extLst>
          </p:cNvPr>
          <p:cNvSpPr/>
          <p:nvPr/>
        </p:nvSpPr>
        <p:spPr>
          <a:xfrm>
            <a:off x="4572000" y="2347113"/>
            <a:ext cx="685800" cy="3810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2998AE-3383-8745-9CED-A031E4ECBC7E}"/>
              </a:ext>
            </a:extLst>
          </p:cNvPr>
          <p:cNvSpPr/>
          <p:nvPr/>
        </p:nvSpPr>
        <p:spPr>
          <a:xfrm>
            <a:off x="5410200" y="2347113"/>
            <a:ext cx="8382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7091-A66C-F44E-9DA2-40364266CAD0}"/>
              </a:ext>
            </a:extLst>
          </p:cNvPr>
          <p:cNvSpPr txBox="1"/>
          <p:nvPr/>
        </p:nvSpPr>
        <p:spPr>
          <a:xfrm>
            <a:off x="556851" y="971550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Найдем ошибку в конкретной точке:</a:t>
            </a:r>
            <a:endParaRPr lang="ru-RU" b="0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/>
              <p:nvPr/>
            </p:nvSpPr>
            <p:spPr>
              <a:xfrm>
                <a:off x="467049" y="2800350"/>
                <a:ext cx="3531929" cy="8404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9" y="2800350"/>
                <a:ext cx="3531929" cy="840486"/>
              </a:xfrm>
              <a:prstGeom prst="rect">
                <a:avLst/>
              </a:prstGeom>
              <a:blipFill>
                <a:blip r:embed="rId3"/>
                <a:stretch>
                  <a:fillRect l="-2151"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2B848F-7996-6F45-A055-E820587E684A}"/>
              </a:ext>
            </a:extLst>
          </p:cNvPr>
          <p:cNvSpPr/>
          <p:nvPr/>
        </p:nvSpPr>
        <p:spPr>
          <a:xfrm>
            <a:off x="3084231" y="2824549"/>
            <a:ext cx="864929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E357A8-519D-2042-9D10-33C6704D5926}"/>
              </a:ext>
            </a:extLst>
          </p:cNvPr>
          <p:cNvSpPr/>
          <p:nvPr/>
        </p:nvSpPr>
        <p:spPr>
          <a:xfrm>
            <a:off x="1255432" y="3205549"/>
            <a:ext cx="1676400" cy="4330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6C69AB-75F6-2D4B-9AF4-4102C7CA4DC8}"/>
                  </a:ext>
                </a:extLst>
              </p:cNvPr>
              <p:cNvSpPr txBox="1"/>
              <p:nvPr/>
            </p:nvSpPr>
            <p:spPr>
              <a:xfrm>
                <a:off x="467049" y="2229763"/>
                <a:ext cx="24513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dirty="0"/>
                  <a:t>Вспомним: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6C69AB-75F6-2D4B-9AF4-4102C7CA4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9" y="2229763"/>
                <a:ext cx="2451312" cy="553998"/>
              </a:xfrm>
              <a:prstGeom prst="rect">
                <a:avLst/>
              </a:prstGeom>
              <a:blipFill>
                <a:blip r:embed="rId4"/>
                <a:stretch>
                  <a:fillRect l="-5670" t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734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/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blipFill>
                <a:blip r:embed="rId2"/>
                <a:stretch>
                  <a:fillRect l="-178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2966C1-3476-BE4A-83D3-793808E22B69}"/>
              </a:ext>
            </a:extLst>
          </p:cNvPr>
          <p:cNvSpPr/>
          <p:nvPr/>
        </p:nvSpPr>
        <p:spPr>
          <a:xfrm>
            <a:off x="3733800" y="2343150"/>
            <a:ext cx="6858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AF3F83-698A-244F-832F-0F0E198E664D}"/>
              </a:ext>
            </a:extLst>
          </p:cNvPr>
          <p:cNvSpPr/>
          <p:nvPr/>
        </p:nvSpPr>
        <p:spPr>
          <a:xfrm>
            <a:off x="4572000" y="2347113"/>
            <a:ext cx="685800" cy="3810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2998AE-3383-8745-9CED-A031E4ECBC7E}"/>
              </a:ext>
            </a:extLst>
          </p:cNvPr>
          <p:cNvSpPr/>
          <p:nvPr/>
        </p:nvSpPr>
        <p:spPr>
          <a:xfrm>
            <a:off x="5410200" y="2347113"/>
            <a:ext cx="8382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7091-A66C-F44E-9DA2-40364266CAD0}"/>
              </a:ext>
            </a:extLst>
          </p:cNvPr>
          <p:cNvSpPr txBox="1"/>
          <p:nvPr/>
        </p:nvSpPr>
        <p:spPr>
          <a:xfrm>
            <a:off x="556851" y="971550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Найдем ошибку в конкретной точке:</a:t>
            </a:r>
            <a:endParaRPr lang="ru-RU" b="0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/>
              <p:nvPr/>
            </p:nvSpPr>
            <p:spPr>
              <a:xfrm>
                <a:off x="500550" y="2783761"/>
                <a:ext cx="3531929" cy="2068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2783761"/>
                <a:ext cx="3531929" cy="2068323"/>
              </a:xfrm>
              <a:prstGeom prst="rect">
                <a:avLst/>
              </a:prstGeom>
              <a:blipFill>
                <a:blip r:embed="rId3"/>
                <a:stretch>
                  <a:fillRect l="-2151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2B848F-7996-6F45-A055-E820587E684A}"/>
              </a:ext>
            </a:extLst>
          </p:cNvPr>
          <p:cNvSpPr/>
          <p:nvPr/>
        </p:nvSpPr>
        <p:spPr>
          <a:xfrm>
            <a:off x="3117732" y="2807960"/>
            <a:ext cx="864929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E357A8-519D-2042-9D10-33C6704D5926}"/>
              </a:ext>
            </a:extLst>
          </p:cNvPr>
          <p:cNvSpPr/>
          <p:nvPr/>
        </p:nvSpPr>
        <p:spPr>
          <a:xfrm>
            <a:off x="1288933" y="3188960"/>
            <a:ext cx="1676400" cy="4330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5C1AA5-E77F-D14C-9A10-C00B241254FD}"/>
              </a:ext>
            </a:extLst>
          </p:cNvPr>
          <p:cNvSpPr/>
          <p:nvPr/>
        </p:nvSpPr>
        <p:spPr>
          <a:xfrm>
            <a:off x="2660533" y="4495283"/>
            <a:ext cx="6858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B975F0-52A1-AC4A-A909-384515961A5C}"/>
                  </a:ext>
                </a:extLst>
              </p:cNvPr>
              <p:cNvSpPr txBox="1"/>
              <p:nvPr/>
            </p:nvSpPr>
            <p:spPr>
              <a:xfrm>
                <a:off x="467049" y="2229763"/>
                <a:ext cx="24513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dirty="0"/>
                  <a:t>Вспомним: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B975F0-52A1-AC4A-A909-384515961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9" y="2229763"/>
                <a:ext cx="2451312" cy="553998"/>
              </a:xfrm>
              <a:prstGeom prst="rect">
                <a:avLst/>
              </a:prstGeom>
              <a:blipFill>
                <a:blip r:embed="rId4"/>
                <a:stretch>
                  <a:fillRect l="-5670" t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EB22E7-298B-6D40-AF75-712278620919}"/>
              </a:ext>
            </a:extLst>
          </p:cNvPr>
          <p:cNvSpPr/>
          <p:nvPr/>
        </p:nvSpPr>
        <p:spPr>
          <a:xfrm>
            <a:off x="1524000" y="4019550"/>
            <a:ext cx="685800" cy="475733"/>
          </a:xfrm>
          <a:custGeom>
            <a:avLst/>
            <a:gdLst>
              <a:gd name="connsiteX0" fmla="*/ 0 w 685800"/>
              <a:gd name="connsiteY0" fmla="*/ 79290 h 475733"/>
              <a:gd name="connsiteX1" fmla="*/ 79290 w 685800"/>
              <a:gd name="connsiteY1" fmla="*/ 0 h 475733"/>
              <a:gd name="connsiteX2" fmla="*/ 606510 w 685800"/>
              <a:gd name="connsiteY2" fmla="*/ 0 h 475733"/>
              <a:gd name="connsiteX3" fmla="*/ 685800 w 685800"/>
              <a:gd name="connsiteY3" fmla="*/ 79290 h 475733"/>
              <a:gd name="connsiteX4" fmla="*/ 685800 w 685800"/>
              <a:gd name="connsiteY4" fmla="*/ 396443 h 475733"/>
              <a:gd name="connsiteX5" fmla="*/ 606510 w 685800"/>
              <a:gd name="connsiteY5" fmla="*/ 475733 h 475733"/>
              <a:gd name="connsiteX6" fmla="*/ 79290 w 685800"/>
              <a:gd name="connsiteY6" fmla="*/ 475733 h 475733"/>
              <a:gd name="connsiteX7" fmla="*/ 0 w 685800"/>
              <a:gd name="connsiteY7" fmla="*/ 396443 h 475733"/>
              <a:gd name="connsiteX8" fmla="*/ 0 w 685800"/>
              <a:gd name="connsiteY8" fmla="*/ 79290 h 47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" h="475733" extrusionOk="0">
                <a:moveTo>
                  <a:pt x="0" y="79290"/>
                </a:moveTo>
                <a:cubicBezTo>
                  <a:pt x="-5612" y="32037"/>
                  <a:pt x="33838" y="624"/>
                  <a:pt x="79290" y="0"/>
                </a:cubicBezTo>
                <a:cubicBezTo>
                  <a:pt x="213174" y="-36699"/>
                  <a:pt x="405658" y="55337"/>
                  <a:pt x="606510" y="0"/>
                </a:cubicBezTo>
                <a:cubicBezTo>
                  <a:pt x="646809" y="-2656"/>
                  <a:pt x="680767" y="45829"/>
                  <a:pt x="685800" y="79290"/>
                </a:cubicBezTo>
                <a:cubicBezTo>
                  <a:pt x="718546" y="165274"/>
                  <a:pt x="678918" y="328254"/>
                  <a:pt x="685800" y="396443"/>
                </a:cubicBezTo>
                <a:cubicBezTo>
                  <a:pt x="690473" y="430617"/>
                  <a:pt x="639028" y="474007"/>
                  <a:pt x="606510" y="475733"/>
                </a:cubicBezTo>
                <a:cubicBezTo>
                  <a:pt x="447112" y="498150"/>
                  <a:pt x="233914" y="420908"/>
                  <a:pt x="79290" y="475733"/>
                </a:cubicBezTo>
                <a:cubicBezTo>
                  <a:pt x="33216" y="479509"/>
                  <a:pt x="-2101" y="437797"/>
                  <a:pt x="0" y="396443"/>
                </a:cubicBezTo>
                <a:cubicBezTo>
                  <a:pt x="-622" y="293020"/>
                  <a:pt x="4231" y="171548"/>
                  <a:pt x="0" y="7929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D3358-55CB-7F4A-BE7F-A0E014D16B29}"/>
              </a:ext>
            </a:extLst>
          </p:cNvPr>
          <p:cNvSpPr txBox="1"/>
          <p:nvPr/>
        </p:nvSpPr>
        <p:spPr>
          <a:xfrm>
            <a:off x="2973004" y="3696384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Ошибки</a:t>
            </a:r>
          </a:p>
          <a:p>
            <a:r>
              <a:rPr lang="ru-RU" sz="1200" dirty="0"/>
              <a:t>независимы</a:t>
            </a:r>
            <a:endParaRPr lang="en-US" sz="1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4A6E4E-7377-5E42-9820-96A459EEE6E3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2209800" y="3927217"/>
            <a:ext cx="763204" cy="33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9B0C6DE-4A1D-9945-BBF6-A3ABC4701CF6}"/>
              </a:ext>
            </a:extLst>
          </p:cNvPr>
          <p:cNvSpPr txBox="1"/>
          <p:nvPr/>
        </p:nvSpPr>
        <p:spPr>
          <a:xfrm>
            <a:off x="1657144" y="47082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0</a:t>
            </a:r>
            <a:endParaRPr lang="en-US" sz="16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C605F15-9681-D941-B7D7-91CD40F1D272}"/>
              </a:ext>
            </a:extLst>
          </p:cNvPr>
          <p:cNvCxnSpPr/>
          <p:nvPr/>
        </p:nvCxnSpPr>
        <p:spPr>
          <a:xfrm flipV="1">
            <a:off x="1600200" y="4552950"/>
            <a:ext cx="415574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9B2AC7-F010-284F-8AF3-7F54EC9A8A88}"/>
                  </a:ext>
                </a:extLst>
              </p:cNvPr>
              <p:cNvSpPr txBox="1"/>
              <p:nvPr/>
            </p:nvSpPr>
            <p:spPr>
              <a:xfrm>
                <a:off x="4718279" y="3325436"/>
                <a:ext cx="3962400" cy="10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Подставим полученные значения в выражение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выделим полный квадрат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9B2AC7-F010-284F-8AF3-7F54EC9A8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279" y="3325436"/>
                <a:ext cx="3962400" cy="1015856"/>
              </a:xfrm>
              <a:prstGeom prst="rect">
                <a:avLst/>
              </a:prstGeom>
              <a:blipFill>
                <a:blip r:embed="rId5"/>
                <a:stretch>
                  <a:fillRect l="-1278" t="-375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786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/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7556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7BB88-0E38-E246-A45C-975B7CE5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352550"/>
                <a:ext cx="4267200" cy="1331775"/>
              </a:xfrm>
              <a:prstGeom prst="rect">
                <a:avLst/>
              </a:prstGeom>
              <a:blipFill>
                <a:blip r:embed="rId2"/>
                <a:stretch>
                  <a:fillRect l="-178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2966C1-3476-BE4A-83D3-793808E22B69}"/>
              </a:ext>
            </a:extLst>
          </p:cNvPr>
          <p:cNvSpPr/>
          <p:nvPr/>
        </p:nvSpPr>
        <p:spPr>
          <a:xfrm>
            <a:off x="3733800" y="2343150"/>
            <a:ext cx="6858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AF3F83-698A-244F-832F-0F0E198E664D}"/>
              </a:ext>
            </a:extLst>
          </p:cNvPr>
          <p:cNvSpPr/>
          <p:nvPr/>
        </p:nvSpPr>
        <p:spPr>
          <a:xfrm>
            <a:off x="4572000" y="2347113"/>
            <a:ext cx="685800" cy="3810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2998AE-3383-8745-9CED-A031E4ECBC7E}"/>
              </a:ext>
            </a:extLst>
          </p:cNvPr>
          <p:cNvSpPr/>
          <p:nvPr/>
        </p:nvSpPr>
        <p:spPr>
          <a:xfrm>
            <a:off x="5410200" y="2347113"/>
            <a:ext cx="8382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7091-A66C-F44E-9DA2-40364266CAD0}"/>
              </a:ext>
            </a:extLst>
          </p:cNvPr>
          <p:cNvSpPr txBox="1"/>
          <p:nvPr/>
        </p:nvSpPr>
        <p:spPr>
          <a:xfrm>
            <a:off x="556851" y="971550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Найдем ошибку в конкретной точке:</a:t>
            </a:r>
            <a:endParaRPr lang="ru-RU" b="0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/>
              <p:nvPr/>
            </p:nvSpPr>
            <p:spPr>
              <a:xfrm>
                <a:off x="1040417" y="2800350"/>
                <a:ext cx="3531929" cy="2068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44992F-40C3-E94F-8A06-225D4CA4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17" y="2800350"/>
                <a:ext cx="3531929" cy="2068323"/>
              </a:xfrm>
              <a:prstGeom prst="rect">
                <a:avLst/>
              </a:prstGeom>
              <a:blipFill>
                <a:blip r:embed="rId3"/>
                <a:stretch>
                  <a:fillRect l="-2518" b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2B848F-7996-6F45-A055-E820587E684A}"/>
              </a:ext>
            </a:extLst>
          </p:cNvPr>
          <p:cNvSpPr/>
          <p:nvPr/>
        </p:nvSpPr>
        <p:spPr>
          <a:xfrm>
            <a:off x="3657599" y="2824549"/>
            <a:ext cx="864929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E357A8-519D-2042-9D10-33C6704D5926}"/>
              </a:ext>
            </a:extLst>
          </p:cNvPr>
          <p:cNvSpPr/>
          <p:nvPr/>
        </p:nvSpPr>
        <p:spPr>
          <a:xfrm>
            <a:off x="1828800" y="3205549"/>
            <a:ext cx="1676400" cy="4330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5C1AA5-E77F-D14C-9A10-C00B241254FD}"/>
              </a:ext>
            </a:extLst>
          </p:cNvPr>
          <p:cNvSpPr/>
          <p:nvPr/>
        </p:nvSpPr>
        <p:spPr>
          <a:xfrm>
            <a:off x="3200400" y="4511872"/>
            <a:ext cx="685800" cy="381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bject 20">
            <a:extLst>
              <a:ext uri="{FF2B5EF4-FFF2-40B4-BE49-F238E27FC236}">
                <a16:creationId xmlns:a16="http://schemas.microsoft.com/office/drawing/2014/main" id="{B7174189-B06D-6547-877A-502801EB0C22}"/>
              </a:ext>
            </a:extLst>
          </p:cNvPr>
          <p:cNvSpPr/>
          <p:nvPr/>
        </p:nvSpPr>
        <p:spPr>
          <a:xfrm>
            <a:off x="4592325" y="2844139"/>
            <a:ext cx="284476" cy="2089812"/>
          </a:xfrm>
          <a:custGeom>
            <a:avLst/>
            <a:gdLst/>
            <a:ahLst/>
            <a:cxnLst/>
            <a:rect l="l" t="t" r="r" b="b"/>
            <a:pathLst>
              <a:path w="484504" h="2691765">
                <a:moveTo>
                  <a:pt x="0" y="0"/>
                </a:moveTo>
                <a:lnTo>
                  <a:pt x="47451" y="4694"/>
                </a:lnTo>
                <a:lnTo>
                  <a:pt x="92647" y="18428"/>
                </a:lnTo>
                <a:lnTo>
                  <a:pt x="134317" y="40675"/>
                </a:lnTo>
                <a:lnTo>
                  <a:pt x="171190" y="70909"/>
                </a:lnTo>
                <a:lnTo>
                  <a:pt x="201424" y="107782"/>
                </a:lnTo>
                <a:lnTo>
                  <a:pt x="223671" y="149452"/>
                </a:lnTo>
                <a:lnTo>
                  <a:pt x="237405" y="194648"/>
                </a:lnTo>
                <a:lnTo>
                  <a:pt x="242099" y="242099"/>
                </a:lnTo>
                <a:lnTo>
                  <a:pt x="242099" y="1103549"/>
                </a:lnTo>
                <a:lnTo>
                  <a:pt x="247018" y="1152341"/>
                </a:lnTo>
                <a:lnTo>
                  <a:pt x="261125" y="1197786"/>
                </a:lnTo>
                <a:lnTo>
                  <a:pt x="283446" y="1238910"/>
                </a:lnTo>
                <a:lnTo>
                  <a:pt x="313009" y="1274740"/>
                </a:lnTo>
                <a:lnTo>
                  <a:pt x="348839" y="1304303"/>
                </a:lnTo>
                <a:lnTo>
                  <a:pt x="389963" y="1326624"/>
                </a:lnTo>
                <a:lnTo>
                  <a:pt x="435408" y="1340731"/>
                </a:lnTo>
                <a:lnTo>
                  <a:pt x="484199" y="1345649"/>
                </a:lnTo>
                <a:lnTo>
                  <a:pt x="435408" y="1350568"/>
                </a:lnTo>
                <a:lnTo>
                  <a:pt x="389963" y="1364675"/>
                </a:lnTo>
                <a:lnTo>
                  <a:pt x="348839" y="1386996"/>
                </a:lnTo>
                <a:lnTo>
                  <a:pt x="313009" y="1416559"/>
                </a:lnTo>
                <a:lnTo>
                  <a:pt x="283446" y="1452389"/>
                </a:lnTo>
                <a:lnTo>
                  <a:pt x="261125" y="1493513"/>
                </a:lnTo>
                <a:lnTo>
                  <a:pt x="247018" y="1538958"/>
                </a:lnTo>
                <a:lnTo>
                  <a:pt x="242099" y="1587749"/>
                </a:lnTo>
                <a:lnTo>
                  <a:pt x="242099" y="2449199"/>
                </a:lnTo>
                <a:lnTo>
                  <a:pt x="237181" y="2497991"/>
                </a:lnTo>
                <a:lnTo>
                  <a:pt x="223074" y="2543436"/>
                </a:lnTo>
                <a:lnTo>
                  <a:pt x="200753" y="2584560"/>
                </a:lnTo>
                <a:lnTo>
                  <a:pt x="171190" y="2620390"/>
                </a:lnTo>
                <a:lnTo>
                  <a:pt x="135360" y="2649953"/>
                </a:lnTo>
                <a:lnTo>
                  <a:pt x="94236" y="2672274"/>
                </a:lnTo>
                <a:lnTo>
                  <a:pt x="48791" y="2686381"/>
                </a:lnTo>
                <a:lnTo>
                  <a:pt x="0" y="2691299"/>
                </a:lnTo>
              </a:path>
            </a:pathLst>
          </a:custGeom>
          <a:ln w="19049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EEA1B9-95F9-E240-A46A-EF9393B37AC6}"/>
                  </a:ext>
                </a:extLst>
              </p:cNvPr>
              <p:cNvSpPr txBox="1"/>
              <p:nvPr/>
            </p:nvSpPr>
            <p:spPr>
              <a:xfrm>
                <a:off x="4966364" y="2824549"/>
                <a:ext cx="3877921" cy="22729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EEA1B9-95F9-E240-A46A-EF9393B37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64" y="2824549"/>
                <a:ext cx="3877921" cy="2272930"/>
              </a:xfrm>
              <a:prstGeom prst="rect">
                <a:avLst/>
              </a:prstGeom>
              <a:blipFill>
                <a:blip r:embed="rId4"/>
                <a:stretch>
                  <a:fillRect l="-2288" t="-3333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B546A4-9140-BE48-AC09-2D7246C034DC}"/>
              </a:ext>
            </a:extLst>
          </p:cNvPr>
          <p:cNvSpPr/>
          <p:nvPr/>
        </p:nvSpPr>
        <p:spPr>
          <a:xfrm>
            <a:off x="5181600" y="4629150"/>
            <a:ext cx="2514600" cy="4683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16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20AF-19DE-F543-B85B-E9346925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64461855-B51A-DB46-89E2-3DCC7D7833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3891514"/>
            <a:ext cx="5334000" cy="1225505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2AD4E90E-A600-5B41-8025-B349B38063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1047750"/>
            <a:ext cx="3984702" cy="2514600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86E877BA-720B-4F4A-BE1A-27078611256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1125" y="917100"/>
            <a:ext cx="3645075" cy="26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53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1454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Bagging &amp; 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80ED6A-50AD-F748-A6F5-48852325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Кондорсе (1784 г.)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9BFFA-EA10-D44F-A889-614CF281F46A}"/>
              </a:ext>
            </a:extLst>
          </p:cNvPr>
          <p:cNvSpPr txBox="1"/>
          <p:nvPr/>
        </p:nvSpPr>
        <p:spPr>
          <a:xfrm>
            <a:off x="609600" y="1276350"/>
            <a:ext cx="8305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больше или равна 0.5 то с увеличением числа членов жюри вероятность правильного ответа возрастает и стремиться к 1 по мере увеличения их количества.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меньше 0.5 то с увеличением числа членов жюри вероятность правильного ответа стремиться к 0 по мере увеличения их количества.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/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blipFill>
                <a:blip r:embed="rId2"/>
                <a:stretch>
                  <a:fillRect l="-16580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/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&gt;0.5 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blipFill>
                <a:blip r:embed="rId3"/>
                <a:stretch>
                  <a:fillRect l="-159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860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7B93-6AFD-4D44-BFDD-33F05F2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 </a:t>
            </a:r>
            <a:r>
              <a:rPr lang="ru-RU" dirty="0" err="1"/>
              <a:t>Гальтона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2E09B-2E98-8B40-98A7-C2B72EDD2481}"/>
              </a:ext>
            </a:extLst>
          </p:cNvPr>
          <p:cNvSpPr txBox="1"/>
          <p:nvPr/>
        </p:nvSpPr>
        <p:spPr>
          <a:xfrm>
            <a:off x="490582" y="1657350"/>
            <a:ext cx="4078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На ярмарке около 800 человек пытались угадать вес быка. Бык весил 1198 фунтов.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Ни один из участников не дал точного ответа.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Среднее предсказание по всем ответам оказалось 1197 фунтов.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CF9DA-0961-4B4E-B4FB-2DAC3C57AD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953"/>
          <a:stretch/>
        </p:blipFill>
        <p:spPr>
          <a:xfrm>
            <a:off x="4953000" y="1200150"/>
            <a:ext cx="35052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0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77A3E0-0E9B-C743-BF92-DF18E8ABE3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78674"/>
            <a:ext cx="7543800" cy="40061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11745-E226-8C4C-9988-9AB592159A6E}"/>
              </a:ext>
            </a:extLst>
          </p:cNvPr>
          <p:cNvSpPr txBox="1"/>
          <p:nvPr/>
        </p:nvSpPr>
        <p:spPr>
          <a:xfrm>
            <a:off x="2971800" y="1581150"/>
            <a:ext cx="87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Выбор с </a:t>
            </a:r>
          </a:p>
          <a:p>
            <a:pPr algn="ctr"/>
            <a:r>
              <a:rPr lang="ru-RU" sz="1200" dirty="0"/>
              <a:t>возвратом</a:t>
            </a:r>
            <a:endParaRPr lang="en-US" sz="1200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3FA5F6B-A2B9-B442-A00C-9A2B747EEEE5}"/>
              </a:ext>
            </a:extLst>
          </p:cNvPr>
          <p:cNvSpPr/>
          <p:nvPr/>
        </p:nvSpPr>
        <p:spPr>
          <a:xfrm rot="6324136">
            <a:off x="2974724" y="1822241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3D3566D3-B8E9-E34D-8539-AB7DBBB512C8}"/>
              </a:ext>
            </a:extLst>
          </p:cNvPr>
          <p:cNvSpPr/>
          <p:nvPr/>
        </p:nvSpPr>
        <p:spPr>
          <a:xfrm rot="8480726">
            <a:off x="3101908" y="2336769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5CE3C8D-CF06-AC49-B891-DB0344A7D35D}"/>
              </a:ext>
            </a:extLst>
          </p:cNvPr>
          <p:cNvSpPr/>
          <p:nvPr/>
        </p:nvSpPr>
        <p:spPr>
          <a:xfrm rot="10029697">
            <a:off x="3101908" y="2855767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21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= bootstrap aggregation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BD53D5E-4109-754F-8E58-0AE2D9486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276350"/>
            <a:ext cx="6715124" cy="339089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6C8367-4798-324A-91CF-8E38AD085CE1}"/>
              </a:ext>
            </a:extLst>
          </p:cNvPr>
          <p:cNvSpPr/>
          <p:nvPr/>
        </p:nvSpPr>
        <p:spPr>
          <a:xfrm>
            <a:off x="914400" y="1123950"/>
            <a:ext cx="5943600" cy="3429000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AAB63-2C17-2B4A-88DC-C17A897A76E6}"/>
              </a:ext>
            </a:extLst>
          </p:cNvPr>
          <p:cNvSpPr txBox="1"/>
          <p:nvPr/>
        </p:nvSpPr>
        <p:spPr>
          <a:xfrm>
            <a:off x="981076" y="1150641"/>
            <a:ext cx="527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train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C707DB-A6A1-7642-99D5-3CEF6D65E61F}"/>
              </a:ext>
            </a:extLst>
          </p:cNvPr>
          <p:cNvSpPr/>
          <p:nvPr/>
        </p:nvSpPr>
        <p:spPr>
          <a:xfrm>
            <a:off x="6948712" y="742950"/>
            <a:ext cx="1433288" cy="4069825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D890-897A-9045-B0B5-FD9E3A083015}"/>
              </a:ext>
            </a:extLst>
          </p:cNvPr>
          <p:cNvSpPr txBox="1"/>
          <p:nvPr/>
        </p:nvSpPr>
        <p:spPr>
          <a:xfrm>
            <a:off x="7612622" y="742950"/>
            <a:ext cx="769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1530672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45545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9499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0D718-C39B-0449-8EEC-5DF9B526F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9" y="895350"/>
            <a:ext cx="7127082" cy="407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96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48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600" y="2190750"/>
            <a:ext cx="2209800" cy="2819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885631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397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525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67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92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1219199" y="2088449"/>
            <a:ext cx="167639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00951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1219199" y="3096449"/>
            <a:ext cx="16764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00950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913921" y="4104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913921" y="4608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549310" y="2876550"/>
            <a:ext cx="1686281" cy="533399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549309" y="3409949"/>
            <a:ext cx="1686282" cy="504000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2936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7508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11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1" name="object 5">
            <a:extLst>
              <a:ext uri="{FF2B5EF4-FFF2-40B4-BE49-F238E27FC236}">
                <a16:creationId xmlns:a16="http://schemas.microsoft.com/office/drawing/2014/main" id="{4ABF14FA-40BB-2E45-AC37-043B350AC7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60" y="1856965"/>
            <a:ext cx="8772233" cy="32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6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477891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Stacking &amp; blending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199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9809D1-FA41-8F4B-B81D-FEF6B828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80A6BF-B0BE-2040-AF7A-E43C0C9F7B23}"/>
              </a:ext>
            </a:extLst>
          </p:cNvPr>
          <p:cNvSpPr/>
          <p:nvPr/>
        </p:nvSpPr>
        <p:spPr>
          <a:xfrm>
            <a:off x="1447800" y="1879572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180BA-2474-1040-9DC2-830E2D42B569}"/>
              </a:ext>
            </a:extLst>
          </p:cNvPr>
          <p:cNvSpPr/>
          <p:nvPr/>
        </p:nvSpPr>
        <p:spPr>
          <a:xfrm>
            <a:off x="1447800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7907E1-996D-7744-AE9F-B09E64ACFF23}"/>
              </a:ext>
            </a:extLst>
          </p:cNvPr>
          <p:cNvSpPr/>
          <p:nvPr/>
        </p:nvSpPr>
        <p:spPr>
          <a:xfrm>
            <a:off x="1447800" y="3865024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8B55E5-23F8-F44C-8E4C-2FF09D2440AF}"/>
              </a:ext>
            </a:extLst>
          </p:cNvPr>
          <p:cNvSpPr/>
          <p:nvPr/>
        </p:nvSpPr>
        <p:spPr>
          <a:xfrm>
            <a:off x="3810000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m(A, B, C)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B52931-5F0C-6C4A-9D52-90F6D76313FC}"/>
              </a:ext>
            </a:extLst>
          </p:cNvPr>
          <p:cNvSpPr/>
          <p:nvPr/>
        </p:nvSpPr>
        <p:spPr>
          <a:xfrm>
            <a:off x="6144072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6913CC14-896B-534B-9723-18131883F338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124200" y="2261635"/>
            <a:ext cx="685800" cy="9927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4037592-314B-244C-8400-430B3ACE482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3124200" y="3254361"/>
            <a:ext cx="685800" cy="9927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784F6A-FD5A-0D49-BA43-CB1A59D00C71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124200" y="3254361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7E8467-B952-3B43-B40D-E992A91D901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486400" y="3254361"/>
            <a:ext cx="657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41F577-79F8-214C-88AF-D022C6898C36}"/>
              </a:ext>
            </a:extLst>
          </p:cNvPr>
          <p:cNvSpPr txBox="1"/>
          <p:nvPr/>
        </p:nvSpPr>
        <p:spPr>
          <a:xfrm>
            <a:off x="609600" y="1123950"/>
            <a:ext cx="8237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Используем прогнозы других алгоритмов как признаки и на них построим модель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9455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DDB68-8331-4D4C-99A7-5801BB37CBB9}"/>
              </a:ext>
            </a:extLst>
          </p:cNvPr>
          <p:cNvSpPr txBox="1"/>
          <p:nvPr/>
        </p:nvSpPr>
        <p:spPr>
          <a:xfrm>
            <a:off x="609600" y="1123950"/>
            <a:ext cx="497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Blending – </a:t>
            </a:r>
            <a:r>
              <a:rPr lang="ru-RU" dirty="0"/>
              <a:t>как простейшая реализация </a:t>
            </a:r>
            <a:r>
              <a:rPr lang="en-US" dirty="0" err="1"/>
              <a:t>Stacking’a</a:t>
            </a:r>
            <a:endParaRPr lang="en-US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826670C-5B11-B549-98A7-EB904FF8F1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756" y="1733550"/>
            <a:ext cx="8044815" cy="29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309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DDB68-8331-4D4C-99A7-5801BB37CBB9}"/>
              </a:ext>
            </a:extLst>
          </p:cNvPr>
          <p:cNvSpPr txBox="1"/>
          <p:nvPr/>
        </p:nvSpPr>
        <p:spPr>
          <a:xfrm>
            <a:off x="505664" y="1134555"/>
            <a:ext cx="160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улучшить?</a:t>
            </a:r>
            <a:endParaRPr lang="en-US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19C062EC-F10D-184C-A756-1F0739A40F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733" y="1581150"/>
            <a:ext cx="7937548" cy="330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2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Градиентный </a:t>
            </a:r>
            <a:r>
              <a:rPr lang="ru-RU" sz="1800" dirty="0" err="1"/>
              <a:t>бустинг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BC2AB203-28C6-AA4B-AACF-8D7D47BEF9E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14774</TotalTime>
  <Words>1191</Words>
  <Application>Microsoft Macintosh PowerPoint</Application>
  <PresentationFormat>On-screen Show (16:9)</PresentationFormat>
  <Paragraphs>291</Paragraphs>
  <Slides>46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AkayaTelivigala</vt:lpstr>
      <vt:lpstr>Arial</vt:lpstr>
      <vt:lpstr>Bradley Hand</vt:lpstr>
      <vt:lpstr>Calibri</vt:lpstr>
      <vt:lpstr>Cambria Math</vt:lpstr>
      <vt:lpstr>Google Sans</vt:lpstr>
      <vt:lpstr>roboto</vt:lpstr>
      <vt:lpstr>roboto</vt:lpstr>
      <vt:lpstr>Office Theme</vt:lpstr>
      <vt:lpstr>ML Professional Ensembles</vt:lpstr>
      <vt:lpstr>Проверить, идет ли запись</vt:lpstr>
      <vt:lpstr>ML Professional Ensembles</vt:lpstr>
      <vt:lpstr>Правила вебинара</vt:lpstr>
      <vt:lpstr>Карта курса</vt:lpstr>
      <vt:lpstr>Программа курса</vt:lpstr>
      <vt:lpstr>Маршрут вебинара</vt:lpstr>
      <vt:lpstr>Цели занятия</vt:lpstr>
      <vt:lpstr>Смысл</vt:lpstr>
      <vt:lpstr>  Bias-Variance Trade-Off </vt:lpstr>
      <vt:lpstr>Bias-Variance Trade-Off</vt:lpstr>
      <vt:lpstr>Bias-Variance Trade-Off</vt:lpstr>
      <vt:lpstr>Bias-Variance Trade-Off</vt:lpstr>
      <vt:lpstr>Bias-Variance Trade-Off</vt:lpstr>
      <vt:lpstr>Bias-Variance Trade-Off</vt:lpstr>
      <vt:lpstr>Bias-Variance Trade-Off</vt:lpstr>
      <vt:lpstr>Bias-Variance Trade-Off</vt:lpstr>
      <vt:lpstr>Bias-Variance Trade-Off</vt:lpstr>
      <vt:lpstr>Bias-Variance Trade-Off</vt:lpstr>
      <vt:lpstr>Bias-Variance Trade-Off</vt:lpstr>
      <vt:lpstr>Вопросы?</vt:lpstr>
      <vt:lpstr>Bagging &amp; Random forest</vt:lpstr>
      <vt:lpstr>Принцип Кондорсе (1784 г.)</vt:lpstr>
      <vt:lpstr>Эксперимент Гальтона</vt:lpstr>
      <vt:lpstr>Bootstrap</vt:lpstr>
      <vt:lpstr>Bagging = bootstrap aggregation</vt:lpstr>
      <vt:lpstr>Вопросы?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Вопросы?</vt:lpstr>
      <vt:lpstr>Stacking &amp; blending</vt:lpstr>
      <vt:lpstr>Stacking</vt:lpstr>
      <vt:lpstr>Blending</vt:lpstr>
      <vt:lpstr>Blending</vt:lpstr>
      <vt:lpstr>Вопросы?</vt:lpstr>
      <vt:lpstr>Практика</vt:lpstr>
      <vt:lpstr>Рефлексия</vt:lpstr>
      <vt:lpstr>Заполните, пожалуйста, опрос о занятии по ссылке в чате</vt:lpstr>
      <vt:lpstr>Приходите на следующие вебинары Градиентный бустинг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153</cp:revision>
  <dcterms:created xsi:type="dcterms:W3CDTF">2023-10-10T14:19:39Z</dcterms:created>
  <dcterms:modified xsi:type="dcterms:W3CDTF">2025-07-18T12:09:35Z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