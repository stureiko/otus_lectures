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75"/>
    <p:restoredTop sz="97030"/>
  </p:normalViewPr>
  <p:slideViewPr>
    <p:cSldViewPr>
      <p:cViewPr varScale="1">
        <p:scale>
          <a:sx n="208" d="100"/>
          <a:sy n="208" d="100"/>
        </p:scale>
        <p:origin x="496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Professional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 </a:t>
            </a:r>
            <a:r>
              <a:rPr lang="en-US" dirty="0"/>
              <a:t>Professional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en-US" sz="1150" kern="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  <a:endParaRPr lang="en-US" sz="1150" dirty="0"/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напутствие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" name="Picture 2" descr="Шапка выпускника вектор (49 фото)">
            <a:extLst>
              <a:ext uri="{FF2B5EF4-FFF2-40B4-BE49-F238E27FC236}">
                <a16:creationId xmlns:a16="http://schemas.microsoft.com/office/drawing/2014/main" id="{567D2516-A149-814F-8420-E6895B379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44434" flipH="1">
            <a:off x="5474333" y="1600413"/>
            <a:ext cx="2853253" cy="2466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ru-RU" sz="1400" b="0" dirty="0">
                <a:solidFill>
                  <a:srgbClr val="1E1F21"/>
                </a:solidFill>
              </a:rPr>
              <a:t>, как реализован и почему именно так.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обучения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Кривая обучения, метрики на тренировочной, тестовой и </a:t>
            </a:r>
            <a:r>
              <a:rPr lang="ru-RU" sz="1400" b="0" dirty="0" err="1">
                <a:solidFill>
                  <a:srgbClr val="1E1F21"/>
                </a:solidFill>
              </a:rPr>
              <a:t>валидационной</a:t>
            </a:r>
            <a:r>
              <a:rPr lang="ru-RU" sz="1400" b="0" dirty="0">
                <a:solidFill>
                  <a:srgbClr val="1E1F21"/>
                </a:solidFill>
              </a:rPr>
              <a:t> выборках.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Борьба с переобучением.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524343"/>
              </p:ext>
            </p:extLst>
          </p:nvPr>
        </p:nvGraphicFramePr>
        <p:xfrm>
          <a:off x="6125381" y="576071"/>
          <a:ext cx="2280284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7</a:t>
                      </a: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03</a:t>
            </a:r>
            <a:r>
              <a:rPr sz="1400" dirty="0">
                <a:solidFill>
                  <a:schemeClr val="tx1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chemeClr val="tx1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9</a:t>
            </a:r>
            <a:r>
              <a:rPr sz="1400" spc="-4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33721" y="24551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09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9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237928" y="29824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1</a:t>
            </a:r>
            <a:r>
              <a:rPr lang="ru-RU" sz="1400" dirty="0">
                <a:latin typeface="Calibri"/>
                <a:cs typeface="Calibri"/>
              </a:rPr>
              <a:t>8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9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26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9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Предзащита № 2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Предзащита № 1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3CDF963-07E3-E243-AFDD-F8E006BBFE84}"/>
              </a:ext>
            </a:extLst>
          </p:cNvPr>
          <p:cNvSpPr/>
          <p:nvPr/>
        </p:nvSpPr>
        <p:spPr>
          <a:xfrm>
            <a:off x="2225090" y="3967699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E06BA147-412B-CD45-B8E0-B15FF3ACC879}"/>
              </a:ext>
            </a:extLst>
          </p:cNvPr>
          <p:cNvCxnSpPr>
            <a:cxnSpLocks/>
            <a:stCxn id="14" idx="2"/>
            <a:endCxn id="24" idx="1"/>
          </p:cNvCxnSpPr>
          <p:nvPr/>
        </p:nvCxnSpPr>
        <p:spPr>
          <a:xfrm rot="16200000" flipH="1">
            <a:off x="788361" y="2729089"/>
            <a:ext cx="253415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object 22">
            <a:extLst>
              <a:ext uri="{FF2B5EF4-FFF2-40B4-BE49-F238E27FC236}">
                <a16:creationId xmlns:a16="http://schemas.microsoft.com/office/drawing/2014/main" id="{C0746AC4-D969-294E-A316-69F132917B92}"/>
              </a:ext>
            </a:extLst>
          </p:cNvPr>
          <p:cNvSpPr txBox="1"/>
          <p:nvPr/>
        </p:nvSpPr>
        <p:spPr>
          <a:xfrm>
            <a:off x="1233720" y="405168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02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10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ru-RU" sz="1400" b="0" dirty="0">
                <a:solidFill>
                  <a:srgbClr val="1E1F21"/>
                </a:solidFill>
              </a:rPr>
              <a:t>, как реализован и почему именно так.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обучения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Кривая обучения, метрики на тренировочной, тестовой и </a:t>
            </a:r>
            <a:r>
              <a:rPr lang="ru-RU" sz="1400" b="0" dirty="0" err="1">
                <a:solidFill>
                  <a:srgbClr val="1E1F21"/>
                </a:solidFill>
              </a:rPr>
              <a:t>валидационной</a:t>
            </a:r>
            <a:r>
              <a:rPr lang="ru-RU" sz="1400" b="0" dirty="0">
                <a:solidFill>
                  <a:srgbClr val="1E1F21"/>
                </a:solidFill>
              </a:rPr>
              <a:t> выборках.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Борьба с переобучением.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Помните: мусор на входе – мусор на выходе, не забывайте о подготовке данных.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на модели и метриках.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должна адекватно описывать процесс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b="1" spc="-50" dirty="0">
                <a:latin typeface="Trebuchet MS"/>
                <a:cs typeface="Trebuchet MS"/>
              </a:rPr>
              <a:t>Буду рад видеть вас на защите!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20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</TotalTime>
  <Words>519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 Professional Курсовой проект</vt:lpstr>
      <vt:lpstr>PowerPoint Presentation</vt:lpstr>
      <vt:lpstr>ML Professional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16</cp:revision>
  <dcterms:created xsi:type="dcterms:W3CDTF">2024-07-23T07:20:56Z</dcterms:created>
  <dcterms:modified xsi:type="dcterms:W3CDTF">2025-09-03T12:16:34Z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