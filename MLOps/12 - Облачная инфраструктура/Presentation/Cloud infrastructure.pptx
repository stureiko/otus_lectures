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90" r:id="rId1"/>
    <p:sldMasterId id="2147483692" r:id="rId2"/>
  </p:sldMasterIdLst>
  <p:notesMasterIdLst>
    <p:notesMasterId r:id="rId45"/>
  </p:notesMasterIdLst>
  <p:sldIdLst>
    <p:sldId id="256" r:id="rId3"/>
    <p:sldId id="257" r:id="rId4"/>
    <p:sldId id="259" r:id="rId5"/>
    <p:sldId id="325" r:id="rId6"/>
    <p:sldId id="261" r:id="rId7"/>
    <p:sldId id="262" r:id="rId8"/>
    <p:sldId id="263" r:id="rId9"/>
    <p:sldId id="264" r:id="rId10"/>
    <p:sldId id="311" r:id="rId11"/>
    <p:sldId id="267" r:id="rId12"/>
    <p:sldId id="344" r:id="rId13"/>
    <p:sldId id="350" r:id="rId14"/>
    <p:sldId id="376" r:id="rId15"/>
    <p:sldId id="360" r:id="rId16"/>
    <p:sldId id="361" r:id="rId17"/>
    <p:sldId id="362" r:id="rId18"/>
    <p:sldId id="363" r:id="rId19"/>
    <p:sldId id="364" r:id="rId20"/>
    <p:sldId id="365" r:id="rId21"/>
    <p:sldId id="356" r:id="rId22"/>
    <p:sldId id="357" r:id="rId23"/>
    <p:sldId id="358" r:id="rId24"/>
    <p:sldId id="366" r:id="rId25"/>
    <p:sldId id="359" r:id="rId26"/>
    <p:sldId id="367" r:id="rId27"/>
    <p:sldId id="368" r:id="rId28"/>
    <p:sldId id="369" r:id="rId29"/>
    <p:sldId id="370" r:id="rId30"/>
    <p:sldId id="372" r:id="rId31"/>
    <p:sldId id="371" r:id="rId32"/>
    <p:sldId id="379" r:id="rId33"/>
    <p:sldId id="373" r:id="rId34"/>
    <p:sldId id="374" r:id="rId35"/>
    <p:sldId id="281" r:id="rId36"/>
    <p:sldId id="377" r:id="rId37"/>
    <p:sldId id="378" r:id="rId38"/>
    <p:sldId id="282" r:id="rId39"/>
    <p:sldId id="283" r:id="rId40"/>
    <p:sldId id="375" r:id="rId41"/>
    <p:sldId id="287" r:id="rId42"/>
    <p:sldId id="289" r:id="rId43"/>
    <p:sldId id="337" r:id="rId44"/>
  </p:sldIdLst>
  <p:sldSz cx="9144000" cy="5143500" type="screen16x9"/>
  <p:notesSz cx="6858000" cy="9144000"/>
  <p:embeddedFontLst>
    <p:embeddedFont>
      <p:font typeface="Adelle Sans Devanagari" panose="02000503000000020004" pitchFamily="2" charset="-78"/>
      <p:regular r:id="rId46"/>
      <p:bold r:id="rId47"/>
    </p:embeddedFont>
    <p:embeddedFont>
      <p:font typeface="Helvetica Neue" panose="02000503000000020004" pitchFamily="2" charset="0"/>
      <p:regular r:id="rId48"/>
      <p:bold r:id="rId49"/>
      <p:italic r:id="rId50"/>
      <p:boldItalic r:id="rId51"/>
    </p:embeddedFont>
    <p:embeddedFont>
      <p:font typeface="Roboto" panose="02000000000000000000" pitchFamily="2" charset="0"/>
      <p:regular r:id="rId52"/>
      <p:bold r:id="rId53"/>
      <p:italic r:id="rId54"/>
      <p:boldItalic r:id="rId5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533">
          <p15:clr>
            <a:srgbClr val="A4A3A4"/>
          </p15:clr>
        </p15:guide>
        <p15:guide id="2" pos="1002">
          <p15:clr>
            <a:srgbClr val="9AA0A6"/>
          </p15:clr>
        </p15:guide>
        <p15:guide id="3" orient="horz" pos="179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9E7F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623574C-9AE7-4070-A081-93A97D88BCA6}">
  <a:tblStyle styleId="{B623574C-9AE7-4070-A081-93A97D88BCA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261"/>
    <p:restoredTop sz="97146"/>
  </p:normalViewPr>
  <p:slideViewPr>
    <p:cSldViewPr snapToGrid="0">
      <p:cViewPr varScale="1">
        <p:scale>
          <a:sx n="400" d="100"/>
          <a:sy n="400" d="100"/>
        </p:scale>
        <p:origin x="1096" y="584"/>
      </p:cViewPr>
      <p:guideLst>
        <p:guide pos="5533"/>
        <p:guide pos="1002"/>
        <p:guide orient="horz" pos="179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font" Target="fonts/font2.fntdata"/><Relationship Id="rId50" Type="http://schemas.openxmlformats.org/officeDocument/2006/relationships/font" Target="fonts/font5.fntdata"/><Relationship Id="rId55" Type="http://schemas.openxmlformats.org/officeDocument/2006/relationships/font" Target="fonts/font10.fntdata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notesMaster" Target="notesMasters/notesMaster1.xml"/><Relationship Id="rId53" Type="http://schemas.openxmlformats.org/officeDocument/2006/relationships/font" Target="fonts/font8.fntdata"/><Relationship Id="rId58" Type="http://schemas.openxmlformats.org/officeDocument/2006/relationships/theme" Target="theme/theme1.xml"/><Relationship Id="rId5" Type="http://schemas.openxmlformats.org/officeDocument/2006/relationships/slide" Target="slides/slide3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font" Target="fonts/font3.fntdata"/><Relationship Id="rId56" Type="http://schemas.openxmlformats.org/officeDocument/2006/relationships/presProps" Target="presProps.xml"/><Relationship Id="rId8" Type="http://schemas.openxmlformats.org/officeDocument/2006/relationships/slide" Target="slides/slide6.xml"/><Relationship Id="rId51" Type="http://schemas.openxmlformats.org/officeDocument/2006/relationships/font" Target="fonts/font6.fntdata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font" Target="fonts/font1.fntdata"/><Relationship Id="rId59" Type="http://schemas.openxmlformats.org/officeDocument/2006/relationships/tableStyles" Target="tableStyle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font" Target="fonts/font9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font" Target="fonts/font4.fntdata"/><Relationship Id="rId57" Type="http://schemas.openxmlformats.org/officeDocument/2006/relationships/viewProps" Target="viewProps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font" Target="fonts/font7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7" name="Google Shape;187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de823becd0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de823becd0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de823becd0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de823becd0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deaee39f1e_0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7" name="Google Shape;247;gdeaee39f1e_0_16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de823becd0_0_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de823becd0_0_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df29b9fb24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df29b9fb24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gdf29b9fb24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8" name="Google Shape;288;gdf29b9fb24_0_6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df29b9fb24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df29b9fb24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010981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gdf29b9fb24_0_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3" name="Google Shape;303;gdf29b9fb24_0_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3874352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7416182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72372557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2755855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296238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5659691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589271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2946102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8680604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7143073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6450110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1569642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29904629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4821299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6234005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70273184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8176631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1565367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081876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64509687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9349868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03010152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8" name="Google Shape;308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0253592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gdf6222e6af_0_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5" name="Google Shape;405;gdf6222e6af_0_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18a1909ca36_0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18a1909ca36_0_6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0" name="Google Shape;420;gdf6222e6af_0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1" name="Google Shape;421;gdf6222e6af_0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gdf29b9fb24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0" name="Google Shape;280;gdf29b9fb24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3949254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gdf6222e6af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8" name="Google Shape;448;gdf6222e6af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ge04b8b6756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3" name="Google Shape;473;ge04b8b6756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e04b8b6756_0_4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8" name="Google Shape;478;ge04b8b6756_0_4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0" name="Google Shape;130;p3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31" name="Google Shape;131;p3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32" name="Google Shape;132;p3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35" name="Google Shape;135;p3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3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3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40" name="Google Shape;140;p3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141" name="Google Shape;141;p3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3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44" name="Google Shape;144;p3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45" name="Google Shape;145;p3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9900"/>
              </a:buClr>
              <a:buSzPts val="1500"/>
              <a:buNone/>
              <a:defRPr sz="1500">
                <a:solidFill>
                  <a:srgbClr val="FF9900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146" name="Google Shape;146;p3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147" name="Google Shape;147;p3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48" name="Google Shape;148;p3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3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151" name="Google Shape;151;p3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3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3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55" name="Google Shape;155;p3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 b="1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56" name="Google Shape;156;p3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3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3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160" name="Google Shape;160;p3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161" name="Google Shape;161;p3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 rtl="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 rtl="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 rtl="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 rtl="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 rtl="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 rtl="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162" name="Google Shape;162;p3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4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4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69" name="Google Shape;169;p42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42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4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73" name="Google Shape;173;p43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4" name="Google Shape;174;p43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4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77" name="Google Shape;177;p4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8" name="Google Shape;178;p4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4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4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2" name="Google Shape;182;p4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45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184" name="Google Shape;184;p45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13" Type="http://schemas.openxmlformats.org/officeDocument/2006/relationships/slideLayout" Target="../slideLayouts/slideLayout22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12" Type="http://schemas.openxmlformats.org/officeDocument/2006/relationships/slideLayout" Target="../slideLayouts/slideLayout21.xml"/><Relationship Id="rId2" Type="http://schemas.openxmlformats.org/officeDocument/2006/relationships/slideLayout" Target="../slideLayouts/slideLayout11.xml"/><Relationship Id="rId16" Type="http://schemas.openxmlformats.org/officeDocument/2006/relationships/image" Target="../media/image1.jpg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4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19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Relationship Id="rId14" Type="http://schemas.openxmlformats.org/officeDocument/2006/relationships/slideLayout" Target="../slideLayouts/slideLayout2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1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7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6">
            <a:alphaModFix/>
          </a:blip>
          <a:stretch>
            <a:fillRect/>
          </a:stretch>
        </a:blipFill>
        <a:effectLst/>
      </p:bgPr>
    </p:bg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27" name="Google Shape;127;p3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28" name="Google Shape;128;p3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 rtl="0">
              <a:buNone/>
              <a:defRPr sz="1000">
                <a:solidFill>
                  <a:schemeClr val="dk2"/>
                </a:solidFill>
              </a:defRPr>
            </a:lvl1pPr>
            <a:lvl2pPr lvl="1" algn="r" rtl="0">
              <a:buNone/>
              <a:defRPr sz="1000">
                <a:solidFill>
                  <a:schemeClr val="dk2"/>
                </a:solidFill>
              </a:defRPr>
            </a:lvl2pPr>
            <a:lvl3pPr lvl="2" algn="r" rtl="0">
              <a:buNone/>
              <a:defRPr sz="1000">
                <a:solidFill>
                  <a:schemeClr val="dk2"/>
                </a:solidFill>
              </a:defRPr>
            </a:lvl3pPr>
            <a:lvl4pPr lvl="3" algn="r" rtl="0">
              <a:buNone/>
              <a:defRPr sz="1000">
                <a:solidFill>
                  <a:schemeClr val="dk2"/>
                </a:solidFill>
              </a:defRPr>
            </a:lvl4pPr>
            <a:lvl5pPr lvl="4" algn="r" rtl="0">
              <a:buNone/>
              <a:defRPr sz="1000">
                <a:solidFill>
                  <a:schemeClr val="dk2"/>
                </a:solidFill>
              </a:defRPr>
            </a:lvl5pPr>
            <a:lvl6pPr lvl="5" algn="r" rtl="0">
              <a:buNone/>
              <a:defRPr sz="1000">
                <a:solidFill>
                  <a:schemeClr val="dk2"/>
                </a:solidFill>
              </a:defRPr>
            </a:lvl6pPr>
            <a:lvl7pPr lvl="6" algn="r" rtl="0">
              <a:buNone/>
              <a:defRPr sz="1000">
                <a:solidFill>
                  <a:schemeClr val="dk2"/>
                </a:solidFill>
              </a:defRPr>
            </a:lvl7pPr>
            <a:lvl8pPr lvl="7" algn="r" rtl="0">
              <a:buNone/>
              <a:defRPr sz="1000">
                <a:solidFill>
                  <a:schemeClr val="dk2"/>
                </a:solidFill>
              </a:defRPr>
            </a:lvl8pPr>
            <a:lvl9pPr lvl="8" algn="r" rtl="0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12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9.pn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7.svg"/><Relationship Id="rId11" Type="http://schemas.openxmlformats.org/officeDocument/2006/relationships/image" Target="../media/image32.jpg"/><Relationship Id="rId5" Type="http://schemas.openxmlformats.org/officeDocument/2006/relationships/image" Target="../media/image26.png"/><Relationship Id="rId10" Type="http://schemas.openxmlformats.org/officeDocument/2006/relationships/image" Target="../media/image31.jpg"/><Relationship Id="rId4" Type="http://schemas.openxmlformats.org/officeDocument/2006/relationships/image" Target="../media/image25.png"/><Relationship Id="rId9" Type="http://schemas.openxmlformats.org/officeDocument/2006/relationships/image" Target="../media/image30.sv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34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drivendata.github.io/cookiecutter-data-science/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guides.github.com/introduction/flow/" TargetMode="External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trunkbaseddevelopment.com/" TargetMode="External"/><Relationship Id="rId5" Type="http://schemas.openxmlformats.org/officeDocument/2006/relationships/hyperlink" Target="https://nvie.com/posts/a-successful-git-branching-model/" TargetMode="External"/><Relationship Id="rId4" Type="http://schemas.openxmlformats.org/officeDocument/2006/relationships/hyperlink" Target="https://about.gitlab.com/topics/version-control/what-is-gitlab-flow/" TargetMode="Externa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hyperlink" Target="https://snyk.io/" TargetMode="External"/><Relationship Id="rId3" Type="http://schemas.openxmlformats.org/officeDocument/2006/relationships/hyperlink" Target="https://pypi.org/project/bandit/" TargetMode="External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pypi.org/project/safety/" TargetMode="External"/><Relationship Id="rId5" Type="http://schemas.openxmlformats.org/officeDocument/2006/relationships/image" Target="../media/image41.jpeg"/><Relationship Id="rId4" Type="http://schemas.openxmlformats.org/officeDocument/2006/relationships/image" Target="../media/image4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hypothesis.readthedocs.io/en/latest/index.html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6.png"/><Relationship Id="rId5" Type="http://schemas.openxmlformats.org/officeDocument/2006/relationships/image" Target="../media/image45.svg"/><Relationship Id="rId4" Type="http://schemas.openxmlformats.org/officeDocument/2006/relationships/image" Target="../media/image44.png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t.me/kladovaya_knig/967" TargetMode="Externa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9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47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9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49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46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otus.ru</a:t>
            </a:r>
            <a:endParaRPr dirty="0"/>
          </a:p>
        </p:txBody>
      </p:sp>
      <p:sp>
        <p:nvSpPr>
          <p:cNvPr id="190" name="Google Shape;190;p46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/>
              <a:t>ML Ops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3600" dirty="0"/>
              <a:t>Организация исходного кода</a:t>
            </a:r>
            <a:endParaRPr lang="ru-RU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47"/>
          <p:cNvSpPr txBox="1">
            <a:spLocks noGrp="1"/>
          </p:cNvSpPr>
          <p:nvPr>
            <p:ph type="title"/>
          </p:nvPr>
        </p:nvSpPr>
        <p:spPr>
          <a:xfrm>
            <a:off x="1635875" y="772125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100"/>
              <a:t>Проверить, идет ли запись</a:t>
            </a:r>
            <a:endParaRPr sz="2100"/>
          </a:p>
        </p:txBody>
      </p:sp>
      <p:sp>
        <p:nvSpPr>
          <p:cNvPr id="196" name="Google Shape;196;p47"/>
          <p:cNvSpPr txBox="1">
            <a:spLocks noGrp="1"/>
          </p:cNvSpPr>
          <p:nvPr>
            <p:ph type="title"/>
          </p:nvPr>
        </p:nvSpPr>
        <p:spPr>
          <a:xfrm>
            <a:off x="766725" y="1805199"/>
            <a:ext cx="7935300" cy="129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000"/>
              <a:t>Меня хорошо видно</a:t>
            </a:r>
            <a:endParaRPr sz="4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/>
              <a:t>&amp;&amp; слышно?</a:t>
            </a:r>
            <a:endParaRPr sz="4000"/>
          </a:p>
        </p:txBody>
      </p:sp>
      <p:pic>
        <p:nvPicPr>
          <p:cNvPr id="197" name="Google Shape;197;p47"/>
          <p:cNvPicPr preferRelativeResize="0"/>
          <p:nvPr/>
        </p:nvPicPr>
        <p:blipFill rotWithShape="1">
          <a:blip r:embed="rId3">
            <a:alphaModFix/>
          </a:blip>
          <a:srcRect l="99" r="99"/>
          <a:stretch/>
        </p:blipFill>
        <p:spPr>
          <a:xfrm>
            <a:off x="880825" y="1032408"/>
            <a:ext cx="642317" cy="32115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4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72375" y="3520050"/>
            <a:ext cx="525600" cy="525600"/>
          </a:xfrm>
          <a:prstGeom prst="rect">
            <a:avLst/>
          </a:prstGeom>
          <a:noFill/>
          <a:ln>
            <a:noFill/>
          </a:ln>
        </p:spPr>
      </p:pic>
      <p:sp>
        <p:nvSpPr>
          <p:cNvPr id="199" name="Google Shape;199;p47"/>
          <p:cNvSpPr txBox="1"/>
          <p:nvPr/>
        </p:nvSpPr>
        <p:spPr>
          <a:xfrm>
            <a:off x="1514225" y="3459600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Ставим “+”, если все хорошо</a:t>
            </a:r>
            <a:b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</a:br>
            <a: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“-”, если есть проблемы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200" b="1"/>
              <a:t>Правила вебинара</a:t>
            </a:r>
            <a:endParaRPr sz="3200" b="1"/>
          </a:p>
        </p:txBody>
      </p:sp>
      <p:pic>
        <p:nvPicPr>
          <p:cNvPr id="215" name="Google Shape;215;p4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37650" y="3951281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6" name="Google Shape;216;p4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37650" y="1281613"/>
            <a:ext cx="692621" cy="692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49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37651" y="3061406"/>
            <a:ext cx="692621" cy="692599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49"/>
          <p:cNvSpPr txBox="1"/>
          <p:nvPr/>
        </p:nvSpPr>
        <p:spPr>
          <a:xfrm>
            <a:off x="1654525" y="1252250"/>
            <a:ext cx="24753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Активно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участвуем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9" name="Google Shape;219;p49"/>
          <p:cNvSpPr txBox="1"/>
          <p:nvPr/>
        </p:nvSpPr>
        <p:spPr>
          <a:xfrm>
            <a:off x="1654525" y="306641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Задаем вопрос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latin typeface="Roboto"/>
                <a:ea typeface="Roboto"/>
                <a:cs typeface="Roboto"/>
                <a:sym typeface="Roboto"/>
              </a:rPr>
              <a:t>в чат</a:t>
            </a:r>
            <a:endParaRPr sz="1500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0" name="Google Shape;220;p49"/>
          <p:cNvSpPr txBox="1"/>
          <p:nvPr/>
        </p:nvSpPr>
        <p:spPr>
          <a:xfrm>
            <a:off x="1654525" y="3975059"/>
            <a:ext cx="3231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Вопросы вижу в чате,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могу ответить не сразу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1" name="Google Shape;221;p49"/>
          <p:cNvSpPr txBox="1"/>
          <p:nvPr/>
        </p:nvSpPr>
        <p:spPr>
          <a:xfrm>
            <a:off x="1654525" y="2049300"/>
            <a:ext cx="2475300" cy="8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Off-topic обсуждаем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в учебной группе 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latin typeface="Roboto"/>
                <a:ea typeface="Roboto"/>
                <a:cs typeface="Roboto"/>
                <a:sym typeface="Roboto"/>
              </a:rPr>
              <a:t>#</a:t>
            </a:r>
            <a:r>
              <a:rPr lang="ru" sz="1500" b="1">
                <a:latin typeface="Roboto"/>
                <a:ea typeface="Roboto"/>
                <a:cs typeface="Roboto"/>
                <a:sym typeface="Roboto"/>
              </a:rPr>
              <a:t>канал группы</a:t>
            </a:r>
            <a:endParaRPr sz="150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2" name="Google Shape;222;p49"/>
          <p:cNvSpPr/>
          <p:nvPr/>
        </p:nvSpPr>
        <p:spPr>
          <a:xfrm>
            <a:off x="6046275" y="-8050"/>
            <a:ext cx="3097500" cy="5143500"/>
          </a:xfrm>
          <a:prstGeom prst="rect">
            <a:avLst/>
          </a:prstGeom>
          <a:solidFill>
            <a:srgbClr val="21212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49"/>
          <p:cNvSpPr txBox="1"/>
          <p:nvPr/>
        </p:nvSpPr>
        <p:spPr>
          <a:xfrm>
            <a:off x="6344063" y="1052963"/>
            <a:ext cx="2044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Условные 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обозначения</a:t>
            </a:r>
            <a:endParaRPr sz="2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24" name="Google Shape;224;p49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38593" y="1912032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25" name="Google Shape;225;p49"/>
          <p:cNvSpPr txBox="1"/>
          <p:nvPr/>
        </p:nvSpPr>
        <p:spPr>
          <a:xfrm>
            <a:off x="6829363" y="1898744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Индивидуально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26" name="Google Shape;226;p49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438593" y="2392126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49"/>
          <p:cNvSpPr txBox="1"/>
          <p:nvPr/>
        </p:nvSpPr>
        <p:spPr>
          <a:xfrm>
            <a:off x="6829363" y="2291099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Время, необходимое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на активность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28" name="Google Shape;228;p49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438593" y="2872220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49"/>
          <p:cNvSpPr txBox="1"/>
          <p:nvPr/>
        </p:nvSpPr>
        <p:spPr>
          <a:xfrm>
            <a:off x="6829363" y="2873300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Пишем в чат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0" name="Google Shape;230;p49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438593" y="3352314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31" name="Google Shape;231;p49"/>
          <p:cNvSpPr txBox="1"/>
          <p:nvPr/>
        </p:nvSpPr>
        <p:spPr>
          <a:xfrm>
            <a:off x="6829363" y="3359347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Говорим голосом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2" name="Google Shape;232;p49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438593" y="3832409"/>
            <a:ext cx="330301" cy="330301"/>
          </a:xfrm>
          <a:prstGeom prst="rect">
            <a:avLst/>
          </a:prstGeom>
          <a:noFill/>
          <a:ln>
            <a:noFill/>
          </a:ln>
        </p:spPr>
      </p:pic>
      <p:sp>
        <p:nvSpPr>
          <p:cNvPr id="233" name="Google Shape;233;p49"/>
          <p:cNvSpPr txBox="1"/>
          <p:nvPr/>
        </p:nvSpPr>
        <p:spPr>
          <a:xfrm>
            <a:off x="6829363" y="3827568"/>
            <a:ext cx="2044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Документ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4" name="Google Shape;234;p49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6438593" y="4312503"/>
            <a:ext cx="330301" cy="330303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49"/>
          <p:cNvSpPr txBox="1"/>
          <p:nvPr/>
        </p:nvSpPr>
        <p:spPr>
          <a:xfrm>
            <a:off x="6829363" y="4223086"/>
            <a:ext cx="20442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Ответьте себе или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задайте вопрос</a:t>
            </a:r>
            <a:endParaRPr sz="11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37" name="Google Shape;237;p49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37650" y="2171500"/>
            <a:ext cx="692625" cy="6926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8"/>
          <p:cNvSpPr/>
          <p:nvPr/>
        </p:nvSpPr>
        <p:spPr>
          <a:xfrm>
            <a:off x="630000" y="2703050"/>
            <a:ext cx="1033800" cy="1983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6" name="Google Shape;206;p48"/>
          <p:cNvSpPr txBox="1">
            <a:spLocks noGrp="1"/>
          </p:cNvSpPr>
          <p:nvPr>
            <p:ph type="title"/>
          </p:nvPr>
        </p:nvSpPr>
        <p:spPr>
          <a:xfrm>
            <a:off x="500550" y="821219"/>
            <a:ext cx="85206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dirty="0" err="1"/>
              <a:t>MLOps</a:t>
            </a:r>
            <a:br>
              <a:rPr lang="en-US" dirty="0"/>
            </a:br>
            <a:r>
              <a:rPr lang="ru-RU" dirty="0"/>
              <a:t>Организация исходного кода</a:t>
            </a:r>
            <a:endParaRPr dirty="0"/>
          </a:p>
        </p:txBody>
      </p:sp>
      <p:sp>
        <p:nvSpPr>
          <p:cNvPr id="207" name="Google Shape;207;p48"/>
          <p:cNvSpPr txBox="1">
            <a:spLocks noGrp="1"/>
          </p:cNvSpPr>
          <p:nvPr>
            <p:ph type="subTitle" idx="1"/>
          </p:nvPr>
        </p:nvSpPr>
        <p:spPr>
          <a:xfrm>
            <a:off x="500550" y="520133"/>
            <a:ext cx="7796700" cy="35692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Тема вебинара</a:t>
            </a:r>
            <a:endParaRPr dirty="0"/>
          </a:p>
        </p:txBody>
      </p:sp>
      <p:sp>
        <p:nvSpPr>
          <p:cNvPr id="208" name="Google Shape;208;p48"/>
          <p:cNvSpPr txBox="1">
            <a:spLocks noGrp="1"/>
          </p:cNvSpPr>
          <p:nvPr>
            <p:ph type="subTitle" idx="2"/>
          </p:nvPr>
        </p:nvSpPr>
        <p:spPr>
          <a:xfrm>
            <a:off x="3082400" y="2703052"/>
            <a:ext cx="5856300" cy="396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sp>
        <p:nvSpPr>
          <p:cNvPr id="209" name="Google Shape;209;p48"/>
          <p:cNvSpPr txBox="1">
            <a:spLocks noGrp="1"/>
          </p:cNvSpPr>
          <p:nvPr>
            <p:ph type="subTitle" idx="3"/>
          </p:nvPr>
        </p:nvSpPr>
        <p:spPr>
          <a:xfrm>
            <a:off x="3082400" y="3162350"/>
            <a:ext cx="5095500" cy="152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 err="1"/>
              <a:t>Teamlead</a:t>
            </a:r>
            <a:r>
              <a:rPr lang="ru-RU" sz="1150" b="1" dirty="0"/>
              <a:t>, главный инженер проекта –</a:t>
            </a:r>
            <a:r>
              <a:rPr lang="en-US" sz="1150" b="1" dirty="0"/>
              <a:t> </a:t>
            </a:r>
            <a:r>
              <a:rPr lang="ru-RU" sz="1150" b="1" dirty="0" err="1"/>
              <a:t>НИИгазэкономика</a:t>
            </a:r>
            <a:endParaRPr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50" b="1" dirty="0"/>
              <a:t>Опыт:</a:t>
            </a: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dirty="0"/>
              <a:t>Б</a:t>
            </a:r>
            <a:r>
              <a:rPr lang="ru" sz="1150" dirty="0"/>
              <a:t>олее 15 лет занимался прикладной математикой и мат моделированием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50" dirty="0"/>
              <a:t>(Data Scientist) (Python, С++) в НИИ ПАО Газпром</a:t>
            </a: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50" dirty="0"/>
              <a:t>Анализ временных рядов, эволюционное развитие сложных систем</a:t>
            </a: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50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150" b="1" dirty="0"/>
              <a:t>+7 (916) 156-07-82 (</a:t>
            </a:r>
            <a:r>
              <a:rPr lang="en-US" sz="1150" b="1" dirty="0" err="1"/>
              <a:t>whatsapp</a:t>
            </a:r>
            <a:r>
              <a:rPr lang="en-US" sz="1150" b="1" dirty="0"/>
              <a:t>)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/>
              <a:t>@</a:t>
            </a:r>
            <a:r>
              <a:rPr lang="en-US" sz="1150" b="1" dirty="0" err="1"/>
              <a:t>stureiko</a:t>
            </a:r>
            <a:r>
              <a:rPr lang="en-US" sz="1150" b="1" dirty="0"/>
              <a:t> (TG)</a:t>
            </a:r>
            <a:endParaRPr sz="1150" b="1" dirty="0"/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99A103C-F3B2-9942-BE61-45E26582D7F9}"/>
              </a:ext>
            </a:extLst>
          </p:cNvPr>
          <p:cNvSpPr/>
          <p:nvPr/>
        </p:nvSpPr>
        <p:spPr>
          <a:xfrm>
            <a:off x="827107" y="2871470"/>
            <a:ext cx="1673385" cy="1646760"/>
          </a:xfrm>
          <a:prstGeom prst="ellipse">
            <a:avLst/>
          </a:prstGeom>
          <a:blipFill>
            <a:blip r:embed="rId3"/>
            <a:stretch>
              <a:fillRect/>
            </a:stretch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5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Карта курса</a:t>
            </a:r>
            <a:endParaRPr dirty="0"/>
          </a:p>
        </p:txBody>
      </p:sp>
      <p:sp>
        <p:nvSpPr>
          <p:cNvPr id="250" name="Google Shape;250;p51"/>
          <p:cNvSpPr/>
          <p:nvPr/>
        </p:nvSpPr>
        <p:spPr>
          <a:xfrm>
            <a:off x="3722315" y="603032"/>
            <a:ext cx="24732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  <a:effectLst>
            <a:glow rad="139700">
              <a:schemeClr val="accent1">
                <a:satMod val="175000"/>
                <a:alpha val="40000"/>
              </a:schemeClr>
            </a:glo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600" dirty="0">
                <a:solidFill>
                  <a:srgbClr val="1F1F1F"/>
                </a:solidFill>
                <a:latin typeface="Google Sans"/>
              </a:rPr>
              <a:t>Процессы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251" name="Google Shape;251;p51"/>
          <p:cNvSpPr/>
          <p:nvPr/>
        </p:nvSpPr>
        <p:spPr>
          <a:xfrm>
            <a:off x="1249115" y="1492388"/>
            <a:ext cx="24732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600" dirty="0">
                <a:solidFill>
                  <a:srgbClr val="1F1F1F"/>
                </a:solidFill>
                <a:latin typeface="Google Sans"/>
              </a:rPr>
              <a:t>Инфраструктура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252" name="Google Shape;252;p51"/>
          <p:cNvSpPr/>
          <p:nvPr/>
        </p:nvSpPr>
        <p:spPr>
          <a:xfrm>
            <a:off x="5069400" y="1503226"/>
            <a:ext cx="24732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600" dirty="0">
                <a:solidFill>
                  <a:srgbClr val="1F1F1F"/>
                </a:solidFill>
                <a:latin typeface="Google Sans"/>
              </a:rPr>
              <a:t>Подготовка данных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sp>
        <p:nvSpPr>
          <p:cNvPr id="253" name="Google Shape;253;p51"/>
          <p:cNvSpPr/>
          <p:nvPr/>
        </p:nvSpPr>
        <p:spPr>
          <a:xfrm>
            <a:off x="1249115" y="2571750"/>
            <a:ext cx="24732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0" i="0" u="none" strike="noStrike" dirty="0" err="1">
                <a:solidFill>
                  <a:srgbClr val="1F1F1F"/>
                </a:solidFill>
                <a:effectLst/>
                <a:latin typeface="Google Sans"/>
              </a:rPr>
              <a:t>Валидация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54" name="Google Shape;254;p51"/>
          <p:cNvSpPr/>
          <p:nvPr/>
        </p:nvSpPr>
        <p:spPr>
          <a:xfrm>
            <a:off x="5186234" y="2571750"/>
            <a:ext cx="24732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600" dirty="0">
                <a:solidFill>
                  <a:srgbClr val="1F1F1F"/>
                </a:solidFill>
                <a:latin typeface="Google Sans"/>
              </a:rPr>
              <a:t>Моделирование</a:t>
            </a:r>
            <a:endParaRPr sz="1600" dirty="0">
              <a:solidFill>
                <a:srgbClr val="1F1F1F"/>
              </a:solidFill>
              <a:latin typeface="Google Sans"/>
              <a:sym typeface="Roboto"/>
            </a:endParaRPr>
          </a:p>
        </p:txBody>
      </p:sp>
      <p:cxnSp>
        <p:nvCxnSpPr>
          <p:cNvPr id="255" name="Google Shape;255;p51"/>
          <p:cNvCxnSpPr>
            <a:cxnSpLocks/>
            <a:stCxn id="251" idx="3"/>
            <a:endCxn id="252" idx="1"/>
          </p:cNvCxnSpPr>
          <p:nvPr/>
        </p:nvCxnSpPr>
        <p:spPr>
          <a:xfrm>
            <a:off x="3722315" y="1782038"/>
            <a:ext cx="1347085" cy="10838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56" name="Google Shape;256;p51"/>
          <p:cNvCxnSpPr>
            <a:stCxn id="250" idx="1"/>
            <a:endCxn id="251" idx="1"/>
          </p:cNvCxnSpPr>
          <p:nvPr/>
        </p:nvCxnSpPr>
        <p:spPr>
          <a:xfrm rot="10800000" flipV="1">
            <a:off x="1249115" y="892682"/>
            <a:ext cx="2473200" cy="889356"/>
          </a:xfrm>
          <a:prstGeom prst="curvedConnector3">
            <a:avLst>
              <a:gd name="adj1" fmla="val 109243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58" name="Google Shape;258;p51"/>
          <p:cNvCxnSpPr>
            <a:cxnSpLocks/>
            <a:stCxn id="252" idx="3"/>
            <a:endCxn id="254" idx="3"/>
          </p:cNvCxnSpPr>
          <p:nvPr/>
        </p:nvCxnSpPr>
        <p:spPr>
          <a:xfrm>
            <a:off x="7542600" y="1792876"/>
            <a:ext cx="116834" cy="1068524"/>
          </a:xfrm>
          <a:prstGeom prst="curvedConnector3">
            <a:avLst>
              <a:gd name="adj1" fmla="val 295662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59" name="Google Shape;259;p51"/>
          <p:cNvCxnSpPr>
            <a:cxnSpLocks/>
            <a:stCxn id="254" idx="1"/>
            <a:endCxn id="253" idx="3"/>
          </p:cNvCxnSpPr>
          <p:nvPr/>
        </p:nvCxnSpPr>
        <p:spPr>
          <a:xfrm rot="10800000">
            <a:off x="3722316" y="2861400"/>
            <a:ext cx="1463919" cy="12700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2" name="Google Shape;253;p51">
            <a:extLst>
              <a:ext uri="{FF2B5EF4-FFF2-40B4-BE49-F238E27FC236}">
                <a16:creationId xmlns:a16="http://schemas.microsoft.com/office/drawing/2014/main" id="{B3FC62D5-C5AE-824D-ADAA-57941C457A4E}"/>
              </a:ext>
            </a:extLst>
          </p:cNvPr>
          <p:cNvSpPr/>
          <p:nvPr/>
        </p:nvSpPr>
        <p:spPr>
          <a:xfrm>
            <a:off x="1249115" y="3805539"/>
            <a:ext cx="24732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0" i="0" u="none" strike="noStrike" dirty="0">
                <a:solidFill>
                  <a:srgbClr val="1F1F1F"/>
                </a:solidFill>
                <a:effectLst/>
                <a:latin typeface="Google Sans"/>
              </a:rPr>
              <a:t>Развертывание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" name="Google Shape;253;p51">
            <a:extLst>
              <a:ext uri="{FF2B5EF4-FFF2-40B4-BE49-F238E27FC236}">
                <a16:creationId xmlns:a16="http://schemas.microsoft.com/office/drawing/2014/main" id="{9924AB3F-1AEF-F848-9D7C-F38C9B025689}"/>
              </a:ext>
            </a:extLst>
          </p:cNvPr>
          <p:cNvSpPr/>
          <p:nvPr/>
        </p:nvSpPr>
        <p:spPr>
          <a:xfrm>
            <a:off x="5186234" y="3805539"/>
            <a:ext cx="2473200" cy="5793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0" i="0" u="none" strike="noStrike" dirty="0">
                <a:solidFill>
                  <a:srgbClr val="1F1F1F"/>
                </a:solidFill>
                <a:effectLst/>
                <a:latin typeface="Google Sans"/>
              </a:rPr>
              <a:t>Мониторинг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2" name="Google Shape;259;p51">
            <a:extLst>
              <a:ext uri="{FF2B5EF4-FFF2-40B4-BE49-F238E27FC236}">
                <a16:creationId xmlns:a16="http://schemas.microsoft.com/office/drawing/2014/main" id="{802B18A3-E83D-F444-B857-2893607805DC}"/>
              </a:ext>
            </a:extLst>
          </p:cNvPr>
          <p:cNvCxnSpPr>
            <a:cxnSpLocks/>
            <a:stCxn id="253" idx="1"/>
            <a:endCxn id="12" idx="1"/>
          </p:cNvCxnSpPr>
          <p:nvPr/>
        </p:nvCxnSpPr>
        <p:spPr>
          <a:xfrm rot="10800000" flipV="1">
            <a:off x="1249115" y="2861399"/>
            <a:ext cx="12700" cy="1233789"/>
          </a:xfrm>
          <a:prstGeom prst="curvedConnector3">
            <a:avLst>
              <a:gd name="adj1" fmla="val 180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5" name="Google Shape;259;p51">
            <a:extLst>
              <a:ext uri="{FF2B5EF4-FFF2-40B4-BE49-F238E27FC236}">
                <a16:creationId xmlns:a16="http://schemas.microsoft.com/office/drawing/2014/main" id="{6B4DE7E8-0EA0-BA42-9D3D-0717B2F5CF88}"/>
              </a:ext>
            </a:extLst>
          </p:cNvPr>
          <p:cNvCxnSpPr>
            <a:cxnSpLocks/>
            <a:stCxn id="21" idx="1"/>
            <a:endCxn id="12" idx="3"/>
          </p:cNvCxnSpPr>
          <p:nvPr/>
        </p:nvCxnSpPr>
        <p:spPr>
          <a:xfrm rot="10800000">
            <a:off x="3722316" y="4095189"/>
            <a:ext cx="1463919" cy="12700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5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Маршрут вебинара</a:t>
            </a:r>
            <a:endParaRPr dirty="0"/>
          </a:p>
        </p:txBody>
      </p:sp>
      <p:sp>
        <p:nvSpPr>
          <p:cNvPr id="267" name="Google Shape;267;p52"/>
          <p:cNvSpPr/>
          <p:nvPr/>
        </p:nvSpPr>
        <p:spPr>
          <a:xfrm>
            <a:off x="786525" y="1205525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Знакомство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8" name="Google Shape;268;p52"/>
          <p:cNvSpPr/>
          <p:nvPr/>
        </p:nvSpPr>
        <p:spPr>
          <a:xfrm>
            <a:off x="787125" y="1795027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Каким должен быть хороший код?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69" name="Google Shape;269;p52"/>
          <p:cNvSpPr/>
          <p:nvPr/>
        </p:nvSpPr>
        <p:spPr>
          <a:xfrm>
            <a:off x="787125" y="2372042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Практики </a:t>
            </a:r>
            <a:r>
              <a:rPr lang="en-US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Software Engineering</a:t>
            </a:r>
          </a:p>
        </p:txBody>
      </p:sp>
      <p:sp>
        <p:nvSpPr>
          <p:cNvPr id="270" name="Google Shape;270;p52"/>
          <p:cNvSpPr/>
          <p:nvPr/>
        </p:nvSpPr>
        <p:spPr>
          <a:xfrm>
            <a:off x="786525" y="2949064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Организация и хранение</a:t>
            </a:r>
          </a:p>
        </p:txBody>
      </p:sp>
      <p:sp>
        <p:nvSpPr>
          <p:cNvPr id="271" name="Google Shape;271;p52"/>
          <p:cNvSpPr/>
          <p:nvPr/>
        </p:nvSpPr>
        <p:spPr>
          <a:xfrm>
            <a:off x="786525" y="3526100"/>
            <a:ext cx="3384900" cy="376200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300" dirty="0" err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Версионирование</a:t>
            </a: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и отслеживание</a:t>
            </a:r>
            <a:endParaRPr sz="1300" dirty="0"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273" name="Google Shape;273;p52"/>
          <p:cNvCxnSpPr>
            <a:stCxn id="267" idx="1"/>
            <a:endCxn id="268" idx="1"/>
          </p:cNvCxnSpPr>
          <p:nvPr/>
        </p:nvCxnSpPr>
        <p:spPr>
          <a:xfrm>
            <a:off x="786525" y="1393625"/>
            <a:ext cx="600" cy="589500"/>
          </a:xfrm>
          <a:prstGeom prst="curvedConnector3">
            <a:avLst>
              <a:gd name="adj1" fmla="val -396875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stealth" w="med" len="med"/>
          </a:ln>
        </p:spPr>
      </p:cxnSp>
      <p:cxnSp>
        <p:nvCxnSpPr>
          <p:cNvPr id="274" name="Google Shape;274;p52"/>
          <p:cNvCxnSpPr>
            <a:stCxn id="268" idx="1"/>
            <a:endCxn id="269" idx="1"/>
          </p:cNvCxnSpPr>
          <p:nvPr/>
        </p:nvCxnSpPr>
        <p:spPr>
          <a:xfrm>
            <a:off x="787125" y="1983127"/>
            <a:ext cx="600" cy="576900"/>
          </a:xfrm>
          <a:prstGeom prst="curvedConnector3">
            <a:avLst>
              <a:gd name="adj1" fmla="val -396875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stealth" w="med" len="med"/>
          </a:ln>
        </p:spPr>
      </p:cxnSp>
      <p:cxnSp>
        <p:nvCxnSpPr>
          <p:cNvPr id="275" name="Google Shape;275;p52"/>
          <p:cNvCxnSpPr>
            <a:stCxn id="269" idx="1"/>
            <a:endCxn id="270" idx="1"/>
          </p:cNvCxnSpPr>
          <p:nvPr/>
        </p:nvCxnSpPr>
        <p:spPr>
          <a:xfrm flipH="1">
            <a:off x="786525" y="2560142"/>
            <a:ext cx="600" cy="576900"/>
          </a:xfrm>
          <a:prstGeom prst="curvedConnector3">
            <a:avLst>
              <a:gd name="adj1" fmla="val 397875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stealth" w="med" len="med"/>
          </a:ln>
        </p:spPr>
      </p:cxnSp>
      <p:cxnSp>
        <p:nvCxnSpPr>
          <p:cNvPr id="276" name="Google Shape;276;p52"/>
          <p:cNvCxnSpPr>
            <a:stCxn id="270" idx="1"/>
            <a:endCxn id="271" idx="1"/>
          </p:cNvCxnSpPr>
          <p:nvPr/>
        </p:nvCxnSpPr>
        <p:spPr>
          <a:xfrm>
            <a:off x="786525" y="3137164"/>
            <a:ext cx="600" cy="576900"/>
          </a:xfrm>
          <a:prstGeom prst="curvedConnector3">
            <a:avLst>
              <a:gd name="adj1" fmla="val -396875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stealth" w="med" len="med"/>
          </a:ln>
        </p:spPr>
      </p:cxnSp>
      <p:sp>
        <p:nvSpPr>
          <p:cNvPr id="14" name="Google Shape;271;p52">
            <a:extLst>
              <a:ext uri="{FF2B5EF4-FFF2-40B4-BE49-F238E27FC236}">
                <a16:creationId xmlns:a16="http://schemas.microsoft.com/office/drawing/2014/main" id="{03AE55B2-BCF2-4443-9F2B-0F282BF00732}"/>
              </a:ext>
            </a:extLst>
          </p:cNvPr>
          <p:cNvSpPr/>
          <p:nvPr/>
        </p:nvSpPr>
        <p:spPr>
          <a:xfrm>
            <a:off x="786525" y="4103135"/>
            <a:ext cx="3384900" cy="376201"/>
          </a:xfrm>
          <a:prstGeom prst="roundRect">
            <a:avLst>
              <a:gd name="adj" fmla="val 16667"/>
            </a:avLst>
          </a:prstGeom>
          <a:solidFill>
            <a:srgbClr val="FFD966"/>
          </a:solidFill>
          <a:ln>
            <a:noFill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r>
              <a:rPr lang="ru-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Логирование</a:t>
            </a:r>
            <a:r>
              <a:rPr lang="ru-RU" sz="13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и тестирование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5" name="Google Shape;276;p52">
            <a:extLst>
              <a:ext uri="{FF2B5EF4-FFF2-40B4-BE49-F238E27FC236}">
                <a16:creationId xmlns:a16="http://schemas.microsoft.com/office/drawing/2014/main" id="{DA4704EA-4F3E-FD4F-832E-5DB8F19516B7}"/>
              </a:ext>
            </a:extLst>
          </p:cNvPr>
          <p:cNvCxnSpPr/>
          <p:nvPr/>
        </p:nvCxnSpPr>
        <p:spPr>
          <a:xfrm>
            <a:off x="762378" y="3714336"/>
            <a:ext cx="600" cy="576900"/>
          </a:xfrm>
          <a:prstGeom prst="curvedConnector3">
            <a:avLst>
              <a:gd name="adj1" fmla="val -39687500"/>
            </a:avLst>
          </a:prstGeom>
          <a:noFill/>
          <a:ln w="9525" cap="flat" cmpd="sng">
            <a:solidFill>
              <a:schemeClr val="dk1"/>
            </a:solidFill>
            <a:prstDash val="dash"/>
            <a:round/>
            <a:headEnd type="none" w="med" len="med"/>
            <a:tailEnd type="stealth" w="med" len="med"/>
          </a:ln>
        </p:spPr>
      </p:cxnSp>
      <p:pic>
        <p:nvPicPr>
          <p:cNvPr id="5" name="Picture 4">
            <a:extLst>
              <a:ext uri="{FF2B5EF4-FFF2-40B4-BE49-F238E27FC236}">
                <a16:creationId xmlns:a16="http://schemas.microsoft.com/office/drawing/2014/main" id="{C9F58217-1499-8E47-9222-D764992F03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5587" y="1205525"/>
            <a:ext cx="3336035" cy="330514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5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Цели вебинара</a:t>
            </a:r>
            <a:endParaRPr/>
          </a:p>
        </p:txBody>
      </p:sp>
      <p:graphicFrame>
        <p:nvGraphicFramePr>
          <p:cNvPr id="283" name="Google Shape;283;p53"/>
          <p:cNvGraphicFramePr/>
          <p:nvPr>
            <p:extLst>
              <p:ext uri="{D42A27DB-BD31-4B8C-83A1-F6EECF244321}">
                <p14:modId xmlns:p14="http://schemas.microsoft.com/office/powerpoint/2010/main" val="3473223633"/>
              </p:ext>
            </p:extLst>
          </p:nvPr>
        </p:nvGraphicFramePr>
        <p:xfrm>
          <a:off x="952500" y="1544194"/>
          <a:ext cx="7239000" cy="1047912"/>
        </p:xfrm>
        <a:graphic>
          <a:graphicData uri="http://schemas.openxmlformats.org/drawingml/2006/table">
            <a:tbl>
              <a:tblPr>
                <a:noFill/>
                <a:tableStyleId>{B623574C-9AE7-4070-A081-93A97D88BCA6}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Понять что такое качественный / «хороший» код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r>
                        <a:rPr lang="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Понять почему это важно</a:t>
                      </a:r>
                      <a:endParaRPr lang="en-GB"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Познакомиться с лучшими практиками</a:t>
                      </a:r>
                      <a:endParaRPr lang="en-GB"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13194038"/>
                  </a:ext>
                </a:extLst>
              </a:tr>
            </a:tbl>
          </a:graphicData>
        </a:graphic>
      </p:graphicFrame>
      <p:sp>
        <p:nvSpPr>
          <p:cNvPr id="285" name="Google Shape;285;p53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К концу занятия вы сможете</a:t>
            </a:r>
            <a:endParaRPr sz="1500" b="1">
              <a:solidFill>
                <a:srgbClr val="FF990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p5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Смысл</a:t>
            </a:r>
            <a:endParaRPr/>
          </a:p>
        </p:txBody>
      </p:sp>
      <p:graphicFrame>
        <p:nvGraphicFramePr>
          <p:cNvPr id="291" name="Google Shape;291;p54"/>
          <p:cNvGraphicFramePr/>
          <p:nvPr>
            <p:extLst>
              <p:ext uri="{D42A27DB-BD31-4B8C-83A1-F6EECF244321}">
                <p14:modId xmlns:p14="http://schemas.microsoft.com/office/powerpoint/2010/main" val="3710664253"/>
              </p:ext>
            </p:extLst>
          </p:nvPr>
        </p:nvGraphicFramePr>
        <p:xfrm>
          <a:off x="952500" y="1544194"/>
          <a:ext cx="7239000" cy="698608"/>
        </p:xfrm>
        <a:graphic>
          <a:graphicData uri="http://schemas.openxmlformats.org/drawingml/2006/table">
            <a:tbl>
              <a:tblPr>
                <a:noFill/>
                <a:tableStyleId>{B623574C-9AE7-4070-A081-93A97D88BCA6}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Работать в команде с большими массивами данных и кода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Поддерживать проекты после их выхода в </a:t>
                      </a:r>
                      <a:r>
                        <a:rPr lang="ru-RU" sz="1300" dirty="0" err="1">
                          <a:latin typeface="Roboto"/>
                          <a:ea typeface="Roboto"/>
                          <a:cs typeface="Roboto"/>
                          <a:sym typeface="Roboto"/>
                        </a:rPr>
                        <a:t>прод</a:t>
                      </a: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 и ухода из команды автора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>
                          <a:alpha val="0"/>
                        </a:scheme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93" name="Google Shape;293;p54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Зачем вам это уметь</a:t>
            </a:r>
            <a:endParaRPr sz="1500" b="1">
              <a:solidFill>
                <a:srgbClr val="FF9900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6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4900" dirty="0"/>
              <a:t>Каким должен быть код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38450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54795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Каким должен быть ваш код?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03A304-EFF9-C443-82B1-DEC28AFFC567}"/>
              </a:ext>
            </a:extLst>
          </p:cNvPr>
          <p:cNvSpPr txBox="1"/>
          <p:nvPr/>
        </p:nvSpPr>
        <p:spPr>
          <a:xfrm>
            <a:off x="500550" y="1053842"/>
            <a:ext cx="4027064" cy="387798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/>
              <a:t>Чистый: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/>
              <a:t>читаемый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/>
              <a:t>понятный вам и вашим коллегам</a:t>
            </a:r>
          </a:p>
          <a:p>
            <a:pPr>
              <a:spcBef>
                <a:spcPts val="1200"/>
              </a:spcBef>
            </a:pPr>
            <a:r>
              <a:rPr lang="ru-RU" sz="1800" b="1" dirty="0"/>
              <a:t>Эффективный: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/>
              <a:t>модульный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 err="1"/>
              <a:t>переиспользуемый</a:t>
            </a:r>
            <a:endParaRPr lang="ru-RU" sz="18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/>
              <a:t>организованный</a:t>
            </a:r>
          </a:p>
          <a:p>
            <a:pPr>
              <a:spcBef>
                <a:spcPts val="1200"/>
              </a:spcBef>
            </a:pPr>
            <a:r>
              <a:rPr lang="en-US" sz="1800" b="1" dirty="0"/>
              <a:t>Production-ready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/>
              <a:t>контроль зависимостей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/>
              <a:t>покрыт тестами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800" dirty="0"/>
              <a:t>переносимый</a:t>
            </a:r>
          </a:p>
          <a:p>
            <a:pPr>
              <a:spcBef>
                <a:spcPts val="1200"/>
              </a:spcBef>
            </a:pPr>
            <a:r>
              <a:rPr lang="ru-RU" sz="1800" b="1" dirty="0"/>
              <a:t>Безопасный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56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4900" dirty="0"/>
              <a:t>Организация кода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646571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Организация кода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E1AC6C-E1CD-BC46-8BDC-05838EDA640C}"/>
              </a:ext>
            </a:extLst>
          </p:cNvPr>
          <p:cNvSpPr txBox="1"/>
          <p:nvPr/>
        </p:nvSpPr>
        <p:spPr>
          <a:xfrm>
            <a:off x="336550" y="1104900"/>
            <a:ext cx="8578850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000" b="1" dirty="0">
                <a:effectLst/>
                <a:latin typeface="ArialMT"/>
              </a:rPr>
              <a:t>Типовые вопросы: </a:t>
            </a:r>
            <a:endParaRPr lang="ru-RU" sz="1600" b="1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effectLst/>
                <a:latin typeface="ArialMT"/>
              </a:rPr>
              <a:t>где лежат исходные коды? </a:t>
            </a:r>
            <a:endParaRPr lang="ru-RU" sz="1600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effectLst/>
                <a:latin typeface="ArialMT"/>
              </a:rPr>
              <a:t>как запустить у себя на компьютере / в облаке? </a:t>
            </a:r>
            <a:endParaRPr lang="ru-RU" sz="1600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effectLst/>
                <a:latin typeface="ArialMT"/>
              </a:rPr>
              <a:t>как корректно вносить изменения в код? </a:t>
            </a:r>
            <a:endParaRPr lang="ru-RU" sz="1600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effectLst/>
                <a:latin typeface="ArialMT"/>
              </a:rPr>
              <a:t>какие требования к новому коду? </a:t>
            </a:r>
            <a:endParaRPr lang="ru-RU" sz="1600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effectLst/>
                <a:latin typeface="ArialMT"/>
              </a:rPr>
              <a:t>куда сохранить </a:t>
            </a:r>
            <a:r>
              <a:rPr lang="ru-RU" sz="2000" dirty="0" err="1">
                <a:effectLst/>
                <a:latin typeface="ArialMT"/>
              </a:rPr>
              <a:t>новыи</a:t>
            </a:r>
            <a:r>
              <a:rPr lang="ru-RU" sz="2000" dirty="0">
                <a:effectLst/>
                <a:latin typeface="ArialMT"/>
              </a:rPr>
              <a:t>̆ </a:t>
            </a:r>
            <a:r>
              <a:rPr lang="ru-RU" sz="2000" dirty="0" err="1">
                <a:effectLst/>
                <a:latin typeface="ArialMT"/>
              </a:rPr>
              <a:t>файл</a:t>
            </a:r>
            <a:r>
              <a:rPr lang="ru-RU" sz="2000" dirty="0">
                <a:effectLst/>
                <a:latin typeface="ArialMT"/>
              </a:rPr>
              <a:t>? </a:t>
            </a:r>
            <a:endParaRPr lang="ru-RU" sz="1600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effectLst/>
                <a:latin typeface="ArialMT"/>
              </a:rPr>
              <a:t>как проверить, что ничего не сломалось? </a:t>
            </a:r>
            <a:endParaRPr lang="ru-RU" sz="16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5976848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Организация кода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CE1AC6C-E1CD-BC46-8BDC-05838EDA640C}"/>
              </a:ext>
            </a:extLst>
          </p:cNvPr>
          <p:cNvSpPr txBox="1"/>
          <p:nvPr/>
        </p:nvSpPr>
        <p:spPr>
          <a:xfrm>
            <a:off x="336550" y="1104900"/>
            <a:ext cx="8578850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000" b="1" dirty="0">
                <a:effectLst/>
                <a:latin typeface="ArialMT"/>
              </a:rPr>
              <a:t>Типовые вопросы: </a:t>
            </a:r>
            <a:endParaRPr lang="ru-RU" sz="1600" b="1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effectLst/>
                <a:latin typeface="ArialMT"/>
              </a:rPr>
              <a:t>где лежат исходные коды? </a:t>
            </a:r>
            <a:endParaRPr lang="ru-RU" sz="1600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effectLst/>
                <a:latin typeface="ArialMT"/>
              </a:rPr>
              <a:t>как запустить у себя на компьютере / в облаке? </a:t>
            </a:r>
            <a:endParaRPr lang="ru-RU" sz="1600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effectLst/>
                <a:latin typeface="ArialMT"/>
              </a:rPr>
              <a:t>как корректно вносить изменения в код? </a:t>
            </a:r>
            <a:endParaRPr lang="ru-RU" sz="1600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effectLst/>
                <a:latin typeface="ArialMT"/>
              </a:rPr>
              <a:t>какие требования к новому коду? </a:t>
            </a:r>
            <a:endParaRPr lang="ru-RU" sz="1600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effectLst/>
                <a:latin typeface="ArialMT"/>
              </a:rPr>
              <a:t>куда сохранить </a:t>
            </a:r>
            <a:r>
              <a:rPr lang="ru-RU" sz="2000" dirty="0" err="1">
                <a:effectLst/>
                <a:latin typeface="ArialMT"/>
              </a:rPr>
              <a:t>новыи</a:t>
            </a:r>
            <a:r>
              <a:rPr lang="ru-RU" sz="2000" dirty="0">
                <a:effectLst/>
                <a:latin typeface="ArialMT"/>
              </a:rPr>
              <a:t>̆ </a:t>
            </a:r>
            <a:r>
              <a:rPr lang="ru-RU" sz="2000" dirty="0" err="1">
                <a:effectLst/>
                <a:latin typeface="ArialMT"/>
              </a:rPr>
              <a:t>файл</a:t>
            </a:r>
            <a:r>
              <a:rPr lang="ru-RU" sz="2000" dirty="0">
                <a:effectLst/>
                <a:latin typeface="ArialMT"/>
              </a:rPr>
              <a:t>? </a:t>
            </a:r>
            <a:endParaRPr lang="ru-RU" sz="1600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effectLst/>
                <a:latin typeface="ArialMT"/>
              </a:rPr>
              <a:t>как проверить, что ничего не сломалось? </a:t>
            </a:r>
            <a:endParaRPr lang="ru-RU" sz="1600" dirty="0">
              <a:effectLst/>
            </a:endParaRPr>
          </a:p>
          <a:p>
            <a:endParaRPr lang="ru-RU" sz="2000" dirty="0">
              <a:effectLst/>
              <a:latin typeface="ArialMT"/>
            </a:endParaRPr>
          </a:p>
          <a:p>
            <a:r>
              <a:rPr lang="ru-RU" sz="2000" dirty="0">
                <a:effectLst/>
                <a:latin typeface="ArialMT"/>
              </a:rPr>
              <a:t>Совет - создать </a:t>
            </a:r>
            <a:r>
              <a:rPr lang="ru-RU" sz="2000" dirty="0" err="1">
                <a:effectLst/>
                <a:latin typeface="ArialMT"/>
              </a:rPr>
              <a:t>файл</a:t>
            </a:r>
            <a:r>
              <a:rPr lang="ru-RU" sz="2000" dirty="0">
                <a:effectLst/>
                <a:latin typeface="ArialMT"/>
              </a:rPr>
              <a:t> </a:t>
            </a:r>
            <a:r>
              <a:rPr lang="en-GB" sz="2000" dirty="0" err="1">
                <a:effectLst/>
                <a:latin typeface="ArialMT"/>
              </a:rPr>
              <a:t>CONTRIBUTING.md</a:t>
            </a:r>
            <a:r>
              <a:rPr lang="en-GB" sz="2000" dirty="0">
                <a:effectLst/>
                <a:latin typeface="ArialMT"/>
              </a:rPr>
              <a:t> / </a:t>
            </a:r>
            <a:r>
              <a:rPr lang="en-GB" sz="2000" dirty="0" err="1">
                <a:effectLst/>
                <a:latin typeface="ArialMT"/>
              </a:rPr>
              <a:t>README.md</a:t>
            </a:r>
            <a:r>
              <a:rPr lang="en-GB" sz="2000" dirty="0">
                <a:effectLst/>
                <a:latin typeface="ArialMT"/>
              </a:rPr>
              <a:t> </a:t>
            </a:r>
            <a:r>
              <a:rPr lang="ru-RU" sz="2000" dirty="0">
                <a:effectLst/>
                <a:latin typeface="ArialMT"/>
              </a:rPr>
              <a:t>в </a:t>
            </a:r>
            <a:r>
              <a:rPr lang="ru-RU" sz="2000" dirty="0" err="1">
                <a:effectLst/>
                <a:latin typeface="ArialMT"/>
              </a:rPr>
              <a:t>репозитории</a:t>
            </a:r>
            <a:r>
              <a:rPr lang="ru-RU" sz="2000" dirty="0">
                <a:effectLst/>
                <a:latin typeface="ArialMT"/>
              </a:rPr>
              <a:t>, с ответами на эти вопросы </a:t>
            </a:r>
            <a:endParaRPr lang="ru-RU" sz="16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1110185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B21D1EA-1118-E24A-A99D-E2858E86A6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2250" y="946150"/>
            <a:ext cx="3251200" cy="3251200"/>
          </a:xfrm>
          <a:prstGeom prst="rect">
            <a:avLst/>
          </a:prstGeom>
        </p:spPr>
      </p:pic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Чистый код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9133B27-E3B2-CC4A-812D-CA3E238CD332}"/>
              </a:ext>
            </a:extLst>
          </p:cNvPr>
          <p:cNvSpPr txBox="1"/>
          <p:nvPr/>
        </p:nvSpPr>
        <p:spPr>
          <a:xfrm>
            <a:off x="241300" y="1250950"/>
            <a:ext cx="8724900" cy="259782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800" dirty="0">
                <a:effectLst/>
                <a:latin typeface="ArialMT"/>
              </a:rPr>
              <a:t>Названия переменных 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800" dirty="0">
                <a:effectLst/>
                <a:latin typeface="ArialMT"/>
              </a:rPr>
              <a:t>Комментарии</a:t>
            </a: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800" dirty="0">
                <a:effectLst/>
                <a:latin typeface="ArialMT"/>
              </a:rPr>
              <a:t>Документирование</a:t>
            </a:r>
            <a:r>
              <a:rPr lang="en-US" sz="2800" dirty="0">
                <a:effectLst/>
                <a:latin typeface="ArialMT"/>
              </a:rPr>
              <a:t> (Sphinx)</a:t>
            </a:r>
            <a:endParaRPr lang="ru-RU" sz="2800" dirty="0">
              <a:latin typeface="ArialMT"/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800" dirty="0">
                <a:effectLst/>
                <a:latin typeface="ArialMT"/>
              </a:rPr>
              <a:t>Следование </a:t>
            </a:r>
            <a:r>
              <a:rPr lang="en-GB" sz="2800" dirty="0">
                <a:effectLst/>
                <a:latin typeface="ArialMT"/>
              </a:rPr>
              <a:t>PEP8 </a:t>
            </a:r>
            <a:endParaRPr lang="en-GB" sz="20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1217587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Модульный код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9133B27-E3B2-CC4A-812D-CA3E238CD332}"/>
              </a:ext>
            </a:extLst>
          </p:cNvPr>
          <p:cNvSpPr txBox="1"/>
          <p:nvPr/>
        </p:nvSpPr>
        <p:spPr>
          <a:xfrm>
            <a:off x="195949" y="1437064"/>
            <a:ext cx="5329850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ru-RU" sz="2400" dirty="0">
                <a:effectLst/>
                <a:latin typeface="ArialMT"/>
              </a:rPr>
              <a:t>От блокнотов - к Функциям, Классам, Модулям. </a:t>
            </a:r>
          </a:p>
          <a:p>
            <a:pPr marL="285750" indent="-28575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ru-RU" sz="2400" dirty="0">
                <a:effectLst/>
                <a:latin typeface="ArialMT"/>
              </a:rPr>
              <a:t>Измеряем время выполнения и следим за памятью </a:t>
            </a:r>
            <a:endParaRPr lang="ru-RU" sz="4400" dirty="0">
              <a:effectLst/>
            </a:endParaRPr>
          </a:p>
          <a:p>
            <a:pPr marL="285750" indent="-28575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ru-RU" sz="2400" dirty="0">
                <a:effectLst/>
                <a:latin typeface="ArialMT"/>
              </a:rPr>
              <a:t>Следуем не только общим практикам, но и командным договоренностям </a:t>
            </a:r>
            <a:endParaRPr lang="ru-RU" sz="4400" dirty="0">
              <a:effectLst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B4F929-E8D1-BA4A-B95D-50858A1FD3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64150" y="1708150"/>
            <a:ext cx="3683901" cy="25971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95958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Воспроизводимый код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9133B27-E3B2-CC4A-812D-CA3E238CD332}"/>
              </a:ext>
            </a:extLst>
          </p:cNvPr>
          <p:cNvSpPr txBox="1"/>
          <p:nvPr/>
        </p:nvSpPr>
        <p:spPr>
          <a:xfrm>
            <a:off x="195949" y="1437064"/>
            <a:ext cx="4928501" cy="26707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>
                <a:effectLst/>
                <a:latin typeface="ArialMT"/>
              </a:rPr>
              <a:t>Уровни изоляции кода: </a:t>
            </a:r>
            <a:endParaRPr lang="en-US" sz="2400" b="1" dirty="0">
              <a:effectLst/>
              <a:latin typeface="ArialMT"/>
            </a:endParaRPr>
          </a:p>
          <a:p>
            <a:endParaRPr lang="ru-RU" sz="4000" dirty="0">
              <a:effectLst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ru-RU" sz="2400" dirty="0">
                <a:effectLst/>
                <a:latin typeface="ArialMT"/>
              </a:rPr>
              <a:t>виртуальные окружения (</a:t>
            </a:r>
            <a:r>
              <a:rPr lang="en-GB" sz="2400" dirty="0" err="1">
                <a:effectLst/>
                <a:latin typeface="ArialMT"/>
              </a:rPr>
              <a:t>venv</a:t>
            </a:r>
            <a:r>
              <a:rPr lang="en-GB" sz="2400" dirty="0">
                <a:effectLst/>
                <a:latin typeface="ArialMT"/>
              </a:rPr>
              <a:t>) </a:t>
            </a:r>
            <a:endParaRPr lang="en-GB" sz="4000" dirty="0">
              <a:effectLst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 err="1">
                <a:effectLst/>
                <a:latin typeface="ArialMT"/>
              </a:rPr>
              <a:t>conda</a:t>
            </a:r>
            <a:r>
              <a:rPr lang="en-GB" sz="2400" dirty="0">
                <a:effectLst/>
                <a:latin typeface="ArialMT"/>
              </a:rPr>
              <a:t> containers </a:t>
            </a:r>
            <a:endParaRPr lang="en-GB" sz="4000" dirty="0">
              <a:effectLst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  <a:latin typeface="ArialMT"/>
              </a:rPr>
              <a:t>docker containers </a:t>
            </a:r>
            <a:endParaRPr lang="en-GB" sz="4000" dirty="0">
              <a:effectLst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A4D73C4-8383-C149-906A-B49F488E75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5250" y="1282700"/>
            <a:ext cx="3968750" cy="3124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22628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Запуск кода с заданными параметрами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9133B27-E3B2-CC4A-812D-CA3E238CD332}"/>
              </a:ext>
            </a:extLst>
          </p:cNvPr>
          <p:cNvSpPr txBox="1"/>
          <p:nvPr/>
        </p:nvSpPr>
        <p:spPr>
          <a:xfrm>
            <a:off x="195949" y="1125914"/>
            <a:ext cx="5163451" cy="3554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b="1" dirty="0">
                <a:effectLst/>
                <a:latin typeface="ArialMT"/>
              </a:rPr>
              <a:t>Виртуальное окружение </a:t>
            </a:r>
            <a:r>
              <a:rPr lang="en-GB" sz="1800" b="1" dirty="0">
                <a:effectLst/>
                <a:latin typeface="ArialMT"/>
              </a:rPr>
              <a:t>python: </a:t>
            </a:r>
            <a:endParaRPr lang="en-GB" sz="3200" b="1" dirty="0">
              <a:effectLst/>
            </a:endParaRP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800" dirty="0">
                <a:effectLst/>
                <a:latin typeface="ArialMT"/>
              </a:rPr>
              <a:t>позволяет зафиксировать версию интерпретатора </a:t>
            </a:r>
            <a:endParaRPr lang="ru-RU" sz="3200" dirty="0">
              <a:effectLst/>
            </a:endParaRP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800" dirty="0">
                <a:effectLst/>
                <a:latin typeface="ArialMT"/>
              </a:rPr>
              <a:t>позволяет установить конкретные версии пакетов без конфликта с системными </a:t>
            </a:r>
            <a:endParaRPr lang="ru-RU" sz="3200" dirty="0">
              <a:effectLst/>
            </a:endParaRP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1800" dirty="0">
                <a:effectLst/>
                <a:latin typeface="ArialMT"/>
              </a:rPr>
              <a:t>Множество инструментов </a:t>
            </a:r>
            <a:endParaRPr lang="ru-RU" sz="3200" dirty="0">
              <a:effectLst/>
            </a:endParaRPr>
          </a:p>
          <a:p>
            <a:pPr marL="711200" lvl="3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800" dirty="0" err="1">
                <a:latin typeface="ArialMT"/>
              </a:rPr>
              <a:t>venv</a:t>
            </a:r>
            <a:endParaRPr lang="ru-RU" sz="1800" dirty="0">
              <a:latin typeface="ArialMT"/>
            </a:endParaRPr>
          </a:p>
          <a:p>
            <a:pPr marL="711200" lvl="3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800" dirty="0" err="1">
                <a:latin typeface="ArialMT"/>
              </a:rPr>
              <a:t>pipenv</a:t>
            </a:r>
            <a:endParaRPr lang="ru-RU" sz="1800" dirty="0">
              <a:latin typeface="ArialMT"/>
            </a:endParaRPr>
          </a:p>
          <a:p>
            <a:pPr marL="711200" lvl="3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800" dirty="0">
                <a:latin typeface="ArialMT"/>
              </a:rPr>
              <a:t>p</a:t>
            </a:r>
            <a:r>
              <a:rPr lang="en-GB" sz="1800" dirty="0" err="1">
                <a:latin typeface="ArialMT"/>
              </a:rPr>
              <a:t>oetry</a:t>
            </a:r>
            <a:endParaRPr lang="ru-RU" sz="1800" dirty="0">
              <a:latin typeface="ArialMT"/>
            </a:endParaRPr>
          </a:p>
          <a:p>
            <a:pPr marL="711200" lvl="3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800" dirty="0" err="1">
                <a:latin typeface="ArialMT"/>
              </a:rPr>
              <a:t>conda</a:t>
            </a:r>
            <a:r>
              <a:rPr lang="en-GB" sz="1800" dirty="0">
                <a:latin typeface="ArialMT"/>
              </a:rPr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A5488A-EE73-8043-9229-BC9B4F9EB7C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33214" b="6399"/>
          <a:stretch/>
        </p:blipFill>
        <p:spPr>
          <a:xfrm>
            <a:off x="4972108" y="1125914"/>
            <a:ext cx="4049042" cy="3192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01733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Сборка пакетов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9133B27-E3B2-CC4A-812D-CA3E238CD332}"/>
              </a:ext>
            </a:extLst>
          </p:cNvPr>
          <p:cNvSpPr txBox="1"/>
          <p:nvPr/>
        </p:nvSpPr>
        <p:spPr>
          <a:xfrm>
            <a:off x="195949" y="1125914"/>
            <a:ext cx="6389001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1200"/>
              </a:spcAft>
            </a:pPr>
            <a:r>
              <a:rPr lang="ru-RU" sz="2000" b="1" dirty="0">
                <a:effectLst/>
                <a:latin typeface="Roboto" panose="02000000000000000000" pitchFamily="2" charset="0"/>
              </a:rPr>
              <a:t>Собственные </a:t>
            </a:r>
            <a:r>
              <a:rPr lang="en-GB" sz="2000" b="1" dirty="0">
                <a:effectLst/>
                <a:latin typeface="Roboto" panose="02000000000000000000" pitchFamily="2" charset="0"/>
              </a:rPr>
              <a:t>python </a:t>
            </a:r>
            <a:r>
              <a:rPr lang="ru-RU" sz="2000" b="1" dirty="0">
                <a:effectLst/>
                <a:latin typeface="Roboto" panose="02000000000000000000" pitchFamily="2" charset="0"/>
              </a:rPr>
              <a:t>пакеты</a:t>
            </a:r>
            <a:r>
              <a:rPr lang="en-RU" sz="2000" b="1" dirty="0">
                <a:effectLst/>
                <a:latin typeface="Roboto" panose="02000000000000000000" pitchFamily="2" charset="0"/>
              </a:rPr>
              <a:t>: </a:t>
            </a:r>
            <a:endParaRPr lang="en-RU" sz="2800" b="1" dirty="0">
              <a:effectLst/>
            </a:endParaRP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000" dirty="0">
                <a:effectLst/>
                <a:latin typeface="Roboto" panose="02000000000000000000" pitchFamily="2" charset="0"/>
              </a:rPr>
              <a:t>для</a:t>
            </a:r>
            <a:r>
              <a:rPr lang="en-RU" sz="2000" dirty="0">
                <a:effectLst/>
                <a:latin typeface="Roboto" panose="02000000000000000000" pitchFamily="2" charset="0"/>
              </a:rPr>
              <a:t> </a:t>
            </a:r>
            <a:r>
              <a:rPr lang="ru-RU" sz="2000" dirty="0">
                <a:effectLst/>
                <a:latin typeface="Roboto" panose="02000000000000000000" pitchFamily="2" charset="0"/>
              </a:rPr>
              <a:t>конфигурации </a:t>
            </a:r>
            <a:r>
              <a:rPr lang="en-GB" sz="2000" dirty="0" err="1">
                <a:effectLst/>
                <a:latin typeface="Roboto" panose="02000000000000000000" pitchFamily="2" charset="0"/>
              </a:rPr>
              <a:t>setup.cfg</a:t>
            </a:r>
            <a:r>
              <a:rPr lang="en-GB" sz="2000" dirty="0">
                <a:effectLst/>
                <a:latin typeface="Roboto" panose="02000000000000000000" pitchFamily="2" charset="0"/>
              </a:rPr>
              <a:t> (</a:t>
            </a:r>
            <a:r>
              <a:rPr lang="ru-RU" sz="2000" dirty="0">
                <a:effectLst/>
                <a:latin typeface="Roboto" panose="02000000000000000000" pitchFamily="2" charset="0"/>
              </a:rPr>
              <a:t>или </a:t>
            </a:r>
            <a:r>
              <a:rPr lang="en-GB" sz="2000" dirty="0" err="1">
                <a:effectLst/>
                <a:latin typeface="Roboto" panose="02000000000000000000" pitchFamily="2" charset="0"/>
              </a:rPr>
              <a:t>setup.py</a:t>
            </a:r>
            <a:r>
              <a:rPr lang="en-GB" sz="2000" dirty="0">
                <a:effectLst/>
                <a:latin typeface="Roboto" panose="02000000000000000000" pitchFamily="2" charset="0"/>
              </a:rPr>
              <a:t>) </a:t>
            </a:r>
            <a:endParaRPr lang="en-GB" sz="2800" dirty="0">
              <a:effectLst/>
            </a:endParaRP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000" dirty="0">
                <a:effectLst/>
                <a:latin typeface="Roboto" panose="02000000000000000000" pitchFamily="2" charset="0"/>
              </a:rPr>
              <a:t>легко переиспользовать</a:t>
            </a:r>
            <a:r>
              <a:rPr lang="en-RU" sz="2000" dirty="0">
                <a:effectLst/>
                <a:latin typeface="Roboto" panose="02000000000000000000" pitchFamily="2" charset="0"/>
              </a:rPr>
              <a:t> </a:t>
            </a:r>
            <a:r>
              <a:rPr lang="ru-RU" sz="2000" dirty="0">
                <a:effectLst/>
                <a:latin typeface="Roboto" panose="02000000000000000000" pitchFamily="2" charset="0"/>
              </a:rPr>
              <a:t>общий код </a:t>
            </a:r>
            <a:endParaRPr lang="ru-RU" sz="2800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effectLst/>
                <a:latin typeface="Roboto" panose="02000000000000000000" pitchFamily="2" charset="0"/>
              </a:rPr>
              <a:t>можно изменять</a:t>
            </a:r>
            <a:r>
              <a:rPr lang="en-RU" sz="2000" dirty="0">
                <a:effectLst/>
                <a:latin typeface="Roboto" panose="02000000000000000000" pitchFamily="2" charset="0"/>
              </a:rPr>
              <a:t> </a:t>
            </a:r>
            <a:r>
              <a:rPr lang="ru-RU" sz="2000" dirty="0">
                <a:effectLst/>
                <a:latin typeface="Roboto" panose="02000000000000000000" pitchFamily="2" charset="0"/>
              </a:rPr>
              <a:t>на лету </a:t>
            </a:r>
            <a:endParaRPr lang="ru-RU" sz="2800" dirty="0">
              <a:effectLst/>
            </a:endParaRPr>
          </a:p>
          <a:p>
            <a:pPr marL="666750" lvl="1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sz="2000" dirty="0">
                <a:effectLst/>
                <a:latin typeface="Roboto" panose="02000000000000000000" pitchFamily="2" charset="0"/>
              </a:rPr>
              <a:t>pip install –editable</a:t>
            </a:r>
            <a:r>
              <a:rPr lang="ru-RU" sz="2000" dirty="0">
                <a:effectLst/>
                <a:latin typeface="Roboto" panose="02000000000000000000" pitchFamily="2" charset="0"/>
              </a:rPr>
              <a:t> .</a:t>
            </a:r>
            <a:endParaRPr lang="ru-RU" sz="2000" dirty="0">
              <a:latin typeface="Roboto" panose="02000000000000000000" pitchFamily="2" charset="0"/>
            </a:endParaRPr>
          </a:p>
          <a:p>
            <a:pPr marL="311150" lvl="1" indent="-285750">
              <a:buFont typeface="Arial" panose="020B0604020202020204" pitchFamily="34" charset="0"/>
              <a:buChar char="•"/>
            </a:pPr>
            <a:r>
              <a:rPr lang="ru-RU" sz="2000" dirty="0">
                <a:effectLst/>
                <a:latin typeface="Roboto" panose="02000000000000000000" pitchFamily="2" charset="0"/>
              </a:rPr>
              <a:t>собирать</a:t>
            </a:r>
            <a:r>
              <a:rPr lang="en-RU" sz="2000" dirty="0">
                <a:effectLst/>
                <a:latin typeface="Roboto" panose="02000000000000000000" pitchFamily="2" charset="0"/>
              </a:rPr>
              <a:t> </a:t>
            </a:r>
            <a:r>
              <a:rPr lang="ru-RU" sz="2000" dirty="0">
                <a:effectLst/>
                <a:latin typeface="Roboto" panose="02000000000000000000" pitchFamily="2" charset="0"/>
              </a:rPr>
              <a:t>пакеты</a:t>
            </a:r>
            <a:r>
              <a:rPr lang="en-RU" sz="2000" dirty="0">
                <a:effectLst/>
                <a:latin typeface="Roboto" panose="02000000000000000000" pitchFamily="2" charset="0"/>
              </a:rPr>
              <a:t> </a:t>
            </a:r>
            <a:r>
              <a:rPr lang="ru-RU" sz="2000" dirty="0">
                <a:effectLst/>
                <a:latin typeface="Roboto" panose="02000000000000000000" pitchFamily="2" charset="0"/>
              </a:rPr>
              <a:t>для</a:t>
            </a:r>
            <a:r>
              <a:rPr lang="en-RU" sz="2000" dirty="0">
                <a:effectLst/>
                <a:latin typeface="Roboto" panose="02000000000000000000" pitchFamily="2" charset="0"/>
              </a:rPr>
              <a:t> </a:t>
            </a:r>
            <a:r>
              <a:rPr lang="ru-RU" sz="2000" dirty="0">
                <a:effectLst/>
                <a:latin typeface="Roboto" panose="02000000000000000000" pitchFamily="2" charset="0"/>
              </a:rPr>
              <a:t>распространения</a:t>
            </a:r>
            <a:r>
              <a:rPr lang="en-RU" sz="2000" dirty="0">
                <a:effectLst/>
                <a:latin typeface="Roboto" panose="02000000000000000000" pitchFamily="2" charset="0"/>
              </a:rPr>
              <a:t> </a:t>
            </a:r>
            <a:endParaRPr lang="en-RU" sz="2800" dirty="0">
              <a:effectLst/>
            </a:endParaRPr>
          </a:p>
          <a:p>
            <a:pPr marL="666750" lvl="1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sz="2000" dirty="0">
                <a:latin typeface="Roboto" panose="02000000000000000000" pitchFamily="2" charset="0"/>
              </a:rPr>
              <a:t>python -m build</a:t>
            </a:r>
            <a:endParaRPr lang="ru-RU" sz="2000" dirty="0">
              <a:latin typeface="Roboto" panose="02000000000000000000" pitchFamily="2" charset="0"/>
            </a:endParaRPr>
          </a:p>
          <a:p>
            <a:pPr marL="311150" lvl="1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Roboto" panose="02000000000000000000" pitchFamily="2" charset="0"/>
              </a:rPr>
              <a:t>загружать</a:t>
            </a:r>
            <a:r>
              <a:rPr lang="en-RU" sz="2000" dirty="0">
                <a:latin typeface="Roboto" panose="02000000000000000000" pitchFamily="2" charset="0"/>
              </a:rPr>
              <a:t> </a:t>
            </a:r>
            <a:r>
              <a:rPr lang="ru-RU" sz="2000" dirty="0">
                <a:latin typeface="Roboto" panose="02000000000000000000" pitchFamily="2" charset="0"/>
              </a:rPr>
              <a:t>в </a:t>
            </a:r>
            <a:r>
              <a:rPr lang="ru-RU" sz="2000" dirty="0" err="1">
                <a:latin typeface="Roboto" panose="02000000000000000000" pitchFamily="2" charset="0"/>
              </a:rPr>
              <a:t>репозитории</a:t>
            </a:r>
            <a:r>
              <a:rPr lang="ru-RU" sz="2000" dirty="0">
                <a:latin typeface="Roboto" panose="02000000000000000000" pitchFamily="2" charset="0"/>
              </a:rPr>
              <a:t> пакетов </a:t>
            </a:r>
            <a:r>
              <a:rPr lang="en-GB" sz="2000" dirty="0" err="1">
                <a:latin typeface="Roboto" panose="02000000000000000000" pitchFamily="2" charset="0"/>
              </a:rPr>
              <a:t>PyPI</a:t>
            </a:r>
            <a:r>
              <a:rPr lang="en-GB" sz="2000" dirty="0">
                <a:latin typeface="Roboto" panose="02000000000000000000" pitchFamily="2" charset="0"/>
              </a:rPr>
              <a:t> </a:t>
            </a:r>
          </a:p>
          <a:p>
            <a:pPr marL="666750" lvl="1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sz="2000" dirty="0">
                <a:latin typeface="Roboto" panose="02000000000000000000" pitchFamily="2" charset="0"/>
              </a:rPr>
              <a:t>python -m twine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AD7FE40-1B31-FA45-876F-6AB92C8433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9969" y="1773417"/>
            <a:ext cx="2637632" cy="2182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42646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Где хранить исходный код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998409E-0866-8047-81B1-EE91A9B470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93402"/>
            <a:ext cx="2800350" cy="1575197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8AAF1C0-C4A2-AD4D-BB50-A146923990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1824" y="996416"/>
            <a:ext cx="2292476" cy="2076983"/>
          </a:xfrm>
          <a:prstGeom prst="rect">
            <a:avLst/>
          </a:prstGeom>
        </p:spPr>
      </p:pic>
      <p:pic>
        <p:nvPicPr>
          <p:cNvPr id="8" name="Graphic 7">
            <a:extLst>
              <a:ext uri="{FF2B5EF4-FFF2-40B4-BE49-F238E27FC236}">
                <a16:creationId xmlns:a16="http://schemas.microsoft.com/office/drawing/2014/main" id="{947391C3-FBC4-E748-AC51-B86029CE625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610225" y="1021287"/>
            <a:ext cx="3228975" cy="21526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4D139BF-5547-1E4A-A3CF-682C55CC495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8738" y="3339216"/>
            <a:ext cx="1802541" cy="1638300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C17E1F1A-DD6D-EF4A-84C4-6DCA9E9B986D}"/>
              </a:ext>
            </a:extLst>
          </p:cNvPr>
          <p:cNvGrpSpPr/>
          <p:nvPr/>
        </p:nvGrpSpPr>
        <p:grpSpPr>
          <a:xfrm>
            <a:off x="2434185" y="3256023"/>
            <a:ext cx="2503951" cy="1339850"/>
            <a:chOff x="1866900" y="2895599"/>
            <a:chExt cx="2503951" cy="1339850"/>
          </a:xfrm>
        </p:grpSpPr>
        <p:pic>
          <p:nvPicPr>
            <p:cNvPr id="10" name="Graphic 9">
              <a:extLst>
                <a:ext uri="{FF2B5EF4-FFF2-40B4-BE49-F238E27FC236}">
                  <a16:creationId xmlns:a16="http://schemas.microsoft.com/office/drawing/2014/main" id="{C62BC3A8-0162-B341-B355-6B7188B55956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866900" y="2895599"/>
              <a:ext cx="1339850" cy="1339850"/>
            </a:xfrm>
            <a:prstGeom prst="rect">
              <a:avLst/>
            </a:prstGeom>
          </p:spPr>
        </p:pic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709AED2F-90F3-7048-8E46-87959BD594AA}"/>
                </a:ext>
              </a:extLst>
            </p:cNvPr>
            <p:cNvSpPr txBox="1"/>
            <p:nvPr/>
          </p:nvSpPr>
          <p:spPr>
            <a:xfrm>
              <a:off x="3206750" y="3273136"/>
              <a:ext cx="1164101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RU" sz="3200" dirty="0"/>
                <a:t>Gitea</a:t>
              </a:r>
            </a:p>
          </p:txBody>
        </p:sp>
      </p:grpSp>
      <p:pic>
        <p:nvPicPr>
          <p:cNvPr id="18" name="Picture 17">
            <a:extLst>
              <a:ext uri="{FF2B5EF4-FFF2-40B4-BE49-F238E27FC236}">
                <a16:creationId xmlns:a16="http://schemas.microsoft.com/office/drawing/2014/main" id="{B42F1D67-2E1C-9F4B-91E4-9CC85E7E9C2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429250" y="3720860"/>
            <a:ext cx="3576509" cy="875013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A9E04E1-164B-8B45-B50B-CD62AF76F666}"/>
              </a:ext>
            </a:extLst>
          </p:cNvPr>
          <p:cNvPicPr>
            <a:picLocks noChangeAspect="1"/>
          </p:cNvPicPr>
          <p:nvPr/>
        </p:nvPicPr>
        <p:blipFill rotWithShape="1">
          <a:blip r:embed="rId11"/>
          <a:srcRect l="7804" t="17585" r="7628" b="16071"/>
          <a:stretch/>
        </p:blipFill>
        <p:spPr>
          <a:xfrm>
            <a:off x="4931912" y="2908299"/>
            <a:ext cx="4129538" cy="990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39090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Изменения в исходном коде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2AF3D02-34D3-884F-9E42-C3BA7902B9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704" y="1114749"/>
            <a:ext cx="4273296" cy="1453502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853DE698-E833-A24E-9864-E6FCEFBAE917}"/>
              </a:ext>
            </a:extLst>
          </p:cNvPr>
          <p:cNvGrpSpPr/>
          <p:nvPr/>
        </p:nvGrpSpPr>
        <p:grpSpPr>
          <a:xfrm>
            <a:off x="6019760" y="1244999"/>
            <a:ext cx="1553630" cy="1504877"/>
            <a:chOff x="6252346" y="994965"/>
            <a:chExt cx="1135106" cy="1048402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942CD439-8654-8940-9C55-9C0A78DA51C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/>
            <a:srcRect l="29626" r="27185" b="31303"/>
            <a:stretch/>
          </p:blipFill>
          <p:spPr>
            <a:xfrm>
              <a:off x="6407150" y="994965"/>
              <a:ext cx="825500" cy="738586"/>
            </a:xfrm>
            <a:prstGeom prst="rect">
              <a:avLst/>
            </a:prstGeom>
          </p:spPr>
        </p:pic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A78FC47A-1951-BD47-8E6E-32699476BA5F}"/>
                </a:ext>
              </a:extLst>
            </p:cNvPr>
            <p:cNvSpPr txBox="1"/>
            <p:nvPr/>
          </p:nvSpPr>
          <p:spPr>
            <a:xfrm>
              <a:off x="6252346" y="1786065"/>
              <a:ext cx="1135106" cy="2573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RU" sz="1800" b="1" dirty="0">
                  <a:latin typeface="Adelle Sans Devanagari" panose="02000503000000020004" pitchFamily="2" charset="-78"/>
                  <a:cs typeface="Adelle Sans Devanagari" panose="02000503000000020004" pitchFamily="2" charset="-78"/>
                </a:rPr>
                <a:t>GitHub Issue</a:t>
              </a:r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15FF20AF-0BA6-4443-AFCC-4B6EDC55AC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1446" y="2130510"/>
            <a:ext cx="2838576" cy="25717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EE690D0-1033-9045-916C-149166051C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22700" y="2571750"/>
            <a:ext cx="1409700" cy="140970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BB01128-90A5-244B-AF0C-FF3F5341717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26100" y="3073400"/>
            <a:ext cx="2794000" cy="1143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151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Как внести изменения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A1E9CC-ED35-9849-AF63-34275E31C093}"/>
              </a:ext>
            </a:extLst>
          </p:cNvPr>
          <p:cNvSpPr txBox="1"/>
          <p:nvPr/>
        </p:nvSpPr>
        <p:spPr>
          <a:xfrm>
            <a:off x="208450" y="1174750"/>
            <a:ext cx="8732349" cy="20928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000" dirty="0">
                <a:effectLst/>
                <a:latin typeface="ArialMT"/>
              </a:rPr>
              <a:t>Все изменения должны быть привязаны к </a:t>
            </a:r>
            <a:r>
              <a:rPr lang="ru-RU" sz="2000" dirty="0" err="1">
                <a:effectLst/>
                <a:latin typeface="ArialMT"/>
              </a:rPr>
              <a:t>тикетам</a:t>
            </a:r>
            <a:r>
              <a:rPr lang="ru-RU" sz="2000" dirty="0">
                <a:effectLst/>
                <a:latin typeface="ArialMT"/>
              </a:rPr>
              <a:t> </a:t>
            </a:r>
            <a:endParaRPr lang="ru-RU" sz="1600" dirty="0">
              <a:effectLst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effectLst/>
                <a:latin typeface="ArialMT"/>
              </a:rPr>
              <a:t>Все изменения вносятся в ветках </a:t>
            </a:r>
            <a:r>
              <a:rPr lang="en-GB" sz="2000" dirty="0">
                <a:effectLst/>
                <a:latin typeface="ArialMT"/>
              </a:rPr>
              <a:t>git</a:t>
            </a:r>
            <a:endParaRPr lang="ru-RU" sz="2000" dirty="0">
              <a:latin typeface="ArialMT"/>
            </a:endParaRPr>
          </a:p>
          <a:p>
            <a:pPr marL="62230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000" dirty="0">
                <a:effectLst/>
                <a:latin typeface="ArialMT"/>
              </a:rPr>
              <a:t>шаблон имени ветки - </a:t>
            </a:r>
            <a:r>
              <a:rPr lang="en-GB" sz="2000" dirty="0">
                <a:effectLst/>
                <a:latin typeface="ArialMT"/>
              </a:rPr>
              <a:t>feature/&lt;No </a:t>
            </a:r>
            <a:r>
              <a:rPr lang="ru-RU" sz="2000" dirty="0" err="1">
                <a:effectLst/>
                <a:latin typeface="ArialMT"/>
              </a:rPr>
              <a:t>тикета</a:t>
            </a:r>
            <a:r>
              <a:rPr lang="ru-RU" sz="2000" dirty="0">
                <a:effectLst/>
                <a:latin typeface="ArialMT"/>
              </a:rPr>
              <a:t>&gt;-описание </a:t>
            </a:r>
            <a:endParaRPr lang="ru-RU" sz="1600" dirty="0">
              <a:effectLst/>
            </a:endParaRP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ru-RU" sz="2000" dirty="0">
                <a:effectLst/>
                <a:latin typeface="ArialMT"/>
              </a:rPr>
              <a:t>В основные ветки код попадает через </a:t>
            </a:r>
            <a:r>
              <a:rPr lang="en-GB" sz="2000" dirty="0">
                <a:effectLst/>
                <a:latin typeface="ArialMT"/>
              </a:rPr>
              <a:t>Pull Request </a:t>
            </a:r>
            <a:endParaRPr lang="ru-RU" sz="2000" dirty="0">
              <a:effectLst/>
              <a:latin typeface="ArialMT"/>
            </a:endParaRPr>
          </a:p>
          <a:p>
            <a:pPr marL="285750" indent="-285750">
              <a:spcAft>
                <a:spcPts val="1200"/>
              </a:spcAft>
              <a:buFont typeface="Arial" panose="020B0604020202020204" pitchFamily="34" charset="0"/>
              <a:buChar char="•"/>
            </a:pPr>
            <a:r>
              <a:rPr lang="en-GB" sz="2000" dirty="0">
                <a:effectLst/>
                <a:latin typeface="ArialMT"/>
              </a:rPr>
              <a:t>PR</a:t>
            </a:r>
            <a:r>
              <a:rPr lang="ru-RU" sz="2000" dirty="0">
                <a:effectLst/>
                <a:latin typeface="ArialMT"/>
              </a:rPr>
              <a:t>ы проходят С</a:t>
            </a:r>
            <a:r>
              <a:rPr lang="en-GB" sz="2000" dirty="0">
                <a:effectLst/>
                <a:latin typeface="ArialMT"/>
              </a:rPr>
              <a:t>ode Review </a:t>
            </a:r>
            <a:endParaRPr lang="en-GB" sz="1600" dirty="0">
              <a:effectLst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069A90B-9843-7142-B3CB-22A44ADA22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780" y="3267632"/>
            <a:ext cx="6918870" cy="1875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60485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Куда сохранить файл</a:t>
            </a: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ABD6148-C792-9548-B993-93F848A627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1921" y="921548"/>
            <a:ext cx="5667329" cy="4139402"/>
          </a:xfrm>
          <a:prstGeom prst="rect">
            <a:avLst/>
          </a:prstGeom>
          <a:solidFill>
            <a:schemeClr val="accent1"/>
          </a:solidFill>
        </p:spPr>
      </p:pic>
    </p:spTree>
    <p:extLst>
      <p:ext uri="{BB962C8B-B14F-4D97-AF65-F5344CB8AC3E}">
        <p14:creationId xmlns:p14="http://schemas.microsoft.com/office/powerpoint/2010/main" val="32435730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Куда сохранить файл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256CEDE-2965-9142-A007-F7789C4E34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550" y="989026"/>
            <a:ext cx="6363396" cy="3970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91212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 err="1">
                <a:solidFill>
                  <a:srgbClr val="000000"/>
                </a:solidFill>
                <a:latin typeface="Helvetica Neue" panose="02000503000000020004" pitchFamily="2" charset="0"/>
              </a:rPr>
              <a:t>Cookiecutter</a:t>
            </a:r>
            <a:endParaRPr lang="ru-RU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C6C4DB6-C094-C74E-9E00-76D1BDC4AC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4150" y="67723"/>
            <a:ext cx="5708650" cy="285432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2236DC9-7943-A249-A464-47A548788F99}"/>
              </a:ext>
            </a:extLst>
          </p:cNvPr>
          <p:cNvSpPr txBox="1"/>
          <p:nvPr/>
        </p:nvSpPr>
        <p:spPr>
          <a:xfrm>
            <a:off x="500550" y="2248584"/>
            <a:ext cx="83069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800" b="1" dirty="0" err="1"/>
              <a:t>Cookiecutter</a:t>
            </a:r>
            <a:r>
              <a:rPr lang="en-GB" sz="1800" dirty="0"/>
              <a:t> - </a:t>
            </a:r>
            <a:r>
              <a:rPr lang="ru-RU" sz="1800" dirty="0"/>
              <a:t>библиотека шаблонов проектов на любом языке программирования</a:t>
            </a:r>
            <a:endParaRPr lang="en-RU" sz="1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15248-C92D-B941-923C-1DAE6D47309C}"/>
              </a:ext>
            </a:extLst>
          </p:cNvPr>
          <p:cNvSpPr txBox="1"/>
          <p:nvPr/>
        </p:nvSpPr>
        <p:spPr>
          <a:xfrm>
            <a:off x="558800" y="3515871"/>
            <a:ext cx="2235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Cross-Platform (Python lib)</a:t>
            </a:r>
            <a:endParaRPr lang="en-RU" sz="20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667CC00-D394-5347-BE13-B654A2B60080}"/>
              </a:ext>
            </a:extLst>
          </p:cNvPr>
          <p:cNvSpPr txBox="1"/>
          <p:nvPr/>
        </p:nvSpPr>
        <p:spPr>
          <a:xfrm>
            <a:off x="3190875" y="3515871"/>
            <a:ext cx="2235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Шаблоны на базе </a:t>
            </a:r>
            <a:r>
              <a:rPr lang="en-US" sz="2000" dirty="0"/>
              <a:t>Jinja2</a:t>
            </a:r>
            <a:endParaRPr lang="en-RU" sz="20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F136D6-17AC-3547-8ADF-7C50A4720652}"/>
              </a:ext>
            </a:extLst>
          </p:cNvPr>
          <p:cNvSpPr txBox="1"/>
          <p:nvPr/>
        </p:nvSpPr>
        <p:spPr>
          <a:xfrm>
            <a:off x="5724525" y="3515871"/>
            <a:ext cx="22352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/>
              <a:t>Есть готовые </a:t>
            </a:r>
            <a:r>
              <a:rPr lang="en-US" sz="2000" dirty="0"/>
              <a:t>community </a:t>
            </a:r>
            <a:r>
              <a:rPr lang="ru-RU" sz="2000" dirty="0"/>
              <a:t>шаблоны</a:t>
            </a:r>
            <a:endParaRPr lang="en-RU" sz="2000" dirty="0"/>
          </a:p>
        </p:txBody>
      </p:sp>
    </p:spTree>
    <p:extLst>
      <p:ext uri="{BB962C8B-B14F-4D97-AF65-F5344CB8AC3E}">
        <p14:creationId xmlns:p14="http://schemas.microsoft.com/office/powerpoint/2010/main" val="11545825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dirty="0" err="1">
                <a:solidFill>
                  <a:srgbClr val="000000"/>
                </a:solidFill>
                <a:latin typeface="Helvetica Neue" panose="02000503000000020004" pitchFamily="2" charset="0"/>
              </a:rPr>
              <a:t>Cookiecutter</a:t>
            </a:r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Helvetica Neue" panose="02000503000000020004" pitchFamily="2" charset="0"/>
              </a:rPr>
              <a:t>DataScience</a:t>
            </a:r>
            <a:endParaRPr lang="ru-RU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236DC9-7943-A249-A464-47A548788F99}"/>
              </a:ext>
            </a:extLst>
          </p:cNvPr>
          <p:cNvSpPr txBox="1"/>
          <p:nvPr/>
        </p:nvSpPr>
        <p:spPr>
          <a:xfrm>
            <a:off x="418550" y="1111934"/>
            <a:ext cx="8306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800" b="1" dirty="0">
                <a:hlinkClick r:id="rId3"/>
              </a:rPr>
              <a:t>https://</a:t>
            </a:r>
            <a:r>
              <a:rPr lang="en-GB" sz="1800" b="1" dirty="0" err="1">
                <a:hlinkClick r:id="rId3"/>
              </a:rPr>
              <a:t>drivendata.github.io</a:t>
            </a:r>
            <a:r>
              <a:rPr lang="en-GB" sz="1800" b="1" dirty="0">
                <a:hlinkClick r:id="rId3"/>
              </a:rPr>
              <a:t>/</a:t>
            </a:r>
            <a:r>
              <a:rPr lang="en-GB" sz="1800" b="1" dirty="0" err="1">
                <a:hlinkClick r:id="rId3"/>
              </a:rPr>
              <a:t>cookiecutter</a:t>
            </a:r>
            <a:r>
              <a:rPr lang="en-GB" sz="1800" b="1" dirty="0">
                <a:hlinkClick r:id="rId3"/>
              </a:rPr>
              <a:t>-data-science/</a:t>
            </a:r>
            <a:endParaRPr lang="en-RU" sz="18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15248-C92D-B941-923C-1DAE6D47309C}"/>
              </a:ext>
            </a:extLst>
          </p:cNvPr>
          <p:cNvSpPr txBox="1"/>
          <p:nvPr/>
        </p:nvSpPr>
        <p:spPr>
          <a:xfrm>
            <a:off x="500550" y="1976389"/>
            <a:ext cx="7366000" cy="16858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sz="2400" b="1" dirty="0">
                <a:solidFill>
                  <a:srgbClr val="212121"/>
                </a:solidFill>
                <a:effectLst/>
                <a:latin typeface="Arial" panose="020B0604020202020204" pitchFamily="34" charset="0"/>
              </a:rPr>
              <a:t>Готовы</a:t>
            </a:r>
            <a:r>
              <a:rPr lang="ru-RU" sz="2400" b="1" dirty="0">
                <a:solidFill>
                  <a:srgbClr val="212121"/>
                </a:solidFill>
                <a:latin typeface="Arial" panose="020B0604020202020204" pitchFamily="34" charset="0"/>
              </a:rPr>
              <a:t>й</a:t>
            </a:r>
            <a:r>
              <a:rPr lang="ru-RU" sz="2400" b="1" dirty="0">
                <a:solidFill>
                  <a:srgbClr val="212121"/>
                </a:solidFill>
                <a:effectLst/>
                <a:latin typeface="Arial" panose="020B0604020202020204" pitchFamily="34" charset="0"/>
              </a:rPr>
              <a:t> шаблон для </a:t>
            </a:r>
            <a:r>
              <a:rPr lang="en-GB" sz="2400" dirty="0">
                <a:solidFill>
                  <a:srgbClr val="212121"/>
                </a:solidFill>
                <a:effectLst/>
                <a:latin typeface="AvenirLTPro"/>
              </a:rPr>
              <a:t>DS </a:t>
            </a:r>
            <a:r>
              <a:rPr lang="ru-RU" sz="2400" b="1" dirty="0">
                <a:solidFill>
                  <a:srgbClr val="212121"/>
                </a:solidFill>
                <a:effectLst/>
                <a:latin typeface="Arial" panose="020B0604020202020204" pitchFamily="34" charset="0"/>
              </a:rPr>
              <a:t>проектов </a:t>
            </a:r>
            <a:endParaRPr lang="ru-RU" sz="3600" dirty="0">
              <a:effectLst/>
            </a:endParaRPr>
          </a:p>
          <a:p>
            <a:pPr>
              <a:lnSpc>
                <a:spcPct val="150000"/>
              </a:lnSpc>
            </a:pPr>
            <a:r>
              <a:rPr lang="ru-RU" sz="2400" b="1" dirty="0">
                <a:solidFill>
                  <a:srgbClr val="212121"/>
                </a:solidFill>
                <a:effectLst/>
                <a:latin typeface="Arial" panose="020B0604020202020204" pitchFamily="34" charset="0"/>
              </a:rPr>
              <a:t>Возможность изменять шаблон </a:t>
            </a:r>
          </a:p>
          <a:p>
            <a:pPr>
              <a:lnSpc>
                <a:spcPct val="150000"/>
              </a:lnSpc>
            </a:pPr>
            <a:r>
              <a:rPr lang="ru-RU" sz="2400" b="1" dirty="0">
                <a:solidFill>
                  <a:srgbClr val="212121"/>
                </a:solidFill>
                <a:latin typeface="Arial" panose="020B0604020202020204" pitchFamily="34" charset="0"/>
              </a:rPr>
              <a:t>Вариант на занятии взят из этого шаблона</a:t>
            </a:r>
            <a:endParaRPr lang="ru-RU" sz="36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2701500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Модели ветвления</a:t>
            </a:r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E015248-C92D-B941-923C-1DAE6D47309C}"/>
              </a:ext>
            </a:extLst>
          </p:cNvPr>
          <p:cNvSpPr txBox="1"/>
          <p:nvPr/>
        </p:nvSpPr>
        <p:spPr>
          <a:xfrm>
            <a:off x="500550" y="1665239"/>
            <a:ext cx="7366000" cy="22398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400" b="1" dirty="0">
                <a:solidFill>
                  <a:srgbClr val="212121"/>
                </a:solidFill>
                <a:latin typeface="Arial" panose="020B0604020202020204" pitchFamily="34" charset="0"/>
                <a:hlinkClick r:id="rId3"/>
              </a:rPr>
              <a:t>GitHub Flow</a:t>
            </a:r>
            <a:endParaRPr lang="en-US" sz="2400" b="1" dirty="0">
              <a:solidFill>
                <a:srgbClr val="212121"/>
              </a:solidFill>
              <a:latin typeface="Arial" panose="020B0604020202020204" pitchFamily="34" charset="0"/>
            </a:endParaRPr>
          </a:p>
          <a:p>
            <a:pPr>
              <a:lnSpc>
                <a:spcPct val="150000"/>
              </a:lnSpc>
            </a:pPr>
            <a:r>
              <a:rPr lang="en-GB" sz="2400" b="1" dirty="0">
                <a:solidFill>
                  <a:srgbClr val="212121"/>
                </a:solidFill>
                <a:latin typeface="Arial" panose="020B0604020202020204" pitchFamily="34" charset="0"/>
                <a:hlinkClick r:id="rId4"/>
              </a:rPr>
              <a:t>GitLab Flow</a:t>
            </a:r>
            <a:endParaRPr lang="ru-RU" sz="2400" dirty="0">
              <a:effectLst/>
            </a:endParaRPr>
          </a:p>
          <a:p>
            <a:pPr>
              <a:lnSpc>
                <a:spcPct val="150000"/>
              </a:lnSpc>
            </a:pPr>
            <a:r>
              <a:rPr lang="en-US" sz="2400" b="1" dirty="0">
                <a:solidFill>
                  <a:srgbClr val="212121"/>
                </a:solidFill>
                <a:effectLst/>
                <a:latin typeface="Arial" panose="020B0604020202020204" pitchFamily="34" charset="0"/>
                <a:hlinkClick r:id="rId5"/>
              </a:rPr>
              <a:t>Git Flow</a:t>
            </a:r>
            <a:endParaRPr lang="ru-RU" sz="2400" b="1" dirty="0">
              <a:solidFill>
                <a:srgbClr val="212121"/>
              </a:solidFill>
              <a:effectLst/>
              <a:latin typeface="Arial" panose="020B0604020202020204" pitchFamily="34" charset="0"/>
            </a:endParaRPr>
          </a:p>
          <a:p>
            <a:pPr marL="25400" lvl="1">
              <a:lnSpc>
                <a:spcPct val="150000"/>
              </a:lnSpc>
            </a:pPr>
            <a:r>
              <a:rPr lang="en-GB" sz="2400" b="1" dirty="0">
                <a:solidFill>
                  <a:srgbClr val="212121"/>
                </a:solidFill>
                <a:latin typeface="Arial" panose="020B0604020202020204" pitchFamily="34" charset="0"/>
                <a:hlinkClick r:id="rId6"/>
              </a:rPr>
              <a:t>Trunk based development</a:t>
            </a:r>
            <a:endParaRPr lang="ru-RU" sz="2400" b="1" dirty="0">
              <a:solidFill>
                <a:srgbClr val="21212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813104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Требования к коду</a:t>
            </a:r>
            <a:endParaRPr lang="ru-RU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8123F98-F518-4E4E-850E-FE64CAC5DD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ru-RU" sz="2400" dirty="0">
                <a:latin typeface="ArialMT"/>
              </a:rPr>
              <a:t>Форматирование кода в соответствии с </a:t>
            </a:r>
            <a:r>
              <a:rPr lang="en-GB" sz="2400" dirty="0">
                <a:latin typeface="ArialMT"/>
              </a:rPr>
              <a:t>PEP8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200" dirty="0">
                <a:latin typeface="ArialMT"/>
              </a:rPr>
              <a:t>autopep8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200" dirty="0">
                <a:latin typeface="ArialMT"/>
              </a:rPr>
              <a:t>black</a:t>
            </a:r>
            <a:endParaRPr lang="ru-RU" sz="2200" dirty="0">
              <a:latin typeface="ArialMT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sz="2200" dirty="0">
                <a:latin typeface="ArialMT"/>
              </a:rPr>
              <a:t>p</a:t>
            </a:r>
            <a:r>
              <a:rPr lang="en-GB" sz="2200" dirty="0" err="1">
                <a:latin typeface="ArialMT"/>
              </a:rPr>
              <a:t>ycodestyle</a:t>
            </a:r>
            <a:endParaRPr lang="ru-RU" sz="2200" dirty="0">
              <a:latin typeface="ArialMT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200" dirty="0" err="1">
                <a:latin typeface="ArialMT"/>
              </a:rPr>
              <a:t>yapf</a:t>
            </a:r>
            <a:r>
              <a:rPr lang="en-GB" sz="2200" dirty="0">
                <a:latin typeface="ArialMT"/>
              </a:rPr>
              <a:t>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ru-RU" sz="2400" dirty="0" err="1">
                <a:effectLst/>
                <a:latin typeface="ArialMT"/>
              </a:rPr>
              <a:t>Статическии</a:t>
            </a:r>
            <a:r>
              <a:rPr lang="ru-RU" sz="2400" dirty="0">
                <a:effectLst/>
                <a:latin typeface="ArialMT"/>
              </a:rPr>
              <a:t>̆ анализ </a:t>
            </a:r>
            <a:endParaRPr lang="ru-RU" dirty="0">
              <a:effectLst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200" dirty="0">
                <a:effectLst/>
                <a:latin typeface="ArialMT"/>
              </a:rPr>
              <a:t>flake8 </a:t>
            </a:r>
            <a:endParaRPr lang="en-GB" sz="1200" dirty="0">
              <a:effectLst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200" dirty="0" err="1">
                <a:latin typeface="ArialMT"/>
              </a:rPr>
              <a:t>mypy</a:t>
            </a:r>
            <a:r>
              <a:rPr lang="en-GB" sz="2200" dirty="0">
                <a:latin typeface="ArialMT"/>
              </a:rPr>
              <a:t> - </a:t>
            </a:r>
            <a:r>
              <a:rPr lang="ru-RU" sz="2200" dirty="0">
                <a:latin typeface="ArialMT"/>
              </a:rPr>
              <a:t>анализ типов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GB" sz="2200" dirty="0" err="1">
                <a:latin typeface="ArialMT"/>
              </a:rPr>
              <a:t>pylint</a:t>
            </a:r>
            <a:r>
              <a:rPr lang="en-GB" sz="2200" dirty="0">
                <a:latin typeface="ArialMT"/>
              </a:rPr>
              <a:t> - </a:t>
            </a:r>
            <a:r>
              <a:rPr lang="ru-RU" sz="2200" dirty="0">
                <a:latin typeface="ArialMT"/>
              </a:rPr>
              <a:t>жалуется почти на все :) </a:t>
            </a:r>
          </a:p>
        </p:txBody>
      </p:sp>
    </p:spTree>
    <p:extLst>
      <p:ext uri="{BB962C8B-B14F-4D97-AF65-F5344CB8AC3E}">
        <p14:creationId xmlns:p14="http://schemas.microsoft.com/office/powerpoint/2010/main" val="154328865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Безопасность кода</a:t>
            </a:r>
            <a:endParaRPr lang="ru-RU" dirty="0"/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98123F98-F518-4E4E-850E-FE64CAC5DD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1700" y="2604029"/>
            <a:ext cx="8520600" cy="971021"/>
          </a:xfrm>
        </p:spPr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GB" sz="2000" dirty="0">
                <a:latin typeface="ArialMT"/>
                <a:hlinkClick r:id="rId3"/>
              </a:rPr>
              <a:t>Bandit</a:t>
            </a:r>
            <a:r>
              <a:rPr lang="en-GB" sz="2000" dirty="0">
                <a:latin typeface="ArialMT"/>
              </a:rPr>
              <a:t> - </a:t>
            </a:r>
            <a:r>
              <a:rPr lang="ru-RU" sz="2000" dirty="0">
                <a:latin typeface="ArialMT"/>
              </a:rPr>
              <a:t>это инструмент, предназначенный для поиска типичных проблем безопасности в коде на языке </a:t>
            </a:r>
            <a:r>
              <a:rPr lang="en-GB" sz="2000" dirty="0">
                <a:latin typeface="ArialMT"/>
              </a:rPr>
              <a:t>Python.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726829-61A7-5446-9A1B-B251CD61E9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92300" y="965038"/>
            <a:ext cx="5359400" cy="1638991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89E30E54-2F07-9B40-AFF4-01DDDC98D543}"/>
              </a:ext>
            </a:extLst>
          </p:cNvPr>
          <p:cNvGrpSpPr/>
          <p:nvPr/>
        </p:nvGrpSpPr>
        <p:grpSpPr>
          <a:xfrm>
            <a:off x="311700" y="3638550"/>
            <a:ext cx="2717250" cy="1097248"/>
            <a:chOff x="311700" y="3638550"/>
            <a:chExt cx="2717250" cy="1097248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87EF7088-10AA-FD48-BACD-2D55B3CAF83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311700" y="3638550"/>
              <a:ext cx="2717250" cy="789471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FCA822B-1BEF-B743-A8B8-0E819C2AA40C}"/>
                </a:ext>
              </a:extLst>
            </p:cNvPr>
            <p:cNvSpPr txBox="1"/>
            <p:nvPr/>
          </p:nvSpPr>
          <p:spPr>
            <a:xfrm>
              <a:off x="1199482" y="4428021"/>
              <a:ext cx="692818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hlinkClick r:id="rId6"/>
                </a:rPr>
                <a:t>Safety</a:t>
              </a:r>
              <a:endParaRPr lang="en-RU" dirty="0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4AF01C0-4C22-F249-8DE2-94F12EA98EA7}"/>
              </a:ext>
            </a:extLst>
          </p:cNvPr>
          <p:cNvGrpSpPr/>
          <p:nvPr/>
        </p:nvGrpSpPr>
        <p:grpSpPr>
          <a:xfrm>
            <a:off x="4997450" y="3794510"/>
            <a:ext cx="1676400" cy="941288"/>
            <a:chOff x="4959350" y="3640621"/>
            <a:chExt cx="1676400" cy="941288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89F531E8-B620-AE45-BB73-ADDE0E13E8A1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959350" y="3640621"/>
              <a:ext cx="1676400" cy="78740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DA75311D-E06E-3B4B-80C7-9F6F2FE66D9C}"/>
                </a:ext>
              </a:extLst>
            </p:cNvPr>
            <p:cNvSpPr txBox="1"/>
            <p:nvPr/>
          </p:nvSpPr>
          <p:spPr>
            <a:xfrm>
              <a:off x="5505643" y="4274132"/>
              <a:ext cx="58381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>
                  <a:hlinkClick r:id="rId8"/>
                </a:rPr>
                <a:t>Snyk</a:t>
              </a:r>
              <a:endParaRPr lang="en-RU" dirty="0"/>
            </a:p>
          </p:txBody>
        </p:sp>
      </p:grpSp>
    </p:spTree>
    <p:extLst>
      <p:ext uri="{BB962C8B-B14F-4D97-AF65-F5344CB8AC3E}">
        <p14:creationId xmlns:p14="http://schemas.microsoft.com/office/powerpoint/2010/main" val="180315047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Тестирование кода</a:t>
            </a:r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 - </a:t>
            </a:r>
            <a:r>
              <a:rPr lang="en-US" dirty="0" err="1">
                <a:solidFill>
                  <a:srgbClr val="000000"/>
                </a:solidFill>
                <a:latin typeface="Helvetica Neue" panose="02000503000000020004" pitchFamily="2" charset="0"/>
              </a:rPr>
              <a:t>Pytest</a:t>
            </a:r>
            <a:endParaRPr lang="ru-RU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E2033B9-D80D-7D4B-AAC7-24D7BCB5E2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0550" y="1066800"/>
            <a:ext cx="8520600" cy="3776069"/>
          </a:xfrm>
        </p:spPr>
        <p:txBody>
          <a:bodyPr>
            <a:normAutofit/>
          </a:bodyPr>
          <a:lstStyle/>
          <a:p>
            <a:pPr marL="133350" indent="0">
              <a:buNone/>
            </a:pPr>
            <a:r>
              <a:rPr lang="ru-RU" sz="2000" dirty="0"/>
              <a:t>Как проверить, что ничего не сломалось?</a:t>
            </a:r>
            <a:endParaRPr lang="en-US" sz="2000" dirty="0"/>
          </a:p>
          <a:p>
            <a:pPr marL="133350" indent="0">
              <a:buNone/>
            </a:pPr>
            <a:endParaRPr lang="ru-RU" sz="1100" dirty="0"/>
          </a:p>
          <a:p>
            <a:r>
              <a:rPr lang="en-US" sz="2000" dirty="0" err="1"/>
              <a:t>CodeReview</a:t>
            </a:r>
            <a:endParaRPr lang="en-US" sz="2000" dirty="0"/>
          </a:p>
          <a:p>
            <a:r>
              <a:rPr lang="ru-RU" sz="2000" dirty="0"/>
              <a:t>Модульное тестирование</a:t>
            </a:r>
          </a:p>
          <a:p>
            <a:pPr lvl="1"/>
            <a:r>
              <a:rPr lang="en-US" sz="1800" dirty="0" err="1"/>
              <a:t>Pytest</a:t>
            </a:r>
            <a:endParaRPr lang="en-US" sz="1800" dirty="0"/>
          </a:p>
          <a:p>
            <a:pPr lvl="1"/>
            <a:r>
              <a:rPr lang="en-US" sz="1800" dirty="0" err="1"/>
              <a:t>Unittest</a:t>
            </a:r>
            <a:endParaRPr lang="en-US" sz="1800" dirty="0"/>
          </a:p>
          <a:p>
            <a:r>
              <a:rPr lang="ru-RU" sz="2000" dirty="0"/>
              <a:t>Покрытие кода тестами</a:t>
            </a:r>
          </a:p>
          <a:p>
            <a:pPr lvl="1"/>
            <a:r>
              <a:rPr lang="en-US" sz="1800" dirty="0" err="1"/>
              <a:t>Pytest-cov</a:t>
            </a:r>
            <a:r>
              <a:rPr lang="ru-RU" sz="1800" dirty="0"/>
              <a:t> (</a:t>
            </a:r>
            <a:r>
              <a:rPr lang="en-GB" sz="1800" dirty="0" err="1"/>
              <a:t>pytest</a:t>
            </a:r>
            <a:r>
              <a:rPr lang="en-GB" sz="1800" dirty="0"/>
              <a:t> --</a:t>
            </a:r>
            <a:r>
              <a:rPr lang="en-GB" sz="1800" dirty="0" err="1"/>
              <a:t>cov</a:t>
            </a:r>
            <a:r>
              <a:rPr lang="en-GB" sz="1800" dirty="0"/>
              <a:t>=</a:t>
            </a:r>
            <a:r>
              <a:rPr lang="en-GB" sz="1800" dirty="0" err="1"/>
              <a:t>src</a:t>
            </a:r>
            <a:r>
              <a:rPr lang="en-GB" sz="1800" dirty="0"/>
              <a:t> tests</a:t>
            </a:r>
            <a:r>
              <a:rPr lang="ru-RU" sz="1800" dirty="0"/>
              <a:t>)</a:t>
            </a:r>
            <a:endParaRPr lang="en-US" sz="1800" dirty="0"/>
          </a:p>
          <a:p>
            <a:r>
              <a:rPr lang="en-US" sz="2000" dirty="0"/>
              <a:t>Continuous Integration</a:t>
            </a:r>
            <a:endParaRPr lang="en-RU" sz="2000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B0EB977-F056-C648-A143-4E08338841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8500" y="1619250"/>
            <a:ext cx="2540000" cy="2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78609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Тестирование кода</a:t>
            </a:r>
            <a:endParaRPr lang="ru-RU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E2033B9-D80D-7D4B-AAC7-24D7BCB5E2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0550" y="1066800"/>
            <a:ext cx="6008200" cy="3776069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ru-RU" sz="2000" dirty="0"/>
              <a:t>Минимум, что нужно для тестов - функция с префиксом </a:t>
            </a:r>
            <a:r>
              <a:rPr lang="en-GB" sz="2000" b="1" dirty="0"/>
              <a:t>test_</a:t>
            </a:r>
          </a:p>
          <a:p>
            <a:pPr>
              <a:spcAft>
                <a:spcPts val="600"/>
              </a:spcAft>
            </a:pPr>
            <a:r>
              <a:rPr lang="ru-RU" sz="2000" dirty="0"/>
              <a:t>Проверка с помощью ключевого слова </a:t>
            </a:r>
            <a:r>
              <a:rPr lang="en-GB" sz="2000" b="1" dirty="0"/>
              <a:t>assert</a:t>
            </a:r>
          </a:p>
          <a:p>
            <a:pPr>
              <a:spcAft>
                <a:spcPts val="600"/>
              </a:spcAft>
            </a:pPr>
            <a:r>
              <a:rPr lang="ru-RU" sz="2000" dirty="0"/>
              <a:t>Наборы тестов и отчеты</a:t>
            </a:r>
          </a:p>
          <a:p>
            <a:pPr>
              <a:spcAft>
                <a:spcPts val="600"/>
              </a:spcAft>
            </a:pPr>
            <a:r>
              <a:rPr lang="ru-RU" sz="2000" dirty="0"/>
              <a:t>Более сложные варианты шаблона </a:t>
            </a:r>
            <a:r>
              <a:rPr lang="en-GB" sz="2000" dirty="0"/>
              <a:t>Arrange-Act-Assert (Given-When-Then) </a:t>
            </a:r>
            <a:r>
              <a:rPr lang="ru-RU" sz="2000" dirty="0"/>
              <a:t>с помощью </a:t>
            </a:r>
            <a:r>
              <a:rPr lang="en-GB" sz="2000" b="1" dirty="0"/>
              <a:t>fixtures</a:t>
            </a:r>
            <a:endParaRPr lang="en-RU" sz="2000" b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CB0EB977-F056-C648-A143-4E08338841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2550" y="1301750"/>
            <a:ext cx="2540000" cy="25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5802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Тестирование </a:t>
            </a:r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ML - </a:t>
            </a:r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  <a:hlinkClick r:id="rId3"/>
              </a:rPr>
              <a:t>Hypothesis</a:t>
            </a:r>
            <a:endParaRPr lang="ru-RU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E2033B9-D80D-7D4B-AAC7-24D7BCB5E2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0550" y="1066800"/>
            <a:ext cx="6008200" cy="3776069"/>
          </a:xfrm>
        </p:spPr>
        <p:txBody>
          <a:bodyPr>
            <a:normAutofit/>
          </a:bodyPr>
          <a:lstStyle/>
          <a:p>
            <a:pPr marL="133350" indent="0">
              <a:spcAft>
                <a:spcPts val="600"/>
              </a:spcAft>
              <a:buNone/>
            </a:pPr>
            <a:r>
              <a:rPr lang="ru-RU" sz="2000" dirty="0"/>
              <a:t>Инструмент для тестирования </a:t>
            </a:r>
            <a:r>
              <a:rPr lang="en-US" sz="2000" dirty="0"/>
              <a:t>ML </a:t>
            </a:r>
            <a:r>
              <a:rPr lang="ru-RU" sz="2000" dirty="0"/>
              <a:t>кода</a:t>
            </a:r>
            <a:endParaRPr lang="en-RU" sz="2000" dirty="0"/>
          </a:p>
        </p:txBody>
      </p:sp>
      <p:pic>
        <p:nvPicPr>
          <p:cNvPr id="3" name="Graphic 2">
            <a:hlinkClick r:id="rId3"/>
            <a:extLst>
              <a:ext uri="{FF2B5EF4-FFF2-40B4-BE49-F238E27FC236}">
                <a16:creationId xmlns:a16="http://schemas.microsoft.com/office/drawing/2014/main" id="{DD990BA5-CC34-384A-9116-6480C888F3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053750" y="1334282"/>
            <a:ext cx="1422400" cy="14478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349097D-9CCE-F749-AB71-06E6EFD855C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550" y="1770261"/>
            <a:ext cx="6150366" cy="3119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956710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-RU" dirty="0" err="1">
                <a:solidFill>
                  <a:srgbClr val="000000"/>
                </a:solidFill>
                <a:latin typeface="Helvetica Neue" panose="02000503000000020004" pitchFamily="2" charset="0"/>
              </a:rPr>
              <a:t>Логирование</a:t>
            </a:r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. </a:t>
            </a:r>
            <a:r>
              <a:rPr lang="en-GB" dirty="0">
                <a:solidFill>
                  <a:srgbClr val="000000"/>
                </a:solidFill>
                <a:latin typeface="Helvetica Neue" panose="02000503000000020004" pitchFamily="2" charset="0"/>
              </a:rPr>
              <a:t>logging </a:t>
            </a:r>
            <a:r>
              <a:rPr lang="ru-RU" dirty="0">
                <a:solidFill>
                  <a:srgbClr val="000000"/>
                </a:solidFill>
                <a:latin typeface="Helvetica Neue" panose="02000503000000020004" pitchFamily="2" charset="0"/>
              </a:rPr>
              <a:t>вместо </a:t>
            </a:r>
            <a:r>
              <a:rPr lang="en-GB" dirty="0">
                <a:solidFill>
                  <a:srgbClr val="000000"/>
                </a:solidFill>
                <a:latin typeface="Helvetica Neue" panose="02000503000000020004" pitchFamily="2" charset="0"/>
              </a:rPr>
              <a:t>print</a:t>
            </a:r>
            <a:endParaRPr lang="ru-RU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E2033B9-D80D-7D4B-AAC7-24D7BCB5E2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2851" y="1106557"/>
            <a:ext cx="3623650" cy="3776069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ru-RU" sz="1800" dirty="0"/>
              <a:t>Возможности настраивать уровни</a:t>
            </a:r>
          </a:p>
          <a:p>
            <a:pPr>
              <a:spcAft>
                <a:spcPts val="600"/>
              </a:spcAft>
            </a:pPr>
            <a:r>
              <a:rPr lang="ru-RU" sz="1800" dirty="0"/>
              <a:t>Включать / отключать вывод</a:t>
            </a:r>
          </a:p>
          <a:p>
            <a:pPr>
              <a:spcAft>
                <a:spcPts val="600"/>
              </a:spcAft>
            </a:pPr>
            <a:r>
              <a:rPr lang="ru-RU" sz="1800" dirty="0"/>
              <a:t>Печатать не только на экран, но и в файл</a:t>
            </a:r>
          </a:p>
          <a:p>
            <a:pPr>
              <a:spcAft>
                <a:spcPts val="600"/>
              </a:spcAft>
            </a:pPr>
            <a:r>
              <a:rPr lang="ru-RU" sz="1800" dirty="0"/>
              <a:t>Гибкие настройки форматирования</a:t>
            </a:r>
            <a:endParaRPr lang="en-RU" sz="18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6300094-2044-634F-8CD3-373836EBD76C}"/>
              </a:ext>
            </a:extLst>
          </p:cNvPr>
          <p:cNvSpPr txBox="1"/>
          <p:nvPr/>
        </p:nvSpPr>
        <p:spPr>
          <a:xfrm>
            <a:off x="3746501" y="1258034"/>
            <a:ext cx="5397500" cy="29271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en-GB" sz="1100" b="1" dirty="0">
                <a:solidFill>
                  <a:srgbClr val="D63847"/>
                </a:solidFill>
                <a:effectLst/>
                <a:latin typeface="CourierNew"/>
              </a:rPr>
              <a:t>import </a:t>
            </a:r>
            <a:r>
              <a:rPr lang="en-GB" sz="1100" b="1" dirty="0">
                <a:solidFill>
                  <a:srgbClr val="333333"/>
                </a:solidFill>
                <a:effectLst/>
                <a:latin typeface="CourierNew"/>
              </a:rPr>
              <a:t>logging </a:t>
            </a:r>
            <a:endParaRPr lang="ru-RU" sz="1100" b="1" dirty="0">
              <a:solidFill>
                <a:srgbClr val="333333"/>
              </a:solidFill>
              <a:effectLst/>
              <a:latin typeface="CourierNew"/>
            </a:endParaRPr>
          </a:p>
          <a:p>
            <a:pPr>
              <a:lnSpc>
                <a:spcPct val="120000"/>
              </a:lnSpc>
            </a:pPr>
            <a:endParaRPr lang="ru-RU" sz="1100" b="1" dirty="0">
              <a:solidFill>
                <a:srgbClr val="333333"/>
              </a:solidFill>
              <a:latin typeface="CourierNew"/>
            </a:endParaRPr>
          </a:p>
          <a:p>
            <a:pPr>
              <a:lnSpc>
                <a:spcPct val="120000"/>
              </a:lnSpc>
            </a:pPr>
            <a:r>
              <a:rPr lang="en-GB" sz="1100" b="1" dirty="0">
                <a:solidFill>
                  <a:srgbClr val="333333"/>
                </a:solidFill>
                <a:effectLst/>
                <a:latin typeface="CourierNew"/>
              </a:rPr>
              <a:t>logger </a:t>
            </a:r>
            <a:r>
              <a:rPr lang="en-GB" sz="1100" b="1" dirty="0">
                <a:solidFill>
                  <a:srgbClr val="005BC4"/>
                </a:solidFill>
                <a:effectLst/>
                <a:latin typeface="CourierNew"/>
              </a:rPr>
              <a:t>= </a:t>
            </a:r>
            <a:r>
              <a:rPr lang="en-GB" sz="1100" b="1" dirty="0" err="1">
                <a:solidFill>
                  <a:srgbClr val="333333"/>
                </a:solidFill>
                <a:effectLst/>
                <a:latin typeface="CourierNew"/>
              </a:rPr>
              <a:t>logging.</a:t>
            </a:r>
            <a:r>
              <a:rPr lang="en-GB" sz="1100" b="1" dirty="0" err="1">
                <a:solidFill>
                  <a:srgbClr val="6D3FBF"/>
                </a:solidFill>
                <a:effectLst/>
                <a:latin typeface="CourierNew"/>
              </a:rPr>
              <a:t>getLogger</a:t>
            </a:r>
            <a:r>
              <a:rPr lang="en-GB" sz="1100" b="1" dirty="0">
                <a:solidFill>
                  <a:srgbClr val="333333"/>
                </a:solidFill>
                <a:effectLst/>
                <a:latin typeface="CourierNew"/>
              </a:rPr>
              <a:t>() </a:t>
            </a:r>
            <a:endParaRPr lang="ru-RU" sz="1100" b="1" dirty="0">
              <a:solidFill>
                <a:srgbClr val="333333"/>
              </a:solidFill>
              <a:effectLst/>
              <a:latin typeface="CourierNew"/>
            </a:endParaRPr>
          </a:p>
          <a:p>
            <a:pPr>
              <a:lnSpc>
                <a:spcPct val="120000"/>
              </a:lnSpc>
            </a:pPr>
            <a:r>
              <a:rPr lang="en-GB" sz="1100" b="1" dirty="0" err="1">
                <a:solidFill>
                  <a:srgbClr val="333333"/>
                </a:solidFill>
                <a:effectLst/>
                <a:latin typeface="CourierNew"/>
              </a:rPr>
              <a:t>logger.</a:t>
            </a:r>
            <a:r>
              <a:rPr lang="en-GB" sz="1100" b="1" dirty="0" err="1">
                <a:solidFill>
                  <a:srgbClr val="6D3FBF"/>
                </a:solidFill>
                <a:effectLst/>
                <a:latin typeface="CourierNew"/>
              </a:rPr>
              <a:t>setLevel</a:t>
            </a:r>
            <a:r>
              <a:rPr lang="en-GB" sz="1100" b="1" dirty="0">
                <a:solidFill>
                  <a:srgbClr val="333333"/>
                </a:solidFill>
                <a:effectLst/>
                <a:latin typeface="CourierNew"/>
              </a:rPr>
              <a:t>(</a:t>
            </a:r>
            <a:r>
              <a:rPr lang="en-GB" sz="1100" b="1" dirty="0" err="1">
                <a:solidFill>
                  <a:srgbClr val="333333"/>
                </a:solidFill>
                <a:effectLst/>
                <a:latin typeface="CourierNew"/>
              </a:rPr>
              <a:t>logging.</a:t>
            </a:r>
            <a:r>
              <a:rPr lang="en-GB" sz="1100" b="1" dirty="0" err="1">
                <a:solidFill>
                  <a:srgbClr val="E26007"/>
                </a:solidFill>
                <a:effectLst/>
                <a:latin typeface="CourierNew"/>
              </a:rPr>
              <a:t>ERROR</a:t>
            </a:r>
            <a:r>
              <a:rPr lang="en-GB" sz="1100" b="1" dirty="0">
                <a:solidFill>
                  <a:srgbClr val="333333"/>
                </a:solidFill>
                <a:effectLst/>
                <a:latin typeface="CourierNew"/>
              </a:rPr>
              <a:t>) </a:t>
            </a:r>
            <a:endParaRPr lang="ru-RU" sz="1100" b="1" dirty="0">
              <a:solidFill>
                <a:srgbClr val="333333"/>
              </a:solidFill>
              <a:effectLst/>
              <a:latin typeface="CourierNew"/>
            </a:endParaRPr>
          </a:p>
          <a:p>
            <a:pPr>
              <a:lnSpc>
                <a:spcPct val="120000"/>
              </a:lnSpc>
            </a:pPr>
            <a:r>
              <a:rPr lang="en-GB" sz="1100" b="1" dirty="0" err="1">
                <a:solidFill>
                  <a:srgbClr val="333333"/>
                </a:solidFill>
                <a:effectLst/>
                <a:latin typeface="CourierNew"/>
              </a:rPr>
              <a:t>console_handler</a:t>
            </a:r>
            <a:r>
              <a:rPr lang="en-GB" sz="1100" b="1" dirty="0">
                <a:solidFill>
                  <a:srgbClr val="333333"/>
                </a:solidFill>
                <a:effectLst/>
                <a:latin typeface="CourierNew"/>
              </a:rPr>
              <a:t> </a:t>
            </a:r>
            <a:r>
              <a:rPr lang="en-GB" sz="1100" b="1" dirty="0">
                <a:solidFill>
                  <a:srgbClr val="005BC4"/>
                </a:solidFill>
                <a:effectLst/>
                <a:latin typeface="CourierNew"/>
              </a:rPr>
              <a:t>= </a:t>
            </a:r>
            <a:r>
              <a:rPr lang="en-GB" sz="1100" b="1" dirty="0" err="1">
                <a:solidFill>
                  <a:srgbClr val="333333"/>
                </a:solidFill>
                <a:effectLst/>
                <a:latin typeface="CourierNew"/>
              </a:rPr>
              <a:t>logging.</a:t>
            </a:r>
            <a:r>
              <a:rPr lang="en-GB" sz="1100" b="1" dirty="0" err="1">
                <a:solidFill>
                  <a:srgbClr val="E26007"/>
                </a:solidFill>
                <a:effectLst/>
                <a:latin typeface="CourierNew"/>
              </a:rPr>
              <a:t>StreamHandler</a:t>
            </a:r>
            <a:r>
              <a:rPr lang="en-GB" sz="1100" b="1" dirty="0">
                <a:solidFill>
                  <a:srgbClr val="333333"/>
                </a:solidFill>
                <a:effectLst/>
                <a:latin typeface="CourierNew"/>
              </a:rPr>
              <a:t>() </a:t>
            </a:r>
            <a:endParaRPr lang="ru-RU" sz="1100" b="1" dirty="0">
              <a:solidFill>
                <a:srgbClr val="333333"/>
              </a:solidFill>
              <a:effectLst/>
              <a:latin typeface="CourierNew"/>
            </a:endParaRPr>
          </a:p>
          <a:p>
            <a:pPr>
              <a:lnSpc>
                <a:spcPct val="120000"/>
              </a:lnSpc>
            </a:pPr>
            <a:r>
              <a:rPr lang="en-GB" sz="1100" b="1" dirty="0" err="1">
                <a:solidFill>
                  <a:srgbClr val="333333"/>
                </a:solidFill>
                <a:effectLst/>
                <a:latin typeface="CourierNew"/>
              </a:rPr>
              <a:t>log_format</a:t>
            </a:r>
            <a:r>
              <a:rPr lang="en-GB" sz="1100" b="1" dirty="0">
                <a:solidFill>
                  <a:srgbClr val="333333"/>
                </a:solidFill>
                <a:effectLst/>
                <a:latin typeface="CourierNew"/>
              </a:rPr>
              <a:t> </a:t>
            </a:r>
            <a:r>
              <a:rPr lang="en-GB" sz="1100" b="1" dirty="0">
                <a:solidFill>
                  <a:srgbClr val="005BC4"/>
                </a:solidFill>
                <a:effectLst/>
                <a:latin typeface="CourierNew"/>
              </a:rPr>
              <a:t>= </a:t>
            </a:r>
            <a:r>
              <a:rPr lang="en-GB" sz="1100" b="1" dirty="0">
                <a:solidFill>
                  <a:srgbClr val="022D60"/>
                </a:solidFill>
                <a:effectLst/>
                <a:latin typeface="CourierNew"/>
              </a:rPr>
              <a:t>'%(</a:t>
            </a:r>
            <a:r>
              <a:rPr lang="en-GB" sz="1100" b="1" dirty="0" err="1">
                <a:solidFill>
                  <a:srgbClr val="022D60"/>
                </a:solidFill>
                <a:effectLst/>
                <a:latin typeface="CourierNew"/>
              </a:rPr>
              <a:t>asctime</a:t>
            </a:r>
            <a:r>
              <a:rPr lang="en-GB" sz="1100" b="1" dirty="0">
                <a:solidFill>
                  <a:srgbClr val="022D60"/>
                </a:solidFill>
                <a:effectLst/>
                <a:latin typeface="CourierNew"/>
              </a:rPr>
              <a:t>)s | %(</a:t>
            </a:r>
            <a:r>
              <a:rPr lang="en-GB" sz="1100" b="1" dirty="0" err="1">
                <a:solidFill>
                  <a:srgbClr val="022D60"/>
                </a:solidFill>
                <a:effectLst/>
                <a:latin typeface="CourierNew"/>
              </a:rPr>
              <a:t>levelname</a:t>
            </a:r>
            <a:r>
              <a:rPr lang="en-GB" sz="1100" b="1" dirty="0">
                <a:solidFill>
                  <a:srgbClr val="022D60"/>
                </a:solidFill>
                <a:effectLst/>
                <a:latin typeface="CourierNew"/>
              </a:rPr>
              <a:t>)s: %(message)s’ </a:t>
            </a:r>
            <a:endParaRPr lang="ru-RU" sz="1100" b="1" dirty="0">
              <a:solidFill>
                <a:srgbClr val="022D60"/>
              </a:solidFill>
              <a:effectLst/>
              <a:latin typeface="CourierNew"/>
            </a:endParaRPr>
          </a:p>
          <a:p>
            <a:pPr>
              <a:lnSpc>
                <a:spcPct val="120000"/>
              </a:lnSpc>
            </a:pPr>
            <a:r>
              <a:rPr lang="en-GB" sz="1100" b="1" dirty="0" err="1">
                <a:solidFill>
                  <a:srgbClr val="333333"/>
                </a:solidFill>
                <a:effectLst/>
                <a:latin typeface="CourierNew"/>
              </a:rPr>
              <a:t>console_handler.</a:t>
            </a:r>
            <a:r>
              <a:rPr lang="en-GB" sz="1100" b="1" dirty="0" err="1">
                <a:solidFill>
                  <a:srgbClr val="6D3FBF"/>
                </a:solidFill>
                <a:effectLst/>
                <a:latin typeface="CourierNew"/>
              </a:rPr>
              <a:t>setFormatter</a:t>
            </a:r>
            <a:r>
              <a:rPr lang="en-GB" sz="1100" b="1" dirty="0">
                <a:solidFill>
                  <a:srgbClr val="333333"/>
                </a:solidFill>
                <a:effectLst/>
                <a:latin typeface="CourierNew"/>
              </a:rPr>
              <a:t>(</a:t>
            </a:r>
            <a:r>
              <a:rPr lang="en-GB" sz="1100" b="1" dirty="0" err="1">
                <a:solidFill>
                  <a:srgbClr val="333333"/>
                </a:solidFill>
                <a:effectLst/>
                <a:latin typeface="CourierNew"/>
              </a:rPr>
              <a:t>logging.</a:t>
            </a:r>
            <a:r>
              <a:rPr lang="en-GB" sz="1100" b="1" dirty="0" err="1">
                <a:solidFill>
                  <a:srgbClr val="E26007"/>
                </a:solidFill>
                <a:effectLst/>
                <a:latin typeface="CourierNew"/>
              </a:rPr>
              <a:t>Formatter</a:t>
            </a:r>
            <a:r>
              <a:rPr lang="en-GB" sz="1100" b="1" dirty="0">
                <a:solidFill>
                  <a:srgbClr val="333333"/>
                </a:solidFill>
                <a:effectLst/>
                <a:latin typeface="CourierNew"/>
              </a:rPr>
              <a:t>(</a:t>
            </a:r>
            <a:r>
              <a:rPr lang="en-GB" sz="1100" b="1" dirty="0" err="1">
                <a:solidFill>
                  <a:srgbClr val="333333"/>
                </a:solidFill>
                <a:effectLst/>
                <a:latin typeface="CourierNew"/>
              </a:rPr>
              <a:t>log_format</a:t>
            </a:r>
            <a:r>
              <a:rPr lang="en-GB" sz="1100" b="1" dirty="0">
                <a:solidFill>
                  <a:srgbClr val="333333"/>
                </a:solidFill>
                <a:effectLst/>
                <a:latin typeface="CourierNew"/>
              </a:rPr>
              <a:t>))</a:t>
            </a:r>
            <a:endParaRPr lang="ru-RU" sz="1100" b="1" dirty="0">
              <a:solidFill>
                <a:srgbClr val="333333"/>
              </a:solidFill>
              <a:effectLst/>
              <a:latin typeface="CourierNew"/>
            </a:endParaRPr>
          </a:p>
          <a:p>
            <a:pPr>
              <a:lnSpc>
                <a:spcPct val="120000"/>
              </a:lnSpc>
            </a:pPr>
            <a:r>
              <a:rPr lang="en-GB" sz="1100" b="1" dirty="0">
                <a:solidFill>
                  <a:srgbClr val="333333"/>
                </a:solidFill>
                <a:effectLst/>
                <a:latin typeface="CourierNew"/>
              </a:rPr>
              <a:t> </a:t>
            </a:r>
            <a:endParaRPr lang="ru-RU" sz="1100" b="1" dirty="0">
              <a:solidFill>
                <a:srgbClr val="333333"/>
              </a:solidFill>
              <a:effectLst/>
              <a:latin typeface="CourierNew"/>
            </a:endParaRPr>
          </a:p>
          <a:p>
            <a:pPr>
              <a:lnSpc>
                <a:spcPct val="120000"/>
              </a:lnSpc>
            </a:pPr>
            <a:r>
              <a:rPr lang="en-GB" sz="1100" b="1" dirty="0" err="1">
                <a:solidFill>
                  <a:srgbClr val="333333"/>
                </a:solidFill>
                <a:effectLst/>
                <a:latin typeface="CourierNew"/>
              </a:rPr>
              <a:t>logger.</a:t>
            </a:r>
            <a:r>
              <a:rPr lang="en-GB" sz="1100" b="1" dirty="0" err="1">
                <a:solidFill>
                  <a:srgbClr val="6D3FBF"/>
                </a:solidFill>
                <a:effectLst/>
                <a:latin typeface="CourierNew"/>
              </a:rPr>
              <a:t>addHandler</a:t>
            </a:r>
            <a:r>
              <a:rPr lang="en-GB" sz="1100" b="1" dirty="0">
                <a:solidFill>
                  <a:srgbClr val="333333"/>
                </a:solidFill>
                <a:effectLst/>
                <a:latin typeface="CourierNew"/>
              </a:rPr>
              <a:t>(</a:t>
            </a:r>
            <a:r>
              <a:rPr lang="en-GB" sz="1100" b="1" dirty="0" err="1">
                <a:solidFill>
                  <a:srgbClr val="333333"/>
                </a:solidFill>
                <a:effectLst/>
                <a:latin typeface="CourierNew"/>
              </a:rPr>
              <a:t>console_handler</a:t>
            </a:r>
            <a:r>
              <a:rPr lang="en-GB" sz="1100" b="1" dirty="0">
                <a:solidFill>
                  <a:srgbClr val="333333"/>
                </a:solidFill>
                <a:effectLst/>
                <a:latin typeface="CourierNew"/>
              </a:rPr>
              <a:t>) </a:t>
            </a:r>
            <a:endParaRPr lang="ru-RU" sz="1100" b="1" dirty="0">
              <a:solidFill>
                <a:srgbClr val="333333"/>
              </a:solidFill>
              <a:effectLst/>
              <a:latin typeface="CourierNew"/>
            </a:endParaRPr>
          </a:p>
          <a:p>
            <a:pPr>
              <a:lnSpc>
                <a:spcPct val="120000"/>
              </a:lnSpc>
            </a:pPr>
            <a:r>
              <a:rPr lang="en-GB" sz="1100" b="1" dirty="0" err="1">
                <a:solidFill>
                  <a:srgbClr val="333333"/>
                </a:solidFill>
                <a:effectLst/>
                <a:latin typeface="CourierNew"/>
              </a:rPr>
              <a:t>logger.</a:t>
            </a:r>
            <a:r>
              <a:rPr lang="en-GB" sz="1100" b="1" dirty="0" err="1">
                <a:solidFill>
                  <a:srgbClr val="6D3FBF"/>
                </a:solidFill>
                <a:effectLst/>
                <a:latin typeface="CourierNew"/>
              </a:rPr>
              <a:t>debug</a:t>
            </a:r>
            <a:r>
              <a:rPr lang="en-GB" sz="1100" b="1" dirty="0">
                <a:solidFill>
                  <a:srgbClr val="333333"/>
                </a:solidFill>
                <a:effectLst/>
                <a:latin typeface="CourierNew"/>
              </a:rPr>
              <a:t>(</a:t>
            </a:r>
            <a:r>
              <a:rPr lang="en-GB" sz="1100" b="1" dirty="0">
                <a:solidFill>
                  <a:srgbClr val="022D60"/>
                </a:solidFill>
                <a:effectLst/>
                <a:latin typeface="CourierNew"/>
              </a:rPr>
              <a:t>'Here you have some information for debugging.’</a:t>
            </a:r>
            <a:r>
              <a:rPr lang="en-GB" sz="1100" b="1" dirty="0">
                <a:solidFill>
                  <a:srgbClr val="333333"/>
                </a:solidFill>
                <a:effectLst/>
                <a:latin typeface="CourierNew"/>
              </a:rPr>
              <a:t>) </a:t>
            </a:r>
            <a:endParaRPr lang="ru-RU" sz="1100" b="1" dirty="0">
              <a:solidFill>
                <a:srgbClr val="333333"/>
              </a:solidFill>
              <a:effectLst/>
              <a:latin typeface="CourierNew"/>
            </a:endParaRPr>
          </a:p>
          <a:p>
            <a:pPr>
              <a:lnSpc>
                <a:spcPct val="120000"/>
              </a:lnSpc>
            </a:pPr>
            <a:r>
              <a:rPr lang="en-GB" sz="1100" b="1" dirty="0" err="1">
                <a:solidFill>
                  <a:srgbClr val="333333"/>
                </a:solidFill>
                <a:effectLst/>
                <a:latin typeface="CourierNew"/>
              </a:rPr>
              <a:t>logger.</a:t>
            </a:r>
            <a:r>
              <a:rPr lang="en-GB" sz="1100" b="1" dirty="0" err="1">
                <a:solidFill>
                  <a:srgbClr val="6D3FBF"/>
                </a:solidFill>
                <a:effectLst/>
                <a:latin typeface="CourierNew"/>
              </a:rPr>
              <a:t>info</a:t>
            </a:r>
            <a:r>
              <a:rPr lang="en-GB" sz="1100" b="1" dirty="0">
                <a:solidFill>
                  <a:srgbClr val="333333"/>
                </a:solidFill>
                <a:effectLst/>
                <a:latin typeface="CourierNew"/>
              </a:rPr>
              <a:t>(</a:t>
            </a:r>
            <a:r>
              <a:rPr lang="en-GB" sz="1100" b="1" dirty="0">
                <a:solidFill>
                  <a:srgbClr val="022D60"/>
                </a:solidFill>
                <a:effectLst/>
                <a:latin typeface="CourierNew"/>
              </a:rPr>
              <a:t>'Everything is normal. Chill!’</a:t>
            </a:r>
            <a:r>
              <a:rPr lang="en-GB" sz="1100" b="1" dirty="0">
                <a:solidFill>
                  <a:srgbClr val="333333"/>
                </a:solidFill>
                <a:effectLst/>
                <a:latin typeface="CourierNew"/>
              </a:rPr>
              <a:t>) </a:t>
            </a:r>
            <a:endParaRPr lang="ru-RU" sz="1100" b="1" dirty="0">
              <a:solidFill>
                <a:srgbClr val="333333"/>
              </a:solidFill>
              <a:effectLst/>
              <a:latin typeface="CourierNew"/>
            </a:endParaRPr>
          </a:p>
          <a:p>
            <a:pPr>
              <a:lnSpc>
                <a:spcPct val="120000"/>
              </a:lnSpc>
            </a:pPr>
            <a:r>
              <a:rPr lang="en-GB" sz="1100" b="1" dirty="0" err="1">
                <a:solidFill>
                  <a:srgbClr val="333333"/>
                </a:solidFill>
                <a:effectLst/>
                <a:latin typeface="CourierNew"/>
              </a:rPr>
              <a:t>logger.</a:t>
            </a:r>
            <a:r>
              <a:rPr lang="en-GB" sz="1100" b="1" dirty="0" err="1">
                <a:solidFill>
                  <a:srgbClr val="6D3FBF"/>
                </a:solidFill>
                <a:effectLst/>
                <a:latin typeface="CourierNew"/>
              </a:rPr>
              <a:t>warning</a:t>
            </a:r>
            <a:r>
              <a:rPr lang="en-GB" sz="1100" b="1" dirty="0">
                <a:solidFill>
                  <a:srgbClr val="333333"/>
                </a:solidFill>
                <a:effectLst/>
                <a:latin typeface="CourierNew"/>
              </a:rPr>
              <a:t>(</a:t>
            </a:r>
            <a:r>
              <a:rPr lang="en-GB" sz="1100" b="1" dirty="0">
                <a:solidFill>
                  <a:srgbClr val="022D60"/>
                </a:solidFill>
                <a:effectLst/>
                <a:latin typeface="CourierNew"/>
              </a:rPr>
              <a:t>'Something unexpected but not important.’</a:t>
            </a:r>
            <a:r>
              <a:rPr lang="en-GB" sz="1100" b="1" dirty="0">
                <a:solidFill>
                  <a:srgbClr val="333333"/>
                </a:solidFill>
                <a:effectLst/>
                <a:latin typeface="CourierNew"/>
              </a:rPr>
              <a:t>) </a:t>
            </a:r>
            <a:endParaRPr lang="ru-RU" sz="1100" b="1" dirty="0">
              <a:solidFill>
                <a:srgbClr val="333333"/>
              </a:solidFill>
              <a:effectLst/>
              <a:latin typeface="CourierNew"/>
            </a:endParaRPr>
          </a:p>
          <a:p>
            <a:pPr>
              <a:lnSpc>
                <a:spcPct val="120000"/>
              </a:lnSpc>
            </a:pPr>
            <a:r>
              <a:rPr lang="en-GB" sz="1100" b="1" dirty="0" err="1">
                <a:solidFill>
                  <a:srgbClr val="333333"/>
                </a:solidFill>
                <a:effectLst/>
                <a:latin typeface="CourierNew"/>
              </a:rPr>
              <a:t>logger.</a:t>
            </a:r>
            <a:r>
              <a:rPr lang="en-GB" sz="1100" b="1" dirty="0" err="1">
                <a:solidFill>
                  <a:srgbClr val="6D3FBF"/>
                </a:solidFill>
                <a:effectLst/>
                <a:latin typeface="CourierNew"/>
              </a:rPr>
              <a:t>error</a:t>
            </a:r>
            <a:r>
              <a:rPr lang="en-GB" sz="1100" b="1" dirty="0">
                <a:solidFill>
                  <a:srgbClr val="333333"/>
                </a:solidFill>
                <a:effectLst/>
                <a:latin typeface="CourierNew"/>
              </a:rPr>
              <a:t>(</a:t>
            </a:r>
            <a:r>
              <a:rPr lang="en-GB" sz="1100" b="1" dirty="0">
                <a:solidFill>
                  <a:srgbClr val="022D60"/>
                </a:solidFill>
                <a:effectLst/>
                <a:latin typeface="CourierNew"/>
              </a:rPr>
              <a:t>'Something unexpected and important happened.’</a:t>
            </a:r>
            <a:r>
              <a:rPr lang="en-GB" sz="1100" b="1" dirty="0">
                <a:solidFill>
                  <a:srgbClr val="333333"/>
                </a:solidFill>
                <a:effectLst/>
                <a:latin typeface="CourierNew"/>
              </a:rPr>
              <a:t>) </a:t>
            </a:r>
            <a:endParaRPr lang="ru-RU" sz="1100" b="1" dirty="0">
              <a:solidFill>
                <a:srgbClr val="333333"/>
              </a:solidFill>
              <a:effectLst/>
              <a:latin typeface="CourierNew"/>
            </a:endParaRPr>
          </a:p>
          <a:p>
            <a:pPr>
              <a:lnSpc>
                <a:spcPct val="120000"/>
              </a:lnSpc>
            </a:pPr>
            <a:r>
              <a:rPr lang="en-GB" sz="1100" b="1" dirty="0" err="1">
                <a:solidFill>
                  <a:srgbClr val="333333"/>
                </a:solidFill>
                <a:effectLst/>
                <a:latin typeface="CourierNew"/>
              </a:rPr>
              <a:t>logger.</a:t>
            </a:r>
            <a:r>
              <a:rPr lang="en-GB" sz="1100" b="1" dirty="0" err="1">
                <a:solidFill>
                  <a:srgbClr val="6D3FBF"/>
                </a:solidFill>
                <a:effectLst/>
                <a:latin typeface="CourierNew"/>
              </a:rPr>
              <a:t>critical</a:t>
            </a:r>
            <a:r>
              <a:rPr lang="en-GB" sz="1100" b="1" dirty="0">
                <a:solidFill>
                  <a:srgbClr val="333333"/>
                </a:solidFill>
                <a:effectLst/>
                <a:latin typeface="CourierNew"/>
              </a:rPr>
              <a:t>(</a:t>
            </a:r>
            <a:r>
              <a:rPr lang="en-GB" sz="1100" b="1" dirty="0">
                <a:solidFill>
                  <a:srgbClr val="022D60"/>
                </a:solidFill>
                <a:effectLst/>
                <a:latin typeface="CourierNew"/>
              </a:rPr>
              <a:t>'OMG!!!'</a:t>
            </a:r>
            <a:r>
              <a:rPr lang="en-GB" sz="1100" b="1" dirty="0">
                <a:solidFill>
                  <a:srgbClr val="333333"/>
                </a:solidFill>
                <a:effectLst/>
                <a:latin typeface="CourierNew"/>
              </a:rPr>
              <a:t>) </a:t>
            </a:r>
            <a:endParaRPr lang="en-GB" sz="1000" dirty="0"/>
          </a:p>
        </p:txBody>
      </p:sp>
    </p:spTree>
    <p:extLst>
      <p:ext uri="{BB962C8B-B14F-4D97-AF65-F5344CB8AC3E}">
        <p14:creationId xmlns:p14="http://schemas.microsoft.com/office/powerpoint/2010/main" val="408346385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5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dirty="0">
                <a:solidFill>
                  <a:srgbClr val="000000"/>
                </a:solidFill>
                <a:latin typeface="Helvetica Neue" panose="02000503000000020004" pitchFamily="2" charset="0"/>
              </a:rPr>
              <a:t>Continuous integration</a:t>
            </a:r>
            <a:endParaRPr lang="ru-RU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E2033B9-D80D-7D4B-AAC7-24D7BCB5E2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2850" y="1106557"/>
            <a:ext cx="8843349" cy="3402813"/>
          </a:xfrm>
        </p:spPr>
        <p:txBody>
          <a:bodyPr>
            <a:normAutofit fontScale="70000" lnSpcReduction="20000"/>
          </a:bodyPr>
          <a:lstStyle/>
          <a:p>
            <a:pPr>
              <a:spcAft>
                <a:spcPts val="600"/>
              </a:spcAft>
            </a:pPr>
            <a:r>
              <a:rPr lang="ru-RU" sz="1800" dirty="0"/>
              <a:t>Практика предлагает как можно чаще делать </a:t>
            </a:r>
            <a:r>
              <a:rPr lang="ru-RU" sz="1800" dirty="0" err="1"/>
              <a:t>коммиты</a:t>
            </a:r>
            <a:r>
              <a:rPr lang="ru-RU" sz="1800" dirty="0"/>
              <a:t> / вливать код из </a:t>
            </a:r>
            <a:r>
              <a:rPr lang="en-GB" sz="1800" dirty="0"/>
              <a:t>feature </a:t>
            </a:r>
            <a:r>
              <a:rPr lang="ru-RU" sz="1800" dirty="0"/>
              <a:t>веток</a:t>
            </a:r>
          </a:p>
          <a:p>
            <a:pPr>
              <a:spcAft>
                <a:spcPts val="600"/>
              </a:spcAft>
            </a:pPr>
            <a:r>
              <a:rPr lang="ru-RU" sz="1800" dirty="0"/>
              <a:t>Перед </a:t>
            </a:r>
            <a:r>
              <a:rPr lang="ru-RU" sz="1800" dirty="0" err="1"/>
              <a:t>коммитом</a:t>
            </a:r>
            <a:r>
              <a:rPr lang="ru-RU" sz="1800" dirty="0"/>
              <a:t> / слиянием веток прогоняются тесты - как правило на независимом окружении</a:t>
            </a:r>
          </a:p>
          <a:p>
            <a:pPr>
              <a:spcAft>
                <a:spcPts val="600"/>
              </a:spcAft>
            </a:pPr>
            <a:r>
              <a:rPr lang="ru-RU" sz="1800" dirty="0"/>
              <a:t>Документирование </a:t>
            </a:r>
          </a:p>
          <a:p>
            <a:pPr lvl="1">
              <a:spcAft>
                <a:spcPts val="600"/>
              </a:spcAft>
            </a:pPr>
            <a:r>
              <a:rPr lang="en-US" sz="1600" dirty="0"/>
              <a:t>Sphinx</a:t>
            </a:r>
            <a:endParaRPr lang="ru-RU" sz="1600" dirty="0"/>
          </a:p>
          <a:p>
            <a:pPr lvl="1">
              <a:spcAft>
                <a:spcPts val="600"/>
              </a:spcAft>
            </a:pPr>
            <a:r>
              <a:rPr lang="en-US" sz="1600" dirty="0" err="1"/>
              <a:t>ReadTheDocs</a:t>
            </a:r>
            <a:endParaRPr lang="en-US" sz="1600" dirty="0"/>
          </a:p>
          <a:p>
            <a:pPr lvl="1">
              <a:spcAft>
                <a:spcPts val="600"/>
              </a:spcAft>
            </a:pPr>
            <a:r>
              <a:rPr lang="en-US" sz="1600" dirty="0" err="1"/>
              <a:t>MkDocs</a:t>
            </a:r>
            <a:endParaRPr lang="ru-RU" sz="1600" dirty="0"/>
          </a:p>
          <a:p>
            <a:pPr>
              <a:spcAft>
                <a:spcPts val="600"/>
              </a:spcAft>
            </a:pPr>
            <a:r>
              <a:rPr lang="ru-RU" sz="1800" dirty="0"/>
              <a:t>Готовые инструменты</a:t>
            </a:r>
          </a:p>
          <a:p>
            <a:pPr lvl="1">
              <a:spcAft>
                <a:spcPts val="600"/>
              </a:spcAft>
            </a:pPr>
            <a:r>
              <a:rPr lang="en-GB" sz="1600" dirty="0"/>
              <a:t>GitHub actions</a:t>
            </a:r>
          </a:p>
          <a:p>
            <a:pPr lvl="1">
              <a:spcAft>
                <a:spcPts val="600"/>
              </a:spcAft>
            </a:pPr>
            <a:r>
              <a:rPr lang="en-GB" sz="1600" dirty="0"/>
              <a:t>Gitlab CI </a:t>
            </a:r>
            <a:endParaRPr lang="ru-RU" sz="1600" dirty="0"/>
          </a:p>
          <a:p>
            <a:pPr lvl="1">
              <a:spcAft>
                <a:spcPts val="600"/>
              </a:spcAft>
            </a:pPr>
            <a:r>
              <a:rPr lang="en-GB" sz="1600" dirty="0"/>
              <a:t>Jenkins</a:t>
            </a:r>
          </a:p>
        </p:txBody>
      </p:sp>
    </p:spTree>
    <p:extLst>
      <p:ext uri="{BB962C8B-B14F-4D97-AF65-F5344CB8AC3E}">
        <p14:creationId xmlns:p14="http://schemas.microsoft.com/office/powerpoint/2010/main" val="12881777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Список материалов для изучения</a:t>
            </a:r>
            <a:endParaRPr dirty="0"/>
          </a:p>
        </p:txBody>
      </p:sp>
      <p:sp>
        <p:nvSpPr>
          <p:cNvPr id="408" name="Google Shape;408;p71"/>
          <p:cNvSpPr txBox="1">
            <a:spLocks noGrp="1"/>
          </p:cNvSpPr>
          <p:nvPr>
            <p:ph type="body" idx="4294967295"/>
          </p:nvPr>
        </p:nvSpPr>
        <p:spPr>
          <a:xfrm>
            <a:off x="500550" y="1197862"/>
            <a:ext cx="7742400" cy="344680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indent="-311150">
              <a:lnSpc>
                <a:spcPct val="150000"/>
              </a:lnSpc>
              <a:buSzPts val="1300"/>
              <a:buFont typeface="Roboto"/>
              <a:buAutoNum type="arabicPeriod"/>
            </a:pPr>
            <a:r>
              <a:rPr lang="ru-RU" sz="1300" dirty="0">
                <a:hlinkClick r:id="rId3"/>
              </a:rPr>
              <a:t>Роберт Мартин «Чистый код»</a:t>
            </a:r>
            <a:endParaRPr lang="ru-RU" sz="1300" dirty="0"/>
          </a:p>
          <a:p>
            <a:pPr indent="-311150">
              <a:lnSpc>
                <a:spcPct val="150000"/>
              </a:lnSpc>
              <a:buSzPts val="1300"/>
              <a:buFont typeface="Roboto"/>
              <a:buAutoNum type="arabicPeriod"/>
            </a:pPr>
            <a:r>
              <a:rPr lang="ru-RU" sz="1300" dirty="0" err="1"/>
              <a:t>Макконнелл</a:t>
            </a:r>
            <a:r>
              <a:rPr lang="ru-RU" sz="1300" dirty="0"/>
              <a:t> С. «Совершенный код»</a:t>
            </a:r>
          </a:p>
          <a:p>
            <a:pPr indent="-311150">
              <a:lnSpc>
                <a:spcPct val="150000"/>
              </a:lnSpc>
              <a:buSzPts val="1300"/>
              <a:buFont typeface="Roboto"/>
              <a:buAutoNum type="arabicPeriod"/>
            </a:pPr>
            <a:endParaRPr lang="en-GB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D1F89-72D4-0C45-A178-9CCCD6DAFE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Практика</a:t>
            </a:r>
            <a:endParaRPr lang="en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CC998D-8401-6E4C-9D19-3C889EC4BB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75573" y="883085"/>
            <a:ext cx="8745577" cy="4183693"/>
          </a:xfrm>
        </p:spPr>
        <p:txBody>
          <a:bodyPr>
            <a:normAutofit fontScale="92500" lnSpcReduction="20000"/>
          </a:bodyPr>
          <a:lstStyle/>
          <a:p>
            <a:pPr>
              <a:spcAft>
                <a:spcPts val="600"/>
              </a:spcAft>
            </a:pPr>
            <a:r>
              <a:rPr lang="ru-RU" sz="1800" b="1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Создайте </a:t>
            </a:r>
            <a:r>
              <a:rPr lang="en-GB" sz="1800" dirty="0">
                <a:solidFill>
                  <a:schemeClr val="tx1"/>
                </a:solidFill>
                <a:effectLst/>
                <a:latin typeface="AvenirLTPro"/>
              </a:rPr>
              <a:t>fork </a:t>
            </a:r>
            <a:r>
              <a:rPr lang="ru-RU" sz="1800" b="1" dirty="0" err="1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репозитория</a:t>
            </a:r>
            <a:r>
              <a:rPr lang="ru-RU" sz="1800" b="1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GB" sz="1800" dirty="0">
                <a:solidFill>
                  <a:schemeClr val="tx1"/>
                </a:solidFill>
                <a:effectLst/>
                <a:latin typeface="AvenirLTPro"/>
              </a:rPr>
              <a:t>https://</a:t>
            </a:r>
            <a:r>
              <a:rPr lang="en-GB" sz="1800" dirty="0" err="1">
                <a:solidFill>
                  <a:schemeClr val="tx1"/>
                </a:solidFill>
                <a:effectLst/>
                <a:latin typeface="AvenirLTPro"/>
              </a:rPr>
              <a:t>github.com</a:t>
            </a:r>
            <a:r>
              <a:rPr lang="en-GB" sz="1800" dirty="0">
                <a:solidFill>
                  <a:schemeClr val="tx1"/>
                </a:solidFill>
                <a:effectLst/>
                <a:latin typeface="AvenirLTPro"/>
              </a:rPr>
              <a:t>/</a:t>
            </a:r>
            <a:r>
              <a:rPr lang="en-GB" sz="1800" dirty="0" err="1">
                <a:solidFill>
                  <a:schemeClr val="tx1"/>
                </a:solidFill>
                <a:effectLst/>
                <a:latin typeface="AvenirLTPro"/>
              </a:rPr>
              <a:t>sdukshis</a:t>
            </a:r>
            <a:r>
              <a:rPr lang="en-GB" sz="1800" dirty="0">
                <a:solidFill>
                  <a:schemeClr val="tx1"/>
                </a:solidFill>
                <a:effectLst/>
                <a:latin typeface="AvenirLTPro"/>
              </a:rPr>
              <a:t>/</a:t>
            </a:r>
            <a:r>
              <a:rPr lang="en-GB" sz="1800" dirty="0" err="1">
                <a:solidFill>
                  <a:schemeClr val="tx1"/>
                </a:solidFill>
                <a:effectLst/>
                <a:latin typeface="AvenirLTPro"/>
              </a:rPr>
              <a:t>otus</a:t>
            </a:r>
            <a:r>
              <a:rPr lang="en-GB" sz="1800" dirty="0">
                <a:solidFill>
                  <a:schemeClr val="tx1"/>
                </a:solidFill>
                <a:effectLst/>
                <a:latin typeface="AvenirLTPro"/>
              </a:rPr>
              <a:t>-ml-</a:t>
            </a:r>
            <a:r>
              <a:rPr lang="en-GB" sz="1800" dirty="0" err="1">
                <a:solidFill>
                  <a:schemeClr val="tx1"/>
                </a:solidFill>
                <a:effectLst/>
                <a:latin typeface="AvenirLTPro"/>
              </a:rPr>
              <a:t>skel</a:t>
            </a:r>
            <a:r>
              <a:rPr lang="en-GB" sz="1800" dirty="0">
                <a:solidFill>
                  <a:schemeClr val="tx1"/>
                </a:solidFill>
                <a:effectLst/>
                <a:latin typeface="AvenirLTPro"/>
              </a:rPr>
              <a:t> </a:t>
            </a:r>
            <a:endParaRPr lang="en-GB" dirty="0">
              <a:solidFill>
                <a:schemeClr val="tx1"/>
              </a:solidFill>
              <a:effectLst/>
            </a:endParaRPr>
          </a:p>
          <a:p>
            <a:pPr>
              <a:spcAft>
                <a:spcPts val="600"/>
              </a:spcAft>
            </a:pPr>
            <a:r>
              <a:rPr lang="ru-RU" sz="1800" b="1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Скопируйте себе свой </a:t>
            </a:r>
            <a:r>
              <a:rPr lang="en-GB" sz="1800" dirty="0">
                <a:solidFill>
                  <a:schemeClr val="tx1"/>
                </a:solidFill>
                <a:effectLst/>
                <a:latin typeface="AvenirLTPro"/>
              </a:rPr>
              <a:t>fork </a:t>
            </a:r>
            <a:r>
              <a:rPr lang="ru-RU" sz="1800" b="1" dirty="0" err="1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репозитория</a:t>
            </a:r>
            <a:r>
              <a:rPr lang="ru-RU" sz="1800" b="1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с помощью </a:t>
            </a:r>
            <a:r>
              <a:rPr lang="en-GB" sz="1800" dirty="0">
                <a:solidFill>
                  <a:schemeClr val="tx1"/>
                </a:solidFill>
                <a:effectLst/>
                <a:latin typeface="AvenirLTPro"/>
              </a:rPr>
              <a:t>git clone</a:t>
            </a:r>
            <a:endParaRPr lang="ru-RU" sz="1800" dirty="0">
              <a:solidFill>
                <a:schemeClr val="tx1"/>
              </a:solidFill>
              <a:latin typeface="AvenirLTPro"/>
            </a:endParaRPr>
          </a:p>
          <a:p>
            <a:pPr>
              <a:spcAft>
                <a:spcPts val="600"/>
              </a:spcAft>
            </a:pPr>
            <a:r>
              <a:rPr lang="ru-RU" sz="1800" b="1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Настройте окружение</a:t>
            </a:r>
            <a:r>
              <a:rPr lang="ru-RU" sz="1800" dirty="0">
                <a:solidFill>
                  <a:schemeClr val="tx1"/>
                </a:solidFill>
                <a:effectLst/>
                <a:latin typeface="AvenirLTPro"/>
              </a:rPr>
              <a:t>, </a:t>
            </a:r>
            <a:r>
              <a:rPr lang="ru-RU" sz="1800" b="1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следуя инструкциям в </a:t>
            </a:r>
            <a:r>
              <a:rPr lang="en-GB" sz="1800" dirty="0" err="1">
                <a:solidFill>
                  <a:schemeClr val="tx1"/>
                </a:solidFill>
                <a:effectLst/>
                <a:latin typeface="AvenirLTPro"/>
              </a:rPr>
              <a:t>CONTRIBUTING.md</a:t>
            </a:r>
            <a:endParaRPr lang="ru-RU" sz="1800" dirty="0">
              <a:solidFill>
                <a:schemeClr val="tx1"/>
              </a:solidFill>
              <a:latin typeface="AvenirLTPro"/>
            </a:endParaRPr>
          </a:p>
          <a:p>
            <a:pPr>
              <a:spcAft>
                <a:spcPts val="600"/>
              </a:spcAft>
            </a:pPr>
            <a:r>
              <a:rPr lang="ru-RU" sz="1800" b="1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Запустите в окружении </a:t>
            </a:r>
            <a:r>
              <a:rPr lang="en-GB" sz="1800" dirty="0" err="1">
                <a:solidFill>
                  <a:schemeClr val="tx1"/>
                </a:solidFill>
                <a:effectLst/>
                <a:latin typeface="AvenirLTPro"/>
              </a:rPr>
              <a:t>jupyter</a:t>
            </a:r>
            <a:r>
              <a:rPr lang="en-GB" sz="1800" dirty="0">
                <a:solidFill>
                  <a:schemeClr val="tx1"/>
                </a:solidFill>
                <a:effectLst/>
                <a:latin typeface="AvenirLTPro"/>
              </a:rPr>
              <a:t> </a:t>
            </a:r>
            <a:r>
              <a:rPr lang="ru-RU" sz="1800" b="1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и выполните ноутбук </a:t>
            </a:r>
            <a:r>
              <a:rPr lang="en-GB" sz="1800" dirty="0" err="1">
                <a:solidFill>
                  <a:schemeClr val="tx1"/>
                </a:solidFill>
                <a:effectLst/>
                <a:latin typeface="AvenirLTPro"/>
              </a:rPr>
              <a:t>EDA.ipynb</a:t>
            </a:r>
            <a:r>
              <a:rPr lang="en-GB" sz="1800" dirty="0">
                <a:solidFill>
                  <a:schemeClr val="tx1"/>
                </a:solidFill>
                <a:effectLst/>
                <a:latin typeface="AvenirLTPro"/>
              </a:rPr>
              <a:t> </a:t>
            </a:r>
            <a:endParaRPr lang="en-GB" dirty="0">
              <a:solidFill>
                <a:schemeClr val="tx1"/>
              </a:solidFill>
              <a:effectLst/>
            </a:endParaRPr>
          </a:p>
          <a:p>
            <a:pPr>
              <a:spcAft>
                <a:spcPts val="600"/>
              </a:spcAft>
            </a:pPr>
            <a:r>
              <a:rPr lang="ru-RU" sz="1800" b="1" dirty="0" err="1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Создайте</a:t>
            </a:r>
            <a:r>
              <a:rPr lang="ru-RU" sz="1800" b="1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GB" sz="1800" dirty="0">
                <a:solidFill>
                  <a:schemeClr val="tx1"/>
                </a:solidFill>
                <a:effectLst/>
                <a:latin typeface="AvenirLTPro"/>
              </a:rPr>
              <a:t>issue </a:t>
            </a:r>
            <a:r>
              <a:rPr lang="ru-RU" sz="1800" b="1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в </a:t>
            </a:r>
            <a:r>
              <a:rPr lang="en-GB" sz="1800" dirty="0" err="1">
                <a:solidFill>
                  <a:schemeClr val="tx1"/>
                </a:solidFill>
                <a:effectLst/>
                <a:latin typeface="AvenirLTPro"/>
              </a:rPr>
              <a:t>github</a:t>
            </a:r>
            <a:r>
              <a:rPr lang="en-GB" sz="1800" dirty="0">
                <a:solidFill>
                  <a:schemeClr val="tx1"/>
                </a:solidFill>
                <a:effectLst/>
                <a:latin typeface="AvenirLTPro"/>
              </a:rPr>
              <a:t> </a:t>
            </a:r>
            <a:r>
              <a:rPr lang="ru-RU" sz="1800" b="1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по заполнению пропущенных значений в </a:t>
            </a:r>
            <a:r>
              <a:rPr lang="en-GB" sz="1800" dirty="0">
                <a:solidFill>
                  <a:schemeClr val="tx1"/>
                </a:solidFill>
                <a:effectLst/>
                <a:latin typeface="AvenirLTPro"/>
              </a:rPr>
              <a:t>Age</a:t>
            </a:r>
            <a:endParaRPr lang="ru-RU" sz="1800" dirty="0">
              <a:solidFill>
                <a:schemeClr val="tx1"/>
              </a:solidFill>
              <a:effectLst/>
              <a:latin typeface="AvenirLTPro"/>
            </a:endParaRPr>
          </a:p>
          <a:p>
            <a:pPr>
              <a:spcAft>
                <a:spcPts val="600"/>
              </a:spcAft>
            </a:pPr>
            <a:r>
              <a:rPr lang="ru-RU" sz="1800" b="1" dirty="0" err="1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Создайте</a:t>
            </a:r>
            <a:r>
              <a:rPr lang="ru-RU" sz="1800" b="1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локально в </a:t>
            </a:r>
            <a:r>
              <a:rPr lang="en-GB" sz="1800" dirty="0">
                <a:solidFill>
                  <a:schemeClr val="tx1"/>
                </a:solidFill>
                <a:effectLst/>
                <a:latin typeface="AvenirLTPro"/>
              </a:rPr>
              <a:t>git </a:t>
            </a:r>
            <a:r>
              <a:rPr lang="ru-RU" sz="1800" b="1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ветку: </a:t>
            </a:r>
            <a:br>
              <a:rPr lang="ru-RU" sz="1800" b="1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lang="en-GB" sz="1800" dirty="0">
                <a:solidFill>
                  <a:schemeClr val="tx1"/>
                </a:solidFill>
                <a:effectLst/>
                <a:latin typeface="AvenirLTPro"/>
              </a:rPr>
              <a:t>git checkout -b feature/...</a:t>
            </a:r>
            <a:endParaRPr lang="ru-RU" sz="1800" dirty="0">
              <a:solidFill>
                <a:schemeClr val="tx1"/>
              </a:solidFill>
              <a:effectLst/>
              <a:latin typeface="AvenirLTPro"/>
            </a:endParaRPr>
          </a:p>
          <a:p>
            <a:pPr>
              <a:spcAft>
                <a:spcPts val="600"/>
              </a:spcAft>
            </a:pPr>
            <a:r>
              <a:rPr lang="ru-RU" sz="1800" b="1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Добавьте код и </a:t>
            </a:r>
            <a:r>
              <a:rPr lang="ru-RU" sz="1800" b="1" dirty="0" err="1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создайте</a:t>
            </a:r>
            <a:r>
              <a:rPr lang="ru-RU" sz="1800" b="1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GB" sz="1800" dirty="0">
                <a:solidFill>
                  <a:schemeClr val="tx1"/>
                </a:solidFill>
                <a:effectLst/>
                <a:latin typeface="AvenirLTPro"/>
              </a:rPr>
              <a:t>commit</a:t>
            </a:r>
            <a:r>
              <a:rPr lang="ru-RU" sz="1800" dirty="0">
                <a:solidFill>
                  <a:schemeClr val="tx1"/>
                </a:solidFill>
                <a:effectLst/>
                <a:latin typeface="AvenirLTPro"/>
              </a:rPr>
              <a:t>:</a:t>
            </a:r>
            <a:r>
              <a:rPr lang="en-GB" sz="1800" dirty="0">
                <a:solidFill>
                  <a:schemeClr val="tx1"/>
                </a:solidFill>
                <a:effectLst/>
                <a:latin typeface="AvenirLTPro"/>
              </a:rPr>
              <a:t> </a:t>
            </a:r>
            <a:br>
              <a:rPr lang="ru-RU" sz="1800" dirty="0">
                <a:solidFill>
                  <a:schemeClr val="tx1"/>
                </a:solidFill>
                <a:effectLst/>
                <a:latin typeface="AvenirLTPro"/>
              </a:rPr>
            </a:br>
            <a:r>
              <a:rPr lang="en-GB" sz="1800" dirty="0">
                <a:solidFill>
                  <a:schemeClr val="tx1"/>
                </a:solidFill>
                <a:effectLst/>
                <a:latin typeface="AvenirLTPro"/>
              </a:rPr>
              <a:t>git commit -am”</a:t>
            </a:r>
            <a:r>
              <a:rPr lang="ru-RU" sz="1800" b="1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описание изменений</a:t>
            </a:r>
            <a:r>
              <a:rPr lang="ru-RU" sz="1800" dirty="0">
                <a:solidFill>
                  <a:schemeClr val="tx1"/>
                </a:solidFill>
                <a:effectLst/>
                <a:latin typeface="AvenirLTPro"/>
              </a:rPr>
              <a:t>”</a:t>
            </a:r>
          </a:p>
          <a:p>
            <a:pPr>
              <a:spcAft>
                <a:spcPts val="600"/>
              </a:spcAft>
            </a:pPr>
            <a:r>
              <a:rPr lang="ru-RU" sz="1800" b="1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Отправьте изменения на </a:t>
            </a:r>
            <a:r>
              <a:rPr lang="en-GB" sz="1800" dirty="0" err="1">
                <a:solidFill>
                  <a:schemeClr val="tx1"/>
                </a:solidFill>
                <a:effectLst/>
                <a:latin typeface="AvenirLTPro"/>
              </a:rPr>
              <a:t>github</a:t>
            </a:r>
            <a:r>
              <a:rPr lang="en-GB" sz="1800" dirty="0">
                <a:solidFill>
                  <a:schemeClr val="tx1"/>
                </a:solidFill>
                <a:effectLst/>
                <a:latin typeface="AvenirLTPro"/>
              </a:rPr>
              <a:t> </a:t>
            </a:r>
            <a:r>
              <a:rPr lang="ru-RU" sz="1800" b="1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и </a:t>
            </a:r>
            <a:r>
              <a:rPr lang="ru-RU" sz="1800" b="1" dirty="0" err="1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создайте</a:t>
            </a:r>
            <a:r>
              <a:rPr lang="ru-RU" sz="1800" b="1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GB" sz="1800" dirty="0">
                <a:solidFill>
                  <a:schemeClr val="tx1"/>
                </a:solidFill>
                <a:effectLst/>
                <a:latin typeface="AvenirLTPro"/>
              </a:rPr>
              <a:t>PR </a:t>
            </a:r>
            <a:r>
              <a:rPr lang="ru-RU" sz="1800" b="1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в </a:t>
            </a:r>
            <a:r>
              <a:rPr lang="en-GB" sz="1800" dirty="0">
                <a:solidFill>
                  <a:schemeClr val="tx1"/>
                </a:solidFill>
                <a:effectLst/>
                <a:latin typeface="AvenirLTPro"/>
              </a:rPr>
              <a:t>main </a:t>
            </a:r>
            <a:r>
              <a:rPr lang="ru-RU" sz="1800" b="1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ветку </a:t>
            </a:r>
            <a:br>
              <a:rPr lang="ru-RU" sz="1800" b="1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lang="en-GB" sz="1800" dirty="0">
                <a:solidFill>
                  <a:schemeClr val="tx1"/>
                </a:solidFill>
                <a:effectLst/>
                <a:latin typeface="AvenirLTPro"/>
              </a:rPr>
              <a:t>git push --set-upstream origin &lt;</a:t>
            </a:r>
            <a:r>
              <a:rPr lang="ru-RU" sz="1800" b="1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имя ветки</a:t>
            </a:r>
            <a:r>
              <a:rPr lang="ru-RU" sz="1800" dirty="0">
                <a:solidFill>
                  <a:schemeClr val="tx1"/>
                </a:solidFill>
                <a:effectLst/>
                <a:latin typeface="AvenirLTPro"/>
              </a:rPr>
              <a:t>&gt; </a:t>
            </a:r>
            <a:endParaRPr lang="ru-RU" dirty="0">
              <a:solidFill>
                <a:schemeClr val="tx1"/>
              </a:solidFill>
              <a:effectLst/>
            </a:endParaRPr>
          </a:p>
          <a:p>
            <a:pPr>
              <a:spcAft>
                <a:spcPts val="600"/>
              </a:spcAft>
            </a:pPr>
            <a:endParaRPr lang="en-RU" dirty="0"/>
          </a:p>
        </p:txBody>
      </p:sp>
    </p:spTree>
    <p:extLst>
      <p:ext uri="{BB962C8B-B14F-4D97-AF65-F5344CB8AC3E}">
        <p14:creationId xmlns:p14="http://schemas.microsoft.com/office/powerpoint/2010/main" val="396445045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D1F89-72D4-0C45-A178-9CCCD6DAFE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Практика-2</a:t>
            </a:r>
            <a:endParaRPr lang="en-RU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CC998D-8401-6E4C-9D19-3C889EC4BB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00550" y="1038162"/>
            <a:ext cx="8520600" cy="3416400"/>
          </a:xfrm>
        </p:spPr>
        <p:txBody>
          <a:bodyPr>
            <a:normAutofit fontScale="92500" lnSpcReduction="10000"/>
          </a:bodyPr>
          <a:lstStyle/>
          <a:p>
            <a:r>
              <a:rPr lang="ru-RU" sz="1800" b="1" dirty="0" err="1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Отформатируйте</a:t>
            </a:r>
            <a:r>
              <a:rPr lang="ru-RU" sz="1800" b="1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код локально с помощью </a:t>
            </a:r>
            <a:r>
              <a:rPr lang="en-GB" sz="1800" dirty="0">
                <a:solidFill>
                  <a:schemeClr val="tx1"/>
                </a:solidFill>
                <a:effectLst/>
                <a:latin typeface="AvenirLTPro"/>
              </a:rPr>
              <a:t>black</a:t>
            </a:r>
            <a:br>
              <a:rPr lang="ru-RU" sz="1800" dirty="0">
                <a:solidFill>
                  <a:schemeClr val="tx1"/>
                </a:solidFill>
                <a:effectLst/>
                <a:latin typeface="AvenirLTPro"/>
              </a:rPr>
            </a:br>
            <a:r>
              <a:rPr lang="en-GB" sz="1800" dirty="0">
                <a:solidFill>
                  <a:schemeClr val="tx1"/>
                </a:solidFill>
                <a:effectLst/>
                <a:latin typeface="AvenirLTPro"/>
              </a:rPr>
              <a:t>black </a:t>
            </a:r>
            <a:r>
              <a:rPr lang="en-GB" sz="1800" dirty="0" err="1">
                <a:solidFill>
                  <a:schemeClr val="tx1"/>
                </a:solidFill>
                <a:effectLst/>
                <a:latin typeface="AvenirLTPro"/>
              </a:rPr>
              <a:t>src</a:t>
            </a:r>
            <a:r>
              <a:rPr lang="en-GB" sz="1800" dirty="0">
                <a:solidFill>
                  <a:schemeClr val="tx1"/>
                </a:solidFill>
                <a:effectLst/>
                <a:latin typeface="AvenirLTPro"/>
              </a:rPr>
              <a:t> </a:t>
            </a:r>
            <a:endParaRPr lang="en-GB" sz="2000" dirty="0">
              <a:solidFill>
                <a:schemeClr val="tx1"/>
              </a:solidFill>
              <a:effectLst/>
            </a:endParaRPr>
          </a:p>
          <a:p>
            <a:r>
              <a:rPr lang="ru-RU" sz="1800" b="1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Проведите статический анализ с </a:t>
            </a:r>
            <a:r>
              <a:rPr lang="en-GB" sz="1800" dirty="0" err="1">
                <a:solidFill>
                  <a:schemeClr val="tx1"/>
                </a:solidFill>
                <a:effectLst/>
                <a:latin typeface="AvenirLTPro"/>
              </a:rPr>
              <a:t>mypy</a:t>
            </a:r>
            <a:r>
              <a:rPr lang="en-GB" sz="1800" dirty="0">
                <a:solidFill>
                  <a:schemeClr val="tx1"/>
                </a:solidFill>
                <a:effectLst/>
                <a:latin typeface="AvenirLTPro"/>
              </a:rPr>
              <a:t> </a:t>
            </a:r>
            <a:r>
              <a:rPr lang="ru-RU" sz="1800" b="1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и исправьте ошибки </a:t>
            </a:r>
            <a:r>
              <a:rPr lang="en-GB" sz="1800" dirty="0" err="1">
                <a:solidFill>
                  <a:schemeClr val="tx1"/>
                </a:solidFill>
                <a:effectLst/>
                <a:latin typeface="AvenirLTPro"/>
              </a:rPr>
              <a:t>mypy</a:t>
            </a:r>
            <a:r>
              <a:rPr lang="en-GB" sz="1800" dirty="0">
                <a:solidFill>
                  <a:schemeClr val="tx1"/>
                </a:solidFill>
                <a:effectLst/>
                <a:latin typeface="AvenirLTPro"/>
              </a:rPr>
              <a:t> </a:t>
            </a:r>
            <a:r>
              <a:rPr lang="en-GB" sz="1800" dirty="0" err="1">
                <a:solidFill>
                  <a:schemeClr val="tx1"/>
                </a:solidFill>
                <a:effectLst/>
                <a:latin typeface="AvenirLTPro"/>
              </a:rPr>
              <a:t>src</a:t>
            </a:r>
            <a:r>
              <a:rPr lang="en-GB" sz="1800" dirty="0">
                <a:solidFill>
                  <a:schemeClr val="tx1"/>
                </a:solidFill>
                <a:effectLst/>
                <a:latin typeface="AvenirLTPro"/>
              </a:rPr>
              <a:t> </a:t>
            </a:r>
            <a:endParaRPr lang="en-GB" sz="2000" dirty="0">
              <a:solidFill>
                <a:schemeClr val="tx1"/>
              </a:solidFill>
              <a:effectLst/>
            </a:endParaRPr>
          </a:p>
          <a:p>
            <a:r>
              <a:rPr lang="ru-RU" sz="1800" b="1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Проведите анализ с </a:t>
            </a:r>
            <a:r>
              <a:rPr lang="en-GB" sz="1800" dirty="0" err="1">
                <a:solidFill>
                  <a:schemeClr val="tx1"/>
                </a:solidFill>
                <a:effectLst/>
                <a:latin typeface="AvenirLTPro"/>
              </a:rPr>
              <a:t>pylint</a:t>
            </a:r>
            <a:r>
              <a:rPr lang="en-GB" sz="1800" dirty="0">
                <a:solidFill>
                  <a:schemeClr val="tx1"/>
                </a:solidFill>
                <a:effectLst/>
                <a:latin typeface="AvenirLTPro"/>
              </a:rPr>
              <a:t> </a:t>
            </a:r>
            <a:r>
              <a:rPr lang="ru-RU" sz="1800" b="1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и исправьте несколько ошибок </a:t>
            </a:r>
            <a:r>
              <a:rPr lang="en-GB" sz="1800" dirty="0" err="1">
                <a:solidFill>
                  <a:schemeClr val="tx1"/>
                </a:solidFill>
                <a:effectLst/>
                <a:latin typeface="AvenirLTPro"/>
              </a:rPr>
              <a:t>pylint</a:t>
            </a:r>
            <a:r>
              <a:rPr lang="en-GB" sz="1800" dirty="0">
                <a:solidFill>
                  <a:schemeClr val="tx1"/>
                </a:solidFill>
                <a:effectLst/>
                <a:latin typeface="AvenirLTPro"/>
              </a:rPr>
              <a:t> </a:t>
            </a:r>
            <a:r>
              <a:rPr lang="en-GB" sz="1800" dirty="0" err="1">
                <a:solidFill>
                  <a:schemeClr val="tx1"/>
                </a:solidFill>
                <a:effectLst/>
                <a:latin typeface="AvenirLTPro"/>
              </a:rPr>
              <a:t>src</a:t>
            </a:r>
            <a:r>
              <a:rPr lang="en-GB" sz="1800" dirty="0">
                <a:solidFill>
                  <a:schemeClr val="tx1"/>
                </a:solidFill>
                <a:effectLst/>
                <a:latin typeface="AvenirLTPro"/>
              </a:rPr>
              <a:t> </a:t>
            </a:r>
            <a:endParaRPr lang="en-GB" sz="2000" dirty="0">
              <a:solidFill>
                <a:schemeClr val="tx1"/>
              </a:solidFill>
              <a:effectLst/>
            </a:endParaRPr>
          </a:p>
          <a:p>
            <a:r>
              <a:rPr lang="ru-RU" sz="1800" b="1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Оцените итоговы</a:t>
            </a:r>
            <a:r>
              <a:rPr lang="ru-RU" sz="1800" b="1" dirty="0">
                <a:solidFill>
                  <a:schemeClr val="tx1"/>
                </a:solidFill>
                <a:latin typeface="Arial" panose="020B0604020202020204" pitchFamily="34" charset="0"/>
              </a:rPr>
              <a:t>й</a:t>
            </a:r>
            <a:r>
              <a:rPr lang="ru-RU" sz="1800" b="1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lang="en-GB" sz="1800" dirty="0" err="1">
                <a:solidFill>
                  <a:schemeClr val="tx1"/>
                </a:solidFill>
                <a:effectLst/>
                <a:latin typeface="AvenirLTPro"/>
              </a:rPr>
              <a:t>pylint</a:t>
            </a:r>
            <a:r>
              <a:rPr lang="en-GB" sz="1800" dirty="0">
                <a:solidFill>
                  <a:schemeClr val="tx1"/>
                </a:solidFill>
                <a:effectLst/>
                <a:latin typeface="AvenirLTPro"/>
              </a:rPr>
              <a:t> score</a:t>
            </a:r>
            <a:endParaRPr lang="ru-RU" sz="1800" dirty="0">
              <a:solidFill>
                <a:schemeClr val="tx1"/>
              </a:solidFill>
              <a:effectLst/>
              <a:latin typeface="AvenirLTPro"/>
            </a:endParaRPr>
          </a:p>
          <a:p>
            <a:r>
              <a:rPr lang="ru-RU" sz="1800" b="1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Отправьте изменения на </a:t>
            </a:r>
            <a:r>
              <a:rPr lang="en-GB" sz="1800" dirty="0" err="1">
                <a:solidFill>
                  <a:schemeClr val="tx1"/>
                </a:solidFill>
                <a:effectLst/>
                <a:latin typeface="AvenirLTPro"/>
              </a:rPr>
              <a:t>github</a:t>
            </a:r>
            <a:r>
              <a:rPr lang="en-GB" sz="1800" dirty="0">
                <a:solidFill>
                  <a:schemeClr val="tx1"/>
                </a:solidFill>
                <a:effectLst/>
                <a:latin typeface="AvenirLTPro"/>
              </a:rPr>
              <a:t> </a:t>
            </a:r>
            <a:r>
              <a:rPr lang="ru-RU" sz="1800" b="1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и создайте </a:t>
            </a:r>
            <a:r>
              <a:rPr lang="en-GB" sz="1800" dirty="0">
                <a:solidFill>
                  <a:schemeClr val="tx1"/>
                </a:solidFill>
                <a:effectLst/>
                <a:latin typeface="AvenirLTPro"/>
              </a:rPr>
              <a:t>PR </a:t>
            </a:r>
            <a:r>
              <a:rPr lang="ru-RU" sz="1800" b="1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в </a:t>
            </a:r>
            <a:r>
              <a:rPr lang="en-GB" sz="1800" dirty="0">
                <a:solidFill>
                  <a:schemeClr val="tx1"/>
                </a:solidFill>
                <a:effectLst/>
                <a:latin typeface="AvenirLTPro"/>
              </a:rPr>
              <a:t>main </a:t>
            </a:r>
            <a:r>
              <a:rPr lang="ru-RU" sz="1800" b="1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ветку </a:t>
            </a:r>
            <a:endParaRPr lang="ru-RU" sz="2000" dirty="0">
              <a:solidFill>
                <a:schemeClr val="tx1"/>
              </a:solidFill>
              <a:effectLst/>
            </a:endParaRPr>
          </a:p>
          <a:p>
            <a:r>
              <a:rPr lang="ru-RU" sz="1800" b="1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Прогоните тесты с вычислением покрытия </a:t>
            </a:r>
            <a:r>
              <a:rPr lang="en-GB" sz="1800" dirty="0" err="1">
                <a:solidFill>
                  <a:schemeClr val="tx1"/>
                </a:solidFill>
                <a:effectLst/>
                <a:latin typeface="AvenirLTPro"/>
              </a:rPr>
              <a:t>pytest</a:t>
            </a:r>
            <a:r>
              <a:rPr lang="en-GB" sz="1800" dirty="0">
                <a:solidFill>
                  <a:schemeClr val="tx1"/>
                </a:solidFill>
                <a:effectLst/>
                <a:latin typeface="AvenirLTPro"/>
              </a:rPr>
              <a:t> --</a:t>
            </a:r>
            <a:r>
              <a:rPr lang="en-GB" sz="1800" dirty="0" err="1">
                <a:solidFill>
                  <a:schemeClr val="tx1"/>
                </a:solidFill>
                <a:effectLst/>
                <a:latin typeface="AvenirLTPro"/>
              </a:rPr>
              <a:t>cov</a:t>
            </a:r>
            <a:r>
              <a:rPr lang="en-GB" sz="1800" dirty="0">
                <a:solidFill>
                  <a:schemeClr val="tx1"/>
                </a:solidFill>
                <a:effectLst/>
                <a:latin typeface="AvenirLTPro"/>
              </a:rPr>
              <a:t>=</a:t>
            </a:r>
            <a:r>
              <a:rPr lang="en-GB" sz="1800" dirty="0" err="1">
                <a:solidFill>
                  <a:schemeClr val="tx1"/>
                </a:solidFill>
                <a:effectLst/>
                <a:latin typeface="AvenirLTPro"/>
              </a:rPr>
              <a:t>src</a:t>
            </a:r>
            <a:r>
              <a:rPr lang="en-GB" sz="1800" dirty="0">
                <a:solidFill>
                  <a:schemeClr val="tx1"/>
                </a:solidFill>
                <a:effectLst/>
                <a:latin typeface="AvenirLTPro"/>
              </a:rPr>
              <a:t> tests </a:t>
            </a:r>
            <a:endParaRPr lang="en-GB" dirty="0">
              <a:solidFill>
                <a:schemeClr val="tx1"/>
              </a:solidFill>
              <a:effectLst/>
            </a:endParaRPr>
          </a:p>
          <a:p>
            <a:r>
              <a:rPr lang="ru-RU" sz="1800" b="1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Добавьте тесты на </a:t>
            </a:r>
            <a:r>
              <a:rPr lang="ru-RU" sz="1800" b="1" dirty="0" err="1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новыи</a:t>
            </a:r>
            <a:r>
              <a:rPr lang="ru-RU" sz="1800" b="1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̆ функционал или уже существующий</a:t>
            </a:r>
          </a:p>
          <a:p>
            <a:r>
              <a:rPr lang="ru-RU" sz="1800" b="1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Вычислите новое покрытие тестами</a:t>
            </a:r>
          </a:p>
          <a:p>
            <a:r>
              <a:rPr lang="ru-RU" sz="1800" b="1" dirty="0"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Отправьте изменения на </a:t>
            </a:r>
            <a:r>
              <a:rPr lang="en-GB" sz="1800" dirty="0" err="1">
                <a:solidFill>
                  <a:schemeClr val="tx1"/>
                </a:solidFill>
                <a:effectLst/>
                <a:latin typeface="AvenirLTPro"/>
              </a:rPr>
              <a:t>github</a:t>
            </a:r>
            <a:r>
              <a:rPr lang="en-GB" sz="1800" dirty="0">
                <a:solidFill>
                  <a:schemeClr val="tx1"/>
                </a:solidFill>
                <a:effectLst/>
                <a:latin typeface="AvenirLTPro"/>
              </a:rPr>
              <a:t> </a:t>
            </a:r>
            <a:r>
              <a:rPr lang="ru-RU" sz="1800" b="1" dirty="0">
                <a:solidFill>
                  <a:schemeClr val="tx1"/>
                </a:solidFill>
                <a:latin typeface="Arial" panose="020B0604020202020204" pitchFamily="34" charset="0"/>
              </a:rPr>
              <a:t>и создайте </a:t>
            </a:r>
            <a:r>
              <a:rPr lang="en-GB" sz="1800" b="1" dirty="0">
                <a:solidFill>
                  <a:schemeClr val="tx1"/>
                </a:solidFill>
                <a:latin typeface="Arial" panose="020B0604020202020204" pitchFamily="34" charset="0"/>
              </a:rPr>
              <a:t>PR </a:t>
            </a:r>
            <a:r>
              <a:rPr lang="ru-RU" sz="1800" b="1" dirty="0">
                <a:solidFill>
                  <a:schemeClr val="tx1"/>
                </a:solidFill>
                <a:latin typeface="Arial" panose="020B0604020202020204" pitchFamily="34" charset="0"/>
              </a:rPr>
              <a:t>в </a:t>
            </a:r>
            <a:r>
              <a:rPr lang="en-GB" sz="1800" dirty="0">
                <a:solidFill>
                  <a:schemeClr val="tx1"/>
                </a:solidFill>
                <a:latin typeface="Arial" panose="020B0604020202020204" pitchFamily="34" charset="0"/>
              </a:rPr>
              <a:t>main</a:t>
            </a:r>
            <a:r>
              <a:rPr lang="en-GB" sz="1800" b="1" dirty="0">
                <a:solidFill>
                  <a:schemeClr val="tx1"/>
                </a:solidFill>
                <a:latin typeface="Arial" panose="020B0604020202020204" pitchFamily="34" charset="0"/>
              </a:rPr>
              <a:t> </a:t>
            </a:r>
            <a:r>
              <a:rPr lang="ru-RU" sz="1800" b="1" dirty="0">
                <a:solidFill>
                  <a:schemeClr val="tx1"/>
                </a:solidFill>
                <a:latin typeface="Arial" panose="020B0604020202020204" pitchFamily="34" charset="0"/>
              </a:rPr>
              <a:t>ветку </a:t>
            </a:r>
            <a:endParaRPr lang="en-GB" sz="1800" b="1" dirty="0">
              <a:solidFill>
                <a:schemeClr val="tx1"/>
              </a:solidFill>
              <a:latin typeface="Arial" panose="020B0604020202020204" pitchFamily="34" charset="0"/>
            </a:endParaRPr>
          </a:p>
          <a:p>
            <a:pPr marL="133350" indent="0">
              <a:buNone/>
            </a:pPr>
            <a:endParaRPr lang="en-RU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8191843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72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900"/>
              <a:t>Вопросы?</a:t>
            </a:r>
            <a:endParaRPr/>
          </a:p>
        </p:txBody>
      </p:sp>
      <p:pic>
        <p:nvPicPr>
          <p:cNvPr id="415" name="Google Shape;415;p7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19975" y="3370764"/>
            <a:ext cx="662535" cy="662535"/>
          </a:xfrm>
          <a:prstGeom prst="rect">
            <a:avLst/>
          </a:prstGeom>
          <a:noFill/>
          <a:ln>
            <a:noFill/>
          </a:ln>
        </p:spPr>
      </p:pic>
      <p:sp>
        <p:nvSpPr>
          <p:cNvPr id="416" name="Google Shape;416;p72"/>
          <p:cNvSpPr txBox="1"/>
          <p:nvPr/>
        </p:nvSpPr>
        <p:spPr>
          <a:xfrm>
            <a:off x="1438025" y="3378781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Ставим “+”,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вопросы есть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417" name="Google Shape;417;p72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02950" y="3370764"/>
            <a:ext cx="662535" cy="662535"/>
          </a:xfrm>
          <a:prstGeom prst="rect">
            <a:avLst/>
          </a:prstGeom>
          <a:noFill/>
          <a:ln>
            <a:noFill/>
          </a:ln>
        </p:spPr>
      </p:pic>
      <p:sp>
        <p:nvSpPr>
          <p:cNvPr id="418" name="Google Shape;418;p72"/>
          <p:cNvSpPr txBox="1"/>
          <p:nvPr/>
        </p:nvSpPr>
        <p:spPr>
          <a:xfrm>
            <a:off x="4806700" y="3378781"/>
            <a:ext cx="30000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Ставим “–”,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p73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Рефлексия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5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Цели вебинара</a:t>
            </a:r>
            <a:endParaRPr/>
          </a:p>
        </p:txBody>
      </p:sp>
      <p:graphicFrame>
        <p:nvGraphicFramePr>
          <p:cNvPr id="283" name="Google Shape;283;p53"/>
          <p:cNvGraphicFramePr/>
          <p:nvPr/>
        </p:nvGraphicFramePr>
        <p:xfrm>
          <a:off x="952500" y="1544194"/>
          <a:ext cx="7239000" cy="1047912"/>
        </p:xfrm>
        <a:graphic>
          <a:graphicData uri="http://schemas.openxmlformats.org/drawingml/2006/table">
            <a:tbl>
              <a:tblPr>
                <a:noFill/>
                <a:tableStyleId>{B623574C-9AE7-4070-A081-93A97D88BCA6}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 b="1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300" b="1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Понять что такое качественный / «хороший» код</a:t>
                      </a:r>
                      <a:endParaRPr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</a:t>
                      </a:r>
                      <a:r>
                        <a:rPr lang="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Понять почему это важно</a:t>
                      </a:r>
                      <a:endParaRPr lang="en-GB"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b="1" dirty="0">
                          <a:solidFill>
                            <a:srgbClr val="FF99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300" b="1" dirty="0">
                        <a:solidFill>
                          <a:srgbClr val="FF99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300" dirty="0"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Познакомиться с лучшими практиками</a:t>
                      </a:r>
                      <a:endParaRPr lang="en-GB" sz="1300" dirty="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 algn="ctr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13194038"/>
                  </a:ext>
                </a:extLst>
              </a:tr>
            </a:tbl>
          </a:graphicData>
        </a:graphic>
      </p:graphicFrame>
      <p:sp>
        <p:nvSpPr>
          <p:cNvPr id="285" name="Google Shape;285;p53"/>
          <p:cNvSpPr txBox="1">
            <a:spLocks noGrp="1"/>
          </p:cNvSpPr>
          <p:nvPr>
            <p:ph type="subTitle" idx="4294967295"/>
          </p:nvPr>
        </p:nvSpPr>
        <p:spPr>
          <a:xfrm>
            <a:off x="500550" y="85736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FF9900"/>
                </a:solidFill>
              </a:rPr>
              <a:t>К концу занятия вы сможете</a:t>
            </a:r>
            <a:endParaRPr sz="1500" b="1">
              <a:solidFill>
                <a:srgbClr val="FF99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261170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p77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Рефлексия</a:t>
            </a:r>
            <a:endParaRPr/>
          </a:p>
        </p:txBody>
      </p:sp>
      <p:pic>
        <p:nvPicPr>
          <p:cNvPr id="451" name="Google Shape;451;p7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114" y="2019850"/>
            <a:ext cx="828522" cy="828504"/>
          </a:xfrm>
          <a:prstGeom prst="rect">
            <a:avLst/>
          </a:prstGeom>
          <a:noFill/>
          <a:ln>
            <a:noFill/>
          </a:ln>
        </p:spPr>
      </p:pic>
      <p:sp>
        <p:nvSpPr>
          <p:cNvPr id="452" name="Google Shape;452;p77"/>
          <p:cNvSpPr txBox="1"/>
          <p:nvPr/>
        </p:nvSpPr>
        <p:spPr>
          <a:xfrm>
            <a:off x="1700240" y="2226352"/>
            <a:ext cx="46722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С какими впечатлениями уходите с вебинара?</a:t>
            </a:r>
            <a:endParaRPr sz="15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3" name="Google Shape;453;p77"/>
          <p:cNvSpPr txBox="1"/>
          <p:nvPr/>
        </p:nvSpPr>
        <p:spPr>
          <a:xfrm>
            <a:off x="1700240" y="3414189"/>
            <a:ext cx="49968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 будете применять на практике то,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узнали на вебинаре?</a:t>
            </a:r>
            <a:endParaRPr sz="15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454" name="Google Shape;454;p7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21950" y="3330152"/>
            <a:ext cx="845250" cy="8452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79"/>
          <p:cNvSpPr txBox="1">
            <a:spLocks noGrp="1"/>
          </p:cNvSpPr>
          <p:nvPr>
            <p:ph type="title"/>
          </p:nvPr>
        </p:nvSpPr>
        <p:spPr>
          <a:xfrm>
            <a:off x="956225" y="396394"/>
            <a:ext cx="7559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800"/>
              <a:t>Заполните, пожалуйста,</a:t>
            </a:r>
            <a:endParaRPr sz="38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800"/>
              <a:t>опрос о занятии</a:t>
            </a:r>
            <a:endParaRPr sz="38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800"/>
              <a:t>по ссылке в чате</a:t>
            </a:r>
            <a:endParaRPr sz="380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0"/>
          <p:cNvSpPr txBox="1">
            <a:spLocks noGrp="1"/>
          </p:cNvSpPr>
          <p:nvPr>
            <p:ph type="title"/>
          </p:nvPr>
        </p:nvSpPr>
        <p:spPr>
          <a:xfrm>
            <a:off x="500550" y="821221"/>
            <a:ext cx="8520600" cy="72239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C</a:t>
            </a:r>
            <a:r>
              <a:rPr lang="ru" dirty="0"/>
              <a:t>ледующие вебинары</a:t>
            </a:r>
            <a:endParaRPr dirty="0"/>
          </a:p>
        </p:txBody>
      </p:sp>
      <p:sp>
        <p:nvSpPr>
          <p:cNvPr id="481" name="Google Shape;481;p80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Спасибо за внимание!</a:t>
            </a:r>
            <a:endParaRPr/>
          </a:p>
        </p:txBody>
      </p:sp>
      <p:sp>
        <p:nvSpPr>
          <p:cNvPr id="482" name="Google Shape;482;p80"/>
          <p:cNvSpPr/>
          <p:nvPr/>
        </p:nvSpPr>
        <p:spPr>
          <a:xfrm>
            <a:off x="630000" y="2716325"/>
            <a:ext cx="1033800" cy="19836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4" name="Google Shape;484;p80"/>
          <p:cNvSpPr txBox="1">
            <a:spLocks noGrp="1"/>
          </p:cNvSpPr>
          <p:nvPr>
            <p:ph type="subTitle" idx="2"/>
          </p:nvPr>
        </p:nvSpPr>
        <p:spPr>
          <a:xfrm>
            <a:off x="3135425" y="2978825"/>
            <a:ext cx="38646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Игорь Стурейко</a:t>
            </a:r>
            <a:endParaRPr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2741EC5-82A6-3B43-8FD1-EB7604F3534B}"/>
              </a:ext>
            </a:extLst>
          </p:cNvPr>
          <p:cNvSpPr/>
          <p:nvPr/>
        </p:nvSpPr>
        <p:spPr>
          <a:xfrm>
            <a:off x="827107" y="2871470"/>
            <a:ext cx="1673385" cy="1646760"/>
          </a:xfrm>
          <a:prstGeom prst="ellipse">
            <a:avLst/>
          </a:prstGeom>
          <a:blipFill>
            <a:blip r:embed="rId3"/>
            <a:stretch>
              <a:fillRect/>
            </a:stretch>
          </a:blip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4" name="Google Shape;209;p48">
            <a:extLst>
              <a:ext uri="{FF2B5EF4-FFF2-40B4-BE49-F238E27FC236}">
                <a16:creationId xmlns:a16="http://schemas.microsoft.com/office/drawing/2014/main" id="{56B94854-2C27-FF48-B003-2FA0682B9C4D}"/>
              </a:ext>
            </a:extLst>
          </p:cNvPr>
          <p:cNvSpPr txBox="1">
            <a:spLocks/>
          </p:cNvSpPr>
          <p:nvPr/>
        </p:nvSpPr>
        <p:spPr>
          <a:xfrm>
            <a:off x="3135425" y="3272525"/>
            <a:ext cx="5095500" cy="152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 fontScale="850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None/>
              <a:defRPr sz="13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None/>
              <a:defRPr sz="15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None/>
              <a:defRPr sz="13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None/>
              <a:defRPr sz="13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None/>
              <a:defRPr sz="13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None/>
              <a:defRPr sz="13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None/>
              <a:defRPr sz="13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None/>
              <a:defRPr sz="13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11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None/>
              <a:defRPr sz="13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/>
            <a:r>
              <a:rPr lang="en-US" sz="1150" b="1" dirty="0" err="1"/>
              <a:t>Teamlead</a:t>
            </a:r>
            <a:r>
              <a:rPr lang="en-US" sz="1150" b="1" dirty="0"/>
              <a:t>, </a:t>
            </a:r>
            <a:r>
              <a:rPr lang="ru-RU" sz="1150" b="1" dirty="0"/>
              <a:t>главный инженер проекта – </a:t>
            </a:r>
            <a:r>
              <a:rPr lang="ru-RU" sz="1150" b="1" dirty="0" err="1"/>
              <a:t>НИИгазэкономика</a:t>
            </a:r>
            <a:endParaRPr lang="ru-RU" sz="1150" b="1" dirty="0"/>
          </a:p>
          <a:p>
            <a:pPr marL="0" indent="0"/>
            <a:endParaRPr lang="ru-RU" sz="1150" dirty="0"/>
          </a:p>
          <a:p>
            <a:pPr marL="0" indent="0"/>
            <a:r>
              <a:rPr lang="ru-RU" sz="1150" b="1" dirty="0"/>
              <a:t>Опыт:</a:t>
            </a:r>
            <a:endParaRPr lang="ru-RU" sz="1150" dirty="0"/>
          </a:p>
          <a:p>
            <a:pPr marL="0" indent="0"/>
            <a:r>
              <a:rPr lang="ru-RU" sz="1150" dirty="0"/>
              <a:t>Более 15 лет занимался прикладной математикой и мат моделированием</a:t>
            </a:r>
          </a:p>
          <a:p>
            <a:pPr marL="0" indent="0"/>
            <a:r>
              <a:rPr lang="ru-RU" sz="1150" dirty="0"/>
              <a:t>(</a:t>
            </a:r>
            <a:r>
              <a:rPr lang="en-US" sz="1150" dirty="0"/>
              <a:t>Data Scientist) (Python, </a:t>
            </a:r>
            <a:r>
              <a:rPr lang="ru-RU" sz="1150" dirty="0"/>
              <a:t>С++) в НИИ ПАО Газпром</a:t>
            </a:r>
          </a:p>
          <a:p>
            <a:pPr marL="0" indent="0"/>
            <a:endParaRPr lang="ru-RU" sz="1150" dirty="0"/>
          </a:p>
          <a:p>
            <a:pPr marL="0" indent="0"/>
            <a:r>
              <a:rPr lang="ru-RU" sz="1150" dirty="0"/>
              <a:t>Анализ временных рядов, эволюционное развитие сложных систем</a:t>
            </a:r>
          </a:p>
          <a:p>
            <a:pPr marL="0" indent="0"/>
            <a:endParaRPr lang="ru-RU" sz="1150" dirty="0"/>
          </a:p>
          <a:p>
            <a:pPr marL="0" indent="0"/>
            <a:r>
              <a:rPr lang="ru-RU" sz="1150" b="1" dirty="0"/>
              <a:t>+7 (916) 156-07-82 (</a:t>
            </a:r>
            <a:r>
              <a:rPr lang="en-US" sz="1150" b="1" dirty="0" err="1"/>
              <a:t>whatsapp</a:t>
            </a:r>
            <a:r>
              <a:rPr lang="en-US" sz="1150" b="1" dirty="0"/>
              <a:t>)</a:t>
            </a:r>
          </a:p>
          <a:p>
            <a:pPr marL="0" indent="0"/>
            <a:endParaRPr lang="en-US" sz="1150" b="1" dirty="0"/>
          </a:p>
          <a:p>
            <a:pPr marL="0" indent="0"/>
            <a:r>
              <a:rPr lang="en-US" sz="1150" b="1" dirty="0"/>
              <a:t>@</a:t>
            </a:r>
            <a:r>
              <a:rPr lang="en-US" sz="1150" b="1" dirty="0" err="1"/>
              <a:t>stureiko</a:t>
            </a:r>
            <a:r>
              <a:rPr lang="en-US" sz="1150" b="1" dirty="0"/>
              <a:t> (TG)</a:t>
            </a:r>
          </a:p>
          <a:p>
            <a:pPr marL="0" indent="0"/>
            <a:endParaRPr lang="en-US" sz="1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AAEC2E5-09F0-AC4E-AED3-1C0F260DE54D}"/>
              </a:ext>
            </a:extLst>
          </p:cNvPr>
          <p:cNvSpPr txBox="1"/>
          <p:nvPr/>
        </p:nvSpPr>
        <p:spPr>
          <a:xfrm>
            <a:off x="500550" y="1575703"/>
            <a:ext cx="345960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1F1F1F"/>
                </a:solidFill>
                <a:latin typeface="Google Sans"/>
              </a:rPr>
              <a:t>11</a:t>
            </a:r>
            <a:r>
              <a:rPr lang="ru-RU" dirty="0">
                <a:solidFill>
                  <a:srgbClr val="1F1F1F"/>
                </a:solidFill>
                <a:latin typeface="Google Sans"/>
              </a:rPr>
              <a:t>.0</a:t>
            </a:r>
            <a:r>
              <a:rPr lang="en-US" dirty="0">
                <a:solidFill>
                  <a:srgbClr val="1F1F1F"/>
                </a:solidFill>
                <a:latin typeface="Google Sans"/>
              </a:rPr>
              <a:t>9</a:t>
            </a:r>
            <a:r>
              <a:rPr lang="ru-RU" dirty="0">
                <a:solidFill>
                  <a:srgbClr val="1F1F1F"/>
                </a:solidFill>
                <a:latin typeface="Google Sans"/>
              </a:rPr>
              <a:t>.23 – </a:t>
            </a:r>
            <a:r>
              <a:rPr lang="ru-RU" b="0" i="0" u="none" strike="noStrike" dirty="0">
                <a:solidFill>
                  <a:srgbClr val="000000"/>
                </a:solidFill>
                <a:effectLst/>
                <a:latin typeface="Roboto" panose="02000000000000000000" pitchFamily="2" charset="0"/>
              </a:rPr>
              <a:t>Взаимодействие с командой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12225</TotalTime>
  <Words>1281</Words>
  <Application>Microsoft Macintosh PowerPoint</Application>
  <PresentationFormat>On-screen Show (16:9)</PresentationFormat>
  <Paragraphs>283</Paragraphs>
  <Slides>42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42</vt:i4>
      </vt:variant>
    </vt:vector>
  </HeadingPairs>
  <TitlesOfParts>
    <vt:vector size="53" baseType="lpstr">
      <vt:lpstr>Adelle Sans Devanagari</vt:lpstr>
      <vt:lpstr>Arial</vt:lpstr>
      <vt:lpstr>AvenirLTPro</vt:lpstr>
      <vt:lpstr>Courier New</vt:lpstr>
      <vt:lpstr>CourierNew</vt:lpstr>
      <vt:lpstr>Google Sans</vt:lpstr>
      <vt:lpstr>ArialMT</vt:lpstr>
      <vt:lpstr>Helvetica Neue</vt:lpstr>
      <vt:lpstr>Roboto</vt:lpstr>
      <vt:lpstr>Светлая тема</vt:lpstr>
      <vt:lpstr>Светлая тема</vt:lpstr>
      <vt:lpstr>ML Ops Организация исходного кода</vt:lpstr>
      <vt:lpstr>Проверить, идет ли запись</vt:lpstr>
      <vt:lpstr>Правила вебинара</vt:lpstr>
      <vt:lpstr>MLOps Организация исходного кода</vt:lpstr>
      <vt:lpstr>Карта курса</vt:lpstr>
      <vt:lpstr>Маршрут вебинара</vt:lpstr>
      <vt:lpstr>Цели вебинара</vt:lpstr>
      <vt:lpstr>Смысл</vt:lpstr>
      <vt:lpstr>Каким должен быть код</vt:lpstr>
      <vt:lpstr>Каким должен быть ваш код?</vt:lpstr>
      <vt:lpstr>Организация кода</vt:lpstr>
      <vt:lpstr>Организация кода</vt:lpstr>
      <vt:lpstr>Организация кода</vt:lpstr>
      <vt:lpstr>Чистый код</vt:lpstr>
      <vt:lpstr>Модульный код</vt:lpstr>
      <vt:lpstr>Воспроизводимый код</vt:lpstr>
      <vt:lpstr>Запуск кода с заданными параметрами</vt:lpstr>
      <vt:lpstr>Сборка пакетов</vt:lpstr>
      <vt:lpstr>Где хранить исходный код</vt:lpstr>
      <vt:lpstr>Изменения в исходном коде</vt:lpstr>
      <vt:lpstr>Как внести изменения</vt:lpstr>
      <vt:lpstr>Куда сохранить файл</vt:lpstr>
      <vt:lpstr>Куда сохранить файл</vt:lpstr>
      <vt:lpstr>Cookiecutter</vt:lpstr>
      <vt:lpstr>Cookiecutter DataScience</vt:lpstr>
      <vt:lpstr>Модели ветвления</vt:lpstr>
      <vt:lpstr>Требования к коду</vt:lpstr>
      <vt:lpstr>Безопасность кода</vt:lpstr>
      <vt:lpstr>Тестирование кода - Pytest</vt:lpstr>
      <vt:lpstr>Тестирование кода</vt:lpstr>
      <vt:lpstr>Тестирование ML - Hypothesis</vt:lpstr>
      <vt:lpstr>Логирование. logging вместо print</vt:lpstr>
      <vt:lpstr>Continuous integration</vt:lpstr>
      <vt:lpstr>Список материалов для изучения</vt:lpstr>
      <vt:lpstr>Практика</vt:lpstr>
      <vt:lpstr>Практика-2</vt:lpstr>
      <vt:lpstr>Вопросы?</vt:lpstr>
      <vt:lpstr>Рефлексия</vt:lpstr>
      <vt:lpstr>Цели вебинара</vt:lpstr>
      <vt:lpstr>Рефлексия</vt:lpstr>
      <vt:lpstr>Заполните, пожалуйста, опрос о занятии по ссылке в чате</vt:lpstr>
      <vt:lpstr>Cледующие вебинары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Название курса название темы вебинара </dc:title>
  <cp:lastModifiedBy>Стурейко Игорь Олегович</cp:lastModifiedBy>
  <cp:revision>90</cp:revision>
  <dcterms:modified xsi:type="dcterms:W3CDTF">2025-01-21T09:10:42Z</dcterms:modified>
</cp:coreProperties>
</file>