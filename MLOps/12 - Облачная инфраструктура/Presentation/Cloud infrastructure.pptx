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26"/>
  </p:notesMasterIdLst>
  <p:sldIdLst>
    <p:sldId id="256" r:id="rId3"/>
    <p:sldId id="257" r:id="rId4"/>
    <p:sldId id="259" r:id="rId5"/>
    <p:sldId id="404" r:id="rId6"/>
    <p:sldId id="261" r:id="rId7"/>
    <p:sldId id="262" r:id="rId8"/>
    <p:sldId id="263" r:id="rId9"/>
    <p:sldId id="264" r:id="rId10"/>
    <p:sldId id="311" r:id="rId11"/>
    <p:sldId id="267" r:id="rId12"/>
    <p:sldId id="344" r:id="rId13"/>
    <p:sldId id="350" r:id="rId14"/>
    <p:sldId id="407" r:id="rId15"/>
    <p:sldId id="406" r:id="rId16"/>
    <p:sldId id="405" r:id="rId17"/>
    <p:sldId id="511" r:id="rId18"/>
    <p:sldId id="512" r:id="rId19"/>
    <p:sldId id="513" r:id="rId20"/>
    <p:sldId id="514" r:id="rId21"/>
    <p:sldId id="515" r:id="rId22"/>
    <p:sldId id="282" r:id="rId23"/>
    <p:sldId id="289" r:id="rId24"/>
    <p:sldId id="337" r:id="rId25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2"/>
    <p:restoredTop sz="97146"/>
  </p:normalViewPr>
  <p:slideViewPr>
    <p:cSldViewPr snapToGrid="0">
      <p:cViewPr varScale="1">
        <p:scale>
          <a:sx n="390" d="100"/>
          <a:sy n="390" d="100"/>
        </p:scale>
        <p:origin x="208" y="480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2400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9942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234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6" r:id="rId10"/>
    <p:sldLayoutId id="2147483687" r:id="rId11"/>
    <p:sldLayoutId id="2147483688" r:id="rId12"/>
    <p:sldLayoutId id="2147483689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yandex.cloud/ru/docs/tutorials/infrastructure-management/terraform-quickstart#get-credentials" TargetMode="Externa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Настройка облачной инфраструктуры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br>
              <a:rPr lang="en-US" dirty="0"/>
            </a:br>
            <a:r>
              <a:rPr lang="ru-RU" sz="2400" dirty="0"/>
              <a:t>Практика. Настройка облачной инфраструктуры.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Google Shape;209;p48">
            <a:extLst>
              <a:ext uri="{FF2B5EF4-FFF2-40B4-BE49-F238E27FC236}">
                <a16:creationId xmlns:a16="http://schemas.microsoft.com/office/drawing/2014/main" id="{4A80EACE-EEC7-D542-8DED-09554DB4AE2B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Карта курса</a:t>
            </a:r>
            <a:endParaRPr dirty="0"/>
          </a:p>
        </p:txBody>
      </p:sp>
      <p:sp>
        <p:nvSpPr>
          <p:cNvPr id="250" name="Google Shape;250;p51"/>
          <p:cNvSpPr/>
          <p:nvPr/>
        </p:nvSpPr>
        <p:spPr>
          <a:xfrm>
            <a:off x="3722315" y="603032"/>
            <a:ext cx="24732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</a:rPr>
              <a:t>Процессы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51" name="Google Shape;251;p51"/>
          <p:cNvSpPr/>
          <p:nvPr/>
        </p:nvSpPr>
        <p:spPr>
          <a:xfrm>
            <a:off x="1249115" y="1492388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</a:rPr>
              <a:t>Инфраструктура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52" name="Google Shape;252;p51"/>
          <p:cNvSpPr/>
          <p:nvPr/>
        </p:nvSpPr>
        <p:spPr>
          <a:xfrm>
            <a:off x="5069400" y="1503226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</a:rPr>
              <a:t>Подготовка данных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53" name="Google Shape;253;p51"/>
          <p:cNvSpPr/>
          <p:nvPr/>
        </p:nvSpPr>
        <p:spPr>
          <a:xfrm>
            <a:off x="1249115" y="2571750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dirty="0" err="1">
                <a:solidFill>
                  <a:srgbClr val="1F1F1F"/>
                </a:solidFill>
                <a:effectLst/>
                <a:latin typeface="Google Sans"/>
              </a:rPr>
              <a:t>Валидация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51"/>
          <p:cNvSpPr/>
          <p:nvPr/>
        </p:nvSpPr>
        <p:spPr>
          <a:xfrm>
            <a:off x="5186234" y="2571750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600" dirty="0">
                <a:solidFill>
                  <a:srgbClr val="1F1F1F"/>
                </a:solidFill>
                <a:latin typeface="Google Sans"/>
              </a:rPr>
              <a:t>Моделирование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55" name="Google Shape;255;p51"/>
          <p:cNvCxnSpPr>
            <a:cxnSpLocks/>
            <a:stCxn id="251" idx="3"/>
            <a:endCxn id="252" idx="1"/>
          </p:cNvCxnSpPr>
          <p:nvPr/>
        </p:nvCxnSpPr>
        <p:spPr>
          <a:xfrm>
            <a:off x="3722315" y="1782038"/>
            <a:ext cx="1347085" cy="1083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51"/>
          <p:cNvCxnSpPr>
            <a:stCxn id="250" idx="1"/>
            <a:endCxn id="251" idx="1"/>
          </p:cNvCxnSpPr>
          <p:nvPr/>
        </p:nvCxnSpPr>
        <p:spPr>
          <a:xfrm rot="10800000" flipV="1">
            <a:off x="1249115" y="892682"/>
            <a:ext cx="2473200" cy="889356"/>
          </a:xfrm>
          <a:prstGeom prst="curvedConnector3">
            <a:avLst>
              <a:gd name="adj1" fmla="val 109243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51"/>
          <p:cNvCxnSpPr>
            <a:cxnSpLocks/>
            <a:stCxn id="252" idx="3"/>
            <a:endCxn id="254" idx="3"/>
          </p:cNvCxnSpPr>
          <p:nvPr/>
        </p:nvCxnSpPr>
        <p:spPr>
          <a:xfrm>
            <a:off x="7542600" y="1792876"/>
            <a:ext cx="116834" cy="1068524"/>
          </a:xfrm>
          <a:prstGeom prst="curvedConnector3">
            <a:avLst>
              <a:gd name="adj1" fmla="val 29566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9" name="Google Shape;259;p51"/>
          <p:cNvCxnSpPr>
            <a:cxnSpLocks/>
            <a:stCxn id="254" idx="1"/>
            <a:endCxn id="253" idx="3"/>
          </p:cNvCxnSpPr>
          <p:nvPr/>
        </p:nvCxnSpPr>
        <p:spPr>
          <a:xfrm rot="10800000">
            <a:off x="3722316" y="2861400"/>
            <a:ext cx="1463919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Google Shape;253;p51">
            <a:extLst>
              <a:ext uri="{FF2B5EF4-FFF2-40B4-BE49-F238E27FC236}">
                <a16:creationId xmlns:a16="http://schemas.microsoft.com/office/drawing/2014/main" id="{B3FC62D5-C5AE-824D-ADAA-57941C457A4E}"/>
              </a:ext>
            </a:extLst>
          </p:cNvPr>
          <p:cNvSpPr/>
          <p:nvPr/>
        </p:nvSpPr>
        <p:spPr>
          <a:xfrm>
            <a:off x="1249115" y="3805539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Развертывание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53;p51">
            <a:extLst>
              <a:ext uri="{FF2B5EF4-FFF2-40B4-BE49-F238E27FC236}">
                <a16:creationId xmlns:a16="http://schemas.microsoft.com/office/drawing/2014/main" id="{9924AB3F-1AEF-F848-9D7C-F38C9B025689}"/>
              </a:ext>
            </a:extLst>
          </p:cNvPr>
          <p:cNvSpPr/>
          <p:nvPr/>
        </p:nvSpPr>
        <p:spPr>
          <a:xfrm>
            <a:off x="5186234" y="3805539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dirty="0">
                <a:solidFill>
                  <a:srgbClr val="1F1F1F"/>
                </a:solidFill>
                <a:effectLst/>
                <a:latin typeface="Google Sans"/>
              </a:rPr>
              <a:t>Мониторинг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59;p51">
            <a:extLst>
              <a:ext uri="{FF2B5EF4-FFF2-40B4-BE49-F238E27FC236}">
                <a16:creationId xmlns:a16="http://schemas.microsoft.com/office/drawing/2014/main" id="{802B18A3-E83D-F444-B857-2893607805DC}"/>
              </a:ext>
            </a:extLst>
          </p:cNvPr>
          <p:cNvCxnSpPr>
            <a:cxnSpLocks/>
            <a:stCxn id="253" idx="1"/>
            <a:endCxn id="12" idx="1"/>
          </p:cNvCxnSpPr>
          <p:nvPr/>
        </p:nvCxnSpPr>
        <p:spPr>
          <a:xfrm rot="10800000" flipV="1">
            <a:off x="1249115" y="2861399"/>
            <a:ext cx="12700" cy="123378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" name="Google Shape;259;p51">
            <a:extLst>
              <a:ext uri="{FF2B5EF4-FFF2-40B4-BE49-F238E27FC236}">
                <a16:creationId xmlns:a16="http://schemas.microsoft.com/office/drawing/2014/main" id="{6B4DE7E8-0EA0-BA42-9D3D-0717B2F5CF88}"/>
              </a:ext>
            </a:extLst>
          </p:cNvPr>
          <p:cNvCxnSpPr>
            <a:cxnSpLocks/>
            <a:stCxn id="21" idx="1"/>
            <a:endCxn id="12" idx="3"/>
          </p:cNvCxnSpPr>
          <p:nvPr/>
        </p:nvCxnSpPr>
        <p:spPr>
          <a:xfrm rot="10800000">
            <a:off x="3722316" y="4095189"/>
            <a:ext cx="1463919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52"/>
          <p:cNvSpPr/>
          <p:nvPr/>
        </p:nvSpPr>
        <p:spPr>
          <a:xfrm>
            <a:off x="787125" y="179502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YC UI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237204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YC CLI</a:t>
            </a:r>
          </a:p>
        </p:txBody>
      </p:sp>
      <p:sp>
        <p:nvSpPr>
          <p:cNvPr id="270" name="Google Shape;270;p52"/>
          <p:cNvSpPr/>
          <p:nvPr/>
        </p:nvSpPr>
        <p:spPr>
          <a:xfrm>
            <a:off x="786525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элементы</a:t>
            </a:r>
            <a:endParaRPr lang="ru-RU" sz="1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86525" y="35261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Terraform</a:t>
            </a:r>
            <a:endParaRPr dirty="0">
              <a:sym typeface="Roboto"/>
            </a:endParaRPr>
          </a:p>
        </p:txBody>
      </p:sp>
      <p:cxnSp>
        <p:nvCxnSpPr>
          <p:cNvPr id="273" name="Google Shape;273;p52"/>
          <p:cNvCxnSpPr>
            <a:stCxn id="267" idx="1"/>
            <a:endCxn id="268" idx="1"/>
          </p:cNvCxnSpPr>
          <p:nvPr/>
        </p:nvCxnSpPr>
        <p:spPr>
          <a:xfrm>
            <a:off x="786525" y="1393625"/>
            <a:ext cx="600" cy="5895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4" name="Google Shape;274;p52"/>
          <p:cNvCxnSpPr>
            <a:stCxn id="268" idx="1"/>
            <a:endCxn id="269" idx="1"/>
          </p:cNvCxnSpPr>
          <p:nvPr/>
        </p:nvCxnSpPr>
        <p:spPr>
          <a:xfrm>
            <a:off x="787125" y="1983127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flipH="1">
            <a:off x="786525" y="2560142"/>
            <a:ext cx="600" cy="576900"/>
          </a:xfrm>
          <a:prstGeom prst="curvedConnector3">
            <a:avLst>
              <a:gd name="adj1" fmla="val 397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stCxn id="270" idx="1"/>
            <a:endCxn id="271" idx="1"/>
          </p:cNvCxnSpPr>
          <p:nvPr/>
        </p:nvCxnSpPr>
        <p:spPr>
          <a:xfrm>
            <a:off x="786525" y="3137164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4" name="Google Shape;271;p52">
            <a:extLst>
              <a:ext uri="{FF2B5EF4-FFF2-40B4-BE49-F238E27FC236}">
                <a16:creationId xmlns:a16="http://schemas.microsoft.com/office/drawing/2014/main" id="{03AE55B2-BCF2-4443-9F2B-0F282BF00732}"/>
              </a:ext>
            </a:extLst>
          </p:cNvPr>
          <p:cNvSpPr/>
          <p:nvPr/>
        </p:nvSpPr>
        <p:spPr>
          <a:xfrm>
            <a:off x="786525" y="4103135"/>
            <a:ext cx="3384900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Заключение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76;p52">
            <a:extLst>
              <a:ext uri="{FF2B5EF4-FFF2-40B4-BE49-F238E27FC236}">
                <a16:creationId xmlns:a16="http://schemas.microsoft.com/office/drawing/2014/main" id="{DA4704EA-4F3E-FD4F-832E-5DB8F19516B7}"/>
              </a:ext>
            </a:extLst>
          </p:cNvPr>
          <p:cNvCxnSpPr/>
          <p:nvPr/>
        </p:nvCxnSpPr>
        <p:spPr>
          <a:xfrm>
            <a:off x="762378" y="3714336"/>
            <a:ext cx="600" cy="576900"/>
          </a:xfrm>
          <a:prstGeom prst="curvedConnector3">
            <a:avLst>
              <a:gd name="adj1" fmla="val -396875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0BAFE-DC1A-994A-9D05-A691D578F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88" y="1205525"/>
            <a:ext cx="4241469" cy="3273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682597210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как создать инфраструктуру в облаке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Yandex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как автоматизировать этот процесс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237410196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облачной инфраструктурой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Поддерживать проекты после их выхода в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прод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масштабировать их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Yandex cloud</a:t>
            </a:r>
            <a:br>
              <a:rPr lang="en-US" sz="4900" dirty="0"/>
            </a:br>
            <a:r>
              <a:rPr lang="en-US" sz="4900" dirty="0"/>
              <a:t>User Interface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Yandex cloud User Interface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3A304-EFF9-C443-82B1-DEC28AFFC567}"/>
              </a:ext>
            </a:extLst>
          </p:cNvPr>
          <p:cNvSpPr txBox="1"/>
          <p:nvPr/>
        </p:nvSpPr>
        <p:spPr>
          <a:xfrm>
            <a:off x="500550" y="1053842"/>
            <a:ext cx="5182829" cy="211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/>
              <a:t>Создать с помощью графической консоли: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Object storage;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/>
              <a:t>Compute instance</a:t>
            </a:r>
            <a:r>
              <a:rPr lang="ru-RU" sz="1800" dirty="0"/>
              <a:t>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ru-RU" sz="1800" dirty="0"/>
              <a:t>Выделенную подсеть;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/>
              <a:t>DataProc</a:t>
            </a:r>
            <a:r>
              <a:rPr lang="en-US" sz="1800" dirty="0"/>
              <a:t> </a:t>
            </a:r>
            <a:r>
              <a:rPr lang="ru-RU" sz="1800" dirty="0"/>
              <a:t>кластер.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Yandex cloud</a:t>
            </a:r>
            <a:br>
              <a:rPr lang="en-US" sz="4900" dirty="0"/>
            </a:br>
            <a:r>
              <a:rPr lang="en-US" sz="4900" dirty="0"/>
              <a:t>Command line interface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Yandex cloud command line interface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1AC6C-E1CD-BC46-8BDC-05838EDA640C}"/>
              </a:ext>
            </a:extLst>
          </p:cNvPr>
          <p:cNvSpPr txBox="1"/>
          <p:nvPr/>
        </p:nvSpPr>
        <p:spPr>
          <a:xfrm>
            <a:off x="336550" y="1104900"/>
            <a:ext cx="857885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effectLst/>
                <a:latin typeface="ArialMT"/>
              </a:rPr>
              <a:t>Установить </a:t>
            </a:r>
            <a:r>
              <a:rPr lang="en-US" sz="2000" b="1" dirty="0">
                <a:effectLst/>
                <a:latin typeface="ArialMT"/>
              </a:rPr>
              <a:t>YC CLI </a:t>
            </a:r>
            <a:r>
              <a:rPr lang="ru-RU" sz="2000" b="1" dirty="0">
                <a:effectLst/>
                <a:latin typeface="ArialMT"/>
              </a:rPr>
              <a:t>и </a:t>
            </a:r>
            <a:r>
              <a:rPr lang="ru-RU" sz="2000" b="1" dirty="0">
                <a:latin typeface="ArialMT"/>
              </a:rPr>
              <a:t>выполнить</a:t>
            </a:r>
            <a:r>
              <a:rPr lang="ru-RU" sz="2000" b="1" dirty="0">
                <a:effectLst/>
                <a:latin typeface="ArialMT"/>
              </a:rPr>
              <a:t>: </a:t>
            </a:r>
            <a:endParaRPr lang="ru-RU" sz="1600" b="1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Посмотреть какие есть диски</a:t>
            </a:r>
            <a:r>
              <a:rPr lang="en-US" sz="2000" dirty="0">
                <a:effectLst/>
                <a:latin typeface="ArialMT"/>
              </a:rPr>
              <a:t>: </a:t>
            </a:r>
            <a:br>
              <a:rPr lang="en-US" sz="2000" dirty="0">
                <a:effectLst/>
                <a:latin typeface="ArialMT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storage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bucket list</a:t>
            </a:r>
            <a:endParaRPr lang="ru-RU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Посмотреть какие есть ВМ</a:t>
            </a:r>
            <a:r>
              <a:rPr lang="en-US" sz="2000" dirty="0">
                <a:effectLst/>
                <a:latin typeface="ArialMT"/>
              </a:rPr>
              <a:t>: </a:t>
            </a:r>
            <a:br>
              <a:rPr lang="en-US" sz="2000" dirty="0">
                <a:effectLst/>
                <a:latin typeface="ArialMT"/>
              </a:rPr>
            </a:br>
            <a:r>
              <a:rPr lang="en-US" sz="20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compute instance list</a:t>
            </a:r>
            <a:endParaRPr lang="ru-RU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MT"/>
              </a:rPr>
              <a:t>Создать </a:t>
            </a:r>
            <a:r>
              <a:rPr lang="en-US" sz="2000" dirty="0">
                <a:latin typeface="ArialMT"/>
              </a:rPr>
              <a:t>storage: </a:t>
            </a:r>
            <a:br>
              <a:rPr lang="en-US" sz="2000" dirty="0">
                <a:latin typeface="ArialMT"/>
              </a:rPr>
            </a:b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storage bucket create –name=&lt;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bucket_name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Создать </a:t>
            </a:r>
            <a:r>
              <a:rPr lang="ru-RU" sz="2000" dirty="0">
                <a:latin typeface="ArialMT"/>
              </a:rPr>
              <a:t>ВМ</a:t>
            </a:r>
            <a:r>
              <a:rPr lang="en-US" sz="2000" dirty="0">
                <a:latin typeface="ArialMT"/>
              </a:rPr>
              <a:t> (c</a:t>
            </a:r>
            <a:r>
              <a:rPr lang="ru-RU" sz="2000" dirty="0">
                <a:latin typeface="ArialMT"/>
              </a:rPr>
              <a:t>м скрипт </a:t>
            </a:r>
            <a:r>
              <a:rPr lang="en-US" sz="2000" dirty="0" err="1">
                <a:latin typeface="ArialMT"/>
              </a:rPr>
              <a:t>instance.sh</a:t>
            </a:r>
            <a:r>
              <a:rPr lang="en-US" sz="2000" dirty="0">
                <a:latin typeface="ArialMT"/>
              </a:rPr>
              <a:t>)</a:t>
            </a:r>
            <a:endParaRPr lang="ru-RU" sz="20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Yandex cloud command line interface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1AC6C-E1CD-BC46-8BDC-05838EDA640C}"/>
              </a:ext>
            </a:extLst>
          </p:cNvPr>
          <p:cNvSpPr txBox="1"/>
          <p:nvPr/>
        </p:nvSpPr>
        <p:spPr>
          <a:xfrm>
            <a:off x="336550" y="1104900"/>
            <a:ext cx="857885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effectLst/>
                <a:latin typeface="ArialMT"/>
              </a:rPr>
              <a:t>Загрузить данные на </a:t>
            </a:r>
            <a:r>
              <a:rPr lang="en-US" sz="2000" b="1" dirty="0">
                <a:effectLst/>
                <a:latin typeface="ArialMT"/>
              </a:rPr>
              <a:t>S3</a:t>
            </a:r>
            <a:r>
              <a:rPr lang="ru-RU" sz="2000" b="1" dirty="0">
                <a:effectLst/>
                <a:latin typeface="ArialMT"/>
              </a:rPr>
              <a:t>: </a:t>
            </a:r>
            <a:endParaRPr lang="ru-RU" sz="1600" b="1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MT"/>
              </a:rPr>
              <a:t>Создать </a:t>
            </a:r>
            <a:r>
              <a:rPr lang="en-US" sz="2000" dirty="0">
                <a:latin typeface="ArialMT"/>
              </a:rPr>
              <a:t>storage;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Установите утилиту </a:t>
            </a:r>
            <a:r>
              <a:rPr lang="en-US" sz="2000" dirty="0">
                <a:effectLst/>
                <a:latin typeface="ArialMT"/>
              </a:rPr>
              <a:t>s3cmd </a:t>
            </a:r>
            <a:r>
              <a:rPr lang="ru-RU" sz="2000" dirty="0">
                <a:effectLst/>
                <a:latin typeface="ArialMT"/>
              </a:rPr>
              <a:t>в </a:t>
            </a:r>
            <a:r>
              <a:rPr lang="ru-RU" sz="2000" dirty="0" err="1">
                <a:effectLst/>
                <a:latin typeface="ArialMT"/>
              </a:rPr>
              <a:t>виртуалке</a:t>
            </a:r>
            <a:br>
              <a:rPr lang="ru-RU" sz="2000" dirty="0">
                <a:latin typeface="ArialMT"/>
              </a:rPr>
            </a:b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pip install s3cmd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Настройте </a:t>
            </a:r>
            <a:r>
              <a:rPr lang="en-US" sz="2000" dirty="0">
                <a:effectLst/>
                <a:latin typeface="ArialMT"/>
              </a:rPr>
              <a:t>s3cmd</a:t>
            </a:r>
            <a:br>
              <a:rPr lang="ru-RU" sz="2000" dirty="0">
                <a:effectLst/>
                <a:latin typeface="ArialMT"/>
              </a:rPr>
            </a:br>
            <a:r>
              <a:rPr lang="en-US" sz="2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s3cmd --configure</a:t>
            </a:r>
            <a:endParaRPr lang="ru-RU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MT"/>
              </a:rPr>
              <a:t>Скопируйте локальные данные на новый </a:t>
            </a:r>
            <a:r>
              <a:rPr lang="en-US" sz="2000" dirty="0">
                <a:latin typeface="ArialMT"/>
              </a:rPr>
              <a:t>storage</a:t>
            </a:r>
            <a:br>
              <a:rPr lang="en-US" sz="2000" dirty="0">
                <a:latin typeface="ArialMT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s3cmd put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local_file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s3://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your_bucket_name</a:t>
            </a:r>
            <a:endParaRPr lang="en-US" sz="2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535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/>
              <a:t>Yandex cloud</a:t>
            </a:r>
            <a:br>
              <a:rPr lang="en-US" sz="4900" dirty="0"/>
            </a:br>
            <a:r>
              <a:rPr lang="en-US" sz="4900" dirty="0"/>
              <a:t>Terraform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9801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Yandex cloud terraform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1AC6C-E1CD-BC46-8BDC-05838EDA640C}"/>
              </a:ext>
            </a:extLst>
          </p:cNvPr>
          <p:cNvSpPr txBox="1"/>
          <p:nvPr/>
        </p:nvSpPr>
        <p:spPr>
          <a:xfrm>
            <a:off x="336550" y="1104900"/>
            <a:ext cx="8578850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1" dirty="0">
                <a:effectLst/>
                <a:latin typeface="ArialMT"/>
              </a:rPr>
              <a:t>С помощью скриптов </a:t>
            </a:r>
            <a:r>
              <a:rPr lang="en-US" sz="2000" b="1" dirty="0">
                <a:effectLst/>
                <a:latin typeface="ArialMT"/>
              </a:rPr>
              <a:t>terraform </a:t>
            </a:r>
            <a:r>
              <a:rPr lang="ru-RU" sz="2000" b="1" dirty="0">
                <a:effectLst/>
                <a:latin typeface="ArialMT"/>
              </a:rPr>
              <a:t>выполнить: </a:t>
            </a:r>
            <a:endParaRPr lang="ru-RU" sz="1600" b="1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MT"/>
              </a:rPr>
              <a:t>Создать </a:t>
            </a:r>
            <a:r>
              <a:rPr lang="en-US" sz="2000" dirty="0">
                <a:latin typeface="ArialMT"/>
              </a:rPr>
              <a:t>storage;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Создать виртуальные сети</a:t>
            </a:r>
            <a:r>
              <a:rPr lang="ru-RU" sz="2000" dirty="0">
                <a:latin typeface="ArialMT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Создать сервисные аккаунты;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ArialMT"/>
              </a:rPr>
              <a:t>Создать </a:t>
            </a:r>
            <a:r>
              <a:rPr lang="en-US" sz="2000" dirty="0">
                <a:latin typeface="ArialMT"/>
              </a:rPr>
              <a:t>storage</a:t>
            </a:r>
            <a:r>
              <a:rPr lang="ru-RU" sz="2000" dirty="0">
                <a:latin typeface="ArialMT"/>
              </a:rPr>
              <a:t>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ArialMT"/>
              </a:rPr>
              <a:t>Создать </a:t>
            </a:r>
            <a:r>
              <a:rPr lang="en-US" sz="2000" dirty="0" err="1">
                <a:effectLst/>
                <a:latin typeface="ArialMT"/>
              </a:rPr>
              <a:t>dataproc</a:t>
            </a:r>
            <a:r>
              <a:rPr lang="en-US" sz="2000" dirty="0">
                <a:effectLst/>
                <a:latin typeface="ArialMT"/>
              </a:rPr>
              <a:t> </a:t>
            </a:r>
            <a:r>
              <a:rPr lang="ru-RU" sz="2000" dirty="0">
                <a:effectLst/>
                <a:latin typeface="ArialMT"/>
              </a:rPr>
              <a:t>кластер.</a:t>
            </a:r>
            <a:endParaRPr lang="en-US" sz="2000" dirty="0">
              <a:effectLst/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910041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3354765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/>
              <a:t>У вас должен быть активный аккаунт в </a:t>
            </a:r>
            <a:r>
              <a:rPr lang="en-US" dirty="0"/>
              <a:t>YC </a:t>
            </a:r>
            <a:r>
              <a:rPr lang="ru-RU" dirty="0"/>
              <a:t>и сервисный аккаунт.</a:t>
            </a:r>
          </a:p>
          <a:p>
            <a:pPr marL="342900" indent="-342900">
              <a:spcBef>
                <a:spcPts val="1200"/>
              </a:spcBef>
              <a:buAutoNum type="arabicPeriod"/>
            </a:pPr>
            <a:r>
              <a:rPr lang="ru-RU" dirty="0"/>
              <a:t>Создайте авторизованный ключ для сервисного аккаунта: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key create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--service-account-id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идентификатор_сервисного_аккаунта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 \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folder-name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имя_каталога_с_сервисным_аккаунтом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 \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key.json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 startAt="3"/>
            </a:pPr>
            <a:r>
              <a:rPr lang="ru-RU" dirty="0"/>
              <a:t>Создайте профиль </a:t>
            </a:r>
            <a:r>
              <a:rPr lang="en-US" dirty="0"/>
              <a:t>CLI </a:t>
            </a:r>
            <a:r>
              <a:rPr lang="ru-RU" dirty="0"/>
              <a:t>для выполнения операций от имени сервисного аккаунта. Укажите имя профиля: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profile create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имя_профиля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 startAt="4"/>
            </a:pPr>
            <a:r>
              <a:rPr lang="ru-RU" dirty="0"/>
              <a:t>Задайте конфигурацию профиля: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service-account-key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key.json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cloud-id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идентификатор_облака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config set folder-id &lt;</a:t>
            </a:r>
            <a:r>
              <a:rPr lang="ru-RU" dirty="0" err="1">
                <a:latin typeface="Courier New" panose="02070309020205020404" pitchFamily="49" charset="0"/>
                <a:cs typeface="Courier New" panose="02070309020205020404" pitchFamily="49" charset="0"/>
              </a:rPr>
              <a:t>идентификатор_каталога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540980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2893100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Создайте файл конфигурации провайдера </a:t>
            </a:r>
            <a:r>
              <a:rPr lang="en-US" dirty="0"/>
              <a:t>Terraform</a:t>
            </a:r>
            <a:r>
              <a:rPr lang="ru-RU" dirty="0"/>
              <a:t>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~/.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terraformrc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provider_installation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network_mirror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"https://terraform-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mirror.yandexcloud.net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include = ["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registry.terraform.io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/*/*"]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direct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exclude = ["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registry.terraform.io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/*/*"]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4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3539430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Создайте файл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main.tf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required_providers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source =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-cloud/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required_version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"&gt;= 0.13"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provider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zone = "ru-central1-b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AAF4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ru-RU" dirty="0">
                <a:solidFill>
                  <a:srgbClr val="7AAF4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зона доступности по умолчанию</a:t>
            </a:r>
          </a:p>
          <a:p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536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для работы с </a:t>
            </a:r>
            <a:r>
              <a:rPr lang="en-US" dirty="0"/>
              <a:t>YC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4851C-7001-0B49-8B28-7606B1C66538}"/>
              </a:ext>
            </a:extLst>
          </p:cNvPr>
          <p:cNvSpPr txBox="1"/>
          <p:nvPr/>
        </p:nvSpPr>
        <p:spPr>
          <a:xfrm>
            <a:off x="500550" y="4658887"/>
            <a:ext cx="7071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hlinkClick r:id="rId2"/>
              </a:rPr>
              <a:t>https://yandex.cloud/ru/docs/tutorials/infrastructure-management/terraform-quickstart#get-credentials</a:t>
            </a:r>
            <a:r>
              <a:rPr lang="en-US" sz="1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7873659" cy="1169551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ru-RU" dirty="0"/>
              <a:t>Инициализируйте конфигурацию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Если вы не получили сообщений об ошибке –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terraform </a:t>
            </a:r>
            <a:r>
              <a:rPr lang="ru-RU" dirty="0">
                <a:latin typeface="+mn-lt"/>
                <a:cs typeface="Courier New" panose="02070309020205020404" pitchFamily="49" charset="0"/>
              </a:rPr>
              <a:t>готов к работе</a:t>
            </a:r>
            <a:endParaRPr lang="en-US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00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7885-4BB9-E34D-A49B-708E016A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команды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7A998-8B1C-3245-BDAC-ECCC7C0DB6BD}"/>
              </a:ext>
            </a:extLst>
          </p:cNvPr>
          <p:cNvSpPr txBox="1"/>
          <p:nvPr/>
        </p:nvSpPr>
        <p:spPr>
          <a:xfrm>
            <a:off x="500550" y="1049412"/>
            <a:ext cx="8142900" cy="4062651"/>
          </a:xfrm>
          <a:prstGeom prst="rect">
            <a:avLst/>
          </a:prstGeom>
          <a:solidFill>
            <a:srgbClr val="FAFAFA"/>
          </a:solidFill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dirty="0"/>
              <a:t>Инициализация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ru-RU" dirty="0"/>
              <a:t>Проверка конфигурации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validate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ru-RU" dirty="0"/>
              <a:t>Показать план изменений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plan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ru-RU" dirty="0"/>
              <a:t>Применить план изменений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apply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spcAft>
                <a:spcPts val="600"/>
              </a:spcAft>
              <a:buFont typeface="+mj-lt"/>
              <a:buAutoNum type="arabicPeriod" startAt="5"/>
            </a:pPr>
            <a:r>
              <a:rPr lang="ru-RU" dirty="0"/>
              <a:t>Удалить конфигурацию, отслеживаемую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destroy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Bef>
                <a:spcPts val="1800"/>
              </a:spcBef>
              <a:spcAft>
                <a:spcPts val="600"/>
              </a:spcAft>
              <a:buFont typeface="+mj-lt"/>
              <a:buAutoNum type="arabicPeriod" startAt="6"/>
            </a:pPr>
            <a:r>
              <a:rPr lang="ru-RU" dirty="0"/>
              <a:t>Показать состояние, отслеживаемое </a:t>
            </a:r>
            <a:r>
              <a:rPr lang="en-US" dirty="0"/>
              <a:t>Terraform</a:t>
            </a:r>
            <a:r>
              <a:rPr lang="ru-RU" dirty="0"/>
              <a:t> в рабочей директории: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terraform show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93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135425" y="2978825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741EC5-82A6-3B43-8FD1-EB7604F3534B}"/>
              </a:ext>
            </a:extLst>
          </p:cNvPr>
          <p:cNvSpPr/>
          <p:nvPr/>
        </p:nvSpPr>
        <p:spPr>
          <a:xfrm>
            <a:off x="827107" y="2871470"/>
            <a:ext cx="1673385" cy="164676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Google Shape;209;p48">
            <a:extLst>
              <a:ext uri="{FF2B5EF4-FFF2-40B4-BE49-F238E27FC236}">
                <a16:creationId xmlns:a16="http://schemas.microsoft.com/office/drawing/2014/main" id="{56B94854-2C27-FF48-B003-2FA0682B9C4D}"/>
              </a:ext>
            </a:extLst>
          </p:cNvPr>
          <p:cNvSpPr txBox="1">
            <a:spLocks/>
          </p:cNvSpPr>
          <p:nvPr/>
        </p:nvSpPr>
        <p:spPr>
          <a:xfrm>
            <a:off x="3135425" y="3272525"/>
            <a:ext cx="5095500" cy="1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None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None/>
              <a:defRPr sz="13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en-US" sz="1150" b="1" dirty="0" err="1"/>
              <a:t>Teamlead</a:t>
            </a:r>
            <a:r>
              <a:rPr lang="en-US" sz="1150" b="1" dirty="0"/>
              <a:t>, </a:t>
            </a:r>
            <a:r>
              <a:rPr lang="ru-RU" sz="1150" b="1" dirty="0"/>
              <a:t>главный инженер проекта – </a:t>
            </a:r>
            <a:r>
              <a:rPr lang="ru-RU" sz="1150" b="1" dirty="0" err="1"/>
              <a:t>НИИгазэкономика</a:t>
            </a:r>
            <a:endParaRPr lang="ru-RU" sz="1150" b="1" dirty="0"/>
          </a:p>
          <a:p>
            <a:pPr marL="0" indent="0"/>
            <a:endParaRPr lang="ru-RU" sz="1150" dirty="0"/>
          </a:p>
          <a:p>
            <a:pPr marL="0" indent="0"/>
            <a:r>
              <a:rPr lang="ru-RU" sz="1150" b="1" dirty="0"/>
              <a:t>Опыт:</a:t>
            </a:r>
            <a:endParaRPr lang="ru-RU" sz="1150" dirty="0"/>
          </a:p>
          <a:p>
            <a:pPr marL="0" indent="0"/>
            <a:r>
              <a:rPr lang="ru-RU" sz="1150" dirty="0"/>
              <a:t>Более 15 лет занимался прикладной математикой и мат моделированием</a:t>
            </a:r>
          </a:p>
          <a:p>
            <a:pPr marL="0" indent="0"/>
            <a:r>
              <a:rPr lang="ru-RU" sz="1150" dirty="0"/>
              <a:t>(</a:t>
            </a:r>
            <a:r>
              <a:rPr lang="en-US" sz="1150" dirty="0"/>
              <a:t>Data Scientist) (Python, </a:t>
            </a:r>
            <a:r>
              <a:rPr lang="ru-RU" sz="1150" dirty="0"/>
              <a:t>С++) в НИИ ПАО Газпром</a:t>
            </a:r>
          </a:p>
          <a:p>
            <a:pPr marL="0" indent="0"/>
            <a:endParaRPr lang="ru-RU" sz="1150" dirty="0"/>
          </a:p>
          <a:p>
            <a:pPr marL="0" indent="0"/>
            <a:r>
              <a:rPr lang="ru-RU" sz="1150" dirty="0"/>
              <a:t>Анализ временных рядов, эволюционное развитие сложных систем</a:t>
            </a:r>
          </a:p>
          <a:p>
            <a:pPr marL="0" indent="0"/>
            <a:endParaRPr lang="ru-RU" sz="1150" dirty="0"/>
          </a:p>
          <a:p>
            <a:pPr marL="0" indent="0"/>
            <a:r>
              <a:rPr lang="ru-RU" sz="1150" b="1" dirty="0"/>
              <a:t>+7 (916) 156-07-82 (</a:t>
            </a:r>
            <a:r>
              <a:rPr lang="en-US" sz="1150" b="1" dirty="0" err="1"/>
              <a:t>whatsapp</a:t>
            </a:r>
            <a:r>
              <a:rPr lang="en-US" sz="1150" b="1" dirty="0"/>
              <a:t>)</a:t>
            </a:r>
          </a:p>
          <a:p>
            <a:pPr marL="0" indent="0"/>
            <a:endParaRPr lang="en-US" sz="1150" b="1" dirty="0"/>
          </a:p>
          <a:p>
            <a:pPr marL="0" indent="0"/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</a:p>
          <a:p>
            <a:pPr marL="0" indent="0"/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</a:rPr>
              <a:t>Выбор хранилища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12514</TotalTime>
  <Words>875</Words>
  <Application>Microsoft Macintosh PowerPoint</Application>
  <PresentationFormat>On-screen Show (16:9)</PresentationFormat>
  <Paragraphs>187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Courier New</vt:lpstr>
      <vt:lpstr>Google Sans</vt:lpstr>
      <vt:lpstr>ArialMT</vt:lpstr>
      <vt:lpstr>Helvetica Neue</vt:lpstr>
      <vt:lpstr>Roboto</vt:lpstr>
      <vt:lpstr>Светлая тема</vt:lpstr>
      <vt:lpstr>Светлая тема</vt:lpstr>
      <vt:lpstr>ML Ops Настройка облачной инфраструктуры</vt:lpstr>
      <vt:lpstr>Проверить, идет ли запись</vt:lpstr>
      <vt:lpstr>Правила вебинара</vt:lpstr>
      <vt:lpstr>ML Ops Практика. Настройка облачной инфраструктуры.</vt:lpstr>
      <vt:lpstr>Карта курса</vt:lpstr>
      <vt:lpstr>Маршрут вебинара</vt:lpstr>
      <vt:lpstr>Цели вебинара</vt:lpstr>
      <vt:lpstr>Смысл</vt:lpstr>
      <vt:lpstr>Yandex cloud User Interface</vt:lpstr>
      <vt:lpstr>Yandex cloud User Interface</vt:lpstr>
      <vt:lpstr>Yandex cloud Command line interface</vt:lpstr>
      <vt:lpstr>Yandex cloud command line interface</vt:lpstr>
      <vt:lpstr>Yandex cloud command line interface</vt:lpstr>
      <vt:lpstr>Yandex cloud Terraform</vt:lpstr>
      <vt:lpstr>Yandex cloud terraform</vt:lpstr>
      <vt:lpstr>Настройка для работы с YC</vt:lpstr>
      <vt:lpstr>Настройка для работы с YC</vt:lpstr>
      <vt:lpstr>Настройка для работы с YC</vt:lpstr>
      <vt:lpstr>Настройка для работы с YC</vt:lpstr>
      <vt:lpstr>Основные команды</vt:lpstr>
      <vt:lpstr>Вопросы?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94</cp:revision>
  <dcterms:modified xsi:type="dcterms:W3CDTF">2025-01-21T14:00:08Z</dcterms:modified>
</cp:coreProperties>
</file>