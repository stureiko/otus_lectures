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39"/>
  </p:notesMasterIdLst>
  <p:sldIdLst>
    <p:sldId id="256" r:id="rId2"/>
    <p:sldId id="257" r:id="rId3"/>
    <p:sldId id="334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489" r:id="rId13"/>
    <p:sldId id="490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491" r:id="rId23"/>
    <p:sldId id="377" r:id="rId24"/>
    <p:sldId id="493" r:id="rId25"/>
    <p:sldId id="494" r:id="rId26"/>
    <p:sldId id="486" r:id="rId27"/>
    <p:sldId id="485" r:id="rId28"/>
    <p:sldId id="495" r:id="rId29"/>
    <p:sldId id="502" r:id="rId30"/>
    <p:sldId id="503" r:id="rId31"/>
    <p:sldId id="314" r:id="rId32"/>
    <p:sldId id="315" r:id="rId33"/>
    <p:sldId id="316" r:id="rId34"/>
    <p:sldId id="317" r:id="rId35"/>
    <p:sldId id="318" r:id="rId36"/>
    <p:sldId id="320" r:id="rId37"/>
    <p:sldId id="319" r:id="rId3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7030"/>
  </p:normalViewPr>
  <p:slideViewPr>
    <p:cSldViewPr snapToGrid="0">
      <p:cViewPr varScale="1">
        <p:scale>
          <a:sx n="297" d="100"/>
          <a:sy n="297" d="100"/>
        </p:scale>
        <p:origin x="1264" y="184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deaee39f1e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deaee39f1e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 содержании проектной работы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формате защиты, а также можно ли будет добавить проект в своей портфолио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97625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9463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28819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830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f72f1f58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f72f1f58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df6222e6af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df6222e6af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df29b9fb24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df29b9fb24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11" Type="http://schemas.openxmlformats.org/officeDocument/2006/relationships/image" Target="../media/image33.jp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jp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42.png"/><Relationship Id="rId4" Type="http://schemas.openxmlformats.org/officeDocument/2006/relationships/image" Target="../media/image10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l-ops.org/content/state-of-mlops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600" dirty="0"/>
              <a:t>Введение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&amp;&amp; слышно?</a:t>
            </a:r>
            <a:br>
              <a:rPr lang="ru" sz="4000" dirty="0"/>
            </a:br>
            <a:r>
              <a:rPr lang="ru-RU" sz="2000" b="0" dirty="0"/>
              <a:t>С</a:t>
            </a:r>
            <a:r>
              <a:rPr lang="ru" sz="2000" b="0" dirty="0"/>
              <a:t>тавьте «+» если все видно и слышно</a:t>
            </a:r>
            <a:endParaRPr sz="4000" b="0" dirty="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2400" dirty="0"/>
              <a:t>Введение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33B90E1D-3F43-DA49-B28B-ECCA7B6E41F8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1377950" indent="-137318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Анализ временных рядов, эволюционные модели, финансовые модели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lang="ru-RU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dirty="0"/>
          </a:p>
          <a:p>
            <a:pPr marL="0" indent="0"/>
            <a:r>
              <a:rPr lang="en-US" sz="1200" b="1" kern="0" dirty="0"/>
              <a:t>@</a:t>
            </a:r>
            <a:r>
              <a:rPr lang="en-US" sz="1200" b="1" kern="0" dirty="0" err="1"/>
              <a:t>rl_fintech</a:t>
            </a:r>
            <a:r>
              <a:rPr lang="en-US" sz="1200" b="1" kern="0" dirty="0"/>
              <a:t> </a:t>
            </a:r>
            <a:r>
              <a:rPr lang="en-US" sz="1200" kern="0" dirty="0"/>
              <a:t>(</a:t>
            </a:r>
            <a:r>
              <a:rPr lang="ru-RU" sz="1200" kern="0" dirty="0"/>
              <a:t>Мой канал о моделях в бизнесе)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167999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72042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MLOps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9064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Облачные платформы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Рефлексия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87125" y="1983126"/>
            <a:ext cx="12700" cy="577015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60142"/>
            <a:ext cx="600" cy="577022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7164"/>
            <a:ext cx="12700" cy="577036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stCxn id="191" idx="1"/>
            <a:endCxn id="192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5" name="Google Shape;284;p37">
            <a:extLst>
              <a:ext uri="{FF2B5EF4-FFF2-40B4-BE49-F238E27FC236}">
                <a16:creationId xmlns:a16="http://schemas.microsoft.com/office/drawing/2014/main" id="{8B142E8E-A524-8E4C-A499-5AFB8FABBFD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6816" y="1749372"/>
            <a:ext cx="5410751" cy="233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868683510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Наладить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1821679687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Интерактив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 занятиях - лучшее освоение умений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Расскажите о себе</a:t>
            </a:r>
            <a:endParaRPr dirty="0"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 курсе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Инфраструктура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Моделирование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Подготовка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данных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Валидация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Развертывание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2" name="Google Shape;189;p34">
            <a:extLst>
              <a:ext uri="{FF2B5EF4-FFF2-40B4-BE49-F238E27FC236}">
                <a16:creationId xmlns:a16="http://schemas.microsoft.com/office/drawing/2014/main" id="{52C99CEE-600A-4040-873A-1F7CC7ABFF8F}"/>
              </a:ext>
            </a:extLst>
          </p:cNvPr>
          <p:cNvSpPr/>
          <p:nvPr/>
        </p:nvSpPr>
        <p:spPr>
          <a:xfrm>
            <a:off x="524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7.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Мониторинг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2" idx="1"/>
            <a:endCxn id="189" idx="3"/>
          </p:cNvCxnSpPr>
          <p:nvPr/>
        </p:nvCxnSpPr>
        <p:spPr>
          <a:xfrm rot="10800000">
            <a:off x="3714005" y="3655465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41" name="Google Shape;188;p34">
            <a:extLst>
              <a:ext uri="{FF2B5EF4-FFF2-40B4-BE49-F238E27FC236}">
                <a16:creationId xmlns:a16="http://schemas.microsoft.com/office/drawing/2014/main" id="{A0B9D976-E244-BA43-8D84-FDEB5907DADF}"/>
              </a:ext>
            </a:extLst>
          </p:cNvPr>
          <p:cNvCxnSpPr>
            <a:cxnSpLocks/>
            <a:stCxn id="32" idx="2"/>
            <a:endCxn id="34" idx="3"/>
          </p:cNvCxnSpPr>
          <p:nvPr/>
        </p:nvCxnSpPr>
        <p:spPr>
          <a:xfrm rot="5400000">
            <a:off x="6148353" y="3898763"/>
            <a:ext cx="579300" cy="67200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9" name="Google Shape;530;p82">
            <a:extLst>
              <a:ext uri="{FF2B5EF4-FFF2-40B4-BE49-F238E27FC236}">
                <a16:creationId xmlns:a16="http://schemas.microsoft.com/office/drawing/2014/main" id="{AC4746E5-40DE-CC4C-AD59-CEC75DE8621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85779" y="394678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3D4BE49-FD50-7440-A353-DB02A3187ABB}"/>
              </a:ext>
            </a:extLst>
          </p:cNvPr>
          <p:cNvSpPr txBox="1"/>
          <p:nvPr/>
        </p:nvSpPr>
        <p:spPr>
          <a:xfrm>
            <a:off x="7632001" y="394678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9110" y="177139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379110" y="260973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5" name="Google Shape;225;p40">
            <a:extLst>
              <a:ext uri="{FF2B5EF4-FFF2-40B4-BE49-F238E27FC236}">
                <a16:creationId xmlns:a16="http://schemas.microsoft.com/office/drawing/2014/main" id="{16CCE744-4A65-D449-BD6D-EAB7C2370685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9110" y="2616087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9110" y="345746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5379110" y="347171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1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71;p44">
            <a:extLst>
              <a:ext uri="{FF2B5EF4-FFF2-40B4-BE49-F238E27FC236}">
                <a16:creationId xmlns:a16="http://schemas.microsoft.com/office/drawing/2014/main" id="{97290346-692E-064C-8312-9A26736D095B}"/>
              </a:ext>
            </a:extLst>
          </p:cNvPr>
          <p:cNvSpPr/>
          <p:nvPr/>
        </p:nvSpPr>
        <p:spPr>
          <a:xfrm>
            <a:off x="2226713" y="36601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Взаимодействие с командой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модуля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1. 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09304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Вводное занятие, знакомство с курсом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61540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Цели и метрики </a:t>
            </a:r>
            <a:r>
              <a:rPr lang="en-US" sz="1200" dirty="0">
                <a:solidFill>
                  <a:srgbClr val="1F1F1F"/>
                </a:solidFill>
                <a:latin typeface="Google Sans"/>
                <a:sym typeface="Roboto"/>
              </a:rPr>
              <a:t>ML </a:t>
            </a:r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проектов</a:t>
            </a:r>
            <a:endParaRPr lang="en-US"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13776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Организация исходного кода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1833" y="41824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Практика – Формирование процессов команды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713086" y="1777416"/>
            <a:ext cx="60732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451905" y="2038597"/>
            <a:ext cx="112968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190723" y="2299779"/>
            <a:ext cx="165205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665921" y="2824581"/>
            <a:ext cx="2696775" cy="41504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6A3C3A01-8FA9-5044-B844-67B828B9AE3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421464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2543060-81DC-D14A-972C-E308D4DE77DE}"/>
              </a:ext>
            </a:extLst>
          </p:cNvPr>
          <p:cNvSpPr txBox="1"/>
          <p:nvPr/>
        </p:nvSpPr>
        <p:spPr>
          <a:xfrm rot="20748746">
            <a:off x="7539933" y="415854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71928F25-2C26-E840-9F20-E19ED35181CF}"/>
              </a:ext>
            </a:extLst>
          </p:cNvPr>
          <p:cNvCxnSpPr>
            <a:endCxn id="29" idx="1"/>
          </p:cNvCxnSpPr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3A93DBA-E9A5-D54E-98E9-E57C846BAACF}"/>
              </a:ext>
            </a:extLst>
          </p:cNvPr>
          <p:cNvCxnSpPr/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 23">
            <a:extLst>
              <a:ext uri="{FF2B5EF4-FFF2-40B4-BE49-F238E27FC236}">
                <a16:creationId xmlns:a16="http://schemas.microsoft.com/office/drawing/2014/main" id="{89B32BAD-B73D-E242-8C5D-56E608AAAD64}"/>
              </a:ext>
            </a:extLst>
          </p:cNvPr>
          <p:cNvGraphicFramePr>
            <a:graphicFrameLocks noGrp="1"/>
          </p:cNvGraphicFramePr>
          <p:nvPr/>
        </p:nvGraphicFramePr>
        <p:xfrm>
          <a:off x="5097950" y="549114"/>
          <a:ext cx="2603872" cy="304800"/>
        </p:xfrm>
        <a:graphic>
          <a:graphicData uri="http://schemas.openxmlformats.org/drawingml/2006/table">
            <a:tbl>
              <a:tblPr firstRow="1" bandRow="1"/>
              <a:tblGrid>
                <a:gridCol w="325484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69869848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64" name="Google Shape;225;p40">
            <a:extLst>
              <a:ext uri="{FF2B5EF4-FFF2-40B4-BE49-F238E27FC236}">
                <a16:creationId xmlns:a16="http://schemas.microsoft.com/office/drawing/2014/main" id="{B30A2631-833E-DA4A-ADCB-046A6FE27437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620618" y="1200957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67178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Результат от курса</a:t>
            </a:r>
            <a:endParaRPr/>
          </a:p>
        </p:txBody>
      </p:sp>
      <p:sp>
        <p:nvSpPr>
          <p:cNvPr id="287" name="Google Shape;287;p45"/>
          <p:cNvSpPr txBox="1">
            <a:spLocks noGrp="1"/>
          </p:cNvSpPr>
          <p:nvPr>
            <p:ph type="body" idx="1"/>
          </p:nvPr>
        </p:nvSpPr>
        <p:spPr>
          <a:xfrm>
            <a:off x="500550" y="1076131"/>
            <a:ext cx="7742400" cy="3736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Что получите от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познакомитесь с новой областью</a:t>
            </a:r>
            <a:endParaRPr sz="1600" dirty="0"/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научитесь адаптировать решения для применения в продакшн стадии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изучите ключевые особенности надежного развертывания</a:t>
            </a:r>
          </a:p>
          <a:p>
            <a:pPr lvl="1" indent="-31496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600" dirty="0"/>
              <a:t>Познакомитесь с коллегами</a:t>
            </a:r>
            <a:endParaRPr sz="1600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endParaRPr lang="en-US" sz="1600" b="1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За время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Освоите всю цепочку жизненного цикла модели</a:t>
            </a: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Подготовка инфрастурктуры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Предобработка данных и создание модели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Развертывание модели и мониторинг</a:t>
            </a:r>
            <a:endParaRPr sz="1400" dirty="0">
              <a:solidFill>
                <a:schemeClr val="tx1"/>
              </a:solidFill>
            </a:endParaRP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Создадите финальный проект</a:t>
            </a:r>
            <a:endParaRPr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Два дня в неделю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1400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Наш чат – это </a:t>
            </a:r>
            <a:br>
              <a:rPr lang="ru" sz="13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400" b="1" dirty="0">
                <a:latin typeface="Roboto"/>
                <a:ea typeface="Roboto"/>
                <a:cs typeface="Roboto"/>
                <a:sym typeface="Roboto"/>
              </a:rPr>
              <a:t>MLOps-2025-0</a:t>
            </a:r>
            <a:r>
              <a:rPr lang="ru-RU" sz="1400" b="1" dirty="0">
                <a:latin typeface="Roboto"/>
                <a:ea typeface="Roboto"/>
                <a:cs typeface="Roboto"/>
                <a:sym typeface="Roboto"/>
              </a:rPr>
              <a:t>9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* в такие моменты вспоминайте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мотивируют)</a:t>
            </a:r>
            <a:endParaRPr sz="110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pic>
        <p:nvPicPr>
          <p:cNvPr id="335" name="Google Shape;33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757225" cy="7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448958"/>
            <a:ext cx="757225" cy="7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технические моменты: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Получите промо коды для 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Yandex Cloud 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у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коммьюнити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менеджера в группе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414654"/>
            <a:ext cx="6825300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Yandex Cloud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/ Docker Compose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Spark /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k8s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880325"/>
            <a:ext cx="68253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облачной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инфрастурктуры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конвейеров обработки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880325"/>
            <a:ext cx="757225" cy="75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 dirty="0"/>
              <a:t>Идея </a:t>
            </a:r>
            <a:r>
              <a:rPr lang="en-US" sz="4900" dirty="0" err="1"/>
              <a:t>MLOps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DevOps = Develop + Operations</a:t>
            </a:r>
            <a:endParaRPr dirty="0"/>
          </a:p>
        </p:txBody>
      </p:sp>
      <p:pic>
        <p:nvPicPr>
          <p:cNvPr id="5" name="Google Shape;278;p36">
            <a:extLst>
              <a:ext uri="{FF2B5EF4-FFF2-40B4-BE49-F238E27FC236}">
                <a16:creationId xmlns:a16="http://schemas.microsoft.com/office/drawing/2014/main" id="{04855560-D08A-494C-88CA-EDD52538D0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6052" y="1307164"/>
            <a:ext cx="7211895" cy="33883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8161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MLOps</a:t>
            </a:r>
            <a:r>
              <a:rPr lang="en-US" dirty="0"/>
              <a:t> = ML + Dev + Ops</a:t>
            </a:r>
            <a:endParaRPr dirty="0"/>
          </a:p>
        </p:txBody>
      </p:sp>
      <p:pic>
        <p:nvPicPr>
          <p:cNvPr id="6" name="Google Shape;284;p37">
            <a:extLst>
              <a:ext uri="{FF2B5EF4-FFF2-40B4-BE49-F238E27FC236}">
                <a16:creationId xmlns:a16="http://schemas.microsoft.com/office/drawing/2014/main" id="{544B8DD4-745B-554B-AF2D-1093D5E938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4395" y="1724472"/>
            <a:ext cx="7295210" cy="291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Инструменты </a:t>
            </a:r>
            <a:r>
              <a:rPr lang="en-US" dirty="0" err="1"/>
              <a:t>MLOps</a:t>
            </a:r>
            <a:endParaRPr dirty="0"/>
          </a:p>
        </p:txBody>
      </p:sp>
      <p:pic>
        <p:nvPicPr>
          <p:cNvPr id="5" name="Google Shape;302;p40">
            <a:extLst>
              <a:ext uri="{FF2B5EF4-FFF2-40B4-BE49-F238E27FC236}">
                <a16:creationId xmlns:a16="http://schemas.microsoft.com/office/drawing/2014/main" id="{A0106523-B665-6845-A65D-804BB6F3645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710" y="927803"/>
            <a:ext cx="7624115" cy="383444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03;p40">
            <a:extLst>
              <a:ext uri="{FF2B5EF4-FFF2-40B4-BE49-F238E27FC236}">
                <a16:creationId xmlns:a16="http://schemas.microsoft.com/office/drawing/2014/main" id="{24D5C59E-0EBA-5D4B-B8BC-4AB29F602011}"/>
              </a:ext>
            </a:extLst>
          </p:cNvPr>
          <p:cNvSpPr txBox="1"/>
          <p:nvPr/>
        </p:nvSpPr>
        <p:spPr>
          <a:xfrm>
            <a:off x="691710" y="4804976"/>
            <a:ext cx="1878160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latin typeface="Roboto"/>
                <a:ea typeface="Roboto"/>
                <a:cs typeface="Roboto"/>
                <a:sym typeface="Roboto"/>
              </a:rPr>
              <a:t>ref: </a:t>
            </a:r>
            <a:r>
              <a:rPr lang="ru" sz="1000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ml-ops.org</a:t>
            </a:r>
            <a:endParaRPr sz="1000"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18805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Облачные платформы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1169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ng The Top 3: Google, AWS &amp; Azure | Clouve Inc.">
            <a:extLst>
              <a:ext uri="{FF2B5EF4-FFF2-40B4-BE49-F238E27FC236}">
                <a16:creationId xmlns:a16="http://schemas.microsoft.com/office/drawing/2014/main" id="{5703D728-37DC-8742-B552-F3BD6020C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247650"/>
            <a:ext cx="812800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226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52997C-DCA4-0842-8B30-6FF49149F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" y="0"/>
            <a:ext cx="913463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721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Yandex Cloud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9083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От небольшой мастерской к ML-фабрике: как мы Yandex AI Studio пересобирали  / Хабр">
            <a:extLst>
              <a:ext uri="{FF2B5EF4-FFF2-40B4-BE49-F238E27FC236}">
                <a16:creationId xmlns:a16="http://schemas.microsoft.com/office/drawing/2014/main" id="{918165CE-79DA-2444-8544-C39005A8E0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38"/>
          <a:stretch/>
        </p:blipFill>
        <p:spPr bwMode="auto">
          <a:xfrm>
            <a:off x="1" y="141667"/>
            <a:ext cx="9144000" cy="476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96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Yandex Cloud Data Platform | Yandex Cloud">
            <a:extLst>
              <a:ext uri="{FF2B5EF4-FFF2-40B4-BE49-F238E27FC236}">
                <a16:creationId xmlns:a16="http://schemas.microsoft.com/office/drawing/2014/main" id="{2C0E086E-73FF-2D43-A275-1BD457455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89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90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611" name="Google Shape;611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90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13" name="Google Shape;613;p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90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9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625" name="Google Shape;625;p9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Проверка достижения целей</a:t>
            </a:r>
            <a:endParaRPr sz="1500" b="1">
              <a:solidFill>
                <a:srgbClr val="FF9900"/>
              </a:solidFill>
            </a:endParaRPr>
          </a:p>
        </p:txBody>
      </p:sp>
      <p:graphicFrame>
        <p:nvGraphicFramePr>
          <p:cNvPr id="5" name="Google Shape;203;p37">
            <a:extLst>
              <a:ext uri="{FF2B5EF4-FFF2-40B4-BE49-F238E27FC236}">
                <a16:creationId xmlns:a16="http://schemas.microsoft.com/office/drawing/2014/main" id="{DE4C8527-3820-074B-A027-D6BCE1F6BD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133096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Наладили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9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</a:t>
            </a:r>
            <a:r>
              <a:rPr lang="ru" dirty="0"/>
              <a:t>езисы</a:t>
            </a:r>
            <a:endParaRPr dirty="0"/>
          </a:p>
        </p:txBody>
      </p:sp>
      <p:graphicFrame>
        <p:nvGraphicFramePr>
          <p:cNvPr id="632" name="Google Shape;632;p93"/>
          <p:cNvGraphicFramePr/>
          <p:nvPr>
            <p:extLst>
              <p:ext uri="{D42A27DB-BD31-4B8C-83A1-F6EECF244321}">
                <p14:modId xmlns:p14="http://schemas.microsoft.com/office/powerpoint/2010/main" val="1660967688"/>
              </p:ext>
            </p:extLst>
          </p:nvPr>
        </p:nvGraphicFramePr>
        <p:xfrm>
          <a:off x="952500" y="1544194"/>
          <a:ext cx="7239000" cy="106678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набор практик и инструментов направленных на последовательное и эффективное внедрение и поддержку моделей машинного обучения</a:t>
                      </a:r>
                      <a:endParaRPr sz="1100" dirty="0"/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это больше про процессы чем про модели и именно на процессах нам следует сосредоточиться</a:t>
                      </a:r>
                      <a:endParaRPr sz="13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3" name="Google Shape;633;p9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Подведем итоги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914" y="23164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80040" y="2355929"/>
            <a:ext cx="46722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примеры использования RL вам показались наиболее интересными?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80040" y="3710789"/>
            <a:ext cx="4996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1750" y="36267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9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9" name="Google Shape;649;p95"/>
          <p:cNvSpPr txBox="1"/>
          <p:nvPr/>
        </p:nvSpPr>
        <p:spPr>
          <a:xfrm>
            <a:off x="1911132" y="1653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Цели и метрики </a:t>
            </a:r>
            <a:r>
              <a:rPr lang="en-US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проектов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1255</TotalTime>
  <Words>1031</Words>
  <Application>Microsoft Macintosh PowerPoint</Application>
  <PresentationFormat>On-screen Show (16:9)</PresentationFormat>
  <Paragraphs>234</Paragraphs>
  <Slides>37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Google Sans</vt:lpstr>
      <vt:lpstr>Roboto</vt:lpstr>
      <vt:lpstr>Arial</vt:lpstr>
      <vt:lpstr>Courier New</vt:lpstr>
      <vt:lpstr>Apple Chancery</vt:lpstr>
      <vt:lpstr>Светлая тема</vt:lpstr>
      <vt:lpstr>MLOps Введение </vt:lpstr>
      <vt:lpstr>Проверить, идет ли запись</vt:lpstr>
      <vt:lpstr>MLOps Введение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Расскажите о себе</vt:lpstr>
      <vt:lpstr>Как подготовиться к обучению</vt:lpstr>
      <vt:lpstr>О курсе</vt:lpstr>
      <vt:lpstr>Карта курса</vt:lpstr>
      <vt:lpstr>Программа модуля</vt:lpstr>
      <vt:lpstr>Результат от курса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Ваши вопросы?</vt:lpstr>
      <vt:lpstr>Идея MLOps</vt:lpstr>
      <vt:lpstr>DevOps = Develop + Operations</vt:lpstr>
      <vt:lpstr>MLOps = ML + Dev + Ops</vt:lpstr>
      <vt:lpstr>Инструменты MLOps</vt:lpstr>
      <vt:lpstr>Облачные платформы</vt:lpstr>
      <vt:lpstr>PowerPoint Presentation</vt:lpstr>
      <vt:lpstr>PowerPoint Presentation</vt:lpstr>
      <vt:lpstr>Yandex Cloud</vt:lpstr>
      <vt:lpstr>PowerPoint Presentation</vt:lpstr>
      <vt:lpstr>PowerPoint Presentation</vt:lpstr>
      <vt:lpstr>Вопросы?</vt:lpstr>
      <vt:lpstr>Рефлексия</vt:lpstr>
      <vt:lpstr>Цели вебинара</vt:lpstr>
      <vt:lpstr>Тезисы</vt:lpstr>
      <vt:lpstr>Рефлексия</vt:lpstr>
      <vt:lpstr>Заполните, пожалуйста, опрос о занятии по ссылке в чате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59</cp:revision>
  <dcterms:modified xsi:type="dcterms:W3CDTF">2025-09-29T15:15:04Z</dcterms:modified>
</cp:coreProperties>
</file>