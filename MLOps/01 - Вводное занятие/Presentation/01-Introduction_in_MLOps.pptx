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39"/>
  </p:notesMasterIdLst>
  <p:sldIdLst>
    <p:sldId id="256" r:id="rId2"/>
    <p:sldId id="257" r:id="rId3"/>
    <p:sldId id="334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489" r:id="rId13"/>
    <p:sldId id="490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491" r:id="rId23"/>
    <p:sldId id="377" r:id="rId24"/>
    <p:sldId id="493" r:id="rId25"/>
    <p:sldId id="494" r:id="rId26"/>
    <p:sldId id="486" r:id="rId27"/>
    <p:sldId id="485" r:id="rId28"/>
    <p:sldId id="495" r:id="rId29"/>
    <p:sldId id="502" r:id="rId30"/>
    <p:sldId id="503" r:id="rId31"/>
    <p:sldId id="314" r:id="rId32"/>
    <p:sldId id="315" r:id="rId33"/>
    <p:sldId id="316" r:id="rId34"/>
    <p:sldId id="317" r:id="rId35"/>
    <p:sldId id="318" r:id="rId36"/>
    <p:sldId id="320" r:id="rId37"/>
    <p:sldId id="319" r:id="rId3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CB5BBF-14A1-44A8-AE45-40D0EF8F1E93}">
  <a:tblStyle styleId="{91CB5BBF-14A1-44A8-AE45-40D0EF8F1E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88"/>
    <p:restoredTop sz="97030"/>
  </p:normalViewPr>
  <p:slideViewPr>
    <p:cSldViewPr snapToGrid="0">
      <p:cViewPr varScale="1">
        <p:scale>
          <a:sx n="297" d="100"/>
          <a:sy n="297" d="100"/>
        </p:scale>
        <p:origin x="1264" y="176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deaee39f1e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deaee39f1e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dc08f4a2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dc08f4a2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Рассказать про бесплатный текстовый курс о том, как учиться. где найти: доступен в ЛК + приложена ссылка в материалы вводного занятия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eaee39f1e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deaee39f1e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 содержании проектной работы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формате защиты, а также можно ли будет добавить проект в своей портфолио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eaee39f1e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eaee39f1e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об особенностях ДЗ, важности их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выполнения и связи с итоговым проектом, скорости проверки и критериях оценки. Если на курсе есть ментор,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 рассказать о формате взаимодействия. 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deaee39f1e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deaee39f1e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deaee39f1e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deaee39f1e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e035c63f2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e035c63f2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29b9fb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29b9fb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df29b9fb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df29b9fb2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9893088cf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9893088cf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97625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9893088cf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9893088cf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9893088cf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9893088cf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19463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df29b9fb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df29b9fb2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28819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df29b9fb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df29b9fb2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8305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f72f1f58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f72f1f58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df6222e6a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df6222e6a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df6222e6a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df6222e6a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df29b9fb24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df29b9fb24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df6222e6a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df6222e6a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Запланируйте пару минут на рефлексию в конце занятия. Чтобы студенты действительно делились обратной связью, рекомендуем не относиться к этому формально и варьировать вопросы в зависимости от темы, формата занятия, аудитории, текущей ситуации.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Варианты вопросов (вы можете задавать свои):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в прошедшем занятии вам показалось наиболее полезным?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тезисами вебинара вы не согласны?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 какому вопросу захотелось глубже изучить информацию?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выводами уходите с занятия?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насколько тема была для вас сложной?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какой знания получилось применить на практике на вебинаре?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понимаете ли вы, как применять на практике то, что узнали на вебинаре. Если да, то как?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какой раздел вебинара показался вам самым сложным для понимания?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 какому разделу вам не хватило информации и примеров?</a:t>
            </a:r>
            <a:endParaRPr sz="1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df6222e6a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df6222e6a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tusbook.notion.site/Otus-Heroes-8736ea4e22294c6e8794fbbc167df61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11" Type="http://schemas.openxmlformats.org/officeDocument/2006/relationships/image" Target="../media/image33.jp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7.jp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42.png"/><Relationship Id="rId4" Type="http://schemas.openxmlformats.org/officeDocument/2006/relationships/image" Target="../media/image10.png"/><Relationship Id="rId9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l-ops.org/content/state-of-mlops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dirty="0"/>
              <a:t>Введение</a:t>
            </a:r>
            <a:r>
              <a:rPr lang="ru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40" name="Google Shape;140;p33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 dirty="0"/>
              <a:t>Меня хорошо видно</a:t>
            </a:r>
            <a:endParaRPr sz="4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/>
              <a:t>&amp;&amp; слышно?</a:t>
            </a:r>
            <a:br>
              <a:rPr lang="ru" sz="4000" dirty="0"/>
            </a:br>
            <a:r>
              <a:rPr lang="ru-RU" sz="2000" b="0" dirty="0"/>
              <a:t>С</a:t>
            </a:r>
            <a:r>
              <a:rPr lang="ru" sz="2000" b="0" dirty="0"/>
              <a:t>тавьте «+» если все видно и слышно</a:t>
            </a:r>
            <a:endParaRPr sz="4000" b="0" dirty="0"/>
          </a:p>
        </p:txBody>
      </p:sp>
      <p:pic>
        <p:nvPicPr>
          <p:cNvPr id="141" name="Google Shape;14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br>
              <a:rPr lang="en-US" dirty="0"/>
            </a:br>
            <a:r>
              <a:rPr lang="ru-RU" sz="2400" dirty="0"/>
              <a:t>Введение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33B90E1D-3F43-DA49-B28B-ECCA7B6E41F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377950" indent="-137318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Basic,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20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Анализ временных рядов, эволюционные модели, финансовые модели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lang="ru-RU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dirty="0"/>
          </a:p>
          <a:p>
            <a:pPr marL="0" indent="0"/>
            <a:r>
              <a:rPr lang="en-US" sz="1200" b="1" kern="0" dirty="0"/>
              <a:t>@</a:t>
            </a:r>
            <a:r>
              <a:rPr lang="en-US" sz="1200" b="1" kern="0" dirty="0" err="1"/>
              <a:t>rl_fintech</a:t>
            </a:r>
            <a:r>
              <a:rPr lang="en-US" sz="1200" b="1" kern="0" dirty="0"/>
              <a:t> </a:t>
            </a:r>
            <a:r>
              <a:rPr lang="en-US" sz="1200" kern="0" dirty="0"/>
              <a:t>(</a:t>
            </a:r>
            <a:r>
              <a:rPr lang="ru-RU" sz="1200" kern="0" dirty="0"/>
              <a:t>Мой канал о моделях в бизнесе)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160" name="Google Shape;16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5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35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5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5"/>
          <p:cNvSpPr txBox="1"/>
          <p:nvPr/>
        </p:nvSpPr>
        <p:spPr>
          <a:xfrm>
            <a:off x="1654525" y="2167999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35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5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5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5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3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5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7" name="Google Shape;177;p3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5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3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0726" y="2148424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179502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7125" y="2372042"/>
            <a:ext cx="27538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такое </a:t>
            </a:r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MLOps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86525" y="2949064"/>
            <a:ext cx="27538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Облачные платформы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5" y="352610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Инструменты необходимые на курсе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Рефлексия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>
            <a:off x="786525" y="1393625"/>
            <a:ext cx="600" cy="5895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cxnSpLocks/>
            <a:stCxn id="188" idx="1"/>
            <a:endCxn id="189" idx="1"/>
          </p:cNvCxnSpPr>
          <p:nvPr/>
        </p:nvCxnSpPr>
        <p:spPr>
          <a:xfrm rot="10800000" flipV="1">
            <a:off x="787125" y="1983126"/>
            <a:ext cx="12700" cy="57701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5" y="2560142"/>
            <a:ext cx="600" cy="577022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3137164"/>
            <a:ext cx="12700" cy="57703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stCxn id="191" idx="1"/>
            <a:endCxn id="192" idx="1"/>
          </p:cNvCxnSpPr>
          <p:nvPr/>
        </p:nvCxnSpPr>
        <p:spPr>
          <a:xfrm>
            <a:off x="786525" y="3714200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5" name="Google Shape;284;p37">
            <a:extLst>
              <a:ext uri="{FF2B5EF4-FFF2-40B4-BE49-F238E27FC236}">
                <a16:creationId xmlns:a16="http://schemas.microsoft.com/office/drawing/2014/main" id="{8B142E8E-A524-8E4C-A499-5AFB8FABBF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816" y="1749372"/>
            <a:ext cx="5410751" cy="233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03" name="Google Shape;203;p37"/>
          <p:cNvGraphicFramePr/>
          <p:nvPr>
            <p:extLst>
              <p:ext uri="{D42A27DB-BD31-4B8C-83A1-F6EECF244321}">
                <p14:modId xmlns:p14="http://schemas.microsoft.com/office/powerpoint/2010/main" val="868683510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Наладить эффективное обучение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что такое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MLOps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структуру курса и используемые инструменты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1821679687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Интерактив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 занятиях - лучшее освоение умений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Чтобы заложить основы для дальнейшего обучения на курсе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Знакомство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Расскажите о себе</a:t>
            </a:r>
            <a:endParaRPr dirty="0"/>
          </a:p>
        </p:txBody>
      </p:sp>
      <p:sp>
        <p:nvSpPr>
          <p:cNvPr id="240" name="Google Shape;240;p41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Напишите, пожалуйста, в чат или скажите голосом </a:t>
            </a:r>
            <a:endParaRPr sz="1500" b="1">
              <a:solidFill>
                <a:srgbClr val="FF9900"/>
              </a:solidFill>
            </a:endParaRPr>
          </a:p>
        </p:txBody>
      </p:sp>
      <p:pic>
        <p:nvPicPr>
          <p:cNvPr id="241" name="Google Shape;24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925" y="1880900"/>
            <a:ext cx="730678" cy="730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0173" y="1880910"/>
            <a:ext cx="730678" cy="730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6925" y="2982867"/>
            <a:ext cx="730678" cy="73067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1"/>
          <p:cNvSpPr txBox="1"/>
          <p:nvPr/>
        </p:nvSpPr>
        <p:spPr>
          <a:xfrm>
            <a:off x="2006125" y="2038489"/>
            <a:ext cx="247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 вас зовут?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41"/>
          <p:cNvSpPr txBox="1"/>
          <p:nvPr/>
        </p:nvSpPr>
        <p:spPr>
          <a:xfrm>
            <a:off x="5561550" y="2038489"/>
            <a:ext cx="3231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Какой опыт в IT?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41"/>
          <p:cNvSpPr txBox="1"/>
          <p:nvPr/>
        </p:nvSpPr>
        <p:spPr>
          <a:xfrm>
            <a:off x="2006125" y="3024956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Какие ожидания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от курса?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7" name="Google Shape;247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28355" y="2996505"/>
            <a:ext cx="703404" cy="703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1"/>
          <p:cNvSpPr txBox="1"/>
          <p:nvPr/>
        </p:nvSpPr>
        <p:spPr>
          <a:xfrm>
            <a:off x="5561550" y="2909606"/>
            <a:ext cx="2768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Заполните информацию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разделе «О себе»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личном кабинете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>
            <a:spLocks noGrp="1"/>
          </p:cNvSpPr>
          <p:nvPr>
            <p:ph type="title"/>
          </p:nvPr>
        </p:nvSpPr>
        <p:spPr>
          <a:xfrm>
            <a:off x="500550" y="248043"/>
            <a:ext cx="8520600" cy="8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подготовиться к обучению</a:t>
            </a:r>
            <a:endParaRPr/>
          </a:p>
        </p:txBody>
      </p:sp>
      <p:sp>
        <p:nvSpPr>
          <p:cNvPr id="254" name="Google Shape;254;p42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u="sng">
                <a:solidFill>
                  <a:schemeClr val="hlink"/>
                </a:solidFill>
                <a:hlinkClick r:id="rId3"/>
              </a:rPr>
              <a:t>Полезный курс о том, как эффективно учиться </a:t>
            </a:r>
            <a:endParaRPr sz="1600" b="1">
              <a:solidFill>
                <a:srgbClr val="FF9900"/>
              </a:solidFill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2006125" y="2050013"/>
            <a:ext cx="247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2006125" y="2974763"/>
            <a:ext cx="247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6131100" y="2909606"/>
            <a:ext cx="276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550" y="1222130"/>
            <a:ext cx="1856475" cy="827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000" y="2102681"/>
            <a:ext cx="3835574" cy="271869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2"/>
          <p:cNvSpPr txBox="1"/>
          <p:nvPr/>
        </p:nvSpPr>
        <p:spPr>
          <a:xfrm>
            <a:off x="2831425" y="1872769"/>
            <a:ext cx="570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 курсе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Процессы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Инфраструктура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Моделирование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>
                <a:solidFill>
                  <a:srgbClr val="1F1F1F"/>
                </a:solidFill>
                <a:latin typeface="Google Sans"/>
                <a:sym typeface="Roboto"/>
              </a:rPr>
              <a:t>Подготовка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данных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>
                <a:solidFill>
                  <a:srgbClr val="1F1F1F"/>
                </a:solidFill>
                <a:latin typeface="Google Sans"/>
                <a:sym typeface="Roboto"/>
              </a:rPr>
              <a:t>Валидация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Развертывание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2" name="Google Shape;189;p34">
            <a:extLst>
              <a:ext uri="{FF2B5EF4-FFF2-40B4-BE49-F238E27FC236}">
                <a16:creationId xmlns:a16="http://schemas.microsoft.com/office/drawing/2014/main" id="{52C99CEE-600A-4040-873A-1F7CC7ABFF8F}"/>
              </a:ext>
            </a:extLst>
          </p:cNvPr>
          <p:cNvSpPr/>
          <p:nvPr/>
        </p:nvSpPr>
        <p:spPr>
          <a:xfrm>
            <a:off x="524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7.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Мониторинг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2" idx="1"/>
            <a:endCxn id="189" idx="3"/>
          </p:cNvCxnSpPr>
          <p:nvPr/>
        </p:nvCxnSpPr>
        <p:spPr>
          <a:xfrm rot="10800000">
            <a:off x="3714005" y="3655465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41" name="Google Shape;188;p34">
            <a:extLst>
              <a:ext uri="{FF2B5EF4-FFF2-40B4-BE49-F238E27FC236}">
                <a16:creationId xmlns:a16="http://schemas.microsoft.com/office/drawing/2014/main" id="{A0B9D976-E244-BA43-8D84-FDEB5907DADF}"/>
              </a:ext>
            </a:extLst>
          </p:cNvPr>
          <p:cNvCxnSpPr>
            <a:cxnSpLocks/>
            <a:stCxn id="32" idx="2"/>
            <a:endCxn id="34" idx="3"/>
          </p:cNvCxnSpPr>
          <p:nvPr/>
        </p:nvCxnSpPr>
        <p:spPr>
          <a:xfrm rot="5400000">
            <a:off x="6148353" y="3898763"/>
            <a:ext cx="579300" cy="67200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9" name="Google Shape;530;p82">
            <a:extLst>
              <a:ext uri="{FF2B5EF4-FFF2-40B4-BE49-F238E27FC236}">
                <a16:creationId xmlns:a16="http://schemas.microsoft.com/office/drawing/2014/main" id="{AC4746E5-40DE-CC4C-AD59-CEC75DE8621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85779" y="394678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3D4BE49-FD50-7440-A353-DB02A3187ABB}"/>
              </a:ext>
            </a:extLst>
          </p:cNvPr>
          <p:cNvSpPr txBox="1"/>
          <p:nvPr/>
        </p:nvSpPr>
        <p:spPr>
          <a:xfrm>
            <a:off x="7632001" y="394678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/>
          <a:srcRect l="18187" r="18187"/>
          <a:stretch/>
        </p:blipFill>
        <p:spPr>
          <a:xfrm>
            <a:off x="3165384" y="8783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9110" y="177139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" name="Google Shape;225;p40">
            <a:extLst>
              <a:ext uri="{FF2B5EF4-FFF2-40B4-BE49-F238E27FC236}">
                <a16:creationId xmlns:a16="http://schemas.microsoft.com/office/drawing/2014/main" id="{67D6B569-9B1F-6D43-841D-442FF92691E3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379110" y="1770693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5379110" y="260973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5" name="Google Shape;225;p40">
            <a:extLst>
              <a:ext uri="{FF2B5EF4-FFF2-40B4-BE49-F238E27FC236}">
                <a16:creationId xmlns:a16="http://schemas.microsoft.com/office/drawing/2014/main" id="{16CCE744-4A65-D449-BD6D-EAB7C2370685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789110" y="2616087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789110" y="345746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10"/>
          <a:srcRect t="2849" b="2849"/>
          <a:stretch/>
        </p:blipFill>
        <p:spPr>
          <a:xfrm>
            <a:off x="5379110" y="347171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11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71;p44">
            <a:extLst>
              <a:ext uri="{FF2B5EF4-FFF2-40B4-BE49-F238E27FC236}">
                <a16:creationId xmlns:a16="http://schemas.microsoft.com/office/drawing/2014/main" id="{97290346-692E-064C-8312-9A26736D095B}"/>
              </a:ext>
            </a:extLst>
          </p:cNvPr>
          <p:cNvSpPr/>
          <p:nvPr/>
        </p:nvSpPr>
        <p:spPr>
          <a:xfrm>
            <a:off x="2226713" y="36601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Взаимодействие с командой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модуля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1. Процессы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09304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Вводное занятие, знакомство с курсом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61540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Цели и метрики </a:t>
            </a:r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ML </a:t>
            </a:r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проектов</a:t>
            </a:r>
            <a:endParaRPr lang="en-US"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13776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Организация исходного кода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1833" y="41824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Практика – Формирование процессов команды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713086" y="1777416"/>
            <a:ext cx="60732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451905" y="2038597"/>
            <a:ext cx="112968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190723" y="2299779"/>
            <a:ext cx="165205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665921" y="2824581"/>
            <a:ext cx="2696775" cy="4150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6A3C3A01-8FA9-5044-B844-67B828B9AE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2037" y="421464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543060-81DC-D14A-972C-E308D4DE77DE}"/>
              </a:ext>
            </a:extLst>
          </p:cNvPr>
          <p:cNvSpPr txBox="1"/>
          <p:nvPr/>
        </p:nvSpPr>
        <p:spPr>
          <a:xfrm rot="20748746">
            <a:off x="7539933" y="4158546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1928F25-2C26-E840-9F20-E19ED35181CF}"/>
              </a:ext>
            </a:extLst>
          </p:cNvPr>
          <p:cNvCxnSpPr>
            <a:endCxn id="29" idx="1"/>
          </p:cNvCxnSpPr>
          <p:nvPr/>
        </p:nvCxnSpPr>
        <p:spPr>
          <a:xfrm rot="16200000" flipH="1">
            <a:off x="1184344" y="2815763"/>
            <a:ext cx="1664808" cy="4199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93A93DBA-E9A5-D54E-98E9-E57C846BAACF}"/>
              </a:ext>
            </a:extLst>
          </p:cNvPr>
          <p:cNvCxnSpPr/>
          <p:nvPr/>
        </p:nvCxnSpPr>
        <p:spPr>
          <a:xfrm rot="16200000" flipH="1">
            <a:off x="1184344" y="2815763"/>
            <a:ext cx="1664808" cy="4199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Table 23">
            <a:extLst>
              <a:ext uri="{FF2B5EF4-FFF2-40B4-BE49-F238E27FC236}">
                <a16:creationId xmlns:a16="http://schemas.microsoft.com/office/drawing/2014/main" id="{89B32BAD-B73D-E242-8C5D-56E608AAAD64}"/>
              </a:ext>
            </a:extLst>
          </p:cNvPr>
          <p:cNvGraphicFramePr>
            <a:graphicFrameLocks noGrp="1"/>
          </p:cNvGraphicFramePr>
          <p:nvPr/>
        </p:nvGraphicFramePr>
        <p:xfrm>
          <a:off x="5097950" y="549114"/>
          <a:ext cx="2603872" cy="304800"/>
        </p:xfrm>
        <a:graphic>
          <a:graphicData uri="http://schemas.openxmlformats.org/drawingml/2006/table">
            <a:tbl>
              <a:tblPr firstRow="1" bandRow="1"/>
              <a:tblGrid>
                <a:gridCol w="325484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1731136109"/>
                    </a:ext>
                  </a:extLst>
                </a:gridCol>
                <a:gridCol w="325484">
                  <a:extLst>
                    <a:ext uri="{9D8B030D-6E8A-4147-A177-3AD203B41FA5}">
                      <a16:colId xmlns:a16="http://schemas.microsoft.com/office/drawing/2014/main" val="169869848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64" name="Google Shape;225;p40">
            <a:extLst>
              <a:ext uri="{FF2B5EF4-FFF2-40B4-BE49-F238E27FC236}">
                <a16:creationId xmlns:a16="http://schemas.microsoft.com/office/drawing/2014/main" id="{B30A2631-833E-DA4A-ADCB-046A6FE27437}"/>
              </a:ext>
            </a:extLst>
          </p:cNvPr>
          <p:cNvPicPr preferRelativeResize="0"/>
          <p:nvPr/>
        </p:nvPicPr>
        <p:blipFill>
          <a:blip r:embed="rId4"/>
          <a:srcRect l="18187" r="18187"/>
          <a:stretch/>
        </p:blipFill>
        <p:spPr>
          <a:xfrm>
            <a:off x="620618" y="1200957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7178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 от курса</a:t>
            </a:r>
            <a:endParaRPr/>
          </a:p>
        </p:txBody>
      </p:sp>
      <p:sp>
        <p:nvSpPr>
          <p:cNvPr id="287" name="Google Shape;287;p45"/>
          <p:cNvSpPr txBox="1">
            <a:spLocks noGrp="1"/>
          </p:cNvSpPr>
          <p:nvPr>
            <p:ph type="body" idx="1"/>
          </p:nvPr>
        </p:nvSpPr>
        <p:spPr>
          <a:xfrm>
            <a:off x="500550" y="1076131"/>
            <a:ext cx="7742400" cy="3736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14960" algn="l" rtl="0">
              <a:spcBef>
                <a:spcPts val="300"/>
              </a:spcBef>
              <a:spcAft>
                <a:spcPts val="0"/>
              </a:spcAft>
              <a:buSzPct val="100000"/>
              <a:buAutoNum type="arabicParenR"/>
            </a:pPr>
            <a:r>
              <a:rPr lang="ru" sz="1800" b="1" dirty="0"/>
              <a:t>Что получите от курса</a:t>
            </a:r>
            <a:endParaRPr sz="18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" sz="1600" dirty="0"/>
              <a:t>познакомитесь с новой областью</a:t>
            </a:r>
            <a:endParaRPr sz="1600" dirty="0"/>
          </a:p>
          <a:p>
            <a:pPr lvl="2" indent="-314960"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ru" sz="1400" dirty="0">
                <a:solidFill>
                  <a:schemeClr val="tx1"/>
                </a:solidFill>
              </a:rPr>
              <a:t>научитесь адаптировать решения для применения в продакшн стадии</a:t>
            </a:r>
            <a:endParaRPr sz="1400" dirty="0">
              <a:solidFill>
                <a:schemeClr val="tx1"/>
              </a:solidFill>
            </a:endParaRPr>
          </a:p>
          <a:p>
            <a:pPr lvl="2" indent="-314960"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ru" sz="1400" dirty="0">
                <a:solidFill>
                  <a:schemeClr val="tx1"/>
                </a:solidFill>
              </a:rPr>
              <a:t>изучите ключевые особенности надежного развертывания</a:t>
            </a:r>
          </a:p>
          <a:p>
            <a:pPr lvl="1" indent="-31496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600" dirty="0"/>
              <a:t>Познакомитесь с коллегами</a:t>
            </a:r>
            <a:endParaRPr sz="1600" dirty="0"/>
          </a:p>
          <a:p>
            <a:pPr marL="457200" lvl="0" indent="-314960" algn="l" rtl="0">
              <a:spcBef>
                <a:spcPts val="300"/>
              </a:spcBef>
              <a:spcAft>
                <a:spcPts val="0"/>
              </a:spcAft>
              <a:buSzPct val="100000"/>
              <a:buAutoNum type="arabicParenR"/>
            </a:pPr>
            <a:endParaRPr lang="en-US" sz="1600" b="1" dirty="0"/>
          </a:p>
          <a:p>
            <a:pPr marL="457200" lvl="0" indent="-314960" algn="l" rtl="0">
              <a:spcBef>
                <a:spcPts val="300"/>
              </a:spcBef>
              <a:spcAft>
                <a:spcPts val="0"/>
              </a:spcAft>
              <a:buSzPct val="100000"/>
              <a:buAutoNum type="arabicParenR"/>
            </a:pPr>
            <a:r>
              <a:rPr lang="ru" sz="1800" b="1" dirty="0"/>
              <a:t>За время курса</a:t>
            </a:r>
            <a:endParaRPr sz="18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" sz="1600" dirty="0"/>
              <a:t>Освоите всю цепочку жизненного цикла модели</a:t>
            </a:r>
          </a:p>
          <a:p>
            <a:pPr lvl="2" indent="-314960"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ru" sz="1400" dirty="0">
                <a:solidFill>
                  <a:schemeClr val="tx1"/>
                </a:solidFill>
              </a:rPr>
              <a:t>Подготовка инфрастурктуры</a:t>
            </a:r>
            <a:endParaRPr sz="1400" dirty="0">
              <a:solidFill>
                <a:schemeClr val="tx1"/>
              </a:solidFill>
            </a:endParaRPr>
          </a:p>
          <a:p>
            <a:pPr lvl="2" indent="-314960"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ru" sz="1400" dirty="0">
                <a:solidFill>
                  <a:schemeClr val="tx1"/>
                </a:solidFill>
              </a:rPr>
              <a:t>Предобработка данных и создание модели</a:t>
            </a:r>
            <a:endParaRPr sz="1400" dirty="0">
              <a:solidFill>
                <a:schemeClr val="tx1"/>
              </a:solidFill>
            </a:endParaRPr>
          </a:p>
          <a:p>
            <a:pPr lvl="2" indent="-314960"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Развертывание модели и мониторинг</a:t>
            </a:r>
            <a:endParaRPr sz="1400" dirty="0">
              <a:solidFill>
                <a:schemeClr val="tx1"/>
              </a:solidFill>
            </a:endParaRP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" sz="1600" dirty="0"/>
              <a:t>Создадите финальный проект</a:t>
            </a:r>
            <a:endParaRPr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будем учиться?</a:t>
            </a:r>
            <a:endParaRPr/>
          </a:p>
        </p:txBody>
      </p:sp>
      <p:sp>
        <p:nvSpPr>
          <p:cNvPr id="294" name="Google Shape;294;p46"/>
          <p:cNvSpPr txBox="1"/>
          <p:nvPr/>
        </p:nvSpPr>
        <p:spPr>
          <a:xfrm>
            <a:off x="473250" y="1823599"/>
            <a:ext cx="25263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Вебинары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Два дня в неделю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20:00.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(запись и материалы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выкладывают, как правило,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 следующий день после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вебинара)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456338" y="2528549"/>
            <a:ext cx="2138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1 дз в неделю.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Дедлайна нет, кроме окончания курса :)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Типовой срок проверки: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2-3 дня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330300" y="3427376"/>
            <a:ext cx="2430000" cy="1400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Чат в телеграм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Задавайте вопросы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, обменивайтесь инсайтами.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Наш чат – это </a:t>
            </a:r>
            <a:br>
              <a:rPr lang="ru" sz="1300" dirty="0">
                <a:latin typeface="Roboto"/>
                <a:ea typeface="Roboto"/>
                <a:cs typeface="Roboto"/>
                <a:sym typeface="Roboto"/>
              </a:rPr>
            </a:b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OTUS </a:t>
            </a:r>
            <a:r>
              <a:rPr lang="en-US" sz="1400" b="1" dirty="0">
                <a:latin typeface="Roboto"/>
                <a:ea typeface="Roboto"/>
                <a:cs typeface="Roboto"/>
                <a:sym typeface="Roboto"/>
              </a:rPr>
              <a:t>MLOps-2026-03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0462" y="182359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25" y="111864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0;p84">
            <a:extLst>
              <a:ext uri="{FF2B5EF4-FFF2-40B4-BE49-F238E27FC236}">
                <a16:creationId xmlns:a16="http://schemas.microsoft.com/office/drawing/2014/main" id="{5562D981-7D92-094F-B4B3-4553D9575A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7625" y="271765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037FC6-7D11-294F-92A7-A14EC27D0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801" y="284257"/>
            <a:ext cx="3309499" cy="1985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Отзывы</a:t>
            </a:r>
            <a:endParaRPr/>
          </a:p>
        </p:txBody>
      </p:sp>
      <p:pic>
        <p:nvPicPr>
          <p:cNvPr id="305" name="Google Shape;30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641" y="1443384"/>
            <a:ext cx="659225" cy="6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7"/>
          <p:cNvSpPr txBox="1"/>
          <p:nvPr/>
        </p:nvSpPr>
        <p:spPr>
          <a:xfrm>
            <a:off x="1407466" y="1426624"/>
            <a:ext cx="339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Всегда рады вашим конструктивным отзывам :)</a:t>
            </a:r>
            <a:endParaRPr sz="1500" dirty="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C5884A-5CCF-3645-B08C-60BDE6085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731" y="0"/>
            <a:ext cx="4410269" cy="2680405"/>
          </a:xfrm>
          <a:prstGeom prst="rect">
            <a:avLst/>
          </a:prstGeom>
        </p:spPr>
      </p:pic>
      <p:sp>
        <p:nvSpPr>
          <p:cNvPr id="304" name="Google Shape;304;p47"/>
          <p:cNvSpPr txBox="1">
            <a:spLocks noGrp="1"/>
          </p:cNvSpPr>
          <p:nvPr>
            <p:ph type="body" idx="1"/>
          </p:nvPr>
        </p:nvSpPr>
        <p:spPr>
          <a:xfrm>
            <a:off x="2867429" y="3069713"/>
            <a:ext cx="5623429" cy="124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18"/>
              <a:buNone/>
            </a:pPr>
            <a:r>
              <a:rPr lang="ru" sz="1700" dirty="0"/>
              <a:t>Вебинары во многом адаптивны.</a:t>
            </a:r>
            <a:endParaRPr sz="1700"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18"/>
              <a:buNone/>
            </a:pPr>
            <a:r>
              <a:rPr lang="ru" sz="1700" dirty="0"/>
              <a:t>Мы следим за результатами опросов, </a:t>
            </a:r>
            <a:br>
              <a:rPr lang="en-US" sz="1700" dirty="0"/>
            </a:br>
            <a:r>
              <a:rPr lang="ru" sz="1700" dirty="0"/>
              <a:t>обсуждениями в телеграм и ДЗ.</a:t>
            </a:r>
            <a:endParaRPr sz="1700" dirty="0">
              <a:solidFill>
                <a:srgbClr val="02418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42AF3-22C6-EE46-AEE6-39D4D7287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50" y="3069713"/>
            <a:ext cx="2103971" cy="14026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Лайфхаки</a:t>
            </a:r>
            <a:endParaRPr/>
          </a:p>
        </p:txBody>
      </p:sp>
      <p:pic>
        <p:nvPicPr>
          <p:cNvPr id="312" name="Google Shape;312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326" y="1690262"/>
            <a:ext cx="665028" cy="66503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8"/>
          <p:cNvSpPr txBox="1"/>
          <p:nvPr/>
        </p:nvSpPr>
        <p:spPr>
          <a:xfrm>
            <a:off x="1335850" y="1699527"/>
            <a:ext cx="2922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Сделайте упор на тему, которая вам важна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48"/>
          <p:cNvSpPr txBox="1"/>
          <p:nvPr/>
        </p:nvSpPr>
        <p:spPr>
          <a:xfrm>
            <a:off x="5267125" y="1699527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Старайтесь полученные знания применять на практике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48"/>
          <p:cNvSpPr txBox="1"/>
          <p:nvPr/>
        </p:nvSpPr>
        <p:spPr>
          <a:xfrm>
            <a:off x="1335850" y="2770650"/>
            <a:ext cx="26961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Задавайте вопросы,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так материал лучше усваивается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8"/>
          <p:cNvSpPr txBox="1"/>
          <p:nvPr/>
        </p:nvSpPr>
        <p:spPr>
          <a:xfrm>
            <a:off x="5267125" y="2886000"/>
            <a:ext cx="3015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Регулярное выполняйте ДЗ (наверстать пропуски тяжело)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7" name="Google Shape;317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326" y="2876735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9098" y="1690262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79098" y="2876735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28;p82">
            <a:extLst>
              <a:ext uri="{FF2B5EF4-FFF2-40B4-BE49-F238E27FC236}">
                <a16:creationId xmlns:a16="http://schemas.microsoft.com/office/drawing/2014/main" id="{9B72F30F-3B58-D143-A213-DD3E96EA32E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326" y="4063208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15;p48">
            <a:extLst>
              <a:ext uri="{FF2B5EF4-FFF2-40B4-BE49-F238E27FC236}">
                <a16:creationId xmlns:a16="http://schemas.microsoft.com/office/drawing/2014/main" id="{3710700A-5549-2A44-9448-5A7C88143B28}"/>
              </a:ext>
            </a:extLst>
          </p:cNvPr>
          <p:cNvSpPr txBox="1"/>
          <p:nvPr/>
        </p:nvSpPr>
        <p:spPr>
          <a:xfrm>
            <a:off x="1335850" y="4050417"/>
            <a:ext cx="26961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Обсуждайте материал и задачи в учебной группе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315;p48">
            <a:extLst>
              <a:ext uri="{FF2B5EF4-FFF2-40B4-BE49-F238E27FC236}">
                <a16:creationId xmlns:a16="http://schemas.microsoft.com/office/drawing/2014/main" id="{EBFFF96E-7B34-C349-9457-E798C5B0E3A8}"/>
              </a:ext>
            </a:extLst>
          </p:cNvPr>
          <p:cNvSpPr txBox="1"/>
          <p:nvPr/>
        </p:nvSpPr>
        <p:spPr>
          <a:xfrm>
            <a:off x="5320304" y="3935643"/>
            <a:ext cx="26961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Объединяйтесь в группе и выполняйте проект совместно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" name="Google Shape;529;p82">
            <a:extLst>
              <a:ext uri="{FF2B5EF4-FFF2-40B4-BE49-F238E27FC236}">
                <a16:creationId xmlns:a16="http://schemas.microsoft.com/office/drawing/2014/main" id="{168A1E11-4256-D34E-949D-6A179F63365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23405" y="4061666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536;p82">
            <a:extLst>
              <a:ext uri="{FF2B5EF4-FFF2-40B4-BE49-F238E27FC236}">
                <a16:creationId xmlns:a16="http://schemas.microsoft.com/office/drawing/2014/main" id="{40687EF5-FE60-4C4B-976A-9A5EC65CEA2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79098" y="548100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314;p48">
            <a:extLst>
              <a:ext uri="{FF2B5EF4-FFF2-40B4-BE49-F238E27FC236}">
                <a16:creationId xmlns:a16="http://schemas.microsoft.com/office/drawing/2014/main" id="{5BDE2274-394D-7843-AC27-FBB1365306E2}"/>
              </a:ext>
            </a:extLst>
          </p:cNvPr>
          <p:cNvSpPr txBox="1"/>
          <p:nvPr/>
        </p:nvSpPr>
        <p:spPr>
          <a:xfrm>
            <a:off x="5444984" y="555424"/>
            <a:ext cx="32310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Определитесь зачем оно вам? Зачем вы пришли на курс?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9"/>
          <p:cNvSpPr txBox="1">
            <a:spLocks noGrp="1"/>
          </p:cNvSpPr>
          <p:nvPr>
            <p:ph type="title"/>
          </p:nvPr>
        </p:nvSpPr>
        <p:spPr>
          <a:xfrm>
            <a:off x="500550" y="332517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Мотивация</a:t>
            </a:r>
            <a:endParaRPr/>
          </a:p>
        </p:txBody>
      </p:sp>
      <p:sp>
        <p:nvSpPr>
          <p:cNvPr id="325" name="Google Shape;325;p49"/>
          <p:cNvSpPr txBox="1"/>
          <p:nvPr/>
        </p:nvSpPr>
        <p:spPr>
          <a:xfrm>
            <a:off x="500550" y="4068939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7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Это нормально :)</a:t>
            </a:r>
            <a:endParaRPr sz="1700" dirty="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49"/>
          <p:cNvSpPr txBox="1">
            <a:spLocks noGrp="1"/>
          </p:cNvSpPr>
          <p:nvPr>
            <p:ph type="body" idx="1"/>
          </p:nvPr>
        </p:nvSpPr>
        <p:spPr>
          <a:xfrm>
            <a:off x="500550" y="1294575"/>
            <a:ext cx="6524400" cy="10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 dirty="0"/>
              <a:t>Приготовьтесь к волнообразной реакции</a:t>
            </a:r>
            <a:endParaRPr sz="1700"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 dirty="0"/>
              <a:t>от «ух ты как интересно», до «куда я попал?»</a:t>
            </a:r>
            <a:endParaRPr sz="1700" dirty="0"/>
          </a:p>
        </p:txBody>
      </p:sp>
      <p:sp>
        <p:nvSpPr>
          <p:cNvPr id="329" name="Google Shape;329;p49"/>
          <p:cNvSpPr txBox="1"/>
          <p:nvPr/>
        </p:nvSpPr>
        <p:spPr>
          <a:xfrm>
            <a:off x="500550" y="2166025"/>
            <a:ext cx="38082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 в такие моменты вспоминайте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 цели обучения, которые вас мотивируют)</a:t>
            </a:r>
            <a:endParaRPr sz="1100"/>
          </a:p>
        </p:txBody>
      </p:sp>
      <p:pic>
        <p:nvPicPr>
          <p:cNvPr id="8" name="Google Shape;568;p83">
            <a:extLst>
              <a:ext uri="{FF2B5EF4-FFF2-40B4-BE49-F238E27FC236}">
                <a16:creationId xmlns:a16="http://schemas.microsoft.com/office/drawing/2014/main" id="{03D10E4A-0F6D-284F-9271-E59F0F2269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550" y="3087932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28;p49">
            <a:extLst>
              <a:ext uri="{FF2B5EF4-FFF2-40B4-BE49-F238E27FC236}">
                <a16:creationId xmlns:a16="http://schemas.microsoft.com/office/drawing/2014/main" id="{896CE022-B61E-1448-8B4F-F78902B8FF50}"/>
              </a:ext>
            </a:extLst>
          </p:cNvPr>
          <p:cNvSpPr txBox="1">
            <a:spLocks/>
          </p:cNvSpPr>
          <p:nvPr/>
        </p:nvSpPr>
        <p:spPr>
          <a:xfrm>
            <a:off x="1139250" y="2924358"/>
            <a:ext cx="3883200" cy="10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buSzPts val="1100"/>
              <a:buFont typeface="Arial"/>
              <a:buNone/>
            </a:pPr>
            <a:r>
              <a:rPr lang="ru-RU" sz="1400" dirty="0"/>
              <a:t>Первые уроки позволяют адаптироваться и «влиться» в процесс и могут показаться вам слишком простыми, особенно если вы имеете опыт разработки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3469C-DD28-E24C-B2D1-EEFD70B05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850" y="1170122"/>
            <a:ext cx="3657600" cy="28225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Организационные вопросы</a:t>
            </a:r>
            <a:endParaRPr/>
          </a:p>
        </p:txBody>
      </p:sp>
      <p:pic>
        <p:nvPicPr>
          <p:cNvPr id="335" name="Google Shape;335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725" y="1423699"/>
            <a:ext cx="757225" cy="7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725" y="2448958"/>
            <a:ext cx="757225" cy="7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0"/>
          <p:cNvSpPr txBox="1"/>
          <p:nvPr/>
        </p:nvSpPr>
        <p:spPr>
          <a:xfrm>
            <a:off x="1993125" y="1263175"/>
            <a:ext cx="6825300" cy="107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 технические моменты: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Python 3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, virtual environment (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venv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conda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poertry</a:t>
            </a: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pip / conda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Git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Github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Получите промо коды для 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Yandex Cloud </a:t>
            </a: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у </a:t>
            </a:r>
            <a:r>
              <a:rPr lang="ru-RU" sz="1300" dirty="0" err="1">
                <a:latin typeface="Roboto"/>
                <a:ea typeface="Roboto"/>
                <a:cs typeface="Roboto"/>
                <a:sym typeface="Roboto"/>
              </a:rPr>
              <a:t>коммьюнити</a:t>
            </a: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 менеджера в группе</a:t>
            </a:r>
          </a:p>
        </p:txBody>
      </p:sp>
      <p:sp>
        <p:nvSpPr>
          <p:cNvPr id="338" name="Google Shape;338;p50"/>
          <p:cNvSpPr txBox="1"/>
          <p:nvPr/>
        </p:nvSpPr>
        <p:spPr>
          <a:xfrm>
            <a:off x="1993125" y="2414654"/>
            <a:ext cx="68253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инструменты будем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использовать: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Yandex Cloud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Docker / Docker Compose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Spark / </a:t>
            </a:r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PySpark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k8s</a:t>
            </a:r>
          </a:p>
        </p:txBody>
      </p:sp>
      <p:sp>
        <p:nvSpPr>
          <p:cNvPr id="339" name="Google Shape;339;p50"/>
          <p:cNvSpPr txBox="1"/>
          <p:nvPr/>
        </p:nvSpPr>
        <p:spPr>
          <a:xfrm>
            <a:off x="1993125" y="3880325"/>
            <a:ext cx="6825300" cy="87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 на курсе: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Создание облачной </a:t>
            </a:r>
            <a:r>
              <a:rPr lang="ru-RU" sz="1300" dirty="0" err="1">
                <a:latin typeface="Roboto"/>
                <a:ea typeface="Roboto"/>
                <a:cs typeface="Roboto"/>
                <a:sym typeface="Roboto"/>
              </a:rPr>
              <a:t>инфрастурктуры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Создание конвейеров обработки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0" name="Google Shape;340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0725" y="3880325"/>
            <a:ext cx="757225" cy="7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Ваши вопросы?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900" dirty="0"/>
              <a:t>Идея </a:t>
            </a:r>
            <a:r>
              <a:rPr lang="en-US" sz="4900" dirty="0" err="1"/>
              <a:t>MLOps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DevOps = Develop + Operations</a:t>
            </a:r>
            <a:endParaRPr dirty="0"/>
          </a:p>
        </p:txBody>
      </p:sp>
      <p:pic>
        <p:nvPicPr>
          <p:cNvPr id="5" name="Google Shape;278;p36">
            <a:extLst>
              <a:ext uri="{FF2B5EF4-FFF2-40B4-BE49-F238E27FC236}">
                <a16:creationId xmlns:a16="http://schemas.microsoft.com/office/drawing/2014/main" id="{04855560-D08A-494C-88CA-EDD52538D06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052" y="1307164"/>
            <a:ext cx="7211895" cy="33883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8161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MLOps</a:t>
            </a:r>
            <a:r>
              <a:rPr lang="en-US" dirty="0"/>
              <a:t> = ML + Dev + Ops</a:t>
            </a:r>
            <a:endParaRPr dirty="0"/>
          </a:p>
        </p:txBody>
      </p:sp>
      <p:pic>
        <p:nvPicPr>
          <p:cNvPr id="6" name="Google Shape;284;p37">
            <a:extLst>
              <a:ext uri="{FF2B5EF4-FFF2-40B4-BE49-F238E27FC236}">
                <a16:creationId xmlns:a16="http://schemas.microsoft.com/office/drawing/2014/main" id="{544B8DD4-745B-554B-AF2D-1093D5E938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395" y="1724472"/>
            <a:ext cx="7295210" cy="291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Инструменты </a:t>
            </a:r>
            <a:r>
              <a:rPr lang="en-US" dirty="0" err="1"/>
              <a:t>MLOps</a:t>
            </a:r>
            <a:endParaRPr dirty="0"/>
          </a:p>
        </p:txBody>
      </p:sp>
      <p:pic>
        <p:nvPicPr>
          <p:cNvPr id="5" name="Google Shape;302;p40">
            <a:extLst>
              <a:ext uri="{FF2B5EF4-FFF2-40B4-BE49-F238E27FC236}">
                <a16:creationId xmlns:a16="http://schemas.microsoft.com/office/drawing/2014/main" id="{A0106523-B665-6845-A65D-804BB6F3645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710" y="927803"/>
            <a:ext cx="7624115" cy="383444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40">
            <a:extLst>
              <a:ext uri="{FF2B5EF4-FFF2-40B4-BE49-F238E27FC236}">
                <a16:creationId xmlns:a16="http://schemas.microsoft.com/office/drawing/2014/main" id="{24D5C59E-0EBA-5D4B-B8BC-4AB29F602011}"/>
              </a:ext>
            </a:extLst>
          </p:cNvPr>
          <p:cNvSpPr txBox="1"/>
          <p:nvPr/>
        </p:nvSpPr>
        <p:spPr>
          <a:xfrm>
            <a:off x="691710" y="4804976"/>
            <a:ext cx="187816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latin typeface="Roboto"/>
                <a:ea typeface="Roboto"/>
                <a:cs typeface="Roboto"/>
                <a:sym typeface="Roboto"/>
              </a:rPr>
              <a:t>ref: </a:t>
            </a:r>
            <a:r>
              <a:rPr lang="ru" sz="1000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ml-ops.org</a:t>
            </a:r>
            <a:endParaRPr sz="1000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818805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Облачные платформы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1169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aring The Top 3: Google, AWS &amp; Azure | Clouve Inc.">
            <a:extLst>
              <a:ext uri="{FF2B5EF4-FFF2-40B4-BE49-F238E27FC236}">
                <a16:creationId xmlns:a16="http://schemas.microsoft.com/office/drawing/2014/main" id="{5703D728-37DC-8742-B552-F3BD6020C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247650"/>
            <a:ext cx="81280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226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52997C-DCA4-0842-8B30-6FF49149F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" y="0"/>
            <a:ext cx="913463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21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Yandex Cloud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9083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От небольшой мастерской к ML-фабрике: как мы Yandex AI Studio пересобирали  / Хабр">
            <a:extLst>
              <a:ext uri="{FF2B5EF4-FFF2-40B4-BE49-F238E27FC236}">
                <a16:creationId xmlns:a16="http://schemas.microsoft.com/office/drawing/2014/main" id="{918165CE-79DA-2444-8544-C39005A8E0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38"/>
          <a:stretch/>
        </p:blipFill>
        <p:spPr bwMode="auto">
          <a:xfrm>
            <a:off x="1" y="141667"/>
            <a:ext cx="9144000" cy="4760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63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Yandex Cloud Data Platform | Yandex Cloud">
            <a:extLst>
              <a:ext uri="{FF2B5EF4-FFF2-40B4-BE49-F238E27FC236}">
                <a16:creationId xmlns:a16="http://schemas.microsoft.com/office/drawing/2014/main" id="{2C0E086E-73FF-2D43-A275-1BD457455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8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9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611" name="Google Shape;611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90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3" name="Google Shape;613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90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9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625" name="Google Shape;625;p92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Проверка достижения целей</a:t>
            </a:r>
            <a:endParaRPr sz="1500" b="1">
              <a:solidFill>
                <a:srgbClr val="FF9900"/>
              </a:solidFill>
            </a:endParaRPr>
          </a:p>
        </p:txBody>
      </p:sp>
      <p:graphicFrame>
        <p:nvGraphicFramePr>
          <p:cNvPr id="5" name="Google Shape;203;p37">
            <a:extLst>
              <a:ext uri="{FF2B5EF4-FFF2-40B4-BE49-F238E27FC236}">
                <a16:creationId xmlns:a16="http://schemas.microsoft.com/office/drawing/2014/main" id="{DE4C8527-3820-074B-A027-D6BCE1F6B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1133096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Наладили эффективное обучение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что такое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MLOps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структуру курса и используемые инструменты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9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</a:t>
            </a:r>
            <a:r>
              <a:rPr lang="ru" dirty="0"/>
              <a:t>езисы</a:t>
            </a:r>
            <a:endParaRPr dirty="0"/>
          </a:p>
        </p:txBody>
      </p:sp>
      <p:graphicFrame>
        <p:nvGraphicFramePr>
          <p:cNvPr id="632" name="Google Shape;632;p93"/>
          <p:cNvGraphicFramePr/>
          <p:nvPr>
            <p:extLst>
              <p:ext uri="{D42A27DB-BD31-4B8C-83A1-F6EECF244321}">
                <p14:modId xmlns:p14="http://schemas.microsoft.com/office/powerpoint/2010/main" val="1660967688"/>
              </p:ext>
            </p:extLst>
          </p:nvPr>
        </p:nvGraphicFramePr>
        <p:xfrm>
          <a:off x="952500" y="1544194"/>
          <a:ext cx="7239000" cy="1066780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MLOps</a:t>
                      </a:r>
                      <a:r>
                        <a:rPr lang="en-US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набор практик и инструментов направленных на последовательное и эффективное внедрение и поддержку моделей машинного обучения</a:t>
                      </a:r>
                      <a:endParaRPr sz="1100" dirty="0"/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MLOps</a:t>
                      </a:r>
                      <a:r>
                        <a:rPr lang="en-US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это больше про процессы чем про модели и именно на процессах нам следует сосредоточиться</a:t>
                      </a:r>
                      <a:endParaRPr sz="13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33" name="Google Shape;633;p9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Подведем итоги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9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  <p:pic>
        <p:nvPicPr>
          <p:cNvPr id="639" name="Google Shape;639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914" y="23164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94"/>
          <p:cNvSpPr txBox="1"/>
          <p:nvPr/>
        </p:nvSpPr>
        <p:spPr>
          <a:xfrm>
            <a:off x="1680040" y="2355929"/>
            <a:ext cx="46722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примеры использования RL вам показались наиболее интересными?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94"/>
          <p:cNvSpPr txBox="1"/>
          <p:nvPr/>
        </p:nvSpPr>
        <p:spPr>
          <a:xfrm>
            <a:off x="1680040" y="3710789"/>
            <a:ext cx="4996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показалось сложным?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2" name="Google Shape;642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1750" y="36267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9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5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9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Следующий вебинар</a:t>
            </a:r>
            <a:endParaRPr/>
          </a:p>
        </p:txBody>
      </p:sp>
      <p:sp>
        <p:nvSpPr>
          <p:cNvPr id="649" name="Google Shape;649;p95"/>
          <p:cNvSpPr txBox="1"/>
          <p:nvPr/>
        </p:nvSpPr>
        <p:spPr>
          <a:xfrm>
            <a:off x="1911132" y="1653708"/>
            <a:ext cx="61569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Цели и метрики </a:t>
            </a:r>
            <a:r>
              <a:rPr lang="en-US" sz="2500" b="1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2500" b="1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проектов</a:t>
            </a:r>
            <a:endParaRPr sz="2400" b="1" dirty="0">
              <a:solidFill>
                <a:srgbClr val="013D85"/>
              </a:solidFill>
            </a:endParaRPr>
          </a:p>
        </p:txBody>
      </p:sp>
      <p:pic>
        <p:nvPicPr>
          <p:cNvPr id="650" name="Google Shape;650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500" y="1558024"/>
            <a:ext cx="760725" cy="7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95"/>
          <p:cNvSpPr txBox="1"/>
          <p:nvPr/>
        </p:nvSpPr>
        <p:spPr>
          <a:xfrm>
            <a:off x="1179775" y="3660425"/>
            <a:ext cx="205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Ссылка на вебинар будет в ЛК за 15 минут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95"/>
          <p:cNvSpPr txBox="1"/>
          <p:nvPr/>
        </p:nvSpPr>
        <p:spPr>
          <a:xfrm>
            <a:off x="3844125" y="3660413"/>
            <a:ext cx="1766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95"/>
          <p:cNvSpPr txBox="1"/>
          <p:nvPr/>
        </p:nvSpPr>
        <p:spPr>
          <a:xfrm>
            <a:off x="6101125" y="3660413"/>
            <a:ext cx="2100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4" name="Google Shape;65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150" y="3750544"/>
            <a:ext cx="214313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250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0775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</TotalTime>
  <Words>1030</Words>
  <Application>Microsoft Macintosh PowerPoint</Application>
  <PresentationFormat>On-screen Show (16:9)</PresentationFormat>
  <Paragraphs>234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Google Sans</vt:lpstr>
      <vt:lpstr>Roboto</vt:lpstr>
      <vt:lpstr>Apple Chancery</vt:lpstr>
      <vt:lpstr>Courier New</vt:lpstr>
      <vt:lpstr>Светлая тема</vt:lpstr>
      <vt:lpstr>MLOps Введение </vt:lpstr>
      <vt:lpstr>Проверить, идет ли запись</vt:lpstr>
      <vt:lpstr>MLOps Введение</vt:lpstr>
      <vt:lpstr>Правила вебинара</vt:lpstr>
      <vt:lpstr>Маршрут вебинара</vt:lpstr>
      <vt:lpstr>Цели вебинара</vt:lpstr>
      <vt:lpstr>Смысл</vt:lpstr>
      <vt:lpstr>Знакомство</vt:lpstr>
      <vt:lpstr>Расскажите о себе</vt:lpstr>
      <vt:lpstr>Как подготовиться к обучению</vt:lpstr>
      <vt:lpstr>О курсе</vt:lpstr>
      <vt:lpstr>Карта курса</vt:lpstr>
      <vt:lpstr>Программа модуля</vt:lpstr>
      <vt:lpstr>Результат от курса</vt:lpstr>
      <vt:lpstr>Как будем учиться?</vt:lpstr>
      <vt:lpstr>Отзывы</vt:lpstr>
      <vt:lpstr>Лайфхаки</vt:lpstr>
      <vt:lpstr>Мотивация</vt:lpstr>
      <vt:lpstr>Организационные вопросы</vt:lpstr>
      <vt:lpstr>Ваши вопросы?</vt:lpstr>
      <vt:lpstr>Идея MLOps</vt:lpstr>
      <vt:lpstr>DevOps = Develop + Operations</vt:lpstr>
      <vt:lpstr>MLOps = ML + Dev + Ops</vt:lpstr>
      <vt:lpstr>Инструменты MLOps</vt:lpstr>
      <vt:lpstr>Облачные платформы</vt:lpstr>
      <vt:lpstr>PowerPoint Presentation</vt:lpstr>
      <vt:lpstr>PowerPoint Presentation</vt:lpstr>
      <vt:lpstr>Yandex Cloud</vt:lpstr>
      <vt:lpstr>PowerPoint Presentation</vt:lpstr>
      <vt:lpstr>PowerPoint Presentation</vt:lpstr>
      <vt:lpstr>Вопросы?</vt:lpstr>
      <vt:lpstr>Рефлексия</vt:lpstr>
      <vt:lpstr>Цели вебинара</vt:lpstr>
      <vt:lpstr>Тезисы</vt:lpstr>
      <vt:lpstr>Рефлексия</vt:lpstr>
      <vt:lpstr>Заполните, пожалуйста, опрос о занятии по ссылке в чате</vt:lpstr>
      <vt:lpstr>Следующий вебинар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Введение </dc:title>
  <cp:lastModifiedBy>Стурейко Игорь Олегович</cp:lastModifiedBy>
  <cp:revision>61</cp:revision>
  <dcterms:modified xsi:type="dcterms:W3CDTF">2026-03-25T12:36:23Z</dcterms:modified>
</cp:coreProperties>
</file>