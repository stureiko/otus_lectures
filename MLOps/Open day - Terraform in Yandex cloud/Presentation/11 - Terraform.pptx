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media/image56.jpg" ContentType="image/jpg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48"/>
  </p:notesMasterIdLst>
  <p:sldIdLst>
    <p:sldId id="256" r:id="rId2"/>
    <p:sldId id="504" r:id="rId3"/>
    <p:sldId id="334" r:id="rId4"/>
    <p:sldId id="259" r:id="rId5"/>
    <p:sldId id="260" r:id="rId6"/>
    <p:sldId id="261" r:id="rId7"/>
    <p:sldId id="262" r:id="rId8"/>
    <p:sldId id="263" r:id="rId9"/>
    <p:sldId id="388" r:id="rId10"/>
    <p:sldId id="505" r:id="rId11"/>
    <p:sldId id="522" r:id="rId12"/>
    <p:sldId id="506" r:id="rId13"/>
    <p:sldId id="508" r:id="rId14"/>
    <p:sldId id="507" r:id="rId15"/>
    <p:sldId id="509" r:id="rId16"/>
    <p:sldId id="510" r:id="rId17"/>
    <p:sldId id="511" r:id="rId18"/>
    <p:sldId id="512" r:id="rId19"/>
    <p:sldId id="513" r:id="rId20"/>
    <p:sldId id="514" r:id="rId21"/>
    <p:sldId id="515" r:id="rId22"/>
    <p:sldId id="516" r:id="rId23"/>
    <p:sldId id="517" r:id="rId24"/>
    <p:sldId id="518" r:id="rId25"/>
    <p:sldId id="519" r:id="rId26"/>
    <p:sldId id="520" r:id="rId27"/>
    <p:sldId id="521" r:id="rId28"/>
    <p:sldId id="314" r:id="rId29"/>
    <p:sldId id="315" r:id="rId30"/>
    <p:sldId id="316" r:id="rId31"/>
    <p:sldId id="287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20" r:id="rId4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Georgia" panose="02040502050405020303" pitchFamily="18" charset="0"/>
      <p:regular r:id="rId53"/>
      <p:bold r:id="rId54"/>
      <p:italic r:id="rId55"/>
      <p:boldItalic r:id="rId56"/>
    </p:embeddedFont>
    <p:embeddedFont>
      <p:font typeface="Roboto" panose="02000000000000000000" pitchFamily="2" charset="0"/>
      <p:regular r:id="rId57"/>
      <p:bold r:id="rId58"/>
      <p:italic r:id="rId59"/>
      <p:boldItalic r:id="rId60"/>
    </p:embeddedFont>
    <p:embeddedFont>
      <p:font typeface="Trebuchet MS" panose="020B0703020202090204" pitchFamily="34" charset="0"/>
      <p:regular r:id="rId61"/>
      <p:bold r:id="rId62"/>
      <p: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AF45"/>
    <a:srgbClr val="FAFAFA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CB5BBF-14A1-44A8-AE45-40D0EF8F1E93}">
  <a:tblStyle styleId="{91CB5BBF-14A1-44A8-AE45-40D0EF8F1E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39"/>
    <p:restoredTop sz="97030"/>
  </p:normalViewPr>
  <p:slideViewPr>
    <p:cSldViewPr snapToGrid="0">
      <p:cViewPr varScale="1">
        <p:scale>
          <a:sx n="297" d="100"/>
          <a:sy n="297" d="100"/>
        </p:scale>
        <p:origin x="664" y="184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f9a38754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f9a38754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f9a38754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f9a38754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3298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f9a38754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f9a38754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0837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f9a38754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f9a38754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3494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9266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f9a38754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f9a38754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209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f9a38754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f9a38754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2054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f9a38754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f9a38754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86885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f72f1f58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f72f1f582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df6222e6a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df6222e6a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df6222e6a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df6222e6a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836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7659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87699" y="1397762"/>
            <a:ext cx="1944370" cy="3142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FF99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22787" y="1120140"/>
            <a:ext cx="1875790" cy="354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188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60" r:id="rId9"/>
    <p:sldLayoutId id="2147483661" r:id="rId10"/>
    <p:sldLayoutId id="2147483678" r:id="rId11"/>
    <p:sldLayoutId id="2147483679" r:id="rId12"/>
    <p:sldLayoutId id="214748368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yandex.cloud/ru/docs/cli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vagrantup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ansible.com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rraform.io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yandex.cloud/ru/docs/tutorials/infrastructure-management/terraform-quickstart#get-credentials" TargetMode="Externa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yandex.cloud/ru/docs/tutorials/infrastructure-management/terraform-quickstart#get-credentials" TargetMode="Externa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yandex.cloud/ru/docs/tutorials/infrastructure-management/terraform-quickstart#get-credentials" TargetMode="Externa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yandex.cloud/ru/docs/tutorials/infrastructure-management/terraform-quickstart#get-credentials" TargetMode="Externa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MLOps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Terraform</a:t>
            </a:r>
            <a:r>
              <a:rPr lang="ru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MLOps</a:t>
            </a:r>
            <a:br>
              <a:rPr lang="en-US" dirty="0"/>
            </a:br>
            <a:r>
              <a:rPr lang="en-US" sz="2400" dirty="0"/>
              <a:t>Terraform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33B90E1D-3F43-DA49-B28B-ECCA7B6E41F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7950" indent="-137318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Basic,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Анализ временных рядов, эволюционные модели, финансовые модели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160" name="Google Shape;16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0" y="2616457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5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35"/>
          <p:cNvSpPr txBox="1"/>
          <p:nvPr/>
        </p:nvSpPr>
        <p:spPr>
          <a:xfrm>
            <a:off x="1654524" y="2621470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35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35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5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5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5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5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3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5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7" name="Google Shape;177;p3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5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5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73886" y="1888230"/>
            <a:ext cx="4045751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 – инфраструктура как код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73886" y="2328844"/>
            <a:ext cx="404515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Инструменты управления инфраструктурой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73886" y="2769458"/>
            <a:ext cx="4041538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такое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Terraform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73886" y="3210072"/>
            <a:ext cx="4041538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Провайдер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73886" y="3650686"/>
            <a:ext cx="4041538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Простая конфигурация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73886" y="4091300"/>
            <a:ext cx="4041538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Переменные и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пакетное создание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cxnSpLocks/>
            <a:stCxn id="187" idx="1"/>
            <a:endCxn id="188" idx="1"/>
          </p:cNvCxnSpPr>
          <p:nvPr/>
        </p:nvCxnSpPr>
        <p:spPr>
          <a:xfrm rot="10800000" flipV="1">
            <a:off x="773886" y="2076330"/>
            <a:ext cx="12700" cy="440614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cxnSpLocks/>
            <a:stCxn id="188" idx="1"/>
            <a:endCxn id="189" idx="1"/>
          </p:cNvCxnSpPr>
          <p:nvPr/>
        </p:nvCxnSpPr>
        <p:spPr>
          <a:xfrm rot="10800000" flipV="1">
            <a:off x="773886" y="2516944"/>
            <a:ext cx="12700" cy="440614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73886" y="2957558"/>
            <a:ext cx="12700" cy="440614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73886" y="3398172"/>
            <a:ext cx="12700" cy="440614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91" idx="1"/>
            <a:endCxn id="192" idx="1"/>
          </p:cNvCxnSpPr>
          <p:nvPr/>
        </p:nvCxnSpPr>
        <p:spPr>
          <a:xfrm rot="10800000" flipV="1">
            <a:off x="773886" y="3838786"/>
            <a:ext cx="12700" cy="440614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E87E81-2164-D64D-BC77-57B51A37C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316" y="1779117"/>
            <a:ext cx="2785892" cy="295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Google Shape;187;p36">
            <a:extLst>
              <a:ext uri="{FF2B5EF4-FFF2-40B4-BE49-F238E27FC236}">
                <a16:creationId xmlns:a16="http://schemas.microsoft.com/office/drawing/2014/main" id="{7053472B-C2A6-FA41-8566-AFD7F731128F}"/>
              </a:ext>
            </a:extLst>
          </p:cNvPr>
          <p:cNvSpPr/>
          <p:nvPr/>
        </p:nvSpPr>
        <p:spPr>
          <a:xfrm>
            <a:off x="773886" y="1007002"/>
            <a:ext cx="4045751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192;p36">
            <a:extLst>
              <a:ext uri="{FF2B5EF4-FFF2-40B4-BE49-F238E27FC236}">
                <a16:creationId xmlns:a16="http://schemas.microsoft.com/office/drawing/2014/main" id="{BD0C5DF3-F1BF-EA4C-9D2A-EEDDFA057BC1}"/>
              </a:ext>
            </a:extLst>
          </p:cNvPr>
          <p:cNvSpPr/>
          <p:nvPr/>
        </p:nvSpPr>
        <p:spPr>
          <a:xfrm>
            <a:off x="773886" y="4531917"/>
            <a:ext cx="4041538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" name="Google Shape;187;p36">
            <a:extLst>
              <a:ext uri="{FF2B5EF4-FFF2-40B4-BE49-F238E27FC236}">
                <a16:creationId xmlns:a16="http://schemas.microsoft.com/office/drawing/2014/main" id="{70875C08-9DF3-124A-B883-B9484EA725D7}"/>
              </a:ext>
            </a:extLst>
          </p:cNvPr>
          <p:cNvSpPr/>
          <p:nvPr/>
        </p:nvSpPr>
        <p:spPr>
          <a:xfrm>
            <a:off x="773886" y="1447616"/>
            <a:ext cx="4045751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 </a:t>
            </a:r>
            <a:r>
              <a:rPr lang="ru-RU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Отус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" name="Google Shape;193;p36">
            <a:extLst>
              <a:ext uri="{FF2B5EF4-FFF2-40B4-BE49-F238E27FC236}">
                <a16:creationId xmlns:a16="http://schemas.microsoft.com/office/drawing/2014/main" id="{4754999F-D901-7D45-B9F5-320812644B83}"/>
              </a:ext>
            </a:extLst>
          </p:cNvPr>
          <p:cNvCxnSpPr>
            <a:cxnSpLocks/>
            <a:stCxn id="18" idx="1"/>
            <a:endCxn id="29" idx="1"/>
          </p:cNvCxnSpPr>
          <p:nvPr/>
        </p:nvCxnSpPr>
        <p:spPr>
          <a:xfrm rot="10800000" flipV="1">
            <a:off x="773886" y="1195102"/>
            <a:ext cx="12700" cy="440614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" name="Google Shape;193;p36">
            <a:extLst>
              <a:ext uri="{FF2B5EF4-FFF2-40B4-BE49-F238E27FC236}">
                <a16:creationId xmlns:a16="http://schemas.microsoft.com/office/drawing/2014/main" id="{FE2BCDB0-D5CF-9643-B711-35B197594E40}"/>
              </a:ext>
            </a:extLst>
          </p:cNvPr>
          <p:cNvCxnSpPr>
            <a:cxnSpLocks/>
            <a:stCxn id="29" idx="1"/>
            <a:endCxn id="187" idx="1"/>
          </p:cNvCxnSpPr>
          <p:nvPr/>
        </p:nvCxnSpPr>
        <p:spPr>
          <a:xfrm rot="10800000" flipV="1">
            <a:off x="773886" y="1635716"/>
            <a:ext cx="12700" cy="440614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6" name="Google Shape;197;p36">
            <a:extLst>
              <a:ext uri="{FF2B5EF4-FFF2-40B4-BE49-F238E27FC236}">
                <a16:creationId xmlns:a16="http://schemas.microsoft.com/office/drawing/2014/main" id="{69E72996-5C34-A04C-B329-E0D8DF6C1B59}"/>
              </a:ext>
            </a:extLst>
          </p:cNvPr>
          <p:cNvCxnSpPr>
            <a:cxnSpLocks/>
            <a:stCxn id="192" idx="1"/>
            <a:endCxn id="21" idx="1"/>
          </p:cNvCxnSpPr>
          <p:nvPr/>
        </p:nvCxnSpPr>
        <p:spPr>
          <a:xfrm rot="10800000" flipV="1">
            <a:off x="773886" y="4279399"/>
            <a:ext cx="12700" cy="44061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2" name="Picture 2" descr="Yandex Disk Cloud Storage FAQ - DataHoards">
            <a:extLst>
              <a:ext uri="{FF2B5EF4-FFF2-40B4-BE49-F238E27FC236}">
                <a16:creationId xmlns:a16="http://schemas.microsoft.com/office/drawing/2014/main" id="{C92FFD5D-0A4C-FD42-BFAD-592B9535F70A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646" y="683217"/>
            <a:ext cx="1532804" cy="120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03" name="Google Shape;203;p37"/>
          <p:cNvGraphicFramePr/>
          <p:nvPr>
            <p:extLst>
              <p:ext uri="{D42A27DB-BD31-4B8C-83A1-F6EECF244321}">
                <p14:modId xmlns:p14="http://schemas.microsoft.com/office/powerpoint/2010/main" val="1813159363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Познакомиться с инструментами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IaC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(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инфраструктура как код)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Научиться основам работы с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terraform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Научиться разворачивать простые сервисы в облаке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Yandex cloud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2832976288"/>
              </p:ext>
            </p:extLst>
          </p:nvPr>
        </p:nvGraphicFramePr>
        <p:xfrm>
          <a:off x="952500" y="1544194"/>
          <a:ext cx="7239000" cy="349304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Управлять облачной инфраструктурой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IaC</a:t>
            </a:r>
            <a:r>
              <a:rPr lang="en-US" dirty="0"/>
              <a:t> </a:t>
            </a:r>
            <a:br>
              <a:rPr lang="ru-RU" dirty="0"/>
            </a:br>
            <a:r>
              <a:rPr lang="ru-RU" dirty="0"/>
              <a:t>Инфраструктура как код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846894" y="330736"/>
            <a:ext cx="7061969" cy="97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IaC</a:t>
            </a:r>
            <a:r>
              <a:rPr lang="en-US" dirty="0"/>
              <a:t> </a:t>
            </a:r>
            <a:r>
              <a:rPr lang="ru" dirty="0"/>
              <a:t>инфраструктура как код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76B8B-A8B8-D442-BA52-ECE94FE1D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39" y="1094971"/>
            <a:ext cx="7750921" cy="37802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846894" y="330736"/>
            <a:ext cx="7061969" cy="97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YC CLI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D986D0-CF6E-0842-8556-EA889A5E9485}"/>
              </a:ext>
            </a:extLst>
          </p:cNvPr>
          <p:cNvSpPr txBox="1"/>
          <p:nvPr/>
        </p:nvSpPr>
        <p:spPr>
          <a:xfrm>
            <a:off x="6094041" y="4451232"/>
            <a:ext cx="27318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https://yandex.cloud/ru/docs/cli/</a:t>
            </a:r>
            <a:r>
              <a:rPr lang="en-US" dirty="0"/>
              <a:t> </a:t>
            </a:r>
          </a:p>
        </p:txBody>
      </p:sp>
      <p:pic>
        <p:nvPicPr>
          <p:cNvPr id="6" name="Picture 2" descr="Yandex Disk Cloud Storage FAQ - DataHoards">
            <a:extLst>
              <a:ext uri="{FF2B5EF4-FFF2-40B4-BE49-F238E27FC236}">
                <a16:creationId xmlns:a16="http://schemas.microsoft.com/office/drawing/2014/main" id="{098C135E-C06E-6349-84FA-99DF3763F283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435" y="1361504"/>
            <a:ext cx="2199049" cy="177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AC9CCC-C078-4840-B3A9-E6C24938F18C}"/>
              </a:ext>
            </a:extLst>
          </p:cNvPr>
          <p:cNvSpPr txBox="1"/>
          <p:nvPr/>
        </p:nvSpPr>
        <p:spPr>
          <a:xfrm>
            <a:off x="846894" y="1118414"/>
            <a:ext cx="4412440" cy="56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dirty="0">
                <a:effectLst/>
                <a:latin typeface="+mn-lt"/>
              </a:rPr>
              <a:t>YC CLI </a:t>
            </a:r>
            <a:r>
              <a:rPr lang="ru-RU" sz="1400" dirty="0">
                <a:effectLst/>
                <a:latin typeface="+mn-lt"/>
              </a:rPr>
              <a:t>– консольная утилита для взаимодействия с инфраструктурой </a:t>
            </a:r>
            <a:r>
              <a:rPr lang="en-US" sz="1400" dirty="0">
                <a:effectLst/>
                <a:latin typeface="+mn-lt"/>
              </a:rPr>
              <a:t>YC.</a:t>
            </a:r>
            <a:endParaRPr lang="ru-RU" dirty="0">
              <a:effectLst/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B0417A-E81E-8E47-B14B-EF7A857C8427}"/>
              </a:ext>
            </a:extLst>
          </p:cNvPr>
          <p:cNvSpPr txBox="1"/>
          <p:nvPr/>
        </p:nvSpPr>
        <p:spPr>
          <a:xfrm>
            <a:off x="846894" y="1865909"/>
            <a:ext cx="4867038" cy="28931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compute instance create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--preemptible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-key=$HOME/.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/id_ed25519.pub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--memory=16GB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--cores=4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--zone=ru-central1-b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--name=stureiko-otus-inst-1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--create-boot-disk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image-folder-id=standard-images,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image-family=ubuntu-2204-lts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--network-interface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subnet-name=default-ru-central1-b,\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-version=ipv4</a:t>
            </a:r>
          </a:p>
        </p:txBody>
      </p:sp>
    </p:spTree>
    <p:extLst>
      <p:ext uri="{BB962C8B-B14F-4D97-AF65-F5344CB8AC3E}">
        <p14:creationId xmlns:p14="http://schemas.microsoft.com/office/powerpoint/2010/main" val="2310016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846894" y="330736"/>
            <a:ext cx="7061969" cy="97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Vargant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244F36E-5E42-0242-BF3F-E0FC13296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096" y="1084443"/>
            <a:ext cx="2597080" cy="316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D986D0-CF6E-0842-8556-EA889A5E9485}"/>
              </a:ext>
            </a:extLst>
          </p:cNvPr>
          <p:cNvSpPr txBox="1"/>
          <p:nvPr/>
        </p:nvSpPr>
        <p:spPr>
          <a:xfrm>
            <a:off x="6222830" y="4436988"/>
            <a:ext cx="2393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https://www.vagrantup.com</a:t>
            </a: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33747-9058-FE4E-B817-05BDFA23E421}"/>
              </a:ext>
            </a:extLst>
          </p:cNvPr>
          <p:cNvSpPr txBox="1"/>
          <p:nvPr/>
        </p:nvSpPr>
        <p:spPr>
          <a:xfrm>
            <a:off x="846894" y="1586346"/>
            <a:ext cx="4412440" cy="3018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effectLst/>
                <a:latin typeface="+mn-lt"/>
              </a:rPr>
              <a:t>Написан на языке </a:t>
            </a:r>
            <a:r>
              <a:rPr lang="en-US" sz="1400" dirty="0">
                <a:effectLst/>
                <a:latin typeface="+mn-lt"/>
              </a:rPr>
              <a:t>Ruby </a:t>
            </a:r>
            <a:endParaRPr lang="ru-RU" sz="1400" dirty="0">
              <a:effectLst/>
              <a:latin typeface="+mn-lt"/>
            </a:endParaRPr>
          </a:p>
          <a:p>
            <a:pPr>
              <a:lnSpc>
                <a:spcPct val="114000"/>
              </a:lnSpc>
            </a:pPr>
            <a:endParaRPr lang="en-US" dirty="0">
              <a:effectLst/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ru-RU" sz="1400" dirty="0">
                <a:effectLst/>
                <a:latin typeface="+mn-lt"/>
              </a:rPr>
              <a:t>Работает с </a:t>
            </a:r>
            <a:r>
              <a:rPr lang="en-US" sz="1400" dirty="0">
                <a:effectLst/>
                <a:latin typeface="+mn-lt"/>
              </a:rPr>
              <a:t>VirtualBox, VMWare </a:t>
            </a:r>
            <a:r>
              <a:rPr lang="ru-RU" sz="1400" dirty="0">
                <a:effectLst/>
                <a:latin typeface="+mn-lt"/>
              </a:rPr>
              <a:t>и др. гипервизорами.</a:t>
            </a:r>
          </a:p>
          <a:p>
            <a:pPr>
              <a:lnSpc>
                <a:spcPct val="114000"/>
              </a:lnSpc>
            </a:pPr>
            <a:endParaRPr lang="ru-RU" dirty="0"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1400" dirty="0">
                <a:effectLst/>
                <a:latin typeface="+mn-lt"/>
              </a:rPr>
              <a:t>Vagrant — </a:t>
            </a:r>
            <a:r>
              <a:rPr lang="ru-RU" sz="1400" dirty="0">
                <a:effectLst/>
                <a:latin typeface="+mn-lt"/>
              </a:rPr>
              <a:t>это инструмент для создания и управления виртуальными машинами, который упрощает настройку и развертывание локальных виртуальных сред для разработчиков и команд. Он позволяет автоматизировать создание, конфигурацию и развертывание виртуальных машин с минимальными усилиями. </a:t>
            </a:r>
            <a:endParaRPr lang="ru-RU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903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846894" y="330736"/>
            <a:ext cx="7061969" cy="97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Ansible</a:t>
            </a:r>
            <a:endParaRPr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63D19434-EA29-A744-9CAC-89171F680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836" y="1310386"/>
            <a:ext cx="3175000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C8FB49-0E38-FC4B-843F-DE77243437F3}"/>
              </a:ext>
            </a:extLst>
          </p:cNvPr>
          <p:cNvSpPr txBox="1"/>
          <p:nvPr/>
        </p:nvSpPr>
        <p:spPr>
          <a:xfrm>
            <a:off x="708814" y="1871293"/>
            <a:ext cx="4572000" cy="2036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Написан на языке </a:t>
            </a:r>
            <a:r>
              <a:rPr lang="en-US" sz="140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Python </a:t>
            </a:r>
          </a:p>
          <a:p>
            <a:pPr>
              <a:lnSpc>
                <a:spcPct val="114000"/>
              </a:lnSpc>
            </a:pP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  <a:p>
            <a:pPr>
              <a:lnSpc>
                <a:spcPct val="114000"/>
              </a:lnSpc>
            </a:pPr>
            <a:r>
              <a:rPr lang="en-US" dirty="0">
                <a:solidFill>
                  <a:schemeClr val="tx1"/>
                </a:solidFill>
                <a:effectLst/>
              </a:rPr>
              <a:t>Ansible — </a:t>
            </a:r>
            <a:r>
              <a:rPr lang="ru-RU" dirty="0">
                <a:solidFill>
                  <a:schemeClr val="tx1"/>
                </a:solidFill>
                <a:effectLst/>
              </a:rPr>
              <a:t>это инструмент для автоматизации </a:t>
            </a:r>
            <a:r>
              <a:rPr lang="en-US" dirty="0">
                <a:solidFill>
                  <a:schemeClr val="tx1"/>
                </a:solidFill>
                <a:effectLst/>
              </a:rPr>
              <a:t>IT-</a:t>
            </a:r>
            <a:r>
              <a:rPr lang="ru-RU" dirty="0">
                <a:solidFill>
                  <a:schemeClr val="tx1"/>
                </a:solidFill>
                <a:effectLst/>
              </a:rPr>
              <a:t>задач, таких как настройка серверов, управление конфигурацией, развертывание приложений, а также оркестрация сложных рабочих процессов. Его основное предназначение — упрощение управления инфраструктурой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8999C-08C8-6848-B0CC-49152484522E}"/>
              </a:ext>
            </a:extLst>
          </p:cNvPr>
          <p:cNvSpPr txBox="1"/>
          <p:nvPr/>
        </p:nvSpPr>
        <p:spPr>
          <a:xfrm>
            <a:off x="6502234" y="4331497"/>
            <a:ext cx="2165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https://www.ansible.com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4307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Terraform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1932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846894" y="330736"/>
            <a:ext cx="7061969" cy="97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Terraform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8FB49-0E38-FC4B-843F-DE77243437F3}"/>
              </a:ext>
            </a:extLst>
          </p:cNvPr>
          <p:cNvSpPr txBox="1"/>
          <p:nvPr/>
        </p:nvSpPr>
        <p:spPr>
          <a:xfrm>
            <a:off x="708814" y="1871293"/>
            <a:ext cx="4572000" cy="2282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Terraform — </a:t>
            </a:r>
            <a:r>
              <a:rPr lang="ru-RU" sz="140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это инструмент для инфраструктуры как кода (</a:t>
            </a:r>
            <a:r>
              <a:rPr lang="en-US" sz="140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Infrastructure as Code, </a:t>
            </a:r>
            <a:r>
              <a:rPr lang="en-US" sz="1400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IaC</a:t>
            </a:r>
            <a:r>
              <a:rPr lang="en-US" sz="140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), </a:t>
            </a:r>
            <a:r>
              <a:rPr lang="ru-RU" sz="140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который позволяет вам определять и управлять ресурсами инфраструктуры с помощью декларативных конфигурационных файлов. </a:t>
            </a:r>
            <a:endParaRPr lang="en-US" sz="1400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pPr>
              <a:lnSpc>
                <a:spcPct val="114000"/>
              </a:lnSpc>
            </a:pP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  <a:p>
            <a:pPr>
              <a:lnSpc>
                <a:spcPct val="114000"/>
              </a:lnSpc>
            </a:pPr>
            <a:r>
              <a:rPr lang="ru-RU" dirty="0">
                <a:solidFill>
                  <a:schemeClr val="tx1"/>
                </a:solidFill>
                <a:effectLst/>
              </a:rPr>
              <a:t>Разработан </a:t>
            </a:r>
            <a:r>
              <a:rPr lang="en-US" dirty="0" err="1">
                <a:solidFill>
                  <a:schemeClr val="tx1"/>
                </a:solidFill>
                <a:effectLst/>
              </a:rPr>
              <a:t>Hashicorp</a:t>
            </a:r>
            <a:endParaRPr lang="en-US" dirty="0">
              <a:solidFill>
                <a:schemeClr val="tx1"/>
              </a:solidFill>
              <a:effectLst/>
            </a:endParaRPr>
          </a:p>
          <a:p>
            <a:pPr>
              <a:lnSpc>
                <a:spcPct val="114000"/>
              </a:lnSpc>
            </a:pPr>
            <a:r>
              <a:rPr lang="ru-RU" dirty="0">
                <a:solidFill>
                  <a:schemeClr val="tx1"/>
                </a:solidFill>
                <a:effectLst/>
              </a:rPr>
              <a:t>Написан на </a:t>
            </a:r>
            <a:r>
              <a:rPr lang="en-US" dirty="0">
                <a:solidFill>
                  <a:schemeClr val="tx1"/>
                </a:solidFill>
                <a:effectLst/>
              </a:rPr>
              <a:t>Go(lang)</a:t>
            </a:r>
          </a:p>
          <a:p>
            <a:pPr>
              <a:lnSpc>
                <a:spcPct val="114000"/>
              </a:lnSpc>
            </a:pPr>
            <a:r>
              <a:rPr lang="ru-RU" dirty="0">
                <a:solidFill>
                  <a:schemeClr val="tx1"/>
                </a:solidFill>
                <a:effectLst/>
              </a:rPr>
              <a:t>Работает с облачными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ru-RU" dirty="0">
                <a:solidFill>
                  <a:schemeClr val="tx1"/>
                </a:solidFill>
                <a:effectLst/>
              </a:rPr>
              <a:t>провайдерами</a:t>
            </a:r>
            <a:endParaRPr lang="en-US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8999C-08C8-6848-B0CC-49152484522E}"/>
              </a:ext>
            </a:extLst>
          </p:cNvPr>
          <p:cNvSpPr txBox="1"/>
          <p:nvPr/>
        </p:nvSpPr>
        <p:spPr>
          <a:xfrm>
            <a:off x="6502234" y="4331497"/>
            <a:ext cx="2124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https://www.terraform.io</a:t>
            </a:r>
            <a:r>
              <a:rPr lang="en-US" dirty="0"/>
              <a:t>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BF0598C-24E3-834E-A83B-F792D9ED9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391" y="1119609"/>
            <a:ext cx="3088879" cy="327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431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846894" y="330736"/>
            <a:ext cx="7061969" cy="97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Как работает </a:t>
            </a:r>
            <a:r>
              <a:rPr lang="en-US" dirty="0"/>
              <a:t>Terraform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9D0647-1154-AB4A-9B3B-FF459C9C5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1757"/>
            <a:ext cx="9144000" cy="255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85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846894" y="330736"/>
            <a:ext cx="7061969" cy="97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Как работает </a:t>
            </a:r>
            <a:r>
              <a:rPr lang="en-US" dirty="0"/>
              <a:t>Terraform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B772BE-3057-2840-B1E6-A54A33A4D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074" y="1047988"/>
            <a:ext cx="4865899" cy="409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746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для работы с </a:t>
            </a:r>
            <a:r>
              <a:rPr lang="en-US" dirty="0"/>
              <a:t>YC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4851C-7001-0B49-8B28-7606B1C66538}"/>
              </a:ext>
            </a:extLst>
          </p:cNvPr>
          <p:cNvSpPr txBox="1"/>
          <p:nvPr/>
        </p:nvSpPr>
        <p:spPr>
          <a:xfrm>
            <a:off x="500550" y="4658887"/>
            <a:ext cx="7071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2"/>
              </a:rPr>
              <a:t>https://yandex.cloud/ru/docs/tutorials/infrastructure-management/terraform-quickstart#get-credentials</a:t>
            </a:r>
            <a:r>
              <a:rPr lang="en-US" sz="12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7A998-8B1C-3245-BDAC-ECCC7C0DB6BD}"/>
              </a:ext>
            </a:extLst>
          </p:cNvPr>
          <p:cNvSpPr txBox="1"/>
          <p:nvPr/>
        </p:nvSpPr>
        <p:spPr>
          <a:xfrm>
            <a:off x="500550" y="1049412"/>
            <a:ext cx="7873659" cy="3354765"/>
          </a:xfrm>
          <a:prstGeom prst="rect">
            <a:avLst/>
          </a:prstGeom>
          <a:solidFill>
            <a:srgbClr val="FAFAFA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У вас должен быть активный аккаунт в </a:t>
            </a:r>
            <a:r>
              <a:rPr lang="en-US" dirty="0"/>
              <a:t>YC </a:t>
            </a:r>
            <a:r>
              <a:rPr lang="ru-RU" dirty="0"/>
              <a:t>и сервисный аккаунт.</a:t>
            </a:r>
          </a:p>
          <a:p>
            <a:pPr marL="342900" indent="-342900">
              <a:spcBef>
                <a:spcPts val="1200"/>
              </a:spcBef>
              <a:buAutoNum type="arabicPeriod"/>
            </a:pPr>
            <a:r>
              <a:rPr lang="ru-RU" dirty="0"/>
              <a:t>Создайте авторизованный ключ для сервисного аккаунта: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key create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--service-account-id 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идентификатор_сервисного_аккаунта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 \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folder-name 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имя_каталога_с_сервисным_аккаунтом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 \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key.json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 startAt="3"/>
            </a:pPr>
            <a:r>
              <a:rPr lang="ru-RU" dirty="0"/>
              <a:t>Создайте профиль </a:t>
            </a:r>
            <a:r>
              <a:rPr lang="en-US" dirty="0"/>
              <a:t>CLI </a:t>
            </a:r>
            <a:r>
              <a:rPr lang="ru-RU" dirty="0"/>
              <a:t>для выполнения операций от имени сервисного аккаунта. Укажите имя профиля: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config profile create 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имя_профиля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 startAt="4"/>
            </a:pPr>
            <a:r>
              <a:rPr lang="ru-RU" dirty="0"/>
              <a:t>Задайте конфигурацию профиля: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config set service-account-key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key.json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config set cloud-id 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идентификатор_облака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config set folder-id 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идентификатор_каталога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40980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для работы с </a:t>
            </a:r>
            <a:r>
              <a:rPr lang="en-US" dirty="0"/>
              <a:t>YC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4851C-7001-0B49-8B28-7606B1C66538}"/>
              </a:ext>
            </a:extLst>
          </p:cNvPr>
          <p:cNvSpPr txBox="1"/>
          <p:nvPr/>
        </p:nvSpPr>
        <p:spPr>
          <a:xfrm>
            <a:off x="500550" y="4658887"/>
            <a:ext cx="7071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2"/>
              </a:rPr>
              <a:t>https://yandex.cloud/ru/docs/tutorials/infrastructure-management/terraform-quickstart#get-credentials</a:t>
            </a:r>
            <a:r>
              <a:rPr lang="en-US" sz="12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7A998-8B1C-3245-BDAC-ECCC7C0DB6BD}"/>
              </a:ext>
            </a:extLst>
          </p:cNvPr>
          <p:cNvSpPr txBox="1"/>
          <p:nvPr/>
        </p:nvSpPr>
        <p:spPr>
          <a:xfrm>
            <a:off x="500550" y="1049412"/>
            <a:ext cx="7873659" cy="2893100"/>
          </a:xfrm>
          <a:prstGeom prst="rect">
            <a:avLst/>
          </a:prstGeom>
          <a:solidFill>
            <a:srgbClr val="FAFAFA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ru-RU" dirty="0"/>
              <a:t>Создайте файл конфигурации провайдера </a:t>
            </a:r>
            <a:r>
              <a:rPr lang="en-US" dirty="0"/>
              <a:t>Terraform</a:t>
            </a:r>
            <a:r>
              <a:rPr lang="ru-RU" dirty="0"/>
              <a:t>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~/.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terraformrc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provider_installation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network_mirror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"https://terraform-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mirror.yandexcloud.net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include = ["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registry.terraform.io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/*/*"]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direct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exclude = ["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registry.terraform.io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/*/*"]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347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для работы с </a:t>
            </a:r>
            <a:r>
              <a:rPr lang="en-US" dirty="0"/>
              <a:t>YC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4851C-7001-0B49-8B28-7606B1C66538}"/>
              </a:ext>
            </a:extLst>
          </p:cNvPr>
          <p:cNvSpPr txBox="1"/>
          <p:nvPr/>
        </p:nvSpPr>
        <p:spPr>
          <a:xfrm>
            <a:off x="500550" y="4658887"/>
            <a:ext cx="7071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2"/>
              </a:rPr>
              <a:t>https://yandex.cloud/ru/docs/tutorials/infrastructure-management/terraform-quickstart#get-credentials</a:t>
            </a:r>
            <a:r>
              <a:rPr lang="en-US" sz="12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7A998-8B1C-3245-BDAC-ECCC7C0DB6BD}"/>
              </a:ext>
            </a:extLst>
          </p:cNvPr>
          <p:cNvSpPr txBox="1"/>
          <p:nvPr/>
        </p:nvSpPr>
        <p:spPr>
          <a:xfrm>
            <a:off x="500550" y="1049412"/>
            <a:ext cx="7873659" cy="3539430"/>
          </a:xfrm>
          <a:prstGeom prst="rect">
            <a:avLst/>
          </a:prstGeom>
          <a:solidFill>
            <a:srgbClr val="FAFAFA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ru-RU" dirty="0"/>
              <a:t>Создайте файл конфигурации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main.tf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required_providers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source =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-cloud/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required_version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"&gt;= 0.13"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provider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zone = "ru-central1-b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rgbClr val="7AAF4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dirty="0">
                <a:solidFill>
                  <a:srgbClr val="7AAF4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зона доступности по умолчанию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536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для работы с </a:t>
            </a:r>
            <a:r>
              <a:rPr lang="en-US" dirty="0"/>
              <a:t>YC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4851C-7001-0B49-8B28-7606B1C66538}"/>
              </a:ext>
            </a:extLst>
          </p:cNvPr>
          <p:cNvSpPr txBox="1"/>
          <p:nvPr/>
        </p:nvSpPr>
        <p:spPr>
          <a:xfrm>
            <a:off x="500550" y="4658887"/>
            <a:ext cx="7071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2"/>
              </a:rPr>
              <a:t>https://yandex.cloud/ru/docs/tutorials/infrastructure-management/terraform-quickstart#get-credentials</a:t>
            </a:r>
            <a:r>
              <a:rPr lang="en-US" sz="12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7A998-8B1C-3245-BDAC-ECCC7C0DB6BD}"/>
              </a:ext>
            </a:extLst>
          </p:cNvPr>
          <p:cNvSpPr txBox="1"/>
          <p:nvPr/>
        </p:nvSpPr>
        <p:spPr>
          <a:xfrm>
            <a:off x="500550" y="1049412"/>
            <a:ext cx="7873659" cy="1169551"/>
          </a:xfrm>
          <a:prstGeom prst="rect">
            <a:avLst/>
          </a:prstGeom>
          <a:solidFill>
            <a:srgbClr val="FAFAFA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ru-RU" dirty="0"/>
              <a:t>Инициализируйте конфигурацию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Если вы не получили сообщений об ошибке –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terraform </a:t>
            </a:r>
            <a:r>
              <a:rPr lang="ru-RU" dirty="0">
                <a:latin typeface="+mn-lt"/>
                <a:cs typeface="Courier New" panose="02070309020205020404" pitchFamily="49" charset="0"/>
              </a:rPr>
              <a:t>готов к работе</a:t>
            </a:r>
            <a:endParaRPr lang="en-US" dirty="0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700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команды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7A998-8B1C-3245-BDAC-ECCC7C0DB6BD}"/>
              </a:ext>
            </a:extLst>
          </p:cNvPr>
          <p:cNvSpPr txBox="1"/>
          <p:nvPr/>
        </p:nvSpPr>
        <p:spPr>
          <a:xfrm>
            <a:off x="500550" y="1049412"/>
            <a:ext cx="8142900" cy="4062651"/>
          </a:xfrm>
          <a:prstGeom prst="rect">
            <a:avLst/>
          </a:prstGeom>
          <a:solidFill>
            <a:srgbClr val="FAFAFA"/>
          </a:solidFill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8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dirty="0"/>
              <a:t>Инициализация конфигурации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ru-RU" dirty="0"/>
              <a:t>Проверка конфигурации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validate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ru-RU" dirty="0"/>
              <a:t>Показать план изменений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plan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ru-RU" dirty="0"/>
              <a:t>Применить план изменений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apply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ru-RU" dirty="0"/>
              <a:t>Удалить конфигурацию, отслеживаемую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destroy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spcBef>
                <a:spcPts val="1800"/>
              </a:spcBef>
              <a:spcAft>
                <a:spcPts val="600"/>
              </a:spcAft>
              <a:buFont typeface="+mj-lt"/>
              <a:buAutoNum type="arabicPeriod" startAt="6"/>
            </a:pPr>
            <a:r>
              <a:rPr lang="ru-RU" dirty="0"/>
              <a:t>Показать состояние, отслеживаемое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show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893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Конфигурационный язык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CC341-E3F2-204A-A84C-0774E835B153}"/>
              </a:ext>
            </a:extLst>
          </p:cNvPr>
          <p:cNvSpPr txBox="1"/>
          <p:nvPr/>
        </p:nvSpPr>
        <p:spPr>
          <a:xfrm>
            <a:off x="619827" y="1319436"/>
            <a:ext cx="7560678" cy="3183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b="1" dirty="0"/>
              <a:t>Переменные: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variable {} </a:t>
            </a:r>
            <a:r>
              <a:rPr lang="en-US" dirty="0"/>
              <a:t>	– </a:t>
            </a:r>
            <a:r>
              <a:rPr lang="ru-RU" dirty="0"/>
              <a:t>вводимые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 {} </a:t>
            </a:r>
            <a:r>
              <a:rPr lang="en-US" dirty="0"/>
              <a:t>	– </a:t>
            </a:r>
            <a:r>
              <a:rPr lang="ru-RU" dirty="0"/>
              <a:t>выводимые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local {} </a:t>
            </a:r>
            <a:r>
              <a:rPr lang="en-US" dirty="0"/>
              <a:t>	</a:t>
            </a:r>
            <a:r>
              <a:rPr lang="ru-RU" dirty="0"/>
              <a:t>– локальные</a:t>
            </a:r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r>
              <a:rPr lang="ru-RU" b="1" dirty="0"/>
              <a:t>Типы данных: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–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number 	– 6.283185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 	– true / false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 	– [‘terraform’, ‘ansible’, ‘git’]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map 	– {country = "Russia", capital = “Moscow”}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 	–</a:t>
            </a:r>
          </a:p>
        </p:txBody>
      </p:sp>
    </p:spTree>
    <p:extLst>
      <p:ext uri="{BB962C8B-B14F-4D97-AF65-F5344CB8AC3E}">
        <p14:creationId xmlns:p14="http://schemas.microsoft.com/office/powerpoint/2010/main" val="3023934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проекта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CC341-E3F2-204A-A84C-0774E835B153}"/>
              </a:ext>
            </a:extLst>
          </p:cNvPr>
          <p:cNvSpPr txBox="1"/>
          <p:nvPr/>
        </p:nvSpPr>
        <p:spPr>
          <a:xfrm>
            <a:off x="619827" y="1472858"/>
            <a:ext cx="7560678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.terraform/ </a:t>
            </a:r>
          </a:p>
          <a:p>
            <a:pPr>
              <a:lnSpc>
                <a:spcPct val="120000"/>
              </a:lnSpc>
            </a:pPr>
            <a:r>
              <a:rPr lang="ru-RU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|-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main.tf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|-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variables.tf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|-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outputs.tf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|-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terraform.tfstate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|-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terraform.tfstate.backup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|-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terraform.tfvars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52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большого проекта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CC341-E3F2-204A-A84C-0774E835B153}"/>
              </a:ext>
            </a:extLst>
          </p:cNvPr>
          <p:cNvSpPr txBox="1"/>
          <p:nvPr/>
        </p:nvSpPr>
        <p:spPr>
          <a:xfrm>
            <a:off x="619827" y="1472858"/>
            <a:ext cx="3755792" cy="340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.terraform/ </a:t>
            </a:r>
            <a:endParaRPr lang="ru-RU" sz="12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ru-RU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|- network/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|-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main.tf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|-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variables.tf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|-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outputs.tf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|-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terraform.tfstate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|-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terraform.tfstate.backup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|-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terraform.tfvars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|- instance/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|-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main.tf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|-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variables.tf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|-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outputs.tf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|-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terraform.tfstate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|-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terraform.tfstate.backup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u-RU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|-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terraform.tfvars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555A2A-A673-2241-BBF3-E4416D7E8B94}"/>
              </a:ext>
            </a:extLst>
          </p:cNvPr>
          <p:cNvSpPr txBox="1"/>
          <p:nvPr/>
        </p:nvSpPr>
        <p:spPr>
          <a:xfrm>
            <a:off x="4664054" y="1472858"/>
            <a:ext cx="43570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Каждая составляющая проекта в своем каталоге.</a:t>
            </a:r>
          </a:p>
          <a:p>
            <a:pPr>
              <a:spcAft>
                <a:spcPts val="600"/>
              </a:spcAft>
            </a:pPr>
            <a:r>
              <a:rPr lang="ru-RU" dirty="0"/>
              <a:t>Это позволяет изменять только часть инфраструктуры.</a:t>
            </a:r>
          </a:p>
          <a:p>
            <a:pPr>
              <a:spcAft>
                <a:spcPts val="600"/>
              </a:spcAft>
            </a:pPr>
            <a:r>
              <a:rPr lang="ru-RU" dirty="0"/>
              <a:t>Экономит время – на больших проектах работает не очень шустро.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792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переменными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CC341-E3F2-204A-A84C-0774E835B153}"/>
              </a:ext>
            </a:extLst>
          </p:cNvPr>
          <p:cNvSpPr txBox="1"/>
          <p:nvPr/>
        </p:nvSpPr>
        <p:spPr>
          <a:xfrm>
            <a:off x="494020" y="1426624"/>
            <a:ext cx="4170034" cy="3540969"/>
          </a:xfrm>
          <a:prstGeom prst="rect">
            <a:avLst/>
          </a:prstGeom>
          <a:solidFill>
            <a:srgbClr val="FAFAFA"/>
          </a:solidFill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#=========== main ==============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variable "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cloud_id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description = "The cloud ID"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type        = string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variable "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default_zone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description = "The default zone"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type        = string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default     = "ru-cenral1-b"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#=========== VM ==============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variable "copies" {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 = "Number of copies"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type        = number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default     = 1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819C4-76A0-F746-AC80-9EC69C39F374}"/>
              </a:ext>
            </a:extLst>
          </p:cNvPr>
          <p:cNvSpPr txBox="1"/>
          <p:nvPr/>
        </p:nvSpPr>
        <p:spPr>
          <a:xfrm>
            <a:off x="3111415" y="1086531"/>
            <a:ext cx="1138397" cy="340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 err="1">
                <a:effectLst/>
                <a:latin typeface="+mn-lt"/>
                <a:cs typeface="Courier New" panose="02070309020205020404" pitchFamily="49" charset="0"/>
              </a:rPr>
              <a:t>Variables.tf</a:t>
            </a:r>
            <a:r>
              <a:rPr lang="en-US" sz="1400" dirty="0">
                <a:effectLst/>
                <a:latin typeface="+mn-lt"/>
                <a:cs typeface="Courier New" panose="02070309020205020404" pitchFamily="49" charset="0"/>
              </a:rPr>
              <a:t> </a:t>
            </a:r>
            <a:endParaRPr lang="ru-RU" sz="1400" dirty="0">
              <a:effectLst/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1A3DD-D138-DD4D-A082-ECDBDCD52F12}"/>
              </a:ext>
            </a:extLst>
          </p:cNvPr>
          <p:cNvSpPr txBox="1"/>
          <p:nvPr/>
        </p:nvSpPr>
        <p:spPr>
          <a:xfrm>
            <a:off x="5107389" y="1426624"/>
            <a:ext cx="3755792" cy="1412694"/>
          </a:xfrm>
          <a:prstGeom prst="rect">
            <a:avLst/>
          </a:prstGeom>
          <a:solidFill>
            <a:srgbClr val="FAFAFA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#=========== main ==============</a:t>
            </a:r>
          </a:p>
          <a:p>
            <a:pPr>
              <a:lnSpc>
                <a:spcPct val="120000"/>
              </a:lnSpc>
            </a:pP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cloud_id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= "b1g59fgabceft2f099ji"</a:t>
            </a:r>
          </a:p>
          <a:p>
            <a:pPr>
              <a:lnSpc>
                <a:spcPct val="120000"/>
              </a:lnSpc>
            </a:pP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folder_id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= "b1gd3fqn5rn2107tg9b8”</a:t>
            </a:r>
          </a:p>
          <a:p>
            <a:pPr>
              <a:lnSpc>
                <a:spcPct val="120000"/>
              </a:lnSpc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#=========== VM ==============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copies =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6C65A-4651-E746-B29E-CCA82EF9F07D}"/>
              </a:ext>
            </a:extLst>
          </p:cNvPr>
          <p:cNvSpPr txBox="1"/>
          <p:nvPr/>
        </p:nvSpPr>
        <p:spPr>
          <a:xfrm>
            <a:off x="7456350" y="1086531"/>
            <a:ext cx="1406832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 err="1">
                <a:effectLst/>
                <a:latin typeface="+mn-lt"/>
                <a:cs typeface="Courier New" panose="02070309020205020404" pitchFamily="49" charset="0"/>
              </a:rPr>
              <a:t>terraform.tfvars</a:t>
            </a:r>
            <a:endParaRPr lang="ru-RU" sz="1400" dirty="0">
              <a:effectLst/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1C99092B-8AC2-7B4B-BCBA-C2CD7F1455C6}"/>
              </a:ext>
            </a:extLst>
          </p:cNvPr>
          <p:cNvSpPr/>
          <p:nvPr/>
        </p:nvSpPr>
        <p:spPr>
          <a:xfrm>
            <a:off x="5107388" y="4412440"/>
            <a:ext cx="2250769" cy="472477"/>
          </a:xfrm>
          <a:prstGeom prst="wedgeRoundRectCallout">
            <a:avLst>
              <a:gd name="adj1" fmla="val -117251"/>
              <a:gd name="adj2" fmla="val -139961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</a:rPr>
              <a:t>Объявить переменную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70F734C3-F0BF-DC48-B226-ED5452027EF1}"/>
              </a:ext>
            </a:extLst>
          </p:cNvPr>
          <p:cNvSpPr/>
          <p:nvPr/>
        </p:nvSpPr>
        <p:spPr>
          <a:xfrm>
            <a:off x="6612412" y="2999746"/>
            <a:ext cx="2250769" cy="472477"/>
          </a:xfrm>
          <a:prstGeom prst="wedgeRoundRectCallout">
            <a:avLst>
              <a:gd name="adj1" fmla="val -68172"/>
              <a:gd name="adj2" fmla="val -111386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</a:rPr>
              <a:t>Задать значение</a:t>
            </a:r>
          </a:p>
        </p:txBody>
      </p:sp>
    </p:spTree>
    <p:extLst>
      <p:ext uri="{BB962C8B-B14F-4D97-AF65-F5344CB8AC3E}">
        <p14:creationId xmlns:p14="http://schemas.microsoft.com/office/powerpoint/2010/main" val="168500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переменными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CC341-E3F2-204A-A84C-0774E835B153}"/>
              </a:ext>
            </a:extLst>
          </p:cNvPr>
          <p:cNvSpPr txBox="1"/>
          <p:nvPr/>
        </p:nvSpPr>
        <p:spPr>
          <a:xfrm>
            <a:off x="451062" y="988516"/>
            <a:ext cx="6028144" cy="3785652"/>
          </a:xfrm>
          <a:prstGeom prst="rect">
            <a:avLst/>
          </a:prstGeom>
          <a:solidFill>
            <a:srgbClr val="FAFAFA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resource "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yandex_compute_instance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 "vm-1" {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count = </a:t>
            </a:r>
            <a:r>
              <a:rPr lang="en-US" sz="12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var.copies</a:t>
            </a:r>
            <a:endParaRPr lang="en-US" sz="12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name        = "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nixys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-${</a:t>
            </a:r>
            <a:r>
              <a:rPr lang="en-US" sz="12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count.index</a:t>
            </a:r>
            <a:r>
              <a:rPr lang="en-US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+ 1}"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platform_id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"standard-v1"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zone        = "ru-central1-b"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resources {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cores  = 2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memory = 2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boot_disk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disk_id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yandex_compute_disk.boot-disk-1.id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network_interface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subnet_id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yandex_vpc_subnet.subnet-1.id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= true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metadata = {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ssh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-keys = "ubuntu:${file("~/.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ssh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/id_ed25519.pub")}"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819C4-76A0-F746-AC80-9EC69C39F374}"/>
              </a:ext>
            </a:extLst>
          </p:cNvPr>
          <p:cNvSpPr txBox="1"/>
          <p:nvPr/>
        </p:nvSpPr>
        <p:spPr>
          <a:xfrm>
            <a:off x="5910007" y="648423"/>
            <a:ext cx="569199" cy="340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 err="1">
                <a:latin typeface="+mn-lt"/>
                <a:cs typeface="Courier New" panose="02070309020205020404" pitchFamily="49" charset="0"/>
              </a:rPr>
              <a:t>vm</a:t>
            </a:r>
            <a:r>
              <a:rPr lang="en-US" sz="1400" dirty="0" err="1">
                <a:effectLst/>
                <a:latin typeface="+mn-lt"/>
                <a:cs typeface="Courier New" panose="02070309020205020404" pitchFamily="49" charset="0"/>
              </a:rPr>
              <a:t>.tf</a:t>
            </a:r>
            <a:r>
              <a:rPr lang="en-US" sz="1400" dirty="0">
                <a:effectLst/>
                <a:latin typeface="+mn-lt"/>
                <a:cs typeface="Courier New" panose="02070309020205020404" pitchFamily="49" charset="0"/>
              </a:rPr>
              <a:t> </a:t>
            </a:r>
            <a:endParaRPr lang="ru-RU" sz="1400" dirty="0">
              <a:effectLst/>
              <a:latin typeface="+mn-lt"/>
              <a:cs typeface="Courier New" panose="020703090202050204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5AFDF1B-BDD6-B343-954D-91A5681BB8EC}"/>
              </a:ext>
            </a:extLst>
          </p:cNvPr>
          <p:cNvCxnSpPr>
            <a:cxnSpLocks/>
          </p:cNvCxnSpPr>
          <p:nvPr/>
        </p:nvCxnSpPr>
        <p:spPr>
          <a:xfrm flipH="1">
            <a:off x="2479314" y="1331710"/>
            <a:ext cx="2908895" cy="1"/>
          </a:xfrm>
          <a:prstGeom prst="straightConnector1">
            <a:avLst/>
          </a:prstGeom>
          <a:ln w="1270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238EA5-FD3F-BD46-91F2-73D7BAF5AB89}"/>
              </a:ext>
            </a:extLst>
          </p:cNvPr>
          <p:cNvCxnSpPr>
            <a:cxnSpLocks/>
          </p:cNvCxnSpPr>
          <p:nvPr/>
        </p:nvCxnSpPr>
        <p:spPr>
          <a:xfrm flipH="1">
            <a:off x="4467672" y="1331710"/>
            <a:ext cx="920537" cy="165697"/>
          </a:xfrm>
          <a:prstGeom prst="straightConnector1">
            <a:avLst/>
          </a:prstGeom>
          <a:ln w="1270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96ACCAA1-C316-714E-B224-2E2E91707FC7}"/>
              </a:ext>
            </a:extLst>
          </p:cNvPr>
          <p:cNvSpPr/>
          <p:nvPr/>
        </p:nvSpPr>
        <p:spPr>
          <a:xfrm>
            <a:off x="6651952" y="1125093"/>
            <a:ext cx="2418686" cy="1041171"/>
          </a:xfrm>
          <a:prstGeom prst="wedgeRoundRectCallout">
            <a:avLst>
              <a:gd name="adj1" fmla="val -101664"/>
              <a:gd name="adj2" fmla="val -31216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</a:rPr>
              <a:t>Использование переменных в коде</a:t>
            </a:r>
          </a:p>
        </p:txBody>
      </p: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B3642465-6909-E84A-8E69-C69F01A57B67}"/>
              </a:ext>
            </a:extLst>
          </p:cNvPr>
          <p:cNvSpPr/>
          <p:nvPr/>
        </p:nvSpPr>
        <p:spPr>
          <a:xfrm>
            <a:off x="6651952" y="2880773"/>
            <a:ext cx="2418686" cy="1041171"/>
          </a:xfrm>
          <a:prstGeom prst="wedgeRoundRectCallout">
            <a:avLst>
              <a:gd name="adj1" fmla="val -85933"/>
              <a:gd name="adj2" fmla="val -7639"/>
              <a:gd name="adj3" fmla="val 16667"/>
            </a:avLst>
          </a:prstGeom>
          <a:solidFill>
            <a:srgbClr val="FAFAFA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</a:rPr>
              <a:t>Использование ссылок на другие ресурсы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517F84-AD95-BC49-88CF-E5D945D3F9D1}"/>
              </a:ext>
            </a:extLst>
          </p:cNvPr>
          <p:cNvCxnSpPr>
            <a:cxnSpLocks/>
          </p:cNvCxnSpPr>
          <p:nvPr/>
        </p:nvCxnSpPr>
        <p:spPr>
          <a:xfrm flipH="1">
            <a:off x="4841001" y="3318509"/>
            <a:ext cx="920537" cy="165697"/>
          </a:xfrm>
          <a:prstGeom prst="straightConnector1">
            <a:avLst/>
          </a:prstGeom>
          <a:ln w="63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7EA37D-036A-354A-9586-7BBBEDC58F8D}"/>
              </a:ext>
            </a:extLst>
          </p:cNvPr>
          <p:cNvCxnSpPr>
            <a:cxnSpLocks/>
          </p:cNvCxnSpPr>
          <p:nvPr/>
        </p:nvCxnSpPr>
        <p:spPr>
          <a:xfrm flipH="1" flipV="1">
            <a:off x="5019995" y="2941347"/>
            <a:ext cx="741543" cy="377162"/>
          </a:xfrm>
          <a:prstGeom prst="straightConnector1">
            <a:avLst/>
          </a:prstGeom>
          <a:ln w="6350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555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 зависимостей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CC341-E3F2-204A-A84C-0774E835B153}"/>
              </a:ext>
            </a:extLst>
          </p:cNvPr>
          <p:cNvSpPr txBox="1"/>
          <p:nvPr/>
        </p:nvSpPr>
        <p:spPr>
          <a:xfrm>
            <a:off x="451062" y="988516"/>
            <a:ext cx="6028144" cy="276999"/>
          </a:xfrm>
          <a:prstGeom prst="rect">
            <a:avLst/>
          </a:prstGeom>
          <a:solidFill>
            <a:srgbClr val="FAFAFA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terraform graph -type=plan | dot -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Tpng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&gt;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graph.png</a:t>
            </a:r>
            <a:endParaRPr lang="en-US" sz="12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FCEC83-E8F0-F940-829A-62156F4E8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0" y="1957884"/>
            <a:ext cx="78359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3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90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611" name="Google Shape;611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90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3" name="Google Shape;613;p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90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9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9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Практика</a:t>
            </a:r>
            <a:endParaRPr dirty="0"/>
          </a:p>
        </p:txBody>
      </p:sp>
      <p:graphicFrame>
        <p:nvGraphicFramePr>
          <p:cNvPr id="5" name="Google Shape;203;p37">
            <a:extLst>
              <a:ext uri="{FF2B5EF4-FFF2-40B4-BE49-F238E27FC236}">
                <a16:creationId xmlns:a16="http://schemas.microsoft.com/office/drawing/2014/main" id="{DE4C8527-3820-074B-A027-D6BCE1F6B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3569311"/>
              </p:ext>
            </p:extLst>
          </p:nvPr>
        </p:nvGraphicFramePr>
        <p:xfrm>
          <a:off x="952500" y="1544194"/>
          <a:ext cx="7239000" cy="1275750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Создадим базовые блоки инфраструктуры на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Yandex cloud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Научимся разделять инфраструктуру по сервисам и файлам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Научимся использовать переменные и циклы для упрощения настройки конфигурации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949" y="1792731"/>
            <a:ext cx="58889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Знакомство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с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командой </a:t>
            </a:r>
            <a:r>
              <a:rPr sz="4000" spc="-150" dirty="0">
                <a:solidFill>
                  <a:srgbClr val="FFFFFF"/>
                </a:solidFill>
              </a:rPr>
              <a:t>и</a:t>
            </a:r>
            <a:r>
              <a:rPr sz="4000" spc="-204" dirty="0">
                <a:solidFill>
                  <a:srgbClr val="FFFFFF"/>
                </a:solidFill>
              </a:rPr>
              <a:t> </a:t>
            </a:r>
            <a:r>
              <a:rPr sz="4000" spc="-45" dirty="0">
                <a:solidFill>
                  <a:srgbClr val="FFFFFF"/>
                </a:solidFill>
              </a:rPr>
              <a:t>программой</a:t>
            </a:r>
            <a:r>
              <a:rPr sz="4000" spc="-20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курса</a:t>
            </a:r>
            <a:endParaRPr sz="4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Команда</a:t>
            </a:r>
            <a:r>
              <a:rPr spc="-175" dirty="0"/>
              <a:t> </a:t>
            </a:r>
            <a:r>
              <a:rPr spc="-10" dirty="0"/>
              <a:t>курса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1095" y="1149604"/>
            <a:ext cx="4542155" cy="243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2548890" indent="-6350">
              <a:lnSpc>
                <a:spcPct val="156300"/>
              </a:lnSpc>
              <a:spcBef>
                <a:spcPts val="100"/>
              </a:spcBef>
            </a:pPr>
            <a:r>
              <a:rPr sz="1600" b="1" spc="-10" dirty="0">
                <a:latin typeface="Trebuchet MS"/>
                <a:cs typeface="Trebuchet MS"/>
              </a:rPr>
              <a:t>Руководитель</a:t>
            </a:r>
            <a:r>
              <a:rPr sz="1600" b="1" spc="-75" dirty="0">
                <a:latin typeface="Trebuchet MS"/>
                <a:cs typeface="Trebuchet MS"/>
              </a:rPr>
              <a:t> </a:t>
            </a:r>
            <a:r>
              <a:rPr sz="1600" b="1" spc="-20" dirty="0">
                <a:latin typeface="Trebuchet MS"/>
                <a:cs typeface="Trebuchet MS"/>
              </a:rPr>
              <a:t>курса </a:t>
            </a:r>
            <a:r>
              <a:rPr sz="1600" b="1" spc="-20" dirty="0">
                <a:solidFill>
                  <a:srgbClr val="FF9900"/>
                </a:solidFill>
                <a:latin typeface="Trebuchet MS"/>
                <a:cs typeface="Trebuchet MS"/>
              </a:rPr>
              <a:t>Игорь</a:t>
            </a:r>
            <a:r>
              <a:rPr sz="1600" b="1" spc="-9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FF9900"/>
                </a:solidFill>
                <a:latin typeface="Trebuchet MS"/>
                <a:cs typeface="Trebuchet MS"/>
              </a:rPr>
              <a:t>Стурейко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200" b="1" spc="-40" dirty="0">
                <a:latin typeface="Trebuchet MS"/>
                <a:cs typeface="Trebuchet MS"/>
              </a:rPr>
              <a:t>Teamlead,</a:t>
            </a:r>
            <a:r>
              <a:rPr sz="1200" b="1" spc="-20" dirty="0">
                <a:latin typeface="Trebuchet MS"/>
                <a:cs typeface="Trebuchet MS"/>
              </a:rPr>
              <a:t> главный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spc="-35" dirty="0">
                <a:latin typeface="Trebuchet MS"/>
                <a:cs typeface="Trebuchet MS"/>
              </a:rPr>
              <a:t>инженер</a:t>
            </a:r>
            <a:r>
              <a:rPr sz="1200" b="1" spc="-2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проекта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b="1" spc="-25" dirty="0">
                <a:latin typeface="Trebuchet MS"/>
                <a:cs typeface="Trebuchet MS"/>
              </a:rPr>
              <a:t>Физический</a:t>
            </a:r>
            <a:r>
              <a:rPr sz="1200" b="1" spc="-40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факультет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МГУ,</a:t>
            </a:r>
            <a:r>
              <a:rPr sz="1200" b="1" spc="-2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PhD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теоретическая </a:t>
            </a:r>
            <a:r>
              <a:rPr sz="1200" b="1" spc="-10" dirty="0">
                <a:latin typeface="Trebuchet MS"/>
                <a:cs typeface="Trebuchet MS"/>
              </a:rPr>
              <a:t>физика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Trebuchet MS"/>
              <a:cs typeface="Trebuchet MS"/>
            </a:endParaRPr>
          </a:p>
          <a:p>
            <a:pPr marL="12700" marR="163830">
              <a:lnSpc>
                <a:spcPts val="1420"/>
              </a:lnSpc>
            </a:pPr>
            <a:r>
              <a:rPr sz="1200" spc="50" dirty="0">
                <a:latin typeface="Trebuchet MS"/>
                <a:cs typeface="Trebuchet MS"/>
              </a:rPr>
              <a:t>15+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лет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опыта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в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прикладной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математике</a:t>
            </a:r>
            <a:r>
              <a:rPr sz="1200" spc="2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и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математическом </a:t>
            </a:r>
            <a:r>
              <a:rPr sz="1200" spc="10" dirty="0">
                <a:latin typeface="Trebuchet MS"/>
                <a:cs typeface="Trebuchet MS"/>
              </a:rPr>
              <a:t>моделировании</a:t>
            </a:r>
            <a:r>
              <a:rPr sz="1200" spc="50" dirty="0">
                <a:latin typeface="Trebuchet MS"/>
                <a:cs typeface="Trebuchet MS"/>
              </a:rPr>
              <a:t> </a:t>
            </a:r>
            <a:r>
              <a:rPr sz="1200" spc="10" dirty="0">
                <a:latin typeface="Trebuchet MS"/>
                <a:cs typeface="Trebuchet MS"/>
              </a:rPr>
              <a:t>НИИгазэкономика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spc="50" dirty="0">
                <a:latin typeface="Trebuchet MS"/>
                <a:cs typeface="Trebuchet MS"/>
              </a:rPr>
              <a:t>ПАО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Газпром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ts val="1420"/>
              </a:lnSpc>
            </a:pPr>
            <a:r>
              <a:rPr sz="1200" dirty="0">
                <a:latin typeface="Trebuchet MS"/>
                <a:cs typeface="Trebuchet MS"/>
              </a:rPr>
              <a:t>Руководил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командой,</a:t>
            </a:r>
            <a:r>
              <a:rPr sz="1200" spc="5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решающей</a:t>
            </a:r>
            <a:r>
              <a:rPr sz="1200" spc="4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прикладные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задачи,</a:t>
            </a:r>
            <a:r>
              <a:rPr sz="1200" spc="55" dirty="0">
                <a:latin typeface="Trebuchet MS"/>
                <a:cs typeface="Trebuchet MS"/>
              </a:rPr>
              <a:t> </a:t>
            </a:r>
            <a:r>
              <a:rPr sz="1200" spc="40" dirty="0">
                <a:latin typeface="Trebuchet MS"/>
                <a:cs typeface="Trebuchet MS"/>
              </a:rPr>
              <a:t>вывод </a:t>
            </a:r>
            <a:r>
              <a:rPr sz="1200" dirty="0">
                <a:latin typeface="Trebuchet MS"/>
                <a:cs typeface="Trebuchet MS"/>
              </a:rPr>
              <a:t>готовых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моделей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в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продакшн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и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поддержку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решений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у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клиента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4099" y="1195199"/>
            <a:ext cx="2430145" cy="3232785"/>
            <a:chOff x="614099" y="1195199"/>
            <a:chExt cx="2430145" cy="3232785"/>
          </a:xfrm>
        </p:grpSpPr>
        <p:sp>
          <p:nvSpPr>
            <p:cNvPr id="5" name="object 5"/>
            <p:cNvSpPr/>
            <p:nvPr/>
          </p:nvSpPr>
          <p:spPr>
            <a:xfrm>
              <a:off x="614099" y="1195199"/>
              <a:ext cx="520700" cy="3232785"/>
            </a:xfrm>
            <a:custGeom>
              <a:avLst/>
              <a:gdLst/>
              <a:ahLst/>
              <a:cxnLst/>
              <a:rect l="l" t="t" r="r" b="b"/>
              <a:pathLst>
                <a:path w="520700" h="3232785">
                  <a:moveTo>
                    <a:pt x="520200" y="0"/>
                  </a:moveTo>
                  <a:lnTo>
                    <a:pt x="0" y="0"/>
                  </a:lnTo>
                  <a:lnTo>
                    <a:pt x="0" y="3232500"/>
                  </a:lnTo>
                  <a:lnTo>
                    <a:pt x="520200" y="3232500"/>
                  </a:lnTo>
                  <a:lnTo>
                    <a:pt x="5202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24" y="1576773"/>
              <a:ext cx="2253984" cy="221052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Команда</a:t>
            </a:r>
            <a:r>
              <a:rPr spc="-175" dirty="0"/>
              <a:t> </a:t>
            </a:r>
            <a:r>
              <a:rPr spc="-10" dirty="0"/>
              <a:t>курса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1787699" y="1397762"/>
            <a:ext cx="1944370" cy="3219086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670"/>
              </a:spcBef>
              <a:buNone/>
            </a:pPr>
            <a:r>
              <a:rPr dirty="0"/>
              <a:t>Вадим</a:t>
            </a:r>
            <a:r>
              <a:rPr spc="15" dirty="0"/>
              <a:t> </a:t>
            </a:r>
            <a:r>
              <a:rPr spc="-10" dirty="0"/>
              <a:t>Заигрин</a:t>
            </a:r>
          </a:p>
          <a:p>
            <a:pPr marL="0" indent="0">
              <a:lnSpc>
                <a:spcPct val="100000"/>
              </a:lnSpc>
              <a:spcBef>
                <a:spcPts val="380"/>
              </a:spcBef>
              <a:buNone/>
            </a:pPr>
            <a:r>
              <a:rPr sz="1000" b="0" dirty="0">
                <a:solidFill>
                  <a:srgbClr val="000000"/>
                </a:solidFill>
                <a:latin typeface="Trebuchet MS"/>
                <a:cs typeface="Trebuchet MS"/>
              </a:rPr>
              <a:t>Ведущий </a:t>
            </a:r>
            <a:r>
              <a:rPr sz="1000" b="0" spc="-10" dirty="0">
                <a:solidFill>
                  <a:srgbClr val="000000"/>
                </a:solidFill>
                <a:latin typeface="Trebuchet MS"/>
                <a:cs typeface="Trebuchet MS"/>
              </a:rPr>
              <a:t>консультант</a:t>
            </a:r>
            <a:endParaRPr sz="1000" dirty="0">
              <a:latin typeface="Trebuchet MS"/>
              <a:cs typeface="Trebuchet MS"/>
            </a:endParaRPr>
          </a:p>
          <a:p>
            <a:pPr marL="120650" indent="0">
              <a:lnSpc>
                <a:spcPct val="100000"/>
              </a:lnSpc>
              <a:buNone/>
            </a:pPr>
            <a:endParaRPr sz="1000" dirty="0">
              <a:latin typeface="Trebuchet MS"/>
              <a:cs typeface="Trebuchet MS"/>
            </a:endParaRPr>
          </a:p>
          <a:p>
            <a:pPr marL="120650" indent="0">
              <a:lnSpc>
                <a:spcPct val="100000"/>
              </a:lnSpc>
              <a:spcBef>
                <a:spcPts val="1135"/>
              </a:spcBef>
              <a:buNone/>
            </a:pPr>
            <a:endParaRPr lang="en-US" sz="1000" dirty="0">
              <a:latin typeface="Trebuchet MS"/>
              <a:cs typeface="Trebuchet MS"/>
            </a:endParaRPr>
          </a:p>
          <a:p>
            <a:pPr marL="120650" indent="0">
              <a:lnSpc>
                <a:spcPct val="100000"/>
              </a:lnSpc>
              <a:spcBef>
                <a:spcPts val="1135"/>
              </a:spcBef>
              <a:buNone/>
            </a:pPr>
            <a:endParaRPr sz="1000" dirty="0">
              <a:latin typeface="Trebuchet MS"/>
              <a:cs typeface="Trebuchet M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dirty="0"/>
              <a:t>Дмитрий</a:t>
            </a:r>
            <a:r>
              <a:rPr spc="-95" dirty="0"/>
              <a:t> </a:t>
            </a:r>
            <a:r>
              <a:rPr spc="-10" dirty="0"/>
              <a:t>Бугайченко</a:t>
            </a:r>
          </a:p>
          <a:p>
            <a:pPr marL="0" marR="467995" indent="0">
              <a:lnSpc>
                <a:spcPct val="118000"/>
              </a:lnSpc>
              <a:spcBef>
                <a:spcPts val="190"/>
              </a:spcBef>
              <a:buNone/>
            </a:pPr>
            <a:r>
              <a:rPr sz="1000" b="0" spc="10" dirty="0">
                <a:solidFill>
                  <a:srgbClr val="000000"/>
                </a:solidFill>
                <a:latin typeface="Trebuchet MS"/>
                <a:cs typeface="Trebuchet MS"/>
              </a:rPr>
              <a:t>Управляющий</a:t>
            </a:r>
            <a:r>
              <a:rPr sz="1000" b="0" spc="1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000" b="0" spc="-10" dirty="0">
                <a:solidFill>
                  <a:srgbClr val="000000"/>
                </a:solidFill>
                <a:latin typeface="Trebuchet MS"/>
                <a:cs typeface="Trebuchet MS"/>
              </a:rPr>
              <a:t>директор </a:t>
            </a:r>
            <a:r>
              <a:rPr sz="1000" b="0" spc="-75" dirty="0">
                <a:solidFill>
                  <a:srgbClr val="000000"/>
                </a:solidFill>
                <a:latin typeface="Trebuchet MS"/>
                <a:cs typeface="Trebuchet MS"/>
              </a:rPr>
              <a:t>к.ф.-</a:t>
            </a:r>
            <a:r>
              <a:rPr sz="1000" b="0" spc="-20" dirty="0">
                <a:solidFill>
                  <a:srgbClr val="000000"/>
                </a:solidFill>
                <a:latin typeface="Trebuchet MS"/>
                <a:cs typeface="Trebuchet MS"/>
              </a:rPr>
              <a:t>м.н.</a:t>
            </a:r>
            <a:endParaRPr sz="1000" dirty="0">
              <a:latin typeface="Trebuchet MS"/>
              <a:cs typeface="Trebuchet MS"/>
            </a:endParaRPr>
          </a:p>
          <a:p>
            <a:pPr marL="120650" indent="0">
              <a:lnSpc>
                <a:spcPct val="100000"/>
              </a:lnSpc>
              <a:spcBef>
                <a:spcPts val="905"/>
              </a:spcBef>
              <a:buNone/>
            </a:pPr>
            <a:endParaRPr lang="en-US" sz="1000" dirty="0">
              <a:latin typeface="Trebuchet MS"/>
              <a:cs typeface="Trebuchet MS"/>
            </a:endParaRPr>
          </a:p>
          <a:p>
            <a:pPr marL="120650" indent="0">
              <a:lnSpc>
                <a:spcPct val="100000"/>
              </a:lnSpc>
              <a:spcBef>
                <a:spcPts val="905"/>
              </a:spcBef>
              <a:buNone/>
            </a:pPr>
            <a:endParaRPr lang="en-TR" sz="1000" dirty="0"/>
          </a:p>
          <a:p>
            <a:pPr marL="120650" indent="0">
              <a:lnSpc>
                <a:spcPct val="100000"/>
              </a:lnSpc>
              <a:spcBef>
                <a:spcPts val="905"/>
              </a:spcBef>
              <a:buNone/>
            </a:pPr>
            <a:endParaRPr sz="1000" dirty="0">
              <a:latin typeface="Trebuchet MS"/>
              <a:cs typeface="Trebuchet M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dirty="0"/>
              <a:t>Петр</a:t>
            </a:r>
            <a:r>
              <a:rPr spc="-60" dirty="0"/>
              <a:t> </a:t>
            </a:r>
            <a:r>
              <a:rPr spc="-10" dirty="0"/>
              <a:t>Емельянов</a:t>
            </a:r>
          </a:p>
          <a:p>
            <a:pPr marL="0" indent="0">
              <a:lnSpc>
                <a:spcPct val="100000"/>
              </a:lnSpc>
              <a:spcBef>
                <a:spcPts val="405"/>
              </a:spcBef>
              <a:buNone/>
            </a:pPr>
            <a:r>
              <a:rPr sz="1000" b="0" spc="-25" dirty="0">
                <a:solidFill>
                  <a:srgbClr val="000000"/>
                </a:solidFill>
                <a:latin typeface="Trebuchet MS"/>
                <a:cs typeface="Trebuchet MS"/>
              </a:rPr>
              <a:t>CEO</a:t>
            </a:r>
            <a:endParaRPr sz="10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4099" y="1195199"/>
            <a:ext cx="1005919" cy="3617595"/>
            <a:chOff x="614099" y="1195199"/>
            <a:chExt cx="1005919" cy="3617595"/>
          </a:xfrm>
        </p:grpSpPr>
        <p:sp>
          <p:nvSpPr>
            <p:cNvPr id="5" name="object 5"/>
            <p:cNvSpPr/>
            <p:nvPr/>
          </p:nvSpPr>
          <p:spPr>
            <a:xfrm>
              <a:off x="614099" y="1195199"/>
              <a:ext cx="520700" cy="3617595"/>
            </a:xfrm>
            <a:custGeom>
              <a:avLst/>
              <a:gdLst/>
              <a:ahLst/>
              <a:cxnLst/>
              <a:rect l="l" t="t" r="r" b="b"/>
              <a:pathLst>
                <a:path w="520700" h="3617595">
                  <a:moveTo>
                    <a:pt x="520200" y="0"/>
                  </a:moveTo>
                  <a:lnTo>
                    <a:pt x="0" y="0"/>
                  </a:lnTo>
                  <a:lnTo>
                    <a:pt x="0" y="3617576"/>
                  </a:lnTo>
                  <a:lnTo>
                    <a:pt x="520200" y="3617576"/>
                  </a:lnTo>
                  <a:lnTo>
                    <a:pt x="5202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19" y="1279644"/>
              <a:ext cx="830099" cy="81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919" y="2564394"/>
              <a:ext cx="830099" cy="81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7393" y="3849144"/>
              <a:ext cx="830099" cy="8190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372360" y="1441958"/>
            <a:ext cx="1589405" cy="1731884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500" b="1" dirty="0">
                <a:solidFill>
                  <a:srgbClr val="FF9900"/>
                </a:solidFill>
                <a:latin typeface="Trebuchet MS"/>
                <a:cs typeface="Trebuchet MS"/>
              </a:rPr>
              <a:t>Максим</a:t>
            </a:r>
            <a:r>
              <a:rPr sz="1500" b="1" spc="114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Мигутин</a:t>
            </a:r>
            <a:endParaRPr sz="1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000" spc="-20" dirty="0">
                <a:latin typeface="Trebuchet MS"/>
                <a:cs typeface="Trebuchet MS"/>
              </a:rPr>
              <a:t>DataScientist,</a:t>
            </a:r>
            <a:r>
              <a:rPr sz="1000" spc="1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DataEngineer</a:t>
            </a:r>
            <a:endParaRPr sz="1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lang="en-US" sz="1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lang="en-TR" sz="1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Николай</a:t>
            </a:r>
            <a:r>
              <a:rPr sz="1500" b="1" spc="-4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Осипов</a:t>
            </a:r>
            <a:endParaRPr sz="1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000" spc="90" dirty="0">
                <a:latin typeface="Trebuchet MS"/>
                <a:cs typeface="Trebuchet MS"/>
              </a:rPr>
              <a:t>ML</a:t>
            </a:r>
            <a:r>
              <a:rPr sz="1000" spc="-5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Engineer</a:t>
            </a:r>
            <a:endParaRPr sz="1000" dirty="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66226" y="1160852"/>
            <a:ext cx="940164" cy="3617595"/>
            <a:chOff x="7466226" y="1160852"/>
            <a:chExt cx="940164" cy="3617595"/>
          </a:xfrm>
        </p:grpSpPr>
        <p:sp>
          <p:nvSpPr>
            <p:cNvPr id="12" name="object 12"/>
            <p:cNvSpPr/>
            <p:nvPr/>
          </p:nvSpPr>
          <p:spPr>
            <a:xfrm>
              <a:off x="7885690" y="1160852"/>
              <a:ext cx="520700" cy="3617595"/>
            </a:xfrm>
            <a:custGeom>
              <a:avLst/>
              <a:gdLst/>
              <a:ahLst/>
              <a:cxnLst/>
              <a:rect l="l" t="t" r="r" b="b"/>
              <a:pathLst>
                <a:path w="520700" h="3617595">
                  <a:moveTo>
                    <a:pt x="520200" y="0"/>
                  </a:moveTo>
                  <a:lnTo>
                    <a:pt x="0" y="0"/>
                  </a:lnTo>
                  <a:lnTo>
                    <a:pt x="0" y="3617576"/>
                  </a:lnTo>
                  <a:lnTo>
                    <a:pt x="520200" y="3617576"/>
                  </a:lnTo>
                  <a:lnTo>
                    <a:pt x="5202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66227" y="1245298"/>
              <a:ext cx="830099" cy="8189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66226" y="3849144"/>
              <a:ext cx="830099" cy="819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66227" y="2547220"/>
              <a:ext cx="830099" cy="8190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372360" y="3920731"/>
            <a:ext cx="1729105" cy="675826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Николай</a:t>
            </a:r>
            <a:r>
              <a:rPr sz="1500" b="1" spc="-4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Степанов</a:t>
            </a:r>
            <a:endParaRPr sz="1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spc="90" dirty="0">
                <a:latin typeface="Trebuchet MS"/>
                <a:cs typeface="Trebuchet MS"/>
              </a:rPr>
              <a:t>ML</a:t>
            </a:r>
            <a:r>
              <a:rPr sz="1000" spc="-5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Engineer</a:t>
            </a:r>
            <a:endParaRPr sz="1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150" y="2051811"/>
            <a:ext cx="414909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100" dirty="0">
                <a:solidFill>
                  <a:srgbClr val="FFFFFF"/>
                </a:solidFill>
              </a:rPr>
              <a:t>О</a:t>
            </a:r>
            <a:r>
              <a:rPr sz="4600" spc="-250" dirty="0">
                <a:solidFill>
                  <a:srgbClr val="FFFFFF"/>
                </a:solidFill>
              </a:rPr>
              <a:t> </a:t>
            </a:r>
            <a:r>
              <a:rPr sz="4600" spc="-85" dirty="0">
                <a:solidFill>
                  <a:srgbClr val="FFFFFF"/>
                </a:solidFill>
              </a:rPr>
              <a:t>курсе</a:t>
            </a:r>
            <a:r>
              <a:rPr sz="4600" spc="-250" dirty="0">
                <a:solidFill>
                  <a:srgbClr val="FFFFFF"/>
                </a:solidFill>
              </a:rPr>
              <a:t> </a:t>
            </a:r>
            <a:r>
              <a:rPr sz="4600" spc="125" dirty="0">
                <a:solidFill>
                  <a:srgbClr val="FFFFFF"/>
                </a:solidFill>
              </a:rPr>
              <a:t>MLOps</a:t>
            </a:r>
            <a:endParaRPr sz="4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Карта</a:t>
            </a:r>
            <a:r>
              <a:rPr spc="-170" dirty="0"/>
              <a:t> </a:t>
            </a:r>
            <a:r>
              <a:rPr spc="-10" dirty="0"/>
              <a:t>курса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549" y="769970"/>
            <a:ext cx="8103391" cy="40440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51378" y="911859"/>
            <a:ext cx="10845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1.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Процессы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3384" y="1804923"/>
            <a:ext cx="16262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2.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Инфраструктура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3384" y="2655316"/>
            <a:ext cx="16605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4.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Моделирование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3384" y="2655316"/>
            <a:ext cx="11715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5.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3384" y="3508755"/>
            <a:ext cx="15443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6.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53384" y="3508755"/>
            <a:ext cx="13055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7.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Мониторинг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1378" y="4400296"/>
            <a:ext cx="15176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60" dirty="0">
                <a:latin typeface="Trebuchet MS"/>
                <a:cs typeface="Trebuchet MS"/>
              </a:rPr>
              <a:t>8.</a:t>
            </a:r>
            <a:r>
              <a:rPr sz="1300" spc="-5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Курсовой </a:t>
            </a:r>
            <a:r>
              <a:rPr sz="1300" spc="-10" dirty="0">
                <a:latin typeface="Trebuchet MS"/>
                <a:cs typeface="Trebuchet MS"/>
              </a:rPr>
              <a:t>проект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95016" y="1338072"/>
            <a:ext cx="4761230" cy="1149350"/>
            <a:chOff x="2795016" y="1338072"/>
            <a:chExt cx="4761230" cy="11493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0639" y="1338072"/>
              <a:ext cx="246887" cy="2468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5016" y="2237232"/>
              <a:ext cx="249936" cy="2499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6056" y="2231136"/>
              <a:ext cx="249935" cy="24993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445856" y="13446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20740" y="2246883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53384" y="1804923"/>
            <a:ext cx="2380615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510"/>
              </a:spcBef>
            </a:pPr>
            <a:r>
              <a:rPr sz="1000" i="1" spc="-1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9109" y="878379"/>
            <a:ext cx="6843395" cy="3844290"/>
            <a:chOff x="789109" y="878379"/>
            <a:chExt cx="6843395" cy="384429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06056" y="3090671"/>
              <a:ext cx="249935" cy="24688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6248" y="3090671"/>
              <a:ext cx="249936" cy="24688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46248" y="3944111"/>
              <a:ext cx="249936" cy="2499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5304" y="3944111"/>
              <a:ext cx="246888" cy="24993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65383" y="878379"/>
              <a:ext cx="419929" cy="396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9109" y="1771398"/>
              <a:ext cx="419929" cy="3960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79110" y="1770692"/>
              <a:ext cx="419929" cy="3960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79110" y="2609735"/>
              <a:ext cx="419929" cy="3960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9109" y="2616087"/>
              <a:ext cx="419929" cy="3960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9109" y="3457464"/>
              <a:ext cx="419929" cy="3959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79110" y="3471719"/>
              <a:ext cx="419929" cy="3960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65383" y="4326413"/>
              <a:ext cx="419929" cy="3960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633945" y="30972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72375" y="30972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72375" y="3953764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10740" y="3953764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6712" y="36601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2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2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5344" y="3742435"/>
            <a:ext cx="1906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Взаимодействие</a:t>
            </a:r>
            <a:r>
              <a:rPr sz="1200" spc="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</a:t>
            </a:r>
            <a:r>
              <a:rPr sz="1200" spc="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командой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0845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1.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Процессы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09304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172716"/>
            <a:ext cx="2559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Вводное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занятие,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знакомство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курсом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2615406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2696972"/>
            <a:ext cx="1929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Цели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метрики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ML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проектов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37768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18179"/>
            <a:ext cx="19297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Организация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исходного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кода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18249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263644"/>
            <a:ext cx="3123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–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 Формирование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процессов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команды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02015" y="1683727"/>
            <a:ext cx="5735688" cy="2857791"/>
            <a:chOff x="1802015" y="1683727"/>
            <a:chExt cx="5735688" cy="2857791"/>
          </a:xfrm>
        </p:grpSpPr>
        <p:sp>
          <p:nvSpPr>
            <p:cNvPr id="16" name="object 16"/>
            <p:cNvSpPr/>
            <p:nvPr/>
          </p:nvSpPr>
          <p:spPr>
            <a:xfrm>
              <a:off x="1802015" y="1683727"/>
              <a:ext cx="424815" cy="2734945"/>
            </a:xfrm>
            <a:custGeom>
              <a:avLst/>
              <a:gdLst/>
              <a:ahLst/>
              <a:cxnLst/>
              <a:rect l="l" t="t" r="r" b="b"/>
              <a:pathLst>
                <a:path w="424814" h="2734945">
                  <a:moveTo>
                    <a:pt x="424688" y="607314"/>
                  </a:moveTo>
                  <a:lnTo>
                    <a:pt x="415163" y="602551"/>
                  </a:lnTo>
                  <a:lnTo>
                    <a:pt x="348488" y="569214"/>
                  </a:lnTo>
                  <a:lnTo>
                    <a:pt x="348488" y="602551"/>
                  </a:lnTo>
                  <a:lnTo>
                    <a:pt x="9525" y="602551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609955"/>
                  </a:lnTo>
                  <a:lnTo>
                    <a:pt x="0" y="1132319"/>
                  </a:lnTo>
                  <a:lnTo>
                    <a:pt x="0" y="1654670"/>
                  </a:lnTo>
                  <a:lnTo>
                    <a:pt x="0" y="2699397"/>
                  </a:lnTo>
                  <a:lnTo>
                    <a:pt x="2133" y="2701531"/>
                  </a:lnTo>
                  <a:lnTo>
                    <a:pt x="343611" y="2701531"/>
                  </a:lnTo>
                  <a:lnTo>
                    <a:pt x="343611" y="2734868"/>
                  </a:lnTo>
                  <a:lnTo>
                    <a:pt x="410286" y="2701531"/>
                  </a:lnTo>
                  <a:lnTo>
                    <a:pt x="419811" y="2696768"/>
                  </a:lnTo>
                  <a:lnTo>
                    <a:pt x="410286" y="2692006"/>
                  </a:lnTo>
                  <a:lnTo>
                    <a:pt x="343611" y="2658668"/>
                  </a:lnTo>
                  <a:lnTo>
                    <a:pt x="343611" y="2692006"/>
                  </a:lnTo>
                  <a:lnTo>
                    <a:pt x="9525" y="2692006"/>
                  </a:lnTo>
                  <a:lnTo>
                    <a:pt x="9525" y="1656803"/>
                  </a:lnTo>
                  <a:lnTo>
                    <a:pt x="348488" y="1656803"/>
                  </a:lnTo>
                  <a:lnTo>
                    <a:pt x="348488" y="1690141"/>
                  </a:lnTo>
                  <a:lnTo>
                    <a:pt x="415163" y="1656803"/>
                  </a:lnTo>
                  <a:lnTo>
                    <a:pt x="424688" y="1652041"/>
                  </a:lnTo>
                  <a:lnTo>
                    <a:pt x="415163" y="1647278"/>
                  </a:lnTo>
                  <a:lnTo>
                    <a:pt x="348488" y="1613941"/>
                  </a:lnTo>
                  <a:lnTo>
                    <a:pt x="348488" y="1647278"/>
                  </a:lnTo>
                  <a:lnTo>
                    <a:pt x="9525" y="1647278"/>
                  </a:lnTo>
                  <a:lnTo>
                    <a:pt x="9525" y="1134440"/>
                  </a:lnTo>
                  <a:lnTo>
                    <a:pt x="348488" y="1134440"/>
                  </a:lnTo>
                  <a:lnTo>
                    <a:pt x="348488" y="1167777"/>
                  </a:lnTo>
                  <a:lnTo>
                    <a:pt x="415163" y="1134440"/>
                  </a:lnTo>
                  <a:lnTo>
                    <a:pt x="424688" y="1129677"/>
                  </a:lnTo>
                  <a:lnTo>
                    <a:pt x="415163" y="1124915"/>
                  </a:lnTo>
                  <a:lnTo>
                    <a:pt x="348488" y="1091577"/>
                  </a:lnTo>
                  <a:lnTo>
                    <a:pt x="348488" y="1124915"/>
                  </a:lnTo>
                  <a:lnTo>
                    <a:pt x="9525" y="1124915"/>
                  </a:lnTo>
                  <a:lnTo>
                    <a:pt x="9525" y="612076"/>
                  </a:lnTo>
                  <a:lnTo>
                    <a:pt x="348488" y="612076"/>
                  </a:lnTo>
                  <a:lnTo>
                    <a:pt x="348488" y="645414"/>
                  </a:lnTo>
                  <a:lnTo>
                    <a:pt x="415163" y="612076"/>
                  </a:lnTo>
                  <a:lnTo>
                    <a:pt x="424688" y="6073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8" y="4212335"/>
              <a:ext cx="326135" cy="32918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802020" y="2193324"/>
              <a:ext cx="424815" cy="1703070"/>
            </a:xfrm>
            <a:custGeom>
              <a:avLst/>
              <a:gdLst/>
              <a:ahLst/>
              <a:cxnLst/>
              <a:rect l="l" t="t" r="r" b="b"/>
              <a:pathLst>
                <a:path w="424814" h="1703070">
                  <a:moveTo>
                    <a:pt x="348491" y="1626707"/>
                  </a:moveTo>
                  <a:lnTo>
                    <a:pt x="348491" y="1702907"/>
                  </a:lnTo>
                  <a:lnTo>
                    <a:pt x="415166" y="1669569"/>
                  </a:lnTo>
                  <a:lnTo>
                    <a:pt x="361191" y="1669569"/>
                  </a:lnTo>
                  <a:lnTo>
                    <a:pt x="361191" y="1660044"/>
                  </a:lnTo>
                  <a:lnTo>
                    <a:pt x="415166" y="1660044"/>
                  </a:lnTo>
                  <a:lnTo>
                    <a:pt x="348491" y="1626707"/>
                  </a:lnTo>
                  <a:close/>
                </a:path>
                <a:path w="424814" h="1703070">
                  <a:moveTo>
                    <a:pt x="9525" y="0"/>
                  </a:moveTo>
                  <a:lnTo>
                    <a:pt x="0" y="0"/>
                  </a:lnTo>
                  <a:lnTo>
                    <a:pt x="0" y="1667437"/>
                  </a:lnTo>
                  <a:lnTo>
                    <a:pt x="2132" y="1669569"/>
                  </a:lnTo>
                  <a:lnTo>
                    <a:pt x="348491" y="1669569"/>
                  </a:lnTo>
                  <a:lnTo>
                    <a:pt x="348491" y="1664807"/>
                  </a:lnTo>
                  <a:lnTo>
                    <a:pt x="9525" y="1664807"/>
                  </a:lnTo>
                  <a:lnTo>
                    <a:pt x="4762" y="1660044"/>
                  </a:lnTo>
                  <a:lnTo>
                    <a:pt x="9525" y="1660044"/>
                  </a:lnTo>
                  <a:lnTo>
                    <a:pt x="9525" y="0"/>
                  </a:lnTo>
                  <a:close/>
                </a:path>
                <a:path w="424814" h="1703070">
                  <a:moveTo>
                    <a:pt x="415166" y="1660044"/>
                  </a:moveTo>
                  <a:lnTo>
                    <a:pt x="361191" y="1660044"/>
                  </a:lnTo>
                  <a:lnTo>
                    <a:pt x="361191" y="1669569"/>
                  </a:lnTo>
                  <a:lnTo>
                    <a:pt x="415166" y="1669569"/>
                  </a:lnTo>
                  <a:lnTo>
                    <a:pt x="424691" y="1664807"/>
                  </a:lnTo>
                  <a:lnTo>
                    <a:pt x="415166" y="1660044"/>
                  </a:lnTo>
                  <a:close/>
                </a:path>
                <a:path w="424814" h="1703070">
                  <a:moveTo>
                    <a:pt x="9525" y="1660044"/>
                  </a:moveTo>
                  <a:lnTo>
                    <a:pt x="4762" y="1660044"/>
                  </a:lnTo>
                  <a:lnTo>
                    <a:pt x="9525" y="1664807"/>
                  </a:lnTo>
                  <a:lnTo>
                    <a:pt x="9525" y="1660044"/>
                  </a:lnTo>
                  <a:close/>
                </a:path>
                <a:path w="424814" h="1703070">
                  <a:moveTo>
                    <a:pt x="348491" y="1660044"/>
                  </a:moveTo>
                  <a:lnTo>
                    <a:pt x="9525" y="1660044"/>
                  </a:lnTo>
                  <a:lnTo>
                    <a:pt x="9525" y="1664807"/>
                  </a:lnTo>
                  <a:lnTo>
                    <a:pt x="348491" y="1664807"/>
                  </a:lnTo>
                  <a:lnTo>
                    <a:pt x="348491" y="1660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02020" y="2193324"/>
              <a:ext cx="424815" cy="1703070"/>
            </a:xfrm>
            <a:custGeom>
              <a:avLst/>
              <a:gdLst/>
              <a:ahLst/>
              <a:cxnLst/>
              <a:rect l="l" t="t" r="r" b="b"/>
              <a:pathLst>
                <a:path w="424814" h="1703070">
                  <a:moveTo>
                    <a:pt x="348491" y="1626707"/>
                  </a:moveTo>
                  <a:lnTo>
                    <a:pt x="348491" y="1702907"/>
                  </a:lnTo>
                  <a:lnTo>
                    <a:pt x="415166" y="1669569"/>
                  </a:lnTo>
                  <a:lnTo>
                    <a:pt x="361191" y="1669569"/>
                  </a:lnTo>
                  <a:lnTo>
                    <a:pt x="361191" y="1660044"/>
                  </a:lnTo>
                  <a:lnTo>
                    <a:pt x="415166" y="1660044"/>
                  </a:lnTo>
                  <a:lnTo>
                    <a:pt x="348491" y="1626707"/>
                  </a:lnTo>
                  <a:close/>
                </a:path>
                <a:path w="424814" h="1703070">
                  <a:moveTo>
                    <a:pt x="9525" y="0"/>
                  </a:moveTo>
                  <a:lnTo>
                    <a:pt x="0" y="0"/>
                  </a:lnTo>
                  <a:lnTo>
                    <a:pt x="0" y="1667437"/>
                  </a:lnTo>
                  <a:lnTo>
                    <a:pt x="2132" y="1669569"/>
                  </a:lnTo>
                  <a:lnTo>
                    <a:pt x="348491" y="1669569"/>
                  </a:lnTo>
                  <a:lnTo>
                    <a:pt x="348491" y="1664807"/>
                  </a:lnTo>
                  <a:lnTo>
                    <a:pt x="9525" y="1664807"/>
                  </a:lnTo>
                  <a:lnTo>
                    <a:pt x="4762" y="1660044"/>
                  </a:lnTo>
                  <a:lnTo>
                    <a:pt x="9525" y="1660044"/>
                  </a:lnTo>
                  <a:lnTo>
                    <a:pt x="9525" y="0"/>
                  </a:lnTo>
                  <a:close/>
                </a:path>
                <a:path w="424814" h="1703070">
                  <a:moveTo>
                    <a:pt x="415166" y="1660044"/>
                  </a:moveTo>
                  <a:lnTo>
                    <a:pt x="361191" y="1660044"/>
                  </a:lnTo>
                  <a:lnTo>
                    <a:pt x="361191" y="1669569"/>
                  </a:lnTo>
                  <a:lnTo>
                    <a:pt x="415166" y="1669569"/>
                  </a:lnTo>
                  <a:lnTo>
                    <a:pt x="424691" y="1664807"/>
                  </a:lnTo>
                  <a:lnTo>
                    <a:pt x="415166" y="1660044"/>
                  </a:lnTo>
                  <a:close/>
                </a:path>
                <a:path w="424814" h="1703070">
                  <a:moveTo>
                    <a:pt x="9525" y="1660044"/>
                  </a:moveTo>
                  <a:lnTo>
                    <a:pt x="4762" y="1660044"/>
                  </a:lnTo>
                  <a:lnTo>
                    <a:pt x="9525" y="1664807"/>
                  </a:lnTo>
                  <a:lnTo>
                    <a:pt x="9525" y="1660044"/>
                  </a:lnTo>
                  <a:close/>
                </a:path>
                <a:path w="424814" h="1703070">
                  <a:moveTo>
                    <a:pt x="348491" y="1660044"/>
                  </a:moveTo>
                  <a:lnTo>
                    <a:pt x="9525" y="1660044"/>
                  </a:lnTo>
                  <a:lnTo>
                    <a:pt x="9525" y="1664807"/>
                  </a:lnTo>
                  <a:lnTo>
                    <a:pt x="348491" y="1664807"/>
                  </a:lnTo>
                  <a:lnTo>
                    <a:pt x="348491" y="1660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 rot="20760000">
            <a:off x="7618361" y="4213134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618" y="1200956"/>
            <a:ext cx="419929" cy="396000"/>
          </a:xfrm>
          <a:prstGeom prst="rect">
            <a:avLst/>
          </a:prstGeom>
        </p:spPr>
      </p:pic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D94F9B6C-4E82-AD4D-ABCA-E32263210714}"/>
              </a:ext>
            </a:extLst>
          </p:cNvPr>
          <p:cNvCxnSpPr>
            <a:cxnSpLocks/>
            <a:stCxn id="54" idx="2"/>
            <a:endCxn id="59" idx="1"/>
          </p:cNvCxnSpPr>
          <p:nvPr/>
        </p:nvCxnSpPr>
        <p:spPr>
          <a:xfrm rot="16200000" flipH="1">
            <a:off x="1883525" y="1483764"/>
            <a:ext cx="306124" cy="37048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84431C1-2EC4-2F40-BD3E-A484A06A8F92}"/>
              </a:ext>
            </a:extLst>
          </p:cNvPr>
          <p:cNvGrpSpPr/>
          <p:nvPr/>
        </p:nvGrpSpPr>
        <p:grpSpPr>
          <a:xfrm>
            <a:off x="544833" y="936189"/>
            <a:ext cx="2613025" cy="579755"/>
            <a:chOff x="999635" y="945648"/>
            <a:chExt cx="2613025" cy="579755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BD44F157-FDCE-0E4D-BA44-ACC9B7647922}"/>
                </a:ext>
              </a:extLst>
            </p:cNvPr>
            <p:cNvSpPr/>
            <p:nvPr/>
          </p:nvSpPr>
          <p:spPr>
            <a:xfrm>
              <a:off x="999635" y="945648"/>
              <a:ext cx="2613025" cy="579755"/>
            </a:xfrm>
            <a:prstGeom prst="roundRect">
              <a:avLst/>
            </a:prstGeom>
            <a:solidFill>
              <a:srgbClr val="FFD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27063" algn="l"/>
              <a:r>
                <a:rPr lang="ru-RU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 Инфраструктура</a:t>
              </a:r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6" name="object 43">
              <a:extLst>
                <a:ext uri="{FF2B5EF4-FFF2-40B4-BE49-F238E27FC236}">
                  <a16:creationId xmlns:a16="http://schemas.microsoft.com/office/drawing/2014/main" id="{60D18522-D1F6-D840-9527-07A93E268AC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1032988"/>
              <a:ext cx="419929" cy="396000"/>
            </a:xfrm>
            <a:prstGeom prst="rect">
              <a:avLst/>
            </a:prstGeom>
          </p:spPr>
        </p:pic>
      </p:grp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A2EACC4-8269-4A4E-92EF-588D27D491F7}"/>
              </a:ext>
            </a:extLst>
          </p:cNvPr>
          <p:cNvSpPr/>
          <p:nvPr/>
        </p:nvSpPr>
        <p:spPr>
          <a:xfrm>
            <a:off x="2221829" y="1623948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Базовые блоки инфраструктуры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E0B193A2-1ED0-6741-9942-19D5B6A731E9}"/>
              </a:ext>
            </a:extLst>
          </p:cNvPr>
          <p:cNvSpPr/>
          <p:nvPr/>
        </p:nvSpPr>
        <p:spPr>
          <a:xfrm>
            <a:off x="2221828" y="2095116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100" dirty="0">
                <a:solidFill>
                  <a:schemeClr val="tx1"/>
                </a:solidFill>
              </a:rPr>
              <a:t>Облачные провайдеры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12CAD91D-B3AA-164E-855C-0C229080DDAA}"/>
              </a:ext>
            </a:extLst>
          </p:cNvPr>
          <p:cNvSpPr/>
          <p:nvPr/>
        </p:nvSpPr>
        <p:spPr>
          <a:xfrm>
            <a:off x="2221828" y="2566284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100" dirty="0">
                <a:solidFill>
                  <a:schemeClr val="tx1"/>
                </a:solidFill>
              </a:rPr>
              <a:t>Собственная инфраструктура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CB7006EA-78C4-AB4C-902A-1954E5716BEE}"/>
              </a:ext>
            </a:extLst>
          </p:cNvPr>
          <p:cNvSpPr/>
          <p:nvPr/>
        </p:nvSpPr>
        <p:spPr>
          <a:xfrm>
            <a:off x="2221827" y="3037452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100" dirty="0">
                <a:solidFill>
                  <a:schemeClr val="tx1"/>
                </a:solidFill>
              </a:rPr>
              <a:t>Изменения кода </a:t>
            </a:r>
            <a:r>
              <a:rPr lang="en-US" sz="1100" dirty="0">
                <a:solidFill>
                  <a:schemeClr val="tx1"/>
                </a:solidFill>
              </a:rPr>
              <a:t>CI/CD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15B7345-A012-D148-9A98-5A738897261C}"/>
              </a:ext>
            </a:extLst>
          </p:cNvPr>
          <p:cNvSpPr/>
          <p:nvPr/>
        </p:nvSpPr>
        <p:spPr>
          <a:xfrm>
            <a:off x="2234710" y="3508620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100" dirty="0" err="1">
                <a:solidFill>
                  <a:schemeClr val="tx1"/>
                </a:solidFill>
              </a:rPr>
              <a:t>Биллинг</a:t>
            </a:r>
            <a:r>
              <a:rPr lang="ru-RU" sz="1100" dirty="0">
                <a:solidFill>
                  <a:schemeClr val="tx1"/>
                </a:solidFill>
              </a:rPr>
              <a:t> и </a:t>
            </a:r>
            <a:r>
              <a:rPr lang="en-US" sz="1100" dirty="0">
                <a:solidFill>
                  <a:schemeClr val="tx1"/>
                </a:solidFill>
              </a:rPr>
              <a:t>Identity and Access Management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8BAA0C98-5166-B54C-87C2-B882CC581C2F}"/>
              </a:ext>
            </a:extLst>
          </p:cNvPr>
          <p:cNvSpPr/>
          <p:nvPr/>
        </p:nvSpPr>
        <p:spPr>
          <a:xfrm>
            <a:off x="2234710" y="4450958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100" dirty="0">
                <a:solidFill>
                  <a:schemeClr val="tx1"/>
                </a:solidFill>
              </a:rPr>
              <a:t>Практика. Настройка облачной инфраструктуры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01588D1-1EF0-9042-92DF-47D17642781B}"/>
              </a:ext>
            </a:extLst>
          </p:cNvPr>
          <p:cNvSpPr/>
          <p:nvPr/>
        </p:nvSpPr>
        <p:spPr>
          <a:xfrm>
            <a:off x="2234710" y="3979788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100" dirty="0">
                <a:solidFill>
                  <a:schemeClr val="tx1"/>
                </a:solidFill>
              </a:rPr>
              <a:t>Terraform. </a:t>
            </a:r>
            <a:r>
              <a:rPr lang="ru-RU" sz="1100" dirty="0">
                <a:solidFill>
                  <a:schemeClr val="tx1"/>
                </a:solidFill>
              </a:rPr>
              <a:t>Создание инфраструктуры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37ECA220-C612-2F40-B836-244F5DF5B5F1}"/>
              </a:ext>
            </a:extLst>
          </p:cNvPr>
          <p:cNvCxnSpPr>
            <a:cxnSpLocks/>
            <a:stCxn id="54" idx="2"/>
            <a:endCxn id="61" idx="1"/>
          </p:cNvCxnSpPr>
          <p:nvPr/>
        </p:nvCxnSpPr>
        <p:spPr>
          <a:xfrm rot="16200000" flipH="1">
            <a:off x="1647941" y="1719349"/>
            <a:ext cx="777292" cy="37048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3A989974-C113-EC40-878D-3328202C0B91}"/>
              </a:ext>
            </a:extLst>
          </p:cNvPr>
          <p:cNvCxnSpPr>
            <a:cxnSpLocks/>
            <a:stCxn id="54" idx="2"/>
            <a:endCxn id="62" idx="1"/>
          </p:cNvCxnSpPr>
          <p:nvPr/>
        </p:nvCxnSpPr>
        <p:spPr>
          <a:xfrm rot="16200000" flipH="1">
            <a:off x="1412357" y="1954933"/>
            <a:ext cx="1248460" cy="37048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43EEBA0A-A597-5149-B40C-161641FE8B80}"/>
              </a:ext>
            </a:extLst>
          </p:cNvPr>
          <p:cNvCxnSpPr>
            <a:cxnSpLocks/>
            <a:stCxn id="54" idx="2"/>
            <a:endCxn id="63" idx="1"/>
          </p:cNvCxnSpPr>
          <p:nvPr/>
        </p:nvCxnSpPr>
        <p:spPr>
          <a:xfrm rot="16200000" flipH="1">
            <a:off x="1176772" y="2190517"/>
            <a:ext cx="1719628" cy="3704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B364A592-A8B7-FA46-AF49-1E9094959999}"/>
              </a:ext>
            </a:extLst>
          </p:cNvPr>
          <p:cNvCxnSpPr>
            <a:cxnSpLocks/>
            <a:stCxn id="54" idx="2"/>
            <a:endCxn id="64" idx="1"/>
          </p:cNvCxnSpPr>
          <p:nvPr/>
        </p:nvCxnSpPr>
        <p:spPr>
          <a:xfrm rot="16200000" flipH="1">
            <a:off x="947630" y="2419660"/>
            <a:ext cx="2190796" cy="3833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E7654BFA-4207-9843-AD56-DCA7709A0827}"/>
              </a:ext>
            </a:extLst>
          </p:cNvPr>
          <p:cNvCxnSpPr>
            <a:cxnSpLocks/>
            <a:stCxn id="54" idx="2"/>
            <a:endCxn id="66" idx="1"/>
          </p:cNvCxnSpPr>
          <p:nvPr/>
        </p:nvCxnSpPr>
        <p:spPr>
          <a:xfrm rot="16200000" flipH="1">
            <a:off x="712046" y="2655244"/>
            <a:ext cx="2661964" cy="3833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4C105C8-F4A6-C445-AD2A-38C0D6417B0A}"/>
              </a:ext>
            </a:extLst>
          </p:cNvPr>
          <p:cNvCxnSpPr>
            <a:cxnSpLocks/>
            <a:stCxn id="54" idx="2"/>
            <a:endCxn id="65" idx="1"/>
          </p:cNvCxnSpPr>
          <p:nvPr/>
        </p:nvCxnSpPr>
        <p:spPr>
          <a:xfrm rot="16200000" flipH="1">
            <a:off x="476461" y="2890829"/>
            <a:ext cx="3133134" cy="3833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51917" y="4486010"/>
            <a:ext cx="326135" cy="326136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 rot="20760000">
            <a:off x="7658711" y="4497876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3540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434588"/>
            <a:ext cx="1262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733675" cy="579755"/>
          </a:xfrm>
          <a:custGeom>
            <a:avLst/>
            <a:gdLst/>
            <a:ahLst/>
            <a:cxnLst/>
            <a:rect l="l" t="t" r="r" b="b"/>
            <a:pathLst>
              <a:path w="2733675" h="579755">
                <a:moveTo>
                  <a:pt x="2636935" y="0"/>
                </a:moveTo>
                <a:lnTo>
                  <a:pt x="96550" y="0"/>
                </a:lnTo>
                <a:lnTo>
                  <a:pt x="58968" y="7587"/>
                </a:lnTo>
                <a:lnTo>
                  <a:pt x="28279" y="28279"/>
                </a:lnTo>
                <a:lnTo>
                  <a:pt x="7587" y="58969"/>
                </a:lnTo>
                <a:lnTo>
                  <a:pt x="0" y="96551"/>
                </a:lnTo>
                <a:lnTo>
                  <a:pt x="0" y="482749"/>
                </a:lnTo>
                <a:lnTo>
                  <a:pt x="7587" y="520331"/>
                </a:lnTo>
                <a:lnTo>
                  <a:pt x="28279" y="551021"/>
                </a:lnTo>
                <a:lnTo>
                  <a:pt x="58968" y="571712"/>
                </a:lnTo>
                <a:lnTo>
                  <a:pt x="96550" y="579300"/>
                </a:lnTo>
                <a:lnTo>
                  <a:pt x="2636935" y="579300"/>
                </a:lnTo>
                <a:lnTo>
                  <a:pt x="2674517" y="571712"/>
                </a:lnTo>
                <a:lnTo>
                  <a:pt x="2705207" y="551021"/>
                </a:lnTo>
                <a:lnTo>
                  <a:pt x="2725899" y="520331"/>
                </a:lnTo>
                <a:lnTo>
                  <a:pt x="2733487" y="482749"/>
                </a:lnTo>
                <a:lnTo>
                  <a:pt x="2733487" y="96551"/>
                </a:lnTo>
                <a:lnTo>
                  <a:pt x="2725899" y="58969"/>
                </a:lnTo>
                <a:lnTo>
                  <a:pt x="2705207" y="28279"/>
                </a:lnTo>
                <a:lnTo>
                  <a:pt x="2674517" y="7587"/>
                </a:lnTo>
                <a:lnTo>
                  <a:pt x="263693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92023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2715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Выбор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хранилища.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HDFS/S3/DataBase/etc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3956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1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477516"/>
            <a:ext cx="1957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Сбор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на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потоке.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Kafka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28748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2956051"/>
            <a:ext cx="2437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Сбор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расписанию.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AirFlow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38332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3913123"/>
            <a:ext cx="2108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Обнаружение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сдвигов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62531" y="1683727"/>
            <a:ext cx="364490" cy="2385695"/>
          </a:xfrm>
          <a:custGeom>
            <a:avLst/>
            <a:gdLst/>
            <a:ahLst/>
            <a:cxnLst/>
            <a:rect l="l" t="t" r="r" b="b"/>
            <a:pathLst>
              <a:path w="364489" h="2385695">
                <a:moveTo>
                  <a:pt x="364172" y="1389113"/>
                </a:moveTo>
                <a:lnTo>
                  <a:pt x="354647" y="1384350"/>
                </a:lnTo>
                <a:lnTo>
                  <a:pt x="287972" y="1351013"/>
                </a:lnTo>
                <a:lnTo>
                  <a:pt x="287972" y="1384350"/>
                </a:lnTo>
                <a:lnTo>
                  <a:pt x="9525" y="1384350"/>
                </a:lnTo>
                <a:lnTo>
                  <a:pt x="9525" y="914666"/>
                </a:lnTo>
                <a:lnTo>
                  <a:pt x="283095" y="914666"/>
                </a:lnTo>
                <a:lnTo>
                  <a:pt x="283095" y="948004"/>
                </a:lnTo>
                <a:lnTo>
                  <a:pt x="349770" y="914666"/>
                </a:lnTo>
                <a:lnTo>
                  <a:pt x="359295" y="909904"/>
                </a:lnTo>
                <a:lnTo>
                  <a:pt x="349770" y="905141"/>
                </a:lnTo>
                <a:lnTo>
                  <a:pt x="283095" y="871804"/>
                </a:lnTo>
                <a:lnTo>
                  <a:pt x="283095" y="905141"/>
                </a:lnTo>
                <a:lnTo>
                  <a:pt x="9525" y="905141"/>
                </a:lnTo>
                <a:lnTo>
                  <a:pt x="9525" y="435470"/>
                </a:lnTo>
                <a:lnTo>
                  <a:pt x="283095" y="435470"/>
                </a:lnTo>
                <a:lnTo>
                  <a:pt x="283095" y="468807"/>
                </a:lnTo>
                <a:lnTo>
                  <a:pt x="349770" y="435470"/>
                </a:lnTo>
                <a:lnTo>
                  <a:pt x="359295" y="430707"/>
                </a:lnTo>
                <a:lnTo>
                  <a:pt x="349770" y="425945"/>
                </a:lnTo>
                <a:lnTo>
                  <a:pt x="283095" y="392607"/>
                </a:lnTo>
                <a:lnTo>
                  <a:pt x="283095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350135"/>
                </a:lnTo>
                <a:lnTo>
                  <a:pt x="2120" y="2352268"/>
                </a:lnTo>
                <a:lnTo>
                  <a:pt x="283095" y="2352268"/>
                </a:lnTo>
                <a:lnTo>
                  <a:pt x="283095" y="2385606"/>
                </a:lnTo>
                <a:lnTo>
                  <a:pt x="349770" y="2352268"/>
                </a:lnTo>
                <a:lnTo>
                  <a:pt x="359295" y="2347506"/>
                </a:lnTo>
                <a:lnTo>
                  <a:pt x="349770" y="2342743"/>
                </a:lnTo>
                <a:lnTo>
                  <a:pt x="283095" y="2309406"/>
                </a:lnTo>
                <a:lnTo>
                  <a:pt x="283095" y="2342743"/>
                </a:lnTo>
                <a:lnTo>
                  <a:pt x="9525" y="2342743"/>
                </a:lnTo>
                <a:lnTo>
                  <a:pt x="9525" y="1873072"/>
                </a:lnTo>
                <a:lnTo>
                  <a:pt x="283095" y="1873072"/>
                </a:lnTo>
                <a:lnTo>
                  <a:pt x="283095" y="1906409"/>
                </a:lnTo>
                <a:lnTo>
                  <a:pt x="349770" y="1873072"/>
                </a:lnTo>
                <a:lnTo>
                  <a:pt x="359295" y="1868309"/>
                </a:lnTo>
                <a:lnTo>
                  <a:pt x="349770" y="1863547"/>
                </a:lnTo>
                <a:lnTo>
                  <a:pt x="283095" y="1830209"/>
                </a:lnTo>
                <a:lnTo>
                  <a:pt x="283095" y="1863547"/>
                </a:lnTo>
                <a:lnTo>
                  <a:pt x="9525" y="1863547"/>
                </a:lnTo>
                <a:lnTo>
                  <a:pt x="9525" y="1393875"/>
                </a:lnTo>
                <a:lnTo>
                  <a:pt x="287972" y="1393875"/>
                </a:lnTo>
                <a:lnTo>
                  <a:pt x="287972" y="1427213"/>
                </a:lnTo>
                <a:lnTo>
                  <a:pt x="354647" y="1393875"/>
                </a:lnTo>
                <a:lnTo>
                  <a:pt x="364172" y="1389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62532" y="1683718"/>
            <a:ext cx="359410" cy="2865120"/>
          </a:xfrm>
          <a:custGeom>
            <a:avLst/>
            <a:gdLst/>
            <a:ahLst/>
            <a:cxnLst/>
            <a:rect l="l" t="t" r="r" b="b"/>
            <a:pathLst>
              <a:path w="359410" h="2865120">
                <a:moveTo>
                  <a:pt x="283098" y="2788614"/>
                </a:moveTo>
                <a:lnTo>
                  <a:pt x="283098" y="2864814"/>
                </a:lnTo>
                <a:lnTo>
                  <a:pt x="349773" y="2831476"/>
                </a:lnTo>
                <a:lnTo>
                  <a:pt x="295798" y="2831476"/>
                </a:lnTo>
                <a:lnTo>
                  <a:pt x="295798" y="2821951"/>
                </a:lnTo>
                <a:lnTo>
                  <a:pt x="349773" y="2821951"/>
                </a:lnTo>
                <a:lnTo>
                  <a:pt x="283098" y="2788614"/>
                </a:lnTo>
                <a:close/>
              </a:path>
              <a:path w="359410" h="2865120">
                <a:moveTo>
                  <a:pt x="9525" y="0"/>
                </a:moveTo>
                <a:lnTo>
                  <a:pt x="0" y="0"/>
                </a:lnTo>
                <a:lnTo>
                  <a:pt x="0" y="2829344"/>
                </a:lnTo>
                <a:lnTo>
                  <a:pt x="2132" y="2831476"/>
                </a:lnTo>
                <a:lnTo>
                  <a:pt x="283098" y="2831476"/>
                </a:lnTo>
                <a:lnTo>
                  <a:pt x="283098" y="2826714"/>
                </a:lnTo>
                <a:lnTo>
                  <a:pt x="9525" y="2826714"/>
                </a:lnTo>
                <a:lnTo>
                  <a:pt x="4762" y="2821951"/>
                </a:lnTo>
                <a:lnTo>
                  <a:pt x="9525" y="2821951"/>
                </a:lnTo>
                <a:lnTo>
                  <a:pt x="9525" y="0"/>
                </a:lnTo>
                <a:close/>
              </a:path>
              <a:path w="359410" h="2865120">
                <a:moveTo>
                  <a:pt x="349773" y="2821951"/>
                </a:moveTo>
                <a:lnTo>
                  <a:pt x="295798" y="2821951"/>
                </a:lnTo>
                <a:lnTo>
                  <a:pt x="295798" y="2831476"/>
                </a:lnTo>
                <a:lnTo>
                  <a:pt x="349773" y="2831476"/>
                </a:lnTo>
                <a:lnTo>
                  <a:pt x="359298" y="2826714"/>
                </a:lnTo>
                <a:lnTo>
                  <a:pt x="349773" y="2821951"/>
                </a:lnTo>
                <a:close/>
              </a:path>
              <a:path w="359410" h="2865120">
                <a:moveTo>
                  <a:pt x="9525" y="2821951"/>
                </a:moveTo>
                <a:lnTo>
                  <a:pt x="4762" y="2821951"/>
                </a:lnTo>
                <a:lnTo>
                  <a:pt x="9525" y="2826714"/>
                </a:lnTo>
                <a:lnTo>
                  <a:pt x="9525" y="2821951"/>
                </a:lnTo>
                <a:close/>
              </a:path>
              <a:path w="359410" h="2865120">
                <a:moveTo>
                  <a:pt x="283098" y="2821951"/>
                </a:moveTo>
                <a:lnTo>
                  <a:pt x="9525" y="2821951"/>
                </a:lnTo>
                <a:lnTo>
                  <a:pt x="9525" y="2826714"/>
                </a:lnTo>
                <a:lnTo>
                  <a:pt x="283098" y="2826714"/>
                </a:lnTo>
                <a:lnTo>
                  <a:pt x="283098" y="28219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1829" y="4312433"/>
            <a:ext cx="5355965" cy="3959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454" y="1225104"/>
            <a:ext cx="419929" cy="396000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4572000" y="4597807"/>
            <a:ext cx="485140" cy="430530"/>
          </a:xfrm>
          <a:custGeom>
            <a:avLst/>
            <a:gdLst/>
            <a:ahLst/>
            <a:cxnLst/>
            <a:rect l="l" t="t" r="r" b="b"/>
            <a:pathLst>
              <a:path w="485139" h="430529">
                <a:moveTo>
                  <a:pt x="363474" y="0"/>
                </a:moveTo>
                <a:lnTo>
                  <a:pt x="242315" y="107484"/>
                </a:lnTo>
                <a:lnTo>
                  <a:pt x="121158" y="0"/>
                </a:lnTo>
                <a:lnTo>
                  <a:pt x="121158" y="214969"/>
                </a:lnTo>
                <a:lnTo>
                  <a:pt x="0" y="214969"/>
                </a:lnTo>
                <a:lnTo>
                  <a:pt x="242315" y="429938"/>
                </a:lnTo>
                <a:lnTo>
                  <a:pt x="484632" y="214969"/>
                </a:lnTo>
                <a:lnTo>
                  <a:pt x="363474" y="214969"/>
                </a:lnTo>
                <a:lnTo>
                  <a:pt x="36347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72000" y="4597807"/>
            <a:ext cx="485140" cy="430530"/>
          </a:xfrm>
          <a:custGeom>
            <a:avLst/>
            <a:gdLst/>
            <a:ahLst/>
            <a:cxnLst/>
            <a:rect l="l" t="t" r="r" b="b"/>
            <a:pathLst>
              <a:path w="485139" h="430529">
                <a:moveTo>
                  <a:pt x="363474" y="0"/>
                </a:moveTo>
                <a:lnTo>
                  <a:pt x="363474" y="214969"/>
                </a:lnTo>
                <a:lnTo>
                  <a:pt x="484632" y="214969"/>
                </a:lnTo>
                <a:lnTo>
                  <a:pt x="242316" y="429938"/>
                </a:lnTo>
                <a:lnTo>
                  <a:pt x="0" y="214969"/>
                </a:lnTo>
                <a:lnTo>
                  <a:pt x="121158" y="214969"/>
                </a:lnTo>
                <a:lnTo>
                  <a:pt x="121158" y="0"/>
                </a:lnTo>
                <a:lnTo>
                  <a:pt x="242316" y="107484"/>
                </a:lnTo>
                <a:lnTo>
                  <a:pt x="363474" y="0"/>
                </a:lnTo>
                <a:close/>
              </a:path>
            </a:pathLst>
          </a:custGeom>
          <a:ln w="254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8756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955796"/>
            <a:ext cx="2315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Использование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Feature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Store: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Feast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733675" cy="579755"/>
          </a:xfrm>
          <a:custGeom>
            <a:avLst/>
            <a:gdLst/>
            <a:ahLst/>
            <a:cxnLst/>
            <a:rect l="l" t="t" r="r" b="b"/>
            <a:pathLst>
              <a:path w="2733675" h="579755">
                <a:moveTo>
                  <a:pt x="2636935" y="0"/>
                </a:moveTo>
                <a:lnTo>
                  <a:pt x="96550" y="0"/>
                </a:lnTo>
                <a:lnTo>
                  <a:pt x="58968" y="7587"/>
                </a:lnTo>
                <a:lnTo>
                  <a:pt x="28279" y="28279"/>
                </a:lnTo>
                <a:lnTo>
                  <a:pt x="7587" y="58969"/>
                </a:lnTo>
                <a:lnTo>
                  <a:pt x="0" y="96551"/>
                </a:lnTo>
                <a:lnTo>
                  <a:pt x="0" y="482749"/>
                </a:lnTo>
                <a:lnTo>
                  <a:pt x="7587" y="520331"/>
                </a:lnTo>
                <a:lnTo>
                  <a:pt x="28279" y="551021"/>
                </a:lnTo>
                <a:lnTo>
                  <a:pt x="58968" y="571712"/>
                </a:lnTo>
                <a:lnTo>
                  <a:pt x="96550" y="579300"/>
                </a:lnTo>
                <a:lnTo>
                  <a:pt x="2636935" y="579300"/>
                </a:lnTo>
                <a:lnTo>
                  <a:pt x="2674517" y="571712"/>
                </a:lnTo>
                <a:lnTo>
                  <a:pt x="2705207" y="551021"/>
                </a:lnTo>
                <a:lnTo>
                  <a:pt x="2725899" y="520331"/>
                </a:lnTo>
                <a:lnTo>
                  <a:pt x="2733487" y="482749"/>
                </a:lnTo>
                <a:lnTo>
                  <a:pt x="2733487" y="96551"/>
                </a:lnTo>
                <a:lnTo>
                  <a:pt x="2725899" y="58969"/>
                </a:lnTo>
                <a:lnTo>
                  <a:pt x="2705207" y="28279"/>
                </a:lnTo>
                <a:lnTo>
                  <a:pt x="2674517" y="7587"/>
                </a:lnTo>
                <a:lnTo>
                  <a:pt x="263693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92023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24380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2520188"/>
            <a:ext cx="2251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обогащение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9172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998723"/>
            <a:ext cx="152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Извлечение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признаков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3964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477259"/>
            <a:ext cx="20593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Версионирование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данных.</a:t>
            </a:r>
            <a:r>
              <a:rPr sz="1200" spc="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DVC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54870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6000"/>
                </a:lnTo>
                <a:lnTo>
                  <a:pt x="5289964" y="396000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37379"/>
            <a:ext cx="2639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Конвейер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подготовки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62531" y="1683727"/>
            <a:ext cx="364490" cy="2907665"/>
          </a:xfrm>
          <a:custGeom>
            <a:avLst/>
            <a:gdLst/>
            <a:ahLst/>
            <a:cxnLst/>
            <a:rect l="l" t="t" r="r" b="b"/>
            <a:pathLst>
              <a:path w="364489" h="2907665">
                <a:moveTo>
                  <a:pt x="364172" y="1910753"/>
                </a:moveTo>
                <a:lnTo>
                  <a:pt x="354647" y="1905990"/>
                </a:lnTo>
                <a:lnTo>
                  <a:pt x="287972" y="1872653"/>
                </a:lnTo>
                <a:lnTo>
                  <a:pt x="287972" y="1905990"/>
                </a:lnTo>
                <a:lnTo>
                  <a:pt x="9525" y="1905990"/>
                </a:lnTo>
                <a:lnTo>
                  <a:pt x="9525" y="1436306"/>
                </a:lnTo>
                <a:lnTo>
                  <a:pt x="283095" y="1436306"/>
                </a:lnTo>
                <a:lnTo>
                  <a:pt x="283095" y="1469644"/>
                </a:lnTo>
                <a:lnTo>
                  <a:pt x="349770" y="1436306"/>
                </a:lnTo>
                <a:lnTo>
                  <a:pt x="359295" y="1431544"/>
                </a:lnTo>
                <a:lnTo>
                  <a:pt x="349770" y="1426781"/>
                </a:lnTo>
                <a:lnTo>
                  <a:pt x="283095" y="1393444"/>
                </a:lnTo>
                <a:lnTo>
                  <a:pt x="283095" y="1426781"/>
                </a:lnTo>
                <a:lnTo>
                  <a:pt x="9525" y="1426781"/>
                </a:lnTo>
                <a:lnTo>
                  <a:pt x="9525" y="957110"/>
                </a:lnTo>
                <a:lnTo>
                  <a:pt x="283095" y="957110"/>
                </a:lnTo>
                <a:lnTo>
                  <a:pt x="283095" y="990447"/>
                </a:lnTo>
                <a:lnTo>
                  <a:pt x="349770" y="957110"/>
                </a:lnTo>
                <a:lnTo>
                  <a:pt x="359295" y="952347"/>
                </a:lnTo>
                <a:lnTo>
                  <a:pt x="349770" y="947585"/>
                </a:lnTo>
                <a:lnTo>
                  <a:pt x="283095" y="914247"/>
                </a:lnTo>
                <a:lnTo>
                  <a:pt x="283095" y="947585"/>
                </a:lnTo>
                <a:lnTo>
                  <a:pt x="9525" y="947585"/>
                </a:lnTo>
                <a:lnTo>
                  <a:pt x="9525" y="0"/>
                </a:lnTo>
                <a:lnTo>
                  <a:pt x="0" y="0"/>
                </a:lnTo>
                <a:lnTo>
                  <a:pt x="0" y="2871774"/>
                </a:lnTo>
                <a:lnTo>
                  <a:pt x="2120" y="2873908"/>
                </a:lnTo>
                <a:lnTo>
                  <a:pt x="283095" y="2873908"/>
                </a:lnTo>
                <a:lnTo>
                  <a:pt x="283095" y="2907246"/>
                </a:lnTo>
                <a:lnTo>
                  <a:pt x="349770" y="2873908"/>
                </a:lnTo>
                <a:lnTo>
                  <a:pt x="359295" y="2869146"/>
                </a:lnTo>
                <a:lnTo>
                  <a:pt x="349770" y="2864383"/>
                </a:lnTo>
                <a:lnTo>
                  <a:pt x="283095" y="2831046"/>
                </a:lnTo>
                <a:lnTo>
                  <a:pt x="283095" y="2864383"/>
                </a:lnTo>
                <a:lnTo>
                  <a:pt x="9525" y="2864383"/>
                </a:lnTo>
                <a:lnTo>
                  <a:pt x="9525" y="2394712"/>
                </a:lnTo>
                <a:lnTo>
                  <a:pt x="283095" y="2394712"/>
                </a:lnTo>
                <a:lnTo>
                  <a:pt x="283095" y="2428049"/>
                </a:lnTo>
                <a:lnTo>
                  <a:pt x="349770" y="2394712"/>
                </a:lnTo>
                <a:lnTo>
                  <a:pt x="359295" y="2389949"/>
                </a:lnTo>
                <a:lnTo>
                  <a:pt x="349770" y="2385187"/>
                </a:lnTo>
                <a:lnTo>
                  <a:pt x="283095" y="2351849"/>
                </a:lnTo>
                <a:lnTo>
                  <a:pt x="283095" y="2385187"/>
                </a:lnTo>
                <a:lnTo>
                  <a:pt x="9525" y="2385187"/>
                </a:lnTo>
                <a:lnTo>
                  <a:pt x="9525" y="1915515"/>
                </a:lnTo>
                <a:lnTo>
                  <a:pt x="287972" y="1915515"/>
                </a:lnTo>
                <a:lnTo>
                  <a:pt x="287972" y="1948853"/>
                </a:lnTo>
                <a:lnTo>
                  <a:pt x="354647" y="1915515"/>
                </a:lnTo>
                <a:lnTo>
                  <a:pt x="364172" y="19107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62532" y="1683718"/>
            <a:ext cx="364490" cy="513080"/>
          </a:xfrm>
          <a:custGeom>
            <a:avLst/>
            <a:gdLst/>
            <a:ahLst/>
            <a:cxnLst/>
            <a:rect l="l" t="t" r="r" b="b"/>
            <a:pathLst>
              <a:path w="364489" h="513080">
                <a:moveTo>
                  <a:pt x="287980" y="436378"/>
                </a:moveTo>
                <a:lnTo>
                  <a:pt x="287980" y="512578"/>
                </a:lnTo>
                <a:lnTo>
                  <a:pt x="354655" y="479240"/>
                </a:lnTo>
                <a:lnTo>
                  <a:pt x="300680" y="479240"/>
                </a:lnTo>
                <a:lnTo>
                  <a:pt x="300680" y="469715"/>
                </a:lnTo>
                <a:lnTo>
                  <a:pt x="354655" y="469715"/>
                </a:lnTo>
                <a:lnTo>
                  <a:pt x="287980" y="436378"/>
                </a:lnTo>
                <a:close/>
              </a:path>
              <a:path w="364489" h="513080">
                <a:moveTo>
                  <a:pt x="9525" y="0"/>
                </a:moveTo>
                <a:lnTo>
                  <a:pt x="0" y="0"/>
                </a:lnTo>
                <a:lnTo>
                  <a:pt x="0" y="477108"/>
                </a:lnTo>
                <a:lnTo>
                  <a:pt x="2132" y="479240"/>
                </a:lnTo>
                <a:lnTo>
                  <a:pt x="287980" y="479240"/>
                </a:lnTo>
                <a:lnTo>
                  <a:pt x="287980" y="474478"/>
                </a:lnTo>
                <a:lnTo>
                  <a:pt x="9525" y="474478"/>
                </a:lnTo>
                <a:lnTo>
                  <a:pt x="4762" y="469715"/>
                </a:lnTo>
                <a:lnTo>
                  <a:pt x="9525" y="469715"/>
                </a:lnTo>
                <a:lnTo>
                  <a:pt x="9525" y="0"/>
                </a:lnTo>
                <a:close/>
              </a:path>
              <a:path w="364489" h="513080">
                <a:moveTo>
                  <a:pt x="354655" y="469715"/>
                </a:moveTo>
                <a:lnTo>
                  <a:pt x="300680" y="469715"/>
                </a:lnTo>
                <a:lnTo>
                  <a:pt x="300680" y="479240"/>
                </a:lnTo>
                <a:lnTo>
                  <a:pt x="354655" y="479240"/>
                </a:lnTo>
                <a:lnTo>
                  <a:pt x="364180" y="474478"/>
                </a:lnTo>
                <a:lnTo>
                  <a:pt x="354655" y="469715"/>
                </a:lnTo>
                <a:close/>
              </a:path>
              <a:path w="364489" h="513080">
                <a:moveTo>
                  <a:pt x="9525" y="469715"/>
                </a:moveTo>
                <a:lnTo>
                  <a:pt x="4762" y="469715"/>
                </a:lnTo>
                <a:lnTo>
                  <a:pt x="9525" y="474478"/>
                </a:lnTo>
                <a:lnTo>
                  <a:pt x="9525" y="469715"/>
                </a:lnTo>
                <a:close/>
              </a:path>
              <a:path w="364489" h="513080">
                <a:moveTo>
                  <a:pt x="287980" y="469715"/>
                </a:moveTo>
                <a:lnTo>
                  <a:pt x="9525" y="469715"/>
                </a:lnTo>
                <a:lnTo>
                  <a:pt x="9525" y="474478"/>
                </a:lnTo>
                <a:lnTo>
                  <a:pt x="287980" y="474478"/>
                </a:lnTo>
                <a:lnTo>
                  <a:pt x="287980" y="469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6712" y="1960197"/>
            <a:ext cx="5355964" cy="3959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454" y="1225104"/>
            <a:ext cx="419929" cy="396000"/>
          </a:xfrm>
          <a:prstGeom prst="rect">
            <a:avLst/>
          </a:prstGeom>
        </p:spPr>
      </p:pic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722449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803396"/>
            <a:ext cx="2356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Подбор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гиперпараметров</a:t>
            </a:r>
            <a:r>
              <a:rPr sz="1200" spc="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AutoML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65988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4.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Моделирование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3223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Воспроизводимость</a:t>
            </a:r>
            <a:r>
              <a:rPr sz="1200" spc="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версионирование.</a:t>
            </a:r>
            <a:r>
              <a:rPr sz="1200" spc="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MLFlow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51843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599435"/>
            <a:ext cx="3266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Перенос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ML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алгоритмов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распределенную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среду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2044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02939"/>
            <a:ext cx="33515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Популярные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фреймворки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распределенной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среде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2445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06900"/>
            <a:ext cx="2411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Регулярное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переобучение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877185"/>
          </a:xfrm>
          <a:custGeom>
            <a:avLst/>
            <a:gdLst/>
            <a:ahLst/>
            <a:cxnLst/>
            <a:rect l="l" t="t" r="r" b="b"/>
            <a:pathLst>
              <a:path w="424814" h="2877185">
                <a:moveTo>
                  <a:pt x="424688" y="1634718"/>
                </a:moveTo>
                <a:lnTo>
                  <a:pt x="415163" y="1629956"/>
                </a:lnTo>
                <a:lnTo>
                  <a:pt x="348488" y="1596618"/>
                </a:lnTo>
                <a:lnTo>
                  <a:pt x="348488" y="1629956"/>
                </a:lnTo>
                <a:lnTo>
                  <a:pt x="9525" y="1629956"/>
                </a:lnTo>
                <a:lnTo>
                  <a:pt x="9525" y="1037475"/>
                </a:lnTo>
                <a:lnTo>
                  <a:pt x="343611" y="1037475"/>
                </a:lnTo>
                <a:lnTo>
                  <a:pt x="343611" y="1070813"/>
                </a:lnTo>
                <a:lnTo>
                  <a:pt x="410286" y="1037475"/>
                </a:lnTo>
                <a:lnTo>
                  <a:pt x="419811" y="1032713"/>
                </a:lnTo>
                <a:lnTo>
                  <a:pt x="410286" y="1027950"/>
                </a:lnTo>
                <a:lnTo>
                  <a:pt x="343611" y="994613"/>
                </a:lnTo>
                <a:lnTo>
                  <a:pt x="343611" y="1027950"/>
                </a:lnTo>
                <a:lnTo>
                  <a:pt x="9525" y="1027950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841358"/>
                </a:lnTo>
                <a:lnTo>
                  <a:pt x="2133" y="2843492"/>
                </a:lnTo>
                <a:lnTo>
                  <a:pt x="343611" y="2843492"/>
                </a:lnTo>
                <a:lnTo>
                  <a:pt x="343611" y="2876829"/>
                </a:lnTo>
                <a:lnTo>
                  <a:pt x="410286" y="2843492"/>
                </a:lnTo>
                <a:lnTo>
                  <a:pt x="419811" y="2838729"/>
                </a:lnTo>
                <a:lnTo>
                  <a:pt x="410286" y="2833967"/>
                </a:lnTo>
                <a:lnTo>
                  <a:pt x="343611" y="2800629"/>
                </a:lnTo>
                <a:lnTo>
                  <a:pt x="343611" y="2833967"/>
                </a:lnTo>
                <a:lnTo>
                  <a:pt x="9525" y="2833967"/>
                </a:lnTo>
                <a:lnTo>
                  <a:pt x="9525" y="2241486"/>
                </a:lnTo>
                <a:lnTo>
                  <a:pt x="343611" y="2241486"/>
                </a:lnTo>
                <a:lnTo>
                  <a:pt x="343611" y="2274824"/>
                </a:lnTo>
                <a:lnTo>
                  <a:pt x="410286" y="2241486"/>
                </a:lnTo>
                <a:lnTo>
                  <a:pt x="419811" y="2236724"/>
                </a:lnTo>
                <a:lnTo>
                  <a:pt x="410286" y="2231961"/>
                </a:lnTo>
                <a:lnTo>
                  <a:pt x="343611" y="2198624"/>
                </a:lnTo>
                <a:lnTo>
                  <a:pt x="343611" y="2231961"/>
                </a:lnTo>
                <a:lnTo>
                  <a:pt x="9525" y="2231961"/>
                </a:lnTo>
                <a:lnTo>
                  <a:pt x="9525" y="1639481"/>
                </a:lnTo>
                <a:lnTo>
                  <a:pt x="348488" y="1639481"/>
                </a:lnTo>
                <a:lnTo>
                  <a:pt x="348488" y="1672818"/>
                </a:lnTo>
                <a:lnTo>
                  <a:pt x="415163" y="1639481"/>
                </a:lnTo>
                <a:lnTo>
                  <a:pt x="424688" y="16347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567" y="4361687"/>
            <a:ext cx="326135" cy="326136"/>
          </a:xfrm>
          <a:prstGeom prst="rect">
            <a:avLst/>
          </a:prstGeom>
        </p:spPr>
      </p:pic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722449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803396"/>
            <a:ext cx="1189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A/B-тестирование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1709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5.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2035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Стратегии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валидации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51843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599435"/>
            <a:ext cx="1111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Анализ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2044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02939"/>
            <a:ext cx="1398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Интерпретируемость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2445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06900"/>
            <a:ext cx="2489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Автоматическая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877185"/>
          </a:xfrm>
          <a:custGeom>
            <a:avLst/>
            <a:gdLst/>
            <a:ahLst/>
            <a:cxnLst/>
            <a:rect l="l" t="t" r="r" b="b"/>
            <a:pathLst>
              <a:path w="424814" h="2877185">
                <a:moveTo>
                  <a:pt x="424688" y="1634718"/>
                </a:moveTo>
                <a:lnTo>
                  <a:pt x="415163" y="1629956"/>
                </a:lnTo>
                <a:lnTo>
                  <a:pt x="348488" y="1596618"/>
                </a:lnTo>
                <a:lnTo>
                  <a:pt x="348488" y="1629956"/>
                </a:lnTo>
                <a:lnTo>
                  <a:pt x="9525" y="1629956"/>
                </a:lnTo>
                <a:lnTo>
                  <a:pt x="9525" y="1037475"/>
                </a:lnTo>
                <a:lnTo>
                  <a:pt x="343611" y="1037475"/>
                </a:lnTo>
                <a:lnTo>
                  <a:pt x="343611" y="1070813"/>
                </a:lnTo>
                <a:lnTo>
                  <a:pt x="410286" y="1037475"/>
                </a:lnTo>
                <a:lnTo>
                  <a:pt x="419811" y="1032713"/>
                </a:lnTo>
                <a:lnTo>
                  <a:pt x="410286" y="1027950"/>
                </a:lnTo>
                <a:lnTo>
                  <a:pt x="343611" y="994613"/>
                </a:lnTo>
                <a:lnTo>
                  <a:pt x="343611" y="1027950"/>
                </a:lnTo>
                <a:lnTo>
                  <a:pt x="9525" y="1027950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841358"/>
                </a:lnTo>
                <a:lnTo>
                  <a:pt x="2133" y="2843492"/>
                </a:lnTo>
                <a:lnTo>
                  <a:pt x="343611" y="2843492"/>
                </a:lnTo>
                <a:lnTo>
                  <a:pt x="343611" y="2876829"/>
                </a:lnTo>
                <a:lnTo>
                  <a:pt x="410286" y="2843492"/>
                </a:lnTo>
                <a:lnTo>
                  <a:pt x="419811" y="2838729"/>
                </a:lnTo>
                <a:lnTo>
                  <a:pt x="410286" y="2833967"/>
                </a:lnTo>
                <a:lnTo>
                  <a:pt x="343611" y="2800629"/>
                </a:lnTo>
                <a:lnTo>
                  <a:pt x="343611" y="2833967"/>
                </a:lnTo>
                <a:lnTo>
                  <a:pt x="9525" y="2833967"/>
                </a:lnTo>
                <a:lnTo>
                  <a:pt x="9525" y="2241486"/>
                </a:lnTo>
                <a:lnTo>
                  <a:pt x="343611" y="2241486"/>
                </a:lnTo>
                <a:lnTo>
                  <a:pt x="343611" y="2274824"/>
                </a:lnTo>
                <a:lnTo>
                  <a:pt x="410286" y="2241486"/>
                </a:lnTo>
                <a:lnTo>
                  <a:pt x="419811" y="2236724"/>
                </a:lnTo>
                <a:lnTo>
                  <a:pt x="410286" y="2231961"/>
                </a:lnTo>
                <a:lnTo>
                  <a:pt x="343611" y="2198624"/>
                </a:lnTo>
                <a:lnTo>
                  <a:pt x="343611" y="2231961"/>
                </a:lnTo>
                <a:lnTo>
                  <a:pt x="9525" y="2231961"/>
                </a:lnTo>
                <a:lnTo>
                  <a:pt x="9525" y="1639481"/>
                </a:lnTo>
                <a:lnTo>
                  <a:pt x="348488" y="1639481"/>
                </a:lnTo>
                <a:lnTo>
                  <a:pt x="348488" y="1672818"/>
                </a:lnTo>
                <a:lnTo>
                  <a:pt x="415163" y="1639481"/>
                </a:lnTo>
                <a:lnTo>
                  <a:pt x="424688" y="16347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567" y="4361687"/>
            <a:ext cx="326135" cy="326136"/>
          </a:xfrm>
          <a:prstGeom prst="rect">
            <a:avLst/>
          </a:prstGeom>
        </p:spPr>
      </p:pic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3540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434588"/>
            <a:ext cx="1552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артефактов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5449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6.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1655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Пакетный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режим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работы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3956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1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477516"/>
            <a:ext cx="2141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Асинхронный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потоковый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режим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28748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2956051"/>
            <a:ext cx="1274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Модель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как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сервис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38332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3913123"/>
            <a:ext cx="1368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k8s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385695"/>
          </a:xfrm>
          <a:custGeom>
            <a:avLst/>
            <a:gdLst/>
            <a:ahLst/>
            <a:cxnLst/>
            <a:rect l="l" t="t" r="r" b="b"/>
            <a:pathLst>
              <a:path w="424814" h="2385695">
                <a:moveTo>
                  <a:pt x="424688" y="1389113"/>
                </a:moveTo>
                <a:lnTo>
                  <a:pt x="415163" y="1384350"/>
                </a:lnTo>
                <a:lnTo>
                  <a:pt x="348488" y="1351013"/>
                </a:lnTo>
                <a:lnTo>
                  <a:pt x="348488" y="1384350"/>
                </a:lnTo>
                <a:lnTo>
                  <a:pt x="9525" y="1384350"/>
                </a:lnTo>
                <a:lnTo>
                  <a:pt x="9525" y="914666"/>
                </a:lnTo>
                <a:lnTo>
                  <a:pt x="343611" y="914666"/>
                </a:lnTo>
                <a:lnTo>
                  <a:pt x="343611" y="948004"/>
                </a:lnTo>
                <a:lnTo>
                  <a:pt x="410286" y="914666"/>
                </a:lnTo>
                <a:lnTo>
                  <a:pt x="419811" y="909904"/>
                </a:lnTo>
                <a:lnTo>
                  <a:pt x="410286" y="905141"/>
                </a:lnTo>
                <a:lnTo>
                  <a:pt x="343611" y="871804"/>
                </a:lnTo>
                <a:lnTo>
                  <a:pt x="343611" y="905141"/>
                </a:lnTo>
                <a:lnTo>
                  <a:pt x="9525" y="905141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350135"/>
                </a:lnTo>
                <a:lnTo>
                  <a:pt x="2133" y="2352268"/>
                </a:lnTo>
                <a:lnTo>
                  <a:pt x="343611" y="2352268"/>
                </a:lnTo>
                <a:lnTo>
                  <a:pt x="343611" y="2385606"/>
                </a:lnTo>
                <a:lnTo>
                  <a:pt x="410286" y="2352268"/>
                </a:lnTo>
                <a:lnTo>
                  <a:pt x="419811" y="2347506"/>
                </a:lnTo>
                <a:lnTo>
                  <a:pt x="410286" y="2342743"/>
                </a:lnTo>
                <a:lnTo>
                  <a:pt x="343611" y="2309406"/>
                </a:lnTo>
                <a:lnTo>
                  <a:pt x="343611" y="2342743"/>
                </a:lnTo>
                <a:lnTo>
                  <a:pt x="9525" y="2342743"/>
                </a:lnTo>
                <a:lnTo>
                  <a:pt x="9525" y="1873072"/>
                </a:lnTo>
                <a:lnTo>
                  <a:pt x="343611" y="1873072"/>
                </a:lnTo>
                <a:lnTo>
                  <a:pt x="343611" y="1906409"/>
                </a:lnTo>
                <a:lnTo>
                  <a:pt x="410286" y="1873072"/>
                </a:lnTo>
                <a:lnTo>
                  <a:pt x="419811" y="1868309"/>
                </a:lnTo>
                <a:lnTo>
                  <a:pt x="410286" y="1863547"/>
                </a:lnTo>
                <a:lnTo>
                  <a:pt x="343611" y="1830209"/>
                </a:lnTo>
                <a:lnTo>
                  <a:pt x="343611" y="1863547"/>
                </a:lnTo>
                <a:lnTo>
                  <a:pt x="9525" y="1863547"/>
                </a:lnTo>
                <a:lnTo>
                  <a:pt x="9525" y="1393875"/>
                </a:lnTo>
                <a:lnTo>
                  <a:pt x="348488" y="1393875"/>
                </a:lnTo>
                <a:lnTo>
                  <a:pt x="348488" y="1427213"/>
                </a:lnTo>
                <a:lnTo>
                  <a:pt x="415163" y="1393875"/>
                </a:lnTo>
                <a:lnTo>
                  <a:pt x="424688" y="1389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02019" y="2193324"/>
            <a:ext cx="420370" cy="2355215"/>
          </a:xfrm>
          <a:custGeom>
            <a:avLst/>
            <a:gdLst/>
            <a:ahLst/>
            <a:cxnLst/>
            <a:rect l="l" t="t" r="r" b="b"/>
            <a:pathLst>
              <a:path w="420369" h="2355215">
                <a:moveTo>
                  <a:pt x="343609" y="2279009"/>
                </a:moveTo>
                <a:lnTo>
                  <a:pt x="343609" y="2355209"/>
                </a:lnTo>
                <a:lnTo>
                  <a:pt x="410284" y="2321872"/>
                </a:lnTo>
                <a:lnTo>
                  <a:pt x="356309" y="2321872"/>
                </a:lnTo>
                <a:lnTo>
                  <a:pt x="356309" y="2312347"/>
                </a:lnTo>
                <a:lnTo>
                  <a:pt x="410284" y="2312347"/>
                </a:lnTo>
                <a:lnTo>
                  <a:pt x="343609" y="2279009"/>
                </a:lnTo>
                <a:close/>
              </a:path>
              <a:path w="420369" h="2355215">
                <a:moveTo>
                  <a:pt x="9525" y="0"/>
                </a:moveTo>
                <a:lnTo>
                  <a:pt x="0" y="0"/>
                </a:lnTo>
                <a:lnTo>
                  <a:pt x="0" y="2319739"/>
                </a:lnTo>
                <a:lnTo>
                  <a:pt x="2132" y="2321872"/>
                </a:lnTo>
                <a:lnTo>
                  <a:pt x="343609" y="2321872"/>
                </a:lnTo>
                <a:lnTo>
                  <a:pt x="343609" y="2317109"/>
                </a:lnTo>
                <a:lnTo>
                  <a:pt x="9525" y="2317109"/>
                </a:lnTo>
                <a:lnTo>
                  <a:pt x="4762" y="2312347"/>
                </a:lnTo>
                <a:lnTo>
                  <a:pt x="9525" y="2312347"/>
                </a:lnTo>
                <a:lnTo>
                  <a:pt x="9525" y="0"/>
                </a:lnTo>
                <a:close/>
              </a:path>
              <a:path w="420369" h="2355215">
                <a:moveTo>
                  <a:pt x="410284" y="2312347"/>
                </a:moveTo>
                <a:lnTo>
                  <a:pt x="356309" y="2312347"/>
                </a:lnTo>
                <a:lnTo>
                  <a:pt x="356309" y="2321872"/>
                </a:lnTo>
                <a:lnTo>
                  <a:pt x="410284" y="2321872"/>
                </a:lnTo>
                <a:lnTo>
                  <a:pt x="419809" y="2317109"/>
                </a:lnTo>
                <a:lnTo>
                  <a:pt x="410284" y="2312347"/>
                </a:lnTo>
                <a:close/>
              </a:path>
              <a:path w="420369" h="2355215">
                <a:moveTo>
                  <a:pt x="9525" y="2312347"/>
                </a:moveTo>
                <a:lnTo>
                  <a:pt x="4762" y="2312347"/>
                </a:lnTo>
                <a:lnTo>
                  <a:pt x="9525" y="2317109"/>
                </a:lnTo>
                <a:lnTo>
                  <a:pt x="9525" y="2312347"/>
                </a:lnTo>
                <a:close/>
              </a:path>
              <a:path w="420369" h="2355215">
                <a:moveTo>
                  <a:pt x="343609" y="2312347"/>
                </a:moveTo>
                <a:lnTo>
                  <a:pt x="9525" y="2312347"/>
                </a:lnTo>
                <a:lnTo>
                  <a:pt x="9525" y="2317109"/>
                </a:lnTo>
                <a:lnTo>
                  <a:pt x="343609" y="2317109"/>
                </a:lnTo>
                <a:lnTo>
                  <a:pt x="343609" y="2312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221829" y="431243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5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5" y="395999"/>
                </a:lnTo>
                <a:lnTo>
                  <a:pt x="5315655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5" y="5186"/>
                </a:lnTo>
                <a:lnTo>
                  <a:pt x="528996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2390461" y="4394708"/>
            <a:ext cx="1454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Обновление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567" y="4361687"/>
            <a:ext cx="326135" cy="326136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3" name="object 3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09928" y="1247140"/>
            <a:ext cx="13055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7.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Мониторинг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6712" y="209304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95344" y="2172716"/>
            <a:ext cx="2433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Инструменты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метрики.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 Prometheus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615406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696972"/>
            <a:ext cx="3369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Поиск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отклонений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сдвигов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данных/MLOps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k8s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3137768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3218179"/>
            <a:ext cx="18630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Построение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обратной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петли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1833" y="367926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0463" y="3760723"/>
            <a:ext cx="622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Алертинг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02015" y="1683727"/>
            <a:ext cx="424815" cy="2232025"/>
          </a:xfrm>
          <a:custGeom>
            <a:avLst/>
            <a:gdLst/>
            <a:ahLst/>
            <a:cxnLst/>
            <a:rect l="l" t="t" r="r" b="b"/>
            <a:pathLst>
              <a:path w="424814" h="2232025">
                <a:moveTo>
                  <a:pt x="424688" y="607314"/>
                </a:moveTo>
                <a:lnTo>
                  <a:pt x="415163" y="602551"/>
                </a:lnTo>
                <a:lnTo>
                  <a:pt x="348488" y="569214"/>
                </a:lnTo>
                <a:lnTo>
                  <a:pt x="348488" y="602551"/>
                </a:lnTo>
                <a:lnTo>
                  <a:pt x="9525" y="602551"/>
                </a:lnTo>
                <a:lnTo>
                  <a:pt x="9525" y="0"/>
                </a:lnTo>
                <a:lnTo>
                  <a:pt x="0" y="0"/>
                </a:lnTo>
                <a:lnTo>
                  <a:pt x="0" y="609955"/>
                </a:lnTo>
                <a:lnTo>
                  <a:pt x="0" y="1132319"/>
                </a:lnTo>
                <a:lnTo>
                  <a:pt x="0" y="1654670"/>
                </a:lnTo>
                <a:lnTo>
                  <a:pt x="0" y="2196173"/>
                </a:lnTo>
                <a:lnTo>
                  <a:pt x="2133" y="2198306"/>
                </a:lnTo>
                <a:lnTo>
                  <a:pt x="343611" y="2198306"/>
                </a:lnTo>
                <a:lnTo>
                  <a:pt x="343611" y="2231644"/>
                </a:lnTo>
                <a:lnTo>
                  <a:pt x="410286" y="2198306"/>
                </a:lnTo>
                <a:lnTo>
                  <a:pt x="419811" y="2193544"/>
                </a:lnTo>
                <a:lnTo>
                  <a:pt x="410286" y="2188781"/>
                </a:lnTo>
                <a:lnTo>
                  <a:pt x="343611" y="2155444"/>
                </a:lnTo>
                <a:lnTo>
                  <a:pt x="343611" y="2188781"/>
                </a:lnTo>
                <a:lnTo>
                  <a:pt x="9525" y="2188781"/>
                </a:lnTo>
                <a:lnTo>
                  <a:pt x="9525" y="1656803"/>
                </a:lnTo>
                <a:lnTo>
                  <a:pt x="348488" y="1656803"/>
                </a:lnTo>
                <a:lnTo>
                  <a:pt x="348488" y="1690141"/>
                </a:lnTo>
                <a:lnTo>
                  <a:pt x="415163" y="1656803"/>
                </a:lnTo>
                <a:lnTo>
                  <a:pt x="424688" y="1652041"/>
                </a:lnTo>
                <a:lnTo>
                  <a:pt x="415163" y="1647278"/>
                </a:lnTo>
                <a:lnTo>
                  <a:pt x="348488" y="1613941"/>
                </a:lnTo>
                <a:lnTo>
                  <a:pt x="348488" y="1647278"/>
                </a:lnTo>
                <a:lnTo>
                  <a:pt x="9525" y="1647278"/>
                </a:lnTo>
                <a:lnTo>
                  <a:pt x="9525" y="1134440"/>
                </a:lnTo>
                <a:lnTo>
                  <a:pt x="348488" y="1134440"/>
                </a:lnTo>
                <a:lnTo>
                  <a:pt x="348488" y="1167777"/>
                </a:lnTo>
                <a:lnTo>
                  <a:pt x="415163" y="1134440"/>
                </a:lnTo>
                <a:lnTo>
                  <a:pt x="424688" y="1129677"/>
                </a:lnTo>
                <a:lnTo>
                  <a:pt x="415163" y="1124915"/>
                </a:lnTo>
                <a:lnTo>
                  <a:pt x="348488" y="1091577"/>
                </a:lnTo>
                <a:lnTo>
                  <a:pt x="348488" y="1124915"/>
                </a:lnTo>
                <a:lnTo>
                  <a:pt x="9525" y="1124915"/>
                </a:lnTo>
                <a:lnTo>
                  <a:pt x="9525" y="612076"/>
                </a:lnTo>
                <a:lnTo>
                  <a:pt x="348488" y="612076"/>
                </a:lnTo>
                <a:lnTo>
                  <a:pt x="348488" y="645414"/>
                </a:lnTo>
                <a:lnTo>
                  <a:pt x="415163" y="612076"/>
                </a:lnTo>
                <a:lnTo>
                  <a:pt x="424688" y="607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5472" y="3712463"/>
            <a:ext cx="326135" cy="32918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 rot="20760000">
            <a:off x="7612225" y="3713262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9928" y="1247140"/>
            <a:ext cx="16840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8.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Курсовой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проект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6712" y="187824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95344" y="1959355"/>
            <a:ext cx="3039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Выбор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темы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организация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проектной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работы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40061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480564"/>
            <a:ext cx="3320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Консультация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проектам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домашним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заданиям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2922973"/>
            <a:ext cx="3051175" cy="396240"/>
          </a:xfrm>
          <a:custGeom>
            <a:avLst/>
            <a:gdLst/>
            <a:ahLst/>
            <a:cxnLst/>
            <a:rect l="l" t="t" r="r" b="b"/>
            <a:pathLst>
              <a:path w="3051175" h="396239">
                <a:moveTo>
                  <a:pt x="2985029" y="0"/>
                </a:moveTo>
                <a:lnTo>
                  <a:pt x="66003" y="0"/>
                </a:lnTo>
                <a:lnTo>
                  <a:pt x="40311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3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1" y="390813"/>
                </a:lnTo>
                <a:lnTo>
                  <a:pt x="66003" y="395999"/>
                </a:lnTo>
                <a:lnTo>
                  <a:pt x="2985029" y="395999"/>
                </a:lnTo>
                <a:lnTo>
                  <a:pt x="3010721" y="390813"/>
                </a:lnTo>
                <a:lnTo>
                  <a:pt x="3031700" y="376668"/>
                </a:lnTo>
                <a:lnTo>
                  <a:pt x="3045845" y="355688"/>
                </a:lnTo>
                <a:lnTo>
                  <a:pt x="3051032" y="329998"/>
                </a:lnTo>
                <a:lnTo>
                  <a:pt x="3051032" y="66003"/>
                </a:lnTo>
                <a:lnTo>
                  <a:pt x="3045845" y="40311"/>
                </a:lnTo>
                <a:lnTo>
                  <a:pt x="3031700" y="19331"/>
                </a:lnTo>
                <a:lnTo>
                  <a:pt x="3010721" y="5186"/>
                </a:lnTo>
                <a:lnTo>
                  <a:pt x="2985029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3004820"/>
            <a:ext cx="1637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Защита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проектных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работ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02015" y="1683727"/>
            <a:ext cx="424815" cy="1475740"/>
          </a:xfrm>
          <a:custGeom>
            <a:avLst/>
            <a:gdLst/>
            <a:ahLst/>
            <a:cxnLst/>
            <a:rect l="l" t="t" r="r" b="b"/>
            <a:pathLst>
              <a:path w="424814" h="1475739">
                <a:moveTo>
                  <a:pt x="424688" y="392518"/>
                </a:moveTo>
                <a:lnTo>
                  <a:pt x="415163" y="387756"/>
                </a:lnTo>
                <a:lnTo>
                  <a:pt x="348488" y="354418"/>
                </a:lnTo>
                <a:lnTo>
                  <a:pt x="348488" y="387756"/>
                </a:lnTo>
                <a:lnTo>
                  <a:pt x="9525" y="387756"/>
                </a:lnTo>
                <a:lnTo>
                  <a:pt x="9525" y="0"/>
                </a:lnTo>
                <a:lnTo>
                  <a:pt x="0" y="0"/>
                </a:lnTo>
                <a:lnTo>
                  <a:pt x="0" y="395160"/>
                </a:lnTo>
                <a:lnTo>
                  <a:pt x="0" y="917524"/>
                </a:lnTo>
                <a:lnTo>
                  <a:pt x="0" y="1439875"/>
                </a:lnTo>
                <a:lnTo>
                  <a:pt x="2133" y="1442008"/>
                </a:lnTo>
                <a:lnTo>
                  <a:pt x="348488" y="1442008"/>
                </a:lnTo>
                <a:lnTo>
                  <a:pt x="348488" y="1475346"/>
                </a:lnTo>
                <a:lnTo>
                  <a:pt x="415163" y="1442008"/>
                </a:lnTo>
                <a:lnTo>
                  <a:pt x="424688" y="1437246"/>
                </a:lnTo>
                <a:lnTo>
                  <a:pt x="415163" y="1432483"/>
                </a:lnTo>
                <a:lnTo>
                  <a:pt x="348488" y="1399146"/>
                </a:lnTo>
                <a:lnTo>
                  <a:pt x="348488" y="1432483"/>
                </a:lnTo>
                <a:lnTo>
                  <a:pt x="9525" y="1432483"/>
                </a:lnTo>
                <a:lnTo>
                  <a:pt x="9525" y="919645"/>
                </a:lnTo>
                <a:lnTo>
                  <a:pt x="348488" y="919645"/>
                </a:lnTo>
                <a:lnTo>
                  <a:pt x="348488" y="952982"/>
                </a:lnTo>
                <a:lnTo>
                  <a:pt x="415163" y="919645"/>
                </a:lnTo>
                <a:lnTo>
                  <a:pt x="424688" y="914882"/>
                </a:lnTo>
                <a:lnTo>
                  <a:pt x="415163" y="910120"/>
                </a:lnTo>
                <a:lnTo>
                  <a:pt x="348488" y="876782"/>
                </a:lnTo>
                <a:lnTo>
                  <a:pt x="348488" y="910120"/>
                </a:lnTo>
                <a:lnTo>
                  <a:pt x="9525" y="910120"/>
                </a:lnTo>
                <a:lnTo>
                  <a:pt x="9525" y="397281"/>
                </a:lnTo>
                <a:lnTo>
                  <a:pt x="348488" y="397281"/>
                </a:lnTo>
                <a:lnTo>
                  <a:pt x="348488" y="430618"/>
                </a:lnTo>
                <a:lnTo>
                  <a:pt x="415163" y="397281"/>
                </a:lnTo>
                <a:lnTo>
                  <a:pt x="424688" y="3925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6463" y="2943932"/>
            <a:ext cx="2989202" cy="1992801"/>
          </a:xfrm>
          <a:prstGeom prst="rect">
            <a:avLst/>
          </a:prstGeom>
        </p:spPr>
      </p:pic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2549" y="1264075"/>
            <a:ext cx="3427095" cy="779145"/>
          </a:xfrm>
          <a:custGeom>
            <a:avLst/>
            <a:gdLst/>
            <a:ahLst/>
            <a:cxnLst/>
            <a:rect l="l" t="t" r="r" b="b"/>
            <a:pathLst>
              <a:path w="3427095" h="779144">
                <a:moveTo>
                  <a:pt x="3426900" y="0"/>
                </a:moveTo>
                <a:lnTo>
                  <a:pt x="0" y="0"/>
                </a:lnTo>
                <a:lnTo>
                  <a:pt x="0" y="779099"/>
                </a:lnTo>
                <a:lnTo>
                  <a:pt x="3426900" y="779099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52549" y="2237574"/>
            <a:ext cx="3427095" cy="993775"/>
          </a:xfrm>
          <a:custGeom>
            <a:avLst/>
            <a:gdLst/>
            <a:ahLst/>
            <a:cxnLst/>
            <a:rect l="l" t="t" r="r" b="b"/>
            <a:pathLst>
              <a:path w="3427095" h="993775">
                <a:moveTo>
                  <a:pt x="3426900" y="0"/>
                </a:moveTo>
                <a:lnTo>
                  <a:pt x="0" y="0"/>
                </a:lnTo>
                <a:lnTo>
                  <a:pt x="0" y="993300"/>
                </a:lnTo>
                <a:lnTo>
                  <a:pt x="3426900" y="993300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2549" y="3425275"/>
            <a:ext cx="3427095" cy="1136015"/>
          </a:xfrm>
          <a:custGeom>
            <a:avLst/>
            <a:gdLst/>
            <a:ahLst/>
            <a:cxnLst/>
            <a:rect l="l" t="t" r="r" b="b"/>
            <a:pathLst>
              <a:path w="3427095" h="1136014">
                <a:moveTo>
                  <a:pt x="3426900" y="0"/>
                </a:moveTo>
                <a:lnTo>
                  <a:pt x="0" y="0"/>
                </a:lnTo>
                <a:lnTo>
                  <a:pt x="0" y="1135499"/>
                </a:lnTo>
                <a:lnTo>
                  <a:pt x="3426900" y="1135499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3549" y="1264075"/>
            <a:ext cx="3418204" cy="1136015"/>
          </a:xfrm>
          <a:custGeom>
            <a:avLst/>
            <a:gdLst/>
            <a:ahLst/>
            <a:cxnLst/>
            <a:rect l="l" t="t" r="r" b="b"/>
            <a:pathLst>
              <a:path w="3418204" h="1136014">
                <a:moveTo>
                  <a:pt x="3417900" y="0"/>
                </a:moveTo>
                <a:lnTo>
                  <a:pt x="0" y="0"/>
                </a:lnTo>
                <a:lnTo>
                  <a:pt x="0" y="1135499"/>
                </a:lnTo>
                <a:lnTo>
                  <a:pt x="3417900" y="1135499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73549" y="2579574"/>
            <a:ext cx="3418204" cy="848360"/>
          </a:xfrm>
          <a:custGeom>
            <a:avLst/>
            <a:gdLst/>
            <a:ahLst/>
            <a:cxnLst/>
            <a:rect l="l" t="t" r="r" b="b"/>
            <a:pathLst>
              <a:path w="3418204" h="848360">
                <a:moveTo>
                  <a:pt x="3417900" y="0"/>
                </a:moveTo>
                <a:lnTo>
                  <a:pt x="0" y="0"/>
                </a:lnTo>
                <a:lnTo>
                  <a:pt x="0" y="848100"/>
                </a:lnTo>
                <a:lnTo>
                  <a:pt x="3417900" y="848100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73549" y="3607675"/>
            <a:ext cx="3418204" cy="951230"/>
          </a:xfrm>
          <a:custGeom>
            <a:avLst/>
            <a:gdLst/>
            <a:ahLst/>
            <a:cxnLst/>
            <a:rect l="l" t="t" r="r" b="b"/>
            <a:pathLst>
              <a:path w="3418204" h="951229">
                <a:moveTo>
                  <a:pt x="3417900" y="0"/>
                </a:moveTo>
                <a:lnTo>
                  <a:pt x="0" y="0"/>
                </a:lnTo>
                <a:lnTo>
                  <a:pt x="0" y="950999"/>
                </a:lnTo>
                <a:lnTo>
                  <a:pt x="3417900" y="950999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1420367"/>
            <a:ext cx="463295" cy="4632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52549" y="1264075"/>
            <a:ext cx="3427095" cy="7791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283210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Обучение выстроено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формате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вебинаров (онлайн).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Онлайн-вебинары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проводятся</a:t>
            </a:r>
            <a:r>
              <a:rPr sz="900" spc="500" dirty="0">
                <a:latin typeface="Trebuchet MS"/>
                <a:cs typeface="Trebuchet MS"/>
              </a:rPr>
              <a:t>  </a:t>
            </a:r>
            <a:r>
              <a:rPr sz="900" spc="10" dirty="0">
                <a:latin typeface="Trebuchet MS"/>
                <a:cs typeface="Trebuchet MS"/>
              </a:rPr>
              <a:t>по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вечерам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или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выходные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дни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7488" y="2438400"/>
            <a:ext cx="463295" cy="46329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52549" y="2237574"/>
            <a:ext cx="3427095" cy="993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206375">
              <a:lnSpc>
                <a:spcPct val="120700"/>
              </a:lnSpc>
              <a:spcBef>
                <a:spcPts val="5"/>
              </a:spcBef>
            </a:pPr>
            <a:r>
              <a:rPr sz="900" dirty="0">
                <a:latin typeface="Trebuchet MS"/>
                <a:cs typeface="Trebuchet MS"/>
              </a:rPr>
              <a:t>Все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записи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занятий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материалы, </a:t>
            </a:r>
            <a:r>
              <a:rPr sz="900" spc="10" dirty="0">
                <a:latin typeface="Trebuchet MS"/>
                <a:cs typeface="Trebuchet MS"/>
              </a:rPr>
              <a:t>предоставляемые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преподавателями, </a:t>
            </a:r>
            <a:r>
              <a:rPr sz="900" dirty="0">
                <a:latin typeface="Trebuchet MS"/>
                <a:cs typeface="Trebuchet MS"/>
              </a:rPr>
              <a:t>сохраняются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личном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кабинете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остаются </a:t>
            </a:r>
            <a:r>
              <a:rPr sz="900" dirty="0">
                <a:latin typeface="Trebuchet MS"/>
                <a:cs typeface="Trebuchet MS"/>
              </a:rPr>
              <a:t>доступны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даже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после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окончания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обучения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7488" y="3630167"/>
            <a:ext cx="463295" cy="4632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52549" y="3425275"/>
            <a:ext cx="3427095" cy="1136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654685">
              <a:lnSpc>
                <a:spcPct val="121100"/>
              </a:lnSpc>
            </a:pPr>
            <a:r>
              <a:rPr sz="900" dirty="0">
                <a:latin typeface="Trebuchet MS"/>
                <a:cs typeface="Trebuchet MS"/>
              </a:rPr>
              <a:t>Домашние</a:t>
            </a:r>
            <a:r>
              <a:rPr sz="900" spc="1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задания</a:t>
            </a:r>
            <a:r>
              <a:rPr sz="900" spc="1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позволят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Вам </a:t>
            </a:r>
            <a:r>
              <a:rPr sz="900" dirty="0">
                <a:latin typeface="Trebuchet MS"/>
                <a:cs typeface="Trebuchet MS"/>
              </a:rPr>
              <a:t>применить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практике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полученные </a:t>
            </a:r>
            <a:r>
              <a:rPr sz="900" dirty="0">
                <a:latin typeface="Trebuchet MS"/>
                <a:cs typeface="Trebuchet MS"/>
              </a:rPr>
              <a:t>во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время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вебинаров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знания.</a:t>
            </a:r>
            <a:endParaRPr sz="900">
              <a:latin typeface="Trebuchet MS"/>
              <a:cs typeface="Trebuchet MS"/>
            </a:endParaRPr>
          </a:p>
          <a:p>
            <a:pPr marL="802005" marR="353695">
              <a:lnSpc>
                <a:spcPct val="120000"/>
              </a:lnSpc>
            </a:pPr>
            <a:r>
              <a:rPr sz="900" dirty="0">
                <a:latin typeface="Trebuchet MS"/>
                <a:cs typeface="Trebuchet MS"/>
              </a:rPr>
              <a:t>По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каждому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домашнему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заданию </a:t>
            </a:r>
            <a:r>
              <a:rPr sz="900" dirty="0">
                <a:latin typeface="Trebuchet MS"/>
                <a:cs typeface="Trebuchet MS"/>
              </a:rPr>
              <a:t>преподаватель</a:t>
            </a:r>
            <a:r>
              <a:rPr sz="900" spc="7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дает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развернутый</a:t>
            </a:r>
            <a:r>
              <a:rPr sz="900" spc="8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фидбек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52415" y="1420367"/>
            <a:ext cx="463296" cy="46329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673549" y="1264075"/>
            <a:ext cx="3418204" cy="113601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 marR="324485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В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процессе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обучения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60" dirty="0">
                <a:latin typeface="Trebuchet MS"/>
                <a:cs typeface="Trebuchet MS"/>
              </a:rPr>
              <a:t>Вы</a:t>
            </a:r>
            <a:r>
              <a:rPr sz="900" dirty="0">
                <a:latin typeface="Trebuchet MS"/>
                <a:cs typeface="Trebuchet MS"/>
              </a:rPr>
              <a:t> можете</a:t>
            </a:r>
            <a:r>
              <a:rPr sz="900" spc="-10" dirty="0">
                <a:latin typeface="Trebuchet MS"/>
                <a:cs typeface="Trebuchet MS"/>
              </a:rPr>
              <a:t> задавать </a:t>
            </a:r>
            <a:r>
              <a:rPr sz="900" dirty="0">
                <a:latin typeface="Trebuchet MS"/>
                <a:cs typeface="Trebuchet MS"/>
              </a:rPr>
              <a:t>преподавателю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вопросы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</a:t>
            </a:r>
            <a:r>
              <a:rPr sz="900" spc="1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материалам </a:t>
            </a:r>
            <a:r>
              <a:rPr sz="900" dirty="0">
                <a:latin typeface="Trebuchet MS"/>
                <a:cs typeface="Trebuchet MS"/>
              </a:rPr>
              <a:t>лекций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домашних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заданий,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уточнять </a:t>
            </a:r>
            <a:r>
              <a:rPr sz="900" dirty="0">
                <a:latin typeface="Trebuchet MS"/>
                <a:cs typeface="Trebuchet MS"/>
              </a:rPr>
              <a:t>моменты,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которые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были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непонятны</a:t>
            </a:r>
            <a:endParaRPr sz="900">
              <a:latin typeface="Trebuchet MS"/>
              <a:cs typeface="Trebuchet MS"/>
            </a:endParaRPr>
          </a:p>
          <a:p>
            <a:pPr marL="796290">
              <a:lnSpc>
                <a:spcPct val="100000"/>
              </a:lnSpc>
            </a:pP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-10" dirty="0">
                <a:latin typeface="Trebuchet MS"/>
                <a:cs typeface="Trebuchet MS"/>
              </a:rPr>
              <a:t> уроке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52415" y="2740151"/>
            <a:ext cx="463296" cy="46634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673549" y="2579574"/>
            <a:ext cx="3418204" cy="8483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>
              <a:lnSpc>
                <a:spcPct val="100000"/>
              </a:lnSpc>
            </a:pPr>
            <a:r>
              <a:rPr sz="900" dirty="0">
                <a:latin typeface="Trebuchet MS"/>
                <a:cs typeface="Trebuchet MS"/>
              </a:rPr>
              <a:t>Время на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обучение: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от 4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ак.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часов</a:t>
            </a:r>
            <a:endParaRPr sz="900">
              <a:latin typeface="Trebuchet MS"/>
              <a:cs typeface="Trebuchet MS"/>
            </a:endParaRPr>
          </a:p>
          <a:p>
            <a:pPr marL="796290" marR="583565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занятия</a:t>
            </a:r>
            <a:r>
              <a:rPr sz="900" spc="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4-</a:t>
            </a:r>
            <a:r>
              <a:rPr sz="900" dirty="0">
                <a:latin typeface="Trebuchet MS"/>
                <a:cs typeface="Trebuchet MS"/>
              </a:rPr>
              <a:t>8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часов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домашнюю </a:t>
            </a:r>
            <a:r>
              <a:rPr sz="900" dirty="0">
                <a:latin typeface="Trebuchet MS"/>
                <a:cs typeface="Trebuchet MS"/>
              </a:rPr>
              <a:t>работу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неделю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52415" y="3758183"/>
            <a:ext cx="463296" cy="46329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673549" y="3607675"/>
            <a:ext cx="3418204" cy="9512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 marR="459740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Программа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обучения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курсах </a:t>
            </a:r>
            <a:r>
              <a:rPr sz="900" dirty="0">
                <a:latin typeface="Trebuchet MS"/>
                <a:cs typeface="Trebuchet MS"/>
              </a:rPr>
              <a:t>обновляется</a:t>
            </a:r>
            <a:r>
              <a:rPr sz="900" spc="10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каждый</a:t>
            </a:r>
            <a:r>
              <a:rPr sz="900" spc="9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запуск</a:t>
            </a:r>
            <a:r>
              <a:rPr sz="900" spc="9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 </a:t>
            </a:r>
            <a:r>
              <a:rPr sz="900" spc="10" dirty="0">
                <a:latin typeface="Trebuchet MS"/>
                <a:cs typeface="Trebuchet MS"/>
              </a:rPr>
              <a:t>зависимости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от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актуальных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запросов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 </a:t>
            </a:r>
            <a:r>
              <a:rPr sz="900" spc="-20" dirty="0">
                <a:latin typeface="Trebuchet MS"/>
                <a:cs typeface="Trebuchet MS"/>
              </a:rPr>
              <a:t>сфере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IТ-</a:t>
            </a:r>
            <a:r>
              <a:rPr sz="900" spc="-10" dirty="0">
                <a:latin typeface="Trebuchet MS"/>
                <a:cs typeface="Trebuchet MS"/>
              </a:rPr>
              <a:t>технологий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Процесс</a:t>
            </a:r>
            <a:r>
              <a:rPr spc="-190" dirty="0"/>
              <a:t> </a:t>
            </a:r>
            <a:r>
              <a:rPr spc="-60" dirty="0"/>
              <a:t>обучения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9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2458</TotalTime>
  <Words>1962</Words>
  <Application>Microsoft Macintosh PowerPoint</Application>
  <PresentationFormat>On-screen Show (16:9)</PresentationFormat>
  <Paragraphs>484</Paragraphs>
  <Slides>46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Roboto</vt:lpstr>
      <vt:lpstr>Arial</vt:lpstr>
      <vt:lpstr>Courier New</vt:lpstr>
      <vt:lpstr>Trebuchet MS</vt:lpstr>
      <vt:lpstr>Georgia</vt:lpstr>
      <vt:lpstr>Times New Roman</vt:lpstr>
      <vt:lpstr>Calibri</vt:lpstr>
      <vt:lpstr>Светлая тема</vt:lpstr>
      <vt:lpstr>MLOps Terraform </vt:lpstr>
      <vt:lpstr>Проверить, идет ли запись</vt:lpstr>
      <vt:lpstr>MLOps Terraform</vt:lpstr>
      <vt:lpstr>Правила вебинара</vt:lpstr>
      <vt:lpstr>Маршрут вебинара</vt:lpstr>
      <vt:lpstr>Цели вебинара</vt:lpstr>
      <vt:lpstr>Смысл</vt:lpstr>
      <vt:lpstr>IaC  Инфраструктура как код</vt:lpstr>
      <vt:lpstr>IaC инфраструктура как код</vt:lpstr>
      <vt:lpstr>YC CLI</vt:lpstr>
      <vt:lpstr>Vargant</vt:lpstr>
      <vt:lpstr>Ansible</vt:lpstr>
      <vt:lpstr>Terraform</vt:lpstr>
      <vt:lpstr>Terraform</vt:lpstr>
      <vt:lpstr>Как работает Terraform</vt:lpstr>
      <vt:lpstr>Как работает Terraform</vt:lpstr>
      <vt:lpstr>Настройка для работы с YC</vt:lpstr>
      <vt:lpstr>Настройка для работы с YC</vt:lpstr>
      <vt:lpstr>Настройка для работы с YC</vt:lpstr>
      <vt:lpstr>Настройка для работы с YC</vt:lpstr>
      <vt:lpstr>Основные команды</vt:lpstr>
      <vt:lpstr>Конфигурационный язык</vt:lpstr>
      <vt:lpstr>Структура проекта</vt:lpstr>
      <vt:lpstr>Структура большого проекта</vt:lpstr>
      <vt:lpstr>Работа с переменными</vt:lpstr>
      <vt:lpstr>Работа с переменными</vt:lpstr>
      <vt:lpstr>Граф зависимостей</vt:lpstr>
      <vt:lpstr>Вопросы?</vt:lpstr>
      <vt:lpstr>Практика</vt:lpstr>
      <vt:lpstr>Практика</vt:lpstr>
      <vt:lpstr>Знакомство с командой и программой курса</vt:lpstr>
      <vt:lpstr>Команда курса</vt:lpstr>
      <vt:lpstr>Команда курса</vt:lpstr>
      <vt:lpstr>О курсе MLOps</vt:lpstr>
      <vt:lpstr>Карта курса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Процесс обучения</vt:lpstr>
      <vt:lpstr>Заполните, пожалуйста, опрос о занятии по ссылке в чате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Введение </dc:title>
  <cp:lastModifiedBy>Стурейко Игорь Олегович</cp:lastModifiedBy>
  <cp:revision>72</cp:revision>
  <dcterms:modified xsi:type="dcterms:W3CDTF">2025-03-20T06:47:20Z</dcterms:modified>
</cp:coreProperties>
</file>