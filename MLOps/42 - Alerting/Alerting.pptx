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y="5143500" cx="9144000"/>
  <p:notesSz cx="6858000" cy="9144000"/>
  <p:embeddedFontLst>
    <p:embeddedFont>
      <p:font typeface="Roboto Black"/>
      <p:bold r:id="rId51"/>
      <p:boldItalic r:id="rId52"/>
    </p:embeddedFont>
    <p:embeddedFont>
      <p:font typeface="Roboto"/>
      <p:regular r:id="rId53"/>
      <p:bold r:id="rId54"/>
      <p:italic r:id="rId55"/>
      <p:boldItalic r:id="rId56"/>
    </p:embeddedFont>
    <p:embeddedFont>
      <p:font typeface="Roboto Medium"/>
      <p:regular r:id="rId57"/>
      <p:bold r:id="rId58"/>
      <p:italic r:id="rId59"/>
      <p:boldItalic r:id="rId60"/>
    </p:embeddedFont>
    <p:embeddedFont>
      <p:font typeface="Cambria Math"/>
      <p:regular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5760">
          <p15:clr>
            <a:srgbClr val="747775"/>
          </p15:clr>
        </p15:guide>
        <p15:guide id="2" pos="5526">
          <p15:clr>
            <a:srgbClr val="747775"/>
          </p15:clr>
        </p15:guide>
        <p15:guide id="3" pos="4622">
          <p15:clr>
            <a:srgbClr val="747775"/>
          </p15:clr>
        </p15:guide>
        <p15:guide id="4" orient="horz" pos="3025">
          <p15:clr>
            <a:srgbClr val="747775"/>
          </p15:clr>
        </p15:guide>
        <p15:guide id="5" orient="horz" pos="1963">
          <p15:clr>
            <a:srgbClr val="747775"/>
          </p15:clr>
        </p15:guide>
        <p15:guide id="6" orient="horz" pos="3240">
          <p15:clr>
            <a:srgbClr val="747775"/>
          </p15:clr>
        </p15:guide>
        <p15:guide id="7" orient="horz" pos="2494">
          <p15:clr>
            <a:srgbClr val="747775"/>
          </p15:clr>
        </p15:guide>
        <p15:guide id="8" orient="horz" pos="773">
          <p15:clr>
            <a:srgbClr val="747775"/>
          </p15:clr>
        </p15:guide>
        <p15:guide id="9" orient="horz" pos="1382">
          <p15:clr>
            <a:srgbClr val="747775"/>
          </p15:clr>
        </p15:guide>
        <p15:guide id="10" pos="429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D9AC08A-DD45-4295-87C0-87B3C1F3F530}">
  <a:tblStyle styleId="{0D9AC08A-DD45-4295-87C0-87B3C1F3F53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760"/>
        <p:guide pos="5526"/>
        <p:guide pos="4622"/>
        <p:guide pos="3025" orient="horz"/>
        <p:guide pos="1963" orient="horz"/>
        <p:guide pos="3240" orient="horz"/>
        <p:guide pos="2494" orient="horz"/>
        <p:guide pos="773" orient="horz"/>
        <p:guide pos="1382" orient="horz"/>
        <p:guide pos="429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1" Type="http://schemas.openxmlformats.org/officeDocument/2006/relationships/font" Target="fonts/CambriaMath-regular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RobotoMedium-boldItalic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RobotoBlack-bold.fntdata"/><Relationship Id="rId50" Type="http://schemas.openxmlformats.org/officeDocument/2006/relationships/slide" Target="slides/slide44.xml"/><Relationship Id="rId53" Type="http://schemas.openxmlformats.org/officeDocument/2006/relationships/font" Target="fonts/Roboto-regular.fntdata"/><Relationship Id="rId52" Type="http://schemas.openxmlformats.org/officeDocument/2006/relationships/font" Target="fonts/RobotoBlack-boldItalic.fntdata"/><Relationship Id="rId11" Type="http://schemas.openxmlformats.org/officeDocument/2006/relationships/slide" Target="slides/slide5.xml"/><Relationship Id="rId55" Type="http://schemas.openxmlformats.org/officeDocument/2006/relationships/font" Target="fonts/Roboto-italic.fntdata"/><Relationship Id="rId10" Type="http://schemas.openxmlformats.org/officeDocument/2006/relationships/slide" Target="slides/slide4.xml"/><Relationship Id="rId54" Type="http://schemas.openxmlformats.org/officeDocument/2006/relationships/font" Target="fonts/Roboto-bold.fntdata"/><Relationship Id="rId13" Type="http://schemas.openxmlformats.org/officeDocument/2006/relationships/slide" Target="slides/slide7.xml"/><Relationship Id="rId57" Type="http://schemas.openxmlformats.org/officeDocument/2006/relationships/font" Target="fonts/RobotoMedium-regular.fntdata"/><Relationship Id="rId12" Type="http://schemas.openxmlformats.org/officeDocument/2006/relationships/slide" Target="slides/slide6.xml"/><Relationship Id="rId56" Type="http://schemas.openxmlformats.org/officeDocument/2006/relationships/font" Target="fonts/Roboto-boldItalic.fntdata"/><Relationship Id="rId15" Type="http://schemas.openxmlformats.org/officeDocument/2006/relationships/slide" Target="slides/slide9.xml"/><Relationship Id="rId59" Type="http://schemas.openxmlformats.org/officeDocument/2006/relationships/font" Target="fonts/RobotoMedium-italic.fntdata"/><Relationship Id="rId14" Type="http://schemas.openxmlformats.org/officeDocument/2006/relationships/slide" Target="slides/slide8.xml"/><Relationship Id="rId58" Type="http://schemas.openxmlformats.org/officeDocument/2006/relationships/font" Target="fonts/RobotoMedium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jaegertracing.io/demo/" TargetMode="Externa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7a5581fd9e_0_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7a5581fd9e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7a5581fd9e_0_66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7a5581fd9e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7a5581fd9e_0_7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7a5581fd9e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7a5581fd9e_0_13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7a5581fd9e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7a5581fd9e_0_20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7a5581fd9e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7a5581fd9e_0_586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7a5581fd9e_0_5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7a5581fd9e_0_52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7a5581fd9e_0_5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7a5581fd9e_0_46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7a5581fd9e_0_4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7a5581fd9e_0_40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7a5581fd9e_0_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Observability переводится как наблюдаемость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7a5581fd9e_0_67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7a5581fd9e_0_6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Observability — это способность системы давать достаточно информации о своём внутреннем состоянии, чтобы мы могли понять, что происходит, и быстро находить причины проблем.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Обычно выделяют три ключевых компонента observability: метрики, логи, трейсинг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7a5581fd9e_0_74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7a5581fd9e_0_7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>
                <a:solidFill>
                  <a:schemeClr val="dk1"/>
                </a:solidFill>
              </a:rPr>
              <a:t>Для чего нужно?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>
                <a:solidFill>
                  <a:schemeClr val="dk1"/>
                </a:solidFill>
              </a:rPr>
              <a:t>Позволяют отслеживать работу сервисов в реальном времени.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>
                <a:solidFill>
                  <a:schemeClr val="dk1"/>
                </a:solidFill>
              </a:rPr>
              <a:t>Помогают замечать отклонения и тренды (например, рост задержки).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>
                <a:solidFill>
                  <a:schemeClr val="dk1"/>
                </a:solidFill>
              </a:rPr>
              <a:t>Являются основой для алертов.</a:t>
            </a:r>
            <a:br>
              <a:rPr lang="r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br>
              <a:rPr lang="ru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7a5581fd9e_0_81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7a5581fd9e_0_8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>
                <a:solidFill>
                  <a:schemeClr val="dk1"/>
                </a:solidFill>
              </a:rPr>
              <a:t>Для чего нужно?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>
                <a:solidFill>
                  <a:schemeClr val="dk1"/>
                </a:solidFill>
              </a:rPr>
              <a:t>Помогают понять контекст при возникновении проблем.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>
                <a:solidFill>
                  <a:schemeClr val="dk1"/>
                </a:solidFill>
              </a:rPr>
              <a:t>Используются для отладки и анализа инцидентов.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>
                <a:solidFill>
                  <a:schemeClr val="dk1"/>
                </a:solidFill>
              </a:rPr>
              <a:t>Позволяют находить детали, которые не видны в метриках.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Тесты для логов, особенно для CLI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7a5581fd9e_0_82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7a5581fd9e_0_8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>
                <a:solidFill>
                  <a:schemeClr val="dk1"/>
                </a:solidFill>
              </a:rPr>
              <a:t>Для чего нужно?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>
                <a:solidFill>
                  <a:schemeClr val="dk1"/>
                </a:solidFill>
              </a:rPr>
              <a:t>Позволяет находить «узкие места» и долгие вызовы.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>
                <a:solidFill>
                  <a:schemeClr val="dk1"/>
                </a:solidFill>
              </a:rPr>
              <a:t>Помогает отследить путь запроса от пользователя до модели и базы данных.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>
                <a:solidFill>
                  <a:schemeClr val="dk1"/>
                </a:solidFill>
              </a:rPr>
              <a:t>Особенно важно в распределённых ML системах (например, API → сервис модели → хранилище признаков).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2"/>
              </a:rPr>
              <a:t>Jaeger live demo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7a5581fd9e_0_83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7a5581fd9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В итоге observability в ML — это не только «система работает или нет», но и «насколько хорошо работает модель и данные, на которых она основана».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7a5581fd9e_0_85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7a5581fd9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>
                <a:solidFill>
                  <a:schemeClr val="dk1"/>
                </a:solidFill>
              </a:rPr>
              <a:t>Для чего нужно?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>
                <a:solidFill>
                  <a:schemeClr val="dk1"/>
                </a:solidFill>
              </a:rPr>
              <a:t>Отслеживание качества предсказаний (accuracy, precision, recall).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>
                <a:solidFill>
                  <a:schemeClr val="dk1"/>
                </a:solidFill>
              </a:rPr>
              <a:t>Контроль дрейфа данных и признаков.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>
                <a:solidFill>
                  <a:schemeClr val="dk1"/>
                </a:solidFill>
              </a:rPr>
              <a:t>Мониторинг бизнес-метрик, зависящих от модели (например, конверсии).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>
                <a:solidFill>
                  <a:schemeClr val="dk1"/>
                </a:solidFill>
              </a:rPr>
              <a:t>В LLM-системах важно отслеживать цепочки вызовов (prompts, retries, external tools).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7a5581fd9e_0_96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7a5581fd9e_0_9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7a5581fd9e_0_171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7a5581fd9e_0_17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7a5581fd9e_0_95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7a5581fd9e_0_9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7a5581fd9e_0_94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7a5581fd9e_0_9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7a5581fd9e_0_154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7a5581fd9e_0_15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ru">
                <a:solidFill>
                  <a:schemeClr val="dk1"/>
                </a:solidFill>
              </a:rPr>
              <a:t>Метрика</a:t>
            </a:r>
            <a:r>
              <a:rPr lang="ru">
                <a:solidFill>
                  <a:schemeClr val="dk1"/>
                </a:solidFill>
              </a:rPr>
              <a:t> — это </a:t>
            </a:r>
            <a:r>
              <a:rPr b="1" lang="ru">
                <a:solidFill>
                  <a:schemeClr val="dk1"/>
                </a:solidFill>
              </a:rPr>
              <a:t>измерение</a:t>
            </a:r>
            <a:r>
              <a:rPr lang="ru">
                <a:solidFill>
                  <a:schemeClr val="dk1"/>
                </a:solidFill>
              </a:rPr>
              <a:t> (временной ряд), которое мы визуализируем и анализируем.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ru">
                <a:solidFill>
                  <a:schemeClr val="dk1"/>
                </a:solidFill>
              </a:rPr>
              <a:t>Алерт</a:t>
            </a:r>
            <a:r>
              <a:rPr lang="ru">
                <a:solidFill>
                  <a:schemeClr val="dk1"/>
                </a:solidFill>
              </a:rPr>
              <a:t> — это </a:t>
            </a:r>
            <a:r>
              <a:rPr b="1" lang="ru">
                <a:solidFill>
                  <a:schemeClr val="dk1"/>
                </a:solidFill>
              </a:rPr>
              <a:t>правило + состояние + уведомление</a:t>
            </a:r>
            <a:r>
              <a:rPr lang="ru">
                <a:solidFill>
                  <a:schemeClr val="dk1"/>
                </a:solidFill>
              </a:rPr>
              <a:t>, построенное на метриках/логах/трейсах/чеках данных.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Ключевые различия: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>
                <a:solidFill>
                  <a:schemeClr val="dk1"/>
                </a:solidFill>
              </a:rPr>
              <a:t>Метрик могут быть тысячи; </a:t>
            </a:r>
            <a:r>
              <a:rPr b="1" lang="ru">
                <a:solidFill>
                  <a:schemeClr val="dk1"/>
                </a:solidFill>
              </a:rPr>
              <a:t>алертов должно быть мало и только про действие</a:t>
            </a:r>
            <a:r>
              <a:rPr lang="ru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>
                <a:solidFill>
                  <a:schemeClr val="dk1"/>
                </a:solidFill>
              </a:rPr>
              <a:t>Метрика отвечает на «что происходит», алерт — «нужно ли вмешательство прямо сейчас».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>
                <a:solidFill>
                  <a:schemeClr val="dk1"/>
                </a:solidFill>
              </a:rPr>
              <a:t>Хорошие алерты обычно привязаны к </a:t>
            </a:r>
            <a:r>
              <a:rPr b="1" lang="ru">
                <a:solidFill>
                  <a:schemeClr val="dk1"/>
                </a:solidFill>
              </a:rPr>
              <a:t>SLO/SLI</a:t>
            </a:r>
            <a:r>
              <a:rPr lang="ru">
                <a:solidFill>
                  <a:schemeClr val="dk1"/>
                </a:solidFill>
              </a:rPr>
              <a:t> и бизнес-рискам; метрики — к общей наблюдаемости и анализу.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7a5581fd9e_0_163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7a5581fd9e_0_16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ru">
                <a:solidFill>
                  <a:schemeClr val="dk1"/>
                </a:solidFill>
              </a:rPr>
              <a:t>Ранняя реакция на сбои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lang="ru">
                <a:solidFill>
                  <a:schemeClr val="dk1"/>
                </a:solidFill>
              </a:rPr>
              <a:t>Алерты позволяют быстро узнавать о проблемах, до того как их замечает пользователь или бизнес. Примеры для ML: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lang="ru">
                <a:solidFill>
                  <a:schemeClr val="dk1"/>
                </a:solidFill>
              </a:rPr>
              <a:t>Сервис инференса недоступен → запросы пользователей падают в 5xx.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lang="ru">
                <a:solidFill>
                  <a:schemeClr val="dk1"/>
                </a:solidFill>
              </a:rPr>
              <a:t>Пайплайн обновления признаков завис → новые данные не подгружаются.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ru">
                <a:solidFill>
                  <a:schemeClr val="dk1"/>
                </a:solidFill>
              </a:rPr>
              <a:t>Поддержка SLA/SLO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lang="ru">
                <a:solidFill>
                  <a:schemeClr val="dk1"/>
                </a:solidFill>
              </a:rPr>
              <a:t>SLA (Service Level Agreement) и SLO (Service Level Objective) — обязательства по доступности и качеству сервиса.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lang="ru">
                <a:solidFill>
                  <a:schemeClr val="dk1"/>
                </a:solidFill>
              </a:rPr>
              <a:t>Алерты помогают вовремя реагировать на события, которые могут нарушить эти показатели.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lang="ru">
                <a:solidFill>
                  <a:schemeClr val="dk1"/>
                </a:solidFill>
              </a:rPr>
              <a:t>Пример: p95 latency инференса &gt; 500 мс в течение 10 минут → может нарушиться SLO по задержке.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ru">
                <a:solidFill>
                  <a:schemeClr val="dk1"/>
                </a:solidFill>
              </a:rPr>
              <a:t>Защита бизнес-метрик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lang="ru">
                <a:solidFill>
                  <a:schemeClr val="dk1"/>
                </a:solidFill>
              </a:rPr>
              <a:t>В ML-продуктах алерты нужны не только для инфраструктуры, но и для бизнес-показателей.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lang="ru">
                <a:solidFill>
                  <a:schemeClr val="dk1"/>
                </a:solidFill>
              </a:rPr>
              <a:t>Если модель начинает деградировать, это напрямую влияет на бизнес. Примеры:</a:t>
            </a:r>
            <a:endParaRPr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romanLcPeriod"/>
            </a:pPr>
            <a:r>
              <a:rPr lang="ru">
                <a:solidFill>
                  <a:schemeClr val="dk1"/>
                </a:solidFill>
              </a:rPr>
              <a:t>CTR рекомендательной модели упал на 30% → конверсия падает.</a:t>
            </a:r>
            <a:endParaRPr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romanLcPeriod"/>
            </a:pPr>
            <a:r>
              <a:rPr lang="ru">
                <a:solidFill>
                  <a:schemeClr val="dk1"/>
                </a:solidFill>
              </a:rPr>
              <a:t>Ошибка классификатора выросла → пользователи получают нерелевантные результаты.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lang="ru">
                <a:solidFill>
                  <a:schemeClr val="dk1"/>
                </a:solidFill>
              </a:rPr>
              <a:t>В LLM-приложениях: резкий рост доли неуспешных tool-calls → ответы становятся бесполезными.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ru">
                <a:solidFill>
                  <a:schemeClr val="dk1"/>
                </a:solidFill>
              </a:rPr>
              <a:t>Сокращение времени о</a:t>
            </a:r>
            <a:r>
              <a:rPr b="1" lang="ru">
                <a:solidFill>
                  <a:schemeClr val="dk1"/>
                </a:solidFill>
              </a:rPr>
              <a:t>бслуживания системы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lang="ru">
                <a:solidFill>
                  <a:schemeClr val="dk1"/>
                </a:solidFill>
              </a:rPr>
              <a:t>Алерты помогают быстрее обнаружить проблему (MTTD) и сократить время восстановления (MTTR). Без алертов инженеры узнают о сбое от пользователей или случайно в логах.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ru">
                <a:solidFill>
                  <a:schemeClr val="dk1"/>
                </a:solidFill>
              </a:rPr>
              <a:t>Автоматизация и self-healing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lang="ru">
                <a:solidFill>
                  <a:schemeClr val="dk1"/>
                </a:solidFill>
              </a:rPr>
              <a:t>Некоторые алерты могут запускать автоматические действия: перезапуск pod-а, переключение на резервную модель, масштабирование ресурса. Это снижает нагрузку на инженеров и повышает стабильность ML-сервисов.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ru">
                <a:solidFill>
                  <a:schemeClr val="dk1"/>
                </a:solidFill>
              </a:rPr>
              <a:t>Предотвращение проблем (early warning)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lang="ru">
                <a:solidFill>
                  <a:schemeClr val="dk1"/>
                </a:solidFill>
              </a:rPr>
              <a:t>Алерты могут быть «ранними сигналами», когда ещё не всё сломалось, но проблема назревает. Например: задержка в Kafka растёт, значит, через пару часов пайплайн не уложится в SLA.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ru">
                <a:solidFill>
                  <a:schemeClr val="dk1"/>
                </a:solidFill>
              </a:rPr>
              <a:t>Поддержка командной работы и эскалации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lang="ru">
                <a:solidFill>
                  <a:schemeClr val="dk1"/>
                </a:solidFill>
              </a:rPr>
              <a:t>Алерты помогают правильно распределять ответственность — кто должен реагировать: DevOps, Data Engineer или ML Engineer. Это снижает хаос во время инцидентов.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7a5581fd9e_0_164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7a5581fd9e_0_16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7a5581fd9e_0_167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7a5581fd9e_0_16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dk1"/>
                </a:solidFill>
              </a:rPr>
              <a:t>Компоненты формулы: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ru">
                <a:solidFill>
                  <a:schemeClr val="dk1"/>
                </a:solidFill>
              </a:rPr>
              <a:t>Согласованное время обслуживания (Agreed Service Time)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>
                <a:solidFill>
                  <a:schemeClr val="dk1"/>
                </a:solidFill>
              </a:rPr>
              <a:t>Это перио</a:t>
            </a:r>
            <a:r>
              <a:rPr lang="ru">
                <a:solidFill>
                  <a:schemeClr val="dk1"/>
                </a:solidFill>
              </a:rPr>
              <a:t>д</a:t>
            </a:r>
            <a:r>
              <a:rPr lang="ru">
                <a:solidFill>
                  <a:schemeClr val="dk1"/>
                </a:solidFill>
              </a:rPr>
              <a:t> времени, в течение которого сервис должен быть доступен пользователям.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>
                <a:solidFill>
                  <a:schemeClr val="dk1"/>
                </a:solidFill>
              </a:rPr>
              <a:t>Обычно определ</a:t>
            </a:r>
            <a:r>
              <a:rPr lang="ru">
                <a:solidFill>
                  <a:schemeClr val="dk1"/>
                </a:solidFill>
              </a:rPr>
              <a:t>я</a:t>
            </a:r>
            <a:r>
              <a:rPr lang="ru">
                <a:solidFill>
                  <a:schemeClr val="dk1"/>
                </a:solidFill>
              </a:rPr>
              <a:t>ется в SLA (Service Level Agreement).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>
                <a:solidFill>
                  <a:schemeClr val="dk1"/>
                </a:solidFill>
              </a:rPr>
              <a:t>Примеры:</a:t>
            </a:r>
            <a:endParaRPr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ru">
                <a:solidFill>
                  <a:schemeClr val="dk1"/>
                </a:solidFill>
              </a:rPr>
              <a:t>Сервис инференса ML модели должен работать 24/7.</a:t>
            </a:r>
            <a:endParaRPr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ru">
                <a:solidFill>
                  <a:schemeClr val="dk1"/>
                </a:solidFill>
              </a:rPr>
              <a:t>Внутренний аналитический сервис доступен с 9:00 до 18:00 в будни.</a:t>
            </a:r>
            <a:br>
              <a:rPr lang="r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ru">
                <a:solidFill>
                  <a:schemeClr val="dk1"/>
                </a:solidFill>
              </a:rPr>
              <a:t>Время простоя (Downtime)</a:t>
            </a:r>
            <a:br>
              <a:rPr b="1" lang="ru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>
                <a:solidFill>
                  <a:schemeClr val="dk1"/>
                </a:solidFill>
              </a:rPr>
              <a:t>Периоды, когда сервис не выполнял свои функции.</a:t>
            </a:r>
            <a:br>
              <a:rPr lang="ru">
                <a:solidFill>
                  <a:schemeClr val="dk1"/>
                </a:solidFill>
              </a:rPr>
            </a:br>
            <a:r>
              <a:rPr lang="ru">
                <a:solidFill>
                  <a:schemeClr val="dk1"/>
                </a:solidFill>
              </a:rPr>
              <a:t>Downtime может быть вызван авариями, багами, инфраструктурными сбоями или обновлениями.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>
                <a:solidFill>
                  <a:schemeClr val="dk1"/>
                </a:solidFill>
              </a:rPr>
              <a:t>Примеры:</a:t>
            </a:r>
            <a:endParaRPr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ru">
                <a:solidFill>
                  <a:schemeClr val="dk1"/>
                </a:solidFill>
              </a:rPr>
              <a:t>API инференса возвращал 5xx ошибки 30 минут.</a:t>
            </a:r>
            <a:endParaRPr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ru">
                <a:solidFill>
                  <a:schemeClr val="dk1"/>
                </a:solidFill>
              </a:rPr>
              <a:t>Пайплайн обновления фич не отработал, и сервис использовал устаревшие данные.</a:t>
            </a:r>
            <a:br>
              <a:rPr lang="r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>
                <a:solidFill>
                  <a:schemeClr val="dk1"/>
                </a:solidFill>
              </a:rPr>
              <a:t>Примеры расчётов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>
                <a:solidFill>
                  <a:schemeClr val="dk1"/>
                </a:solidFill>
              </a:rPr>
              <a:t>99% доступности → ~3.65 дня простоя в год.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>
                <a:solidFill>
                  <a:schemeClr val="dk1"/>
                </a:solidFill>
              </a:rPr>
              <a:t>99.9% доступности → ~8.76 часов простоя в год.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>
                <a:solidFill>
                  <a:schemeClr val="dk1"/>
                </a:solidFill>
              </a:rPr>
              <a:t>99.99% доступности → ~52 минуты простоя в год.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>
                <a:solidFill>
                  <a:schemeClr val="dk1"/>
                </a:solidFill>
              </a:rPr>
              <a:t>99.999% доступности («пять девяток») → ~5 минут простоя в год.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7a5581fd9e_0_1556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7a5581fd9e_0_15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Минимальный состав алерта: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ru">
                <a:solidFill>
                  <a:schemeClr val="dk1"/>
                </a:solidFill>
              </a:rPr>
              <a:t>Сигнал(ы):</a:t>
            </a:r>
            <a:r>
              <a:rPr lang="ru">
                <a:solidFill>
                  <a:schemeClr val="dk1"/>
                </a:solidFill>
              </a:rPr>
              <a:t> на что смотрим (например, p95_latency_ms, error_rate, kafka_consumer_lag, метрики качества модели).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ru">
                <a:solidFill>
                  <a:schemeClr val="dk1"/>
                </a:solidFill>
              </a:rPr>
              <a:t>Правило/условие:</a:t>
            </a:r>
            <a:r>
              <a:rPr lang="ru">
                <a:solidFill>
                  <a:schemeClr val="dk1"/>
                </a:solidFill>
              </a:rPr>
              <a:t> порог, тренд, отсутствие сигнала, аномалия, составное условие.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ru">
                <a:solidFill>
                  <a:schemeClr val="dk1"/>
                </a:solidFill>
              </a:rPr>
              <a:t>Контекст и метаданные:</a:t>
            </a:r>
            <a:r>
              <a:rPr lang="ru">
                <a:solidFill>
                  <a:schemeClr val="dk1"/>
                </a:solidFill>
              </a:rPr>
              <a:t> сервис/окружение/теги, </a:t>
            </a:r>
            <a:r>
              <a:rPr b="1" lang="ru">
                <a:solidFill>
                  <a:schemeClr val="dk1"/>
                </a:solidFill>
              </a:rPr>
              <a:t>severity</a:t>
            </a:r>
            <a:r>
              <a:rPr lang="ru">
                <a:solidFill>
                  <a:schemeClr val="dk1"/>
                </a:solidFill>
              </a:rPr>
              <a:t> (critical/warn/info), время, ссылка на дашборд.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ru">
                <a:solidFill>
                  <a:schemeClr val="dk1"/>
                </a:solidFill>
              </a:rPr>
              <a:t>Маршрутизация:</a:t>
            </a:r>
            <a:r>
              <a:rPr lang="ru">
                <a:solidFill>
                  <a:schemeClr val="dk1"/>
                </a:solidFill>
              </a:rPr>
              <a:t> куда слать (Telegram, Slack, PagerDuty), дедупликация/тихие периоды (silences), эскалации.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ru">
                <a:solidFill>
                  <a:schemeClr val="dk1"/>
                </a:solidFill>
              </a:rPr>
              <a:t>Runbook:</a:t>
            </a:r>
            <a:r>
              <a:rPr lang="ru">
                <a:solidFill>
                  <a:schemeClr val="dk1"/>
                </a:solidFill>
              </a:rPr>
              <a:t> короткая инструкция «что делать», чтобы алерт был действительно actionable.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7a5581fd9e_0_156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7a5581fd9e_0_15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Типы правил, которые часто используют: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ru">
                <a:solidFill>
                  <a:schemeClr val="dk1"/>
                </a:solidFill>
              </a:rPr>
              <a:t>Threshold:</a:t>
            </a:r>
            <a:r>
              <a:rPr lang="ru">
                <a:solidFill>
                  <a:schemeClr val="dk1"/>
                </a:solidFill>
              </a:rPr>
              <a:t> значение выше/ниже порога (например, p95 &gt; 500 мс).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ru">
                <a:solidFill>
                  <a:schemeClr val="dk1"/>
                </a:solidFill>
              </a:rPr>
              <a:t>Rate of change:</a:t>
            </a:r>
            <a:r>
              <a:rPr lang="ru">
                <a:solidFill>
                  <a:schemeClr val="dk1"/>
                </a:solidFill>
              </a:rPr>
              <a:t> резкий рост/падение (спайки ошибок).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ru">
                <a:solidFill>
                  <a:schemeClr val="dk1"/>
                </a:solidFill>
              </a:rPr>
              <a:t>Absence/heartbeat:</a:t>
            </a:r>
            <a:r>
              <a:rPr lang="ru">
                <a:solidFill>
                  <a:schemeClr val="dk1"/>
                </a:solidFill>
              </a:rPr>
              <a:t> сигнал пропал (джоб не репортит метрики, DAG не стартовал).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ru">
                <a:solidFill>
                  <a:schemeClr val="dk1"/>
                </a:solidFill>
              </a:rPr>
              <a:t>Anomaly/динамические пороги:</a:t>
            </a:r>
            <a:r>
              <a:rPr lang="ru">
                <a:solidFill>
                  <a:schemeClr val="dk1"/>
                </a:solidFill>
              </a:rPr>
              <a:t> статистическая аномалия относительно базовой линии.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ru">
                <a:solidFill>
                  <a:schemeClr val="dk1"/>
                </a:solidFill>
              </a:rPr>
              <a:t>Composite:</a:t>
            </a:r>
            <a:r>
              <a:rPr lang="ru">
                <a:solidFill>
                  <a:schemeClr val="dk1"/>
                </a:solidFill>
              </a:rPr>
              <a:t> несколько условий одновременно (например, рост 5xx </a:t>
            </a:r>
            <a:r>
              <a:rPr b="1" lang="ru">
                <a:solidFill>
                  <a:schemeClr val="dk1"/>
                </a:solidFill>
              </a:rPr>
              <a:t>и</a:t>
            </a:r>
            <a:r>
              <a:rPr lang="ru">
                <a:solidFill>
                  <a:schemeClr val="dk1"/>
                </a:solidFill>
              </a:rPr>
              <a:t> падение QPS).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7a5581fd9e_0_165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7a5581fd9e_0_16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dk1"/>
                </a:solidFill>
              </a:rPr>
              <a:t>1. По severity (уровень критичности):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ru">
                <a:solidFill>
                  <a:schemeClr val="dk1"/>
                </a:solidFill>
              </a:rPr>
              <a:t>Critical</a:t>
            </a:r>
            <a:r>
              <a:rPr lang="ru">
                <a:solidFill>
                  <a:schemeClr val="dk1"/>
                </a:solidFill>
              </a:rPr>
              <a:t> — инциденты, требующие немедленной реакции.</a:t>
            </a:r>
            <a:br>
              <a:rPr lang="ru">
                <a:solidFill>
                  <a:schemeClr val="dk1"/>
                </a:solidFill>
              </a:rPr>
            </a:br>
            <a:r>
              <a:rPr i="1" lang="ru">
                <a:solidFill>
                  <a:schemeClr val="dk1"/>
                </a:solidFill>
              </a:rPr>
              <a:t>Пример:</a:t>
            </a:r>
            <a:r>
              <a:rPr lang="ru">
                <a:solidFill>
                  <a:schemeClr val="dk1"/>
                </a:solidFill>
              </a:rPr>
              <a:t> сервис инференса недоступен, пользователи не получают ответы.</a:t>
            </a:r>
            <a:br>
              <a:rPr lang="r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ru">
                <a:solidFill>
                  <a:schemeClr val="dk1"/>
                </a:solidFill>
              </a:rPr>
              <a:t>Error</a:t>
            </a:r>
            <a:r>
              <a:rPr lang="ru">
                <a:solidFill>
                  <a:schemeClr val="dk1"/>
                </a:solidFill>
              </a:rPr>
              <a:t> — серьёзные ошибки, влияющие на корректность работы, но не приводящие к полной остановке.</a:t>
            </a:r>
            <a:br>
              <a:rPr lang="ru">
                <a:solidFill>
                  <a:schemeClr val="dk1"/>
                </a:solidFill>
              </a:rPr>
            </a:br>
            <a:r>
              <a:rPr i="1" lang="ru">
                <a:solidFill>
                  <a:schemeClr val="dk1"/>
                </a:solidFill>
              </a:rPr>
              <a:t>Пример:</a:t>
            </a:r>
            <a:r>
              <a:rPr lang="ru">
                <a:solidFill>
                  <a:schemeClr val="dk1"/>
                </a:solidFill>
              </a:rPr>
              <a:t> часть запросов к модели падает с 5xx, пайплайн фич отработал с ошибками, но не полностью упал.</a:t>
            </a:r>
            <a:br>
              <a:rPr lang="r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ru">
                <a:solidFill>
                  <a:schemeClr val="dk1"/>
                </a:solidFill>
              </a:rPr>
              <a:t>Warning</a:t>
            </a:r>
            <a:r>
              <a:rPr lang="ru">
                <a:solidFill>
                  <a:schemeClr val="dk1"/>
                </a:solidFill>
              </a:rPr>
              <a:t> — потенциальные проблемы или деградация, которые могут перерасти в серьёзные инциденты.</a:t>
            </a:r>
            <a:br>
              <a:rPr lang="ru">
                <a:solidFill>
                  <a:schemeClr val="dk1"/>
                </a:solidFill>
              </a:rPr>
            </a:br>
            <a:r>
              <a:rPr i="1" lang="ru">
                <a:solidFill>
                  <a:schemeClr val="dk1"/>
                </a:solidFill>
              </a:rPr>
              <a:t>Пример:</a:t>
            </a:r>
            <a:r>
              <a:rPr lang="ru">
                <a:solidFill>
                  <a:schemeClr val="dk1"/>
                </a:solidFill>
              </a:rPr>
              <a:t> рост latency или Kafka lag, но в пределах SLA.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ru">
                <a:solidFill>
                  <a:schemeClr val="dk1"/>
                </a:solidFill>
              </a:rPr>
              <a:t>Info</a:t>
            </a:r>
            <a:r>
              <a:rPr lang="ru">
                <a:solidFill>
                  <a:schemeClr val="dk1"/>
                </a:solidFill>
              </a:rPr>
              <a:t> </a:t>
            </a:r>
            <a:r>
              <a:rPr lang="ru">
                <a:solidFill>
                  <a:schemeClr val="dk1"/>
                </a:solidFill>
              </a:rPr>
              <a:t>— </a:t>
            </a:r>
            <a:r>
              <a:rPr lang="ru">
                <a:solidFill>
                  <a:schemeClr val="dk1"/>
                </a:solidFill>
              </a:rPr>
              <a:t>можно но не </a:t>
            </a:r>
            <a:r>
              <a:rPr lang="ru">
                <a:solidFill>
                  <a:schemeClr val="dk1"/>
                </a:solidFill>
              </a:rPr>
              <a:t>рекомендую</a:t>
            </a:r>
            <a:br>
              <a:rPr lang="ru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dk1"/>
                </a:solidFill>
              </a:rPr>
              <a:t>2. По источнику (тип системы, где срабатывает алерт):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ru">
                <a:solidFill>
                  <a:schemeClr val="dk1"/>
                </a:solidFill>
              </a:rPr>
              <a:t>Микросервисы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>
                <a:solidFill>
                  <a:schemeClr val="dk1"/>
                </a:solidFill>
              </a:rPr>
              <a:t>Ошибки HTTP 5xx, рост p95/p99 latency, увеличение error rate.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>
                <a:solidFill>
                  <a:schemeClr val="dk1"/>
                </a:solidFill>
              </a:rPr>
              <a:t>Пример: сервис инференса модели отвечает с ошибками, пользователи получают пустые результаты.</a:t>
            </a:r>
            <a:br>
              <a:rPr lang="r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ru">
                <a:solidFill>
                  <a:schemeClr val="dk1"/>
                </a:solidFill>
              </a:rPr>
              <a:t>Базы данных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>
                <a:solidFill>
                  <a:schemeClr val="dk1"/>
                </a:solidFill>
              </a:rPr>
              <a:t>Ошибки подключения, исчерпание соединений, рост размера БД, деградация времени отклика.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>
                <a:solidFill>
                  <a:schemeClr val="dk1"/>
                </a:solidFill>
              </a:rPr>
              <a:t>Пример: хранилище признаков недоступно → модель инференса возвращает ошибки.</a:t>
            </a:r>
            <a:br>
              <a:rPr lang="r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ru">
                <a:solidFill>
                  <a:schemeClr val="dk1"/>
                </a:solidFill>
              </a:rPr>
              <a:t>Очереди / топики (Kafka, RabbitMQ)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>
                <a:solidFill>
                  <a:schemeClr val="dk1"/>
                </a:solidFill>
              </a:rPr>
              <a:t>Рост consumer lag, задержки обработки сообщений, переполнение очередей.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>
                <a:solidFill>
                  <a:schemeClr val="dk1"/>
                </a:solidFill>
              </a:rPr>
              <a:t>Пример: пайплайн обработки логов модели не справляется с потоком данных → данные приходят с задержкой.</a:t>
            </a:r>
            <a:br>
              <a:rPr lang="r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ru">
                <a:solidFill>
                  <a:schemeClr val="dk1"/>
                </a:solidFill>
              </a:rPr>
              <a:t>ML-данные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>
                <a:solidFill>
                  <a:schemeClr val="dk1"/>
                </a:solidFill>
              </a:rPr>
              <a:t>Дрейф признаков (изменилось распределение входных данных).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>
                <a:solidFill>
                  <a:schemeClr val="dk1"/>
                </a:solidFill>
              </a:rPr>
              <a:t>Аномалии в распределении (например, одна категория внезапно стала 90% данных).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>
                <a:solidFill>
                  <a:schemeClr val="dk1"/>
                </a:solidFill>
              </a:rPr>
              <a:t>Пропуски или некорректные значения (NaN, пустые поля).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>
                <a:solidFill>
                  <a:schemeClr val="dk1"/>
                </a:solidFill>
              </a:rPr>
              <a:t>Пример: модель получает данные в другом масштабе → качество резко падает.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dk1"/>
                </a:solidFill>
              </a:rPr>
              <a:t>3.</a:t>
            </a:r>
            <a:r>
              <a:rPr b="1" lang="ru">
                <a:solidFill>
                  <a:schemeClr val="dk1"/>
                </a:solidFill>
              </a:rPr>
              <a:t> По severity системы: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ru">
                <a:solidFill>
                  <a:schemeClr val="dk1"/>
                </a:solidFill>
              </a:rPr>
              <a:t>Mission critical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>
                <a:solidFill>
                  <a:schemeClr val="dk1"/>
                </a:solidFill>
              </a:rPr>
              <a:t>Системы, простой которых наносит прямой и крупный ущерб бизнесу.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>
                <a:solidFill>
                  <a:schemeClr val="dk1"/>
                </a:solidFill>
              </a:rPr>
              <a:t>Пример: API инференса модели в рекомендательной системе интернет-магазина; система биллинга.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ru">
                <a:solidFill>
                  <a:schemeClr val="dk1"/>
                </a:solidFill>
              </a:rPr>
              <a:t>Business critical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>
                <a:solidFill>
                  <a:schemeClr val="dk1"/>
                </a:solidFill>
              </a:rPr>
              <a:t>Системы, сбой которых серьёзно влияет на работу, но не останавливает бизнес полностью.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>
                <a:solidFill>
                  <a:schemeClr val="dk1"/>
                </a:solidFill>
              </a:rPr>
              <a:t>Пример: пайплайн подготовки данных для ML модели; CRM для поддержки клиентов.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ru">
                <a:solidFill>
                  <a:schemeClr val="dk1"/>
                </a:solidFill>
              </a:rPr>
              <a:t>Business operational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>
                <a:solidFill>
                  <a:schemeClr val="dk1"/>
                </a:solidFill>
              </a:rPr>
              <a:t>Системы, которые нужны для эффективной работы, но сбой не ведёт к немедленным убыткам.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>
                <a:solidFill>
                  <a:schemeClr val="dk1"/>
                </a:solidFill>
              </a:rPr>
              <a:t>Пример: аналитическая витрина данных, отчёты о качестве модели.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ru">
                <a:solidFill>
                  <a:schemeClr val="dk1"/>
                </a:solidFill>
              </a:rPr>
              <a:t>Office productivity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>
                <a:solidFill>
                  <a:schemeClr val="dk1"/>
                </a:solidFill>
              </a:rPr>
              <a:t>Вспомогательные системы для сотрудников. Их сбой снижает удобство, но не влияет напрямую на клиентов.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>
                <a:solidFill>
                  <a:schemeClr val="dk1"/>
                </a:solidFill>
              </a:rPr>
              <a:t>Пример: внутренний чат, система бронирования переговорок.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dk1"/>
                </a:solidFill>
              </a:rPr>
              <a:t>Кто определяет критичность системы?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>
                <a:solidFill>
                  <a:schemeClr val="dk1"/>
                </a:solidFill>
              </a:rPr>
              <a:t>Систему оценивает бизнес, а не IT.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>
                <a:solidFill>
                  <a:schemeClr val="dk1"/>
                </a:solidFill>
              </a:rPr>
              <a:t>Критичность не должна определяться сложностью обслуживания или временем инженера.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>
                <a:solidFill>
                  <a:schemeClr val="dk1"/>
                </a:solidFill>
              </a:rPr>
              <a:t>Единственный критерий — потери бизнеса от простоя системы.</a:t>
            </a:r>
            <a:br>
              <a:rPr lang="r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dk1"/>
                </a:solidFill>
              </a:rPr>
              <a:t>Как правильно оценивать критичность?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>
                <a:solidFill>
                  <a:schemeClr val="dk1"/>
                </a:solidFill>
              </a:rPr>
              <a:t>Формулировки вопросов для оценки должны предусматривать возможность верификации.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>
                <a:solidFill>
                  <a:schemeClr val="dk1"/>
                </a:solidFill>
              </a:rPr>
              <a:t>Основаны на экспертном мнении, но эксперт обязан объяснить, почему выставил именно такую оценку.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>
                <a:solidFill>
                  <a:schemeClr val="dk1"/>
                </a:solidFill>
              </a:rPr>
              <a:t>Важные факторы: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>
                <a:solidFill>
                  <a:schemeClr val="dk1"/>
                </a:solidFill>
              </a:rPr>
              <a:t>Приоритет восстановления при массовых инцидентах.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>
                <a:solidFill>
                  <a:schemeClr val="dk1"/>
                </a:solidFill>
              </a:rPr>
              <a:t>SLA и убытки бизнеса при нарушении.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>
                <a:solidFill>
                  <a:schemeClr val="dk1"/>
                </a:solidFill>
              </a:rPr>
              <a:t>Характеристики надежности стандартных решений и их стоимость.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7a5581fd9e_0_170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7a5581fd9e_0_17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>
                <a:solidFill>
                  <a:schemeClr val="dk1"/>
                </a:solidFill>
              </a:rPr>
              <a:t>1. Важно понимать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>
                <a:solidFill>
                  <a:schemeClr val="dk1"/>
                </a:solidFill>
              </a:rPr>
              <a:t>Grafana = визуализация и базовое alerting.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>
                <a:solidFill>
                  <a:schemeClr val="dk1"/>
                </a:solidFill>
              </a:rPr>
              <a:t>Но alert manager — это отдельный компонент, который управляет правилами, маршрутизацией и эскалацией уведомлений.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>
                <a:solidFill>
                  <a:schemeClr val="dk1"/>
                </a:solidFill>
              </a:rPr>
              <a:t>Он отвечает за то, кто и как узнает о проблеме.</a:t>
            </a:r>
            <a:br>
              <a:rPr lang="r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>
                <a:solidFill>
                  <a:schemeClr val="dk1"/>
                </a:solidFill>
              </a:rPr>
              <a:t>2. Основные системы: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ru">
                <a:solidFill>
                  <a:schemeClr val="dk1"/>
                </a:solidFill>
              </a:rPr>
              <a:t>Prometheus Alertmanager</a:t>
            </a:r>
            <a:br>
              <a:rPr b="1" lang="ru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>
                <a:solidFill>
                  <a:schemeClr val="dk1"/>
                </a:solidFill>
              </a:rPr>
              <a:t>Дефолтное решение в Kubernetes/Cloud Native.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>
                <a:solidFill>
                  <a:schemeClr val="dk1"/>
                </a:solidFill>
              </a:rPr>
              <a:t>Работает с правилами Prometheus.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>
                <a:solidFill>
                  <a:schemeClr val="dk1"/>
                </a:solidFill>
              </a:rPr>
              <a:t>Поддерживает: группировку алертов, дедупликацию, silences (тихие периоды), маршрутизацию (Slack, Telegram, Email).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>
                <a:solidFill>
                  <a:schemeClr val="dk1"/>
                </a:solidFill>
              </a:rPr>
              <a:t>Классика для MLOps — ставится вместе с Prometheus и Grafana.</a:t>
            </a:r>
            <a:br>
              <a:rPr lang="r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ru">
                <a:solidFill>
                  <a:schemeClr val="dk1"/>
                </a:solidFill>
              </a:rPr>
              <a:t>Grafana Alerting</a:t>
            </a:r>
            <a:br>
              <a:rPr b="1" lang="ru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>
                <a:solidFill>
                  <a:schemeClr val="dk1"/>
                </a:solidFill>
              </a:rPr>
              <a:t>Раньше в Grafana были только алерты на дашбордах → теперь есть полноценный модуль.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>
                <a:solidFill>
                  <a:schemeClr val="dk1"/>
                </a:solidFill>
              </a:rPr>
              <a:t>Умеет работать не только с Prometheus, но и с другими источниками (InfluxDB, Loki и др.).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>
                <a:solidFill>
                  <a:schemeClr val="dk1"/>
                </a:solidFill>
              </a:rPr>
              <a:t>Можно использовать как лёгкую альтернативу Alertmanager.</a:t>
            </a:r>
            <a:br>
              <a:rPr lang="r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ru">
                <a:solidFill>
                  <a:schemeClr val="dk1"/>
                </a:solidFill>
              </a:rPr>
              <a:t>Opsgenie, PagerDuty, VictorOps</a:t>
            </a:r>
            <a:br>
              <a:rPr b="1" lang="ru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>
                <a:solidFill>
                  <a:schemeClr val="dk1"/>
                </a:solidFill>
              </a:rPr>
              <a:t>Коммерческие системы, часто используются в больших компаниях.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>
                <a:solidFill>
                  <a:schemeClr val="dk1"/>
                </a:solidFill>
              </a:rPr>
              <a:t>Главное отличие: фокус на on-call и эскалации — звонки, SMS, графики дежурств.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>
                <a:solidFill>
                  <a:schemeClr val="dk1"/>
                </a:solidFill>
              </a:rPr>
              <a:t>Удобны, если команда распределена по часовым поясам.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dk1"/>
                </a:solidFill>
              </a:rPr>
              <a:t>Sentry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>
                <a:solidFill>
                  <a:schemeClr val="dk1"/>
                </a:solidFill>
              </a:rPr>
              <a:t>Это не классический alert manager, а система мониторинга ошибок приложений.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>
                <a:solidFill>
                  <a:schemeClr val="dk1"/>
                </a:solidFill>
              </a:rPr>
              <a:t>Она интегрируется прямо в код микросервиса (SDK для Python, Node.js, Go и др.).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>
                <a:solidFill>
                  <a:schemeClr val="dk1"/>
                </a:solidFill>
              </a:rPr>
              <a:t>Автоматически собирает: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>
                <a:solidFill>
                  <a:schemeClr val="dk1"/>
                </a:solidFill>
              </a:rPr>
              <a:t>стектрейсы ошибок,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>
                <a:solidFill>
                  <a:schemeClr val="dk1"/>
                </a:solidFill>
              </a:rPr>
              <a:t>контекст (какой пользователь, какой запрос),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>
                <a:solidFill>
                  <a:schemeClr val="dk1"/>
                </a:solidFill>
              </a:rPr>
              <a:t>среду выполнения.</a:t>
            </a:r>
            <a:br>
              <a:rPr lang="r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>
                <a:solidFill>
                  <a:schemeClr val="dk1"/>
                </a:solidFill>
              </a:rPr>
              <a:t>Позволяет быстро понять, </a:t>
            </a:r>
            <a:r>
              <a:rPr b="1" lang="ru">
                <a:solidFill>
                  <a:schemeClr val="dk1"/>
                </a:solidFill>
              </a:rPr>
              <a:t>где именно в коде упало</a:t>
            </a:r>
            <a:r>
              <a:rPr lang="ru">
                <a:solidFill>
                  <a:schemeClr val="dk1"/>
                </a:solidFill>
              </a:rPr>
              <a:t>, что очень полезно для микросервисной архитектуры.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>
                <a:solidFill>
                  <a:schemeClr val="dk1"/>
                </a:solidFill>
              </a:rPr>
              <a:t>Умеет слать алерты в Slack, Email, Telegram и интегрироваться с Alertmanager/PagerDuty.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br>
              <a:rPr lang="ru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7a5581fd9e_0_160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7a5581fd9e_0_16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300">
                <a:solidFill>
                  <a:schemeClr val="dk1"/>
                </a:solidFill>
              </a:rPr>
              <a:t>Неуспешный tool-call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Это ситуация, когда LLM </a:t>
            </a:r>
            <a:r>
              <a:rPr b="1" lang="ru">
                <a:solidFill>
                  <a:schemeClr val="dk1"/>
                </a:solidFill>
              </a:rPr>
              <a:t>сформировал запрос</a:t>
            </a:r>
            <a:r>
              <a:rPr lang="ru">
                <a:solidFill>
                  <a:schemeClr val="dk1"/>
                </a:solidFill>
              </a:rPr>
              <a:t>, но он завершился ошибкой: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>
                <a:solidFill>
                  <a:schemeClr val="dk1"/>
                </a:solidFill>
              </a:rPr>
              <a:t>таймаут (функция не ответила вовремя),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>
                <a:solidFill>
                  <a:schemeClr val="dk1"/>
                </a:solidFill>
              </a:rPr>
              <a:t>API вернул ошибку (404, 500),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>
                <a:solidFill>
                  <a:schemeClr val="dk1"/>
                </a:solidFill>
              </a:rPr>
              <a:t>неверный формат входных данных,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>
                <a:solidFill>
                  <a:schemeClr val="dk1"/>
                </a:solidFill>
              </a:rPr>
              <a:t>превышен лимит (rate limit, quota exceeded),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>
                <a:solidFill>
                  <a:schemeClr val="dk1"/>
                </a:solidFill>
              </a:rPr>
              <a:t>LLM неправильно сгенерировал аргументы для вызова.</a:t>
            </a:r>
            <a:br>
              <a:rPr lang="r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7a5581fd9e_0_158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7a5581fd9e_0_15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400">
                <a:solidFill>
                  <a:schemeClr val="dk1"/>
                </a:solidFill>
              </a:rPr>
              <a:t>Правила подготовки хороших алертов</a:t>
            </a:r>
            <a:endParaRPr b="1" sz="14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ru">
                <a:solidFill>
                  <a:schemeClr val="dk1"/>
                </a:solidFill>
              </a:rPr>
              <a:t>Алерт должен быть actionable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>
                <a:solidFill>
                  <a:schemeClr val="dk1"/>
                </a:solidFill>
              </a:rPr>
              <a:t>Сообщение должно вести к конкретному действию, а не просто констатировать факт.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>
                <a:solidFill>
                  <a:schemeClr val="dk1"/>
                </a:solidFill>
              </a:rPr>
              <a:t>Пример: «Error rate &gt; 5% на сервисе инференса. Проверь логи pod-а X, namespace Y».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ru">
                <a:solidFill>
                  <a:schemeClr val="dk1"/>
                </a:solidFill>
              </a:rPr>
              <a:t>Соразмерная критичность (severity levels)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>
                <a:solidFill>
                  <a:schemeClr val="dk1"/>
                </a:solidFill>
              </a:rPr>
              <a:t>Разделяй на Critical, Warning, Info.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>
                <a:solidFill>
                  <a:schemeClr val="dk1"/>
                </a:solidFill>
              </a:rPr>
              <a:t>Пример: задержка инференса &gt; 2 сек = Warning, сервис недоступен = Critical.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ru">
                <a:solidFill>
                  <a:schemeClr val="dk1"/>
                </a:solidFill>
              </a:rPr>
              <a:t>Привязка к SLO/бизнес-метрикам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>
                <a:solidFill>
                  <a:schemeClr val="dk1"/>
                </a:solidFill>
              </a:rPr>
              <a:t>Алерт срабатывает только тогда, когда инцидент может повлиять на пользователя или бизнес.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>
                <a:solidFill>
                  <a:schemeClr val="dk1"/>
                </a:solidFill>
              </a:rPr>
              <a:t>Пример</a:t>
            </a:r>
            <a:r>
              <a:rPr lang="ru">
                <a:solidFill>
                  <a:schemeClr val="dk1"/>
                </a:solidFill>
              </a:rPr>
              <a:t>:</a:t>
            </a:r>
            <a:r>
              <a:rPr lang="ru">
                <a:solidFill>
                  <a:schemeClr val="dk1"/>
                </a:solidFill>
              </a:rPr>
              <a:t> алерт на падение accuracy ниже 0.8 в течение 1 часа, а не на любой «скачок» метрики.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ru">
                <a:solidFill>
                  <a:schemeClr val="dk1"/>
                </a:solidFill>
              </a:rPr>
              <a:t>Минимизация шума (alert fatigue)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>
                <a:solidFill>
                  <a:schemeClr val="dk1"/>
                </a:solidFill>
              </a:rPr>
              <a:t>Не должно быть десятков уведомлений на одно и то же событие.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>
                <a:solidFill>
                  <a:schemeClr val="dk1"/>
                </a:solidFill>
              </a:rPr>
              <a:t>Использовать дедупликацию, «группировку» и правила тишины (silences).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ru">
                <a:solidFill>
                  <a:schemeClr val="dk1"/>
                </a:solidFill>
              </a:rPr>
              <a:t>Ясность и контекст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>
                <a:solidFill>
                  <a:schemeClr val="dk1"/>
                </a:solidFill>
              </a:rPr>
              <a:t>В тексте алерта должны быть: сервис/окружение, время, severity, ссылка на дашборд или лог.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>
                <a:solidFill>
                  <a:schemeClr val="dk1"/>
                </a:solidFill>
              </a:rPr>
              <a:t>Чем меньше догадок придётся делать инженеру, тем лучше.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ru">
                <a:solidFill>
                  <a:schemeClr val="dk1"/>
                </a:solidFill>
              </a:rPr>
              <a:t>Привязка к SLO/бизнес-метрикам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>
                <a:solidFill>
                  <a:schemeClr val="dk1"/>
                </a:solidFill>
              </a:rPr>
              <a:t>Алерт срабатывает только тогда, когда инцидент может повлиять на пользователя или бизнес.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>
                <a:solidFill>
                  <a:schemeClr val="dk1"/>
                </a:solidFill>
              </a:rPr>
              <a:t>Пример: алерт на падение accuracy ниже 0.8 в течение 1 часа, а не на любой «скачок» метрики.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ru">
                <a:solidFill>
                  <a:schemeClr val="dk1"/>
                </a:solidFill>
              </a:rPr>
              <a:t>Тестирование алертов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>
                <a:solidFill>
                  <a:schemeClr val="dk1"/>
                </a:solidFill>
              </a:rPr>
              <a:t>Алерты сами должны проверяться: есть ли ложные срабатывания, действительно ли срабатывают в случае сбоя.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>
                <a:solidFill>
                  <a:schemeClr val="dk1"/>
                </a:solidFill>
              </a:rPr>
              <a:t>«Мёртвые» алерты → вредны, их перестают воспринимать всерьёз.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300">
                <a:solidFill>
                  <a:schemeClr val="dk1"/>
                </a:solidFill>
              </a:rPr>
              <a:t>Дополнительно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dk1"/>
                </a:solidFill>
              </a:rPr>
              <a:t>Runbook в комплекте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>
                <a:solidFill>
                  <a:schemeClr val="dk1"/>
                </a:solidFill>
              </a:rPr>
              <a:t>Каждый алерт должен иметь инструкцию «что проверить» и «что делать».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>
                <a:solidFill>
                  <a:schemeClr val="dk1"/>
                </a:solidFill>
              </a:rPr>
              <a:t>Даже если это ссылка на вики или внутренний Notion.</a:t>
            </a:r>
            <a:br>
              <a:rPr lang="r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dk1"/>
                </a:solidFill>
              </a:rPr>
              <a:t>Баланс простоты и сложности правил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>
                <a:solidFill>
                  <a:schemeClr val="dk1"/>
                </a:solidFill>
              </a:rPr>
              <a:t>Простые пороги (thresholds) хорошо подходят для инфраструктуры.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>
                <a:solidFill>
                  <a:schemeClr val="dk1"/>
                </a:solidFill>
              </a:rPr>
              <a:t>Для ML-метрик — полезнее аномалия/динамический порог (например, статистическое отклонение распределения признака).</a:t>
            </a:r>
            <a:br>
              <a:rPr lang="r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dk1"/>
                </a:solidFill>
              </a:rPr>
              <a:t>Ограничение количества алертов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>
                <a:solidFill>
                  <a:schemeClr val="dk1"/>
                </a:solidFill>
              </a:rPr>
              <a:t>Лучше иметь 20 качественных сигналов, чем 200 слабых.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>
                <a:solidFill>
                  <a:schemeClr val="dk1"/>
                </a:solidFill>
              </a:rPr>
              <a:t>Убирай неиспользуемые, смотри на статистику срабатываний.</a:t>
            </a:r>
            <a:br>
              <a:rPr lang="r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dk1"/>
                </a:solidFill>
              </a:rPr>
              <a:t>Эскалация и маршрутизация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>
                <a:solidFill>
                  <a:schemeClr val="dk1"/>
                </a:solidFill>
              </a:rPr>
              <a:t>Разные алерты → разным командам (ML, инфраструктура, DevOps).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>
                <a:solidFill>
                  <a:schemeClr val="dk1"/>
                </a:solidFill>
              </a:rPr>
              <a:t>Критические алерты должны дойти до ответственного инженера в минимальное время (Telegram/PagerDuty/Slack).</a:t>
            </a:r>
            <a:br>
              <a:rPr lang="r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dk1"/>
                </a:solidFill>
              </a:rPr>
              <a:t>Ориентация на пользователя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>
                <a:solidFill>
                  <a:schemeClr val="dk1"/>
                </a:solidFill>
              </a:rPr>
              <a:t>Важно думать: «что почувствует пользователь/бизнес, если этот алерт сработает?»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>
                <a:solidFill>
                  <a:schemeClr val="dk1"/>
                </a:solidFill>
              </a:rPr>
              <a:t>Пример: пользователи не могут получить рекомендации → критично; DAG в бэч-пайплайне задержался на 10 минут → менее критично.</a:t>
            </a:r>
            <a:br>
              <a:rPr lang="r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dk1"/>
                </a:solidFill>
              </a:rPr>
              <a:t>Периодический пересмотр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>
                <a:solidFill>
                  <a:schemeClr val="dk1"/>
                </a:solidFill>
              </a:rPr>
              <a:t>Раз в квартал команды пересматривают список алертов: удаляют устаревшие, меняют пороги, добавляют новые.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>
                <a:solidFill>
                  <a:schemeClr val="dk1"/>
                </a:solidFill>
              </a:rPr>
              <a:t>ML-модели и данные меняются, алерты тоже должны эволюционировать.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7a5581fd9e_0_168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7a5581fd9e_0_16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300">
                <a:solidFill>
                  <a:schemeClr val="dk1"/>
                </a:solidFill>
              </a:rPr>
              <a:t>Что делать при алерте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ru">
                <a:solidFill>
                  <a:schemeClr val="dk1"/>
                </a:solidFill>
              </a:rPr>
              <a:t>Сообщить заказчику/бизнесу, что есть проблема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>
                <a:solidFill>
                  <a:schemeClr val="dk1"/>
                </a:solidFill>
              </a:rPr>
              <a:t>Важно предупредить вовремя: лучше сказать «мы разбираемся», чем чтобы бизнес узнал от пользователей.</a:t>
            </a:r>
            <a:br>
              <a:rPr lang="r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ru">
                <a:solidFill>
                  <a:schemeClr val="dk1"/>
                </a:solidFill>
              </a:rPr>
              <a:t>Начать диагностику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ru">
                <a:solidFill>
                  <a:schemeClr val="dk1"/>
                </a:solidFill>
              </a:rPr>
              <a:t>Логи:</a:t>
            </a:r>
            <a:r>
              <a:rPr lang="ru">
                <a:solidFill>
                  <a:schemeClr val="dk1"/>
                </a:solidFill>
              </a:rPr>
              <a:t> ищем ошибки, стектрейсы, unusual patterns.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ru">
                <a:solidFill>
                  <a:schemeClr val="dk1"/>
                </a:solidFill>
              </a:rPr>
              <a:t>Метрики и дешборды:</a:t>
            </a:r>
            <a:r>
              <a:rPr lang="ru">
                <a:solidFill>
                  <a:schemeClr val="dk1"/>
                </a:solidFill>
              </a:rPr>
              <a:t> смотрим нагрузку, latency, error rate, GPU/CPU.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ru">
                <a:solidFill>
                  <a:schemeClr val="dk1"/>
                </a:solidFill>
              </a:rPr>
              <a:t>Трейсинг:</a:t>
            </a:r>
            <a:r>
              <a:rPr lang="ru">
                <a:solidFill>
                  <a:schemeClr val="dk1"/>
                </a:solidFill>
              </a:rPr>
              <a:t> проверяем прохождение запросов через сервисы.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ru">
                <a:solidFill>
                  <a:schemeClr val="dk1"/>
                </a:solidFill>
              </a:rPr>
              <a:t>Чаты/системы алертов:</a:t>
            </a:r>
            <a:r>
              <a:rPr lang="ru">
                <a:solidFill>
                  <a:schemeClr val="dk1"/>
                </a:solidFill>
              </a:rPr>
              <a:t> возможно, в других сервисах уже заметили похожие ошибки.</a:t>
            </a:r>
            <a:br>
              <a:rPr lang="r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ru">
                <a:solidFill>
                  <a:schemeClr val="dk1"/>
                </a:solidFill>
              </a:rPr>
              <a:t>Идти чинить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>
                <a:solidFill>
                  <a:schemeClr val="dk1"/>
                </a:solidFill>
              </a:rPr>
              <a:t>Начинаем устранение проблемы: перезапуск, rollback версии, переключение на резервный сервис.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>
                <a:solidFill>
                  <a:schemeClr val="dk1"/>
                </a:solidFill>
              </a:rPr>
              <a:t>Фиксируем шаги, чтобы потом можно было включить их в постмортем.</a:t>
            </a:r>
            <a:br>
              <a:rPr lang="r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ru">
                <a:solidFill>
                  <a:schemeClr val="dk1"/>
                </a:solidFill>
              </a:rPr>
              <a:t>Постмортем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>
                <a:solidFill>
                  <a:schemeClr val="dk1"/>
                </a:solidFill>
              </a:rPr>
              <a:t>После инцидента обязательно составляем postmortem: описание проблемы, её причины, шагов по устранению, времени простоя.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>
                <a:solidFill>
                  <a:schemeClr val="dk1"/>
                </a:solidFill>
              </a:rPr>
              <a:t>Цель — не поиск виноватых, а предотвращение повторения.</a:t>
            </a:r>
            <a:br>
              <a:rPr lang="r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ru">
                <a:solidFill>
                  <a:schemeClr val="dk1"/>
                </a:solidFill>
              </a:rPr>
              <a:t>Закрытие постмортема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>
                <a:solidFill>
                  <a:schemeClr val="dk1"/>
                </a:solidFill>
              </a:rPr>
              <a:t>Реализуем корректирующие действия: фиксим баг, добавляем алерт, обновляем документацию или runbook.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>
                <a:solidFill>
                  <a:schemeClr val="dk1"/>
                </a:solidFill>
              </a:rPr>
              <a:t>Проверяем, что проблема действительно не повторится.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300">
                <a:solidFill>
                  <a:schemeClr val="dk1"/>
                </a:solidFill>
              </a:rPr>
              <a:t>Чего не делать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ru">
                <a:solidFill>
                  <a:schemeClr val="dk1"/>
                </a:solidFill>
              </a:rPr>
              <a:t>Не перекладывать ответственность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>
                <a:solidFill>
                  <a:schemeClr val="dk1"/>
                </a:solidFill>
              </a:rPr>
              <a:t>Время дорого: если алерт пришёл вам, начинайте разбор сами.</a:t>
            </a:r>
            <a:br>
              <a:rPr lang="r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ru">
                <a:solidFill>
                  <a:schemeClr val="dk1"/>
                </a:solidFill>
              </a:rPr>
              <a:t>Не игнорировать алерт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>
                <a:solidFill>
                  <a:schemeClr val="dk1"/>
                </a:solidFill>
              </a:rPr>
              <a:t>Даже если кажется, что «это шум», нужно проверить и зафиксировать.</a:t>
            </a:r>
            <a:br>
              <a:rPr lang="r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ru">
                <a:solidFill>
                  <a:schemeClr val="dk1"/>
                </a:solidFill>
              </a:rPr>
              <a:t>Не откладывать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>
                <a:solidFill>
                  <a:schemeClr val="dk1"/>
                </a:solidFill>
              </a:rPr>
              <a:t>«Посмотрю позже» = риск SLA breach и бизнес-убытков.</a:t>
            </a:r>
            <a:br>
              <a:rPr lang="r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ru">
                <a:solidFill>
                  <a:schemeClr val="dk1"/>
                </a:solidFill>
              </a:rPr>
              <a:t>Не решать на глаз «ложный алерт»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>
                <a:solidFill>
                  <a:schemeClr val="dk1"/>
                </a:solidFill>
              </a:rPr>
              <a:t>Ложный он или нет — покажет диагностика (логи, метрики).</a:t>
            </a:r>
            <a:br>
              <a:rPr lang="r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ru">
                <a:solidFill>
                  <a:schemeClr val="dk1"/>
                </a:solidFill>
              </a:rPr>
              <a:t>Не сообщать о починке без уверенности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>
                <a:solidFill>
                  <a:schemeClr val="dk1"/>
                </a:solidFill>
              </a:rPr>
              <a:t>Если проблема не устранена на 100%, бизнес должен знать реальное состояние.</a:t>
            </a:r>
            <a:br>
              <a:rPr lang="r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7a5581fd9e_0_102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37a5581fd9e_0_10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7a5581fd9e_0_177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37a5581fd9e_0_17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7a5581fd9e_0_87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37a5581fd9e_0_8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7ab3723c91_0_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37ab3723c91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7ab3723c91_0_2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37ab3723c91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>
                <a:solidFill>
                  <a:schemeClr val="dk1"/>
                </a:solidFill>
              </a:rPr>
              <a:t>Легенда: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ru">
                <a:solidFill>
                  <a:schemeClr val="dk1"/>
                </a:solidFill>
              </a:rPr>
              <a:t>Deployment → ReplicaSet → Pods</a:t>
            </a:r>
            <a:r>
              <a:rPr lang="ru">
                <a:solidFill>
                  <a:schemeClr val="dk1"/>
                </a:solidFill>
              </a:rPr>
              <a:t> — управление жизненным циклом приложения.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ru">
                <a:solidFill>
                  <a:schemeClr val="dk1"/>
                </a:solidFill>
              </a:rPr>
              <a:t>Service (ClusterIP)</a:t>
            </a:r>
            <a:r>
              <a:rPr lang="ru">
                <a:solidFill>
                  <a:schemeClr val="dk1"/>
                </a:solidFill>
              </a:rPr>
              <a:t> — единая точка, по которой Prometheus скрапит /metrics.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ru">
                <a:solidFill>
                  <a:schemeClr val="dk1"/>
                </a:solidFill>
              </a:rPr>
              <a:t>ServiceMonitor</a:t>
            </a:r>
            <a:r>
              <a:rPr lang="ru">
                <a:solidFill>
                  <a:schemeClr val="dk1"/>
                </a:solidFill>
              </a:rPr>
              <a:t> — объект CRD из kube-prometheus-stack, указывает </a:t>
            </a:r>
            <a:r>
              <a:rPr i="1" lang="ru">
                <a:solidFill>
                  <a:schemeClr val="dk1"/>
                </a:solidFill>
              </a:rPr>
              <a:t>как</a:t>
            </a:r>
            <a:r>
              <a:rPr lang="ru">
                <a:solidFill>
                  <a:schemeClr val="dk1"/>
                </a:solidFill>
              </a:rPr>
              <a:t> и </a:t>
            </a:r>
            <a:r>
              <a:rPr i="1" lang="ru">
                <a:solidFill>
                  <a:schemeClr val="dk1"/>
                </a:solidFill>
              </a:rPr>
              <a:t>что</a:t>
            </a:r>
            <a:r>
              <a:rPr lang="ru">
                <a:solidFill>
                  <a:schemeClr val="dk1"/>
                </a:solidFill>
              </a:rPr>
              <a:t> скрапить (селекторы + путь + интервал).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ru">
                <a:solidFill>
                  <a:schemeClr val="dk1"/>
                </a:solidFill>
              </a:rPr>
              <a:t>Prometheus Operator</a:t>
            </a:r>
            <a:r>
              <a:rPr lang="ru">
                <a:solidFill>
                  <a:schemeClr val="dk1"/>
                </a:solidFill>
              </a:rPr>
              <a:t> — следит за CRD, генерит конфиг Prometheus.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ru">
                <a:solidFill>
                  <a:schemeClr val="dk1"/>
                </a:solidFill>
              </a:rPr>
              <a:t>Prometheus</a:t>
            </a:r>
            <a:r>
              <a:rPr lang="ru">
                <a:solidFill>
                  <a:schemeClr val="dk1"/>
                </a:solidFill>
              </a:rPr>
              <a:t> — хранит метрики и отдает их Grafana.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ru">
                <a:solidFill>
                  <a:schemeClr val="dk1"/>
                </a:solidFill>
              </a:rPr>
              <a:t>Grafana Alerting</a:t>
            </a:r>
            <a:r>
              <a:rPr lang="ru">
                <a:solidFill>
                  <a:schemeClr val="dk1"/>
                </a:solidFill>
              </a:rPr>
              <a:t> — правила на PromQL, дальше </a:t>
            </a:r>
            <a:r>
              <a:rPr b="1" lang="ru">
                <a:solidFill>
                  <a:schemeClr val="dk1"/>
                </a:solidFill>
              </a:rPr>
              <a:t>Notification policy → Contact point (Telegram)</a:t>
            </a:r>
            <a:r>
              <a:rPr lang="ru">
                <a:solidFill>
                  <a:schemeClr val="dk1"/>
                </a:solidFill>
              </a:rPr>
              <a:t>.</a:t>
            </a:r>
            <a:br>
              <a:rPr lang="r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7ab3723c91_0_1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37ab3723c9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ru">
                <a:solidFill>
                  <a:schemeClr val="dk1"/>
                </a:solidFill>
              </a:rPr>
              <a:t>Pods</a:t>
            </a:r>
            <a:r>
              <a:rPr lang="ru">
                <a:solidFill>
                  <a:schemeClr val="dk1"/>
                </a:solidFill>
              </a:rPr>
              <a:t>: экспонируют /metrics (Instrumentator + prometheus_client).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ru">
                <a:solidFill>
                  <a:schemeClr val="dk1"/>
                </a:solidFill>
              </a:rPr>
              <a:t>Service (ClusterIP)</a:t>
            </a:r>
            <a:r>
              <a:rPr lang="ru">
                <a:solidFill>
                  <a:schemeClr val="dk1"/>
                </a:solidFill>
              </a:rPr>
              <a:t>: порт 8000, лейбл app=ml-infer.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ru">
                <a:solidFill>
                  <a:schemeClr val="dk1"/>
                </a:solidFill>
              </a:rPr>
              <a:t>ServiceMonitor</a:t>
            </a:r>
            <a:r>
              <a:rPr lang="ru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>
                <a:solidFill>
                  <a:schemeClr val="dk1"/>
                </a:solidFill>
              </a:rPr>
              <a:t>spec.selector.matchLabels.app: ml-infer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>
                <a:solidFill>
                  <a:schemeClr val="dk1"/>
                </a:solidFill>
              </a:rPr>
              <a:t>metadata.labels.release: kps ← </a:t>
            </a:r>
            <a:r>
              <a:rPr b="1" lang="ru">
                <a:solidFill>
                  <a:schemeClr val="dk1"/>
                </a:solidFill>
              </a:rPr>
              <a:t>должно совпадать</a:t>
            </a:r>
            <a:r>
              <a:rPr lang="ru">
                <a:solidFill>
                  <a:schemeClr val="dk1"/>
                </a:solidFill>
              </a:rPr>
              <a:t> с именем релиза Helm kube-prometheus-stack.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>
                <a:solidFill>
                  <a:schemeClr val="dk1"/>
                </a:solidFill>
              </a:rPr>
              <a:t>endpoints[].path: /metrics, interval: 15s.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ru">
                <a:solidFill>
                  <a:schemeClr val="dk1"/>
                </a:solidFill>
              </a:rPr>
              <a:t>Prometheus Operator</a:t>
            </a:r>
            <a:r>
              <a:rPr lang="ru">
                <a:solidFill>
                  <a:schemeClr val="dk1"/>
                </a:solidFill>
              </a:rPr>
              <a:t>: подхватывает ServiceMonitor и добавляет target в Prometheus.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ru">
                <a:solidFill>
                  <a:schemeClr val="dk1"/>
                </a:solidFill>
              </a:rPr>
              <a:t>Grafana</a:t>
            </a:r>
            <a:r>
              <a:rPr lang="ru">
                <a:solidFill>
                  <a:schemeClr val="dk1"/>
                </a:solidFill>
              </a:rPr>
              <a:t>: datasource на Prometheus, панели: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>
                <a:solidFill>
                  <a:schemeClr val="dk1"/>
                </a:solidFill>
              </a:rPr>
              <a:t>histogram_quantile(0.95, sum(rate(prediction_latency_seconds_bucket[5m])) by (le)) — </a:t>
            </a:r>
            <a:r>
              <a:rPr b="1" lang="ru">
                <a:solidFill>
                  <a:schemeClr val="dk1"/>
                </a:solidFill>
              </a:rPr>
              <a:t>p95 latency инференса</a:t>
            </a:r>
            <a:r>
              <a:rPr lang="ru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>
                <a:solidFill>
                  <a:schemeClr val="dk1"/>
                </a:solidFill>
              </a:rPr>
              <a:t>sum(increase(prediction_errors_total[5m])) / sum(increase(prediction_requests_total[5m])) — </a:t>
            </a:r>
            <a:r>
              <a:rPr b="1" lang="ru">
                <a:solidFill>
                  <a:schemeClr val="dk1"/>
                </a:solidFill>
              </a:rPr>
              <a:t>error rate</a:t>
            </a:r>
            <a:r>
              <a:rPr lang="ru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>
                <a:solidFill>
                  <a:schemeClr val="dk1"/>
                </a:solidFill>
              </a:rPr>
              <a:t>sum by (status) (rate(http_requests_total[5m])) — </a:t>
            </a:r>
            <a:r>
              <a:rPr b="1" lang="ru">
                <a:solidFill>
                  <a:schemeClr val="dk1"/>
                </a:solidFill>
              </a:rPr>
              <a:t>распределение HTTP-кодов</a:t>
            </a:r>
            <a:r>
              <a:rPr lang="ru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ru">
                <a:solidFill>
                  <a:schemeClr val="dk1"/>
                </a:solidFill>
              </a:rPr>
              <a:t>Grafana Alerting</a:t>
            </a:r>
            <a:r>
              <a:rPr lang="ru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>
                <a:solidFill>
                  <a:schemeClr val="dk1"/>
                </a:solidFill>
              </a:rPr>
              <a:t>Rule: </a:t>
            </a:r>
            <a:r>
              <a:rPr i="1" lang="ru">
                <a:solidFill>
                  <a:schemeClr val="dk1"/>
                </a:solidFill>
              </a:rPr>
              <a:t>error rate &gt; 20% for 5m</a:t>
            </a:r>
            <a:r>
              <a:rPr lang="ru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>
                <a:solidFill>
                  <a:schemeClr val="dk1"/>
                </a:solidFill>
              </a:rPr>
              <a:t>Notification policies маршрутизируют по severity в Telegram contact point.</a:t>
            </a:r>
            <a:br>
              <a:rPr lang="ru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7a5581fd9e_0_103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37a5581fd9e_0_10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7a5581fd9e_0_104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7a5581fd9e_0_10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7a5581fd9e_0_110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37a5581fd9e_0_1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7a5581fd9e_0_116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37a5581fd9e_0_1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7a5581fd9e_0_122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7a5581fd9e_0_1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7a5581fd9e_0_128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7a5581fd9e_0_1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7a5581fd9e_0_147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37a5581fd9e_0_1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7a5581fd9e_0_134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7a5581fd9e_0_13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пределение, важный тезис ">
  <p:cSld name="CUSTOM_16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135550" y="1470863"/>
            <a:ext cx="6711600" cy="1427400"/>
          </a:xfrm>
          <a:prstGeom prst="roundRect">
            <a:avLst>
              <a:gd fmla="val 16667" name="adj"/>
            </a:avLst>
          </a:prstGeom>
          <a:solidFill>
            <a:srgbClr val="40299B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" name="Google Shape;11;p2"/>
          <p:cNvSpPr txBox="1"/>
          <p:nvPr>
            <p:ph type="title"/>
          </p:nvPr>
        </p:nvSpPr>
        <p:spPr>
          <a:xfrm>
            <a:off x="1472550" y="1705988"/>
            <a:ext cx="58242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" name="Google Shape;12;p2" title="chromed-chromed-curs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002725" y="2084337"/>
            <a:ext cx="844425" cy="974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кст на градиенте">
  <p:cSld name="CUSTOM_1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718575" y="14902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sz="4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этапа процесса">
  <p:cSld name="CUSTOM_15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1012663" y="2093563"/>
            <a:ext cx="16431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0" sz="1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7" name="Google Shape;1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12613" y="10780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18" name="Google Shape;18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8051" y="10780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19" name="Google Shape;19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17378" y="10780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20" name="Google Shape;20;p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36764" y="10780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sp>
        <p:nvSpPr>
          <p:cNvPr id="21" name="Google Shape;21;p4"/>
          <p:cNvSpPr txBox="1"/>
          <p:nvPr>
            <p:ph idx="2" type="title"/>
          </p:nvPr>
        </p:nvSpPr>
        <p:spPr>
          <a:xfrm>
            <a:off x="2821988" y="2093563"/>
            <a:ext cx="16431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0" sz="1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3" type="title"/>
          </p:nvPr>
        </p:nvSpPr>
        <p:spPr>
          <a:xfrm>
            <a:off x="4631313" y="2093563"/>
            <a:ext cx="16431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0" sz="1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4" type="title"/>
          </p:nvPr>
        </p:nvSpPr>
        <p:spPr>
          <a:xfrm>
            <a:off x="6488288" y="2093563"/>
            <a:ext cx="16431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0" sz="1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 колонки с плашками">
  <p:cSld name="CUSTOM_14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>
            <a:off x="802475" y="834034"/>
            <a:ext cx="2338500" cy="32154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" name="Google Shape;26;p5"/>
          <p:cNvSpPr txBox="1"/>
          <p:nvPr>
            <p:ph type="title"/>
          </p:nvPr>
        </p:nvSpPr>
        <p:spPr>
          <a:xfrm>
            <a:off x="932675" y="1093825"/>
            <a:ext cx="20781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5"/>
          <p:cNvSpPr/>
          <p:nvPr/>
        </p:nvSpPr>
        <p:spPr>
          <a:xfrm>
            <a:off x="3313550" y="834034"/>
            <a:ext cx="2338500" cy="32154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" name="Google Shape;28;p5"/>
          <p:cNvSpPr txBox="1"/>
          <p:nvPr>
            <p:ph idx="2" type="title"/>
          </p:nvPr>
        </p:nvSpPr>
        <p:spPr>
          <a:xfrm>
            <a:off x="3443750" y="1093825"/>
            <a:ext cx="20781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5"/>
          <p:cNvSpPr/>
          <p:nvPr/>
        </p:nvSpPr>
        <p:spPr>
          <a:xfrm>
            <a:off x="5824625" y="834034"/>
            <a:ext cx="2338500" cy="32154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" name="Google Shape;30;p5"/>
          <p:cNvSpPr txBox="1"/>
          <p:nvPr>
            <p:ph idx="3" type="title"/>
          </p:nvPr>
        </p:nvSpPr>
        <p:spPr>
          <a:xfrm>
            <a:off x="5954825" y="1093825"/>
            <a:ext cx="20781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плашки с текстом">
  <p:cSld name="CUSTOM_13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>
            <a:off x="1681650" y="874100"/>
            <a:ext cx="5443800" cy="955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" name="Google Shape;33;p6"/>
          <p:cNvSpPr/>
          <p:nvPr/>
        </p:nvSpPr>
        <p:spPr>
          <a:xfrm>
            <a:off x="1681650" y="2007625"/>
            <a:ext cx="5443800" cy="955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" name="Google Shape;34;p6"/>
          <p:cNvSpPr/>
          <p:nvPr/>
        </p:nvSpPr>
        <p:spPr>
          <a:xfrm>
            <a:off x="1681650" y="3141150"/>
            <a:ext cx="5443800" cy="955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" name="Google Shape;35;p6"/>
          <p:cNvSpPr txBox="1"/>
          <p:nvPr>
            <p:ph type="title"/>
          </p:nvPr>
        </p:nvSpPr>
        <p:spPr>
          <a:xfrm>
            <a:off x="1952250" y="1024450"/>
            <a:ext cx="4902600" cy="6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None/>
              <a:defRPr b="0" sz="1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title"/>
          </p:nvPr>
        </p:nvSpPr>
        <p:spPr>
          <a:xfrm>
            <a:off x="1952250" y="3319300"/>
            <a:ext cx="4902600" cy="6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None/>
              <a:defRPr b="0" sz="1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3" type="title"/>
          </p:nvPr>
        </p:nvSpPr>
        <p:spPr>
          <a:xfrm>
            <a:off x="1952250" y="2171875"/>
            <a:ext cx="4902600" cy="6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None/>
              <a:defRPr b="0" sz="1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кст + блок для доп. информации">
  <p:cSld name="CUSTOM_1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51925" y="1026725"/>
            <a:ext cx="5259300" cy="27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None/>
              <a:defRPr b="0" sz="15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7"/>
          <p:cNvSpPr/>
          <p:nvPr/>
        </p:nvSpPr>
        <p:spPr>
          <a:xfrm>
            <a:off x="5885250" y="1078700"/>
            <a:ext cx="2623800" cy="3105900"/>
          </a:xfrm>
          <a:prstGeom prst="roundRect">
            <a:avLst>
              <a:gd fmla="val 9050" name="adj"/>
            </a:avLst>
          </a:prstGeom>
          <a:solidFill>
            <a:srgbClr val="40299B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" name="Google Shape;41;p7"/>
          <p:cNvSpPr txBox="1"/>
          <p:nvPr>
            <p:ph idx="2" type="title"/>
          </p:nvPr>
        </p:nvSpPr>
        <p:spPr>
          <a:xfrm>
            <a:off x="6054125" y="1658700"/>
            <a:ext cx="23220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Medium"/>
              <a:buNone/>
              <a:defRPr b="0" sz="1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" name="Google Shape;42;p7" title="chromed-chromed-curs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723475" y="3387512"/>
            <a:ext cx="844425" cy="974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сылка на источник">
  <p:cSld name="CUSTOM_9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/>
          <p:nvPr>
            <p:ph type="title"/>
          </p:nvPr>
        </p:nvSpPr>
        <p:spPr>
          <a:xfrm>
            <a:off x="500000" y="4656875"/>
            <a:ext cx="6012600" cy="42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AB7E4"/>
              </a:buClr>
              <a:buSzPts val="1200"/>
              <a:buNone/>
              <a:defRPr sz="1200">
                <a:solidFill>
                  <a:srgbClr val="2AB7E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" name="Google Shape;4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0350" y="4702350"/>
            <a:ext cx="259650" cy="25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CUSTOM_3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одтема">
  <p:cSld name="CUSTOM_3_5">
    <p:bg>
      <p:bgPr>
        <a:solidFill>
          <a:schemeClr val="dk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/>
          <p:nvPr/>
        </p:nvSpPr>
        <p:spPr>
          <a:xfrm>
            <a:off x="494025" y="682688"/>
            <a:ext cx="6167400" cy="1070700"/>
          </a:xfrm>
          <a:prstGeom prst="roundRect">
            <a:avLst>
              <a:gd fmla="val 16667" name="adj"/>
            </a:avLst>
          </a:prstGeom>
          <a:solidFill>
            <a:srgbClr val="40299B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rgbClr val="FFFF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50" name="Google Shape;50;p10"/>
          <p:cNvSpPr txBox="1"/>
          <p:nvPr>
            <p:ph type="title"/>
          </p:nvPr>
        </p:nvSpPr>
        <p:spPr>
          <a:xfrm>
            <a:off x="689250" y="670100"/>
            <a:ext cx="56541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1" name="Google Shape;51;p10" title="chromed-chromed-curs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49025" y="1050537"/>
            <a:ext cx="844425" cy="974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Интеллект-карта 6">
  <p:cSld name="CUSTOM_3_3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/>
          <p:nvPr>
            <p:ph type="title"/>
          </p:nvPr>
        </p:nvSpPr>
        <p:spPr>
          <a:xfrm>
            <a:off x="705950" y="362125"/>
            <a:ext cx="7570800" cy="8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" name="Google Shape;54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9351" y="820713"/>
            <a:ext cx="6472105" cy="4700226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1"/>
          <p:cNvSpPr/>
          <p:nvPr/>
        </p:nvSpPr>
        <p:spPr>
          <a:xfrm>
            <a:off x="996750" y="3010888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" name="Google Shape;56;p11"/>
          <p:cNvSpPr/>
          <p:nvPr/>
        </p:nvSpPr>
        <p:spPr>
          <a:xfrm>
            <a:off x="2220875" y="1717100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" name="Google Shape;57;p11"/>
          <p:cNvSpPr/>
          <p:nvPr/>
        </p:nvSpPr>
        <p:spPr>
          <a:xfrm>
            <a:off x="4699150" y="1648613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" name="Google Shape;58;p11"/>
          <p:cNvSpPr/>
          <p:nvPr/>
        </p:nvSpPr>
        <p:spPr>
          <a:xfrm>
            <a:off x="5613250" y="2846700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11"/>
          <p:cNvSpPr/>
          <p:nvPr/>
        </p:nvSpPr>
        <p:spPr>
          <a:xfrm>
            <a:off x="5200800" y="4087575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" name="Google Shape;60;p11"/>
          <p:cNvSpPr/>
          <p:nvPr/>
        </p:nvSpPr>
        <p:spPr>
          <a:xfrm>
            <a:off x="2374950" y="4181725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" name="Google Shape;61;p11"/>
          <p:cNvSpPr txBox="1"/>
          <p:nvPr>
            <p:ph idx="2" type="title"/>
          </p:nvPr>
        </p:nvSpPr>
        <p:spPr>
          <a:xfrm>
            <a:off x="2263475" y="1677800"/>
            <a:ext cx="1537200" cy="7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62" name="Google Shape;62;p11"/>
          <p:cNvSpPr txBox="1"/>
          <p:nvPr>
            <p:ph idx="3" type="title"/>
          </p:nvPr>
        </p:nvSpPr>
        <p:spPr>
          <a:xfrm>
            <a:off x="4741750" y="1609325"/>
            <a:ext cx="1537200" cy="7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63" name="Google Shape;63;p11"/>
          <p:cNvSpPr txBox="1"/>
          <p:nvPr>
            <p:ph idx="4" type="title"/>
          </p:nvPr>
        </p:nvSpPr>
        <p:spPr>
          <a:xfrm>
            <a:off x="5655850" y="2809150"/>
            <a:ext cx="1537200" cy="7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64" name="Google Shape;64;p11"/>
          <p:cNvSpPr txBox="1"/>
          <p:nvPr>
            <p:ph idx="5" type="title"/>
          </p:nvPr>
        </p:nvSpPr>
        <p:spPr>
          <a:xfrm>
            <a:off x="5243400" y="4048275"/>
            <a:ext cx="1537200" cy="7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65" name="Google Shape;65;p11"/>
          <p:cNvSpPr txBox="1"/>
          <p:nvPr>
            <p:ph idx="6" type="title"/>
          </p:nvPr>
        </p:nvSpPr>
        <p:spPr>
          <a:xfrm>
            <a:off x="1039350" y="2971600"/>
            <a:ext cx="1537200" cy="7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66" name="Google Shape;66;p11"/>
          <p:cNvSpPr txBox="1"/>
          <p:nvPr>
            <p:ph idx="7" type="title"/>
          </p:nvPr>
        </p:nvSpPr>
        <p:spPr>
          <a:xfrm>
            <a:off x="2417550" y="4142425"/>
            <a:ext cx="1537200" cy="7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Интеллект-карта 5">
  <p:cSld name="CUSTOM_3_3_1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"/>
          <p:cNvSpPr txBox="1"/>
          <p:nvPr>
            <p:ph type="title"/>
          </p:nvPr>
        </p:nvSpPr>
        <p:spPr>
          <a:xfrm>
            <a:off x="705950" y="362125"/>
            <a:ext cx="7570800" cy="8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9" name="Google Shape;69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9351" y="820713"/>
            <a:ext cx="6472105" cy="4700226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2"/>
          <p:cNvSpPr/>
          <p:nvPr/>
        </p:nvSpPr>
        <p:spPr>
          <a:xfrm>
            <a:off x="996750" y="3010888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" name="Google Shape;71;p12"/>
          <p:cNvSpPr/>
          <p:nvPr/>
        </p:nvSpPr>
        <p:spPr>
          <a:xfrm>
            <a:off x="2511850" y="1787313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" name="Google Shape;72;p12"/>
          <p:cNvSpPr/>
          <p:nvPr/>
        </p:nvSpPr>
        <p:spPr>
          <a:xfrm>
            <a:off x="5400925" y="1871113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" name="Google Shape;73;p12"/>
          <p:cNvSpPr/>
          <p:nvPr/>
        </p:nvSpPr>
        <p:spPr>
          <a:xfrm>
            <a:off x="5868350" y="3495925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" name="Google Shape;74;p12"/>
          <p:cNvSpPr/>
          <p:nvPr/>
        </p:nvSpPr>
        <p:spPr>
          <a:xfrm>
            <a:off x="3162300" y="4221025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" name="Google Shape;75;p12"/>
          <p:cNvSpPr txBox="1"/>
          <p:nvPr>
            <p:ph idx="2" type="title"/>
          </p:nvPr>
        </p:nvSpPr>
        <p:spPr>
          <a:xfrm>
            <a:off x="2619150" y="1748013"/>
            <a:ext cx="1537200" cy="7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76" name="Google Shape;76;p12"/>
          <p:cNvSpPr txBox="1"/>
          <p:nvPr>
            <p:ph idx="3" type="title"/>
          </p:nvPr>
        </p:nvSpPr>
        <p:spPr>
          <a:xfrm>
            <a:off x="5443525" y="1831825"/>
            <a:ext cx="1537200" cy="7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77" name="Google Shape;77;p12"/>
          <p:cNvSpPr txBox="1"/>
          <p:nvPr>
            <p:ph idx="4" type="title"/>
          </p:nvPr>
        </p:nvSpPr>
        <p:spPr>
          <a:xfrm>
            <a:off x="5910950" y="3456625"/>
            <a:ext cx="1537200" cy="7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78" name="Google Shape;78;p12"/>
          <p:cNvSpPr txBox="1"/>
          <p:nvPr>
            <p:ph idx="5" type="title"/>
          </p:nvPr>
        </p:nvSpPr>
        <p:spPr>
          <a:xfrm>
            <a:off x="1039350" y="2971600"/>
            <a:ext cx="1537200" cy="7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79" name="Google Shape;79;p12"/>
          <p:cNvSpPr txBox="1"/>
          <p:nvPr>
            <p:ph idx="6" type="title"/>
          </p:nvPr>
        </p:nvSpPr>
        <p:spPr>
          <a:xfrm>
            <a:off x="3247500" y="4181725"/>
            <a:ext cx="1537200" cy="7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Интеллект-карта 4">
  <p:cSld name="CUSTOM_3_3_1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>
            <a:off x="705950" y="362125"/>
            <a:ext cx="7570800" cy="8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82" name="Google Shape;82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9351" y="820713"/>
            <a:ext cx="6472105" cy="4700226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3"/>
          <p:cNvSpPr/>
          <p:nvPr/>
        </p:nvSpPr>
        <p:spPr>
          <a:xfrm>
            <a:off x="996750" y="3010900"/>
            <a:ext cx="1948200" cy="7662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13"/>
          <p:cNvSpPr txBox="1"/>
          <p:nvPr>
            <p:ph idx="2" type="title"/>
          </p:nvPr>
        </p:nvSpPr>
        <p:spPr>
          <a:xfrm>
            <a:off x="1202250" y="3031450"/>
            <a:ext cx="1537200" cy="7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85" name="Google Shape;85;p13"/>
          <p:cNvSpPr/>
          <p:nvPr/>
        </p:nvSpPr>
        <p:spPr>
          <a:xfrm>
            <a:off x="3057625" y="1759725"/>
            <a:ext cx="1948200" cy="7662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3"/>
          <p:cNvSpPr txBox="1"/>
          <p:nvPr>
            <p:ph idx="3" type="title"/>
          </p:nvPr>
        </p:nvSpPr>
        <p:spPr>
          <a:xfrm>
            <a:off x="3263125" y="1780275"/>
            <a:ext cx="1537200" cy="7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87" name="Google Shape;87;p13"/>
          <p:cNvSpPr/>
          <p:nvPr/>
        </p:nvSpPr>
        <p:spPr>
          <a:xfrm>
            <a:off x="3301475" y="4094475"/>
            <a:ext cx="1948200" cy="7662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3"/>
          <p:cNvSpPr txBox="1"/>
          <p:nvPr>
            <p:ph idx="4" type="title"/>
          </p:nvPr>
        </p:nvSpPr>
        <p:spPr>
          <a:xfrm>
            <a:off x="3506975" y="4115025"/>
            <a:ext cx="1537200" cy="7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89" name="Google Shape;89;p13"/>
          <p:cNvSpPr/>
          <p:nvPr/>
        </p:nvSpPr>
        <p:spPr>
          <a:xfrm>
            <a:off x="5044175" y="2843325"/>
            <a:ext cx="1948200" cy="7662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" name="Google Shape;90;p13"/>
          <p:cNvSpPr txBox="1"/>
          <p:nvPr>
            <p:ph idx="5" type="title"/>
          </p:nvPr>
        </p:nvSpPr>
        <p:spPr>
          <a:xfrm>
            <a:off x="5249675" y="2863875"/>
            <a:ext cx="1537200" cy="7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Интеллект-карта 3">
  <p:cSld name="CUSTOM_3_3_1_1_1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05950" y="362125"/>
            <a:ext cx="7570800" cy="8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3" name="Google Shape;93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9351" y="820713"/>
            <a:ext cx="6472105" cy="4700226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/>
          <p:nvPr/>
        </p:nvSpPr>
        <p:spPr>
          <a:xfrm>
            <a:off x="3673825" y="1785375"/>
            <a:ext cx="2591700" cy="7662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" name="Google Shape;95;p14"/>
          <p:cNvSpPr txBox="1"/>
          <p:nvPr>
            <p:ph idx="2" type="title"/>
          </p:nvPr>
        </p:nvSpPr>
        <p:spPr>
          <a:xfrm>
            <a:off x="3810875" y="1805925"/>
            <a:ext cx="2249400" cy="7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6" name="Google Shape;96;p14"/>
          <p:cNvSpPr/>
          <p:nvPr/>
        </p:nvSpPr>
        <p:spPr>
          <a:xfrm>
            <a:off x="1219175" y="3013400"/>
            <a:ext cx="2591700" cy="7662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" name="Google Shape;97;p14"/>
          <p:cNvSpPr txBox="1"/>
          <p:nvPr>
            <p:ph idx="3" type="title"/>
          </p:nvPr>
        </p:nvSpPr>
        <p:spPr>
          <a:xfrm>
            <a:off x="1356225" y="3033950"/>
            <a:ext cx="2249400" cy="7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8" name="Google Shape;98;p14"/>
          <p:cNvSpPr/>
          <p:nvPr/>
        </p:nvSpPr>
        <p:spPr>
          <a:xfrm>
            <a:off x="4295300" y="3827500"/>
            <a:ext cx="2591700" cy="7662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" name="Google Shape;99;p14"/>
          <p:cNvSpPr txBox="1"/>
          <p:nvPr>
            <p:ph idx="4" type="title"/>
          </p:nvPr>
        </p:nvSpPr>
        <p:spPr>
          <a:xfrm>
            <a:off x="4432350" y="3848050"/>
            <a:ext cx="2249400" cy="7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1">
  <p:cSld name="CUSTOM_3_2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>
            <p:ph type="title"/>
          </p:nvPr>
        </p:nvSpPr>
        <p:spPr>
          <a:xfrm>
            <a:off x="312300" y="1678050"/>
            <a:ext cx="3907800" cy="17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2" name="Google Shape;102;p15"/>
          <p:cNvSpPr txBox="1"/>
          <p:nvPr>
            <p:ph idx="2" type="title"/>
          </p:nvPr>
        </p:nvSpPr>
        <p:spPr>
          <a:xfrm>
            <a:off x="5014425" y="448875"/>
            <a:ext cx="39951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None/>
              <a:defRPr b="0" sz="1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3" name="Google Shape;103;p15"/>
          <p:cNvSpPr txBox="1"/>
          <p:nvPr>
            <p:ph idx="3" type="title"/>
          </p:nvPr>
        </p:nvSpPr>
        <p:spPr>
          <a:xfrm>
            <a:off x="5014425" y="2071800"/>
            <a:ext cx="39951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None/>
              <a:defRPr b="0" sz="1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15"/>
          <p:cNvSpPr txBox="1"/>
          <p:nvPr>
            <p:ph idx="4" type="title"/>
          </p:nvPr>
        </p:nvSpPr>
        <p:spPr>
          <a:xfrm>
            <a:off x="5014425" y="3583525"/>
            <a:ext cx="39951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0" sz="1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5" name="Google Shape;105;p15"/>
          <p:cNvSpPr txBox="1"/>
          <p:nvPr/>
        </p:nvSpPr>
        <p:spPr>
          <a:xfrm>
            <a:off x="4341150" y="498175"/>
            <a:ext cx="7527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1.</a:t>
            </a:r>
            <a:endParaRPr sz="1200"/>
          </a:p>
        </p:txBody>
      </p:sp>
      <p:sp>
        <p:nvSpPr>
          <p:cNvPr id="106" name="Google Shape;106;p15"/>
          <p:cNvSpPr txBox="1"/>
          <p:nvPr/>
        </p:nvSpPr>
        <p:spPr>
          <a:xfrm>
            <a:off x="4341150" y="2082125"/>
            <a:ext cx="7527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</a:t>
            </a:r>
            <a:endParaRPr sz="1200"/>
          </a:p>
        </p:txBody>
      </p:sp>
      <p:sp>
        <p:nvSpPr>
          <p:cNvPr id="107" name="Google Shape;107;p15"/>
          <p:cNvSpPr txBox="1"/>
          <p:nvPr/>
        </p:nvSpPr>
        <p:spPr>
          <a:xfrm>
            <a:off x="4341150" y="3540725"/>
            <a:ext cx="7527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3.</a:t>
            </a:r>
            <a:endParaRPr sz="1200"/>
          </a:p>
        </p:txBody>
      </p:sp>
    </p:spTree>
  </p:cSld>
  <p:clrMapOvr>
    <a:masterClrMapping/>
  </p:clrMapOvr>
  <p:extLst>
    <p:ext uri="{DCECCB84-F9BA-43D5-87BE-67443E8EF086}">
      <p15:sldGuideLst>
        <p15:guide id="1" pos="3159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кст + место для иллюстрации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>
            <p:ph type="title"/>
          </p:nvPr>
        </p:nvSpPr>
        <p:spPr>
          <a:xfrm>
            <a:off x="397825" y="1289250"/>
            <a:ext cx="45927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16"/>
          <p:cNvSpPr/>
          <p:nvPr/>
        </p:nvSpPr>
        <p:spPr>
          <a:xfrm>
            <a:off x="6180050" y="1284150"/>
            <a:ext cx="2259300" cy="2575200"/>
          </a:xfrm>
          <a:prstGeom prst="roundRect">
            <a:avLst>
              <a:gd fmla="val 784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3572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ма блока ">
  <p:cSld name="CUSTOM_17">
    <p:bg>
      <p:bgPr>
        <a:solidFill>
          <a:schemeClr val="dk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type="title"/>
          </p:nvPr>
        </p:nvSpPr>
        <p:spPr>
          <a:xfrm>
            <a:off x="262213" y="1682949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3" name="Google Shape;113;p17"/>
          <p:cNvPicPr preferRelativeResize="0"/>
          <p:nvPr/>
        </p:nvPicPr>
        <p:blipFill rotWithShape="1">
          <a:blip r:embed="rId2">
            <a:alphaModFix/>
          </a:blip>
          <a:srcRect b="61754" l="0" r="0" t="37151"/>
          <a:stretch/>
        </p:blipFill>
        <p:spPr>
          <a:xfrm>
            <a:off x="0" y="3600500"/>
            <a:ext cx="9181975" cy="5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итата, фон градиент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>
            <p:ph type="title"/>
          </p:nvPr>
        </p:nvSpPr>
        <p:spPr>
          <a:xfrm>
            <a:off x="604350" y="1999200"/>
            <a:ext cx="7935300" cy="114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16" name="Google Shape;11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сылка на источник" type="twoColTx">
  <p:cSld name="TITLE_AND_TWO_COLUMNS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/>
          <p:nvPr/>
        </p:nvSpPr>
        <p:spPr>
          <a:xfrm>
            <a:off x="556300" y="4554000"/>
            <a:ext cx="4239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добавьте ссылку на источник</a:t>
            </a:r>
            <a:endParaRPr sz="1100">
              <a:solidFill>
                <a:srgbClr val="013D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397">
          <p15:clr>
            <a:srgbClr val="FA7B17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2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49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1"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23850" lvl="1" marL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1150" lvl="2" marL="1371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1150" lvl="4" marL="2286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1150" lvl="5" marL="2743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1150" lvl="6" marL="3200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1150" lvl="7" marL="3657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1150" lvl="8" marL="4114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9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9.jpg"/><Relationship Id="rId4" Type="http://schemas.openxmlformats.org/officeDocument/2006/relationships/image" Target="../media/image15.jpg"/><Relationship Id="rId5" Type="http://schemas.openxmlformats.org/officeDocument/2006/relationships/image" Target="../media/image3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3.png"/><Relationship Id="rId4" Type="http://schemas.openxmlformats.org/officeDocument/2006/relationships/image" Target="../media/image16.png"/><Relationship Id="rId5" Type="http://schemas.openxmlformats.org/officeDocument/2006/relationships/image" Target="../media/image14.png"/><Relationship Id="rId6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2.png"/><Relationship Id="rId4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docs.victoriametrics.com/victorialogs/#" TargetMode="External"/><Relationship Id="rId4" Type="http://schemas.openxmlformats.org/officeDocument/2006/relationships/image" Target="../media/image2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9.png"/><Relationship Id="rId4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2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.png"/><Relationship Id="rId4" Type="http://schemas.openxmlformats.org/officeDocument/2006/relationships/image" Target="../media/image31.png"/><Relationship Id="rId5" Type="http://schemas.openxmlformats.org/officeDocument/2006/relationships/image" Target="../media/image35.png"/><Relationship Id="rId6" Type="http://schemas.openxmlformats.org/officeDocument/2006/relationships/image" Target="../media/image2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9.png"/><Relationship Id="rId4" Type="http://schemas.openxmlformats.org/officeDocument/2006/relationships/image" Target="../media/image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.png"/><Relationship Id="rId4" Type="http://schemas.openxmlformats.org/officeDocument/2006/relationships/image" Target="../media/image2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9.png"/><Relationship Id="rId4" Type="http://schemas.openxmlformats.org/officeDocument/2006/relationships/image" Target="../media/image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s://habr.com/ru/articles/512556/" TargetMode="External"/><Relationship Id="rId4" Type="http://schemas.openxmlformats.org/officeDocument/2006/relationships/hyperlink" Target="https://habr.com/ru/companies/tochka/articles/685636/" TargetMode="External"/><Relationship Id="rId9" Type="http://schemas.openxmlformats.org/officeDocument/2006/relationships/image" Target="../media/image42.png"/><Relationship Id="rId5" Type="http://schemas.openxmlformats.org/officeDocument/2006/relationships/hyperlink" Target="https://www.atlassian.com/ru/incident-management/kpis/sla-vs-slo-vs-sli" TargetMode="External"/><Relationship Id="rId6" Type="http://schemas.openxmlformats.org/officeDocument/2006/relationships/hyperlink" Target="https://grafana.com/docs/grafana/latest/alerting/set-up/configure-alertmanager/" TargetMode="External"/><Relationship Id="rId7" Type="http://schemas.openxmlformats.org/officeDocument/2006/relationships/hyperlink" Target="https://sre.google/books/" TargetMode="External"/><Relationship Id="rId8" Type="http://schemas.openxmlformats.org/officeDocument/2006/relationships/hyperlink" Target="https://www.jaegertracing.io/demo/" TargetMode="Externa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image" Target="../media/image3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8.png"/><Relationship Id="rId4" Type="http://schemas.openxmlformats.org/officeDocument/2006/relationships/image" Target="../media/image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.png"/><Relationship Id="rId4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/>
          <p:nvPr/>
        </p:nvSpPr>
        <p:spPr>
          <a:xfrm>
            <a:off x="629700" y="4138025"/>
            <a:ext cx="2920500" cy="426600"/>
          </a:xfrm>
          <a:prstGeom prst="roundRect">
            <a:avLst>
              <a:gd fmla="val 16667" name="adj"/>
            </a:avLst>
          </a:prstGeom>
          <a:solidFill>
            <a:srgbClr val="9857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" name="Google Shape;124;p20"/>
          <p:cNvSpPr txBox="1"/>
          <p:nvPr>
            <p:ph type="title"/>
          </p:nvPr>
        </p:nvSpPr>
        <p:spPr>
          <a:xfrm>
            <a:off x="538825" y="1115575"/>
            <a:ext cx="7379700" cy="156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Наблюдаемость и алертинг</a:t>
            </a:r>
            <a:endParaRPr sz="2800">
              <a:solidFill>
                <a:srgbClr val="FBFB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5" name="Google Shape;12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88500" y="273875"/>
            <a:ext cx="822175" cy="28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0"/>
          <p:cNvSpPr txBox="1"/>
          <p:nvPr/>
        </p:nvSpPr>
        <p:spPr>
          <a:xfrm>
            <a:off x="886050" y="4127375"/>
            <a:ext cx="2407800" cy="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MLOps</a:t>
            </a:r>
            <a:endParaRPr sz="1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27" name="Google Shape;127;p20"/>
          <p:cNvPicPr preferRelativeResize="0"/>
          <p:nvPr/>
        </p:nvPicPr>
        <p:blipFill rotWithShape="1">
          <a:blip r:embed="rId4">
            <a:alphaModFix/>
          </a:blip>
          <a:srcRect b="61754" l="0" r="0" t="37151"/>
          <a:stretch/>
        </p:blipFill>
        <p:spPr>
          <a:xfrm>
            <a:off x="0" y="3600500"/>
            <a:ext cx="9181975" cy="5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/>
          <p:nvPr>
            <p:ph type="title"/>
          </p:nvPr>
        </p:nvSpPr>
        <p:spPr>
          <a:xfrm>
            <a:off x="1604550" y="929550"/>
            <a:ext cx="3681000" cy="50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chemeClr val="dk1"/>
                </a:solidFill>
              </a:rPr>
              <a:t>Проверить, идет ли запись</a:t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133" name="Google Shape;133;p21"/>
          <p:cNvSpPr txBox="1"/>
          <p:nvPr>
            <p:ph type="title"/>
          </p:nvPr>
        </p:nvSpPr>
        <p:spPr>
          <a:xfrm>
            <a:off x="716325" y="1805199"/>
            <a:ext cx="7935300" cy="141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>
                <a:solidFill>
                  <a:schemeClr val="dk1"/>
                </a:solidFill>
              </a:rPr>
              <a:t>Меня хорошо видно</a:t>
            </a:r>
            <a:endParaRPr sz="4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>
                <a:solidFill>
                  <a:schemeClr val="dk1"/>
                </a:solidFill>
              </a:rPr>
              <a:t>&amp; слышно?</a:t>
            </a:r>
            <a:endParaRPr sz="4000">
              <a:solidFill>
                <a:schemeClr val="dk1"/>
              </a:solidFill>
            </a:endParaRPr>
          </a:p>
        </p:txBody>
      </p:sp>
      <p:pic>
        <p:nvPicPr>
          <p:cNvPr id="134" name="Google Shape;13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44062" y="3841075"/>
            <a:ext cx="545712" cy="545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5575" y="3890890"/>
            <a:ext cx="537262" cy="53726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6" name="Google Shape;136;p21"/>
          <p:cNvGrpSpPr/>
          <p:nvPr/>
        </p:nvGrpSpPr>
        <p:grpSpPr>
          <a:xfrm>
            <a:off x="825575" y="1022425"/>
            <a:ext cx="778986" cy="369300"/>
            <a:chOff x="825575" y="1022425"/>
            <a:chExt cx="778986" cy="369300"/>
          </a:xfrm>
        </p:grpSpPr>
        <p:sp>
          <p:nvSpPr>
            <p:cNvPr id="137" name="Google Shape;137;p21"/>
            <p:cNvSpPr/>
            <p:nvPr/>
          </p:nvSpPr>
          <p:spPr>
            <a:xfrm>
              <a:off x="825575" y="1037550"/>
              <a:ext cx="714900" cy="317700"/>
            </a:xfrm>
            <a:prstGeom prst="roundRect">
              <a:avLst>
                <a:gd fmla="val 16667" name="adj"/>
              </a:avLst>
            </a:prstGeom>
            <a:solidFill>
              <a:srgbClr val="9857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8" name="Google Shape;138;p21"/>
            <p:cNvSpPr txBox="1"/>
            <p:nvPr/>
          </p:nvSpPr>
          <p:spPr>
            <a:xfrm>
              <a:off x="987760" y="1022425"/>
              <a:ext cx="616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REC</a:t>
              </a:r>
              <a:endParaRPr sz="120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139" name="Google Shape;139;p21"/>
            <p:cNvSpPr/>
            <p:nvPr/>
          </p:nvSpPr>
          <p:spPr>
            <a:xfrm>
              <a:off x="934700" y="1168375"/>
              <a:ext cx="85800" cy="774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2"/>
          <p:cNvPicPr preferRelativeResize="0"/>
          <p:nvPr/>
        </p:nvPicPr>
        <p:blipFill rotWithShape="1">
          <a:blip r:embed="rId3">
            <a:alphaModFix/>
          </a:blip>
          <a:srcRect b="0" l="0" r="58506" t="0"/>
          <a:stretch/>
        </p:blipFill>
        <p:spPr>
          <a:xfrm>
            <a:off x="-110975" y="0"/>
            <a:ext cx="3794125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2" title="photo_2025-08-21 10.01.53.jpeg"/>
          <p:cNvPicPr preferRelativeResize="0"/>
          <p:nvPr/>
        </p:nvPicPr>
        <p:blipFill rotWithShape="1">
          <a:blip r:embed="rId4">
            <a:alphaModFix/>
          </a:blip>
          <a:srcRect b="670" l="0" r="0" t="661"/>
          <a:stretch/>
        </p:blipFill>
        <p:spPr>
          <a:xfrm>
            <a:off x="630000" y="1269456"/>
            <a:ext cx="2639700" cy="26046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46" name="Google Shape;146;p22"/>
          <p:cNvSpPr txBox="1"/>
          <p:nvPr>
            <p:ph idx="4294967295" type="subTitle"/>
          </p:nvPr>
        </p:nvSpPr>
        <p:spPr>
          <a:xfrm>
            <a:off x="3913375" y="1163876"/>
            <a:ext cx="3701700" cy="3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300">
                <a:solidFill>
                  <a:schemeClr val="dk2"/>
                </a:solidFill>
              </a:rPr>
              <a:t>Степанов Николай</a:t>
            </a:r>
            <a:endParaRPr b="1" sz="2300">
              <a:solidFill>
                <a:schemeClr val="dk2"/>
              </a:solidFill>
            </a:endParaRPr>
          </a:p>
        </p:txBody>
      </p:sp>
      <p:sp>
        <p:nvSpPr>
          <p:cNvPr id="147" name="Google Shape;147;p22"/>
          <p:cNvSpPr txBox="1"/>
          <p:nvPr>
            <p:ph idx="4294967295" type="subTitle"/>
          </p:nvPr>
        </p:nvSpPr>
        <p:spPr>
          <a:xfrm>
            <a:off x="3754025" y="2071175"/>
            <a:ext cx="49143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50505"/>
              </a:buClr>
              <a:buSzPts val="1200"/>
              <a:buChar char="●"/>
            </a:pPr>
            <a:r>
              <a:rPr lang="ru" sz="1200">
                <a:solidFill>
                  <a:srgbClr val="050505"/>
                </a:solidFill>
              </a:rPr>
              <a:t>6 лет опыта в ML с разными задачами — от разработки моделей до общения бизнесом и управления командой</a:t>
            </a:r>
            <a:endParaRPr b="0" sz="1200">
              <a:solidFill>
                <a:srgbClr val="050505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50505"/>
              </a:buClr>
              <a:buSzPts val="1200"/>
              <a:buChar char="●"/>
            </a:pPr>
            <a:r>
              <a:rPr lang="ru" sz="1200">
                <a:solidFill>
                  <a:srgbClr val="050505"/>
                </a:solidFill>
              </a:rPr>
              <a:t>3 публикации на международных конференциях про ML в телекоме</a:t>
            </a:r>
            <a:endParaRPr sz="1200">
              <a:solidFill>
                <a:srgbClr val="050505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50505"/>
              </a:buClr>
              <a:buSzPts val="1200"/>
              <a:buChar char="●"/>
            </a:pPr>
            <a:r>
              <a:rPr lang="ru" sz="1200">
                <a:solidFill>
                  <a:srgbClr val="050505"/>
                </a:solidFill>
              </a:rPr>
              <a:t>Работаю в Emerging Travel Group</a:t>
            </a:r>
            <a:endParaRPr sz="1200">
              <a:solidFill>
                <a:srgbClr val="050505"/>
              </a:solidFill>
            </a:endParaRPr>
          </a:p>
        </p:txBody>
      </p:sp>
      <p:sp>
        <p:nvSpPr>
          <p:cNvPr id="148" name="Google Shape;148;p22"/>
          <p:cNvSpPr txBox="1"/>
          <p:nvPr>
            <p:ph idx="4294967295" type="subTitle"/>
          </p:nvPr>
        </p:nvSpPr>
        <p:spPr>
          <a:xfrm>
            <a:off x="3913375" y="1516788"/>
            <a:ext cx="5337300" cy="3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Roboto Medium"/>
                <a:ea typeface="Roboto Medium"/>
                <a:cs typeface="Roboto Medium"/>
                <a:sym typeface="Roboto Medium"/>
              </a:rPr>
              <a:t>ML Engineer</a:t>
            </a:r>
            <a:endParaRPr b="0" sz="13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49" name="Google Shape;149;p22"/>
          <p:cNvSpPr txBox="1"/>
          <p:nvPr/>
        </p:nvSpPr>
        <p:spPr>
          <a:xfrm>
            <a:off x="4181538" y="3418038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@nikolaistepanov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50" name="Google Shape;150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24890" y="3516725"/>
            <a:ext cx="156659" cy="15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 txBox="1"/>
          <p:nvPr>
            <p:ph type="title"/>
          </p:nvPr>
        </p:nvSpPr>
        <p:spPr>
          <a:xfrm>
            <a:off x="511400" y="429149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200"/>
              <a:t>Правила вебинара</a:t>
            </a:r>
            <a:endParaRPr b="1" sz="3200"/>
          </a:p>
        </p:txBody>
      </p:sp>
      <p:sp>
        <p:nvSpPr>
          <p:cNvPr id="156" name="Google Shape;156;p23"/>
          <p:cNvSpPr txBox="1"/>
          <p:nvPr/>
        </p:nvSpPr>
        <p:spPr>
          <a:xfrm>
            <a:off x="1654525" y="1252250"/>
            <a:ext cx="24753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Активно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участвуем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p23"/>
          <p:cNvSpPr txBox="1"/>
          <p:nvPr/>
        </p:nvSpPr>
        <p:spPr>
          <a:xfrm>
            <a:off x="1654525" y="2926494"/>
            <a:ext cx="3231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Задаем вопрос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в чат или голосом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" name="Google Shape;158;p23"/>
          <p:cNvSpPr txBox="1"/>
          <p:nvPr/>
        </p:nvSpPr>
        <p:spPr>
          <a:xfrm>
            <a:off x="1654525" y="3713359"/>
            <a:ext cx="3231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Вопросы вижу в чате,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могу ответить не сразу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p23"/>
          <p:cNvSpPr txBox="1"/>
          <p:nvPr/>
        </p:nvSpPr>
        <p:spPr>
          <a:xfrm>
            <a:off x="1654525" y="1991275"/>
            <a:ext cx="2475300" cy="8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Off-topic обсуждаем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в учебной группе #</a:t>
            </a:r>
            <a:r>
              <a:rPr lang="ru" sz="1350">
                <a:solidFill>
                  <a:schemeClr val="dk1"/>
                </a:solidFill>
              </a:rPr>
              <a:t>OTUS MLOps-2025-03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0" name="Google Shape;16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7645" y="2205277"/>
            <a:ext cx="394991" cy="394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6767" y="3077372"/>
            <a:ext cx="394992" cy="395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76767" y="1378750"/>
            <a:ext cx="394992" cy="3949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57650" y="3804540"/>
            <a:ext cx="433225" cy="4332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4"/>
          <p:cNvSpPr txBox="1"/>
          <p:nvPr/>
        </p:nvSpPr>
        <p:spPr>
          <a:xfrm>
            <a:off x="573350" y="401600"/>
            <a:ext cx="30000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Карта курса</a:t>
            </a:r>
            <a:endParaRPr/>
          </a:p>
        </p:txBody>
      </p:sp>
      <p:sp>
        <p:nvSpPr>
          <p:cNvPr id="169" name="Google Shape;169;p24"/>
          <p:cNvSpPr/>
          <p:nvPr/>
        </p:nvSpPr>
        <p:spPr>
          <a:xfrm>
            <a:off x="904307" y="1990325"/>
            <a:ext cx="1855500" cy="457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Процессы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" name="Google Shape;170;p24"/>
          <p:cNvSpPr/>
          <p:nvPr/>
        </p:nvSpPr>
        <p:spPr>
          <a:xfrm>
            <a:off x="6112458" y="2917250"/>
            <a:ext cx="1855500" cy="457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Развертывание</a:t>
            </a:r>
            <a:endParaRPr sz="12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71" name="Google Shape;171;p24"/>
          <p:cNvSpPr/>
          <p:nvPr/>
        </p:nvSpPr>
        <p:spPr>
          <a:xfrm>
            <a:off x="3541957" y="2917257"/>
            <a:ext cx="1855500" cy="4578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Валидация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" name="Google Shape;172;p24"/>
          <p:cNvSpPr/>
          <p:nvPr/>
        </p:nvSpPr>
        <p:spPr>
          <a:xfrm>
            <a:off x="6112458" y="1990320"/>
            <a:ext cx="1855500" cy="4578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Подготовка данных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24"/>
          <p:cNvSpPr/>
          <p:nvPr/>
        </p:nvSpPr>
        <p:spPr>
          <a:xfrm>
            <a:off x="904297" y="2917257"/>
            <a:ext cx="1855500" cy="457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Моделирование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4" name="Google Shape;17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17892" y="4035402"/>
            <a:ext cx="477597" cy="477598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4"/>
          <p:cNvSpPr txBox="1"/>
          <p:nvPr/>
        </p:nvSpPr>
        <p:spPr>
          <a:xfrm>
            <a:off x="719988" y="1393275"/>
            <a:ext cx="914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rPr>
              <a:t>СТАРТ</a:t>
            </a:r>
            <a:endParaRPr sz="1700">
              <a:solidFill>
                <a:schemeClr val="dk1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pic>
        <p:nvPicPr>
          <p:cNvPr id="176" name="Google Shape;176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412" y="1377675"/>
            <a:ext cx="477597" cy="477598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4"/>
          <p:cNvSpPr txBox="1"/>
          <p:nvPr/>
        </p:nvSpPr>
        <p:spPr>
          <a:xfrm>
            <a:off x="5842291" y="4096225"/>
            <a:ext cx="1197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rPr>
              <a:t>ФИНИШ</a:t>
            </a:r>
            <a:endParaRPr sz="1700">
              <a:solidFill>
                <a:schemeClr val="dk1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78" name="Google Shape;178;p24"/>
          <p:cNvSpPr/>
          <p:nvPr/>
        </p:nvSpPr>
        <p:spPr>
          <a:xfrm>
            <a:off x="904294" y="3778473"/>
            <a:ext cx="1855500" cy="4578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Мониторинг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" name="Google Shape;179;p24"/>
          <p:cNvSpPr/>
          <p:nvPr/>
        </p:nvSpPr>
        <p:spPr>
          <a:xfrm>
            <a:off x="3541957" y="3778473"/>
            <a:ext cx="1855500" cy="4578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Проект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" name="Google Shape;180;p24"/>
          <p:cNvSpPr/>
          <p:nvPr/>
        </p:nvSpPr>
        <p:spPr>
          <a:xfrm>
            <a:off x="3508382" y="1990325"/>
            <a:ext cx="1855500" cy="457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Инфраструктура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1" name="Google Shape;181;p24"/>
          <p:cNvCxnSpPr>
            <a:stCxn id="169" idx="3"/>
            <a:endCxn id="180" idx="1"/>
          </p:cNvCxnSpPr>
          <p:nvPr/>
        </p:nvCxnSpPr>
        <p:spPr>
          <a:xfrm>
            <a:off x="2759807" y="2219225"/>
            <a:ext cx="74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182" name="Google Shape;182;p24"/>
          <p:cNvCxnSpPr>
            <a:stCxn id="180" idx="3"/>
            <a:endCxn id="172" idx="1"/>
          </p:cNvCxnSpPr>
          <p:nvPr/>
        </p:nvCxnSpPr>
        <p:spPr>
          <a:xfrm>
            <a:off x="5363882" y="2219225"/>
            <a:ext cx="74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183" name="Google Shape;183;p24"/>
          <p:cNvCxnSpPr>
            <a:stCxn id="172" idx="2"/>
            <a:endCxn id="173" idx="1"/>
          </p:cNvCxnSpPr>
          <p:nvPr/>
        </p:nvCxnSpPr>
        <p:spPr>
          <a:xfrm rot="5400000">
            <a:off x="3623208" y="-270780"/>
            <a:ext cx="698100" cy="6135900"/>
          </a:xfrm>
          <a:prstGeom prst="bentConnector4">
            <a:avLst>
              <a:gd fmla="val 33601" name="adj1"/>
              <a:gd fmla="val 103881" name="adj2"/>
            </a:avLst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184" name="Google Shape;184;p24"/>
          <p:cNvCxnSpPr>
            <a:stCxn id="173" idx="3"/>
            <a:endCxn id="171" idx="1"/>
          </p:cNvCxnSpPr>
          <p:nvPr/>
        </p:nvCxnSpPr>
        <p:spPr>
          <a:xfrm>
            <a:off x="2759797" y="3146157"/>
            <a:ext cx="78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185" name="Google Shape;185;p24"/>
          <p:cNvCxnSpPr>
            <a:stCxn id="170" idx="2"/>
            <a:endCxn id="178" idx="1"/>
          </p:cNvCxnSpPr>
          <p:nvPr/>
        </p:nvCxnSpPr>
        <p:spPr>
          <a:xfrm rot="5400000">
            <a:off x="3656058" y="623300"/>
            <a:ext cx="632400" cy="6135900"/>
          </a:xfrm>
          <a:prstGeom prst="bentConnector4">
            <a:avLst>
              <a:gd fmla="val 31896" name="adj1"/>
              <a:gd fmla="val 103881" name="adj2"/>
            </a:avLst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186" name="Google Shape;186;p24"/>
          <p:cNvCxnSpPr>
            <a:stCxn id="171" idx="3"/>
            <a:endCxn id="170" idx="1"/>
          </p:cNvCxnSpPr>
          <p:nvPr/>
        </p:nvCxnSpPr>
        <p:spPr>
          <a:xfrm>
            <a:off x="5397457" y="3146157"/>
            <a:ext cx="714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187" name="Google Shape;187;p24"/>
          <p:cNvCxnSpPr>
            <a:stCxn id="178" idx="3"/>
            <a:endCxn id="179" idx="1"/>
          </p:cNvCxnSpPr>
          <p:nvPr/>
        </p:nvCxnSpPr>
        <p:spPr>
          <a:xfrm>
            <a:off x="2759794" y="4007373"/>
            <a:ext cx="78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5"/>
          <p:cNvSpPr txBox="1"/>
          <p:nvPr>
            <p:ph type="title"/>
          </p:nvPr>
        </p:nvSpPr>
        <p:spPr>
          <a:xfrm>
            <a:off x="900000" y="404574"/>
            <a:ext cx="85206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Маршрут вебинара</a:t>
            </a:r>
            <a:endParaRPr/>
          </a:p>
        </p:txBody>
      </p:sp>
      <p:sp>
        <p:nvSpPr>
          <p:cNvPr id="193" name="Google Shape;193;p25"/>
          <p:cNvSpPr/>
          <p:nvPr/>
        </p:nvSpPr>
        <p:spPr>
          <a:xfrm>
            <a:off x="1138125" y="1249925"/>
            <a:ext cx="3384900" cy="376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Знакомство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" name="Google Shape;194;p25"/>
          <p:cNvSpPr/>
          <p:nvPr/>
        </p:nvSpPr>
        <p:spPr>
          <a:xfrm>
            <a:off x="1138125" y="1809677"/>
            <a:ext cx="3384900" cy="376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Цели и смысл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" name="Google Shape;195;p25"/>
          <p:cNvSpPr/>
          <p:nvPr/>
        </p:nvSpPr>
        <p:spPr>
          <a:xfrm>
            <a:off x="1138125" y="2389867"/>
            <a:ext cx="3384900" cy="376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Наблюдаемость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" name="Google Shape;196;p25"/>
          <p:cNvSpPr/>
          <p:nvPr/>
        </p:nvSpPr>
        <p:spPr>
          <a:xfrm>
            <a:off x="1138125" y="2970051"/>
            <a:ext cx="3384900" cy="376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Алертинг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" name="Google Shape;197;p25"/>
          <p:cNvSpPr/>
          <p:nvPr/>
        </p:nvSpPr>
        <p:spPr>
          <a:xfrm>
            <a:off x="1138125" y="3542963"/>
            <a:ext cx="3384900" cy="376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Практика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" name="Google Shape;198;p25"/>
          <p:cNvSpPr/>
          <p:nvPr/>
        </p:nvSpPr>
        <p:spPr>
          <a:xfrm>
            <a:off x="1138125" y="4115869"/>
            <a:ext cx="3384900" cy="376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Основные тезисы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9" name="Google Shape;199;p25"/>
          <p:cNvCxnSpPr>
            <a:stCxn id="194" idx="1"/>
            <a:endCxn id="193" idx="1"/>
          </p:cNvCxnSpPr>
          <p:nvPr/>
        </p:nvCxnSpPr>
        <p:spPr>
          <a:xfrm flipH="1" rot="10800000">
            <a:off x="1138125" y="1437977"/>
            <a:ext cx="600" cy="559800"/>
          </a:xfrm>
          <a:prstGeom prst="bentConnector3">
            <a:avLst>
              <a:gd fmla="val -39687500" name="adj1"/>
            </a:avLst>
          </a:prstGeom>
          <a:noFill/>
          <a:ln cap="flat" cmpd="sng" w="9525">
            <a:solidFill>
              <a:srgbClr val="9857F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00" name="Google Shape;200;p25"/>
          <p:cNvCxnSpPr>
            <a:stCxn id="194" idx="1"/>
            <a:endCxn id="195" idx="1"/>
          </p:cNvCxnSpPr>
          <p:nvPr/>
        </p:nvCxnSpPr>
        <p:spPr>
          <a:xfrm>
            <a:off x="1138125" y="1997777"/>
            <a:ext cx="600" cy="580200"/>
          </a:xfrm>
          <a:prstGeom prst="bentConnector3">
            <a:avLst>
              <a:gd fmla="val -39687500" name="adj1"/>
            </a:avLst>
          </a:prstGeom>
          <a:noFill/>
          <a:ln cap="flat" cmpd="sng" w="9525">
            <a:solidFill>
              <a:srgbClr val="9857F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01" name="Google Shape;201;p25"/>
          <p:cNvCxnSpPr>
            <a:stCxn id="195" idx="1"/>
            <a:endCxn id="196" idx="1"/>
          </p:cNvCxnSpPr>
          <p:nvPr/>
        </p:nvCxnSpPr>
        <p:spPr>
          <a:xfrm>
            <a:off x="1138125" y="2577967"/>
            <a:ext cx="600" cy="580200"/>
          </a:xfrm>
          <a:prstGeom prst="bentConnector3">
            <a:avLst>
              <a:gd fmla="val -39687500" name="adj1"/>
            </a:avLst>
          </a:prstGeom>
          <a:noFill/>
          <a:ln cap="flat" cmpd="sng" w="9525">
            <a:solidFill>
              <a:srgbClr val="9857F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02" name="Google Shape;202;p25"/>
          <p:cNvCxnSpPr>
            <a:stCxn id="196" idx="1"/>
            <a:endCxn id="197" idx="1"/>
          </p:cNvCxnSpPr>
          <p:nvPr/>
        </p:nvCxnSpPr>
        <p:spPr>
          <a:xfrm>
            <a:off x="1138125" y="3158151"/>
            <a:ext cx="600" cy="573000"/>
          </a:xfrm>
          <a:prstGeom prst="bentConnector3">
            <a:avLst>
              <a:gd fmla="val -39687500" name="adj1"/>
            </a:avLst>
          </a:prstGeom>
          <a:noFill/>
          <a:ln cap="flat" cmpd="sng" w="9525">
            <a:solidFill>
              <a:srgbClr val="9857F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03" name="Google Shape;203;p25"/>
          <p:cNvCxnSpPr>
            <a:stCxn id="197" idx="1"/>
            <a:endCxn id="198" idx="1"/>
          </p:cNvCxnSpPr>
          <p:nvPr/>
        </p:nvCxnSpPr>
        <p:spPr>
          <a:xfrm>
            <a:off x="1138125" y="3731063"/>
            <a:ext cx="600" cy="573000"/>
          </a:xfrm>
          <a:prstGeom prst="bentConnector3">
            <a:avLst>
              <a:gd fmla="val -39687500" name="adj1"/>
            </a:avLst>
          </a:prstGeom>
          <a:noFill/>
          <a:ln cap="flat" cmpd="sng" w="9525">
            <a:solidFill>
              <a:srgbClr val="9857F3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6"/>
          <p:cNvSpPr/>
          <p:nvPr/>
        </p:nvSpPr>
        <p:spPr>
          <a:xfrm>
            <a:off x="4339225" y="2825900"/>
            <a:ext cx="4557600" cy="530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Чтобы уметь отличать полезные алерты от шума и выстраивать полезную систему уведомлений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209" name="Google Shape;209;p26"/>
          <p:cNvGraphicFramePr/>
          <p:nvPr/>
        </p:nvGraphicFramePr>
        <p:xfrm>
          <a:off x="620463" y="420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{0D9AC08A-DD45-4295-87C0-87B3C1F3F530}</a:tableStyleId>
              </a:tblPr>
              <a:tblGrid>
                <a:gridCol w="3828200"/>
                <a:gridCol w="4203125"/>
              </a:tblGrid>
              <a:tr h="1062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3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Цели вебинара</a:t>
                      </a:r>
                      <a:endParaRPr b="1" sz="3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solidFill>
                          <a:srgbClr val="6402B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45720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3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Смысл</a:t>
                      </a:r>
                      <a:endParaRPr b="1" sz="3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45720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solidFill>
                          <a:srgbClr val="6402B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0" name="Google Shape;210;p26"/>
          <p:cNvSpPr/>
          <p:nvPr/>
        </p:nvSpPr>
        <p:spPr>
          <a:xfrm>
            <a:off x="553325" y="2082575"/>
            <a:ext cx="3384900" cy="530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1. 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Понимать, что включает в себя Observability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" name="Google Shape;211;p26"/>
          <p:cNvSpPr/>
          <p:nvPr/>
        </p:nvSpPr>
        <p:spPr>
          <a:xfrm>
            <a:off x="553300" y="2825888"/>
            <a:ext cx="3384900" cy="530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 Понимать, что такое алертинг и правила его настройки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2" name="Google Shape;212;p26"/>
          <p:cNvSpPr/>
          <p:nvPr/>
        </p:nvSpPr>
        <p:spPr>
          <a:xfrm>
            <a:off x="553300" y="3569225"/>
            <a:ext cx="3384900" cy="530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3. Настроить алерт микросервиса с отправкой уведомлений в Telegram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3" name="Google Shape;213;p26"/>
          <p:cNvSpPr txBox="1"/>
          <p:nvPr/>
        </p:nvSpPr>
        <p:spPr>
          <a:xfrm>
            <a:off x="620475" y="912475"/>
            <a:ext cx="3785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rgbClr val="6402BA"/>
                </a:solidFill>
                <a:latin typeface="Roboto"/>
                <a:ea typeface="Roboto"/>
                <a:cs typeface="Roboto"/>
                <a:sym typeface="Roboto"/>
              </a:rPr>
              <a:t>К концу занятия вы сможете</a:t>
            </a:r>
            <a:endParaRPr/>
          </a:p>
        </p:txBody>
      </p:sp>
      <p:sp>
        <p:nvSpPr>
          <p:cNvPr id="214" name="Google Shape;214;p26"/>
          <p:cNvSpPr txBox="1"/>
          <p:nvPr/>
        </p:nvSpPr>
        <p:spPr>
          <a:xfrm>
            <a:off x="4448675" y="912475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rgbClr val="6402BA"/>
                </a:solidFill>
                <a:latin typeface="Roboto"/>
                <a:ea typeface="Roboto"/>
                <a:cs typeface="Roboto"/>
                <a:sym typeface="Roboto"/>
              </a:rPr>
              <a:t>Для чего вам это уметь</a:t>
            </a:r>
            <a:endParaRPr/>
          </a:p>
        </p:txBody>
      </p:sp>
      <p:sp>
        <p:nvSpPr>
          <p:cNvPr id="215" name="Google Shape;215;p26"/>
          <p:cNvSpPr/>
          <p:nvPr/>
        </p:nvSpPr>
        <p:spPr>
          <a:xfrm>
            <a:off x="4339225" y="2082575"/>
            <a:ext cx="4557600" cy="530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Чтобы различать метрики, логи, трейсы и знать, как они помогают контролировать ML-системы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6" name="Google Shape;216;p26"/>
          <p:cNvSpPr/>
          <p:nvPr/>
        </p:nvSpPr>
        <p:spPr>
          <a:xfrm>
            <a:off x="4339225" y="3569225"/>
            <a:ext cx="4557600" cy="530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Чтобы на практике уметь контролировать доступность и состояние ML-сервиса и сразу реагировать на сбои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7" name="Google Shape;217;p26"/>
          <p:cNvCxnSpPr>
            <a:stCxn id="210" idx="3"/>
            <a:endCxn id="215" idx="1"/>
          </p:cNvCxnSpPr>
          <p:nvPr/>
        </p:nvCxnSpPr>
        <p:spPr>
          <a:xfrm>
            <a:off x="3938225" y="2347625"/>
            <a:ext cx="401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18" name="Google Shape;218;p26"/>
          <p:cNvCxnSpPr>
            <a:stCxn id="211" idx="3"/>
            <a:endCxn id="208" idx="1"/>
          </p:cNvCxnSpPr>
          <p:nvPr/>
        </p:nvCxnSpPr>
        <p:spPr>
          <a:xfrm>
            <a:off x="3938200" y="3090938"/>
            <a:ext cx="401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19" name="Google Shape;219;p26"/>
          <p:cNvCxnSpPr>
            <a:stCxn id="212" idx="3"/>
            <a:endCxn id="216" idx="1"/>
          </p:cNvCxnSpPr>
          <p:nvPr/>
        </p:nvCxnSpPr>
        <p:spPr>
          <a:xfrm>
            <a:off x="3938200" y="3834275"/>
            <a:ext cx="401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7"/>
          <p:cNvSpPr txBox="1"/>
          <p:nvPr>
            <p:ph type="title"/>
          </p:nvPr>
        </p:nvSpPr>
        <p:spPr>
          <a:xfrm>
            <a:off x="556300" y="1539975"/>
            <a:ext cx="7379700" cy="130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Observability</a:t>
            </a:r>
            <a:endParaRPr sz="4000">
              <a:solidFill>
                <a:srgbClr val="FBFBF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BFB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5" name="Google Shape;225;p27"/>
          <p:cNvPicPr preferRelativeResize="0"/>
          <p:nvPr/>
        </p:nvPicPr>
        <p:blipFill rotWithShape="1">
          <a:blip r:embed="rId3">
            <a:alphaModFix/>
          </a:blip>
          <a:srcRect b="61754" l="0" r="0" t="37151"/>
          <a:stretch/>
        </p:blipFill>
        <p:spPr>
          <a:xfrm>
            <a:off x="0" y="3600500"/>
            <a:ext cx="9181975" cy="5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8"/>
          <p:cNvSpPr txBox="1"/>
          <p:nvPr/>
        </p:nvSpPr>
        <p:spPr>
          <a:xfrm>
            <a:off x="721493" y="832471"/>
            <a:ext cx="77010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5300">
                <a:solidFill>
                  <a:srgbClr val="6402BA"/>
                </a:solidFill>
                <a:latin typeface="Roboto"/>
                <a:ea typeface="Roboto"/>
                <a:cs typeface="Roboto"/>
                <a:sym typeface="Roboto"/>
              </a:rPr>
              <a:t>Observability — это</a:t>
            </a:r>
            <a:endParaRPr sz="2300">
              <a:solidFill>
                <a:srgbClr val="6402B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31" name="Google Shape;231;p28"/>
          <p:cNvSpPr txBox="1"/>
          <p:nvPr/>
        </p:nvSpPr>
        <p:spPr>
          <a:xfrm>
            <a:off x="721500" y="1984175"/>
            <a:ext cx="7403400" cy="17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2300">
                <a:solidFill>
                  <a:srgbClr val="001D3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это способность системы давать достаточно информации о своём внутреннем состоянии, чтобы мы могли понять, что происходит, и быстро находить причины проблем</a:t>
            </a:r>
            <a:endParaRPr sz="2300">
              <a:solidFill>
                <a:srgbClr val="001D3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9"/>
          <p:cNvSpPr txBox="1"/>
          <p:nvPr>
            <p:ph type="title"/>
          </p:nvPr>
        </p:nvSpPr>
        <p:spPr>
          <a:xfrm>
            <a:off x="623400" y="448299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Компоненты observability</a:t>
            </a:r>
            <a:endParaRPr sz="3000"/>
          </a:p>
        </p:txBody>
      </p:sp>
      <p:pic>
        <p:nvPicPr>
          <p:cNvPr id="237" name="Google Shape;237;p29" title="Points sco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6600" y="1544199"/>
            <a:ext cx="5328033" cy="329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0"/>
          <p:cNvSpPr txBox="1"/>
          <p:nvPr>
            <p:ph type="title"/>
          </p:nvPr>
        </p:nvSpPr>
        <p:spPr>
          <a:xfrm>
            <a:off x="611950" y="318675"/>
            <a:ext cx="82143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Метрики</a:t>
            </a:r>
            <a:endParaRPr/>
          </a:p>
        </p:txBody>
      </p:sp>
      <p:sp>
        <p:nvSpPr>
          <p:cNvPr id="243" name="Google Shape;243;p30"/>
          <p:cNvSpPr txBox="1"/>
          <p:nvPr>
            <p:ph type="title"/>
          </p:nvPr>
        </p:nvSpPr>
        <p:spPr>
          <a:xfrm>
            <a:off x="611950" y="938325"/>
            <a:ext cx="8007000" cy="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500"/>
              <a:t>Метрики </a:t>
            </a:r>
            <a:r>
              <a:rPr b="0" lang="ru" sz="1500"/>
              <a:t>— это числовые показатели, которые описывают состояние системы или ее компонентов</a:t>
            </a:r>
            <a:endParaRPr b="0" sz="1500"/>
          </a:p>
        </p:txBody>
      </p:sp>
      <p:pic>
        <p:nvPicPr>
          <p:cNvPr id="244" name="Google Shape;244;p30" title="Screenshot 2025-09-02 at 16.13.0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8975" y="1801150"/>
            <a:ext cx="6107274" cy="2773325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30"/>
          <p:cNvSpPr txBox="1"/>
          <p:nvPr/>
        </p:nvSpPr>
        <p:spPr>
          <a:xfrm>
            <a:off x="611950" y="1801150"/>
            <a:ext cx="2491800" cy="18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Инструменты для анализа: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Prometheus</a:t>
            </a: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+ </a:t>
            </a:r>
            <a:r>
              <a:rPr b="1"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Grafana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VictoriaMetrics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InfluxDB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1"/>
          <p:cNvSpPr txBox="1"/>
          <p:nvPr>
            <p:ph type="title"/>
          </p:nvPr>
        </p:nvSpPr>
        <p:spPr>
          <a:xfrm>
            <a:off x="611950" y="318675"/>
            <a:ext cx="82143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Логи</a:t>
            </a:r>
            <a:endParaRPr/>
          </a:p>
        </p:txBody>
      </p:sp>
      <p:sp>
        <p:nvSpPr>
          <p:cNvPr id="251" name="Google Shape;251;p31"/>
          <p:cNvSpPr txBox="1"/>
          <p:nvPr>
            <p:ph type="title"/>
          </p:nvPr>
        </p:nvSpPr>
        <p:spPr>
          <a:xfrm>
            <a:off x="611950" y="938325"/>
            <a:ext cx="8007000" cy="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500"/>
              <a:t>Логи</a:t>
            </a:r>
            <a:r>
              <a:rPr lang="ru" sz="1500"/>
              <a:t> </a:t>
            </a:r>
            <a:r>
              <a:rPr b="0" lang="ru" sz="1500"/>
              <a:t>— </a:t>
            </a:r>
            <a:r>
              <a:rPr b="0" lang="ru" sz="1500"/>
              <a:t>это текстовые записи событий, которые происходят в системе (например, ошибки, статусы операций, сообщения от приложений)</a:t>
            </a:r>
            <a:endParaRPr b="0" sz="1500"/>
          </a:p>
        </p:txBody>
      </p:sp>
      <p:sp>
        <p:nvSpPr>
          <p:cNvPr id="252" name="Google Shape;252;p31"/>
          <p:cNvSpPr txBox="1"/>
          <p:nvPr/>
        </p:nvSpPr>
        <p:spPr>
          <a:xfrm>
            <a:off x="611950" y="1801150"/>
            <a:ext cx="4093800" cy="18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Инструменты для анализа: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b="1"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ELK stack (Elasticsearch, Logstash, Kibana)</a:t>
            </a:r>
            <a:endParaRPr b="1"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b="1"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Loki + Grafana</a:t>
            </a:r>
            <a:endParaRPr b="1"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b="1"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Syslog</a:t>
            </a:r>
            <a:endParaRPr b="1"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b="1" lang="ru" sz="1100">
                <a:solidFill>
                  <a:srgbClr val="08091C"/>
                </a:solidFill>
                <a:highlight>
                  <a:srgbClr val="FFFFFF"/>
                </a:highlight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VictoriaLogs</a:t>
            </a:r>
            <a:endParaRPr b="1"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3" name="Google Shape;253;p31" title="Screenshot 2025-09-02 at 16.19.4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1950" y="3179850"/>
            <a:ext cx="7477166" cy="114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2"/>
          <p:cNvSpPr txBox="1"/>
          <p:nvPr>
            <p:ph type="title"/>
          </p:nvPr>
        </p:nvSpPr>
        <p:spPr>
          <a:xfrm>
            <a:off x="611950" y="318675"/>
            <a:ext cx="82143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Трейсинг</a:t>
            </a:r>
            <a:endParaRPr/>
          </a:p>
        </p:txBody>
      </p:sp>
      <p:sp>
        <p:nvSpPr>
          <p:cNvPr id="259" name="Google Shape;259;p32"/>
          <p:cNvSpPr txBox="1"/>
          <p:nvPr>
            <p:ph type="title"/>
          </p:nvPr>
        </p:nvSpPr>
        <p:spPr>
          <a:xfrm>
            <a:off x="611950" y="938325"/>
            <a:ext cx="8007000" cy="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500"/>
              <a:t>Трейсинг</a:t>
            </a:r>
            <a:r>
              <a:rPr lang="ru" sz="1500"/>
              <a:t> </a:t>
            </a:r>
            <a:r>
              <a:rPr b="0" lang="ru" sz="1500"/>
              <a:t>— </a:t>
            </a:r>
            <a:r>
              <a:rPr b="0" lang="ru" sz="1500"/>
              <a:t>это сбор информации о том, как запрос проходит через разные сервисы, включая время каждого шага</a:t>
            </a:r>
            <a:endParaRPr b="0" sz="1500"/>
          </a:p>
        </p:txBody>
      </p:sp>
      <p:sp>
        <p:nvSpPr>
          <p:cNvPr id="260" name="Google Shape;260;p32"/>
          <p:cNvSpPr txBox="1"/>
          <p:nvPr/>
        </p:nvSpPr>
        <p:spPr>
          <a:xfrm>
            <a:off x="611950" y="1801150"/>
            <a:ext cx="2058900" cy="18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Инструменты для анализа: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ru" sz="1100">
                <a:solidFill>
                  <a:schemeClr val="dk1"/>
                </a:solidFill>
              </a:rPr>
              <a:t>Jaeger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ru" sz="1100">
                <a:solidFill>
                  <a:schemeClr val="dk1"/>
                </a:solidFill>
              </a:rPr>
              <a:t>Zipkin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ru" sz="1100">
                <a:solidFill>
                  <a:schemeClr val="dk1"/>
                </a:solidFill>
              </a:rPr>
              <a:t>OpenTelemetry</a:t>
            </a:r>
            <a:endParaRPr b="1"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1" name="Google Shape;261;p32" title="Screenshot 2025-09-02 at 16.22.1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0850" y="1801150"/>
            <a:ext cx="6168351" cy="29172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3"/>
          <p:cNvSpPr txBox="1"/>
          <p:nvPr>
            <p:ph type="title"/>
          </p:nvPr>
        </p:nvSpPr>
        <p:spPr>
          <a:xfrm>
            <a:off x="623400" y="448299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Компоненты observability в ML</a:t>
            </a:r>
            <a:endParaRPr sz="3000"/>
          </a:p>
        </p:txBody>
      </p:sp>
      <p:pic>
        <p:nvPicPr>
          <p:cNvPr id="267" name="Google Shape;267;p33" title="Points sco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6600" y="1544199"/>
            <a:ext cx="5328033" cy="329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4"/>
          <p:cNvSpPr txBox="1"/>
          <p:nvPr>
            <p:ph type="title"/>
          </p:nvPr>
        </p:nvSpPr>
        <p:spPr>
          <a:xfrm>
            <a:off x="611950" y="318675"/>
            <a:ext cx="82143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Компоненты observability в ML</a:t>
            </a:r>
            <a:endParaRPr/>
          </a:p>
        </p:txBody>
      </p:sp>
      <p:sp>
        <p:nvSpPr>
          <p:cNvPr id="273" name="Google Shape;273;p34"/>
          <p:cNvSpPr txBox="1"/>
          <p:nvPr>
            <p:ph type="title"/>
          </p:nvPr>
        </p:nvSpPr>
        <p:spPr>
          <a:xfrm>
            <a:off x="611950" y="938325"/>
            <a:ext cx="80070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0" lang="ru" sz="1400">
                <a:latin typeface="Arial"/>
                <a:ea typeface="Arial"/>
                <a:cs typeface="Arial"/>
                <a:sym typeface="Arial"/>
              </a:rPr>
              <a:t>В ML системах observability включает контроль качества данных и моделей, а не только инфраструктуры</a:t>
            </a:r>
            <a:endParaRPr sz="1500"/>
          </a:p>
        </p:txBody>
      </p:sp>
      <p:sp>
        <p:nvSpPr>
          <p:cNvPr id="274" name="Google Shape;274;p34"/>
          <p:cNvSpPr txBox="1"/>
          <p:nvPr/>
        </p:nvSpPr>
        <p:spPr>
          <a:xfrm>
            <a:off x="611950" y="1801150"/>
            <a:ext cx="7167900" cy="18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ru" sz="1100">
                <a:solidFill>
                  <a:schemeClr val="dk1"/>
                </a:solidFill>
              </a:rPr>
              <a:t>Evidently AI, WhyLabs, Arize</a:t>
            </a:r>
            <a:r>
              <a:rPr lang="ru" sz="1100">
                <a:solidFill>
                  <a:schemeClr val="dk1"/>
                </a:solidFill>
              </a:rPr>
              <a:t> — мониторинг качества данных и моделей</a:t>
            </a:r>
            <a:br>
              <a:rPr lang="ru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ru" sz="1100">
                <a:solidFill>
                  <a:schemeClr val="dk1"/>
                </a:solidFill>
              </a:rPr>
              <a:t>MLflow, ClearML, Weights &amp; Biases</a:t>
            </a:r>
            <a:r>
              <a:rPr lang="ru" sz="1100">
                <a:solidFill>
                  <a:schemeClr val="dk1"/>
                </a:solidFill>
              </a:rPr>
              <a:t> — отслеживание экспериментов и метрик моделей</a:t>
            </a:r>
            <a:br>
              <a:rPr lang="ru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ru" sz="1100">
                <a:solidFill>
                  <a:schemeClr val="dk1"/>
                </a:solidFill>
              </a:rPr>
              <a:t>Langfuse</a:t>
            </a:r>
            <a:r>
              <a:rPr lang="ru" sz="1100">
                <a:solidFill>
                  <a:schemeClr val="dk1"/>
                </a:solidFill>
              </a:rPr>
              <a:t> — инструмент для наблюдаемости LLM-приложений, включающий трассировку, метрики качества и аналитику промптов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5"/>
          <p:cNvSpPr txBox="1"/>
          <p:nvPr>
            <p:ph type="title"/>
          </p:nvPr>
        </p:nvSpPr>
        <p:spPr>
          <a:xfrm>
            <a:off x="556300" y="1539975"/>
            <a:ext cx="7379700" cy="130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>
                <a:solidFill>
                  <a:schemeClr val="lt1"/>
                </a:solidFill>
              </a:rPr>
              <a:t>Вопросы</a:t>
            </a:r>
            <a:endParaRPr sz="4000">
              <a:solidFill>
                <a:srgbClr val="FBFBF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BFB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80" name="Google Shape;280;p35"/>
          <p:cNvGrpSpPr/>
          <p:nvPr/>
        </p:nvGrpSpPr>
        <p:grpSpPr>
          <a:xfrm>
            <a:off x="710075" y="3061974"/>
            <a:ext cx="6370821" cy="415500"/>
            <a:chOff x="841300" y="3930749"/>
            <a:chExt cx="6370821" cy="415500"/>
          </a:xfrm>
        </p:grpSpPr>
        <p:sp>
          <p:nvSpPr>
            <p:cNvPr id="281" name="Google Shape;281;p35"/>
            <p:cNvSpPr txBox="1"/>
            <p:nvPr/>
          </p:nvSpPr>
          <p:spPr>
            <a:xfrm>
              <a:off x="1345921" y="3930749"/>
              <a:ext cx="19275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5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если есть вопросы</a:t>
              </a:r>
              <a:endParaRPr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82" name="Google Shape;282;p35"/>
            <p:cNvSpPr txBox="1"/>
            <p:nvPr/>
          </p:nvSpPr>
          <p:spPr>
            <a:xfrm>
              <a:off x="5066221" y="3930749"/>
              <a:ext cx="21459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ru" sz="15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если вопросов нет</a:t>
              </a:r>
              <a:endParaRPr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283" name="Google Shape;283;p35"/>
            <p:cNvPicPr preferRelativeResize="0"/>
            <p:nvPr/>
          </p:nvPicPr>
          <p:blipFill rotWithShape="1">
            <a:blip r:embed="rId3">
              <a:alphaModFix/>
            </a:blip>
            <a:srcRect b="33888" l="0" r="0" t="0"/>
            <a:stretch/>
          </p:blipFill>
          <p:spPr>
            <a:xfrm>
              <a:off x="841300" y="3971694"/>
              <a:ext cx="504637" cy="333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4" name="Google Shape;284;p35"/>
            <p:cNvPicPr preferRelativeResize="0"/>
            <p:nvPr/>
          </p:nvPicPr>
          <p:blipFill rotWithShape="1">
            <a:blip r:embed="rId3">
              <a:alphaModFix/>
            </a:blip>
            <a:srcRect b="15479" l="0" r="0" t="60251"/>
            <a:stretch/>
          </p:blipFill>
          <p:spPr>
            <a:xfrm>
              <a:off x="4561600" y="4077275"/>
              <a:ext cx="504625" cy="1224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85" name="Google Shape;285;p35"/>
          <p:cNvPicPr preferRelativeResize="0"/>
          <p:nvPr/>
        </p:nvPicPr>
        <p:blipFill rotWithShape="1">
          <a:blip r:embed="rId4">
            <a:alphaModFix/>
          </a:blip>
          <a:srcRect b="61754" l="0" r="0" t="37151"/>
          <a:stretch/>
        </p:blipFill>
        <p:spPr>
          <a:xfrm>
            <a:off x="0" y="3600500"/>
            <a:ext cx="9181975" cy="5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36"/>
          <p:cNvPicPr preferRelativeResize="0"/>
          <p:nvPr/>
        </p:nvPicPr>
        <p:blipFill rotWithShape="1">
          <a:blip r:embed="rId3">
            <a:alphaModFix amt="42000"/>
          </a:blip>
          <a:srcRect b="38716" l="0" r="0" t="5495"/>
          <a:stretch/>
        </p:blipFill>
        <p:spPr>
          <a:xfrm>
            <a:off x="0" y="0"/>
            <a:ext cx="92199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36"/>
          <p:cNvSpPr txBox="1"/>
          <p:nvPr>
            <p:ph type="title"/>
          </p:nvPr>
        </p:nvSpPr>
        <p:spPr>
          <a:xfrm>
            <a:off x="623400" y="4130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Ключевые тезисы блока</a:t>
            </a:r>
            <a:endParaRPr/>
          </a:p>
        </p:txBody>
      </p:sp>
      <p:sp>
        <p:nvSpPr>
          <p:cNvPr id="292" name="Google Shape;292;p36"/>
          <p:cNvSpPr txBox="1"/>
          <p:nvPr>
            <p:ph idx="4294967295" type="subTitle"/>
          </p:nvPr>
        </p:nvSpPr>
        <p:spPr>
          <a:xfrm>
            <a:off x="500550" y="857363"/>
            <a:ext cx="7796700" cy="4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013D85"/>
                </a:solidFill>
              </a:rPr>
              <a:t> </a:t>
            </a:r>
            <a:endParaRPr b="1" sz="1500">
              <a:solidFill>
                <a:srgbClr val="013D85"/>
              </a:solidFill>
            </a:endParaRPr>
          </a:p>
        </p:txBody>
      </p:sp>
      <p:pic>
        <p:nvPicPr>
          <p:cNvPr id="293" name="Google Shape;293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58050" y="3065775"/>
            <a:ext cx="1819500" cy="18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36"/>
          <p:cNvSpPr txBox="1"/>
          <p:nvPr/>
        </p:nvSpPr>
        <p:spPr>
          <a:xfrm>
            <a:off x="720000" y="1288450"/>
            <a:ext cx="72555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ru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Observability = метрики, логи, трейсы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ru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 ML критично наблюдать и за инфраструктурой, и за приложением, и за данными, и за моделью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7"/>
          <p:cNvSpPr txBox="1"/>
          <p:nvPr>
            <p:ph type="title"/>
          </p:nvPr>
        </p:nvSpPr>
        <p:spPr>
          <a:xfrm>
            <a:off x="556300" y="1539975"/>
            <a:ext cx="7379700" cy="130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Алертинг</a:t>
            </a:r>
            <a:endParaRPr sz="4000">
              <a:solidFill>
                <a:srgbClr val="FBFBF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BFB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00" name="Google Shape;300;p37"/>
          <p:cNvPicPr preferRelativeResize="0"/>
          <p:nvPr/>
        </p:nvPicPr>
        <p:blipFill rotWithShape="1">
          <a:blip r:embed="rId3">
            <a:alphaModFix/>
          </a:blip>
          <a:srcRect b="61754" l="0" r="0" t="37151"/>
          <a:stretch/>
        </p:blipFill>
        <p:spPr>
          <a:xfrm>
            <a:off x="0" y="3600500"/>
            <a:ext cx="9181975" cy="5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8"/>
          <p:cNvSpPr txBox="1"/>
          <p:nvPr/>
        </p:nvSpPr>
        <p:spPr>
          <a:xfrm>
            <a:off x="721493" y="832471"/>
            <a:ext cx="77010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5300">
                <a:solidFill>
                  <a:srgbClr val="6402BA"/>
                </a:solidFill>
                <a:latin typeface="Roboto"/>
                <a:ea typeface="Roboto"/>
                <a:cs typeface="Roboto"/>
                <a:sym typeface="Roboto"/>
              </a:rPr>
              <a:t>Алертинг</a:t>
            </a:r>
            <a:r>
              <a:rPr b="1" lang="ru" sz="5300">
                <a:solidFill>
                  <a:srgbClr val="6402BA"/>
                </a:solidFill>
                <a:latin typeface="Roboto"/>
                <a:ea typeface="Roboto"/>
                <a:cs typeface="Roboto"/>
                <a:sym typeface="Roboto"/>
              </a:rPr>
              <a:t> — это</a:t>
            </a:r>
            <a:endParaRPr sz="2300">
              <a:solidFill>
                <a:srgbClr val="6402B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06" name="Google Shape;306;p38"/>
          <p:cNvSpPr txBox="1"/>
          <p:nvPr/>
        </p:nvSpPr>
        <p:spPr>
          <a:xfrm>
            <a:off x="721500" y="1984175"/>
            <a:ext cx="7403400" cy="13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ru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сигнал для действия</a:t>
            </a:r>
            <a:r>
              <a:rPr lang="ru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автоматически формируемый при выполнении условия над телеметрией (метрики, логи, трейсы, проверки данных)</a:t>
            </a:r>
            <a:endParaRPr sz="2300">
              <a:solidFill>
                <a:srgbClr val="001D3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9"/>
          <p:cNvSpPr txBox="1"/>
          <p:nvPr>
            <p:ph type="title"/>
          </p:nvPr>
        </p:nvSpPr>
        <p:spPr>
          <a:xfrm>
            <a:off x="568500" y="2021850"/>
            <a:ext cx="8007000" cy="10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300"/>
              <a:t>Метрика ≠ Алерт:</a:t>
            </a:r>
            <a:r>
              <a:rPr b="0" lang="ru" sz="2300"/>
              <a:t> метрика — сырые измерения</a:t>
            </a:r>
            <a:endParaRPr b="0" sz="2300"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0" lang="ru" sz="2300"/>
              <a:t>Алерт = метрика(и) + условие + приоритет + доставка</a:t>
            </a:r>
            <a:endParaRPr b="0" sz="2300"/>
          </a:p>
        </p:txBody>
      </p:sp>
      <p:pic>
        <p:nvPicPr>
          <p:cNvPr id="312" name="Google Shape;31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4849" y="3390244"/>
            <a:ext cx="499518" cy="499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4374" y="3390244"/>
            <a:ext cx="499518" cy="499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3899" y="3390244"/>
            <a:ext cx="499518" cy="499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3424" y="3390244"/>
            <a:ext cx="499518" cy="499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2949" y="3390244"/>
            <a:ext cx="499518" cy="499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2474" y="3390244"/>
            <a:ext cx="499518" cy="499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999" y="3390244"/>
            <a:ext cx="499518" cy="499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1524" y="3390244"/>
            <a:ext cx="499518" cy="499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71049" y="3390244"/>
            <a:ext cx="499518" cy="499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0574" y="3390244"/>
            <a:ext cx="499518" cy="499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70099" y="3390244"/>
            <a:ext cx="499518" cy="499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9624" y="3390244"/>
            <a:ext cx="499518" cy="499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0"/>
          <p:cNvSpPr txBox="1"/>
          <p:nvPr>
            <p:ph type="title"/>
          </p:nvPr>
        </p:nvSpPr>
        <p:spPr>
          <a:xfrm>
            <a:off x="611950" y="318675"/>
            <a:ext cx="82143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Для чего нужны алерты</a:t>
            </a:r>
            <a:endParaRPr/>
          </a:p>
        </p:txBody>
      </p:sp>
      <p:graphicFrame>
        <p:nvGraphicFramePr>
          <p:cNvPr id="329" name="Google Shape;329;p40"/>
          <p:cNvGraphicFramePr/>
          <p:nvPr/>
        </p:nvGraphicFramePr>
        <p:xfrm>
          <a:off x="623400" y="1392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{0D9AC08A-DD45-4295-87C0-87B3C1F3F530}</a:tableStyleId>
              </a:tblPr>
              <a:tblGrid>
                <a:gridCol w="489425"/>
                <a:gridCol w="6749575"/>
              </a:tblGrid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5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 sz="15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Ранняя реакция на сбои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5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 sz="15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Поддержка SLA/SLO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5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 sz="15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Защита бизнес-метрик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5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 sz="15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Сокращение времени обслуживания системы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5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r>
                        <a:rPr b="1" lang="ru" sz="15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b="1" sz="15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Автоматизация и self-healing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5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6.</a:t>
                      </a:r>
                      <a:endParaRPr b="1" sz="15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Предотвращение проблем заранее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5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7</a:t>
                      </a:r>
                      <a:r>
                        <a:rPr b="1" lang="ru" sz="15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b="1" sz="15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Поддержка командной работы и эскалации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1"/>
          <p:cNvSpPr txBox="1"/>
          <p:nvPr>
            <p:ph type="title"/>
          </p:nvPr>
        </p:nvSpPr>
        <p:spPr>
          <a:xfrm>
            <a:off x="611950" y="318675"/>
            <a:ext cx="82143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Время обслуживания системы</a:t>
            </a:r>
            <a:endParaRPr/>
          </a:p>
        </p:txBody>
      </p:sp>
      <p:pic>
        <p:nvPicPr>
          <p:cNvPr id="335" name="Google Shape;335;p41"/>
          <p:cNvPicPr preferRelativeResize="0"/>
          <p:nvPr/>
        </p:nvPicPr>
        <p:blipFill rotWithShape="1">
          <a:blip r:embed="rId3">
            <a:alphaModFix/>
          </a:blip>
          <a:srcRect b="16701" l="0" r="0" t="0"/>
          <a:stretch/>
        </p:blipFill>
        <p:spPr>
          <a:xfrm>
            <a:off x="1028288" y="1140050"/>
            <a:ext cx="7087424" cy="2863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2"/>
          <p:cNvSpPr txBox="1"/>
          <p:nvPr>
            <p:ph type="title"/>
          </p:nvPr>
        </p:nvSpPr>
        <p:spPr>
          <a:xfrm>
            <a:off x="611950" y="318675"/>
            <a:ext cx="82143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Доступность сервиса</a:t>
            </a:r>
            <a:endParaRPr/>
          </a:p>
        </p:txBody>
      </p:sp>
      <p:sp>
        <p:nvSpPr>
          <p:cNvPr id="341" name="Google Shape;341;p42"/>
          <p:cNvSpPr txBox="1"/>
          <p:nvPr>
            <p:ph type="title"/>
          </p:nvPr>
        </p:nvSpPr>
        <p:spPr>
          <a:xfrm>
            <a:off x="611950" y="938325"/>
            <a:ext cx="8007000" cy="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500"/>
              <a:t>Доступность</a:t>
            </a:r>
            <a:r>
              <a:rPr lang="ru" sz="1500"/>
              <a:t> </a:t>
            </a:r>
            <a:r>
              <a:rPr b="0" lang="ru" sz="1500"/>
              <a:t>— это х</a:t>
            </a:r>
            <a:r>
              <a:rPr b="0" lang="ru" sz="1500"/>
              <a:t>арактеристика, показывающая, какую часть времени сервис был работоспособен</a:t>
            </a:r>
            <a:endParaRPr b="0" sz="1500"/>
          </a:p>
        </p:txBody>
      </p:sp>
      <p:sp>
        <p:nvSpPr>
          <p:cNvPr id="342" name="Google Shape;342;p42"/>
          <p:cNvSpPr txBox="1"/>
          <p:nvPr/>
        </p:nvSpPr>
        <p:spPr>
          <a:xfrm>
            <a:off x="611950" y="2191200"/>
            <a:ext cx="7948200" cy="5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3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Доступность = (Согласованное время обслуживания – Время простоя) / Согласованное время обслуживания * 100</a:t>
            </a:r>
            <a:endParaRPr sz="13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graphicFrame>
        <p:nvGraphicFramePr>
          <p:cNvPr id="343" name="Google Shape;343;p42"/>
          <p:cNvGraphicFramePr/>
          <p:nvPr/>
        </p:nvGraphicFramePr>
        <p:xfrm>
          <a:off x="6678500" y="2886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{0D9AC08A-DD45-4295-87C0-87B3C1F3F530}</a:tableStyleId>
              </a:tblPr>
              <a:tblGrid>
                <a:gridCol w="940825"/>
                <a:gridCol w="940825"/>
              </a:tblGrid>
              <a:tr h="311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Availability %</a:t>
                      </a:r>
                      <a:endParaRPr sz="7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Downtime hours per year</a:t>
                      </a:r>
                      <a:endParaRPr sz="7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0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>
                          <a:latin typeface="Roboto"/>
                          <a:ea typeface="Roboto"/>
                          <a:cs typeface="Roboto"/>
                          <a:sym typeface="Roboto"/>
                        </a:rPr>
                        <a:t>99.8</a:t>
                      </a:r>
                      <a:endParaRPr sz="7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17.52</a:t>
                      </a:r>
                      <a:endParaRPr sz="7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0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>
                          <a:latin typeface="Roboto"/>
                          <a:ea typeface="Roboto"/>
                          <a:cs typeface="Roboto"/>
                          <a:sym typeface="Roboto"/>
                        </a:rPr>
                        <a:t>99.9</a:t>
                      </a:r>
                      <a:endParaRPr sz="7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>
                          <a:latin typeface="Roboto"/>
                          <a:ea typeface="Roboto"/>
                          <a:cs typeface="Roboto"/>
                          <a:sym typeface="Roboto"/>
                        </a:rPr>
                        <a:t>8.76</a:t>
                      </a:r>
                      <a:endParaRPr sz="7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0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>
                          <a:latin typeface="Roboto"/>
                          <a:ea typeface="Roboto"/>
                          <a:cs typeface="Roboto"/>
                          <a:sym typeface="Roboto"/>
                        </a:rPr>
                        <a:t>99.95</a:t>
                      </a:r>
                      <a:endParaRPr sz="7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4.38</a:t>
                      </a:r>
                      <a:endParaRPr sz="7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0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99.99</a:t>
                      </a:r>
                      <a:endParaRPr sz="7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0.876</a:t>
                      </a:r>
                      <a:endParaRPr sz="7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0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>
                          <a:latin typeface="Roboto"/>
                          <a:ea typeface="Roboto"/>
                          <a:cs typeface="Roboto"/>
                          <a:sym typeface="Roboto"/>
                        </a:rPr>
                        <a:t>99.999</a:t>
                      </a:r>
                      <a:endParaRPr sz="7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0.087</a:t>
                      </a:r>
                      <a:endParaRPr sz="7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3"/>
          <p:cNvSpPr txBox="1"/>
          <p:nvPr>
            <p:ph type="title"/>
          </p:nvPr>
        </p:nvSpPr>
        <p:spPr>
          <a:xfrm>
            <a:off x="611950" y="318675"/>
            <a:ext cx="82143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Состав алерта</a:t>
            </a:r>
            <a:endParaRPr/>
          </a:p>
        </p:txBody>
      </p:sp>
      <p:graphicFrame>
        <p:nvGraphicFramePr>
          <p:cNvPr id="349" name="Google Shape;349;p43"/>
          <p:cNvGraphicFramePr/>
          <p:nvPr/>
        </p:nvGraphicFramePr>
        <p:xfrm>
          <a:off x="623400" y="1392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{0D9AC08A-DD45-4295-87C0-87B3C1F3F530}</a:tableStyleId>
              </a:tblPr>
              <a:tblGrid>
                <a:gridCol w="489425"/>
                <a:gridCol w="6749575"/>
              </a:tblGrid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5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 sz="15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Сигнал(-ы)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5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 sz="15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Правило/условие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5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 sz="15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Контекст и метаданные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5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 sz="15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Маршрутизация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5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b="1" sz="15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Runbook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4"/>
          <p:cNvSpPr txBox="1"/>
          <p:nvPr>
            <p:ph type="title"/>
          </p:nvPr>
        </p:nvSpPr>
        <p:spPr>
          <a:xfrm>
            <a:off x="611950" y="318675"/>
            <a:ext cx="82143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Типы правил для алертов</a:t>
            </a:r>
            <a:endParaRPr/>
          </a:p>
        </p:txBody>
      </p:sp>
      <p:graphicFrame>
        <p:nvGraphicFramePr>
          <p:cNvPr id="355" name="Google Shape;355;p44"/>
          <p:cNvGraphicFramePr/>
          <p:nvPr/>
        </p:nvGraphicFramePr>
        <p:xfrm>
          <a:off x="623400" y="1392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{0D9AC08A-DD45-4295-87C0-87B3C1F3F530}</a:tableStyleId>
              </a:tblPr>
              <a:tblGrid>
                <a:gridCol w="489425"/>
                <a:gridCol w="6749575"/>
              </a:tblGrid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5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 sz="15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Threshold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5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 sz="15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Rate of change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5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 sz="15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Absence/Heartbeat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5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 sz="15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Anomaly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5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b="1" sz="15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Composite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5"/>
          <p:cNvSpPr/>
          <p:nvPr/>
        </p:nvSpPr>
        <p:spPr>
          <a:xfrm>
            <a:off x="3684151" y="1522725"/>
            <a:ext cx="2177100" cy="2400600"/>
          </a:xfrm>
          <a:prstGeom prst="roundRect">
            <a:avLst>
              <a:gd fmla="val 7425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1" name="Google Shape;361;p45"/>
          <p:cNvSpPr/>
          <p:nvPr/>
        </p:nvSpPr>
        <p:spPr>
          <a:xfrm>
            <a:off x="934275" y="1522725"/>
            <a:ext cx="2177100" cy="2400600"/>
          </a:xfrm>
          <a:prstGeom prst="roundRect">
            <a:avLst>
              <a:gd fmla="val 7154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2" name="Google Shape;362;p45"/>
          <p:cNvSpPr txBox="1"/>
          <p:nvPr/>
        </p:nvSpPr>
        <p:spPr>
          <a:xfrm>
            <a:off x="934275" y="2345625"/>
            <a:ext cx="1588500" cy="10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Roboto"/>
              <a:buChar char="●"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Critical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Error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Warning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Roboto"/>
              <a:buChar char="●"/>
            </a:pPr>
            <a:r>
              <a:rPr lang="ru" sz="1200" strike="sng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Info</a:t>
            </a:r>
            <a:endParaRPr sz="1200" strike="sng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3" name="Google Shape;363;p45"/>
          <p:cNvSpPr txBox="1"/>
          <p:nvPr/>
        </p:nvSpPr>
        <p:spPr>
          <a:xfrm>
            <a:off x="3684138" y="2354475"/>
            <a:ext cx="20127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Микросервисы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Базы данных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Очереди/топики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ML данные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4" name="Google Shape;364;p45"/>
          <p:cNvSpPr txBox="1"/>
          <p:nvPr/>
        </p:nvSpPr>
        <p:spPr>
          <a:xfrm>
            <a:off x="1040200" y="1637850"/>
            <a:ext cx="1482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700">
                <a:solidFill>
                  <a:srgbClr val="9857F3"/>
                </a:solidFill>
                <a:latin typeface="Roboto"/>
                <a:ea typeface="Roboto"/>
                <a:cs typeface="Roboto"/>
                <a:sym typeface="Roboto"/>
              </a:rPr>
              <a:t>По severity сервиса</a:t>
            </a:r>
            <a:endParaRPr b="1" sz="1700">
              <a:solidFill>
                <a:srgbClr val="9857F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5" name="Google Shape;365;p45"/>
          <p:cNvSpPr txBox="1"/>
          <p:nvPr/>
        </p:nvSpPr>
        <p:spPr>
          <a:xfrm>
            <a:off x="3824863" y="1637850"/>
            <a:ext cx="20127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700">
                <a:solidFill>
                  <a:srgbClr val="2AB7E4"/>
                </a:solidFill>
                <a:latin typeface="Roboto"/>
                <a:ea typeface="Roboto"/>
                <a:cs typeface="Roboto"/>
                <a:sym typeface="Roboto"/>
              </a:rPr>
              <a:t>По источнику алерта</a:t>
            </a:r>
            <a:endParaRPr b="1" sz="1700">
              <a:solidFill>
                <a:srgbClr val="2AB7E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6" name="Google Shape;366;p45"/>
          <p:cNvSpPr/>
          <p:nvPr/>
        </p:nvSpPr>
        <p:spPr>
          <a:xfrm>
            <a:off x="6434025" y="1522725"/>
            <a:ext cx="2177100" cy="2400600"/>
          </a:xfrm>
          <a:prstGeom prst="roundRect">
            <a:avLst>
              <a:gd fmla="val 7425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7" name="Google Shape;367;p45"/>
          <p:cNvSpPr txBox="1"/>
          <p:nvPr/>
        </p:nvSpPr>
        <p:spPr>
          <a:xfrm>
            <a:off x="6498300" y="1637850"/>
            <a:ext cx="20127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700">
                <a:solidFill>
                  <a:srgbClr val="019836"/>
                </a:solidFill>
                <a:latin typeface="Roboto"/>
                <a:ea typeface="Roboto"/>
                <a:cs typeface="Roboto"/>
                <a:sym typeface="Roboto"/>
              </a:rPr>
              <a:t>По </a:t>
            </a:r>
            <a:r>
              <a:rPr b="1" lang="ru" sz="1700">
                <a:solidFill>
                  <a:srgbClr val="019836"/>
                </a:solidFill>
                <a:latin typeface="Roboto"/>
                <a:ea typeface="Roboto"/>
                <a:cs typeface="Roboto"/>
                <a:sym typeface="Roboto"/>
              </a:rPr>
              <a:t>severity</a:t>
            </a:r>
            <a:r>
              <a:rPr b="1" lang="ru" sz="1700">
                <a:solidFill>
                  <a:srgbClr val="019836"/>
                </a:solidFill>
                <a:latin typeface="Roboto"/>
                <a:ea typeface="Roboto"/>
                <a:cs typeface="Roboto"/>
                <a:sym typeface="Roboto"/>
              </a:rPr>
              <a:t> системы</a:t>
            </a:r>
            <a:endParaRPr b="1" sz="1700">
              <a:solidFill>
                <a:srgbClr val="01983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8" name="Google Shape;368;p45"/>
          <p:cNvSpPr txBox="1"/>
          <p:nvPr/>
        </p:nvSpPr>
        <p:spPr>
          <a:xfrm>
            <a:off x="6498300" y="2354475"/>
            <a:ext cx="20607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Mission critical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Business critical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Business operational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Office Productivity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9" name="Google Shape;369;p45"/>
          <p:cNvSpPr txBox="1"/>
          <p:nvPr>
            <p:ph type="title"/>
          </p:nvPr>
        </p:nvSpPr>
        <p:spPr>
          <a:xfrm>
            <a:off x="611950" y="318675"/>
            <a:ext cx="82143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Классификация алертов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6"/>
          <p:cNvSpPr txBox="1"/>
          <p:nvPr>
            <p:ph type="title"/>
          </p:nvPr>
        </p:nvSpPr>
        <p:spPr>
          <a:xfrm>
            <a:off x="611950" y="318675"/>
            <a:ext cx="82143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Системы управления алертами</a:t>
            </a:r>
            <a:endParaRPr/>
          </a:p>
        </p:txBody>
      </p:sp>
      <p:sp>
        <p:nvSpPr>
          <p:cNvPr id="375" name="Google Shape;375;p46"/>
          <p:cNvSpPr txBox="1"/>
          <p:nvPr/>
        </p:nvSpPr>
        <p:spPr>
          <a:xfrm>
            <a:off x="680650" y="1125125"/>
            <a:ext cx="6536100" cy="18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ru" sz="1100" strike="sngStrike">
                <a:solidFill>
                  <a:schemeClr val="dk1"/>
                </a:solidFill>
              </a:rPr>
              <a:t>Prometheus</a:t>
            </a:r>
            <a:endParaRPr b="1" sz="1100" strike="sngStrike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ru" sz="1100" strike="sngStrike">
                <a:solidFill>
                  <a:schemeClr val="dk1"/>
                </a:solidFill>
              </a:rPr>
              <a:t>Grafana</a:t>
            </a:r>
            <a:endParaRPr b="1" sz="1100" strike="sngStrike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ru" sz="1100" strike="sngStrike">
                <a:solidFill>
                  <a:schemeClr val="dk1"/>
                </a:solidFill>
              </a:rPr>
              <a:t>Sentry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ru" sz="1100">
                <a:solidFill>
                  <a:schemeClr val="dk1"/>
                </a:solidFill>
              </a:rPr>
              <a:t>Prometheus Alertmanager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ru" sz="1100">
                <a:solidFill>
                  <a:schemeClr val="dk1"/>
                </a:solidFill>
              </a:rPr>
              <a:t>Grafana Alerting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ru" sz="1100">
                <a:solidFill>
                  <a:schemeClr val="dk1"/>
                </a:solidFill>
              </a:rPr>
              <a:t>Opsgenie / PagerDuty / VictorOps</a:t>
            </a:r>
            <a:endParaRPr b="1" sz="1100" strike="sngStrike">
              <a:solidFill>
                <a:schemeClr val="dk1"/>
              </a:solidFill>
            </a:endParaRPr>
          </a:p>
        </p:txBody>
      </p:sp>
      <p:pic>
        <p:nvPicPr>
          <p:cNvPr id="376" name="Google Shape;376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7088" y="2713375"/>
            <a:ext cx="5069836" cy="181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7"/>
          <p:cNvSpPr txBox="1"/>
          <p:nvPr/>
        </p:nvSpPr>
        <p:spPr>
          <a:xfrm>
            <a:off x="5076100" y="3134775"/>
            <a:ext cx="3696000" cy="12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Трейсинг для LLM</a:t>
            </a:r>
            <a:endParaRPr b="1"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Рост доли неуспешных tool/function-calls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Таймауты шагов в цепочке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Рост</a:t>
            </a: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стоимости/токенов на запрос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2" name="Google Shape;382;p47"/>
          <p:cNvSpPr txBox="1"/>
          <p:nvPr>
            <p:ph type="title"/>
          </p:nvPr>
        </p:nvSpPr>
        <p:spPr>
          <a:xfrm>
            <a:off x="600400" y="438675"/>
            <a:ext cx="74931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Примеры метрик для алертов</a:t>
            </a:r>
            <a:endParaRPr/>
          </a:p>
        </p:txBody>
      </p:sp>
      <p:sp>
        <p:nvSpPr>
          <p:cNvPr id="383" name="Google Shape;383;p47"/>
          <p:cNvSpPr txBox="1"/>
          <p:nvPr/>
        </p:nvSpPr>
        <p:spPr>
          <a:xfrm>
            <a:off x="1037499" y="1534575"/>
            <a:ext cx="3188400" cy="21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Инференс/онлайн-сервисы</a:t>
            </a:r>
            <a:endParaRPr b="1" sz="19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Latency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CPU/GPU/RAM/Disk Usage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Error Rate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Request Rate</a:t>
            </a:r>
            <a:b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9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4" name="Google Shape;384;p47"/>
          <p:cNvSpPr txBox="1"/>
          <p:nvPr/>
        </p:nvSpPr>
        <p:spPr>
          <a:xfrm>
            <a:off x="5076092" y="1534576"/>
            <a:ext cx="3546900" cy="12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Пайплайны и очереди</a:t>
            </a:r>
            <a:endParaRPr b="1"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Orchestration SLA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Kafka/Queues: consumer lag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Batch freshness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5" name="Google Shape;385;p47"/>
          <p:cNvSpPr txBox="1"/>
          <p:nvPr/>
        </p:nvSpPr>
        <p:spPr>
          <a:xfrm>
            <a:off x="1037500" y="3134775"/>
            <a:ext cx="3188400" cy="17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Данные и модель</a:t>
            </a:r>
            <a:endParaRPr b="1"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Качество модели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Дрейф данных/признаков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Стабильность предсказаний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Валидация данных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86" name="Google Shape;386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1950" y="1633000"/>
            <a:ext cx="396600" cy="39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0400" y="3231175"/>
            <a:ext cx="396600" cy="39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31950" y="3231175"/>
            <a:ext cx="396600" cy="39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4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0400" y="1633000"/>
            <a:ext cx="396600" cy="39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8"/>
          <p:cNvSpPr txBox="1"/>
          <p:nvPr>
            <p:ph type="title"/>
          </p:nvPr>
        </p:nvSpPr>
        <p:spPr>
          <a:xfrm>
            <a:off x="611950" y="318675"/>
            <a:ext cx="82143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Правила хорошего алерта</a:t>
            </a:r>
            <a:endParaRPr/>
          </a:p>
        </p:txBody>
      </p:sp>
      <p:graphicFrame>
        <p:nvGraphicFramePr>
          <p:cNvPr id="395" name="Google Shape;395;p48"/>
          <p:cNvGraphicFramePr/>
          <p:nvPr/>
        </p:nvGraphicFramePr>
        <p:xfrm>
          <a:off x="623400" y="1392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{0D9AC08A-DD45-4295-87C0-87B3C1F3F530}</a:tableStyleId>
              </a:tblPr>
              <a:tblGrid>
                <a:gridCol w="489425"/>
                <a:gridCol w="6749575"/>
              </a:tblGrid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5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 sz="15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Actionable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5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 sz="15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Sensible severity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5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 sz="15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Alert fatigue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5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 sz="15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Ясность и контекст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5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b="1" sz="15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Привязка к SLO/бизнес-метрикам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5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6.</a:t>
                      </a:r>
                      <a:endParaRPr b="1" sz="15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Testable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396" name="Google Shape;396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22675" y="785275"/>
            <a:ext cx="673150" cy="67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9"/>
          <p:cNvSpPr/>
          <p:nvPr/>
        </p:nvSpPr>
        <p:spPr>
          <a:xfrm>
            <a:off x="4723550" y="1792050"/>
            <a:ext cx="3414600" cy="2797500"/>
          </a:xfrm>
          <a:prstGeom prst="roundRect">
            <a:avLst>
              <a:gd fmla="val 8795" name="adj"/>
            </a:avLst>
          </a:prstGeom>
          <a:solidFill>
            <a:srgbClr val="FE9CA0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2" name="Google Shape;402;p49"/>
          <p:cNvSpPr txBox="1"/>
          <p:nvPr>
            <p:ph type="title"/>
          </p:nvPr>
        </p:nvSpPr>
        <p:spPr>
          <a:xfrm>
            <a:off x="718175" y="438675"/>
            <a:ext cx="66522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Что делать если пришел алерт</a:t>
            </a:r>
            <a:endParaRPr/>
          </a:p>
        </p:txBody>
      </p:sp>
      <p:sp>
        <p:nvSpPr>
          <p:cNvPr id="403" name="Google Shape;403;p49"/>
          <p:cNvSpPr/>
          <p:nvPr/>
        </p:nvSpPr>
        <p:spPr>
          <a:xfrm>
            <a:off x="862750" y="1792050"/>
            <a:ext cx="3414600" cy="2797500"/>
          </a:xfrm>
          <a:prstGeom prst="roundRect">
            <a:avLst>
              <a:gd fmla="val 8524" name="adj"/>
            </a:avLst>
          </a:prstGeom>
          <a:solidFill>
            <a:srgbClr val="75F49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4" name="Google Shape;404;p49"/>
          <p:cNvSpPr txBox="1"/>
          <p:nvPr/>
        </p:nvSpPr>
        <p:spPr>
          <a:xfrm>
            <a:off x="968675" y="1979975"/>
            <a:ext cx="3414600" cy="28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chemeClr val="dk1"/>
                </a:solidFill>
              </a:rPr>
              <a:t>Что делать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ru" sz="1100">
                <a:solidFill>
                  <a:schemeClr val="dk1"/>
                </a:solidFill>
              </a:rPr>
              <a:t>Уведомить заказчика/бизнес о проблеме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ru" sz="1100">
                <a:solidFill>
                  <a:schemeClr val="dk1"/>
                </a:solidFill>
              </a:rPr>
              <a:t>Проверить логи, метрики, трейсы, дешборды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ru" sz="1100">
                <a:solidFill>
                  <a:schemeClr val="dk1"/>
                </a:solidFill>
              </a:rPr>
              <a:t>Проверить чаты/алерты смежных систем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ru" sz="1100">
                <a:solidFill>
                  <a:schemeClr val="dk1"/>
                </a:solidFill>
              </a:rPr>
              <a:t>Начать устранение проблемы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ru" sz="1100">
                <a:solidFill>
                  <a:schemeClr val="dk1"/>
                </a:solidFill>
              </a:rPr>
              <a:t>Написать постмортем и закрыть его (с исправлениями)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ru" sz="1100">
                <a:solidFill>
                  <a:schemeClr val="dk1"/>
                </a:solidFill>
              </a:rPr>
              <a:t>Если алерт оказался бесполезным, то удалить его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ru" sz="1100">
                <a:solidFill>
                  <a:schemeClr val="dk1"/>
                </a:solidFill>
              </a:rPr>
              <a:t>Если алерт полезный, то похвалить себя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5" name="Google Shape;405;p49"/>
          <p:cNvSpPr txBox="1"/>
          <p:nvPr/>
        </p:nvSpPr>
        <p:spPr>
          <a:xfrm>
            <a:off x="4933550" y="1987625"/>
            <a:ext cx="3204600" cy="20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100">
                <a:solidFill>
                  <a:schemeClr val="dk1"/>
                </a:solidFill>
              </a:rPr>
              <a:t>Что не делать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 sz="1100">
                <a:solidFill>
                  <a:schemeClr val="dk1"/>
                </a:solidFill>
              </a:rPr>
              <a:t>Искать кто починит вместо действий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 sz="1100">
                <a:solidFill>
                  <a:schemeClr val="dk1"/>
                </a:solidFill>
              </a:rPr>
              <a:t>Игнорировать или откладывать алерт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 sz="1100">
                <a:solidFill>
                  <a:schemeClr val="dk1"/>
                </a:solidFill>
              </a:rPr>
              <a:t>Решать ложный/неложный без проверки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 sz="1100">
                <a:solidFill>
                  <a:schemeClr val="dk1"/>
                </a:solidFill>
              </a:rPr>
              <a:t>Сообщать, что починили, если нет 100% уверенности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06" name="Google Shape;406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22675" y="785275"/>
            <a:ext cx="673150" cy="67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50"/>
          <p:cNvSpPr txBox="1"/>
          <p:nvPr>
            <p:ph type="title"/>
          </p:nvPr>
        </p:nvSpPr>
        <p:spPr>
          <a:xfrm>
            <a:off x="556300" y="1539975"/>
            <a:ext cx="7379700" cy="130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>
                <a:solidFill>
                  <a:schemeClr val="lt1"/>
                </a:solidFill>
              </a:rPr>
              <a:t>Вопросы</a:t>
            </a:r>
            <a:endParaRPr sz="4000">
              <a:solidFill>
                <a:srgbClr val="FBFBF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BFB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12" name="Google Shape;412;p50"/>
          <p:cNvGrpSpPr/>
          <p:nvPr/>
        </p:nvGrpSpPr>
        <p:grpSpPr>
          <a:xfrm>
            <a:off x="710075" y="3061974"/>
            <a:ext cx="6370821" cy="415500"/>
            <a:chOff x="841300" y="3930749"/>
            <a:chExt cx="6370821" cy="415500"/>
          </a:xfrm>
        </p:grpSpPr>
        <p:sp>
          <p:nvSpPr>
            <p:cNvPr id="413" name="Google Shape;413;p50"/>
            <p:cNvSpPr txBox="1"/>
            <p:nvPr/>
          </p:nvSpPr>
          <p:spPr>
            <a:xfrm>
              <a:off x="1345921" y="3930749"/>
              <a:ext cx="19275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5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если есть вопросы</a:t>
              </a:r>
              <a:endParaRPr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14" name="Google Shape;414;p50"/>
            <p:cNvSpPr txBox="1"/>
            <p:nvPr/>
          </p:nvSpPr>
          <p:spPr>
            <a:xfrm>
              <a:off x="5066221" y="3930749"/>
              <a:ext cx="21459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ru" sz="15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если вопросов нет</a:t>
              </a:r>
              <a:endParaRPr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15" name="Google Shape;415;p50"/>
            <p:cNvPicPr preferRelativeResize="0"/>
            <p:nvPr/>
          </p:nvPicPr>
          <p:blipFill rotWithShape="1">
            <a:blip r:embed="rId3">
              <a:alphaModFix/>
            </a:blip>
            <a:srcRect b="33888" l="0" r="0" t="0"/>
            <a:stretch/>
          </p:blipFill>
          <p:spPr>
            <a:xfrm>
              <a:off x="841300" y="3971694"/>
              <a:ext cx="504637" cy="333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6" name="Google Shape;416;p50"/>
            <p:cNvPicPr preferRelativeResize="0"/>
            <p:nvPr/>
          </p:nvPicPr>
          <p:blipFill rotWithShape="1">
            <a:blip r:embed="rId3">
              <a:alphaModFix/>
            </a:blip>
            <a:srcRect b="15479" l="0" r="0" t="60251"/>
            <a:stretch/>
          </p:blipFill>
          <p:spPr>
            <a:xfrm>
              <a:off x="4561600" y="4077275"/>
              <a:ext cx="504625" cy="1224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17" name="Google Shape;417;p50"/>
          <p:cNvPicPr preferRelativeResize="0"/>
          <p:nvPr/>
        </p:nvPicPr>
        <p:blipFill rotWithShape="1">
          <a:blip r:embed="rId4">
            <a:alphaModFix/>
          </a:blip>
          <a:srcRect b="61754" l="0" r="0" t="37151"/>
          <a:stretch/>
        </p:blipFill>
        <p:spPr>
          <a:xfrm>
            <a:off x="0" y="3600500"/>
            <a:ext cx="9181975" cy="5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" name="Google Shape;422;p51"/>
          <p:cNvPicPr preferRelativeResize="0"/>
          <p:nvPr/>
        </p:nvPicPr>
        <p:blipFill rotWithShape="1">
          <a:blip r:embed="rId3">
            <a:alphaModFix amt="42000"/>
          </a:blip>
          <a:srcRect b="38716" l="0" r="0" t="5495"/>
          <a:stretch/>
        </p:blipFill>
        <p:spPr>
          <a:xfrm>
            <a:off x="0" y="0"/>
            <a:ext cx="92199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51"/>
          <p:cNvSpPr txBox="1"/>
          <p:nvPr>
            <p:ph type="title"/>
          </p:nvPr>
        </p:nvSpPr>
        <p:spPr>
          <a:xfrm>
            <a:off x="623400" y="4130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Ключевые тезисы блока</a:t>
            </a:r>
            <a:endParaRPr/>
          </a:p>
        </p:txBody>
      </p:sp>
      <p:sp>
        <p:nvSpPr>
          <p:cNvPr id="424" name="Google Shape;424;p51"/>
          <p:cNvSpPr txBox="1"/>
          <p:nvPr>
            <p:ph idx="4294967295" type="subTitle"/>
          </p:nvPr>
        </p:nvSpPr>
        <p:spPr>
          <a:xfrm>
            <a:off x="500550" y="857363"/>
            <a:ext cx="7796700" cy="4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013D85"/>
                </a:solidFill>
              </a:rPr>
              <a:t> </a:t>
            </a:r>
            <a:endParaRPr b="1" sz="1500">
              <a:solidFill>
                <a:srgbClr val="013D85"/>
              </a:solidFill>
            </a:endParaRPr>
          </a:p>
        </p:txBody>
      </p:sp>
      <p:sp>
        <p:nvSpPr>
          <p:cNvPr id="425" name="Google Shape;425;p51"/>
          <p:cNvSpPr txBox="1"/>
          <p:nvPr/>
        </p:nvSpPr>
        <p:spPr>
          <a:xfrm>
            <a:off x="720000" y="1288450"/>
            <a:ext cx="7255500" cy="28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ru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Алерты = метрики + правила + уведомления → actionable сигналы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ru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Классификация: по severity, источнику, критичности системы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ru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Алерты помогают вовремя реагировать и защищать SLA и бизнес-метрики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AutoNum type="arabicPeriod"/>
            </a:pPr>
            <a:r>
              <a:rPr lang="ru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Сначала починить, потом обсуждать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AutoNum type="arabicPeriod"/>
            </a:pPr>
            <a:r>
              <a:rPr lang="ru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Регулярно проводите ревью ваших алертов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26" name="Google Shape;426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58050" y="3065775"/>
            <a:ext cx="1819500" cy="181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52"/>
          <p:cNvSpPr txBox="1"/>
          <p:nvPr>
            <p:ph type="title"/>
          </p:nvPr>
        </p:nvSpPr>
        <p:spPr>
          <a:xfrm>
            <a:off x="556300" y="1539975"/>
            <a:ext cx="7379700" cy="130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>
                <a:solidFill>
                  <a:schemeClr val="lt1"/>
                </a:solidFill>
              </a:rPr>
              <a:t>LIVE</a:t>
            </a:r>
            <a:endParaRPr sz="4000">
              <a:solidFill>
                <a:srgbClr val="FBFBF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BFB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32" name="Google Shape;432;p52"/>
          <p:cNvPicPr preferRelativeResize="0"/>
          <p:nvPr/>
        </p:nvPicPr>
        <p:blipFill rotWithShape="1">
          <a:blip r:embed="rId3">
            <a:alphaModFix/>
          </a:blip>
          <a:srcRect b="61754" l="0" r="0" t="37151"/>
          <a:stretch/>
        </p:blipFill>
        <p:spPr>
          <a:xfrm>
            <a:off x="0" y="3600500"/>
            <a:ext cx="9181975" cy="5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53"/>
          <p:cNvSpPr txBox="1"/>
          <p:nvPr>
            <p:ph type="title"/>
          </p:nvPr>
        </p:nvSpPr>
        <p:spPr>
          <a:xfrm>
            <a:off x="611950" y="318675"/>
            <a:ext cx="82143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Что сделаем</a:t>
            </a:r>
            <a:endParaRPr/>
          </a:p>
        </p:txBody>
      </p:sp>
      <p:pic>
        <p:nvPicPr>
          <p:cNvPr id="438" name="Google Shape;438;p53" title="Comm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1951" y="1760075"/>
            <a:ext cx="7471099" cy="162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54"/>
          <p:cNvSpPr txBox="1"/>
          <p:nvPr>
            <p:ph type="title"/>
          </p:nvPr>
        </p:nvSpPr>
        <p:spPr>
          <a:xfrm>
            <a:off x="611950" y="318675"/>
            <a:ext cx="82143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Что сделали</a:t>
            </a:r>
            <a:endParaRPr/>
          </a:p>
        </p:txBody>
      </p:sp>
      <p:sp>
        <p:nvSpPr>
          <p:cNvPr id="444" name="Google Shape;444;p54"/>
          <p:cNvSpPr txBox="1"/>
          <p:nvPr>
            <p:ph type="title"/>
          </p:nvPr>
        </p:nvSpPr>
        <p:spPr>
          <a:xfrm>
            <a:off x="611950" y="938325"/>
            <a:ext cx="8007000" cy="4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0" lang="ru" sz="1500"/>
              <a:t>Топология в Kubernetes</a:t>
            </a:r>
            <a:endParaRPr b="0" sz="1500"/>
          </a:p>
        </p:txBody>
      </p:sp>
      <p:pic>
        <p:nvPicPr>
          <p:cNvPr id="445" name="Google Shape;445;p54" title="mermaid-drawin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83388"/>
            <a:ext cx="8839204" cy="1976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55"/>
          <p:cNvSpPr txBox="1"/>
          <p:nvPr>
            <p:ph type="title"/>
          </p:nvPr>
        </p:nvSpPr>
        <p:spPr>
          <a:xfrm>
            <a:off x="611950" y="318675"/>
            <a:ext cx="82143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Что сделали</a:t>
            </a:r>
            <a:endParaRPr/>
          </a:p>
        </p:txBody>
      </p:sp>
      <p:sp>
        <p:nvSpPr>
          <p:cNvPr id="451" name="Google Shape;451;p55"/>
          <p:cNvSpPr txBox="1"/>
          <p:nvPr>
            <p:ph type="title"/>
          </p:nvPr>
        </p:nvSpPr>
        <p:spPr>
          <a:xfrm>
            <a:off x="611950" y="938325"/>
            <a:ext cx="8007000" cy="4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0" lang="ru" sz="1500"/>
              <a:t>Путь данных от запроса до алерта</a:t>
            </a:r>
            <a:endParaRPr b="0" sz="1500"/>
          </a:p>
        </p:txBody>
      </p:sp>
      <p:pic>
        <p:nvPicPr>
          <p:cNvPr id="452" name="Google Shape;452;p55" title="mermaid-drawin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3438" y="1374138"/>
            <a:ext cx="8537114" cy="3484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56"/>
          <p:cNvSpPr txBox="1"/>
          <p:nvPr>
            <p:ph type="title"/>
          </p:nvPr>
        </p:nvSpPr>
        <p:spPr>
          <a:xfrm>
            <a:off x="556300" y="1539975"/>
            <a:ext cx="7379700" cy="130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>
                <a:solidFill>
                  <a:schemeClr val="lt1"/>
                </a:solidFill>
              </a:rPr>
              <a:t>Вопросы</a:t>
            </a:r>
            <a:endParaRPr sz="4000">
              <a:solidFill>
                <a:srgbClr val="FBFBF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BFB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58" name="Google Shape;458;p56"/>
          <p:cNvGrpSpPr/>
          <p:nvPr/>
        </p:nvGrpSpPr>
        <p:grpSpPr>
          <a:xfrm>
            <a:off x="710075" y="3061974"/>
            <a:ext cx="6370821" cy="415500"/>
            <a:chOff x="841300" y="3930749"/>
            <a:chExt cx="6370821" cy="415500"/>
          </a:xfrm>
        </p:grpSpPr>
        <p:sp>
          <p:nvSpPr>
            <p:cNvPr id="459" name="Google Shape;459;p56"/>
            <p:cNvSpPr txBox="1"/>
            <p:nvPr/>
          </p:nvSpPr>
          <p:spPr>
            <a:xfrm>
              <a:off x="1345921" y="3930749"/>
              <a:ext cx="19275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5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если есть вопросы</a:t>
              </a:r>
              <a:endParaRPr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60" name="Google Shape;460;p56"/>
            <p:cNvSpPr txBox="1"/>
            <p:nvPr/>
          </p:nvSpPr>
          <p:spPr>
            <a:xfrm>
              <a:off x="5066221" y="3930749"/>
              <a:ext cx="21459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ru" sz="15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если вопросов нет</a:t>
              </a:r>
              <a:endParaRPr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61" name="Google Shape;461;p56"/>
            <p:cNvPicPr preferRelativeResize="0"/>
            <p:nvPr/>
          </p:nvPicPr>
          <p:blipFill rotWithShape="1">
            <a:blip r:embed="rId3">
              <a:alphaModFix/>
            </a:blip>
            <a:srcRect b="33888" l="0" r="0" t="0"/>
            <a:stretch/>
          </p:blipFill>
          <p:spPr>
            <a:xfrm>
              <a:off x="841300" y="3971694"/>
              <a:ext cx="504637" cy="333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2" name="Google Shape;462;p56"/>
            <p:cNvPicPr preferRelativeResize="0"/>
            <p:nvPr/>
          </p:nvPicPr>
          <p:blipFill rotWithShape="1">
            <a:blip r:embed="rId3">
              <a:alphaModFix/>
            </a:blip>
            <a:srcRect b="15479" l="0" r="0" t="60251"/>
            <a:stretch/>
          </p:blipFill>
          <p:spPr>
            <a:xfrm>
              <a:off x="4561600" y="4077275"/>
              <a:ext cx="504625" cy="1224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63" name="Google Shape;463;p56"/>
          <p:cNvPicPr preferRelativeResize="0"/>
          <p:nvPr/>
        </p:nvPicPr>
        <p:blipFill rotWithShape="1">
          <a:blip r:embed="rId4">
            <a:alphaModFix/>
          </a:blip>
          <a:srcRect b="61754" l="0" r="0" t="37151"/>
          <a:stretch/>
        </p:blipFill>
        <p:spPr>
          <a:xfrm>
            <a:off x="0" y="3600500"/>
            <a:ext cx="9181975" cy="5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7"/>
          <p:cNvSpPr txBox="1"/>
          <p:nvPr>
            <p:ph type="title"/>
          </p:nvPr>
        </p:nvSpPr>
        <p:spPr>
          <a:xfrm>
            <a:off x="556300" y="1539975"/>
            <a:ext cx="7379700" cy="200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>
                <a:solidFill>
                  <a:schemeClr val="lt1"/>
                </a:solidFill>
              </a:rPr>
              <a:t>Подвед</a:t>
            </a:r>
            <a:r>
              <a:rPr lang="ru"/>
              <a:t>ё</a:t>
            </a:r>
            <a:r>
              <a:rPr lang="ru" sz="4500">
                <a:solidFill>
                  <a:schemeClr val="lt1"/>
                </a:solidFill>
              </a:rPr>
              <a:t>м </a:t>
            </a:r>
            <a:endParaRPr sz="4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>
                <a:solidFill>
                  <a:schemeClr val="lt1"/>
                </a:solidFill>
              </a:rPr>
              <a:t>итоги занятия</a:t>
            </a:r>
            <a:endParaRPr sz="4000">
              <a:solidFill>
                <a:srgbClr val="FBFBF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BFB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69" name="Google Shape;469;p57"/>
          <p:cNvPicPr preferRelativeResize="0"/>
          <p:nvPr/>
        </p:nvPicPr>
        <p:blipFill rotWithShape="1">
          <a:blip r:embed="rId3">
            <a:alphaModFix/>
          </a:blip>
          <a:srcRect b="61754" l="0" r="0" t="37151"/>
          <a:stretch/>
        </p:blipFill>
        <p:spPr>
          <a:xfrm>
            <a:off x="0" y="3600500"/>
            <a:ext cx="9181975" cy="5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58"/>
          <p:cNvSpPr txBox="1"/>
          <p:nvPr>
            <p:ph type="title"/>
          </p:nvPr>
        </p:nvSpPr>
        <p:spPr>
          <a:xfrm>
            <a:off x="623400" y="448299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Ключевые тезисы занятия</a:t>
            </a:r>
            <a:endParaRPr sz="3000"/>
          </a:p>
        </p:txBody>
      </p:sp>
      <p:sp>
        <p:nvSpPr>
          <p:cNvPr id="475" name="Google Shape;475;p58"/>
          <p:cNvSpPr txBox="1"/>
          <p:nvPr>
            <p:ph idx="4294967295" type="body"/>
          </p:nvPr>
        </p:nvSpPr>
        <p:spPr>
          <a:xfrm>
            <a:off x="961975" y="1305088"/>
            <a:ext cx="7742400" cy="213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9857F3"/>
              </a:buClr>
              <a:buSzPts val="1600"/>
              <a:buAutoNum type="arabicPeriod"/>
            </a:pPr>
            <a:r>
              <a:rPr lang="ru" sz="1600"/>
              <a:t>Алертинг строится на метриках, но превращает их в actionable сигналы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857F3"/>
              </a:buClr>
              <a:buSzPts val="1600"/>
              <a:buAutoNum type="arabicPeriod"/>
            </a:pPr>
            <a:r>
              <a:rPr lang="ru" sz="1600"/>
              <a:t>Хорошие алерты снижают шум и помогают фокусироваться на реально важных проблемах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857F3"/>
              </a:buClr>
              <a:buSzPts val="1600"/>
              <a:buAutoNum type="arabicPeriod"/>
            </a:pPr>
            <a:r>
              <a:rPr lang="ru" sz="1600"/>
              <a:t>Алерты и наблюдаемость связывают технические события с бизнес-метриками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857F3"/>
              </a:buClr>
              <a:buSzPts val="1600"/>
              <a:buAutoNum type="arabicPeriod"/>
            </a:pPr>
            <a:r>
              <a:rPr lang="ru" sz="1600"/>
              <a:t>Культура работы с инцидентами (postmortem, пересмотр алертов) делает систему надёжнее со временем</a:t>
            </a:r>
            <a:endParaRPr sz="16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0" name="Google Shape;480;p59"/>
          <p:cNvGraphicFramePr/>
          <p:nvPr/>
        </p:nvGraphicFramePr>
        <p:xfrm>
          <a:off x="620463" y="420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{0D9AC08A-DD45-4295-87C0-87B3C1F3F530}</a:tableStyleId>
              </a:tblPr>
              <a:tblGrid>
                <a:gridCol w="3828200"/>
              </a:tblGrid>
              <a:tr h="1062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2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Теперь вы сможете</a:t>
                      </a:r>
                      <a:endParaRPr b="1" sz="3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solidFill>
                          <a:srgbClr val="6402B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81" name="Google Shape;481;p59"/>
          <p:cNvSpPr/>
          <p:nvPr/>
        </p:nvSpPr>
        <p:spPr>
          <a:xfrm>
            <a:off x="4339225" y="2825900"/>
            <a:ext cx="4557600" cy="530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Чтобы уметь отличать полезные алерты от шума и выстраивать полезную систему уведомлений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2" name="Google Shape;482;p59"/>
          <p:cNvSpPr/>
          <p:nvPr/>
        </p:nvSpPr>
        <p:spPr>
          <a:xfrm>
            <a:off x="553325" y="2082575"/>
            <a:ext cx="3384900" cy="530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1. Понимать, что включает в себя Observability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3" name="Google Shape;483;p59"/>
          <p:cNvSpPr/>
          <p:nvPr/>
        </p:nvSpPr>
        <p:spPr>
          <a:xfrm>
            <a:off x="553300" y="2825888"/>
            <a:ext cx="3384900" cy="530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 Понимать, что такое алертинг и правила его настройки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4" name="Google Shape;484;p59"/>
          <p:cNvSpPr/>
          <p:nvPr/>
        </p:nvSpPr>
        <p:spPr>
          <a:xfrm>
            <a:off x="553300" y="3569225"/>
            <a:ext cx="3384900" cy="530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3. Настроить алерт микросервиса с отправкой уведомлений в Telegram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5" name="Google Shape;485;p59"/>
          <p:cNvSpPr/>
          <p:nvPr/>
        </p:nvSpPr>
        <p:spPr>
          <a:xfrm>
            <a:off x="4339225" y="2082575"/>
            <a:ext cx="4557600" cy="530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Чтобы различать метрики, логи, трейсы и знать, как они помогают контролировать ML-системы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6" name="Google Shape;486;p59"/>
          <p:cNvSpPr/>
          <p:nvPr/>
        </p:nvSpPr>
        <p:spPr>
          <a:xfrm>
            <a:off x="4339225" y="3569225"/>
            <a:ext cx="4557600" cy="530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Чтобы на практике уметь контролировать доступность и состояние ML-сервиса и сразу реагировать на сбои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87" name="Google Shape;487;p59"/>
          <p:cNvCxnSpPr>
            <a:stCxn id="482" idx="3"/>
            <a:endCxn id="485" idx="1"/>
          </p:cNvCxnSpPr>
          <p:nvPr/>
        </p:nvCxnSpPr>
        <p:spPr>
          <a:xfrm>
            <a:off x="3938225" y="2347625"/>
            <a:ext cx="401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488" name="Google Shape;488;p59"/>
          <p:cNvCxnSpPr>
            <a:stCxn id="483" idx="3"/>
            <a:endCxn id="481" idx="1"/>
          </p:cNvCxnSpPr>
          <p:nvPr/>
        </p:nvCxnSpPr>
        <p:spPr>
          <a:xfrm>
            <a:off x="3938200" y="3090938"/>
            <a:ext cx="401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489" name="Google Shape;489;p59"/>
          <p:cNvCxnSpPr>
            <a:stCxn id="484" idx="3"/>
            <a:endCxn id="486" idx="1"/>
          </p:cNvCxnSpPr>
          <p:nvPr/>
        </p:nvCxnSpPr>
        <p:spPr>
          <a:xfrm>
            <a:off x="3938200" y="3834275"/>
            <a:ext cx="401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0"/>
          <p:cNvSpPr txBox="1"/>
          <p:nvPr>
            <p:ph idx="4294967295" type="body"/>
          </p:nvPr>
        </p:nvSpPr>
        <p:spPr>
          <a:xfrm>
            <a:off x="961975" y="1305088"/>
            <a:ext cx="7742400" cy="190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ru" sz="1600"/>
              <a:t>Статья: </a:t>
            </a:r>
            <a:r>
              <a:rPr lang="ru" sz="1600" u="sng">
                <a:solidFill>
                  <a:schemeClr val="hlink"/>
                </a:solidFill>
                <a:hlinkClick r:id="rId3"/>
              </a:rPr>
              <a:t>Классификация критичности информационных систем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ru" sz="1600"/>
              <a:t>Статья: </a:t>
            </a:r>
            <a:r>
              <a:rPr lang="ru" sz="1600" u="sng">
                <a:solidFill>
                  <a:schemeClr val="hlink"/>
                </a:solidFill>
                <a:hlinkClick r:id="rId4"/>
              </a:rPr>
              <a:t>Человеческим языком про метрики 2: Prometheus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ru" sz="1600"/>
              <a:t>Статья: </a:t>
            </a:r>
            <a:r>
              <a:rPr lang="ru" sz="1600" u="sng">
                <a:solidFill>
                  <a:schemeClr val="hlink"/>
                </a:solidFill>
                <a:hlinkClick r:id="rId5"/>
              </a:rPr>
              <a:t>Что такое цель по уровню обслуживания (SLO)?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ru" sz="1600"/>
              <a:t>Документация: </a:t>
            </a:r>
            <a:r>
              <a:rPr lang="ru" sz="1600" u="sng">
                <a:solidFill>
                  <a:schemeClr val="hlink"/>
                </a:solidFill>
                <a:hlinkClick r:id="rId6"/>
              </a:rPr>
              <a:t>Configure Alertmanager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ru" sz="1600"/>
              <a:t>Книги: </a:t>
            </a:r>
            <a:r>
              <a:rPr lang="ru" sz="1600" u="sng">
                <a:solidFill>
                  <a:schemeClr val="hlink"/>
                </a:solidFill>
                <a:hlinkClick r:id="rId7"/>
              </a:rPr>
              <a:t>Google SRE books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ru" sz="1600"/>
              <a:t>Практика: </a:t>
            </a:r>
            <a:r>
              <a:rPr lang="ru" sz="1600" u="sng">
                <a:solidFill>
                  <a:schemeClr val="hlink"/>
                </a:solidFill>
                <a:hlinkClick r:id="rId8"/>
              </a:rPr>
              <a:t>Jaeger live demo</a:t>
            </a:r>
            <a:endParaRPr sz="1600"/>
          </a:p>
        </p:txBody>
      </p:sp>
      <p:sp>
        <p:nvSpPr>
          <p:cNvPr id="495" name="Google Shape;495;p60"/>
          <p:cNvSpPr txBox="1"/>
          <p:nvPr>
            <p:ph type="title"/>
          </p:nvPr>
        </p:nvSpPr>
        <p:spPr>
          <a:xfrm>
            <a:off x="623400" y="39737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Список материалов для изучения</a:t>
            </a:r>
            <a:endParaRPr/>
          </a:p>
        </p:txBody>
      </p:sp>
      <p:pic>
        <p:nvPicPr>
          <p:cNvPr id="496" name="Google Shape;496;p6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254125" y="3047825"/>
            <a:ext cx="1790826" cy="183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61"/>
          <p:cNvSpPr txBox="1"/>
          <p:nvPr>
            <p:ph type="title"/>
          </p:nvPr>
        </p:nvSpPr>
        <p:spPr>
          <a:xfrm>
            <a:off x="556300" y="1539975"/>
            <a:ext cx="7379700" cy="200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>
                <a:solidFill>
                  <a:schemeClr val="lt1"/>
                </a:solidFill>
              </a:rPr>
              <a:t>Заполните, пожалуйста,</a:t>
            </a:r>
            <a:endParaRPr sz="4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>
                <a:solidFill>
                  <a:schemeClr val="lt1"/>
                </a:solidFill>
              </a:rPr>
              <a:t>опрос о занятии</a:t>
            </a:r>
            <a:endParaRPr sz="4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BFB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02" name="Google Shape;502;p61"/>
          <p:cNvPicPr preferRelativeResize="0"/>
          <p:nvPr/>
        </p:nvPicPr>
        <p:blipFill rotWithShape="1">
          <a:blip r:embed="rId3">
            <a:alphaModFix/>
          </a:blip>
          <a:srcRect b="61754" l="0" r="0" t="37151"/>
          <a:stretch/>
        </p:blipFill>
        <p:spPr>
          <a:xfrm>
            <a:off x="0" y="3600500"/>
            <a:ext cx="9181975" cy="5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61"/>
          <p:cNvSpPr txBox="1"/>
          <p:nvPr/>
        </p:nvSpPr>
        <p:spPr>
          <a:xfrm>
            <a:off x="556300" y="3802175"/>
            <a:ext cx="53877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Мы читаем все ваши сообщения </a:t>
            </a:r>
            <a:endParaRPr sz="23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и берем их в работу </a:t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504" name="Google Shape;504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1529" y="4321879"/>
            <a:ext cx="240425" cy="240431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" name="Google Shape;505;p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50152" y="4300250"/>
            <a:ext cx="283677" cy="28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" name="Google Shape;510;p62"/>
          <p:cNvPicPr preferRelativeResize="0"/>
          <p:nvPr/>
        </p:nvPicPr>
        <p:blipFill rotWithShape="1">
          <a:blip r:embed="rId3">
            <a:alphaModFix/>
          </a:blip>
          <a:srcRect b="29922" l="10873" r="0" t="0"/>
          <a:stretch/>
        </p:blipFill>
        <p:spPr>
          <a:xfrm>
            <a:off x="-75950" y="0"/>
            <a:ext cx="94087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62"/>
          <p:cNvSpPr txBox="1"/>
          <p:nvPr/>
        </p:nvSpPr>
        <p:spPr>
          <a:xfrm>
            <a:off x="630000" y="1498650"/>
            <a:ext cx="7782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Приглашаем на следующие вебинары по проектной работе</a:t>
            </a:r>
            <a:endParaRPr b="1" sz="4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2" name="Google Shape;512;p62"/>
          <p:cNvSpPr txBox="1"/>
          <p:nvPr/>
        </p:nvSpPr>
        <p:spPr>
          <a:xfrm>
            <a:off x="1303863" y="4215944"/>
            <a:ext cx="2056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Ссылка на вебинар будет 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 ЛК за 15 минут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3" name="Google Shape;513;p62"/>
          <p:cNvSpPr txBox="1"/>
          <p:nvPr/>
        </p:nvSpPr>
        <p:spPr>
          <a:xfrm>
            <a:off x="4016463" y="4131194"/>
            <a:ext cx="17664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Материалы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к занятию в ЛК — можно изучать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4" name="Google Shape;514;p62"/>
          <p:cNvSpPr txBox="1"/>
          <p:nvPr/>
        </p:nvSpPr>
        <p:spPr>
          <a:xfrm>
            <a:off x="6225213" y="4215944"/>
            <a:ext cx="2100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Обязательный материал обозначен красной лентой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15" name="Google Shape;515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5200" y="4291319"/>
            <a:ext cx="372450" cy="37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p6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11817" y="4249344"/>
            <a:ext cx="456406" cy="45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p6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31126" y="4280505"/>
            <a:ext cx="394100" cy="3940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" name="Google Shape;522;p63"/>
          <p:cNvPicPr preferRelativeResize="0"/>
          <p:nvPr/>
        </p:nvPicPr>
        <p:blipFill rotWithShape="1">
          <a:blip r:embed="rId3">
            <a:alphaModFix/>
          </a:blip>
          <a:srcRect b="38716" l="0" r="0" t="5495"/>
          <a:stretch/>
        </p:blipFill>
        <p:spPr>
          <a:xfrm>
            <a:off x="-75950" y="0"/>
            <a:ext cx="92199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63"/>
          <p:cNvSpPr txBox="1"/>
          <p:nvPr/>
        </p:nvSpPr>
        <p:spPr>
          <a:xfrm>
            <a:off x="1192000" y="1427550"/>
            <a:ext cx="5974500" cy="22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66125" lIns="66125" spcFirstLastPara="1" rIns="66125" wrap="square" tIns="661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0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rPr>
              <a:t>You are our</a:t>
            </a:r>
            <a:endParaRPr sz="7000">
              <a:solidFill>
                <a:schemeClr val="lt1"/>
              </a:solidFill>
              <a:latin typeface="Roboto Black"/>
              <a:ea typeface="Roboto Black"/>
              <a:cs typeface="Roboto Black"/>
              <a:sym typeface="Roboto Blac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0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rPr>
              <a:t>OTUS heroes</a:t>
            </a:r>
            <a:endParaRPr sz="7000">
              <a:solidFill>
                <a:schemeClr val="lt1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pic>
        <p:nvPicPr>
          <p:cNvPr id="524" name="Google Shape;524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45300" y="1209100"/>
            <a:ext cx="1143225" cy="114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2AB7E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