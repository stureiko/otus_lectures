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3.jpg" ContentType="image/jpeg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21.jpg" ContentType="image/jpe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312" r:id="rId4"/>
    <p:sldId id="260" r:id="rId5"/>
    <p:sldId id="261" r:id="rId6"/>
    <p:sldId id="262" r:id="rId7"/>
    <p:sldId id="263" r:id="rId8"/>
    <p:sldId id="264" r:id="rId9"/>
    <p:sldId id="265" r:id="rId10"/>
    <p:sldId id="313" r:id="rId11"/>
    <p:sldId id="268" r:id="rId12"/>
    <p:sldId id="279" r:id="rId13"/>
    <p:sldId id="269" r:id="rId14"/>
    <p:sldId id="270" r:id="rId15"/>
    <p:sldId id="315" r:id="rId16"/>
    <p:sldId id="335" r:id="rId17"/>
    <p:sldId id="323" r:id="rId18"/>
    <p:sldId id="324" r:id="rId19"/>
    <p:sldId id="326" r:id="rId20"/>
    <p:sldId id="325" r:id="rId21"/>
    <p:sldId id="327" r:id="rId22"/>
    <p:sldId id="328" r:id="rId23"/>
    <p:sldId id="336" r:id="rId24"/>
    <p:sldId id="337" r:id="rId25"/>
    <p:sldId id="286" r:id="rId26"/>
    <p:sldId id="287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520"/>
    <p:restoredTop sz="94694"/>
  </p:normalViewPr>
  <p:slideViewPr>
    <p:cSldViewPr>
      <p:cViewPr varScale="1">
        <p:scale>
          <a:sx n="156" d="100"/>
          <a:sy n="156" d="100"/>
        </p:scale>
        <p:origin x="1032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f305d12f47_1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f305d12f47_1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2baa635cc9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2baa635cc9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Давайте поближе познакомимся с ОТУС.</a:t>
            </a:r>
            <a:endParaRPr sz="1400">
              <a:solidFill>
                <a:schemeClr val="dk1"/>
              </a:solidFill>
              <a:highlight>
                <a:srgbClr val="FFFF00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ОТУС задумывался как компания, которая позволяет обучаться у опытных специалистов высокого уровня в различных областях IT, каждого из которых мы обучаем, как эффективно преподавать.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Мы сторонники обучения у практиков, а не теоретиков, поэтому все наши преподаватели являются действующими специалистами, что позволяет им постоянно быть в курсе лучших решений и оперативно дополнять программу необходимыми изменениями.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chemeClr val="dk1"/>
                </a:solidFill>
              </a:rPr>
              <a:t>Изначально мы создавали курсы для повышения квалификации действующих специалистов в области IT, но стали получать множество запросов на обучение с нуля, поэтому сейчас мы даем возможность любому замотивированному человеку освоить специальность в области IT.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f305d12f47_1_9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>
                <a:solidFill>
                  <a:schemeClr val="dk1"/>
                </a:solidFill>
              </a:rPr>
              <a:t>В связи с тем, что 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Программы курсов в OTUS разрабатываются на основе того, что требуется на данный момент на кадровом рынке в топовые компании. </a:t>
            </a:r>
            <a:endParaRPr/>
          </a:p>
        </p:txBody>
      </p:sp>
      <p:sp>
        <p:nvSpPr>
          <p:cNvPr id="339" name="Google Shape;339;gf305d12f47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2baa635cc9_0_5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g22baa635cc9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9610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86984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4853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696544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28975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84723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4760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57212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6886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a1700b9ff_0_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18a1700b9ff_0_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0704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0783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2454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9/4/25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9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.jp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39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9.sv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svg"/><Relationship Id="rId4" Type="http://schemas.openxmlformats.org/officeDocument/2006/relationships/image" Target="../media/image27.svg"/><Relationship Id="rId9" Type="http://schemas.openxmlformats.org/officeDocument/2006/relationships/image" Target="../media/image32.png"/><Relationship Id="rId14" Type="http://schemas.openxmlformats.org/officeDocument/2006/relationships/image" Target="../media/image37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svg"/><Relationship Id="rId9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5.sv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0" Type="http://schemas.openxmlformats.org/officeDocument/2006/relationships/image" Target="../media/image39.svg"/><Relationship Id="rId4" Type="http://schemas.openxmlformats.org/officeDocument/2006/relationships/image" Target="../media/image33.svg"/><Relationship Id="rId9" Type="http://schemas.openxmlformats.org/officeDocument/2006/relationships/image" Target="../media/image38.png"/><Relationship Id="rId14" Type="http://schemas.openxmlformats.org/officeDocument/2006/relationships/image" Target="../media/image5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mlflow.org/docs/latest/getting-started/index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lflow.org/docs/latest/getting-started/index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17" Type="http://schemas.openxmlformats.org/officeDocument/2006/relationships/image" Target="../media/image82.png"/><Relationship Id="rId2" Type="http://schemas.openxmlformats.org/officeDocument/2006/relationships/image" Target="../media/image67.png"/><Relationship Id="rId16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jp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en-US" sz="3200" dirty="0" err="1"/>
              <a:t>MLFlow</a:t>
            </a:r>
            <a:r>
              <a:rPr lang="en-US" sz="3200" dirty="0"/>
              <a:t> – </a:t>
            </a:r>
            <a:br>
              <a:rPr lang="en-US" sz="3200" dirty="0"/>
            </a:br>
            <a:r>
              <a:rPr lang="ru-RU" sz="3200" dirty="0"/>
              <a:t>контроль над </a:t>
            </a:r>
            <a:r>
              <a:rPr lang="en-US" sz="3200" dirty="0"/>
              <a:t>ML-</a:t>
            </a:r>
            <a:r>
              <a:rPr lang="ru-RU" sz="3200" dirty="0"/>
              <a:t>экспериментами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en-US" sz="2400" dirty="0" err="1"/>
              <a:t>MLFlow</a:t>
            </a:r>
            <a:r>
              <a:rPr lang="en-US" sz="2400" dirty="0"/>
              <a:t> – </a:t>
            </a:r>
            <a:r>
              <a:rPr lang="ru-RU" sz="2400" dirty="0"/>
              <a:t>контроль над </a:t>
            </a:r>
            <a:r>
              <a:rPr lang="en-US" sz="2400" dirty="0"/>
              <a:t>ML-</a:t>
            </a:r>
            <a:r>
              <a:rPr lang="ru-RU" sz="2400" dirty="0"/>
              <a:t>экспериментами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Открытый урок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</a:t>
            </a:r>
            <a:r>
              <a:rPr lang="ru-RU" sz="1150" dirty="0"/>
              <a:t>20</a:t>
            </a:r>
            <a:r>
              <a:rPr lang="ru-RU" sz="1150" kern="0" dirty="0"/>
              <a:t>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1. 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2. Об ОТУС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Воспроизводимость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en-US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MLFlow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5. </a:t>
            </a: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5. Сущности </a:t>
            </a:r>
            <a:r>
              <a:rPr lang="en-US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MLFlow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D65DD0-A781-DB4E-9EBC-58BB5FCFF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0536"/>
            <a:ext cx="4268889" cy="349955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Как вас зовут? Откуда вы? 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Ваш опыт работы в IT?</a:t>
            </a:r>
            <a:endParaRPr sz="180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700"/>
              </a:buClr>
              <a:buSzPts val="1800"/>
              <a:buChar char="●"/>
            </a:pPr>
            <a:r>
              <a:rPr lang="ru" sz="1800">
                <a:solidFill>
                  <a:srgbClr val="1E1F21"/>
                </a:solidFill>
              </a:rPr>
              <a:t>С какой основной целью вы записались на занятие?</a:t>
            </a:r>
            <a:endParaRPr sz="1800">
              <a:solidFill>
                <a:srgbClr val="1E1F21"/>
              </a:solidFill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pic>
        <p:nvPicPr>
          <p:cNvPr id="298" name="Google Shape;298;p6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0827" y="341257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6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46852" y="3412581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/>
              <a:t>Правила вебинара</a:t>
            </a:r>
            <a:endParaRPr b="1"/>
          </a:p>
        </p:txBody>
      </p:sp>
      <p:sp>
        <p:nvSpPr>
          <p:cNvPr id="305" name="Google Shape;305;p67"/>
          <p:cNvSpPr/>
          <p:nvPr/>
        </p:nvSpPr>
        <p:spPr>
          <a:xfrm>
            <a:off x="5730575" y="-8062"/>
            <a:ext cx="34134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" name="Google Shape;307;p6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4940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6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510213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67"/>
          <p:cNvSpPr txBox="1"/>
          <p:nvPr/>
        </p:nvSpPr>
        <p:spPr>
          <a:xfrm>
            <a:off x="1654525" y="14808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67"/>
          <p:cNvSpPr txBox="1"/>
          <p:nvPr/>
        </p:nvSpPr>
        <p:spPr>
          <a:xfrm>
            <a:off x="1654525" y="35178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1" name="Google Shape;311;p6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2514043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67"/>
          <p:cNvSpPr txBox="1"/>
          <p:nvPr/>
        </p:nvSpPr>
        <p:spPr>
          <a:xfrm>
            <a:off x="1654525" y="2519056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67"/>
          <p:cNvSpPr txBox="1"/>
          <p:nvPr/>
        </p:nvSpPr>
        <p:spPr>
          <a:xfrm>
            <a:off x="6350663" y="1403888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4" name="Google Shape;314;p67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23692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67"/>
          <p:cNvSpPr txBox="1"/>
          <p:nvPr/>
        </p:nvSpPr>
        <p:spPr>
          <a:xfrm>
            <a:off x="6829363" y="23559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6" name="Google Shape;316;p67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8418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67"/>
          <p:cNvSpPr txBox="1"/>
          <p:nvPr/>
        </p:nvSpPr>
        <p:spPr>
          <a:xfrm>
            <a:off x="6829363" y="28369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8" name="Google Shape;318;p6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33219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67"/>
          <p:cNvSpPr txBox="1"/>
          <p:nvPr/>
        </p:nvSpPr>
        <p:spPr>
          <a:xfrm>
            <a:off x="6829363" y="32324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ru"/>
              <a:t>б ОТУС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9"/>
          <p:cNvSpPr txBox="1"/>
          <p:nvPr/>
        </p:nvSpPr>
        <p:spPr>
          <a:xfrm>
            <a:off x="500550" y="330725"/>
            <a:ext cx="8520600" cy="75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 компании</a:t>
            </a:r>
            <a:endParaRPr sz="3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69"/>
          <p:cNvSpPr txBox="1"/>
          <p:nvPr/>
        </p:nvSpPr>
        <p:spPr>
          <a:xfrm>
            <a:off x="1170350" y="1933625"/>
            <a:ext cx="4718100" cy="10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ОТУС специализируется на обучении в IT.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Наша фишка — продвинутые программы для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с опытом и быстрый запуск курсов по новым набирающим популярность технологиям.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69"/>
          <p:cNvSpPr txBox="1"/>
          <p:nvPr/>
        </p:nvSpPr>
        <p:spPr>
          <a:xfrm>
            <a:off x="1170350" y="15622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Сфера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69"/>
          <p:cNvSpPr txBox="1"/>
          <p:nvPr/>
        </p:nvSpPr>
        <p:spPr>
          <a:xfrm>
            <a:off x="1170350" y="3423925"/>
            <a:ext cx="58626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Наши партнеры современные технологичные компании.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А обучение и открытые материалы привлекают специалистов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latin typeface="Roboto"/>
                <a:ea typeface="Roboto"/>
                <a:cs typeface="Roboto"/>
                <a:sym typeface="Roboto"/>
              </a:rPr>
              <a:t>разных грейдов: junior, middle, senior, lead.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69"/>
          <p:cNvSpPr txBox="1"/>
          <p:nvPr/>
        </p:nvSpPr>
        <p:spPr>
          <a:xfrm>
            <a:off x="1170350" y="3052524"/>
            <a:ext cx="183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Клиенты</a:t>
            </a:r>
            <a:endParaRPr sz="1700" b="1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4" name="Google Shape;334;p6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9994" y="167792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6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994" y="3144375"/>
            <a:ext cx="394400" cy="39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69"/>
          <p:cNvPicPr preferRelativeResize="0"/>
          <p:nvPr/>
        </p:nvPicPr>
        <p:blipFill rotWithShape="1">
          <a:blip r:embed="rId5">
            <a:alphaModFix/>
          </a:blip>
          <a:srcRect l="1114" r="1124"/>
          <a:stretch/>
        </p:blipFill>
        <p:spPr>
          <a:xfrm>
            <a:off x="6031050" y="0"/>
            <a:ext cx="3112951" cy="261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Образование в ОТУС</a:t>
            </a:r>
            <a:endParaRPr/>
          </a:p>
        </p:txBody>
      </p:sp>
      <p:sp>
        <p:nvSpPr>
          <p:cNvPr id="342" name="Google Shape;342;p70"/>
          <p:cNvSpPr txBox="1">
            <a:spLocks noGrp="1"/>
          </p:cNvSpPr>
          <p:nvPr>
            <p:ph type="body" idx="4294967295"/>
          </p:nvPr>
        </p:nvSpPr>
        <p:spPr>
          <a:xfrm>
            <a:off x="1483350" y="2056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400">
                <a:solidFill>
                  <a:srgbClr val="000000"/>
                </a:solidFill>
              </a:rPr>
              <a:t>OTUS имеет образовательную лицензию, поэтому наши курсы являются программами повышения квалификации и профессиональной переподготовки. 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343" name="Google Shape;343;p70"/>
          <p:cNvSpPr txBox="1">
            <a:spLocks noGrp="1"/>
          </p:cNvSpPr>
          <p:nvPr>
            <p:ph type="body" idx="4294967295"/>
          </p:nvPr>
        </p:nvSpPr>
        <p:spPr>
          <a:xfrm>
            <a:off x="1483350" y="1579994"/>
            <a:ext cx="2674500" cy="3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lnSpcReduction="10000"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 sz="2000" b="1">
                <a:solidFill>
                  <a:srgbClr val="FF7700"/>
                </a:solidFill>
              </a:rPr>
              <a:t>Программы курсов</a:t>
            </a:r>
            <a:endParaRPr sz="2000" b="1">
              <a:solidFill>
                <a:srgbClr val="FF7700"/>
              </a:solidFill>
            </a:endParaRPr>
          </a:p>
        </p:txBody>
      </p:sp>
      <p:pic>
        <p:nvPicPr>
          <p:cNvPr id="344" name="Google Shape;344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1675" y="1564400"/>
            <a:ext cx="396000" cy="3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73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Напишите, пожалуйста, в чат подходящую цифру</a:t>
            </a:r>
            <a:endParaRPr/>
          </a:p>
        </p:txBody>
      </p:sp>
      <p:sp>
        <p:nvSpPr>
          <p:cNvPr id="376" name="Google Shape;376;p73"/>
          <p:cNvSpPr txBox="1">
            <a:spLocks noGrp="1"/>
          </p:cNvSpPr>
          <p:nvPr>
            <p:ph type="body" idx="4294967295"/>
          </p:nvPr>
        </p:nvSpPr>
        <p:spPr>
          <a:xfrm>
            <a:off x="567875" y="1930253"/>
            <a:ext cx="49998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1</a:t>
            </a:r>
            <a:r>
              <a:rPr lang="ru" sz="1900" b="1"/>
              <a:t> -</a:t>
            </a:r>
            <a:r>
              <a:rPr lang="ru" sz="1900"/>
              <a:t> если уже учились у нас в компании 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2</a:t>
            </a:r>
            <a:r>
              <a:rPr lang="ru" sz="1900" b="1"/>
              <a:t> -</a:t>
            </a:r>
            <a:r>
              <a:rPr lang="ru" sz="1900"/>
              <a:t> если НЕ учились, но слышали о нас</a:t>
            </a:r>
            <a:endParaRPr sz="19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900" b="1">
                <a:solidFill>
                  <a:srgbClr val="FF7700"/>
                </a:solidFill>
              </a:rPr>
              <a:t>3</a:t>
            </a:r>
            <a:r>
              <a:rPr lang="ru" sz="1900" b="1"/>
              <a:t> -</a:t>
            </a:r>
            <a:r>
              <a:rPr lang="ru" sz="1900"/>
              <a:t> если впервые знакомитесь с OTUS</a:t>
            </a:r>
            <a:endParaRPr sz="1400">
              <a:solidFill>
                <a:srgbClr val="000000"/>
              </a:solidFill>
            </a:endParaRPr>
          </a:p>
        </p:txBody>
      </p:sp>
      <p:pic>
        <p:nvPicPr>
          <p:cNvPr id="377" name="Google Shape;377;p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3650" y="3239988"/>
            <a:ext cx="651601" cy="65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30150" y="1569211"/>
            <a:ext cx="6653530" cy="1671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5400" spc="-95" dirty="0">
                <a:solidFill>
                  <a:srgbClr val="FFFFFF"/>
                </a:solidFill>
              </a:rPr>
              <a:t>Версионирование</a:t>
            </a:r>
            <a:r>
              <a:rPr sz="5400" spc="-290" dirty="0">
                <a:solidFill>
                  <a:srgbClr val="FFFFFF"/>
                </a:solidFill>
              </a:rPr>
              <a:t> </a:t>
            </a:r>
            <a:r>
              <a:rPr sz="5400" spc="-50" dirty="0">
                <a:solidFill>
                  <a:srgbClr val="FFFFFF"/>
                </a:solidFill>
              </a:rPr>
              <a:t>и </a:t>
            </a:r>
            <a:r>
              <a:rPr sz="5400" spc="-10" dirty="0">
                <a:solidFill>
                  <a:srgbClr val="FFFFFF"/>
                </a:solidFill>
              </a:rPr>
              <a:t>воспроизводимость</a:t>
            </a:r>
            <a:endParaRPr sz="5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8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44" name="Google Shape;444;p84"/>
          <p:cNvGraphicFramePr/>
          <p:nvPr>
            <p:extLst>
              <p:ext uri="{D42A27DB-BD31-4B8C-83A1-F6EECF244321}">
                <p14:modId xmlns:p14="http://schemas.microsoft.com/office/powerpoint/2010/main" val="3753463439"/>
              </p:ext>
            </p:extLst>
          </p:nvPr>
        </p:nvGraphicFramePr>
        <p:xfrm>
          <a:off x="952500" y="1544194"/>
          <a:ext cx="7239000" cy="11429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MLFlow –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система управления жизненным циклом 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ML-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проектов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.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Помогает навести порядок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и автоматизировать задачи (в том числе регулярное переобучение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ваших моделей)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.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Роботы надежнее людей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,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все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,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что можно автоматизировать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,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нужно автоматизировать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.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MLOps –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это инструменты + навыки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. </a:t>
                      </a: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Причем навыки важнее инструментов</a:t>
                      </a:r>
                      <a:r>
                        <a:rPr lang="en-US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.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Воспроизводимость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28800" y="994563"/>
            <a:ext cx="568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Как мы разрабатываем модели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834635-9714-255E-3D18-CC9ECF81B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9692"/>
            <a:ext cx="7772400" cy="348954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тут не так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9530B-B7FA-3C20-D892-70EA51AE7030}"/>
              </a:ext>
            </a:extLst>
          </p:cNvPr>
          <p:cNvSpPr txBox="1"/>
          <p:nvPr/>
        </p:nvSpPr>
        <p:spPr>
          <a:xfrm>
            <a:off x="1090867" y="1241086"/>
            <a:ext cx="336025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Много ручного труда</a:t>
            </a: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Долго и унизительно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контекст утрачивается очень быстро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193BC2-6FDF-F833-FCEA-07867A1CC605}"/>
              </a:ext>
            </a:extLst>
          </p:cNvPr>
          <p:cNvSpPr txBox="1"/>
          <p:nvPr/>
        </p:nvSpPr>
        <p:spPr>
          <a:xfrm>
            <a:off x="5061799" y="1240982"/>
            <a:ext cx="3360250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Локальные эксперименты</a:t>
            </a: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Разные окружения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бардак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D179EF-0677-7728-1D02-3A2646035764}"/>
              </a:ext>
            </a:extLst>
          </p:cNvPr>
          <p:cNvSpPr txBox="1"/>
          <p:nvPr/>
        </p:nvSpPr>
        <p:spPr>
          <a:xfrm>
            <a:off x="1090867" y="2125273"/>
            <a:ext cx="336025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Ничего не версионируется</a:t>
            </a: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Ни данные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ни результаты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ни модели (веса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иногда даже код)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A1A889-5AD2-A2D1-C6F3-B19B0BC3D611}"/>
              </a:ext>
            </a:extLst>
          </p:cNvPr>
          <p:cNvSpPr txBox="1"/>
          <p:nvPr/>
        </p:nvSpPr>
        <p:spPr>
          <a:xfrm>
            <a:off x="5061798" y="2125273"/>
            <a:ext cx="3642363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Разрыв между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ML 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и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ML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Нет нормальной коммуникации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обмен результатами в почте/</a:t>
            </a:r>
            <a:r>
              <a:rPr lang="ru-RU" sz="1400" i="1" dirty="0" err="1">
                <a:latin typeface="Roboto Light" panose="02000000000000000000" pitchFamily="2" charset="0"/>
                <a:ea typeface="Roboto Light" panose="02000000000000000000" pitchFamily="2" charset="0"/>
              </a:rPr>
              <a:t>чатиках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 (бардак)</a:t>
            </a:r>
            <a:r>
              <a:rPr lang="en-US" sz="1400" i="1" dirty="0">
                <a:latin typeface="Roboto" panose="02000000000000000000" pitchFamily="2" charset="0"/>
                <a:ea typeface="Roboto" panose="02000000000000000000" pitchFamily="2" charset="0"/>
              </a:rPr>
              <a:t>;</a:t>
            </a:r>
            <a:endParaRPr lang="en-RU" sz="14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F8901-BDC0-5905-5724-C692960015E1}"/>
              </a:ext>
            </a:extLst>
          </p:cNvPr>
          <p:cNvSpPr txBox="1"/>
          <p:nvPr/>
        </p:nvSpPr>
        <p:spPr>
          <a:xfrm>
            <a:off x="1090867" y="3095435"/>
            <a:ext cx="3360250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Разрыв между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ML </a:t>
            </a: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и </a:t>
            </a:r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</a:rPr>
              <a:t>Ops</a:t>
            </a:r>
            <a:endParaRPr lang="ru-RU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Разные стеки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 трудности перевода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425D1-CACA-4929-3634-FA46DE2BACA1}"/>
              </a:ext>
            </a:extLst>
          </p:cNvPr>
          <p:cNvSpPr txBox="1"/>
          <p:nvPr/>
        </p:nvSpPr>
        <p:spPr>
          <a:xfrm>
            <a:off x="5061799" y="3095435"/>
            <a:ext cx="3642362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Разрыв в тестировании</a:t>
            </a: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Модель и инфраструктура тестируются отдельно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5155E-5341-4EE7-7015-0DD059406EEA}"/>
              </a:ext>
            </a:extLst>
          </p:cNvPr>
          <p:cNvSpPr txBox="1"/>
          <p:nvPr/>
        </p:nvSpPr>
        <p:spPr>
          <a:xfrm>
            <a:off x="1090866" y="3849488"/>
            <a:ext cx="3642361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Разрыв в мониторинге</a:t>
            </a:r>
          </a:p>
          <a:p>
            <a:pPr>
              <a:spcBef>
                <a:spcPts val="600"/>
              </a:spcBef>
            </a:pP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Инфраструктура </a:t>
            </a:r>
            <a:r>
              <a:rPr lang="ru-RU" sz="1400" i="1" dirty="0" err="1">
                <a:latin typeface="Roboto Light" panose="02000000000000000000" pitchFamily="2" charset="0"/>
                <a:ea typeface="Roboto Light" panose="02000000000000000000" pitchFamily="2" charset="0"/>
              </a:rPr>
              <a:t>мониторится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 (возможно)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но если деградировала модель – у нас беда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;</a:t>
            </a:r>
            <a:r>
              <a:rPr lang="ru-RU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r>
              <a:rPr lang="en-US" sz="14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endParaRPr lang="en-RU" sz="14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F33F1E89-E7E5-8378-E108-E4DF7A0999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6225" y="3162414"/>
            <a:ext cx="360000" cy="360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02749FF9-87E7-52B3-2BDC-9EEA293337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26225" y="2203311"/>
            <a:ext cx="360000" cy="36000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0A3E08EA-D974-2BD9-00DD-3EC0A2E413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26225" y="1327232"/>
            <a:ext cx="360000" cy="36000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F69BF087-78B5-4F91-3FDC-288EE2382F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2992" y="3947910"/>
            <a:ext cx="360000" cy="36000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80ADC22D-350C-EC1C-7FD8-3AF3CC6F61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2992" y="3162414"/>
            <a:ext cx="360000" cy="3600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8F420D0-E626-B8A6-7DEC-28AC000B723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72992" y="2203311"/>
            <a:ext cx="360000" cy="3600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FBD95C53-6FC0-7F89-CDBD-6111EF77209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2992" y="1323179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549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Зачем нам воспроизводимость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81F218-9FC5-4B9F-E9E7-EF81F420186D}"/>
              </a:ext>
            </a:extLst>
          </p:cNvPr>
          <p:cNvSpPr txBox="1"/>
          <p:nvPr/>
        </p:nvSpPr>
        <p:spPr>
          <a:xfrm>
            <a:off x="736853" y="1619271"/>
            <a:ext cx="2260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Roboto" panose="02000000000000000000" pitchFamily="2" charset="0"/>
                <a:ea typeface="Roboto" panose="02000000000000000000" pitchFamily="2" charset="0"/>
              </a:rPr>
              <a:t>В исследованиях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259A5A-534D-E381-A724-266A43D18EC4}"/>
              </a:ext>
            </a:extLst>
          </p:cNvPr>
          <p:cNvSpPr txBox="1"/>
          <p:nvPr/>
        </p:nvSpPr>
        <p:spPr>
          <a:xfrm>
            <a:off x="736853" y="2071264"/>
            <a:ext cx="363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Исследование – это коллаборация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Один в поле не воин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 Если вы не можете повторить то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что сделал коллега (</a:t>
            </a:r>
            <a:r>
              <a:rPr lang="ru-RU" sz="16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или узнать</a:t>
            </a:r>
            <a:r>
              <a:rPr lang="en-US" sz="16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600" i="1" dirty="0">
                <a:latin typeface="Roboto Light" panose="02000000000000000000" pitchFamily="2" charset="0"/>
                <a:ea typeface="Roboto Light" panose="02000000000000000000" pitchFamily="2" charset="0"/>
              </a:rPr>
              <a:t>чего он не сделал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)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прогресса не будет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99B5D0-420F-AC26-225D-B5EE72CB44AC}"/>
              </a:ext>
            </a:extLst>
          </p:cNvPr>
          <p:cNvSpPr txBox="1"/>
          <p:nvPr/>
        </p:nvSpPr>
        <p:spPr>
          <a:xfrm>
            <a:off x="4824258" y="1619271"/>
            <a:ext cx="13821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latin typeface="Roboto" panose="02000000000000000000" pitchFamily="2" charset="0"/>
                <a:ea typeface="Roboto" panose="02000000000000000000" pitchFamily="2" charset="0"/>
              </a:rPr>
              <a:t>В бизнесе</a:t>
            </a:r>
            <a:endParaRPr lang="en-US" sz="20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53B84-F5DB-0F73-4CC0-548E3D819927}"/>
              </a:ext>
            </a:extLst>
          </p:cNvPr>
          <p:cNvSpPr txBox="1"/>
          <p:nvPr/>
        </p:nvSpPr>
        <p:spPr>
          <a:xfrm>
            <a:off x="4824258" y="2071264"/>
            <a:ext cx="36399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Никто не будет инвестировать в то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что работает по счастливой случайности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Бизнесу нужны надежные и предсказуемые системы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ошибки в которых можно исправить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Время – деньги</a:t>
            </a:r>
            <a:r>
              <a:rPr lang="en-US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r>
              <a:rPr lang="ru-RU" sz="1600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endParaRPr lang="en-US" sz="1600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2609C-01FE-0275-D43D-475A83F04D06}"/>
              </a:ext>
            </a:extLst>
          </p:cNvPr>
          <p:cNvSpPr txBox="1"/>
          <p:nvPr/>
        </p:nvSpPr>
        <p:spPr>
          <a:xfrm>
            <a:off x="763531" y="4417890"/>
            <a:ext cx="40607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i="1" dirty="0">
                <a:latin typeface="Roboto Light" panose="02000000000000000000" pitchFamily="2" charset="0"/>
                <a:ea typeface="Roboto Light" panose="02000000000000000000" pitchFamily="2" charset="0"/>
              </a:rPr>
              <a:t>Воспроизводимость – основа автоматизации</a:t>
            </a:r>
            <a:r>
              <a:rPr lang="en-US" i="1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0548790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74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MLFlow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970846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Что это</a:t>
            </a:r>
            <a:r>
              <a:rPr lang="en-US" dirty="0"/>
              <a:t>/</a:t>
            </a:r>
            <a:r>
              <a:rPr lang="ru-RU" dirty="0"/>
              <a:t>из чего состоит</a:t>
            </a:r>
            <a:endParaRPr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498BCEA4-6AC6-D827-676A-59DC009E4F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1376" y="1088192"/>
            <a:ext cx="497840" cy="4978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645187-8F4C-B845-8483-AD623F09FB6B}"/>
              </a:ext>
            </a:extLst>
          </p:cNvPr>
          <p:cNvSpPr txBox="1"/>
          <p:nvPr/>
        </p:nvSpPr>
        <p:spPr>
          <a:xfrm>
            <a:off x="1395663" y="1075502"/>
            <a:ext cx="6352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Roboto Light" panose="02000000000000000000" pitchFamily="2" charset="0"/>
                <a:ea typeface="Roboto Light" panose="02000000000000000000" pitchFamily="2" charset="0"/>
              </a:rPr>
              <a:t>MLFlow – </a:t>
            </a:r>
            <a:r>
              <a:rPr lang="ru-RU" dirty="0">
                <a:latin typeface="Roboto Light" panose="02000000000000000000" pitchFamily="2" charset="0"/>
                <a:ea typeface="Roboto Light" panose="02000000000000000000" pitchFamily="2" charset="0"/>
              </a:rPr>
              <a:t>это </a:t>
            </a:r>
            <a:r>
              <a:rPr lang="en-US" dirty="0">
                <a:latin typeface="Roboto Light" panose="02000000000000000000" pitchFamily="2" charset="0"/>
                <a:ea typeface="Roboto Light" panose="02000000000000000000" pitchFamily="2" charset="0"/>
              </a:rPr>
              <a:t>open-source </a:t>
            </a:r>
            <a:r>
              <a:rPr lang="ru-RU" dirty="0">
                <a:latin typeface="Roboto Light" panose="02000000000000000000" pitchFamily="2" charset="0"/>
                <a:ea typeface="Roboto Light" panose="02000000000000000000" pitchFamily="2" charset="0"/>
              </a:rPr>
              <a:t>платформа</a:t>
            </a:r>
            <a:r>
              <a:rPr lang="en-US" dirty="0">
                <a:latin typeface="Roboto Light" panose="02000000000000000000" pitchFamily="2" charset="0"/>
                <a:ea typeface="Roboto Light" panose="02000000000000000000" pitchFamily="2" charset="0"/>
              </a:rPr>
              <a:t>,</a:t>
            </a:r>
            <a:r>
              <a:rPr lang="ru-RU" dirty="0">
                <a:latin typeface="Roboto Light" panose="02000000000000000000" pitchFamily="2" charset="0"/>
                <a:ea typeface="Roboto Light" panose="02000000000000000000" pitchFamily="2" charset="0"/>
              </a:rPr>
              <a:t> предназначенная для управления жизненным циклом </a:t>
            </a:r>
            <a:r>
              <a:rPr lang="en-US" dirty="0">
                <a:latin typeface="Roboto Light" panose="02000000000000000000" pitchFamily="2" charset="0"/>
                <a:ea typeface="Roboto Light" panose="02000000000000000000" pitchFamily="2" charset="0"/>
              </a:rPr>
              <a:t>ml-</a:t>
            </a:r>
            <a:r>
              <a:rPr lang="ru-RU" dirty="0">
                <a:latin typeface="Roboto Light" panose="02000000000000000000" pitchFamily="2" charset="0"/>
                <a:ea typeface="Roboto Light" panose="02000000000000000000" pitchFamily="2" charset="0"/>
              </a:rPr>
              <a:t>моделей</a:t>
            </a:r>
            <a:r>
              <a:rPr lang="en-US" dirty="0">
                <a:latin typeface="Roboto Light" panose="02000000000000000000" pitchFamily="2" charset="0"/>
                <a:ea typeface="Roboto Light" panose="02000000000000000000" pitchFamily="2" charset="0"/>
              </a:rPr>
              <a:t>.</a:t>
            </a:r>
            <a:endParaRPr lang="en-RU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F23C8A-FE13-FE72-33E5-DCBAB274F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887538"/>
            <a:ext cx="7772400" cy="21191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A60FC1-6E51-6853-3DFC-372A6C00D7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90803" y="4416417"/>
            <a:ext cx="1430087" cy="4361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B88293-38B2-3498-6E75-B88015E88C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958" y="4416417"/>
            <a:ext cx="1307409" cy="258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15AC7A-64D7-B428-2443-FC475C0F52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2326" y="4437033"/>
            <a:ext cx="1763817" cy="2472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20CEEA-D477-6628-9F56-13AB3022C8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7578" y="4419867"/>
            <a:ext cx="2306053" cy="264406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9AEF6E-092B-DCA9-83DE-2F8DD7F541A3}"/>
              </a:ext>
            </a:extLst>
          </p:cNvPr>
          <p:cNvCxnSpPr/>
          <p:nvPr/>
        </p:nvCxnSpPr>
        <p:spPr>
          <a:xfrm>
            <a:off x="771376" y="4236720"/>
            <a:ext cx="7686824" cy="0"/>
          </a:xfrm>
          <a:prstGeom prst="line">
            <a:avLst/>
          </a:prstGeom>
          <a:ln w="63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491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Сценарии использования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910D51-08CA-70A1-128D-A48C3D962C8C}"/>
              </a:ext>
            </a:extLst>
          </p:cNvPr>
          <p:cNvSpPr txBox="1"/>
          <p:nvPr/>
        </p:nvSpPr>
        <p:spPr>
          <a:xfrm>
            <a:off x="1090867" y="1535726"/>
            <a:ext cx="336025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Трекинг экспериментов</a:t>
            </a:r>
          </a:p>
          <a:p>
            <a:pPr>
              <a:spcBef>
                <a:spcPts val="600"/>
              </a:spcBef>
            </a:pP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Храните гиперпараметры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метрики и результаты каждого эксперимента в одном месте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;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сравнивайте результаты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Medium" panose="02000000000000000000" pitchFamily="2" charset="0"/>
                <a:ea typeface="Roboto Medium" panose="02000000000000000000" pitchFamily="2" charset="0"/>
              </a:rPr>
              <a:t>улучшайте модели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сохраняйте их в формате 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MLFlow Model.</a:t>
            </a:r>
            <a:endParaRPr lang="en-RU" sz="13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3A0A24-DE91-377D-1B9F-0DE03CB3F281}"/>
              </a:ext>
            </a:extLst>
          </p:cNvPr>
          <p:cNvSpPr txBox="1"/>
          <p:nvPr/>
        </p:nvSpPr>
        <p:spPr>
          <a:xfrm>
            <a:off x="5061799" y="1535622"/>
            <a:ext cx="3360250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Мониторинг модели</a:t>
            </a:r>
          </a:p>
          <a:p>
            <a:pPr>
              <a:spcBef>
                <a:spcPts val="600"/>
              </a:spcBef>
            </a:pP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Вы всегда знаете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какая модель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 какое окружение на проде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: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тестируйте модель в 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“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боевом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режиме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”,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не трогая прод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.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В случае деградации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– переобучайте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.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  </a:t>
            </a:r>
            <a:endParaRPr lang="en-RU" sz="13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89D245-7E60-6F3D-F728-4F8990B65A91}"/>
              </a:ext>
            </a:extLst>
          </p:cNvPr>
          <p:cNvSpPr txBox="1"/>
          <p:nvPr/>
        </p:nvSpPr>
        <p:spPr>
          <a:xfrm>
            <a:off x="1090867" y="3478317"/>
            <a:ext cx="3360250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Выбор и внедрение модели</a:t>
            </a:r>
          </a:p>
          <a:p>
            <a:pPr>
              <a:spcBef>
                <a:spcPts val="600"/>
              </a:spcBef>
            </a:pP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Выбирайте лучшую модель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регистрируйте в 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MLFlow Model Registry,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тестируйте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внедряйте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отслеживайте состояние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обучайте и переобучайте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endParaRPr lang="en-RU" sz="13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8593B4-35E6-8FE5-6044-43D7A5963A3B}"/>
              </a:ext>
            </a:extLst>
          </p:cNvPr>
          <p:cNvSpPr txBox="1"/>
          <p:nvPr/>
        </p:nvSpPr>
        <p:spPr>
          <a:xfrm>
            <a:off x="5061799" y="3478317"/>
            <a:ext cx="3543722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b="1" dirty="0">
                <a:latin typeface="Roboto" panose="02000000000000000000" pitchFamily="2" charset="0"/>
                <a:ea typeface="Roboto" panose="02000000000000000000" pitchFamily="2" charset="0"/>
              </a:rPr>
              <a:t>Коллаборация</a:t>
            </a:r>
          </a:p>
          <a:p>
            <a:pPr>
              <a:spcBef>
                <a:spcPts val="600"/>
              </a:spcBef>
            </a:pP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MLFlow –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площадка для взаимодействия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: ML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 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ML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обмениваются результатами экспериментов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, ML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 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Ops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обмениваются знаниями/артефактами</a:t>
            </a:r>
            <a:r>
              <a:rPr lang="en-US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. </a:t>
            </a:r>
            <a:r>
              <a:rPr lang="ru-RU" sz="1300" i="1" dirty="0">
                <a:latin typeface="Roboto Light" panose="02000000000000000000" pitchFamily="2" charset="0"/>
                <a:ea typeface="Roboto Light" panose="02000000000000000000" pitchFamily="2" charset="0"/>
              </a:rPr>
              <a:t> </a:t>
            </a:r>
            <a:endParaRPr lang="en-RU" sz="13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5CE320D-7934-980D-5671-EB91FB67F6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0850" y="3556355"/>
            <a:ext cx="360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B809B190-0698-C6FB-3B71-2FCF2CE3D1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80850" y="1617819"/>
            <a:ext cx="360000" cy="36000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448EF84C-35A8-5A17-18D6-3CB281DA3F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2992" y="3556355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2AE8A679-428B-D44D-6A4C-59E9FA87A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2992" y="1617819"/>
            <a:ext cx="360000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4D294EDA-FA82-CDC3-6AF2-B1EE98F1E3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45734" y="1083675"/>
            <a:ext cx="468000" cy="46800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D3471DA-791E-4B90-12C7-4031A163D97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96301" y="1083675"/>
            <a:ext cx="468000" cy="46800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22DDB79-6A60-9BB9-FF0E-639A8A15F3E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10893" y="3010317"/>
            <a:ext cx="468000" cy="468000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E11E4925-DF01-7226-2B30-8B17BCF3A85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627987" y="3010317"/>
            <a:ext cx="468000" cy="468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FBF7A777-5950-E40C-3E71-10A7BCA0906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45734" y="3010317"/>
            <a:ext cx="468000" cy="46800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6C2C8940-B408-1F2F-D973-B873F3C3AE6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62828" y="3010317"/>
            <a:ext cx="468000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475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MLFlow Tracking</a:t>
            </a:r>
            <a:endParaRPr dirty="0"/>
          </a:p>
        </p:txBody>
      </p:sp>
      <p:pic>
        <p:nvPicPr>
          <p:cNvPr id="1026" name="Picture 2" descr="The basics of MLflow tracking.">
            <a:extLst>
              <a:ext uri="{FF2B5EF4-FFF2-40B4-BE49-F238E27FC236}">
                <a16:creationId xmlns:a16="http://schemas.microsoft.com/office/drawing/2014/main" id="{FC7FC2AB-26C2-DE73-A7F4-20BAE8698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381" y="1454916"/>
            <a:ext cx="7895237" cy="2996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22C005-778B-7B8C-BBCD-C2BDC5BD42D8}"/>
              </a:ext>
            </a:extLst>
          </p:cNvPr>
          <p:cNvSpPr txBox="1"/>
          <p:nvPr/>
        </p:nvSpPr>
        <p:spPr>
          <a:xfrm>
            <a:off x="624381" y="4747107"/>
            <a:ext cx="27158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Источник</a:t>
            </a:r>
            <a:r>
              <a:rPr lang="en-US" sz="1100" i="1" dirty="0">
                <a:latin typeface="Roboto Light" panose="02000000000000000000" pitchFamily="2" charset="0"/>
                <a:ea typeface="Roboto Light" panose="02000000000000000000" pitchFamily="2" charset="0"/>
              </a:rPr>
              <a:t>: </a:t>
            </a:r>
            <a:r>
              <a:rPr lang="ru-RU" sz="1100" i="1" dirty="0">
                <a:latin typeface="Roboto Light" panose="02000000000000000000" pitchFamily="2" charset="0"/>
                <a:ea typeface="Roboto Light" panose="02000000000000000000" pitchFamily="2" charset="0"/>
                <a:hlinkClick r:id="rId4"/>
              </a:rPr>
              <a:t>официальная документация</a:t>
            </a:r>
            <a:endParaRPr lang="en-RU" sz="11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5998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7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MLFlow</a:t>
            </a:r>
            <a:r>
              <a:rPr lang="ru-RU" dirty="0"/>
              <a:t> </a:t>
            </a:r>
            <a:r>
              <a:rPr lang="en-US" dirty="0"/>
              <a:t>Model Registry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88569C-A933-2858-0539-5104C4D01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39508"/>
            <a:ext cx="7772400" cy="3170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665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22C005-778B-7B8C-BBCD-C2BDC5BD42D8}"/>
              </a:ext>
            </a:extLst>
          </p:cNvPr>
          <p:cNvSpPr txBox="1"/>
          <p:nvPr/>
        </p:nvSpPr>
        <p:spPr>
          <a:xfrm>
            <a:off x="624381" y="4747107"/>
            <a:ext cx="27158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i="1" dirty="0">
                <a:latin typeface="Roboto Light" panose="02000000000000000000" pitchFamily="2" charset="0"/>
                <a:ea typeface="Roboto Light" panose="02000000000000000000" pitchFamily="2" charset="0"/>
              </a:rPr>
              <a:t>Источник</a:t>
            </a:r>
            <a:r>
              <a:rPr lang="en-US" sz="1100" i="1" dirty="0">
                <a:latin typeface="Roboto Light" panose="02000000000000000000" pitchFamily="2" charset="0"/>
                <a:ea typeface="Roboto Light" panose="02000000000000000000" pitchFamily="2" charset="0"/>
              </a:rPr>
              <a:t>: </a:t>
            </a:r>
            <a:r>
              <a:rPr lang="ru-RU" sz="1100" i="1" dirty="0">
                <a:latin typeface="Roboto Light" panose="02000000000000000000" pitchFamily="2" charset="0"/>
                <a:ea typeface="Roboto Light" panose="02000000000000000000" pitchFamily="2" charset="0"/>
                <a:hlinkClick r:id="rId3"/>
              </a:rPr>
              <a:t>официальная документация</a:t>
            </a:r>
            <a:endParaRPr lang="en-RU" sz="1100" i="1" dirty="0"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CB2CB11-4D91-8977-204D-203328999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550" y="887992"/>
            <a:ext cx="6930600" cy="3924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684602-A0D1-404B-5189-0A55F84FD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39992"/>
            <a:ext cx="2034273" cy="64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02F023-7C25-8846-AB12-F98B9CDE8CB9}"/>
              </a:ext>
            </a:extLst>
          </p:cNvPr>
          <p:cNvSpPr txBox="1"/>
          <p:nvPr/>
        </p:nvSpPr>
        <p:spPr>
          <a:xfrm>
            <a:off x="6959610" y="230062"/>
            <a:ext cx="1925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Bradley Hand" pitchFamily="2" charset="77"/>
              </a:rPr>
              <a:t>Рабочий вариант!</a:t>
            </a:r>
            <a:endParaRPr lang="en-US" sz="1600" dirty="0">
              <a:latin typeface="Bradley Hand" pitchFamily="2" charset="77"/>
            </a:endParaRP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3901C34D-E756-8148-B25B-512676642414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 flipV="1">
            <a:off x="6629400" y="399338"/>
            <a:ext cx="330210" cy="488653"/>
          </a:xfrm>
          <a:prstGeom prst="curvedConnector2">
            <a:avLst/>
          </a:prstGeom>
          <a:ln>
            <a:solidFill>
              <a:schemeClr val="tx1"/>
            </a:solidFill>
            <a:prstDash val="dash"/>
            <a:headEnd type="none" w="med" len="med"/>
            <a:tailEnd type="arrow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048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74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164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8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44" name="Google Shape;444;p84"/>
          <p:cNvGraphicFramePr/>
          <p:nvPr>
            <p:extLst>
              <p:ext uri="{D42A27DB-BD31-4B8C-83A1-F6EECF244321}">
                <p14:modId xmlns:p14="http://schemas.microsoft.com/office/powerpoint/2010/main" val="1234474613"/>
              </p:ext>
            </p:extLst>
          </p:nvPr>
        </p:nvGraphicFramePr>
        <p:xfrm>
          <a:off x="952500" y="1544194"/>
          <a:ext cx="7239000" cy="10058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Как установить </a:t>
                      </a:r>
                      <a:r>
                        <a:rPr lang="en-US" sz="1100" dirty="0" err="1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MLFlow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</a:rPr>
                        <a:t>Как запустить сервер трекинга экспериментов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77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77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/>
                          <a:sym typeface="Roboto"/>
                        </a:rPr>
                        <a:t>Как зафиксировать результаты эксперимента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0170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30150" y="2028951"/>
            <a:ext cx="297751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60" dirty="0">
                <a:solidFill>
                  <a:srgbClr val="FFFFFF"/>
                </a:solidFill>
              </a:rPr>
              <a:t>Вопросы?</a:t>
            </a:r>
            <a:endParaRPr sz="4900"/>
          </a:p>
        </p:txBody>
      </p:sp>
      <p:grpSp>
        <p:nvGrpSpPr>
          <p:cNvPr id="4" name="object 4"/>
          <p:cNvGrpSpPr/>
          <p:nvPr/>
        </p:nvGrpSpPr>
        <p:grpSpPr>
          <a:xfrm>
            <a:off x="719327" y="3368039"/>
            <a:ext cx="4048125" cy="668020"/>
            <a:chOff x="719327" y="3368039"/>
            <a:chExt cx="4048125" cy="668020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19327" y="3368039"/>
              <a:ext cx="664464" cy="66751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02607" y="3368039"/>
              <a:ext cx="664463" cy="66751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516749" y="3445255"/>
            <a:ext cx="172783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solidFill>
                  <a:srgbClr val="FFFFFF"/>
                </a:solidFill>
                <a:latin typeface="Trebuchet MS"/>
                <a:cs typeface="Trebuchet MS"/>
              </a:rPr>
              <a:t>Ставим</a:t>
            </a:r>
            <a:r>
              <a:rPr sz="1500" spc="-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“+”,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если</a:t>
            </a:r>
            <a:r>
              <a:rPr sz="1500" spc="-6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45" dirty="0">
                <a:solidFill>
                  <a:srgbClr val="FFFFFF"/>
                </a:solidFill>
                <a:latin typeface="Trebuchet MS"/>
                <a:cs typeface="Trebuchet MS"/>
              </a:rPr>
              <a:t>вопросы</a:t>
            </a:r>
            <a:r>
              <a:rPr sz="1500" spc="-6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есть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885424" y="3445255"/>
            <a:ext cx="170433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solidFill>
                  <a:srgbClr val="FFFFFF"/>
                </a:solidFill>
                <a:latin typeface="Trebuchet MS"/>
                <a:cs typeface="Trebuchet MS"/>
              </a:rPr>
              <a:t>Ставим</a:t>
            </a:r>
            <a:r>
              <a:rPr sz="1500" spc="-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FFFFF"/>
                </a:solidFill>
                <a:latin typeface="Trebuchet MS"/>
                <a:cs typeface="Trebuchet MS"/>
              </a:rPr>
              <a:t>“–”,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если</a:t>
            </a:r>
            <a:r>
              <a:rPr sz="1500" spc="8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FFFFF"/>
                </a:solidFill>
                <a:latin typeface="Trebuchet MS"/>
                <a:cs typeface="Trebuchet MS"/>
              </a:rPr>
              <a:t>вопросов</a:t>
            </a:r>
            <a:r>
              <a:rPr sz="1500" spc="9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Trebuchet MS"/>
                <a:cs typeface="Trebuchet MS"/>
              </a:rPr>
              <a:t>нет</a:t>
            </a:r>
            <a:endParaRPr sz="15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34949" y="1792731"/>
            <a:ext cx="5888990" cy="1244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FFFFFF"/>
                </a:solidFill>
              </a:rPr>
              <a:t>Знакомство</a:t>
            </a:r>
            <a:r>
              <a:rPr sz="4000" spc="-20" dirty="0">
                <a:solidFill>
                  <a:srgbClr val="FFFFFF"/>
                </a:solidFill>
              </a:rPr>
              <a:t> </a:t>
            </a:r>
            <a:r>
              <a:rPr sz="4000" dirty="0">
                <a:solidFill>
                  <a:srgbClr val="FFFFFF"/>
                </a:solidFill>
              </a:rPr>
              <a:t>с</a:t>
            </a:r>
            <a:r>
              <a:rPr sz="4000" spc="-20" dirty="0">
                <a:solidFill>
                  <a:srgbClr val="FFFFFF"/>
                </a:solidFill>
              </a:rPr>
              <a:t> </a:t>
            </a:r>
            <a:r>
              <a:rPr sz="4000" spc="-10" dirty="0">
                <a:solidFill>
                  <a:srgbClr val="FFFFFF"/>
                </a:solidFill>
              </a:rPr>
              <a:t>командой </a:t>
            </a:r>
            <a:r>
              <a:rPr sz="4000" spc="-150" dirty="0">
                <a:solidFill>
                  <a:srgbClr val="FFFFFF"/>
                </a:solidFill>
              </a:rPr>
              <a:t>и</a:t>
            </a:r>
            <a:r>
              <a:rPr sz="4000" spc="-204" dirty="0">
                <a:solidFill>
                  <a:srgbClr val="FFFFFF"/>
                </a:solidFill>
              </a:rPr>
              <a:t> </a:t>
            </a:r>
            <a:r>
              <a:rPr sz="4000" spc="-45" dirty="0">
                <a:solidFill>
                  <a:srgbClr val="FFFFFF"/>
                </a:solidFill>
              </a:rPr>
              <a:t>программой</a:t>
            </a:r>
            <a:r>
              <a:rPr sz="4000" spc="-200" dirty="0">
                <a:solidFill>
                  <a:srgbClr val="FFFFFF"/>
                </a:solidFill>
              </a:rPr>
              <a:t> </a:t>
            </a:r>
            <a:r>
              <a:rPr sz="4000" spc="-10" dirty="0">
                <a:solidFill>
                  <a:srgbClr val="FFFFFF"/>
                </a:solidFill>
              </a:rPr>
              <a:t>курса</a:t>
            </a:r>
            <a:endParaRPr sz="4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Команда</a:t>
            </a:r>
            <a:r>
              <a:rPr spc="-175" dirty="0"/>
              <a:t> </a:t>
            </a:r>
            <a:r>
              <a:rPr spc="-10" dirty="0"/>
              <a:t>курса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81095" y="1149604"/>
            <a:ext cx="4542155" cy="24378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" marR="2548890" indent="-6350">
              <a:lnSpc>
                <a:spcPct val="156300"/>
              </a:lnSpc>
              <a:spcBef>
                <a:spcPts val="100"/>
              </a:spcBef>
            </a:pPr>
            <a:r>
              <a:rPr sz="1600" b="1" spc="-10" dirty="0">
                <a:latin typeface="Trebuchet MS"/>
                <a:cs typeface="Trebuchet MS"/>
              </a:rPr>
              <a:t>Руководитель</a:t>
            </a:r>
            <a:r>
              <a:rPr sz="1600" b="1" spc="-75" dirty="0">
                <a:latin typeface="Trebuchet MS"/>
                <a:cs typeface="Trebuchet MS"/>
              </a:rPr>
              <a:t> </a:t>
            </a:r>
            <a:r>
              <a:rPr sz="1600" b="1" spc="-20" dirty="0">
                <a:latin typeface="Trebuchet MS"/>
                <a:cs typeface="Trebuchet MS"/>
              </a:rPr>
              <a:t>курса </a:t>
            </a:r>
            <a:r>
              <a:rPr sz="1600" b="1" spc="-20" dirty="0">
                <a:solidFill>
                  <a:srgbClr val="FF9900"/>
                </a:solidFill>
                <a:latin typeface="Trebuchet MS"/>
                <a:cs typeface="Trebuchet MS"/>
              </a:rPr>
              <a:t>Игорь</a:t>
            </a:r>
            <a:r>
              <a:rPr sz="1600" b="1" spc="-9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600" b="1" spc="-10" dirty="0">
                <a:solidFill>
                  <a:srgbClr val="FF9900"/>
                </a:solidFill>
                <a:latin typeface="Trebuchet MS"/>
                <a:cs typeface="Trebuchet MS"/>
              </a:rPr>
              <a:t>Стурейко</a:t>
            </a:r>
            <a:endParaRPr sz="16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430"/>
              </a:spcBef>
            </a:pPr>
            <a:r>
              <a:rPr sz="1200" b="1" spc="-40" dirty="0">
                <a:latin typeface="Trebuchet MS"/>
                <a:cs typeface="Trebuchet MS"/>
              </a:rPr>
              <a:t>Teamlead,</a:t>
            </a:r>
            <a:r>
              <a:rPr sz="1200" b="1" spc="-20" dirty="0">
                <a:latin typeface="Trebuchet MS"/>
                <a:cs typeface="Trebuchet MS"/>
              </a:rPr>
              <a:t> главный</a:t>
            </a:r>
            <a:r>
              <a:rPr sz="1200" b="1" spc="-30" dirty="0">
                <a:latin typeface="Trebuchet MS"/>
                <a:cs typeface="Trebuchet MS"/>
              </a:rPr>
              <a:t> </a:t>
            </a:r>
            <a:r>
              <a:rPr sz="1200" b="1" spc="-35" dirty="0">
                <a:latin typeface="Trebuchet MS"/>
                <a:cs typeface="Trebuchet MS"/>
              </a:rPr>
              <a:t>инженер</a:t>
            </a:r>
            <a:r>
              <a:rPr sz="1200" b="1" spc="-25" dirty="0">
                <a:latin typeface="Trebuchet MS"/>
                <a:cs typeface="Trebuchet MS"/>
              </a:rPr>
              <a:t> </a:t>
            </a:r>
            <a:r>
              <a:rPr sz="1200" b="1" spc="-10" dirty="0">
                <a:latin typeface="Trebuchet MS"/>
                <a:cs typeface="Trebuchet MS"/>
              </a:rPr>
              <a:t>проекта</a:t>
            </a:r>
            <a:endParaRPr sz="120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0"/>
              </a:spcBef>
            </a:pPr>
            <a:r>
              <a:rPr sz="1200" b="1" spc="-25" dirty="0">
                <a:latin typeface="Trebuchet MS"/>
                <a:cs typeface="Trebuchet MS"/>
              </a:rPr>
              <a:t>Физический</a:t>
            </a:r>
            <a:r>
              <a:rPr sz="1200" b="1" spc="-40" dirty="0">
                <a:latin typeface="Trebuchet MS"/>
                <a:cs typeface="Trebuchet MS"/>
              </a:rPr>
              <a:t> </a:t>
            </a:r>
            <a:r>
              <a:rPr sz="1200" b="1" spc="-25" dirty="0">
                <a:latin typeface="Trebuchet MS"/>
                <a:cs typeface="Trebuchet MS"/>
              </a:rPr>
              <a:t>факультет</a:t>
            </a:r>
            <a:r>
              <a:rPr sz="1200" b="1" spc="-30" dirty="0">
                <a:latin typeface="Trebuchet MS"/>
                <a:cs typeface="Trebuchet MS"/>
              </a:rPr>
              <a:t> </a:t>
            </a:r>
            <a:r>
              <a:rPr sz="1200" b="1" spc="-10" dirty="0">
                <a:latin typeface="Trebuchet MS"/>
                <a:cs typeface="Trebuchet MS"/>
              </a:rPr>
              <a:t>МГУ,</a:t>
            </a:r>
            <a:r>
              <a:rPr sz="1200" b="1" spc="-25" dirty="0">
                <a:latin typeface="Trebuchet MS"/>
                <a:cs typeface="Trebuchet MS"/>
              </a:rPr>
              <a:t> </a:t>
            </a:r>
            <a:r>
              <a:rPr sz="1200" b="1" dirty="0">
                <a:latin typeface="Trebuchet MS"/>
                <a:cs typeface="Trebuchet MS"/>
              </a:rPr>
              <a:t>PhD</a:t>
            </a:r>
            <a:r>
              <a:rPr sz="1200" b="1" spc="-35" dirty="0">
                <a:latin typeface="Trebuchet MS"/>
                <a:cs typeface="Trebuchet MS"/>
              </a:rPr>
              <a:t> </a:t>
            </a:r>
            <a:r>
              <a:rPr sz="1200" b="1" spc="-25" dirty="0">
                <a:latin typeface="Trebuchet MS"/>
                <a:cs typeface="Trebuchet MS"/>
              </a:rPr>
              <a:t>теоретическая </a:t>
            </a:r>
            <a:r>
              <a:rPr sz="1200" b="1" spc="-10" dirty="0">
                <a:latin typeface="Trebuchet MS"/>
                <a:cs typeface="Trebuchet MS"/>
              </a:rPr>
              <a:t>физика</a:t>
            </a:r>
            <a:endParaRPr sz="1200" dirty="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30"/>
              </a:spcBef>
            </a:pPr>
            <a:endParaRPr sz="1200" dirty="0">
              <a:latin typeface="Trebuchet MS"/>
              <a:cs typeface="Trebuchet MS"/>
            </a:endParaRPr>
          </a:p>
          <a:p>
            <a:pPr marL="12700" marR="163830">
              <a:lnSpc>
                <a:spcPts val="1420"/>
              </a:lnSpc>
            </a:pPr>
            <a:r>
              <a:rPr lang="ru-RU" sz="1200" spc="50" dirty="0">
                <a:latin typeface="Trebuchet MS"/>
                <a:cs typeface="Trebuchet MS"/>
              </a:rPr>
              <a:t>20</a:t>
            </a:r>
            <a:r>
              <a:rPr sz="1200" spc="50" dirty="0">
                <a:latin typeface="Trebuchet MS"/>
                <a:cs typeface="Trebuchet MS"/>
              </a:rPr>
              <a:t>+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лет</a:t>
            </a:r>
            <a:r>
              <a:rPr sz="1200" spc="2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опыта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в</a:t>
            </a:r>
            <a:r>
              <a:rPr sz="1200" spc="2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прикладной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математике</a:t>
            </a:r>
            <a:r>
              <a:rPr sz="1200" spc="2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и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spc="-10" dirty="0" err="1">
                <a:latin typeface="Trebuchet MS"/>
                <a:cs typeface="Trebuchet MS"/>
              </a:rPr>
              <a:t>математическом</a:t>
            </a:r>
            <a:r>
              <a:rPr sz="1200" spc="-10" dirty="0">
                <a:latin typeface="Trebuchet MS"/>
                <a:cs typeface="Trebuchet MS"/>
              </a:rPr>
              <a:t> </a:t>
            </a:r>
            <a:r>
              <a:rPr sz="1200" spc="10" dirty="0" err="1">
                <a:latin typeface="Trebuchet MS"/>
                <a:cs typeface="Trebuchet MS"/>
              </a:rPr>
              <a:t>моделировании</a:t>
            </a:r>
            <a:endParaRPr lang="ru-RU" sz="1200" spc="10" dirty="0">
              <a:latin typeface="Trebuchet MS"/>
              <a:cs typeface="Trebuchet MS"/>
            </a:endParaRPr>
          </a:p>
          <a:p>
            <a:pPr marL="12700" marR="163830">
              <a:lnSpc>
                <a:spcPts val="1420"/>
              </a:lnSpc>
            </a:pPr>
            <a:endParaRPr sz="1200" dirty="0">
              <a:latin typeface="Trebuchet MS"/>
              <a:cs typeface="Trebuchet MS"/>
            </a:endParaRPr>
          </a:p>
          <a:p>
            <a:pPr marL="12700" marR="5080">
              <a:lnSpc>
                <a:spcPts val="1420"/>
              </a:lnSpc>
            </a:pPr>
            <a:r>
              <a:rPr sz="1200" dirty="0" err="1">
                <a:latin typeface="Trebuchet MS"/>
                <a:cs typeface="Trebuchet MS"/>
              </a:rPr>
              <a:t>Руково</a:t>
            </a:r>
            <a:r>
              <a:rPr lang="ru-RU" sz="1200" dirty="0" err="1">
                <a:latin typeface="Trebuchet MS"/>
                <a:cs typeface="Trebuchet MS"/>
              </a:rPr>
              <a:t>жу</a:t>
            </a:r>
            <a:r>
              <a:rPr sz="1200" spc="6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командой,</a:t>
            </a:r>
            <a:r>
              <a:rPr sz="1200" spc="5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решающей</a:t>
            </a:r>
            <a:r>
              <a:rPr sz="1200" spc="4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прикладные</a:t>
            </a:r>
            <a:r>
              <a:rPr sz="1200" spc="60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задачи,</a:t>
            </a:r>
            <a:r>
              <a:rPr sz="1200" spc="55" dirty="0">
                <a:latin typeface="Trebuchet MS"/>
                <a:cs typeface="Trebuchet MS"/>
              </a:rPr>
              <a:t> </a:t>
            </a:r>
            <a:r>
              <a:rPr sz="1200" spc="40" dirty="0">
                <a:latin typeface="Trebuchet MS"/>
                <a:cs typeface="Trebuchet MS"/>
              </a:rPr>
              <a:t>вывод </a:t>
            </a:r>
            <a:r>
              <a:rPr sz="1200" dirty="0">
                <a:latin typeface="Trebuchet MS"/>
                <a:cs typeface="Trebuchet MS"/>
              </a:rPr>
              <a:t>готовых</a:t>
            </a:r>
            <a:r>
              <a:rPr sz="1200" spc="1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моделей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55" dirty="0">
                <a:latin typeface="Trebuchet MS"/>
                <a:cs typeface="Trebuchet MS"/>
              </a:rPr>
              <a:t>в</a:t>
            </a:r>
            <a:r>
              <a:rPr sz="1200" spc="10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продакшн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и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поддержку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dirty="0">
                <a:latin typeface="Trebuchet MS"/>
                <a:cs typeface="Trebuchet MS"/>
              </a:rPr>
              <a:t>решений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-40" dirty="0">
                <a:latin typeface="Trebuchet MS"/>
                <a:cs typeface="Trebuchet MS"/>
              </a:rPr>
              <a:t>у</a:t>
            </a:r>
            <a:r>
              <a:rPr sz="1200" spc="5" dirty="0">
                <a:latin typeface="Trebuchet MS"/>
                <a:cs typeface="Trebuchet MS"/>
              </a:rPr>
              <a:t> </a:t>
            </a:r>
            <a:r>
              <a:rPr sz="1200" spc="-10" dirty="0">
                <a:latin typeface="Trebuchet MS"/>
                <a:cs typeface="Trebuchet MS"/>
              </a:rPr>
              <a:t>клиента</a:t>
            </a:r>
            <a:endParaRPr sz="1200" dirty="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14099" y="1195199"/>
            <a:ext cx="2430145" cy="3232785"/>
            <a:chOff x="614099" y="1195199"/>
            <a:chExt cx="2430145" cy="3232785"/>
          </a:xfrm>
        </p:grpSpPr>
        <p:sp>
          <p:nvSpPr>
            <p:cNvPr id="5" name="object 5"/>
            <p:cNvSpPr/>
            <p:nvPr/>
          </p:nvSpPr>
          <p:spPr>
            <a:xfrm>
              <a:off x="614099" y="1195199"/>
              <a:ext cx="520700" cy="3232785"/>
            </a:xfrm>
            <a:custGeom>
              <a:avLst/>
              <a:gdLst/>
              <a:ahLst/>
              <a:cxnLst/>
              <a:rect l="l" t="t" r="r" b="b"/>
              <a:pathLst>
                <a:path w="520700" h="3232785">
                  <a:moveTo>
                    <a:pt x="520200" y="0"/>
                  </a:moveTo>
                  <a:lnTo>
                    <a:pt x="0" y="0"/>
                  </a:lnTo>
                  <a:lnTo>
                    <a:pt x="0" y="3232500"/>
                  </a:lnTo>
                  <a:lnTo>
                    <a:pt x="520200" y="3232500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924" y="1576773"/>
              <a:ext cx="2253984" cy="221052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Команда</a:t>
            </a:r>
            <a:r>
              <a:rPr spc="-175" dirty="0"/>
              <a:t> </a:t>
            </a:r>
            <a:r>
              <a:rPr spc="-10" dirty="0"/>
              <a:t>курса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dirty="0"/>
              <a:t>Вадим</a:t>
            </a:r>
            <a:r>
              <a:rPr spc="15" dirty="0"/>
              <a:t> </a:t>
            </a:r>
            <a:r>
              <a:rPr spc="-10" dirty="0"/>
              <a:t>Заигрин</a:t>
            </a: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b="0" dirty="0">
                <a:solidFill>
                  <a:srgbClr val="000000"/>
                </a:solidFill>
                <a:latin typeface="Trebuchet MS"/>
                <a:cs typeface="Trebuchet MS"/>
              </a:rPr>
              <a:t>Ведущий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консультант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/>
              <a:t>Дмитрий</a:t>
            </a:r>
            <a:r>
              <a:rPr spc="-95" dirty="0"/>
              <a:t> </a:t>
            </a:r>
            <a:r>
              <a:rPr spc="-10" dirty="0"/>
              <a:t>Бугайченко</a:t>
            </a:r>
          </a:p>
          <a:p>
            <a:pPr marL="12700" marR="467995">
              <a:lnSpc>
                <a:spcPct val="118000"/>
              </a:lnSpc>
              <a:spcBef>
                <a:spcPts val="190"/>
              </a:spcBef>
            </a:pPr>
            <a:r>
              <a:rPr sz="1000" b="0" spc="10" dirty="0">
                <a:solidFill>
                  <a:srgbClr val="000000"/>
                </a:solidFill>
                <a:latin typeface="Trebuchet MS"/>
                <a:cs typeface="Trebuchet MS"/>
              </a:rPr>
              <a:t>Управляющий</a:t>
            </a:r>
            <a:r>
              <a:rPr sz="1000" b="0" spc="135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директор </a:t>
            </a:r>
            <a:r>
              <a:rPr sz="1000" b="0" spc="-75" dirty="0">
                <a:solidFill>
                  <a:srgbClr val="000000"/>
                </a:solidFill>
                <a:latin typeface="Trebuchet MS"/>
                <a:cs typeface="Trebuchet MS"/>
              </a:rPr>
              <a:t>к.ф.-</a:t>
            </a:r>
            <a:r>
              <a:rPr sz="1000" b="0" spc="-20" dirty="0">
                <a:solidFill>
                  <a:srgbClr val="000000"/>
                </a:solidFill>
                <a:latin typeface="Trebuchet MS"/>
                <a:cs typeface="Trebuchet MS"/>
              </a:rPr>
              <a:t>м.н.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90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dirty="0"/>
              <a:t>Петр</a:t>
            </a:r>
            <a:r>
              <a:rPr spc="-60" dirty="0"/>
              <a:t> </a:t>
            </a:r>
            <a:r>
              <a:rPr spc="-10" dirty="0"/>
              <a:t>Емельянов</a:t>
            </a: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b="0" spc="-25" dirty="0">
                <a:solidFill>
                  <a:srgbClr val="000000"/>
                </a:solidFill>
                <a:latin typeface="Trebuchet MS"/>
                <a:cs typeface="Trebuchet MS"/>
              </a:rPr>
              <a:t>CEO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1135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/>
              <a:t>Павел</a:t>
            </a:r>
            <a:r>
              <a:rPr spc="-60" dirty="0"/>
              <a:t> </a:t>
            </a:r>
            <a:r>
              <a:rPr spc="-10" dirty="0"/>
              <a:t>Филонов</a:t>
            </a: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b="0" dirty="0">
                <a:solidFill>
                  <a:srgbClr val="000000"/>
                </a:solidFill>
                <a:latin typeface="Trebuchet MS"/>
                <a:cs typeface="Trebuchet MS"/>
              </a:rPr>
              <a:t>Собственный</a:t>
            </a:r>
            <a:r>
              <a:rPr sz="1000" b="0" spc="180" dirty="0">
                <a:solidFill>
                  <a:srgbClr val="000000"/>
                </a:solidFill>
                <a:latin typeface="Trebuchet MS"/>
                <a:cs typeface="Trebuchet MS"/>
              </a:rPr>
              <a:t> </a:t>
            </a:r>
            <a:r>
              <a:rPr sz="1000" b="0" spc="-10" dirty="0">
                <a:solidFill>
                  <a:srgbClr val="000000"/>
                </a:solidFill>
                <a:latin typeface="Trebuchet MS"/>
                <a:cs typeface="Trebuchet MS"/>
              </a:rPr>
              <a:t>консалтинг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14099" y="1195199"/>
            <a:ext cx="1006475" cy="3617595"/>
            <a:chOff x="614099" y="1195199"/>
            <a:chExt cx="1006475" cy="3617595"/>
          </a:xfrm>
        </p:grpSpPr>
        <p:sp>
          <p:nvSpPr>
            <p:cNvPr id="5" name="object 5"/>
            <p:cNvSpPr/>
            <p:nvPr/>
          </p:nvSpPr>
          <p:spPr>
            <a:xfrm>
              <a:off x="614099" y="1195199"/>
              <a:ext cx="520700" cy="3617595"/>
            </a:xfrm>
            <a:custGeom>
              <a:avLst/>
              <a:gdLst/>
              <a:ahLst/>
              <a:cxnLst/>
              <a:rect l="l" t="t" r="r" b="b"/>
              <a:pathLst>
                <a:path w="520700" h="3617595">
                  <a:moveTo>
                    <a:pt x="520200" y="0"/>
                  </a:moveTo>
                  <a:lnTo>
                    <a:pt x="0" y="0"/>
                  </a:lnTo>
                  <a:lnTo>
                    <a:pt x="0" y="3617576"/>
                  </a:lnTo>
                  <a:lnTo>
                    <a:pt x="520200" y="3617576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9919" y="1279644"/>
              <a:ext cx="830099" cy="819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9919" y="2150641"/>
              <a:ext cx="830099" cy="8190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89919" y="3021637"/>
              <a:ext cx="830099" cy="819000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89919" y="3894441"/>
              <a:ext cx="830099" cy="81899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5372360" y="1441958"/>
            <a:ext cx="1589405" cy="131826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5"/>
              </a:spcBef>
            </a:pPr>
            <a:r>
              <a:rPr sz="1500" b="1" dirty="0">
                <a:solidFill>
                  <a:srgbClr val="FF9900"/>
                </a:solidFill>
                <a:latin typeface="Trebuchet MS"/>
                <a:cs typeface="Trebuchet MS"/>
              </a:rPr>
              <a:t>Максим</a:t>
            </a:r>
            <a:r>
              <a:rPr sz="1500" b="1" spc="114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Мигутин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spc="-20" dirty="0">
                <a:latin typeface="Trebuchet MS"/>
                <a:cs typeface="Trebuchet MS"/>
              </a:rPr>
              <a:t>DataScientist,</a:t>
            </a:r>
            <a:r>
              <a:rPr sz="1000" spc="1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DataEngineer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440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Николай</a:t>
            </a:r>
            <a:r>
              <a:rPr sz="1500" b="1" spc="-4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Осипов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405"/>
              </a:spcBef>
            </a:pPr>
            <a:r>
              <a:rPr sz="1000" spc="90" dirty="0">
                <a:latin typeface="Trebuchet MS"/>
                <a:cs typeface="Trebuchet MS"/>
              </a:rPr>
              <a:t>ML</a:t>
            </a:r>
            <a:r>
              <a:rPr sz="1000" spc="-5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Engineer</a:t>
            </a:r>
            <a:endParaRPr sz="10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466227" y="1160852"/>
            <a:ext cx="939800" cy="3617595"/>
            <a:chOff x="7466227" y="1160852"/>
            <a:chExt cx="939800" cy="3617595"/>
          </a:xfrm>
        </p:grpSpPr>
        <p:sp>
          <p:nvSpPr>
            <p:cNvPr id="12" name="object 12"/>
            <p:cNvSpPr/>
            <p:nvPr/>
          </p:nvSpPr>
          <p:spPr>
            <a:xfrm>
              <a:off x="7885690" y="1160852"/>
              <a:ext cx="520700" cy="3617595"/>
            </a:xfrm>
            <a:custGeom>
              <a:avLst/>
              <a:gdLst/>
              <a:ahLst/>
              <a:cxnLst/>
              <a:rect l="l" t="t" r="r" b="b"/>
              <a:pathLst>
                <a:path w="520700" h="3617595">
                  <a:moveTo>
                    <a:pt x="520200" y="0"/>
                  </a:moveTo>
                  <a:lnTo>
                    <a:pt x="0" y="0"/>
                  </a:lnTo>
                  <a:lnTo>
                    <a:pt x="0" y="3617576"/>
                  </a:lnTo>
                  <a:lnTo>
                    <a:pt x="520200" y="3617576"/>
                  </a:lnTo>
                  <a:lnTo>
                    <a:pt x="5202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66227" y="1245298"/>
              <a:ext cx="830099" cy="818998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466227" y="2987290"/>
              <a:ext cx="830099" cy="819000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66227" y="2116293"/>
              <a:ext cx="830099" cy="8190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66227" y="3894442"/>
              <a:ext cx="830099" cy="818999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5372360" y="3193033"/>
            <a:ext cx="1729105" cy="134747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Николай</a:t>
            </a:r>
            <a:r>
              <a:rPr sz="1500" b="1" spc="-4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Степанов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spc="90" dirty="0">
                <a:latin typeface="Trebuchet MS"/>
                <a:cs typeface="Trebuchet MS"/>
              </a:rPr>
              <a:t>ML</a:t>
            </a:r>
            <a:r>
              <a:rPr sz="1000" spc="-5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Engineer</a:t>
            </a: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</a:pPr>
            <a:endParaRPr sz="10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750"/>
              </a:spcBef>
            </a:pPr>
            <a:endParaRPr sz="10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Инна</a:t>
            </a:r>
            <a:r>
              <a:rPr sz="1500" b="1" spc="-10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1" spc="-10" dirty="0">
                <a:solidFill>
                  <a:srgbClr val="FF9900"/>
                </a:solidFill>
                <a:latin typeface="Trebuchet MS"/>
                <a:cs typeface="Trebuchet MS"/>
              </a:rPr>
              <a:t>Мельникова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sz="1000" dirty="0">
                <a:latin typeface="Trebuchet MS"/>
                <a:cs typeface="Trebuchet MS"/>
              </a:rPr>
              <a:t>Комьюнити</a:t>
            </a:r>
            <a:r>
              <a:rPr sz="1000" spc="165" dirty="0">
                <a:latin typeface="Trebuchet MS"/>
                <a:cs typeface="Trebuchet MS"/>
              </a:rPr>
              <a:t> </a:t>
            </a:r>
            <a:r>
              <a:rPr sz="1000" spc="-10" dirty="0">
                <a:latin typeface="Trebuchet MS"/>
                <a:cs typeface="Trebuchet MS"/>
              </a:rPr>
              <a:t>менеджер</a:t>
            </a:r>
            <a:endParaRPr sz="100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30150" y="2051811"/>
            <a:ext cx="4149090" cy="726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600" spc="-100" dirty="0">
                <a:solidFill>
                  <a:srgbClr val="FFFFFF"/>
                </a:solidFill>
              </a:rPr>
              <a:t>О</a:t>
            </a:r>
            <a:r>
              <a:rPr sz="4600" spc="-250" dirty="0">
                <a:solidFill>
                  <a:srgbClr val="FFFFFF"/>
                </a:solidFill>
              </a:rPr>
              <a:t> </a:t>
            </a:r>
            <a:r>
              <a:rPr sz="4600" spc="-85" dirty="0">
                <a:solidFill>
                  <a:srgbClr val="FFFFFF"/>
                </a:solidFill>
              </a:rPr>
              <a:t>курсе</a:t>
            </a:r>
            <a:r>
              <a:rPr sz="4600" spc="-250" dirty="0">
                <a:solidFill>
                  <a:srgbClr val="FFFFFF"/>
                </a:solidFill>
              </a:rPr>
              <a:t> </a:t>
            </a:r>
            <a:r>
              <a:rPr sz="4600" spc="125" dirty="0">
                <a:solidFill>
                  <a:srgbClr val="FFFFFF"/>
                </a:solidFill>
              </a:rPr>
              <a:t>MLOps</a:t>
            </a:r>
            <a:endParaRPr sz="4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Карта</a:t>
            </a:r>
            <a:r>
              <a:rPr spc="-170" dirty="0"/>
              <a:t> </a:t>
            </a:r>
            <a:r>
              <a:rPr spc="-10" dirty="0"/>
              <a:t>курса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3549" y="769970"/>
            <a:ext cx="8103391" cy="404409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651378" y="911859"/>
            <a:ext cx="108458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1.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Процессы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263384" y="1804923"/>
            <a:ext cx="162623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2.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Инфраструктура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53384" y="2655316"/>
            <a:ext cx="166052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4.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Моделирование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63384" y="2655316"/>
            <a:ext cx="11715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5.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63384" y="3508755"/>
            <a:ext cx="15443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6.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853384" y="3508755"/>
            <a:ext cx="130556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7.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Мониторинг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651378" y="4400296"/>
            <a:ext cx="1517650" cy="223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60" dirty="0">
                <a:latin typeface="Trebuchet MS"/>
                <a:cs typeface="Trebuchet MS"/>
              </a:rPr>
              <a:t>8.</a:t>
            </a:r>
            <a:r>
              <a:rPr sz="1300" spc="-5" dirty="0">
                <a:latin typeface="Trebuchet MS"/>
                <a:cs typeface="Trebuchet MS"/>
              </a:rPr>
              <a:t> </a:t>
            </a:r>
            <a:r>
              <a:rPr sz="1300" dirty="0">
                <a:latin typeface="Trebuchet MS"/>
                <a:cs typeface="Trebuchet MS"/>
              </a:rPr>
              <a:t>Курсовой </a:t>
            </a:r>
            <a:r>
              <a:rPr sz="1300" spc="-10" dirty="0">
                <a:latin typeface="Trebuchet MS"/>
                <a:cs typeface="Trebuchet MS"/>
              </a:rPr>
              <a:t>проект</a:t>
            </a:r>
            <a:endParaRPr sz="1300">
              <a:latin typeface="Trebuchet MS"/>
              <a:cs typeface="Trebuchet MS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795016" y="1338072"/>
            <a:ext cx="4761230" cy="1149350"/>
            <a:chOff x="2795016" y="1338072"/>
            <a:chExt cx="4761230" cy="114935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120639" y="1338072"/>
              <a:ext cx="246887" cy="246887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95016" y="2237232"/>
              <a:ext cx="249936" cy="249936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306056" y="2231136"/>
              <a:ext cx="249935" cy="249936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5445856" y="13446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120740" y="2246883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853384" y="1804923"/>
            <a:ext cx="2380615" cy="614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  <a:p>
            <a:pPr marR="5080" algn="r">
              <a:lnSpc>
                <a:spcPct val="100000"/>
              </a:lnSpc>
              <a:spcBef>
                <a:spcPts val="1510"/>
              </a:spcBef>
            </a:pPr>
            <a:r>
              <a:rPr sz="1000" i="1" spc="-1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89109" y="878379"/>
            <a:ext cx="6843395" cy="3844290"/>
            <a:chOff x="789109" y="878379"/>
            <a:chExt cx="6843395" cy="3844290"/>
          </a:xfrm>
        </p:grpSpPr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06056" y="3090671"/>
              <a:ext cx="249935" cy="246887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746248" y="3090671"/>
              <a:ext cx="249936" cy="246887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746248" y="3944111"/>
              <a:ext cx="249936" cy="249936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85304" y="3944111"/>
              <a:ext cx="246888" cy="249936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165383" y="878379"/>
              <a:ext cx="419929" cy="396000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789109" y="1771398"/>
              <a:ext cx="419929" cy="396000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379110" y="1770692"/>
              <a:ext cx="419929" cy="396000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79110" y="2609735"/>
              <a:ext cx="419929" cy="396000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89109" y="2616087"/>
              <a:ext cx="419929" cy="396000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789109" y="3457464"/>
              <a:ext cx="419929" cy="395999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379110" y="3471719"/>
              <a:ext cx="419929" cy="396000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3165383" y="4326413"/>
              <a:ext cx="419929" cy="396000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7633945" y="30972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072375" y="3097276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3072375" y="3953764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710740" y="3953764"/>
            <a:ext cx="60007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i="1" spc="-40" dirty="0">
                <a:latin typeface="Georgia"/>
                <a:cs typeface="Georgia"/>
              </a:rPr>
              <a:t>HomeTask</a:t>
            </a:r>
            <a:endParaRPr sz="10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6712" y="36601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2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2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5344" y="3742435"/>
            <a:ext cx="19069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Взаимодействие</a:t>
            </a:r>
            <a:r>
              <a:rPr sz="1200" spc="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</a:t>
            </a:r>
            <a:r>
              <a:rPr sz="1200" spc="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командой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08458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1.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Процессы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09304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172716"/>
            <a:ext cx="25590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Вводное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занятие,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знакомство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курсом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2615406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2696972"/>
            <a:ext cx="19291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Цели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метрики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ML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проектов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37768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18179"/>
            <a:ext cx="19297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Организация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исходного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кода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18249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263644"/>
            <a:ext cx="31235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–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 Формирование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процессов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команды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802015" y="1683727"/>
            <a:ext cx="5735688" cy="2857791"/>
            <a:chOff x="1802015" y="1683727"/>
            <a:chExt cx="5735688" cy="2857791"/>
          </a:xfrm>
        </p:grpSpPr>
        <p:sp>
          <p:nvSpPr>
            <p:cNvPr id="16" name="object 16"/>
            <p:cNvSpPr/>
            <p:nvPr/>
          </p:nvSpPr>
          <p:spPr>
            <a:xfrm>
              <a:off x="1802015" y="1683727"/>
              <a:ext cx="424815" cy="2734945"/>
            </a:xfrm>
            <a:custGeom>
              <a:avLst/>
              <a:gdLst/>
              <a:ahLst/>
              <a:cxnLst/>
              <a:rect l="l" t="t" r="r" b="b"/>
              <a:pathLst>
                <a:path w="424814" h="2734945">
                  <a:moveTo>
                    <a:pt x="424688" y="607314"/>
                  </a:moveTo>
                  <a:lnTo>
                    <a:pt x="415163" y="602551"/>
                  </a:lnTo>
                  <a:lnTo>
                    <a:pt x="348488" y="569214"/>
                  </a:lnTo>
                  <a:lnTo>
                    <a:pt x="348488" y="602551"/>
                  </a:lnTo>
                  <a:lnTo>
                    <a:pt x="9525" y="602551"/>
                  </a:lnTo>
                  <a:lnTo>
                    <a:pt x="9525" y="0"/>
                  </a:lnTo>
                  <a:lnTo>
                    <a:pt x="0" y="0"/>
                  </a:lnTo>
                  <a:lnTo>
                    <a:pt x="0" y="609955"/>
                  </a:lnTo>
                  <a:lnTo>
                    <a:pt x="0" y="1132319"/>
                  </a:lnTo>
                  <a:lnTo>
                    <a:pt x="0" y="1654670"/>
                  </a:lnTo>
                  <a:lnTo>
                    <a:pt x="0" y="2699397"/>
                  </a:lnTo>
                  <a:lnTo>
                    <a:pt x="2133" y="2701531"/>
                  </a:lnTo>
                  <a:lnTo>
                    <a:pt x="343611" y="2701531"/>
                  </a:lnTo>
                  <a:lnTo>
                    <a:pt x="343611" y="2734868"/>
                  </a:lnTo>
                  <a:lnTo>
                    <a:pt x="410286" y="2701531"/>
                  </a:lnTo>
                  <a:lnTo>
                    <a:pt x="419811" y="2696768"/>
                  </a:lnTo>
                  <a:lnTo>
                    <a:pt x="410286" y="2692006"/>
                  </a:lnTo>
                  <a:lnTo>
                    <a:pt x="343611" y="2658668"/>
                  </a:lnTo>
                  <a:lnTo>
                    <a:pt x="343611" y="2692006"/>
                  </a:lnTo>
                  <a:lnTo>
                    <a:pt x="9525" y="2692006"/>
                  </a:lnTo>
                  <a:lnTo>
                    <a:pt x="9525" y="1656803"/>
                  </a:lnTo>
                  <a:lnTo>
                    <a:pt x="348488" y="1656803"/>
                  </a:lnTo>
                  <a:lnTo>
                    <a:pt x="348488" y="1690141"/>
                  </a:lnTo>
                  <a:lnTo>
                    <a:pt x="415163" y="1656803"/>
                  </a:lnTo>
                  <a:lnTo>
                    <a:pt x="424688" y="1652041"/>
                  </a:lnTo>
                  <a:lnTo>
                    <a:pt x="415163" y="1647278"/>
                  </a:lnTo>
                  <a:lnTo>
                    <a:pt x="348488" y="1613941"/>
                  </a:lnTo>
                  <a:lnTo>
                    <a:pt x="348488" y="1647278"/>
                  </a:lnTo>
                  <a:lnTo>
                    <a:pt x="9525" y="1647278"/>
                  </a:lnTo>
                  <a:lnTo>
                    <a:pt x="9525" y="1134440"/>
                  </a:lnTo>
                  <a:lnTo>
                    <a:pt x="348488" y="1134440"/>
                  </a:lnTo>
                  <a:lnTo>
                    <a:pt x="348488" y="1167777"/>
                  </a:lnTo>
                  <a:lnTo>
                    <a:pt x="415163" y="1134440"/>
                  </a:lnTo>
                  <a:lnTo>
                    <a:pt x="424688" y="1129677"/>
                  </a:lnTo>
                  <a:lnTo>
                    <a:pt x="415163" y="1124915"/>
                  </a:lnTo>
                  <a:lnTo>
                    <a:pt x="348488" y="1091577"/>
                  </a:lnTo>
                  <a:lnTo>
                    <a:pt x="348488" y="1124915"/>
                  </a:lnTo>
                  <a:lnTo>
                    <a:pt x="9525" y="1124915"/>
                  </a:lnTo>
                  <a:lnTo>
                    <a:pt x="9525" y="612076"/>
                  </a:lnTo>
                  <a:lnTo>
                    <a:pt x="348488" y="612076"/>
                  </a:lnTo>
                  <a:lnTo>
                    <a:pt x="348488" y="645414"/>
                  </a:lnTo>
                  <a:lnTo>
                    <a:pt x="415163" y="612076"/>
                  </a:lnTo>
                  <a:lnTo>
                    <a:pt x="424688" y="60731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11568" y="4212335"/>
              <a:ext cx="326135" cy="329183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1802020" y="2193324"/>
              <a:ext cx="424815" cy="1703070"/>
            </a:xfrm>
            <a:custGeom>
              <a:avLst/>
              <a:gdLst/>
              <a:ahLst/>
              <a:cxnLst/>
              <a:rect l="l" t="t" r="r" b="b"/>
              <a:pathLst>
                <a:path w="424814" h="1703070">
                  <a:moveTo>
                    <a:pt x="348491" y="1626707"/>
                  </a:moveTo>
                  <a:lnTo>
                    <a:pt x="348491" y="1702907"/>
                  </a:lnTo>
                  <a:lnTo>
                    <a:pt x="415166" y="1669569"/>
                  </a:lnTo>
                  <a:lnTo>
                    <a:pt x="361191" y="1669569"/>
                  </a:lnTo>
                  <a:lnTo>
                    <a:pt x="361191" y="1660044"/>
                  </a:lnTo>
                  <a:lnTo>
                    <a:pt x="415166" y="1660044"/>
                  </a:lnTo>
                  <a:lnTo>
                    <a:pt x="348491" y="1626707"/>
                  </a:lnTo>
                  <a:close/>
                </a:path>
                <a:path w="424814" h="1703070">
                  <a:moveTo>
                    <a:pt x="9525" y="0"/>
                  </a:moveTo>
                  <a:lnTo>
                    <a:pt x="0" y="0"/>
                  </a:lnTo>
                  <a:lnTo>
                    <a:pt x="0" y="1667437"/>
                  </a:lnTo>
                  <a:lnTo>
                    <a:pt x="2132" y="1669569"/>
                  </a:lnTo>
                  <a:lnTo>
                    <a:pt x="348491" y="1669569"/>
                  </a:lnTo>
                  <a:lnTo>
                    <a:pt x="348491" y="1664807"/>
                  </a:lnTo>
                  <a:lnTo>
                    <a:pt x="9525" y="1664807"/>
                  </a:lnTo>
                  <a:lnTo>
                    <a:pt x="4762" y="1660044"/>
                  </a:lnTo>
                  <a:lnTo>
                    <a:pt x="9525" y="1660044"/>
                  </a:lnTo>
                  <a:lnTo>
                    <a:pt x="9525" y="0"/>
                  </a:lnTo>
                  <a:close/>
                </a:path>
                <a:path w="424814" h="1703070">
                  <a:moveTo>
                    <a:pt x="415166" y="1660044"/>
                  </a:moveTo>
                  <a:lnTo>
                    <a:pt x="361191" y="1660044"/>
                  </a:lnTo>
                  <a:lnTo>
                    <a:pt x="361191" y="1669569"/>
                  </a:lnTo>
                  <a:lnTo>
                    <a:pt x="415166" y="1669569"/>
                  </a:lnTo>
                  <a:lnTo>
                    <a:pt x="424691" y="1664807"/>
                  </a:lnTo>
                  <a:lnTo>
                    <a:pt x="415166" y="1660044"/>
                  </a:lnTo>
                  <a:close/>
                </a:path>
                <a:path w="424814" h="1703070">
                  <a:moveTo>
                    <a:pt x="9525" y="1660044"/>
                  </a:moveTo>
                  <a:lnTo>
                    <a:pt x="4762" y="1660044"/>
                  </a:lnTo>
                  <a:lnTo>
                    <a:pt x="9525" y="1664807"/>
                  </a:lnTo>
                  <a:lnTo>
                    <a:pt x="9525" y="1660044"/>
                  </a:lnTo>
                  <a:close/>
                </a:path>
                <a:path w="424814" h="1703070">
                  <a:moveTo>
                    <a:pt x="348491" y="1660044"/>
                  </a:moveTo>
                  <a:lnTo>
                    <a:pt x="9525" y="1660044"/>
                  </a:lnTo>
                  <a:lnTo>
                    <a:pt x="9525" y="1664807"/>
                  </a:lnTo>
                  <a:lnTo>
                    <a:pt x="348491" y="1664807"/>
                  </a:lnTo>
                  <a:lnTo>
                    <a:pt x="348491" y="16600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802020" y="2193324"/>
              <a:ext cx="424815" cy="1703070"/>
            </a:xfrm>
            <a:custGeom>
              <a:avLst/>
              <a:gdLst/>
              <a:ahLst/>
              <a:cxnLst/>
              <a:rect l="l" t="t" r="r" b="b"/>
              <a:pathLst>
                <a:path w="424814" h="1703070">
                  <a:moveTo>
                    <a:pt x="348491" y="1626707"/>
                  </a:moveTo>
                  <a:lnTo>
                    <a:pt x="348491" y="1702907"/>
                  </a:lnTo>
                  <a:lnTo>
                    <a:pt x="415166" y="1669569"/>
                  </a:lnTo>
                  <a:lnTo>
                    <a:pt x="361191" y="1669569"/>
                  </a:lnTo>
                  <a:lnTo>
                    <a:pt x="361191" y="1660044"/>
                  </a:lnTo>
                  <a:lnTo>
                    <a:pt x="415166" y="1660044"/>
                  </a:lnTo>
                  <a:lnTo>
                    <a:pt x="348491" y="1626707"/>
                  </a:lnTo>
                  <a:close/>
                </a:path>
                <a:path w="424814" h="1703070">
                  <a:moveTo>
                    <a:pt x="9525" y="0"/>
                  </a:moveTo>
                  <a:lnTo>
                    <a:pt x="0" y="0"/>
                  </a:lnTo>
                  <a:lnTo>
                    <a:pt x="0" y="1667437"/>
                  </a:lnTo>
                  <a:lnTo>
                    <a:pt x="2132" y="1669569"/>
                  </a:lnTo>
                  <a:lnTo>
                    <a:pt x="348491" y="1669569"/>
                  </a:lnTo>
                  <a:lnTo>
                    <a:pt x="348491" y="1664807"/>
                  </a:lnTo>
                  <a:lnTo>
                    <a:pt x="9525" y="1664807"/>
                  </a:lnTo>
                  <a:lnTo>
                    <a:pt x="4762" y="1660044"/>
                  </a:lnTo>
                  <a:lnTo>
                    <a:pt x="9525" y="1660044"/>
                  </a:lnTo>
                  <a:lnTo>
                    <a:pt x="9525" y="0"/>
                  </a:lnTo>
                  <a:close/>
                </a:path>
                <a:path w="424814" h="1703070">
                  <a:moveTo>
                    <a:pt x="415166" y="1660044"/>
                  </a:moveTo>
                  <a:lnTo>
                    <a:pt x="361191" y="1660044"/>
                  </a:lnTo>
                  <a:lnTo>
                    <a:pt x="361191" y="1669569"/>
                  </a:lnTo>
                  <a:lnTo>
                    <a:pt x="415166" y="1669569"/>
                  </a:lnTo>
                  <a:lnTo>
                    <a:pt x="424691" y="1664807"/>
                  </a:lnTo>
                  <a:lnTo>
                    <a:pt x="415166" y="1660044"/>
                  </a:lnTo>
                  <a:close/>
                </a:path>
                <a:path w="424814" h="1703070">
                  <a:moveTo>
                    <a:pt x="9525" y="1660044"/>
                  </a:moveTo>
                  <a:lnTo>
                    <a:pt x="4762" y="1660044"/>
                  </a:lnTo>
                  <a:lnTo>
                    <a:pt x="9525" y="1664807"/>
                  </a:lnTo>
                  <a:lnTo>
                    <a:pt x="9525" y="1660044"/>
                  </a:lnTo>
                  <a:close/>
                </a:path>
                <a:path w="424814" h="1703070">
                  <a:moveTo>
                    <a:pt x="348491" y="1660044"/>
                  </a:moveTo>
                  <a:lnTo>
                    <a:pt x="9525" y="1660044"/>
                  </a:lnTo>
                  <a:lnTo>
                    <a:pt x="9525" y="1664807"/>
                  </a:lnTo>
                  <a:lnTo>
                    <a:pt x="348491" y="1664807"/>
                  </a:lnTo>
                  <a:lnTo>
                    <a:pt x="348491" y="166004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 rot="20760000">
            <a:off x="7618361" y="4213134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  <p:pic>
        <p:nvPicPr>
          <p:cNvPr id="38" name="object 3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0618" y="1200956"/>
            <a:ext cx="419929" cy="396000"/>
          </a:xfrm>
          <a:prstGeom prst="rect">
            <a:avLst/>
          </a:prstGeom>
        </p:spPr>
      </p:pic>
      <p:graphicFrame>
        <p:nvGraphicFramePr>
          <p:cNvPr id="42" name="object 42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94F9B6C-4E82-AD4D-ABCA-E32263210714}"/>
              </a:ext>
            </a:extLst>
          </p:cNvPr>
          <p:cNvCxnSpPr>
            <a:cxnSpLocks/>
            <a:stCxn id="54" idx="2"/>
            <a:endCxn id="59" idx="1"/>
          </p:cNvCxnSpPr>
          <p:nvPr/>
        </p:nvCxnSpPr>
        <p:spPr>
          <a:xfrm rot="16200000" flipH="1">
            <a:off x="1883525" y="1483764"/>
            <a:ext cx="306124" cy="37048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84431C1-2EC4-2F40-BD3E-A484A06A8F92}"/>
              </a:ext>
            </a:extLst>
          </p:cNvPr>
          <p:cNvGrpSpPr/>
          <p:nvPr/>
        </p:nvGrpSpPr>
        <p:grpSpPr>
          <a:xfrm>
            <a:off x="544833" y="936189"/>
            <a:ext cx="2613025" cy="579755"/>
            <a:chOff x="999635" y="945648"/>
            <a:chExt cx="2613025" cy="579755"/>
          </a:xfrm>
        </p:grpSpPr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BD44F157-FDCE-0E4D-BA44-ACC9B7647922}"/>
                </a:ext>
              </a:extLst>
            </p:cNvPr>
            <p:cNvSpPr/>
            <p:nvPr/>
          </p:nvSpPr>
          <p:spPr>
            <a:xfrm>
              <a:off x="999635" y="945648"/>
              <a:ext cx="2613025" cy="579755"/>
            </a:xfrm>
            <a:prstGeom prst="roundRect">
              <a:avLst/>
            </a:prstGeom>
            <a:solidFill>
              <a:srgbClr val="FFD9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627063" algn="l"/>
              <a:r>
                <a:rPr lang="ru-RU" sz="1600" dirty="0">
                  <a:solidFill>
                    <a:schemeClr val="tx1"/>
                  </a:solidFill>
                </a:rPr>
                <a:t>2. Инфраструктура</a:t>
              </a:r>
              <a:endParaRPr 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46" name="object 43">
              <a:extLst>
                <a:ext uri="{FF2B5EF4-FFF2-40B4-BE49-F238E27FC236}">
                  <a16:creationId xmlns:a16="http://schemas.microsoft.com/office/drawing/2014/main" id="{60D18522-D1F6-D840-9527-07A93E268AC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3000" y="1032988"/>
              <a:ext cx="419929" cy="396000"/>
            </a:xfrm>
            <a:prstGeom prst="rect">
              <a:avLst/>
            </a:prstGeom>
          </p:spPr>
        </p:pic>
      </p:grp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A2EACC4-8269-4A4E-92EF-588D27D491F7}"/>
              </a:ext>
            </a:extLst>
          </p:cNvPr>
          <p:cNvSpPr/>
          <p:nvPr/>
        </p:nvSpPr>
        <p:spPr>
          <a:xfrm>
            <a:off x="2221829" y="162394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Базовые блоки инфраструктуры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0B193A2-1ED0-6741-9942-19D5B6A731E9}"/>
              </a:ext>
            </a:extLst>
          </p:cNvPr>
          <p:cNvSpPr/>
          <p:nvPr/>
        </p:nvSpPr>
        <p:spPr>
          <a:xfrm>
            <a:off x="2221828" y="209511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Облачные провайдеры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12CAD91D-B3AA-164E-855C-0C229080DDAA}"/>
              </a:ext>
            </a:extLst>
          </p:cNvPr>
          <p:cNvSpPr/>
          <p:nvPr/>
        </p:nvSpPr>
        <p:spPr>
          <a:xfrm>
            <a:off x="2221828" y="2566284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Собственная инфраструктура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CB7006EA-78C4-AB4C-902A-1954E5716BEE}"/>
              </a:ext>
            </a:extLst>
          </p:cNvPr>
          <p:cNvSpPr/>
          <p:nvPr/>
        </p:nvSpPr>
        <p:spPr>
          <a:xfrm>
            <a:off x="2221827" y="3037452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Изменения кода </a:t>
            </a:r>
            <a:r>
              <a:rPr lang="en-US" sz="1200" dirty="0">
                <a:solidFill>
                  <a:schemeClr val="tx1"/>
                </a:solidFill>
              </a:rPr>
              <a:t>CI/CD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15B7345-A012-D148-9A98-5A738897261C}"/>
              </a:ext>
            </a:extLst>
          </p:cNvPr>
          <p:cNvSpPr/>
          <p:nvPr/>
        </p:nvSpPr>
        <p:spPr>
          <a:xfrm>
            <a:off x="2234710" y="3508620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 err="1">
                <a:solidFill>
                  <a:schemeClr val="tx1"/>
                </a:solidFill>
              </a:rPr>
              <a:t>Биллинг</a:t>
            </a:r>
            <a:r>
              <a:rPr lang="ru-RU" sz="1200" dirty="0">
                <a:solidFill>
                  <a:schemeClr val="tx1"/>
                </a:solidFill>
              </a:rPr>
              <a:t> и </a:t>
            </a:r>
            <a:r>
              <a:rPr lang="en-US" sz="1200" dirty="0">
                <a:solidFill>
                  <a:schemeClr val="tx1"/>
                </a:solidFill>
              </a:rPr>
              <a:t>Identity and Access Management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8BAA0C98-5166-B54C-87C2-B882CC581C2F}"/>
              </a:ext>
            </a:extLst>
          </p:cNvPr>
          <p:cNvSpPr/>
          <p:nvPr/>
        </p:nvSpPr>
        <p:spPr>
          <a:xfrm>
            <a:off x="2234710" y="445095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200" dirty="0">
                <a:solidFill>
                  <a:schemeClr val="tx1"/>
                </a:solidFill>
              </a:rPr>
              <a:t>Практика. Настройка облачной инфраструктуры</a:t>
            </a:r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01588D1-1EF0-9042-92DF-47D17642781B}"/>
              </a:ext>
            </a:extLst>
          </p:cNvPr>
          <p:cNvSpPr/>
          <p:nvPr/>
        </p:nvSpPr>
        <p:spPr>
          <a:xfrm>
            <a:off x="2234710" y="3979788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200" dirty="0">
                <a:solidFill>
                  <a:schemeClr val="tx1"/>
                </a:solidFill>
              </a:rPr>
              <a:t>Terraform. </a:t>
            </a:r>
            <a:r>
              <a:rPr lang="ru-RU" sz="1200" dirty="0">
                <a:solidFill>
                  <a:schemeClr val="tx1"/>
                </a:solidFill>
              </a:rPr>
              <a:t>Создание инфраструктуры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37ECA220-C612-2F40-B836-244F5DF5B5F1}"/>
              </a:ext>
            </a:extLst>
          </p:cNvPr>
          <p:cNvCxnSpPr>
            <a:cxnSpLocks/>
            <a:stCxn id="54" idx="2"/>
            <a:endCxn id="61" idx="1"/>
          </p:cNvCxnSpPr>
          <p:nvPr/>
        </p:nvCxnSpPr>
        <p:spPr>
          <a:xfrm rot="16200000" flipH="1">
            <a:off x="1647941" y="1719349"/>
            <a:ext cx="777292" cy="37048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3A989974-C113-EC40-878D-3328202C0B91}"/>
              </a:ext>
            </a:extLst>
          </p:cNvPr>
          <p:cNvCxnSpPr>
            <a:cxnSpLocks/>
            <a:stCxn id="54" idx="2"/>
            <a:endCxn id="62" idx="1"/>
          </p:cNvCxnSpPr>
          <p:nvPr/>
        </p:nvCxnSpPr>
        <p:spPr>
          <a:xfrm rot="16200000" flipH="1">
            <a:off x="1412357" y="1954933"/>
            <a:ext cx="1248460" cy="37048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72">
            <a:extLst>
              <a:ext uri="{FF2B5EF4-FFF2-40B4-BE49-F238E27FC236}">
                <a16:creationId xmlns:a16="http://schemas.microsoft.com/office/drawing/2014/main" id="{43EEBA0A-A597-5149-B40C-161641FE8B80}"/>
              </a:ext>
            </a:extLst>
          </p:cNvPr>
          <p:cNvCxnSpPr>
            <a:cxnSpLocks/>
            <a:stCxn id="54" idx="2"/>
            <a:endCxn id="63" idx="1"/>
          </p:cNvCxnSpPr>
          <p:nvPr/>
        </p:nvCxnSpPr>
        <p:spPr>
          <a:xfrm rot="16200000" flipH="1">
            <a:off x="1176772" y="2190517"/>
            <a:ext cx="1719628" cy="37048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B364A592-A8B7-FA46-AF49-1E9094959999}"/>
              </a:ext>
            </a:extLst>
          </p:cNvPr>
          <p:cNvCxnSpPr>
            <a:cxnSpLocks/>
            <a:stCxn id="54" idx="2"/>
            <a:endCxn id="64" idx="1"/>
          </p:cNvCxnSpPr>
          <p:nvPr/>
        </p:nvCxnSpPr>
        <p:spPr>
          <a:xfrm rot="16200000" flipH="1">
            <a:off x="947630" y="2419660"/>
            <a:ext cx="2190796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7654BFA-4207-9843-AD56-DCA7709A0827}"/>
              </a:ext>
            </a:extLst>
          </p:cNvPr>
          <p:cNvCxnSpPr>
            <a:cxnSpLocks/>
            <a:stCxn id="54" idx="2"/>
            <a:endCxn id="66" idx="1"/>
          </p:cNvCxnSpPr>
          <p:nvPr/>
        </p:nvCxnSpPr>
        <p:spPr>
          <a:xfrm rot="16200000" flipH="1">
            <a:off x="712046" y="2655244"/>
            <a:ext cx="2661964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4C105C8-F4A6-C445-AD2A-38C0D6417B0A}"/>
              </a:ext>
            </a:extLst>
          </p:cNvPr>
          <p:cNvCxnSpPr>
            <a:cxnSpLocks/>
            <a:stCxn id="54" idx="2"/>
            <a:endCxn id="65" idx="1"/>
          </p:cNvCxnSpPr>
          <p:nvPr/>
        </p:nvCxnSpPr>
        <p:spPr>
          <a:xfrm rot="16200000" flipH="1">
            <a:off x="476461" y="2890829"/>
            <a:ext cx="3133134" cy="3833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object 4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51917" y="4486010"/>
            <a:ext cx="326135" cy="326136"/>
          </a:xfrm>
          <a:prstGeom prst="rect">
            <a:avLst/>
          </a:prstGeom>
        </p:spPr>
      </p:pic>
      <p:sp>
        <p:nvSpPr>
          <p:cNvPr id="45" name="object 45"/>
          <p:cNvSpPr txBox="1"/>
          <p:nvPr/>
        </p:nvSpPr>
        <p:spPr>
          <a:xfrm rot="20760000">
            <a:off x="7658711" y="4497876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3540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434588"/>
            <a:ext cx="12623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733675" cy="579755"/>
          </a:xfrm>
          <a:custGeom>
            <a:avLst/>
            <a:gdLst/>
            <a:ahLst/>
            <a:cxnLst/>
            <a:rect l="l" t="t" r="r" b="b"/>
            <a:pathLst>
              <a:path w="2733675" h="579755">
                <a:moveTo>
                  <a:pt x="2636935" y="0"/>
                </a:moveTo>
                <a:lnTo>
                  <a:pt x="96550" y="0"/>
                </a:lnTo>
                <a:lnTo>
                  <a:pt x="58968" y="7587"/>
                </a:lnTo>
                <a:lnTo>
                  <a:pt x="28279" y="28279"/>
                </a:lnTo>
                <a:lnTo>
                  <a:pt x="7587" y="58969"/>
                </a:lnTo>
                <a:lnTo>
                  <a:pt x="0" y="96551"/>
                </a:lnTo>
                <a:lnTo>
                  <a:pt x="0" y="482749"/>
                </a:lnTo>
                <a:lnTo>
                  <a:pt x="7587" y="520331"/>
                </a:lnTo>
                <a:lnTo>
                  <a:pt x="28279" y="551021"/>
                </a:lnTo>
                <a:lnTo>
                  <a:pt x="58968" y="571712"/>
                </a:lnTo>
                <a:lnTo>
                  <a:pt x="96550" y="579300"/>
                </a:lnTo>
                <a:lnTo>
                  <a:pt x="2636935" y="579300"/>
                </a:lnTo>
                <a:lnTo>
                  <a:pt x="2674517" y="571712"/>
                </a:lnTo>
                <a:lnTo>
                  <a:pt x="2705207" y="551021"/>
                </a:lnTo>
                <a:lnTo>
                  <a:pt x="2725899" y="520331"/>
                </a:lnTo>
                <a:lnTo>
                  <a:pt x="2733487" y="482749"/>
                </a:lnTo>
                <a:lnTo>
                  <a:pt x="2733487" y="96551"/>
                </a:lnTo>
                <a:lnTo>
                  <a:pt x="2725899" y="58969"/>
                </a:lnTo>
                <a:lnTo>
                  <a:pt x="2705207" y="28279"/>
                </a:lnTo>
                <a:lnTo>
                  <a:pt x="2674517" y="7587"/>
                </a:lnTo>
                <a:lnTo>
                  <a:pt x="263693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92023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27158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Выбор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хранилища.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HDFS/S3/DataBase/etc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3956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1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477516"/>
            <a:ext cx="19577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Сбор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на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потоке.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Kafka</a:t>
            </a:r>
            <a:endParaRPr sz="1200" dirty="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28748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2956051"/>
            <a:ext cx="24371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Сбор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расписанию.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AirFlow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38332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3913123"/>
            <a:ext cx="21088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Обнаружение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сдвигов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62531" y="1683727"/>
            <a:ext cx="364490" cy="2385695"/>
          </a:xfrm>
          <a:custGeom>
            <a:avLst/>
            <a:gdLst/>
            <a:ahLst/>
            <a:cxnLst/>
            <a:rect l="l" t="t" r="r" b="b"/>
            <a:pathLst>
              <a:path w="364489" h="2385695">
                <a:moveTo>
                  <a:pt x="364172" y="1389113"/>
                </a:moveTo>
                <a:lnTo>
                  <a:pt x="354647" y="1384350"/>
                </a:lnTo>
                <a:lnTo>
                  <a:pt x="287972" y="1351013"/>
                </a:lnTo>
                <a:lnTo>
                  <a:pt x="287972" y="1384350"/>
                </a:lnTo>
                <a:lnTo>
                  <a:pt x="9525" y="1384350"/>
                </a:lnTo>
                <a:lnTo>
                  <a:pt x="9525" y="914666"/>
                </a:lnTo>
                <a:lnTo>
                  <a:pt x="283095" y="914666"/>
                </a:lnTo>
                <a:lnTo>
                  <a:pt x="283095" y="948004"/>
                </a:lnTo>
                <a:lnTo>
                  <a:pt x="349770" y="914666"/>
                </a:lnTo>
                <a:lnTo>
                  <a:pt x="359295" y="909904"/>
                </a:lnTo>
                <a:lnTo>
                  <a:pt x="349770" y="905141"/>
                </a:lnTo>
                <a:lnTo>
                  <a:pt x="283095" y="871804"/>
                </a:lnTo>
                <a:lnTo>
                  <a:pt x="283095" y="905141"/>
                </a:lnTo>
                <a:lnTo>
                  <a:pt x="9525" y="905141"/>
                </a:lnTo>
                <a:lnTo>
                  <a:pt x="9525" y="435470"/>
                </a:lnTo>
                <a:lnTo>
                  <a:pt x="283095" y="435470"/>
                </a:lnTo>
                <a:lnTo>
                  <a:pt x="283095" y="468807"/>
                </a:lnTo>
                <a:lnTo>
                  <a:pt x="349770" y="435470"/>
                </a:lnTo>
                <a:lnTo>
                  <a:pt x="359295" y="430707"/>
                </a:lnTo>
                <a:lnTo>
                  <a:pt x="349770" y="425945"/>
                </a:lnTo>
                <a:lnTo>
                  <a:pt x="283095" y="392607"/>
                </a:lnTo>
                <a:lnTo>
                  <a:pt x="283095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350135"/>
                </a:lnTo>
                <a:lnTo>
                  <a:pt x="2120" y="2352268"/>
                </a:lnTo>
                <a:lnTo>
                  <a:pt x="283095" y="2352268"/>
                </a:lnTo>
                <a:lnTo>
                  <a:pt x="283095" y="2385606"/>
                </a:lnTo>
                <a:lnTo>
                  <a:pt x="349770" y="2352268"/>
                </a:lnTo>
                <a:lnTo>
                  <a:pt x="359295" y="2347506"/>
                </a:lnTo>
                <a:lnTo>
                  <a:pt x="349770" y="2342743"/>
                </a:lnTo>
                <a:lnTo>
                  <a:pt x="283095" y="2309406"/>
                </a:lnTo>
                <a:lnTo>
                  <a:pt x="283095" y="2342743"/>
                </a:lnTo>
                <a:lnTo>
                  <a:pt x="9525" y="2342743"/>
                </a:lnTo>
                <a:lnTo>
                  <a:pt x="9525" y="1873072"/>
                </a:lnTo>
                <a:lnTo>
                  <a:pt x="283095" y="1873072"/>
                </a:lnTo>
                <a:lnTo>
                  <a:pt x="283095" y="1906409"/>
                </a:lnTo>
                <a:lnTo>
                  <a:pt x="349770" y="1873072"/>
                </a:lnTo>
                <a:lnTo>
                  <a:pt x="359295" y="1868309"/>
                </a:lnTo>
                <a:lnTo>
                  <a:pt x="349770" y="1863547"/>
                </a:lnTo>
                <a:lnTo>
                  <a:pt x="283095" y="1830209"/>
                </a:lnTo>
                <a:lnTo>
                  <a:pt x="283095" y="1863547"/>
                </a:lnTo>
                <a:lnTo>
                  <a:pt x="9525" y="1863547"/>
                </a:lnTo>
                <a:lnTo>
                  <a:pt x="9525" y="1393875"/>
                </a:lnTo>
                <a:lnTo>
                  <a:pt x="287972" y="1393875"/>
                </a:lnTo>
                <a:lnTo>
                  <a:pt x="287972" y="1427213"/>
                </a:lnTo>
                <a:lnTo>
                  <a:pt x="354647" y="1393875"/>
                </a:lnTo>
                <a:lnTo>
                  <a:pt x="364172" y="138911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62532" y="1683718"/>
            <a:ext cx="359410" cy="2865120"/>
          </a:xfrm>
          <a:custGeom>
            <a:avLst/>
            <a:gdLst/>
            <a:ahLst/>
            <a:cxnLst/>
            <a:rect l="l" t="t" r="r" b="b"/>
            <a:pathLst>
              <a:path w="359410" h="2865120">
                <a:moveTo>
                  <a:pt x="283098" y="2788614"/>
                </a:moveTo>
                <a:lnTo>
                  <a:pt x="283098" y="2864814"/>
                </a:lnTo>
                <a:lnTo>
                  <a:pt x="349773" y="2831476"/>
                </a:lnTo>
                <a:lnTo>
                  <a:pt x="295798" y="2831476"/>
                </a:lnTo>
                <a:lnTo>
                  <a:pt x="295798" y="2821951"/>
                </a:lnTo>
                <a:lnTo>
                  <a:pt x="349773" y="2821951"/>
                </a:lnTo>
                <a:lnTo>
                  <a:pt x="283098" y="2788614"/>
                </a:lnTo>
                <a:close/>
              </a:path>
              <a:path w="359410" h="2865120">
                <a:moveTo>
                  <a:pt x="9525" y="0"/>
                </a:moveTo>
                <a:lnTo>
                  <a:pt x="0" y="0"/>
                </a:lnTo>
                <a:lnTo>
                  <a:pt x="0" y="2829344"/>
                </a:lnTo>
                <a:lnTo>
                  <a:pt x="2132" y="2831476"/>
                </a:lnTo>
                <a:lnTo>
                  <a:pt x="283098" y="2831476"/>
                </a:lnTo>
                <a:lnTo>
                  <a:pt x="283098" y="2826714"/>
                </a:lnTo>
                <a:lnTo>
                  <a:pt x="9525" y="2826714"/>
                </a:lnTo>
                <a:lnTo>
                  <a:pt x="4762" y="2821951"/>
                </a:lnTo>
                <a:lnTo>
                  <a:pt x="9525" y="2821951"/>
                </a:lnTo>
                <a:lnTo>
                  <a:pt x="9525" y="0"/>
                </a:lnTo>
                <a:close/>
              </a:path>
              <a:path w="359410" h="2865120">
                <a:moveTo>
                  <a:pt x="349773" y="2821951"/>
                </a:moveTo>
                <a:lnTo>
                  <a:pt x="295798" y="2821951"/>
                </a:lnTo>
                <a:lnTo>
                  <a:pt x="295798" y="2831476"/>
                </a:lnTo>
                <a:lnTo>
                  <a:pt x="349773" y="2831476"/>
                </a:lnTo>
                <a:lnTo>
                  <a:pt x="359298" y="2826714"/>
                </a:lnTo>
                <a:lnTo>
                  <a:pt x="349773" y="2821951"/>
                </a:lnTo>
                <a:close/>
              </a:path>
              <a:path w="359410" h="2865120">
                <a:moveTo>
                  <a:pt x="9525" y="2821951"/>
                </a:moveTo>
                <a:lnTo>
                  <a:pt x="4762" y="2821951"/>
                </a:lnTo>
                <a:lnTo>
                  <a:pt x="9525" y="2826714"/>
                </a:lnTo>
                <a:lnTo>
                  <a:pt x="9525" y="2821951"/>
                </a:lnTo>
                <a:close/>
              </a:path>
              <a:path w="359410" h="2865120">
                <a:moveTo>
                  <a:pt x="283098" y="2821951"/>
                </a:moveTo>
                <a:lnTo>
                  <a:pt x="9525" y="2821951"/>
                </a:lnTo>
                <a:lnTo>
                  <a:pt x="9525" y="2826714"/>
                </a:lnTo>
                <a:lnTo>
                  <a:pt x="283098" y="2826714"/>
                </a:lnTo>
                <a:lnTo>
                  <a:pt x="283098" y="282195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5" name="object 2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21829" y="4312433"/>
            <a:ext cx="5355965" cy="395999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8454" y="1225104"/>
            <a:ext cx="419929" cy="396000"/>
          </a:xfrm>
          <a:prstGeom prst="rect">
            <a:avLst/>
          </a:prstGeom>
        </p:spPr>
      </p:pic>
      <p:sp>
        <p:nvSpPr>
          <p:cNvPr id="28" name="object 28"/>
          <p:cNvSpPr/>
          <p:nvPr/>
        </p:nvSpPr>
        <p:spPr>
          <a:xfrm>
            <a:off x="4572000" y="4597807"/>
            <a:ext cx="485140" cy="430530"/>
          </a:xfrm>
          <a:custGeom>
            <a:avLst/>
            <a:gdLst/>
            <a:ahLst/>
            <a:cxnLst/>
            <a:rect l="l" t="t" r="r" b="b"/>
            <a:pathLst>
              <a:path w="485139" h="430529">
                <a:moveTo>
                  <a:pt x="363474" y="0"/>
                </a:moveTo>
                <a:lnTo>
                  <a:pt x="242315" y="107484"/>
                </a:lnTo>
                <a:lnTo>
                  <a:pt x="121158" y="0"/>
                </a:lnTo>
                <a:lnTo>
                  <a:pt x="121158" y="214969"/>
                </a:lnTo>
                <a:lnTo>
                  <a:pt x="0" y="214969"/>
                </a:lnTo>
                <a:lnTo>
                  <a:pt x="242315" y="429938"/>
                </a:lnTo>
                <a:lnTo>
                  <a:pt x="484632" y="214969"/>
                </a:lnTo>
                <a:lnTo>
                  <a:pt x="363474" y="214969"/>
                </a:lnTo>
                <a:lnTo>
                  <a:pt x="36347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4572000" y="4597807"/>
            <a:ext cx="485140" cy="430530"/>
          </a:xfrm>
          <a:custGeom>
            <a:avLst/>
            <a:gdLst/>
            <a:ahLst/>
            <a:cxnLst/>
            <a:rect l="l" t="t" r="r" b="b"/>
            <a:pathLst>
              <a:path w="485139" h="430529">
                <a:moveTo>
                  <a:pt x="363474" y="0"/>
                </a:moveTo>
                <a:lnTo>
                  <a:pt x="363474" y="214969"/>
                </a:lnTo>
                <a:lnTo>
                  <a:pt x="484632" y="214969"/>
                </a:lnTo>
                <a:lnTo>
                  <a:pt x="242316" y="429938"/>
                </a:lnTo>
                <a:lnTo>
                  <a:pt x="0" y="214969"/>
                </a:lnTo>
                <a:lnTo>
                  <a:pt x="121158" y="214969"/>
                </a:lnTo>
                <a:lnTo>
                  <a:pt x="121158" y="0"/>
                </a:lnTo>
                <a:lnTo>
                  <a:pt x="242316" y="107484"/>
                </a:lnTo>
                <a:lnTo>
                  <a:pt x="363474" y="0"/>
                </a:lnTo>
                <a:close/>
              </a:path>
            </a:pathLst>
          </a:custGeom>
          <a:ln w="25400">
            <a:solidFill>
              <a:srgbClr val="FFC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0" name="object 40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">
            <a:extLst>
              <a:ext uri="{FF2B5EF4-FFF2-40B4-BE49-F238E27FC236}">
                <a16:creationId xmlns:a16="http://schemas.microsoft.com/office/drawing/2014/main" id="{E0E2C0B5-8B01-1149-8887-9FED632D11A3}"/>
              </a:ext>
            </a:extLst>
          </p:cNvPr>
          <p:cNvSpPr txBox="1"/>
          <p:nvPr/>
        </p:nvSpPr>
        <p:spPr>
          <a:xfrm>
            <a:off x="4183380" y="4339940"/>
            <a:ext cx="126238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200" dirty="0">
                <a:solidFill>
                  <a:srgbClr val="1F1F1F"/>
                </a:solidFill>
                <a:latin typeface="Calibri"/>
                <a:cs typeface="Calibri"/>
              </a:rPr>
              <a:t>…</a:t>
            </a:r>
            <a:endParaRPr sz="1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8756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955796"/>
            <a:ext cx="23158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Использование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Feature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Store: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Feast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733675" cy="579755"/>
          </a:xfrm>
          <a:custGeom>
            <a:avLst/>
            <a:gdLst/>
            <a:ahLst/>
            <a:cxnLst/>
            <a:rect l="l" t="t" r="r" b="b"/>
            <a:pathLst>
              <a:path w="2733675" h="579755">
                <a:moveTo>
                  <a:pt x="2636935" y="0"/>
                </a:moveTo>
                <a:lnTo>
                  <a:pt x="96550" y="0"/>
                </a:lnTo>
                <a:lnTo>
                  <a:pt x="58968" y="7587"/>
                </a:lnTo>
                <a:lnTo>
                  <a:pt x="28279" y="28279"/>
                </a:lnTo>
                <a:lnTo>
                  <a:pt x="7587" y="58969"/>
                </a:lnTo>
                <a:lnTo>
                  <a:pt x="0" y="96551"/>
                </a:lnTo>
                <a:lnTo>
                  <a:pt x="0" y="482749"/>
                </a:lnTo>
                <a:lnTo>
                  <a:pt x="7587" y="520331"/>
                </a:lnTo>
                <a:lnTo>
                  <a:pt x="28279" y="551021"/>
                </a:lnTo>
                <a:lnTo>
                  <a:pt x="58968" y="571712"/>
                </a:lnTo>
                <a:lnTo>
                  <a:pt x="96550" y="579300"/>
                </a:lnTo>
                <a:lnTo>
                  <a:pt x="2636935" y="579300"/>
                </a:lnTo>
                <a:lnTo>
                  <a:pt x="2674517" y="571712"/>
                </a:lnTo>
                <a:lnTo>
                  <a:pt x="2705207" y="551021"/>
                </a:lnTo>
                <a:lnTo>
                  <a:pt x="2725899" y="520331"/>
                </a:lnTo>
                <a:lnTo>
                  <a:pt x="2733487" y="482749"/>
                </a:lnTo>
                <a:lnTo>
                  <a:pt x="2733487" y="96551"/>
                </a:lnTo>
                <a:lnTo>
                  <a:pt x="2725899" y="58969"/>
                </a:lnTo>
                <a:lnTo>
                  <a:pt x="2705207" y="28279"/>
                </a:lnTo>
                <a:lnTo>
                  <a:pt x="2674517" y="7587"/>
                </a:lnTo>
                <a:lnTo>
                  <a:pt x="263693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92023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3.</a:t>
            </a:r>
            <a:r>
              <a:rPr sz="16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24380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2520188"/>
            <a:ext cx="22517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обогащение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9172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998723"/>
            <a:ext cx="15240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Извлечение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признаков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39647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477259"/>
            <a:ext cx="20593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Версионирование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данных.</a:t>
            </a:r>
            <a:r>
              <a:rPr sz="1200" spc="1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DVC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54870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6000"/>
                </a:lnTo>
                <a:lnTo>
                  <a:pt x="5289964" y="396000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37379"/>
            <a:ext cx="26396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Конвейер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подготовки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данных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62531" y="1683727"/>
            <a:ext cx="364490" cy="2907665"/>
          </a:xfrm>
          <a:custGeom>
            <a:avLst/>
            <a:gdLst/>
            <a:ahLst/>
            <a:cxnLst/>
            <a:rect l="l" t="t" r="r" b="b"/>
            <a:pathLst>
              <a:path w="364489" h="2907665">
                <a:moveTo>
                  <a:pt x="364172" y="1910753"/>
                </a:moveTo>
                <a:lnTo>
                  <a:pt x="354647" y="1905990"/>
                </a:lnTo>
                <a:lnTo>
                  <a:pt x="287972" y="1872653"/>
                </a:lnTo>
                <a:lnTo>
                  <a:pt x="287972" y="1905990"/>
                </a:lnTo>
                <a:lnTo>
                  <a:pt x="9525" y="1905990"/>
                </a:lnTo>
                <a:lnTo>
                  <a:pt x="9525" y="1436306"/>
                </a:lnTo>
                <a:lnTo>
                  <a:pt x="283095" y="1436306"/>
                </a:lnTo>
                <a:lnTo>
                  <a:pt x="283095" y="1469644"/>
                </a:lnTo>
                <a:lnTo>
                  <a:pt x="349770" y="1436306"/>
                </a:lnTo>
                <a:lnTo>
                  <a:pt x="359295" y="1431544"/>
                </a:lnTo>
                <a:lnTo>
                  <a:pt x="349770" y="1426781"/>
                </a:lnTo>
                <a:lnTo>
                  <a:pt x="283095" y="1393444"/>
                </a:lnTo>
                <a:lnTo>
                  <a:pt x="283095" y="1426781"/>
                </a:lnTo>
                <a:lnTo>
                  <a:pt x="9525" y="1426781"/>
                </a:lnTo>
                <a:lnTo>
                  <a:pt x="9525" y="957110"/>
                </a:lnTo>
                <a:lnTo>
                  <a:pt x="283095" y="957110"/>
                </a:lnTo>
                <a:lnTo>
                  <a:pt x="283095" y="990447"/>
                </a:lnTo>
                <a:lnTo>
                  <a:pt x="349770" y="957110"/>
                </a:lnTo>
                <a:lnTo>
                  <a:pt x="359295" y="952347"/>
                </a:lnTo>
                <a:lnTo>
                  <a:pt x="349770" y="947585"/>
                </a:lnTo>
                <a:lnTo>
                  <a:pt x="283095" y="914247"/>
                </a:lnTo>
                <a:lnTo>
                  <a:pt x="283095" y="947585"/>
                </a:lnTo>
                <a:lnTo>
                  <a:pt x="9525" y="947585"/>
                </a:lnTo>
                <a:lnTo>
                  <a:pt x="9525" y="0"/>
                </a:lnTo>
                <a:lnTo>
                  <a:pt x="0" y="0"/>
                </a:lnTo>
                <a:lnTo>
                  <a:pt x="0" y="2871774"/>
                </a:lnTo>
                <a:lnTo>
                  <a:pt x="2120" y="2873908"/>
                </a:lnTo>
                <a:lnTo>
                  <a:pt x="283095" y="2873908"/>
                </a:lnTo>
                <a:lnTo>
                  <a:pt x="283095" y="2907246"/>
                </a:lnTo>
                <a:lnTo>
                  <a:pt x="349770" y="2873908"/>
                </a:lnTo>
                <a:lnTo>
                  <a:pt x="359295" y="2869146"/>
                </a:lnTo>
                <a:lnTo>
                  <a:pt x="349770" y="2864383"/>
                </a:lnTo>
                <a:lnTo>
                  <a:pt x="283095" y="2831046"/>
                </a:lnTo>
                <a:lnTo>
                  <a:pt x="283095" y="2864383"/>
                </a:lnTo>
                <a:lnTo>
                  <a:pt x="9525" y="2864383"/>
                </a:lnTo>
                <a:lnTo>
                  <a:pt x="9525" y="2394712"/>
                </a:lnTo>
                <a:lnTo>
                  <a:pt x="283095" y="2394712"/>
                </a:lnTo>
                <a:lnTo>
                  <a:pt x="283095" y="2428049"/>
                </a:lnTo>
                <a:lnTo>
                  <a:pt x="349770" y="2394712"/>
                </a:lnTo>
                <a:lnTo>
                  <a:pt x="359295" y="2389949"/>
                </a:lnTo>
                <a:lnTo>
                  <a:pt x="349770" y="2385187"/>
                </a:lnTo>
                <a:lnTo>
                  <a:pt x="283095" y="2351849"/>
                </a:lnTo>
                <a:lnTo>
                  <a:pt x="283095" y="2385187"/>
                </a:lnTo>
                <a:lnTo>
                  <a:pt x="9525" y="2385187"/>
                </a:lnTo>
                <a:lnTo>
                  <a:pt x="9525" y="1915515"/>
                </a:lnTo>
                <a:lnTo>
                  <a:pt x="287972" y="1915515"/>
                </a:lnTo>
                <a:lnTo>
                  <a:pt x="287972" y="1948853"/>
                </a:lnTo>
                <a:lnTo>
                  <a:pt x="354647" y="1915515"/>
                </a:lnTo>
                <a:lnTo>
                  <a:pt x="364172" y="191075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62532" y="1683718"/>
            <a:ext cx="364490" cy="513080"/>
          </a:xfrm>
          <a:custGeom>
            <a:avLst/>
            <a:gdLst/>
            <a:ahLst/>
            <a:cxnLst/>
            <a:rect l="l" t="t" r="r" b="b"/>
            <a:pathLst>
              <a:path w="364489" h="513080">
                <a:moveTo>
                  <a:pt x="287980" y="436378"/>
                </a:moveTo>
                <a:lnTo>
                  <a:pt x="287980" y="512578"/>
                </a:lnTo>
                <a:lnTo>
                  <a:pt x="354655" y="479240"/>
                </a:lnTo>
                <a:lnTo>
                  <a:pt x="300680" y="479240"/>
                </a:lnTo>
                <a:lnTo>
                  <a:pt x="300680" y="469715"/>
                </a:lnTo>
                <a:lnTo>
                  <a:pt x="354655" y="469715"/>
                </a:lnTo>
                <a:lnTo>
                  <a:pt x="287980" y="436378"/>
                </a:lnTo>
                <a:close/>
              </a:path>
              <a:path w="364489" h="513080">
                <a:moveTo>
                  <a:pt x="9525" y="0"/>
                </a:moveTo>
                <a:lnTo>
                  <a:pt x="0" y="0"/>
                </a:lnTo>
                <a:lnTo>
                  <a:pt x="0" y="477108"/>
                </a:lnTo>
                <a:lnTo>
                  <a:pt x="2132" y="479240"/>
                </a:lnTo>
                <a:lnTo>
                  <a:pt x="287980" y="479240"/>
                </a:lnTo>
                <a:lnTo>
                  <a:pt x="287980" y="474478"/>
                </a:lnTo>
                <a:lnTo>
                  <a:pt x="9525" y="474478"/>
                </a:lnTo>
                <a:lnTo>
                  <a:pt x="4762" y="469715"/>
                </a:lnTo>
                <a:lnTo>
                  <a:pt x="9525" y="469715"/>
                </a:lnTo>
                <a:lnTo>
                  <a:pt x="9525" y="0"/>
                </a:lnTo>
                <a:close/>
              </a:path>
              <a:path w="364489" h="513080">
                <a:moveTo>
                  <a:pt x="354655" y="469715"/>
                </a:moveTo>
                <a:lnTo>
                  <a:pt x="300680" y="469715"/>
                </a:lnTo>
                <a:lnTo>
                  <a:pt x="300680" y="479240"/>
                </a:lnTo>
                <a:lnTo>
                  <a:pt x="354655" y="479240"/>
                </a:lnTo>
                <a:lnTo>
                  <a:pt x="364180" y="474478"/>
                </a:lnTo>
                <a:lnTo>
                  <a:pt x="354655" y="469715"/>
                </a:lnTo>
                <a:close/>
              </a:path>
              <a:path w="364489" h="513080">
                <a:moveTo>
                  <a:pt x="9525" y="469715"/>
                </a:moveTo>
                <a:lnTo>
                  <a:pt x="4762" y="469715"/>
                </a:lnTo>
                <a:lnTo>
                  <a:pt x="9525" y="474478"/>
                </a:lnTo>
                <a:lnTo>
                  <a:pt x="9525" y="469715"/>
                </a:lnTo>
                <a:close/>
              </a:path>
              <a:path w="364489" h="513080">
                <a:moveTo>
                  <a:pt x="287980" y="469715"/>
                </a:moveTo>
                <a:lnTo>
                  <a:pt x="9525" y="469715"/>
                </a:lnTo>
                <a:lnTo>
                  <a:pt x="9525" y="474478"/>
                </a:lnTo>
                <a:lnTo>
                  <a:pt x="287980" y="474478"/>
                </a:lnTo>
                <a:lnTo>
                  <a:pt x="287980" y="4697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26712" y="1960197"/>
            <a:ext cx="5355964" cy="395999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8454" y="1225104"/>
            <a:ext cx="419929" cy="396000"/>
          </a:xfrm>
          <a:prstGeom prst="rect">
            <a:avLst/>
          </a:prstGeom>
        </p:spPr>
      </p:pic>
      <p:graphicFrame>
        <p:nvGraphicFramePr>
          <p:cNvPr id="34" name="object 34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object 3">
            <a:extLst>
              <a:ext uri="{FF2B5EF4-FFF2-40B4-BE49-F238E27FC236}">
                <a16:creationId xmlns:a16="http://schemas.microsoft.com/office/drawing/2014/main" id="{2936E680-7F83-5A40-BD1E-671EAD001491}"/>
              </a:ext>
            </a:extLst>
          </p:cNvPr>
          <p:cNvSpPr txBox="1"/>
          <p:nvPr/>
        </p:nvSpPr>
        <p:spPr>
          <a:xfrm>
            <a:off x="4010982" y="1999308"/>
            <a:ext cx="126238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200" dirty="0">
                <a:solidFill>
                  <a:srgbClr val="1F1F1F"/>
                </a:solidFill>
                <a:latin typeface="Calibri"/>
                <a:cs typeface="Calibri"/>
              </a:rPr>
              <a:t>…</a:t>
            </a:r>
            <a:endParaRPr sz="1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722449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803396"/>
            <a:ext cx="23564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Подбор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гиперпараметров</a:t>
            </a:r>
            <a:r>
              <a:rPr sz="1200" spc="1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AutoML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659889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4.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Моделирование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32238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Воспроизводимость</a:t>
            </a:r>
            <a:r>
              <a:rPr sz="1200" spc="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версионирование.</a:t>
            </a:r>
            <a:r>
              <a:rPr sz="1200" spc="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MLFlow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51843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599435"/>
            <a:ext cx="326644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Перенос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ML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алгоритмов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распределенную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среду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2044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02939"/>
            <a:ext cx="335152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Популярные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фреймворки</a:t>
            </a:r>
            <a:r>
              <a:rPr sz="12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распределенной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среде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2445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06900"/>
            <a:ext cx="24110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Регулярное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переобучение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877185"/>
          </a:xfrm>
          <a:custGeom>
            <a:avLst/>
            <a:gdLst/>
            <a:ahLst/>
            <a:cxnLst/>
            <a:rect l="l" t="t" r="r" b="b"/>
            <a:pathLst>
              <a:path w="424814" h="2877185">
                <a:moveTo>
                  <a:pt x="424688" y="1634718"/>
                </a:moveTo>
                <a:lnTo>
                  <a:pt x="415163" y="1629956"/>
                </a:lnTo>
                <a:lnTo>
                  <a:pt x="348488" y="1596618"/>
                </a:lnTo>
                <a:lnTo>
                  <a:pt x="348488" y="1629956"/>
                </a:lnTo>
                <a:lnTo>
                  <a:pt x="9525" y="1629956"/>
                </a:lnTo>
                <a:lnTo>
                  <a:pt x="9525" y="1037475"/>
                </a:lnTo>
                <a:lnTo>
                  <a:pt x="343611" y="1037475"/>
                </a:lnTo>
                <a:lnTo>
                  <a:pt x="343611" y="1070813"/>
                </a:lnTo>
                <a:lnTo>
                  <a:pt x="410286" y="1037475"/>
                </a:lnTo>
                <a:lnTo>
                  <a:pt x="419811" y="1032713"/>
                </a:lnTo>
                <a:lnTo>
                  <a:pt x="410286" y="1027950"/>
                </a:lnTo>
                <a:lnTo>
                  <a:pt x="343611" y="994613"/>
                </a:lnTo>
                <a:lnTo>
                  <a:pt x="343611" y="1027950"/>
                </a:lnTo>
                <a:lnTo>
                  <a:pt x="9525" y="1027950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841358"/>
                </a:lnTo>
                <a:lnTo>
                  <a:pt x="2133" y="2843492"/>
                </a:lnTo>
                <a:lnTo>
                  <a:pt x="343611" y="2843492"/>
                </a:lnTo>
                <a:lnTo>
                  <a:pt x="343611" y="2876829"/>
                </a:lnTo>
                <a:lnTo>
                  <a:pt x="410286" y="2843492"/>
                </a:lnTo>
                <a:lnTo>
                  <a:pt x="419811" y="2838729"/>
                </a:lnTo>
                <a:lnTo>
                  <a:pt x="410286" y="2833967"/>
                </a:lnTo>
                <a:lnTo>
                  <a:pt x="343611" y="2800629"/>
                </a:lnTo>
                <a:lnTo>
                  <a:pt x="343611" y="2833967"/>
                </a:lnTo>
                <a:lnTo>
                  <a:pt x="9525" y="2833967"/>
                </a:lnTo>
                <a:lnTo>
                  <a:pt x="9525" y="2241486"/>
                </a:lnTo>
                <a:lnTo>
                  <a:pt x="343611" y="2241486"/>
                </a:lnTo>
                <a:lnTo>
                  <a:pt x="343611" y="2274824"/>
                </a:lnTo>
                <a:lnTo>
                  <a:pt x="410286" y="2241486"/>
                </a:lnTo>
                <a:lnTo>
                  <a:pt x="419811" y="2236724"/>
                </a:lnTo>
                <a:lnTo>
                  <a:pt x="410286" y="2231961"/>
                </a:lnTo>
                <a:lnTo>
                  <a:pt x="343611" y="2198624"/>
                </a:lnTo>
                <a:lnTo>
                  <a:pt x="343611" y="2231961"/>
                </a:lnTo>
                <a:lnTo>
                  <a:pt x="9525" y="2231961"/>
                </a:lnTo>
                <a:lnTo>
                  <a:pt x="9525" y="1639481"/>
                </a:lnTo>
                <a:lnTo>
                  <a:pt x="348488" y="1639481"/>
                </a:lnTo>
                <a:lnTo>
                  <a:pt x="348488" y="1672818"/>
                </a:lnTo>
                <a:lnTo>
                  <a:pt x="415163" y="1639481"/>
                </a:lnTo>
                <a:lnTo>
                  <a:pt x="424688" y="16347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4" name="object 3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object 39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722449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803396"/>
            <a:ext cx="11893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A/B-тестирование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17094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5.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20351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Стратегии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валидации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51843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599435"/>
            <a:ext cx="111188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Анализ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3120443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3202939"/>
            <a:ext cx="13989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Интерпретируемость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432445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4406900"/>
            <a:ext cx="24898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Практика.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Автоматическая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валидация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877185"/>
          </a:xfrm>
          <a:custGeom>
            <a:avLst/>
            <a:gdLst/>
            <a:ahLst/>
            <a:cxnLst/>
            <a:rect l="l" t="t" r="r" b="b"/>
            <a:pathLst>
              <a:path w="424814" h="2877185">
                <a:moveTo>
                  <a:pt x="424688" y="1634718"/>
                </a:moveTo>
                <a:lnTo>
                  <a:pt x="415163" y="1629956"/>
                </a:lnTo>
                <a:lnTo>
                  <a:pt x="348488" y="1596618"/>
                </a:lnTo>
                <a:lnTo>
                  <a:pt x="348488" y="1629956"/>
                </a:lnTo>
                <a:lnTo>
                  <a:pt x="9525" y="1629956"/>
                </a:lnTo>
                <a:lnTo>
                  <a:pt x="9525" y="1037475"/>
                </a:lnTo>
                <a:lnTo>
                  <a:pt x="343611" y="1037475"/>
                </a:lnTo>
                <a:lnTo>
                  <a:pt x="343611" y="1070813"/>
                </a:lnTo>
                <a:lnTo>
                  <a:pt x="410286" y="1037475"/>
                </a:lnTo>
                <a:lnTo>
                  <a:pt x="419811" y="1032713"/>
                </a:lnTo>
                <a:lnTo>
                  <a:pt x="410286" y="1027950"/>
                </a:lnTo>
                <a:lnTo>
                  <a:pt x="343611" y="994613"/>
                </a:lnTo>
                <a:lnTo>
                  <a:pt x="343611" y="1027950"/>
                </a:lnTo>
                <a:lnTo>
                  <a:pt x="9525" y="1027950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841358"/>
                </a:lnTo>
                <a:lnTo>
                  <a:pt x="2133" y="2843492"/>
                </a:lnTo>
                <a:lnTo>
                  <a:pt x="343611" y="2843492"/>
                </a:lnTo>
                <a:lnTo>
                  <a:pt x="343611" y="2876829"/>
                </a:lnTo>
                <a:lnTo>
                  <a:pt x="410286" y="2843492"/>
                </a:lnTo>
                <a:lnTo>
                  <a:pt x="419811" y="2838729"/>
                </a:lnTo>
                <a:lnTo>
                  <a:pt x="410286" y="2833967"/>
                </a:lnTo>
                <a:lnTo>
                  <a:pt x="343611" y="2800629"/>
                </a:lnTo>
                <a:lnTo>
                  <a:pt x="343611" y="2833967"/>
                </a:lnTo>
                <a:lnTo>
                  <a:pt x="9525" y="2833967"/>
                </a:lnTo>
                <a:lnTo>
                  <a:pt x="9525" y="2241486"/>
                </a:lnTo>
                <a:lnTo>
                  <a:pt x="343611" y="2241486"/>
                </a:lnTo>
                <a:lnTo>
                  <a:pt x="343611" y="2274824"/>
                </a:lnTo>
                <a:lnTo>
                  <a:pt x="410286" y="2241486"/>
                </a:lnTo>
                <a:lnTo>
                  <a:pt x="419811" y="2236724"/>
                </a:lnTo>
                <a:lnTo>
                  <a:pt x="410286" y="2231961"/>
                </a:lnTo>
                <a:lnTo>
                  <a:pt x="343611" y="2198624"/>
                </a:lnTo>
                <a:lnTo>
                  <a:pt x="343611" y="2231961"/>
                </a:lnTo>
                <a:lnTo>
                  <a:pt x="9525" y="2231961"/>
                </a:lnTo>
                <a:lnTo>
                  <a:pt x="9525" y="1639481"/>
                </a:lnTo>
                <a:lnTo>
                  <a:pt x="348488" y="1639481"/>
                </a:lnTo>
                <a:lnTo>
                  <a:pt x="348488" y="1672818"/>
                </a:lnTo>
                <a:lnTo>
                  <a:pt x="415163" y="1639481"/>
                </a:lnTo>
                <a:lnTo>
                  <a:pt x="424688" y="16347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8" name="object 2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graphicFrame>
        <p:nvGraphicFramePr>
          <p:cNvPr id="34" name="object 34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5" name="object 35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221830" y="33540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2390461" y="3434588"/>
            <a:ext cx="15525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Подготовка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артефактов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5" name="object 5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109928" y="1247140"/>
            <a:ext cx="154495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6.</a:t>
            </a:r>
            <a:r>
              <a:rPr sz="1600" spc="-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1832" y="19164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8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0462" y="1998979"/>
            <a:ext cx="16554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Пакетный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режим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работы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1830" y="23956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9"/>
                </a:lnTo>
                <a:lnTo>
                  <a:pt x="5355964" y="66001"/>
                </a:lnTo>
                <a:lnTo>
                  <a:pt x="5350778" y="40311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0461" y="2477516"/>
            <a:ext cx="2141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Асинхронный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потоковый</a:t>
            </a:r>
            <a:r>
              <a:rPr sz="1200" spc="-5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режим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6712" y="287483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5344" y="2956051"/>
            <a:ext cx="12744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Модель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как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сервис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221833" y="383323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390463" y="3913123"/>
            <a:ext cx="136842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Развертывание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1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k8s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802015" y="1683727"/>
            <a:ext cx="424815" cy="2385695"/>
          </a:xfrm>
          <a:custGeom>
            <a:avLst/>
            <a:gdLst/>
            <a:ahLst/>
            <a:cxnLst/>
            <a:rect l="l" t="t" r="r" b="b"/>
            <a:pathLst>
              <a:path w="424814" h="2385695">
                <a:moveTo>
                  <a:pt x="424688" y="1389113"/>
                </a:moveTo>
                <a:lnTo>
                  <a:pt x="415163" y="1384350"/>
                </a:lnTo>
                <a:lnTo>
                  <a:pt x="348488" y="1351013"/>
                </a:lnTo>
                <a:lnTo>
                  <a:pt x="348488" y="1384350"/>
                </a:lnTo>
                <a:lnTo>
                  <a:pt x="9525" y="1384350"/>
                </a:lnTo>
                <a:lnTo>
                  <a:pt x="9525" y="914666"/>
                </a:lnTo>
                <a:lnTo>
                  <a:pt x="343611" y="914666"/>
                </a:lnTo>
                <a:lnTo>
                  <a:pt x="343611" y="948004"/>
                </a:lnTo>
                <a:lnTo>
                  <a:pt x="410286" y="914666"/>
                </a:lnTo>
                <a:lnTo>
                  <a:pt x="419811" y="909904"/>
                </a:lnTo>
                <a:lnTo>
                  <a:pt x="410286" y="905141"/>
                </a:lnTo>
                <a:lnTo>
                  <a:pt x="343611" y="871804"/>
                </a:lnTo>
                <a:lnTo>
                  <a:pt x="343611" y="905141"/>
                </a:lnTo>
                <a:lnTo>
                  <a:pt x="9525" y="905141"/>
                </a:lnTo>
                <a:lnTo>
                  <a:pt x="9525" y="435470"/>
                </a:lnTo>
                <a:lnTo>
                  <a:pt x="343611" y="435470"/>
                </a:lnTo>
                <a:lnTo>
                  <a:pt x="343611" y="468807"/>
                </a:lnTo>
                <a:lnTo>
                  <a:pt x="410286" y="435470"/>
                </a:lnTo>
                <a:lnTo>
                  <a:pt x="419811" y="430707"/>
                </a:lnTo>
                <a:lnTo>
                  <a:pt x="410286" y="425945"/>
                </a:lnTo>
                <a:lnTo>
                  <a:pt x="343611" y="392607"/>
                </a:lnTo>
                <a:lnTo>
                  <a:pt x="343611" y="425945"/>
                </a:lnTo>
                <a:lnTo>
                  <a:pt x="9525" y="425945"/>
                </a:lnTo>
                <a:lnTo>
                  <a:pt x="9525" y="0"/>
                </a:lnTo>
                <a:lnTo>
                  <a:pt x="0" y="0"/>
                </a:lnTo>
                <a:lnTo>
                  <a:pt x="0" y="2350135"/>
                </a:lnTo>
                <a:lnTo>
                  <a:pt x="2133" y="2352268"/>
                </a:lnTo>
                <a:lnTo>
                  <a:pt x="343611" y="2352268"/>
                </a:lnTo>
                <a:lnTo>
                  <a:pt x="343611" y="2385606"/>
                </a:lnTo>
                <a:lnTo>
                  <a:pt x="410286" y="2352268"/>
                </a:lnTo>
                <a:lnTo>
                  <a:pt x="419811" y="2347506"/>
                </a:lnTo>
                <a:lnTo>
                  <a:pt x="410286" y="2342743"/>
                </a:lnTo>
                <a:lnTo>
                  <a:pt x="343611" y="2309406"/>
                </a:lnTo>
                <a:lnTo>
                  <a:pt x="343611" y="2342743"/>
                </a:lnTo>
                <a:lnTo>
                  <a:pt x="9525" y="2342743"/>
                </a:lnTo>
                <a:lnTo>
                  <a:pt x="9525" y="1873072"/>
                </a:lnTo>
                <a:lnTo>
                  <a:pt x="343611" y="1873072"/>
                </a:lnTo>
                <a:lnTo>
                  <a:pt x="343611" y="1906409"/>
                </a:lnTo>
                <a:lnTo>
                  <a:pt x="410286" y="1873072"/>
                </a:lnTo>
                <a:lnTo>
                  <a:pt x="419811" y="1868309"/>
                </a:lnTo>
                <a:lnTo>
                  <a:pt x="410286" y="1863547"/>
                </a:lnTo>
                <a:lnTo>
                  <a:pt x="343611" y="1830209"/>
                </a:lnTo>
                <a:lnTo>
                  <a:pt x="343611" y="1863547"/>
                </a:lnTo>
                <a:lnTo>
                  <a:pt x="9525" y="1863547"/>
                </a:lnTo>
                <a:lnTo>
                  <a:pt x="9525" y="1393875"/>
                </a:lnTo>
                <a:lnTo>
                  <a:pt x="348488" y="1393875"/>
                </a:lnTo>
                <a:lnTo>
                  <a:pt x="348488" y="1427213"/>
                </a:lnTo>
                <a:lnTo>
                  <a:pt x="415163" y="1393875"/>
                </a:lnTo>
                <a:lnTo>
                  <a:pt x="424688" y="138911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02019" y="2193324"/>
            <a:ext cx="420370" cy="2355215"/>
          </a:xfrm>
          <a:custGeom>
            <a:avLst/>
            <a:gdLst/>
            <a:ahLst/>
            <a:cxnLst/>
            <a:rect l="l" t="t" r="r" b="b"/>
            <a:pathLst>
              <a:path w="420369" h="2355215">
                <a:moveTo>
                  <a:pt x="343609" y="2279009"/>
                </a:moveTo>
                <a:lnTo>
                  <a:pt x="343609" y="2355209"/>
                </a:lnTo>
                <a:lnTo>
                  <a:pt x="410284" y="2321872"/>
                </a:lnTo>
                <a:lnTo>
                  <a:pt x="356309" y="2321872"/>
                </a:lnTo>
                <a:lnTo>
                  <a:pt x="356309" y="2312347"/>
                </a:lnTo>
                <a:lnTo>
                  <a:pt x="410284" y="2312347"/>
                </a:lnTo>
                <a:lnTo>
                  <a:pt x="343609" y="2279009"/>
                </a:lnTo>
                <a:close/>
              </a:path>
              <a:path w="420369" h="2355215">
                <a:moveTo>
                  <a:pt x="9525" y="0"/>
                </a:moveTo>
                <a:lnTo>
                  <a:pt x="0" y="0"/>
                </a:lnTo>
                <a:lnTo>
                  <a:pt x="0" y="2319739"/>
                </a:lnTo>
                <a:lnTo>
                  <a:pt x="2132" y="2321872"/>
                </a:lnTo>
                <a:lnTo>
                  <a:pt x="343609" y="2321872"/>
                </a:lnTo>
                <a:lnTo>
                  <a:pt x="343609" y="2317109"/>
                </a:lnTo>
                <a:lnTo>
                  <a:pt x="9525" y="2317109"/>
                </a:lnTo>
                <a:lnTo>
                  <a:pt x="4762" y="2312347"/>
                </a:lnTo>
                <a:lnTo>
                  <a:pt x="9525" y="2312347"/>
                </a:lnTo>
                <a:lnTo>
                  <a:pt x="9525" y="0"/>
                </a:lnTo>
                <a:close/>
              </a:path>
              <a:path w="420369" h="2355215">
                <a:moveTo>
                  <a:pt x="410284" y="2312347"/>
                </a:moveTo>
                <a:lnTo>
                  <a:pt x="356309" y="2312347"/>
                </a:lnTo>
                <a:lnTo>
                  <a:pt x="356309" y="2321872"/>
                </a:lnTo>
                <a:lnTo>
                  <a:pt x="410284" y="2321872"/>
                </a:lnTo>
                <a:lnTo>
                  <a:pt x="419809" y="2317109"/>
                </a:lnTo>
                <a:lnTo>
                  <a:pt x="410284" y="2312347"/>
                </a:lnTo>
                <a:close/>
              </a:path>
              <a:path w="420369" h="2355215">
                <a:moveTo>
                  <a:pt x="9525" y="2312347"/>
                </a:moveTo>
                <a:lnTo>
                  <a:pt x="4762" y="2312347"/>
                </a:lnTo>
                <a:lnTo>
                  <a:pt x="9525" y="2317109"/>
                </a:lnTo>
                <a:lnTo>
                  <a:pt x="9525" y="2312347"/>
                </a:lnTo>
                <a:close/>
              </a:path>
              <a:path w="420369" h="2355215">
                <a:moveTo>
                  <a:pt x="343609" y="2312347"/>
                </a:moveTo>
                <a:lnTo>
                  <a:pt x="9525" y="2312347"/>
                </a:lnTo>
                <a:lnTo>
                  <a:pt x="9525" y="2317109"/>
                </a:lnTo>
                <a:lnTo>
                  <a:pt x="343609" y="2317109"/>
                </a:lnTo>
                <a:lnTo>
                  <a:pt x="343609" y="231234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221829" y="431243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5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5" y="395999"/>
                </a:lnTo>
                <a:lnTo>
                  <a:pt x="5315655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5" y="5186"/>
                </a:lnTo>
                <a:lnTo>
                  <a:pt x="5289965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8" name="object 38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" name="object 39"/>
          <p:cNvSpPr txBox="1"/>
          <p:nvPr/>
        </p:nvSpPr>
        <p:spPr>
          <a:xfrm>
            <a:off x="2390461" y="4394708"/>
            <a:ext cx="145415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Обновление</a:t>
            </a:r>
            <a:r>
              <a:rPr sz="1200" spc="-6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моделей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3" name="object 4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11567" y="4361687"/>
            <a:ext cx="326135" cy="326136"/>
          </a:xfrm>
          <a:prstGeom prst="rect">
            <a:avLst/>
          </a:prstGeom>
        </p:spPr>
      </p:pic>
      <p:sp>
        <p:nvSpPr>
          <p:cNvPr id="46" name="object 46"/>
          <p:cNvSpPr txBox="1"/>
          <p:nvPr/>
        </p:nvSpPr>
        <p:spPr>
          <a:xfrm rot="20760000">
            <a:off x="7618361" y="4359438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3" name="object 3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109928" y="1247140"/>
            <a:ext cx="130556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7.</a:t>
            </a:r>
            <a:r>
              <a:rPr sz="16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Мониторинг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226712" y="2093042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395344" y="2172716"/>
            <a:ext cx="24333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Инструменты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метрики.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 Prometheus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615406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8"/>
                </a:lnTo>
                <a:lnTo>
                  <a:pt x="5355965" y="329998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696972"/>
            <a:ext cx="33699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Поиск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отклонений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сдвигов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данных/MLOps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k8s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3137768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3218179"/>
            <a:ext cx="186308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Построение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обратной</a:t>
            </a:r>
            <a:r>
              <a:rPr sz="1200" spc="-5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петли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221833" y="3679264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0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8"/>
                </a:lnTo>
                <a:lnTo>
                  <a:pt x="5186" y="355689"/>
                </a:lnTo>
                <a:lnTo>
                  <a:pt x="19330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3" y="376668"/>
                </a:lnTo>
                <a:lnTo>
                  <a:pt x="5350778" y="355689"/>
                </a:lnTo>
                <a:lnTo>
                  <a:pt x="5355964" y="329998"/>
                </a:lnTo>
                <a:lnTo>
                  <a:pt x="5355964" y="66000"/>
                </a:lnTo>
                <a:lnTo>
                  <a:pt x="5350778" y="40310"/>
                </a:lnTo>
                <a:lnTo>
                  <a:pt x="5336633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390463" y="3760723"/>
            <a:ext cx="6229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Алертинг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802015" y="1683727"/>
            <a:ext cx="424815" cy="2232025"/>
          </a:xfrm>
          <a:custGeom>
            <a:avLst/>
            <a:gdLst/>
            <a:ahLst/>
            <a:cxnLst/>
            <a:rect l="l" t="t" r="r" b="b"/>
            <a:pathLst>
              <a:path w="424814" h="2232025">
                <a:moveTo>
                  <a:pt x="424688" y="607314"/>
                </a:moveTo>
                <a:lnTo>
                  <a:pt x="415163" y="602551"/>
                </a:lnTo>
                <a:lnTo>
                  <a:pt x="348488" y="569214"/>
                </a:lnTo>
                <a:lnTo>
                  <a:pt x="348488" y="602551"/>
                </a:lnTo>
                <a:lnTo>
                  <a:pt x="9525" y="602551"/>
                </a:lnTo>
                <a:lnTo>
                  <a:pt x="9525" y="0"/>
                </a:lnTo>
                <a:lnTo>
                  <a:pt x="0" y="0"/>
                </a:lnTo>
                <a:lnTo>
                  <a:pt x="0" y="609955"/>
                </a:lnTo>
                <a:lnTo>
                  <a:pt x="0" y="1132319"/>
                </a:lnTo>
                <a:lnTo>
                  <a:pt x="0" y="1654670"/>
                </a:lnTo>
                <a:lnTo>
                  <a:pt x="0" y="2196173"/>
                </a:lnTo>
                <a:lnTo>
                  <a:pt x="2133" y="2198306"/>
                </a:lnTo>
                <a:lnTo>
                  <a:pt x="343611" y="2198306"/>
                </a:lnTo>
                <a:lnTo>
                  <a:pt x="343611" y="2231644"/>
                </a:lnTo>
                <a:lnTo>
                  <a:pt x="410286" y="2198306"/>
                </a:lnTo>
                <a:lnTo>
                  <a:pt x="419811" y="2193544"/>
                </a:lnTo>
                <a:lnTo>
                  <a:pt x="410286" y="2188781"/>
                </a:lnTo>
                <a:lnTo>
                  <a:pt x="343611" y="2155444"/>
                </a:lnTo>
                <a:lnTo>
                  <a:pt x="343611" y="2188781"/>
                </a:lnTo>
                <a:lnTo>
                  <a:pt x="9525" y="2188781"/>
                </a:lnTo>
                <a:lnTo>
                  <a:pt x="9525" y="1656803"/>
                </a:lnTo>
                <a:lnTo>
                  <a:pt x="348488" y="1656803"/>
                </a:lnTo>
                <a:lnTo>
                  <a:pt x="348488" y="1690141"/>
                </a:lnTo>
                <a:lnTo>
                  <a:pt x="415163" y="1656803"/>
                </a:lnTo>
                <a:lnTo>
                  <a:pt x="424688" y="1652041"/>
                </a:lnTo>
                <a:lnTo>
                  <a:pt x="415163" y="1647278"/>
                </a:lnTo>
                <a:lnTo>
                  <a:pt x="348488" y="1613941"/>
                </a:lnTo>
                <a:lnTo>
                  <a:pt x="348488" y="1647278"/>
                </a:lnTo>
                <a:lnTo>
                  <a:pt x="9525" y="1647278"/>
                </a:lnTo>
                <a:lnTo>
                  <a:pt x="9525" y="1134440"/>
                </a:lnTo>
                <a:lnTo>
                  <a:pt x="348488" y="1134440"/>
                </a:lnTo>
                <a:lnTo>
                  <a:pt x="348488" y="1167777"/>
                </a:lnTo>
                <a:lnTo>
                  <a:pt x="415163" y="1134440"/>
                </a:lnTo>
                <a:lnTo>
                  <a:pt x="424688" y="1129677"/>
                </a:lnTo>
                <a:lnTo>
                  <a:pt x="415163" y="1124915"/>
                </a:lnTo>
                <a:lnTo>
                  <a:pt x="348488" y="1091577"/>
                </a:lnTo>
                <a:lnTo>
                  <a:pt x="348488" y="1124915"/>
                </a:lnTo>
                <a:lnTo>
                  <a:pt x="9525" y="1124915"/>
                </a:lnTo>
                <a:lnTo>
                  <a:pt x="9525" y="612076"/>
                </a:lnTo>
                <a:lnTo>
                  <a:pt x="348488" y="612076"/>
                </a:lnTo>
                <a:lnTo>
                  <a:pt x="348488" y="645414"/>
                </a:lnTo>
                <a:lnTo>
                  <a:pt x="415163" y="612076"/>
                </a:lnTo>
                <a:lnTo>
                  <a:pt x="424688" y="60731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05472" y="3712463"/>
            <a:ext cx="326135" cy="329184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 rot="20760000">
            <a:off x="7612225" y="3713262"/>
            <a:ext cx="826437" cy="177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400"/>
              </a:lnSpc>
            </a:pPr>
            <a:r>
              <a:rPr sz="1400" i="1" spc="-65" dirty="0">
                <a:latin typeface="Georgia"/>
                <a:cs typeface="Georgia"/>
              </a:rPr>
              <a:t>HomeTask</a:t>
            </a:r>
            <a:endParaRPr sz="1400">
              <a:latin typeface="Georgia"/>
              <a:cs typeface="Georgi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00550" y="1104418"/>
            <a:ext cx="2613025" cy="579755"/>
          </a:xfrm>
          <a:custGeom>
            <a:avLst/>
            <a:gdLst/>
            <a:ahLst/>
            <a:cxnLst/>
            <a:rect l="l" t="t" r="r" b="b"/>
            <a:pathLst>
              <a:path w="2613025" h="579755">
                <a:moveTo>
                  <a:pt x="2515913" y="0"/>
                </a:moveTo>
                <a:lnTo>
                  <a:pt x="96553" y="0"/>
                </a:lnTo>
                <a:lnTo>
                  <a:pt x="58970" y="7587"/>
                </a:lnTo>
                <a:lnTo>
                  <a:pt x="28279" y="28279"/>
                </a:lnTo>
                <a:lnTo>
                  <a:pt x="7587" y="58970"/>
                </a:lnTo>
                <a:lnTo>
                  <a:pt x="0" y="96553"/>
                </a:lnTo>
                <a:lnTo>
                  <a:pt x="0" y="482747"/>
                </a:lnTo>
                <a:lnTo>
                  <a:pt x="7587" y="520330"/>
                </a:lnTo>
                <a:lnTo>
                  <a:pt x="28279" y="551020"/>
                </a:lnTo>
                <a:lnTo>
                  <a:pt x="58970" y="571712"/>
                </a:lnTo>
                <a:lnTo>
                  <a:pt x="96553" y="579300"/>
                </a:lnTo>
                <a:lnTo>
                  <a:pt x="2515913" y="579300"/>
                </a:lnTo>
                <a:lnTo>
                  <a:pt x="2553496" y="571712"/>
                </a:lnTo>
                <a:lnTo>
                  <a:pt x="2584186" y="551020"/>
                </a:lnTo>
                <a:lnTo>
                  <a:pt x="2604878" y="520330"/>
                </a:lnTo>
                <a:lnTo>
                  <a:pt x="2612466" y="482747"/>
                </a:lnTo>
                <a:lnTo>
                  <a:pt x="2612466" y="96553"/>
                </a:lnTo>
                <a:lnTo>
                  <a:pt x="2604878" y="58970"/>
                </a:lnTo>
                <a:lnTo>
                  <a:pt x="2584186" y="28279"/>
                </a:lnTo>
                <a:lnTo>
                  <a:pt x="2553496" y="7587"/>
                </a:lnTo>
                <a:lnTo>
                  <a:pt x="2515913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Программа</a:t>
            </a:r>
            <a:r>
              <a:rPr spc="-180" dirty="0"/>
              <a:t> </a:t>
            </a:r>
            <a:r>
              <a:rPr spc="-10" dirty="0"/>
              <a:t>модуля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09928" y="1247140"/>
            <a:ext cx="168402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8.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F1F1F"/>
                </a:solidFill>
                <a:latin typeface="Calibri"/>
                <a:cs typeface="Calibri"/>
              </a:rPr>
              <a:t>Курсовой</a:t>
            </a:r>
            <a:r>
              <a:rPr sz="16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solidFill>
                  <a:srgbClr val="1F1F1F"/>
                </a:solidFill>
                <a:latin typeface="Calibri"/>
                <a:cs typeface="Calibri"/>
              </a:rPr>
              <a:t>проект</a:t>
            </a:r>
            <a:endParaRPr sz="16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226712" y="1878247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1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1"/>
                </a:lnTo>
                <a:lnTo>
                  <a:pt x="5350779" y="40311"/>
                </a:lnTo>
                <a:lnTo>
                  <a:pt x="5336634" y="19331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395344" y="1959355"/>
            <a:ext cx="30391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Выбор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темы</a:t>
            </a:r>
            <a:r>
              <a:rPr sz="1200" spc="-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организация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проектной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работы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26712" y="2400611"/>
            <a:ext cx="5356225" cy="396240"/>
          </a:xfrm>
          <a:custGeom>
            <a:avLst/>
            <a:gdLst/>
            <a:ahLst/>
            <a:cxnLst/>
            <a:rect l="l" t="t" r="r" b="b"/>
            <a:pathLst>
              <a:path w="5356225" h="396239">
                <a:moveTo>
                  <a:pt x="5289964" y="0"/>
                </a:moveTo>
                <a:lnTo>
                  <a:pt x="66000" y="0"/>
                </a:lnTo>
                <a:lnTo>
                  <a:pt x="40310" y="5186"/>
                </a:lnTo>
                <a:lnTo>
                  <a:pt x="19331" y="19330"/>
                </a:lnTo>
                <a:lnTo>
                  <a:pt x="5186" y="40310"/>
                </a:lnTo>
                <a:lnTo>
                  <a:pt x="0" y="66000"/>
                </a:lnTo>
                <a:lnTo>
                  <a:pt x="0" y="329999"/>
                </a:lnTo>
                <a:lnTo>
                  <a:pt x="5186" y="355689"/>
                </a:lnTo>
                <a:lnTo>
                  <a:pt x="19331" y="376668"/>
                </a:lnTo>
                <a:lnTo>
                  <a:pt x="40310" y="390813"/>
                </a:lnTo>
                <a:lnTo>
                  <a:pt x="66000" y="395999"/>
                </a:lnTo>
                <a:lnTo>
                  <a:pt x="5289964" y="395999"/>
                </a:lnTo>
                <a:lnTo>
                  <a:pt x="5315654" y="390813"/>
                </a:lnTo>
                <a:lnTo>
                  <a:pt x="5336634" y="376668"/>
                </a:lnTo>
                <a:lnTo>
                  <a:pt x="5350779" y="355689"/>
                </a:lnTo>
                <a:lnTo>
                  <a:pt x="5355965" y="329999"/>
                </a:lnTo>
                <a:lnTo>
                  <a:pt x="5355965" y="66000"/>
                </a:lnTo>
                <a:lnTo>
                  <a:pt x="5350779" y="40310"/>
                </a:lnTo>
                <a:lnTo>
                  <a:pt x="5336634" y="19330"/>
                </a:lnTo>
                <a:lnTo>
                  <a:pt x="5315654" y="5186"/>
                </a:lnTo>
                <a:lnTo>
                  <a:pt x="5289964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395344" y="2480564"/>
            <a:ext cx="332041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Консультация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по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проектам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и</a:t>
            </a:r>
            <a:r>
              <a:rPr sz="1200" spc="-3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домашним</a:t>
            </a:r>
            <a:r>
              <a:rPr sz="1200" spc="-3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1F1F1F"/>
                </a:solidFill>
                <a:latin typeface="Calibri"/>
                <a:cs typeface="Calibri"/>
              </a:rPr>
              <a:t>заданиям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226712" y="2922973"/>
            <a:ext cx="3051175" cy="396240"/>
          </a:xfrm>
          <a:custGeom>
            <a:avLst/>
            <a:gdLst/>
            <a:ahLst/>
            <a:cxnLst/>
            <a:rect l="l" t="t" r="r" b="b"/>
            <a:pathLst>
              <a:path w="3051175" h="396239">
                <a:moveTo>
                  <a:pt x="2985029" y="0"/>
                </a:moveTo>
                <a:lnTo>
                  <a:pt x="66003" y="0"/>
                </a:lnTo>
                <a:lnTo>
                  <a:pt x="40311" y="5186"/>
                </a:lnTo>
                <a:lnTo>
                  <a:pt x="19331" y="19331"/>
                </a:lnTo>
                <a:lnTo>
                  <a:pt x="5186" y="40311"/>
                </a:lnTo>
                <a:lnTo>
                  <a:pt x="0" y="66003"/>
                </a:lnTo>
                <a:lnTo>
                  <a:pt x="0" y="329998"/>
                </a:lnTo>
                <a:lnTo>
                  <a:pt x="5186" y="355688"/>
                </a:lnTo>
                <a:lnTo>
                  <a:pt x="19331" y="376668"/>
                </a:lnTo>
                <a:lnTo>
                  <a:pt x="40311" y="390813"/>
                </a:lnTo>
                <a:lnTo>
                  <a:pt x="66003" y="395999"/>
                </a:lnTo>
                <a:lnTo>
                  <a:pt x="2985029" y="395999"/>
                </a:lnTo>
                <a:lnTo>
                  <a:pt x="3010721" y="390813"/>
                </a:lnTo>
                <a:lnTo>
                  <a:pt x="3031700" y="376668"/>
                </a:lnTo>
                <a:lnTo>
                  <a:pt x="3045845" y="355688"/>
                </a:lnTo>
                <a:lnTo>
                  <a:pt x="3051032" y="329998"/>
                </a:lnTo>
                <a:lnTo>
                  <a:pt x="3051032" y="66003"/>
                </a:lnTo>
                <a:lnTo>
                  <a:pt x="3045845" y="40311"/>
                </a:lnTo>
                <a:lnTo>
                  <a:pt x="3031700" y="19331"/>
                </a:lnTo>
                <a:lnTo>
                  <a:pt x="3010721" y="5186"/>
                </a:lnTo>
                <a:lnTo>
                  <a:pt x="2985029" y="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395344" y="3004820"/>
            <a:ext cx="16376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Защита</a:t>
            </a:r>
            <a:r>
              <a:rPr sz="1200" spc="-4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1F1F1F"/>
                </a:solidFill>
                <a:latin typeface="Calibri"/>
                <a:cs typeface="Calibri"/>
              </a:rPr>
              <a:t>проектных</a:t>
            </a:r>
            <a:r>
              <a:rPr sz="1200" spc="-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1F1F1F"/>
                </a:solidFill>
                <a:latin typeface="Calibri"/>
                <a:cs typeface="Calibri"/>
              </a:rPr>
              <a:t>работ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802015" y="1683727"/>
            <a:ext cx="424815" cy="1475740"/>
          </a:xfrm>
          <a:custGeom>
            <a:avLst/>
            <a:gdLst/>
            <a:ahLst/>
            <a:cxnLst/>
            <a:rect l="l" t="t" r="r" b="b"/>
            <a:pathLst>
              <a:path w="424814" h="1475739">
                <a:moveTo>
                  <a:pt x="424688" y="392518"/>
                </a:moveTo>
                <a:lnTo>
                  <a:pt x="415163" y="387756"/>
                </a:lnTo>
                <a:lnTo>
                  <a:pt x="348488" y="354418"/>
                </a:lnTo>
                <a:lnTo>
                  <a:pt x="348488" y="387756"/>
                </a:lnTo>
                <a:lnTo>
                  <a:pt x="9525" y="387756"/>
                </a:lnTo>
                <a:lnTo>
                  <a:pt x="9525" y="0"/>
                </a:lnTo>
                <a:lnTo>
                  <a:pt x="0" y="0"/>
                </a:lnTo>
                <a:lnTo>
                  <a:pt x="0" y="395160"/>
                </a:lnTo>
                <a:lnTo>
                  <a:pt x="0" y="917524"/>
                </a:lnTo>
                <a:lnTo>
                  <a:pt x="0" y="1439875"/>
                </a:lnTo>
                <a:lnTo>
                  <a:pt x="2133" y="1442008"/>
                </a:lnTo>
                <a:lnTo>
                  <a:pt x="348488" y="1442008"/>
                </a:lnTo>
                <a:lnTo>
                  <a:pt x="348488" y="1475346"/>
                </a:lnTo>
                <a:lnTo>
                  <a:pt x="415163" y="1442008"/>
                </a:lnTo>
                <a:lnTo>
                  <a:pt x="424688" y="1437246"/>
                </a:lnTo>
                <a:lnTo>
                  <a:pt x="415163" y="1432483"/>
                </a:lnTo>
                <a:lnTo>
                  <a:pt x="348488" y="1399146"/>
                </a:lnTo>
                <a:lnTo>
                  <a:pt x="348488" y="1432483"/>
                </a:lnTo>
                <a:lnTo>
                  <a:pt x="9525" y="1432483"/>
                </a:lnTo>
                <a:lnTo>
                  <a:pt x="9525" y="919645"/>
                </a:lnTo>
                <a:lnTo>
                  <a:pt x="348488" y="919645"/>
                </a:lnTo>
                <a:lnTo>
                  <a:pt x="348488" y="952982"/>
                </a:lnTo>
                <a:lnTo>
                  <a:pt x="415163" y="919645"/>
                </a:lnTo>
                <a:lnTo>
                  <a:pt x="424688" y="914882"/>
                </a:lnTo>
                <a:lnTo>
                  <a:pt x="415163" y="910120"/>
                </a:lnTo>
                <a:lnTo>
                  <a:pt x="348488" y="876782"/>
                </a:lnTo>
                <a:lnTo>
                  <a:pt x="348488" y="910120"/>
                </a:lnTo>
                <a:lnTo>
                  <a:pt x="9525" y="910120"/>
                </a:lnTo>
                <a:lnTo>
                  <a:pt x="9525" y="397281"/>
                </a:lnTo>
                <a:lnTo>
                  <a:pt x="348488" y="397281"/>
                </a:lnTo>
                <a:lnTo>
                  <a:pt x="348488" y="430618"/>
                </a:lnTo>
                <a:lnTo>
                  <a:pt x="415163" y="397281"/>
                </a:lnTo>
                <a:lnTo>
                  <a:pt x="424688" y="39251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002" y="1223450"/>
            <a:ext cx="419929" cy="3960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52549" y="1264075"/>
            <a:ext cx="3427095" cy="779145"/>
          </a:xfrm>
          <a:custGeom>
            <a:avLst/>
            <a:gdLst/>
            <a:ahLst/>
            <a:cxnLst/>
            <a:rect l="l" t="t" r="r" b="b"/>
            <a:pathLst>
              <a:path w="3427095" h="779144">
                <a:moveTo>
                  <a:pt x="3426900" y="0"/>
                </a:moveTo>
                <a:lnTo>
                  <a:pt x="0" y="0"/>
                </a:lnTo>
                <a:lnTo>
                  <a:pt x="0" y="779099"/>
                </a:lnTo>
                <a:lnTo>
                  <a:pt x="3426900" y="779099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052549" y="2237574"/>
            <a:ext cx="3427095" cy="993775"/>
          </a:xfrm>
          <a:custGeom>
            <a:avLst/>
            <a:gdLst/>
            <a:ahLst/>
            <a:cxnLst/>
            <a:rect l="l" t="t" r="r" b="b"/>
            <a:pathLst>
              <a:path w="3427095" h="993775">
                <a:moveTo>
                  <a:pt x="3426900" y="0"/>
                </a:moveTo>
                <a:lnTo>
                  <a:pt x="0" y="0"/>
                </a:lnTo>
                <a:lnTo>
                  <a:pt x="0" y="993300"/>
                </a:lnTo>
                <a:lnTo>
                  <a:pt x="3426900" y="993300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052549" y="3425275"/>
            <a:ext cx="3427095" cy="1136015"/>
          </a:xfrm>
          <a:custGeom>
            <a:avLst/>
            <a:gdLst/>
            <a:ahLst/>
            <a:cxnLst/>
            <a:rect l="l" t="t" r="r" b="b"/>
            <a:pathLst>
              <a:path w="3427095" h="1136014">
                <a:moveTo>
                  <a:pt x="3426900" y="0"/>
                </a:moveTo>
                <a:lnTo>
                  <a:pt x="0" y="0"/>
                </a:lnTo>
                <a:lnTo>
                  <a:pt x="0" y="1135499"/>
                </a:lnTo>
                <a:lnTo>
                  <a:pt x="3426900" y="1135499"/>
                </a:lnTo>
                <a:lnTo>
                  <a:pt x="3426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73549" y="1264075"/>
            <a:ext cx="3418204" cy="1136015"/>
          </a:xfrm>
          <a:custGeom>
            <a:avLst/>
            <a:gdLst/>
            <a:ahLst/>
            <a:cxnLst/>
            <a:rect l="l" t="t" r="r" b="b"/>
            <a:pathLst>
              <a:path w="3418204" h="1136014">
                <a:moveTo>
                  <a:pt x="3417900" y="0"/>
                </a:moveTo>
                <a:lnTo>
                  <a:pt x="0" y="0"/>
                </a:lnTo>
                <a:lnTo>
                  <a:pt x="0" y="1135499"/>
                </a:lnTo>
                <a:lnTo>
                  <a:pt x="3417900" y="1135499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73549" y="2579574"/>
            <a:ext cx="3418204" cy="848360"/>
          </a:xfrm>
          <a:custGeom>
            <a:avLst/>
            <a:gdLst/>
            <a:ahLst/>
            <a:cxnLst/>
            <a:rect l="l" t="t" r="r" b="b"/>
            <a:pathLst>
              <a:path w="3418204" h="848360">
                <a:moveTo>
                  <a:pt x="3417900" y="0"/>
                </a:moveTo>
                <a:lnTo>
                  <a:pt x="0" y="0"/>
                </a:lnTo>
                <a:lnTo>
                  <a:pt x="0" y="848100"/>
                </a:lnTo>
                <a:lnTo>
                  <a:pt x="3417900" y="848100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673549" y="3607675"/>
            <a:ext cx="3418204" cy="951230"/>
          </a:xfrm>
          <a:custGeom>
            <a:avLst/>
            <a:gdLst/>
            <a:ahLst/>
            <a:cxnLst/>
            <a:rect l="l" t="t" r="r" b="b"/>
            <a:pathLst>
              <a:path w="3418204" h="951229">
                <a:moveTo>
                  <a:pt x="3417900" y="0"/>
                </a:moveTo>
                <a:lnTo>
                  <a:pt x="0" y="0"/>
                </a:lnTo>
                <a:lnTo>
                  <a:pt x="0" y="950999"/>
                </a:lnTo>
                <a:lnTo>
                  <a:pt x="3417900" y="950999"/>
                </a:lnTo>
                <a:lnTo>
                  <a:pt x="34179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7488" y="1420367"/>
            <a:ext cx="463295" cy="463296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52549" y="1264075"/>
            <a:ext cx="3427095" cy="77914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283210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Обучение выстроено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формате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вебинаров (онлайн).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Онлайн-вебинары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проводятся</a:t>
            </a:r>
            <a:r>
              <a:rPr sz="900" spc="500" dirty="0">
                <a:latin typeface="Trebuchet MS"/>
                <a:cs typeface="Trebuchet MS"/>
              </a:rPr>
              <a:t>  </a:t>
            </a:r>
            <a:r>
              <a:rPr sz="900" spc="10" dirty="0">
                <a:latin typeface="Trebuchet MS"/>
                <a:cs typeface="Trebuchet MS"/>
              </a:rPr>
              <a:t>по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вечерам</a:t>
            </a:r>
            <a:r>
              <a:rPr sz="900" spc="-2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или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выходные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-25" dirty="0">
                <a:latin typeface="Trebuchet MS"/>
                <a:cs typeface="Trebuchet MS"/>
              </a:rPr>
              <a:t>дни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37488" y="2438400"/>
            <a:ext cx="463295" cy="46329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052549" y="2237574"/>
            <a:ext cx="3427095" cy="9937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0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206375">
              <a:lnSpc>
                <a:spcPct val="120700"/>
              </a:lnSpc>
              <a:spcBef>
                <a:spcPts val="5"/>
              </a:spcBef>
            </a:pPr>
            <a:r>
              <a:rPr sz="900" dirty="0">
                <a:latin typeface="Trebuchet MS"/>
                <a:cs typeface="Trebuchet MS"/>
              </a:rPr>
              <a:t>Все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записи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занятий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материалы, </a:t>
            </a:r>
            <a:r>
              <a:rPr sz="900" spc="10" dirty="0">
                <a:latin typeface="Trebuchet MS"/>
                <a:cs typeface="Trebuchet MS"/>
              </a:rPr>
              <a:t>предоставляемые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преподавателями, </a:t>
            </a:r>
            <a:r>
              <a:rPr sz="900" dirty="0">
                <a:latin typeface="Trebuchet MS"/>
                <a:cs typeface="Trebuchet MS"/>
              </a:rPr>
              <a:t>сохраняются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личном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кабинете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остаются </a:t>
            </a:r>
            <a:r>
              <a:rPr sz="900" dirty="0">
                <a:latin typeface="Trebuchet MS"/>
                <a:cs typeface="Trebuchet MS"/>
              </a:rPr>
              <a:t>доступны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даже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после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окончания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обучения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7488" y="3630167"/>
            <a:ext cx="463295" cy="463296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052549" y="3425275"/>
            <a:ext cx="3427095" cy="11360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endParaRPr sz="900">
              <a:latin typeface="Times New Roman"/>
              <a:cs typeface="Times New Roman"/>
            </a:endParaRPr>
          </a:p>
          <a:p>
            <a:pPr marL="802005" marR="654685">
              <a:lnSpc>
                <a:spcPct val="121100"/>
              </a:lnSpc>
            </a:pPr>
            <a:r>
              <a:rPr sz="900" dirty="0">
                <a:latin typeface="Trebuchet MS"/>
                <a:cs typeface="Trebuchet MS"/>
              </a:rPr>
              <a:t>Домашние</a:t>
            </a:r>
            <a:r>
              <a:rPr sz="900" spc="1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задания</a:t>
            </a:r>
            <a:r>
              <a:rPr sz="900" spc="13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позволят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spc="-25" dirty="0">
                <a:latin typeface="Trebuchet MS"/>
                <a:cs typeface="Trebuchet MS"/>
              </a:rPr>
              <a:t>Вам </a:t>
            </a:r>
            <a:r>
              <a:rPr sz="900" dirty="0">
                <a:latin typeface="Trebuchet MS"/>
                <a:cs typeface="Trebuchet MS"/>
              </a:rPr>
              <a:t>применить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практике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полученные </a:t>
            </a:r>
            <a:r>
              <a:rPr sz="900" dirty="0">
                <a:latin typeface="Trebuchet MS"/>
                <a:cs typeface="Trebuchet MS"/>
              </a:rPr>
              <a:t>во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время</a:t>
            </a:r>
            <a:r>
              <a:rPr sz="900" spc="6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вебинаров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знания.</a:t>
            </a:r>
            <a:endParaRPr sz="900">
              <a:latin typeface="Trebuchet MS"/>
              <a:cs typeface="Trebuchet MS"/>
            </a:endParaRPr>
          </a:p>
          <a:p>
            <a:pPr marL="802005" marR="353695">
              <a:lnSpc>
                <a:spcPct val="120000"/>
              </a:lnSpc>
            </a:pPr>
            <a:r>
              <a:rPr sz="900" dirty="0">
                <a:latin typeface="Trebuchet MS"/>
                <a:cs typeface="Trebuchet MS"/>
              </a:rPr>
              <a:t>По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каждому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домашнему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заданию </a:t>
            </a:r>
            <a:r>
              <a:rPr sz="900" dirty="0">
                <a:latin typeface="Trebuchet MS"/>
                <a:cs typeface="Trebuchet MS"/>
              </a:rPr>
              <a:t>преподаватель</a:t>
            </a:r>
            <a:r>
              <a:rPr sz="900" spc="7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дает</a:t>
            </a:r>
            <a:r>
              <a:rPr sz="900" spc="8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развернутый</a:t>
            </a:r>
            <a:r>
              <a:rPr sz="900" spc="8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фидбек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852415" y="1420367"/>
            <a:ext cx="463296" cy="463296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4673549" y="1264075"/>
            <a:ext cx="3418204" cy="113601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 marR="324485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В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процессе</a:t>
            </a:r>
            <a:r>
              <a:rPr sz="900" spc="-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обучения</a:t>
            </a:r>
            <a:r>
              <a:rPr sz="900" spc="5" dirty="0">
                <a:latin typeface="Trebuchet MS"/>
                <a:cs typeface="Trebuchet MS"/>
              </a:rPr>
              <a:t> </a:t>
            </a:r>
            <a:r>
              <a:rPr sz="900" spc="60" dirty="0">
                <a:latin typeface="Trebuchet MS"/>
                <a:cs typeface="Trebuchet MS"/>
              </a:rPr>
              <a:t>Вы</a:t>
            </a:r>
            <a:r>
              <a:rPr sz="900" dirty="0">
                <a:latin typeface="Trebuchet MS"/>
                <a:cs typeface="Trebuchet MS"/>
              </a:rPr>
              <a:t> можете</a:t>
            </a:r>
            <a:r>
              <a:rPr sz="900" spc="-10" dirty="0">
                <a:latin typeface="Trebuchet MS"/>
                <a:cs typeface="Trebuchet MS"/>
              </a:rPr>
              <a:t> задавать </a:t>
            </a:r>
            <a:r>
              <a:rPr sz="900" dirty="0">
                <a:latin typeface="Trebuchet MS"/>
                <a:cs typeface="Trebuchet MS"/>
              </a:rPr>
              <a:t>преподавателю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вопросы</a:t>
            </a:r>
            <a:r>
              <a:rPr sz="900" spc="12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по</a:t>
            </a:r>
            <a:r>
              <a:rPr sz="900" spc="11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материалам </a:t>
            </a:r>
            <a:r>
              <a:rPr sz="900" dirty="0">
                <a:latin typeface="Trebuchet MS"/>
                <a:cs typeface="Trebuchet MS"/>
              </a:rPr>
              <a:t>лекций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домашних</a:t>
            </a:r>
            <a:r>
              <a:rPr sz="900" spc="2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заданий,</a:t>
            </a:r>
            <a:r>
              <a:rPr sz="900" spc="1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уточнять </a:t>
            </a:r>
            <a:r>
              <a:rPr sz="900" dirty="0">
                <a:latin typeface="Trebuchet MS"/>
                <a:cs typeface="Trebuchet MS"/>
              </a:rPr>
              <a:t>моменты,</a:t>
            </a:r>
            <a:r>
              <a:rPr sz="900" spc="4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которые</a:t>
            </a:r>
            <a:r>
              <a:rPr sz="900" spc="5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были</a:t>
            </a:r>
            <a:r>
              <a:rPr sz="900" spc="5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непонятны</a:t>
            </a:r>
            <a:endParaRPr sz="900">
              <a:latin typeface="Trebuchet MS"/>
              <a:cs typeface="Trebuchet MS"/>
            </a:endParaRPr>
          </a:p>
          <a:p>
            <a:pPr marL="796290">
              <a:lnSpc>
                <a:spcPct val="100000"/>
              </a:lnSpc>
            </a:pP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-10" dirty="0">
                <a:latin typeface="Trebuchet MS"/>
                <a:cs typeface="Trebuchet MS"/>
              </a:rPr>
              <a:t> уроке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6" name="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852415" y="2740151"/>
            <a:ext cx="463296" cy="466344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4673549" y="2579574"/>
            <a:ext cx="3418204" cy="84836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15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>
              <a:lnSpc>
                <a:spcPct val="100000"/>
              </a:lnSpc>
            </a:pPr>
            <a:r>
              <a:rPr sz="900" dirty="0">
                <a:latin typeface="Trebuchet MS"/>
                <a:cs typeface="Trebuchet MS"/>
              </a:rPr>
              <a:t>Время на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20" dirty="0">
                <a:latin typeface="Trebuchet MS"/>
                <a:cs typeface="Trebuchet MS"/>
              </a:rPr>
              <a:t>обучение: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от 4</a:t>
            </a:r>
            <a:r>
              <a:rPr sz="900" spc="-15" dirty="0">
                <a:latin typeface="Trebuchet MS"/>
                <a:cs typeface="Trebuchet MS"/>
              </a:rPr>
              <a:t> </a:t>
            </a:r>
            <a:r>
              <a:rPr sz="900" spc="-20" dirty="0">
                <a:latin typeface="Trebuchet MS"/>
                <a:cs typeface="Trebuchet MS"/>
              </a:rPr>
              <a:t>ак.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часов</a:t>
            </a:r>
            <a:endParaRPr sz="900">
              <a:latin typeface="Trebuchet MS"/>
              <a:cs typeface="Trebuchet MS"/>
            </a:endParaRPr>
          </a:p>
          <a:p>
            <a:pPr marL="796290" marR="583565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занятия</a:t>
            </a:r>
            <a:r>
              <a:rPr sz="900" spc="3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и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spc="-35" dirty="0">
                <a:latin typeface="Trebuchet MS"/>
                <a:cs typeface="Trebuchet MS"/>
              </a:rPr>
              <a:t>4-</a:t>
            </a:r>
            <a:r>
              <a:rPr sz="900" dirty="0">
                <a:latin typeface="Trebuchet MS"/>
                <a:cs typeface="Trebuchet MS"/>
              </a:rPr>
              <a:t>8</a:t>
            </a:r>
            <a:r>
              <a:rPr sz="900" spc="1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часов</a:t>
            </a:r>
            <a:r>
              <a:rPr sz="900" spc="1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2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домашнюю </a:t>
            </a:r>
            <a:r>
              <a:rPr sz="900" dirty="0">
                <a:latin typeface="Trebuchet MS"/>
                <a:cs typeface="Trebuchet MS"/>
              </a:rPr>
              <a:t>работу</a:t>
            </a:r>
            <a:r>
              <a:rPr sz="900" spc="-40" dirty="0">
                <a:latin typeface="Trebuchet MS"/>
                <a:cs typeface="Trebuchet MS"/>
              </a:rPr>
              <a:t> </a:t>
            </a:r>
            <a:r>
              <a:rPr sz="900" spc="50" dirty="0">
                <a:latin typeface="Trebuchet MS"/>
                <a:cs typeface="Trebuchet MS"/>
              </a:rPr>
              <a:t>в</a:t>
            </a:r>
            <a:r>
              <a:rPr sz="900" spc="-4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неделю</a:t>
            </a:r>
            <a:endParaRPr sz="900">
              <a:latin typeface="Trebuchet MS"/>
              <a:cs typeface="Trebuchet MS"/>
            </a:endParaRPr>
          </a:p>
        </p:txBody>
      </p:sp>
      <p:pic>
        <p:nvPicPr>
          <p:cNvPr id="18" name="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852415" y="3758183"/>
            <a:ext cx="463296" cy="463295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4673549" y="3607675"/>
            <a:ext cx="3418204" cy="95123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"/>
              </a:spcBef>
            </a:pPr>
            <a:endParaRPr sz="900">
              <a:latin typeface="Times New Roman"/>
              <a:cs typeface="Times New Roman"/>
            </a:endParaRPr>
          </a:p>
          <a:p>
            <a:pPr marL="796290" marR="459740">
              <a:lnSpc>
                <a:spcPct val="111100"/>
              </a:lnSpc>
            </a:pPr>
            <a:r>
              <a:rPr sz="900" dirty="0">
                <a:latin typeface="Trebuchet MS"/>
                <a:cs typeface="Trebuchet MS"/>
              </a:rPr>
              <a:t>Программа</a:t>
            </a:r>
            <a:r>
              <a:rPr sz="900" spc="2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обучения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на</a:t>
            </a:r>
            <a:r>
              <a:rPr sz="900" spc="30" dirty="0">
                <a:latin typeface="Trebuchet MS"/>
                <a:cs typeface="Trebuchet MS"/>
              </a:rPr>
              <a:t> </a:t>
            </a:r>
            <a:r>
              <a:rPr sz="900" spc="-10" dirty="0">
                <a:latin typeface="Trebuchet MS"/>
                <a:cs typeface="Trebuchet MS"/>
              </a:rPr>
              <a:t>курсах </a:t>
            </a:r>
            <a:r>
              <a:rPr sz="900" dirty="0">
                <a:latin typeface="Trebuchet MS"/>
                <a:cs typeface="Trebuchet MS"/>
              </a:rPr>
              <a:t>обновляется</a:t>
            </a:r>
            <a:r>
              <a:rPr sz="900" spc="100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каждый</a:t>
            </a:r>
            <a:r>
              <a:rPr sz="900" spc="9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запуск</a:t>
            </a:r>
            <a:r>
              <a:rPr sz="900" spc="9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 </a:t>
            </a:r>
            <a:r>
              <a:rPr sz="900" spc="10" dirty="0">
                <a:latin typeface="Trebuchet MS"/>
                <a:cs typeface="Trebuchet MS"/>
              </a:rPr>
              <a:t>зависимости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от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актуальных</a:t>
            </a:r>
            <a:r>
              <a:rPr sz="900" spc="40" dirty="0">
                <a:latin typeface="Trebuchet MS"/>
                <a:cs typeface="Trebuchet MS"/>
              </a:rPr>
              <a:t> </a:t>
            </a:r>
            <a:r>
              <a:rPr sz="900" spc="10" dirty="0">
                <a:latin typeface="Trebuchet MS"/>
                <a:cs typeface="Trebuchet MS"/>
              </a:rPr>
              <a:t>запросов</a:t>
            </a:r>
            <a:r>
              <a:rPr sz="900" spc="35" dirty="0">
                <a:latin typeface="Trebuchet MS"/>
                <a:cs typeface="Trebuchet MS"/>
              </a:rPr>
              <a:t> </a:t>
            </a:r>
            <a:r>
              <a:rPr sz="900" dirty="0">
                <a:latin typeface="Trebuchet MS"/>
                <a:cs typeface="Trebuchet MS"/>
              </a:rPr>
              <a:t>в </a:t>
            </a:r>
            <a:r>
              <a:rPr sz="900" spc="-20" dirty="0">
                <a:latin typeface="Trebuchet MS"/>
                <a:cs typeface="Trebuchet MS"/>
              </a:rPr>
              <a:t>сфере</a:t>
            </a:r>
            <a:r>
              <a:rPr sz="900" spc="-5" dirty="0">
                <a:latin typeface="Trebuchet MS"/>
                <a:cs typeface="Trebuchet MS"/>
              </a:rPr>
              <a:t> </a:t>
            </a:r>
            <a:r>
              <a:rPr sz="900" spc="-45" dirty="0">
                <a:latin typeface="Trebuchet MS"/>
                <a:cs typeface="Trebuchet MS"/>
              </a:rPr>
              <a:t>IТ-</a:t>
            </a:r>
            <a:r>
              <a:rPr sz="900" spc="-10" dirty="0">
                <a:latin typeface="Trebuchet MS"/>
                <a:cs typeface="Trebuchet MS"/>
              </a:rPr>
              <a:t>технологий</a:t>
            </a:r>
            <a:endParaRPr sz="900">
              <a:latin typeface="Trebuchet MS"/>
              <a:cs typeface="Trebuchet MS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Процесс</a:t>
            </a:r>
            <a:r>
              <a:rPr spc="-190" dirty="0"/>
              <a:t> </a:t>
            </a:r>
            <a:r>
              <a:rPr spc="-60" dirty="0"/>
              <a:t>обучения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034949" y="1534668"/>
            <a:ext cx="5574665" cy="176022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5080">
              <a:lnSpc>
                <a:spcPct val="101099"/>
              </a:lnSpc>
              <a:spcBef>
                <a:spcPts val="50"/>
              </a:spcBef>
            </a:pPr>
            <a:r>
              <a:rPr sz="3800" spc="-95" dirty="0">
                <a:solidFill>
                  <a:srgbClr val="FFFFFF"/>
                </a:solidFill>
              </a:rPr>
              <a:t>Заполните,</a:t>
            </a:r>
            <a:r>
              <a:rPr sz="3800" spc="-130" dirty="0">
                <a:solidFill>
                  <a:srgbClr val="FFFFFF"/>
                </a:solidFill>
              </a:rPr>
              <a:t> </a:t>
            </a:r>
            <a:r>
              <a:rPr sz="3800" spc="-45" dirty="0">
                <a:solidFill>
                  <a:srgbClr val="FFFFFF"/>
                </a:solidFill>
              </a:rPr>
              <a:t>пожалуйста, </a:t>
            </a:r>
            <a:r>
              <a:rPr sz="3800" spc="-55" dirty="0">
                <a:solidFill>
                  <a:srgbClr val="FFFFFF"/>
                </a:solidFill>
              </a:rPr>
              <a:t>опрос</a:t>
            </a:r>
            <a:r>
              <a:rPr sz="3800" spc="-220" dirty="0">
                <a:solidFill>
                  <a:srgbClr val="FFFFFF"/>
                </a:solidFill>
              </a:rPr>
              <a:t> </a:t>
            </a:r>
            <a:r>
              <a:rPr sz="3800" dirty="0">
                <a:solidFill>
                  <a:srgbClr val="FFFFFF"/>
                </a:solidFill>
              </a:rPr>
              <a:t>о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spc="-10" dirty="0">
                <a:solidFill>
                  <a:srgbClr val="FFFFFF"/>
                </a:solidFill>
              </a:rPr>
              <a:t>занятии</a:t>
            </a:r>
            <a:endParaRPr sz="3800"/>
          </a:p>
          <a:p>
            <a:pPr marL="12700">
              <a:lnSpc>
                <a:spcPts val="4490"/>
              </a:lnSpc>
            </a:pPr>
            <a:r>
              <a:rPr sz="3800" spc="-50" dirty="0">
                <a:solidFill>
                  <a:srgbClr val="FFFFFF"/>
                </a:solidFill>
              </a:rPr>
              <a:t>по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dirty="0">
                <a:solidFill>
                  <a:srgbClr val="FFFFFF"/>
                </a:solidFill>
              </a:rPr>
              <a:t>ссылке</a:t>
            </a:r>
            <a:r>
              <a:rPr sz="3800" spc="-200" dirty="0">
                <a:solidFill>
                  <a:srgbClr val="FFFFFF"/>
                </a:solidFill>
              </a:rPr>
              <a:t> </a:t>
            </a:r>
            <a:r>
              <a:rPr sz="3800" spc="60" dirty="0">
                <a:solidFill>
                  <a:srgbClr val="FFFFFF"/>
                </a:solidFill>
              </a:rPr>
              <a:t>в</a:t>
            </a:r>
            <a:r>
              <a:rPr sz="3800" spc="-195" dirty="0">
                <a:solidFill>
                  <a:srgbClr val="FFFFFF"/>
                </a:solidFill>
              </a:rPr>
              <a:t> </a:t>
            </a:r>
            <a:r>
              <a:rPr sz="3800" spc="-20" dirty="0">
                <a:solidFill>
                  <a:srgbClr val="FFFFFF"/>
                </a:solidFill>
              </a:rPr>
              <a:t>чате</a:t>
            </a:r>
            <a:endParaRPr sz="3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</TotalTime>
  <Words>1517</Words>
  <Application>Microsoft Macintosh PowerPoint</Application>
  <PresentationFormat>On-screen Show (16:9)</PresentationFormat>
  <Paragraphs>362</Paragraphs>
  <Slides>42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2" baseType="lpstr">
      <vt:lpstr>Arial</vt:lpstr>
      <vt:lpstr>Bradley Hand</vt:lpstr>
      <vt:lpstr>Calibri</vt:lpstr>
      <vt:lpstr>Georgia</vt:lpstr>
      <vt:lpstr>Roboto</vt:lpstr>
      <vt:lpstr>Roboto Light</vt:lpstr>
      <vt:lpstr>Roboto Medium</vt:lpstr>
      <vt:lpstr>Times New Roman</vt:lpstr>
      <vt:lpstr>Trebuchet MS</vt:lpstr>
      <vt:lpstr>Office Theme</vt:lpstr>
      <vt:lpstr>MLOps MLFlow –  контроль над ML-экспериментами</vt:lpstr>
      <vt:lpstr>PowerPoint Presentation</vt:lpstr>
      <vt:lpstr>MLOps MLFlow – контроль над ML-экспериментами</vt:lpstr>
      <vt:lpstr>Маршрут вебинара</vt:lpstr>
      <vt:lpstr>Расскажите о себе</vt:lpstr>
      <vt:lpstr>Правила вебинара</vt:lpstr>
      <vt:lpstr>Об ОТУС</vt:lpstr>
      <vt:lpstr>PowerPoint Presentation</vt:lpstr>
      <vt:lpstr>Образование в ОТУС</vt:lpstr>
      <vt:lpstr>Напишите, пожалуйста, в чат подходящую цифру</vt:lpstr>
      <vt:lpstr>Версионирование и воспроизводимость</vt:lpstr>
      <vt:lpstr>Ключевые тезисы  </vt:lpstr>
      <vt:lpstr>Воспроизводимость</vt:lpstr>
      <vt:lpstr>Как мы разрабатываем модели</vt:lpstr>
      <vt:lpstr>Что тут не так</vt:lpstr>
      <vt:lpstr>Зачем нам воспроизводимость</vt:lpstr>
      <vt:lpstr>MLFlow</vt:lpstr>
      <vt:lpstr>Что это/из чего состоит</vt:lpstr>
      <vt:lpstr>Сценарии использования</vt:lpstr>
      <vt:lpstr>MLFlow Tracking</vt:lpstr>
      <vt:lpstr>MLFlow Model Registry</vt:lpstr>
      <vt:lpstr>PowerPoint Presentation</vt:lpstr>
      <vt:lpstr>Практика</vt:lpstr>
      <vt:lpstr>Ключевые тезисы  </vt:lpstr>
      <vt:lpstr>Вопросы?</vt:lpstr>
      <vt:lpstr>Знакомство с командой и программой курса</vt:lpstr>
      <vt:lpstr>Команда курса</vt:lpstr>
      <vt:lpstr>Команда курса</vt:lpstr>
      <vt:lpstr>О курсе MLOps</vt:lpstr>
      <vt:lpstr>Карта курса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Программа модуля</vt:lpstr>
      <vt:lpstr>Процесс обучения</vt:lpstr>
      <vt:lpstr>Заполните, пожалуйста, опрос о занятии по ссылке в чате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11</cp:revision>
  <dcterms:created xsi:type="dcterms:W3CDTF">2024-07-23T07:20:56Z</dcterms:created>
  <dcterms:modified xsi:type="dcterms:W3CDTF">2025-09-04T16:59:12Z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