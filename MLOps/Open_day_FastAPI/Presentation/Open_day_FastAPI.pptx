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media/image64.jpg" ContentType="image/jpg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47"/>
  </p:notesMasterIdLst>
  <p:sldIdLst>
    <p:sldId id="256" r:id="rId2"/>
    <p:sldId id="257" r:id="rId3"/>
    <p:sldId id="383" r:id="rId4"/>
    <p:sldId id="259" r:id="rId5"/>
    <p:sldId id="384" r:id="rId6"/>
    <p:sldId id="407" r:id="rId7"/>
    <p:sldId id="263" r:id="rId8"/>
    <p:sldId id="264" r:id="rId9"/>
    <p:sldId id="408" r:id="rId10"/>
    <p:sldId id="313" r:id="rId11"/>
    <p:sldId id="266" r:id="rId12"/>
    <p:sldId id="403" r:id="rId13"/>
    <p:sldId id="402" r:id="rId14"/>
    <p:sldId id="404" r:id="rId15"/>
    <p:sldId id="405" r:id="rId16"/>
    <p:sldId id="267" r:id="rId17"/>
    <p:sldId id="268" r:id="rId18"/>
    <p:sldId id="269" r:id="rId19"/>
    <p:sldId id="270" r:id="rId20"/>
    <p:sldId id="271" r:id="rId21"/>
    <p:sldId id="275" r:id="rId22"/>
    <p:sldId id="277" r:id="rId23"/>
    <p:sldId id="278" r:id="rId24"/>
    <p:sldId id="397" r:id="rId25"/>
    <p:sldId id="281" r:id="rId26"/>
    <p:sldId id="282" r:id="rId27"/>
    <p:sldId id="410" r:id="rId28"/>
    <p:sldId id="300" r:id="rId29"/>
    <p:sldId id="406" r:id="rId30"/>
    <p:sldId id="287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411" r:id="rId43"/>
    <p:sldId id="301" r:id="rId44"/>
    <p:sldId id="412" r:id="rId45"/>
    <p:sldId id="302" r:id="rId46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48"/>
      <p:bold r:id="rId49"/>
      <p:italic r:id="rId50"/>
      <p:boldItalic r:id="rId51"/>
    </p:embeddedFont>
    <p:embeddedFont>
      <p:font typeface="Georgia" panose="02040502050405020303" pitchFamily="18" charset="0"/>
      <p:regular r:id="rId52"/>
      <p:bold r:id="rId53"/>
      <p:italic r:id="rId54"/>
      <p:boldItalic r:id="rId55"/>
    </p:embeddedFont>
    <p:embeddedFont>
      <p:font typeface="Lucida Sans" panose="020B0602030504020204" pitchFamily="34" charset="77"/>
      <p:regular r:id="rId56"/>
      <p:bold r:id="rId57"/>
      <p:italic r:id="rId58"/>
      <p:boldItalic r:id="rId59"/>
    </p:embeddedFont>
    <p:embeddedFont>
      <p:font typeface="Roboto" panose="02000000000000000000" pitchFamily="2" charset="0"/>
      <p:regular r:id="rId60"/>
      <p:bold r:id="rId61"/>
      <p:italic r:id="rId62"/>
      <p:boldItalic r:id="rId63"/>
    </p:embeddedFont>
    <p:embeddedFont>
      <p:font typeface="SimSun" panose="02010600030101010101" pitchFamily="2" charset="-122"/>
      <p:regular r:id="rId64"/>
    </p:embeddedFont>
    <p:embeddedFont>
      <p:font typeface="Trebuchet MS" panose="020B0703020202090204" pitchFamily="34" charset="0"/>
      <p:regular r:id="rId65"/>
      <p:bold r:id="rId66"/>
      <p:italic r:id="rId6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013"/>
    <p:restoredTop sz="94681"/>
  </p:normalViewPr>
  <p:slideViewPr>
    <p:cSldViewPr snapToGrid="0">
      <p:cViewPr varScale="1">
        <p:scale>
          <a:sx n="280" d="100"/>
          <a:sy n="280" d="100"/>
        </p:scale>
        <p:origin x="1672" y="184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63" Type="http://schemas.openxmlformats.org/officeDocument/2006/relationships/font" Target="fonts/font16.fntdata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8" Type="http://schemas.openxmlformats.org/officeDocument/2006/relationships/font" Target="fonts/font11.fntdata"/><Relationship Id="rId66" Type="http://schemas.openxmlformats.org/officeDocument/2006/relationships/font" Target="fonts/font19.fntdata"/><Relationship Id="rId5" Type="http://schemas.openxmlformats.org/officeDocument/2006/relationships/slide" Target="slides/slide4.xml"/><Relationship Id="rId61" Type="http://schemas.openxmlformats.org/officeDocument/2006/relationships/font" Target="fonts/font1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font" Target="fonts/font9.fntdata"/><Relationship Id="rId64" Type="http://schemas.openxmlformats.org/officeDocument/2006/relationships/font" Target="fonts/font17.fntdata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2.fntdata"/><Relationship Id="rId67" Type="http://schemas.openxmlformats.org/officeDocument/2006/relationships/font" Target="fonts/font2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7.fntdata"/><Relationship Id="rId62" Type="http://schemas.openxmlformats.org/officeDocument/2006/relationships/font" Target="fonts/font15.fntdata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font" Target="fonts/font10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Relationship Id="rId60" Type="http://schemas.openxmlformats.org/officeDocument/2006/relationships/font" Target="fonts/font13.fntdata"/><Relationship Id="rId65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3.fntdata"/><Relationship Id="rId5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f305d12f47_1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f305d12f47_1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2baa635cc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2baa635cc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Давайте поближе познакомимся с ОТУС.</a:t>
            </a:r>
            <a:endParaRPr sz="1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ОТУС задумывался как компания, которая позволяет обучаться у опытных специалистов высокого уровня в различных областях IT, каждого из которых мы обучаем, как эффективно преподавать.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Мы сторонники обучения у практиков, а не теоретиков, поэтому все наши преподаватели являются действующими специалистами, что позволяет им постоянно быть в курсе лучших решений и оперативно дополнять программу необходимыми изменениями.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Изначально мы создавали курсы для повышения квалификации действующих специалистов в области IT, но стали получать множество запросов на обучение с нуля, поэтому сейчас мы даем возможность любому замотивированному человеку освоить специальность в области IT.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f305d12f47_1_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В связи с тем, что 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Программы курсов в OTUS разрабатываются на основе того, что требуется на данный момент на кадровом рынке в топовые компании. </a:t>
            </a:r>
            <a:endParaRPr/>
          </a:p>
        </p:txBody>
      </p:sp>
      <p:sp>
        <p:nvSpPr>
          <p:cNvPr id="339" name="Google Shape;339;gf305d12f47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2baa635cc9_0_50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g22baa635cc9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48909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31850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8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61106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Ваш макет 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4600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19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3074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3396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87699" y="1397762"/>
            <a:ext cx="1944370" cy="3142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rgbClr val="FF99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22787" y="1120140"/>
            <a:ext cx="1875790" cy="3541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754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7" r:id="rId13"/>
    <p:sldLayoutId id="2147483678" r:id="rId14"/>
    <p:sldLayoutId id="2147483679" r:id="rId15"/>
    <p:sldLayoutId id="2147483680" r:id="rId16"/>
    <p:sldLayoutId id="2147483681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2.jp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flask.palletsprojects.com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://www.djangoproject.com/" TargetMode="External"/><Relationship Id="rId4" Type="http://schemas.openxmlformats.org/officeDocument/2006/relationships/hyperlink" Target="http://fastapi.tiangolo.com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curl.se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usebruno.com/" TargetMode="External"/><Relationship Id="rId5" Type="http://schemas.openxmlformats.org/officeDocument/2006/relationships/hyperlink" Target="http://www.postman.com/" TargetMode="External"/><Relationship Id="rId4" Type="http://schemas.openxmlformats.org/officeDocument/2006/relationships/hyperlink" Target="http://insomnia.rest/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fastapi.tiangolo.com/ru/deployment/manually/" TargetMode="External"/><Relationship Id="rId3" Type="http://schemas.openxmlformats.org/officeDocument/2006/relationships/hyperlink" Target="https://habr.com/ru/articles/729380/" TargetMode="External"/><Relationship Id="rId7" Type="http://schemas.openxmlformats.org/officeDocument/2006/relationships/hyperlink" Target="https://habr.com/ru/articles/426957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swagger.io/tools/open-source/" TargetMode="External"/><Relationship Id="rId11" Type="http://schemas.openxmlformats.org/officeDocument/2006/relationships/hyperlink" Target="https://www.usebruno.com/" TargetMode="External"/><Relationship Id="rId5" Type="http://schemas.openxmlformats.org/officeDocument/2006/relationships/hyperlink" Target="https://habr.com/ru/articles/346306/" TargetMode="External"/><Relationship Id="rId10" Type="http://schemas.openxmlformats.org/officeDocument/2006/relationships/hyperlink" Target="https://insomnia.rest/" TargetMode="External"/><Relationship Id="rId4" Type="http://schemas.openxmlformats.org/officeDocument/2006/relationships/hyperlink" Target="https://habr.com/ru/articles/488468/" TargetMode="External"/><Relationship Id="rId9" Type="http://schemas.openxmlformats.org/officeDocument/2006/relationships/hyperlink" Target="https://www.postman.com/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" Type="http://schemas.openxmlformats.org/officeDocument/2006/relationships/image" Target="../media/image41.png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otus.ru</a:t>
            </a:r>
            <a:endParaRPr/>
          </a:p>
        </p:txBody>
      </p:sp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ML </a:t>
            </a:r>
            <a:r>
              <a:rPr lang="en-US" dirty="0"/>
              <a:t>Ops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ru-RU" sz="2400" b="1" dirty="0" err="1">
                <a:latin typeface="Roboto"/>
                <a:ea typeface="Roboto"/>
                <a:cs typeface="Roboto"/>
                <a:sym typeface="Roboto"/>
              </a:rPr>
              <a:t>оздание</a:t>
            </a:r>
            <a:r>
              <a:rPr lang="ru-RU" sz="2400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b="1" dirty="0">
                <a:latin typeface="Roboto"/>
                <a:ea typeface="Roboto"/>
                <a:cs typeface="Roboto"/>
                <a:sym typeface="Roboto"/>
              </a:rPr>
              <a:t>API - </a:t>
            </a:r>
            <a:r>
              <a:rPr lang="ru-RU" sz="2400" b="1" dirty="0">
                <a:latin typeface="Roboto"/>
                <a:ea typeface="Roboto"/>
                <a:cs typeface="Roboto"/>
                <a:sym typeface="Roboto"/>
              </a:rPr>
              <a:t>учим модель общаться с внешним миром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2100"/>
              <a:t>Проверить, идет ли запись</a:t>
            </a:r>
            <a:endParaRPr sz="2100"/>
          </a:p>
        </p:txBody>
      </p:sp>
      <p:sp>
        <p:nvSpPr>
          <p:cNvPr id="132" name="Google Shape;132;p31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000"/>
              <a:t>Меня хорошо видно</a:t>
            </a:r>
            <a:endParaRPr sz="4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4000"/>
              <a:t>&amp;&amp; слышно?</a:t>
            </a:r>
            <a:endParaRPr sz="4000"/>
          </a:p>
        </p:txBody>
      </p:sp>
      <p:pic>
        <p:nvPicPr>
          <p:cNvPr id="133" name="Google Shape;133;p31"/>
          <p:cNvPicPr preferRelativeResize="0"/>
          <p:nvPr/>
        </p:nvPicPr>
        <p:blipFill rotWithShape="1">
          <a:blip r:embed="rId3">
            <a:alphaModFix/>
          </a:blip>
          <a:srcRect l="99" r="98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1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Ops</a:t>
            </a:r>
            <a:br>
              <a:rPr lang="en-US" dirty="0"/>
            </a:br>
            <a:r>
              <a:rPr lang="en-US" sz="2400" dirty="0"/>
              <a:t>C</a:t>
            </a:r>
            <a:r>
              <a:rPr lang="ru-RU" sz="2400" dirty="0" err="1"/>
              <a:t>оздание</a:t>
            </a:r>
            <a:r>
              <a:rPr lang="ru-RU" sz="2400" dirty="0"/>
              <a:t> </a:t>
            </a:r>
            <a:r>
              <a:rPr lang="en-US" sz="2400" dirty="0"/>
              <a:t>API - </a:t>
            </a:r>
            <a:r>
              <a:rPr lang="ru-RU" sz="2400" dirty="0"/>
              <a:t>учим модель общаться с внешним миром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F9D74D6E-4B24-7043-95C1-5ECC1C800B2C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en-US" sz="1150" kern="0" dirty="0"/>
              <a:t>20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 b="1"/>
              <a:t>Правила вебинара</a:t>
            </a:r>
            <a:endParaRPr sz="3200" b="1"/>
          </a:p>
        </p:txBody>
      </p:sp>
      <p:pic>
        <p:nvPicPr>
          <p:cNvPr id="151" name="Google Shape;15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2626905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3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33"/>
          <p:cNvSpPr txBox="1"/>
          <p:nvPr/>
        </p:nvSpPr>
        <p:spPr>
          <a:xfrm>
            <a:off x="1654525" y="2631918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33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33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3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1" name="Google Shape;161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3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3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3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3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3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7" name="Google Shape;167;p3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3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3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3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3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187" name="Google Shape;187;p36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36"/>
          <p:cNvSpPr/>
          <p:nvPr/>
        </p:nvSpPr>
        <p:spPr>
          <a:xfrm>
            <a:off x="787125" y="1929922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3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Model-as-a-Service</a:t>
            </a:r>
            <a:endParaRPr lang="en-US" sz="13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6"/>
          <p:cNvSpPr/>
          <p:nvPr/>
        </p:nvSpPr>
        <p:spPr>
          <a:xfrm>
            <a:off x="787125" y="265431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Понятие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REST API</a:t>
            </a:r>
            <a:endParaRPr lang="en-US" sz="13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36"/>
          <p:cNvSpPr/>
          <p:nvPr/>
        </p:nvSpPr>
        <p:spPr>
          <a:xfrm>
            <a:off x="786525" y="3378716"/>
            <a:ext cx="3384900" cy="376201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FastAPI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36"/>
          <p:cNvSpPr/>
          <p:nvPr/>
        </p:nvSpPr>
        <p:spPr>
          <a:xfrm>
            <a:off x="786525" y="410311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 Курсе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" name="Google Shape;193;p36"/>
          <p:cNvCxnSpPr>
            <a:stCxn id="187" idx="1"/>
            <a:endCxn id="188" idx="1"/>
          </p:cNvCxnSpPr>
          <p:nvPr/>
        </p:nvCxnSpPr>
        <p:spPr>
          <a:xfrm rot="10800000" flipH="1" flipV="1">
            <a:off x="786525" y="1393624"/>
            <a:ext cx="600" cy="724397"/>
          </a:xfrm>
          <a:prstGeom prst="curvedConnector3">
            <a:avLst>
              <a:gd name="adj1" fmla="val -38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36"/>
          <p:cNvCxnSpPr>
            <a:stCxn id="188" idx="1"/>
            <a:endCxn id="189" idx="1"/>
          </p:cNvCxnSpPr>
          <p:nvPr/>
        </p:nvCxnSpPr>
        <p:spPr>
          <a:xfrm rot="10800000" flipV="1">
            <a:off x="787125" y="2118021"/>
            <a:ext cx="12700" cy="72439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36"/>
          <p:cNvCxnSpPr>
            <a:cxnSpLocks/>
            <a:stCxn id="189" idx="1"/>
            <a:endCxn id="191" idx="1"/>
          </p:cNvCxnSpPr>
          <p:nvPr/>
        </p:nvCxnSpPr>
        <p:spPr>
          <a:xfrm rot="10800000" flipV="1">
            <a:off x="786525" y="2842419"/>
            <a:ext cx="600" cy="724398"/>
          </a:xfrm>
          <a:prstGeom prst="curvedConnector3">
            <a:avLst>
              <a:gd name="adj1" fmla="val 382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36"/>
          <p:cNvCxnSpPr>
            <a:cxnSpLocks/>
            <a:stCxn id="191" idx="1"/>
            <a:endCxn id="192" idx="1"/>
          </p:cNvCxnSpPr>
          <p:nvPr/>
        </p:nvCxnSpPr>
        <p:spPr>
          <a:xfrm rot="10800000" flipV="1">
            <a:off x="786525" y="3566817"/>
            <a:ext cx="12700" cy="724396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59C3565-F2E8-AD49-A78E-94F0F801E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124" y="1683382"/>
            <a:ext cx="3588850" cy="12952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60550" y="166595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Как вас зовут? Откуда вы? 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Ваш опыт работы в IT?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С какой основной целью вы записались на занятие?</a:t>
            </a:r>
            <a:endParaRPr sz="1800">
              <a:solidFill>
                <a:srgbClr val="1E1F2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Расскажите о себе</a:t>
            </a:r>
            <a:endParaRPr/>
          </a:p>
        </p:txBody>
      </p:sp>
      <p:pic>
        <p:nvPicPr>
          <p:cNvPr id="298" name="Google Shape;298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27" y="341257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6852" y="3412581"/>
            <a:ext cx="620721" cy="62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О</a:t>
            </a:r>
            <a:r>
              <a:rPr lang="ru"/>
              <a:t>б ОТУС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9"/>
          <p:cNvSpPr txBox="1"/>
          <p:nvPr/>
        </p:nvSpPr>
        <p:spPr>
          <a:xfrm>
            <a:off x="500550" y="330725"/>
            <a:ext cx="8520600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 компании</a:t>
            </a:r>
            <a:endParaRPr sz="3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69"/>
          <p:cNvSpPr txBox="1"/>
          <p:nvPr/>
        </p:nvSpPr>
        <p:spPr>
          <a:xfrm>
            <a:off x="1170350" y="1933625"/>
            <a:ext cx="47181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ОТУС специализируется на обучении в IT.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Наша фишка — продвинутые программы для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 опытом и быстрый запуск курсов по новым набирающим популярность технологиям.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69"/>
          <p:cNvSpPr txBox="1"/>
          <p:nvPr/>
        </p:nvSpPr>
        <p:spPr>
          <a:xfrm>
            <a:off x="1170350" y="15622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Сфера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69"/>
          <p:cNvSpPr txBox="1"/>
          <p:nvPr/>
        </p:nvSpPr>
        <p:spPr>
          <a:xfrm>
            <a:off x="1170350" y="3423925"/>
            <a:ext cx="58626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Наши партнеры современные технологичные компании.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А обучение и открытые материалы привлекают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разных грейдов: junior, middle, senior, lead.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69"/>
          <p:cNvSpPr txBox="1"/>
          <p:nvPr/>
        </p:nvSpPr>
        <p:spPr>
          <a:xfrm>
            <a:off x="1170350" y="30525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Клиенты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4" name="Google Shape;334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994" y="167792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994" y="314437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69"/>
          <p:cNvPicPr preferRelativeResize="0"/>
          <p:nvPr/>
        </p:nvPicPr>
        <p:blipFill rotWithShape="1">
          <a:blip r:embed="rId5">
            <a:alphaModFix/>
          </a:blip>
          <a:srcRect l="1114" r="1124"/>
          <a:stretch/>
        </p:blipFill>
        <p:spPr>
          <a:xfrm>
            <a:off x="6031050" y="0"/>
            <a:ext cx="3112951" cy="261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Образование в ОТУС</a:t>
            </a:r>
            <a:endParaRPr/>
          </a:p>
        </p:txBody>
      </p:sp>
      <p:sp>
        <p:nvSpPr>
          <p:cNvPr id="342" name="Google Shape;342;p70"/>
          <p:cNvSpPr txBox="1">
            <a:spLocks noGrp="1"/>
          </p:cNvSpPr>
          <p:nvPr>
            <p:ph type="body" idx="4294967295"/>
          </p:nvPr>
        </p:nvSpPr>
        <p:spPr>
          <a:xfrm>
            <a:off x="1483350" y="2056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000000"/>
                </a:solidFill>
              </a:rPr>
              <a:t>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343" name="Google Shape;343;p70"/>
          <p:cNvSpPr txBox="1">
            <a:spLocks noGrp="1"/>
          </p:cNvSpPr>
          <p:nvPr>
            <p:ph type="body" idx="4294967295"/>
          </p:nvPr>
        </p:nvSpPr>
        <p:spPr>
          <a:xfrm>
            <a:off x="1483350" y="1579994"/>
            <a:ext cx="2674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2000" b="1">
                <a:solidFill>
                  <a:srgbClr val="FF7700"/>
                </a:solidFill>
              </a:rPr>
              <a:t>Программы курсов</a:t>
            </a:r>
            <a:endParaRPr sz="2000" b="1">
              <a:solidFill>
                <a:srgbClr val="FF7700"/>
              </a:solidFill>
            </a:endParaRPr>
          </a:p>
        </p:txBody>
      </p:sp>
      <p:pic>
        <p:nvPicPr>
          <p:cNvPr id="344" name="Google Shape;344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1675" y="1564400"/>
            <a:ext cx="396000" cy="3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3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Напишите, пожалуйста, в чат подходящую цифру</a:t>
            </a:r>
            <a:endParaRPr/>
          </a:p>
        </p:txBody>
      </p:sp>
      <p:sp>
        <p:nvSpPr>
          <p:cNvPr id="376" name="Google Shape;376;p73"/>
          <p:cNvSpPr txBox="1">
            <a:spLocks noGrp="1"/>
          </p:cNvSpPr>
          <p:nvPr>
            <p:ph type="body" idx="4294967295"/>
          </p:nvPr>
        </p:nvSpPr>
        <p:spPr>
          <a:xfrm>
            <a:off x="567875" y="1930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1</a:t>
            </a:r>
            <a:r>
              <a:rPr lang="ru" sz="1900" b="1"/>
              <a:t> -</a:t>
            </a:r>
            <a:r>
              <a:rPr lang="ru" sz="1900"/>
              <a:t> если уже учились у нас в компании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2</a:t>
            </a:r>
            <a:r>
              <a:rPr lang="ru" sz="1900" b="1"/>
              <a:t> -</a:t>
            </a:r>
            <a:r>
              <a:rPr lang="ru" sz="1900"/>
              <a:t> если НЕ учились, но слышали о нас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3</a:t>
            </a:r>
            <a:r>
              <a:rPr lang="ru" sz="1900" b="1"/>
              <a:t> -</a:t>
            </a:r>
            <a:r>
              <a:rPr lang="ru" sz="1900"/>
              <a:t> если впервые знакомитесь с OTUS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377" name="Google Shape;377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650" y="3239988"/>
            <a:ext cx="651601" cy="65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sz="5400" b="1" dirty="0">
                <a:latin typeface="Roboto"/>
                <a:ea typeface="Roboto"/>
                <a:cs typeface="Roboto"/>
                <a:sym typeface="Roboto"/>
              </a:rPr>
              <a:t>REST API</a:t>
            </a:r>
            <a:endParaRPr lang="en-US" sz="4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7E2076-A536-1D4B-9A55-A34941F43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зачем вообще нам это нужно?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084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8678D4-52E7-4846-AB02-5D2B7E76C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как услуга (</a:t>
            </a:r>
            <a:r>
              <a:rPr lang="en-US" dirty="0"/>
              <a:t>Model-as-a-Service)</a:t>
            </a:r>
          </a:p>
        </p:txBody>
      </p:sp>
      <p:pic>
        <p:nvPicPr>
          <p:cNvPr id="5" name="Google Shape;253;p39">
            <a:extLst>
              <a:ext uri="{FF2B5EF4-FFF2-40B4-BE49-F238E27FC236}">
                <a16:creationId xmlns:a16="http://schemas.microsoft.com/office/drawing/2014/main" id="{524ECFCF-8CA8-1E44-A86A-56323803AA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8121" y="1923752"/>
            <a:ext cx="8627757" cy="12959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398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8678D4-52E7-4846-AB02-5D2B7E76C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как услуга (</a:t>
            </a:r>
            <a:r>
              <a:rPr lang="en-US" dirty="0"/>
              <a:t>Model-as-a-Service)</a:t>
            </a:r>
          </a:p>
        </p:txBody>
      </p:sp>
      <p:pic>
        <p:nvPicPr>
          <p:cNvPr id="5" name="Google Shape;253;p39">
            <a:extLst>
              <a:ext uri="{FF2B5EF4-FFF2-40B4-BE49-F238E27FC236}">
                <a16:creationId xmlns:a16="http://schemas.microsoft.com/office/drawing/2014/main" id="{524ECFCF-8CA8-1E44-A86A-56323803AA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8121" y="1923752"/>
            <a:ext cx="8627757" cy="129599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EFCFB45-1493-4241-B895-4822047704BD}"/>
              </a:ext>
            </a:extLst>
          </p:cNvPr>
          <p:cNvSpPr/>
          <p:nvPr/>
        </p:nvSpPr>
        <p:spPr>
          <a:xfrm>
            <a:off x="6582383" y="1796374"/>
            <a:ext cx="2438767" cy="1621277"/>
          </a:xfrm>
          <a:custGeom>
            <a:avLst/>
            <a:gdLst>
              <a:gd name="connsiteX0" fmla="*/ 0 w 2438767"/>
              <a:gd name="connsiteY0" fmla="*/ 270218 h 1621277"/>
              <a:gd name="connsiteX1" fmla="*/ 270218 w 2438767"/>
              <a:gd name="connsiteY1" fmla="*/ 0 h 1621277"/>
              <a:gd name="connsiteX2" fmla="*/ 782767 w 2438767"/>
              <a:gd name="connsiteY2" fmla="*/ 0 h 1621277"/>
              <a:gd name="connsiteX3" fmla="*/ 1238367 w 2438767"/>
              <a:gd name="connsiteY3" fmla="*/ 0 h 1621277"/>
              <a:gd name="connsiteX4" fmla="*/ 1674983 w 2438767"/>
              <a:gd name="connsiteY4" fmla="*/ 0 h 1621277"/>
              <a:gd name="connsiteX5" fmla="*/ 2168549 w 2438767"/>
              <a:gd name="connsiteY5" fmla="*/ 0 h 1621277"/>
              <a:gd name="connsiteX6" fmla="*/ 2438767 w 2438767"/>
              <a:gd name="connsiteY6" fmla="*/ 270218 h 1621277"/>
              <a:gd name="connsiteX7" fmla="*/ 2438767 w 2438767"/>
              <a:gd name="connsiteY7" fmla="*/ 810639 h 1621277"/>
              <a:gd name="connsiteX8" fmla="*/ 2438767 w 2438767"/>
              <a:gd name="connsiteY8" fmla="*/ 1351059 h 1621277"/>
              <a:gd name="connsiteX9" fmla="*/ 2168549 w 2438767"/>
              <a:gd name="connsiteY9" fmla="*/ 1621277 h 1621277"/>
              <a:gd name="connsiteX10" fmla="*/ 1693966 w 2438767"/>
              <a:gd name="connsiteY10" fmla="*/ 1621277 h 1621277"/>
              <a:gd name="connsiteX11" fmla="*/ 1238367 w 2438767"/>
              <a:gd name="connsiteY11" fmla="*/ 1621277 h 1621277"/>
              <a:gd name="connsiteX12" fmla="*/ 725817 w 2438767"/>
              <a:gd name="connsiteY12" fmla="*/ 1621277 h 1621277"/>
              <a:gd name="connsiteX13" fmla="*/ 270218 w 2438767"/>
              <a:gd name="connsiteY13" fmla="*/ 1621277 h 1621277"/>
              <a:gd name="connsiteX14" fmla="*/ 0 w 2438767"/>
              <a:gd name="connsiteY14" fmla="*/ 1351059 h 1621277"/>
              <a:gd name="connsiteX15" fmla="*/ 0 w 2438767"/>
              <a:gd name="connsiteY15" fmla="*/ 799830 h 1621277"/>
              <a:gd name="connsiteX16" fmla="*/ 0 w 2438767"/>
              <a:gd name="connsiteY16" fmla="*/ 270218 h 1621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438767" h="1621277" extrusionOk="0">
                <a:moveTo>
                  <a:pt x="0" y="270218"/>
                </a:moveTo>
                <a:cubicBezTo>
                  <a:pt x="-10116" y="114741"/>
                  <a:pt x="108255" y="4776"/>
                  <a:pt x="270218" y="0"/>
                </a:cubicBezTo>
                <a:cubicBezTo>
                  <a:pt x="448210" y="-25464"/>
                  <a:pt x="573577" y="30901"/>
                  <a:pt x="782767" y="0"/>
                </a:cubicBezTo>
                <a:cubicBezTo>
                  <a:pt x="991957" y="-30901"/>
                  <a:pt x="1088310" y="47852"/>
                  <a:pt x="1238367" y="0"/>
                </a:cubicBezTo>
                <a:cubicBezTo>
                  <a:pt x="1388424" y="-47852"/>
                  <a:pt x="1536638" y="42131"/>
                  <a:pt x="1674983" y="0"/>
                </a:cubicBezTo>
                <a:cubicBezTo>
                  <a:pt x="1813328" y="-42131"/>
                  <a:pt x="1967581" y="15528"/>
                  <a:pt x="2168549" y="0"/>
                </a:cubicBezTo>
                <a:cubicBezTo>
                  <a:pt x="2333116" y="-31549"/>
                  <a:pt x="2412217" y="116915"/>
                  <a:pt x="2438767" y="270218"/>
                </a:cubicBezTo>
                <a:cubicBezTo>
                  <a:pt x="2484876" y="403703"/>
                  <a:pt x="2415982" y="691508"/>
                  <a:pt x="2438767" y="810639"/>
                </a:cubicBezTo>
                <a:cubicBezTo>
                  <a:pt x="2461552" y="929770"/>
                  <a:pt x="2434262" y="1118156"/>
                  <a:pt x="2438767" y="1351059"/>
                </a:cubicBezTo>
                <a:cubicBezTo>
                  <a:pt x="2457246" y="1504739"/>
                  <a:pt x="2291303" y="1616994"/>
                  <a:pt x="2168549" y="1621277"/>
                </a:cubicBezTo>
                <a:cubicBezTo>
                  <a:pt x="1954124" y="1629082"/>
                  <a:pt x="1916492" y="1614407"/>
                  <a:pt x="1693966" y="1621277"/>
                </a:cubicBezTo>
                <a:cubicBezTo>
                  <a:pt x="1471440" y="1628147"/>
                  <a:pt x="1438463" y="1589649"/>
                  <a:pt x="1238367" y="1621277"/>
                </a:cubicBezTo>
                <a:cubicBezTo>
                  <a:pt x="1038271" y="1652905"/>
                  <a:pt x="955975" y="1607373"/>
                  <a:pt x="725817" y="1621277"/>
                </a:cubicBezTo>
                <a:cubicBezTo>
                  <a:pt x="495659" y="1635181"/>
                  <a:pt x="476789" y="1577772"/>
                  <a:pt x="270218" y="1621277"/>
                </a:cubicBezTo>
                <a:cubicBezTo>
                  <a:pt x="116070" y="1622083"/>
                  <a:pt x="-14914" y="1490005"/>
                  <a:pt x="0" y="1351059"/>
                </a:cubicBezTo>
                <a:cubicBezTo>
                  <a:pt x="-8480" y="1138554"/>
                  <a:pt x="59177" y="1071468"/>
                  <a:pt x="0" y="799830"/>
                </a:cubicBezTo>
                <a:cubicBezTo>
                  <a:pt x="-59177" y="528192"/>
                  <a:pt x="58131" y="515729"/>
                  <a:pt x="0" y="270218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E56C3-CE15-8645-A41F-009E3A7B82DD}"/>
              </a:ext>
            </a:extLst>
          </p:cNvPr>
          <p:cNvSpPr txBox="1"/>
          <p:nvPr/>
        </p:nvSpPr>
        <p:spPr>
          <a:xfrm>
            <a:off x="8125838" y="1457610"/>
            <a:ext cx="6912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Bradley Hand" pitchFamily="2" charset="77"/>
              </a:rPr>
              <a:t>docker</a:t>
            </a:r>
          </a:p>
        </p:txBody>
      </p:sp>
    </p:spTree>
    <p:extLst>
      <p:ext uri="{BB962C8B-B14F-4D97-AF65-F5344CB8AC3E}">
        <p14:creationId xmlns:p14="http://schemas.microsoft.com/office/powerpoint/2010/main" val="3073794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8678D4-52E7-4846-AB02-5D2B7E76C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как услуга (</a:t>
            </a:r>
            <a:r>
              <a:rPr lang="en-US" dirty="0"/>
              <a:t>Model-as-a-Service)</a:t>
            </a:r>
          </a:p>
        </p:txBody>
      </p:sp>
      <p:pic>
        <p:nvPicPr>
          <p:cNvPr id="5" name="Google Shape;253;p39">
            <a:extLst>
              <a:ext uri="{FF2B5EF4-FFF2-40B4-BE49-F238E27FC236}">
                <a16:creationId xmlns:a16="http://schemas.microsoft.com/office/drawing/2014/main" id="{524ECFCF-8CA8-1E44-A86A-56323803AA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5262"/>
          <a:stretch/>
        </p:blipFill>
        <p:spPr>
          <a:xfrm>
            <a:off x="5025957" y="1923752"/>
            <a:ext cx="3859921" cy="129599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FE56C3-CE15-8645-A41F-009E3A7B82DD}"/>
              </a:ext>
            </a:extLst>
          </p:cNvPr>
          <p:cNvSpPr txBox="1"/>
          <p:nvPr/>
        </p:nvSpPr>
        <p:spPr>
          <a:xfrm>
            <a:off x="8125838" y="1457610"/>
            <a:ext cx="6912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Bradley Hand" pitchFamily="2" charset="77"/>
              </a:rPr>
              <a:t>docker</a:t>
            </a:r>
          </a:p>
        </p:txBody>
      </p:sp>
      <p:pic>
        <p:nvPicPr>
          <p:cNvPr id="7" name="Google Shape;253;p39">
            <a:extLst>
              <a:ext uri="{FF2B5EF4-FFF2-40B4-BE49-F238E27FC236}">
                <a16:creationId xmlns:a16="http://schemas.microsoft.com/office/drawing/2014/main" id="{20934D0F-ED24-384C-9CF9-476B70467D1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-165" t="-2721" r="66852" b="2721"/>
          <a:stretch/>
        </p:blipFill>
        <p:spPr>
          <a:xfrm>
            <a:off x="258122" y="1923752"/>
            <a:ext cx="2874185" cy="12959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loud 2">
            <a:extLst>
              <a:ext uri="{FF2B5EF4-FFF2-40B4-BE49-F238E27FC236}">
                <a16:creationId xmlns:a16="http://schemas.microsoft.com/office/drawing/2014/main" id="{996D210D-BB3B-3A41-AD0E-8FDEEDA3CC95}"/>
              </a:ext>
            </a:extLst>
          </p:cNvPr>
          <p:cNvSpPr/>
          <p:nvPr/>
        </p:nvSpPr>
        <p:spPr>
          <a:xfrm>
            <a:off x="3249038" y="2123849"/>
            <a:ext cx="1660188" cy="1095899"/>
          </a:xfrm>
          <a:prstGeom prst="clou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NGINX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8EFA462-80C5-914F-906E-7E24B181D21A}"/>
              </a:ext>
            </a:extLst>
          </p:cNvPr>
          <p:cNvSpPr/>
          <p:nvPr/>
        </p:nvSpPr>
        <p:spPr>
          <a:xfrm>
            <a:off x="6582383" y="1796374"/>
            <a:ext cx="2438767" cy="1621277"/>
          </a:xfrm>
          <a:custGeom>
            <a:avLst/>
            <a:gdLst>
              <a:gd name="connsiteX0" fmla="*/ 0 w 2438767"/>
              <a:gd name="connsiteY0" fmla="*/ 270218 h 1621277"/>
              <a:gd name="connsiteX1" fmla="*/ 270218 w 2438767"/>
              <a:gd name="connsiteY1" fmla="*/ 0 h 1621277"/>
              <a:gd name="connsiteX2" fmla="*/ 782767 w 2438767"/>
              <a:gd name="connsiteY2" fmla="*/ 0 h 1621277"/>
              <a:gd name="connsiteX3" fmla="*/ 1238367 w 2438767"/>
              <a:gd name="connsiteY3" fmla="*/ 0 h 1621277"/>
              <a:gd name="connsiteX4" fmla="*/ 1674983 w 2438767"/>
              <a:gd name="connsiteY4" fmla="*/ 0 h 1621277"/>
              <a:gd name="connsiteX5" fmla="*/ 2168549 w 2438767"/>
              <a:gd name="connsiteY5" fmla="*/ 0 h 1621277"/>
              <a:gd name="connsiteX6" fmla="*/ 2438767 w 2438767"/>
              <a:gd name="connsiteY6" fmla="*/ 270218 h 1621277"/>
              <a:gd name="connsiteX7" fmla="*/ 2438767 w 2438767"/>
              <a:gd name="connsiteY7" fmla="*/ 810639 h 1621277"/>
              <a:gd name="connsiteX8" fmla="*/ 2438767 w 2438767"/>
              <a:gd name="connsiteY8" fmla="*/ 1351059 h 1621277"/>
              <a:gd name="connsiteX9" fmla="*/ 2168549 w 2438767"/>
              <a:gd name="connsiteY9" fmla="*/ 1621277 h 1621277"/>
              <a:gd name="connsiteX10" fmla="*/ 1693966 w 2438767"/>
              <a:gd name="connsiteY10" fmla="*/ 1621277 h 1621277"/>
              <a:gd name="connsiteX11" fmla="*/ 1238367 w 2438767"/>
              <a:gd name="connsiteY11" fmla="*/ 1621277 h 1621277"/>
              <a:gd name="connsiteX12" fmla="*/ 725817 w 2438767"/>
              <a:gd name="connsiteY12" fmla="*/ 1621277 h 1621277"/>
              <a:gd name="connsiteX13" fmla="*/ 270218 w 2438767"/>
              <a:gd name="connsiteY13" fmla="*/ 1621277 h 1621277"/>
              <a:gd name="connsiteX14" fmla="*/ 0 w 2438767"/>
              <a:gd name="connsiteY14" fmla="*/ 1351059 h 1621277"/>
              <a:gd name="connsiteX15" fmla="*/ 0 w 2438767"/>
              <a:gd name="connsiteY15" fmla="*/ 799830 h 1621277"/>
              <a:gd name="connsiteX16" fmla="*/ 0 w 2438767"/>
              <a:gd name="connsiteY16" fmla="*/ 270218 h 1621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438767" h="1621277" extrusionOk="0">
                <a:moveTo>
                  <a:pt x="0" y="270218"/>
                </a:moveTo>
                <a:cubicBezTo>
                  <a:pt x="-10116" y="114741"/>
                  <a:pt x="108255" y="4776"/>
                  <a:pt x="270218" y="0"/>
                </a:cubicBezTo>
                <a:cubicBezTo>
                  <a:pt x="448210" y="-25464"/>
                  <a:pt x="573577" y="30901"/>
                  <a:pt x="782767" y="0"/>
                </a:cubicBezTo>
                <a:cubicBezTo>
                  <a:pt x="991957" y="-30901"/>
                  <a:pt x="1088310" y="47852"/>
                  <a:pt x="1238367" y="0"/>
                </a:cubicBezTo>
                <a:cubicBezTo>
                  <a:pt x="1388424" y="-47852"/>
                  <a:pt x="1536638" y="42131"/>
                  <a:pt x="1674983" y="0"/>
                </a:cubicBezTo>
                <a:cubicBezTo>
                  <a:pt x="1813328" y="-42131"/>
                  <a:pt x="1967581" y="15528"/>
                  <a:pt x="2168549" y="0"/>
                </a:cubicBezTo>
                <a:cubicBezTo>
                  <a:pt x="2333116" y="-31549"/>
                  <a:pt x="2412217" y="116915"/>
                  <a:pt x="2438767" y="270218"/>
                </a:cubicBezTo>
                <a:cubicBezTo>
                  <a:pt x="2484876" y="403703"/>
                  <a:pt x="2415982" y="691508"/>
                  <a:pt x="2438767" y="810639"/>
                </a:cubicBezTo>
                <a:cubicBezTo>
                  <a:pt x="2461552" y="929770"/>
                  <a:pt x="2434262" y="1118156"/>
                  <a:pt x="2438767" y="1351059"/>
                </a:cubicBezTo>
                <a:cubicBezTo>
                  <a:pt x="2457246" y="1504739"/>
                  <a:pt x="2291303" y="1616994"/>
                  <a:pt x="2168549" y="1621277"/>
                </a:cubicBezTo>
                <a:cubicBezTo>
                  <a:pt x="1954124" y="1629082"/>
                  <a:pt x="1916492" y="1614407"/>
                  <a:pt x="1693966" y="1621277"/>
                </a:cubicBezTo>
                <a:cubicBezTo>
                  <a:pt x="1471440" y="1628147"/>
                  <a:pt x="1438463" y="1589649"/>
                  <a:pt x="1238367" y="1621277"/>
                </a:cubicBezTo>
                <a:cubicBezTo>
                  <a:pt x="1038271" y="1652905"/>
                  <a:pt x="955975" y="1607373"/>
                  <a:pt x="725817" y="1621277"/>
                </a:cubicBezTo>
                <a:cubicBezTo>
                  <a:pt x="495659" y="1635181"/>
                  <a:pt x="476789" y="1577772"/>
                  <a:pt x="270218" y="1621277"/>
                </a:cubicBezTo>
                <a:cubicBezTo>
                  <a:pt x="116070" y="1622083"/>
                  <a:pt x="-14914" y="1490005"/>
                  <a:pt x="0" y="1351059"/>
                </a:cubicBezTo>
                <a:cubicBezTo>
                  <a:pt x="-8480" y="1138554"/>
                  <a:pt x="59177" y="1071468"/>
                  <a:pt x="0" y="799830"/>
                </a:cubicBezTo>
                <a:cubicBezTo>
                  <a:pt x="-59177" y="528192"/>
                  <a:pt x="58131" y="515729"/>
                  <a:pt x="0" y="270218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758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1"/>
          <p:cNvSpPr txBox="1">
            <a:spLocks noGrp="1"/>
          </p:cNvSpPr>
          <p:nvPr>
            <p:ph type="title"/>
          </p:nvPr>
        </p:nvSpPr>
        <p:spPr>
          <a:xfrm>
            <a:off x="365658" y="343980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REST API</a:t>
            </a:r>
            <a:endParaRPr/>
          </a:p>
        </p:txBody>
      </p:sp>
      <p:sp>
        <p:nvSpPr>
          <p:cNvPr id="264" name="Google Shape;264;p41"/>
          <p:cNvSpPr txBox="1"/>
          <p:nvPr/>
        </p:nvSpPr>
        <p:spPr>
          <a:xfrm>
            <a:off x="365659" y="1362506"/>
            <a:ext cx="6469644" cy="1885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 </a:t>
            </a:r>
            <a:r>
              <a:rPr lang="ru-RU" sz="2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ru-RU" sz="20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</a:t>
            </a:r>
            <a:r>
              <a:rPr lang="ru-RU" sz="2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presentational</a:t>
            </a:r>
            <a:r>
              <a:rPr lang="ru-RU" sz="2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ru-RU" sz="20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ru-RU" sz="2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tate</a:t>
            </a:r>
            <a:r>
              <a:rPr lang="ru-RU" sz="2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ru-RU" sz="20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ru-RU" sz="2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ransfer</a:t>
            </a:r>
            <a:r>
              <a:rPr lang="ru-RU" sz="2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—</a:t>
            </a:r>
            <a:endParaRPr sz="20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700" marR="5080" lvl="0" indent="0" algn="l" rtl="0">
              <a:lnSpc>
                <a:spcPct val="12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ru-RU" sz="2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«передача состояния представления») —  </a:t>
            </a:r>
            <a:r>
              <a:rPr lang="ru-RU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архитектурный стиль </a:t>
            </a:r>
            <a:r>
              <a:rPr lang="ru-RU" sz="2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взаимодействия  компонентов распределённого приложения</a:t>
            </a:r>
            <a:endParaRPr lang="en-US" sz="20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700" marR="5080" lvl="0" indent="0" algn="l" rtl="0">
              <a:lnSpc>
                <a:spcPct val="12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sz="2000" dirty="0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ru-RU" sz="2000" dirty="0">
                <a:latin typeface="Helvetica Neue"/>
                <a:ea typeface="Helvetica Neue"/>
                <a:cs typeface="Helvetica Neue"/>
                <a:sym typeface="Helvetica Neue"/>
              </a:rPr>
              <a:t>набор правил)</a:t>
            </a:r>
            <a:endParaRPr sz="20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5" name="Google Shape;265;p41"/>
          <p:cNvSpPr txBox="1"/>
          <p:nvPr/>
        </p:nvSpPr>
        <p:spPr>
          <a:xfrm>
            <a:off x="365658" y="3888847"/>
            <a:ext cx="6991984" cy="516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12700" marR="5080" lvl="0" indent="0" algn="l" rtl="0">
              <a:lnSpc>
                <a:spcPct val="14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RESTful</a:t>
            </a:r>
            <a:r>
              <a:rPr lang="ru-RU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службы, не нарушающие  ограничений REST</a:t>
            </a:r>
            <a:endParaRPr sz="20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66" name="Google Shape;266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22979" y="902452"/>
            <a:ext cx="2563280" cy="2247164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1"/>
          <p:cNvSpPr txBox="1"/>
          <p:nvPr/>
        </p:nvSpPr>
        <p:spPr>
          <a:xfrm>
            <a:off x="5209742" y="3228502"/>
            <a:ext cx="39342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1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https</a:t>
            </a:r>
            <a:r>
              <a:rPr lang="ru-RU" sz="15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://</a:t>
            </a:r>
            <a:r>
              <a:rPr lang="ru-RU" sz="15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www.ics.uci.edu</a:t>
            </a:r>
            <a:r>
              <a:rPr lang="ru-RU" sz="15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/~</a:t>
            </a:r>
            <a:r>
              <a:rPr lang="ru-RU" sz="15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fielding</a:t>
            </a:r>
            <a:r>
              <a:rPr lang="ru-RU" sz="15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/  </a:t>
            </a:r>
            <a:r>
              <a:rPr lang="ru-RU" sz="15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pubs</a:t>
            </a:r>
            <a:r>
              <a:rPr lang="ru-RU" sz="15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/</a:t>
            </a:r>
            <a:r>
              <a:rPr lang="ru-RU" sz="15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dissertation</a:t>
            </a:r>
            <a:r>
              <a:rPr lang="ru-RU" sz="15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/</a:t>
            </a:r>
            <a:r>
              <a:rPr lang="ru-RU" sz="15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rest_arch_style.htm</a:t>
            </a:r>
            <a:endParaRPr sz="15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REST API</a:t>
            </a:r>
            <a:endParaRPr/>
          </a:p>
        </p:txBody>
      </p:sp>
      <p:pic>
        <p:nvPicPr>
          <p:cNvPr id="273" name="Google Shape;273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1478" y="1114647"/>
            <a:ext cx="7241044" cy="291420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ED2DBD-97D9-6A4D-A914-4CAA96C4618A}"/>
              </a:ext>
            </a:extLst>
          </p:cNvPr>
          <p:cNvSpPr txBox="1"/>
          <p:nvPr/>
        </p:nvSpPr>
        <p:spPr>
          <a:xfrm>
            <a:off x="3424136" y="2516221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xml</a:t>
            </a:r>
          </a:p>
          <a:p>
            <a:pPr algn="ctr"/>
            <a:r>
              <a:rPr lang="en-US" dirty="0"/>
              <a:t>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Ресурс</a:t>
            </a:r>
            <a:endParaRPr/>
          </a:p>
        </p:txBody>
      </p:sp>
      <p:sp>
        <p:nvSpPr>
          <p:cNvPr id="279" name="Google Shape;279;p43"/>
          <p:cNvSpPr txBox="1"/>
          <p:nvPr/>
        </p:nvSpPr>
        <p:spPr>
          <a:xfrm>
            <a:off x="500550" y="1426624"/>
            <a:ext cx="8520600" cy="207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54000" marR="0" lvl="0" indent="-21653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Всё сущее является ресурсом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4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Каждый ресурс должен иметь уникальный URL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69900" marR="0" lvl="1" indent="-216534" algn="l" rtl="0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0" i="1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/api/posts/12345 </a:t>
            </a: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ресурс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69900" marR="0" lvl="1" indent="-216534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0" i="1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/api/posts/ </a:t>
            </a: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коллекция ресурсов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Семантика HTTP методов</a:t>
            </a:r>
            <a:endParaRPr/>
          </a:p>
        </p:txBody>
      </p:sp>
      <p:sp>
        <p:nvSpPr>
          <p:cNvPr id="285" name="Google Shape;285;p44"/>
          <p:cNvSpPr txBox="1"/>
          <p:nvPr/>
        </p:nvSpPr>
        <p:spPr>
          <a:xfrm>
            <a:off x="500550" y="1426624"/>
            <a:ext cx="6858000" cy="2469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54000" marR="0" lvl="0" indent="-21653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 </a:t>
            </a: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получить состояние ресурса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4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 </a:t>
            </a: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создать ресурс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4" algn="l" rtl="0">
              <a:lnSpc>
                <a:spcPct val="100000"/>
              </a:lnSpc>
              <a:spcBef>
                <a:spcPts val="1689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PUT </a:t>
            </a: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обновить ресурс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4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DELETE </a:t>
            </a: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удалить ресурс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Семантика HTTP методов</a:t>
            </a:r>
            <a:endParaRPr/>
          </a:p>
        </p:txBody>
      </p:sp>
      <p:pic>
        <p:nvPicPr>
          <p:cNvPr id="291" name="Google Shape;291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951" y="1127760"/>
            <a:ext cx="7292098" cy="3289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Преимущества</a:t>
            </a:r>
            <a:endParaRPr/>
          </a:p>
        </p:txBody>
      </p:sp>
      <p:sp>
        <p:nvSpPr>
          <p:cNvPr id="319" name="Google Shape;319;p49"/>
          <p:cNvSpPr txBox="1"/>
          <p:nvPr/>
        </p:nvSpPr>
        <p:spPr>
          <a:xfrm>
            <a:off x="500550" y="1105475"/>
            <a:ext cx="7703100" cy="36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5600" marR="3618865" lvl="0" indent="-342900" algn="l" rtl="0">
              <a:lnSpc>
                <a:spcPct val="122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Надёжность</a:t>
            </a:r>
            <a:endParaRPr/>
          </a:p>
          <a:p>
            <a:pPr marL="355600" marR="3618865" lvl="0" indent="-342900" algn="l" rtl="0">
              <a:lnSpc>
                <a:spcPct val="1229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Производительнос</a:t>
            </a:r>
            <a:r>
              <a:rPr lang="ru-RU" sz="2400">
                <a:latin typeface="Helvetica Neue"/>
                <a:ea typeface="Helvetica Neue"/>
                <a:cs typeface="Helvetica Neue"/>
                <a:sym typeface="Helvetica Neue"/>
              </a:rPr>
              <a:t>т</a:t>
            </a: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ь</a:t>
            </a:r>
            <a:endParaRPr/>
          </a:p>
          <a:p>
            <a:pPr marL="355600" marR="3618865" lvl="0" indent="-342900" algn="l" rtl="0">
              <a:lnSpc>
                <a:spcPct val="1229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Масштабируемость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55600" marR="5080" lvl="0" indent="-342900" algn="l" rtl="0">
              <a:lnSpc>
                <a:spcPct val="1229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Прозрачность системы взаимодействия</a:t>
            </a:r>
            <a:endParaRPr/>
          </a:p>
          <a:p>
            <a:pPr marL="355600" marR="5080" lvl="0" indent="-342900" algn="l" rtl="0">
              <a:lnSpc>
                <a:spcPct val="1229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Простота интерфейсов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55600" marR="1400810" lvl="0" indent="-34290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Портативность компонентов</a:t>
            </a:r>
            <a:endParaRPr/>
          </a:p>
          <a:p>
            <a:pPr marL="355600" marR="1400810" lvl="0" indent="-34290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Легкость внесения изменений</a:t>
            </a:r>
            <a:endParaRPr/>
          </a:p>
          <a:p>
            <a:pPr marL="355600" marR="1400810" lvl="0" indent="-34290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Способность эволюционировать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Фреймворки</a:t>
            </a:r>
            <a:endParaRPr/>
          </a:p>
        </p:txBody>
      </p:sp>
      <p:sp>
        <p:nvSpPr>
          <p:cNvPr id="331" name="Google Shape;331;p51"/>
          <p:cNvSpPr txBox="1"/>
          <p:nvPr/>
        </p:nvSpPr>
        <p:spPr>
          <a:xfrm>
            <a:off x="500550" y="1121824"/>
            <a:ext cx="5082540" cy="157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54000" marR="0" lvl="0" indent="-2165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Flask (</a:t>
            </a:r>
            <a:r>
              <a:rPr lang="ru-RU" sz="2400" b="0" i="0" u="sng" strike="noStrike" cap="none">
                <a:solidFill>
                  <a:srgbClr val="18B5ED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flask.palletsprojects.com</a:t>
            </a: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5" algn="l" rtl="0">
              <a:lnSpc>
                <a:spcPct val="100000"/>
              </a:lnSpc>
              <a:spcBef>
                <a:spcPts val="1455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FastAPI (</a:t>
            </a:r>
            <a:r>
              <a:rPr lang="ru-RU" sz="2400" b="0" i="0" u="sng" strike="noStrike" cap="none">
                <a:solidFill>
                  <a:srgbClr val="18B5ED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fastapi.tiangolo.com</a:t>
            </a: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5" algn="l" rtl="0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Django (</a:t>
            </a:r>
            <a:r>
              <a:rPr lang="ru-RU" sz="2400" b="0" i="0" u="sng" strike="noStrike" cap="none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www.djangoproject.com</a:t>
            </a:r>
            <a:r>
              <a:rPr lang="ru-RU" sz="2400" b="0" i="0" u="none" strike="noStrike" cap="none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Клиенты</a:t>
            </a:r>
            <a:endParaRPr/>
          </a:p>
        </p:txBody>
      </p:sp>
      <p:sp>
        <p:nvSpPr>
          <p:cNvPr id="337" name="Google Shape;337;p52"/>
          <p:cNvSpPr txBox="1"/>
          <p:nvPr/>
        </p:nvSpPr>
        <p:spPr>
          <a:xfrm>
            <a:off x="500550" y="1121824"/>
            <a:ext cx="5836560" cy="212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54000" marR="0" lvl="0" indent="-2165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cURL</a:t>
            </a:r>
            <a:r>
              <a:rPr lang="ru-RU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ru-RU" sz="2400" b="0" i="0" u="sng" strike="noStrike" cap="none" dirty="0">
                <a:solidFill>
                  <a:srgbClr val="18B5ED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curl.se</a:t>
            </a:r>
            <a:r>
              <a:rPr lang="ru-RU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5" algn="l" rtl="0">
              <a:lnSpc>
                <a:spcPct val="100000"/>
              </a:lnSpc>
              <a:spcBef>
                <a:spcPts val="1455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Insomnia</a:t>
            </a:r>
            <a:r>
              <a:rPr lang="ru-RU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ru-RU" sz="2400" b="0" i="0" u="sng" strike="noStrike" cap="none" dirty="0">
                <a:solidFill>
                  <a:srgbClr val="18B5ED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insomnia.rest</a:t>
            </a:r>
            <a:r>
              <a:rPr lang="ru-RU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5" algn="l" rtl="0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Postman</a:t>
            </a:r>
            <a:r>
              <a:rPr lang="ru-RU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ru-RU" sz="2400" b="0" i="0" u="sng" strike="noStrike" cap="none" dirty="0">
                <a:solidFill>
                  <a:srgbClr val="18B5ED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www.postman.com</a:t>
            </a:r>
            <a:r>
              <a:rPr lang="ru-RU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lang="en-US"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5" algn="l" rtl="0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en-US" sz="2400" dirty="0">
                <a:latin typeface="Helvetica Neue"/>
                <a:ea typeface="Helvetica Neue"/>
                <a:cs typeface="Helvetica Neue"/>
                <a:sym typeface="Helvetica Neue"/>
              </a:rPr>
              <a:t>Bruno (</a:t>
            </a:r>
            <a:r>
              <a:rPr lang="en-US" sz="2400" dirty="0">
                <a:latin typeface="Helvetica Neue"/>
                <a:ea typeface="Helvetica Neue"/>
                <a:cs typeface="Helvetica Neue"/>
                <a:sym typeface="Helvetica Neue"/>
                <a:hlinkClick r:id="rId6"/>
              </a:rPr>
              <a:t>https://www.usebruno.com</a:t>
            </a:r>
            <a:r>
              <a:rPr lang="en-US" sz="2400" dirty="0"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endParaRPr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sz="5400" b="1" dirty="0">
                <a:latin typeface="Roboto"/>
                <a:ea typeface="Roboto"/>
                <a:cs typeface="Roboto"/>
                <a:sym typeface="Roboto"/>
              </a:rPr>
              <a:t>API</a:t>
            </a:r>
            <a:endParaRPr lang="en-US" sz="4900" dirty="0"/>
          </a:p>
        </p:txBody>
      </p:sp>
    </p:spTree>
    <p:extLst>
      <p:ext uri="{BB962C8B-B14F-4D97-AF65-F5344CB8AC3E}">
        <p14:creationId xmlns:p14="http://schemas.microsoft.com/office/powerpoint/2010/main" val="15120785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>
                <a:latin typeface="Arial"/>
                <a:cs typeface="Arial"/>
                <a:sym typeface="Arial"/>
              </a:rPr>
              <a:t>Фреймворки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1FDE9D-3AB7-E345-BA61-98EB96991B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244" y="1784548"/>
            <a:ext cx="4116646" cy="148341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 dirty="0">
                <a:latin typeface="Arial"/>
                <a:ea typeface="Arial"/>
                <a:cs typeface="Arial"/>
                <a:sym typeface="Arial"/>
              </a:rPr>
              <a:t>Пример модели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979D2F-EA46-F641-83AF-2615A537E241}"/>
              </a:ext>
            </a:extLst>
          </p:cNvPr>
          <p:cNvSpPr txBox="1"/>
          <p:nvPr/>
        </p:nvSpPr>
        <p:spPr>
          <a:xfrm>
            <a:off x="500550" y="1485089"/>
            <a:ext cx="340996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Примитивная тестовая модель</a:t>
            </a:r>
          </a:p>
          <a:p>
            <a:endParaRPr lang="ru-RU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fit() -&gt; bool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predict() -&gt; int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B7F16B-6DDB-9642-B4A7-CC289BEEA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940" y="1057072"/>
            <a:ext cx="5070059" cy="388322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 dirty="0">
                <a:latin typeface="Arial"/>
                <a:ea typeface="Arial"/>
                <a:cs typeface="Arial"/>
                <a:sym typeface="Arial"/>
              </a:rPr>
              <a:t>Пример 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Fas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tAPI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979D2F-EA46-F641-83AF-2615A537E241}"/>
              </a:ext>
            </a:extLst>
          </p:cNvPr>
          <p:cNvSpPr txBox="1"/>
          <p:nvPr/>
        </p:nvSpPr>
        <p:spPr>
          <a:xfrm>
            <a:off x="500550" y="1485089"/>
            <a:ext cx="4071451" cy="232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Создаем объект приложения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Создаем объект модели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Создаем пути обработки запросов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Запускаем приложение как веб сервер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uvicorn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dummy_fast_api:app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--port: 5002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--reload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1AF392-F138-2140-9014-7172F30DDC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20" r="7711"/>
          <a:stretch/>
        </p:blipFill>
        <p:spPr>
          <a:xfrm>
            <a:off x="4280170" y="0"/>
            <a:ext cx="486383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8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381000" y="895350"/>
            <a:ext cx="8610600" cy="39684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11150">
              <a:lnSpc>
                <a:spcPct val="100000"/>
              </a:lnSpc>
              <a:buSzPts val="1300"/>
              <a:buAutoNum type="arabicPeriod"/>
            </a:pPr>
            <a:r>
              <a:rPr lang="en-US" sz="1800" b="1" dirty="0"/>
              <a:t>FastAPI</a:t>
            </a:r>
            <a:endParaRPr lang="ru-RU" sz="1800" b="1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Простой </a:t>
            </a:r>
            <a:r>
              <a:rPr lang="en-US" sz="1400" dirty="0"/>
              <a:t>ML </a:t>
            </a:r>
            <a:r>
              <a:rPr lang="ru-RU" sz="1400" dirty="0"/>
              <a:t>веб-сервис на </a:t>
            </a:r>
            <a:r>
              <a:rPr lang="en-US" sz="1400" dirty="0"/>
              <a:t>FastAPI</a:t>
            </a:r>
            <a:r>
              <a:rPr lang="ru-RU" sz="1400" dirty="0"/>
              <a:t>: </a:t>
            </a:r>
            <a:r>
              <a:rPr lang="en-US" sz="1400" dirty="0">
                <a:hlinkClick r:id="rId3"/>
              </a:rPr>
              <a:t>https://habr.com/ru/articles/729380/</a:t>
            </a:r>
            <a:endParaRPr lang="en-US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Знакомство с </a:t>
            </a:r>
            <a:r>
              <a:rPr lang="en-US" sz="1400" dirty="0"/>
              <a:t>FastAPI </a:t>
            </a:r>
            <a:r>
              <a:rPr lang="en-US" sz="1400" dirty="0">
                <a:hlinkClick r:id="rId4"/>
              </a:rPr>
              <a:t>https://habr.com/ru/articles/488468/</a:t>
            </a:r>
            <a:r>
              <a:rPr lang="en-US" sz="1400" dirty="0"/>
              <a:t> 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488950" indent="-342900">
              <a:buSzPts val="1300"/>
              <a:buFont typeface="+mj-lt"/>
              <a:buAutoNum type="arabicPeriod"/>
            </a:pPr>
            <a:r>
              <a:rPr lang="en-US" sz="1800" b="1" dirty="0"/>
              <a:t>Flask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Учебник по </a:t>
            </a:r>
            <a:r>
              <a:rPr lang="en-US" sz="1400" dirty="0"/>
              <a:t>Flask: </a:t>
            </a:r>
            <a:r>
              <a:rPr lang="en-US" sz="1400" dirty="0">
                <a:hlinkClick r:id="rId5"/>
              </a:rPr>
              <a:t>https://habr.com/ru/articles/346306/</a:t>
            </a:r>
            <a:r>
              <a:rPr lang="en-US" sz="1400" dirty="0"/>
              <a:t> </a:t>
            </a:r>
          </a:p>
          <a:p>
            <a:pPr marL="603250" lvl="1" indent="0">
              <a:buSzPts val="1300"/>
              <a:buNone/>
            </a:pPr>
            <a:endParaRPr lang="en-US" sz="1400" dirty="0"/>
          </a:p>
          <a:p>
            <a:pPr marL="488950" indent="-342900">
              <a:buSzPts val="1300"/>
              <a:buFont typeface="+mj-lt"/>
              <a:buAutoNum type="arabicPeriod"/>
            </a:pPr>
            <a:r>
              <a:rPr lang="ru-RU" b="1" dirty="0"/>
              <a:t>Ресурсы</a:t>
            </a:r>
            <a:r>
              <a:rPr lang="en-US" b="1" dirty="0"/>
              <a:t> </a:t>
            </a:r>
            <a:r>
              <a:rPr lang="ru-RU" b="1" dirty="0"/>
              <a:t>для тестирования </a:t>
            </a:r>
            <a:r>
              <a:rPr lang="en-US" b="1" dirty="0"/>
              <a:t>API</a:t>
            </a:r>
            <a:endParaRPr lang="ru-RU" b="1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en-US" sz="1400" dirty="0">
                <a:hlinkClick r:id="rId6"/>
              </a:rPr>
              <a:t>Swagger</a:t>
            </a:r>
            <a:endParaRPr lang="en-US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en-US" sz="1400" dirty="0">
                <a:hlinkClick r:id="rId7"/>
              </a:rPr>
              <a:t>WSGI </a:t>
            </a:r>
            <a:r>
              <a:rPr lang="ru-RU" sz="1400" dirty="0">
                <a:hlinkClick r:id="rId7"/>
              </a:rPr>
              <a:t>Серверы</a:t>
            </a:r>
            <a:endParaRPr lang="ru-RU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>
                <a:hlinkClick r:id="rId8"/>
              </a:rPr>
              <a:t>Запуск через </a:t>
            </a:r>
            <a:r>
              <a:rPr lang="en-US" sz="1400" dirty="0">
                <a:hlinkClick r:id="rId8"/>
              </a:rPr>
              <a:t>uvicorn</a:t>
            </a:r>
            <a:endParaRPr lang="en-US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en-US" sz="1400" dirty="0">
                <a:hlinkClick r:id="rId9"/>
              </a:rPr>
              <a:t>Postman</a:t>
            </a:r>
            <a:endParaRPr lang="en-US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en-US" sz="1400" dirty="0">
                <a:hlinkClick r:id="rId10"/>
              </a:rPr>
              <a:t>Insomnia</a:t>
            </a:r>
            <a:endParaRPr lang="en-US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en-US" sz="1400" dirty="0">
                <a:hlinkClick r:id="rId11"/>
              </a:rPr>
              <a:t>Bruno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4949" y="1792731"/>
            <a:ext cx="588899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FFFFFF"/>
                </a:solidFill>
              </a:rPr>
              <a:t>Знакомство</a:t>
            </a:r>
            <a:r>
              <a:rPr sz="4000" spc="-2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с</a:t>
            </a:r>
            <a:r>
              <a:rPr sz="4000" spc="-20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командой </a:t>
            </a:r>
            <a:r>
              <a:rPr sz="4000" spc="-150" dirty="0">
                <a:solidFill>
                  <a:srgbClr val="FFFFFF"/>
                </a:solidFill>
              </a:rPr>
              <a:t>и</a:t>
            </a:r>
            <a:r>
              <a:rPr sz="4000" spc="-204" dirty="0">
                <a:solidFill>
                  <a:srgbClr val="FFFFFF"/>
                </a:solidFill>
              </a:rPr>
              <a:t> </a:t>
            </a:r>
            <a:r>
              <a:rPr sz="4000" spc="-45" dirty="0">
                <a:solidFill>
                  <a:srgbClr val="FFFFFF"/>
                </a:solidFill>
              </a:rPr>
              <a:t>программой</a:t>
            </a:r>
            <a:r>
              <a:rPr sz="4000" spc="-200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курса</a:t>
            </a:r>
            <a:endParaRPr sz="4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Команда</a:t>
            </a:r>
            <a:r>
              <a:rPr spc="-175" dirty="0"/>
              <a:t> </a:t>
            </a:r>
            <a:r>
              <a:rPr spc="-10" dirty="0"/>
              <a:t>курса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81095" y="1149604"/>
            <a:ext cx="4542155" cy="24378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marR="2548890" indent="-6350">
              <a:lnSpc>
                <a:spcPct val="156300"/>
              </a:lnSpc>
              <a:spcBef>
                <a:spcPts val="100"/>
              </a:spcBef>
            </a:pPr>
            <a:r>
              <a:rPr sz="1600" b="1" spc="-10" dirty="0">
                <a:latin typeface="Trebuchet MS"/>
                <a:cs typeface="Trebuchet MS"/>
              </a:rPr>
              <a:t>Руководитель</a:t>
            </a:r>
            <a:r>
              <a:rPr sz="1600" b="1" spc="-75" dirty="0">
                <a:latin typeface="Trebuchet MS"/>
                <a:cs typeface="Trebuchet MS"/>
              </a:rPr>
              <a:t> </a:t>
            </a:r>
            <a:r>
              <a:rPr sz="1600" b="1" spc="-20" dirty="0">
                <a:latin typeface="Trebuchet MS"/>
                <a:cs typeface="Trebuchet MS"/>
              </a:rPr>
              <a:t>курса </a:t>
            </a:r>
            <a:r>
              <a:rPr sz="1600" b="1" spc="-20" dirty="0">
                <a:solidFill>
                  <a:srgbClr val="FF9900"/>
                </a:solidFill>
                <a:latin typeface="Trebuchet MS"/>
                <a:cs typeface="Trebuchet MS"/>
              </a:rPr>
              <a:t>Игорь</a:t>
            </a:r>
            <a:r>
              <a:rPr sz="1600" b="1" spc="-95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FF9900"/>
                </a:solidFill>
                <a:latin typeface="Trebuchet MS"/>
                <a:cs typeface="Trebuchet MS"/>
              </a:rPr>
              <a:t>Стурейко</a:t>
            </a:r>
            <a:endParaRPr sz="1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1200" b="1" spc="-40" dirty="0">
                <a:latin typeface="Trebuchet MS"/>
                <a:cs typeface="Trebuchet MS"/>
              </a:rPr>
              <a:t>Teamlead,</a:t>
            </a:r>
            <a:r>
              <a:rPr sz="1200" b="1" spc="-20" dirty="0">
                <a:latin typeface="Trebuchet MS"/>
                <a:cs typeface="Trebuchet MS"/>
              </a:rPr>
              <a:t> главный</a:t>
            </a:r>
            <a:r>
              <a:rPr sz="1200" b="1" spc="-30" dirty="0">
                <a:latin typeface="Trebuchet MS"/>
                <a:cs typeface="Trebuchet MS"/>
              </a:rPr>
              <a:t> </a:t>
            </a:r>
            <a:r>
              <a:rPr sz="1200" b="1" spc="-35" dirty="0">
                <a:latin typeface="Trebuchet MS"/>
                <a:cs typeface="Trebuchet MS"/>
              </a:rPr>
              <a:t>инженер</a:t>
            </a:r>
            <a:r>
              <a:rPr sz="1200" b="1" spc="-25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проекта</a:t>
            </a:r>
            <a:endParaRPr sz="12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200" b="1" spc="-25" dirty="0">
                <a:latin typeface="Trebuchet MS"/>
                <a:cs typeface="Trebuchet MS"/>
              </a:rPr>
              <a:t>Физический</a:t>
            </a:r>
            <a:r>
              <a:rPr sz="1200" b="1" spc="-40" dirty="0">
                <a:latin typeface="Trebuchet MS"/>
                <a:cs typeface="Trebuchet MS"/>
              </a:rPr>
              <a:t> </a:t>
            </a:r>
            <a:r>
              <a:rPr sz="1200" b="1" spc="-25" dirty="0">
                <a:latin typeface="Trebuchet MS"/>
                <a:cs typeface="Trebuchet MS"/>
              </a:rPr>
              <a:t>факультет</a:t>
            </a:r>
            <a:r>
              <a:rPr sz="1200" b="1" spc="-30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МГУ,</a:t>
            </a:r>
            <a:r>
              <a:rPr sz="1200" b="1" spc="-2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PhD</a:t>
            </a:r>
            <a:r>
              <a:rPr sz="1200" b="1" spc="-35" dirty="0">
                <a:latin typeface="Trebuchet MS"/>
                <a:cs typeface="Trebuchet MS"/>
              </a:rPr>
              <a:t> </a:t>
            </a:r>
            <a:r>
              <a:rPr sz="1200" b="1" spc="-25" dirty="0">
                <a:latin typeface="Trebuchet MS"/>
                <a:cs typeface="Trebuchet MS"/>
              </a:rPr>
              <a:t>теоретическая </a:t>
            </a:r>
            <a:r>
              <a:rPr sz="1200" b="1" spc="-10" dirty="0">
                <a:latin typeface="Trebuchet MS"/>
                <a:cs typeface="Trebuchet MS"/>
              </a:rPr>
              <a:t>физика</a:t>
            </a:r>
            <a:endParaRPr sz="12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 dirty="0">
              <a:latin typeface="Trebuchet MS"/>
              <a:cs typeface="Trebuchet MS"/>
            </a:endParaRPr>
          </a:p>
          <a:p>
            <a:pPr marL="12700" marR="163830">
              <a:lnSpc>
                <a:spcPts val="1420"/>
              </a:lnSpc>
            </a:pPr>
            <a:r>
              <a:rPr lang="ru-RU" sz="1200" spc="50" dirty="0">
                <a:latin typeface="Trebuchet MS"/>
                <a:cs typeface="Trebuchet MS"/>
              </a:rPr>
              <a:t>20</a:t>
            </a:r>
            <a:r>
              <a:rPr sz="1200" spc="50" dirty="0">
                <a:latin typeface="Trebuchet MS"/>
                <a:cs typeface="Trebuchet MS"/>
              </a:rPr>
              <a:t>+</a:t>
            </a:r>
            <a:r>
              <a:rPr sz="1200" spc="1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лет</a:t>
            </a:r>
            <a:r>
              <a:rPr sz="1200" spc="2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опыта</a:t>
            </a:r>
            <a:r>
              <a:rPr sz="1200" spc="15" dirty="0">
                <a:latin typeface="Trebuchet MS"/>
                <a:cs typeface="Trebuchet MS"/>
              </a:rPr>
              <a:t> </a:t>
            </a:r>
            <a:r>
              <a:rPr sz="1200" spc="55" dirty="0">
                <a:latin typeface="Trebuchet MS"/>
                <a:cs typeface="Trebuchet MS"/>
              </a:rPr>
              <a:t>в</a:t>
            </a:r>
            <a:r>
              <a:rPr sz="1200" spc="2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прикладной</a:t>
            </a:r>
            <a:r>
              <a:rPr sz="1200" spc="1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математике</a:t>
            </a:r>
            <a:r>
              <a:rPr sz="1200" spc="2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и</a:t>
            </a:r>
            <a:r>
              <a:rPr sz="1200" spc="10" dirty="0">
                <a:latin typeface="Trebuchet MS"/>
                <a:cs typeface="Trebuchet MS"/>
              </a:rPr>
              <a:t> </a:t>
            </a:r>
            <a:r>
              <a:rPr sz="1200" spc="-10" dirty="0" err="1">
                <a:latin typeface="Trebuchet MS"/>
                <a:cs typeface="Trebuchet MS"/>
              </a:rPr>
              <a:t>математическом</a:t>
            </a:r>
            <a:r>
              <a:rPr sz="1200" spc="-10" dirty="0">
                <a:latin typeface="Trebuchet MS"/>
                <a:cs typeface="Trebuchet MS"/>
              </a:rPr>
              <a:t> </a:t>
            </a:r>
            <a:r>
              <a:rPr sz="1200" spc="10" dirty="0" err="1">
                <a:latin typeface="Trebuchet MS"/>
                <a:cs typeface="Trebuchet MS"/>
              </a:rPr>
              <a:t>моделировании</a:t>
            </a:r>
            <a:endParaRPr lang="ru-RU" sz="1200" spc="10" dirty="0">
              <a:latin typeface="Trebuchet MS"/>
              <a:cs typeface="Trebuchet MS"/>
            </a:endParaRPr>
          </a:p>
          <a:p>
            <a:pPr marL="12700" marR="163830">
              <a:lnSpc>
                <a:spcPts val="1420"/>
              </a:lnSpc>
            </a:pPr>
            <a:endParaRPr sz="1200" dirty="0">
              <a:latin typeface="Trebuchet MS"/>
              <a:cs typeface="Trebuchet MS"/>
            </a:endParaRPr>
          </a:p>
          <a:p>
            <a:pPr marL="12700" marR="5080">
              <a:lnSpc>
                <a:spcPts val="1420"/>
              </a:lnSpc>
            </a:pPr>
            <a:r>
              <a:rPr sz="1200" dirty="0" err="1">
                <a:latin typeface="Trebuchet MS"/>
                <a:cs typeface="Trebuchet MS"/>
              </a:rPr>
              <a:t>Руково</a:t>
            </a:r>
            <a:r>
              <a:rPr lang="ru-RU" sz="1200" dirty="0" err="1">
                <a:latin typeface="Trebuchet MS"/>
                <a:cs typeface="Trebuchet MS"/>
              </a:rPr>
              <a:t>жу</a:t>
            </a:r>
            <a:r>
              <a:rPr sz="1200" spc="6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командой,</a:t>
            </a:r>
            <a:r>
              <a:rPr sz="1200" spc="5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решающей</a:t>
            </a:r>
            <a:r>
              <a:rPr sz="1200" spc="4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прикладные</a:t>
            </a:r>
            <a:r>
              <a:rPr sz="1200" spc="6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задачи,</a:t>
            </a:r>
            <a:r>
              <a:rPr sz="1200" spc="55" dirty="0">
                <a:latin typeface="Trebuchet MS"/>
                <a:cs typeface="Trebuchet MS"/>
              </a:rPr>
              <a:t> </a:t>
            </a:r>
            <a:r>
              <a:rPr sz="1200" spc="40" dirty="0">
                <a:latin typeface="Trebuchet MS"/>
                <a:cs typeface="Trebuchet MS"/>
              </a:rPr>
              <a:t>вывод </a:t>
            </a:r>
            <a:r>
              <a:rPr sz="1200" dirty="0">
                <a:latin typeface="Trebuchet MS"/>
                <a:cs typeface="Trebuchet MS"/>
              </a:rPr>
              <a:t>готовых</a:t>
            </a:r>
            <a:r>
              <a:rPr sz="1200" spc="1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моделей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spc="55" dirty="0">
                <a:latin typeface="Trebuchet MS"/>
                <a:cs typeface="Trebuchet MS"/>
              </a:rPr>
              <a:t>в</a:t>
            </a:r>
            <a:r>
              <a:rPr sz="1200" spc="1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продакшн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и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поддержку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решений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spc="-40" dirty="0">
                <a:latin typeface="Trebuchet MS"/>
                <a:cs typeface="Trebuchet MS"/>
              </a:rPr>
              <a:t>у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клиента</a:t>
            </a:r>
            <a:endParaRPr sz="1200" dirty="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4099" y="1195199"/>
            <a:ext cx="2430145" cy="3232785"/>
            <a:chOff x="614099" y="1195199"/>
            <a:chExt cx="2430145" cy="3232785"/>
          </a:xfrm>
        </p:grpSpPr>
        <p:sp>
          <p:nvSpPr>
            <p:cNvPr id="5" name="object 5"/>
            <p:cNvSpPr/>
            <p:nvPr/>
          </p:nvSpPr>
          <p:spPr>
            <a:xfrm>
              <a:off x="614099" y="1195199"/>
              <a:ext cx="520700" cy="3232785"/>
            </a:xfrm>
            <a:custGeom>
              <a:avLst/>
              <a:gdLst/>
              <a:ahLst/>
              <a:cxnLst/>
              <a:rect l="l" t="t" r="r" b="b"/>
              <a:pathLst>
                <a:path w="520700" h="3232785">
                  <a:moveTo>
                    <a:pt x="520200" y="0"/>
                  </a:moveTo>
                  <a:lnTo>
                    <a:pt x="0" y="0"/>
                  </a:lnTo>
                  <a:lnTo>
                    <a:pt x="0" y="3232500"/>
                  </a:lnTo>
                  <a:lnTo>
                    <a:pt x="520200" y="3232500"/>
                  </a:lnTo>
                  <a:lnTo>
                    <a:pt x="52020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924" y="1576773"/>
              <a:ext cx="2253984" cy="221052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Команда</a:t>
            </a:r>
            <a:r>
              <a:rPr spc="-175" dirty="0"/>
              <a:t> </a:t>
            </a:r>
            <a:r>
              <a:rPr spc="-10" dirty="0"/>
              <a:t>курса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xfrm>
            <a:off x="1787698" y="1397762"/>
            <a:ext cx="2711513" cy="3088794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670"/>
              </a:spcBef>
              <a:buNone/>
            </a:pPr>
            <a:r>
              <a:rPr lang="ru-RU" dirty="0"/>
              <a:t>Александр </a:t>
            </a:r>
            <a:r>
              <a:rPr lang="ru-RU" dirty="0" err="1"/>
              <a:t>Андреянков</a:t>
            </a:r>
            <a:endParaRPr spc="-10" dirty="0"/>
          </a:p>
          <a:p>
            <a:pPr marL="0" indent="0">
              <a:lnSpc>
                <a:spcPct val="100000"/>
              </a:lnSpc>
              <a:spcBef>
                <a:spcPts val="380"/>
              </a:spcBef>
              <a:buNone/>
            </a:pPr>
            <a:r>
              <a:rPr lang="en-US" sz="1000" b="0" dirty="0">
                <a:solidFill>
                  <a:srgbClr val="000000"/>
                </a:solidFill>
              </a:rPr>
              <a:t>Senior ML Engineer</a:t>
            </a:r>
            <a:endParaRPr sz="1000" dirty="0">
              <a:latin typeface="Trebuchet MS"/>
              <a:cs typeface="Trebuchet MS"/>
            </a:endParaRPr>
          </a:p>
          <a:p>
            <a:pPr marL="120650" indent="0">
              <a:lnSpc>
                <a:spcPct val="100000"/>
              </a:lnSpc>
              <a:buNone/>
            </a:pPr>
            <a:endParaRPr sz="1000" dirty="0">
              <a:latin typeface="Trebuchet MS"/>
              <a:cs typeface="Trebuchet MS"/>
            </a:endParaRPr>
          </a:p>
          <a:p>
            <a:pPr marL="120650" indent="0">
              <a:lnSpc>
                <a:spcPct val="100000"/>
              </a:lnSpc>
              <a:spcBef>
                <a:spcPts val="1135"/>
              </a:spcBef>
              <a:buNone/>
            </a:pPr>
            <a:endParaRPr sz="1000" dirty="0">
              <a:latin typeface="Trebuchet MS"/>
              <a:cs typeface="Trebuchet MS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pc="-10" dirty="0" err="1"/>
              <a:t>И</a:t>
            </a:r>
            <a:r>
              <a:rPr lang="ru-RU" spc="-10" dirty="0" err="1"/>
              <a:t>лья</a:t>
            </a:r>
            <a:r>
              <a:rPr lang="ru-RU" spc="-10" dirty="0"/>
              <a:t> </a:t>
            </a:r>
            <a:r>
              <a:rPr lang="ru-RU" spc="-10" dirty="0" err="1"/>
              <a:t>Ящук</a:t>
            </a:r>
            <a:endParaRPr spc="-10" dirty="0"/>
          </a:p>
          <a:p>
            <a:pPr marL="0" marR="467995" indent="0">
              <a:lnSpc>
                <a:spcPct val="118000"/>
              </a:lnSpc>
              <a:spcBef>
                <a:spcPts val="190"/>
              </a:spcBef>
              <a:buNone/>
            </a:pPr>
            <a:r>
              <a:rPr lang="en-US" sz="1000" b="0" spc="10" dirty="0">
                <a:solidFill>
                  <a:srgbClr val="000000"/>
                </a:solidFill>
              </a:rPr>
              <a:t>ML Engineer</a:t>
            </a:r>
            <a:endParaRPr sz="1000" dirty="0">
              <a:latin typeface="Trebuchet MS"/>
              <a:cs typeface="Trebuchet MS"/>
            </a:endParaRPr>
          </a:p>
          <a:p>
            <a:pPr marL="120650" indent="0">
              <a:lnSpc>
                <a:spcPct val="100000"/>
              </a:lnSpc>
              <a:spcBef>
                <a:spcPts val="905"/>
              </a:spcBef>
              <a:buNone/>
            </a:pPr>
            <a:endParaRPr sz="1000" dirty="0">
              <a:latin typeface="Trebuchet MS"/>
              <a:cs typeface="Trebuchet MS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dirty="0"/>
              <a:t>Петр</a:t>
            </a:r>
            <a:r>
              <a:rPr spc="-60" dirty="0"/>
              <a:t> </a:t>
            </a:r>
            <a:r>
              <a:rPr spc="-10" dirty="0"/>
              <a:t>Емельянов</a:t>
            </a:r>
          </a:p>
          <a:p>
            <a:pPr marL="0" indent="0">
              <a:lnSpc>
                <a:spcPct val="100000"/>
              </a:lnSpc>
              <a:spcBef>
                <a:spcPts val="405"/>
              </a:spcBef>
              <a:buNone/>
            </a:pPr>
            <a:r>
              <a:rPr sz="1000" b="0" spc="-25" dirty="0">
                <a:solidFill>
                  <a:srgbClr val="000000"/>
                </a:solidFill>
                <a:latin typeface="Trebuchet MS"/>
                <a:cs typeface="Trebuchet MS"/>
              </a:rPr>
              <a:t>CEO</a:t>
            </a:r>
            <a:endParaRPr sz="1000" dirty="0">
              <a:latin typeface="Trebuchet MS"/>
              <a:cs typeface="Trebuchet MS"/>
            </a:endParaRPr>
          </a:p>
          <a:p>
            <a:pPr marL="120650" indent="0">
              <a:lnSpc>
                <a:spcPct val="100000"/>
              </a:lnSpc>
              <a:buNone/>
            </a:pPr>
            <a:endParaRPr sz="1000" dirty="0">
              <a:latin typeface="Trebuchet MS"/>
              <a:cs typeface="Trebuchet MS"/>
            </a:endParaRPr>
          </a:p>
          <a:p>
            <a:pPr marL="120650" indent="0">
              <a:lnSpc>
                <a:spcPct val="100000"/>
              </a:lnSpc>
              <a:spcBef>
                <a:spcPts val="1135"/>
              </a:spcBef>
              <a:buNone/>
            </a:pPr>
            <a:endParaRPr sz="1000" dirty="0">
              <a:latin typeface="Trebuchet MS"/>
              <a:cs typeface="Trebuchet MS"/>
            </a:endParaRPr>
          </a:p>
          <a:p>
            <a:pPr marL="0" indent="0">
              <a:lnSpc>
                <a:spcPct val="100000"/>
              </a:lnSpc>
              <a:spcBef>
                <a:spcPts val="5"/>
              </a:spcBef>
              <a:buNone/>
            </a:pPr>
            <a:r>
              <a:rPr lang="en-US" dirty="0" err="1"/>
              <a:t>Д</a:t>
            </a:r>
            <a:r>
              <a:rPr lang="ru-RU" dirty="0" err="1"/>
              <a:t>митрий</a:t>
            </a:r>
            <a:r>
              <a:rPr lang="ru-RU" dirty="0"/>
              <a:t> Колесников</a:t>
            </a:r>
            <a:endParaRPr spc="-10" dirty="0"/>
          </a:p>
          <a:p>
            <a:pPr marL="0" indent="0">
              <a:lnSpc>
                <a:spcPct val="100000"/>
              </a:lnSpc>
              <a:spcBef>
                <a:spcPts val="380"/>
              </a:spcBef>
              <a:buNone/>
            </a:pPr>
            <a:r>
              <a:rPr lang="en-US" sz="1000" b="0" dirty="0" err="1">
                <a:solidFill>
                  <a:srgbClr val="000000"/>
                </a:solidFill>
              </a:rPr>
              <a:t>TeamLead</a:t>
            </a:r>
            <a:r>
              <a:rPr lang="en-US" sz="1000" b="0" dirty="0">
                <a:solidFill>
                  <a:srgbClr val="000000"/>
                </a:solidFill>
              </a:rPr>
              <a:t> CV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4099" y="1195199"/>
            <a:ext cx="520700" cy="3617595"/>
          </a:xfrm>
          <a:custGeom>
            <a:avLst/>
            <a:gdLst/>
            <a:ahLst/>
            <a:cxnLst/>
            <a:rect l="l" t="t" r="r" b="b"/>
            <a:pathLst>
              <a:path w="520700" h="3617595">
                <a:moveTo>
                  <a:pt x="520200" y="0"/>
                </a:moveTo>
                <a:lnTo>
                  <a:pt x="0" y="0"/>
                </a:lnTo>
                <a:lnTo>
                  <a:pt x="0" y="3617576"/>
                </a:lnTo>
                <a:lnTo>
                  <a:pt x="520200" y="3617576"/>
                </a:lnTo>
                <a:lnTo>
                  <a:pt x="520200" y="0"/>
                </a:lnTo>
                <a:close/>
              </a:path>
            </a:pathLst>
          </a:custGeom>
          <a:solidFill>
            <a:srgbClr val="FFA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 rotWithShape="1">
          <a:blip r:embed="rId2"/>
          <a:srcRect b="30726"/>
          <a:stretch/>
        </p:blipFill>
        <p:spPr>
          <a:xfrm>
            <a:off x="789919" y="1264860"/>
            <a:ext cx="781466" cy="819000"/>
          </a:xfrm>
          <a:prstGeom prst="ellipse">
            <a:avLst/>
          </a:prstGeom>
          <a:ln>
            <a:noFill/>
          </a:ln>
          <a:effectLst/>
        </p:spPr>
      </p:pic>
      <p:pic>
        <p:nvPicPr>
          <p:cNvPr id="7" name="object 7"/>
          <p:cNvPicPr/>
          <p:nvPr/>
        </p:nvPicPr>
        <p:blipFill>
          <a:blip r:embed="rId3"/>
          <a:srcRect/>
          <a:stretch/>
        </p:blipFill>
        <p:spPr>
          <a:xfrm>
            <a:off x="789919" y="2150641"/>
            <a:ext cx="819000" cy="819000"/>
          </a:xfrm>
          <a:prstGeom prst="ellipse">
            <a:avLst/>
          </a:prstGeom>
          <a:ln>
            <a:noFill/>
          </a:ln>
          <a:effectLst/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9919" y="3021637"/>
            <a:ext cx="830099" cy="8190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 rotWithShape="1">
          <a:blip r:embed="rId5"/>
          <a:srcRect b="21116"/>
          <a:stretch/>
        </p:blipFill>
        <p:spPr>
          <a:xfrm>
            <a:off x="789919" y="3894443"/>
            <a:ext cx="830099" cy="818998"/>
          </a:xfrm>
          <a:prstGeom prst="ellipse">
            <a:avLst/>
          </a:prstGeom>
          <a:ln>
            <a:noFill/>
          </a:ln>
          <a:effectLst/>
        </p:spPr>
      </p:pic>
      <p:sp>
        <p:nvSpPr>
          <p:cNvPr id="10" name="object 10"/>
          <p:cNvSpPr txBox="1"/>
          <p:nvPr/>
        </p:nvSpPr>
        <p:spPr>
          <a:xfrm>
            <a:off x="5372360" y="1441958"/>
            <a:ext cx="1589405" cy="131826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lang="en-US" sz="1500" b="1" dirty="0" err="1">
                <a:solidFill>
                  <a:srgbClr val="FF9900"/>
                </a:solidFill>
                <a:latin typeface="Trebuchet MS"/>
                <a:cs typeface="Trebuchet MS"/>
              </a:rPr>
              <a:t>Р</a:t>
            </a:r>
            <a:r>
              <a:rPr lang="ru-RU" sz="1500" b="1" dirty="0" err="1">
                <a:solidFill>
                  <a:srgbClr val="FF9900"/>
                </a:solidFill>
                <a:latin typeface="Trebuchet MS"/>
                <a:cs typeface="Trebuchet MS"/>
              </a:rPr>
              <a:t>оман</a:t>
            </a:r>
            <a:r>
              <a:rPr lang="ru-RU" sz="1500" b="1" dirty="0">
                <a:solidFill>
                  <a:srgbClr val="FF9900"/>
                </a:solidFill>
                <a:latin typeface="Trebuchet MS"/>
                <a:cs typeface="Trebuchet MS"/>
              </a:rPr>
              <a:t> Козлов</a:t>
            </a:r>
            <a:endParaRPr sz="15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lang="en-US" sz="1000" spc="-20" dirty="0" err="1">
                <a:latin typeface="Trebuchet MS"/>
                <a:cs typeface="Trebuchet MS"/>
              </a:rPr>
              <a:t>В</a:t>
            </a:r>
            <a:r>
              <a:rPr lang="ru-RU" sz="1000" spc="-20" dirty="0">
                <a:latin typeface="Trebuchet MS"/>
                <a:cs typeface="Trebuchet MS"/>
              </a:rPr>
              <a:t>едущий аналитик</a:t>
            </a:r>
            <a:endParaRPr sz="1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Николай</a:t>
            </a:r>
            <a:r>
              <a:rPr sz="1500" b="1" spc="-45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Осипов</a:t>
            </a:r>
            <a:endParaRPr sz="15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000" spc="90" dirty="0">
                <a:latin typeface="Trebuchet MS"/>
                <a:cs typeface="Trebuchet MS"/>
              </a:rPr>
              <a:t>ML</a:t>
            </a:r>
            <a:r>
              <a:rPr sz="1000" spc="-5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Engineer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885690" y="1160852"/>
            <a:ext cx="520700" cy="3617595"/>
          </a:xfrm>
          <a:custGeom>
            <a:avLst/>
            <a:gdLst/>
            <a:ahLst/>
            <a:cxnLst/>
            <a:rect l="l" t="t" r="r" b="b"/>
            <a:pathLst>
              <a:path w="520700" h="3617595">
                <a:moveTo>
                  <a:pt x="520200" y="0"/>
                </a:moveTo>
                <a:lnTo>
                  <a:pt x="0" y="0"/>
                </a:lnTo>
                <a:lnTo>
                  <a:pt x="0" y="3617576"/>
                </a:lnTo>
                <a:lnTo>
                  <a:pt x="520200" y="3617576"/>
                </a:lnTo>
                <a:lnTo>
                  <a:pt x="520200" y="0"/>
                </a:lnTo>
                <a:close/>
              </a:path>
            </a:pathLst>
          </a:custGeom>
          <a:solidFill>
            <a:srgbClr val="FFA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6"/>
          <a:srcRect/>
          <a:stretch/>
        </p:blipFill>
        <p:spPr>
          <a:xfrm>
            <a:off x="7472205" y="1245298"/>
            <a:ext cx="818143" cy="818998"/>
          </a:xfrm>
          <a:prstGeom prst="ellipse">
            <a:avLst/>
          </a:prstGeom>
          <a:ln>
            <a:noFill/>
          </a:ln>
          <a:effectLst/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66227" y="2987290"/>
            <a:ext cx="830099" cy="81900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466227" y="2116293"/>
            <a:ext cx="830099" cy="81900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466227" y="3894442"/>
            <a:ext cx="830099" cy="81899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372360" y="3193033"/>
            <a:ext cx="1729105" cy="134747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Николай</a:t>
            </a:r>
            <a:r>
              <a:rPr sz="1500" b="1" spc="-45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Степанов</a:t>
            </a:r>
            <a:endParaRPr sz="15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000" spc="90" dirty="0">
                <a:latin typeface="Trebuchet MS"/>
                <a:cs typeface="Trebuchet MS"/>
              </a:rPr>
              <a:t>ML</a:t>
            </a:r>
            <a:r>
              <a:rPr sz="1000" spc="-5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Engineer</a:t>
            </a:r>
            <a:endParaRPr sz="1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Инна</a:t>
            </a:r>
            <a:r>
              <a:rPr sz="1500" b="1" spc="-105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Мельникова</a:t>
            </a:r>
            <a:endParaRPr sz="15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000" dirty="0">
                <a:latin typeface="Trebuchet MS"/>
                <a:cs typeface="Trebuchet MS"/>
              </a:rPr>
              <a:t>Комьюнити</a:t>
            </a:r>
            <a:r>
              <a:rPr sz="1000" spc="16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менеджер</a:t>
            </a:r>
            <a:endParaRPr sz="1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0150" y="2051811"/>
            <a:ext cx="414909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100" dirty="0">
                <a:solidFill>
                  <a:srgbClr val="FFFFFF"/>
                </a:solidFill>
              </a:rPr>
              <a:t>О</a:t>
            </a:r>
            <a:r>
              <a:rPr sz="4600" spc="-250" dirty="0">
                <a:solidFill>
                  <a:srgbClr val="FFFFFF"/>
                </a:solidFill>
              </a:rPr>
              <a:t> </a:t>
            </a:r>
            <a:r>
              <a:rPr sz="4600" spc="-85" dirty="0">
                <a:solidFill>
                  <a:srgbClr val="FFFFFF"/>
                </a:solidFill>
              </a:rPr>
              <a:t>курсе</a:t>
            </a:r>
            <a:r>
              <a:rPr sz="4600" spc="-250" dirty="0">
                <a:solidFill>
                  <a:srgbClr val="FFFFFF"/>
                </a:solidFill>
              </a:rPr>
              <a:t> </a:t>
            </a:r>
            <a:r>
              <a:rPr sz="4600" spc="125" dirty="0">
                <a:solidFill>
                  <a:srgbClr val="FFFFFF"/>
                </a:solidFill>
              </a:rPr>
              <a:t>MLOps</a:t>
            </a:r>
            <a:endParaRPr sz="46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Карта</a:t>
            </a:r>
            <a:r>
              <a:rPr spc="-170" dirty="0"/>
              <a:t> </a:t>
            </a:r>
            <a:r>
              <a:rPr spc="-10" dirty="0"/>
              <a:t>курса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549" y="769970"/>
            <a:ext cx="8103391" cy="40440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51378" y="911859"/>
            <a:ext cx="10845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1.</a:t>
            </a:r>
            <a:r>
              <a:rPr sz="16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Процессы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3384" y="1804923"/>
            <a:ext cx="16262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2.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Инфраструктура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53384" y="2655316"/>
            <a:ext cx="16605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4.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Моделирование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3384" y="2655316"/>
            <a:ext cx="11715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5.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Валидация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63384" y="3508755"/>
            <a:ext cx="15443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6.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Развертывание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53384" y="3508755"/>
            <a:ext cx="13055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7.</a:t>
            </a:r>
            <a:r>
              <a:rPr sz="16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Мониторинг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51378" y="4400296"/>
            <a:ext cx="151765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60" dirty="0">
                <a:latin typeface="Trebuchet MS"/>
                <a:cs typeface="Trebuchet MS"/>
              </a:rPr>
              <a:t>8.</a:t>
            </a:r>
            <a:r>
              <a:rPr sz="1300" spc="-5" dirty="0">
                <a:latin typeface="Trebuchet MS"/>
                <a:cs typeface="Trebuchet MS"/>
              </a:rPr>
              <a:t> </a:t>
            </a:r>
            <a:r>
              <a:rPr sz="1300" dirty="0">
                <a:latin typeface="Trebuchet MS"/>
                <a:cs typeface="Trebuchet MS"/>
              </a:rPr>
              <a:t>Курсовой </a:t>
            </a:r>
            <a:r>
              <a:rPr sz="1300" spc="-10" dirty="0">
                <a:latin typeface="Trebuchet MS"/>
                <a:cs typeface="Trebuchet MS"/>
              </a:rPr>
              <a:t>проект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95016" y="1338072"/>
            <a:ext cx="4761230" cy="1149350"/>
            <a:chOff x="2795016" y="1338072"/>
            <a:chExt cx="4761230" cy="114935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20639" y="1338072"/>
              <a:ext cx="246887" cy="24688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95016" y="2237232"/>
              <a:ext cx="249936" cy="24993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06056" y="2231136"/>
              <a:ext cx="249935" cy="24993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445856" y="1344676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20740" y="2246883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53384" y="1804923"/>
            <a:ext cx="2380615" cy="614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3.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Подготовка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6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1510"/>
              </a:spcBef>
            </a:pPr>
            <a:r>
              <a:rPr sz="1000" i="1" spc="-1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89109" y="878379"/>
            <a:ext cx="6843395" cy="3844290"/>
            <a:chOff x="789109" y="878379"/>
            <a:chExt cx="6843395" cy="3844290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06056" y="3090671"/>
              <a:ext cx="249935" cy="24688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46248" y="3090671"/>
              <a:ext cx="249936" cy="24688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46248" y="3944111"/>
              <a:ext cx="249936" cy="24993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85304" y="3944111"/>
              <a:ext cx="246888" cy="24993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65383" y="878379"/>
              <a:ext cx="419929" cy="3960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9109" y="1771398"/>
              <a:ext cx="419929" cy="3960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79110" y="1770692"/>
              <a:ext cx="419929" cy="3960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79110" y="2609735"/>
              <a:ext cx="419929" cy="3960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9109" y="2616087"/>
              <a:ext cx="419929" cy="3960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89109" y="3457464"/>
              <a:ext cx="419929" cy="39599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379110" y="3471719"/>
              <a:ext cx="419929" cy="3960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165383" y="4326413"/>
              <a:ext cx="419929" cy="39600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633945" y="3097276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072375" y="3097276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072375" y="3953764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710740" y="3953764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6712" y="36601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2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2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8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5344" y="3742435"/>
            <a:ext cx="19069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Взаимодействие</a:t>
            </a:r>
            <a:r>
              <a:rPr sz="1200" spc="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</a:t>
            </a:r>
            <a:r>
              <a:rPr sz="1200" spc="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командой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5" name="object 5"/>
          <p:cNvSpPr/>
          <p:nvPr/>
        </p:nvSpPr>
        <p:spPr>
          <a:xfrm>
            <a:off x="500550" y="1104418"/>
            <a:ext cx="2613025" cy="579755"/>
          </a:xfrm>
          <a:custGeom>
            <a:avLst/>
            <a:gdLst/>
            <a:ahLst/>
            <a:cxnLst/>
            <a:rect l="l" t="t" r="r" b="b"/>
            <a:pathLst>
              <a:path w="2613025" h="579755">
                <a:moveTo>
                  <a:pt x="2515913" y="0"/>
                </a:moveTo>
                <a:lnTo>
                  <a:pt x="96553" y="0"/>
                </a:lnTo>
                <a:lnTo>
                  <a:pt x="58970" y="7587"/>
                </a:lnTo>
                <a:lnTo>
                  <a:pt x="28279" y="28279"/>
                </a:lnTo>
                <a:lnTo>
                  <a:pt x="7587" y="58970"/>
                </a:lnTo>
                <a:lnTo>
                  <a:pt x="0" y="96553"/>
                </a:lnTo>
                <a:lnTo>
                  <a:pt x="0" y="482747"/>
                </a:lnTo>
                <a:lnTo>
                  <a:pt x="7587" y="520330"/>
                </a:lnTo>
                <a:lnTo>
                  <a:pt x="28279" y="551020"/>
                </a:lnTo>
                <a:lnTo>
                  <a:pt x="58970" y="571712"/>
                </a:lnTo>
                <a:lnTo>
                  <a:pt x="96553" y="579300"/>
                </a:lnTo>
                <a:lnTo>
                  <a:pt x="2515913" y="579300"/>
                </a:lnTo>
                <a:lnTo>
                  <a:pt x="2553496" y="571712"/>
                </a:lnTo>
                <a:lnTo>
                  <a:pt x="2584186" y="551020"/>
                </a:lnTo>
                <a:lnTo>
                  <a:pt x="2604878" y="520330"/>
                </a:lnTo>
                <a:lnTo>
                  <a:pt x="2612466" y="482747"/>
                </a:lnTo>
                <a:lnTo>
                  <a:pt x="2612466" y="96553"/>
                </a:lnTo>
                <a:lnTo>
                  <a:pt x="2604878" y="58970"/>
                </a:lnTo>
                <a:lnTo>
                  <a:pt x="2584186" y="28279"/>
                </a:lnTo>
                <a:lnTo>
                  <a:pt x="2553496" y="7587"/>
                </a:lnTo>
                <a:lnTo>
                  <a:pt x="251591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9928" y="1247140"/>
            <a:ext cx="10845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1.</a:t>
            </a:r>
            <a:r>
              <a:rPr sz="16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Процессы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6712" y="209304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1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5344" y="2172716"/>
            <a:ext cx="25590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Вводное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занятие,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знакомство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курсом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6712" y="2615406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8"/>
                </a:lnTo>
                <a:lnTo>
                  <a:pt x="5355965" y="329998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5344" y="2696972"/>
            <a:ext cx="19291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Цели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метрики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ML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проектов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6712" y="3137768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5344" y="3218179"/>
            <a:ext cx="19297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Организация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исходного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кода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1833" y="4182493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90463" y="4263644"/>
            <a:ext cx="3123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Практика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–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 Формирование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процессов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команды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802015" y="1683727"/>
            <a:ext cx="5735688" cy="2857791"/>
            <a:chOff x="1802015" y="1683727"/>
            <a:chExt cx="5735688" cy="2857791"/>
          </a:xfrm>
        </p:grpSpPr>
        <p:sp>
          <p:nvSpPr>
            <p:cNvPr id="16" name="object 16"/>
            <p:cNvSpPr/>
            <p:nvPr/>
          </p:nvSpPr>
          <p:spPr>
            <a:xfrm>
              <a:off x="1802015" y="1683727"/>
              <a:ext cx="424815" cy="2734945"/>
            </a:xfrm>
            <a:custGeom>
              <a:avLst/>
              <a:gdLst/>
              <a:ahLst/>
              <a:cxnLst/>
              <a:rect l="l" t="t" r="r" b="b"/>
              <a:pathLst>
                <a:path w="424814" h="2734945">
                  <a:moveTo>
                    <a:pt x="424688" y="607314"/>
                  </a:moveTo>
                  <a:lnTo>
                    <a:pt x="415163" y="602551"/>
                  </a:lnTo>
                  <a:lnTo>
                    <a:pt x="348488" y="569214"/>
                  </a:lnTo>
                  <a:lnTo>
                    <a:pt x="348488" y="602551"/>
                  </a:lnTo>
                  <a:lnTo>
                    <a:pt x="9525" y="602551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609955"/>
                  </a:lnTo>
                  <a:lnTo>
                    <a:pt x="0" y="1132319"/>
                  </a:lnTo>
                  <a:lnTo>
                    <a:pt x="0" y="1654670"/>
                  </a:lnTo>
                  <a:lnTo>
                    <a:pt x="0" y="2699397"/>
                  </a:lnTo>
                  <a:lnTo>
                    <a:pt x="2133" y="2701531"/>
                  </a:lnTo>
                  <a:lnTo>
                    <a:pt x="343611" y="2701531"/>
                  </a:lnTo>
                  <a:lnTo>
                    <a:pt x="343611" y="2734868"/>
                  </a:lnTo>
                  <a:lnTo>
                    <a:pt x="410286" y="2701531"/>
                  </a:lnTo>
                  <a:lnTo>
                    <a:pt x="419811" y="2696768"/>
                  </a:lnTo>
                  <a:lnTo>
                    <a:pt x="410286" y="2692006"/>
                  </a:lnTo>
                  <a:lnTo>
                    <a:pt x="343611" y="2658668"/>
                  </a:lnTo>
                  <a:lnTo>
                    <a:pt x="343611" y="2692006"/>
                  </a:lnTo>
                  <a:lnTo>
                    <a:pt x="9525" y="2692006"/>
                  </a:lnTo>
                  <a:lnTo>
                    <a:pt x="9525" y="1656803"/>
                  </a:lnTo>
                  <a:lnTo>
                    <a:pt x="348488" y="1656803"/>
                  </a:lnTo>
                  <a:lnTo>
                    <a:pt x="348488" y="1690141"/>
                  </a:lnTo>
                  <a:lnTo>
                    <a:pt x="415163" y="1656803"/>
                  </a:lnTo>
                  <a:lnTo>
                    <a:pt x="424688" y="1652041"/>
                  </a:lnTo>
                  <a:lnTo>
                    <a:pt x="415163" y="1647278"/>
                  </a:lnTo>
                  <a:lnTo>
                    <a:pt x="348488" y="1613941"/>
                  </a:lnTo>
                  <a:lnTo>
                    <a:pt x="348488" y="1647278"/>
                  </a:lnTo>
                  <a:lnTo>
                    <a:pt x="9525" y="1647278"/>
                  </a:lnTo>
                  <a:lnTo>
                    <a:pt x="9525" y="1134440"/>
                  </a:lnTo>
                  <a:lnTo>
                    <a:pt x="348488" y="1134440"/>
                  </a:lnTo>
                  <a:lnTo>
                    <a:pt x="348488" y="1167777"/>
                  </a:lnTo>
                  <a:lnTo>
                    <a:pt x="415163" y="1134440"/>
                  </a:lnTo>
                  <a:lnTo>
                    <a:pt x="424688" y="1129677"/>
                  </a:lnTo>
                  <a:lnTo>
                    <a:pt x="415163" y="1124915"/>
                  </a:lnTo>
                  <a:lnTo>
                    <a:pt x="348488" y="1091577"/>
                  </a:lnTo>
                  <a:lnTo>
                    <a:pt x="348488" y="1124915"/>
                  </a:lnTo>
                  <a:lnTo>
                    <a:pt x="9525" y="1124915"/>
                  </a:lnTo>
                  <a:lnTo>
                    <a:pt x="9525" y="612076"/>
                  </a:lnTo>
                  <a:lnTo>
                    <a:pt x="348488" y="612076"/>
                  </a:lnTo>
                  <a:lnTo>
                    <a:pt x="348488" y="645414"/>
                  </a:lnTo>
                  <a:lnTo>
                    <a:pt x="415163" y="612076"/>
                  </a:lnTo>
                  <a:lnTo>
                    <a:pt x="424688" y="6073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1568" y="4212335"/>
              <a:ext cx="326135" cy="32918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802020" y="2193324"/>
              <a:ext cx="424815" cy="1703070"/>
            </a:xfrm>
            <a:custGeom>
              <a:avLst/>
              <a:gdLst/>
              <a:ahLst/>
              <a:cxnLst/>
              <a:rect l="l" t="t" r="r" b="b"/>
              <a:pathLst>
                <a:path w="424814" h="1703070">
                  <a:moveTo>
                    <a:pt x="348491" y="1626707"/>
                  </a:moveTo>
                  <a:lnTo>
                    <a:pt x="348491" y="1702907"/>
                  </a:lnTo>
                  <a:lnTo>
                    <a:pt x="415166" y="1669569"/>
                  </a:lnTo>
                  <a:lnTo>
                    <a:pt x="361191" y="1669569"/>
                  </a:lnTo>
                  <a:lnTo>
                    <a:pt x="361191" y="1660044"/>
                  </a:lnTo>
                  <a:lnTo>
                    <a:pt x="415166" y="1660044"/>
                  </a:lnTo>
                  <a:lnTo>
                    <a:pt x="348491" y="1626707"/>
                  </a:lnTo>
                  <a:close/>
                </a:path>
                <a:path w="424814" h="1703070">
                  <a:moveTo>
                    <a:pt x="9525" y="0"/>
                  </a:moveTo>
                  <a:lnTo>
                    <a:pt x="0" y="0"/>
                  </a:lnTo>
                  <a:lnTo>
                    <a:pt x="0" y="1667437"/>
                  </a:lnTo>
                  <a:lnTo>
                    <a:pt x="2132" y="1669569"/>
                  </a:lnTo>
                  <a:lnTo>
                    <a:pt x="348491" y="1669569"/>
                  </a:lnTo>
                  <a:lnTo>
                    <a:pt x="348491" y="1664807"/>
                  </a:lnTo>
                  <a:lnTo>
                    <a:pt x="9525" y="1664807"/>
                  </a:lnTo>
                  <a:lnTo>
                    <a:pt x="4762" y="1660044"/>
                  </a:lnTo>
                  <a:lnTo>
                    <a:pt x="9525" y="1660044"/>
                  </a:lnTo>
                  <a:lnTo>
                    <a:pt x="9525" y="0"/>
                  </a:lnTo>
                  <a:close/>
                </a:path>
                <a:path w="424814" h="1703070">
                  <a:moveTo>
                    <a:pt x="415166" y="1660044"/>
                  </a:moveTo>
                  <a:lnTo>
                    <a:pt x="361191" y="1660044"/>
                  </a:lnTo>
                  <a:lnTo>
                    <a:pt x="361191" y="1669569"/>
                  </a:lnTo>
                  <a:lnTo>
                    <a:pt x="415166" y="1669569"/>
                  </a:lnTo>
                  <a:lnTo>
                    <a:pt x="424691" y="1664807"/>
                  </a:lnTo>
                  <a:lnTo>
                    <a:pt x="415166" y="1660044"/>
                  </a:lnTo>
                  <a:close/>
                </a:path>
                <a:path w="424814" h="1703070">
                  <a:moveTo>
                    <a:pt x="9525" y="1660044"/>
                  </a:moveTo>
                  <a:lnTo>
                    <a:pt x="4762" y="1660044"/>
                  </a:lnTo>
                  <a:lnTo>
                    <a:pt x="9525" y="1664807"/>
                  </a:lnTo>
                  <a:lnTo>
                    <a:pt x="9525" y="1660044"/>
                  </a:lnTo>
                  <a:close/>
                </a:path>
                <a:path w="424814" h="1703070">
                  <a:moveTo>
                    <a:pt x="348491" y="1660044"/>
                  </a:moveTo>
                  <a:lnTo>
                    <a:pt x="9525" y="1660044"/>
                  </a:lnTo>
                  <a:lnTo>
                    <a:pt x="9525" y="1664807"/>
                  </a:lnTo>
                  <a:lnTo>
                    <a:pt x="348491" y="1664807"/>
                  </a:lnTo>
                  <a:lnTo>
                    <a:pt x="348491" y="16600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802020" y="2193324"/>
              <a:ext cx="424815" cy="1703070"/>
            </a:xfrm>
            <a:custGeom>
              <a:avLst/>
              <a:gdLst/>
              <a:ahLst/>
              <a:cxnLst/>
              <a:rect l="l" t="t" r="r" b="b"/>
              <a:pathLst>
                <a:path w="424814" h="1703070">
                  <a:moveTo>
                    <a:pt x="348491" y="1626707"/>
                  </a:moveTo>
                  <a:lnTo>
                    <a:pt x="348491" y="1702907"/>
                  </a:lnTo>
                  <a:lnTo>
                    <a:pt x="415166" y="1669569"/>
                  </a:lnTo>
                  <a:lnTo>
                    <a:pt x="361191" y="1669569"/>
                  </a:lnTo>
                  <a:lnTo>
                    <a:pt x="361191" y="1660044"/>
                  </a:lnTo>
                  <a:lnTo>
                    <a:pt x="415166" y="1660044"/>
                  </a:lnTo>
                  <a:lnTo>
                    <a:pt x="348491" y="1626707"/>
                  </a:lnTo>
                  <a:close/>
                </a:path>
                <a:path w="424814" h="1703070">
                  <a:moveTo>
                    <a:pt x="9525" y="0"/>
                  </a:moveTo>
                  <a:lnTo>
                    <a:pt x="0" y="0"/>
                  </a:lnTo>
                  <a:lnTo>
                    <a:pt x="0" y="1667437"/>
                  </a:lnTo>
                  <a:lnTo>
                    <a:pt x="2132" y="1669569"/>
                  </a:lnTo>
                  <a:lnTo>
                    <a:pt x="348491" y="1669569"/>
                  </a:lnTo>
                  <a:lnTo>
                    <a:pt x="348491" y="1664807"/>
                  </a:lnTo>
                  <a:lnTo>
                    <a:pt x="9525" y="1664807"/>
                  </a:lnTo>
                  <a:lnTo>
                    <a:pt x="4762" y="1660044"/>
                  </a:lnTo>
                  <a:lnTo>
                    <a:pt x="9525" y="1660044"/>
                  </a:lnTo>
                  <a:lnTo>
                    <a:pt x="9525" y="0"/>
                  </a:lnTo>
                  <a:close/>
                </a:path>
                <a:path w="424814" h="1703070">
                  <a:moveTo>
                    <a:pt x="415166" y="1660044"/>
                  </a:moveTo>
                  <a:lnTo>
                    <a:pt x="361191" y="1660044"/>
                  </a:lnTo>
                  <a:lnTo>
                    <a:pt x="361191" y="1669569"/>
                  </a:lnTo>
                  <a:lnTo>
                    <a:pt x="415166" y="1669569"/>
                  </a:lnTo>
                  <a:lnTo>
                    <a:pt x="424691" y="1664807"/>
                  </a:lnTo>
                  <a:lnTo>
                    <a:pt x="415166" y="1660044"/>
                  </a:lnTo>
                  <a:close/>
                </a:path>
                <a:path w="424814" h="1703070">
                  <a:moveTo>
                    <a:pt x="9525" y="1660044"/>
                  </a:moveTo>
                  <a:lnTo>
                    <a:pt x="4762" y="1660044"/>
                  </a:lnTo>
                  <a:lnTo>
                    <a:pt x="9525" y="1664807"/>
                  </a:lnTo>
                  <a:lnTo>
                    <a:pt x="9525" y="1660044"/>
                  </a:lnTo>
                  <a:close/>
                </a:path>
                <a:path w="424814" h="1703070">
                  <a:moveTo>
                    <a:pt x="348491" y="1660044"/>
                  </a:moveTo>
                  <a:lnTo>
                    <a:pt x="9525" y="1660044"/>
                  </a:lnTo>
                  <a:lnTo>
                    <a:pt x="9525" y="1664807"/>
                  </a:lnTo>
                  <a:lnTo>
                    <a:pt x="348491" y="1664807"/>
                  </a:lnTo>
                  <a:lnTo>
                    <a:pt x="348491" y="16600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 rot="20760000">
            <a:off x="7618361" y="4213134"/>
            <a:ext cx="826437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i="1" spc="-65" dirty="0">
                <a:latin typeface="Georgia"/>
                <a:cs typeface="Georgia"/>
              </a:rPr>
              <a:t>HomeTask</a:t>
            </a:r>
            <a:endParaRPr sz="1400">
              <a:latin typeface="Georgia"/>
              <a:cs typeface="Georgia"/>
            </a:endParaRPr>
          </a:p>
        </p:txBody>
      </p:sp>
      <p:pic>
        <p:nvPicPr>
          <p:cNvPr id="38" name="object 3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0618" y="1200956"/>
            <a:ext cx="419929" cy="396000"/>
          </a:xfrm>
          <a:prstGeom prst="rect">
            <a:avLst/>
          </a:prstGeom>
        </p:spPr>
      </p:pic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D94F9B6C-4E82-AD4D-ABCA-E32263210714}"/>
              </a:ext>
            </a:extLst>
          </p:cNvPr>
          <p:cNvCxnSpPr>
            <a:cxnSpLocks/>
            <a:stCxn id="54" idx="2"/>
            <a:endCxn id="59" idx="1"/>
          </p:cNvCxnSpPr>
          <p:nvPr/>
        </p:nvCxnSpPr>
        <p:spPr>
          <a:xfrm rot="16200000" flipH="1">
            <a:off x="1883525" y="1483764"/>
            <a:ext cx="306124" cy="37048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84431C1-2EC4-2F40-BD3E-A484A06A8F92}"/>
              </a:ext>
            </a:extLst>
          </p:cNvPr>
          <p:cNvGrpSpPr/>
          <p:nvPr/>
        </p:nvGrpSpPr>
        <p:grpSpPr>
          <a:xfrm>
            <a:off x="544833" y="936189"/>
            <a:ext cx="2613025" cy="579755"/>
            <a:chOff x="999635" y="945648"/>
            <a:chExt cx="2613025" cy="579755"/>
          </a:xfrm>
        </p:grpSpPr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BD44F157-FDCE-0E4D-BA44-ACC9B7647922}"/>
                </a:ext>
              </a:extLst>
            </p:cNvPr>
            <p:cNvSpPr/>
            <p:nvPr/>
          </p:nvSpPr>
          <p:spPr>
            <a:xfrm>
              <a:off x="999635" y="945648"/>
              <a:ext cx="2613025" cy="579755"/>
            </a:xfrm>
            <a:prstGeom prst="roundRect">
              <a:avLst/>
            </a:prstGeom>
            <a:solidFill>
              <a:srgbClr val="FFD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627063" algn="l"/>
              <a:r>
                <a:rPr lang="ru-RU" sz="1600" dirty="0">
                  <a:solidFill>
                    <a:schemeClr val="tx1"/>
                  </a:solidFill>
                </a:rPr>
                <a:t>2. Инфраструктура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pic>
          <p:nvPicPr>
            <p:cNvPr id="46" name="object 43">
              <a:extLst>
                <a:ext uri="{FF2B5EF4-FFF2-40B4-BE49-F238E27FC236}">
                  <a16:creationId xmlns:a16="http://schemas.microsoft.com/office/drawing/2014/main" id="{60D18522-D1F6-D840-9527-07A93E268AC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0" y="1032988"/>
              <a:ext cx="419929" cy="396000"/>
            </a:xfrm>
            <a:prstGeom prst="rect">
              <a:avLst/>
            </a:prstGeom>
          </p:spPr>
        </p:pic>
      </p:grp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3A2EACC4-8269-4A4E-92EF-588D27D491F7}"/>
              </a:ext>
            </a:extLst>
          </p:cNvPr>
          <p:cNvSpPr/>
          <p:nvPr/>
        </p:nvSpPr>
        <p:spPr>
          <a:xfrm>
            <a:off x="2221829" y="1623948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200" dirty="0">
                <a:solidFill>
                  <a:schemeClr val="tx1"/>
                </a:solidFill>
              </a:rPr>
              <a:t>Базовые блоки инфраструктуры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E0B193A2-1ED0-6741-9942-19D5B6A731E9}"/>
              </a:ext>
            </a:extLst>
          </p:cNvPr>
          <p:cNvSpPr/>
          <p:nvPr/>
        </p:nvSpPr>
        <p:spPr>
          <a:xfrm>
            <a:off x="2221828" y="2095116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200" dirty="0">
                <a:solidFill>
                  <a:schemeClr val="tx1"/>
                </a:solidFill>
              </a:rPr>
              <a:t>Облачные провайдеры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12CAD91D-B3AA-164E-855C-0C229080DDAA}"/>
              </a:ext>
            </a:extLst>
          </p:cNvPr>
          <p:cNvSpPr/>
          <p:nvPr/>
        </p:nvSpPr>
        <p:spPr>
          <a:xfrm>
            <a:off x="2221828" y="2566284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200" dirty="0">
                <a:solidFill>
                  <a:schemeClr val="tx1"/>
                </a:solidFill>
              </a:rPr>
              <a:t>Собственная инфраструктура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CB7006EA-78C4-AB4C-902A-1954E5716BEE}"/>
              </a:ext>
            </a:extLst>
          </p:cNvPr>
          <p:cNvSpPr/>
          <p:nvPr/>
        </p:nvSpPr>
        <p:spPr>
          <a:xfrm>
            <a:off x="2221827" y="3037452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200" dirty="0">
                <a:solidFill>
                  <a:schemeClr val="tx1"/>
                </a:solidFill>
              </a:rPr>
              <a:t>Изменения кода </a:t>
            </a:r>
            <a:r>
              <a:rPr lang="en-US" sz="1200" dirty="0">
                <a:solidFill>
                  <a:schemeClr val="tx1"/>
                </a:solidFill>
              </a:rPr>
              <a:t>CI/CD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B15B7345-A012-D148-9A98-5A738897261C}"/>
              </a:ext>
            </a:extLst>
          </p:cNvPr>
          <p:cNvSpPr/>
          <p:nvPr/>
        </p:nvSpPr>
        <p:spPr>
          <a:xfrm>
            <a:off x="2234710" y="3508620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200" dirty="0" err="1">
                <a:solidFill>
                  <a:schemeClr val="tx1"/>
                </a:solidFill>
              </a:rPr>
              <a:t>Биллинг</a:t>
            </a:r>
            <a:r>
              <a:rPr lang="ru-RU" sz="1200" dirty="0">
                <a:solidFill>
                  <a:schemeClr val="tx1"/>
                </a:solidFill>
              </a:rPr>
              <a:t> и </a:t>
            </a:r>
            <a:r>
              <a:rPr lang="en-US" sz="1200" dirty="0">
                <a:solidFill>
                  <a:schemeClr val="tx1"/>
                </a:solidFill>
              </a:rPr>
              <a:t>Identity and Access Management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8BAA0C98-5166-B54C-87C2-B882CC581C2F}"/>
              </a:ext>
            </a:extLst>
          </p:cNvPr>
          <p:cNvSpPr/>
          <p:nvPr/>
        </p:nvSpPr>
        <p:spPr>
          <a:xfrm>
            <a:off x="2234710" y="4450958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200" dirty="0">
                <a:solidFill>
                  <a:schemeClr val="tx1"/>
                </a:solidFill>
              </a:rPr>
              <a:t>Практика. Настройка облачной инфраструктуры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01588D1-1EF0-9042-92DF-47D17642781B}"/>
              </a:ext>
            </a:extLst>
          </p:cNvPr>
          <p:cNvSpPr/>
          <p:nvPr/>
        </p:nvSpPr>
        <p:spPr>
          <a:xfrm>
            <a:off x="2234710" y="3979788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200" dirty="0">
                <a:solidFill>
                  <a:schemeClr val="tx1"/>
                </a:solidFill>
              </a:rPr>
              <a:t>Terraform. </a:t>
            </a:r>
            <a:r>
              <a:rPr lang="ru-RU" sz="1200" dirty="0">
                <a:solidFill>
                  <a:schemeClr val="tx1"/>
                </a:solidFill>
              </a:rPr>
              <a:t>Создание инфраструктуры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37ECA220-C612-2F40-B836-244F5DF5B5F1}"/>
              </a:ext>
            </a:extLst>
          </p:cNvPr>
          <p:cNvCxnSpPr>
            <a:cxnSpLocks/>
            <a:stCxn id="54" idx="2"/>
            <a:endCxn id="61" idx="1"/>
          </p:cNvCxnSpPr>
          <p:nvPr/>
        </p:nvCxnSpPr>
        <p:spPr>
          <a:xfrm rot="16200000" flipH="1">
            <a:off x="1647941" y="1719349"/>
            <a:ext cx="777292" cy="37048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3A989974-C113-EC40-878D-3328202C0B91}"/>
              </a:ext>
            </a:extLst>
          </p:cNvPr>
          <p:cNvCxnSpPr>
            <a:cxnSpLocks/>
            <a:stCxn id="54" idx="2"/>
            <a:endCxn id="62" idx="1"/>
          </p:cNvCxnSpPr>
          <p:nvPr/>
        </p:nvCxnSpPr>
        <p:spPr>
          <a:xfrm rot="16200000" flipH="1">
            <a:off x="1412357" y="1954933"/>
            <a:ext cx="1248460" cy="37048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43EEBA0A-A597-5149-B40C-161641FE8B80}"/>
              </a:ext>
            </a:extLst>
          </p:cNvPr>
          <p:cNvCxnSpPr>
            <a:cxnSpLocks/>
            <a:stCxn id="54" idx="2"/>
            <a:endCxn id="63" idx="1"/>
          </p:cNvCxnSpPr>
          <p:nvPr/>
        </p:nvCxnSpPr>
        <p:spPr>
          <a:xfrm rot="16200000" flipH="1">
            <a:off x="1176772" y="2190517"/>
            <a:ext cx="1719628" cy="37048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B364A592-A8B7-FA46-AF49-1E9094959999}"/>
              </a:ext>
            </a:extLst>
          </p:cNvPr>
          <p:cNvCxnSpPr>
            <a:cxnSpLocks/>
            <a:stCxn id="54" idx="2"/>
            <a:endCxn id="64" idx="1"/>
          </p:cNvCxnSpPr>
          <p:nvPr/>
        </p:nvCxnSpPr>
        <p:spPr>
          <a:xfrm rot="16200000" flipH="1">
            <a:off x="947630" y="2419660"/>
            <a:ext cx="2190796" cy="38336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E7654BFA-4207-9843-AD56-DCA7709A0827}"/>
              </a:ext>
            </a:extLst>
          </p:cNvPr>
          <p:cNvCxnSpPr>
            <a:cxnSpLocks/>
            <a:stCxn id="54" idx="2"/>
            <a:endCxn id="66" idx="1"/>
          </p:cNvCxnSpPr>
          <p:nvPr/>
        </p:nvCxnSpPr>
        <p:spPr>
          <a:xfrm rot="16200000" flipH="1">
            <a:off x="712046" y="2655244"/>
            <a:ext cx="2661964" cy="38336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A4C105C8-F4A6-C445-AD2A-38C0D6417B0A}"/>
              </a:ext>
            </a:extLst>
          </p:cNvPr>
          <p:cNvCxnSpPr>
            <a:cxnSpLocks/>
            <a:stCxn id="54" idx="2"/>
            <a:endCxn id="65" idx="1"/>
          </p:cNvCxnSpPr>
          <p:nvPr/>
        </p:nvCxnSpPr>
        <p:spPr>
          <a:xfrm rot="16200000" flipH="1">
            <a:off x="476461" y="2890829"/>
            <a:ext cx="3133134" cy="38336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object 4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51917" y="4486010"/>
            <a:ext cx="326135" cy="326136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 rot="20760000">
            <a:off x="7658711" y="4497876"/>
            <a:ext cx="826437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i="1" spc="-65" dirty="0">
                <a:latin typeface="Georgia"/>
                <a:cs typeface="Georgia"/>
              </a:rPr>
              <a:t>HomeTask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1830" y="335403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0461" y="3434588"/>
            <a:ext cx="12623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Валидация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5" name="object 5"/>
          <p:cNvSpPr/>
          <p:nvPr/>
        </p:nvSpPr>
        <p:spPr>
          <a:xfrm>
            <a:off x="500550" y="1104418"/>
            <a:ext cx="2733675" cy="579755"/>
          </a:xfrm>
          <a:custGeom>
            <a:avLst/>
            <a:gdLst/>
            <a:ahLst/>
            <a:cxnLst/>
            <a:rect l="l" t="t" r="r" b="b"/>
            <a:pathLst>
              <a:path w="2733675" h="579755">
                <a:moveTo>
                  <a:pt x="2636935" y="0"/>
                </a:moveTo>
                <a:lnTo>
                  <a:pt x="96550" y="0"/>
                </a:lnTo>
                <a:lnTo>
                  <a:pt x="58968" y="7587"/>
                </a:lnTo>
                <a:lnTo>
                  <a:pt x="28279" y="28279"/>
                </a:lnTo>
                <a:lnTo>
                  <a:pt x="7587" y="58969"/>
                </a:lnTo>
                <a:lnTo>
                  <a:pt x="0" y="96551"/>
                </a:lnTo>
                <a:lnTo>
                  <a:pt x="0" y="482749"/>
                </a:lnTo>
                <a:lnTo>
                  <a:pt x="7587" y="520331"/>
                </a:lnTo>
                <a:lnTo>
                  <a:pt x="28279" y="551021"/>
                </a:lnTo>
                <a:lnTo>
                  <a:pt x="58968" y="571712"/>
                </a:lnTo>
                <a:lnTo>
                  <a:pt x="96550" y="579300"/>
                </a:lnTo>
                <a:lnTo>
                  <a:pt x="2636935" y="579300"/>
                </a:lnTo>
                <a:lnTo>
                  <a:pt x="2674517" y="571712"/>
                </a:lnTo>
                <a:lnTo>
                  <a:pt x="2705207" y="551021"/>
                </a:lnTo>
                <a:lnTo>
                  <a:pt x="2725899" y="520331"/>
                </a:lnTo>
                <a:lnTo>
                  <a:pt x="2733487" y="482749"/>
                </a:lnTo>
                <a:lnTo>
                  <a:pt x="2733487" y="96551"/>
                </a:lnTo>
                <a:lnTo>
                  <a:pt x="2725899" y="58969"/>
                </a:lnTo>
                <a:lnTo>
                  <a:pt x="2705207" y="28279"/>
                </a:lnTo>
                <a:lnTo>
                  <a:pt x="2674517" y="7587"/>
                </a:lnTo>
                <a:lnTo>
                  <a:pt x="2636935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9928" y="1247140"/>
            <a:ext cx="192023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3.</a:t>
            </a:r>
            <a:r>
              <a:rPr sz="16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Подготовка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1832" y="19164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8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0462" y="1998979"/>
            <a:ext cx="2715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Выбор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хранилища.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HDFS/S3/DataBase/etc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1830" y="239563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1"/>
                </a:lnTo>
                <a:lnTo>
                  <a:pt x="5350778" y="40311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0461" y="2477516"/>
            <a:ext cx="1957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Сбор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на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потоке.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Kafka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6712" y="287483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5344" y="2956051"/>
            <a:ext cx="24371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Сбор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расписанию.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AirFlow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1833" y="38332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90463" y="3913123"/>
            <a:ext cx="2108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Обнаружение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сдвигов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62531" y="1683727"/>
            <a:ext cx="364490" cy="2385695"/>
          </a:xfrm>
          <a:custGeom>
            <a:avLst/>
            <a:gdLst/>
            <a:ahLst/>
            <a:cxnLst/>
            <a:rect l="l" t="t" r="r" b="b"/>
            <a:pathLst>
              <a:path w="364489" h="2385695">
                <a:moveTo>
                  <a:pt x="364172" y="1389113"/>
                </a:moveTo>
                <a:lnTo>
                  <a:pt x="354647" y="1384350"/>
                </a:lnTo>
                <a:lnTo>
                  <a:pt x="287972" y="1351013"/>
                </a:lnTo>
                <a:lnTo>
                  <a:pt x="287972" y="1384350"/>
                </a:lnTo>
                <a:lnTo>
                  <a:pt x="9525" y="1384350"/>
                </a:lnTo>
                <a:lnTo>
                  <a:pt x="9525" y="914666"/>
                </a:lnTo>
                <a:lnTo>
                  <a:pt x="283095" y="914666"/>
                </a:lnTo>
                <a:lnTo>
                  <a:pt x="283095" y="948004"/>
                </a:lnTo>
                <a:lnTo>
                  <a:pt x="349770" y="914666"/>
                </a:lnTo>
                <a:lnTo>
                  <a:pt x="359295" y="909904"/>
                </a:lnTo>
                <a:lnTo>
                  <a:pt x="349770" y="905141"/>
                </a:lnTo>
                <a:lnTo>
                  <a:pt x="283095" y="871804"/>
                </a:lnTo>
                <a:lnTo>
                  <a:pt x="283095" y="905141"/>
                </a:lnTo>
                <a:lnTo>
                  <a:pt x="9525" y="905141"/>
                </a:lnTo>
                <a:lnTo>
                  <a:pt x="9525" y="435470"/>
                </a:lnTo>
                <a:lnTo>
                  <a:pt x="283095" y="435470"/>
                </a:lnTo>
                <a:lnTo>
                  <a:pt x="283095" y="468807"/>
                </a:lnTo>
                <a:lnTo>
                  <a:pt x="349770" y="435470"/>
                </a:lnTo>
                <a:lnTo>
                  <a:pt x="359295" y="430707"/>
                </a:lnTo>
                <a:lnTo>
                  <a:pt x="349770" y="425945"/>
                </a:lnTo>
                <a:lnTo>
                  <a:pt x="283095" y="392607"/>
                </a:lnTo>
                <a:lnTo>
                  <a:pt x="283095" y="425945"/>
                </a:lnTo>
                <a:lnTo>
                  <a:pt x="9525" y="425945"/>
                </a:lnTo>
                <a:lnTo>
                  <a:pt x="9525" y="0"/>
                </a:lnTo>
                <a:lnTo>
                  <a:pt x="0" y="0"/>
                </a:lnTo>
                <a:lnTo>
                  <a:pt x="0" y="2350135"/>
                </a:lnTo>
                <a:lnTo>
                  <a:pt x="2120" y="2352268"/>
                </a:lnTo>
                <a:lnTo>
                  <a:pt x="283095" y="2352268"/>
                </a:lnTo>
                <a:lnTo>
                  <a:pt x="283095" y="2385606"/>
                </a:lnTo>
                <a:lnTo>
                  <a:pt x="349770" y="2352268"/>
                </a:lnTo>
                <a:lnTo>
                  <a:pt x="359295" y="2347506"/>
                </a:lnTo>
                <a:lnTo>
                  <a:pt x="349770" y="2342743"/>
                </a:lnTo>
                <a:lnTo>
                  <a:pt x="283095" y="2309406"/>
                </a:lnTo>
                <a:lnTo>
                  <a:pt x="283095" y="2342743"/>
                </a:lnTo>
                <a:lnTo>
                  <a:pt x="9525" y="2342743"/>
                </a:lnTo>
                <a:lnTo>
                  <a:pt x="9525" y="1873072"/>
                </a:lnTo>
                <a:lnTo>
                  <a:pt x="283095" y="1873072"/>
                </a:lnTo>
                <a:lnTo>
                  <a:pt x="283095" y="1906409"/>
                </a:lnTo>
                <a:lnTo>
                  <a:pt x="349770" y="1873072"/>
                </a:lnTo>
                <a:lnTo>
                  <a:pt x="359295" y="1868309"/>
                </a:lnTo>
                <a:lnTo>
                  <a:pt x="349770" y="1863547"/>
                </a:lnTo>
                <a:lnTo>
                  <a:pt x="283095" y="1830209"/>
                </a:lnTo>
                <a:lnTo>
                  <a:pt x="283095" y="1863547"/>
                </a:lnTo>
                <a:lnTo>
                  <a:pt x="9525" y="1863547"/>
                </a:lnTo>
                <a:lnTo>
                  <a:pt x="9525" y="1393875"/>
                </a:lnTo>
                <a:lnTo>
                  <a:pt x="287972" y="1393875"/>
                </a:lnTo>
                <a:lnTo>
                  <a:pt x="287972" y="1427213"/>
                </a:lnTo>
                <a:lnTo>
                  <a:pt x="354647" y="1393875"/>
                </a:lnTo>
                <a:lnTo>
                  <a:pt x="364172" y="1389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62532" y="1683718"/>
            <a:ext cx="359410" cy="2865120"/>
          </a:xfrm>
          <a:custGeom>
            <a:avLst/>
            <a:gdLst/>
            <a:ahLst/>
            <a:cxnLst/>
            <a:rect l="l" t="t" r="r" b="b"/>
            <a:pathLst>
              <a:path w="359410" h="2865120">
                <a:moveTo>
                  <a:pt x="283098" y="2788614"/>
                </a:moveTo>
                <a:lnTo>
                  <a:pt x="283098" y="2864814"/>
                </a:lnTo>
                <a:lnTo>
                  <a:pt x="349773" y="2831476"/>
                </a:lnTo>
                <a:lnTo>
                  <a:pt x="295798" y="2831476"/>
                </a:lnTo>
                <a:lnTo>
                  <a:pt x="295798" y="2821951"/>
                </a:lnTo>
                <a:lnTo>
                  <a:pt x="349773" y="2821951"/>
                </a:lnTo>
                <a:lnTo>
                  <a:pt x="283098" y="2788614"/>
                </a:lnTo>
                <a:close/>
              </a:path>
              <a:path w="359410" h="2865120">
                <a:moveTo>
                  <a:pt x="9525" y="0"/>
                </a:moveTo>
                <a:lnTo>
                  <a:pt x="0" y="0"/>
                </a:lnTo>
                <a:lnTo>
                  <a:pt x="0" y="2829344"/>
                </a:lnTo>
                <a:lnTo>
                  <a:pt x="2132" y="2831476"/>
                </a:lnTo>
                <a:lnTo>
                  <a:pt x="283098" y="2831476"/>
                </a:lnTo>
                <a:lnTo>
                  <a:pt x="283098" y="2826714"/>
                </a:lnTo>
                <a:lnTo>
                  <a:pt x="9525" y="2826714"/>
                </a:lnTo>
                <a:lnTo>
                  <a:pt x="4762" y="2821951"/>
                </a:lnTo>
                <a:lnTo>
                  <a:pt x="9525" y="2821951"/>
                </a:lnTo>
                <a:lnTo>
                  <a:pt x="9525" y="0"/>
                </a:lnTo>
                <a:close/>
              </a:path>
              <a:path w="359410" h="2865120">
                <a:moveTo>
                  <a:pt x="349773" y="2821951"/>
                </a:moveTo>
                <a:lnTo>
                  <a:pt x="295798" y="2821951"/>
                </a:lnTo>
                <a:lnTo>
                  <a:pt x="295798" y="2831476"/>
                </a:lnTo>
                <a:lnTo>
                  <a:pt x="349773" y="2831476"/>
                </a:lnTo>
                <a:lnTo>
                  <a:pt x="359298" y="2826714"/>
                </a:lnTo>
                <a:lnTo>
                  <a:pt x="349773" y="2821951"/>
                </a:lnTo>
                <a:close/>
              </a:path>
              <a:path w="359410" h="2865120">
                <a:moveTo>
                  <a:pt x="9525" y="2821951"/>
                </a:moveTo>
                <a:lnTo>
                  <a:pt x="4762" y="2821951"/>
                </a:lnTo>
                <a:lnTo>
                  <a:pt x="9525" y="2826714"/>
                </a:lnTo>
                <a:lnTo>
                  <a:pt x="9525" y="2821951"/>
                </a:lnTo>
                <a:close/>
              </a:path>
              <a:path w="359410" h="2865120">
                <a:moveTo>
                  <a:pt x="283098" y="2821951"/>
                </a:moveTo>
                <a:lnTo>
                  <a:pt x="9525" y="2821951"/>
                </a:lnTo>
                <a:lnTo>
                  <a:pt x="9525" y="2826714"/>
                </a:lnTo>
                <a:lnTo>
                  <a:pt x="283098" y="2826714"/>
                </a:lnTo>
                <a:lnTo>
                  <a:pt x="283098" y="28219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1829" y="4312433"/>
            <a:ext cx="5355965" cy="39599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8454" y="1225104"/>
            <a:ext cx="419929" cy="396000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4572000" y="4597807"/>
            <a:ext cx="485140" cy="430530"/>
          </a:xfrm>
          <a:custGeom>
            <a:avLst/>
            <a:gdLst/>
            <a:ahLst/>
            <a:cxnLst/>
            <a:rect l="l" t="t" r="r" b="b"/>
            <a:pathLst>
              <a:path w="485139" h="430529">
                <a:moveTo>
                  <a:pt x="363474" y="0"/>
                </a:moveTo>
                <a:lnTo>
                  <a:pt x="242315" y="107484"/>
                </a:lnTo>
                <a:lnTo>
                  <a:pt x="121158" y="0"/>
                </a:lnTo>
                <a:lnTo>
                  <a:pt x="121158" y="214969"/>
                </a:lnTo>
                <a:lnTo>
                  <a:pt x="0" y="214969"/>
                </a:lnTo>
                <a:lnTo>
                  <a:pt x="242315" y="429938"/>
                </a:lnTo>
                <a:lnTo>
                  <a:pt x="484632" y="214969"/>
                </a:lnTo>
                <a:lnTo>
                  <a:pt x="363474" y="214969"/>
                </a:lnTo>
                <a:lnTo>
                  <a:pt x="36347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572000" y="4597807"/>
            <a:ext cx="485140" cy="430530"/>
          </a:xfrm>
          <a:custGeom>
            <a:avLst/>
            <a:gdLst/>
            <a:ahLst/>
            <a:cxnLst/>
            <a:rect l="l" t="t" r="r" b="b"/>
            <a:pathLst>
              <a:path w="485139" h="430529">
                <a:moveTo>
                  <a:pt x="363474" y="0"/>
                </a:moveTo>
                <a:lnTo>
                  <a:pt x="363474" y="214969"/>
                </a:lnTo>
                <a:lnTo>
                  <a:pt x="484632" y="214969"/>
                </a:lnTo>
                <a:lnTo>
                  <a:pt x="242316" y="429938"/>
                </a:lnTo>
                <a:lnTo>
                  <a:pt x="0" y="214969"/>
                </a:lnTo>
                <a:lnTo>
                  <a:pt x="121158" y="214969"/>
                </a:lnTo>
                <a:lnTo>
                  <a:pt x="121158" y="0"/>
                </a:lnTo>
                <a:lnTo>
                  <a:pt x="242316" y="107484"/>
                </a:lnTo>
                <a:lnTo>
                  <a:pt x="363474" y="0"/>
                </a:lnTo>
                <a:close/>
              </a:path>
            </a:pathLst>
          </a:custGeom>
          <a:ln w="254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" name="object 3">
            <a:extLst>
              <a:ext uri="{FF2B5EF4-FFF2-40B4-BE49-F238E27FC236}">
                <a16:creationId xmlns:a16="http://schemas.microsoft.com/office/drawing/2014/main" id="{E0E2C0B5-8B01-1149-8887-9FED632D11A3}"/>
              </a:ext>
            </a:extLst>
          </p:cNvPr>
          <p:cNvSpPr txBox="1"/>
          <p:nvPr/>
        </p:nvSpPr>
        <p:spPr>
          <a:xfrm>
            <a:off x="4183380" y="4339940"/>
            <a:ext cx="12623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200" dirty="0">
                <a:solidFill>
                  <a:srgbClr val="1F1F1F"/>
                </a:solidFill>
                <a:latin typeface="Calibri"/>
                <a:cs typeface="Calibri"/>
              </a:rPr>
              <a:t>…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1830" y="387567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1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0461" y="3955796"/>
            <a:ext cx="2315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Использование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Feature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Store: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Feast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5" name="object 5"/>
          <p:cNvSpPr/>
          <p:nvPr/>
        </p:nvSpPr>
        <p:spPr>
          <a:xfrm>
            <a:off x="500550" y="1104418"/>
            <a:ext cx="2733675" cy="579755"/>
          </a:xfrm>
          <a:custGeom>
            <a:avLst/>
            <a:gdLst/>
            <a:ahLst/>
            <a:cxnLst/>
            <a:rect l="l" t="t" r="r" b="b"/>
            <a:pathLst>
              <a:path w="2733675" h="579755">
                <a:moveTo>
                  <a:pt x="2636935" y="0"/>
                </a:moveTo>
                <a:lnTo>
                  <a:pt x="96550" y="0"/>
                </a:lnTo>
                <a:lnTo>
                  <a:pt x="58968" y="7587"/>
                </a:lnTo>
                <a:lnTo>
                  <a:pt x="28279" y="28279"/>
                </a:lnTo>
                <a:lnTo>
                  <a:pt x="7587" y="58969"/>
                </a:lnTo>
                <a:lnTo>
                  <a:pt x="0" y="96551"/>
                </a:lnTo>
                <a:lnTo>
                  <a:pt x="0" y="482749"/>
                </a:lnTo>
                <a:lnTo>
                  <a:pt x="7587" y="520331"/>
                </a:lnTo>
                <a:lnTo>
                  <a:pt x="28279" y="551021"/>
                </a:lnTo>
                <a:lnTo>
                  <a:pt x="58968" y="571712"/>
                </a:lnTo>
                <a:lnTo>
                  <a:pt x="96550" y="579300"/>
                </a:lnTo>
                <a:lnTo>
                  <a:pt x="2636935" y="579300"/>
                </a:lnTo>
                <a:lnTo>
                  <a:pt x="2674517" y="571712"/>
                </a:lnTo>
                <a:lnTo>
                  <a:pt x="2705207" y="551021"/>
                </a:lnTo>
                <a:lnTo>
                  <a:pt x="2725899" y="520331"/>
                </a:lnTo>
                <a:lnTo>
                  <a:pt x="2733487" y="482749"/>
                </a:lnTo>
                <a:lnTo>
                  <a:pt x="2733487" y="96551"/>
                </a:lnTo>
                <a:lnTo>
                  <a:pt x="2725899" y="58969"/>
                </a:lnTo>
                <a:lnTo>
                  <a:pt x="2705207" y="28279"/>
                </a:lnTo>
                <a:lnTo>
                  <a:pt x="2674517" y="7587"/>
                </a:lnTo>
                <a:lnTo>
                  <a:pt x="2636935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9928" y="1247140"/>
            <a:ext cx="192023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3.</a:t>
            </a:r>
            <a:r>
              <a:rPr sz="16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Подготовка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1832" y="243807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0462" y="2520188"/>
            <a:ext cx="2251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Подготовка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обогащение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1830" y="291727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0461" y="2998723"/>
            <a:ext cx="1524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Извлечение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признаков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6712" y="339647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8"/>
                </a:lnTo>
                <a:lnTo>
                  <a:pt x="5355965" y="329998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5344" y="3477259"/>
            <a:ext cx="20593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Версионирование</a:t>
            </a:r>
            <a:r>
              <a:rPr sz="1200" spc="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данных.</a:t>
            </a:r>
            <a:r>
              <a:rPr sz="1200" spc="1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DVC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1833" y="4354870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1"/>
                </a:lnTo>
                <a:lnTo>
                  <a:pt x="5186" y="40310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6000"/>
                </a:lnTo>
                <a:lnTo>
                  <a:pt x="5289964" y="396000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1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90463" y="4437379"/>
            <a:ext cx="26396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Практика.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Конвейер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подготовки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62531" y="1683727"/>
            <a:ext cx="364490" cy="2907665"/>
          </a:xfrm>
          <a:custGeom>
            <a:avLst/>
            <a:gdLst/>
            <a:ahLst/>
            <a:cxnLst/>
            <a:rect l="l" t="t" r="r" b="b"/>
            <a:pathLst>
              <a:path w="364489" h="2907665">
                <a:moveTo>
                  <a:pt x="364172" y="1910753"/>
                </a:moveTo>
                <a:lnTo>
                  <a:pt x="354647" y="1905990"/>
                </a:lnTo>
                <a:lnTo>
                  <a:pt x="287972" y="1872653"/>
                </a:lnTo>
                <a:lnTo>
                  <a:pt x="287972" y="1905990"/>
                </a:lnTo>
                <a:lnTo>
                  <a:pt x="9525" y="1905990"/>
                </a:lnTo>
                <a:lnTo>
                  <a:pt x="9525" y="1436306"/>
                </a:lnTo>
                <a:lnTo>
                  <a:pt x="283095" y="1436306"/>
                </a:lnTo>
                <a:lnTo>
                  <a:pt x="283095" y="1469644"/>
                </a:lnTo>
                <a:lnTo>
                  <a:pt x="349770" y="1436306"/>
                </a:lnTo>
                <a:lnTo>
                  <a:pt x="359295" y="1431544"/>
                </a:lnTo>
                <a:lnTo>
                  <a:pt x="349770" y="1426781"/>
                </a:lnTo>
                <a:lnTo>
                  <a:pt x="283095" y="1393444"/>
                </a:lnTo>
                <a:lnTo>
                  <a:pt x="283095" y="1426781"/>
                </a:lnTo>
                <a:lnTo>
                  <a:pt x="9525" y="1426781"/>
                </a:lnTo>
                <a:lnTo>
                  <a:pt x="9525" y="957110"/>
                </a:lnTo>
                <a:lnTo>
                  <a:pt x="283095" y="957110"/>
                </a:lnTo>
                <a:lnTo>
                  <a:pt x="283095" y="990447"/>
                </a:lnTo>
                <a:lnTo>
                  <a:pt x="349770" y="957110"/>
                </a:lnTo>
                <a:lnTo>
                  <a:pt x="359295" y="952347"/>
                </a:lnTo>
                <a:lnTo>
                  <a:pt x="349770" y="947585"/>
                </a:lnTo>
                <a:lnTo>
                  <a:pt x="283095" y="914247"/>
                </a:lnTo>
                <a:lnTo>
                  <a:pt x="283095" y="947585"/>
                </a:lnTo>
                <a:lnTo>
                  <a:pt x="9525" y="947585"/>
                </a:lnTo>
                <a:lnTo>
                  <a:pt x="9525" y="0"/>
                </a:lnTo>
                <a:lnTo>
                  <a:pt x="0" y="0"/>
                </a:lnTo>
                <a:lnTo>
                  <a:pt x="0" y="2871774"/>
                </a:lnTo>
                <a:lnTo>
                  <a:pt x="2120" y="2873908"/>
                </a:lnTo>
                <a:lnTo>
                  <a:pt x="283095" y="2873908"/>
                </a:lnTo>
                <a:lnTo>
                  <a:pt x="283095" y="2907246"/>
                </a:lnTo>
                <a:lnTo>
                  <a:pt x="349770" y="2873908"/>
                </a:lnTo>
                <a:lnTo>
                  <a:pt x="359295" y="2869146"/>
                </a:lnTo>
                <a:lnTo>
                  <a:pt x="349770" y="2864383"/>
                </a:lnTo>
                <a:lnTo>
                  <a:pt x="283095" y="2831046"/>
                </a:lnTo>
                <a:lnTo>
                  <a:pt x="283095" y="2864383"/>
                </a:lnTo>
                <a:lnTo>
                  <a:pt x="9525" y="2864383"/>
                </a:lnTo>
                <a:lnTo>
                  <a:pt x="9525" y="2394712"/>
                </a:lnTo>
                <a:lnTo>
                  <a:pt x="283095" y="2394712"/>
                </a:lnTo>
                <a:lnTo>
                  <a:pt x="283095" y="2428049"/>
                </a:lnTo>
                <a:lnTo>
                  <a:pt x="349770" y="2394712"/>
                </a:lnTo>
                <a:lnTo>
                  <a:pt x="359295" y="2389949"/>
                </a:lnTo>
                <a:lnTo>
                  <a:pt x="349770" y="2385187"/>
                </a:lnTo>
                <a:lnTo>
                  <a:pt x="283095" y="2351849"/>
                </a:lnTo>
                <a:lnTo>
                  <a:pt x="283095" y="2385187"/>
                </a:lnTo>
                <a:lnTo>
                  <a:pt x="9525" y="2385187"/>
                </a:lnTo>
                <a:lnTo>
                  <a:pt x="9525" y="1915515"/>
                </a:lnTo>
                <a:lnTo>
                  <a:pt x="287972" y="1915515"/>
                </a:lnTo>
                <a:lnTo>
                  <a:pt x="287972" y="1948853"/>
                </a:lnTo>
                <a:lnTo>
                  <a:pt x="354647" y="1915515"/>
                </a:lnTo>
                <a:lnTo>
                  <a:pt x="364172" y="19107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62532" y="1683718"/>
            <a:ext cx="364490" cy="513080"/>
          </a:xfrm>
          <a:custGeom>
            <a:avLst/>
            <a:gdLst/>
            <a:ahLst/>
            <a:cxnLst/>
            <a:rect l="l" t="t" r="r" b="b"/>
            <a:pathLst>
              <a:path w="364489" h="513080">
                <a:moveTo>
                  <a:pt x="287980" y="436378"/>
                </a:moveTo>
                <a:lnTo>
                  <a:pt x="287980" y="512578"/>
                </a:lnTo>
                <a:lnTo>
                  <a:pt x="354655" y="479240"/>
                </a:lnTo>
                <a:lnTo>
                  <a:pt x="300680" y="479240"/>
                </a:lnTo>
                <a:lnTo>
                  <a:pt x="300680" y="469715"/>
                </a:lnTo>
                <a:lnTo>
                  <a:pt x="354655" y="469715"/>
                </a:lnTo>
                <a:lnTo>
                  <a:pt x="287980" y="436378"/>
                </a:lnTo>
                <a:close/>
              </a:path>
              <a:path w="364489" h="513080">
                <a:moveTo>
                  <a:pt x="9525" y="0"/>
                </a:moveTo>
                <a:lnTo>
                  <a:pt x="0" y="0"/>
                </a:lnTo>
                <a:lnTo>
                  <a:pt x="0" y="477108"/>
                </a:lnTo>
                <a:lnTo>
                  <a:pt x="2132" y="479240"/>
                </a:lnTo>
                <a:lnTo>
                  <a:pt x="287980" y="479240"/>
                </a:lnTo>
                <a:lnTo>
                  <a:pt x="287980" y="474478"/>
                </a:lnTo>
                <a:lnTo>
                  <a:pt x="9525" y="474478"/>
                </a:lnTo>
                <a:lnTo>
                  <a:pt x="4762" y="469715"/>
                </a:lnTo>
                <a:lnTo>
                  <a:pt x="9525" y="469715"/>
                </a:lnTo>
                <a:lnTo>
                  <a:pt x="9525" y="0"/>
                </a:lnTo>
                <a:close/>
              </a:path>
              <a:path w="364489" h="513080">
                <a:moveTo>
                  <a:pt x="354655" y="469715"/>
                </a:moveTo>
                <a:lnTo>
                  <a:pt x="300680" y="469715"/>
                </a:lnTo>
                <a:lnTo>
                  <a:pt x="300680" y="479240"/>
                </a:lnTo>
                <a:lnTo>
                  <a:pt x="354655" y="479240"/>
                </a:lnTo>
                <a:lnTo>
                  <a:pt x="364180" y="474478"/>
                </a:lnTo>
                <a:lnTo>
                  <a:pt x="354655" y="469715"/>
                </a:lnTo>
                <a:close/>
              </a:path>
              <a:path w="364489" h="513080">
                <a:moveTo>
                  <a:pt x="9525" y="469715"/>
                </a:moveTo>
                <a:lnTo>
                  <a:pt x="4762" y="469715"/>
                </a:lnTo>
                <a:lnTo>
                  <a:pt x="9525" y="474478"/>
                </a:lnTo>
                <a:lnTo>
                  <a:pt x="9525" y="469715"/>
                </a:lnTo>
                <a:close/>
              </a:path>
              <a:path w="364489" h="513080">
                <a:moveTo>
                  <a:pt x="287980" y="469715"/>
                </a:moveTo>
                <a:lnTo>
                  <a:pt x="9525" y="469715"/>
                </a:lnTo>
                <a:lnTo>
                  <a:pt x="9525" y="474478"/>
                </a:lnTo>
                <a:lnTo>
                  <a:pt x="287980" y="474478"/>
                </a:lnTo>
                <a:lnTo>
                  <a:pt x="287980" y="469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6712" y="1960197"/>
            <a:ext cx="5355964" cy="39599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8454" y="1225104"/>
            <a:ext cx="419929" cy="396000"/>
          </a:xfrm>
          <a:prstGeom prst="rect">
            <a:avLst/>
          </a:prstGeom>
        </p:spPr>
      </p:pic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object 3">
            <a:extLst>
              <a:ext uri="{FF2B5EF4-FFF2-40B4-BE49-F238E27FC236}">
                <a16:creationId xmlns:a16="http://schemas.microsoft.com/office/drawing/2014/main" id="{2936E680-7F83-5A40-BD1E-671EAD001491}"/>
              </a:ext>
            </a:extLst>
          </p:cNvPr>
          <p:cNvSpPr txBox="1"/>
          <p:nvPr/>
        </p:nvSpPr>
        <p:spPr>
          <a:xfrm>
            <a:off x="4010982" y="1999308"/>
            <a:ext cx="12623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200" dirty="0">
                <a:solidFill>
                  <a:srgbClr val="1F1F1F"/>
                </a:solidFill>
                <a:latin typeface="Calibri"/>
                <a:cs typeface="Calibri"/>
              </a:rPr>
              <a:t>…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1830" y="3722449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0461" y="3803396"/>
            <a:ext cx="23564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Подбор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гиперпараметров</a:t>
            </a:r>
            <a:r>
              <a:rPr sz="1200" spc="1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AutoML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5" name="object 5"/>
          <p:cNvSpPr/>
          <p:nvPr/>
        </p:nvSpPr>
        <p:spPr>
          <a:xfrm>
            <a:off x="500550" y="1104418"/>
            <a:ext cx="2613025" cy="579755"/>
          </a:xfrm>
          <a:custGeom>
            <a:avLst/>
            <a:gdLst/>
            <a:ahLst/>
            <a:cxnLst/>
            <a:rect l="l" t="t" r="r" b="b"/>
            <a:pathLst>
              <a:path w="2613025" h="579755">
                <a:moveTo>
                  <a:pt x="2515913" y="0"/>
                </a:moveTo>
                <a:lnTo>
                  <a:pt x="96553" y="0"/>
                </a:lnTo>
                <a:lnTo>
                  <a:pt x="58970" y="7587"/>
                </a:lnTo>
                <a:lnTo>
                  <a:pt x="28279" y="28279"/>
                </a:lnTo>
                <a:lnTo>
                  <a:pt x="7587" y="58970"/>
                </a:lnTo>
                <a:lnTo>
                  <a:pt x="0" y="96553"/>
                </a:lnTo>
                <a:lnTo>
                  <a:pt x="0" y="482747"/>
                </a:lnTo>
                <a:lnTo>
                  <a:pt x="7587" y="520330"/>
                </a:lnTo>
                <a:lnTo>
                  <a:pt x="28279" y="551020"/>
                </a:lnTo>
                <a:lnTo>
                  <a:pt x="58970" y="571712"/>
                </a:lnTo>
                <a:lnTo>
                  <a:pt x="96553" y="579300"/>
                </a:lnTo>
                <a:lnTo>
                  <a:pt x="2515913" y="579300"/>
                </a:lnTo>
                <a:lnTo>
                  <a:pt x="2553496" y="571712"/>
                </a:lnTo>
                <a:lnTo>
                  <a:pt x="2584186" y="551020"/>
                </a:lnTo>
                <a:lnTo>
                  <a:pt x="2604878" y="520330"/>
                </a:lnTo>
                <a:lnTo>
                  <a:pt x="2612466" y="482747"/>
                </a:lnTo>
                <a:lnTo>
                  <a:pt x="2612466" y="96553"/>
                </a:lnTo>
                <a:lnTo>
                  <a:pt x="2604878" y="58970"/>
                </a:lnTo>
                <a:lnTo>
                  <a:pt x="2584186" y="28279"/>
                </a:lnTo>
                <a:lnTo>
                  <a:pt x="2553496" y="7587"/>
                </a:lnTo>
                <a:lnTo>
                  <a:pt x="251591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9928" y="1247140"/>
            <a:ext cx="165988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4.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Моделирование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1832" y="19164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8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0462" y="1998979"/>
            <a:ext cx="3223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Воспроизводимость</a:t>
            </a:r>
            <a:r>
              <a:rPr sz="1200" spc="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6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версионирование.</a:t>
            </a:r>
            <a:r>
              <a:rPr sz="1200" spc="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MLFlow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1830" y="2518437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0461" y="2599435"/>
            <a:ext cx="3266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Перенос</a:t>
            </a:r>
            <a:r>
              <a:rPr sz="12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ML</a:t>
            </a:r>
            <a:r>
              <a:rPr sz="12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алгоритмов</a:t>
            </a:r>
            <a:r>
              <a:rPr sz="12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</a:t>
            </a:r>
            <a:r>
              <a:rPr sz="12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распределенную 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среду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6712" y="3120443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1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5344" y="3202939"/>
            <a:ext cx="335152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Популярные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фреймворки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распределенной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среде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1833" y="4324454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90463" y="4406900"/>
            <a:ext cx="24110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Практика.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Регулярное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переобучение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02015" y="1683727"/>
            <a:ext cx="424815" cy="2877185"/>
          </a:xfrm>
          <a:custGeom>
            <a:avLst/>
            <a:gdLst/>
            <a:ahLst/>
            <a:cxnLst/>
            <a:rect l="l" t="t" r="r" b="b"/>
            <a:pathLst>
              <a:path w="424814" h="2877185">
                <a:moveTo>
                  <a:pt x="424688" y="1634718"/>
                </a:moveTo>
                <a:lnTo>
                  <a:pt x="415163" y="1629956"/>
                </a:lnTo>
                <a:lnTo>
                  <a:pt x="348488" y="1596618"/>
                </a:lnTo>
                <a:lnTo>
                  <a:pt x="348488" y="1629956"/>
                </a:lnTo>
                <a:lnTo>
                  <a:pt x="9525" y="1629956"/>
                </a:lnTo>
                <a:lnTo>
                  <a:pt x="9525" y="1037475"/>
                </a:lnTo>
                <a:lnTo>
                  <a:pt x="343611" y="1037475"/>
                </a:lnTo>
                <a:lnTo>
                  <a:pt x="343611" y="1070813"/>
                </a:lnTo>
                <a:lnTo>
                  <a:pt x="410286" y="1037475"/>
                </a:lnTo>
                <a:lnTo>
                  <a:pt x="419811" y="1032713"/>
                </a:lnTo>
                <a:lnTo>
                  <a:pt x="410286" y="1027950"/>
                </a:lnTo>
                <a:lnTo>
                  <a:pt x="343611" y="994613"/>
                </a:lnTo>
                <a:lnTo>
                  <a:pt x="343611" y="1027950"/>
                </a:lnTo>
                <a:lnTo>
                  <a:pt x="9525" y="1027950"/>
                </a:lnTo>
                <a:lnTo>
                  <a:pt x="9525" y="435470"/>
                </a:lnTo>
                <a:lnTo>
                  <a:pt x="343611" y="435470"/>
                </a:lnTo>
                <a:lnTo>
                  <a:pt x="343611" y="468807"/>
                </a:lnTo>
                <a:lnTo>
                  <a:pt x="410286" y="435470"/>
                </a:lnTo>
                <a:lnTo>
                  <a:pt x="419811" y="430707"/>
                </a:lnTo>
                <a:lnTo>
                  <a:pt x="410286" y="425945"/>
                </a:lnTo>
                <a:lnTo>
                  <a:pt x="343611" y="392607"/>
                </a:lnTo>
                <a:lnTo>
                  <a:pt x="343611" y="425945"/>
                </a:lnTo>
                <a:lnTo>
                  <a:pt x="9525" y="425945"/>
                </a:lnTo>
                <a:lnTo>
                  <a:pt x="9525" y="0"/>
                </a:lnTo>
                <a:lnTo>
                  <a:pt x="0" y="0"/>
                </a:lnTo>
                <a:lnTo>
                  <a:pt x="0" y="2841358"/>
                </a:lnTo>
                <a:lnTo>
                  <a:pt x="2133" y="2843492"/>
                </a:lnTo>
                <a:lnTo>
                  <a:pt x="343611" y="2843492"/>
                </a:lnTo>
                <a:lnTo>
                  <a:pt x="343611" y="2876829"/>
                </a:lnTo>
                <a:lnTo>
                  <a:pt x="410286" y="2843492"/>
                </a:lnTo>
                <a:lnTo>
                  <a:pt x="419811" y="2838729"/>
                </a:lnTo>
                <a:lnTo>
                  <a:pt x="410286" y="2833967"/>
                </a:lnTo>
                <a:lnTo>
                  <a:pt x="343611" y="2800629"/>
                </a:lnTo>
                <a:lnTo>
                  <a:pt x="343611" y="2833967"/>
                </a:lnTo>
                <a:lnTo>
                  <a:pt x="9525" y="2833967"/>
                </a:lnTo>
                <a:lnTo>
                  <a:pt x="9525" y="2241486"/>
                </a:lnTo>
                <a:lnTo>
                  <a:pt x="343611" y="2241486"/>
                </a:lnTo>
                <a:lnTo>
                  <a:pt x="343611" y="2274824"/>
                </a:lnTo>
                <a:lnTo>
                  <a:pt x="410286" y="2241486"/>
                </a:lnTo>
                <a:lnTo>
                  <a:pt x="419811" y="2236724"/>
                </a:lnTo>
                <a:lnTo>
                  <a:pt x="410286" y="2231961"/>
                </a:lnTo>
                <a:lnTo>
                  <a:pt x="343611" y="2198624"/>
                </a:lnTo>
                <a:lnTo>
                  <a:pt x="343611" y="2231961"/>
                </a:lnTo>
                <a:lnTo>
                  <a:pt x="9525" y="2231961"/>
                </a:lnTo>
                <a:lnTo>
                  <a:pt x="9525" y="1639481"/>
                </a:lnTo>
                <a:lnTo>
                  <a:pt x="348488" y="1639481"/>
                </a:lnTo>
                <a:lnTo>
                  <a:pt x="348488" y="1672818"/>
                </a:lnTo>
                <a:lnTo>
                  <a:pt x="415163" y="1639481"/>
                </a:lnTo>
                <a:lnTo>
                  <a:pt x="424688" y="16347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002" y="1223450"/>
            <a:ext cx="419929" cy="396000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11567" y="4361687"/>
            <a:ext cx="326135" cy="326136"/>
          </a:xfrm>
          <a:prstGeom prst="rect">
            <a:avLst/>
          </a:prstGeom>
        </p:spPr>
      </p:pic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object 39"/>
          <p:cNvSpPr txBox="1"/>
          <p:nvPr/>
        </p:nvSpPr>
        <p:spPr>
          <a:xfrm rot="20760000">
            <a:off x="7618361" y="4359438"/>
            <a:ext cx="826437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i="1" spc="-65" dirty="0">
                <a:latin typeface="Georgia"/>
                <a:cs typeface="Georgia"/>
              </a:rPr>
              <a:t>HomeTask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1830" y="3722449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0461" y="3803396"/>
            <a:ext cx="11893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A/B-тестирование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5" name="object 5"/>
          <p:cNvSpPr/>
          <p:nvPr/>
        </p:nvSpPr>
        <p:spPr>
          <a:xfrm>
            <a:off x="500550" y="1104418"/>
            <a:ext cx="2613025" cy="579755"/>
          </a:xfrm>
          <a:custGeom>
            <a:avLst/>
            <a:gdLst/>
            <a:ahLst/>
            <a:cxnLst/>
            <a:rect l="l" t="t" r="r" b="b"/>
            <a:pathLst>
              <a:path w="2613025" h="579755">
                <a:moveTo>
                  <a:pt x="2515913" y="0"/>
                </a:moveTo>
                <a:lnTo>
                  <a:pt x="96553" y="0"/>
                </a:lnTo>
                <a:lnTo>
                  <a:pt x="58970" y="7587"/>
                </a:lnTo>
                <a:lnTo>
                  <a:pt x="28279" y="28279"/>
                </a:lnTo>
                <a:lnTo>
                  <a:pt x="7587" y="58970"/>
                </a:lnTo>
                <a:lnTo>
                  <a:pt x="0" y="96553"/>
                </a:lnTo>
                <a:lnTo>
                  <a:pt x="0" y="482747"/>
                </a:lnTo>
                <a:lnTo>
                  <a:pt x="7587" y="520330"/>
                </a:lnTo>
                <a:lnTo>
                  <a:pt x="28279" y="551020"/>
                </a:lnTo>
                <a:lnTo>
                  <a:pt x="58970" y="571712"/>
                </a:lnTo>
                <a:lnTo>
                  <a:pt x="96553" y="579300"/>
                </a:lnTo>
                <a:lnTo>
                  <a:pt x="2515913" y="579300"/>
                </a:lnTo>
                <a:lnTo>
                  <a:pt x="2553496" y="571712"/>
                </a:lnTo>
                <a:lnTo>
                  <a:pt x="2584186" y="551020"/>
                </a:lnTo>
                <a:lnTo>
                  <a:pt x="2604878" y="520330"/>
                </a:lnTo>
                <a:lnTo>
                  <a:pt x="2612466" y="482747"/>
                </a:lnTo>
                <a:lnTo>
                  <a:pt x="2612466" y="96553"/>
                </a:lnTo>
                <a:lnTo>
                  <a:pt x="2604878" y="58970"/>
                </a:lnTo>
                <a:lnTo>
                  <a:pt x="2584186" y="28279"/>
                </a:lnTo>
                <a:lnTo>
                  <a:pt x="2553496" y="7587"/>
                </a:lnTo>
                <a:lnTo>
                  <a:pt x="251591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9928" y="1247140"/>
            <a:ext cx="11709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5.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Валидация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1832" y="19164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8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0462" y="1998979"/>
            <a:ext cx="20351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Стратегии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валидации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моделей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1830" y="2518437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0461" y="2599435"/>
            <a:ext cx="11118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Анализ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моделей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6712" y="3120443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1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5344" y="3202939"/>
            <a:ext cx="13989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Интерпретируемость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1833" y="4324454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90463" y="4406900"/>
            <a:ext cx="2489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Практика.</a:t>
            </a:r>
            <a:r>
              <a:rPr sz="1200" spc="-6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Автоматическая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валидация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02015" y="1683727"/>
            <a:ext cx="424815" cy="2877185"/>
          </a:xfrm>
          <a:custGeom>
            <a:avLst/>
            <a:gdLst/>
            <a:ahLst/>
            <a:cxnLst/>
            <a:rect l="l" t="t" r="r" b="b"/>
            <a:pathLst>
              <a:path w="424814" h="2877185">
                <a:moveTo>
                  <a:pt x="424688" y="1634718"/>
                </a:moveTo>
                <a:lnTo>
                  <a:pt x="415163" y="1629956"/>
                </a:lnTo>
                <a:lnTo>
                  <a:pt x="348488" y="1596618"/>
                </a:lnTo>
                <a:lnTo>
                  <a:pt x="348488" y="1629956"/>
                </a:lnTo>
                <a:lnTo>
                  <a:pt x="9525" y="1629956"/>
                </a:lnTo>
                <a:lnTo>
                  <a:pt x="9525" y="1037475"/>
                </a:lnTo>
                <a:lnTo>
                  <a:pt x="343611" y="1037475"/>
                </a:lnTo>
                <a:lnTo>
                  <a:pt x="343611" y="1070813"/>
                </a:lnTo>
                <a:lnTo>
                  <a:pt x="410286" y="1037475"/>
                </a:lnTo>
                <a:lnTo>
                  <a:pt x="419811" y="1032713"/>
                </a:lnTo>
                <a:lnTo>
                  <a:pt x="410286" y="1027950"/>
                </a:lnTo>
                <a:lnTo>
                  <a:pt x="343611" y="994613"/>
                </a:lnTo>
                <a:lnTo>
                  <a:pt x="343611" y="1027950"/>
                </a:lnTo>
                <a:lnTo>
                  <a:pt x="9525" y="1027950"/>
                </a:lnTo>
                <a:lnTo>
                  <a:pt x="9525" y="435470"/>
                </a:lnTo>
                <a:lnTo>
                  <a:pt x="343611" y="435470"/>
                </a:lnTo>
                <a:lnTo>
                  <a:pt x="343611" y="468807"/>
                </a:lnTo>
                <a:lnTo>
                  <a:pt x="410286" y="435470"/>
                </a:lnTo>
                <a:lnTo>
                  <a:pt x="419811" y="430707"/>
                </a:lnTo>
                <a:lnTo>
                  <a:pt x="410286" y="425945"/>
                </a:lnTo>
                <a:lnTo>
                  <a:pt x="343611" y="392607"/>
                </a:lnTo>
                <a:lnTo>
                  <a:pt x="343611" y="425945"/>
                </a:lnTo>
                <a:lnTo>
                  <a:pt x="9525" y="425945"/>
                </a:lnTo>
                <a:lnTo>
                  <a:pt x="9525" y="0"/>
                </a:lnTo>
                <a:lnTo>
                  <a:pt x="0" y="0"/>
                </a:lnTo>
                <a:lnTo>
                  <a:pt x="0" y="2841358"/>
                </a:lnTo>
                <a:lnTo>
                  <a:pt x="2133" y="2843492"/>
                </a:lnTo>
                <a:lnTo>
                  <a:pt x="343611" y="2843492"/>
                </a:lnTo>
                <a:lnTo>
                  <a:pt x="343611" y="2876829"/>
                </a:lnTo>
                <a:lnTo>
                  <a:pt x="410286" y="2843492"/>
                </a:lnTo>
                <a:lnTo>
                  <a:pt x="419811" y="2838729"/>
                </a:lnTo>
                <a:lnTo>
                  <a:pt x="410286" y="2833967"/>
                </a:lnTo>
                <a:lnTo>
                  <a:pt x="343611" y="2800629"/>
                </a:lnTo>
                <a:lnTo>
                  <a:pt x="343611" y="2833967"/>
                </a:lnTo>
                <a:lnTo>
                  <a:pt x="9525" y="2833967"/>
                </a:lnTo>
                <a:lnTo>
                  <a:pt x="9525" y="2241486"/>
                </a:lnTo>
                <a:lnTo>
                  <a:pt x="343611" y="2241486"/>
                </a:lnTo>
                <a:lnTo>
                  <a:pt x="343611" y="2274824"/>
                </a:lnTo>
                <a:lnTo>
                  <a:pt x="410286" y="2241486"/>
                </a:lnTo>
                <a:lnTo>
                  <a:pt x="419811" y="2236724"/>
                </a:lnTo>
                <a:lnTo>
                  <a:pt x="410286" y="2231961"/>
                </a:lnTo>
                <a:lnTo>
                  <a:pt x="343611" y="2198624"/>
                </a:lnTo>
                <a:lnTo>
                  <a:pt x="343611" y="2231961"/>
                </a:lnTo>
                <a:lnTo>
                  <a:pt x="9525" y="2231961"/>
                </a:lnTo>
                <a:lnTo>
                  <a:pt x="9525" y="1639481"/>
                </a:lnTo>
                <a:lnTo>
                  <a:pt x="348488" y="1639481"/>
                </a:lnTo>
                <a:lnTo>
                  <a:pt x="348488" y="1672818"/>
                </a:lnTo>
                <a:lnTo>
                  <a:pt x="415163" y="1639481"/>
                </a:lnTo>
                <a:lnTo>
                  <a:pt x="424688" y="16347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002" y="1223450"/>
            <a:ext cx="419929" cy="39600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11567" y="4361687"/>
            <a:ext cx="326135" cy="326136"/>
          </a:xfrm>
          <a:prstGeom prst="rect">
            <a:avLst/>
          </a:prstGeom>
        </p:spPr>
      </p:pic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" name="object 35"/>
          <p:cNvSpPr txBox="1"/>
          <p:nvPr/>
        </p:nvSpPr>
        <p:spPr>
          <a:xfrm rot="20760000">
            <a:off x="7618361" y="4359438"/>
            <a:ext cx="826437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i="1" spc="-65" dirty="0">
                <a:latin typeface="Georgia"/>
                <a:cs typeface="Georgia"/>
              </a:rPr>
              <a:t>HomeTask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1830" y="335403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0461" y="3434588"/>
            <a:ext cx="15525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Подготовка</a:t>
            </a:r>
            <a:r>
              <a:rPr sz="1200" spc="-6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артефактов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5" name="object 5"/>
          <p:cNvSpPr/>
          <p:nvPr/>
        </p:nvSpPr>
        <p:spPr>
          <a:xfrm>
            <a:off x="500550" y="1104418"/>
            <a:ext cx="2613025" cy="579755"/>
          </a:xfrm>
          <a:custGeom>
            <a:avLst/>
            <a:gdLst/>
            <a:ahLst/>
            <a:cxnLst/>
            <a:rect l="l" t="t" r="r" b="b"/>
            <a:pathLst>
              <a:path w="2613025" h="579755">
                <a:moveTo>
                  <a:pt x="2515913" y="0"/>
                </a:moveTo>
                <a:lnTo>
                  <a:pt x="96553" y="0"/>
                </a:lnTo>
                <a:lnTo>
                  <a:pt x="58970" y="7587"/>
                </a:lnTo>
                <a:lnTo>
                  <a:pt x="28279" y="28279"/>
                </a:lnTo>
                <a:lnTo>
                  <a:pt x="7587" y="58970"/>
                </a:lnTo>
                <a:lnTo>
                  <a:pt x="0" y="96553"/>
                </a:lnTo>
                <a:lnTo>
                  <a:pt x="0" y="482747"/>
                </a:lnTo>
                <a:lnTo>
                  <a:pt x="7587" y="520330"/>
                </a:lnTo>
                <a:lnTo>
                  <a:pt x="28279" y="551020"/>
                </a:lnTo>
                <a:lnTo>
                  <a:pt x="58970" y="571712"/>
                </a:lnTo>
                <a:lnTo>
                  <a:pt x="96553" y="579300"/>
                </a:lnTo>
                <a:lnTo>
                  <a:pt x="2515913" y="579300"/>
                </a:lnTo>
                <a:lnTo>
                  <a:pt x="2553496" y="571712"/>
                </a:lnTo>
                <a:lnTo>
                  <a:pt x="2584186" y="551020"/>
                </a:lnTo>
                <a:lnTo>
                  <a:pt x="2604878" y="520330"/>
                </a:lnTo>
                <a:lnTo>
                  <a:pt x="2612466" y="482747"/>
                </a:lnTo>
                <a:lnTo>
                  <a:pt x="2612466" y="96553"/>
                </a:lnTo>
                <a:lnTo>
                  <a:pt x="2604878" y="58970"/>
                </a:lnTo>
                <a:lnTo>
                  <a:pt x="2584186" y="28279"/>
                </a:lnTo>
                <a:lnTo>
                  <a:pt x="2553496" y="7587"/>
                </a:lnTo>
                <a:lnTo>
                  <a:pt x="251591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9928" y="1247140"/>
            <a:ext cx="154495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6.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Развертывание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1832" y="19164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8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0462" y="1998979"/>
            <a:ext cx="1655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Пакетный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режим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работы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1830" y="239563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1"/>
                </a:lnTo>
                <a:lnTo>
                  <a:pt x="5350778" y="40311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0461" y="2477516"/>
            <a:ext cx="2141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Асинхронный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потоковый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режим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6712" y="287483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5344" y="2956051"/>
            <a:ext cx="1274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Модель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как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сервис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1833" y="38332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90463" y="3913123"/>
            <a:ext cx="13684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Развертывание</a:t>
            </a:r>
            <a:r>
              <a:rPr sz="1200" spc="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</a:t>
            </a:r>
            <a:r>
              <a:rPr sz="1200" spc="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k8s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02015" y="1683727"/>
            <a:ext cx="424815" cy="2385695"/>
          </a:xfrm>
          <a:custGeom>
            <a:avLst/>
            <a:gdLst/>
            <a:ahLst/>
            <a:cxnLst/>
            <a:rect l="l" t="t" r="r" b="b"/>
            <a:pathLst>
              <a:path w="424814" h="2385695">
                <a:moveTo>
                  <a:pt x="424688" y="1389113"/>
                </a:moveTo>
                <a:lnTo>
                  <a:pt x="415163" y="1384350"/>
                </a:lnTo>
                <a:lnTo>
                  <a:pt x="348488" y="1351013"/>
                </a:lnTo>
                <a:lnTo>
                  <a:pt x="348488" y="1384350"/>
                </a:lnTo>
                <a:lnTo>
                  <a:pt x="9525" y="1384350"/>
                </a:lnTo>
                <a:lnTo>
                  <a:pt x="9525" y="914666"/>
                </a:lnTo>
                <a:lnTo>
                  <a:pt x="343611" y="914666"/>
                </a:lnTo>
                <a:lnTo>
                  <a:pt x="343611" y="948004"/>
                </a:lnTo>
                <a:lnTo>
                  <a:pt x="410286" y="914666"/>
                </a:lnTo>
                <a:lnTo>
                  <a:pt x="419811" y="909904"/>
                </a:lnTo>
                <a:lnTo>
                  <a:pt x="410286" y="905141"/>
                </a:lnTo>
                <a:lnTo>
                  <a:pt x="343611" y="871804"/>
                </a:lnTo>
                <a:lnTo>
                  <a:pt x="343611" y="905141"/>
                </a:lnTo>
                <a:lnTo>
                  <a:pt x="9525" y="905141"/>
                </a:lnTo>
                <a:lnTo>
                  <a:pt x="9525" y="435470"/>
                </a:lnTo>
                <a:lnTo>
                  <a:pt x="343611" y="435470"/>
                </a:lnTo>
                <a:lnTo>
                  <a:pt x="343611" y="468807"/>
                </a:lnTo>
                <a:lnTo>
                  <a:pt x="410286" y="435470"/>
                </a:lnTo>
                <a:lnTo>
                  <a:pt x="419811" y="430707"/>
                </a:lnTo>
                <a:lnTo>
                  <a:pt x="410286" y="425945"/>
                </a:lnTo>
                <a:lnTo>
                  <a:pt x="343611" y="392607"/>
                </a:lnTo>
                <a:lnTo>
                  <a:pt x="343611" y="425945"/>
                </a:lnTo>
                <a:lnTo>
                  <a:pt x="9525" y="425945"/>
                </a:lnTo>
                <a:lnTo>
                  <a:pt x="9525" y="0"/>
                </a:lnTo>
                <a:lnTo>
                  <a:pt x="0" y="0"/>
                </a:lnTo>
                <a:lnTo>
                  <a:pt x="0" y="2350135"/>
                </a:lnTo>
                <a:lnTo>
                  <a:pt x="2133" y="2352268"/>
                </a:lnTo>
                <a:lnTo>
                  <a:pt x="343611" y="2352268"/>
                </a:lnTo>
                <a:lnTo>
                  <a:pt x="343611" y="2385606"/>
                </a:lnTo>
                <a:lnTo>
                  <a:pt x="410286" y="2352268"/>
                </a:lnTo>
                <a:lnTo>
                  <a:pt x="419811" y="2347506"/>
                </a:lnTo>
                <a:lnTo>
                  <a:pt x="410286" y="2342743"/>
                </a:lnTo>
                <a:lnTo>
                  <a:pt x="343611" y="2309406"/>
                </a:lnTo>
                <a:lnTo>
                  <a:pt x="343611" y="2342743"/>
                </a:lnTo>
                <a:lnTo>
                  <a:pt x="9525" y="2342743"/>
                </a:lnTo>
                <a:lnTo>
                  <a:pt x="9525" y="1873072"/>
                </a:lnTo>
                <a:lnTo>
                  <a:pt x="343611" y="1873072"/>
                </a:lnTo>
                <a:lnTo>
                  <a:pt x="343611" y="1906409"/>
                </a:lnTo>
                <a:lnTo>
                  <a:pt x="410286" y="1873072"/>
                </a:lnTo>
                <a:lnTo>
                  <a:pt x="419811" y="1868309"/>
                </a:lnTo>
                <a:lnTo>
                  <a:pt x="410286" y="1863547"/>
                </a:lnTo>
                <a:lnTo>
                  <a:pt x="343611" y="1830209"/>
                </a:lnTo>
                <a:lnTo>
                  <a:pt x="343611" y="1863547"/>
                </a:lnTo>
                <a:lnTo>
                  <a:pt x="9525" y="1863547"/>
                </a:lnTo>
                <a:lnTo>
                  <a:pt x="9525" y="1393875"/>
                </a:lnTo>
                <a:lnTo>
                  <a:pt x="348488" y="1393875"/>
                </a:lnTo>
                <a:lnTo>
                  <a:pt x="348488" y="1427213"/>
                </a:lnTo>
                <a:lnTo>
                  <a:pt x="415163" y="1393875"/>
                </a:lnTo>
                <a:lnTo>
                  <a:pt x="424688" y="1389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802019" y="2193324"/>
            <a:ext cx="420370" cy="2355215"/>
          </a:xfrm>
          <a:custGeom>
            <a:avLst/>
            <a:gdLst/>
            <a:ahLst/>
            <a:cxnLst/>
            <a:rect l="l" t="t" r="r" b="b"/>
            <a:pathLst>
              <a:path w="420369" h="2355215">
                <a:moveTo>
                  <a:pt x="343609" y="2279009"/>
                </a:moveTo>
                <a:lnTo>
                  <a:pt x="343609" y="2355209"/>
                </a:lnTo>
                <a:lnTo>
                  <a:pt x="410284" y="2321872"/>
                </a:lnTo>
                <a:lnTo>
                  <a:pt x="356309" y="2321872"/>
                </a:lnTo>
                <a:lnTo>
                  <a:pt x="356309" y="2312347"/>
                </a:lnTo>
                <a:lnTo>
                  <a:pt x="410284" y="2312347"/>
                </a:lnTo>
                <a:lnTo>
                  <a:pt x="343609" y="2279009"/>
                </a:lnTo>
                <a:close/>
              </a:path>
              <a:path w="420369" h="2355215">
                <a:moveTo>
                  <a:pt x="9525" y="0"/>
                </a:moveTo>
                <a:lnTo>
                  <a:pt x="0" y="0"/>
                </a:lnTo>
                <a:lnTo>
                  <a:pt x="0" y="2319739"/>
                </a:lnTo>
                <a:lnTo>
                  <a:pt x="2132" y="2321872"/>
                </a:lnTo>
                <a:lnTo>
                  <a:pt x="343609" y="2321872"/>
                </a:lnTo>
                <a:lnTo>
                  <a:pt x="343609" y="2317109"/>
                </a:lnTo>
                <a:lnTo>
                  <a:pt x="9525" y="2317109"/>
                </a:lnTo>
                <a:lnTo>
                  <a:pt x="4762" y="2312347"/>
                </a:lnTo>
                <a:lnTo>
                  <a:pt x="9525" y="2312347"/>
                </a:lnTo>
                <a:lnTo>
                  <a:pt x="9525" y="0"/>
                </a:lnTo>
                <a:close/>
              </a:path>
              <a:path w="420369" h="2355215">
                <a:moveTo>
                  <a:pt x="410284" y="2312347"/>
                </a:moveTo>
                <a:lnTo>
                  <a:pt x="356309" y="2312347"/>
                </a:lnTo>
                <a:lnTo>
                  <a:pt x="356309" y="2321872"/>
                </a:lnTo>
                <a:lnTo>
                  <a:pt x="410284" y="2321872"/>
                </a:lnTo>
                <a:lnTo>
                  <a:pt x="419809" y="2317109"/>
                </a:lnTo>
                <a:lnTo>
                  <a:pt x="410284" y="2312347"/>
                </a:lnTo>
                <a:close/>
              </a:path>
              <a:path w="420369" h="2355215">
                <a:moveTo>
                  <a:pt x="9525" y="2312347"/>
                </a:moveTo>
                <a:lnTo>
                  <a:pt x="4762" y="2312347"/>
                </a:lnTo>
                <a:lnTo>
                  <a:pt x="9525" y="2317109"/>
                </a:lnTo>
                <a:lnTo>
                  <a:pt x="9525" y="2312347"/>
                </a:lnTo>
                <a:close/>
              </a:path>
              <a:path w="420369" h="2355215">
                <a:moveTo>
                  <a:pt x="343609" y="2312347"/>
                </a:moveTo>
                <a:lnTo>
                  <a:pt x="9525" y="2312347"/>
                </a:lnTo>
                <a:lnTo>
                  <a:pt x="9525" y="2317109"/>
                </a:lnTo>
                <a:lnTo>
                  <a:pt x="343609" y="2317109"/>
                </a:lnTo>
                <a:lnTo>
                  <a:pt x="343609" y="23123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221829" y="4312434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5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5" y="395999"/>
                </a:lnTo>
                <a:lnTo>
                  <a:pt x="5315655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0"/>
                </a:lnTo>
                <a:lnTo>
                  <a:pt x="5336634" y="19331"/>
                </a:lnTo>
                <a:lnTo>
                  <a:pt x="5315655" y="5186"/>
                </a:lnTo>
                <a:lnTo>
                  <a:pt x="5289965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object 39"/>
          <p:cNvSpPr txBox="1"/>
          <p:nvPr/>
        </p:nvSpPr>
        <p:spPr>
          <a:xfrm>
            <a:off x="2390461" y="4394708"/>
            <a:ext cx="14541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Обновление</a:t>
            </a:r>
            <a:r>
              <a:rPr sz="1200" spc="-6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моделей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3" name="object 4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002" y="1223450"/>
            <a:ext cx="419929" cy="396000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11567" y="4361687"/>
            <a:ext cx="326135" cy="326136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 rot="20760000">
            <a:off x="7618361" y="4359438"/>
            <a:ext cx="826437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i="1" spc="-65" dirty="0">
                <a:latin typeface="Georgia"/>
                <a:cs typeface="Georgia"/>
              </a:rPr>
              <a:t>HomeTask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3" name="object 3"/>
          <p:cNvSpPr/>
          <p:nvPr/>
        </p:nvSpPr>
        <p:spPr>
          <a:xfrm>
            <a:off x="500550" y="1104418"/>
            <a:ext cx="2613025" cy="579755"/>
          </a:xfrm>
          <a:custGeom>
            <a:avLst/>
            <a:gdLst/>
            <a:ahLst/>
            <a:cxnLst/>
            <a:rect l="l" t="t" r="r" b="b"/>
            <a:pathLst>
              <a:path w="2613025" h="579755">
                <a:moveTo>
                  <a:pt x="2515913" y="0"/>
                </a:moveTo>
                <a:lnTo>
                  <a:pt x="96553" y="0"/>
                </a:lnTo>
                <a:lnTo>
                  <a:pt x="58970" y="7587"/>
                </a:lnTo>
                <a:lnTo>
                  <a:pt x="28279" y="28279"/>
                </a:lnTo>
                <a:lnTo>
                  <a:pt x="7587" y="58970"/>
                </a:lnTo>
                <a:lnTo>
                  <a:pt x="0" y="96553"/>
                </a:lnTo>
                <a:lnTo>
                  <a:pt x="0" y="482747"/>
                </a:lnTo>
                <a:lnTo>
                  <a:pt x="7587" y="520330"/>
                </a:lnTo>
                <a:lnTo>
                  <a:pt x="28279" y="551020"/>
                </a:lnTo>
                <a:lnTo>
                  <a:pt x="58970" y="571712"/>
                </a:lnTo>
                <a:lnTo>
                  <a:pt x="96553" y="579300"/>
                </a:lnTo>
                <a:lnTo>
                  <a:pt x="2515913" y="579300"/>
                </a:lnTo>
                <a:lnTo>
                  <a:pt x="2553496" y="571712"/>
                </a:lnTo>
                <a:lnTo>
                  <a:pt x="2584186" y="551020"/>
                </a:lnTo>
                <a:lnTo>
                  <a:pt x="2604878" y="520330"/>
                </a:lnTo>
                <a:lnTo>
                  <a:pt x="2612466" y="482747"/>
                </a:lnTo>
                <a:lnTo>
                  <a:pt x="2612466" y="96553"/>
                </a:lnTo>
                <a:lnTo>
                  <a:pt x="2604878" y="58970"/>
                </a:lnTo>
                <a:lnTo>
                  <a:pt x="2584186" y="28279"/>
                </a:lnTo>
                <a:lnTo>
                  <a:pt x="2553496" y="7587"/>
                </a:lnTo>
                <a:lnTo>
                  <a:pt x="251591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09928" y="1247140"/>
            <a:ext cx="13055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7.</a:t>
            </a:r>
            <a:r>
              <a:rPr sz="16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Мониторинг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26712" y="209304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1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95344" y="2172716"/>
            <a:ext cx="2433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Инструменты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метрики.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 Prometheus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6712" y="2615406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8"/>
                </a:lnTo>
                <a:lnTo>
                  <a:pt x="5355965" y="329998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5344" y="2696972"/>
            <a:ext cx="3369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Поиск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отклонений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сдвигов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данных/MLOps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k8s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6712" y="3137768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5344" y="3218179"/>
            <a:ext cx="18630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Построение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обратной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петли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1833" y="3679264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0463" y="3760723"/>
            <a:ext cx="622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Алертинг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802015" y="1683727"/>
            <a:ext cx="424815" cy="2232025"/>
          </a:xfrm>
          <a:custGeom>
            <a:avLst/>
            <a:gdLst/>
            <a:ahLst/>
            <a:cxnLst/>
            <a:rect l="l" t="t" r="r" b="b"/>
            <a:pathLst>
              <a:path w="424814" h="2232025">
                <a:moveTo>
                  <a:pt x="424688" y="607314"/>
                </a:moveTo>
                <a:lnTo>
                  <a:pt x="415163" y="602551"/>
                </a:lnTo>
                <a:lnTo>
                  <a:pt x="348488" y="569214"/>
                </a:lnTo>
                <a:lnTo>
                  <a:pt x="348488" y="602551"/>
                </a:lnTo>
                <a:lnTo>
                  <a:pt x="9525" y="602551"/>
                </a:lnTo>
                <a:lnTo>
                  <a:pt x="9525" y="0"/>
                </a:lnTo>
                <a:lnTo>
                  <a:pt x="0" y="0"/>
                </a:lnTo>
                <a:lnTo>
                  <a:pt x="0" y="609955"/>
                </a:lnTo>
                <a:lnTo>
                  <a:pt x="0" y="1132319"/>
                </a:lnTo>
                <a:lnTo>
                  <a:pt x="0" y="1654670"/>
                </a:lnTo>
                <a:lnTo>
                  <a:pt x="0" y="2196173"/>
                </a:lnTo>
                <a:lnTo>
                  <a:pt x="2133" y="2198306"/>
                </a:lnTo>
                <a:lnTo>
                  <a:pt x="343611" y="2198306"/>
                </a:lnTo>
                <a:lnTo>
                  <a:pt x="343611" y="2231644"/>
                </a:lnTo>
                <a:lnTo>
                  <a:pt x="410286" y="2198306"/>
                </a:lnTo>
                <a:lnTo>
                  <a:pt x="419811" y="2193544"/>
                </a:lnTo>
                <a:lnTo>
                  <a:pt x="410286" y="2188781"/>
                </a:lnTo>
                <a:lnTo>
                  <a:pt x="343611" y="2155444"/>
                </a:lnTo>
                <a:lnTo>
                  <a:pt x="343611" y="2188781"/>
                </a:lnTo>
                <a:lnTo>
                  <a:pt x="9525" y="2188781"/>
                </a:lnTo>
                <a:lnTo>
                  <a:pt x="9525" y="1656803"/>
                </a:lnTo>
                <a:lnTo>
                  <a:pt x="348488" y="1656803"/>
                </a:lnTo>
                <a:lnTo>
                  <a:pt x="348488" y="1690141"/>
                </a:lnTo>
                <a:lnTo>
                  <a:pt x="415163" y="1656803"/>
                </a:lnTo>
                <a:lnTo>
                  <a:pt x="424688" y="1652041"/>
                </a:lnTo>
                <a:lnTo>
                  <a:pt x="415163" y="1647278"/>
                </a:lnTo>
                <a:lnTo>
                  <a:pt x="348488" y="1613941"/>
                </a:lnTo>
                <a:lnTo>
                  <a:pt x="348488" y="1647278"/>
                </a:lnTo>
                <a:lnTo>
                  <a:pt x="9525" y="1647278"/>
                </a:lnTo>
                <a:lnTo>
                  <a:pt x="9525" y="1134440"/>
                </a:lnTo>
                <a:lnTo>
                  <a:pt x="348488" y="1134440"/>
                </a:lnTo>
                <a:lnTo>
                  <a:pt x="348488" y="1167777"/>
                </a:lnTo>
                <a:lnTo>
                  <a:pt x="415163" y="1134440"/>
                </a:lnTo>
                <a:lnTo>
                  <a:pt x="424688" y="1129677"/>
                </a:lnTo>
                <a:lnTo>
                  <a:pt x="415163" y="1124915"/>
                </a:lnTo>
                <a:lnTo>
                  <a:pt x="348488" y="1091577"/>
                </a:lnTo>
                <a:lnTo>
                  <a:pt x="348488" y="1124915"/>
                </a:lnTo>
                <a:lnTo>
                  <a:pt x="9525" y="1124915"/>
                </a:lnTo>
                <a:lnTo>
                  <a:pt x="9525" y="612076"/>
                </a:lnTo>
                <a:lnTo>
                  <a:pt x="348488" y="612076"/>
                </a:lnTo>
                <a:lnTo>
                  <a:pt x="348488" y="645414"/>
                </a:lnTo>
                <a:lnTo>
                  <a:pt x="415163" y="612076"/>
                </a:lnTo>
                <a:lnTo>
                  <a:pt x="424688" y="6073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5472" y="3712463"/>
            <a:ext cx="326135" cy="32918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5002" y="1223450"/>
            <a:ext cx="419929" cy="396000"/>
          </a:xfrm>
          <a:prstGeom prst="rect">
            <a:avLst/>
          </a:prstGeom>
        </p:spPr>
      </p:pic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object 27"/>
          <p:cNvSpPr txBox="1"/>
          <p:nvPr/>
        </p:nvSpPr>
        <p:spPr>
          <a:xfrm rot="20760000">
            <a:off x="7612225" y="3713262"/>
            <a:ext cx="826437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i="1" spc="-65" dirty="0">
                <a:latin typeface="Georgia"/>
                <a:cs typeface="Georgia"/>
              </a:rPr>
              <a:t>HomeTask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0550" y="1104418"/>
            <a:ext cx="2613025" cy="579755"/>
          </a:xfrm>
          <a:custGeom>
            <a:avLst/>
            <a:gdLst/>
            <a:ahLst/>
            <a:cxnLst/>
            <a:rect l="l" t="t" r="r" b="b"/>
            <a:pathLst>
              <a:path w="2613025" h="579755">
                <a:moveTo>
                  <a:pt x="2515913" y="0"/>
                </a:moveTo>
                <a:lnTo>
                  <a:pt x="96553" y="0"/>
                </a:lnTo>
                <a:lnTo>
                  <a:pt x="58970" y="7587"/>
                </a:lnTo>
                <a:lnTo>
                  <a:pt x="28279" y="28279"/>
                </a:lnTo>
                <a:lnTo>
                  <a:pt x="7587" y="58970"/>
                </a:lnTo>
                <a:lnTo>
                  <a:pt x="0" y="96553"/>
                </a:lnTo>
                <a:lnTo>
                  <a:pt x="0" y="482747"/>
                </a:lnTo>
                <a:lnTo>
                  <a:pt x="7587" y="520330"/>
                </a:lnTo>
                <a:lnTo>
                  <a:pt x="28279" y="551020"/>
                </a:lnTo>
                <a:lnTo>
                  <a:pt x="58970" y="571712"/>
                </a:lnTo>
                <a:lnTo>
                  <a:pt x="96553" y="579300"/>
                </a:lnTo>
                <a:lnTo>
                  <a:pt x="2515913" y="579300"/>
                </a:lnTo>
                <a:lnTo>
                  <a:pt x="2553496" y="571712"/>
                </a:lnTo>
                <a:lnTo>
                  <a:pt x="2584186" y="551020"/>
                </a:lnTo>
                <a:lnTo>
                  <a:pt x="2604878" y="520330"/>
                </a:lnTo>
                <a:lnTo>
                  <a:pt x="2612466" y="482747"/>
                </a:lnTo>
                <a:lnTo>
                  <a:pt x="2612466" y="96553"/>
                </a:lnTo>
                <a:lnTo>
                  <a:pt x="2604878" y="58970"/>
                </a:lnTo>
                <a:lnTo>
                  <a:pt x="2584186" y="28279"/>
                </a:lnTo>
                <a:lnTo>
                  <a:pt x="2553496" y="7587"/>
                </a:lnTo>
                <a:lnTo>
                  <a:pt x="251591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9928" y="1247140"/>
            <a:ext cx="16840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8.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Курсовой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проект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26712" y="1878247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1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95344" y="1959355"/>
            <a:ext cx="30391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Выбор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темы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организация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проектной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работы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6712" y="240061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5344" y="2480564"/>
            <a:ext cx="3320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Консультация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проектам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домашним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заданиям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6712" y="2922973"/>
            <a:ext cx="3051175" cy="396240"/>
          </a:xfrm>
          <a:custGeom>
            <a:avLst/>
            <a:gdLst/>
            <a:ahLst/>
            <a:cxnLst/>
            <a:rect l="l" t="t" r="r" b="b"/>
            <a:pathLst>
              <a:path w="3051175" h="396239">
                <a:moveTo>
                  <a:pt x="2985029" y="0"/>
                </a:moveTo>
                <a:lnTo>
                  <a:pt x="66003" y="0"/>
                </a:lnTo>
                <a:lnTo>
                  <a:pt x="40311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3"/>
                </a:lnTo>
                <a:lnTo>
                  <a:pt x="0" y="329998"/>
                </a:lnTo>
                <a:lnTo>
                  <a:pt x="5186" y="355688"/>
                </a:lnTo>
                <a:lnTo>
                  <a:pt x="19331" y="376668"/>
                </a:lnTo>
                <a:lnTo>
                  <a:pt x="40311" y="390813"/>
                </a:lnTo>
                <a:lnTo>
                  <a:pt x="66003" y="395999"/>
                </a:lnTo>
                <a:lnTo>
                  <a:pt x="2985029" y="395999"/>
                </a:lnTo>
                <a:lnTo>
                  <a:pt x="3010721" y="390813"/>
                </a:lnTo>
                <a:lnTo>
                  <a:pt x="3031700" y="376668"/>
                </a:lnTo>
                <a:lnTo>
                  <a:pt x="3045845" y="355688"/>
                </a:lnTo>
                <a:lnTo>
                  <a:pt x="3051032" y="329998"/>
                </a:lnTo>
                <a:lnTo>
                  <a:pt x="3051032" y="66003"/>
                </a:lnTo>
                <a:lnTo>
                  <a:pt x="3045845" y="40311"/>
                </a:lnTo>
                <a:lnTo>
                  <a:pt x="3031700" y="19331"/>
                </a:lnTo>
                <a:lnTo>
                  <a:pt x="3010721" y="5186"/>
                </a:lnTo>
                <a:lnTo>
                  <a:pt x="2985029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5344" y="3004820"/>
            <a:ext cx="16376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Защита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проектных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работ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02015" y="1683727"/>
            <a:ext cx="424815" cy="1475740"/>
          </a:xfrm>
          <a:custGeom>
            <a:avLst/>
            <a:gdLst/>
            <a:ahLst/>
            <a:cxnLst/>
            <a:rect l="l" t="t" r="r" b="b"/>
            <a:pathLst>
              <a:path w="424814" h="1475739">
                <a:moveTo>
                  <a:pt x="424688" y="392518"/>
                </a:moveTo>
                <a:lnTo>
                  <a:pt x="415163" y="387756"/>
                </a:lnTo>
                <a:lnTo>
                  <a:pt x="348488" y="354418"/>
                </a:lnTo>
                <a:lnTo>
                  <a:pt x="348488" y="387756"/>
                </a:lnTo>
                <a:lnTo>
                  <a:pt x="9525" y="387756"/>
                </a:lnTo>
                <a:lnTo>
                  <a:pt x="9525" y="0"/>
                </a:lnTo>
                <a:lnTo>
                  <a:pt x="0" y="0"/>
                </a:lnTo>
                <a:lnTo>
                  <a:pt x="0" y="395160"/>
                </a:lnTo>
                <a:lnTo>
                  <a:pt x="0" y="917524"/>
                </a:lnTo>
                <a:lnTo>
                  <a:pt x="0" y="1439875"/>
                </a:lnTo>
                <a:lnTo>
                  <a:pt x="2133" y="1442008"/>
                </a:lnTo>
                <a:lnTo>
                  <a:pt x="348488" y="1442008"/>
                </a:lnTo>
                <a:lnTo>
                  <a:pt x="348488" y="1475346"/>
                </a:lnTo>
                <a:lnTo>
                  <a:pt x="415163" y="1442008"/>
                </a:lnTo>
                <a:lnTo>
                  <a:pt x="424688" y="1437246"/>
                </a:lnTo>
                <a:lnTo>
                  <a:pt x="415163" y="1432483"/>
                </a:lnTo>
                <a:lnTo>
                  <a:pt x="348488" y="1399146"/>
                </a:lnTo>
                <a:lnTo>
                  <a:pt x="348488" y="1432483"/>
                </a:lnTo>
                <a:lnTo>
                  <a:pt x="9525" y="1432483"/>
                </a:lnTo>
                <a:lnTo>
                  <a:pt x="9525" y="919645"/>
                </a:lnTo>
                <a:lnTo>
                  <a:pt x="348488" y="919645"/>
                </a:lnTo>
                <a:lnTo>
                  <a:pt x="348488" y="952982"/>
                </a:lnTo>
                <a:lnTo>
                  <a:pt x="415163" y="919645"/>
                </a:lnTo>
                <a:lnTo>
                  <a:pt x="424688" y="914882"/>
                </a:lnTo>
                <a:lnTo>
                  <a:pt x="415163" y="910120"/>
                </a:lnTo>
                <a:lnTo>
                  <a:pt x="348488" y="876782"/>
                </a:lnTo>
                <a:lnTo>
                  <a:pt x="348488" y="910120"/>
                </a:lnTo>
                <a:lnTo>
                  <a:pt x="9525" y="910120"/>
                </a:lnTo>
                <a:lnTo>
                  <a:pt x="9525" y="397281"/>
                </a:lnTo>
                <a:lnTo>
                  <a:pt x="348488" y="397281"/>
                </a:lnTo>
                <a:lnTo>
                  <a:pt x="348488" y="430618"/>
                </a:lnTo>
                <a:lnTo>
                  <a:pt x="415163" y="397281"/>
                </a:lnTo>
                <a:lnTo>
                  <a:pt x="424688" y="3925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002" y="1223450"/>
            <a:ext cx="419929" cy="39600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16463" y="2943932"/>
            <a:ext cx="2989202" cy="1992801"/>
          </a:xfrm>
          <a:prstGeom prst="rect">
            <a:avLst/>
          </a:prstGeom>
        </p:spPr>
      </p:pic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52549" y="1264075"/>
            <a:ext cx="3427095" cy="779145"/>
          </a:xfrm>
          <a:custGeom>
            <a:avLst/>
            <a:gdLst/>
            <a:ahLst/>
            <a:cxnLst/>
            <a:rect l="l" t="t" r="r" b="b"/>
            <a:pathLst>
              <a:path w="3427095" h="779144">
                <a:moveTo>
                  <a:pt x="3426900" y="0"/>
                </a:moveTo>
                <a:lnTo>
                  <a:pt x="0" y="0"/>
                </a:lnTo>
                <a:lnTo>
                  <a:pt x="0" y="779099"/>
                </a:lnTo>
                <a:lnTo>
                  <a:pt x="3426900" y="779099"/>
                </a:lnTo>
                <a:lnTo>
                  <a:pt x="3426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52549" y="2237574"/>
            <a:ext cx="3427095" cy="993775"/>
          </a:xfrm>
          <a:custGeom>
            <a:avLst/>
            <a:gdLst/>
            <a:ahLst/>
            <a:cxnLst/>
            <a:rect l="l" t="t" r="r" b="b"/>
            <a:pathLst>
              <a:path w="3427095" h="993775">
                <a:moveTo>
                  <a:pt x="3426900" y="0"/>
                </a:moveTo>
                <a:lnTo>
                  <a:pt x="0" y="0"/>
                </a:lnTo>
                <a:lnTo>
                  <a:pt x="0" y="993300"/>
                </a:lnTo>
                <a:lnTo>
                  <a:pt x="3426900" y="993300"/>
                </a:lnTo>
                <a:lnTo>
                  <a:pt x="3426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52549" y="3425275"/>
            <a:ext cx="3427095" cy="1136015"/>
          </a:xfrm>
          <a:custGeom>
            <a:avLst/>
            <a:gdLst/>
            <a:ahLst/>
            <a:cxnLst/>
            <a:rect l="l" t="t" r="r" b="b"/>
            <a:pathLst>
              <a:path w="3427095" h="1136014">
                <a:moveTo>
                  <a:pt x="3426900" y="0"/>
                </a:moveTo>
                <a:lnTo>
                  <a:pt x="0" y="0"/>
                </a:lnTo>
                <a:lnTo>
                  <a:pt x="0" y="1135499"/>
                </a:lnTo>
                <a:lnTo>
                  <a:pt x="3426900" y="1135499"/>
                </a:lnTo>
                <a:lnTo>
                  <a:pt x="3426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73549" y="1264075"/>
            <a:ext cx="3418204" cy="1136015"/>
          </a:xfrm>
          <a:custGeom>
            <a:avLst/>
            <a:gdLst/>
            <a:ahLst/>
            <a:cxnLst/>
            <a:rect l="l" t="t" r="r" b="b"/>
            <a:pathLst>
              <a:path w="3418204" h="1136014">
                <a:moveTo>
                  <a:pt x="3417900" y="0"/>
                </a:moveTo>
                <a:lnTo>
                  <a:pt x="0" y="0"/>
                </a:lnTo>
                <a:lnTo>
                  <a:pt x="0" y="1135499"/>
                </a:lnTo>
                <a:lnTo>
                  <a:pt x="3417900" y="1135499"/>
                </a:lnTo>
                <a:lnTo>
                  <a:pt x="3417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73549" y="2579574"/>
            <a:ext cx="3418204" cy="848360"/>
          </a:xfrm>
          <a:custGeom>
            <a:avLst/>
            <a:gdLst/>
            <a:ahLst/>
            <a:cxnLst/>
            <a:rect l="l" t="t" r="r" b="b"/>
            <a:pathLst>
              <a:path w="3418204" h="848360">
                <a:moveTo>
                  <a:pt x="3417900" y="0"/>
                </a:moveTo>
                <a:lnTo>
                  <a:pt x="0" y="0"/>
                </a:lnTo>
                <a:lnTo>
                  <a:pt x="0" y="848100"/>
                </a:lnTo>
                <a:lnTo>
                  <a:pt x="3417900" y="848100"/>
                </a:lnTo>
                <a:lnTo>
                  <a:pt x="3417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73549" y="3607675"/>
            <a:ext cx="3418204" cy="951230"/>
          </a:xfrm>
          <a:custGeom>
            <a:avLst/>
            <a:gdLst/>
            <a:ahLst/>
            <a:cxnLst/>
            <a:rect l="l" t="t" r="r" b="b"/>
            <a:pathLst>
              <a:path w="3418204" h="951229">
                <a:moveTo>
                  <a:pt x="3417900" y="0"/>
                </a:moveTo>
                <a:lnTo>
                  <a:pt x="0" y="0"/>
                </a:lnTo>
                <a:lnTo>
                  <a:pt x="0" y="950999"/>
                </a:lnTo>
                <a:lnTo>
                  <a:pt x="3417900" y="950999"/>
                </a:lnTo>
                <a:lnTo>
                  <a:pt x="3417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7488" y="1420367"/>
            <a:ext cx="463295" cy="46329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52549" y="1264075"/>
            <a:ext cx="3427095" cy="77914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900">
              <a:latin typeface="Times New Roman"/>
              <a:cs typeface="Times New Roman"/>
            </a:endParaRPr>
          </a:p>
          <a:p>
            <a:pPr marL="802005" marR="283210">
              <a:lnSpc>
                <a:spcPct val="111100"/>
              </a:lnSpc>
            </a:pPr>
            <a:r>
              <a:rPr sz="900" dirty="0">
                <a:latin typeface="Trebuchet MS"/>
                <a:cs typeface="Trebuchet MS"/>
              </a:rPr>
              <a:t>Обучение выстроено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в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формате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вебинаров (онлайн).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Онлайн-вебинары</a:t>
            </a:r>
            <a:r>
              <a:rPr sz="900" spc="6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проводятся</a:t>
            </a:r>
            <a:r>
              <a:rPr sz="900" spc="500" dirty="0">
                <a:latin typeface="Trebuchet MS"/>
                <a:cs typeface="Trebuchet MS"/>
              </a:rPr>
              <a:t>  </a:t>
            </a:r>
            <a:r>
              <a:rPr sz="900" spc="10" dirty="0">
                <a:latin typeface="Trebuchet MS"/>
                <a:cs typeface="Trebuchet MS"/>
              </a:rPr>
              <a:t>по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вечерам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или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в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выходные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дни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7488" y="2438400"/>
            <a:ext cx="463295" cy="46329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052549" y="2237574"/>
            <a:ext cx="3427095" cy="9937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endParaRPr sz="900">
              <a:latin typeface="Times New Roman"/>
              <a:cs typeface="Times New Roman"/>
            </a:endParaRPr>
          </a:p>
          <a:p>
            <a:pPr marL="802005" marR="206375">
              <a:lnSpc>
                <a:spcPct val="120700"/>
              </a:lnSpc>
              <a:spcBef>
                <a:spcPts val="5"/>
              </a:spcBef>
            </a:pPr>
            <a:r>
              <a:rPr sz="900" dirty="0">
                <a:latin typeface="Trebuchet MS"/>
                <a:cs typeface="Trebuchet MS"/>
              </a:rPr>
              <a:t>Все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записи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занятий</a:t>
            </a:r>
            <a:r>
              <a:rPr sz="900" spc="3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и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материалы, </a:t>
            </a:r>
            <a:r>
              <a:rPr sz="900" spc="10" dirty="0">
                <a:latin typeface="Trebuchet MS"/>
                <a:cs typeface="Trebuchet MS"/>
              </a:rPr>
              <a:t>предоставляемые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преподавателями, </a:t>
            </a:r>
            <a:r>
              <a:rPr sz="900" dirty="0">
                <a:latin typeface="Trebuchet MS"/>
                <a:cs typeface="Trebuchet MS"/>
              </a:rPr>
              <a:t>сохраняются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в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личном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кабинете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и</a:t>
            </a:r>
            <a:r>
              <a:rPr sz="900" spc="3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остаются </a:t>
            </a:r>
            <a:r>
              <a:rPr sz="900" dirty="0">
                <a:latin typeface="Trebuchet MS"/>
                <a:cs typeface="Trebuchet MS"/>
              </a:rPr>
              <a:t>доступны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даже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после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окончания</a:t>
            </a:r>
            <a:r>
              <a:rPr sz="900" spc="6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обучения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7488" y="3630167"/>
            <a:ext cx="463295" cy="46329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052549" y="3425275"/>
            <a:ext cx="3427095" cy="1136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endParaRPr sz="900">
              <a:latin typeface="Times New Roman"/>
              <a:cs typeface="Times New Roman"/>
            </a:endParaRPr>
          </a:p>
          <a:p>
            <a:pPr marL="802005" marR="654685">
              <a:lnSpc>
                <a:spcPct val="121100"/>
              </a:lnSpc>
            </a:pPr>
            <a:r>
              <a:rPr sz="900" dirty="0">
                <a:latin typeface="Trebuchet MS"/>
                <a:cs typeface="Trebuchet MS"/>
              </a:rPr>
              <a:t>Домашние</a:t>
            </a:r>
            <a:r>
              <a:rPr sz="900" spc="11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задания</a:t>
            </a:r>
            <a:r>
              <a:rPr sz="900" spc="13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позволят</a:t>
            </a:r>
            <a:r>
              <a:rPr sz="900" spc="12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Вам </a:t>
            </a:r>
            <a:r>
              <a:rPr sz="900" dirty="0">
                <a:latin typeface="Trebuchet MS"/>
                <a:cs typeface="Trebuchet MS"/>
              </a:rPr>
              <a:t>применить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на</a:t>
            </a:r>
            <a:r>
              <a:rPr sz="900" spc="5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практике</a:t>
            </a:r>
            <a:r>
              <a:rPr sz="900" spc="5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полученные </a:t>
            </a:r>
            <a:r>
              <a:rPr sz="900" dirty="0">
                <a:latin typeface="Trebuchet MS"/>
                <a:cs typeface="Trebuchet MS"/>
              </a:rPr>
              <a:t>во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время</a:t>
            </a:r>
            <a:r>
              <a:rPr sz="900" spc="6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вебинаров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знания.</a:t>
            </a:r>
            <a:endParaRPr sz="900">
              <a:latin typeface="Trebuchet MS"/>
              <a:cs typeface="Trebuchet MS"/>
            </a:endParaRPr>
          </a:p>
          <a:p>
            <a:pPr marL="802005" marR="353695">
              <a:lnSpc>
                <a:spcPct val="120000"/>
              </a:lnSpc>
            </a:pPr>
            <a:r>
              <a:rPr sz="900" dirty="0">
                <a:latin typeface="Trebuchet MS"/>
                <a:cs typeface="Trebuchet MS"/>
              </a:rPr>
              <a:t>По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каждому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домашнему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заданию </a:t>
            </a:r>
            <a:r>
              <a:rPr sz="900" dirty="0">
                <a:latin typeface="Trebuchet MS"/>
                <a:cs typeface="Trebuchet MS"/>
              </a:rPr>
              <a:t>преподаватель</a:t>
            </a:r>
            <a:r>
              <a:rPr sz="900" spc="7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дает</a:t>
            </a:r>
            <a:r>
              <a:rPr sz="900" spc="8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развернутый</a:t>
            </a:r>
            <a:r>
              <a:rPr sz="900" spc="8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фидбек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52415" y="1420367"/>
            <a:ext cx="463296" cy="46329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673549" y="1264075"/>
            <a:ext cx="3418204" cy="113601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900">
              <a:latin typeface="Times New Roman"/>
              <a:cs typeface="Times New Roman"/>
            </a:endParaRPr>
          </a:p>
          <a:p>
            <a:pPr marL="796290" marR="324485">
              <a:lnSpc>
                <a:spcPct val="111100"/>
              </a:lnSpc>
            </a:pPr>
            <a:r>
              <a:rPr sz="900" dirty="0">
                <a:latin typeface="Trebuchet MS"/>
                <a:cs typeface="Trebuchet MS"/>
              </a:rPr>
              <a:t>В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процессе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обучения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60" dirty="0">
                <a:latin typeface="Trebuchet MS"/>
                <a:cs typeface="Trebuchet MS"/>
              </a:rPr>
              <a:t>Вы</a:t>
            </a:r>
            <a:r>
              <a:rPr sz="900" dirty="0">
                <a:latin typeface="Trebuchet MS"/>
                <a:cs typeface="Trebuchet MS"/>
              </a:rPr>
              <a:t> можете</a:t>
            </a:r>
            <a:r>
              <a:rPr sz="900" spc="-10" dirty="0">
                <a:latin typeface="Trebuchet MS"/>
                <a:cs typeface="Trebuchet MS"/>
              </a:rPr>
              <a:t> задавать </a:t>
            </a:r>
            <a:r>
              <a:rPr sz="900" dirty="0">
                <a:latin typeface="Trebuchet MS"/>
                <a:cs typeface="Trebuchet MS"/>
              </a:rPr>
              <a:t>преподавателю</a:t>
            </a:r>
            <a:r>
              <a:rPr sz="900" spc="1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вопросы</a:t>
            </a:r>
            <a:r>
              <a:rPr sz="900" spc="1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по</a:t>
            </a:r>
            <a:r>
              <a:rPr sz="900" spc="11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материалам </a:t>
            </a:r>
            <a:r>
              <a:rPr sz="900" dirty="0">
                <a:latin typeface="Trebuchet MS"/>
                <a:cs typeface="Trebuchet MS"/>
              </a:rPr>
              <a:t>лекций</a:t>
            </a:r>
            <a:r>
              <a:rPr sz="900" spc="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и</a:t>
            </a:r>
            <a:r>
              <a:rPr sz="900" spc="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домашних</a:t>
            </a:r>
            <a:r>
              <a:rPr sz="900" spc="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заданий,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уточнять </a:t>
            </a:r>
            <a:r>
              <a:rPr sz="900" dirty="0">
                <a:latin typeface="Trebuchet MS"/>
                <a:cs typeface="Trebuchet MS"/>
              </a:rPr>
              <a:t>моменты,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которые</a:t>
            </a:r>
            <a:r>
              <a:rPr sz="900" spc="5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были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непонятны</a:t>
            </a:r>
            <a:endParaRPr sz="900">
              <a:latin typeface="Trebuchet MS"/>
              <a:cs typeface="Trebuchet MS"/>
            </a:endParaRPr>
          </a:p>
          <a:p>
            <a:pPr marL="796290">
              <a:lnSpc>
                <a:spcPct val="100000"/>
              </a:lnSpc>
            </a:pPr>
            <a:r>
              <a:rPr sz="900" dirty="0">
                <a:latin typeface="Trebuchet MS"/>
                <a:cs typeface="Trebuchet MS"/>
              </a:rPr>
              <a:t>на</a:t>
            </a:r>
            <a:r>
              <a:rPr sz="900" spc="-10" dirty="0">
                <a:latin typeface="Trebuchet MS"/>
                <a:cs typeface="Trebuchet MS"/>
              </a:rPr>
              <a:t> уроке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52415" y="2740151"/>
            <a:ext cx="463296" cy="46634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673549" y="2579574"/>
            <a:ext cx="3418204" cy="84836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15"/>
              </a:spcBef>
            </a:pPr>
            <a:endParaRPr sz="900">
              <a:latin typeface="Times New Roman"/>
              <a:cs typeface="Times New Roman"/>
            </a:endParaRPr>
          </a:p>
          <a:p>
            <a:pPr marL="796290">
              <a:lnSpc>
                <a:spcPct val="100000"/>
              </a:lnSpc>
            </a:pPr>
            <a:r>
              <a:rPr sz="900" dirty="0">
                <a:latin typeface="Trebuchet MS"/>
                <a:cs typeface="Trebuchet MS"/>
              </a:rPr>
              <a:t>Время на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обучение: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от 4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ак.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часов</a:t>
            </a:r>
            <a:endParaRPr sz="900">
              <a:latin typeface="Trebuchet MS"/>
              <a:cs typeface="Trebuchet MS"/>
            </a:endParaRPr>
          </a:p>
          <a:p>
            <a:pPr marL="796290" marR="583565">
              <a:lnSpc>
                <a:spcPct val="111100"/>
              </a:lnSpc>
            </a:pPr>
            <a:r>
              <a:rPr sz="900" dirty="0">
                <a:latin typeface="Trebuchet MS"/>
                <a:cs typeface="Trebuchet MS"/>
              </a:rPr>
              <a:t>на</a:t>
            </a:r>
            <a:r>
              <a:rPr sz="900" spc="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занятия</a:t>
            </a:r>
            <a:r>
              <a:rPr sz="900" spc="3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и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4-</a:t>
            </a:r>
            <a:r>
              <a:rPr sz="900" dirty="0">
                <a:latin typeface="Trebuchet MS"/>
                <a:cs typeface="Trebuchet MS"/>
              </a:rPr>
              <a:t>8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часов</a:t>
            </a:r>
            <a:r>
              <a:rPr sz="900" spc="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на</a:t>
            </a:r>
            <a:r>
              <a:rPr sz="900" spc="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домашнюю </a:t>
            </a:r>
            <a:r>
              <a:rPr sz="900" dirty="0">
                <a:latin typeface="Trebuchet MS"/>
                <a:cs typeface="Trebuchet MS"/>
              </a:rPr>
              <a:t>работу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в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неделю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52415" y="3758183"/>
            <a:ext cx="463296" cy="46329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673549" y="3607675"/>
            <a:ext cx="3418204" cy="95123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900">
              <a:latin typeface="Times New Roman"/>
              <a:cs typeface="Times New Roman"/>
            </a:endParaRPr>
          </a:p>
          <a:p>
            <a:pPr marL="796290" marR="459740">
              <a:lnSpc>
                <a:spcPct val="111100"/>
              </a:lnSpc>
            </a:pPr>
            <a:r>
              <a:rPr sz="900" dirty="0">
                <a:latin typeface="Trebuchet MS"/>
                <a:cs typeface="Trebuchet MS"/>
              </a:rPr>
              <a:t>Программа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обучения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на</a:t>
            </a:r>
            <a:r>
              <a:rPr sz="900" spc="3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курсах </a:t>
            </a:r>
            <a:r>
              <a:rPr sz="900" dirty="0">
                <a:latin typeface="Trebuchet MS"/>
                <a:cs typeface="Trebuchet MS"/>
              </a:rPr>
              <a:t>обновляется</a:t>
            </a:r>
            <a:r>
              <a:rPr sz="900" spc="10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каждый</a:t>
            </a:r>
            <a:r>
              <a:rPr sz="900" spc="9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запуск</a:t>
            </a:r>
            <a:r>
              <a:rPr sz="900" spc="9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в </a:t>
            </a:r>
            <a:r>
              <a:rPr sz="900" spc="10" dirty="0">
                <a:latin typeface="Trebuchet MS"/>
                <a:cs typeface="Trebuchet MS"/>
              </a:rPr>
              <a:t>зависимости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от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актуальных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запросов</a:t>
            </a:r>
            <a:r>
              <a:rPr sz="900" spc="3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в </a:t>
            </a:r>
            <a:r>
              <a:rPr sz="900" spc="-20" dirty="0">
                <a:latin typeface="Trebuchet MS"/>
                <a:cs typeface="Trebuchet MS"/>
              </a:rPr>
              <a:t>сфере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IТ-</a:t>
            </a:r>
            <a:r>
              <a:rPr sz="900" spc="-10" dirty="0">
                <a:latin typeface="Trebuchet MS"/>
                <a:cs typeface="Trebuchet MS"/>
              </a:rPr>
              <a:t>технологий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Процесс</a:t>
            </a:r>
            <a:r>
              <a:rPr spc="-190" dirty="0"/>
              <a:t> </a:t>
            </a:r>
            <a:r>
              <a:rPr spc="-60" dirty="0"/>
              <a:t>обучения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/>
              <a:t>Заполните, пожалуйста,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опрос о занятии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952</TotalTime>
  <Words>1346</Words>
  <Application>Microsoft Macintosh PowerPoint</Application>
  <PresentationFormat>On-screen Show (16:9)</PresentationFormat>
  <Paragraphs>368</Paragraphs>
  <Slides>45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7" baseType="lpstr">
      <vt:lpstr>SimSun</vt:lpstr>
      <vt:lpstr>Trebuchet MS</vt:lpstr>
      <vt:lpstr>Georgia</vt:lpstr>
      <vt:lpstr>Times New Roman</vt:lpstr>
      <vt:lpstr>Helvetica Neue</vt:lpstr>
      <vt:lpstr>Lucida Sans</vt:lpstr>
      <vt:lpstr>Calibri</vt:lpstr>
      <vt:lpstr>Arial</vt:lpstr>
      <vt:lpstr>Bradley Hand</vt:lpstr>
      <vt:lpstr>Courier New</vt:lpstr>
      <vt:lpstr>Roboto</vt:lpstr>
      <vt:lpstr>Светлая тема</vt:lpstr>
      <vt:lpstr>ML Ops Cоздание API - учим модель общаться с внешним миром</vt:lpstr>
      <vt:lpstr>Проверить, идет ли запись</vt:lpstr>
      <vt:lpstr>ML Ops Cоздание API - учим модель общаться с внешним миром</vt:lpstr>
      <vt:lpstr>Правила вебинара</vt:lpstr>
      <vt:lpstr>Маршрут вебинара</vt:lpstr>
      <vt:lpstr>Расскажите о себе</vt:lpstr>
      <vt:lpstr>Об ОТУС</vt:lpstr>
      <vt:lpstr>PowerPoint Presentation</vt:lpstr>
      <vt:lpstr>Образование в ОТУС</vt:lpstr>
      <vt:lpstr>Напишите, пожалуйста, в чат подходящую цифру</vt:lpstr>
      <vt:lpstr>REST API</vt:lpstr>
      <vt:lpstr>А зачем вообще нам это нужно?</vt:lpstr>
      <vt:lpstr>Модель как услуга (Model-as-a-Service)</vt:lpstr>
      <vt:lpstr>Модель как услуга (Model-as-a-Service)</vt:lpstr>
      <vt:lpstr>Модель как услуга (Model-as-a-Service)</vt:lpstr>
      <vt:lpstr>REST API</vt:lpstr>
      <vt:lpstr>REST API</vt:lpstr>
      <vt:lpstr>Ресурс</vt:lpstr>
      <vt:lpstr>Семантика HTTP методов</vt:lpstr>
      <vt:lpstr>Семантика HTTP методов</vt:lpstr>
      <vt:lpstr>Преимущества</vt:lpstr>
      <vt:lpstr>Фреймворки</vt:lpstr>
      <vt:lpstr>Клиенты</vt:lpstr>
      <vt:lpstr>API</vt:lpstr>
      <vt:lpstr>Фреймворки</vt:lpstr>
      <vt:lpstr>Пример модели</vt:lpstr>
      <vt:lpstr>Пример FastAPI</vt:lpstr>
      <vt:lpstr>Практика</vt:lpstr>
      <vt:lpstr>Список материалов для изучения</vt:lpstr>
      <vt:lpstr>Знакомство с командой и программой курса</vt:lpstr>
      <vt:lpstr>Команда курса</vt:lpstr>
      <vt:lpstr>Команда курса</vt:lpstr>
      <vt:lpstr>О курсе MLOps</vt:lpstr>
      <vt:lpstr>Карта курса</vt:lpstr>
      <vt:lpstr>Программа модуля</vt:lpstr>
      <vt:lpstr>Программа модуля</vt:lpstr>
      <vt:lpstr>Программа модуля</vt:lpstr>
      <vt:lpstr>Программа модуля</vt:lpstr>
      <vt:lpstr>Программа модуля</vt:lpstr>
      <vt:lpstr>Программа модуля</vt:lpstr>
      <vt:lpstr>Программа модуля</vt:lpstr>
      <vt:lpstr>Программа модуля</vt:lpstr>
      <vt:lpstr>Программа модуля</vt:lpstr>
      <vt:lpstr>Процесс обучения</vt:lpstr>
      <vt:lpstr>Заполните, пожалуйста, опрос о занятии по ссылке в чате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Advanced Production Code проекта на примере задачи классификации/регрессии, Virtual environments, dependency management, pypi/gemfur</dc:title>
  <cp:lastModifiedBy>Стурейко Игорь Олегович</cp:lastModifiedBy>
  <cp:revision>32</cp:revision>
  <dcterms:modified xsi:type="dcterms:W3CDTF">2025-12-16T07:41:02Z</dcterms:modified>
</cp:coreProperties>
</file>