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45"/>
  </p:notesMasterIdLst>
  <p:sldIdLst>
    <p:sldId id="256" r:id="rId2"/>
    <p:sldId id="257" r:id="rId3"/>
    <p:sldId id="334" r:id="rId4"/>
    <p:sldId id="259" r:id="rId5"/>
    <p:sldId id="260" r:id="rId6"/>
    <p:sldId id="261" r:id="rId7"/>
    <p:sldId id="263" r:id="rId8"/>
    <p:sldId id="335" r:id="rId9"/>
    <p:sldId id="265" r:id="rId10"/>
    <p:sldId id="266" r:id="rId11"/>
    <p:sldId id="267" r:id="rId12"/>
    <p:sldId id="268" r:id="rId13"/>
    <p:sldId id="336" r:id="rId14"/>
    <p:sldId id="270" r:id="rId15"/>
    <p:sldId id="337" r:id="rId16"/>
    <p:sldId id="272" r:id="rId17"/>
    <p:sldId id="273" r:id="rId18"/>
    <p:sldId id="274" r:id="rId19"/>
    <p:sldId id="275" r:id="rId20"/>
    <p:sldId id="338" r:id="rId21"/>
    <p:sldId id="277" r:id="rId22"/>
    <p:sldId id="339" r:id="rId23"/>
    <p:sldId id="279" r:id="rId24"/>
    <p:sldId id="280" r:id="rId25"/>
    <p:sldId id="340" r:id="rId26"/>
    <p:sldId id="282" r:id="rId27"/>
    <p:sldId id="283" r:id="rId28"/>
    <p:sldId id="284" r:id="rId29"/>
    <p:sldId id="341" r:id="rId30"/>
    <p:sldId id="342" r:id="rId31"/>
    <p:sldId id="285" r:id="rId32"/>
    <p:sldId id="286" r:id="rId33"/>
    <p:sldId id="288" r:id="rId34"/>
    <p:sldId id="289" r:id="rId35"/>
    <p:sldId id="290" r:id="rId36"/>
    <p:sldId id="293" r:id="rId37"/>
    <p:sldId id="291" r:id="rId38"/>
    <p:sldId id="296" r:id="rId39"/>
    <p:sldId id="298" r:id="rId40"/>
    <p:sldId id="299" r:id="rId41"/>
    <p:sldId id="314" r:id="rId42"/>
    <p:sldId id="320" r:id="rId43"/>
    <p:sldId id="319" r:id="rId44"/>
  </p:sldIdLst>
  <p:sldSz cx="9144000" cy="5143500" type="screen16x9"/>
  <p:notesSz cx="6858000" cy="9144000"/>
  <p:embeddedFontLst>
    <p:embeddedFont>
      <p:font typeface="Roboto" panose="02000000000000000000" pitchFamily="2" charset="0"/>
      <p:regular r:id="rId46"/>
      <p:bold r:id="rId47"/>
      <p:italic r:id="rId48"/>
      <p:boldItalic r:id="rId49"/>
    </p:embeddedFont>
    <p:embeddedFont>
      <p:font typeface="Roboto Medium" panose="020F0502020204030204" pitchFamily="34" charset="0"/>
      <p:regular r:id="rId50"/>
      <p: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5533">
          <p15:clr>
            <a:srgbClr val="A4A3A4"/>
          </p15:clr>
        </p15:guide>
        <p15:guide id="2" pos="227">
          <p15:clr>
            <a:srgbClr val="9AA0A6"/>
          </p15:clr>
        </p15:guide>
        <p15:guide id="3" orient="horz" pos="179">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1CB5BBF-14A1-44A8-AE45-40D0EF8F1E93}">
  <a:tblStyle styleId="{91CB5BBF-14A1-44A8-AE45-40D0EF8F1E9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66"/>
    <p:restoredTop sz="97030"/>
  </p:normalViewPr>
  <p:slideViewPr>
    <p:cSldViewPr snapToGrid="0">
      <p:cViewPr varScale="1">
        <p:scale>
          <a:sx n="165" d="100"/>
          <a:sy n="165" d="100"/>
        </p:scale>
        <p:origin x="872" y="184"/>
      </p:cViewPr>
      <p:guideLst>
        <p:guide pos="5533"/>
        <p:guide pos="227"/>
        <p:guide orient="horz" pos="17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landscape.lfai.foundation"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de823becd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de823becd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de823becd0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de823becd0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de823becd0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de823becd0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de823becd0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de823becd0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df29b9fb24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df29b9fb24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1bd1f9c4667_0_7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1bd1f9c4667_0_7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1bd1f9c4667_0_7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1bd1f9c4667_0_7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03878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205993cc20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205993cc204_0_1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205993cc204_0_2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205993cc204_0_28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205993cc204_0_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205993cc204_0_3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1bd1f9c4667_0_8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1bd1f9c4667_0_80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241300" marR="241300" lvl="0" indent="0" algn="l" rtl="0">
              <a:lnSpc>
                <a:spcPct val="130000"/>
              </a:lnSpc>
              <a:spcBef>
                <a:spcPts val="0"/>
              </a:spcBef>
              <a:spcAft>
                <a:spcPts val="0"/>
              </a:spcAft>
              <a:buClr>
                <a:schemeClr val="dk1"/>
              </a:buClr>
              <a:buSzPts val="1100"/>
              <a:buFont typeface="Arial"/>
              <a:buNone/>
            </a:pPr>
            <a:r>
              <a:rPr lang="en-US" sz="300" b="1" dirty="0">
                <a:solidFill>
                  <a:srgbClr val="323951"/>
                </a:solidFill>
                <a:highlight>
                  <a:srgbClr val="FFFFFF"/>
                </a:highlight>
                <a:latin typeface="Arial"/>
                <a:ea typeface="Arial"/>
                <a:cs typeface="Arial"/>
                <a:sym typeface="Arial"/>
              </a:rPr>
              <a:t>Justification for the CAP theorem</a:t>
            </a:r>
            <a:endParaRPr sz="300" b="1" dirty="0">
              <a:solidFill>
                <a:srgbClr val="323951"/>
              </a:solidFill>
              <a:highlight>
                <a:srgbClr val="FFFFFF"/>
              </a:highlight>
              <a:latin typeface="Arial"/>
              <a:ea typeface="Arial"/>
              <a:cs typeface="Arial"/>
              <a:sym typeface="Arial"/>
            </a:endParaRPr>
          </a:p>
          <a:p>
            <a:pPr marL="241300" marR="241300" lvl="0" indent="0" algn="l" rtl="0">
              <a:lnSpc>
                <a:spcPct val="130000"/>
              </a:lnSpc>
              <a:spcBef>
                <a:spcPts val="0"/>
              </a:spcBef>
              <a:spcAft>
                <a:spcPts val="0"/>
              </a:spcAft>
              <a:buClr>
                <a:schemeClr val="dk1"/>
              </a:buClr>
              <a:buSzPts val="1100"/>
              <a:buFont typeface="Arial"/>
              <a:buNone/>
            </a:pPr>
            <a:r>
              <a:rPr lang="en-US" sz="1500" dirty="0">
                <a:solidFill>
                  <a:srgbClr val="323951"/>
                </a:solidFill>
                <a:highlight>
                  <a:srgbClr val="FFFFFF"/>
                </a:highlight>
                <a:latin typeface="Arial"/>
                <a:ea typeface="Arial"/>
                <a:cs typeface="Arial"/>
                <a:sym typeface="Arial"/>
              </a:rPr>
              <a:t>We cannot build a general data store that is continually available, sequentially consistent, and tolerant to any partition failures. We can only build a system that has any two of these three properties. Because, to be consistent, all nodes should see the same set of updates in the same order. But if the network loses a partition, updates in one partition might not make it to the other partitions before a client reads from the out-of-date partition after reading from the up-to-date one. The only thing that can be done to cope with this possibility is to stop serving requests from the out-of-date partition, but then the service is no longer 100% available.</a:t>
            </a:r>
            <a:endParaRPr sz="1500" dirty="0">
              <a:solidFill>
                <a:srgbClr val="323951"/>
              </a:solidFill>
              <a:highlight>
                <a:srgbClr val="FFFFFF"/>
              </a:highlight>
              <a:latin typeface="Arial"/>
              <a:ea typeface="Arial"/>
              <a:cs typeface="Arial"/>
              <a:sym typeface="Arial"/>
            </a:endParaRPr>
          </a:p>
          <a:p>
            <a:pPr marL="241300" marR="241300" lvl="0" indent="0" algn="l" rtl="0">
              <a:lnSpc>
                <a:spcPct val="130000"/>
              </a:lnSpc>
              <a:spcBef>
                <a:spcPts val="0"/>
              </a:spcBef>
              <a:spcAft>
                <a:spcPts val="0"/>
              </a:spcAft>
              <a:buClr>
                <a:schemeClr val="dk1"/>
              </a:buClr>
              <a:buSzPts val="1100"/>
              <a:buFont typeface="Arial"/>
              <a:buNone/>
            </a:pPr>
            <a:endParaRPr sz="300" b="1" dirty="0">
              <a:solidFill>
                <a:srgbClr val="323951"/>
              </a:solidFill>
              <a:highlight>
                <a:srgbClr val="FFFFFF"/>
              </a:highlight>
              <a:latin typeface="Arial"/>
              <a:ea typeface="Arial"/>
              <a:cs typeface="Arial"/>
              <a:sym typeface="Arial"/>
            </a:endParaRPr>
          </a:p>
          <a:p>
            <a:pPr marL="241300" marR="241300" lvl="0" indent="0" algn="l" rtl="0">
              <a:lnSpc>
                <a:spcPct val="130000"/>
              </a:lnSpc>
              <a:spcBef>
                <a:spcPts val="0"/>
              </a:spcBef>
              <a:spcAft>
                <a:spcPts val="0"/>
              </a:spcAft>
              <a:buClr>
                <a:schemeClr val="dk1"/>
              </a:buClr>
              <a:buSzPts val="1100"/>
              <a:buFont typeface="Arial"/>
              <a:buNone/>
            </a:pPr>
            <a:r>
              <a:rPr lang="en-US" sz="300" b="1" dirty="0">
                <a:solidFill>
                  <a:srgbClr val="323951"/>
                </a:solidFill>
                <a:highlight>
                  <a:srgbClr val="FFFFFF"/>
                </a:highlight>
                <a:latin typeface="Arial"/>
                <a:ea typeface="Arial"/>
                <a:cs typeface="Arial"/>
                <a:sym typeface="Arial"/>
              </a:rPr>
              <a:t>What is missing in the CAP theorem?</a:t>
            </a:r>
            <a:endParaRPr sz="300" b="1" dirty="0">
              <a:solidFill>
                <a:srgbClr val="323951"/>
              </a:solidFill>
              <a:highlight>
                <a:srgbClr val="FFFFFF"/>
              </a:highlight>
              <a:latin typeface="Arial"/>
              <a:ea typeface="Arial"/>
              <a:cs typeface="Arial"/>
              <a:sym typeface="Arial"/>
            </a:endParaRPr>
          </a:p>
          <a:p>
            <a:pPr marL="241300" marR="241300" lvl="0" indent="0" algn="l" rtl="0">
              <a:lnSpc>
                <a:spcPct val="130000"/>
              </a:lnSpc>
              <a:spcBef>
                <a:spcPts val="0"/>
              </a:spcBef>
              <a:spcAft>
                <a:spcPts val="0"/>
              </a:spcAft>
              <a:buNone/>
            </a:pPr>
            <a:r>
              <a:rPr lang="en-US" sz="1500" dirty="0">
                <a:solidFill>
                  <a:srgbClr val="323951"/>
                </a:solidFill>
                <a:highlight>
                  <a:srgbClr val="FFFFFF"/>
                </a:highlight>
                <a:latin typeface="Arial"/>
                <a:ea typeface="Arial"/>
                <a:cs typeface="Arial"/>
                <a:sym typeface="Arial"/>
              </a:rPr>
              <a:t>We cannot avoid partition in a distributed system; therefore, as stated above, according to the CAP theorem, a distributed system should choose between consistency or availability. ACID (Atomicity, Consistency, Isolation, Durability) databases, such as RDBMSs like </a:t>
            </a:r>
            <a:r>
              <a:rPr lang="en-US" sz="1500" b="1" dirty="0">
                <a:solidFill>
                  <a:srgbClr val="323951"/>
                </a:solidFill>
                <a:highlight>
                  <a:srgbClr val="FFFFFF"/>
                </a:highlight>
                <a:latin typeface="Arial"/>
                <a:ea typeface="Arial"/>
                <a:cs typeface="Arial"/>
                <a:sym typeface="Arial"/>
              </a:rPr>
              <a:t>MySQL</a:t>
            </a:r>
            <a:r>
              <a:rPr lang="en-US" sz="1500" dirty="0">
                <a:solidFill>
                  <a:srgbClr val="323951"/>
                </a:solidFill>
                <a:highlight>
                  <a:srgbClr val="FFFFFF"/>
                </a:highlight>
                <a:latin typeface="Arial"/>
                <a:ea typeface="Arial"/>
                <a:cs typeface="Arial"/>
                <a:sym typeface="Arial"/>
              </a:rPr>
              <a:t>, </a:t>
            </a:r>
            <a:r>
              <a:rPr lang="en-US" sz="1500" b="1" dirty="0">
                <a:solidFill>
                  <a:srgbClr val="323951"/>
                </a:solidFill>
                <a:highlight>
                  <a:srgbClr val="FFFFFF"/>
                </a:highlight>
                <a:latin typeface="Arial"/>
                <a:ea typeface="Arial"/>
                <a:cs typeface="Arial"/>
                <a:sym typeface="Arial"/>
              </a:rPr>
              <a:t>Oracle</a:t>
            </a:r>
            <a:r>
              <a:rPr lang="en-US" sz="1500" dirty="0">
                <a:solidFill>
                  <a:srgbClr val="323951"/>
                </a:solidFill>
                <a:highlight>
                  <a:srgbClr val="FFFFFF"/>
                </a:highlight>
                <a:latin typeface="Arial"/>
                <a:ea typeface="Arial"/>
                <a:cs typeface="Arial"/>
                <a:sym typeface="Arial"/>
              </a:rPr>
              <a:t>, and </a:t>
            </a:r>
            <a:r>
              <a:rPr lang="en-US" sz="1500" b="1" dirty="0">
                <a:solidFill>
                  <a:srgbClr val="323951"/>
                </a:solidFill>
                <a:highlight>
                  <a:srgbClr val="FFFFFF"/>
                </a:highlight>
                <a:latin typeface="Arial"/>
                <a:ea typeface="Arial"/>
                <a:cs typeface="Arial"/>
                <a:sym typeface="Arial"/>
              </a:rPr>
              <a:t>Microsoft</a:t>
            </a:r>
            <a:r>
              <a:rPr lang="en-US" sz="1500" dirty="0">
                <a:solidFill>
                  <a:srgbClr val="323951"/>
                </a:solidFill>
                <a:highlight>
                  <a:srgbClr val="FFFFFF"/>
                </a:highlight>
                <a:latin typeface="Arial"/>
                <a:ea typeface="Arial"/>
                <a:cs typeface="Arial"/>
                <a:sym typeface="Arial"/>
              </a:rPr>
              <a:t> </a:t>
            </a:r>
            <a:r>
              <a:rPr lang="en-US" sz="1500" b="1" dirty="0">
                <a:solidFill>
                  <a:srgbClr val="323951"/>
                </a:solidFill>
                <a:highlight>
                  <a:srgbClr val="FFFFFF"/>
                </a:highlight>
                <a:latin typeface="Arial"/>
                <a:ea typeface="Arial"/>
                <a:cs typeface="Arial"/>
                <a:sym typeface="Arial"/>
              </a:rPr>
              <a:t>SQL Server</a:t>
            </a:r>
            <a:r>
              <a:rPr lang="en-US" sz="1500" dirty="0">
                <a:solidFill>
                  <a:srgbClr val="323951"/>
                </a:solidFill>
                <a:highlight>
                  <a:srgbClr val="FFFFFF"/>
                </a:highlight>
                <a:latin typeface="Arial"/>
                <a:ea typeface="Arial"/>
                <a:cs typeface="Arial"/>
                <a:sym typeface="Arial"/>
              </a:rPr>
              <a:t>, chose consistency (refuse response if it cannot check with peers). In contrast, BASE (Basically Available, Soft-state, Eventually consistent) databases, such as NoSQL databases like </a:t>
            </a:r>
            <a:r>
              <a:rPr lang="en-US" sz="1500" b="1" dirty="0">
                <a:solidFill>
                  <a:srgbClr val="323951"/>
                </a:solidFill>
                <a:highlight>
                  <a:srgbClr val="FFFFFF"/>
                </a:highlight>
                <a:latin typeface="Arial"/>
                <a:ea typeface="Arial"/>
                <a:cs typeface="Arial"/>
                <a:sym typeface="Arial"/>
              </a:rPr>
              <a:t>MongoDB</a:t>
            </a:r>
            <a:r>
              <a:rPr lang="en-US" sz="1500" dirty="0">
                <a:solidFill>
                  <a:srgbClr val="323951"/>
                </a:solidFill>
                <a:highlight>
                  <a:srgbClr val="FFFFFF"/>
                </a:highlight>
                <a:latin typeface="Arial"/>
                <a:ea typeface="Arial"/>
                <a:cs typeface="Arial"/>
                <a:sym typeface="Arial"/>
              </a:rPr>
              <a:t>, </a:t>
            </a:r>
            <a:r>
              <a:rPr lang="en-US" sz="1500" b="1" dirty="0">
                <a:solidFill>
                  <a:srgbClr val="323951"/>
                </a:solidFill>
                <a:highlight>
                  <a:srgbClr val="FFFFFF"/>
                </a:highlight>
                <a:latin typeface="Arial"/>
                <a:ea typeface="Arial"/>
                <a:cs typeface="Arial"/>
                <a:sym typeface="Arial"/>
              </a:rPr>
              <a:t>Cassandra</a:t>
            </a:r>
            <a:r>
              <a:rPr lang="en-US" sz="1500" dirty="0">
                <a:solidFill>
                  <a:srgbClr val="323951"/>
                </a:solidFill>
                <a:highlight>
                  <a:srgbClr val="FFFFFF"/>
                </a:highlight>
                <a:latin typeface="Arial"/>
                <a:ea typeface="Arial"/>
                <a:cs typeface="Arial"/>
                <a:sym typeface="Arial"/>
              </a:rPr>
              <a:t>, and </a:t>
            </a:r>
            <a:r>
              <a:rPr lang="en-US" sz="1500" b="1" dirty="0">
                <a:solidFill>
                  <a:srgbClr val="323951"/>
                </a:solidFill>
                <a:highlight>
                  <a:srgbClr val="FFFFFF"/>
                </a:highlight>
                <a:latin typeface="Arial"/>
                <a:ea typeface="Arial"/>
                <a:cs typeface="Arial"/>
                <a:sym typeface="Arial"/>
              </a:rPr>
              <a:t>Redis</a:t>
            </a:r>
            <a:r>
              <a:rPr lang="en-US" sz="1500" dirty="0">
                <a:solidFill>
                  <a:srgbClr val="323951"/>
                </a:solidFill>
                <a:highlight>
                  <a:srgbClr val="FFFFFF"/>
                </a:highlight>
                <a:latin typeface="Arial"/>
                <a:ea typeface="Arial"/>
                <a:cs typeface="Arial"/>
                <a:sym typeface="Arial"/>
              </a:rPr>
              <a:t>, chose availability (respond with local data without ensuring it is the latest with its peers).</a:t>
            </a:r>
            <a:endParaRPr sz="1500" dirty="0">
              <a:solidFill>
                <a:srgbClr val="323951"/>
              </a:solidFill>
              <a:highlight>
                <a:srgbClr val="FFFFFF"/>
              </a:highlight>
              <a:latin typeface="Arial"/>
              <a:ea typeface="Arial"/>
              <a:cs typeface="Arial"/>
              <a:sym typeface="Arial"/>
            </a:endParaRPr>
          </a:p>
          <a:p>
            <a:pPr marL="241300" marR="241300" lvl="0" indent="0" algn="l" rtl="0">
              <a:lnSpc>
                <a:spcPct val="130000"/>
              </a:lnSpc>
              <a:spcBef>
                <a:spcPts val="0"/>
              </a:spcBef>
              <a:spcAft>
                <a:spcPts val="0"/>
              </a:spcAft>
              <a:buNone/>
            </a:pPr>
            <a:endParaRPr sz="1500" dirty="0">
              <a:solidFill>
                <a:srgbClr val="323951"/>
              </a:solidFill>
              <a:highlight>
                <a:srgbClr val="FFFFFF"/>
              </a:highlight>
              <a:latin typeface="Arial"/>
              <a:ea typeface="Arial"/>
              <a:cs typeface="Arial"/>
              <a:sym typeface="Arial"/>
            </a:endParaRPr>
          </a:p>
          <a:p>
            <a:pPr marL="0" lvl="0" indent="0" algn="l" rtl="0">
              <a:lnSpc>
                <a:spcPct val="130000"/>
              </a:lnSpc>
              <a:spcBef>
                <a:spcPts val="0"/>
              </a:spcBef>
              <a:spcAft>
                <a:spcPts val="0"/>
              </a:spcAft>
              <a:buNone/>
            </a:pPr>
            <a:r>
              <a:rPr lang="en-US" sz="1300" b="1" dirty="0">
                <a:solidFill>
                  <a:srgbClr val="323951"/>
                </a:solidFill>
                <a:latin typeface="Arial"/>
                <a:ea typeface="Arial"/>
                <a:cs typeface="Arial"/>
                <a:sym typeface="Arial"/>
              </a:rPr>
              <a:t>Examples</a:t>
            </a:r>
            <a:endParaRPr sz="1300" b="1" dirty="0">
              <a:solidFill>
                <a:srgbClr val="323951"/>
              </a:solidFill>
              <a:latin typeface="Arial"/>
              <a:ea typeface="Arial"/>
              <a:cs typeface="Arial"/>
              <a:sym typeface="Arial"/>
            </a:endParaRPr>
          </a:p>
          <a:p>
            <a:pPr marL="0" lvl="0" indent="0" algn="l" rtl="0">
              <a:lnSpc>
                <a:spcPct val="130000"/>
              </a:lnSpc>
              <a:spcBef>
                <a:spcPts val="0"/>
              </a:spcBef>
              <a:spcAft>
                <a:spcPts val="0"/>
              </a:spcAft>
              <a:buNone/>
            </a:pPr>
            <a:r>
              <a:rPr lang="en-US" sz="1500" dirty="0">
                <a:solidFill>
                  <a:srgbClr val="323951"/>
                </a:solidFill>
                <a:latin typeface="Arial"/>
                <a:ea typeface="Arial"/>
                <a:cs typeface="Arial"/>
                <a:sym typeface="Arial"/>
              </a:rPr>
              <a:t>The PACELC theorem states that in a system that replicates data:</a:t>
            </a:r>
            <a:endParaRPr sz="1500" dirty="0">
              <a:solidFill>
                <a:srgbClr val="323951"/>
              </a:solidFill>
              <a:latin typeface="Arial"/>
              <a:ea typeface="Arial"/>
              <a:cs typeface="Arial"/>
              <a:sym typeface="Arial"/>
            </a:endParaRPr>
          </a:p>
          <a:p>
            <a:pPr marL="0" lvl="0" indent="0" algn="l" rtl="0">
              <a:lnSpc>
                <a:spcPct val="130000"/>
              </a:lnSpc>
              <a:spcBef>
                <a:spcPts val="0"/>
              </a:spcBef>
              <a:spcAft>
                <a:spcPts val="0"/>
              </a:spcAft>
              <a:buNone/>
            </a:pPr>
            <a:endParaRPr sz="1500" dirty="0">
              <a:solidFill>
                <a:srgbClr val="323951"/>
              </a:solidFill>
              <a:latin typeface="Arial"/>
              <a:ea typeface="Arial"/>
              <a:cs typeface="Arial"/>
              <a:sym typeface="Arial"/>
            </a:endParaRPr>
          </a:p>
          <a:p>
            <a:pPr marL="457200" lvl="0" indent="-323850" algn="l" rtl="0">
              <a:lnSpc>
                <a:spcPct val="115000"/>
              </a:lnSpc>
              <a:spcBef>
                <a:spcPts val="0"/>
              </a:spcBef>
              <a:spcAft>
                <a:spcPts val="0"/>
              </a:spcAft>
              <a:buClr>
                <a:srgbClr val="323951"/>
              </a:buClr>
              <a:buSzPts val="1500"/>
              <a:buChar char="●"/>
            </a:pPr>
            <a:r>
              <a:rPr lang="en-US" sz="1500" b="1" dirty="0">
                <a:solidFill>
                  <a:srgbClr val="323951"/>
                </a:solidFill>
                <a:latin typeface="Arial"/>
                <a:ea typeface="Arial"/>
                <a:cs typeface="Arial"/>
                <a:sym typeface="Arial"/>
              </a:rPr>
              <a:t>Dynamo</a:t>
            </a:r>
            <a:r>
              <a:rPr lang="en-US" sz="1500" dirty="0">
                <a:solidFill>
                  <a:srgbClr val="323951"/>
                </a:solidFill>
                <a:latin typeface="Arial"/>
                <a:ea typeface="Arial"/>
                <a:cs typeface="Arial"/>
                <a:sym typeface="Arial"/>
              </a:rPr>
              <a:t> and </a:t>
            </a:r>
            <a:r>
              <a:rPr lang="en-US" sz="1500" b="1" dirty="0">
                <a:solidFill>
                  <a:srgbClr val="323951"/>
                </a:solidFill>
                <a:latin typeface="Arial"/>
                <a:ea typeface="Arial"/>
                <a:cs typeface="Arial"/>
                <a:sym typeface="Arial"/>
              </a:rPr>
              <a:t>Cassandra</a:t>
            </a:r>
            <a:r>
              <a:rPr lang="en-US" sz="1500" dirty="0">
                <a:solidFill>
                  <a:srgbClr val="323951"/>
                </a:solidFill>
                <a:latin typeface="Arial"/>
                <a:ea typeface="Arial"/>
                <a:cs typeface="Arial"/>
                <a:sym typeface="Arial"/>
              </a:rPr>
              <a:t> are PA/EL systems: They choose availability over consistency when a partition occurs; otherwise, they choose lower latency.</a:t>
            </a:r>
            <a:endParaRPr sz="1500" dirty="0">
              <a:solidFill>
                <a:srgbClr val="323951"/>
              </a:solidFill>
              <a:latin typeface="Arial"/>
              <a:ea typeface="Arial"/>
              <a:cs typeface="Arial"/>
              <a:sym typeface="Arial"/>
            </a:endParaRPr>
          </a:p>
          <a:p>
            <a:pPr marL="457200" lvl="0" indent="-323850" algn="l" rtl="0">
              <a:lnSpc>
                <a:spcPct val="115000"/>
              </a:lnSpc>
              <a:spcBef>
                <a:spcPts val="0"/>
              </a:spcBef>
              <a:spcAft>
                <a:spcPts val="0"/>
              </a:spcAft>
              <a:buClr>
                <a:srgbClr val="323951"/>
              </a:buClr>
              <a:buSzPts val="1500"/>
              <a:buChar char="●"/>
            </a:pPr>
            <a:r>
              <a:rPr lang="en-US" sz="1500" b="1" dirty="0" err="1">
                <a:solidFill>
                  <a:srgbClr val="323951"/>
                </a:solidFill>
                <a:latin typeface="Arial"/>
                <a:ea typeface="Arial"/>
                <a:cs typeface="Arial"/>
                <a:sym typeface="Arial"/>
              </a:rPr>
              <a:t>BigTable</a:t>
            </a:r>
            <a:r>
              <a:rPr lang="en-US" sz="1500" dirty="0">
                <a:solidFill>
                  <a:srgbClr val="323951"/>
                </a:solidFill>
                <a:latin typeface="Arial"/>
                <a:ea typeface="Arial"/>
                <a:cs typeface="Arial"/>
                <a:sym typeface="Arial"/>
              </a:rPr>
              <a:t> and </a:t>
            </a:r>
            <a:r>
              <a:rPr lang="en-US" sz="1500" b="1" dirty="0">
                <a:solidFill>
                  <a:srgbClr val="323951"/>
                </a:solidFill>
                <a:latin typeface="Arial"/>
                <a:ea typeface="Arial"/>
                <a:cs typeface="Arial"/>
                <a:sym typeface="Arial"/>
              </a:rPr>
              <a:t>HBase</a:t>
            </a:r>
            <a:r>
              <a:rPr lang="en-US" sz="1500" dirty="0">
                <a:solidFill>
                  <a:srgbClr val="323951"/>
                </a:solidFill>
                <a:latin typeface="Arial"/>
                <a:ea typeface="Arial"/>
                <a:cs typeface="Arial"/>
                <a:sym typeface="Arial"/>
              </a:rPr>
              <a:t> are PC/EC systems: They will always choose consistency, giving up availability and lower latency.</a:t>
            </a:r>
            <a:endParaRPr sz="1500" dirty="0">
              <a:solidFill>
                <a:srgbClr val="323951"/>
              </a:solidFill>
              <a:latin typeface="Arial"/>
              <a:ea typeface="Arial"/>
              <a:cs typeface="Arial"/>
              <a:sym typeface="Arial"/>
            </a:endParaRPr>
          </a:p>
          <a:p>
            <a:pPr marL="457200" lvl="0" indent="-323850" algn="l" rtl="0">
              <a:lnSpc>
                <a:spcPct val="115000"/>
              </a:lnSpc>
              <a:spcBef>
                <a:spcPts val="0"/>
              </a:spcBef>
              <a:spcAft>
                <a:spcPts val="0"/>
              </a:spcAft>
              <a:buClr>
                <a:srgbClr val="323951"/>
              </a:buClr>
              <a:buSzPts val="1500"/>
              <a:buChar char="●"/>
            </a:pPr>
            <a:r>
              <a:rPr lang="en-US" sz="1500" b="1" dirty="0">
                <a:solidFill>
                  <a:srgbClr val="323951"/>
                </a:solidFill>
                <a:latin typeface="Arial"/>
                <a:ea typeface="Arial"/>
                <a:cs typeface="Arial"/>
                <a:sym typeface="Arial"/>
              </a:rPr>
              <a:t>MongoDB</a:t>
            </a:r>
            <a:r>
              <a:rPr lang="en-US" sz="1500" dirty="0">
                <a:solidFill>
                  <a:srgbClr val="323951"/>
                </a:solidFill>
                <a:latin typeface="Arial"/>
                <a:ea typeface="Arial"/>
                <a:cs typeface="Arial"/>
                <a:sym typeface="Arial"/>
              </a:rPr>
              <a:t> can be considered PA/EC (default configuration): MongoDB works in a primary/secondaries configuration. In the default configuration, all writes and reads are performed on the primary. As all replication is done asynchronously (from primary to secondaries), when there is a network partition in which primary is lost or becomes isolated on the minority side, there is a chance of losing data that is </a:t>
            </a:r>
            <a:r>
              <a:rPr lang="en-US" sz="1500" dirty="0" err="1">
                <a:solidFill>
                  <a:srgbClr val="323951"/>
                </a:solidFill>
                <a:latin typeface="Arial"/>
                <a:ea typeface="Arial"/>
                <a:cs typeface="Arial"/>
                <a:sym typeface="Arial"/>
              </a:rPr>
              <a:t>unreplicated</a:t>
            </a:r>
            <a:r>
              <a:rPr lang="en-US" sz="1500" dirty="0">
                <a:solidFill>
                  <a:srgbClr val="323951"/>
                </a:solidFill>
                <a:latin typeface="Arial"/>
                <a:ea typeface="Arial"/>
                <a:cs typeface="Arial"/>
                <a:sym typeface="Arial"/>
              </a:rPr>
              <a:t> to secondaries, hence there is a loss of consistency during partitions. Therefore, it can be concluded that in the case of a network partition, MongoDB chooses availability but otherwise guarantees consistency. Alternately, when MongoDB is configured to write on majority replicas and read from the primary, it could be categorized as PC/EC.</a:t>
            </a:r>
            <a:endParaRPr sz="1500" dirty="0">
              <a:solidFill>
                <a:srgbClr val="323951"/>
              </a:solidFill>
              <a:latin typeface="Arial"/>
              <a:ea typeface="Arial"/>
              <a:cs typeface="Arial"/>
              <a:sym typeface="Arial"/>
            </a:endParaRPr>
          </a:p>
          <a:p>
            <a:pPr marL="241300" marR="241300" lvl="0" indent="0" algn="l" rtl="0">
              <a:lnSpc>
                <a:spcPct val="130000"/>
              </a:lnSpc>
              <a:spcBef>
                <a:spcPts val="0"/>
              </a:spcBef>
              <a:spcAft>
                <a:spcPts val="0"/>
              </a:spcAft>
              <a:buClr>
                <a:schemeClr val="dk1"/>
              </a:buClr>
              <a:buSzPts val="1100"/>
              <a:buFont typeface="Arial"/>
              <a:buNone/>
            </a:pPr>
            <a:endParaRPr sz="1500" dirty="0">
              <a:solidFill>
                <a:srgbClr val="323951"/>
              </a:solidFill>
              <a:highlight>
                <a:srgbClr val="FFFFFF"/>
              </a:highlight>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100" dirty="0">
              <a:solidFill>
                <a:srgbClr val="323951"/>
              </a:solidFill>
              <a:highlight>
                <a:srgbClr val="FFFFFF"/>
              </a:highlight>
              <a:latin typeface="Arial"/>
              <a:ea typeface="Arial"/>
              <a:cs typeface="Arial"/>
              <a:sym typeface="Arial"/>
            </a:endParaRPr>
          </a:p>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1bd1f9c4667_0_7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1bd1f9c4667_0_7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19309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05993cc204_0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05993cc204_0_3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1bd1f9c4667_0_7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1bd1f9c4667_0_7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5979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205993cc204_0_3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3" name="Google Shape;523;g205993cc204_0_3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205993cc204_0_3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205993cc204_0_3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205993cc204_0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205993cc204_0_37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g205993cc204_0_3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3" name="Google Shape;543;g205993cc204_0_38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1bd1f9c4667_0_7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1bd1f9c4667_0_7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28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205993cc204_0_4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205993cc204_0_4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1bd1f9c4667_0_7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1bd1f9c4667_0_7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50878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205993cc204_0_4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4" name="Google Shape;574;g205993cc204_0_4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1bd1f9c4667_0_7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1bd1f9c4667_0_78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1bd1f9c4667_0_7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1bd1f9c4667_0_7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59073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205993cc204_0_4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9" name="Google Shape;599;g205993cc204_0_4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g1bd1f9c4667_0_8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9" name="Google Shape;609;g1bd1f9c4667_0_8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g1bd1f9c4667_0_10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4" name="Google Shape;614;g1bd1f9c4667_0_10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g1bd1f9c4667_0_10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1" name="Google Shape;621;g1bd1f9c4667_0_100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1bd1f9c4667_0_10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7" name="Google Shape;637;g1bd1f9c4667_0_10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1bd1f9c4667_0_11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1bd1f9c4667_0_115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u="sng">
                <a:solidFill>
                  <a:schemeClr val="hlink"/>
                </a:solidFill>
                <a:hlinkClick r:id="rId3"/>
              </a:rPr>
              <a:t>https://landscape.lfai.foundation</a:t>
            </a:r>
            <a:endParaRPr/>
          </a:p>
          <a:p>
            <a:pPr marL="0" lvl="0" indent="0" algn="l" rtl="0">
              <a:spcBef>
                <a:spcPts val="0"/>
              </a:spcBef>
              <a:spcAft>
                <a:spcPts val="0"/>
              </a:spcAft>
              <a:buNone/>
            </a:pPr>
            <a:endParaRPr/>
          </a:p>
        </p:txBody>
      </p:sp>
      <p:sp>
        <p:nvSpPr>
          <p:cNvPr id="660" name="Google Shape;660;g1bd1f9c4667_0_115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1bd1f9c4667_0_1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5" name="Google Shape;665;g1bd1f9c4667_0_11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g1bd1f9c4667_0_14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2" name="Google Shape;672;g1bd1f9c4667_0_14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205993cc204_0_5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9" name="Google Shape;689;g205993cc204_0_50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05993cc204_0_4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7" name="Google Shape;677;g205993cc204_0_48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1bd1f9c4667_0_14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7" name="Google Shape;707;g1bd1f9c4667_0_14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1bd1f9c4667_0_14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2" name="Google Shape;722;g1bd1f9c4667_0_14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1bdb9b3202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9" name="Google Shape;729;g1bdb9b3202a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f72f1f582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f72f1f582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e04b8b6756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e04b8b6756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df6222e6af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5" name="Google Shape;645;gdf6222e6af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ТИТУЛЬНЫЙ" type="title">
  <p:cSld name="TITLE">
    <p:spTree>
      <p:nvGrpSpPr>
        <p:cNvPr id="1"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l="99" r="99"/>
          <a:stretch/>
        </p:blipFill>
        <p:spPr>
          <a:xfrm>
            <a:off x="-17925" y="-10075"/>
            <a:ext cx="9194726" cy="5182151"/>
          </a:xfrm>
          <a:prstGeom prst="rect">
            <a:avLst/>
          </a:prstGeom>
          <a:noFill/>
          <a:ln>
            <a:noFill/>
          </a:ln>
        </p:spPr>
      </p:pic>
      <p:sp>
        <p:nvSpPr>
          <p:cNvPr id="11" name="Google Shape;11;p2"/>
          <p:cNvSpPr txBox="1">
            <a:spLocks noGrp="1"/>
          </p:cNvSpPr>
          <p:nvPr>
            <p:ph type="subTitle" idx="1"/>
          </p:nvPr>
        </p:nvSpPr>
        <p:spPr>
          <a:xfrm>
            <a:off x="944650" y="4350425"/>
            <a:ext cx="8293200" cy="480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1800"/>
              <a:buNone/>
              <a:defRPr sz="1800" b="1">
                <a:solidFill>
                  <a:schemeClr val="lt1"/>
                </a:solidFill>
              </a:defRPr>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
        <p:nvSpPr>
          <p:cNvPr id="12" name="Google Shape;12;p2"/>
          <p:cNvSpPr txBox="1">
            <a:spLocks noGrp="1"/>
          </p:cNvSpPr>
          <p:nvPr>
            <p:ph type="title"/>
          </p:nvPr>
        </p:nvSpPr>
        <p:spPr>
          <a:xfrm>
            <a:off x="944650" y="1769200"/>
            <a:ext cx="7379700" cy="2375400"/>
          </a:xfrm>
          <a:prstGeom prst="rect">
            <a:avLst/>
          </a:prstGeom>
        </p:spPr>
        <p:txBody>
          <a:bodyPr spcFirstLastPara="1" wrap="square" lIns="91425" tIns="91425" rIns="91425" bIns="91425" anchor="t" anchorCtr="0">
            <a:noAutofit/>
          </a:bodyPr>
          <a:lstStyle>
            <a:lvl1pPr lvl="0" rtl="0">
              <a:lnSpc>
                <a:spcPct val="90000"/>
              </a:lnSpc>
              <a:spcBef>
                <a:spcPts val="0"/>
              </a:spcBef>
              <a:spcAft>
                <a:spcPts val="0"/>
              </a:spcAft>
              <a:buClr>
                <a:schemeClr val="lt1"/>
              </a:buClr>
              <a:buSzPts val="5600"/>
              <a:buNone/>
              <a:defRPr sz="5600">
                <a:solidFill>
                  <a:schemeClr val="lt1"/>
                </a:solidFill>
              </a:defRPr>
            </a:lvl1pPr>
            <a:lvl2pPr lvl="1" rtl="0">
              <a:lnSpc>
                <a:spcPct val="90000"/>
              </a:lnSpc>
              <a:spcBef>
                <a:spcPts val="0"/>
              </a:spcBef>
              <a:spcAft>
                <a:spcPts val="0"/>
              </a:spcAft>
              <a:buSzPts val="6000"/>
              <a:buNone/>
              <a:defRPr sz="6000"/>
            </a:lvl2pPr>
            <a:lvl3pPr lvl="2" rtl="0">
              <a:lnSpc>
                <a:spcPct val="90000"/>
              </a:lnSpc>
              <a:spcBef>
                <a:spcPts val="0"/>
              </a:spcBef>
              <a:spcAft>
                <a:spcPts val="0"/>
              </a:spcAft>
              <a:buSzPts val="6000"/>
              <a:buNone/>
              <a:defRPr sz="6000"/>
            </a:lvl3pPr>
            <a:lvl4pPr lvl="3" rtl="0">
              <a:lnSpc>
                <a:spcPct val="90000"/>
              </a:lnSpc>
              <a:spcBef>
                <a:spcPts val="0"/>
              </a:spcBef>
              <a:spcAft>
                <a:spcPts val="0"/>
              </a:spcAft>
              <a:buSzPts val="6000"/>
              <a:buNone/>
              <a:defRPr sz="6000"/>
            </a:lvl4pPr>
            <a:lvl5pPr lvl="4" rtl="0">
              <a:lnSpc>
                <a:spcPct val="90000"/>
              </a:lnSpc>
              <a:spcBef>
                <a:spcPts val="0"/>
              </a:spcBef>
              <a:spcAft>
                <a:spcPts val="0"/>
              </a:spcAft>
              <a:buSzPts val="6000"/>
              <a:buNone/>
              <a:defRPr sz="6000"/>
            </a:lvl5pPr>
            <a:lvl6pPr lvl="5" rtl="0">
              <a:lnSpc>
                <a:spcPct val="90000"/>
              </a:lnSpc>
              <a:spcBef>
                <a:spcPts val="0"/>
              </a:spcBef>
              <a:spcAft>
                <a:spcPts val="0"/>
              </a:spcAft>
              <a:buSzPts val="6000"/>
              <a:buNone/>
              <a:defRPr sz="6000"/>
            </a:lvl6pPr>
            <a:lvl7pPr lvl="6" rtl="0">
              <a:lnSpc>
                <a:spcPct val="90000"/>
              </a:lnSpc>
              <a:spcBef>
                <a:spcPts val="0"/>
              </a:spcBef>
              <a:spcAft>
                <a:spcPts val="0"/>
              </a:spcAft>
              <a:buSzPts val="6000"/>
              <a:buNone/>
              <a:defRPr sz="6000"/>
            </a:lvl7pPr>
            <a:lvl8pPr lvl="7" rtl="0">
              <a:lnSpc>
                <a:spcPct val="90000"/>
              </a:lnSpc>
              <a:spcBef>
                <a:spcPts val="0"/>
              </a:spcBef>
              <a:spcAft>
                <a:spcPts val="0"/>
              </a:spcAft>
              <a:buSzPts val="6000"/>
              <a:buNone/>
              <a:defRPr sz="6000"/>
            </a:lvl8pPr>
            <a:lvl9pPr lvl="8" rtl="0">
              <a:lnSpc>
                <a:spcPct val="90000"/>
              </a:lnSpc>
              <a:spcBef>
                <a:spcPts val="0"/>
              </a:spcBef>
              <a:spcAft>
                <a:spcPts val="0"/>
              </a:spcAft>
              <a:buSzPts val="6000"/>
              <a:buNone/>
              <a:defRPr sz="60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Белый слайд + заголовок"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500550" y="1784775"/>
            <a:ext cx="7935300" cy="11451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Ваш макет 1">
  <p:cSld name="CUSTOM_5">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Тема вебинара" type="twoColTx">
  <p:cSld name="TITLE_AND_TWO_COLUMNS">
    <p:spTree>
      <p:nvGrpSpPr>
        <p:cNvPr id="1" name="Shape 22"/>
        <p:cNvGrpSpPr/>
        <p:nvPr/>
      </p:nvGrpSpPr>
      <p:grpSpPr>
        <a:xfrm>
          <a:off x="0" y="0"/>
          <a:ext cx="0" cy="0"/>
          <a:chOff x="0" y="0"/>
          <a:chExt cx="0" cy="0"/>
        </a:xfrm>
      </p:grpSpPr>
      <p:sp>
        <p:nvSpPr>
          <p:cNvPr id="23" name="Google Shape;23;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
        <p:nvSpPr>
          <p:cNvPr id="24" name="Google Shape;24;p6"/>
          <p:cNvSpPr txBox="1">
            <a:spLocks noGrp="1"/>
          </p:cNvSpPr>
          <p:nvPr>
            <p:ph type="title"/>
          </p:nvPr>
        </p:nvSpPr>
        <p:spPr>
          <a:xfrm>
            <a:off x="500550" y="821213"/>
            <a:ext cx="8520600" cy="19836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5" name="Google Shape;25;p6"/>
          <p:cNvSpPr txBox="1">
            <a:spLocks noGrp="1"/>
          </p:cNvSpPr>
          <p:nvPr>
            <p:ph type="subTitle" idx="1"/>
          </p:nvPr>
        </p:nvSpPr>
        <p:spPr>
          <a:xfrm>
            <a:off x="500550" y="457313"/>
            <a:ext cx="7796700" cy="792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rgbClr val="FF9900"/>
              </a:buClr>
              <a:buSzPts val="1500"/>
              <a:buNone/>
              <a:defRPr sz="1500">
                <a:solidFill>
                  <a:srgbClr val="FF9900"/>
                </a:solidFill>
              </a:defRPr>
            </a:lvl1pPr>
            <a:lvl2pPr lvl="1" rtl="0">
              <a:lnSpc>
                <a:spcPct val="100000"/>
              </a:lnSpc>
              <a:spcBef>
                <a:spcPts val="0"/>
              </a:spcBef>
              <a:spcAft>
                <a:spcPts val="0"/>
              </a:spcAft>
              <a:buClr>
                <a:srgbClr val="013D85"/>
              </a:buClr>
              <a:buSzPts val="2300"/>
              <a:buNone/>
              <a:defRPr sz="2300">
                <a:solidFill>
                  <a:srgbClr val="013D85"/>
                </a:solidFill>
              </a:defRPr>
            </a:lvl2pPr>
            <a:lvl3pPr lvl="2" rtl="0">
              <a:lnSpc>
                <a:spcPct val="100000"/>
              </a:lnSpc>
              <a:spcBef>
                <a:spcPts val="0"/>
              </a:spcBef>
              <a:spcAft>
                <a:spcPts val="0"/>
              </a:spcAft>
              <a:buClr>
                <a:srgbClr val="013D85"/>
              </a:buClr>
              <a:buSzPts val="2300"/>
              <a:buNone/>
              <a:defRPr sz="2300">
                <a:solidFill>
                  <a:srgbClr val="013D85"/>
                </a:solidFill>
              </a:defRPr>
            </a:lvl3pPr>
            <a:lvl4pPr lvl="3" rtl="0">
              <a:lnSpc>
                <a:spcPct val="100000"/>
              </a:lnSpc>
              <a:spcBef>
                <a:spcPts val="0"/>
              </a:spcBef>
              <a:spcAft>
                <a:spcPts val="0"/>
              </a:spcAft>
              <a:buClr>
                <a:srgbClr val="013D85"/>
              </a:buClr>
              <a:buSzPts val="2300"/>
              <a:buNone/>
              <a:defRPr sz="2300">
                <a:solidFill>
                  <a:srgbClr val="013D85"/>
                </a:solidFill>
              </a:defRPr>
            </a:lvl4pPr>
            <a:lvl5pPr lvl="4" rtl="0">
              <a:lnSpc>
                <a:spcPct val="100000"/>
              </a:lnSpc>
              <a:spcBef>
                <a:spcPts val="0"/>
              </a:spcBef>
              <a:spcAft>
                <a:spcPts val="0"/>
              </a:spcAft>
              <a:buClr>
                <a:srgbClr val="013D85"/>
              </a:buClr>
              <a:buSzPts val="2300"/>
              <a:buNone/>
              <a:defRPr sz="2300">
                <a:solidFill>
                  <a:srgbClr val="013D85"/>
                </a:solidFill>
              </a:defRPr>
            </a:lvl5pPr>
            <a:lvl6pPr lvl="5" rtl="0">
              <a:lnSpc>
                <a:spcPct val="100000"/>
              </a:lnSpc>
              <a:spcBef>
                <a:spcPts val="0"/>
              </a:spcBef>
              <a:spcAft>
                <a:spcPts val="0"/>
              </a:spcAft>
              <a:buClr>
                <a:srgbClr val="013D85"/>
              </a:buClr>
              <a:buSzPts val="2300"/>
              <a:buNone/>
              <a:defRPr sz="2300">
                <a:solidFill>
                  <a:srgbClr val="013D85"/>
                </a:solidFill>
              </a:defRPr>
            </a:lvl6pPr>
            <a:lvl7pPr lvl="6" rtl="0">
              <a:lnSpc>
                <a:spcPct val="100000"/>
              </a:lnSpc>
              <a:spcBef>
                <a:spcPts val="0"/>
              </a:spcBef>
              <a:spcAft>
                <a:spcPts val="0"/>
              </a:spcAft>
              <a:buClr>
                <a:srgbClr val="013D85"/>
              </a:buClr>
              <a:buSzPts val="2300"/>
              <a:buNone/>
              <a:defRPr sz="2300">
                <a:solidFill>
                  <a:srgbClr val="013D85"/>
                </a:solidFill>
              </a:defRPr>
            </a:lvl7pPr>
            <a:lvl8pPr lvl="7" rtl="0">
              <a:lnSpc>
                <a:spcPct val="100000"/>
              </a:lnSpc>
              <a:spcBef>
                <a:spcPts val="0"/>
              </a:spcBef>
              <a:spcAft>
                <a:spcPts val="0"/>
              </a:spcAft>
              <a:buClr>
                <a:srgbClr val="013D85"/>
              </a:buClr>
              <a:buSzPts val="2300"/>
              <a:buNone/>
              <a:defRPr sz="2300">
                <a:solidFill>
                  <a:srgbClr val="013D85"/>
                </a:solidFill>
              </a:defRPr>
            </a:lvl8pPr>
            <a:lvl9pPr lvl="8" rtl="0">
              <a:lnSpc>
                <a:spcPct val="100000"/>
              </a:lnSpc>
              <a:spcBef>
                <a:spcPts val="0"/>
              </a:spcBef>
              <a:spcAft>
                <a:spcPts val="0"/>
              </a:spcAft>
              <a:buClr>
                <a:srgbClr val="013D85"/>
              </a:buClr>
              <a:buSzPts val="2300"/>
              <a:buNone/>
              <a:defRPr sz="2300">
                <a:solidFill>
                  <a:srgbClr val="013D85"/>
                </a:solidFill>
              </a:defRPr>
            </a:lvl9pPr>
          </a:lstStyle>
          <a:p>
            <a:endParaRPr/>
          </a:p>
        </p:txBody>
      </p:sp>
      <p:sp>
        <p:nvSpPr>
          <p:cNvPr id="26" name="Google Shape;26;p6"/>
          <p:cNvSpPr txBox="1">
            <a:spLocks noGrp="1"/>
          </p:cNvSpPr>
          <p:nvPr>
            <p:ph type="subTitle" idx="2"/>
          </p:nvPr>
        </p:nvSpPr>
        <p:spPr>
          <a:xfrm>
            <a:off x="3135425" y="2978831"/>
            <a:ext cx="5856300" cy="587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500"/>
              <a:buNone/>
              <a:defRPr sz="1500" b="1"/>
            </a:lvl1pPr>
            <a:lvl2pPr lvl="1" rtl="0">
              <a:lnSpc>
                <a:spcPct val="100000"/>
              </a:lnSpc>
              <a:spcBef>
                <a:spcPts val="0"/>
              </a:spcBef>
              <a:spcAft>
                <a:spcPts val="0"/>
              </a:spcAft>
              <a:buClr>
                <a:srgbClr val="013D85"/>
              </a:buClr>
              <a:buSzPts val="2300"/>
              <a:buNone/>
              <a:defRPr sz="2300" b="1">
                <a:solidFill>
                  <a:srgbClr val="013D85"/>
                </a:solidFill>
              </a:defRPr>
            </a:lvl2pPr>
            <a:lvl3pPr lvl="2" rtl="0">
              <a:lnSpc>
                <a:spcPct val="100000"/>
              </a:lnSpc>
              <a:spcBef>
                <a:spcPts val="0"/>
              </a:spcBef>
              <a:spcAft>
                <a:spcPts val="0"/>
              </a:spcAft>
              <a:buClr>
                <a:srgbClr val="013D85"/>
              </a:buClr>
              <a:buSzPts val="2300"/>
              <a:buNone/>
              <a:defRPr sz="2300" b="1">
                <a:solidFill>
                  <a:srgbClr val="013D85"/>
                </a:solidFill>
              </a:defRPr>
            </a:lvl3pPr>
            <a:lvl4pPr lvl="3" rtl="0">
              <a:lnSpc>
                <a:spcPct val="100000"/>
              </a:lnSpc>
              <a:spcBef>
                <a:spcPts val="0"/>
              </a:spcBef>
              <a:spcAft>
                <a:spcPts val="0"/>
              </a:spcAft>
              <a:buClr>
                <a:srgbClr val="013D85"/>
              </a:buClr>
              <a:buSzPts val="2300"/>
              <a:buNone/>
              <a:defRPr sz="2300" b="1">
                <a:solidFill>
                  <a:srgbClr val="013D85"/>
                </a:solidFill>
              </a:defRPr>
            </a:lvl4pPr>
            <a:lvl5pPr lvl="4" rtl="0">
              <a:lnSpc>
                <a:spcPct val="100000"/>
              </a:lnSpc>
              <a:spcBef>
                <a:spcPts val="0"/>
              </a:spcBef>
              <a:spcAft>
                <a:spcPts val="0"/>
              </a:spcAft>
              <a:buClr>
                <a:srgbClr val="013D85"/>
              </a:buClr>
              <a:buSzPts val="2300"/>
              <a:buNone/>
              <a:defRPr sz="2300" b="1">
                <a:solidFill>
                  <a:srgbClr val="013D85"/>
                </a:solidFill>
              </a:defRPr>
            </a:lvl5pPr>
            <a:lvl6pPr lvl="5" rtl="0">
              <a:lnSpc>
                <a:spcPct val="100000"/>
              </a:lnSpc>
              <a:spcBef>
                <a:spcPts val="0"/>
              </a:spcBef>
              <a:spcAft>
                <a:spcPts val="0"/>
              </a:spcAft>
              <a:buClr>
                <a:srgbClr val="013D85"/>
              </a:buClr>
              <a:buSzPts val="2300"/>
              <a:buNone/>
              <a:defRPr sz="2300" b="1">
                <a:solidFill>
                  <a:srgbClr val="013D85"/>
                </a:solidFill>
              </a:defRPr>
            </a:lvl6pPr>
            <a:lvl7pPr lvl="6" rtl="0">
              <a:lnSpc>
                <a:spcPct val="100000"/>
              </a:lnSpc>
              <a:spcBef>
                <a:spcPts val="0"/>
              </a:spcBef>
              <a:spcAft>
                <a:spcPts val="0"/>
              </a:spcAft>
              <a:buClr>
                <a:srgbClr val="013D85"/>
              </a:buClr>
              <a:buSzPts val="2300"/>
              <a:buNone/>
              <a:defRPr sz="2300" b="1">
                <a:solidFill>
                  <a:srgbClr val="013D85"/>
                </a:solidFill>
              </a:defRPr>
            </a:lvl7pPr>
            <a:lvl8pPr lvl="7" rtl="0">
              <a:lnSpc>
                <a:spcPct val="100000"/>
              </a:lnSpc>
              <a:spcBef>
                <a:spcPts val="0"/>
              </a:spcBef>
              <a:spcAft>
                <a:spcPts val="0"/>
              </a:spcAft>
              <a:buClr>
                <a:srgbClr val="013D85"/>
              </a:buClr>
              <a:buSzPts val="2300"/>
              <a:buNone/>
              <a:defRPr sz="2300" b="1">
                <a:solidFill>
                  <a:srgbClr val="013D85"/>
                </a:solidFill>
              </a:defRPr>
            </a:lvl8pPr>
            <a:lvl9pPr lvl="8" rtl="0">
              <a:lnSpc>
                <a:spcPct val="100000"/>
              </a:lnSpc>
              <a:spcBef>
                <a:spcPts val="0"/>
              </a:spcBef>
              <a:spcAft>
                <a:spcPts val="0"/>
              </a:spcAft>
              <a:buClr>
                <a:srgbClr val="013D85"/>
              </a:buClr>
              <a:buSzPts val="2300"/>
              <a:buNone/>
              <a:defRPr sz="2300" b="1">
                <a:solidFill>
                  <a:srgbClr val="013D85"/>
                </a:solidFill>
              </a:defRPr>
            </a:lvl9pPr>
          </a:lstStyle>
          <a:p>
            <a:endParaRPr/>
          </a:p>
        </p:txBody>
      </p:sp>
      <p:sp>
        <p:nvSpPr>
          <p:cNvPr id="27" name="Google Shape;27;p6"/>
          <p:cNvSpPr txBox="1">
            <a:spLocks noGrp="1"/>
          </p:cNvSpPr>
          <p:nvPr>
            <p:ph type="subTitle" idx="3"/>
          </p:nvPr>
        </p:nvSpPr>
        <p:spPr>
          <a:xfrm>
            <a:off x="3135425" y="3278981"/>
            <a:ext cx="5856300" cy="792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
        <p:nvSpPr>
          <p:cNvPr id="28" name="Google Shape;28;p6"/>
          <p:cNvSpPr txBox="1">
            <a:spLocks noGrp="1"/>
          </p:cNvSpPr>
          <p:nvPr>
            <p:ph type="subTitle" idx="4"/>
          </p:nvPr>
        </p:nvSpPr>
        <p:spPr>
          <a:xfrm>
            <a:off x="3135425" y="3662550"/>
            <a:ext cx="5856300" cy="10329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extLst>
    <p:ext uri="{DCECCB84-F9BA-43D5-87BE-67443E8EF086}">
      <p15:sldGuideLst xmlns:p15="http://schemas.microsoft.com/office/powerpoint/2012/main">
        <p15:guide id="1" pos="397">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Разделительный слайд">
  <p:cSld name="MAIN_POINT">
    <p:spTree>
      <p:nvGrpSpPr>
        <p:cNvPr id="1" name="Shape 29"/>
        <p:cNvGrpSpPr/>
        <p:nvPr/>
      </p:nvGrpSpPr>
      <p:grpSpPr>
        <a:xfrm>
          <a:off x="0" y="0"/>
          <a:ext cx="0" cy="0"/>
          <a:chOff x="0" y="0"/>
          <a:chExt cx="0" cy="0"/>
        </a:xfrm>
      </p:grpSpPr>
      <p:sp>
        <p:nvSpPr>
          <p:cNvPr id="30" name="Google Shape;3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pic>
        <p:nvPicPr>
          <p:cNvPr id="31" name="Google Shape;31;p7"/>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32" name="Google Shape;32;p7"/>
          <p:cNvSpPr txBox="1">
            <a:spLocks noGrp="1"/>
          </p:cNvSpPr>
          <p:nvPr>
            <p:ph type="title"/>
          </p:nvPr>
        </p:nvSpPr>
        <p:spPr>
          <a:xfrm>
            <a:off x="651425" y="396394"/>
            <a:ext cx="7706100" cy="4090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600"/>
              <a:buNone/>
              <a:defRPr sz="4600">
                <a:solidFill>
                  <a:schemeClr val="lt1"/>
                </a:solidFill>
              </a:defRPr>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О себе">
  <p:cSld name="CUSTOM_1">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5" name="Google Shape;35;p8"/>
          <p:cNvSpPr txBox="1">
            <a:spLocks noGrp="1"/>
          </p:cNvSpPr>
          <p:nvPr>
            <p:ph type="subTitle" idx="1"/>
          </p:nvPr>
        </p:nvSpPr>
        <p:spPr>
          <a:xfrm>
            <a:off x="3891775" y="1716281"/>
            <a:ext cx="4391700" cy="587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600"/>
              <a:buNone/>
              <a:defRPr sz="1600" b="1"/>
            </a:lvl1pPr>
            <a:lvl2pPr lvl="1" rtl="0">
              <a:lnSpc>
                <a:spcPct val="100000"/>
              </a:lnSpc>
              <a:spcBef>
                <a:spcPts val="0"/>
              </a:spcBef>
              <a:spcAft>
                <a:spcPts val="0"/>
              </a:spcAft>
              <a:buClr>
                <a:schemeClr val="dk1"/>
              </a:buClr>
              <a:buSzPts val="2300"/>
              <a:buNone/>
              <a:defRPr sz="2300" b="1">
                <a:solidFill>
                  <a:schemeClr val="dk1"/>
                </a:solidFill>
              </a:defRPr>
            </a:lvl2pPr>
            <a:lvl3pPr lvl="2" rtl="0">
              <a:lnSpc>
                <a:spcPct val="100000"/>
              </a:lnSpc>
              <a:spcBef>
                <a:spcPts val="0"/>
              </a:spcBef>
              <a:spcAft>
                <a:spcPts val="0"/>
              </a:spcAft>
              <a:buClr>
                <a:schemeClr val="dk1"/>
              </a:buClr>
              <a:buSzPts val="2300"/>
              <a:buNone/>
              <a:defRPr sz="2300" b="1">
                <a:solidFill>
                  <a:schemeClr val="dk1"/>
                </a:solidFill>
              </a:defRPr>
            </a:lvl3pPr>
            <a:lvl4pPr lvl="3" rtl="0">
              <a:lnSpc>
                <a:spcPct val="100000"/>
              </a:lnSpc>
              <a:spcBef>
                <a:spcPts val="0"/>
              </a:spcBef>
              <a:spcAft>
                <a:spcPts val="0"/>
              </a:spcAft>
              <a:buClr>
                <a:schemeClr val="dk1"/>
              </a:buClr>
              <a:buSzPts val="2300"/>
              <a:buNone/>
              <a:defRPr sz="2300" b="1">
                <a:solidFill>
                  <a:schemeClr val="dk1"/>
                </a:solidFill>
              </a:defRPr>
            </a:lvl4pPr>
            <a:lvl5pPr lvl="4" rtl="0">
              <a:lnSpc>
                <a:spcPct val="100000"/>
              </a:lnSpc>
              <a:spcBef>
                <a:spcPts val="0"/>
              </a:spcBef>
              <a:spcAft>
                <a:spcPts val="0"/>
              </a:spcAft>
              <a:buClr>
                <a:schemeClr val="dk1"/>
              </a:buClr>
              <a:buSzPts val="2300"/>
              <a:buNone/>
              <a:defRPr sz="2300" b="1">
                <a:solidFill>
                  <a:schemeClr val="dk1"/>
                </a:solidFill>
              </a:defRPr>
            </a:lvl5pPr>
            <a:lvl6pPr lvl="5" rtl="0">
              <a:lnSpc>
                <a:spcPct val="100000"/>
              </a:lnSpc>
              <a:spcBef>
                <a:spcPts val="0"/>
              </a:spcBef>
              <a:spcAft>
                <a:spcPts val="0"/>
              </a:spcAft>
              <a:buClr>
                <a:schemeClr val="dk1"/>
              </a:buClr>
              <a:buSzPts val="2300"/>
              <a:buNone/>
              <a:defRPr sz="2300" b="1">
                <a:solidFill>
                  <a:schemeClr val="dk1"/>
                </a:solidFill>
              </a:defRPr>
            </a:lvl6pPr>
            <a:lvl7pPr lvl="6" rtl="0">
              <a:lnSpc>
                <a:spcPct val="100000"/>
              </a:lnSpc>
              <a:spcBef>
                <a:spcPts val="0"/>
              </a:spcBef>
              <a:spcAft>
                <a:spcPts val="0"/>
              </a:spcAft>
              <a:buClr>
                <a:schemeClr val="dk1"/>
              </a:buClr>
              <a:buSzPts val="2300"/>
              <a:buNone/>
              <a:defRPr sz="2300" b="1">
                <a:solidFill>
                  <a:schemeClr val="dk1"/>
                </a:solidFill>
              </a:defRPr>
            </a:lvl7pPr>
            <a:lvl8pPr lvl="7" rtl="0">
              <a:lnSpc>
                <a:spcPct val="100000"/>
              </a:lnSpc>
              <a:spcBef>
                <a:spcPts val="0"/>
              </a:spcBef>
              <a:spcAft>
                <a:spcPts val="0"/>
              </a:spcAft>
              <a:buClr>
                <a:schemeClr val="dk1"/>
              </a:buClr>
              <a:buSzPts val="2300"/>
              <a:buNone/>
              <a:defRPr sz="2300" b="1">
                <a:solidFill>
                  <a:schemeClr val="dk1"/>
                </a:solidFill>
              </a:defRPr>
            </a:lvl8pPr>
            <a:lvl9pPr lvl="8" rtl="0">
              <a:lnSpc>
                <a:spcPct val="100000"/>
              </a:lnSpc>
              <a:spcBef>
                <a:spcPts val="0"/>
              </a:spcBef>
              <a:spcAft>
                <a:spcPts val="0"/>
              </a:spcAft>
              <a:buClr>
                <a:schemeClr val="dk1"/>
              </a:buClr>
              <a:buSzPts val="2300"/>
              <a:buNone/>
              <a:defRPr sz="2300" b="1">
                <a:solidFill>
                  <a:schemeClr val="dk1"/>
                </a:solidFill>
              </a:defRPr>
            </a:lvl9pPr>
          </a:lstStyle>
          <a:p>
            <a:endParaRPr/>
          </a:p>
        </p:txBody>
      </p:sp>
      <p:sp>
        <p:nvSpPr>
          <p:cNvPr id="36" name="Google Shape;36;p8"/>
          <p:cNvSpPr txBox="1">
            <a:spLocks noGrp="1"/>
          </p:cNvSpPr>
          <p:nvPr>
            <p:ph type="subTitle" idx="2"/>
          </p:nvPr>
        </p:nvSpPr>
        <p:spPr>
          <a:xfrm>
            <a:off x="3891775" y="2252801"/>
            <a:ext cx="5095200" cy="25113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Раздел+описание">
  <p:cSld name="SECTION_TITLE_AND_DESCRIPTION">
    <p:spTree>
      <p:nvGrpSpPr>
        <p:cNvPr id="1"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9"/>
          <p:cNvSpPr txBox="1">
            <a:spLocks noGrp="1"/>
          </p:cNvSpPr>
          <p:nvPr>
            <p:ph type="title"/>
          </p:nvPr>
        </p:nvSpPr>
        <p:spPr>
          <a:xfrm>
            <a:off x="609075" y="1220875"/>
            <a:ext cx="4045200" cy="14823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sz="3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40" name="Google Shape;40;p9"/>
          <p:cNvSpPr txBox="1">
            <a:spLocks noGrp="1"/>
          </p:cNvSpPr>
          <p:nvPr>
            <p:ph type="subTitle" idx="1"/>
          </p:nvPr>
        </p:nvSpPr>
        <p:spPr>
          <a:xfrm>
            <a:off x="609075" y="2916213"/>
            <a:ext cx="4045200" cy="1235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700"/>
              <a:buNone/>
              <a:defRPr sz="1700"/>
            </a:lvl1pPr>
            <a:lvl2pPr lvl="1">
              <a:lnSpc>
                <a:spcPct val="100000"/>
              </a:lnSpc>
              <a:spcBef>
                <a:spcPts val="0"/>
              </a:spcBef>
              <a:spcAft>
                <a:spcPts val="0"/>
              </a:spcAft>
              <a:buSzPts val="1700"/>
              <a:buNone/>
              <a:defRPr sz="1700"/>
            </a:lvl2pPr>
            <a:lvl3pPr lvl="2">
              <a:lnSpc>
                <a:spcPct val="100000"/>
              </a:lnSpc>
              <a:spcBef>
                <a:spcPts val="0"/>
              </a:spcBef>
              <a:spcAft>
                <a:spcPts val="0"/>
              </a:spcAft>
              <a:buSzPts val="1700"/>
              <a:buNone/>
              <a:defRPr sz="1700"/>
            </a:lvl3pPr>
            <a:lvl4pPr lvl="3">
              <a:lnSpc>
                <a:spcPct val="100000"/>
              </a:lnSpc>
              <a:spcBef>
                <a:spcPts val="0"/>
              </a:spcBef>
              <a:spcAft>
                <a:spcPts val="0"/>
              </a:spcAft>
              <a:buSzPts val="1700"/>
              <a:buNone/>
              <a:defRPr sz="1700"/>
            </a:lvl4pPr>
            <a:lvl5pPr lvl="4">
              <a:lnSpc>
                <a:spcPct val="100000"/>
              </a:lnSpc>
              <a:spcBef>
                <a:spcPts val="0"/>
              </a:spcBef>
              <a:spcAft>
                <a:spcPts val="0"/>
              </a:spcAft>
              <a:buSzPts val="1700"/>
              <a:buNone/>
              <a:defRPr sz="1700"/>
            </a:lvl5pPr>
            <a:lvl6pPr lvl="5">
              <a:lnSpc>
                <a:spcPct val="100000"/>
              </a:lnSpc>
              <a:spcBef>
                <a:spcPts val="0"/>
              </a:spcBef>
              <a:spcAft>
                <a:spcPts val="0"/>
              </a:spcAft>
              <a:buSzPts val="1700"/>
              <a:buNone/>
              <a:defRPr sz="1700"/>
            </a:lvl6pPr>
            <a:lvl7pPr lvl="6">
              <a:lnSpc>
                <a:spcPct val="100000"/>
              </a:lnSpc>
              <a:spcBef>
                <a:spcPts val="0"/>
              </a:spcBef>
              <a:spcAft>
                <a:spcPts val="0"/>
              </a:spcAft>
              <a:buSzPts val="1700"/>
              <a:buNone/>
              <a:defRPr sz="1700"/>
            </a:lvl7pPr>
            <a:lvl8pPr lvl="7">
              <a:lnSpc>
                <a:spcPct val="100000"/>
              </a:lnSpc>
              <a:spcBef>
                <a:spcPts val="0"/>
              </a:spcBef>
              <a:spcAft>
                <a:spcPts val="0"/>
              </a:spcAft>
              <a:buSzPts val="1700"/>
              <a:buNone/>
              <a:defRPr sz="1700"/>
            </a:lvl8pPr>
            <a:lvl9pPr lvl="8">
              <a:lnSpc>
                <a:spcPct val="100000"/>
              </a:lnSpc>
              <a:spcBef>
                <a:spcPts val="0"/>
              </a:spcBef>
              <a:spcAft>
                <a:spcPts val="0"/>
              </a:spcAft>
              <a:buSzPts val="1700"/>
              <a:buNone/>
              <a:defRPr sz="1700"/>
            </a:lvl9pPr>
          </a:lstStyle>
          <a:p>
            <a:endParaRPr/>
          </a:p>
        </p:txBody>
      </p:sp>
      <p:sp>
        <p:nvSpPr>
          <p:cNvPr id="41" name="Google Shape;41;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11150">
              <a:spcBef>
                <a:spcPts val="0"/>
              </a:spcBef>
              <a:spcAft>
                <a:spcPts val="0"/>
              </a:spcAft>
              <a:buSzPts val="1300"/>
              <a:buChar char="■"/>
              <a:defRPr/>
            </a:lvl3pPr>
            <a:lvl4pPr marL="1828800" lvl="3" indent="-311150">
              <a:spcBef>
                <a:spcPts val="0"/>
              </a:spcBef>
              <a:spcAft>
                <a:spcPts val="0"/>
              </a:spcAft>
              <a:buSzPts val="1300"/>
              <a:buChar char="●"/>
              <a:defRPr/>
            </a:lvl4pPr>
            <a:lvl5pPr marL="2286000" lvl="4" indent="-311150">
              <a:spcBef>
                <a:spcPts val="0"/>
              </a:spcBef>
              <a:spcAft>
                <a:spcPts val="0"/>
              </a:spcAft>
              <a:buSzPts val="1300"/>
              <a:buChar char="○"/>
              <a:defRPr/>
            </a:lvl5pPr>
            <a:lvl6pPr marL="2743200" lvl="5" indent="-311150">
              <a:spcBef>
                <a:spcPts val="0"/>
              </a:spcBef>
              <a:spcAft>
                <a:spcPts val="0"/>
              </a:spcAft>
              <a:buSzPts val="1300"/>
              <a:buChar char="■"/>
              <a:defRPr/>
            </a:lvl6pPr>
            <a:lvl7pPr marL="3200400" lvl="6" indent="-311150">
              <a:spcBef>
                <a:spcPts val="0"/>
              </a:spcBef>
              <a:spcAft>
                <a:spcPts val="0"/>
              </a:spcAft>
              <a:buSzPts val="1300"/>
              <a:buChar char="●"/>
              <a:defRPr/>
            </a:lvl7pPr>
            <a:lvl8pPr marL="3657600" lvl="7" indent="-311150">
              <a:spcBef>
                <a:spcPts val="0"/>
              </a:spcBef>
              <a:spcAft>
                <a:spcPts val="0"/>
              </a:spcAft>
              <a:buSzPts val="1300"/>
              <a:buChar char="○"/>
              <a:defRPr/>
            </a:lvl8pPr>
            <a:lvl9pPr marL="4114800" lvl="8" indent="-311150">
              <a:spcBef>
                <a:spcPts val="0"/>
              </a:spcBef>
              <a:spcAft>
                <a:spcPts val="0"/>
              </a:spcAft>
              <a:buSzPts val="1300"/>
              <a:buChar char="■"/>
              <a:defRPr/>
            </a:lvl9pPr>
          </a:lstStyle>
          <a:p>
            <a:endParaRPr/>
          </a:p>
        </p:txBody>
      </p:sp>
      <p:sp>
        <p:nvSpPr>
          <p:cNvPr id="42" name="Google Shape;42;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Заголовок">
  <p:cSld name="CUSTOM_3">
    <p:spTree>
      <p:nvGrpSpPr>
        <p:cNvPr id="1" name="Shape 45"/>
        <p:cNvGrpSpPr/>
        <p:nvPr/>
      </p:nvGrpSpPr>
      <p:grpSpPr>
        <a:xfrm>
          <a:off x="0" y="0"/>
          <a:ext cx="0" cy="0"/>
          <a:chOff x="0" y="0"/>
          <a:chExt cx="0" cy="0"/>
        </a:xfrm>
      </p:grpSpPr>
      <p:sp>
        <p:nvSpPr>
          <p:cNvPr id="46" name="Google Shape;46;p11"/>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Слайд КОД+ТЕКСТ 1">
  <p:cSld name="CUSTOM_4">
    <p:spTree>
      <p:nvGrpSpPr>
        <p:cNvPr id="1" name="Shape 55"/>
        <p:cNvGrpSpPr/>
        <p:nvPr/>
      </p:nvGrpSpPr>
      <p:grpSpPr>
        <a:xfrm>
          <a:off x="0" y="0"/>
          <a:ext cx="0" cy="0"/>
          <a:chOff x="0" y="0"/>
          <a:chExt cx="0" cy="0"/>
        </a:xfrm>
      </p:grpSpPr>
      <p:sp>
        <p:nvSpPr>
          <p:cNvPr id="56" name="Google Shape;56;p1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7" name="Google Shape;57;p14"/>
          <p:cNvSpPr txBox="1">
            <a:spLocks noGrp="1"/>
          </p:cNvSpPr>
          <p:nvPr>
            <p:ph type="subTitle" idx="1"/>
          </p:nvPr>
        </p:nvSpPr>
        <p:spPr>
          <a:xfrm>
            <a:off x="544050" y="1350425"/>
            <a:ext cx="5316300" cy="904200"/>
          </a:xfrm>
          <a:prstGeom prst="rect">
            <a:avLst/>
          </a:prstGeom>
        </p:spPr>
        <p:txBody>
          <a:bodyPr spcFirstLastPara="1" wrap="square" lIns="91425" tIns="91425" rIns="91425" bIns="91425" anchor="t" anchorCtr="0">
            <a:normAutofit/>
          </a:bodyPr>
          <a:lstStyle>
            <a:lvl1pPr lvl="0" rtl="0">
              <a:lnSpc>
                <a:spcPct val="12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
        <p:nvSpPr>
          <p:cNvPr id="58" name="Google Shape;58;p14"/>
          <p:cNvSpPr/>
          <p:nvPr/>
        </p:nvSpPr>
        <p:spPr>
          <a:xfrm>
            <a:off x="606200" y="2144231"/>
            <a:ext cx="7938600" cy="2464500"/>
          </a:xfrm>
          <a:prstGeom prst="rect">
            <a:avLst/>
          </a:prstGeom>
          <a:solidFill>
            <a:srgbClr val="FBFB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4"/>
          <p:cNvSpPr txBox="1">
            <a:spLocks noGrp="1"/>
          </p:cNvSpPr>
          <p:nvPr>
            <p:ph type="subTitle" idx="2"/>
          </p:nvPr>
        </p:nvSpPr>
        <p:spPr>
          <a:xfrm>
            <a:off x="795050" y="2220038"/>
            <a:ext cx="7568100" cy="2363700"/>
          </a:xfrm>
          <a:prstGeom prst="rect">
            <a:avLst/>
          </a:prstGeom>
        </p:spPr>
        <p:txBody>
          <a:bodyPr spcFirstLastPara="1" wrap="square" lIns="91425" tIns="91425" rIns="91425" bIns="91425" anchor="t" anchorCtr="0">
            <a:normAutofit/>
          </a:bodyPr>
          <a:lstStyle>
            <a:lvl1pPr lvl="0" rtl="0">
              <a:lnSpc>
                <a:spcPct val="115000"/>
              </a:lnSpc>
              <a:spcBef>
                <a:spcPts val="0"/>
              </a:spcBef>
              <a:spcAft>
                <a:spcPts val="0"/>
              </a:spcAft>
              <a:buSzPts val="1300"/>
              <a:buFont typeface="Courier New"/>
              <a:buNone/>
              <a:defRPr sz="1300">
                <a:latin typeface="Courier New"/>
                <a:ea typeface="Courier New"/>
                <a:cs typeface="Courier New"/>
                <a:sym typeface="Courier New"/>
              </a:defRPr>
            </a:lvl1pPr>
            <a:lvl2pPr lvl="1" rtl="0">
              <a:lnSpc>
                <a:spcPct val="115000"/>
              </a:lnSpc>
              <a:spcBef>
                <a:spcPts val="0"/>
              </a:spcBef>
              <a:spcAft>
                <a:spcPts val="0"/>
              </a:spcAft>
              <a:buSzPts val="1700"/>
              <a:buNone/>
              <a:defRPr sz="1700"/>
            </a:lvl2pPr>
            <a:lvl3pPr lvl="2" rtl="0">
              <a:lnSpc>
                <a:spcPct val="115000"/>
              </a:lnSpc>
              <a:spcBef>
                <a:spcPts val="0"/>
              </a:spcBef>
              <a:spcAft>
                <a:spcPts val="0"/>
              </a:spcAft>
              <a:buSzPts val="1700"/>
              <a:buNone/>
              <a:defRPr sz="1700"/>
            </a:lvl3pPr>
            <a:lvl4pPr lvl="3" rtl="0">
              <a:lnSpc>
                <a:spcPct val="115000"/>
              </a:lnSpc>
              <a:spcBef>
                <a:spcPts val="0"/>
              </a:spcBef>
              <a:spcAft>
                <a:spcPts val="0"/>
              </a:spcAft>
              <a:buSzPts val="1700"/>
              <a:buNone/>
              <a:defRPr sz="1700"/>
            </a:lvl4pPr>
            <a:lvl5pPr lvl="4" rtl="0">
              <a:lnSpc>
                <a:spcPct val="115000"/>
              </a:lnSpc>
              <a:spcBef>
                <a:spcPts val="0"/>
              </a:spcBef>
              <a:spcAft>
                <a:spcPts val="0"/>
              </a:spcAft>
              <a:buSzPts val="1700"/>
              <a:buNone/>
              <a:defRPr sz="1700"/>
            </a:lvl5pPr>
            <a:lvl6pPr lvl="5" rtl="0">
              <a:lnSpc>
                <a:spcPct val="115000"/>
              </a:lnSpc>
              <a:spcBef>
                <a:spcPts val="0"/>
              </a:spcBef>
              <a:spcAft>
                <a:spcPts val="0"/>
              </a:spcAft>
              <a:buSzPts val="1700"/>
              <a:buNone/>
              <a:defRPr sz="1700"/>
            </a:lvl6pPr>
            <a:lvl7pPr lvl="6" rtl="0">
              <a:lnSpc>
                <a:spcPct val="115000"/>
              </a:lnSpc>
              <a:spcBef>
                <a:spcPts val="0"/>
              </a:spcBef>
              <a:spcAft>
                <a:spcPts val="0"/>
              </a:spcAft>
              <a:buSzPts val="1700"/>
              <a:buNone/>
              <a:defRPr sz="1700"/>
            </a:lvl7pPr>
            <a:lvl8pPr lvl="7" rtl="0">
              <a:lnSpc>
                <a:spcPct val="115000"/>
              </a:lnSpc>
              <a:spcBef>
                <a:spcPts val="0"/>
              </a:spcBef>
              <a:spcAft>
                <a:spcPts val="0"/>
              </a:spcAft>
              <a:buSzPts val="1700"/>
              <a:buNone/>
              <a:defRPr sz="1700"/>
            </a:lvl8pPr>
            <a:lvl9pPr lvl="8" rtl="0">
              <a:lnSpc>
                <a:spcPct val="115000"/>
              </a:lnSpc>
              <a:spcBef>
                <a:spcPts val="0"/>
              </a:spcBef>
              <a:spcAft>
                <a:spcPts val="0"/>
              </a:spcAft>
              <a:buSzPts val="1700"/>
              <a:buNone/>
              <a:defRPr sz="17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Слайд КОД+ТЕКСТ 2">
  <p:cSld name="CUSTOM_4_1">
    <p:spTree>
      <p:nvGrpSpPr>
        <p:cNvPr id="1" name="Shape 60"/>
        <p:cNvGrpSpPr/>
        <p:nvPr/>
      </p:nvGrpSpPr>
      <p:grpSpPr>
        <a:xfrm>
          <a:off x="0" y="0"/>
          <a:ext cx="0" cy="0"/>
          <a:chOff x="0" y="0"/>
          <a:chExt cx="0" cy="0"/>
        </a:xfrm>
      </p:grpSpPr>
      <p:sp>
        <p:nvSpPr>
          <p:cNvPr id="61" name="Google Shape;61;p15"/>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2" name="Google Shape;62;p15"/>
          <p:cNvSpPr/>
          <p:nvPr/>
        </p:nvSpPr>
        <p:spPr>
          <a:xfrm>
            <a:off x="362300" y="1384249"/>
            <a:ext cx="4748700" cy="3393300"/>
          </a:xfrm>
          <a:prstGeom prst="rect">
            <a:avLst/>
          </a:prstGeom>
          <a:solidFill>
            <a:srgbClr val="FBFB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5"/>
          <p:cNvSpPr txBox="1">
            <a:spLocks noGrp="1"/>
          </p:cNvSpPr>
          <p:nvPr>
            <p:ph type="subTitle" idx="1"/>
          </p:nvPr>
        </p:nvSpPr>
        <p:spPr>
          <a:xfrm>
            <a:off x="500550" y="1474819"/>
            <a:ext cx="4428600" cy="3455100"/>
          </a:xfrm>
          <a:prstGeom prst="rect">
            <a:avLst/>
          </a:prstGeom>
        </p:spPr>
        <p:txBody>
          <a:bodyPr spcFirstLastPara="1" wrap="square" lIns="91425" tIns="91425" rIns="91425" bIns="91425" anchor="t" anchorCtr="0">
            <a:normAutofit/>
          </a:bodyPr>
          <a:lstStyle>
            <a:lvl1pPr lvl="0" rtl="0">
              <a:lnSpc>
                <a:spcPct val="115000"/>
              </a:lnSpc>
              <a:spcBef>
                <a:spcPts val="0"/>
              </a:spcBef>
              <a:spcAft>
                <a:spcPts val="0"/>
              </a:spcAft>
              <a:buSzPts val="1300"/>
              <a:buFont typeface="Courier New"/>
              <a:buNone/>
              <a:defRPr sz="1300">
                <a:latin typeface="Courier New"/>
                <a:ea typeface="Courier New"/>
                <a:cs typeface="Courier New"/>
                <a:sym typeface="Courier New"/>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None/>
              <a:defRPr/>
            </a:lvl5pPr>
            <a:lvl6pPr lvl="5" rtl="0">
              <a:lnSpc>
                <a:spcPct val="115000"/>
              </a:lnSpc>
              <a:spcBef>
                <a:spcPts val="0"/>
              </a:spcBef>
              <a:spcAft>
                <a:spcPts val="0"/>
              </a:spcAft>
              <a:buSzPts val="1300"/>
              <a:buNone/>
              <a:defRPr/>
            </a:lvl6pPr>
            <a:lvl7pPr lvl="6" rtl="0">
              <a:lnSpc>
                <a:spcPct val="115000"/>
              </a:lnSpc>
              <a:spcBef>
                <a:spcPts val="0"/>
              </a:spcBef>
              <a:spcAft>
                <a:spcPts val="0"/>
              </a:spcAft>
              <a:buSzPts val="1300"/>
              <a:buNone/>
              <a:defRPr/>
            </a:lvl7pPr>
            <a:lvl8pPr lvl="7" rtl="0">
              <a:lnSpc>
                <a:spcPct val="115000"/>
              </a:lnSpc>
              <a:spcBef>
                <a:spcPts val="0"/>
              </a:spcBef>
              <a:spcAft>
                <a:spcPts val="0"/>
              </a:spcAft>
              <a:buSzPts val="1300"/>
              <a:buNone/>
              <a:defRPr/>
            </a:lvl8pPr>
            <a:lvl9pPr lvl="8" rtl="0">
              <a:lnSpc>
                <a:spcPct val="115000"/>
              </a:lnSpc>
              <a:spcBef>
                <a:spcPts val="0"/>
              </a:spcBef>
              <a:spcAft>
                <a:spcPts val="0"/>
              </a:spcAft>
              <a:buSzPts val="1300"/>
              <a:buNone/>
              <a:defRPr/>
            </a:lvl9pPr>
          </a:lstStyle>
          <a:p>
            <a:endParaRPr/>
          </a:p>
        </p:txBody>
      </p:sp>
      <p:sp>
        <p:nvSpPr>
          <p:cNvPr id="64" name="Google Shape;64;p15"/>
          <p:cNvSpPr txBox="1">
            <a:spLocks noGrp="1"/>
          </p:cNvSpPr>
          <p:nvPr>
            <p:ph type="subTitle" idx="2"/>
          </p:nvPr>
        </p:nvSpPr>
        <p:spPr>
          <a:xfrm>
            <a:off x="5555275" y="1474819"/>
            <a:ext cx="3151200" cy="3261300"/>
          </a:xfrm>
          <a:prstGeom prst="rect">
            <a:avLst/>
          </a:prstGeom>
        </p:spPr>
        <p:txBody>
          <a:bodyPr spcFirstLastPara="1" wrap="square" lIns="91425" tIns="91425" rIns="91425" bIns="91425" anchor="t" anchorCtr="0">
            <a:normAutofit/>
          </a:bodyPr>
          <a:lstStyle>
            <a:lvl1pPr lvl="0" rtl="0">
              <a:lnSpc>
                <a:spcPct val="12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19"/>
        <p:cNvGrpSpPr/>
        <p:nvPr/>
      </p:nvGrpSpPr>
      <p:grpSpPr>
        <a:xfrm>
          <a:off x="0" y="0"/>
          <a:ext cx="0" cy="0"/>
          <a:chOff x="0" y="0"/>
          <a:chExt cx="0" cy="0"/>
        </a:xfrm>
      </p:grpSpPr>
      <p:sp>
        <p:nvSpPr>
          <p:cNvPr id="320" name="Google Shape;320;p55"/>
          <p:cNvSpPr txBox="1">
            <a:spLocks noGrp="1"/>
          </p:cNvSpPr>
          <p:nvPr>
            <p:ph type="title"/>
          </p:nvPr>
        </p:nvSpPr>
        <p:spPr>
          <a:xfrm>
            <a:off x="500550" y="330724"/>
            <a:ext cx="8520525" cy="1095975"/>
          </a:xfrm>
          <a:prstGeom prst="rect">
            <a:avLst/>
          </a:prstGeom>
        </p:spPr>
        <p:txBody>
          <a:bodyPr spcFirstLastPara="1" wrap="square" lIns="121900" tIns="121900" rIns="121900" bIns="121900" anchor="t" anchorCtr="0">
            <a:noAutofit/>
          </a:bodyPr>
          <a:lstStyle>
            <a:lvl1pPr lvl="0" rtl="0">
              <a:spcBef>
                <a:spcPts val="0"/>
              </a:spcBef>
              <a:spcAft>
                <a:spcPts val="0"/>
              </a:spcAft>
              <a:buSzPts val="41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a:endParaRPr/>
          </a:p>
        </p:txBody>
      </p:sp>
      <p:sp>
        <p:nvSpPr>
          <p:cNvPr id="321" name="Google Shape;321;p55"/>
          <p:cNvSpPr txBox="1">
            <a:spLocks noGrp="1"/>
          </p:cNvSpPr>
          <p:nvPr>
            <p:ph type="body" idx="1"/>
          </p:nvPr>
        </p:nvSpPr>
        <p:spPr>
          <a:xfrm>
            <a:off x="500550" y="1426469"/>
            <a:ext cx="8520525" cy="3416400"/>
          </a:xfrm>
          <a:prstGeom prst="rect">
            <a:avLst/>
          </a:prstGeom>
        </p:spPr>
        <p:txBody>
          <a:bodyPr spcFirstLastPara="1" wrap="square" lIns="121900" tIns="121900" rIns="121900" bIns="121900" anchor="t" anchorCtr="0">
            <a:normAutofit/>
          </a:bodyPr>
          <a:lstStyle>
            <a:lvl1pPr marL="342900" lvl="0" indent="-266700" rtl="0">
              <a:lnSpc>
                <a:spcPct val="120000"/>
              </a:lnSpc>
              <a:spcBef>
                <a:spcPts val="300"/>
              </a:spcBef>
              <a:spcAft>
                <a:spcPts val="0"/>
              </a:spcAft>
              <a:buSzPts val="2000"/>
              <a:buChar char="●"/>
              <a:defRPr sz="1500"/>
            </a:lvl1pPr>
            <a:lvl2pPr marL="685800" lvl="1" indent="-252413" rtl="0">
              <a:lnSpc>
                <a:spcPct val="120000"/>
              </a:lnSpc>
              <a:spcBef>
                <a:spcPts val="300"/>
              </a:spcBef>
              <a:spcAft>
                <a:spcPts val="0"/>
              </a:spcAft>
              <a:buSzPts val="1700"/>
              <a:buChar char="○"/>
              <a:defRPr sz="1275"/>
            </a:lvl2pPr>
            <a:lvl3pPr marL="1028700" lvl="2" indent="-252413" rtl="0">
              <a:lnSpc>
                <a:spcPct val="120000"/>
              </a:lnSpc>
              <a:spcBef>
                <a:spcPts val="300"/>
              </a:spcBef>
              <a:spcAft>
                <a:spcPts val="0"/>
              </a:spcAft>
              <a:buSzPts val="1700"/>
              <a:buChar char="■"/>
              <a:defRPr sz="1275"/>
            </a:lvl3pPr>
            <a:lvl4pPr marL="1371600" lvl="3" indent="-252413" rtl="0">
              <a:lnSpc>
                <a:spcPct val="120000"/>
              </a:lnSpc>
              <a:spcBef>
                <a:spcPts val="300"/>
              </a:spcBef>
              <a:spcAft>
                <a:spcPts val="0"/>
              </a:spcAft>
              <a:buSzPts val="1700"/>
              <a:buChar char="●"/>
              <a:defRPr sz="1275"/>
            </a:lvl4pPr>
            <a:lvl5pPr marL="1714500" lvl="4" indent="-252413" rtl="0">
              <a:lnSpc>
                <a:spcPct val="120000"/>
              </a:lnSpc>
              <a:spcBef>
                <a:spcPts val="0"/>
              </a:spcBef>
              <a:spcAft>
                <a:spcPts val="0"/>
              </a:spcAft>
              <a:buSzPts val="1700"/>
              <a:buChar char="○"/>
              <a:defRPr sz="1275"/>
            </a:lvl5pPr>
            <a:lvl6pPr marL="2057400" lvl="5" indent="-252413" rtl="0">
              <a:lnSpc>
                <a:spcPct val="120000"/>
              </a:lnSpc>
              <a:spcBef>
                <a:spcPts val="300"/>
              </a:spcBef>
              <a:spcAft>
                <a:spcPts val="0"/>
              </a:spcAft>
              <a:buSzPts val="1700"/>
              <a:buChar char="■"/>
              <a:defRPr sz="1275"/>
            </a:lvl6pPr>
            <a:lvl7pPr marL="2400300" lvl="6" indent="-252413" rtl="0">
              <a:lnSpc>
                <a:spcPct val="120000"/>
              </a:lnSpc>
              <a:spcBef>
                <a:spcPts val="300"/>
              </a:spcBef>
              <a:spcAft>
                <a:spcPts val="0"/>
              </a:spcAft>
              <a:buSzPts val="1700"/>
              <a:buChar char="●"/>
              <a:defRPr sz="1275"/>
            </a:lvl7pPr>
            <a:lvl8pPr marL="2743200" lvl="7" indent="-252413" rtl="0">
              <a:lnSpc>
                <a:spcPct val="120000"/>
              </a:lnSpc>
              <a:spcBef>
                <a:spcPts val="300"/>
              </a:spcBef>
              <a:spcAft>
                <a:spcPts val="0"/>
              </a:spcAft>
              <a:buSzPts val="1700"/>
              <a:buChar char="○"/>
              <a:defRPr sz="1275"/>
            </a:lvl8pPr>
            <a:lvl9pPr marL="3086100" lvl="8" indent="-252413" rtl="0">
              <a:lnSpc>
                <a:spcPct val="120000"/>
              </a:lnSpc>
              <a:spcBef>
                <a:spcPts val="300"/>
              </a:spcBef>
              <a:spcAft>
                <a:spcPts val="0"/>
              </a:spcAft>
              <a:buSzPts val="1700"/>
              <a:buChar char="■"/>
              <a:defRPr sz="1275"/>
            </a:lvl9pPr>
          </a:lstStyle>
          <a:p>
            <a:endParaRPr/>
          </a:p>
        </p:txBody>
      </p:sp>
      <p:sp>
        <p:nvSpPr>
          <p:cNvPr id="322" name="Google Shape;322;p55"/>
          <p:cNvSpPr txBox="1">
            <a:spLocks noGrp="1"/>
          </p:cNvSpPr>
          <p:nvPr>
            <p:ph type="sldNum" idx="12"/>
          </p:nvPr>
        </p:nvSpPr>
        <p:spPr>
          <a:xfrm>
            <a:off x="8472458" y="4663217"/>
            <a:ext cx="548775" cy="393525"/>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2522630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98"/>
        <p:cNvGrpSpPr/>
        <p:nvPr/>
      </p:nvGrpSpPr>
      <p:grpSpPr>
        <a:xfrm>
          <a:off x="0" y="0"/>
          <a:ext cx="0" cy="0"/>
          <a:chOff x="0" y="0"/>
          <a:chExt cx="0" cy="0"/>
        </a:xfrm>
      </p:grpSpPr>
      <p:sp>
        <p:nvSpPr>
          <p:cNvPr id="199" name="Google Shape;199;p26"/>
          <p:cNvSpPr txBox="1">
            <a:spLocks noGrp="1"/>
          </p:cNvSpPr>
          <p:nvPr>
            <p:ph type="title"/>
          </p:nvPr>
        </p:nvSpPr>
        <p:spPr>
          <a:xfrm>
            <a:off x="311700" y="410000"/>
            <a:ext cx="8520525" cy="607725"/>
          </a:xfrm>
          <a:prstGeom prst="rect">
            <a:avLst/>
          </a:prstGeom>
        </p:spPr>
        <p:txBody>
          <a:bodyPr spcFirstLastPara="1" wrap="square" lIns="121900" tIns="121900" rIns="121900" bIns="121900" anchor="t" anchorCtr="0">
            <a:normAutofit/>
          </a:bodyPr>
          <a:lstStyle>
            <a:lvl1pPr lvl="0" rtl="0">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sp>
        <p:nvSpPr>
          <p:cNvPr id="200" name="Google Shape;200;p26"/>
          <p:cNvSpPr txBox="1">
            <a:spLocks noGrp="1"/>
          </p:cNvSpPr>
          <p:nvPr>
            <p:ph type="sldNum" idx="12"/>
          </p:nvPr>
        </p:nvSpPr>
        <p:spPr>
          <a:xfrm>
            <a:off x="8460431" y="4651190"/>
            <a:ext cx="548775" cy="393525"/>
          </a:xfrm>
          <a:prstGeom prst="rect">
            <a:avLst/>
          </a:prstGeom>
        </p:spPr>
        <p:txBody>
          <a:bodyPr spcFirstLastPara="1" wrap="square" lIns="121900" tIns="121900" rIns="121900" bIns="121900" anchor="ctr" anchorCtr="0">
            <a:norm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433933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1">
  <p:cSld name="Title and body 1">
    <p:spTree>
      <p:nvGrpSpPr>
        <p:cNvPr id="1" name="Shape 236"/>
        <p:cNvGrpSpPr/>
        <p:nvPr/>
      </p:nvGrpSpPr>
      <p:grpSpPr>
        <a:xfrm>
          <a:off x="0" y="0"/>
          <a:ext cx="0" cy="0"/>
          <a:chOff x="0" y="0"/>
          <a:chExt cx="0" cy="0"/>
        </a:xfrm>
      </p:grpSpPr>
      <p:sp>
        <p:nvSpPr>
          <p:cNvPr id="237" name="Google Shape;237;p33"/>
          <p:cNvSpPr txBox="1">
            <a:spLocks noGrp="1"/>
          </p:cNvSpPr>
          <p:nvPr>
            <p:ph type="title"/>
          </p:nvPr>
        </p:nvSpPr>
        <p:spPr>
          <a:xfrm>
            <a:off x="500550" y="330724"/>
            <a:ext cx="8520525" cy="1095975"/>
          </a:xfrm>
          <a:prstGeom prst="rect">
            <a:avLst/>
          </a:prstGeom>
        </p:spPr>
        <p:txBody>
          <a:bodyPr spcFirstLastPara="1" wrap="square" lIns="121900" tIns="121900" rIns="121900" bIns="121900" anchor="t" anchorCtr="0">
            <a:normAutofit/>
          </a:bodyPr>
          <a:lstStyle>
            <a:lvl1pPr lvl="0" rtl="0">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sp>
        <p:nvSpPr>
          <p:cNvPr id="238" name="Google Shape;238;p33"/>
          <p:cNvSpPr txBox="1">
            <a:spLocks noGrp="1"/>
          </p:cNvSpPr>
          <p:nvPr>
            <p:ph type="body" idx="1"/>
          </p:nvPr>
        </p:nvSpPr>
        <p:spPr>
          <a:xfrm>
            <a:off x="500550" y="1426469"/>
            <a:ext cx="8520525" cy="3416400"/>
          </a:xfrm>
          <a:prstGeom prst="rect">
            <a:avLst/>
          </a:prstGeom>
        </p:spPr>
        <p:txBody>
          <a:bodyPr spcFirstLastPara="1" wrap="square" lIns="121900" tIns="121900" rIns="121900" bIns="121900" anchor="t" anchorCtr="0">
            <a:normAutofit/>
          </a:bodyPr>
          <a:lstStyle>
            <a:lvl1pPr marL="342900" lvl="0" indent="-266700" rtl="0">
              <a:lnSpc>
                <a:spcPct val="120000"/>
              </a:lnSpc>
              <a:spcBef>
                <a:spcPts val="300"/>
              </a:spcBef>
              <a:spcAft>
                <a:spcPts val="0"/>
              </a:spcAft>
              <a:buSzPts val="2000"/>
              <a:buChar char="●"/>
              <a:defRPr sz="1500"/>
            </a:lvl1pPr>
            <a:lvl2pPr marL="685800" lvl="1" indent="-252413" rtl="0">
              <a:lnSpc>
                <a:spcPct val="120000"/>
              </a:lnSpc>
              <a:spcBef>
                <a:spcPts val="300"/>
              </a:spcBef>
              <a:spcAft>
                <a:spcPts val="0"/>
              </a:spcAft>
              <a:buSzPts val="1700"/>
              <a:buChar char="○"/>
              <a:defRPr sz="1275"/>
            </a:lvl2pPr>
            <a:lvl3pPr marL="1028700" lvl="2" indent="-252413" rtl="0">
              <a:lnSpc>
                <a:spcPct val="120000"/>
              </a:lnSpc>
              <a:spcBef>
                <a:spcPts val="300"/>
              </a:spcBef>
              <a:spcAft>
                <a:spcPts val="0"/>
              </a:spcAft>
              <a:buSzPts val="1700"/>
              <a:buChar char="■"/>
              <a:defRPr sz="1275"/>
            </a:lvl3pPr>
            <a:lvl4pPr marL="1371600" lvl="3" indent="-252413" rtl="0">
              <a:lnSpc>
                <a:spcPct val="120000"/>
              </a:lnSpc>
              <a:spcBef>
                <a:spcPts val="300"/>
              </a:spcBef>
              <a:spcAft>
                <a:spcPts val="0"/>
              </a:spcAft>
              <a:buSzPts val="1700"/>
              <a:buChar char="●"/>
              <a:defRPr sz="1275"/>
            </a:lvl4pPr>
            <a:lvl5pPr marL="1714500" lvl="4" indent="-252413" rtl="0">
              <a:lnSpc>
                <a:spcPct val="120000"/>
              </a:lnSpc>
              <a:spcBef>
                <a:spcPts val="0"/>
              </a:spcBef>
              <a:spcAft>
                <a:spcPts val="0"/>
              </a:spcAft>
              <a:buSzPts val="1700"/>
              <a:buChar char="○"/>
              <a:defRPr sz="1275"/>
            </a:lvl5pPr>
            <a:lvl6pPr marL="2057400" lvl="5" indent="-252413" rtl="0">
              <a:lnSpc>
                <a:spcPct val="120000"/>
              </a:lnSpc>
              <a:spcBef>
                <a:spcPts val="300"/>
              </a:spcBef>
              <a:spcAft>
                <a:spcPts val="0"/>
              </a:spcAft>
              <a:buSzPts val="1700"/>
              <a:buChar char="■"/>
              <a:defRPr sz="1275"/>
            </a:lvl6pPr>
            <a:lvl7pPr marL="2400300" lvl="6" indent="-252413" rtl="0">
              <a:lnSpc>
                <a:spcPct val="120000"/>
              </a:lnSpc>
              <a:spcBef>
                <a:spcPts val="300"/>
              </a:spcBef>
              <a:spcAft>
                <a:spcPts val="0"/>
              </a:spcAft>
              <a:buSzPts val="1700"/>
              <a:buChar char="●"/>
              <a:defRPr sz="1275"/>
            </a:lvl7pPr>
            <a:lvl8pPr marL="2743200" lvl="7" indent="-252413" rtl="0">
              <a:lnSpc>
                <a:spcPct val="120000"/>
              </a:lnSpc>
              <a:spcBef>
                <a:spcPts val="300"/>
              </a:spcBef>
              <a:spcAft>
                <a:spcPts val="0"/>
              </a:spcAft>
              <a:buSzPts val="1700"/>
              <a:buChar char="○"/>
              <a:defRPr sz="1275"/>
            </a:lvl8pPr>
            <a:lvl9pPr marL="3086100" lvl="8" indent="-252413" rtl="0">
              <a:lnSpc>
                <a:spcPct val="120000"/>
              </a:lnSpc>
              <a:spcBef>
                <a:spcPts val="300"/>
              </a:spcBef>
              <a:spcAft>
                <a:spcPts val="0"/>
              </a:spcAft>
              <a:buSzPts val="1700"/>
              <a:buChar char="■"/>
              <a:defRPr sz="1275"/>
            </a:lvl9pPr>
          </a:lstStyle>
          <a:p>
            <a:endParaRPr/>
          </a:p>
        </p:txBody>
      </p:sp>
      <p:sp>
        <p:nvSpPr>
          <p:cNvPr id="239" name="Google Shape;239;p33"/>
          <p:cNvSpPr txBox="1">
            <a:spLocks noGrp="1"/>
          </p:cNvSpPr>
          <p:nvPr>
            <p:ph type="sldNum" idx="12"/>
          </p:nvPr>
        </p:nvSpPr>
        <p:spPr>
          <a:xfrm>
            <a:off x="8472458" y="4663217"/>
            <a:ext cx="548775" cy="393525"/>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1324018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Пустой слайд">
  <p:cSld name="Пустой слайд">
    <p:spTree>
      <p:nvGrpSpPr>
        <p:cNvPr id="1" name="Shape 15"/>
        <p:cNvGrpSpPr/>
        <p:nvPr/>
      </p:nvGrpSpPr>
      <p:grpSpPr>
        <a:xfrm>
          <a:off x="0" y="0"/>
          <a:ext cx="0" cy="0"/>
          <a:chOff x="0" y="0"/>
          <a:chExt cx="0" cy="0"/>
        </a:xfrm>
      </p:grpSpPr>
    </p:spTree>
    <p:extLst>
      <p:ext uri="{BB962C8B-B14F-4D97-AF65-F5344CB8AC3E}">
        <p14:creationId xmlns:p14="http://schemas.microsoft.com/office/powerpoint/2010/main" val="2814015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6">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100"/>
              <a:buFont typeface="Roboto"/>
              <a:buNone/>
              <a:defRPr sz="3100" b="1">
                <a:solidFill>
                  <a:schemeClr val="dk1"/>
                </a:solidFill>
                <a:latin typeface="Roboto"/>
                <a:ea typeface="Roboto"/>
                <a:cs typeface="Roboto"/>
                <a:sym typeface="Roboto"/>
              </a:defRPr>
            </a:lvl1pPr>
            <a:lvl2pPr lvl="1">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2pPr>
            <a:lvl3pPr lvl="2">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3pPr>
            <a:lvl4pPr lvl="3">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4pPr>
            <a:lvl5pPr lvl="4">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5pPr>
            <a:lvl6pPr lvl="5">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6pPr>
            <a:lvl7pPr lvl="6">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7pPr>
            <a:lvl8pPr lvl="7">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8pPr>
            <a:lvl9pPr lvl="8">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24350" y="1578869"/>
            <a:ext cx="8520600" cy="3416400"/>
          </a:xfrm>
          <a:prstGeom prst="rect">
            <a:avLst/>
          </a:prstGeom>
          <a:noFill/>
          <a:ln>
            <a:noFill/>
          </a:ln>
        </p:spPr>
        <p:txBody>
          <a:bodyPr spcFirstLastPara="1" wrap="square" lIns="91425" tIns="91425" rIns="91425" bIns="91425" anchor="t" anchorCtr="0">
            <a:normAutofit/>
          </a:bodyPr>
          <a:lstStyle>
            <a:lvl1pPr marL="457200" lvl="0" indent="-336550">
              <a:lnSpc>
                <a:spcPct val="120000"/>
              </a:lnSpc>
              <a:spcBef>
                <a:spcPts val="0"/>
              </a:spcBef>
              <a:spcAft>
                <a:spcPts val="0"/>
              </a:spcAft>
              <a:buClr>
                <a:schemeClr val="dk1"/>
              </a:buClr>
              <a:buSzPts val="1700"/>
              <a:buFont typeface="Roboto"/>
              <a:buChar char="●"/>
              <a:defRPr sz="1700">
                <a:solidFill>
                  <a:schemeClr val="dk1"/>
                </a:solidFill>
                <a:latin typeface="Roboto"/>
                <a:ea typeface="Roboto"/>
                <a:cs typeface="Roboto"/>
                <a:sym typeface="Roboto"/>
              </a:defRPr>
            </a:lvl1pPr>
            <a:lvl2pPr marL="914400" lvl="1" indent="-323850">
              <a:lnSpc>
                <a:spcPct val="120000"/>
              </a:lnSpc>
              <a:spcBef>
                <a:spcPts val="0"/>
              </a:spcBef>
              <a:spcAft>
                <a:spcPts val="0"/>
              </a:spcAft>
              <a:buClr>
                <a:schemeClr val="dk1"/>
              </a:buClr>
              <a:buSzPts val="1500"/>
              <a:buFont typeface="Roboto"/>
              <a:buChar char="○"/>
              <a:defRPr sz="1500">
                <a:solidFill>
                  <a:schemeClr val="dk1"/>
                </a:solidFill>
                <a:latin typeface="Roboto"/>
                <a:ea typeface="Roboto"/>
                <a:cs typeface="Roboto"/>
                <a:sym typeface="Roboto"/>
              </a:defRPr>
            </a:lvl2pPr>
            <a:lvl3pPr marL="1371600" lvl="2"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3pPr>
            <a:lvl4pPr marL="1828800" lvl="3"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4pPr>
            <a:lvl5pPr marL="2286000" lvl="4"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5pPr>
            <a:lvl6pPr marL="2743200" lvl="5"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6pPr>
            <a:lvl7pPr marL="3200400" lvl="6"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7pPr>
            <a:lvl8pPr marL="3657600" lvl="7"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8pPr>
            <a:lvl9pPr marL="4114800" lvl="8"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ru"/>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7" r:id="rId8"/>
    <p:sldLayoutId id="2147483660" r:id="rId9"/>
    <p:sldLayoutId id="2147483661" r:id="rId10"/>
    <p:sldLayoutId id="2147483679" r:id="rId11"/>
    <p:sldLayoutId id="2147483680" r:id="rId12"/>
    <p:sldLayoutId id="2147483681" r:id="rId13"/>
    <p:sldLayoutId id="214748368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hyperlink" Target="http://www.linkedin.com/in/igor-stureiko"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11.xml"/><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11.xml"/><Relationship Id="rId5" Type="http://schemas.openxmlformats.org/officeDocument/2006/relationships/image" Target="../media/image36.png"/><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26.xml"/><Relationship Id="rId1" Type="http://schemas.openxmlformats.org/officeDocument/2006/relationships/slideLayout" Target="../slideLayouts/slideLayout1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 Id="rId9" Type="http://schemas.openxmlformats.org/officeDocument/2006/relationships/image" Target="../media/image4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hyperlink" Target="https://cloud.google.com/architecture/mlops-continuous-delivery-and-automation-pipelines-in-machine-learning" TargetMode="External"/></Relationships>
</file>

<file path=ppt/slides/_rels/slide2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image" Target="../media/image53.jpg"/><Relationship Id="rId4" Type="http://schemas.openxmlformats.org/officeDocument/2006/relationships/image" Target="../media/image52.png"/></Relationships>
</file>

<file path=ppt/slides/_rels/slide3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hyperlink" Target="https://valohai.com/mlops-or-pokemon/" TargetMode="External"/><Relationship Id="rId2" Type="http://schemas.openxmlformats.org/officeDocument/2006/relationships/notesSlide" Target="../notesSlides/notesSlide32.xml"/><Relationship Id="rId1" Type="http://schemas.openxmlformats.org/officeDocument/2006/relationships/slideLayout" Target="../slideLayouts/slideLayout11.xml"/><Relationship Id="rId4" Type="http://schemas.openxmlformats.org/officeDocument/2006/relationships/image" Target="../media/image55.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5.xml"/><Relationship Id="rId1" Type="http://schemas.openxmlformats.org/officeDocument/2006/relationships/slideLayout" Target="../slideLayouts/slideLayout11.xml"/><Relationship Id="rId4" Type="http://schemas.openxmlformats.org/officeDocument/2006/relationships/hyperlink" Target="https://yandex.cloud/ru/docs/overview/platform-comparison/aws"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6.xml"/><Relationship Id="rId1" Type="http://schemas.openxmlformats.org/officeDocument/2006/relationships/slideLayout" Target="../slideLayouts/slideLayout11.xml"/><Relationship Id="rId5" Type="http://schemas.openxmlformats.org/officeDocument/2006/relationships/hyperlink" Target="https://valohai.com/assets/files/mlops-stack.pdf" TargetMode="External"/><Relationship Id="rId4" Type="http://schemas.openxmlformats.org/officeDocument/2006/relationships/hyperlink" Target="https://valohai.com/blog/the-mlops-stack/"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image" Target="../media/image62.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1.xml"/><Relationship Id="rId1" Type="http://schemas.openxmlformats.org/officeDocument/2006/relationships/slideLayout" Target="../slideLayouts/slideLayout8.xml"/><Relationship Id="rId5" Type="http://schemas.openxmlformats.org/officeDocument/2006/relationships/image" Target="../media/image65.png"/><Relationship Id="rId4"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32"/>
          <p:cNvSpPr txBox="1">
            <a:spLocks noGrp="1"/>
          </p:cNvSpPr>
          <p:nvPr>
            <p:ph type="subTitle" idx="1"/>
          </p:nvPr>
        </p:nvSpPr>
        <p:spPr>
          <a:xfrm>
            <a:off x="944650" y="4350425"/>
            <a:ext cx="8293200" cy="480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ru"/>
              <a:t>otus.ru</a:t>
            </a:r>
            <a:endParaRPr/>
          </a:p>
        </p:txBody>
      </p:sp>
      <p:sp>
        <p:nvSpPr>
          <p:cNvPr id="134" name="Google Shape;134;p32"/>
          <p:cNvSpPr txBox="1">
            <a:spLocks noGrp="1"/>
          </p:cNvSpPr>
          <p:nvPr>
            <p:ph type="title"/>
          </p:nvPr>
        </p:nvSpPr>
        <p:spPr>
          <a:xfrm>
            <a:off x="944650" y="1769200"/>
            <a:ext cx="7379700" cy="237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err="1"/>
              <a:t>MLOps</a:t>
            </a:r>
            <a:endParaRPr dirty="0"/>
          </a:p>
          <a:p>
            <a:pPr marL="0" lvl="0" indent="0" algn="l" rtl="0">
              <a:spcBef>
                <a:spcPts val="0"/>
              </a:spcBef>
              <a:spcAft>
                <a:spcPts val="0"/>
              </a:spcAft>
              <a:buNone/>
            </a:pPr>
            <a:r>
              <a:rPr lang="en-US" sz="3600" dirty="0"/>
              <a:t>Infrastructure</a:t>
            </a:r>
            <a:r>
              <a:rPr lang="ru" dirty="0"/>
              <a:t> </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33"/>
          <p:cNvSpPr txBox="1">
            <a:spLocks noGrp="1"/>
          </p:cNvSpPr>
          <p:nvPr>
            <p:ph type="title"/>
          </p:nvPr>
        </p:nvSpPr>
        <p:spPr>
          <a:xfrm>
            <a:off x="1635875" y="772125"/>
            <a:ext cx="79353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 sz="2100"/>
              <a:t>Проверить, идет ли запись</a:t>
            </a:r>
            <a:endParaRPr sz="2100"/>
          </a:p>
        </p:txBody>
      </p:sp>
      <p:sp>
        <p:nvSpPr>
          <p:cNvPr id="140" name="Google Shape;140;p33"/>
          <p:cNvSpPr txBox="1">
            <a:spLocks noGrp="1"/>
          </p:cNvSpPr>
          <p:nvPr>
            <p:ph type="title"/>
          </p:nvPr>
        </p:nvSpPr>
        <p:spPr>
          <a:xfrm>
            <a:off x="766725" y="1805199"/>
            <a:ext cx="7935300" cy="1295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 sz="4000" dirty="0"/>
              <a:t>Меня хорошо видно</a:t>
            </a:r>
            <a:endParaRPr sz="4000" dirty="0"/>
          </a:p>
          <a:p>
            <a:pPr marL="0" lvl="0" indent="0" algn="l" rtl="0">
              <a:spcBef>
                <a:spcPts val="0"/>
              </a:spcBef>
              <a:spcAft>
                <a:spcPts val="0"/>
              </a:spcAft>
              <a:buNone/>
            </a:pPr>
            <a:r>
              <a:rPr lang="ru" sz="4000" dirty="0"/>
              <a:t>&amp;&amp; слышно?</a:t>
            </a:r>
            <a:br>
              <a:rPr lang="ru" sz="4000" dirty="0"/>
            </a:br>
            <a:r>
              <a:rPr lang="ru-RU" sz="2000" b="0" dirty="0"/>
              <a:t>С</a:t>
            </a:r>
            <a:r>
              <a:rPr lang="ru" sz="2000" b="0" dirty="0"/>
              <a:t>тавьте «+» если все видно и слышно</a:t>
            </a:r>
            <a:endParaRPr sz="4000" b="0" dirty="0"/>
          </a:p>
        </p:txBody>
      </p:sp>
      <p:pic>
        <p:nvPicPr>
          <p:cNvPr id="141" name="Google Shape;141;p33"/>
          <p:cNvPicPr preferRelativeResize="0"/>
          <p:nvPr/>
        </p:nvPicPr>
        <p:blipFill rotWithShape="1">
          <a:blip r:embed="rId3">
            <a:alphaModFix/>
          </a:blip>
          <a:srcRect/>
          <a:stretch/>
        </p:blipFill>
        <p:spPr>
          <a:xfrm>
            <a:off x="857275" y="3516281"/>
            <a:ext cx="526796" cy="526800"/>
          </a:xfrm>
          <a:prstGeom prst="rect">
            <a:avLst/>
          </a:prstGeom>
          <a:noFill/>
          <a:ln>
            <a:noFill/>
          </a:ln>
        </p:spPr>
      </p:pic>
      <p:pic>
        <p:nvPicPr>
          <p:cNvPr id="142" name="Google Shape;142;p33"/>
          <p:cNvPicPr preferRelativeResize="0"/>
          <p:nvPr/>
        </p:nvPicPr>
        <p:blipFill rotWithShape="1">
          <a:blip r:embed="rId4">
            <a:alphaModFix/>
          </a:blip>
          <a:srcRect/>
          <a:stretch/>
        </p:blipFill>
        <p:spPr>
          <a:xfrm>
            <a:off x="1584856" y="3516281"/>
            <a:ext cx="526796" cy="526800"/>
          </a:xfrm>
          <a:prstGeom prst="rect">
            <a:avLst/>
          </a:prstGeom>
          <a:noFill/>
          <a:ln>
            <a:noFill/>
          </a:ln>
        </p:spPr>
      </p:pic>
      <p:pic>
        <p:nvPicPr>
          <p:cNvPr id="143" name="Google Shape;143;p33"/>
          <p:cNvPicPr preferRelativeResize="0"/>
          <p:nvPr/>
        </p:nvPicPr>
        <p:blipFill rotWithShape="1">
          <a:blip r:embed="rId5">
            <a:alphaModFix/>
          </a:blip>
          <a:srcRect l="99" r="99"/>
          <a:stretch/>
        </p:blipFill>
        <p:spPr>
          <a:xfrm>
            <a:off x="880825" y="1032408"/>
            <a:ext cx="642317" cy="32115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48"/>
          <p:cNvSpPr/>
          <p:nvPr/>
        </p:nvSpPr>
        <p:spPr>
          <a:xfrm>
            <a:off x="630000" y="2703050"/>
            <a:ext cx="1033800" cy="1983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48"/>
          <p:cNvSpPr txBox="1">
            <a:spLocks noGrp="1"/>
          </p:cNvSpPr>
          <p:nvPr>
            <p:ph type="title"/>
          </p:nvPr>
        </p:nvSpPr>
        <p:spPr>
          <a:xfrm>
            <a:off x="500550" y="821219"/>
            <a:ext cx="8520600" cy="103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err="1"/>
              <a:t>MLOps</a:t>
            </a:r>
            <a:br>
              <a:rPr lang="en-US" dirty="0"/>
            </a:br>
            <a:r>
              <a:rPr lang="ru-RU" sz="2400" dirty="0"/>
              <a:t>Базовые блоки инфраструктуры</a:t>
            </a:r>
            <a:endParaRPr dirty="0"/>
          </a:p>
        </p:txBody>
      </p:sp>
      <p:sp>
        <p:nvSpPr>
          <p:cNvPr id="207" name="Google Shape;207;p48"/>
          <p:cNvSpPr txBox="1">
            <a:spLocks noGrp="1"/>
          </p:cNvSpPr>
          <p:nvPr>
            <p:ph type="subTitle" idx="1"/>
          </p:nvPr>
        </p:nvSpPr>
        <p:spPr>
          <a:xfrm>
            <a:off x="500550" y="520133"/>
            <a:ext cx="7796700" cy="356926"/>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ru" dirty="0"/>
              <a:t>Тема вебинара</a:t>
            </a:r>
            <a:endParaRPr dirty="0"/>
          </a:p>
        </p:txBody>
      </p:sp>
      <p:sp>
        <p:nvSpPr>
          <p:cNvPr id="208" name="Google Shape;208;p48"/>
          <p:cNvSpPr txBox="1">
            <a:spLocks noGrp="1"/>
          </p:cNvSpPr>
          <p:nvPr>
            <p:ph type="subTitle" idx="2"/>
          </p:nvPr>
        </p:nvSpPr>
        <p:spPr>
          <a:xfrm>
            <a:off x="3082400" y="2304911"/>
            <a:ext cx="5856300" cy="3969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ru" dirty="0"/>
              <a:t>Игорь Стурейко</a:t>
            </a:r>
            <a:endParaRPr dirty="0"/>
          </a:p>
        </p:txBody>
      </p:sp>
      <p:pic>
        <p:nvPicPr>
          <p:cNvPr id="3" name="Picture 2">
            <a:extLst>
              <a:ext uri="{FF2B5EF4-FFF2-40B4-BE49-F238E27FC236}">
                <a16:creationId xmlns:a16="http://schemas.microsoft.com/office/drawing/2014/main" id="{522215E3-7B5E-BC4F-9DA6-F65D728D82F1}"/>
              </a:ext>
            </a:extLst>
          </p:cNvPr>
          <p:cNvPicPr>
            <a:picLocks noChangeAspect="1"/>
          </p:cNvPicPr>
          <p:nvPr/>
        </p:nvPicPr>
        <p:blipFill rotWithShape="1">
          <a:blip r:embed="rId3">
            <a:extLst>
              <a:ext uri="{28A0092B-C50C-407E-A947-70E740481C1C}">
                <a14:useLocalDpi xmlns:a14="http://schemas.microsoft.com/office/drawing/2010/main" val="0"/>
              </a:ext>
            </a:extLst>
          </a:blip>
          <a:srcRect l="-1" t="12156" r="295"/>
          <a:stretch/>
        </p:blipFill>
        <p:spPr>
          <a:xfrm>
            <a:off x="832654" y="2865544"/>
            <a:ext cx="1662292" cy="1657372"/>
          </a:xfrm>
          <a:prstGeom prst="ellipse">
            <a:avLst/>
          </a:prstGeom>
          <a:ln w="127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0" name="Google Shape;209;p48">
            <a:extLst>
              <a:ext uri="{FF2B5EF4-FFF2-40B4-BE49-F238E27FC236}">
                <a16:creationId xmlns:a16="http://schemas.microsoft.com/office/drawing/2014/main" id="{33B90E1D-3F43-DA49-B28B-ECCA7B6E41F8}"/>
              </a:ext>
            </a:extLst>
          </p:cNvPr>
          <p:cNvSpPr txBox="1">
            <a:spLocks noGrp="1"/>
          </p:cNvSpPr>
          <p:nvPr>
            <p:ph type="subTitle" idx="3"/>
          </p:nvPr>
        </p:nvSpPr>
        <p:spPr>
          <a:xfrm>
            <a:off x="3082400" y="2701811"/>
            <a:ext cx="5095500" cy="2133660"/>
          </a:xfrm>
          <a:prstGeom prst="rect">
            <a:avLst/>
          </a:prstGeom>
        </p:spPr>
        <p:txBody>
          <a:bodyPr spcFirstLastPara="1" wrap="square" lIns="91425" tIns="91425" rIns="91425" bIns="91425" anchor="t" anchorCtr="0">
            <a:normAutofit fontScale="77500" lnSpcReduction="20000"/>
          </a:bodyPr>
          <a:lstStyle/>
          <a:p>
            <a:pPr marL="1377950" indent="-1373188"/>
            <a:r>
              <a:rPr lang="ru-RU" sz="1150" b="1" dirty="0"/>
              <a:t>Руководитель курсов: </a:t>
            </a:r>
            <a:r>
              <a:rPr lang="en-US" sz="1150" b="1" dirty="0"/>
              <a:t>Reinforcement Learning</a:t>
            </a:r>
            <a:r>
              <a:rPr lang="ru-RU" sz="1150" b="1" dirty="0"/>
              <a:t>, </a:t>
            </a:r>
            <a:r>
              <a:rPr lang="en-US" sz="1150" b="1" dirty="0"/>
              <a:t>ML Professional, ML Basic,</a:t>
            </a:r>
            <a:br>
              <a:rPr lang="en-US" sz="1150" b="1" dirty="0"/>
            </a:br>
            <a:r>
              <a:rPr lang="en-US" sz="1150" b="1" dirty="0" err="1"/>
              <a:t>MLOps</a:t>
            </a:r>
            <a:r>
              <a:rPr lang="en-US" sz="1150" b="1" dirty="0"/>
              <a:t>, </a:t>
            </a:r>
            <a:r>
              <a:rPr lang="en-US" sz="1150" b="1" dirty="0" err="1"/>
              <a:t>FinML</a:t>
            </a:r>
            <a:endParaRPr lang="ru-RU" sz="1150" b="1" dirty="0"/>
          </a:p>
          <a:p>
            <a:pPr marL="0" marR="0" lvl="0" indent="0" algn="l" rtl="0">
              <a:lnSpc>
                <a:spcPct val="100000"/>
              </a:lnSpc>
              <a:spcBef>
                <a:spcPts val="0"/>
              </a:spcBef>
              <a:spcAft>
                <a:spcPts val="0"/>
              </a:spcAft>
              <a:buNone/>
            </a:pPr>
            <a:endParaRPr lang="en-US" sz="1150" b="1" dirty="0"/>
          </a:p>
          <a:p>
            <a:pPr marL="0" marR="0" lvl="0" indent="0" algn="l" rtl="0">
              <a:lnSpc>
                <a:spcPct val="100000"/>
              </a:lnSpc>
              <a:spcBef>
                <a:spcPts val="0"/>
              </a:spcBef>
              <a:spcAft>
                <a:spcPts val="0"/>
              </a:spcAft>
              <a:buNone/>
            </a:pPr>
            <a:r>
              <a:rPr lang="en-US" sz="1150" b="1" dirty="0" err="1"/>
              <a:t>Teamlead</a:t>
            </a:r>
            <a:r>
              <a:rPr lang="ru-RU" sz="1150" b="1" dirty="0"/>
              <a:t>, главный инженер проекта</a:t>
            </a:r>
            <a:r>
              <a:rPr lang="en-US" sz="1150" b="1" dirty="0"/>
              <a:t>, </a:t>
            </a:r>
            <a:endParaRPr lang="ru-RU" sz="1150" b="1" dirty="0"/>
          </a:p>
          <a:p>
            <a:pPr marL="0" marR="0" lvl="0" indent="0" algn="l" rtl="0">
              <a:lnSpc>
                <a:spcPct val="100000"/>
              </a:lnSpc>
              <a:spcBef>
                <a:spcPts val="0"/>
              </a:spcBef>
              <a:spcAft>
                <a:spcPts val="0"/>
              </a:spcAft>
              <a:buNone/>
            </a:pPr>
            <a:r>
              <a:rPr lang="ru-RU" sz="1150" b="1" dirty="0"/>
              <a:t>Физический факультет МГУ, </a:t>
            </a:r>
            <a:r>
              <a:rPr lang="en-US" sz="1150" b="1" dirty="0"/>
              <a:t>PhD </a:t>
            </a:r>
            <a:r>
              <a:rPr lang="ru-RU" sz="1150" b="1" dirty="0"/>
              <a:t>теоретическая физика</a:t>
            </a:r>
          </a:p>
          <a:p>
            <a:pPr marL="0" marR="0" lvl="0" indent="0" algn="l" rtl="0">
              <a:lnSpc>
                <a:spcPct val="100000"/>
              </a:lnSpc>
              <a:spcBef>
                <a:spcPts val="0"/>
              </a:spcBef>
              <a:spcAft>
                <a:spcPts val="0"/>
              </a:spcAft>
              <a:buNone/>
            </a:pPr>
            <a:endParaRPr sz="1150" dirty="0"/>
          </a:p>
          <a:p>
            <a:pPr marL="0" marR="0" lvl="0" indent="0" algn="l" rtl="0">
              <a:lnSpc>
                <a:spcPct val="100000"/>
              </a:lnSpc>
              <a:spcBef>
                <a:spcPts val="0"/>
              </a:spcBef>
              <a:spcAft>
                <a:spcPts val="0"/>
              </a:spcAft>
              <a:buNone/>
            </a:pPr>
            <a:r>
              <a:rPr lang="ru" sz="1150" b="1" dirty="0"/>
              <a:t>Опыт:</a:t>
            </a:r>
            <a:endParaRPr sz="1150" dirty="0"/>
          </a:p>
          <a:p>
            <a:pPr marL="0" marR="0" lvl="0" indent="0" algn="l" rtl="0">
              <a:lnSpc>
                <a:spcPct val="100000"/>
              </a:lnSpc>
              <a:spcBef>
                <a:spcPts val="0"/>
              </a:spcBef>
              <a:spcAft>
                <a:spcPts val="0"/>
              </a:spcAft>
              <a:buNone/>
            </a:pPr>
            <a:r>
              <a:rPr lang="ru-RU" sz="1150" dirty="0"/>
              <a:t>Б</a:t>
            </a:r>
            <a:r>
              <a:rPr lang="ru" sz="1150" dirty="0"/>
              <a:t>олее 15 лет занимался прикладной математикой и мат моделированием</a:t>
            </a:r>
          </a:p>
          <a:p>
            <a:pPr marL="0" marR="0" lvl="0" indent="0" algn="l" rtl="0">
              <a:lnSpc>
                <a:spcPct val="100000"/>
              </a:lnSpc>
              <a:spcBef>
                <a:spcPts val="0"/>
              </a:spcBef>
              <a:spcAft>
                <a:spcPts val="0"/>
              </a:spcAft>
              <a:buNone/>
            </a:pPr>
            <a:r>
              <a:rPr lang="ru" sz="1150" dirty="0"/>
              <a:t>(Data Scientist) (Python, С++) в НИИ ПАО Газпром</a:t>
            </a:r>
            <a:endParaRPr sz="1150" dirty="0"/>
          </a:p>
          <a:p>
            <a:pPr marL="0" marR="0" lvl="0" indent="0" algn="l" rtl="0">
              <a:lnSpc>
                <a:spcPct val="100000"/>
              </a:lnSpc>
              <a:spcBef>
                <a:spcPts val="0"/>
              </a:spcBef>
              <a:spcAft>
                <a:spcPts val="0"/>
              </a:spcAft>
              <a:buNone/>
            </a:pPr>
            <a:endParaRPr sz="1150" dirty="0"/>
          </a:p>
          <a:p>
            <a:pPr marL="0" marR="0" lvl="0" indent="0" algn="l" rtl="0">
              <a:lnSpc>
                <a:spcPct val="100000"/>
              </a:lnSpc>
              <a:spcBef>
                <a:spcPts val="0"/>
              </a:spcBef>
              <a:spcAft>
                <a:spcPts val="0"/>
              </a:spcAft>
              <a:buNone/>
            </a:pPr>
            <a:r>
              <a:rPr lang="ru-RU" sz="1150" dirty="0"/>
              <a:t>Анализ временных рядов, эволюционные модели, финансовые модели</a:t>
            </a:r>
          </a:p>
          <a:p>
            <a:pPr marL="0" marR="0" lvl="0" indent="0" algn="l" rtl="0">
              <a:lnSpc>
                <a:spcPct val="100000"/>
              </a:lnSpc>
              <a:spcBef>
                <a:spcPts val="0"/>
              </a:spcBef>
              <a:spcAft>
                <a:spcPts val="0"/>
              </a:spcAft>
              <a:buNone/>
            </a:pPr>
            <a:endParaRPr lang="en-US" sz="1150" b="1" dirty="0"/>
          </a:p>
          <a:p>
            <a:pPr marL="0" marR="0" lvl="0" indent="0" algn="l" rtl="0">
              <a:lnSpc>
                <a:spcPct val="100000"/>
              </a:lnSpc>
              <a:spcBef>
                <a:spcPts val="0"/>
              </a:spcBef>
              <a:spcAft>
                <a:spcPts val="0"/>
              </a:spcAft>
              <a:buNone/>
            </a:pPr>
            <a:r>
              <a:rPr lang="en-US" sz="1150" b="1" dirty="0"/>
              <a:t>@</a:t>
            </a:r>
            <a:r>
              <a:rPr lang="en-US" sz="1150" b="1" dirty="0" err="1"/>
              <a:t>stureiko</a:t>
            </a:r>
            <a:r>
              <a:rPr lang="en-US" sz="1150" b="1" dirty="0"/>
              <a:t> (TG)</a:t>
            </a:r>
            <a:endParaRPr lang="ru-RU" sz="1150" b="1" dirty="0"/>
          </a:p>
          <a:p>
            <a:pPr marL="0" marR="0" lvl="0" indent="0" algn="l" rtl="0">
              <a:lnSpc>
                <a:spcPct val="100000"/>
              </a:lnSpc>
              <a:spcBef>
                <a:spcPts val="0"/>
              </a:spcBef>
              <a:spcAft>
                <a:spcPts val="0"/>
              </a:spcAft>
              <a:buNone/>
            </a:pPr>
            <a:endParaRPr lang="ru-RU" sz="1150" b="1" dirty="0"/>
          </a:p>
          <a:p>
            <a:pPr marL="0" marR="0" lvl="0" indent="0" algn="l" rtl="0">
              <a:lnSpc>
                <a:spcPct val="100000"/>
              </a:lnSpc>
              <a:spcBef>
                <a:spcPts val="0"/>
              </a:spcBef>
              <a:spcAft>
                <a:spcPts val="0"/>
              </a:spcAft>
              <a:buNone/>
            </a:pPr>
            <a:r>
              <a:rPr lang="en-US" sz="1150" b="1" dirty="0"/>
              <a:t>LinkedIn: </a:t>
            </a:r>
            <a:r>
              <a:rPr lang="en-US" sz="1150" dirty="0">
                <a:hlinkClick r:id="rId4"/>
              </a:rPr>
              <a:t>igor-stureiko</a:t>
            </a:r>
            <a:r>
              <a:rPr lang="en-US" sz="1150" dirty="0"/>
              <a:t> </a:t>
            </a:r>
            <a:endParaRPr lang="ru-RU" sz="1150" dirty="0"/>
          </a:p>
          <a:p>
            <a:pPr marL="0" marR="0" lvl="0" indent="0" algn="l" rtl="0">
              <a:lnSpc>
                <a:spcPct val="100000"/>
              </a:lnSpc>
              <a:spcBef>
                <a:spcPts val="0"/>
              </a:spcBef>
              <a:spcAft>
                <a:spcPts val="0"/>
              </a:spcAft>
              <a:buNone/>
            </a:pPr>
            <a:endParaRPr lang="ru-RU" sz="1150" dirty="0"/>
          </a:p>
          <a:p>
            <a:pPr marL="0" indent="0"/>
            <a:r>
              <a:rPr lang="en-US" sz="1200" b="1" kern="0" dirty="0"/>
              <a:t>@</a:t>
            </a:r>
            <a:r>
              <a:rPr lang="en-US" sz="1200" b="1" kern="0" dirty="0" err="1"/>
              <a:t>rl_fintech</a:t>
            </a:r>
            <a:r>
              <a:rPr lang="en-US" sz="1200" b="1" kern="0" dirty="0"/>
              <a:t> </a:t>
            </a:r>
            <a:r>
              <a:rPr lang="en-US" sz="1200" kern="0" dirty="0"/>
              <a:t>(</a:t>
            </a:r>
            <a:r>
              <a:rPr lang="ru-RU" sz="1200" kern="0" dirty="0"/>
              <a:t>Мой канал о моделях в бизнесе)</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35"/>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sz="3200" b="1"/>
              <a:t>Правила вебинара</a:t>
            </a:r>
            <a:endParaRPr sz="3200" b="1"/>
          </a:p>
        </p:txBody>
      </p:sp>
      <p:pic>
        <p:nvPicPr>
          <p:cNvPr id="160" name="Google Shape;160;p35"/>
          <p:cNvPicPr preferRelativeResize="0"/>
          <p:nvPr/>
        </p:nvPicPr>
        <p:blipFill rotWithShape="1">
          <a:blip r:embed="rId3">
            <a:alphaModFix/>
          </a:blip>
          <a:srcRect/>
          <a:stretch/>
        </p:blipFill>
        <p:spPr>
          <a:xfrm>
            <a:off x="837650" y="3951281"/>
            <a:ext cx="692621" cy="692620"/>
          </a:xfrm>
          <a:prstGeom prst="rect">
            <a:avLst/>
          </a:prstGeom>
          <a:noFill/>
          <a:ln>
            <a:noFill/>
          </a:ln>
        </p:spPr>
      </p:pic>
      <p:pic>
        <p:nvPicPr>
          <p:cNvPr id="161" name="Google Shape;161;p35"/>
          <p:cNvPicPr preferRelativeResize="0"/>
          <p:nvPr/>
        </p:nvPicPr>
        <p:blipFill rotWithShape="1">
          <a:blip r:embed="rId4">
            <a:alphaModFix/>
          </a:blip>
          <a:srcRect/>
          <a:stretch/>
        </p:blipFill>
        <p:spPr>
          <a:xfrm>
            <a:off x="837650" y="1281613"/>
            <a:ext cx="692621" cy="692620"/>
          </a:xfrm>
          <a:prstGeom prst="rect">
            <a:avLst/>
          </a:prstGeom>
          <a:noFill/>
          <a:ln>
            <a:noFill/>
          </a:ln>
        </p:spPr>
      </p:pic>
      <p:pic>
        <p:nvPicPr>
          <p:cNvPr id="162" name="Google Shape;162;p35"/>
          <p:cNvPicPr preferRelativeResize="0"/>
          <p:nvPr/>
        </p:nvPicPr>
        <p:blipFill rotWithShape="1">
          <a:blip r:embed="rId5">
            <a:alphaModFix/>
          </a:blip>
          <a:srcRect/>
          <a:stretch/>
        </p:blipFill>
        <p:spPr>
          <a:xfrm>
            <a:off x="837651" y="3061406"/>
            <a:ext cx="692621" cy="692599"/>
          </a:xfrm>
          <a:prstGeom prst="rect">
            <a:avLst/>
          </a:prstGeom>
          <a:noFill/>
          <a:ln>
            <a:noFill/>
          </a:ln>
        </p:spPr>
      </p:pic>
      <p:sp>
        <p:nvSpPr>
          <p:cNvPr id="163" name="Google Shape;163;p35"/>
          <p:cNvSpPr txBox="1"/>
          <p:nvPr/>
        </p:nvSpPr>
        <p:spPr>
          <a:xfrm>
            <a:off x="1654525" y="1252250"/>
            <a:ext cx="24753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Активно</a:t>
            </a:r>
            <a:endParaRPr sz="1500">
              <a:latin typeface="Roboto"/>
              <a:ea typeface="Roboto"/>
              <a:cs typeface="Roboto"/>
              <a:sym typeface="Roboto"/>
            </a:endParaRPr>
          </a:p>
          <a:p>
            <a:pPr marL="0" lvl="0" indent="0" algn="l" rtl="0">
              <a:spcBef>
                <a:spcPts val="0"/>
              </a:spcBef>
              <a:spcAft>
                <a:spcPts val="0"/>
              </a:spcAft>
              <a:buNone/>
            </a:pPr>
            <a:r>
              <a:rPr lang="ru" sz="1500">
                <a:latin typeface="Roboto"/>
                <a:ea typeface="Roboto"/>
                <a:cs typeface="Roboto"/>
                <a:sym typeface="Roboto"/>
              </a:rPr>
              <a:t>участвуем</a:t>
            </a:r>
            <a:endParaRPr sz="1500">
              <a:latin typeface="Roboto"/>
              <a:ea typeface="Roboto"/>
              <a:cs typeface="Roboto"/>
              <a:sym typeface="Roboto"/>
            </a:endParaRPr>
          </a:p>
        </p:txBody>
      </p:sp>
      <p:sp>
        <p:nvSpPr>
          <p:cNvPr id="164" name="Google Shape;164;p35"/>
          <p:cNvSpPr txBox="1"/>
          <p:nvPr/>
        </p:nvSpPr>
        <p:spPr>
          <a:xfrm>
            <a:off x="1654525" y="3066419"/>
            <a:ext cx="3231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Задаем вопрос</a:t>
            </a:r>
            <a:endParaRPr sz="1500">
              <a:latin typeface="Roboto"/>
              <a:ea typeface="Roboto"/>
              <a:cs typeface="Roboto"/>
              <a:sym typeface="Roboto"/>
            </a:endParaRPr>
          </a:p>
          <a:p>
            <a:pPr marL="0" lvl="0" indent="0" algn="l" rtl="0">
              <a:spcBef>
                <a:spcPts val="0"/>
              </a:spcBef>
              <a:spcAft>
                <a:spcPts val="0"/>
              </a:spcAft>
              <a:buNone/>
            </a:pPr>
            <a:r>
              <a:rPr lang="ru" sz="1500">
                <a:latin typeface="Roboto"/>
                <a:ea typeface="Roboto"/>
                <a:cs typeface="Roboto"/>
                <a:sym typeface="Roboto"/>
              </a:rPr>
              <a:t>в чат или голосом</a:t>
            </a:r>
            <a:endParaRPr sz="1500">
              <a:latin typeface="Roboto"/>
              <a:ea typeface="Roboto"/>
              <a:cs typeface="Roboto"/>
              <a:sym typeface="Roboto"/>
            </a:endParaRPr>
          </a:p>
        </p:txBody>
      </p:sp>
      <p:sp>
        <p:nvSpPr>
          <p:cNvPr id="165" name="Google Shape;165;p35"/>
          <p:cNvSpPr txBox="1"/>
          <p:nvPr/>
        </p:nvSpPr>
        <p:spPr>
          <a:xfrm>
            <a:off x="1654525" y="3975059"/>
            <a:ext cx="3231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Вопросы вижу в чате,</a:t>
            </a:r>
            <a:endParaRPr sz="1500">
              <a:latin typeface="Roboto"/>
              <a:ea typeface="Roboto"/>
              <a:cs typeface="Roboto"/>
              <a:sym typeface="Roboto"/>
            </a:endParaRPr>
          </a:p>
          <a:p>
            <a:pPr marL="0" lvl="0" indent="0" algn="l" rtl="0">
              <a:spcBef>
                <a:spcPts val="0"/>
              </a:spcBef>
              <a:spcAft>
                <a:spcPts val="0"/>
              </a:spcAft>
              <a:buNone/>
            </a:pPr>
            <a:r>
              <a:rPr lang="ru" sz="1500">
                <a:latin typeface="Roboto"/>
                <a:ea typeface="Roboto"/>
                <a:cs typeface="Roboto"/>
                <a:sym typeface="Roboto"/>
              </a:rPr>
              <a:t>могу ответить не сразу</a:t>
            </a:r>
            <a:endParaRPr sz="1500">
              <a:latin typeface="Roboto"/>
              <a:ea typeface="Roboto"/>
              <a:cs typeface="Roboto"/>
              <a:sym typeface="Roboto"/>
            </a:endParaRPr>
          </a:p>
        </p:txBody>
      </p:sp>
      <p:sp>
        <p:nvSpPr>
          <p:cNvPr id="166" name="Google Shape;166;p35"/>
          <p:cNvSpPr txBox="1"/>
          <p:nvPr/>
        </p:nvSpPr>
        <p:spPr>
          <a:xfrm>
            <a:off x="1654525" y="2167999"/>
            <a:ext cx="2475300" cy="646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dirty="0">
                <a:latin typeface="Roboto"/>
                <a:ea typeface="Roboto"/>
                <a:cs typeface="Roboto"/>
                <a:sym typeface="Roboto"/>
              </a:rPr>
              <a:t>Off-topic обсуждаем</a:t>
            </a:r>
            <a:endParaRPr sz="1500" dirty="0">
              <a:latin typeface="Roboto"/>
              <a:ea typeface="Roboto"/>
              <a:cs typeface="Roboto"/>
              <a:sym typeface="Roboto"/>
            </a:endParaRPr>
          </a:p>
          <a:p>
            <a:pPr marL="0" lvl="0" indent="0" algn="l" rtl="0">
              <a:spcBef>
                <a:spcPts val="0"/>
              </a:spcBef>
              <a:spcAft>
                <a:spcPts val="0"/>
              </a:spcAft>
              <a:buNone/>
            </a:pPr>
            <a:r>
              <a:rPr lang="ru" sz="1500" dirty="0">
                <a:latin typeface="Roboto"/>
                <a:ea typeface="Roboto"/>
                <a:cs typeface="Roboto"/>
                <a:sym typeface="Roboto"/>
              </a:rPr>
              <a:t>в учебной группе</a:t>
            </a:r>
            <a:endParaRPr sz="1500" dirty="0">
              <a:latin typeface="Roboto"/>
              <a:ea typeface="Roboto"/>
              <a:cs typeface="Roboto"/>
              <a:sym typeface="Roboto"/>
            </a:endParaRPr>
          </a:p>
        </p:txBody>
      </p:sp>
      <p:sp>
        <p:nvSpPr>
          <p:cNvPr id="167" name="Google Shape;167;p35"/>
          <p:cNvSpPr/>
          <p:nvPr/>
        </p:nvSpPr>
        <p:spPr>
          <a:xfrm>
            <a:off x="6046275" y="-8050"/>
            <a:ext cx="3097500" cy="5143500"/>
          </a:xfrm>
          <a:prstGeom prst="rect">
            <a:avLst/>
          </a:pr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35"/>
          <p:cNvSpPr txBox="1"/>
          <p:nvPr/>
        </p:nvSpPr>
        <p:spPr>
          <a:xfrm>
            <a:off x="6344063" y="1052963"/>
            <a:ext cx="20442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2000" b="1">
                <a:solidFill>
                  <a:schemeClr val="lt1"/>
                </a:solidFill>
                <a:latin typeface="Roboto"/>
                <a:ea typeface="Roboto"/>
                <a:cs typeface="Roboto"/>
                <a:sym typeface="Roboto"/>
              </a:rPr>
              <a:t>Условные </a:t>
            </a:r>
            <a:endParaRPr sz="2000" b="1">
              <a:solidFill>
                <a:schemeClr val="lt1"/>
              </a:solidFill>
              <a:latin typeface="Roboto"/>
              <a:ea typeface="Roboto"/>
              <a:cs typeface="Roboto"/>
              <a:sym typeface="Roboto"/>
            </a:endParaRPr>
          </a:p>
          <a:p>
            <a:pPr marL="0" lvl="0" indent="0" algn="l" rtl="0">
              <a:spcBef>
                <a:spcPts val="0"/>
              </a:spcBef>
              <a:spcAft>
                <a:spcPts val="0"/>
              </a:spcAft>
              <a:buNone/>
            </a:pPr>
            <a:r>
              <a:rPr lang="ru" sz="2000" b="1">
                <a:solidFill>
                  <a:schemeClr val="lt1"/>
                </a:solidFill>
                <a:latin typeface="Roboto"/>
                <a:ea typeface="Roboto"/>
                <a:cs typeface="Roboto"/>
                <a:sym typeface="Roboto"/>
              </a:rPr>
              <a:t>обозначения</a:t>
            </a:r>
            <a:endParaRPr sz="2000" b="1">
              <a:solidFill>
                <a:schemeClr val="lt1"/>
              </a:solidFill>
              <a:latin typeface="Roboto"/>
              <a:ea typeface="Roboto"/>
              <a:cs typeface="Roboto"/>
              <a:sym typeface="Roboto"/>
            </a:endParaRPr>
          </a:p>
        </p:txBody>
      </p:sp>
      <p:pic>
        <p:nvPicPr>
          <p:cNvPr id="169" name="Google Shape;169;p35"/>
          <p:cNvPicPr preferRelativeResize="0"/>
          <p:nvPr/>
        </p:nvPicPr>
        <p:blipFill rotWithShape="1">
          <a:blip r:embed="rId6">
            <a:alphaModFix/>
          </a:blip>
          <a:srcRect/>
          <a:stretch/>
        </p:blipFill>
        <p:spPr>
          <a:xfrm>
            <a:off x="6438593" y="1912032"/>
            <a:ext cx="330301" cy="330303"/>
          </a:xfrm>
          <a:prstGeom prst="rect">
            <a:avLst/>
          </a:prstGeom>
          <a:noFill/>
          <a:ln>
            <a:noFill/>
          </a:ln>
        </p:spPr>
      </p:pic>
      <p:sp>
        <p:nvSpPr>
          <p:cNvPr id="170" name="Google Shape;170;p35"/>
          <p:cNvSpPr txBox="1"/>
          <p:nvPr/>
        </p:nvSpPr>
        <p:spPr>
          <a:xfrm>
            <a:off x="6829363" y="1898744"/>
            <a:ext cx="2044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100">
                <a:solidFill>
                  <a:schemeClr val="lt1"/>
                </a:solidFill>
                <a:latin typeface="Roboto"/>
                <a:ea typeface="Roboto"/>
                <a:cs typeface="Roboto"/>
                <a:sym typeface="Roboto"/>
              </a:rPr>
              <a:t>Индивидуально</a:t>
            </a:r>
            <a:endParaRPr sz="1100">
              <a:solidFill>
                <a:schemeClr val="lt1"/>
              </a:solidFill>
              <a:latin typeface="Roboto"/>
              <a:ea typeface="Roboto"/>
              <a:cs typeface="Roboto"/>
              <a:sym typeface="Roboto"/>
            </a:endParaRPr>
          </a:p>
        </p:txBody>
      </p:sp>
      <p:pic>
        <p:nvPicPr>
          <p:cNvPr id="171" name="Google Shape;171;p35"/>
          <p:cNvPicPr preferRelativeResize="0"/>
          <p:nvPr/>
        </p:nvPicPr>
        <p:blipFill rotWithShape="1">
          <a:blip r:embed="rId7">
            <a:alphaModFix/>
          </a:blip>
          <a:srcRect/>
          <a:stretch/>
        </p:blipFill>
        <p:spPr>
          <a:xfrm>
            <a:off x="6438593" y="2392126"/>
            <a:ext cx="330301" cy="330303"/>
          </a:xfrm>
          <a:prstGeom prst="rect">
            <a:avLst/>
          </a:prstGeom>
          <a:noFill/>
          <a:ln>
            <a:noFill/>
          </a:ln>
        </p:spPr>
      </p:pic>
      <p:sp>
        <p:nvSpPr>
          <p:cNvPr id="172" name="Google Shape;172;p35"/>
          <p:cNvSpPr txBox="1"/>
          <p:nvPr/>
        </p:nvSpPr>
        <p:spPr>
          <a:xfrm>
            <a:off x="6829363" y="2291099"/>
            <a:ext cx="20442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100">
                <a:solidFill>
                  <a:schemeClr val="lt1"/>
                </a:solidFill>
                <a:latin typeface="Roboto"/>
                <a:ea typeface="Roboto"/>
                <a:cs typeface="Roboto"/>
                <a:sym typeface="Roboto"/>
              </a:rPr>
              <a:t>Время, необходимое</a:t>
            </a:r>
            <a:endParaRPr sz="1100">
              <a:solidFill>
                <a:schemeClr val="lt1"/>
              </a:solidFill>
              <a:latin typeface="Roboto"/>
              <a:ea typeface="Roboto"/>
              <a:cs typeface="Roboto"/>
              <a:sym typeface="Roboto"/>
            </a:endParaRPr>
          </a:p>
          <a:p>
            <a:pPr marL="0" lvl="0" indent="0" algn="l" rtl="0">
              <a:spcBef>
                <a:spcPts val="0"/>
              </a:spcBef>
              <a:spcAft>
                <a:spcPts val="0"/>
              </a:spcAft>
              <a:buNone/>
            </a:pPr>
            <a:r>
              <a:rPr lang="ru" sz="1100">
                <a:solidFill>
                  <a:schemeClr val="lt1"/>
                </a:solidFill>
                <a:latin typeface="Roboto"/>
                <a:ea typeface="Roboto"/>
                <a:cs typeface="Roboto"/>
                <a:sym typeface="Roboto"/>
              </a:rPr>
              <a:t>на активность</a:t>
            </a:r>
            <a:endParaRPr sz="1100">
              <a:solidFill>
                <a:schemeClr val="lt1"/>
              </a:solidFill>
              <a:latin typeface="Roboto"/>
              <a:ea typeface="Roboto"/>
              <a:cs typeface="Roboto"/>
              <a:sym typeface="Roboto"/>
            </a:endParaRPr>
          </a:p>
        </p:txBody>
      </p:sp>
      <p:pic>
        <p:nvPicPr>
          <p:cNvPr id="173" name="Google Shape;173;p35"/>
          <p:cNvPicPr preferRelativeResize="0"/>
          <p:nvPr/>
        </p:nvPicPr>
        <p:blipFill rotWithShape="1">
          <a:blip r:embed="rId8">
            <a:alphaModFix/>
          </a:blip>
          <a:srcRect/>
          <a:stretch/>
        </p:blipFill>
        <p:spPr>
          <a:xfrm>
            <a:off x="6438593" y="2872220"/>
            <a:ext cx="330301" cy="330303"/>
          </a:xfrm>
          <a:prstGeom prst="rect">
            <a:avLst/>
          </a:prstGeom>
          <a:noFill/>
          <a:ln>
            <a:noFill/>
          </a:ln>
        </p:spPr>
      </p:pic>
      <p:sp>
        <p:nvSpPr>
          <p:cNvPr id="174" name="Google Shape;174;p35"/>
          <p:cNvSpPr txBox="1"/>
          <p:nvPr/>
        </p:nvSpPr>
        <p:spPr>
          <a:xfrm>
            <a:off x="6829363" y="2873300"/>
            <a:ext cx="2044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100">
                <a:solidFill>
                  <a:schemeClr val="lt1"/>
                </a:solidFill>
                <a:latin typeface="Roboto"/>
                <a:ea typeface="Roboto"/>
                <a:cs typeface="Roboto"/>
                <a:sym typeface="Roboto"/>
              </a:rPr>
              <a:t>Пишем в чат</a:t>
            </a:r>
            <a:endParaRPr sz="1100">
              <a:solidFill>
                <a:schemeClr val="lt1"/>
              </a:solidFill>
              <a:latin typeface="Roboto"/>
              <a:ea typeface="Roboto"/>
              <a:cs typeface="Roboto"/>
              <a:sym typeface="Roboto"/>
            </a:endParaRPr>
          </a:p>
        </p:txBody>
      </p:sp>
      <p:pic>
        <p:nvPicPr>
          <p:cNvPr id="175" name="Google Shape;175;p35"/>
          <p:cNvPicPr preferRelativeResize="0"/>
          <p:nvPr/>
        </p:nvPicPr>
        <p:blipFill rotWithShape="1">
          <a:blip r:embed="rId9">
            <a:alphaModFix/>
          </a:blip>
          <a:srcRect/>
          <a:stretch/>
        </p:blipFill>
        <p:spPr>
          <a:xfrm>
            <a:off x="6438593" y="3352314"/>
            <a:ext cx="330301" cy="330303"/>
          </a:xfrm>
          <a:prstGeom prst="rect">
            <a:avLst/>
          </a:prstGeom>
          <a:noFill/>
          <a:ln>
            <a:noFill/>
          </a:ln>
        </p:spPr>
      </p:pic>
      <p:sp>
        <p:nvSpPr>
          <p:cNvPr id="176" name="Google Shape;176;p35"/>
          <p:cNvSpPr txBox="1"/>
          <p:nvPr/>
        </p:nvSpPr>
        <p:spPr>
          <a:xfrm>
            <a:off x="6829363" y="3359347"/>
            <a:ext cx="2044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100">
                <a:solidFill>
                  <a:schemeClr val="lt1"/>
                </a:solidFill>
                <a:latin typeface="Roboto"/>
                <a:ea typeface="Roboto"/>
                <a:cs typeface="Roboto"/>
                <a:sym typeface="Roboto"/>
              </a:rPr>
              <a:t>Говорим голосом</a:t>
            </a:r>
            <a:endParaRPr sz="1100">
              <a:solidFill>
                <a:schemeClr val="lt1"/>
              </a:solidFill>
              <a:latin typeface="Roboto"/>
              <a:ea typeface="Roboto"/>
              <a:cs typeface="Roboto"/>
              <a:sym typeface="Roboto"/>
            </a:endParaRPr>
          </a:p>
        </p:txBody>
      </p:sp>
      <p:pic>
        <p:nvPicPr>
          <p:cNvPr id="177" name="Google Shape;177;p35"/>
          <p:cNvPicPr preferRelativeResize="0"/>
          <p:nvPr/>
        </p:nvPicPr>
        <p:blipFill rotWithShape="1">
          <a:blip r:embed="rId10">
            <a:alphaModFix/>
          </a:blip>
          <a:srcRect/>
          <a:stretch/>
        </p:blipFill>
        <p:spPr>
          <a:xfrm>
            <a:off x="6438593" y="3832409"/>
            <a:ext cx="330301" cy="330301"/>
          </a:xfrm>
          <a:prstGeom prst="rect">
            <a:avLst/>
          </a:prstGeom>
          <a:noFill/>
          <a:ln>
            <a:noFill/>
          </a:ln>
        </p:spPr>
      </p:pic>
      <p:sp>
        <p:nvSpPr>
          <p:cNvPr id="178" name="Google Shape;178;p35"/>
          <p:cNvSpPr txBox="1"/>
          <p:nvPr/>
        </p:nvSpPr>
        <p:spPr>
          <a:xfrm>
            <a:off x="6829363" y="3827568"/>
            <a:ext cx="2044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100">
                <a:solidFill>
                  <a:schemeClr val="lt1"/>
                </a:solidFill>
                <a:latin typeface="Roboto"/>
                <a:ea typeface="Roboto"/>
                <a:cs typeface="Roboto"/>
                <a:sym typeface="Roboto"/>
              </a:rPr>
              <a:t>Документ</a:t>
            </a:r>
            <a:endParaRPr sz="1100">
              <a:solidFill>
                <a:schemeClr val="lt1"/>
              </a:solidFill>
              <a:latin typeface="Roboto"/>
              <a:ea typeface="Roboto"/>
              <a:cs typeface="Roboto"/>
              <a:sym typeface="Roboto"/>
            </a:endParaRPr>
          </a:p>
        </p:txBody>
      </p:sp>
      <p:pic>
        <p:nvPicPr>
          <p:cNvPr id="179" name="Google Shape;179;p35"/>
          <p:cNvPicPr preferRelativeResize="0"/>
          <p:nvPr/>
        </p:nvPicPr>
        <p:blipFill rotWithShape="1">
          <a:blip r:embed="rId11">
            <a:alphaModFix/>
          </a:blip>
          <a:srcRect/>
          <a:stretch/>
        </p:blipFill>
        <p:spPr>
          <a:xfrm>
            <a:off x="6438593" y="4312503"/>
            <a:ext cx="330301" cy="330303"/>
          </a:xfrm>
          <a:prstGeom prst="rect">
            <a:avLst/>
          </a:prstGeom>
          <a:noFill/>
          <a:ln>
            <a:noFill/>
          </a:ln>
        </p:spPr>
      </p:pic>
      <p:sp>
        <p:nvSpPr>
          <p:cNvPr id="180" name="Google Shape;180;p35"/>
          <p:cNvSpPr txBox="1"/>
          <p:nvPr/>
        </p:nvSpPr>
        <p:spPr>
          <a:xfrm>
            <a:off x="6829363" y="4223086"/>
            <a:ext cx="20442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100">
                <a:solidFill>
                  <a:schemeClr val="lt1"/>
                </a:solidFill>
                <a:latin typeface="Roboto"/>
                <a:ea typeface="Roboto"/>
                <a:cs typeface="Roboto"/>
                <a:sym typeface="Roboto"/>
              </a:rPr>
              <a:t>Ответьте себе или</a:t>
            </a:r>
            <a:endParaRPr sz="1100">
              <a:solidFill>
                <a:schemeClr val="lt1"/>
              </a:solidFill>
              <a:latin typeface="Roboto"/>
              <a:ea typeface="Roboto"/>
              <a:cs typeface="Roboto"/>
              <a:sym typeface="Roboto"/>
            </a:endParaRPr>
          </a:p>
          <a:p>
            <a:pPr marL="0" lvl="0" indent="0" algn="l" rtl="0">
              <a:spcBef>
                <a:spcPts val="0"/>
              </a:spcBef>
              <a:spcAft>
                <a:spcPts val="0"/>
              </a:spcAft>
              <a:buNone/>
            </a:pPr>
            <a:r>
              <a:rPr lang="ru" sz="1100">
                <a:solidFill>
                  <a:schemeClr val="lt1"/>
                </a:solidFill>
                <a:latin typeface="Roboto"/>
                <a:ea typeface="Roboto"/>
                <a:cs typeface="Roboto"/>
                <a:sym typeface="Roboto"/>
              </a:rPr>
              <a:t>задайте вопрос</a:t>
            </a:r>
            <a:endParaRPr sz="1100">
              <a:solidFill>
                <a:schemeClr val="lt1"/>
              </a:solidFill>
              <a:latin typeface="Roboto"/>
              <a:ea typeface="Roboto"/>
              <a:cs typeface="Roboto"/>
              <a:sym typeface="Roboto"/>
            </a:endParaRPr>
          </a:p>
        </p:txBody>
      </p:sp>
      <p:pic>
        <p:nvPicPr>
          <p:cNvPr id="181" name="Google Shape;181;p35"/>
          <p:cNvPicPr preferRelativeResize="0"/>
          <p:nvPr/>
        </p:nvPicPr>
        <p:blipFill rotWithShape="1">
          <a:blip r:embed="rId12">
            <a:alphaModFix/>
          </a:blip>
          <a:srcRect/>
          <a:stretch/>
        </p:blipFill>
        <p:spPr>
          <a:xfrm>
            <a:off x="860726" y="2148424"/>
            <a:ext cx="692625" cy="692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6"/>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Маршрут вебинара</a:t>
            </a:r>
            <a:endParaRPr/>
          </a:p>
        </p:txBody>
      </p:sp>
      <p:sp>
        <p:nvSpPr>
          <p:cNvPr id="187" name="Google Shape;187;p36"/>
          <p:cNvSpPr/>
          <p:nvPr/>
        </p:nvSpPr>
        <p:spPr>
          <a:xfrm>
            <a:off x="786525" y="1205525"/>
            <a:ext cx="3384900"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lvl="0" indent="0" algn="l" rtl="0">
              <a:spcBef>
                <a:spcPts val="0"/>
              </a:spcBef>
              <a:spcAft>
                <a:spcPts val="0"/>
              </a:spcAft>
              <a:buNone/>
            </a:pPr>
            <a:r>
              <a:rPr lang="ru" sz="1300">
                <a:solidFill>
                  <a:schemeClr val="dk1"/>
                </a:solidFill>
                <a:latin typeface="Roboto"/>
                <a:ea typeface="Roboto"/>
                <a:cs typeface="Roboto"/>
                <a:sym typeface="Roboto"/>
              </a:rPr>
              <a:t>Знакомство</a:t>
            </a:r>
            <a:endParaRPr sz="1300">
              <a:solidFill>
                <a:schemeClr val="dk1"/>
              </a:solidFill>
              <a:latin typeface="Roboto"/>
              <a:ea typeface="Roboto"/>
              <a:cs typeface="Roboto"/>
              <a:sym typeface="Roboto"/>
            </a:endParaRPr>
          </a:p>
        </p:txBody>
      </p:sp>
      <p:sp>
        <p:nvSpPr>
          <p:cNvPr id="188" name="Google Shape;188;p36"/>
          <p:cNvSpPr/>
          <p:nvPr/>
        </p:nvSpPr>
        <p:spPr>
          <a:xfrm>
            <a:off x="792875" y="1724254"/>
            <a:ext cx="3384900"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lvl="0" indent="0" algn="l" rtl="0">
              <a:spcBef>
                <a:spcPts val="0"/>
              </a:spcBef>
              <a:spcAft>
                <a:spcPts val="0"/>
              </a:spcAft>
              <a:buNone/>
            </a:pPr>
            <a:r>
              <a:rPr lang="ru" sz="1300" dirty="0">
                <a:solidFill>
                  <a:schemeClr val="dk1"/>
                </a:solidFill>
                <a:latin typeface="Roboto"/>
                <a:ea typeface="Roboto"/>
                <a:cs typeface="Roboto"/>
                <a:sym typeface="Roboto"/>
              </a:rPr>
              <a:t>Системы управления БД</a:t>
            </a:r>
            <a:endParaRPr sz="1300" dirty="0">
              <a:solidFill>
                <a:schemeClr val="dk1"/>
              </a:solidFill>
              <a:latin typeface="Roboto"/>
              <a:ea typeface="Roboto"/>
              <a:cs typeface="Roboto"/>
              <a:sym typeface="Roboto"/>
            </a:endParaRPr>
          </a:p>
        </p:txBody>
      </p:sp>
      <p:sp>
        <p:nvSpPr>
          <p:cNvPr id="189" name="Google Shape;189;p36"/>
          <p:cNvSpPr/>
          <p:nvPr/>
        </p:nvSpPr>
        <p:spPr>
          <a:xfrm>
            <a:off x="799224" y="2242983"/>
            <a:ext cx="3073167"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lvl="0" indent="0" algn="l" rtl="0">
              <a:spcBef>
                <a:spcPts val="0"/>
              </a:spcBef>
              <a:spcAft>
                <a:spcPts val="0"/>
              </a:spcAft>
              <a:buClr>
                <a:schemeClr val="dk1"/>
              </a:buClr>
              <a:buSzPts val="1100"/>
              <a:buFont typeface="Arial"/>
              <a:buNone/>
            </a:pPr>
            <a:r>
              <a:rPr lang="ru-RU" sz="1300" dirty="0">
                <a:solidFill>
                  <a:schemeClr val="dk1"/>
                </a:solidFill>
                <a:latin typeface="Roboto"/>
                <a:ea typeface="Roboto"/>
                <a:cs typeface="Roboto"/>
                <a:sym typeface="Roboto"/>
              </a:rPr>
              <a:t>Объектные хранилища</a:t>
            </a:r>
            <a:endParaRPr sz="1300" dirty="0">
              <a:solidFill>
                <a:schemeClr val="dk1"/>
              </a:solidFill>
              <a:latin typeface="Roboto"/>
              <a:ea typeface="Roboto"/>
              <a:cs typeface="Roboto"/>
              <a:sym typeface="Roboto"/>
            </a:endParaRPr>
          </a:p>
        </p:txBody>
      </p:sp>
      <p:sp>
        <p:nvSpPr>
          <p:cNvPr id="190" name="Google Shape;190;p36"/>
          <p:cNvSpPr/>
          <p:nvPr/>
        </p:nvSpPr>
        <p:spPr>
          <a:xfrm>
            <a:off x="786524" y="2761712"/>
            <a:ext cx="3073167"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lvl="0" indent="0" algn="l" rtl="0">
              <a:spcBef>
                <a:spcPts val="0"/>
              </a:spcBef>
              <a:spcAft>
                <a:spcPts val="0"/>
              </a:spcAft>
              <a:buNone/>
            </a:pPr>
            <a:r>
              <a:rPr lang="ru" sz="1300" dirty="0">
                <a:solidFill>
                  <a:srgbClr val="050505"/>
                </a:solidFill>
                <a:latin typeface="Roboto"/>
                <a:ea typeface="Roboto"/>
                <a:cs typeface="Roboto"/>
                <a:sym typeface="Roboto"/>
              </a:rPr>
              <a:t>H</a:t>
            </a:r>
            <a:r>
              <a:rPr lang="en-US" sz="1300" dirty="0" err="1">
                <a:solidFill>
                  <a:srgbClr val="050505"/>
                </a:solidFill>
                <a:latin typeface="Roboto"/>
                <a:ea typeface="Roboto"/>
                <a:cs typeface="Roboto"/>
                <a:sym typeface="Roboto"/>
              </a:rPr>
              <a:t>adoop</a:t>
            </a:r>
            <a:endParaRPr sz="1300" dirty="0">
              <a:solidFill>
                <a:srgbClr val="050505"/>
              </a:solidFill>
              <a:latin typeface="Roboto"/>
              <a:ea typeface="Roboto"/>
              <a:cs typeface="Roboto"/>
              <a:sym typeface="Roboto"/>
            </a:endParaRPr>
          </a:p>
        </p:txBody>
      </p:sp>
      <p:sp>
        <p:nvSpPr>
          <p:cNvPr id="191" name="Google Shape;191;p36"/>
          <p:cNvSpPr/>
          <p:nvPr/>
        </p:nvSpPr>
        <p:spPr>
          <a:xfrm>
            <a:off x="786525" y="3280441"/>
            <a:ext cx="3384900"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lvl="0" indent="0" algn="l" rtl="0">
              <a:spcBef>
                <a:spcPts val="0"/>
              </a:spcBef>
              <a:spcAft>
                <a:spcPts val="0"/>
              </a:spcAft>
              <a:buNone/>
            </a:pPr>
            <a:r>
              <a:rPr lang="en-US" sz="1300" dirty="0">
                <a:latin typeface="Roboto"/>
                <a:ea typeface="Roboto"/>
                <a:cs typeface="Roboto"/>
                <a:sym typeface="Roboto"/>
              </a:rPr>
              <a:t>Spark</a:t>
            </a:r>
            <a:endParaRPr sz="1300" dirty="0">
              <a:latin typeface="Roboto"/>
              <a:ea typeface="Roboto"/>
              <a:cs typeface="Roboto"/>
              <a:sym typeface="Roboto"/>
            </a:endParaRPr>
          </a:p>
        </p:txBody>
      </p:sp>
      <p:sp>
        <p:nvSpPr>
          <p:cNvPr id="192" name="Google Shape;192;p36"/>
          <p:cNvSpPr/>
          <p:nvPr/>
        </p:nvSpPr>
        <p:spPr>
          <a:xfrm>
            <a:off x="786525" y="3799170"/>
            <a:ext cx="3384900"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lvl="0" indent="0" algn="l" rtl="0">
              <a:spcBef>
                <a:spcPts val="0"/>
              </a:spcBef>
              <a:spcAft>
                <a:spcPts val="0"/>
              </a:spcAft>
              <a:buNone/>
            </a:pPr>
            <a:r>
              <a:rPr lang="en-US" sz="1300" dirty="0" err="1">
                <a:solidFill>
                  <a:schemeClr val="dk1"/>
                </a:solidFill>
                <a:latin typeface="Roboto"/>
                <a:ea typeface="Roboto"/>
                <a:cs typeface="Roboto"/>
                <a:sym typeface="Roboto"/>
              </a:rPr>
              <a:t>П</a:t>
            </a:r>
            <a:r>
              <a:rPr lang="ru-RU" sz="1300" dirty="0" err="1">
                <a:solidFill>
                  <a:schemeClr val="dk1"/>
                </a:solidFill>
                <a:latin typeface="Roboto"/>
                <a:ea typeface="Roboto"/>
                <a:cs typeface="Roboto"/>
                <a:sym typeface="Roboto"/>
              </a:rPr>
              <a:t>отоковая</a:t>
            </a:r>
            <a:r>
              <a:rPr lang="ru-RU" sz="1300" dirty="0">
                <a:solidFill>
                  <a:schemeClr val="dk1"/>
                </a:solidFill>
                <a:latin typeface="Roboto"/>
                <a:ea typeface="Roboto"/>
                <a:cs typeface="Roboto"/>
                <a:sym typeface="Roboto"/>
              </a:rPr>
              <a:t> обработка</a:t>
            </a:r>
            <a:endParaRPr sz="1300" dirty="0">
              <a:solidFill>
                <a:schemeClr val="dk1"/>
              </a:solidFill>
              <a:latin typeface="Roboto"/>
              <a:ea typeface="Roboto"/>
              <a:cs typeface="Roboto"/>
              <a:sym typeface="Roboto"/>
            </a:endParaRPr>
          </a:p>
        </p:txBody>
      </p:sp>
      <p:cxnSp>
        <p:nvCxnSpPr>
          <p:cNvPr id="193" name="Google Shape;193;p36"/>
          <p:cNvCxnSpPr>
            <a:stCxn id="187" idx="1"/>
            <a:endCxn id="188" idx="1"/>
          </p:cNvCxnSpPr>
          <p:nvPr/>
        </p:nvCxnSpPr>
        <p:spPr>
          <a:xfrm rot="10800000" flipH="1" flipV="1">
            <a:off x="786525" y="1393624"/>
            <a:ext cx="6350" cy="518729"/>
          </a:xfrm>
          <a:prstGeom prst="curvedConnector3">
            <a:avLst>
              <a:gd name="adj1" fmla="val -3600000"/>
            </a:avLst>
          </a:prstGeom>
          <a:noFill/>
          <a:ln w="9525" cap="flat" cmpd="sng">
            <a:solidFill>
              <a:schemeClr val="dk1"/>
            </a:solidFill>
            <a:prstDash val="dash"/>
            <a:round/>
            <a:headEnd type="none" w="med" len="med"/>
            <a:tailEnd type="none" w="med" len="med"/>
          </a:ln>
        </p:spPr>
      </p:cxnSp>
      <p:cxnSp>
        <p:nvCxnSpPr>
          <p:cNvPr id="194" name="Google Shape;194;p36"/>
          <p:cNvCxnSpPr>
            <a:cxnSpLocks/>
            <a:stCxn id="188" idx="1"/>
            <a:endCxn id="189" idx="1"/>
          </p:cNvCxnSpPr>
          <p:nvPr/>
        </p:nvCxnSpPr>
        <p:spPr>
          <a:xfrm rot="10800000" flipH="1" flipV="1">
            <a:off x="792874" y="1912353"/>
            <a:ext cx="6349" cy="518729"/>
          </a:xfrm>
          <a:prstGeom prst="curvedConnector3">
            <a:avLst>
              <a:gd name="adj1" fmla="val -3600567"/>
            </a:avLst>
          </a:prstGeom>
          <a:noFill/>
          <a:ln w="9525" cap="flat" cmpd="sng">
            <a:solidFill>
              <a:schemeClr val="dk1"/>
            </a:solidFill>
            <a:prstDash val="dash"/>
            <a:round/>
            <a:headEnd type="none" w="med" len="med"/>
            <a:tailEnd type="none" w="med" len="med"/>
          </a:ln>
        </p:spPr>
      </p:cxnSp>
      <p:cxnSp>
        <p:nvCxnSpPr>
          <p:cNvPr id="195" name="Google Shape;195;p36"/>
          <p:cNvCxnSpPr>
            <a:cxnSpLocks/>
            <a:stCxn id="189" idx="1"/>
            <a:endCxn id="190" idx="1"/>
          </p:cNvCxnSpPr>
          <p:nvPr/>
        </p:nvCxnSpPr>
        <p:spPr>
          <a:xfrm rot="10800000" flipV="1">
            <a:off x="786524" y="2431082"/>
            <a:ext cx="12700" cy="518729"/>
          </a:xfrm>
          <a:prstGeom prst="curvedConnector3">
            <a:avLst>
              <a:gd name="adj1" fmla="val 1900000"/>
            </a:avLst>
          </a:prstGeom>
          <a:noFill/>
          <a:ln w="9525" cap="flat" cmpd="sng">
            <a:solidFill>
              <a:schemeClr val="dk1"/>
            </a:solidFill>
            <a:prstDash val="dash"/>
            <a:round/>
            <a:headEnd type="none" w="med" len="med"/>
            <a:tailEnd type="none" w="med" len="med"/>
          </a:ln>
        </p:spPr>
      </p:cxnSp>
      <p:cxnSp>
        <p:nvCxnSpPr>
          <p:cNvPr id="196" name="Google Shape;196;p36"/>
          <p:cNvCxnSpPr>
            <a:cxnSpLocks/>
            <a:stCxn id="190" idx="1"/>
            <a:endCxn id="191" idx="1"/>
          </p:cNvCxnSpPr>
          <p:nvPr/>
        </p:nvCxnSpPr>
        <p:spPr>
          <a:xfrm rot="10800000" flipH="1" flipV="1">
            <a:off x="786523" y="2949811"/>
            <a:ext cx="1" cy="518729"/>
          </a:xfrm>
          <a:prstGeom prst="curvedConnector3">
            <a:avLst>
              <a:gd name="adj1" fmla="val -22860000000"/>
            </a:avLst>
          </a:prstGeom>
          <a:noFill/>
          <a:ln w="9525" cap="flat" cmpd="sng">
            <a:solidFill>
              <a:schemeClr val="dk1"/>
            </a:solidFill>
            <a:prstDash val="dash"/>
            <a:round/>
            <a:headEnd type="none" w="med" len="med"/>
            <a:tailEnd type="none" w="med" len="med"/>
          </a:ln>
        </p:spPr>
      </p:cxnSp>
      <p:cxnSp>
        <p:nvCxnSpPr>
          <p:cNvPr id="197" name="Google Shape;197;p36"/>
          <p:cNvCxnSpPr>
            <a:stCxn id="191" idx="1"/>
            <a:endCxn id="192" idx="1"/>
          </p:cNvCxnSpPr>
          <p:nvPr/>
        </p:nvCxnSpPr>
        <p:spPr>
          <a:xfrm rot="10800000" flipV="1">
            <a:off x="786525" y="3468540"/>
            <a:ext cx="12700" cy="518729"/>
          </a:xfrm>
          <a:prstGeom prst="curvedConnector3">
            <a:avLst>
              <a:gd name="adj1" fmla="val 1800000"/>
            </a:avLst>
          </a:prstGeom>
          <a:noFill/>
          <a:ln w="9525" cap="flat" cmpd="sng">
            <a:solidFill>
              <a:schemeClr val="dk1"/>
            </a:solidFill>
            <a:prstDash val="dash"/>
            <a:round/>
            <a:headEnd type="none" w="med" len="med"/>
            <a:tailEnd type="none" w="med" len="med"/>
          </a:ln>
        </p:spPr>
      </p:cxnSp>
      <p:pic>
        <p:nvPicPr>
          <p:cNvPr id="15" name="Google Shape;284;p37">
            <a:extLst>
              <a:ext uri="{FF2B5EF4-FFF2-40B4-BE49-F238E27FC236}">
                <a16:creationId xmlns:a16="http://schemas.microsoft.com/office/drawing/2014/main" id="{8B142E8E-A524-8E4C-A499-5AFB8FABBFDE}"/>
              </a:ext>
            </a:extLst>
          </p:cNvPr>
          <p:cNvPicPr preferRelativeResize="0"/>
          <p:nvPr/>
        </p:nvPicPr>
        <p:blipFill>
          <a:blip r:embed="rId3">
            <a:alphaModFix/>
          </a:blip>
          <a:stretch>
            <a:fillRect/>
          </a:stretch>
        </p:blipFill>
        <p:spPr>
          <a:xfrm>
            <a:off x="3733249" y="1631770"/>
            <a:ext cx="5410751" cy="2331676"/>
          </a:xfrm>
          <a:prstGeom prst="rect">
            <a:avLst/>
          </a:prstGeom>
          <a:noFill/>
          <a:ln>
            <a:noFill/>
          </a:ln>
        </p:spPr>
      </p:pic>
      <p:sp>
        <p:nvSpPr>
          <p:cNvPr id="16" name="Google Shape;192;p36">
            <a:extLst>
              <a:ext uri="{FF2B5EF4-FFF2-40B4-BE49-F238E27FC236}">
                <a16:creationId xmlns:a16="http://schemas.microsoft.com/office/drawing/2014/main" id="{42152978-B0D4-4D49-960A-9832F5009937}"/>
              </a:ext>
            </a:extLst>
          </p:cNvPr>
          <p:cNvSpPr/>
          <p:nvPr/>
        </p:nvSpPr>
        <p:spPr>
          <a:xfrm>
            <a:off x="786525" y="4317899"/>
            <a:ext cx="3384900"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lvl="0" indent="0" algn="l" rtl="0">
              <a:spcBef>
                <a:spcPts val="0"/>
              </a:spcBef>
              <a:spcAft>
                <a:spcPts val="0"/>
              </a:spcAft>
              <a:buNone/>
            </a:pPr>
            <a:r>
              <a:rPr lang="ru-RU" sz="1300" dirty="0">
                <a:solidFill>
                  <a:schemeClr val="dk1"/>
                </a:solidFill>
                <a:latin typeface="Roboto"/>
                <a:ea typeface="Roboto"/>
                <a:cs typeface="Roboto"/>
                <a:sym typeface="Roboto"/>
              </a:rPr>
              <a:t>Компоненты </a:t>
            </a:r>
            <a:r>
              <a:rPr lang="ru-RU" sz="1300" dirty="0" err="1">
                <a:solidFill>
                  <a:schemeClr val="dk1"/>
                </a:solidFill>
                <a:latin typeface="Roboto"/>
                <a:ea typeface="Roboto"/>
                <a:cs typeface="Roboto"/>
                <a:sym typeface="Roboto"/>
              </a:rPr>
              <a:t>M</a:t>
            </a:r>
            <a:r>
              <a:rPr lang="en-US" sz="1300" dirty="0" err="1">
                <a:solidFill>
                  <a:schemeClr val="dk1"/>
                </a:solidFill>
                <a:latin typeface="Roboto"/>
                <a:ea typeface="Roboto"/>
                <a:cs typeface="Roboto"/>
                <a:sym typeface="Roboto"/>
              </a:rPr>
              <a:t>LOps</a:t>
            </a:r>
            <a:r>
              <a:rPr lang="en-US" sz="1300" dirty="0">
                <a:solidFill>
                  <a:schemeClr val="dk1"/>
                </a:solidFill>
                <a:latin typeface="Roboto"/>
                <a:ea typeface="Roboto"/>
                <a:cs typeface="Roboto"/>
                <a:sym typeface="Roboto"/>
              </a:rPr>
              <a:t> </a:t>
            </a:r>
            <a:r>
              <a:rPr lang="en-US" sz="1300" dirty="0" err="1">
                <a:solidFill>
                  <a:schemeClr val="dk1"/>
                </a:solidFill>
                <a:latin typeface="Roboto"/>
                <a:ea typeface="Roboto"/>
                <a:cs typeface="Roboto"/>
                <a:sym typeface="Roboto"/>
              </a:rPr>
              <a:t>с</a:t>
            </a:r>
            <a:r>
              <a:rPr lang="ru-RU" sz="1300" dirty="0" err="1">
                <a:solidFill>
                  <a:schemeClr val="dk1"/>
                </a:solidFill>
                <a:latin typeface="Roboto"/>
                <a:ea typeface="Roboto"/>
                <a:cs typeface="Roboto"/>
                <a:sym typeface="Roboto"/>
              </a:rPr>
              <a:t>истем</a:t>
            </a:r>
            <a:endParaRPr sz="1300" dirty="0">
              <a:solidFill>
                <a:schemeClr val="dk1"/>
              </a:solidFill>
              <a:latin typeface="Roboto"/>
              <a:ea typeface="Roboto"/>
              <a:cs typeface="Roboto"/>
              <a:sym typeface="Roboto"/>
            </a:endParaRPr>
          </a:p>
        </p:txBody>
      </p:sp>
      <p:cxnSp>
        <p:nvCxnSpPr>
          <p:cNvPr id="26" name="Google Shape;197;p36">
            <a:extLst>
              <a:ext uri="{FF2B5EF4-FFF2-40B4-BE49-F238E27FC236}">
                <a16:creationId xmlns:a16="http://schemas.microsoft.com/office/drawing/2014/main" id="{FCA4D94F-F888-1247-A836-CCB6611EB167}"/>
              </a:ext>
            </a:extLst>
          </p:cNvPr>
          <p:cNvCxnSpPr>
            <a:cxnSpLocks/>
            <a:stCxn id="192" idx="1"/>
            <a:endCxn id="16" idx="1"/>
          </p:cNvCxnSpPr>
          <p:nvPr/>
        </p:nvCxnSpPr>
        <p:spPr>
          <a:xfrm rot="10800000" flipV="1">
            <a:off x="786525" y="3987269"/>
            <a:ext cx="12700" cy="518729"/>
          </a:xfrm>
          <a:prstGeom prst="curvedConnector3">
            <a:avLst>
              <a:gd name="adj1" fmla="val 1800000"/>
            </a:avLst>
          </a:prstGeom>
          <a:noFill/>
          <a:ln w="9525" cap="flat" cmpd="sng">
            <a:solidFill>
              <a:schemeClr val="dk1"/>
            </a:solidFill>
            <a:prstDash val="dash"/>
            <a:round/>
            <a:headEnd type="none" w="med" len="med"/>
            <a:tailEnd type="none"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Цели вебинара</a:t>
            </a:r>
            <a:endParaRPr/>
          </a:p>
        </p:txBody>
      </p:sp>
      <p:graphicFrame>
        <p:nvGraphicFramePr>
          <p:cNvPr id="203" name="Google Shape;203;p37"/>
          <p:cNvGraphicFramePr/>
          <p:nvPr>
            <p:extLst>
              <p:ext uri="{D42A27DB-BD31-4B8C-83A1-F6EECF244321}">
                <p14:modId xmlns:p14="http://schemas.microsoft.com/office/powerpoint/2010/main" val="4065667039"/>
              </p:ext>
            </p:extLst>
          </p:nvPr>
        </p:nvGraphicFramePr>
        <p:xfrm>
          <a:off x="952500" y="1544194"/>
          <a:ext cx="7239000" cy="1397216"/>
        </p:xfrm>
        <a:graphic>
          <a:graphicData uri="http://schemas.openxmlformats.org/drawingml/2006/table">
            <a:tbl>
              <a:tblPr>
                <a:noFill/>
                <a:tableStyleId>{91CB5BBF-14A1-44A8-AE45-40D0EF8F1E93}</a:tableStyleId>
              </a:tblPr>
              <a:tblGrid>
                <a:gridCol w="489425">
                  <a:extLst>
                    <a:ext uri="{9D8B030D-6E8A-4147-A177-3AD203B41FA5}">
                      <a16:colId xmlns:a16="http://schemas.microsoft.com/office/drawing/2014/main" val="20000"/>
                    </a:ext>
                  </a:extLst>
                </a:gridCol>
                <a:gridCol w="6749575">
                  <a:extLst>
                    <a:ext uri="{9D8B030D-6E8A-4147-A177-3AD203B41FA5}">
                      <a16:colId xmlns:a16="http://schemas.microsoft.com/office/drawing/2014/main" val="20001"/>
                    </a:ext>
                  </a:extLst>
                </a:gridCol>
              </a:tblGrid>
              <a:tr h="285750">
                <a:tc>
                  <a:txBody>
                    <a:bodyPr/>
                    <a:lstStyle/>
                    <a:p>
                      <a:pPr marL="0" lvl="0" indent="0" algn="l" rtl="0">
                        <a:spcBef>
                          <a:spcPts val="0"/>
                        </a:spcBef>
                        <a:spcAft>
                          <a:spcPts val="0"/>
                        </a:spcAft>
                        <a:buNone/>
                      </a:pPr>
                      <a:r>
                        <a:rPr lang="ru" sz="1300" b="1">
                          <a:solidFill>
                            <a:srgbClr val="FF9900"/>
                          </a:solidFill>
                          <a:latin typeface="Roboto"/>
                          <a:ea typeface="Roboto"/>
                          <a:cs typeface="Roboto"/>
                          <a:sym typeface="Roboto"/>
                        </a:rPr>
                        <a:t>1.</a:t>
                      </a:r>
                      <a:endParaRPr sz="1300" b="1">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ru-RU" sz="1300" dirty="0">
                          <a:latin typeface="Roboto"/>
                          <a:ea typeface="Roboto"/>
                          <a:cs typeface="Roboto"/>
                          <a:sym typeface="Roboto"/>
                        </a:rPr>
                        <a:t>Вспомнить основные инфраструктурные элементы систем работы с данными</a:t>
                      </a: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285750">
                <a:tc>
                  <a:txBody>
                    <a:bodyPr/>
                    <a:lstStyle/>
                    <a:p>
                      <a:pPr marL="0" lvl="0" indent="0" algn="l" rtl="0">
                        <a:spcBef>
                          <a:spcPts val="0"/>
                        </a:spcBef>
                        <a:spcAft>
                          <a:spcPts val="0"/>
                        </a:spcAft>
                        <a:buNone/>
                      </a:pPr>
                      <a:r>
                        <a:rPr lang="ru" sz="1300" b="1">
                          <a:solidFill>
                            <a:srgbClr val="FF9900"/>
                          </a:solidFill>
                          <a:latin typeface="Roboto"/>
                          <a:ea typeface="Roboto"/>
                          <a:cs typeface="Roboto"/>
                          <a:sym typeface="Roboto"/>
                        </a:rPr>
                        <a:t>2.</a:t>
                      </a:r>
                      <a:endParaRPr sz="1300" b="1">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ru-RU" sz="1300" dirty="0">
                          <a:latin typeface="Roboto"/>
                          <a:ea typeface="Roboto"/>
                          <a:cs typeface="Roboto"/>
                          <a:sym typeface="Roboto"/>
                        </a:rPr>
                        <a:t>Рассмотреть инструменты для работы с большими данными</a:t>
                      </a: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285750">
                <a:tc>
                  <a:txBody>
                    <a:bodyPr/>
                    <a:lstStyle/>
                    <a:p>
                      <a:pPr marL="0" lvl="0" indent="0" algn="l" rtl="0">
                        <a:spcBef>
                          <a:spcPts val="0"/>
                        </a:spcBef>
                        <a:spcAft>
                          <a:spcPts val="0"/>
                        </a:spcAft>
                        <a:buNone/>
                      </a:pPr>
                      <a:r>
                        <a:rPr lang="ru" sz="1300" b="1" dirty="0">
                          <a:solidFill>
                            <a:srgbClr val="FF9900"/>
                          </a:solidFill>
                          <a:latin typeface="Roboto"/>
                          <a:ea typeface="Roboto"/>
                          <a:cs typeface="Roboto"/>
                          <a:sym typeface="Roboto"/>
                        </a:rPr>
                        <a:t>3.</a:t>
                      </a:r>
                      <a:endParaRPr sz="1300" b="1" dirty="0">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Clr>
                          <a:schemeClr val="dk1"/>
                        </a:buClr>
                        <a:buSzPts val="1100"/>
                        <a:buFont typeface="Arial"/>
                        <a:buNone/>
                      </a:pPr>
                      <a:r>
                        <a:rPr lang="ru-RU" sz="1300" dirty="0">
                          <a:latin typeface="Roboto"/>
                          <a:ea typeface="Roboto"/>
                          <a:cs typeface="Roboto"/>
                          <a:sym typeface="Roboto"/>
                        </a:rPr>
                        <a:t>Научиться выделять компоненты </a:t>
                      </a:r>
                      <a:r>
                        <a:rPr lang="en-US" sz="1300" dirty="0" err="1">
                          <a:latin typeface="Roboto"/>
                          <a:ea typeface="Roboto"/>
                          <a:cs typeface="Roboto"/>
                          <a:sym typeface="Roboto"/>
                        </a:rPr>
                        <a:t>MLOps</a:t>
                      </a:r>
                      <a:r>
                        <a:rPr lang="en-US" sz="1300" dirty="0">
                          <a:latin typeface="Roboto"/>
                          <a:ea typeface="Roboto"/>
                          <a:cs typeface="Roboto"/>
                          <a:sym typeface="Roboto"/>
                        </a:rPr>
                        <a:t> </a:t>
                      </a:r>
                      <a:r>
                        <a:rPr lang="ru-RU" sz="1300" dirty="0">
                          <a:latin typeface="Roboto"/>
                          <a:ea typeface="Roboto"/>
                          <a:cs typeface="Roboto"/>
                          <a:sym typeface="Roboto"/>
                        </a:rPr>
                        <a:t>платформ, понимать зачем они нужны.</a:t>
                      </a: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285750">
                <a:tc>
                  <a:txBody>
                    <a:bodyPr/>
                    <a:lstStyle/>
                    <a:p>
                      <a:pPr marL="0" lvl="0" indent="0" algn="l" rtl="0">
                        <a:spcBef>
                          <a:spcPts val="0"/>
                        </a:spcBef>
                        <a:spcAft>
                          <a:spcPts val="0"/>
                        </a:spcAft>
                        <a:buNone/>
                      </a:pPr>
                      <a:r>
                        <a:rPr lang="ru" sz="1300" b="1" dirty="0">
                          <a:solidFill>
                            <a:srgbClr val="FF9900"/>
                          </a:solidFill>
                          <a:latin typeface="Roboto"/>
                          <a:ea typeface="Roboto"/>
                          <a:cs typeface="Roboto"/>
                          <a:sym typeface="Roboto"/>
                        </a:rPr>
                        <a:t>4.</a:t>
                      </a:r>
                      <a:endParaRPr sz="1300" b="1" dirty="0">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lgn="ctr">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Clr>
                          <a:schemeClr val="dk1"/>
                        </a:buClr>
                        <a:buSzPts val="1100"/>
                        <a:buFont typeface="Arial"/>
                        <a:buNone/>
                      </a:pPr>
                      <a:r>
                        <a:rPr lang="ru-RU" sz="1300" dirty="0">
                          <a:latin typeface="Roboto"/>
                          <a:ea typeface="Roboto"/>
                          <a:cs typeface="Roboto"/>
                          <a:sym typeface="Roboto"/>
                        </a:rPr>
                        <a:t>Разобраться как компоненты взаимодействуют друг с другом</a:t>
                      </a:r>
                    </a:p>
                  </a:txBody>
                  <a:tcPr marL="198000" marR="91425" marT="68575" marB="68575">
                    <a:lnL w="9525" cap="flat" cmpd="sng" algn="ctr">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2033406393"/>
                  </a:ext>
                </a:extLst>
              </a:tr>
            </a:tbl>
          </a:graphicData>
        </a:graphic>
      </p:graphicFrame>
      <p:sp>
        <p:nvSpPr>
          <p:cNvPr id="204" name="Google Shape;204;p37"/>
          <p:cNvSpPr txBox="1">
            <a:spLocks noGrp="1"/>
          </p:cNvSpPr>
          <p:nvPr>
            <p:ph type="subTitle" idx="4294967295"/>
          </p:nvPr>
        </p:nvSpPr>
        <p:spPr>
          <a:xfrm>
            <a:off x="500550" y="857363"/>
            <a:ext cx="7796700" cy="792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ru" sz="1500" b="1">
                <a:solidFill>
                  <a:srgbClr val="FF9900"/>
                </a:solidFill>
              </a:rPr>
              <a:t>К концу занятия вы сможете</a:t>
            </a:r>
            <a:endParaRPr sz="1500" b="1">
              <a:solidFill>
                <a:srgbClr val="FF99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73"/>
          <p:cNvSpPr txBox="1">
            <a:spLocks noGrp="1"/>
          </p:cNvSpPr>
          <p:nvPr>
            <p:ph type="title"/>
          </p:nvPr>
        </p:nvSpPr>
        <p:spPr>
          <a:xfrm>
            <a:off x="502800" y="372038"/>
            <a:ext cx="8343000" cy="4150350"/>
          </a:xfrm>
          <a:prstGeom prst="rect">
            <a:avLst/>
          </a:prstGeom>
        </p:spPr>
        <p:txBody>
          <a:bodyPr spcFirstLastPara="1" wrap="square" lIns="91425" tIns="91425" rIns="91425" bIns="91425" anchor="ctr" anchorCtr="0">
            <a:noAutofit/>
          </a:bodyPr>
          <a:lstStyle/>
          <a:p>
            <a:r>
              <a:rPr lang="en-US" sz="4875"/>
              <a:t>Инфраструктурные элементы</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73"/>
          <p:cNvSpPr txBox="1">
            <a:spLocks noGrp="1"/>
          </p:cNvSpPr>
          <p:nvPr>
            <p:ph type="title"/>
          </p:nvPr>
        </p:nvSpPr>
        <p:spPr>
          <a:xfrm>
            <a:off x="502800" y="372038"/>
            <a:ext cx="8343000" cy="4150350"/>
          </a:xfrm>
          <a:prstGeom prst="rect">
            <a:avLst/>
          </a:prstGeom>
        </p:spPr>
        <p:txBody>
          <a:bodyPr spcFirstLastPara="1" wrap="square" lIns="91425" tIns="91425" rIns="91425" bIns="91425" anchor="ctr" anchorCtr="0">
            <a:noAutofit/>
          </a:bodyPr>
          <a:lstStyle/>
          <a:p>
            <a:r>
              <a:rPr lang="ru-RU" sz="4875" dirty="0"/>
              <a:t>Системы управления БД</a:t>
            </a:r>
            <a:endParaRPr dirty="0"/>
          </a:p>
        </p:txBody>
      </p:sp>
    </p:spTree>
    <p:extLst>
      <p:ext uri="{BB962C8B-B14F-4D97-AF65-F5344CB8AC3E}">
        <p14:creationId xmlns:p14="http://schemas.microsoft.com/office/powerpoint/2010/main" val="565055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75"/>
          <p:cNvSpPr txBox="1">
            <a:spLocks noGrp="1"/>
          </p:cNvSpPr>
          <p:nvPr>
            <p:ph type="title"/>
          </p:nvPr>
        </p:nvSpPr>
        <p:spPr>
          <a:xfrm>
            <a:off x="500550" y="330724"/>
            <a:ext cx="8520525" cy="1095975"/>
          </a:xfrm>
          <a:prstGeom prst="rect">
            <a:avLst/>
          </a:prstGeom>
        </p:spPr>
        <p:txBody>
          <a:bodyPr spcFirstLastPara="1" wrap="square" lIns="91425" tIns="91425" rIns="91425" bIns="91425" anchor="t" anchorCtr="0">
            <a:noAutofit/>
          </a:bodyPr>
          <a:lstStyle/>
          <a:p>
            <a:r>
              <a:rPr lang="en-US"/>
              <a:t>РСУБД</a:t>
            </a:r>
            <a:endParaRPr/>
          </a:p>
        </p:txBody>
      </p:sp>
      <p:sp>
        <p:nvSpPr>
          <p:cNvPr id="468" name="Google Shape;468;p75"/>
          <p:cNvSpPr txBox="1">
            <a:spLocks noGrp="1"/>
          </p:cNvSpPr>
          <p:nvPr>
            <p:ph type="body" idx="4294967295"/>
          </p:nvPr>
        </p:nvSpPr>
        <p:spPr>
          <a:xfrm>
            <a:off x="360188" y="1498406"/>
            <a:ext cx="4354650" cy="2683575"/>
          </a:xfrm>
          <a:prstGeom prst="rect">
            <a:avLst/>
          </a:prstGeom>
          <a:noFill/>
          <a:ln>
            <a:noFill/>
          </a:ln>
        </p:spPr>
        <p:txBody>
          <a:bodyPr spcFirstLastPara="1" wrap="square" lIns="68569" tIns="34275" rIns="68569" bIns="34275" anchor="t" anchorCtr="0">
            <a:normAutofit fontScale="92500" lnSpcReduction="20000"/>
          </a:bodyPr>
          <a:lstStyle/>
          <a:p>
            <a:pPr marL="342900" indent="-266700">
              <a:lnSpc>
                <a:spcPct val="150000"/>
              </a:lnSpc>
              <a:spcBef>
                <a:spcPts val="527"/>
              </a:spcBef>
              <a:buSzPts val="2000"/>
            </a:pPr>
            <a:r>
              <a:rPr lang="en-US" sz="1500" dirty="0" err="1"/>
              <a:t>Сильные</a:t>
            </a:r>
            <a:r>
              <a:rPr lang="en-US" sz="1500" dirty="0"/>
              <a:t> </a:t>
            </a:r>
            <a:r>
              <a:rPr lang="en-US" sz="1500" dirty="0" err="1"/>
              <a:t>гарантии</a:t>
            </a:r>
            <a:r>
              <a:rPr lang="en-US" sz="1500" dirty="0"/>
              <a:t> ACID</a:t>
            </a:r>
            <a:endParaRPr sz="1500" dirty="0"/>
          </a:p>
          <a:p>
            <a:pPr marL="342900" indent="-266700">
              <a:lnSpc>
                <a:spcPct val="150000"/>
              </a:lnSpc>
              <a:buSzPts val="2000"/>
            </a:pPr>
            <a:r>
              <a:rPr lang="en-US" sz="1500" dirty="0" err="1"/>
              <a:t>Стандартизированный</a:t>
            </a:r>
            <a:r>
              <a:rPr lang="en-US" sz="1500" dirty="0"/>
              <a:t> </a:t>
            </a:r>
            <a:r>
              <a:rPr lang="en-US" sz="1500" dirty="0" err="1"/>
              <a:t>язык</a:t>
            </a:r>
            <a:r>
              <a:rPr lang="en-US" sz="1500" dirty="0"/>
              <a:t> SQL</a:t>
            </a:r>
            <a:endParaRPr sz="1500" dirty="0"/>
          </a:p>
          <a:p>
            <a:pPr marL="342900" indent="-266700">
              <a:lnSpc>
                <a:spcPct val="150000"/>
              </a:lnSpc>
              <a:buSzPts val="2000"/>
            </a:pPr>
            <a:r>
              <a:rPr lang="en-US" sz="1500" dirty="0" err="1"/>
              <a:t>Эффективное</a:t>
            </a:r>
            <a:r>
              <a:rPr lang="en-US" sz="1500" dirty="0"/>
              <a:t> </a:t>
            </a:r>
            <a:r>
              <a:rPr lang="en-US" sz="1500" dirty="0" err="1"/>
              <a:t>использование</a:t>
            </a:r>
            <a:r>
              <a:rPr lang="en-US" sz="1500" dirty="0"/>
              <a:t> </a:t>
            </a:r>
            <a:r>
              <a:rPr lang="en-US" sz="1500" dirty="0" err="1"/>
              <a:t>дисковой</a:t>
            </a:r>
            <a:r>
              <a:rPr lang="en-US" sz="1500" dirty="0"/>
              <a:t> </a:t>
            </a:r>
            <a:r>
              <a:rPr lang="en-US" sz="1500" dirty="0" err="1"/>
              <a:t>памяти</a:t>
            </a:r>
            <a:r>
              <a:rPr lang="en-US" sz="1500" dirty="0"/>
              <a:t> </a:t>
            </a:r>
            <a:r>
              <a:rPr lang="en-US" sz="1500" dirty="0" err="1"/>
              <a:t>за</a:t>
            </a:r>
            <a:r>
              <a:rPr lang="en-US" sz="1500" dirty="0"/>
              <a:t> </a:t>
            </a:r>
            <a:r>
              <a:rPr lang="en-US" sz="1500" dirty="0" err="1"/>
              <a:t>счет</a:t>
            </a:r>
            <a:r>
              <a:rPr lang="en-US" sz="1500" dirty="0"/>
              <a:t> </a:t>
            </a:r>
            <a:r>
              <a:rPr lang="en-US" sz="1500" dirty="0" err="1"/>
              <a:t>нормализации</a:t>
            </a:r>
            <a:endParaRPr sz="1500" dirty="0"/>
          </a:p>
          <a:p>
            <a:pPr marL="342900" indent="-266700">
              <a:lnSpc>
                <a:spcPct val="150000"/>
              </a:lnSpc>
              <a:buSzPts val="2000"/>
            </a:pPr>
            <a:r>
              <a:rPr lang="en-US" sz="1500" dirty="0" err="1"/>
              <a:t>Возможности</a:t>
            </a:r>
            <a:r>
              <a:rPr lang="en-US" sz="1500" dirty="0"/>
              <a:t> </a:t>
            </a:r>
            <a:r>
              <a:rPr lang="en-US" sz="1500" dirty="0" err="1"/>
              <a:t>по</a:t>
            </a:r>
            <a:r>
              <a:rPr lang="en-US" sz="1500" dirty="0"/>
              <a:t> </a:t>
            </a:r>
            <a:r>
              <a:rPr lang="en-US" sz="1500" dirty="0" err="1"/>
              <a:t>расширению</a:t>
            </a:r>
            <a:endParaRPr sz="1500" dirty="0"/>
          </a:p>
          <a:p>
            <a:pPr marL="685800" lvl="1" indent="-266700">
              <a:lnSpc>
                <a:spcPct val="150000"/>
              </a:lnSpc>
              <a:buSzPts val="2000"/>
            </a:pPr>
            <a:r>
              <a:rPr lang="en-US" dirty="0"/>
              <a:t>dimensional modeling</a:t>
            </a:r>
            <a:endParaRPr dirty="0"/>
          </a:p>
          <a:p>
            <a:pPr marL="685800" lvl="1" indent="-266700">
              <a:lnSpc>
                <a:spcPct val="150000"/>
              </a:lnSpc>
              <a:buSzPts val="2000"/>
            </a:pPr>
            <a:r>
              <a:rPr lang="en-US" dirty="0"/>
              <a:t>anchor modeling</a:t>
            </a:r>
            <a:endParaRPr dirty="0"/>
          </a:p>
          <a:p>
            <a:pPr marL="342900" indent="-266700">
              <a:lnSpc>
                <a:spcPct val="150000"/>
              </a:lnSpc>
              <a:buSzPts val="2000"/>
            </a:pPr>
            <a:r>
              <a:rPr lang="en-US" sz="1500" dirty="0" err="1"/>
              <a:t>В</a:t>
            </a:r>
            <a:r>
              <a:rPr lang="en-US" sz="1500" dirty="0"/>
              <a:t> </a:t>
            </a:r>
            <a:r>
              <a:rPr lang="en-US" sz="1500" dirty="0" err="1"/>
              <a:t>основном</a:t>
            </a:r>
            <a:r>
              <a:rPr lang="en-US" sz="1500" dirty="0"/>
              <a:t> </a:t>
            </a:r>
            <a:r>
              <a:rPr lang="en-US" sz="1500" dirty="0" err="1"/>
              <a:t>вертикальная</a:t>
            </a:r>
            <a:r>
              <a:rPr lang="en-US" sz="1500" dirty="0"/>
              <a:t> </a:t>
            </a:r>
            <a:r>
              <a:rPr lang="en-US" sz="1500" dirty="0" err="1"/>
              <a:t>масштабируемость</a:t>
            </a:r>
            <a:endParaRPr sz="1500" dirty="0"/>
          </a:p>
        </p:txBody>
      </p:sp>
      <p:pic>
        <p:nvPicPr>
          <p:cNvPr id="469" name="Google Shape;469;p75"/>
          <p:cNvPicPr preferRelativeResize="0"/>
          <p:nvPr/>
        </p:nvPicPr>
        <p:blipFill>
          <a:blip r:embed="rId3">
            <a:alphaModFix/>
          </a:blip>
          <a:stretch>
            <a:fillRect/>
          </a:stretch>
        </p:blipFill>
        <p:spPr>
          <a:xfrm>
            <a:off x="5509481" y="1052316"/>
            <a:ext cx="2228850" cy="1150144"/>
          </a:xfrm>
          <a:prstGeom prst="rect">
            <a:avLst/>
          </a:prstGeom>
          <a:noFill/>
          <a:ln>
            <a:noFill/>
          </a:ln>
        </p:spPr>
      </p:pic>
      <p:pic>
        <p:nvPicPr>
          <p:cNvPr id="470" name="Google Shape;470;p75"/>
          <p:cNvPicPr preferRelativeResize="0"/>
          <p:nvPr/>
        </p:nvPicPr>
        <p:blipFill>
          <a:blip r:embed="rId4">
            <a:alphaModFix/>
          </a:blip>
          <a:stretch>
            <a:fillRect/>
          </a:stretch>
        </p:blipFill>
        <p:spPr>
          <a:xfrm>
            <a:off x="4835700" y="2436713"/>
            <a:ext cx="1414463" cy="1571625"/>
          </a:xfrm>
          <a:prstGeom prst="rect">
            <a:avLst/>
          </a:prstGeom>
          <a:noFill/>
          <a:ln>
            <a:noFill/>
          </a:ln>
        </p:spPr>
      </p:pic>
      <p:pic>
        <p:nvPicPr>
          <p:cNvPr id="471" name="Google Shape;471;p75"/>
          <p:cNvPicPr preferRelativeResize="0"/>
          <p:nvPr/>
        </p:nvPicPr>
        <p:blipFill>
          <a:blip r:embed="rId5">
            <a:alphaModFix/>
          </a:blip>
          <a:stretch>
            <a:fillRect/>
          </a:stretch>
        </p:blipFill>
        <p:spPr>
          <a:xfrm>
            <a:off x="6783488" y="2233210"/>
            <a:ext cx="1771650" cy="1450181"/>
          </a:xfrm>
          <a:prstGeom prst="rect">
            <a:avLst/>
          </a:prstGeom>
          <a:noFill/>
          <a:ln>
            <a:noFill/>
          </a:ln>
        </p:spPr>
      </p:pic>
      <p:pic>
        <p:nvPicPr>
          <p:cNvPr id="472" name="Google Shape;472;p75"/>
          <p:cNvPicPr preferRelativeResize="0"/>
          <p:nvPr/>
        </p:nvPicPr>
        <p:blipFill>
          <a:blip r:embed="rId6">
            <a:alphaModFix/>
          </a:blip>
          <a:stretch>
            <a:fillRect/>
          </a:stretch>
        </p:blipFill>
        <p:spPr>
          <a:xfrm>
            <a:off x="6250162" y="3871023"/>
            <a:ext cx="2586038" cy="99298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76"/>
          <p:cNvSpPr txBox="1">
            <a:spLocks noGrp="1"/>
          </p:cNvSpPr>
          <p:nvPr>
            <p:ph type="title"/>
          </p:nvPr>
        </p:nvSpPr>
        <p:spPr>
          <a:xfrm>
            <a:off x="500550" y="330724"/>
            <a:ext cx="8520525" cy="1095975"/>
          </a:xfrm>
          <a:prstGeom prst="rect">
            <a:avLst/>
          </a:prstGeom>
        </p:spPr>
        <p:txBody>
          <a:bodyPr spcFirstLastPara="1" wrap="square" lIns="91425" tIns="91425" rIns="91425" bIns="91425" anchor="t" anchorCtr="0">
            <a:noAutofit/>
          </a:bodyPr>
          <a:lstStyle/>
          <a:p>
            <a:r>
              <a:rPr lang="en-US"/>
              <a:t>Аналитические базы данных</a:t>
            </a:r>
            <a:endParaRPr/>
          </a:p>
        </p:txBody>
      </p:sp>
      <p:sp>
        <p:nvSpPr>
          <p:cNvPr id="478" name="Google Shape;478;p76"/>
          <p:cNvSpPr txBox="1">
            <a:spLocks noGrp="1"/>
          </p:cNvSpPr>
          <p:nvPr>
            <p:ph type="body" idx="4294967295"/>
          </p:nvPr>
        </p:nvSpPr>
        <p:spPr>
          <a:xfrm>
            <a:off x="285450" y="1674656"/>
            <a:ext cx="4354650" cy="2683575"/>
          </a:xfrm>
          <a:prstGeom prst="rect">
            <a:avLst/>
          </a:prstGeom>
          <a:noFill/>
          <a:ln>
            <a:noFill/>
          </a:ln>
        </p:spPr>
        <p:txBody>
          <a:bodyPr spcFirstLastPara="1" wrap="square" lIns="68569" tIns="34275" rIns="68569" bIns="34275" anchor="t" anchorCtr="0">
            <a:normAutofit/>
          </a:bodyPr>
          <a:lstStyle/>
          <a:p>
            <a:pPr marL="342900" indent="-266700">
              <a:lnSpc>
                <a:spcPct val="150000"/>
              </a:lnSpc>
              <a:spcBef>
                <a:spcPts val="527"/>
              </a:spcBef>
              <a:buSzPts val="2000"/>
            </a:pPr>
            <a:r>
              <a:rPr lang="en-US" sz="1500"/>
              <a:t>Основа Data Warehouse</a:t>
            </a:r>
            <a:endParaRPr sz="1500"/>
          </a:p>
          <a:p>
            <a:pPr marL="342900" indent="-266700">
              <a:lnSpc>
                <a:spcPct val="150000"/>
              </a:lnSpc>
              <a:buSzPts val="2000"/>
            </a:pPr>
            <a:r>
              <a:rPr lang="en-US" sz="1500"/>
              <a:t>Часто используется колоночный способ хранения данных</a:t>
            </a:r>
            <a:endParaRPr sz="1500"/>
          </a:p>
          <a:p>
            <a:pPr marL="342900" indent="-266700">
              <a:lnSpc>
                <a:spcPct val="150000"/>
              </a:lnSpc>
              <a:buSzPts val="2000"/>
            </a:pPr>
            <a:r>
              <a:rPr lang="en-US" sz="1500"/>
              <a:t>Некоторые продукты используют MPP</a:t>
            </a:r>
            <a:endParaRPr sz="1500"/>
          </a:p>
          <a:p>
            <a:pPr marL="342900" indent="-266700">
              <a:lnSpc>
                <a:spcPct val="150000"/>
              </a:lnSpc>
              <a:buSzPts val="2000"/>
            </a:pPr>
            <a:r>
              <a:rPr lang="en-US" sz="1500"/>
              <a:t>Хорошо подходят для построения решений для аналитических задач </a:t>
            </a:r>
            <a:endParaRPr sz="1500"/>
          </a:p>
        </p:txBody>
      </p:sp>
      <p:pic>
        <p:nvPicPr>
          <p:cNvPr id="479" name="Google Shape;479;p76"/>
          <p:cNvPicPr preferRelativeResize="0"/>
          <p:nvPr/>
        </p:nvPicPr>
        <p:blipFill>
          <a:blip r:embed="rId3">
            <a:alphaModFix/>
          </a:blip>
          <a:stretch>
            <a:fillRect/>
          </a:stretch>
        </p:blipFill>
        <p:spPr>
          <a:xfrm>
            <a:off x="4882875" y="1517643"/>
            <a:ext cx="3935401" cy="941588"/>
          </a:xfrm>
          <a:prstGeom prst="rect">
            <a:avLst/>
          </a:prstGeom>
          <a:noFill/>
          <a:ln>
            <a:noFill/>
          </a:ln>
        </p:spPr>
      </p:pic>
      <p:pic>
        <p:nvPicPr>
          <p:cNvPr id="480" name="Google Shape;480;p76"/>
          <p:cNvPicPr preferRelativeResize="0"/>
          <p:nvPr/>
        </p:nvPicPr>
        <p:blipFill rotWithShape="1">
          <a:blip r:embed="rId4">
            <a:alphaModFix/>
          </a:blip>
          <a:srcRect l="17289" t="32816" r="16137" b="33881"/>
          <a:stretch/>
        </p:blipFill>
        <p:spPr>
          <a:xfrm>
            <a:off x="6381394" y="2394131"/>
            <a:ext cx="2436881" cy="941588"/>
          </a:xfrm>
          <a:prstGeom prst="rect">
            <a:avLst/>
          </a:prstGeom>
          <a:noFill/>
          <a:ln>
            <a:noFill/>
          </a:ln>
        </p:spPr>
      </p:pic>
      <p:pic>
        <p:nvPicPr>
          <p:cNvPr id="481" name="Google Shape;481;p76"/>
          <p:cNvPicPr preferRelativeResize="0"/>
          <p:nvPr/>
        </p:nvPicPr>
        <p:blipFill>
          <a:blip r:embed="rId5">
            <a:alphaModFix/>
          </a:blip>
          <a:stretch>
            <a:fillRect/>
          </a:stretch>
        </p:blipFill>
        <p:spPr>
          <a:xfrm>
            <a:off x="6037237" y="3285375"/>
            <a:ext cx="2818238" cy="1409119"/>
          </a:xfrm>
          <a:prstGeom prst="rect">
            <a:avLst/>
          </a:prstGeom>
          <a:noFill/>
          <a:ln>
            <a:noFill/>
          </a:ln>
        </p:spPr>
      </p:pic>
      <p:pic>
        <p:nvPicPr>
          <p:cNvPr id="482" name="Google Shape;482;p76"/>
          <p:cNvPicPr preferRelativeResize="0"/>
          <p:nvPr/>
        </p:nvPicPr>
        <p:blipFill>
          <a:blip r:embed="rId6">
            <a:alphaModFix/>
          </a:blip>
          <a:stretch>
            <a:fillRect/>
          </a:stretch>
        </p:blipFill>
        <p:spPr>
          <a:xfrm>
            <a:off x="4799062" y="2706937"/>
            <a:ext cx="1079213" cy="107921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77"/>
          <p:cNvSpPr txBox="1">
            <a:spLocks noGrp="1"/>
          </p:cNvSpPr>
          <p:nvPr>
            <p:ph type="title"/>
          </p:nvPr>
        </p:nvSpPr>
        <p:spPr>
          <a:xfrm>
            <a:off x="500550" y="330724"/>
            <a:ext cx="8520525" cy="1095975"/>
          </a:xfrm>
          <a:prstGeom prst="rect">
            <a:avLst/>
          </a:prstGeom>
        </p:spPr>
        <p:txBody>
          <a:bodyPr spcFirstLastPara="1" wrap="square" lIns="91425" tIns="91425" rIns="91425" bIns="91425" anchor="t" anchorCtr="0">
            <a:noAutofit/>
          </a:bodyPr>
          <a:lstStyle/>
          <a:p>
            <a:r>
              <a:rPr lang="en-US"/>
              <a:t>NoSQL базы данных</a:t>
            </a:r>
            <a:endParaRPr/>
          </a:p>
        </p:txBody>
      </p:sp>
      <p:pic>
        <p:nvPicPr>
          <p:cNvPr id="488" name="Google Shape;488;p77"/>
          <p:cNvPicPr preferRelativeResize="0"/>
          <p:nvPr/>
        </p:nvPicPr>
        <p:blipFill>
          <a:blip r:embed="rId3">
            <a:alphaModFix/>
          </a:blip>
          <a:stretch>
            <a:fillRect/>
          </a:stretch>
        </p:blipFill>
        <p:spPr>
          <a:xfrm>
            <a:off x="4784351" y="1238831"/>
            <a:ext cx="4052206" cy="2894429"/>
          </a:xfrm>
          <a:prstGeom prst="rect">
            <a:avLst/>
          </a:prstGeom>
          <a:noFill/>
          <a:ln>
            <a:noFill/>
          </a:ln>
        </p:spPr>
      </p:pic>
      <p:pic>
        <p:nvPicPr>
          <p:cNvPr id="489" name="Google Shape;489;p77"/>
          <p:cNvPicPr preferRelativeResize="0"/>
          <p:nvPr/>
        </p:nvPicPr>
        <p:blipFill>
          <a:blip r:embed="rId4">
            <a:alphaModFix/>
          </a:blip>
          <a:stretch>
            <a:fillRect/>
          </a:stretch>
        </p:blipFill>
        <p:spPr>
          <a:xfrm>
            <a:off x="5565262" y="4055007"/>
            <a:ext cx="2726045" cy="598444"/>
          </a:xfrm>
          <a:prstGeom prst="rect">
            <a:avLst/>
          </a:prstGeom>
          <a:noFill/>
          <a:ln>
            <a:noFill/>
          </a:ln>
        </p:spPr>
      </p:pic>
      <p:pic>
        <p:nvPicPr>
          <p:cNvPr id="490" name="Google Shape;490;p77"/>
          <p:cNvPicPr preferRelativeResize="0"/>
          <p:nvPr/>
        </p:nvPicPr>
        <p:blipFill>
          <a:blip r:embed="rId5">
            <a:alphaModFix/>
          </a:blip>
          <a:stretch>
            <a:fillRect/>
          </a:stretch>
        </p:blipFill>
        <p:spPr>
          <a:xfrm>
            <a:off x="36581" y="1181587"/>
            <a:ext cx="4171950" cy="350043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78"/>
          <p:cNvSpPr txBox="1">
            <a:spLocks noGrp="1"/>
          </p:cNvSpPr>
          <p:nvPr>
            <p:ph type="title"/>
          </p:nvPr>
        </p:nvSpPr>
        <p:spPr>
          <a:xfrm>
            <a:off x="500550" y="330724"/>
            <a:ext cx="8520525" cy="1095975"/>
          </a:xfrm>
          <a:prstGeom prst="rect">
            <a:avLst/>
          </a:prstGeom>
        </p:spPr>
        <p:txBody>
          <a:bodyPr spcFirstLastPara="1" wrap="square" lIns="91425" tIns="91425" rIns="91425" bIns="91425" anchor="t" anchorCtr="0">
            <a:noAutofit/>
          </a:bodyPr>
          <a:lstStyle/>
          <a:p>
            <a:r>
              <a:rPr lang="en-US"/>
              <a:t>CAP и PALEC</a:t>
            </a:r>
            <a:endParaRPr/>
          </a:p>
        </p:txBody>
      </p:sp>
      <p:pic>
        <p:nvPicPr>
          <p:cNvPr id="496" name="Google Shape;496;p78"/>
          <p:cNvPicPr preferRelativeResize="0"/>
          <p:nvPr/>
        </p:nvPicPr>
        <p:blipFill>
          <a:blip r:embed="rId3">
            <a:alphaModFix/>
          </a:blip>
          <a:stretch>
            <a:fillRect/>
          </a:stretch>
        </p:blipFill>
        <p:spPr>
          <a:xfrm>
            <a:off x="263101" y="1133814"/>
            <a:ext cx="4080488" cy="3226425"/>
          </a:xfrm>
          <a:prstGeom prst="rect">
            <a:avLst/>
          </a:prstGeom>
          <a:noFill/>
          <a:ln>
            <a:noFill/>
          </a:ln>
        </p:spPr>
      </p:pic>
      <p:pic>
        <p:nvPicPr>
          <p:cNvPr id="497" name="Google Shape;497;p78"/>
          <p:cNvPicPr preferRelativeResize="0"/>
          <p:nvPr/>
        </p:nvPicPr>
        <p:blipFill>
          <a:blip r:embed="rId4">
            <a:alphaModFix/>
          </a:blip>
          <a:stretch>
            <a:fillRect/>
          </a:stretch>
        </p:blipFill>
        <p:spPr>
          <a:xfrm>
            <a:off x="4576369" y="1249087"/>
            <a:ext cx="4444706" cy="29958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73"/>
          <p:cNvSpPr txBox="1">
            <a:spLocks noGrp="1"/>
          </p:cNvSpPr>
          <p:nvPr>
            <p:ph type="title"/>
          </p:nvPr>
        </p:nvSpPr>
        <p:spPr>
          <a:xfrm>
            <a:off x="502800" y="372038"/>
            <a:ext cx="8343000" cy="4150350"/>
          </a:xfrm>
          <a:prstGeom prst="rect">
            <a:avLst/>
          </a:prstGeom>
        </p:spPr>
        <p:txBody>
          <a:bodyPr spcFirstLastPara="1" wrap="square" lIns="91425" tIns="91425" rIns="91425" bIns="91425" anchor="ctr" anchorCtr="0">
            <a:noAutofit/>
          </a:bodyPr>
          <a:lstStyle/>
          <a:p>
            <a:r>
              <a:rPr lang="ru-RU" sz="4875" dirty="0"/>
              <a:t>Объектные хранилища и </a:t>
            </a:r>
            <a:r>
              <a:rPr lang="ru-RU" sz="4875" dirty="0" err="1"/>
              <a:t>D</a:t>
            </a:r>
            <a:r>
              <a:rPr lang="en-US" sz="4875" dirty="0" err="1"/>
              <a:t>ataLake</a:t>
            </a:r>
            <a:endParaRPr dirty="0"/>
          </a:p>
        </p:txBody>
      </p:sp>
    </p:spTree>
    <p:extLst>
      <p:ext uri="{BB962C8B-B14F-4D97-AF65-F5344CB8AC3E}">
        <p14:creationId xmlns:p14="http://schemas.microsoft.com/office/powerpoint/2010/main" val="2299082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80"/>
          <p:cNvSpPr txBox="1">
            <a:spLocks noGrp="1"/>
          </p:cNvSpPr>
          <p:nvPr>
            <p:ph type="title"/>
          </p:nvPr>
        </p:nvSpPr>
        <p:spPr>
          <a:xfrm>
            <a:off x="500550" y="330724"/>
            <a:ext cx="8520525" cy="1095975"/>
          </a:xfrm>
          <a:prstGeom prst="rect">
            <a:avLst/>
          </a:prstGeom>
        </p:spPr>
        <p:txBody>
          <a:bodyPr spcFirstLastPara="1" wrap="square" lIns="91425" tIns="91425" rIns="91425" bIns="91425" anchor="t" anchorCtr="0">
            <a:noAutofit/>
          </a:bodyPr>
          <a:lstStyle/>
          <a:p>
            <a:r>
              <a:rPr lang="en-US"/>
              <a:t>Object Storages и Datalakes</a:t>
            </a:r>
            <a:endParaRPr/>
          </a:p>
        </p:txBody>
      </p:sp>
      <p:sp>
        <p:nvSpPr>
          <p:cNvPr id="511" name="Google Shape;511;p80"/>
          <p:cNvSpPr txBox="1">
            <a:spLocks noGrp="1"/>
          </p:cNvSpPr>
          <p:nvPr>
            <p:ph type="body" idx="4294967295"/>
          </p:nvPr>
        </p:nvSpPr>
        <p:spPr>
          <a:xfrm>
            <a:off x="334143" y="1633894"/>
            <a:ext cx="4195125" cy="2683575"/>
          </a:xfrm>
          <a:prstGeom prst="rect">
            <a:avLst/>
          </a:prstGeom>
          <a:noFill/>
          <a:ln>
            <a:noFill/>
          </a:ln>
        </p:spPr>
        <p:txBody>
          <a:bodyPr spcFirstLastPara="1" wrap="square" lIns="68569" tIns="34275" rIns="68569" bIns="34275" anchor="t" anchorCtr="0">
            <a:normAutofit/>
          </a:bodyPr>
          <a:lstStyle/>
          <a:p>
            <a:pPr marL="0" indent="0">
              <a:lnSpc>
                <a:spcPct val="115000"/>
              </a:lnSpc>
              <a:spcBef>
                <a:spcPts val="300"/>
              </a:spcBef>
              <a:buNone/>
            </a:pPr>
            <a:r>
              <a:rPr lang="en-US" sz="2025" b="1"/>
              <a:t>     Object Storage</a:t>
            </a:r>
            <a:endParaRPr sz="1500">
              <a:solidFill>
                <a:srgbClr val="3F3F3F"/>
              </a:solidFill>
            </a:endParaRPr>
          </a:p>
          <a:p>
            <a:pPr marL="342900" indent="-266700">
              <a:lnSpc>
                <a:spcPct val="115000"/>
              </a:lnSpc>
              <a:spcBef>
                <a:spcPts val="527"/>
              </a:spcBef>
              <a:buClr>
                <a:srgbClr val="3F3F3F"/>
              </a:buClr>
              <a:buSzPts val="2000"/>
            </a:pPr>
            <a:r>
              <a:rPr lang="en-US" sz="1500">
                <a:solidFill>
                  <a:srgbClr val="3F3F3F"/>
                </a:solidFill>
              </a:rPr>
              <a:t>Представление данных в виде отдельных связанных с метаданными</a:t>
            </a:r>
            <a:endParaRPr sz="1500">
              <a:solidFill>
                <a:srgbClr val="3F3F3F"/>
              </a:solidFill>
            </a:endParaRPr>
          </a:p>
          <a:p>
            <a:pPr marL="342900" indent="-266700">
              <a:lnSpc>
                <a:spcPct val="115000"/>
              </a:lnSpc>
              <a:buClr>
                <a:srgbClr val="3F3F3F"/>
              </a:buClr>
              <a:buSzPts val="2000"/>
            </a:pPr>
            <a:r>
              <a:rPr lang="en-US" sz="1500">
                <a:solidFill>
                  <a:srgbClr val="3F3F3F"/>
                </a:solidFill>
              </a:rPr>
              <a:t>Уникальных идентификатор</a:t>
            </a:r>
            <a:endParaRPr sz="1500">
              <a:solidFill>
                <a:srgbClr val="3F3F3F"/>
              </a:solidFill>
            </a:endParaRPr>
          </a:p>
          <a:p>
            <a:pPr marL="342900" indent="-266700">
              <a:lnSpc>
                <a:spcPct val="115000"/>
              </a:lnSpc>
              <a:buClr>
                <a:srgbClr val="3F3F3F"/>
              </a:buClr>
              <a:buSzPts val="2000"/>
            </a:pPr>
            <a:r>
              <a:rPr lang="en-US" sz="1500">
                <a:solidFill>
                  <a:srgbClr val="3F3F3F"/>
                </a:solidFill>
              </a:rPr>
              <a:t>(S3) протокол поверх HTTP</a:t>
            </a:r>
            <a:endParaRPr sz="1500">
              <a:solidFill>
                <a:srgbClr val="3F3F3F"/>
              </a:solidFill>
            </a:endParaRPr>
          </a:p>
          <a:p>
            <a:pPr marL="342900" indent="-266700">
              <a:lnSpc>
                <a:spcPct val="115000"/>
              </a:lnSpc>
              <a:buClr>
                <a:srgbClr val="3F3F3F"/>
              </a:buClr>
              <a:buSzPts val="2000"/>
            </a:pPr>
            <a:r>
              <a:rPr lang="en-US" sz="1500">
                <a:solidFill>
                  <a:srgbClr val="3F3F3F"/>
                </a:solidFill>
              </a:rPr>
              <a:t>Много готовых коннекторов</a:t>
            </a:r>
            <a:endParaRPr sz="1500">
              <a:solidFill>
                <a:srgbClr val="3F3F3F"/>
              </a:solidFill>
            </a:endParaRPr>
          </a:p>
          <a:p>
            <a:pPr marL="342900" indent="-266700">
              <a:lnSpc>
                <a:spcPct val="115000"/>
              </a:lnSpc>
              <a:buClr>
                <a:srgbClr val="3F3F3F"/>
              </a:buClr>
              <a:buSzPts val="2000"/>
            </a:pPr>
            <a:r>
              <a:rPr lang="en-US" sz="1500">
                <a:solidFill>
                  <a:srgbClr val="3F3F3F"/>
                </a:solidFill>
              </a:rPr>
              <a:t>Часто предлагается в качестве базового масштабируемого хранилища облачными провайдерами</a:t>
            </a:r>
            <a:endParaRPr sz="1500">
              <a:solidFill>
                <a:srgbClr val="3F3F3F"/>
              </a:solidFill>
            </a:endParaRPr>
          </a:p>
        </p:txBody>
      </p:sp>
      <p:pic>
        <p:nvPicPr>
          <p:cNvPr id="512" name="Google Shape;512;p80"/>
          <p:cNvPicPr preferRelativeResize="0"/>
          <p:nvPr/>
        </p:nvPicPr>
        <p:blipFill>
          <a:blip r:embed="rId3">
            <a:alphaModFix/>
          </a:blip>
          <a:stretch>
            <a:fillRect/>
          </a:stretch>
        </p:blipFill>
        <p:spPr>
          <a:xfrm>
            <a:off x="4529269" y="1297182"/>
            <a:ext cx="4498650" cy="30141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73"/>
          <p:cNvSpPr txBox="1">
            <a:spLocks noGrp="1"/>
          </p:cNvSpPr>
          <p:nvPr>
            <p:ph type="title"/>
          </p:nvPr>
        </p:nvSpPr>
        <p:spPr>
          <a:xfrm>
            <a:off x="502800" y="372038"/>
            <a:ext cx="8343000" cy="4150350"/>
          </a:xfrm>
          <a:prstGeom prst="rect">
            <a:avLst/>
          </a:prstGeom>
        </p:spPr>
        <p:txBody>
          <a:bodyPr spcFirstLastPara="1" wrap="square" lIns="91425" tIns="91425" rIns="91425" bIns="91425" anchor="ctr" anchorCtr="0">
            <a:noAutofit/>
          </a:bodyPr>
          <a:lstStyle/>
          <a:p>
            <a:r>
              <a:rPr lang="en-US" sz="4875" dirty="0"/>
              <a:t>Hadoop</a:t>
            </a:r>
            <a:endParaRPr dirty="0"/>
          </a:p>
        </p:txBody>
      </p:sp>
    </p:spTree>
    <p:extLst>
      <p:ext uri="{BB962C8B-B14F-4D97-AF65-F5344CB8AC3E}">
        <p14:creationId xmlns:p14="http://schemas.microsoft.com/office/powerpoint/2010/main" val="654235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82"/>
          <p:cNvSpPr txBox="1">
            <a:spLocks noGrp="1"/>
          </p:cNvSpPr>
          <p:nvPr>
            <p:ph type="title"/>
          </p:nvPr>
        </p:nvSpPr>
        <p:spPr>
          <a:xfrm>
            <a:off x="500550" y="330724"/>
            <a:ext cx="8520525" cy="1095975"/>
          </a:xfrm>
          <a:prstGeom prst="rect">
            <a:avLst/>
          </a:prstGeom>
        </p:spPr>
        <p:txBody>
          <a:bodyPr spcFirstLastPara="1" wrap="square" lIns="91425" tIns="91425" rIns="91425" bIns="91425" anchor="t" anchorCtr="0">
            <a:noAutofit/>
          </a:bodyPr>
          <a:lstStyle/>
          <a:p>
            <a:r>
              <a:rPr lang="en-US"/>
              <a:t>Hadoop</a:t>
            </a:r>
            <a:endParaRPr/>
          </a:p>
        </p:txBody>
      </p:sp>
      <p:sp>
        <p:nvSpPr>
          <p:cNvPr id="526" name="Google Shape;526;p82"/>
          <p:cNvSpPr txBox="1">
            <a:spLocks noGrp="1"/>
          </p:cNvSpPr>
          <p:nvPr>
            <p:ph type="body" idx="4294967295"/>
          </p:nvPr>
        </p:nvSpPr>
        <p:spPr>
          <a:xfrm>
            <a:off x="220688" y="1558144"/>
            <a:ext cx="4801950" cy="2800800"/>
          </a:xfrm>
          <a:prstGeom prst="rect">
            <a:avLst/>
          </a:prstGeom>
          <a:noFill/>
          <a:ln>
            <a:noFill/>
          </a:ln>
        </p:spPr>
        <p:txBody>
          <a:bodyPr spcFirstLastPara="1" wrap="square" lIns="68569" tIns="34275" rIns="68569" bIns="34275" anchor="t" anchorCtr="0">
            <a:normAutofit fontScale="92500" lnSpcReduction="20000"/>
          </a:bodyPr>
          <a:lstStyle/>
          <a:p>
            <a:pPr marL="342900" indent="-266700">
              <a:lnSpc>
                <a:spcPct val="150000"/>
              </a:lnSpc>
              <a:spcBef>
                <a:spcPts val="527"/>
              </a:spcBef>
              <a:buSzPts val="2000"/>
            </a:pPr>
            <a:r>
              <a:rPr lang="en-US" sz="1500"/>
              <a:t>Основан на статье от инженеров Google - MapReduce</a:t>
            </a:r>
            <a:endParaRPr sz="1500"/>
          </a:p>
          <a:p>
            <a:pPr marL="342900" indent="-266700">
              <a:lnSpc>
                <a:spcPct val="150000"/>
              </a:lnSpc>
              <a:buSzPts val="2000"/>
            </a:pPr>
            <a:r>
              <a:rPr lang="en-US" sz="1500"/>
              <a:t>Развивается с 2005 года</a:t>
            </a:r>
            <a:endParaRPr sz="1500"/>
          </a:p>
          <a:p>
            <a:pPr marL="342900" indent="-266700">
              <a:lnSpc>
                <a:spcPct val="150000"/>
              </a:lnSpc>
              <a:buSzPts val="2000"/>
            </a:pPr>
            <a:r>
              <a:rPr lang="en-US" sz="1500"/>
              <a:t>В качестве основы - распределенная файловая система HDFS</a:t>
            </a:r>
            <a:endParaRPr sz="1500"/>
          </a:p>
          <a:p>
            <a:pPr marL="342900" indent="-266700">
              <a:lnSpc>
                <a:spcPct val="150000"/>
              </a:lnSpc>
              <a:buSzPts val="2000"/>
            </a:pPr>
            <a:r>
              <a:rPr lang="en-US" sz="1500"/>
              <a:t>Для обработки данных фреймворк MapReduce</a:t>
            </a:r>
            <a:endParaRPr sz="1500"/>
          </a:p>
          <a:p>
            <a:pPr marL="342900" indent="-266700">
              <a:lnSpc>
                <a:spcPct val="150000"/>
              </a:lnSpc>
              <a:buSzPts val="2000"/>
            </a:pPr>
            <a:r>
              <a:rPr lang="en-US" sz="1500"/>
              <a:t>Горизонтальная масштабируемость</a:t>
            </a:r>
            <a:endParaRPr sz="1500"/>
          </a:p>
          <a:p>
            <a:pPr marL="342900" indent="-266700">
              <a:lnSpc>
                <a:spcPct val="150000"/>
              </a:lnSpc>
              <a:buSzPts val="2000"/>
            </a:pPr>
            <a:r>
              <a:rPr lang="en-US" sz="1500"/>
              <a:t>Дублирование данных (по умолчанию 3 копии)</a:t>
            </a:r>
            <a:endParaRPr sz="1500"/>
          </a:p>
          <a:p>
            <a:pPr marL="342900" indent="-266700">
              <a:lnSpc>
                <a:spcPct val="150000"/>
              </a:lnSpc>
              <a:buSzPts val="2000"/>
            </a:pPr>
            <a:r>
              <a:rPr lang="en-US" sz="1500"/>
              <a:t>Минимизация пересылки данных по сети</a:t>
            </a:r>
            <a:endParaRPr sz="1500"/>
          </a:p>
        </p:txBody>
      </p:sp>
      <p:pic>
        <p:nvPicPr>
          <p:cNvPr id="527" name="Google Shape;527;p82"/>
          <p:cNvPicPr preferRelativeResize="0"/>
          <p:nvPr/>
        </p:nvPicPr>
        <p:blipFill>
          <a:blip r:embed="rId3">
            <a:alphaModFix/>
          </a:blip>
          <a:stretch>
            <a:fillRect/>
          </a:stretch>
        </p:blipFill>
        <p:spPr>
          <a:xfrm>
            <a:off x="5190338" y="1900106"/>
            <a:ext cx="3677100" cy="168348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83"/>
          <p:cNvSpPr txBox="1">
            <a:spLocks noGrp="1"/>
          </p:cNvSpPr>
          <p:nvPr>
            <p:ph type="title"/>
          </p:nvPr>
        </p:nvSpPr>
        <p:spPr>
          <a:xfrm>
            <a:off x="500550" y="330724"/>
            <a:ext cx="8520525" cy="1095975"/>
          </a:xfrm>
          <a:prstGeom prst="rect">
            <a:avLst/>
          </a:prstGeom>
        </p:spPr>
        <p:txBody>
          <a:bodyPr spcFirstLastPara="1" wrap="square" lIns="91425" tIns="91425" rIns="91425" bIns="91425" anchor="t" anchorCtr="0">
            <a:noAutofit/>
          </a:bodyPr>
          <a:lstStyle/>
          <a:p>
            <a:r>
              <a:rPr lang="en-US"/>
              <a:t>Базовые компоненты Hadoop</a:t>
            </a:r>
            <a:endParaRPr/>
          </a:p>
        </p:txBody>
      </p:sp>
      <p:pic>
        <p:nvPicPr>
          <p:cNvPr id="533" name="Google Shape;533;p83"/>
          <p:cNvPicPr preferRelativeResize="0"/>
          <p:nvPr/>
        </p:nvPicPr>
        <p:blipFill>
          <a:blip r:embed="rId3">
            <a:alphaModFix/>
          </a:blip>
          <a:stretch>
            <a:fillRect/>
          </a:stretch>
        </p:blipFill>
        <p:spPr>
          <a:xfrm>
            <a:off x="5190338" y="1900106"/>
            <a:ext cx="3677100" cy="1683488"/>
          </a:xfrm>
          <a:prstGeom prst="rect">
            <a:avLst/>
          </a:prstGeom>
          <a:noFill/>
          <a:ln>
            <a:noFill/>
          </a:ln>
        </p:spPr>
      </p:pic>
      <p:sp>
        <p:nvSpPr>
          <p:cNvPr id="534" name="Google Shape;534;p83"/>
          <p:cNvSpPr txBox="1">
            <a:spLocks noGrp="1"/>
          </p:cNvSpPr>
          <p:nvPr>
            <p:ph type="body" idx="4294967295"/>
          </p:nvPr>
        </p:nvSpPr>
        <p:spPr>
          <a:xfrm>
            <a:off x="332288" y="2236350"/>
            <a:ext cx="4374000" cy="1683450"/>
          </a:xfrm>
          <a:prstGeom prst="rect">
            <a:avLst/>
          </a:prstGeom>
          <a:noFill/>
          <a:ln>
            <a:noFill/>
          </a:ln>
        </p:spPr>
        <p:txBody>
          <a:bodyPr spcFirstLastPara="1" wrap="square" lIns="68569" tIns="34275" rIns="68569" bIns="34275" anchor="t" anchorCtr="0">
            <a:normAutofit/>
          </a:bodyPr>
          <a:lstStyle/>
          <a:p>
            <a:pPr marL="342900" indent="-266700">
              <a:lnSpc>
                <a:spcPct val="150000"/>
              </a:lnSpc>
              <a:spcBef>
                <a:spcPts val="527"/>
              </a:spcBef>
              <a:buSzPts val="2000"/>
            </a:pPr>
            <a:r>
              <a:rPr lang="en-US" sz="1500"/>
              <a:t>HDFS - Hadoop Distributed File System</a:t>
            </a:r>
            <a:endParaRPr sz="1500"/>
          </a:p>
          <a:p>
            <a:pPr marL="342900" indent="-266700">
              <a:lnSpc>
                <a:spcPct val="150000"/>
              </a:lnSpc>
              <a:buSzPts val="2000"/>
            </a:pPr>
            <a:r>
              <a:rPr lang="en-US" sz="1500"/>
              <a:t>YARN - менеджер ресурсов</a:t>
            </a:r>
            <a:endParaRPr sz="1500"/>
          </a:p>
          <a:p>
            <a:pPr marL="342900" indent="-266700">
              <a:lnSpc>
                <a:spcPct val="150000"/>
              </a:lnSpc>
              <a:buSzPts val="2000"/>
            </a:pPr>
            <a:r>
              <a:rPr lang="en-US" sz="1500"/>
              <a:t>MapReduce - фреймворк для обработки данных</a:t>
            </a:r>
            <a:endParaRPr sz="15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84"/>
          <p:cNvSpPr txBox="1">
            <a:spLocks noGrp="1"/>
          </p:cNvSpPr>
          <p:nvPr>
            <p:ph type="title"/>
          </p:nvPr>
        </p:nvSpPr>
        <p:spPr>
          <a:xfrm>
            <a:off x="500550" y="330724"/>
            <a:ext cx="8520525" cy="1095975"/>
          </a:xfrm>
          <a:prstGeom prst="rect">
            <a:avLst/>
          </a:prstGeom>
        </p:spPr>
        <p:txBody>
          <a:bodyPr spcFirstLastPara="1" wrap="square" lIns="91425" tIns="91425" rIns="91425" bIns="91425" anchor="t" anchorCtr="0">
            <a:noAutofit/>
          </a:bodyPr>
          <a:lstStyle/>
          <a:p>
            <a:r>
              <a:rPr lang="en-US"/>
              <a:t>Экосистема Hadoop</a:t>
            </a:r>
            <a:endParaRPr/>
          </a:p>
        </p:txBody>
      </p:sp>
      <p:pic>
        <p:nvPicPr>
          <p:cNvPr id="540" name="Google Shape;540;p84"/>
          <p:cNvPicPr preferRelativeResize="0"/>
          <p:nvPr/>
        </p:nvPicPr>
        <p:blipFill>
          <a:blip r:embed="rId3">
            <a:alphaModFix/>
          </a:blip>
          <a:stretch>
            <a:fillRect/>
          </a:stretch>
        </p:blipFill>
        <p:spPr>
          <a:xfrm>
            <a:off x="551419" y="829032"/>
            <a:ext cx="8018907" cy="40745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85"/>
          <p:cNvSpPr txBox="1">
            <a:spLocks noGrp="1"/>
          </p:cNvSpPr>
          <p:nvPr>
            <p:ph type="title"/>
          </p:nvPr>
        </p:nvSpPr>
        <p:spPr>
          <a:xfrm>
            <a:off x="500550" y="330724"/>
            <a:ext cx="8520525" cy="1095975"/>
          </a:xfrm>
          <a:prstGeom prst="rect">
            <a:avLst/>
          </a:prstGeom>
        </p:spPr>
        <p:txBody>
          <a:bodyPr spcFirstLastPara="1" wrap="square" lIns="91425" tIns="91425" rIns="91425" bIns="91425" anchor="t" anchorCtr="0">
            <a:noAutofit/>
          </a:bodyPr>
          <a:lstStyle/>
          <a:p>
            <a:r>
              <a:rPr lang="en-US"/>
              <a:t>Apache Hive</a:t>
            </a:r>
            <a:endParaRPr/>
          </a:p>
        </p:txBody>
      </p:sp>
      <p:sp>
        <p:nvSpPr>
          <p:cNvPr id="546" name="Google Shape;546;p85"/>
          <p:cNvSpPr txBox="1">
            <a:spLocks noGrp="1"/>
          </p:cNvSpPr>
          <p:nvPr>
            <p:ph type="body" idx="4294967295"/>
          </p:nvPr>
        </p:nvSpPr>
        <p:spPr>
          <a:xfrm>
            <a:off x="486469" y="1403944"/>
            <a:ext cx="5071725" cy="2800800"/>
          </a:xfrm>
          <a:prstGeom prst="rect">
            <a:avLst/>
          </a:prstGeom>
          <a:noFill/>
          <a:ln>
            <a:noFill/>
          </a:ln>
        </p:spPr>
        <p:txBody>
          <a:bodyPr spcFirstLastPara="1" wrap="square" lIns="68569" tIns="34275" rIns="68569" bIns="34275" anchor="t" anchorCtr="0">
            <a:normAutofit fontScale="92500" lnSpcReduction="20000"/>
          </a:bodyPr>
          <a:lstStyle/>
          <a:p>
            <a:pPr marL="342900" indent="-266700">
              <a:lnSpc>
                <a:spcPct val="150000"/>
              </a:lnSpc>
              <a:spcBef>
                <a:spcPts val="527"/>
              </a:spcBef>
              <a:buSzPts val="2000"/>
            </a:pPr>
            <a:r>
              <a:rPr lang="en-US" sz="1500"/>
              <a:t>Год выхода - 2010 </a:t>
            </a:r>
            <a:endParaRPr sz="1500"/>
          </a:p>
          <a:p>
            <a:pPr marL="342900" indent="-266700">
              <a:lnSpc>
                <a:spcPct val="150000"/>
              </a:lnSpc>
              <a:buSzPts val="2000"/>
            </a:pPr>
            <a:r>
              <a:rPr lang="en-US" sz="1500"/>
              <a:t>SQL-like синтаксис</a:t>
            </a:r>
            <a:endParaRPr sz="1500"/>
          </a:p>
          <a:p>
            <a:pPr marL="342900" indent="-266700">
              <a:lnSpc>
                <a:spcPct val="150000"/>
              </a:lnSpc>
              <a:buSzPts val="2000"/>
            </a:pPr>
            <a:r>
              <a:rPr lang="en-US" sz="1500"/>
              <a:t>Конвертирует SQL запросы в MapReduce задачи</a:t>
            </a:r>
            <a:endParaRPr sz="1500"/>
          </a:p>
          <a:p>
            <a:pPr marL="342900" indent="-266700">
              <a:lnSpc>
                <a:spcPct val="150000"/>
              </a:lnSpc>
              <a:buSzPts val="2000"/>
            </a:pPr>
            <a:r>
              <a:rPr lang="en-US" sz="1500"/>
              <a:t>Поддерживает различные форматы хранения</a:t>
            </a:r>
            <a:endParaRPr sz="1500"/>
          </a:p>
          <a:p>
            <a:pPr marL="685800" lvl="1" indent="-266700">
              <a:lnSpc>
                <a:spcPct val="150000"/>
              </a:lnSpc>
              <a:buSzPts val="2000"/>
            </a:pPr>
            <a:r>
              <a:rPr lang="en-US"/>
              <a:t>csv</a:t>
            </a:r>
            <a:endParaRPr/>
          </a:p>
          <a:p>
            <a:pPr marL="685800" lvl="1" indent="-266700">
              <a:lnSpc>
                <a:spcPct val="150000"/>
              </a:lnSpc>
              <a:buSzPts val="2000"/>
            </a:pPr>
            <a:r>
              <a:rPr lang="en-US"/>
              <a:t>ORC</a:t>
            </a:r>
            <a:endParaRPr/>
          </a:p>
          <a:p>
            <a:pPr marL="685800" lvl="1" indent="-266700">
              <a:lnSpc>
                <a:spcPct val="150000"/>
              </a:lnSpc>
              <a:buSzPts val="2000"/>
            </a:pPr>
            <a:r>
              <a:rPr lang="en-US"/>
              <a:t>Avro</a:t>
            </a:r>
            <a:endParaRPr/>
          </a:p>
          <a:p>
            <a:pPr marL="685800" lvl="1" indent="-266700">
              <a:lnSpc>
                <a:spcPct val="150000"/>
              </a:lnSpc>
              <a:buSzPts val="2000"/>
            </a:pPr>
            <a:r>
              <a:rPr lang="en-US"/>
              <a:t>parquet</a:t>
            </a:r>
            <a:endParaRPr/>
          </a:p>
          <a:p>
            <a:pPr marL="685800" lvl="1" indent="-266700">
              <a:lnSpc>
                <a:spcPct val="150000"/>
              </a:lnSpc>
              <a:buSzPts val="2000"/>
            </a:pPr>
            <a:r>
              <a:rPr lang="en-US"/>
              <a:t>JSON</a:t>
            </a:r>
            <a:endParaRPr/>
          </a:p>
        </p:txBody>
      </p:sp>
      <p:pic>
        <p:nvPicPr>
          <p:cNvPr id="547" name="Google Shape;547;p85"/>
          <p:cNvPicPr preferRelativeResize="0"/>
          <p:nvPr/>
        </p:nvPicPr>
        <p:blipFill>
          <a:blip r:embed="rId3">
            <a:alphaModFix/>
          </a:blip>
          <a:stretch>
            <a:fillRect/>
          </a:stretch>
        </p:blipFill>
        <p:spPr>
          <a:xfrm>
            <a:off x="5840518" y="1540112"/>
            <a:ext cx="2591606" cy="232914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73"/>
          <p:cNvSpPr txBox="1">
            <a:spLocks noGrp="1"/>
          </p:cNvSpPr>
          <p:nvPr>
            <p:ph type="title"/>
          </p:nvPr>
        </p:nvSpPr>
        <p:spPr>
          <a:xfrm>
            <a:off x="502800" y="372038"/>
            <a:ext cx="8343000" cy="4150350"/>
          </a:xfrm>
          <a:prstGeom prst="rect">
            <a:avLst/>
          </a:prstGeom>
        </p:spPr>
        <p:txBody>
          <a:bodyPr spcFirstLastPara="1" wrap="square" lIns="91425" tIns="91425" rIns="91425" bIns="91425" anchor="ctr" anchorCtr="0">
            <a:noAutofit/>
          </a:bodyPr>
          <a:lstStyle/>
          <a:p>
            <a:r>
              <a:rPr lang="en-US" sz="4875" dirty="0"/>
              <a:t>Spark</a:t>
            </a:r>
            <a:endParaRPr dirty="0"/>
          </a:p>
        </p:txBody>
      </p:sp>
    </p:spTree>
    <p:extLst>
      <p:ext uri="{BB962C8B-B14F-4D97-AF65-F5344CB8AC3E}">
        <p14:creationId xmlns:p14="http://schemas.microsoft.com/office/powerpoint/2010/main" val="5700278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87"/>
          <p:cNvSpPr txBox="1">
            <a:spLocks noGrp="1"/>
          </p:cNvSpPr>
          <p:nvPr>
            <p:ph type="title"/>
          </p:nvPr>
        </p:nvSpPr>
        <p:spPr>
          <a:xfrm>
            <a:off x="500550" y="330724"/>
            <a:ext cx="8520525" cy="1095975"/>
          </a:xfrm>
          <a:prstGeom prst="rect">
            <a:avLst/>
          </a:prstGeom>
        </p:spPr>
        <p:txBody>
          <a:bodyPr spcFirstLastPara="1" wrap="square" lIns="91425" tIns="91425" rIns="91425" bIns="91425" anchor="t" anchorCtr="0">
            <a:noAutofit/>
          </a:bodyPr>
          <a:lstStyle/>
          <a:p>
            <a:r>
              <a:rPr lang="en-US"/>
              <a:t>Apache Spark</a:t>
            </a:r>
            <a:endParaRPr/>
          </a:p>
        </p:txBody>
      </p:sp>
      <p:sp>
        <p:nvSpPr>
          <p:cNvPr id="561" name="Google Shape;561;p87"/>
          <p:cNvSpPr txBox="1">
            <a:spLocks noGrp="1"/>
          </p:cNvSpPr>
          <p:nvPr>
            <p:ph type="body" idx="4294967295"/>
          </p:nvPr>
        </p:nvSpPr>
        <p:spPr>
          <a:xfrm>
            <a:off x="360188" y="1269806"/>
            <a:ext cx="5463450" cy="3584475"/>
          </a:xfrm>
          <a:prstGeom prst="rect">
            <a:avLst/>
          </a:prstGeom>
          <a:noFill/>
          <a:ln>
            <a:noFill/>
          </a:ln>
        </p:spPr>
        <p:txBody>
          <a:bodyPr spcFirstLastPara="1" wrap="square" lIns="68569" tIns="34275" rIns="68569" bIns="34275" anchor="t" anchorCtr="0">
            <a:normAutofit/>
          </a:bodyPr>
          <a:lstStyle/>
          <a:p>
            <a:pPr marL="342900" indent="-266700">
              <a:lnSpc>
                <a:spcPct val="150000"/>
              </a:lnSpc>
              <a:spcBef>
                <a:spcPts val="527"/>
              </a:spcBef>
              <a:buSzPts val="2000"/>
            </a:pPr>
            <a:r>
              <a:rPr lang="en-US" sz="1500"/>
              <a:t>Дата выхода - 2010</a:t>
            </a:r>
            <a:endParaRPr sz="1500"/>
          </a:p>
          <a:p>
            <a:pPr marL="342900" indent="-266700">
              <a:lnSpc>
                <a:spcPct val="150000"/>
              </a:lnSpc>
              <a:buSzPts val="2000"/>
            </a:pPr>
            <a:r>
              <a:rPr lang="en-US" sz="1500"/>
              <a:t>Работает поверх YARN</a:t>
            </a:r>
            <a:endParaRPr sz="1500"/>
          </a:p>
          <a:p>
            <a:pPr marL="342900" indent="-266700">
              <a:lnSpc>
                <a:spcPct val="150000"/>
              </a:lnSpc>
              <a:buSzPts val="2000"/>
            </a:pPr>
            <a:r>
              <a:rPr lang="en-US" sz="1500"/>
              <a:t>Эффективно переиспользует данные в RAM </a:t>
            </a:r>
            <a:endParaRPr sz="1500"/>
          </a:p>
          <a:p>
            <a:pPr marL="342900" indent="-266700">
              <a:lnSpc>
                <a:spcPct val="150000"/>
              </a:lnSpc>
              <a:buSzPts val="2000"/>
            </a:pPr>
            <a:r>
              <a:rPr lang="en-US" sz="1500"/>
              <a:t>Поддерживает различные языки</a:t>
            </a:r>
            <a:endParaRPr sz="1500"/>
          </a:p>
          <a:p>
            <a:pPr marL="685800" lvl="1" indent="-266700">
              <a:lnSpc>
                <a:spcPct val="150000"/>
              </a:lnSpc>
              <a:buSzPts val="2000"/>
            </a:pPr>
            <a:r>
              <a:rPr lang="en-US"/>
              <a:t>Java, Scala, Python, R</a:t>
            </a:r>
            <a:endParaRPr/>
          </a:p>
          <a:p>
            <a:pPr marL="342900" indent="-266700">
              <a:lnSpc>
                <a:spcPct val="150000"/>
              </a:lnSpc>
              <a:buSzPts val="2000"/>
            </a:pPr>
            <a:r>
              <a:rPr lang="en-US" sz="1500"/>
              <a:t>Готовые модули</a:t>
            </a:r>
            <a:endParaRPr sz="1500"/>
          </a:p>
          <a:p>
            <a:pPr marL="685800" lvl="1" indent="-266700">
              <a:lnSpc>
                <a:spcPct val="150000"/>
              </a:lnSpc>
              <a:buSzPts val="2000"/>
            </a:pPr>
            <a:r>
              <a:rPr lang="en-US"/>
              <a:t>Spark SQL</a:t>
            </a:r>
            <a:endParaRPr/>
          </a:p>
          <a:p>
            <a:pPr marL="685800" lvl="1" indent="-266700">
              <a:lnSpc>
                <a:spcPct val="150000"/>
              </a:lnSpc>
              <a:buSzPts val="2000"/>
            </a:pPr>
            <a:r>
              <a:rPr lang="en-US"/>
              <a:t>Spark Streaming</a:t>
            </a:r>
            <a:endParaRPr/>
          </a:p>
          <a:p>
            <a:pPr marL="685800" lvl="1" indent="-266700">
              <a:lnSpc>
                <a:spcPct val="150000"/>
              </a:lnSpc>
              <a:buSzPts val="2000"/>
            </a:pPr>
            <a:r>
              <a:rPr lang="en-US"/>
              <a:t>MLlib</a:t>
            </a:r>
            <a:endParaRPr/>
          </a:p>
          <a:p>
            <a:pPr marL="685800" lvl="1" indent="-266700">
              <a:lnSpc>
                <a:spcPct val="150000"/>
              </a:lnSpc>
              <a:buSzPts val="2000"/>
            </a:pPr>
            <a:r>
              <a:rPr lang="en-US"/>
              <a:t>GraphX</a:t>
            </a:r>
            <a:endParaRPr/>
          </a:p>
        </p:txBody>
      </p:sp>
      <p:pic>
        <p:nvPicPr>
          <p:cNvPr id="562" name="Google Shape;562;p87"/>
          <p:cNvPicPr preferRelativeResize="0"/>
          <p:nvPr/>
        </p:nvPicPr>
        <p:blipFill>
          <a:blip r:embed="rId3">
            <a:alphaModFix/>
          </a:blip>
          <a:stretch>
            <a:fillRect/>
          </a:stretch>
        </p:blipFill>
        <p:spPr>
          <a:xfrm>
            <a:off x="5001112" y="669244"/>
            <a:ext cx="3418388" cy="1914281"/>
          </a:xfrm>
          <a:prstGeom prst="rect">
            <a:avLst/>
          </a:prstGeom>
          <a:noFill/>
          <a:ln>
            <a:noFill/>
          </a:ln>
        </p:spPr>
      </p:pic>
      <p:pic>
        <p:nvPicPr>
          <p:cNvPr id="563" name="Google Shape;563;p87"/>
          <p:cNvPicPr preferRelativeResize="0"/>
          <p:nvPr/>
        </p:nvPicPr>
        <p:blipFill>
          <a:blip r:embed="rId4">
            <a:alphaModFix/>
          </a:blip>
          <a:stretch>
            <a:fillRect/>
          </a:stretch>
        </p:blipFill>
        <p:spPr>
          <a:xfrm>
            <a:off x="5285887" y="3080221"/>
            <a:ext cx="3196913" cy="164959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73"/>
          <p:cNvSpPr txBox="1">
            <a:spLocks noGrp="1"/>
          </p:cNvSpPr>
          <p:nvPr>
            <p:ph type="title"/>
          </p:nvPr>
        </p:nvSpPr>
        <p:spPr>
          <a:xfrm>
            <a:off x="502800" y="372038"/>
            <a:ext cx="8343000" cy="4150350"/>
          </a:xfrm>
          <a:prstGeom prst="rect">
            <a:avLst/>
          </a:prstGeom>
        </p:spPr>
        <p:txBody>
          <a:bodyPr spcFirstLastPara="1" wrap="square" lIns="91425" tIns="91425" rIns="91425" bIns="91425" anchor="ctr" anchorCtr="0">
            <a:noAutofit/>
          </a:bodyPr>
          <a:lstStyle/>
          <a:p>
            <a:r>
              <a:rPr lang="en-US" sz="4875" dirty="0" err="1"/>
              <a:t>П</a:t>
            </a:r>
            <a:r>
              <a:rPr lang="ru-RU" sz="4875" dirty="0" err="1"/>
              <a:t>отоковая</a:t>
            </a:r>
            <a:r>
              <a:rPr lang="ru-RU" sz="4875" dirty="0"/>
              <a:t> обработка</a:t>
            </a:r>
            <a:endParaRPr dirty="0"/>
          </a:p>
        </p:txBody>
      </p:sp>
    </p:spTree>
    <p:extLst>
      <p:ext uri="{BB962C8B-B14F-4D97-AF65-F5344CB8AC3E}">
        <p14:creationId xmlns:p14="http://schemas.microsoft.com/office/powerpoint/2010/main" val="7193648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89"/>
          <p:cNvSpPr txBox="1">
            <a:spLocks noGrp="1"/>
          </p:cNvSpPr>
          <p:nvPr>
            <p:ph type="title"/>
          </p:nvPr>
        </p:nvSpPr>
        <p:spPr>
          <a:xfrm>
            <a:off x="500550" y="330724"/>
            <a:ext cx="8520525" cy="1095975"/>
          </a:xfrm>
          <a:prstGeom prst="rect">
            <a:avLst/>
          </a:prstGeom>
        </p:spPr>
        <p:txBody>
          <a:bodyPr spcFirstLastPara="1" wrap="square" lIns="91425" tIns="91425" rIns="91425" bIns="91425" anchor="t" anchorCtr="0">
            <a:noAutofit/>
          </a:bodyPr>
          <a:lstStyle/>
          <a:p>
            <a:r>
              <a:rPr lang="en-US"/>
              <a:t>Фреймворки для потоковой обработки</a:t>
            </a:r>
            <a:endParaRPr/>
          </a:p>
        </p:txBody>
      </p:sp>
      <p:sp>
        <p:nvSpPr>
          <p:cNvPr id="577" name="Google Shape;577;p89"/>
          <p:cNvSpPr txBox="1">
            <a:spLocks noGrp="1"/>
          </p:cNvSpPr>
          <p:nvPr>
            <p:ph type="body" idx="4294967295"/>
          </p:nvPr>
        </p:nvSpPr>
        <p:spPr>
          <a:xfrm>
            <a:off x="360188" y="1498406"/>
            <a:ext cx="5463450" cy="2022750"/>
          </a:xfrm>
          <a:prstGeom prst="rect">
            <a:avLst/>
          </a:prstGeom>
          <a:noFill/>
          <a:ln>
            <a:noFill/>
          </a:ln>
        </p:spPr>
        <p:txBody>
          <a:bodyPr spcFirstLastPara="1" wrap="square" lIns="68569" tIns="34275" rIns="68569" bIns="34275" anchor="t" anchorCtr="0">
            <a:normAutofit/>
          </a:bodyPr>
          <a:lstStyle/>
          <a:p>
            <a:pPr marL="342900" indent="-266700">
              <a:lnSpc>
                <a:spcPct val="150000"/>
              </a:lnSpc>
              <a:spcBef>
                <a:spcPts val="527"/>
              </a:spcBef>
              <a:buSzPts val="2000"/>
            </a:pPr>
            <a:r>
              <a:rPr lang="en-US" sz="1500"/>
              <a:t>Данные обрабатываются по мере появления</a:t>
            </a:r>
            <a:endParaRPr sz="1500"/>
          </a:p>
          <a:p>
            <a:pPr marL="342900" indent="-266700">
              <a:lnSpc>
                <a:spcPct val="150000"/>
              </a:lnSpc>
              <a:buSzPts val="2000"/>
            </a:pPr>
            <a:r>
              <a:rPr lang="en-US" sz="1500"/>
              <a:t>Хранение исходного потока событий - event sourcing</a:t>
            </a:r>
            <a:endParaRPr sz="1500"/>
          </a:p>
          <a:p>
            <a:pPr marL="342900" indent="-266700">
              <a:lnSpc>
                <a:spcPct val="150000"/>
              </a:lnSpc>
              <a:buSzPts val="2000"/>
            </a:pPr>
            <a:r>
              <a:rPr lang="en-US" sz="1500"/>
              <a:t>Для повышения пропускной способности данные обрабатываются небольшими пачками</a:t>
            </a:r>
            <a:endParaRPr sz="1500"/>
          </a:p>
        </p:txBody>
      </p:sp>
      <p:pic>
        <p:nvPicPr>
          <p:cNvPr id="578" name="Google Shape;578;p89"/>
          <p:cNvPicPr preferRelativeResize="0"/>
          <p:nvPr/>
        </p:nvPicPr>
        <p:blipFill>
          <a:blip r:embed="rId3">
            <a:alphaModFix/>
          </a:blip>
          <a:stretch>
            <a:fillRect/>
          </a:stretch>
        </p:blipFill>
        <p:spPr>
          <a:xfrm>
            <a:off x="1807510" y="3565248"/>
            <a:ext cx="2293144" cy="1121569"/>
          </a:xfrm>
          <a:prstGeom prst="rect">
            <a:avLst/>
          </a:prstGeom>
          <a:noFill/>
          <a:ln>
            <a:noFill/>
          </a:ln>
        </p:spPr>
      </p:pic>
      <p:pic>
        <p:nvPicPr>
          <p:cNvPr id="579" name="Google Shape;579;p89"/>
          <p:cNvPicPr preferRelativeResize="0"/>
          <p:nvPr/>
        </p:nvPicPr>
        <p:blipFill>
          <a:blip r:embed="rId4">
            <a:alphaModFix/>
          </a:blip>
          <a:stretch>
            <a:fillRect/>
          </a:stretch>
        </p:blipFill>
        <p:spPr>
          <a:xfrm>
            <a:off x="5463600" y="3249779"/>
            <a:ext cx="2986088" cy="864394"/>
          </a:xfrm>
          <a:prstGeom prst="rect">
            <a:avLst/>
          </a:prstGeom>
          <a:noFill/>
          <a:ln>
            <a:noFill/>
          </a:ln>
        </p:spPr>
      </p:pic>
      <p:grpSp>
        <p:nvGrpSpPr>
          <p:cNvPr id="580" name="Google Shape;580;p89"/>
          <p:cNvGrpSpPr/>
          <p:nvPr/>
        </p:nvGrpSpPr>
        <p:grpSpPr>
          <a:xfrm>
            <a:off x="6433819" y="1048969"/>
            <a:ext cx="2505394" cy="1403025"/>
            <a:chOff x="8578425" y="1398625"/>
            <a:chExt cx="3340525" cy="1870700"/>
          </a:xfrm>
        </p:grpSpPr>
        <p:pic>
          <p:nvPicPr>
            <p:cNvPr id="581" name="Google Shape;581;p89"/>
            <p:cNvPicPr preferRelativeResize="0"/>
            <p:nvPr/>
          </p:nvPicPr>
          <p:blipFill>
            <a:blip r:embed="rId5">
              <a:alphaModFix/>
            </a:blip>
            <a:stretch>
              <a:fillRect/>
            </a:stretch>
          </p:blipFill>
          <p:spPr>
            <a:xfrm>
              <a:off x="8578425" y="1398625"/>
              <a:ext cx="3340525" cy="1870700"/>
            </a:xfrm>
            <a:prstGeom prst="rect">
              <a:avLst/>
            </a:prstGeom>
            <a:noFill/>
            <a:ln>
              <a:noFill/>
            </a:ln>
          </p:spPr>
        </p:pic>
        <p:sp>
          <p:nvSpPr>
            <p:cNvPr id="582" name="Google Shape;582;p89"/>
            <p:cNvSpPr txBox="1"/>
            <p:nvPr/>
          </p:nvSpPr>
          <p:spPr>
            <a:xfrm>
              <a:off x="9554650" y="2728950"/>
              <a:ext cx="1518600" cy="446247"/>
            </a:xfrm>
            <a:prstGeom prst="rect">
              <a:avLst/>
            </a:prstGeom>
            <a:noFill/>
            <a:ln>
              <a:noFill/>
            </a:ln>
          </p:spPr>
          <p:txBody>
            <a:bodyPr spcFirstLastPara="1" wrap="square" lIns="68569" tIns="68569" rIns="68569" bIns="68569" anchor="t" anchorCtr="0">
              <a:spAutoFit/>
            </a:bodyPr>
            <a:lstStyle/>
            <a:p>
              <a:r>
                <a:rPr lang="en-US" sz="1275" i="1">
                  <a:latin typeface="Roboto Medium"/>
                  <a:ea typeface="Roboto Medium"/>
                  <a:cs typeface="Roboto Medium"/>
                  <a:sym typeface="Roboto Medium"/>
                </a:rPr>
                <a:t>Streaming</a:t>
              </a:r>
              <a:endParaRPr sz="1275" i="1">
                <a:latin typeface="Roboto Medium"/>
                <a:ea typeface="Roboto Medium"/>
                <a:cs typeface="Roboto Medium"/>
                <a:sym typeface="Roboto Medium"/>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90"/>
          <p:cNvSpPr txBox="1">
            <a:spLocks noGrp="1"/>
          </p:cNvSpPr>
          <p:nvPr>
            <p:ph type="title"/>
          </p:nvPr>
        </p:nvSpPr>
        <p:spPr>
          <a:xfrm>
            <a:off x="500550" y="330724"/>
            <a:ext cx="8520525" cy="1095975"/>
          </a:xfrm>
          <a:prstGeom prst="rect">
            <a:avLst/>
          </a:prstGeom>
        </p:spPr>
        <p:txBody>
          <a:bodyPr spcFirstLastPara="1" wrap="square" lIns="91425" tIns="91425" rIns="91425" bIns="91425" anchor="t" anchorCtr="0">
            <a:noAutofit/>
          </a:bodyPr>
          <a:lstStyle/>
          <a:p>
            <a:r>
              <a:rPr lang="en-US"/>
              <a:t>Kafka - брокер сообщений</a:t>
            </a:r>
            <a:endParaRPr/>
          </a:p>
        </p:txBody>
      </p:sp>
      <p:pic>
        <p:nvPicPr>
          <p:cNvPr id="588" name="Google Shape;588;p90"/>
          <p:cNvPicPr preferRelativeResize="0"/>
          <p:nvPr/>
        </p:nvPicPr>
        <p:blipFill>
          <a:blip r:embed="rId3">
            <a:alphaModFix/>
          </a:blip>
          <a:stretch>
            <a:fillRect/>
          </a:stretch>
        </p:blipFill>
        <p:spPr>
          <a:xfrm>
            <a:off x="1904250" y="985501"/>
            <a:ext cx="4687395" cy="394196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73"/>
          <p:cNvSpPr txBox="1">
            <a:spLocks noGrp="1"/>
          </p:cNvSpPr>
          <p:nvPr>
            <p:ph type="title"/>
          </p:nvPr>
        </p:nvSpPr>
        <p:spPr>
          <a:xfrm>
            <a:off x="502800" y="372038"/>
            <a:ext cx="8343000" cy="4150350"/>
          </a:xfrm>
          <a:prstGeom prst="rect">
            <a:avLst/>
          </a:prstGeom>
        </p:spPr>
        <p:txBody>
          <a:bodyPr spcFirstLastPara="1" wrap="square" lIns="91425" tIns="91425" rIns="91425" bIns="91425" anchor="ctr" anchorCtr="0">
            <a:noAutofit/>
          </a:bodyPr>
          <a:lstStyle/>
          <a:p>
            <a:r>
              <a:rPr lang="ru-RU" sz="4875" dirty="0"/>
              <a:t>Витрины данных</a:t>
            </a:r>
            <a:endParaRPr dirty="0"/>
          </a:p>
        </p:txBody>
      </p:sp>
    </p:spTree>
    <p:extLst>
      <p:ext uri="{BB962C8B-B14F-4D97-AF65-F5344CB8AC3E}">
        <p14:creationId xmlns:p14="http://schemas.microsoft.com/office/powerpoint/2010/main" val="40802786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92"/>
          <p:cNvSpPr txBox="1">
            <a:spLocks noGrp="1"/>
          </p:cNvSpPr>
          <p:nvPr>
            <p:ph type="title"/>
          </p:nvPr>
        </p:nvSpPr>
        <p:spPr>
          <a:xfrm>
            <a:off x="500550" y="330724"/>
            <a:ext cx="8520525" cy="1095975"/>
          </a:xfrm>
          <a:prstGeom prst="rect">
            <a:avLst/>
          </a:prstGeom>
        </p:spPr>
        <p:txBody>
          <a:bodyPr spcFirstLastPara="1" wrap="square" lIns="91425" tIns="91425" rIns="91425" bIns="91425" anchor="t" anchorCtr="0">
            <a:noAutofit/>
          </a:bodyPr>
          <a:lstStyle/>
          <a:p>
            <a:r>
              <a:rPr lang="en-US"/>
              <a:t>Витрины данных</a:t>
            </a:r>
            <a:endParaRPr/>
          </a:p>
        </p:txBody>
      </p:sp>
      <p:sp>
        <p:nvSpPr>
          <p:cNvPr id="602" name="Google Shape;602;p92"/>
          <p:cNvSpPr txBox="1">
            <a:spLocks noGrp="1"/>
          </p:cNvSpPr>
          <p:nvPr>
            <p:ph type="body" idx="4294967295"/>
          </p:nvPr>
        </p:nvSpPr>
        <p:spPr>
          <a:xfrm>
            <a:off x="334256" y="1854619"/>
            <a:ext cx="4933800" cy="1784925"/>
          </a:xfrm>
          <a:prstGeom prst="rect">
            <a:avLst/>
          </a:prstGeom>
          <a:noFill/>
          <a:ln>
            <a:noFill/>
          </a:ln>
        </p:spPr>
        <p:txBody>
          <a:bodyPr spcFirstLastPara="1" wrap="square" lIns="68569" tIns="34275" rIns="68569" bIns="34275" anchor="t" anchorCtr="0">
            <a:normAutofit/>
          </a:bodyPr>
          <a:lstStyle/>
          <a:p>
            <a:pPr marL="342900" indent="-266700">
              <a:lnSpc>
                <a:spcPct val="150000"/>
              </a:lnSpc>
              <a:spcBef>
                <a:spcPts val="527"/>
              </a:spcBef>
              <a:buSzPts val="2000"/>
            </a:pPr>
            <a:r>
              <a:rPr lang="en-US" sz="1500"/>
              <a:t>Визуализация подготовленных данных в различных разрезах</a:t>
            </a:r>
            <a:endParaRPr sz="1500"/>
          </a:p>
          <a:p>
            <a:pPr marL="342900" indent="-266700">
              <a:lnSpc>
                <a:spcPct val="150000"/>
              </a:lnSpc>
              <a:buSzPts val="2000"/>
            </a:pPr>
            <a:r>
              <a:rPr lang="en-US" sz="1500"/>
              <a:t>Простота настройки и расширяемость</a:t>
            </a:r>
            <a:endParaRPr sz="1500"/>
          </a:p>
          <a:p>
            <a:pPr marL="342900" indent="-266700">
              <a:lnSpc>
                <a:spcPct val="150000"/>
              </a:lnSpc>
              <a:buSzPts val="2000"/>
            </a:pPr>
            <a:r>
              <a:rPr lang="en-US" sz="1500"/>
              <a:t>Работа с различными источниками данных</a:t>
            </a:r>
            <a:endParaRPr sz="1500"/>
          </a:p>
        </p:txBody>
      </p:sp>
      <p:pic>
        <p:nvPicPr>
          <p:cNvPr id="603" name="Google Shape;603;p92"/>
          <p:cNvPicPr preferRelativeResize="0"/>
          <p:nvPr/>
        </p:nvPicPr>
        <p:blipFill>
          <a:blip r:embed="rId3">
            <a:alphaModFix/>
          </a:blip>
          <a:stretch>
            <a:fillRect/>
          </a:stretch>
        </p:blipFill>
        <p:spPr>
          <a:xfrm>
            <a:off x="5936654" y="950992"/>
            <a:ext cx="2450306" cy="1050131"/>
          </a:xfrm>
          <a:prstGeom prst="rect">
            <a:avLst/>
          </a:prstGeom>
          <a:noFill/>
          <a:ln>
            <a:noFill/>
          </a:ln>
        </p:spPr>
      </p:pic>
      <p:pic>
        <p:nvPicPr>
          <p:cNvPr id="604" name="Google Shape;604;p92"/>
          <p:cNvPicPr preferRelativeResize="0"/>
          <p:nvPr/>
        </p:nvPicPr>
        <p:blipFill>
          <a:blip r:embed="rId4">
            <a:alphaModFix/>
          </a:blip>
          <a:stretch>
            <a:fillRect/>
          </a:stretch>
        </p:blipFill>
        <p:spPr>
          <a:xfrm>
            <a:off x="5464219" y="2085975"/>
            <a:ext cx="2800350" cy="971550"/>
          </a:xfrm>
          <a:prstGeom prst="rect">
            <a:avLst/>
          </a:prstGeom>
          <a:noFill/>
          <a:ln>
            <a:noFill/>
          </a:ln>
        </p:spPr>
      </p:pic>
      <p:pic>
        <p:nvPicPr>
          <p:cNvPr id="605" name="Google Shape;605;p92"/>
          <p:cNvPicPr preferRelativeResize="0"/>
          <p:nvPr/>
        </p:nvPicPr>
        <p:blipFill>
          <a:blip r:embed="rId5">
            <a:alphaModFix/>
          </a:blip>
          <a:stretch>
            <a:fillRect/>
          </a:stretch>
        </p:blipFill>
        <p:spPr>
          <a:xfrm>
            <a:off x="5823638" y="3057525"/>
            <a:ext cx="3228975" cy="671513"/>
          </a:xfrm>
          <a:prstGeom prst="rect">
            <a:avLst/>
          </a:prstGeom>
          <a:noFill/>
          <a:ln>
            <a:noFill/>
          </a:ln>
        </p:spPr>
      </p:pic>
      <p:pic>
        <p:nvPicPr>
          <p:cNvPr id="606" name="Google Shape;606;p92"/>
          <p:cNvPicPr preferRelativeResize="0"/>
          <p:nvPr/>
        </p:nvPicPr>
        <p:blipFill>
          <a:blip r:embed="rId6">
            <a:alphaModFix/>
          </a:blip>
          <a:stretch>
            <a:fillRect/>
          </a:stretch>
        </p:blipFill>
        <p:spPr>
          <a:xfrm>
            <a:off x="6335025" y="3784650"/>
            <a:ext cx="2686050" cy="957263"/>
          </a:xfrm>
          <a:prstGeom prst="rect">
            <a:avLst/>
          </a:prstGeom>
          <a:noFill/>
          <a:ln>
            <a:noFill/>
          </a:ln>
        </p:spPr>
      </p:pic>
      <p:pic>
        <p:nvPicPr>
          <p:cNvPr id="1026" name="Picture 2" descr="Apache Superset: An Open-Source Visualization Tool - AI Singapore">
            <a:extLst>
              <a:ext uri="{FF2B5EF4-FFF2-40B4-BE49-F238E27FC236}">
                <a16:creationId xmlns:a16="http://schemas.microsoft.com/office/drawing/2014/main" id="{1592E272-DA7F-624A-A1D0-05D3A6029E5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60972" y="3716801"/>
            <a:ext cx="2257425" cy="112871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hat is Metabase? — A Clean Analytics Platform | by Robby Boney | Short  Bits | Medium">
            <a:extLst>
              <a:ext uri="{FF2B5EF4-FFF2-40B4-BE49-F238E27FC236}">
                <a16:creationId xmlns:a16="http://schemas.microsoft.com/office/drawing/2014/main" id="{DCA6B65D-1280-F04B-97F1-ECC656840A1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01156" y="3828865"/>
            <a:ext cx="1723022" cy="90458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What is Redash: How to get started with it?">
            <a:extLst>
              <a:ext uri="{FF2B5EF4-FFF2-40B4-BE49-F238E27FC236}">
                <a16:creationId xmlns:a16="http://schemas.microsoft.com/office/drawing/2014/main" id="{F1138BFC-B8B5-A341-95E4-CCB71DF66D9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9734" y="3907923"/>
            <a:ext cx="1834045" cy="95451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93"/>
          <p:cNvSpPr txBox="1">
            <a:spLocks noGrp="1"/>
          </p:cNvSpPr>
          <p:nvPr>
            <p:ph type="title"/>
          </p:nvPr>
        </p:nvSpPr>
        <p:spPr>
          <a:xfrm>
            <a:off x="502800" y="372038"/>
            <a:ext cx="8343000" cy="4150350"/>
          </a:xfrm>
          <a:prstGeom prst="rect">
            <a:avLst/>
          </a:prstGeom>
        </p:spPr>
        <p:txBody>
          <a:bodyPr spcFirstLastPara="1" wrap="square" lIns="91425" tIns="91425" rIns="91425" bIns="91425" anchor="ctr" anchorCtr="0">
            <a:noAutofit/>
          </a:bodyPr>
          <a:lstStyle/>
          <a:p>
            <a:r>
              <a:rPr lang="en-US" sz="4875"/>
              <a:t>Компоненты / инструменты MLOps платформ</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94"/>
          <p:cNvSpPr txBox="1">
            <a:spLocks noGrp="1"/>
          </p:cNvSpPr>
          <p:nvPr>
            <p:ph type="title"/>
          </p:nvPr>
        </p:nvSpPr>
        <p:spPr>
          <a:xfrm>
            <a:off x="311700" y="410000"/>
            <a:ext cx="8520525" cy="607725"/>
          </a:xfrm>
          <a:prstGeom prst="rect">
            <a:avLst/>
          </a:prstGeom>
        </p:spPr>
        <p:txBody>
          <a:bodyPr spcFirstLastPara="1" wrap="square" lIns="91425" tIns="91425" rIns="91425" bIns="91425" anchor="t" anchorCtr="0">
            <a:normAutofit fontScale="90000"/>
          </a:bodyPr>
          <a:lstStyle/>
          <a:p>
            <a:r>
              <a:rPr lang="en-US" sz="3075" dirty="0" err="1">
                <a:solidFill>
                  <a:srgbClr val="000000"/>
                </a:solidFill>
              </a:rPr>
              <a:t>Базовый</a:t>
            </a:r>
            <a:r>
              <a:rPr lang="en-US" b="1" dirty="0">
                <a:solidFill>
                  <a:srgbClr val="000000"/>
                </a:solidFill>
              </a:rPr>
              <a:t> </a:t>
            </a:r>
            <a:r>
              <a:rPr lang="en-US" b="1" dirty="0" err="1">
                <a:solidFill>
                  <a:srgbClr val="000000"/>
                </a:solidFill>
              </a:rPr>
              <a:t>уровень</a:t>
            </a:r>
            <a:r>
              <a:rPr lang="en-US" b="1" dirty="0">
                <a:solidFill>
                  <a:srgbClr val="000000"/>
                </a:solidFill>
              </a:rPr>
              <a:t> </a:t>
            </a:r>
            <a:r>
              <a:rPr lang="en-US" b="1" dirty="0" err="1">
                <a:solidFill>
                  <a:srgbClr val="000000"/>
                </a:solidFill>
              </a:rPr>
              <a:t>MLOps</a:t>
            </a:r>
            <a:r>
              <a:rPr lang="en-US" b="1" dirty="0">
                <a:solidFill>
                  <a:srgbClr val="000000"/>
                </a:solidFill>
              </a:rPr>
              <a:t> (</a:t>
            </a:r>
            <a:r>
              <a:rPr lang="en-US" b="1" dirty="0" err="1">
                <a:solidFill>
                  <a:srgbClr val="000000"/>
                </a:solidFill>
              </a:rPr>
              <a:t>Уровень</a:t>
            </a:r>
            <a:r>
              <a:rPr lang="en-US" b="1" dirty="0">
                <a:solidFill>
                  <a:srgbClr val="000000"/>
                </a:solidFill>
              </a:rPr>
              <a:t> 0)</a:t>
            </a:r>
            <a:endParaRPr b="1" dirty="0">
              <a:solidFill>
                <a:srgbClr val="000000"/>
              </a:solidFill>
            </a:endParaRPr>
          </a:p>
        </p:txBody>
      </p:sp>
      <p:pic>
        <p:nvPicPr>
          <p:cNvPr id="617" name="Google Shape;617;p94"/>
          <p:cNvPicPr preferRelativeResize="0"/>
          <p:nvPr/>
        </p:nvPicPr>
        <p:blipFill>
          <a:blip r:embed="rId3">
            <a:alphaModFix/>
          </a:blip>
          <a:stretch>
            <a:fillRect/>
          </a:stretch>
        </p:blipFill>
        <p:spPr>
          <a:xfrm>
            <a:off x="311700" y="1203800"/>
            <a:ext cx="8382474" cy="3132849"/>
          </a:xfrm>
          <a:prstGeom prst="rect">
            <a:avLst/>
          </a:prstGeom>
          <a:noFill/>
          <a:ln>
            <a:noFill/>
          </a:ln>
        </p:spPr>
      </p:pic>
      <p:sp>
        <p:nvSpPr>
          <p:cNvPr id="618" name="Google Shape;618;p94"/>
          <p:cNvSpPr txBox="1"/>
          <p:nvPr/>
        </p:nvSpPr>
        <p:spPr>
          <a:xfrm>
            <a:off x="406430" y="4522724"/>
            <a:ext cx="7018200" cy="338524"/>
          </a:xfrm>
          <a:prstGeom prst="rect">
            <a:avLst/>
          </a:prstGeom>
          <a:noFill/>
          <a:ln>
            <a:noFill/>
          </a:ln>
        </p:spPr>
        <p:txBody>
          <a:bodyPr spcFirstLastPara="1" wrap="square" lIns="91425" tIns="91425" rIns="91425" bIns="91425" anchor="t" anchorCtr="0">
            <a:spAutoFit/>
          </a:bodyPr>
          <a:lstStyle/>
          <a:p>
            <a:r>
              <a:rPr lang="en-US" sz="1000" u="sng" dirty="0">
                <a:solidFill>
                  <a:schemeClr val="hlink"/>
                </a:solidFill>
                <a:highlight>
                  <a:srgbClr val="FFFFFF"/>
                </a:highlight>
                <a:latin typeface="Roboto"/>
                <a:ea typeface="Roboto"/>
                <a:cs typeface="Roboto"/>
                <a:sym typeface="Roboto"/>
                <a:hlinkClick r:id="rId4"/>
              </a:rPr>
              <a:t>MLOps: Continuous delivery and automation pipelines in machine learning</a:t>
            </a:r>
            <a:endParaRPr sz="100" dirty="0">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F2091-8597-2746-A2C0-1033E5D4A695}"/>
              </a:ext>
            </a:extLst>
          </p:cNvPr>
          <p:cNvSpPr>
            <a:spLocks noGrp="1"/>
          </p:cNvSpPr>
          <p:nvPr>
            <p:ph type="title"/>
          </p:nvPr>
        </p:nvSpPr>
        <p:spPr/>
        <p:txBody>
          <a:bodyPr/>
          <a:lstStyle/>
          <a:p>
            <a:r>
              <a:rPr lang="ru-RU" sz="3075" dirty="0">
                <a:solidFill>
                  <a:srgbClr val="000000"/>
                </a:solidFill>
              </a:rPr>
              <a:t>У</a:t>
            </a:r>
            <a:r>
              <a:rPr lang="en-US" b="1" dirty="0" err="1">
                <a:solidFill>
                  <a:srgbClr val="000000"/>
                </a:solidFill>
              </a:rPr>
              <a:t>ровень</a:t>
            </a:r>
            <a:r>
              <a:rPr lang="ru-RU" b="1" dirty="0">
                <a:solidFill>
                  <a:srgbClr val="000000"/>
                </a:solidFill>
              </a:rPr>
              <a:t> </a:t>
            </a:r>
            <a:r>
              <a:rPr lang="ru-RU" b="1" dirty="0" err="1">
                <a:solidFill>
                  <a:srgbClr val="000000"/>
                </a:solidFill>
              </a:rPr>
              <a:t>пайплайнов</a:t>
            </a:r>
            <a:r>
              <a:rPr lang="en-US" b="1" dirty="0">
                <a:solidFill>
                  <a:srgbClr val="000000"/>
                </a:solidFill>
              </a:rPr>
              <a:t> </a:t>
            </a:r>
            <a:r>
              <a:rPr lang="en-US" b="1" dirty="0" err="1">
                <a:solidFill>
                  <a:srgbClr val="000000"/>
                </a:solidFill>
              </a:rPr>
              <a:t>MLOps</a:t>
            </a:r>
            <a:r>
              <a:rPr lang="en-US" b="1" dirty="0">
                <a:solidFill>
                  <a:srgbClr val="000000"/>
                </a:solidFill>
              </a:rPr>
              <a:t> (</a:t>
            </a:r>
            <a:r>
              <a:rPr lang="en-US" b="1" dirty="0" err="1">
                <a:solidFill>
                  <a:srgbClr val="000000"/>
                </a:solidFill>
              </a:rPr>
              <a:t>Уровень</a:t>
            </a:r>
            <a:r>
              <a:rPr lang="en-US" b="1" dirty="0">
                <a:solidFill>
                  <a:srgbClr val="000000"/>
                </a:solidFill>
              </a:rPr>
              <a:t> </a:t>
            </a:r>
            <a:r>
              <a:rPr lang="ru-RU" b="1" dirty="0">
                <a:solidFill>
                  <a:srgbClr val="000000"/>
                </a:solidFill>
              </a:rPr>
              <a:t>1</a:t>
            </a:r>
            <a:r>
              <a:rPr lang="en-US" b="1" dirty="0">
                <a:solidFill>
                  <a:srgbClr val="000000"/>
                </a:solidFill>
              </a:rPr>
              <a:t>)</a:t>
            </a:r>
            <a:endParaRPr lang="en-US" dirty="0"/>
          </a:p>
        </p:txBody>
      </p:sp>
      <p:pic>
        <p:nvPicPr>
          <p:cNvPr id="5" name="Picture 4">
            <a:extLst>
              <a:ext uri="{FF2B5EF4-FFF2-40B4-BE49-F238E27FC236}">
                <a16:creationId xmlns:a16="http://schemas.microsoft.com/office/drawing/2014/main" id="{80203E78-B090-FF4F-90A1-D6C2DD3DF045}"/>
              </a:ext>
            </a:extLst>
          </p:cNvPr>
          <p:cNvPicPr>
            <a:picLocks noChangeAspect="1"/>
          </p:cNvPicPr>
          <p:nvPr/>
        </p:nvPicPr>
        <p:blipFill>
          <a:blip r:embed="rId2"/>
          <a:stretch>
            <a:fillRect/>
          </a:stretch>
        </p:blipFill>
        <p:spPr>
          <a:xfrm>
            <a:off x="1219200" y="946722"/>
            <a:ext cx="5697101" cy="3949127"/>
          </a:xfrm>
          <a:prstGeom prst="rect">
            <a:avLst/>
          </a:prstGeom>
        </p:spPr>
      </p:pic>
    </p:spTree>
    <p:extLst>
      <p:ext uri="{BB962C8B-B14F-4D97-AF65-F5344CB8AC3E}">
        <p14:creationId xmlns:p14="http://schemas.microsoft.com/office/powerpoint/2010/main" val="19713157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F2091-8597-2746-A2C0-1033E5D4A695}"/>
              </a:ext>
            </a:extLst>
          </p:cNvPr>
          <p:cNvSpPr>
            <a:spLocks noGrp="1"/>
          </p:cNvSpPr>
          <p:nvPr>
            <p:ph type="title"/>
          </p:nvPr>
        </p:nvSpPr>
        <p:spPr/>
        <p:txBody>
          <a:bodyPr/>
          <a:lstStyle/>
          <a:p>
            <a:r>
              <a:rPr lang="ru-RU" sz="3075" dirty="0">
                <a:solidFill>
                  <a:srgbClr val="000000"/>
                </a:solidFill>
              </a:rPr>
              <a:t>У</a:t>
            </a:r>
            <a:r>
              <a:rPr lang="en-US" b="1" dirty="0" err="1">
                <a:solidFill>
                  <a:srgbClr val="000000"/>
                </a:solidFill>
              </a:rPr>
              <a:t>ровень</a:t>
            </a:r>
            <a:r>
              <a:rPr lang="ru-RU" b="1" dirty="0">
                <a:solidFill>
                  <a:srgbClr val="000000"/>
                </a:solidFill>
              </a:rPr>
              <a:t> автоматизации</a:t>
            </a:r>
            <a:r>
              <a:rPr lang="en-US" b="1" dirty="0">
                <a:solidFill>
                  <a:srgbClr val="000000"/>
                </a:solidFill>
              </a:rPr>
              <a:t> </a:t>
            </a:r>
            <a:r>
              <a:rPr lang="en-US" b="1" dirty="0" err="1">
                <a:solidFill>
                  <a:srgbClr val="000000"/>
                </a:solidFill>
              </a:rPr>
              <a:t>MLOps</a:t>
            </a:r>
            <a:r>
              <a:rPr lang="en-US" b="1" dirty="0">
                <a:solidFill>
                  <a:srgbClr val="000000"/>
                </a:solidFill>
              </a:rPr>
              <a:t> (</a:t>
            </a:r>
            <a:r>
              <a:rPr lang="en-US" b="1" dirty="0" err="1">
                <a:solidFill>
                  <a:srgbClr val="000000"/>
                </a:solidFill>
              </a:rPr>
              <a:t>Уровень</a:t>
            </a:r>
            <a:r>
              <a:rPr lang="en-US" b="1" dirty="0">
                <a:solidFill>
                  <a:srgbClr val="000000"/>
                </a:solidFill>
              </a:rPr>
              <a:t> </a:t>
            </a:r>
            <a:r>
              <a:rPr lang="ru-RU" b="1" dirty="0">
                <a:solidFill>
                  <a:srgbClr val="000000"/>
                </a:solidFill>
              </a:rPr>
              <a:t>2</a:t>
            </a:r>
            <a:r>
              <a:rPr lang="en-US" b="1" dirty="0">
                <a:solidFill>
                  <a:srgbClr val="000000"/>
                </a:solidFill>
              </a:rPr>
              <a:t>)</a:t>
            </a:r>
            <a:endParaRPr lang="en-US" dirty="0"/>
          </a:p>
        </p:txBody>
      </p:sp>
      <p:pic>
        <p:nvPicPr>
          <p:cNvPr id="4" name="Picture 3">
            <a:extLst>
              <a:ext uri="{FF2B5EF4-FFF2-40B4-BE49-F238E27FC236}">
                <a16:creationId xmlns:a16="http://schemas.microsoft.com/office/drawing/2014/main" id="{F3690A6F-3A4C-F540-A247-40A704C4E417}"/>
              </a:ext>
            </a:extLst>
          </p:cNvPr>
          <p:cNvPicPr>
            <a:picLocks noChangeAspect="1"/>
          </p:cNvPicPr>
          <p:nvPr/>
        </p:nvPicPr>
        <p:blipFill>
          <a:blip r:embed="rId2"/>
          <a:stretch>
            <a:fillRect/>
          </a:stretch>
        </p:blipFill>
        <p:spPr>
          <a:xfrm>
            <a:off x="1219200" y="900730"/>
            <a:ext cx="6537858" cy="4148073"/>
          </a:xfrm>
          <a:prstGeom prst="rect">
            <a:avLst/>
          </a:prstGeom>
        </p:spPr>
      </p:pic>
    </p:spTree>
    <p:extLst>
      <p:ext uri="{BB962C8B-B14F-4D97-AF65-F5344CB8AC3E}">
        <p14:creationId xmlns:p14="http://schemas.microsoft.com/office/powerpoint/2010/main" val="1142363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95"/>
          <p:cNvSpPr txBox="1">
            <a:spLocks noGrp="1"/>
          </p:cNvSpPr>
          <p:nvPr>
            <p:ph type="title"/>
          </p:nvPr>
        </p:nvSpPr>
        <p:spPr>
          <a:xfrm>
            <a:off x="500550" y="330725"/>
            <a:ext cx="8520525" cy="634500"/>
          </a:xfrm>
          <a:prstGeom prst="rect">
            <a:avLst/>
          </a:prstGeom>
        </p:spPr>
        <p:txBody>
          <a:bodyPr spcFirstLastPara="1" wrap="square" lIns="91425" tIns="91425" rIns="91425" bIns="91425" anchor="t" anchorCtr="0">
            <a:normAutofit fontScale="90000"/>
          </a:bodyPr>
          <a:lstStyle/>
          <a:p>
            <a:r>
              <a:rPr lang="en-US" sz="3075" dirty="0" err="1">
                <a:solidFill>
                  <a:srgbClr val="000000"/>
                </a:solidFill>
              </a:rPr>
              <a:t>Какие</a:t>
            </a:r>
            <a:r>
              <a:rPr lang="en-US" sz="3075" dirty="0">
                <a:solidFill>
                  <a:srgbClr val="000000"/>
                </a:solidFill>
              </a:rPr>
              <a:t> </a:t>
            </a:r>
            <a:r>
              <a:rPr lang="en-US" sz="3075" dirty="0" err="1">
                <a:solidFill>
                  <a:srgbClr val="000000"/>
                </a:solidFill>
              </a:rPr>
              <a:t>компоненты</a:t>
            </a:r>
            <a:r>
              <a:rPr lang="en-US" sz="3075" dirty="0">
                <a:solidFill>
                  <a:srgbClr val="000000"/>
                </a:solidFill>
              </a:rPr>
              <a:t> </a:t>
            </a:r>
            <a:r>
              <a:rPr lang="en-US" sz="3075" dirty="0" err="1">
                <a:solidFill>
                  <a:srgbClr val="000000"/>
                </a:solidFill>
              </a:rPr>
              <a:t>понадобятся</a:t>
            </a:r>
            <a:endParaRPr b="1" dirty="0"/>
          </a:p>
        </p:txBody>
      </p:sp>
      <p:sp>
        <p:nvSpPr>
          <p:cNvPr id="624" name="Google Shape;624;p95"/>
          <p:cNvSpPr/>
          <p:nvPr/>
        </p:nvSpPr>
        <p:spPr>
          <a:xfrm>
            <a:off x="2595826" y="3472988"/>
            <a:ext cx="1718325" cy="693000"/>
          </a:xfrm>
          <a:prstGeom prst="roundRect">
            <a:avLst>
              <a:gd name="adj" fmla="val 16667"/>
            </a:avLst>
          </a:prstGeom>
          <a:solidFill>
            <a:srgbClr val="8E7CC3"/>
          </a:solidFill>
          <a:ln>
            <a:noFill/>
          </a:ln>
        </p:spPr>
        <p:txBody>
          <a:bodyPr spcFirstLastPara="1" wrap="square" lIns="162000" tIns="91425" rIns="162000" bIns="91425" anchor="ctr" anchorCtr="0">
            <a:noAutofit/>
          </a:bodyPr>
          <a:lstStyle/>
          <a:p>
            <a:pPr algn="ctr"/>
            <a:r>
              <a:rPr lang="en-US" sz="1275">
                <a:solidFill>
                  <a:schemeClr val="lt1"/>
                </a:solidFill>
                <a:latin typeface="Roboto"/>
                <a:ea typeface="Roboto"/>
                <a:cs typeface="Roboto"/>
                <a:sym typeface="Roboto"/>
              </a:rPr>
              <a:t>Реестр артефактов</a:t>
            </a:r>
            <a:endParaRPr sz="1275">
              <a:solidFill>
                <a:schemeClr val="lt1"/>
              </a:solidFill>
              <a:latin typeface="Roboto"/>
              <a:ea typeface="Roboto"/>
              <a:cs typeface="Roboto"/>
              <a:sym typeface="Roboto"/>
            </a:endParaRPr>
          </a:p>
        </p:txBody>
      </p:sp>
      <p:sp>
        <p:nvSpPr>
          <p:cNvPr id="625" name="Google Shape;625;p95"/>
          <p:cNvSpPr/>
          <p:nvPr/>
        </p:nvSpPr>
        <p:spPr>
          <a:xfrm>
            <a:off x="665175" y="2602875"/>
            <a:ext cx="1718325" cy="693000"/>
          </a:xfrm>
          <a:prstGeom prst="roundRect">
            <a:avLst>
              <a:gd name="adj" fmla="val 16667"/>
            </a:avLst>
          </a:prstGeom>
          <a:solidFill>
            <a:srgbClr val="8E7CC3"/>
          </a:solidFill>
          <a:ln>
            <a:noFill/>
          </a:ln>
        </p:spPr>
        <p:txBody>
          <a:bodyPr spcFirstLastPara="1" wrap="square" lIns="162000" tIns="91425" rIns="162000" bIns="91425" anchor="ctr" anchorCtr="0">
            <a:noAutofit/>
          </a:bodyPr>
          <a:lstStyle/>
          <a:p>
            <a:pPr algn="ctr"/>
            <a:r>
              <a:rPr lang="en-US" sz="1275">
                <a:solidFill>
                  <a:schemeClr val="lt1"/>
                </a:solidFill>
                <a:latin typeface="Roboto"/>
                <a:ea typeface="Roboto"/>
                <a:cs typeface="Roboto"/>
                <a:sym typeface="Roboto"/>
              </a:rPr>
              <a:t>Ноутбуки / IDE</a:t>
            </a:r>
            <a:endParaRPr sz="1275">
              <a:solidFill>
                <a:schemeClr val="lt1"/>
              </a:solidFill>
              <a:latin typeface="Roboto"/>
              <a:ea typeface="Roboto"/>
              <a:cs typeface="Roboto"/>
              <a:sym typeface="Roboto"/>
            </a:endParaRPr>
          </a:p>
        </p:txBody>
      </p:sp>
      <p:sp>
        <p:nvSpPr>
          <p:cNvPr id="626" name="Google Shape;626;p95"/>
          <p:cNvSpPr/>
          <p:nvPr/>
        </p:nvSpPr>
        <p:spPr>
          <a:xfrm>
            <a:off x="4532150" y="1732738"/>
            <a:ext cx="1718325" cy="693000"/>
          </a:xfrm>
          <a:prstGeom prst="roundRect">
            <a:avLst>
              <a:gd name="adj" fmla="val 16667"/>
            </a:avLst>
          </a:prstGeom>
          <a:solidFill>
            <a:srgbClr val="A31515"/>
          </a:solidFill>
          <a:ln>
            <a:noFill/>
          </a:ln>
        </p:spPr>
        <p:txBody>
          <a:bodyPr spcFirstLastPara="1" wrap="square" lIns="162000" tIns="91425" rIns="162000" bIns="91425" anchor="ctr" anchorCtr="0">
            <a:noAutofit/>
          </a:bodyPr>
          <a:lstStyle/>
          <a:p>
            <a:pPr algn="ctr"/>
            <a:r>
              <a:rPr lang="en-US" sz="1275">
                <a:solidFill>
                  <a:schemeClr val="lt1"/>
                </a:solidFill>
                <a:latin typeface="Roboto"/>
                <a:ea typeface="Roboto"/>
                <a:cs typeface="Roboto"/>
                <a:sym typeface="Roboto"/>
              </a:rPr>
              <a:t>Инструментарий CI/CD</a:t>
            </a:r>
            <a:endParaRPr sz="1275">
              <a:solidFill>
                <a:schemeClr val="lt1"/>
              </a:solidFill>
              <a:latin typeface="Roboto"/>
              <a:ea typeface="Roboto"/>
              <a:cs typeface="Roboto"/>
              <a:sym typeface="Roboto"/>
            </a:endParaRPr>
          </a:p>
        </p:txBody>
      </p:sp>
      <p:sp>
        <p:nvSpPr>
          <p:cNvPr id="627" name="Google Shape;627;p95"/>
          <p:cNvSpPr/>
          <p:nvPr/>
        </p:nvSpPr>
        <p:spPr>
          <a:xfrm>
            <a:off x="2595826" y="1732738"/>
            <a:ext cx="1718325" cy="693000"/>
          </a:xfrm>
          <a:prstGeom prst="roundRect">
            <a:avLst>
              <a:gd name="adj" fmla="val 16667"/>
            </a:avLst>
          </a:prstGeom>
          <a:solidFill>
            <a:srgbClr val="8E7CC3"/>
          </a:solidFill>
          <a:ln>
            <a:noFill/>
          </a:ln>
        </p:spPr>
        <p:txBody>
          <a:bodyPr spcFirstLastPara="1" wrap="square" lIns="162000" tIns="91425" rIns="162000" bIns="91425" anchor="ctr" anchorCtr="0">
            <a:noAutofit/>
          </a:bodyPr>
          <a:lstStyle/>
          <a:p>
            <a:pPr algn="ctr"/>
            <a:r>
              <a:rPr lang="en-US" sz="1275">
                <a:solidFill>
                  <a:schemeClr val="lt1"/>
                </a:solidFill>
                <a:latin typeface="Roboto"/>
                <a:ea typeface="Roboto"/>
                <a:cs typeface="Roboto"/>
                <a:sym typeface="Roboto"/>
              </a:rPr>
              <a:t>Хранилище кода VCS</a:t>
            </a:r>
            <a:endParaRPr sz="1275">
              <a:solidFill>
                <a:schemeClr val="lt1"/>
              </a:solidFill>
              <a:latin typeface="Roboto"/>
              <a:ea typeface="Roboto"/>
              <a:cs typeface="Roboto"/>
              <a:sym typeface="Roboto"/>
            </a:endParaRPr>
          </a:p>
        </p:txBody>
      </p:sp>
      <p:sp>
        <p:nvSpPr>
          <p:cNvPr id="628" name="Google Shape;628;p95"/>
          <p:cNvSpPr/>
          <p:nvPr/>
        </p:nvSpPr>
        <p:spPr>
          <a:xfrm>
            <a:off x="6457125" y="2602875"/>
            <a:ext cx="1783125" cy="1563075"/>
          </a:xfrm>
          <a:prstGeom prst="roundRect">
            <a:avLst>
              <a:gd name="adj" fmla="val 16667"/>
            </a:avLst>
          </a:prstGeom>
          <a:solidFill>
            <a:srgbClr val="FF9900"/>
          </a:solidFill>
          <a:ln>
            <a:noFill/>
          </a:ln>
        </p:spPr>
        <p:txBody>
          <a:bodyPr spcFirstLastPara="1" wrap="square" lIns="162000" tIns="91425" rIns="162000" bIns="91425" anchor="ctr" anchorCtr="0">
            <a:noAutofit/>
          </a:bodyPr>
          <a:lstStyle/>
          <a:p>
            <a:pPr algn="ctr"/>
            <a:r>
              <a:rPr lang="en-US" sz="1275">
                <a:solidFill>
                  <a:schemeClr val="lt1"/>
                </a:solidFill>
                <a:latin typeface="Roboto"/>
                <a:ea typeface="Roboto"/>
                <a:cs typeface="Roboto"/>
                <a:sym typeface="Roboto"/>
              </a:rPr>
              <a:t>Инструментарий среды исполнения / </a:t>
            </a:r>
            <a:endParaRPr sz="1275">
              <a:solidFill>
                <a:schemeClr val="lt1"/>
              </a:solidFill>
              <a:latin typeface="Roboto"/>
              <a:ea typeface="Roboto"/>
              <a:cs typeface="Roboto"/>
              <a:sym typeface="Roboto"/>
            </a:endParaRPr>
          </a:p>
          <a:p>
            <a:pPr algn="ctr"/>
            <a:r>
              <a:rPr lang="en-US" sz="1125">
                <a:solidFill>
                  <a:schemeClr val="lt1"/>
                </a:solidFill>
                <a:latin typeface="Roboto"/>
                <a:ea typeface="Roboto"/>
                <a:cs typeface="Roboto"/>
                <a:sym typeface="Roboto"/>
              </a:rPr>
              <a:t>(Распределенные)</a:t>
            </a:r>
            <a:r>
              <a:rPr lang="en-US" sz="1275">
                <a:solidFill>
                  <a:schemeClr val="lt1"/>
                </a:solidFill>
                <a:latin typeface="Roboto"/>
                <a:ea typeface="Roboto"/>
                <a:cs typeface="Roboto"/>
                <a:sym typeface="Roboto"/>
              </a:rPr>
              <a:t> Вычисления</a:t>
            </a:r>
            <a:endParaRPr sz="1275">
              <a:solidFill>
                <a:schemeClr val="lt1"/>
              </a:solidFill>
              <a:latin typeface="Roboto"/>
              <a:ea typeface="Roboto"/>
              <a:cs typeface="Roboto"/>
              <a:sym typeface="Roboto"/>
            </a:endParaRPr>
          </a:p>
        </p:txBody>
      </p:sp>
      <p:sp>
        <p:nvSpPr>
          <p:cNvPr id="629" name="Google Shape;629;p95"/>
          <p:cNvSpPr/>
          <p:nvPr/>
        </p:nvSpPr>
        <p:spPr>
          <a:xfrm>
            <a:off x="4526475" y="2602862"/>
            <a:ext cx="1718325" cy="693000"/>
          </a:xfrm>
          <a:prstGeom prst="roundRect">
            <a:avLst>
              <a:gd name="adj" fmla="val 16667"/>
            </a:avLst>
          </a:prstGeom>
          <a:solidFill>
            <a:srgbClr val="A31515"/>
          </a:solidFill>
          <a:ln>
            <a:noFill/>
          </a:ln>
        </p:spPr>
        <p:txBody>
          <a:bodyPr spcFirstLastPara="1" wrap="square" lIns="162000" tIns="91425" rIns="162000" bIns="91425" anchor="ctr" anchorCtr="0">
            <a:noAutofit/>
          </a:bodyPr>
          <a:lstStyle/>
          <a:p>
            <a:pPr algn="ctr"/>
            <a:r>
              <a:rPr lang="en-US" sz="1275">
                <a:solidFill>
                  <a:schemeClr val="lt1"/>
                </a:solidFill>
                <a:latin typeface="Roboto"/>
                <a:ea typeface="Roboto"/>
                <a:cs typeface="Roboto"/>
                <a:sym typeface="Roboto"/>
              </a:rPr>
              <a:t>Реестр моделей</a:t>
            </a:r>
            <a:endParaRPr sz="1275">
              <a:solidFill>
                <a:schemeClr val="lt1"/>
              </a:solidFill>
              <a:latin typeface="Roboto"/>
              <a:ea typeface="Roboto"/>
              <a:cs typeface="Roboto"/>
              <a:sym typeface="Roboto"/>
            </a:endParaRPr>
          </a:p>
        </p:txBody>
      </p:sp>
      <p:sp>
        <p:nvSpPr>
          <p:cNvPr id="630" name="Google Shape;630;p95"/>
          <p:cNvSpPr/>
          <p:nvPr/>
        </p:nvSpPr>
        <p:spPr>
          <a:xfrm>
            <a:off x="4526476" y="3473000"/>
            <a:ext cx="1718325" cy="693000"/>
          </a:xfrm>
          <a:prstGeom prst="roundRect">
            <a:avLst>
              <a:gd name="adj" fmla="val 16667"/>
            </a:avLst>
          </a:prstGeom>
          <a:solidFill>
            <a:srgbClr val="A31515"/>
          </a:solidFill>
          <a:ln>
            <a:noFill/>
          </a:ln>
        </p:spPr>
        <p:txBody>
          <a:bodyPr spcFirstLastPara="1" wrap="square" lIns="162000" tIns="91425" rIns="162000" bIns="91425" anchor="ctr" anchorCtr="0">
            <a:noAutofit/>
          </a:bodyPr>
          <a:lstStyle/>
          <a:p>
            <a:pPr algn="ctr"/>
            <a:r>
              <a:rPr lang="en-US" sz="1275">
                <a:solidFill>
                  <a:schemeClr val="lt1"/>
                </a:solidFill>
                <a:latin typeface="Roboto"/>
                <a:ea typeface="Roboto"/>
                <a:cs typeface="Roboto"/>
                <a:sym typeface="Roboto"/>
              </a:rPr>
              <a:t>Реестр докер-образов</a:t>
            </a:r>
            <a:endParaRPr sz="1275">
              <a:solidFill>
                <a:schemeClr val="lt1"/>
              </a:solidFill>
              <a:latin typeface="Roboto"/>
              <a:ea typeface="Roboto"/>
              <a:cs typeface="Roboto"/>
              <a:sym typeface="Roboto"/>
            </a:endParaRPr>
          </a:p>
        </p:txBody>
      </p:sp>
      <p:sp>
        <p:nvSpPr>
          <p:cNvPr id="631" name="Google Shape;631;p95"/>
          <p:cNvSpPr/>
          <p:nvPr/>
        </p:nvSpPr>
        <p:spPr>
          <a:xfrm>
            <a:off x="6468475" y="1732750"/>
            <a:ext cx="1783125" cy="693000"/>
          </a:xfrm>
          <a:prstGeom prst="roundRect">
            <a:avLst>
              <a:gd name="adj" fmla="val 16667"/>
            </a:avLst>
          </a:prstGeom>
          <a:solidFill>
            <a:srgbClr val="40CDD0"/>
          </a:solidFill>
          <a:ln>
            <a:noFill/>
          </a:ln>
        </p:spPr>
        <p:txBody>
          <a:bodyPr spcFirstLastPara="1" wrap="square" lIns="162000" tIns="91425" rIns="162000" bIns="91425" anchor="ctr" anchorCtr="0">
            <a:noAutofit/>
          </a:bodyPr>
          <a:lstStyle/>
          <a:p>
            <a:pPr algn="ctr"/>
            <a:r>
              <a:rPr lang="en-US" sz="1275">
                <a:solidFill>
                  <a:schemeClr val="lt1"/>
                </a:solidFill>
                <a:latin typeface="Roboto"/>
                <a:ea typeface="Roboto"/>
                <a:cs typeface="Roboto"/>
                <a:sym typeface="Roboto"/>
              </a:rPr>
              <a:t>Мониторинг и Журналирование</a:t>
            </a:r>
            <a:endParaRPr sz="1275">
              <a:solidFill>
                <a:schemeClr val="lt1"/>
              </a:solidFill>
              <a:latin typeface="Roboto"/>
              <a:ea typeface="Roboto"/>
              <a:cs typeface="Roboto"/>
              <a:sym typeface="Roboto"/>
            </a:endParaRPr>
          </a:p>
        </p:txBody>
      </p:sp>
      <p:sp>
        <p:nvSpPr>
          <p:cNvPr id="632" name="Google Shape;632;p95"/>
          <p:cNvSpPr/>
          <p:nvPr/>
        </p:nvSpPr>
        <p:spPr>
          <a:xfrm>
            <a:off x="2595825" y="2602875"/>
            <a:ext cx="1718325" cy="693000"/>
          </a:xfrm>
          <a:prstGeom prst="roundRect">
            <a:avLst>
              <a:gd name="adj" fmla="val 16667"/>
            </a:avLst>
          </a:prstGeom>
          <a:solidFill>
            <a:srgbClr val="8E7CC3"/>
          </a:solidFill>
          <a:ln>
            <a:noFill/>
          </a:ln>
        </p:spPr>
        <p:txBody>
          <a:bodyPr spcFirstLastPara="1" wrap="square" lIns="162000" tIns="91425" rIns="162000" bIns="91425" anchor="ctr" anchorCtr="0">
            <a:noAutofit/>
          </a:bodyPr>
          <a:lstStyle/>
          <a:p>
            <a:pPr algn="ctr"/>
            <a:r>
              <a:rPr lang="en-US" sz="1275">
                <a:solidFill>
                  <a:schemeClr val="lt1"/>
                </a:solidFill>
                <a:latin typeface="Roboto"/>
                <a:ea typeface="Roboto"/>
                <a:cs typeface="Roboto"/>
                <a:sym typeface="Roboto"/>
              </a:rPr>
              <a:t>Управление экспериментами</a:t>
            </a:r>
            <a:endParaRPr sz="1275">
              <a:solidFill>
                <a:schemeClr val="lt1"/>
              </a:solidFill>
              <a:latin typeface="Roboto"/>
              <a:ea typeface="Roboto"/>
              <a:cs typeface="Roboto"/>
              <a:sym typeface="Roboto"/>
            </a:endParaRPr>
          </a:p>
        </p:txBody>
      </p:sp>
      <p:sp>
        <p:nvSpPr>
          <p:cNvPr id="633" name="Google Shape;633;p95"/>
          <p:cNvSpPr/>
          <p:nvPr/>
        </p:nvSpPr>
        <p:spPr>
          <a:xfrm>
            <a:off x="2595825" y="1117625"/>
            <a:ext cx="5655825" cy="438075"/>
          </a:xfrm>
          <a:prstGeom prst="roundRect">
            <a:avLst>
              <a:gd name="adj" fmla="val 16667"/>
            </a:avLst>
          </a:prstGeom>
          <a:solidFill>
            <a:srgbClr val="4A86E8"/>
          </a:solidFill>
          <a:ln>
            <a:noFill/>
          </a:ln>
        </p:spPr>
        <p:txBody>
          <a:bodyPr spcFirstLastPara="1" wrap="square" lIns="162000" tIns="91425" rIns="162000" bIns="91425" anchor="ctr" anchorCtr="0">
            <a:noAutofit/>
          </a:bodyPr>
          <a:lstStyle/>
          <a:p>
            <a:pPr algn="ctr"/>
            <a:r>
              <a:rPr lang="en-US" sz="1275">
                <a:solidFill>
                  <a:schemeClr val="lt1"/>
                </a:solidFill>
                <a:latin typeface="Roboto"/>
                <a:ea typeface="Roboto"/>
                <a:cs typeface="Roboto"/>
                <a:sym typeface="Roboto"/>
              </a:rPr>
              <a:t>Оркестрация / управление ML процессами</a:t>
            </a:r>
            <a:endParaRPr sz="1275">
              <a:solidFill>
                <a:schemeClr val="lt1"/>
              </a:solidFill>
              <a:latin typeface="Roboto"/>
              <a:ea typeface="Roboto"/>
              <a:cs typeface="Roboto"/>
              <a:sym typeface="Roboto"/>
            </a:endParaRPr>
          </a:p>
        </p:txBody>
      </p:sp>
      <p:sp>
        <p:nvSpPr>
          <p:cNvPr id="634" name="Google Shape;634;p95"/>
          <p:cNvSpPr/>
          <p:nvPr/>
        </p:nvSpPr>
        <p:spPr>
          <a:xfrm>
            <a:off x="2595825" y="4343125"/>
            <a:ext cx="5655825" cy="438075"/>
          </a:xfrm>
          <a:prstGeom prst="roundRect">
            <a:avLst>
              <a:gd name="adj" fmla="val 16667"/>
            </a:avLst>
          </a:prstGeom>
          <a:solidFill>
            <a:srgbClr val="4A86E8"/>
          </a:solidFill>
          <a:ln>
            <a:noFill/>
          </a:ln>
        </p:spPr>
        <p:txBody>
          <a:bodyPr spcFirstLastPara="1" wrap="square" lIns="162000" tIns="91425" rIns="162000" bIns="91425" anchor="ctr" anchorCtr="0">
            <a:noAutofit/>
          </a:bodyPr>
          <a:lstStyle/>
          <a:p>
            <a:pPr algn="ctr"/>
            <a:r>
              <a:rPr lang="en-US" sz="1275">
                <a:solidFill>
                  <a:schemeClr val="lt1"/>
                </a:solidFill>
                <a:latin typeface="Roboto"/>
                <a:ea typeface="Roboto"/>
                <a:cs typeface="Roboto"/>
                <a:sym typeface="Roboto"/>
              </a:rPr>
              <a:t>Системы хранения данных</a:t>
            </a:r>
            <a:endParaRPr sz="1275">
              <a:solidFill>
                <a:schemeClr val="lt1"/>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96"/>
          <p:cNvSpPr txBox="1">
            <a:spLocks noGrp="1"/>
          </p:cNvSpPr>
          <p:nvPr>
            <p:ph type="title"/>
          </p:nvPr>
        </p:nvSpPr>
        <p:spPr>
          <a:xfrm>
            <a:off x="311700" y="257600"/>
            <a:ext cx="8520525" cy="607725"/>
          </a:xfrm>
          <a:prstGeom prst="rect">
            <a:avLst/>
          </a:prstGeom>
        </p:spPr>
        <p:txBody>
          <a:bodyPr spcFirstLastPara="1" wrap="square" lIns="91425" tIns="91425" rIns="91425" bIns="91425" anchor="t" anchorCtr="0">
            <a:normAutofit fontScale="90000"/>
          </a:bodyPr>
          <a:lstStyle/>
          <a:p>
            <a:r>
              <a:rPr lang="ru-RU" sz="3075" dirty="0">
                <a:solidFill>
                  <a:srgbClr val="000000"/>
                </a:solidFill>
              </a:rPr>
              <a:t>Переход к</a:t>
            </a:r>
            <a:r>
              <a:rPr lang="en-US" sz="3075" dirty="0">
                <a:solidFill>
                  <a:srgbClr val="000000"/>
                </a:solidFill>
              </a:rPr>
              <a:t>: </a:t>
            </a:r>
            <a:r>
              <a:rPr lang="ru-RU" sz="3075" dirty="0" err="1">
                <a:solidFill>
                  <a:srgbClr val="000000"/>
                </a:solidFill>
              </a:rPr>
              <a:t>пайплайнам</a:t>
            </a:r>
            <a:r>
              <a:rPr lang="ru-RU" sz="3075" dirty="0">
                <a:solidFill>
                  <a:srgbClr val="000000"/>
                </a:solidFill>
              </a:rPr>
              <a:t> (уровень 1)</a:t>
            </a:r>
            <a:r>
              <a:rPr lang="en-US" sz="3075" dirty="0">
                <a:solidFill>
                  <a:srgbClr val="000000"/>
                </a:solidFill>
              </a:rPr>
              <a:t>, </a:t>
            </a:r>
            <a:r>
              <a:rPr lang="ru-RU" sz="3075" dirty="0">
                <a:solidFill>
                  <a:srgbClr val="000000"/>
                </a:solidFill>
              </a:rPr>
              <a:t>автоматизации (уровень 2)</a:t>
            </a:r>
          </a:p>
        </p:txBody>
      </p:sp>
      <p:sp>
        <p:nvSpPr>
          <p:cNvPr id="640" name="Google Shape;640;p96"/>
          <p:cNvSpPr/>
          <p:nvPr/>
        </p:nvSpPr>
        <p:spPr>
          <a:xfrm>
            <a:off x="696850" y="2811525"/>
            <a:ext cx="2787300" cy="693000"/>
          </a:xfrm>
          <a:prstGeom prst="roundRect">
            <a:avLst>
              <a:gd name="adj" fmla="val 16667"/>
            </a:avLst>
          </a:prstGeom>
          <a:solidFill>
            <a:srgbClr val="A31515"/>
          </a:solidFill>
          <a:ln>
            <a:noFill/>
          </a:ln>
        </p:spPr>
        <p:txBody>
          <a:bodyPr spcFirstLastPara="1" wrap="square" lIns="162000" tIns="91425" rIns="162000" bIns="91425" anchor="ctr" anchorCtr="0">
            <a:noAutofit/>
          </a:bodyPr>
          <a:lstStyle/>
          <a:p>
            <a:pPr algn="ctr"/>
            <a:r>
              <a:rPr lang="en-US" sz="1275">
                <a:solidFill>
                  <a:schemeClr val="lt1"/>
                </a:solidFill>
                <a:latin typeface="Roboto"/>
                <a:ea typeface="Roboto"/>
                <a:cs typeface="Roboto"/>
                <a:sym typeface="Roboto"/>
              </a:rPr>
              <a:t>Воспроизводимость </a:t>
            </a:r>
            <a:endParaRPr sz="1275">
              <a:solidFill>
                <a:schemeClr val="lt1"/>
              </a:solidFill>
              <a:latin typeface="Roboto"/>
              <a:ea typeface="Roboto"/>
              <a:cs typeface="Roboto"/>
              <a:sym typeface="Roboto"/>
            </a:endParaRPr>
          </a:p>
          <a:p>
            <a:pPr algn="ctr"/>
            <a:r>
              <a:rPr lang="en-US" sz="1275">
                <a:solidFill>
                  <a:schemeClr val="lt1"/>
                </a:solidFill>
                <a:latin typeface="Roboto"/>
                <a:ea typeface="Roboto"/>
                <a:cs typeface="Roboto"/>
                <a:sym typeface="Roboto"/>
              </a:rPr>
              <a:t>на уровне компонент</a:t>
            </a:r>
            <a:endParaRPr sz="1275">
              <a:solidFill>
                <a:schemeClr val="lt1"/>
              </a:solidFill>
              <a:latin typeface="Roboto"/>
              <a:ea typeface="Roboto"/>
              <a:cs typeface="Roboto"/>
              <a:sym typeface="Roboto"/>
            </a:endParaRPr>
          </a:p>
        </p:txBody>
      </p:sp>
      <p:sp>
        <p:nvSpPr>
          <p:cNvPr id="641" name="Google Shape;641;p96"/>
          <p:cNvSpPr/>
          <p:nvPr/>
        </p:nvSpPr>
        <p:spPr>
          <a:xfrm>
            <a:off x="696850" y="3929275"/>
            <a:ext cx="2787300" cy="693000"/>
          </a:xfrm>
          <a:prstGeom prst="roundRect">
            <a:avLst>
              <a:gd name="adj" fmla="val 16667"/>
            </a:avLst>
          </a:prstGeom>
          <a:solidFill>
            <a:srgbClr val="A31515"/>
          </a:solidFill>
          <a:ln>
            <a:noFill/>
          </a:ln>
        </p:spPr>
        <p:txBody>
          <a:bodyPr spcFirstLastPara="1" wrap="square" lIns="162000" tIns="91425" rIns="162000" bIns="91425" anchor="ctr" anchorCtr="0">
            <a:noAutofit/>
          </a:bodyPr>
          <a:lstStyle/>
          <a:p>
            <a:pPr algn="ctr"/>
            <a:r>
              <a:rPr lang="en-US" sz="1275">
                <a:solidFill>
                  <a:schemeClr val="lt1"/>
                </a:solidFill>
                <a:latin typeface="Roboto"/>
                <a:ea typeface="Roboto"/>
                <a:cs typeface="Roboto"/>
                <a:sym typeface="Roboto"/>
              </a:rPr>
              <a:t>Готовность к выводу на Prod</a:t>
            </a:r>
            <a:endParaRPr sz="1275">
              <a:solidFill>
                <a:schemeClr val="lt1"/>
              </a:solidFill>
              <a:latin typeface="Roboto"/>
              <a:ea typeface="Roboto"/>
              <a:cs typeface="Roboto"/>
              <a:sym typeface="Roboto"/>
            </a:endParaRPr>
          </a:p>
        </p:txBody>
      </p:sp>
      <p:sp>
        <p:nvSpPr>
          <p:cNvPr id="642" name="Google Shape;642;p96"/>
          <p:cNvSpPr/>
          <p:nvPr/>
        </p:nvSpPr>
        <p:spPr>
          <a:xfrm>
            <a:off x="696850" y="1693775"/>
            <a:ext cx="2787300" cy="693000"/>
          </a:xfrm>
          <a:prstGeom prst="roundRect">
            <a:avLst>
              <a:gd name="adj" fmla="val 16667"/>
            </a:avLst>
          </a:prstGeom>
          <a:solidFill>
            <a:srgbClr val="A31515"/>
          </a:solidFill>
          <a:ln>
            <a:noFill/>
          </a:ln>
        </p:spPr>
        <p:txBody>
          <a:bodyPr spcFirstLastPara="1" wrap="square" lIns="162000" tIns="91425" rIns="162000" bIns="91425" anchor="ctr" anchorCtr="0">
            <a:noAutofit/>
          </a:bodyPr>
          <a:lstStyle/>
          <a:p>
            <a:pPr algn="ctr"/>
            <a:r>
              <a:rPr lang="en-US" sz="1275">
                <a:solidFill>
                  <a:schemeClr val="lt1"/>
                </a:solidFill>
                <a:latin typeface="Roboto"/>
                <a:ea typeface="Roboto"/>
                <a:cs typeface="Roboto"/>
                <a:sym typeface="Roboto"/>
              </a:rPr>
              <a:t>Разработка Pipelines</a:t>
            </a:r>
            <a:endParaRPr sz="1275">
              <a:solidFill>
                <a:schemeClr val="lt1"/>
              </a:solidFill>
              <a:latin typeface="Roboto"/>
              <a:ea typeface="Roboto"/>
              <a:cs typeface="Roboto"/>
              <a:sym typeface="Roboto"/>
            </a:endParaRPr>
          </a:p>
        </p:txBody>
      </p:sp>
      <p:sp>
        <p:nvSpPr>
          <p:cNvPr id="643" name="Google Shape;643;p96"/>
          <p:cNvSpPr/>
          <p:nvPr/>
        </p:nvSpPr>
        <p:spPr>
          <a:xfrm>
            <a:off x="5467425" y="1617575"/>
            <a:ext cx="2787300" cy="333000"/>
          </a:xfrm>
          <a:prstGeom prst="roundRect">
            <a:avLst>
              <a:gd name="adj" fmla="val 16667"/>
            </a:avLst>
          </a:prstGeom>
          <a:solidFill>
            <a:srgbClr val="A31515"/>
          </a:solidFill>
          <a:ln>
            <a:noFill/>
          </a:ln>
        </p:spPr>
        <p:txBody>
          <a:bodyPr spcFirstLastPara="1" wrap="square" lIns="162000" tIns="91425" rIns="162000" bIns="91425" anchor="ctr" anchorCtr="0">
            <a:noAutofit/>
          </a:bodyPr>
          <a:lstStyle/>
          <a:p>
            <a:pPr algn="ctr"/>
            <a:r>
              <a:rPr lang="en-US" sz="1275">
                <a:solidFill>
                  <a:schemeClr val="lt1"/>
                </a:solidFill>
                <a:latin typeface="Roboto"/>
                <a:ea typeface="Roboto"/>
                <a:cs typeface="Roboto"/>
                <a:sym typeface="Roboto"/>
              </a:rPr>
              <a:t>Автоматическая сборка</a:t>
            </a:r>
            <a:endParaRPr sz="1275">
              <a:solidFill>
                <a:schemeClr val="lt1"/>
              </a:solidFill>
              <a:latin typeface="Roboto"/>
              <a:ea typeface="Roboto"/>
              <a:cs typeface="Roboto"/>
              <a:sym typeface="Roboto"/>
            </a:endParaRPr>
          </a:p>
        </p:txBody>
      </p:sp>
      <p:sp>
        <p:nvSpPr>
          <p:cNvPr id="644" name="Google Shape;644;p96"/>
          <p:cNvSpPr/>
          <p:nvPr/>
        </p:nvSpPr>
        <p:spPr>
          <a:xfrm>
            <a:off x="5467425" y="2105263"/>
            <a:ext cx="2787300" cy="333000"/>
          </a:xfrm>
          <a:prstGeom prst="roundRect">
            <a:avLst>
              <a:gd name="adj" fmla="val 16667"/>
            </a:avLst>
          </a:prstGeom>
          <a:solidFill>
            <a:srgbClr val="A31515"/>
          </a:solidFill>
          <a:ln>
            <a:noFill/>
          </a:ln>
        </p:spPr>
        <p:txBody>
          <a:bodyPr spcFirstLastPara="1" wrap="square" lIns="162000" tIns="91425" rIns="162000" bIns="91425" anchor="ctr" anchorCtr="0">
            <a:noAutofit/>
          </a:bodyPr>
          <a:lstStyle/>
          <a:p>
            <a:pPr algn="ctr"/>
            <a:r>
              <a:rPr lang="en-US" sz="1275">
                <a:solidFill>
                  <a:schemeClr val="lt1"/>
                </a:solidFill>
                <a:latin typeface="Roboto"/>
                <a:ea typeface="Roboto"/>
                <a:cs typeface="Roboto"/>
                <a:sym typeface="Roboto"/>
              </a:rPr>
              <a:t>Автоматические тесты</a:t>
            </a:r>
            <a:endParaRPr sz="1275">
              <a:solidFill>
                <a:schemeClr val="lt1"/>
              </a:solidFill>
              <a:latin typeface="Roboto"/>
              <a:ea typeface="Roboto"/>
              <a:cs typeface="Roboto"/>
              <a:sym typeface="Roboto"/>
            </a:endParaRPr>
          </a:p>
        </p:txBody>
      </p:sp>
      <p:sp>
        <p:nvSpPr>
          <p:cNvPr id="645" name="Google Shape;645;p96"/>
          <p:cNvSpPr/>
          <p:nvPr/>
        </p:nvSpPr>
        <p:spPr>
          <a:xfrm>
            <a:off x="5467425" y="2592947"/>
            <a:ext cx="2787300" cy="333000"/>
          </a:xfrm>
          <a:prstGeom prst="roundRect">
            <a:avLst>
              <a:gd name="adj" fmla="val 16667"/>
            </a:avLst>
          </a:prstGeom>
          <a:solidFill>
            <a:srgbClr val="A31515"/>
          </a:solidFill>
          <a:ln>
            <a:noFill/>
          </a:ln>
        </p:spPr>
        <p:txBody>
          <a:bodyPr spcFirstLastPara="1" wrap="square" lIns="162000" tIns="91425" rIns="162000" bIns="91425" anchor="ctr" anchorCtr="0">
            <a:noAutofit/>
          </a:bodyPr>
          <a:lstStyle/>
          <a:p>
            <a:pPr algn="ctr"/>
            <a:r>
              <a:rPr lang="en-US" sz="1275">
                <a:solidFill>
                  <a:schemeClr val="lt1"/>
                </a:solidFill>
                <a:latin typeface="Roboto"/>
                <a:ea typeface="Roboto"/>
                <a:cs typeface="Roboto"/>
                <a:sym typeface="Roboto"/>
              </a:rPr>
              <a:t>Автоматический deploy </a:t>
            </a:r>
            <a:endParaRPr sz="1275">
              <a:solidFill>
                <a:schemeClr val="lt1"/>
              </a:solidFill>
              <a:latin typeface="Roboto"/>
              <a:ea typeface="Roboto"/>
              <a:cs typeface="Roboto"/>
              <a:sym typeface="Roboto"/>
            </a:endParaRPr>
          </a:p>
        </p:txBody>
      </p:sp>
      <p:sp>
        <p:nvSpPr>
          <p:cNvPr id="646" name="Google Shape;646;p96"/>
          <p:cNvSpPr/>
          <p:nvPr/>
        </p:nvSpPr>
        <p:spPr>
          <a:xfrm>
            <a:off x="5467425" y="3901800"/>
            <a:ext cx="2787300" cy="693000"/>
          </a:xfrm>
          <a:prstGeom prst="roundRect">
            <a:avLst>
              <a:gd name="adj" fmla="val 16667"/>
            </a:avLst>
          </a:prstGeom>
          <a:solidFill>
            <a:srgbClr val="A31515"/>
          </a:solidFill>
          <a:ln>
            <a:noFill/>
          </a:ln>
        </p:spPr>
        <p:txBody>
          <a:bodyPr spcFirstLastPara="1" wrap="square" lIns="162000" tIns="91425" rIns="162000" bIns="91425" anchor="ctr" anchorCtr="0">
            <a:noAutofit/>
          </a:bodyPr>
          <a:lstStyle/>
          <a:p>
            <a:pPr algn="ctr"/>
            <a:r>
              <a:rPr lang="en-US" sz="1275">
                <a:solidFill>
                  <a:schemeClr val="lt1"/>
                </a:solidFill>
                <a:latin typeface="Roboto"/>
                <a:ea typeface="Roboto"/>
                <a:cs typeface="Roboto"/>
                <a:sym typeface="Roboto"/>
              </a:rPr>
              <a:t>Автоматизация переобучения</a:t>
            </a:r>
            <a:endParaRPr sz="1275">
              <a:solidFill>
                <a:schemeClr val="lt1"/>
              </a:solidFill>
              <a:latin typeface="Roboto"/>
              <a:ea typeface="Roboto"/>
              <a:cs typeface="Roboto"/>
              <a:sym typeface="Roboto"/>
            </a:endParaRPr>
          </a:p>
        </p:txBody>
      </p:sp>
      <p:pic>
        <p:nvPicPr>
          <p:cNvPr id="647" name="Google Shape;647;p96"/>
          <p:cNvPicPr preferRelativeResize="0"/>
          <p:nvPr/>
        </p:nvPicPr>
        <p:blipFill>
          <a:blip r:embed="rId3">
            <a:alphaModFix/>
          </a:blip>
          <a:stretch>
            <a:fillRect/>
          </a:stretch>
        </p:blipFill>
        <p:spPr>
          <a:xfrm>
            <a:off x="3892725" y="1393297"/>
            <a:ext cx="1166125" cy="1199650"/>
          </a:xfrm>
          <a:prstGeom prst="rect">
            <a:avLst/>
          </a:prstGeom>
          <a:noFill/>
          <a:ln>
            <a:noFill/>
          </a:ln>
        </p:spPr>
      </p:pic>
      <p:pic>
        <p:nvPicPr>
          <p:cNvPr id="648" name="Google Shape;648;p96"/>
          <p:cNvPicPr preferRelativeResize="0"/>
          <p:nvPr/>
        </p:nvPicPr>
        <p:blipFill>
          <a:blip r:embed="rId4">
            <a:alphaModFix/>
          </a:blip>
          <a:stretch>
            <a:fillRect/>
          </a:stretch>
        </p:blipFill>
        <p:spPr>
          <a:xfrm>
            <a:off x="4024050" y="3730701"/>
            <a:ext cx="1016801" cy="1016825"/>
          </a:xfrm>
          <a:prstGeom prst="rect">
            <a:avLst/>
          </a:prstGeom>
          <a:noFill/>
          <a:ln>
            <a:noFill/>
          </a:ln>
        </p:spPr>
      </p:pic>
      <p:pic>
        <p:nvPicPr>
          <p:cNvPr id="649" name="Google Shape;649;p96"/>
          <p:cNvPicPr preferRelativeResize="0"/>
          <p:nvPr/>
        </p:nvPicPr>
        <p:blipFill rotWithShape="1">
          <a:blip r:embed="rId5">
            <a:alphaModFix/>
          </a:blip>
          <a:srcRect l="20267" t="23259" r="20575" b="22345"/>
          <a:stretch/>
        </p:blipFill>
        <p:spPr>
          <a:xfrm>
            <a:off x="3949400" y="2658443"/>
            <a:ext cx="1166100" cy="1072246"/>
          </a:xfrm>
          <a:prstGeom prst="rect">
            <a:avLst/>
          </a:prstGeom>
          <a:noFill/>
          <a:ln>
            <a:noFill/>
          </a:ln>
        </p:spPr>
      </p:pic>
      <p:sp>
        <p:nvSpPr>
          <p:cNvPr id="650" name="Google Shape;650;p96"/>
          <p:cNvSpPr/>
          <p:nvPr/>
        </p:nvSpPr>
        <p:spPr>
          <a:xfrm>
            <a:off x="5467425" y="3067375"/>
            <a:ext cx="2787300" cy="693000"/>
          </a:xfrm>
          <a:prstGeom prst="roundRect">
            <a:avLst>
              <a:gd name="adj" fmla="val 16667"/>
            </a:avLst>
          </a:prstGeom>
          <a:solidFill>
            <a:srgbClr val="A31515"/>
          </a:solidFill>
          <a:ln>
            <a:noFill/>
          </a:ln>
        </p:spPr>
        <p:txBody>
          <a:bodyPr spcFirstLastPara="1" wrap="square" lIns="162000" tIns="91425" rIns="162000" bIns="91425" anchor="ctr" anchorCtr="0">
            <a:noAutofit/>
          </a:bodyPr>
          <a:lstStyle/>
          <a:p>
            <a:pPr algn="ctr"/>
            <a:r>
              <a:rPr lang="en-US" sz="1275">
                <a:solidFill>
                  <a:schemeClr val="lt1"/>
                </a:solidFill>
                <a:latin typeface="Roboto"/>
                <a:ea typeface="Roboto"/>
                <a:cs typeface="Roboto"/>
                <a:sym typeface="Roboto"/>
              </a:rPr>
              <a:t>Непрерывный мониторинг</a:t>
            </a:r>
            <a:endParaRPr sz="1275">
              <a:solidFill>
                <a:schemeClr val="lt1"/>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pic>
        <p:nvPicPr>
          <p:cNvPr id="662" name="Google Shape;662;p98"/>
          <p:cNvPicPr preferRelativeResize="0"/>
          <p:nvPr/>
        </p:nvPicPr>
        <p:blipFill>
          <a:blip r:embed="rId3">
            <a:alphaModFix/>
          </a:blip>
          <a:stretch>
            <a:fillRect/>
          </a:stretch>
        </p:blipFill>
        <p:spPr>
          <a:xfrm>
            <a:off x="718594" y="0"/>
            <a:ext cx="7430651" cy="514350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99"/>
          <p:cNvSpPr txBox="1">
            <a:spLocks noGrp="1"/>
          </p:cNvSpPr>
          <p:nvPr>
            <p:ph type="title"/>
          </p:nvPr>
        </p:nvSpPr>
        <p:spPr>
          <a:xfrm>
            <a:off x="500550" y="330724"/>
            <a:ext cx="8520525" cy="1095975"/>
          </a:xfrm>
          <a:prstGeom prst="rect">
            <a:avLst/>
          </a:prstGeom>
        </p:spPr>
        <p:txBody>
          <a:bodyPr spcFirstLastPara="1" wrap="square" lIns="91425" tIns="91425" rIns="91425" bIns="91425" anchor="t" anchorCtr="0">
            <a:noAutofit/>
          </a:bodyPr>
          <a:lstStyle/>
          <a:p>
            <a:r>
              <a:rPr lang="en-US"/>
              <a:t>MLOps или Покемон</a:t>
            </a:r>
            <a:endParaRPr/>
          </a:p>
        </p:txBody>
      </p:sp>
      <p:sp>
        <p:nvSpPr>
          <p:cNvPr id="668" name="Google Shape;668;p99"/>
          <p:cNvSpPr txBox="1"/>
          <p:nvPr/>
        </p:nvSpPr>
        <p:spPr>
          <a:xfrm>
            <a:off x="2818106" y="4279388"/>
            <a:ext cx="4239344" cy="577059"/>
          </a:xfrm>
          <a:prstGeom prst="rect">
            <a:avLst/>
          </a:prstGeom>
          <a:noFill/>
          <a:ln>
            <a:noFill/>
          </a:ln>
        </p:spPr>
        <p:txBody>
          <a:bodyPr spcFirstLastPara="1" wrap="square" lIns="68569" tIns="68569" rIns="68569" bIns="68569" anchor="t" anchorCtr="0">
            <a:spAutoFit/>
          </a:bodyPr>
          <a:lstStyle/>
          <a:p>
            <a:r>
              <a:rPr lang="en-US" sz="1425" b="1" u="sng" dirty="0">
                <a:solidFill>
                  <a:schemeClr val="hlink"/>
                </a:solidFill>
                <a:latin typeface="Roboto"/>
                <a:ea typeface="Roboto"/>
                <a:cs typeface="Roboto"/>
                <a:sym typeface="Roboto"/>
                <a:hlinkClick r:id="rId3"/>
              </a:rPr>
              <a:t>https://valohai.com/mlops-or-pokemon/</a:t>
            </a:r>
            <a:endParaRPr sz="1425" b="1" dirty="0">
              <a:latin typeface="Roboto"/>
              <a:ea typeface="Roboto"/>
              <a:cs typeface="Roboto"/>
              <a:sym typeface="Roboto"/>
            </a:endParaRPr>
          </a:p>
          <a:p>
            <a:endParaRPr sz="1425" b="1" dirty="0">
              <a:latin typeface="Roboto"/>
              <a:ea typeface="Roboto"/>
              <a:cs typeface="Roboto"/>
              <a:sym typeface="Roboto"/>
            </a:endParaRPr>
          </a:p>
        </p:txBody>
      </p:sp>
      <p:pic>
        <p:nvPicPr>
          <p:cNvPr id="669" name="Google Shape;669;p99"/>
          <p:cNvPicPr preferRelativeResize="0"/>
          <p:nvPr/>
        </p:nvPicPr>
        <p:blipFill>
          <a:blip r:embed="rId4">
            <a:alphaModFix/>
          </a:blip>
          <a:stretch>
            <a:fillRect/>
          </a:stretch>
        </p:blipFill>
        <p:spPr>
          <a:xfrm>
            <a:off x="1575057" y="1076119"/>
            <a:ext cx="5958497" cy="320326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100"/>
          <p:cNvSpPr txBox="1">
            <a:spLocks noGrp="1"/>
          </p:cNvSpPr>
          <p:nvPr>
            <p:ph type="title"/>
          </p:nvPr>
        </p:nvSpPr>
        <p:spPr>
          <a:xfrm>
            <a:off x="502800" y="372038"/>
            <a:ext cx="8343000" cy="4150350"/>
          </a:xfrm>
          <a:prstGeom prst="rect">
            <a:avLst/>
          </a:prstGeom>
        </p:spPr>
        <p:txBody>
          <a:bodyPr spcFirstLastPara="1" wrap="square" lIns="91425" tIns="91425" rIns="91425" bIns="91425" anchor="ctr" anchorCtr="0">
            <a:noAutofit/>
          </a:bodyPr>
          <a:lstStyle/>
          <a:p>
            <a:r>
              <a:rPr lang="en-US" sz="4875"/>
              <a:t>Архитектуры и инструменты</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103"/>
          <p:cNvSpPr txBox="1">
            <a:spLocks noGrp="1"/>
          </p:cNvSpPr>
          <p:nvPr>
            <p:ph type="title"/>
          </p:nvPr>
        </p:nvSpPr>
        <p:spPr>
          <a:xfrm>
            <a:off x="500550" y="330724"/>
            <a:ext cx="8520525" cy="1095975"/>
          </a:xfrm>
          <a:prstGeom prst="rect">
            <a:avLst/>
          </a:prstGeom>
        </p:spPr>
        <p:txBody>
          <a:bodyPr spcFirstLastPara="1" wrap="square" lIns="91425" tIns="91425" rIns="91425" bIns="91425" anchor="t" anchorCtr="0">
            <a:noAutofit/>
          </a:bodyPr>
          <a:lstStyle/>
          <a:p>
            <a:r>
              <a:rPr lang="en-US"/>
              <a:t>Big Data Architecture - Open Source</a:t>
            </a:r>
            <a:endParaRPr/>
          </a:p>
        </p:txBody>
      </p:sp>
      <p:pic>
        <p:nvPicPr>
          <p:cNvPr id="692" name="Google Shape;692;p103"/>
          <p:cNvPicPr preferRelativeResize="0"/>
          <p:nvPr/>
        </p:nvPicPr>
        <p:blipFill>
          <a:blip r:embed="rId3">
            <a:alphaModFix/>
          </a:blip>
          <a:stretch>
            <a:fillRect/>
          </a:stretch>
        </p:blipFill>
        <p:spPr>
          <a:xfrm>
            <a:off x="746081" y="1089769"/>
            <a:ext cx="7858125" cy="3529013"/>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101"/>
          <p:cNvSpPr txBox="1">
            <a:spLocks noGrp="1"/>
          </p:cNvSpPr>
          <p:nvPr>
            <p:ph type="title"/>
          </p:nvPr>
        </p:nvSpPr>
        <p:spPr>
          <a:xfrm>
            <a:off x="500550" y="273574"/>
            <a:ext cx="8520525" cy="1095975"/>
          </a:xfrm>
          <a:prstGeom prst="rect">
            <a:avLst/>
          </a:prstGeom>
        </p:spPr>
        <p:txBody>
          <a:bodyPr spcFirstLastPara="1" wrap="square" lIns="91425" tIns="91425" rIns="91425" bIns="91425" anchor="t" anchorCtr="0">
            <a:noAutofit/>
          </a:bodyPr>
          <a:lstStyle/>
          <a:p>
            <a:r>
              <a:rPr lang="en-US" dirty="0"/>
              <a:t>Big Data Architecture - AWS</a:t>
            </a:r>
            <a:endParaRPr dirty="0"/>
          </a:p>
        </p:txBody>
      </p:sp>
      <p:pic>
        <p:nvPicPr>
          <p:cNvPr id="680" name="Google Shape;680;p101"/>
          <p:cNvPicPr preferRelativeResize="0"/>
          <p:nvPr/>
        </p:nvPicPr>
        <p:blipFill rotWithShape="1">
          <a:blip r:embed="rId3">
            <a:alphaModFix/>
          </a:blip>
          <a:srcRect b="4215"/>
          <a:stretch/>
        </p:blipFill>
        <p:spPr>
          <a:xfrm>
            <a:off x="434382" y="940738"/>
            <a:ext cx="8422521" cy="3593418"/>
          </a:xfrm>
          <a:prstGeom prst="rect">
            <a:avLst/>
          </a:prstGeom>
          <a:noFill/>
          <a:ln>
            <a:noFill/>
          </a:ln>
        </p:spPr>
      </p:pic>
      <p:sp>
        <p:nvSpPr>
          <p:cNvPr id="5" name="TextBox 4">
            <a:hlinkClick r:id="rId4"/>
            <a:extLst>
              <a:ext uri="{FF2B5EF4-FFF2-40B4-BE49-F238E27FC236}">
                <a16:creationId xmlns:a16="http://schemas.microsoft.com/office/drawing/2014/main" id="{5211AF1E-A3CA-A845-8495-804380885884}"/>
              </a:ext>
            </a:extLst>
          </p:cNvPr>
          <p:cNvSpPr txBox="1"/>
          <p:nvPr/>
        </p:nvSpPr>
        <p:spPr>
          <a:xfrm>
            <a:off x="684266" y="4746815"/>
            <a:ext cx="3961377" cy="246221"/>
          </a:xfrm>
          <a:prstGeom prst="rect">
            <a:avLst/>
          </a:prstGeom>
          <a:noFill/>
        </p:spPr>
        <p:txBody>
          <a:bodyPr wrap="square">
            <a:spAutoFit/>
          </a:bodyPr>
          <a:lstStyle/>
          <a:p>
            <a:r>
              <a:rPr lang="ru-RU" sz="1000" dirty="0">
                <a:hlinkClick r:id="rId4"/>
              </a:rPr>
              <a:t>Сопоставление</a:t>
            </a:r>
            <a:r>
              <a:rPr lang="en-US" sz="1000" dirty="0">
                <a:hlinkClick r:id="rId4"/>
              </a:rPr>
              <a:t> </a:t>
            </a:r>
            <a:r>
              <a:rPr lang="ru-RU" sz="1000" dirty="0">
                <a:hlinkClick r:id="rId4"/>
              </a:rPr>
              <a:t>сервисов </a:t>
            </a:r>
            <a:r>
              <a:rPr lang="en-US" sz="1000" dirty="0">
                <a:hlinkClick r:id="rId4"/>
              </a:rPr>
              <a:t>Yandex cloud </a:t>
            </a:r>
            <a:r>
              <a:rPr lang="en-US" sz="1000" dirty="0" err="1">
                <a:hlinkClick r:id="rId4"/>
              </a:rPr>
              <a:t>с</a:t>
            </a:r>
            <a:r>
              <a:rPr lang="en-US" sz="1000" dirty="0">
                <a:hlinkClick r:id="rId4"/>
              </a:rPr>
              <a:t> Amazon Web Services</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106"/>
          <p:cNvSpPr txBox="1">
            <a:spLocks noGrp="1"/>
          </p:cNvSpPr>
          <p:nvPr>
            <p:ph type="title"/>
          </p:nvPr>
        </p:nvSpPr>
        <p:spPr>
          <a:xfrm>
            <a:off x="500550" y="330724"/>
            <a:ext cx="8520525" cy="1095975"/>
          </a:xfrm>
          <a:prstGeom prst="rect">
            <a:avLst/>
          </a:prstGeom>
        </p:spPr>
        <p:txBody>
          <a:bodyPr spcFirstLastPara="1" wrap="square" lIns="91425" tIns="91425" rIns="91425" bIns="91425" anchor="t" anchorCtr="0">
            <a:noAutofit/>
          </a:bodyPr>
          <a:lstStyle/>
          <a:p>
            <a:r>
              <a:rPr lang="en-US"/>
              <a:t>MLOps Stack Template</a:t>
            </a:r>
            <a:endParaRPr/>
          </a:p>
        </p:txBody>
      </p:sp>
      <p:pic>
        <p:nvPicPr>
          <p:cNvPr id="710" name="Google Shape;710;p106"/>
          <p:cNvPicPr preferRelativeResize="0"/>
          <p:nvPr/>
        </p:nvPicPr>
        <p:blipFill>
          <a:blip r:embed="rId3">
            <a:alphaModFix/>
          </a:blip>
          <a:stretch>
            <a:fillRect/>
          </a:stretch>
        </p:blipFill>
        <p:spPr>
          <a:xfrm>
            <a:off x="566926" y="964915"/>
            <a:ext cx="4319399" cy="4054256"/>
          </a:xfrm>
          <a:prstGeom prst="rect">
            <a:avLst/>
          </a:prstGeom>
          <a:noFill/>
          <a:ln>
            <a:noFill/>
          </a:ln>
        </p:spPr>
      </p:pic>
      <p:sp>
        <p:nvSpPr>
          <p:cNvPr id="711" name="Google Shape;711;p106"/>
          <p:cNvSpPr txBox="1"/>
          <p:nvPr/>
        </p:nvSpPr>
        <p:spPr>
          <a:xfrm>
            <a:off x="5585850" y="1543050"/>
            <a:ext cx="3302100" cy="565517"/>
          </a:xfrm>
          <a:prstGeom prst="rect">
            <a:avLst/>
          </a:prstGeom>
          <a:noFill/>
          <a:ln>
            <a:noFill/>
          </a:ln>
        </p:spPr>
        <p:txBody>
          <a:bodyPr spcFirstLastPara="1" wrap="square" lIns="68569" tIns="68569" rIns="68569" bIns="68569" anchor="t" anchorCtr="0">
            <a:spAutoFit/>
          </a:bodyPr>
          <a:lstStyle/>
          <a:p>
            <a:r>
              <a:rPr lang="en-US" sz="2775" b="1" u="sng" dirty="0">
                <a:solidFill>
                  <a:schemeClr val="hlink"/>
                </a:solidFill>
                <a:latin typeface="Roboto"/>
                <a:ea typeface="Roboto"/>
                <a:cs typeface="Roboto"/>
                <a:sym typeface="Roboto"/>
                <a:hlinkClick r:id="rId4"/>
              </a:rPr>
              <a:t>Блог Valohai</a:t>
            </a:r>
            <a:endParaRPr sz="2775" b="1" dirty="0">
              <a:latin typeface="Roboto"/>
              <a:ea typeface="Roboto"/>
              <a:cs typeface="Roboto"/>
              <a:sym typeface="Roboto"/>
            </a:endParaRPr>
          </a:p>
        </p:txBody>
      </p:sp>
      <p:sp>
        <p:nvSpPr>
          <p:cNvPr id="712" name="Google Shape;712;p106"/>
          <p:cNvSpPr txBox="1"/>
          <p:nvPr/>
        </p:nvSpPr>
        <p:spPr>
          <a:xfrm>
            <a:off x="5628150" y="3056381"/>
            <a:ext cx="3302100" cy="565517"/>
          </a:xfrm>
          <a:prstGeom prst="rect">
            <a:avLst/>
          </a:prstGeom>
          <a:noFill/>
          <a:ln>
            <a:noFill/>
          </a:ln>
        </p:spPr>
        <p:txBody>
          <a:bodyPr spcFirstLastPara="1" wrap="square" lIns="68569" tIns="68569" rIns="68569" bIns="68569" anchor="t" anchorCtr="0">
            <a:spAutoFit/>
          </a:bodyPr>
          <a:lstStyle/>
          <a:p>
            <a:r>
              <a:rPr lang="en-US" sz="2775" b="1" u="sng">
                <a:solidFill>
                  <a:schemeClr val="hlink"/>
                </a:solidFill>
                <a:latin typeface="Roboto"/>
                <a:ea typeface="Roboto"/>
                <a:cs typeface="Roboto"/>
                <a:sym typeface="Roboto"/>
                <a:hlinkClick r:id="rId5"/>
              </a:rPr>
              <a:t>Шаблон в pdf</a:t>
            </a:r>
            <a:endParaRPr sz="2775" b="1">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p108"/>
          <p:cNvSpPr txBox="1">
            <a:spLocks noGrp="1"/>
          </p:cNvSpPr>
          <p:nvPr>
            <p:ph type="title"/>
          </p:nvPr>
        </p:nvSpPr>
        <p:spPr>
          <a:xfrm>
            <a:off x="500550" y="44974"/>
            <a:ext cx="8520525" cy="1095975"/>
          </a:xfrm>
          <a:prstGeom prst="rect">
            <a:avLst/>
          </a:prstGeom>
        </p:spPr>
        <p:txBody>
          <a:bodyPr spcFirstLastPara="1" wrap="square" lIns="91425" tIns="91425" rIns="91425" bIns="91425" anchor="t" anchorCtr="0">
            <a:noAutofit/>
          </a:bodyPr>
          <a:lstStyle/>
          <a:p>
            <a:r>
              <a:rPr lang="ru-RU" dirty="0" err="1"/>
              <a:t>MLOps</a:t>
            </a:r>
            <a:r>
              <a:rPr lang="ru-RU" dirty="0"/>
              <a:t> Платформа - пример ядра</a:t>
            </a:r>
          </a:p>
          <a:p>
            <a:pPr>
              <a:buSzPts val="1100"/>
            </a:pPr>
            <a:r>
              <a:rPr lang="ru-RU" sz="2250" dirty="0">
                <a:solidFill>
                  <a:schemeClr val="accent1"/>
                </a:solidFill>
              </a:rPr>
              <a:t>(подберите себе альтернативу)</a:t>
            </a:r>
          </a:p>
          <a:p>
            <a:endParaRPr dirty="0"/>
          </a:p>
        </p:txBody>
      </p:sp>
      <p:sp>
        <p:nvSpPr>
          <p:cNvPr id="725" name="Google Shape;725;p108"/>
          <p:cNvSpPr txBox="1"/>
          <p:nvPr/>
        </p:nvSpPr>
        <p:spPr>
          <a:xfrm>
            <a:off x="5884388" y="4704019"/>
            <a:ext cx="2250000" cy="242352"/>
          </a:xfrm>
          <a:prstGeom prst="rect">
            <a:avLst/>
          </a:prstGeom>
          <a:noFill/>
          <a:ln>
            <a:noFill/>
          </a:ln>
        </p:spPr>
        <p:txBody>
          <a:bodyPr spcFirstLastPara="1" wrap="square" lIns="68569" tIns="68569" rIns="68569" bIns="68569" anchor="t" anchorCtr="0">
            <a:spAutoFit/>
          </a:bodyPr>
          <a:lstStyle/>
          <a:p>
            <a:r>
              <a:rPr lang="en-US" sz="675" dirty="0">
                <a:solidFill>
                  <a:srgbClr val="8D9195"/>
                </a:solidFill>
              </a:rPr>
              <a:t>Credit: </a:t>
            </a:r>
            <a:r>
              <a:rPr lang="en-US" sz="675" dirty="0" err="1">
                <a:solidFill>
                  <a:srgbClr val="8D9195"/>
                </a:solidFill>
              </a:rPr>
              <a:t>Glowbyte</a:t>
            </a:r>
            <a:r>
              <a:rPr lang="en-US" sz="675" dirty="0">
                <a:solidFill>
                  <a:srgbClr val="8D9195"/>
                </a:solidFill>
              </a:rPr>
              <a:t> / </a:t>
            </a:r>
            <a:r>
              <a:rPr lang="en-US" sz="675" dirty="0" err="1">
                <a:solidFill>
                  <a:srgbClr val="8D9195"/>
                </a:solidFill>
              </a:rPr>
              <a:t>NoML</a:t>
            </a:r>
            <a:r>
              <a:rPr lang="en-US" sz="675" dirty="0">
                <a:solidFill>
                  <a:srgbClr val="8D9195"/>
                </a:solidFill>
              </a:rPr>
              <a:t> community</a:t>
            </a:r>
            <a:endParaRPr sz="1050" dirty="0"/>
          </a:p>
        </p:txBody>
      </p:sp>
      <p:pic>
        <p:nvPicPr>
          <p:cNvPr id="726" name="Google Shape;726;p108"/>
          <p:cNvPicPr preferRelativeResize="0"/>
          <p:nvPr/>
        </p:nvPicPr>
        <p:blipFill>
          <a:blip r:embed="rId3">
            <a:alphaModFix/>
          </a:blip>
          <a:stretch>
            <a:fillRect/>
          </a:stretch>
        </p:blipFill>
        <p:spPr>
          <a:xfrm>
            <a:off x="898781" y="911269"/>
            <a:ext cx="6912077" cy="3844163"/>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109"/>
          <p:cNvSpPr txBox="1">
            <a:spLocks noGrp="1"/>
          </p:cNvSpPr>
          <p:nvPr>
            <p:ph type="title"/>
          </p:nvPr>
        </p:nvSpPr>
        <p:spPr>
          <a:xfrm>
            <a:off x="500550" y="330724"/>
            <a:ext cx="8520525" cy="1095975"/>
          </a:xfrm>
          <a:prstGeom prst="rect">
            <a:avLst/>
          </a:prstGeom>
        </p:spPr>
        <p:txBody>
          <a:bodyPr spcFirstLastPara="1" wrap="square" lIns="91425" tIns="91425" rIns="91425" bIns="91425" anchor="t" anchorCtr="0">
            <a:noAutofit/>
          </a:bodyPr>
          <a:lstStyle/>
          <a:p>
            <a:r>
              <a:rPr lang="en-US" dirty="0" err="1"/>
              <a:t>MLOps</a:t>
            </a:r>
            <a:r>
              <a:rPr lang="en-US" dirty="0"/>
              <a:t> Stack</a:t>
            </a:r>
            <a:endParaRPr dirty="0"/>
          </a:p>
        </p:txBody>
      </p:sp>
      <p:pic>
        <p:nvPicPr>
          <p:cNvPr id="732" name="Google Shape;732;p109"/>
          <p:cNvPicPr preferRelativeResize="0"/>
          <p:nvPr/>
        </p:nvPicPr>
        <p:blipFill>
          <a:blip r:embed="rId3">
            <a:alphaModFix/>
          </a:blip>
          <a:stretch>
            <a:fillRect/>
          </a:stretch>
        </p:blipFill>
        <p:spPr>
          <a:xfrm>
            <a:off x="0" y="1036950"/>
            <a:ext cx="9144000" cy="3567057"/>
          </a:xfrm>
          <a:prstGeom prst="rect">
            <a:avLst/>
          </a:prstGeom>
          <a:noFill/>
          <a:ln>
            <a:noFill/>
          </a:ln>
        </p:spPr>
      </p:pic>
      <p:sp>
        <p:nvSpPr>
          <p:cNvPr id="733" name="Google Shape;733;p109"/>
          <p:cNvSpPr txBox="1"/>
          <p:nvPr/>
        </p:nvSpPr>
        <p:spPr>
          <a:xfrm>
            <a:off x="6604256" y="4361681"/>
            <a:ext cx="2250000" cy="242352"/>
          </a:xfrm>
          <a:prstGeom prst="rect">
            <a:avLst/>
          </a:prstGeom>
          <a:noFill/>
          <a:ln>
            <a:noFill/>
          </a:ln>
        </p:spPr>
        <p:txBody>
          <a:bodyPr spcFirstLastPara="1" wrap="square" lIns="68569" tIns="68569" rIns="68569" bIns="68569" anchor="t" anchorCtr="0">
            <a:spAutoFit/>
          </a:bodyPr>
          <a:lstStyle/>
          <a:p>
            <a:r>
              <a:rPr lang="en-US" sz="675">
                <a:solidFill>
                  <a:srgbClr val="8D9195"/>
                </a:solidFill>
              </a:rPr>
              <a:t>Credit: Neptune.ai</a:t>
            </a:r>
            <a:endParaRPr sz="105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90"/>
          <p:cNvSpPr txBox="1">
            <a:spLocks noGrp="1"/>
          </p:cNvSpPr>
          <p:nvPr>
            <p:ph type="title"/>
          </p:nvPr>
        </p:nvSpPr>
        <p:spPr>
          <a:xfrm>
            <a:off x="651425" y="396394"/>
            <a:ext cx="77061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 sz="4900"/>
              <a:t>Вопросы?</a:t>
            </a:r>
            <a:endParaRPr/>
          </a:p>
        </p:txBody>
      </p:sp>
      <p:pic>
        <p:nvPicPr>
          <p:cNvPr id="611" name="Google Shape;611;p90"/>
          <p:cNvPicPr preferRelativeResize="0"/>
          <p:nvPr/>
        </p:nvPicPr>
        <p:blipFill rotWithShape="1">
          <a:blip r:embed="rId3">
            <a:alphaModFix/>
          </a:blip>
          <a:srcRect/>
          <a:stretch/>
        </p:blipFill>
        <p:spPr>
          <a:xfrm>
            <a:off x="719975" y="3370764"/>
            <a:ext cx="662535" cy="662535"/>
          </a:xfrm>
          <a:prstGeom prst="rect">
            <a:avLst/>
          </a:prstGeom>
          <a:noFill/>
          <a:ln>
            <a:noFill/>
          </a:ln>
        </p:spPr>
      </p:pic>
      <p:sp>
        <p:nvSpPr>
          <p:cNvPr id="612" name="Google Shape;612;p90"/>
          <p:cNvSpPr txBox="1"/>
          <p:nvPr/>
        </p:nvSpPr>
        <p:spPr>
          <a:xfrm>
            <a:off x="1438025" y="3378781"/>
            <a:ext cx="3000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solidFill>
                  <a:srgbClr val="FFFFFF"/>
                </a:solidFill>
                <a:latin typeface="Roboto"/>
                <a:ea typeface="Roboto"/>
                <a:cs typeface="Roboto"/>
                <a:sym typeface="Roboto"/>
              </a:rPr>
              <a:t>Ставим “+”,</a:t>
            </a:r>
            <a:endParaRPr sz="1500">
              <a:solidFill>
                <a:srgbClr val="FFFFFF"/>
              </a:solidFill>
              <a:latin typeface="Roboto"/>
              <a:ea typeface="Roboto"/>
              <a:cs typeface="Roboto"/>
              <a:sym typeface="Roboto"/>
            </a:endParaRPr>
          </a:p>
          <a:p>
            <a:pPr marL="0" lvl="0" indent="0" algn="l" rtl="0">
              <a:spcBef>
                <a:spcPts val="0"/>
              </a:spcBef>
              <a:spcAft>
                <a:spcPts val="0"/>
              </a:spcAft>
              <a:buNone/>
            </a:pPr>
            <a:r>
              <a:rPr lang="ru" sz="1500">
                <a:solidFill>
                  <a:srgbClr val="FFFFFF"/>
                </a:solidFill>
                <a:latin typeface="Roboto"/>
                <a:ea typeface="Roboto"/>
                <a:cs typeface="Roboto"/>
                <a:sym typeface="Roboto"/>
              </a:rPr>
              <a:t>если вопросы есть</a:t>
            </a:r>
            <a:endParaRPr sz="1500">
              <a:solidFill>
                <a:srgbClr val="FFFFFF"/>
              </a:solidFill>
              <a:latin typeface="Roboto"/>
              <a:ea typeface="Roboto"/>
              <a:cs typeface="Roboto"/>
              <a:sym typeface="Roboto"/>
            </a:endParaRPr>
          </a:p>
        </p:txBody>
      </p:sp>
      <p:pic>
        <p:nvPicPr>
          <p:cNvPr id="613" name="Google Shape;613;p90"/>
          <p:cNvPicPr preferRelativeResize="0"/>
          <p:nvPr/>
        </p:nvPicPr>
        <p:blipFill rotWithShape="1">
          <a:blip r:embed="rId4">
            <a:alphaModFix/>
          </a:blip>
          <a:srcRect/>
          <a:stretch/>
        </p:blipFill>
        <p:spPr>
          <a:xfrm>
            <a:off x="4102950" y="3370764"/>
            <a:ext cx="662535" cy="662535"/>
          </a:xfrm>
          <a:prstGeom prst="rect">
            <a:avLst/>
          </a:prstGeom>
          <a:noFill/>
          <a:ln>
            <a:noFill/>
          </a:ln>
        </p:spPr>
      </p:pic>
      <p:sp>
        <p:nvSpPr>
          <p:cNvPr id="614" name="Google Shape;614;p90"/>
          <p:cNvSpPr txBox="1"/>
          <p:nvPr/>
        </p:nvSpPr>
        <p:spPr>
          <a:xfrm>
            <a:off x="4806700" y="3378781"/>
            <a:ext cx="3000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solidFill>
                  <a:srgbClr val="FFFFFF"/>
                </a:solidFill>
                <a:latin typeface="Roboto"/>
                <a:ea typeface="Roboto"/>
                <a:cs typeface="Roboto"/>
                <a:sym typeface="Roboto"/>
              </a:rPr>
              <a:t>Ставим “–”,</a:t>
            </a:r>
            <a:endParaRPr sz="1500">
              <a:solidFill>
                <a:srgbClr val="FFFFFF"/>
              </a:solidFill>
              <a:latin typeface="Roboto"/>
              <a:ea typeface="Roboto"/>
              <a:cs typeface="Roboto"/>
              <a:sym typeface="Roboto"/>
            </a:endParaRPr>
          </a:p>
          <a:p>
            <a:pPr marL="0" lvl="0" indent="0" algn="l" rtl="0">
              <a:spcBef>
                <a:spcPts val="0"/>
              </a:spcBef>
              <a:spcAft>
                <a:spcPts val="0"/>
              </a:spcAft>
              <a:buNone/>
            </a:pPr>
            <a:r>
              <a:rPr lang="ru" sz="1500">
                <a:solidFill>
                  <a:srgbClr val="FFFFFF"/>
                </a:solidFill>
                <a:latin typeface="Roboto"/>
                <a:ea typeface="Roboto"/>
                <a:cs typeface="Roboto"/>
                <a:sym typeface="Roboto"/>
              </a:rPr>
              <a:t>если вопросов нет</a:t>
            </a:r>
            <a:endParaRPr sz="1500">
              <a:solidFill>
                <a:srgbClr val="FFFFFF"/>
              </a:solidFill>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96"/>
          <p:cNvSpPr txBox="1">
            <a:spLocks noGrp="1"/>
          </p:cNvSpPr>
          <p:nvPr>
            <p:ph type="title"/>
          </p:nvPr>
        </p:nvSpPr>
        <p:spPr>
          <a:xfrm>
            <a:off x="956225" y="396394"/>
            <a:ext cx="75591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 sz="3800"/>
              <a:t>Заполните, пожалуйста,</a:t>
            </a:r>
            <a:endParaRPr sz="3800"/>
          </a:p>
          <a:p>
            <a:pPr marL="0" lvl="0" indent="0" algn="l" rtl="0">
              <a:spcBef>
                <a:spcPts val="0"/>
              </a:spcBef>
              <a:spcAft>
                <a:spcPts val="0"/>
              </a:spcAft>
              <a:buNone/>
            </a:pPr>
            <a:r>
              <a:rPr lang="ru" sz="3800"/>
              <a:t>опрос о занятии</a:t>
            </a:r>
            <a:endParaRPr sz="3800"/>
          </a:p>
          <a:p>
            <a:pPr marL="0" lvl="0" indent="0" algn="l" rtl="0">
              <a:spcBef>
                <a:spcPts val="0"/>
              </a:spcBef>
              <a:spcAft>
                <a:spcPts val="0"/>
              </a:spcAft>
              <a:buNone/>
            </a:pPr>
            <a:r>
              <a:rPr lang="ru" sz="3800"/>
              <a:t>по ссылке в чате</a:t>
            </a:r>
            <a:endParaRPr sz="38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95"/>
          <p:cNvSpPr txBox="1">
            <a:spLocks noGrp="1"/>
          </p:cNvSpPr>
          <p:nvPr>
            <p:ph type="title"/>
          </p:nvPr>
        </p:nvSpPr>
        <p:spPr>
          <a:xfrm>
            <a:off x="500550" y="330725"/>
            <a:ext cx="8520600" cy="95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Следующий вебинар</a:t>
            </a:r>
            <a:endParaRPr/>
          </a:p>
        </p:txBody>
      </p:sp>
      <p:sp>
        <p:nvSpPr>
          <p:cNvPr id="649" name="Google Shape;649;p95"/>
          <p:cNvSpPr txBox="1"/>
          <p:nvPr/>
        </p:nvSpPr>
        <p:spPr>
          <a:xfrm>
            <a:off x="1847919" y="1653708"/>
            <a:ext cx="6156900"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sz="2400" b="1" dirty="0">
                <a:solidFill>
                  <a:schemeClr val="tx1"/>
                </a:solidFill>
              </a:rPr>
              <a:t>Облачные провайдеры</a:t>
            </a:r>
            <a:endParaRPr sz="2400" b="1" dirty="0">
              <a:solidFill>
                <a:schemeClr val="tx1"/>
              </a:solidFill>
            </a:endParaRPr>
          </a:p>
        </p:txBody>
      </p:sp>
      <p:pic>
        <p:nvPicPr>
          <p:cNvPr id="650" name="Google Shape;650;p95"/>
          <p:cNvPicPr preferRelativeResize="0"/>
          <p:nvPr/>
        </p:nvPicPr>
        <p:blipFill rotWithShape="1">
          <a:blip r:embed="rId3">
            <a:alphaModFix/>
          </a:blip>
          <a:srcRect/>
          <a:stretch/>
        </p:blipFill>
        <p:spPr>
          <a:xfrm>
            <a:off x="886500" y="1558024"/>
            <a:ext cx="760725" cy="760725"/>
          </a:xfrm>
          <a:prstGeom prst="rect">
            <a:avLst/>
          </a:prstGeom>
          <a:noFill/>
          <a:ln>
            <a:noFill/>
          </a:ln>
        </p:spPr>
      </p:pic>
      <p:sp>
        <p:nvSpPr>
          <p:cNvPr id="651" name="Google Shape;651;p95"/>
          <p:cNvSpPr txBox="1"/>
          <p:nvPr/>
        </p:nvSpPr>
        <p:spPr>
          <a:xfrm>
            <a:off x="1179775" y="3660425"/>
            <a:ext cx="20562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300">
                <a:latin typeface="Roboto"/>
                <a:ea typeface="Roboto"/>
                <a:cs typeface="Roboto"/>
                <a:sym typeface="Roboto"/>
              </a:rPr>
              <a:t>Ссылка на вебинар будет в ЛК за 15 минут</a:t>
            </a:r>
            <a:endParaRPr sz="1300">
              <a:latin typeface="Roboto"/>
              <a:ea typeface="Roboto"/>
              <a:cs typeface="Roboto"/>
              <a:sym typeface="Roboto"/>
            </a:endParaRPr>
          </a:p>
          <a:p>
            <a:pPr marL="0" lvl="0" indent="0" algn="l" rtl="0">
              <a:spcBef>
                <a:spcPts val="0"/>
              </a:spcBef>
              <a:spcAft>
                <a:spcPts val="0"/>
              </a:spcAft>
              <a:buNone/>
            </a:pPr>
            <a:endParaRPr sz="1300">
              <a:latin typeface="Roboto"/>
              <a:ea typeface="Roboto"/>
              <a:cs typeface="Roboto"/>
              <a:sym typeface="Roboto"/>
            </a:endParaRPr>
          </a:p>
        </p:txBody>
      </p:sp>
      <p:sp>
        <p:nvSpPr>
          <p:cNvPr id="652" name="Google Shape;652;p95"/>
          <p:cNvSpPr txBox="1"/>
          <p:nvPr/>
        </p:nvSpPr>
        <p:spPr>
          <a:xfrm>
            <a:off x="3844125" y="3660413"/>
            <a:ext cx="17664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300">
                <a:latin typeface="Roboto"/>
                <a:ea typeface="Roboto"/>
                <a:cs typeface="Roboto"/>
                <a:sym typeface="Roboto"/>
              </a:rPr>
              <a:t>Материалы</a:t>
            </a:r>
            <a:endParaRPr sz="1300">
              <a:latin typeface="Roboto"/>
              <a:ea typeface="Roboto"/>
              <a:cs typeface="Roboto"/>
              <a:sym typeface="Roboto"/>
            </a:endParaRPr>
          </a:p>
          <a:p>
            <a:pPr marL="0" lvl="0" indent="0" algn="l" rtl="0">
              <a:spcBef>
                <a:spcPts val="0"/>
              </a:spcBef>
              <a:spcAft>
                <a:spcPts val="0"/>
              </a:spcAft>
              <a:buNone/>
            </a:pPr>
            <a:r>
              <a:rPr lang="ru" sz="1300">
                <a:latin typeface="Roboto"/>
                <a:ea typeface="Roboto"/>
                <a:cs typeface="Roboto"/>
                <a:sym typeface="Roboto"/>
              </a:rPr>
              <a:t>к занятию в ЛК — можно изучать</a:t>
            </a:r>
            <a:endParaRPr sz="1300">
              <a:latin typeface="Roboto"/>
              <a:ea typeface="Roboto"/>
              <a:cs typeface="Roboto"/>
              <a:sym typeface="Roboto"/>
            </a:endParaRPr>
          </a:p>
        </p:txBody>
      </p:sp>
      <p:sp>
        <p:nvSpPr>
          <p:cNvPr id="653" name="Google Shape;653;p95"/>
          <p:cNvSpPr txBox="1"/>
          <p:nvPr/>
        </p:nvSpPr>
        <p:spPr>
          <a:xfrm>
            <a:off x="6101125" y="3660413"/>
            <a:ext cx="21009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300">
                <a:latin typeface="Roboto"/>
                <a:ea typeface="Roboto"/>
                <a:cs typeface="Roboto"/>
                <a:sym typeface="Roboto"/>
              </a:rPr>
              <a:t>Обязательный материал обозначен красной лентой</a:t>
            </a:r>
            <a:endParaRPr sz="1300">
              <a:latin typeface="Roboto"/>
              <a:ea typeface="Roboto"/>
              <a:cs typeface="Roboto"/>
              <a:sym typeface="Roboto"/>
            </a:endParaRPr>
          </a:p>
        </p:txBody>
      </p:sp>
      <p:pic>
        <p:nvPicPr>
          <p:cNvPr id="654" name="Google Shape;654;p95"/>
          <p:cNvPicPr preferRelativeResize="0"/>
          <p:nvPr/>
        </p:nvPicPr>
        <p:blipFill>
          <a:blip r:embed="rId4">
            <a:alphaModFix/>
          </a:blip>
          <a:stretch>
            <a:fillRect/>
          </a:stretch>
        </p:blipFill>
        <p:spPr>
          <a:xfrm>
            <a:off x="5835150" y="3750544"/>
            <a:ext cx="214313" cy="214313"/>
          </a:xfrm>
          <a:prstGeom prst="rect">
            <a:avLst/>
          </a:prstGeom>
          <a:noFill/>
          <a:ln>
            <a:noFill/>
          </a:ln>
        </p:spPr>
      </p:pic>
      <p:pic>
        <p:nvPicPr>
          <p:cNvPr id="655" name="Google Shape;655;p95"/>
          <p:cNvPicPr preferRelativeResize="0"/>
          <p:nvPr/>
        </p:nvPicPr>
        <p:blipFill rotWithShape="1">
          <a:blip r:embed="rId5">
            <a:alphaModFix/>
          </a:blip>
          <a:srcRect/>
          <a:stretch/>
        </p:blipFill>
        <p:spPr>
          <a:xfrm>
            <a:off x="843250" y="3692869"/>
            <a:ext cx="329663" cy="329663"/>
          </a:xfrm>
          <a:prstGeom prst="rect">
            <a:avLst/>
          </a:prstGeom>
          <a:noFill/>
          <a:ln>
            <a:noFill/>
          </a:ln>
        </p:spPr>
      </p:pic>
      <p:pic>
        <p:nvPicPr>
          <p:cNvPr id="656" name="Google Shape;656;p95"/>
          <p:cNvPicPr preferRelativeResize="0"/>
          <p:nvPr/>
        </p:nvPicPr>
        <p:blipFill rotWithShape="1">
          <a:blip r:embed="rId5">
            <a:alphaModFix/>
          </a:blip>
          <a:srcRect/>
          <a:stretch/>
        </p:blipFill>
        <p:spPr>
          <a:xfrm>
            <a:off x="3480775" y="3692869"/>
            <a:ext cx="329663" cy="329663"/>
          </a:xfrm>
          <a:prstGeom prst="rect">
            <a:avLst/>
          </a:prstGeom>
          <a:noFill/>
          <a:ln>
            <a:noFill/>
          </a:ln>
        </p:spPr>
      </p:pic>
    </p:spTree>
  </p:cSld>
  <p:clrMapOvr>
    <a:masterClrMapping/>
  </p:clrMapOvr>
</p:sld>
</file>

<file path=ppt/theme/theme1.xml><?xml version="1.0" encoding="utf-8"?>
<a:theme xmlns:a="http://schemas.openxmlformats.org/drawingml/2006/main" name="Светлая тема">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1329</TotalTime>
  <Words>1180</Words>
  <Application>Microsoft Macintosh PowerPoint</Application>
  <PresentationFormat>On-screen Show (16:9)</PresentationFormat>
  <Paragraphs>206</Paragraphs>
  <Slides>43</Slides>
  <Notes>41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Courier New</vt:lpstr>
      <vt:lpstr>Roboto Medium</vt:lpstr>
      <vt:lpstr>Roboto</vt:lpstr>
      <vt:lpstr>Arial</vt:lpstr>
      <vt:lpstr>Светлая тема</vt:lpstr>
      <vt:lpstr>MLOps Infrastructure </vt:lpstr>
      <vt:lpstr>Проверить, идет ли запись</vt:lpstr>
      <vt:lpstr>MLOps Базовые блоки инфраструктуры</vt:lpstr>
      <vt:lpstr>Правила вебинара</vt:lpstr>
      <vt:lpstr>Маршрут вебинара</vt:lpstr>
      <vt:lpstr>Цели вебинара</vt:lpstr>
      <vt:lpstr>Инфраструктурные элементы</vt:lpstr>
      <vt:lpstr>Системы управления БД</vt:lpstr>
      <vt:lpstr>РСУБД</vt:lpstr>
      <vt:lpstr>Аналитические базы данных</vt:lpstr>
      <vt:lpstr>NoSQL базы данных</vt:lpstr>
      <vt:lpstr>CAP и PALEC</vt:lpstr>
      <vt:lpstr>Объектные хранилища и DataLake</vt:lpstr>
      <vt:lpstr>Object Storages и Datalakes</vt:lpstr>
      <vt:lpstr>Hadoop</vt:lpstr>
      <vt:lpstr>Hadoop</vt:lpstr>
      <vt:lpstr>Базовые компоненты Hadoop</vt:lpstr>
      <vt:lpstr>Экосистема Hadoop</vt:lpstr>
      <vt:lpstr>Apache Hive</vt:lpstr>
      <vt:lpstr>Spark</vt:lpstr>
      <vt:lpstr>Apache Spark</vt:lpstr>
      <vt:lpstr>Потоковая обработка</vt:lpstr>
      <vt:lpstr>Фреймворки для потоковой обработки</vt:lpstr>
      <vt:lpstr>Kafka - брокер сообщений</vt:lpstr>
      <vt:lpstr>Витрины данных</vt:lpstr>
      <vt:lpstr>Витрины данных</vt:lpstr>
      <vt:lpstr>Компоненты / инструменты MLOps платформ</vt:lpstr>
      <vt:lpstr>Базовый уровень MLOps (Уровень 0)</vt:lpstr>
      <vt:lpstr>Уровень пайплайнов MLOps (Уровень 1)</vt:lpstr>
      <vt:lpstr>Уровень автоматизации MLOps (Уровень 2)</vt:lpstr>
      <vt:lpstr>Какие компоненты понадобятся</vt:lpstr>
      <vt:lpstr>Переход к: пайплайнам (уровень 1), автоматизации (уровень 2)</vt:lpstr>
      <vt:lpstr>PowerPoint Presentation</vt:lpstr>
      <vt:lpstr>MLOps или Покемон</vt:lpstr>
      <vt:lpstr>Архитектуры и инструменты</vt:lpstr>
      <vt:lpstr>Big Data Architecture - Open Source</vt:lpstr>
      <vt:lpstr>Big Data Architecture - AWS</vt:lpstr>
      <vt:lpstr>MLOps Stack Template</vt:lpstr>
      <vt:lpstr>MLOps Платформа - пример ядра (подберите себе альтернативу) </vt:lpstr>
      <vt:lpstr>MLOps Stack</vt:lpstr>
      <vt:lpstr>Вопросы?</vt:lpstr>
      <vt:lpstr>Заполните, пожалуйста, опрос о занятии по ссылке в чате</vt:lpstr>
      <vt:lpstr>Следующий вебинар</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Reinforcement Learning Введение </dc:title>
  <cp:lastModifiedBy>Стурейко Игорь Олегович</cp:lastModifiedBy>
  <cp:revision>60</cp:revision>
  <dcterms:modified xsi:type="dcterms:W3CDTF">2025-07-17T16:05:21Z</dcterms:modified>
</cp:coreProperties>
</file>