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0" r:id="rId1"/>
    <p:sldMasterId id="2147483692" r:id="rId2"/>
  </p:sldMasterIdLst>
  <p:notesMasterIdLst>
    <p:notesMasterId r:id="rId30"/>
  </p:notesMasterIdLst>
  <p:sldIdLst>
    <p:sldId id="256" r:id="rId3"/>
    <p:sldId id="257" r:id="rId4"/>
    <p:sldId id="259" r:id="rId5"/>
    <p:sldId id="334" r:id="rId6"/>
    <p:sldId id="292" r:id="rId7"/>
    <p:sldId id="262" r:id="rId8"/>
    <p:sldId id="263" r:id="rId9"/>
    <p:sldId id="264" r:id="rId10"/>
    <p:sldId id="311" r:id="rId11"/>
    <p:sldId id="267" r:id="rId12"/>
    <p:sldId id="344" r:id="rId13"/>
    <p:sldId id="350" r:id="rId14"/>
    <p:sldId id="352" r:id="rId15"/>
    <p:sldId id="351" r:id="rId16"/>
    <p:sldId id="353" r:id="rId17"/>
    <p:sldId id="360" r:id="rId18"/>
    <p:sldId id="354" r:id="rId19"/>
    <p:sldId id="355" r:id="rId20"/>
    <p:sldId id="359" r:id="rId21"/>
    <p:sldId id="278" r:id="rId22"/>
    <p:sldId id="279" r:id="rId23"/>
    <p:sldId id="281" r:id="rId24"/>
    <p:sldId id="282" r:id="rId25"/>
    <p:sldId id="283" r:id="rId26"/>
    <p:sldId id="345" r:id="rId27"/>
    <p:sldId id="289" r:id="rId28"/>
    <p:sldId id="337" r:id="rId29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31"/>
      <p:bold r:id="rId32"/>
      <p:italic r:id="rId33"/>
      <p:boldItalic r:id="rId34"/>
    </p:embeddedFont>
    <p:embeddedFont>
      <p:font typeface="Georgia" panose="02040502050405020303" pitchFamily="18" charset="0"/>
      <p:regular r:id="rId35"/>
      <p:bold r:id="rId36"/>
      <p:italic r:id="rId37"/>
      <p:boldItalic r:id="rId38"/>
    </p:embeddedFont>
    <p:embeddedFont>
      <p:font typeface="Helvetica Neue" panose="02000503000000020004" pitchFamily="2" charset="0"/>
      <p:regular r:id="rId39"/>
      <p:bold r:id="rId40"/>
      <p:italic r:id="rId41"/>
      <p:boldItalic r:id="rId42"/>
    </p:embeddedFont>
    <p:embeddedFont>
      <p:font typeface="Roboto" panose="02000000000000000000" pitchFamily="2" charset="0"/>
      <p:regular r:id="rId43"/>
      <p:bold r:id="rId44"/>
      <p:italic r:id="rId45"/>
      <p:boldItalic r:id="rId46"/>
    </p:embeddedFont>
    <p:embeddedFont>
      <p:font typeface="Trebuchet MS" panose="020B0703020202090204" pitchFamily="34" charset="0"/>
      <p:regular r:id="rId47"/>
      <p:bold r:id="rId48"/>
      <p:italic r:id="rId4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5533">
          <p15:clr>
            <a:srgbClr val="A4A3A4"/>
          </p15:clr>
        </p15:guide>
        <p15:guide id="2" pos="1002">
          <p15:clr>
            <a:srgbClr val="9AA0A6"/>
          </p15:clr>
        </p15:guide>
        <p15:guide id="3" orient="horz" pos="179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966"/>
    <a:srgbClr val="D9E7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623574C-9AE7-4070-A081-93A97D88BCA6}">
  <a:tblStyle styleId="{B623574C-9AE7-4070-A081-93A97D88BCA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737"/>
    <p:restoredTop sz="97146"/>
  </p:normalViewPr>
  <p:slideViewPr>
    <p:cSldViewPr snapToGrid="0">
      <p:cViewPr varScale="1">
        <p:scale>
          <a:sx n="165" d="100"/>
          <a:sy n="165" d="100"/>
        </p:scale>
        <p:origin x="1192" y="184"/>
      </p:cViewPr>
      <p:guideLst>
        <p:guide pos="5533"/>
        <p:guide pos="1002"/>
        <p:guide orient="horz" pos="17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9.fntdata"/><Relationship Id="rId21" Type="http://schemas.openxmlformats.org/officeDocument/2006/relationships/slide" Target="slides/slide19.xml"/><Relationship Id="rId34" Type="http://schemas.openxmlformats.org/officeDocument/2006/relationships/font" Target="fonts/font4.fntdata"/><Relationship Id="rId42" Type="http://schemas.openxmlformats.org/officeDocument/2006/relationships/font" Target="fonts/font12.fntdata"/><Relationship Id="rId47" Type="http://schemas.openxmlformats.org/officeDocument/2006/relationships/font" Target="fonts/font17.fntdata"/><Relationship Id="rId50" Type="http://schemas.openxmlformats.org/officeDocument/2006/relationships/presProps" Target="pres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font" Target="fonts/font10.fntdata"/><Relationship Id="rId45" Type="http://schemas.openxmlformats.org/officeDocument/2006/relationships/font" Target="fonts/font15.fntdata"/><Relationship Id="rId53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1.fntdata"/><Relationship Id="rId44" Type="http://schemas.openxmlformats.org/officeDocument/2006/relationships/font" Target="fonts/font14.fntdata"/><Relationship Id="rId52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43" Type="http://schemas.openxmlformats.org/officeDocument/2006/relationships/font" Target="fonts/font13.fntdata"/><Relationship Id="rId48" Type="http://schemas.openxmlformats.org/officeDocument/2006/relationships/font" Target="fonts/font18.fntdata"/><Relationship Id="rId8" Type="http://schemas.openxmlformats.org/officeDocument/2006/relationships/slide" Target="slides/slide6.xml"/><Relationship Id="rId51" Type="http://schemas.openxmlformats.org/officeDocument/2006/relationships/viewProps" Target="view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font" Target="fonts/font3.fntdata"/><Relationship Id="rId38" Type="http://schemas.openxmlformats.org/officeDocument/2006/relationships/font" Target="fonts/font8.fntdata"/><Relationship Id="rId46" Type="http://schemas.openxmlformats.org/officeDocument/2006/relationships/font" Target="fonts/font16.fntdata"/><Relationship Id="rId20" Type="http://schemas.openxmlformats.org/officeDocument/2006/relationships/slide" Target="slides/slide18.xml"/><Relationship Id="rId41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font" Target="fonts/font6.fntdata"/><Relationship Id="rId49" Type="http://schemas.openxmlformats.org/officeDocument/2006/relationships/font" Target="fonts/font1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de823becd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de823becd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de823becd0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de823becd0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de823becd0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de823becd0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df29b9fb24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df29b9fb24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df29b9fb24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df29b9fb24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df29b9fb24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df29b9fb24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010981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df29b9fb24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df29b9fb24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387435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741618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238674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193635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2957620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df29b9fb24_0_1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df29b9fb24_0_1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8580481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1007012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4821299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df29b9fb24_0_1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df29b9fb24_0_1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df29b9fb24_0_1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df29b9fb24_0_1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df6222e6af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df6222e6af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18a1909ca36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18a1909ca36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df6222e6af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1" name="Google Shape;421;gdf6222e6af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df29b9fb24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df29b9fb24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875811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e04b8b6756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3" name="Google Shape;473;ge04b8b6756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e04b8b6756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ge04b8b6756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l="99" r="99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ш макет 1">
  <p:cSld name="CUSTOM_5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None/>
              <a:defRPr sz="1500">
                <a:solidFill>
                  <a:srgbClr val="FF99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31" name="Google Shape;31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subTitle" idx="2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5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9/5/25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634765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TITLE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32"/>
          <p:cNvPicPr preferRelativeResize="0"/>
          <p:nvPr/>
        </p:nvPicPr>
        <p:blipFill rotWithShape="1">
          <a:blip r:embed="rId2">
            <a:alphaModFix/>
          </a:blip>
          <a:srcRect l="99" r="99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3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32" name="Google Shape;132;p32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SECTION_HEADER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3"/>
          <p:cNvSpPr txBox="1">
            <a:spLocks noGrp="1"/>
          </p:cNvSpPr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5" name="Google Shape;135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ш макет 1">
  <p:cSld name="CUSTOM_5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35"/>
          <p:cNvSpPr txBox="1">
            <a:spLocks noGrp="1"/>
          </p:cNvSpPr>
          <p:nvPr>
            <p:ph type="body" idx="1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141" name="Google Shape;141;p3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TITLE_AND_TWO_COLUMNS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44" name="Google Shape;144;p36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36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None/>
              <a:defRPr sz="1500">
                <a:solidFill>
                  <a:srgbClr val="FF99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146" name="Google Shape;146;p36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147" name="Google Shape;147;p36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48" name="Google Shape;148;p36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151" name="Google Shape;151;p3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37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38"/>
          <p:cNvSpPr txBox="1">
            <a:spLocks noGrp="1"/>
          </p:cNvSpPr>
          <p:nvPr>
            <p:ph type="subTitle" idx="1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56" name="Google Shape;156;p38"/>
          <p:cNvSpPr txBox="1">
            <a:spLocks noGrp="1"/>
          </p:cNvSpPr>
          <p:nvPr>
            <p:ph type="subTitle" idx="2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39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60" name="Google Shape;160;p39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161" name="Google Shape;161;p3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 rtl="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162" name="Google Shape;162;p3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4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4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1">
  <p:cSld name="CUSTOM_2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4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p42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42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2">
  <p:cSld name="CUSTOM_2_1"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4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43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43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1">
  <p:cSld name="CUSTOM_4"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44"/>
          <p:cNvSpPr txBox="1">
            <a:spLocks noGrp="1"/>
          </p:cNvSpPr>
          <p:nvPr>
            <p:ph type="subTitle" idx="1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78" name="Google Shape;178;p44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44"/>
          <p:cNvSpPr txBox="1">
            <a:spLocks noGrp="1"/>
          </p:cNvSpPr>
          <p:nvPr>
            <p:ph type="subTitle" idx="2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2">
  <p:cSld name="CUSTOM_4_1"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4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45"/>
          <p:cNvSpPr/>
          <p:nvPr/>
        </p:nvSpPr>
        <p:spPr>
          <a:xfrm>
            <a:off x="362300" y="1384249"/>
            <a:ext cx="4748700" cy="33933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45"/>
          <p:cNvSpPr txBox="1">
            <a:spLocks noGrp="1"/>
          </p:cNvSpPr>
          <p:nvPr>
            <p:ph type="subTitle" idx="1"/>
          </p:nvPr>
        </p:nvSpPr>
        <p:spPr>
          <a:xfrm>
            <a:off x="500550" y="1474819"/>
            <a:ext cx="44286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184" name="Google Shape;184;p45"/>
          <p:cNvSpPr txBox="1">
            <a:spLocks noGrp="1"/>
          </p:cNvSpPr>
          <p:nvPr>
            <p:ph type="subTitle" idx="2"/>
          </p:nvPr>
        </p:nvSpPr>
        <p:spPr>
          <a:xfrm>
            <a:off x="5555275" y="1474819"/>
            <a:ext cx="3151200" cy="32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13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22.xml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1.jpg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2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7" r:id="rId9"/>
    <p:sldLayoutId id="2147483693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6">
            <a:alphaModFix/>
          </a:blip>
          <a:stretch>
            <a:fillRect/>
          </a:stretch>
        </a:blip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27" name="Google Shape;127;p31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28" name="Google Shape;128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  <p:sldLayoutId id="2147483689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://www.linkedin.com/in/igor-stureiko" TargetMode="Externa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2" Type="http://schemas.openxmlformats.org/officeDocument/2006/relationships/image" Target="../media/image18.png"/><Relationship Id="rId16" Type="http://schemas.openxmlformats.org/officeDocument/2006/relationships/image" Target="../media/image32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5" Type="http://schemas.openxmlformats.org/officeDocument/2006/relationships/image" Target="../media/image3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Relationship Id="rId14" Type="http://schemas.openxmlformats.org/officeDocument/2006/relationships/image" Target="../media/image3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mahout.apache.org/" TargetMode="External"/><Relationship Id="rId7" Type="http://schemas.openxmlformats.org/officeDocument/2006/relationships/hyperlink" Target="https://h2o.ai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madlib.apache.org/" TargetMode="External"/><Relationship Id="rId5" Type="http://schemas.openxmlformats.org/officeDocument/2006/relationships/hyperlink" Target="https://flink.apache.org/" TargetMode="External"/><Relationship Id="rId4" Type="http://schemas.openxmlformats.org/officeDocument/2006/relationships/hyperlink" Target="https://spark.apache.org/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https://almond.sh/" TargetMode="External"/><Relationship Id="rId13" Type="http://schemas.openxmlformats.org/officeDocument/2006/relationships/image" Target="../media/image37.png"/><Relationship Id="rId3" Type="http://schemas.openxmlformats.org/officeDocument/2006/relationships/hyperlink" Target="https://spark.apache.org/docs/latest/api/python/index.html" TargetMode="External"/><Relationship Id="rId7" Type="http://schemas.openxmlformats.org/officeDocument/2006/relationships/hyperlink" Target="https://www.jetbrains.com/ru-ru/dataspell" TargetMode="External"/><Relationship Id="rId12" Type="http://schemas.openxmlformats.org/officeDocument/2006/relationships/image" Target="../media/image36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40.png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jupyter.org/" TargetMode="External"/><Relationship Id="rId11" Type="http://schemas.openxmlformats.org/officeDocument/2006/relationships/image" Target="../media/image35.png"/><Relationship Id="rId5" Type="http://schemas.openxmlformats.org/officeDocument/2006/relationships/hyperlink" Target="https://plugins.jetbrains.com/plugin/12494-big-data-tools" TargetMode="External"/><Relationship Id="rId15" Type="http://schemas.openxmlformats.org/officeDocument/2006/relationships/image" Target="../media/image39.jpg"/><Relationship Id="rId10" Type="http://schemas.openxmlformats.org/officeDocument/2006/relationships/image" Target="../media/image34.png"/><Relationship Id="rId4" Type="http://schemas.openxmlformats.org/officeDocument/2006/relationships/hyperlink" Target="http://zeppelin.apache.org/" TargetMode="External"/><Relationship Id="rId9" Type="http://schemas.openxmlformats.org/officeDocument/2006/relationships/hyperlink" Target="https://community.cloud.databricks.com/" TargetMode="External"/><Relationship Id="rId14" Type="http://schemas.openxmlformats.org/officeDocument/2006/relationships/image" Target="../media/image3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3.jpeg"/><Relationship Id="rId4" Type="http://schemas.openxmlformats.org/officeDocument/2006/relationships/image" Target="../media/image4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3.jpe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hyperlink" Target="http://zeppelin.apache.org/" TargetMode="External"/><Relationship Id="rId13" Type="http://schemas.openxmlformats.org/officeDocument/2006/relationships/hyperlink" Target="https://community.cloud.databricks.com/" TargetMode="External"/><Relationship Id="rId3" Type="http://schemas.openxmlformats.org/officeDocument/2006/relationships/hyperlink" Target="https://mahout.apache.org/" TargetMode="External"/><Relationship Id="rId7" Type="http://schemas.openxmlformats.org/officeDocument/2006/relationships/hyperlink" Target="https://h2o.ai/" TargetMode="External"/><Relationship Id="rId12" Type="http://schemas.openxmlformats.org/officeDocument/2006/relationships/hyperlink" Target="https://almond.sh/" TargetMode="External"/><Relationship Id="rId17" Type="http://schemas.openxmlformats.org/officeDocument/2006/relationships/hyperlink" Target="https://mlflow.org/docs/latest/python_api/mlflow.spark.html" TargetMode="External"/><Relationship Id="rId2" Type="http://schemas.openxmlformats.org/officeDocument/2006/relationships/notesSlide" Target="../notesSlides/notesSlide20.xml"/><Relationship Id="rId16" Type="http://schemas.openxmlformats.org/officeDocument/2006/relationships/hyperlink" Target="https://spark.apache.org/docs/latest/api/python/reference/pyspark.ml.html" TargetMode="External"/><Relationship Id="rId1" Type="http://schemas.openxmlformats.org/officeDocument/2006/relationships/slideLayout" Target="../slideLayouts/slideLayout9.xml"/><Relationship Id="rId6" Type="http://schemas.openxmlformats.org/officeDocument/2006/relationships/hyperlink" Target="https://madlib.apache.org/" TargetMode="External"/><Relationship Id="rId11" Type="http://schemas.openxmlformats.org/officeDocument/2006/relationships/hyperlink" Target="https://www.jetbrains.com/ru-ru/dataspell" TargetMode="External"/><Relationship Id="rId5" Type="http://schemas.openxmlformats.org/officeDocument/2006/relationships/hyperlink" Target="https%20:/flink.apache.org" TargetMode="External"/><Relationship Id="rId15" Type="http://schemas.openxmlformats.org/officeDocument/2006/relationships/hyperlink" Target="https://spark.apache.org/docs/latest/ml-guide.html" TargetMode="External"/><Relationship Id="rId10" Type="http://schemas.openxmlformats.org/officeDocument/2006/relationships/hyperlink" Target="https://jupyter.org/" TargetMode="External"/><Relationship Id="rId4" Type="http://schemas.openxmlformats.org/officeDocument/2006/relationships/hyperlink" Target="https://spark.apache.org/" TargetMode="External"/><Relationship Id="rId9" Type="http://schemas.openxmlformats.org/officeDocument/2006/relationships/hyperlink" Target="https://plugins.jetbrains.com/plugin/12494-big-data-tools" TargetMode="External"/><Relationship Id="rId14" Type="http://schemas.openxmlformats.org/officeDocument/2006/relationships/hyperlink" Target="https://spark-packages.org/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48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0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://www.linkedin.com/in/igor-stureiko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46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otus.ru</a:t>
            </a:r>
            <a:endParaRPr dirty="0"/>
          </a:p>
        </p:txBody>
      </p:sp>
      <p:sp>
        <p:nvSpPr>
          <p:cNvPr id="190" name="Google Shape;190;p46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ML Ops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 dirty="0" err="1"/>
              <a:t>SparkML</a:t>
            </a:r>
            <a:r>
              <a:rPr lang="en-US" sz="3600" dirty="0"/>
              <a:t> feature extraction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7"/>
          <p:cNvSpPr txBox="1">
            <a:spLocks noGrp="1"/>
          </p:cNvSpPr>
          <p:nvPr>
            <p:ph type="title"/>
          </p:nvPr>
        </p:nvSpPr>
        <p:spPr>
          <a:xfrm>
            <a:off x="1635875" y="772125"/>
            <a:ext cx="7935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/>
              <a:t>Проверить, идет ли запись</a:t>
            </a:r>
            <a:endParaRPr sz="2100"/>
          </a:p>
        </p:txBody>
      </p:sp>
      <p:sp>
        <p:nvSpPr>
          <p:cNvPr id="196" name="Google Shape;196;p47"/>
          <p:cNvSpPr txBox="1">
            <a:spLocks noGrp="1"/>
          </p:cNvSpPr>
          <p:nvPr>
            <p:ph type="title"/>
          </p:nvPr>
        </p:nvSpPr>
        <p:spPr>
          <a:xfrm>
            <a:off x="766725" y="1805199"/>
            <a:ext cx="7935300" cy="129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000"/>
              <a:t>Меня хорошо видно</a:t>
            </a:r>
            <a:endParaRPr sz="4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/>
              <a:t>&amp;&amp; слышно?</a:t>
            </a:r>
            <a:endParaRPr sz="4000"/>
          </a:p>
        </p:txBody>
      </p:sp>
      <p:pic>
        <p:nvPicPr>
          <p:cNvPr id="197" name="Google Shape;197;p47"/>
          <p:cNvPicPr preferRelativeResize="0"/>
          <p:nvPr/>
        </p:nvPicPr>
        <p:blipFill rotWithShape="1">
          <a:blip r:embed="rId3">
            <a:alphaModFix/>
          </a:blip>
          <a:srcRect l="99" r="99"/>
          <a:stretch/>
        </p:blipFill>
        <p:spPr>
          <a:xfrm>
            <a:off x="880825" y="1032408"/>
            <a:ext cx="642317" cy="3211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4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72375" y="3520050"/>
            <a:ext cx="525600" cy="52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47"/>
          <p:cNvSpPr txBox="1"/>
          <p:nvPr/>
        </p:nvSpPr>
        <p:spPr>
          <a:xfrm>
            <a:off x="1514225" y="3459600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Ставим “+”, если все хорошо</a:t>
            </a:r>
            <a:br>
              <a:rPr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“-”, если есть проблемы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200" b="1"/>
              <a:t>Правила вебинара</a:t>
            </a:r>
            <a:endParaRPr sz="3200" b="1"/>
          </a:p>
        </p:txBody>
      </p:sp>
      <p:pic>
        <p:nvPicPr>
          <p:cNvPr id="215" name="Google Shape;215;p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650" y="3951281"/>
            <a:ext cx="692621" cy="692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4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7650" y="1281613"/>
            <a:ext cx="692621" cy="692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4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7651" y="3061406"/>
            <a:ext cx="692621" cy="692599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49"/>
          <p:cNvSpPr txBox="1"/>
          <p:nvPr/>
        </p:nvSpPr>
        <p:spPr>
          <a:xfrm>
            <a:off x="1654525" y="1252250"/>
            <a:ext cx="2475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Активно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участвуем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9" name="Google Shape;219;p49"/>
          <p:cNvSpPr txBox="1"/>
          <p:nvPr/>
        </p:nvSpPr>
        <p:spPr>
          <a:xfrm>
            <a:off x="1654525" y="3066419"/>
            <a:ext cx="3231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latin typeface="Roboto"/>
                <a:ea typeface="Roboto"/>
                <a:cs typeface="Roboto"/>
                <a:sym typeface="Roboto"/>
              </a:rPr>
              <a:t>Задаем вопрос</a:t>
            </a:r>
            <a:endParaRPr sz="15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latin typeface="Roboto"/>
                <a:ea typeface="Roboto"/>
                <a:cs typeface="Roboto"/>
                <a:sym typeface="Roboto"/>
              </a:rPr>
              <a:t>в чат</a:t>
            </a:r>
            <a:endParaRPr sz="15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0" name="Google Shape;220;p49"/>
          <p:cNvSpPr txBox="1"/>
          <p:nvPr/>
        </p:nvSpPr>
        <p:spPr>
          <a:xfrm>
            <a:off x="1654525" y="3975059"/>
            <a:ext cx="3231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Вопросы вижу в чате,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могу ответить не сразу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1" name="Google Shape;221;p49"/>
          <p:cNvSpPr txBox="1"/>
          <p:nvPr/>
        </p:nvSpPr>
        <p:spPr>
          <a:xfrm>
            <a:off x="1654525" y="2157979"/>
            <a:ext cx="2475300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latin typeface="Roboto"/>
                <a:ea typeface="Roboto"/>
                <a:cs typeface="Roboto"/>
                <a:sym typeface="Roboto"/>
              </a:rPr>
              <a:t>Off-topic обсуждаем</a:t>
            </a:r>
            <a:endParaRPr sz="15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latin typeface="Roboto"/>
                <a:ea typeface="Roboto"/>
                <a:cs typeface="Roboto"/>
                <a:sym typeface="Roboto"/>
              </a:rPr>
              <a:t>в учебной группе </a:t>
            </a:r>
            <a:endParaRPr sz="15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2" name="Google Shape;222;p49"/>
          <p:cNvSpPr/>
          <p:nvPr/>
        </p:nvSpPr>
        <p:spPr>
          <a:xfrm>
            <a:off x="6046275" y="-8050"/>
            <a:ext cx="3097500" cy="51435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49"/>
          <p:cNvSpPr txBox="1"/>
          <p:nvPr/>
        </p:nvSpPr>
        <p:spPr>
          <a:xfrm>
            <a:off x="6344063" y="1052963"/>
            <a:ext cx="20442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Условные 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обозначения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24" name="Google Shape;224;p4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38593" y="1912032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49"/>
          <p:cNvSpPr txBox="1"/>
          <p:nvPr/>
        </p:nvSpPr>
        <p:spPr>
          <a:xfrm>
            <a:off x="6829363" y="1898744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Индивидуально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26" name="Google Shape;226;p4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38593" y="2392126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49"/>
          <p:cNvSpPr txBox="1"/>
          <p:nvPr/>
        </p:nvSpPr>
        <p:spPr>
          <a:xfrm>
            <a:off x="6829363" y="2291099"/>
            <a:ext cx="2044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Время, необходимое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на активность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28" name="Google Shape;228;p49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438593" y="2872220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49"/>
          <p:cNvSpPr txBox="1"/>
          <p:nvPr/>
        </p:nvSpPr>
        <p:spPr>
          <a:xfrm>
            <a:off x="6829363" y="2873300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Пишем в чат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30" name="Google Shape;230;p49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438593" y="3352314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49"/>
          <p:cNvSpPr txBox="1"/>
          <p:nvPr/>
        </p:nvSpPr>
        <p:spPr>
          <a:xfrm>
            <a:off x="6829363" y="3359347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Говорим голосом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32" name="Google Shape;232;p49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438593" y="3832409"/>
            <a:ext cx="330301" cy="330301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49"/>
          <p:cNvSpPr txBox="1"/>
          <p:nvPr/>
        </p:nvSpPr>
        <p:spPr>
          <a:xfrm>
            <a:off x="6829363" y="3827568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Документ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34" name="Google Shape;234;p49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438593" y="4312503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49"/>
          <p:cNvSpPr txBox="1"/>
          <p:nvPr/>
        </p:nvSpPr>
        <p:spPr>
          <a:xfrm>
            <a:off x="6829363" y="4223086"/>
            <a:ext cx="2044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Ответьте себе или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задайте вопрос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37" name="Google Shape;237;p49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37650" y="2171500"/>
            <a:ext cx="692625" cy="69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8"/>
          <p:cNvSpPr/>
          <p:nvPr/>
        </p:nvSpPr>
        <p:spPr>
          <a:xfrm>
            <a:off x="630000" y="2703050"/>
            <a:ext cx="1033800" cy="1983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48"/>
          <p:cNvSpPr txBox="1">
            <a:spLocks noGrp="1"/>
          </p:cNvSpPr>
          <p:nvPr>
            <p:ph type="title"/>
          </p:nvPr>
        </p:nvSpPr>
        <p:spPr>
          <a:xfrm>
            <a:off x="500550" y="821219"/>
            <a:ext cx="85206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 err="1"/>
              <a:t>MLOps</a:t>
            </a:r>
            <a:br>
              <a:rPr lang="en-US" dirty="0"/>
            </a:br>
            <a:r>
              <a:rPr lang="en-US" sz="2400" dirty="0" err="1"/>
              <a:t>SparkML</a:t>
            </a:r>
            <a:r>
              <a:rPr lang="en-US" sz="2400" dirty="0"/>
              <a:t> feature extraction</a:t>
            </a:r>
            <a:endParaRPr dirty="0"/>
          </a:p>
        </p:txBody>
      </p:sp>
      <p:sp>
        <p:nvSpPr>
          <p:cNvPr id="207" name="Google Shape;207;p48"/>
          <p:cNvSpPr txBox="1">
            <a:spLocks noGrp="1"/>
          </p:cNvSpPr>
          <p:nvPr>
            <p:ph type="subTitle" idx="1"/>
          </p:nvPr>
        </p:nvSpPr>
        <p:spPr>
          <a:xfrm>
            <a:off x="500550" y="520133"/>
            <a:ext cx="7796700" cy="3569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Тема вебинара</a:t>
            </a:r>
            <a:endParaRPr dirty="0"/>
          </a:p>
        </p:txBody>
      </p:sp>
      <p:sp>
        <p:nvSpPr>
          <p:cNvPr id="208" name="Google Shape;208;p48"/>
          <p:cNvSpPr txBox="1">
            <a:spLocks noGrp="1"/>
          </p:cNvSpPr>
          <p:nvPr>
            <p:ph type="subTitle" idx="2"/>
          </p:nvPr>
        </p:nvSpPr>
        <p:spPr>
          <a:xfrm>
            <a:off x="3082400" y="2304911"/>
            <a:ext cx="58563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Игорь Стурейко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2215E3-7B5E-BC4F-9DA6-F65D728D82F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2156" r="295"/>
          <a:stretch/>
        </p:blipFill>
        <p:spPr>
          <a:xfrm>
            <a:off x="832654" y="2865544"/>
            <a:ext cx="1662292" cy="1657372"/>
          </a:xfrm>
          <a:prstGeom prst="ellipse">
            <a:avLst/>
          </a:prstGeom>
          <a:ln w="127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0" name="Google Shape;209;p48">
            <a:extLst>
              <a:ext uri="{FF2B5EF4-FFF2-40B4-BE49-F238E27FC236}">
                <a16:creationId xmlns:a16="http://schemas.microsoft.com/office/drawing/2014/main" id="{CFB03EE5-26E2-1340-A226-28EC52270B14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3082400" y="2701811"/>
            <a:ext cx="5095500" cy="21336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1377950" indent="-1373188"/>
            <a:r>
              <a:rPr lang="ru-RU" sz="1150" b="1" dirty="0"/>
              <a:t>Руководитель курсов: </a:t>
            </a:r>
            <a:r>
              <a:rPr lang="en-US" sz="1150" b="1" dirty="0"/>
              <a:t>Reinforcement Learning</a:t>
            </a:r>
            <a:r>
              <a:rPr lang="ru-RU" sz="1150" b="1" dirty="0"/>
              <a:t>, </a:t>
            </a:r>
            <a:r>
              <a:rPr lang="en-US" sz="1150" b="1" dirty="0"/>
              <a:t>ML Professional, ML Basic,</a:t>
            </a:r>
            <a:br>
              <a:rPr lang="en-US" sz="1150" b="1" dirty="0"/>
            </a:br>
            <a:r>
              <a:rPr lang="en-US" sz="1150" b="1" dirty="0" err="1"/>
              <a:t>MLOps</a:t>
            </a:r>
            <a:r>
              <a:rPr lang="en-US" sz="1150" b="1" dirty="0"/>
              <a:t>, </a:t>
            </a:r>
            <a:r>
              <a:rPr lang="en-US" sz="1150" b="1" dirty="0" err="1"/>
              <a:t>FinML</a:t>
            </a:r>
            <a:endParaRPr lang="ru-RU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dirty="0" err="1"/>
              <a:t>Teamlead</a:t>
            </a:r>
            <a:r>
              <a:rPr lang="ru-RU" sz="1150" b="1" dirty="0"/>
              <a:t>, главный инженер проекта</a:t>
            </a:r>
            <a:r>
              <a:rPr lang="en-US" sz="1150" b="1" dirty="0"/>
              <a:t>, </a:t>
            </a:r>
            <a:endParaRPr lang="ru-RU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50" b="1" dirty="0"/>
              <a:t>Физический факультет МГУ, </a:t>
            </a:r>
            <a:r>
              <a:rPr lang="en-US" sz="1150" b="1" dirty="0"/>
              <a:t>PhD </a:t>
            </a:r>
            <a:r>
              <a:rPr lang="ru-RU" sz="1150" b="1" dirty="0"/>
              <a:t>теоретическая физика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5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50" b="1" dirty="0"/>
              <a:t>Опыт:</a:t>
            </a:r>
            <a:endParaRPr sz="115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50" dirty="0"/>
              <a:t>Б</a:t>
            </a:r>
            <a:r>
              <a:rPr lang="ru" sz="1150" dirty="0"/>
              <a:t>олее 20 лет занимался прикладной математикой и мат моделированием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50" dirty="0"/>
              <a:t>(Data Scientist) (Python, С++)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ru-RU" sz="115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dirty="0"/>
              <a:t>@</a:t>
            </a:r>
            <a:r>
              <a:rPr lang="en-US" sz="1150" b="1" dirty="0" err="1"/>
              <a:t>stureiko</a:t>
            </a:r>
            <a:r>
              <a:rPr lang="en-US" sz="1150" b="1" dirty="0"/>
              <a:t> (TG)</a:t>
            </a:r>
            <a:endParaRPr lang="ru-RU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ru-RU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dirty="0"/>
              <a:t>LinkedIn: </a:t>
            </a:r>
            <a:r>
              <a:rPr lang="en-US" sz="1150" dirty="0">
                <a:hlinkClick r:id="rId4"/>
              </a:rPr>
              <a:t>igor-stureiko</a:t>
            </a:r>
            <a:r>
              <a:rPr lang="en-US" sz="1150" dirty="0"/>
              <a:t> </a:t>
            </a:r>
            <a:endParaRPr lang="ru-RU" sz="115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ru-RU" sz="1150" dirty="0"/>
          </a:p>
          <a:p>
            <a:pPr marL="0" indent="0"/>
            <a:r>
              <a:rPr lang="en-US" sz="1200" b="1" kern="0" dirty="0"/>
              <a:t>@</a:t>
            </a:r>
            <a:r>
              <a:rPr lang="en-US" sz="1200" b="1" kern="0" dirty="0" err="1"/>
              <a:t>rl_fintech</a:t>
            </a:r>
            <a:r>
              <a:rPr lang="en-US" sz="1200" b="1" kern="0" dirty="0"/>
              <a:t> </a:t>
            </a:r>
            <a:r>
              <a:rPr lang="en-US" sz="1200" kern="0" dirty="0"/>
              <a:t>(</a:t>
            </a:r>
            <a:r>
              <a:rPr lang="ru-RU" sz="1200" kern="0" dirty="0"/>
              <a:t>Мой канал о моделях в бизнесе)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65E489F3-62FF-6542-AFB6-9514AAB61914}"/>
              </a:ext>
            </a:extLst>
          </p:cNvPr>
          <p:cNvSpPr/>
          <p:nvPr/>
        </p:nvSpPr>
        <p:spPr>
          <a:xfrm>
            <a:off x="5186203" y="2532888"/>
            <a:ext cx="3045680" cy="544676"/>
          </a:xfrm>
          <a:prstGeom prst="roundRect">
            <a:avLst/>
          </a:prstGeom>
          <a:solidFill>
            <a:srgbClr val="FFD966"/>
          </a:solidFill>
          <a:ln>
            <a:solidFill>
              <a:srgbClr val="FFD96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E5A296F1-D7E6-B84E-A836-88B01683F19B}"/>
              </a:ext>
            </a:extLst>
          </p:cNvPr>
          <p:cNvSpPr/>
          <p:nvPr/>
        </p:nvSpPr>
        <p:spPr>
          <a:xfrm>
            <a:off x="715195" y="2532888"/>
            <a:ext cx="3045680" cy="544676"/>
          </a:xfrm>
          <a:prstGeom prst="roundRect">
            <a:avLst/>
          </a:prstGeom>
          <a:solidFill>
            <a:srgbClr val="FFD966"/>
          </a:solidFill>
          <a:ln>
            <a:solidFill>
              <a:srgbClr val="FFD96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22469008-F310-3B41-8F46-76E332329CB0}"/>
              </a:ext>
            </a:extLst>
          </p:cNvPr>
          <p:cNvSpPr/>
          <p:nvPr/>
        </p:nvSpPr>
        <p:spPr>
          <a:xfrm>
            <a:off x="715195" y="3369774"/>
            <a:ext cx="3045680" cy="544676"/>
          </a:xfrm>
          <a:prstGeom prst="roundRect">
            <a:avLst/>
          </a:prstGeom>
          <a:solidFill>
            <a:srgbClr val="FFD966"/>
          </a:solidFill>
          <a:ln>
            <a:solidFill>
              <a:srgbClr val="FFD96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000C1F61-3A33-1941-BB05-A2D9F37BAE1A}"/>
              </a:ext>
            </a:extLst>
          </p:cNvPr>
          <p:cNvSpPr/>
          <p:nvPr/>
        </p:nvSpPr>
        <p:spPr>
          <a:xfrm>
            <a:off x="5186203" y="3369774"/>
            <a:ext cx="3045680" cy="544676"/>
          </a:xfrm>
          <a:prstGeom prst="roundRect">
            <a:avLst/>
          </a:prstGeom>
          <a:solidFill>
            <a:srgbClr val="FFD966"/>
          </a:solidFill>
          <a:ln>
            <a:solidFill>
              <a:srgbClr val="FFD96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FA8CB891-4DA1-5042-9283-6A442265C911}"/>
              </a:ext>
            </a:extLst>
          </p:cNvPr>
          <p:cNvSpPr/>
          <p:nvPr/>
        </p:nvSpPr>
        <p:spPr>
          <a:xfrm>
            <a:off x="2871216" y="4252075"/>
            <a:ext cx="3045680" cy="544676"/>
          </a:xfrm>
          <a:prstGeom prst="roundRect">
            <a:avLst/>
          </a:prstGeom>
          <a:solidFill>
            <a:srgbClr val="FFD966"/>
          </a:solidFill>
          <a:ln>
            <a:solidFill>
              <a:srgbClr val="FFD96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09046BB3-AE53-BC44-9BA9-804CBB431566}"/>
              </a:ext>
            </a:extLst>
          </p:cNvPr>
          <p:cNvSpPr/>
          <p:nvPr/>
        </p:nvSpPr>
        <p:spPr>
          <a:xfrm>
            <a:off x="715195" y="1676351"/>
            <a:ext cx="3045680" cy="54467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2F0C665D-4F6A-BD40-9666-DA8E99CA3C23}"/>
              </a:ext>
            </a:extLst>
          </p:cNvPr>
          <p:cNvSpPr/>
          <p:nvPr/>
        </p:nvSpPr>
        <p:spPr>
          <a:xfrm>
            <a:off x="5188319" y="1676351"/>
            <a:ext cx="3045680" cy="544676"/>
          </a:xfrm>
          <a:prstGeom prst="roundRect">
            <a:avLst/>
          </a:prstGeom>
          <a:solidFill>
            <a:srgbClr val="FFD966"/>
          </a:solidFill>
          <a:ln>
            <a:solidFill>
              <a:srgbClr val="FFD966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CFB93714-41B8-7E41-8D58-F8309D70D1E8}"/>
              </a:ext>
            </a:extLst>
          </p:cNvPr>
          <p:cNvSpPr/>
          <p:nvPr/>
        </p:nvSpPr>
        <p:spPr>
          <a:xfrm>
            <a:off x="3000251" y="783149"/>
            <a:ext cx="3045680" cy="54467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Карта</a:t>
            </a:r>
            <a:r>
              <a:rPr spc="-170" dirty="0"/>
              <a:t> </a:t>
            </a:r>
            <a:r>
              <a:rPr spc="-10" dirty="0"/>
              <a:t>курса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651378" y="911859"/>
            <a:ext cx="108458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1F1F1F"/>
                </a:solidFill>
                <a:latin typeface="Calibri"/>
                <a:cs typeface="Calibri"/>
              </a:rPr>
              <a:t>1.</a:t>
            </a:r>
            <a:r>
              <a:rPr sz="1600" spc="-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F1F1F"/>
                </a:solidFill>
                <a:latin typeface="Calibri"/>
                <a:cs typeface="Calibri"/>
              </a:rPr>
              <a:t>Процессы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63384" y="1804923"/>
            <a:ext cx="162623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1F1F1F"/>
                </a:solidFill>
                <a:latin typeface="Calibri"/>
                <a:cs typeface="Calibri"/>
              </a:rPr>
              <a:t>2.</a:t>
            </a:r>
            <a:r>
              <a:rPr sz="1600" spc="-1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F1F1F"/>
                </a:solidFill>
                <a:latin typeface="Calibri"/>
                <a:cs typeface="Calibri"/>
              </a:rPr>
              <a:t>Инфраструктура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853384" y="2655316"/>
            <a:ext cx="166052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1F1F1F"/>
                </a:solidFill>
                <a:latin typeface="Calibri"/>
                <a:cs typeface="Calibri"/>
              </a:rPr>
              <a:t>4.</a:t>
            </a:r>
            <a:r>
              <a:rPr sz="1600" spc="-1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F1F1F"/>
                </a:solidFill>
                <a:latin typeface="Calibri"/>
                <a:cs typeface="Calibri"/>
              </a:rPr>
              <a:t>Моделирование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63384" y="2655316"/>
            <a:ext cx="117157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1F1F1F"/>
                </a:solidFill>
                <a:latin typeface="Calibri"/>
                <a:cs typeface="Calibri"/>
              </a:rPr>
              <a:t>5.</a:t>
            </a:r>
            <a:r>
              <a:rPr sz="1600" spc="-1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F1F1F"/>
                </a:solidFill>
                <a:latin typeface="Calibri"/>
                <a:cs typeface="Calibri"/>
              </a:rPr>
              <a:t>Валидация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63384" y="3508755"/>
            <a:ext cx="154432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1F1F1F"/>
                </a:solidFill>
                <a:latin typeface="Calibri"/>
                <a:cs typeface="Calibri"/>
              </a:rPr>
              <a:t>6.</a:t>
            </a:r>
            <a:r>
              <a:rPr sz="1600" spc="-1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F1F1F"/>
                </a:solidFill>
                <a:latin typeface="Calibri"/>
                <a:cs typeface="Calibri"/>
              </a:rPr>
              <a:t>Развертывание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853384" y="3508755"/>
            <a:ext cx="130556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1F1F1F"/>
                </a:solidFill>
                <a:latin typeface="Calibri"/>
                <a:cs typeface="Calibri"/>
              </a:rPr>
              <a:t>7.</a:t>
            </a:r>
            <a:r>
              <a:rPr sz="1600" spc="-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F1F1F"/>
                </a:solidFill>
                <a:latin typeface="Calibri"/>
                <a:cs typeface="Calibri"/>
              </a:rPr>
              <a:t>Мониторинг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651378" y="4400296"/>
            <a:ext cx="151765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60" dirty="0">
                <a:latin typeface="Trebuchet MS"/>
                <a:cs typeface="Trebuchet MS"/>
              </a:rPr>
              <a:t>8.</a:t>
            </a:r>
            <a:r>
              <a:rPr sz="1300" spc="-5" dirty="0">
                <a:latin typeface="Trebuchet MS"/>
                <a:cs typeface="Trebuchet MS"/>
              </a:rPr>
              <a:t> </a:t>
            </a:r>
            <a:r>
              <a:rPr sz="1300" dirty="0">
                <a:latin typeface="Trebuchet MS"/>
                <a:cs typeface="Trebuchet MS"/>
              </a:rPr>
              <a:t>Курсовой </a:t>
            </a:r>
            <a:r>
              <a:rPr sz="1300" spc="-10" dirty="0">
                <a:latin typeface="Trebuchet MS"/>
                <a:cs typeface="Trebuchet MS"/>
              </a:rPr>
              <a:t>проект</a:t>
            </a:r>
            <a:endParaRPr sz="1300">
              <a:latin typeface="Trebuchet MS"/>
              <a:cs typeface="Trebuchet MS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795016" y="1338072"/>
            <a:ext cx="4761230" cy="1149350"/>
            <a:chOff x="2795016" y="1338072"/>
            <a:chExt cx="4761230" cy="1149350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20639" y="1338072"/>
              <a:ext cx="246887" cy="24688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95016" y="2237232"/>
              <a:ext cx="249936" cy="249936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306056" y="2231136"/>
              <a:ext cx="249935" cy="249936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5445856" y="1344676"/>
            <a:ext cx="60007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-40" dirty="0">
                <a:latin typeface="Georgia"/>
                <a:cs typeface="Georgia"/>
              </a:rPr>
              <a:t>HomeTask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120740" y="2246883"/>
            <a:ext cx="60007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-40" dirty="0">
                <a:latin typeface="Georgia"/>
                <a:cs typeface="Georgia"/>
              </a:rPr>
              <a:t>HomeTask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853384" y="1804923"/>
            <a:ext cx="2380615" cy="614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1F1F1F"/>
                </a:solidFill>
                <a:latin typeface="Calibri"/>
                <a:cs typeface="Calibri"/>
              </a:rPr>
              <a:t>3.</a:t>
            </a:r>
            <a:r>
              <a:rPr sz="1600" spc="-3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F1F1F"/>
                </a:solidFill>
                <a:latin typeface="Calibri"/>
                <a:cs typeface="Calibri"/>
              </a:rPr>
              <a:t>Подготовка</a:t>
            </a:r>
            <a:r>
              <a:rPr sz="1600" spc="-3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F1F1F"/>
                </a:solidFill>
                <a:latin typeface="Calibri"/>
                <a:cs typeface="Calibri"/>
              </a:rPr>
              <a:t>данных</a:t>
            </a:r>
            <a:endParaRPr sz="1600" dirty="0">
              <a:latin typeface="Calibri"/>
              <a:cs typeface="Calibri"/>
            </a:endParaRPr>
          </a:p>
          <a:p>
            <a:pPr marR="5080" algn="r">
              <a:lnSpc>
                <a:spcPct val="100000"/>
              </a:lnSpc>
              <a:spcBef>
                <a:spcPts val="1510"/>
              </a:spcBef>
            </a:pPr>
            <a:r>
              <a:rPr sz="1000" i="1" spc="-10" dirty="0">
                <a:latin typeface="Georgia"/>
                <a:cs typeface="Georgia"/>
              </a:rPr>
              <a:t>HomeTask</a:t>
            </a:r>
            <a:endParaRPr sz="1000" dirty="0">
              <a:latin typeface="Georgia"/>
              <a:cs typeface="Georgia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789109" y="878379"/>
            <a:ext cx="6843083" cy="3844034"/>
            <a:chOff x="789109" y="878379"/>
            <a:chExt cx="6843083" cy="3844034"/>
          </a:xfrm>
        </p:grpSpPr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306056" y="3090671"/>
              <a:ext cx="249935" cy="246887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746248" y="3090671"/>
              <a:ext cx="249936" cy="246887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746248" y="3944111"/>
              <a:ext cx="249936" cy="249936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385304" y="3944111"/>
              <a:ext cx="246888" cy="249936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165383" y="878379"/>
              <a:ext cx="419929" cy="39600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89109" y="1771398"/>
              <a:ext cx="419929" cy="39600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379110" y="1770692"/>
              <a:ext cx="419929" cy="39600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379110" y="2609735"/>
              <a:ext cx="419929" cy="39600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89109" y="2616087"/>
              <a:ext cx="419929" cy="39600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89109" y="3457464"/>
              <a:ext cx="419929" cy="395999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379110" y="3471719"/>
              <a:ext cx="419929" cy="39600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165383" y="4326413"/>
              <a:ext cx="419929" cy="396000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7633945" y="3097276"/>
            <a:ext cx="60007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-40" dirty="0">
                <a:latin typeface="Georgia"/>
                <a:cs typeface="Georgia"/>
              </a:rPr>
              <a:t>HomeTask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072375" y="3097276"/>
            <a:ext cx="60007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-40" dirty="0">
                <a:latin typeface="Georgia"/>
                <a:cs typeface="Georgia"/>
              </a:rPr>
              <a:t>HomeTask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072375" y="3953764"/>
            <a:ext cx="60007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-40" dirty="0">
                <a:latin typeface="Georgia"/>
                <a:cs typeface="Georgia"/>
              </a:rPr>
              <a:t>HomeTask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710740" y="3953764"/>
            <a:ext cx="60007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i="1" spc="-40" dirty="0">
                <a:latin typeface="Georgia"/>
                <a:cs typeface="Georgia"/>
              </a:rPr>
              <a:t>HomeTask</a:t>
            </a:r>
            <a:endParaRPr sz="1000">
              <a:latin typeface="Georgia"/>
              <a:cs typeface="Georgia"/>
            </a:endParaRPr>
          </a:p>
        </p:txBody>
      </p:sp>
      <p:cxnSp>
        <p:nvCxnSpPr>
          <p:cNvPr id="46" name="Curved Connector 45">
            <a:extLst>
              <a:ext uri="{FF2B5EF4-FFF2-40B4-BE49-F238E27FC236}">
                <a16:creationId xmlns:a16="http://schemas.microsoft.com/office/drawing/2014/main" id="{4F140477-C51E-7144-9767-D254ED335075}"/>
              </a:ext>
            </a:extLst>
          </p:cNvPr>
          <p:cNvCxnSpPr>
            <a:cxnSpLocks/>
            <a:stCxn id="35" idx="1"/>
            <a:endCxn id="36" idx="0"/>
          </p:cNvCxnSpPr>
          <p:nvPr/>
        </p:nvCxnSpPr>
        <p:spPr>
          <a:xfrm rot="10800000" flipV="1">
            <a:off x="2238035" y="1055487"/>
            <a:ext cx="762216" cy="620864"/>
          </a:xfrm>
          <a:prstGeom prst="curvedConnector2">
            <a:avLst/>
          </a:prstGeom>
          <a:ln>
            <a:solidFill>
              <a:schemeClr val="bg2"/>
            </a:solidFill>
            <a:prstDash val="sysDash"/>
            <a:tailEnd type="arrow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urved Connector 48">
            <a:extLst>
              <a:ext uri="{FF2B5EF4-FFF2-40B4-BE49-F238E27FC236}">
                <a16:creationId xmlns:a16="http://schemas.microsoft.com/office/drawing/2014/main" id="{9BEEFABB-76BA-0742-9C5E-307ADB741348}"/>
              </a:ext>
            </a:extLst>
          </p:cNvPr>
          <p:cNvCxnSpPr>
            <a:cxnSpLocks/>
            <a:stCxn id="36" idx="3"/>
            <a:endCxn id="37" idx="1"/>
          </p:cNvCxnSpPr>
          <p:nvPr/>
        </p:nvCxnSpPr>
        <p:spPr>
          <a:xfrm>
            <a:off x="3760875" y="1948689"/>
            <a:ext cx="1427444" cy="12700"/>
          </a:xfrm>
          <a:prstGeom prst="curvedConnector3">
            <a:avLst>
              <a:gd name="adj1" fmla="val 50000"/>
            </a:avLst>
          </a:prstGeom>
          <a:ln>
            <a:solidFill>
              <a:schemeClr val="bg2"/>
            </a:solidFill>
            <a:prstDash val="sysDash"/>
            <a:tailEnd type="arrow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urved Connector 53">
            <a:extLst>
              <a:ext uri="{FF2B5EF4-FFF2-40B4-BE49-F238E27FC236}">
                <a16:creationId xmlns:a16="http://schemas.microsoft.com/office/drawing/2014/main" id="{60C43463-46F1-BC47-B3A6-04ABC0FA9587}"/>
              </a:ext>
            </a:extLst>
          </p:cNvPr>
          <p:cNvCxnSpPr>
            <a:cxnSpLocks/>
            <a:stCxn id="38" idx="1"/>
            <a:endCxn id="39" idx="3"/>
          </p:cNvCxnSpPr>
          <p:nvPr/>
        </p:nvCxnSpPr>
        <p:spPr>
          <a:xfrm rot="10800000">
            <a:off x="3760875" y="2805226"/>
            <a:ext cx="1425328" cy="12700"/>
          </a:xfrm>
          <a:prstGeom prst="curvedConnector3">
            <a:avLst>
              <a:gd name="adj1" fmla="val 50000"/>
            </a:avLst>
          </a:prstGeom>
          <a:ln cap="sq">
            <a:solidFill>
              <a:schemeClr val="bg2"/>
            </a:solidFill>
            <a:prstDash val="sysDash"/>
            <a:tailEnd type="arrow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urved Connector 56">
            <a:extLst>
              <a:ext uri="{FF2B5EF4-FFF2-40B4-BE49-F238E27FC236}">
                <a16:creationId xmlns:a16="http://schemas.microsoft.com/office/drawing/2014/main" id="{69C089A9-FADC-354D-9892-A0D06ECA79AC}"/>
              </a:ext>
            </a:extLst>
          </p:cNvPr>
          <p:cNvCxnSpPr>
            <a:cxnSpLocks/>
            <a:stCxn id="40" idx="3"/>
            <a:endCxn id="41" idx="1"/>
          </p:cNvCxnSpPr>
          <p:nvPr/>
        </p:nvCxnSpPr>
        <p:spPr>
          <a:xfrm>
            <a:off x="3760875" y="3642112"/>
            <a:ext cx="1425328" cy="12700"/>
          </a:xfrm>
          <a:prstGeom prst="curvedConnector3">
            <a:avLst>
              <a:gd name="adj1" fmla="val 50000"/>
            </a:avLst>
          </a:prstGeom>
          <a:ln>
            <a:solidFill>
              <a:schemeClr val="bg2"/>
            </a:solidFill>
            <a:prstDash val="sysDash"/>
            <a:tailEnd type="arrow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urved Connector 59">
            <a:extLst>
              <a:ext uri="{FF2B5EF4-FFF2-40B4-BE49-F238E27FC236}">
                <a16:creationId xmlns:a16="http://schemas.microsoft.com/office/drawing/2014/main" id="{97D7C852-74ED-B147-8EC9-8572F58CD71A}"/>
              </a:ext>
            </a:extLst>
          </p:cNvPr>
          <p:cNvCxnSpPr>
            <a:cxnSpLocks/>
            <a:stCxn id="37" idx="3"/>
            <a:endCxn id="38" idx="3"/>
          </p:cNvCxnSpPr>
          <p:nvPr/>
        </p:nvCxnSpPr>
        <p:spPr>
          <a:xfrm flipH="1">
            <a:off x="8231883" y="1948689"/>
            <a:ext cx="2116" cy="856537"/>
          </a:xfrm>
          <a:prstGeom prst="curvedConnector3">
            <a:avLst>
              <a:gd name="adj1" fmla="val -10803403"/>
            </a:avLst>
          </a:prstGeom>
          <a:ln>
            <a:solidFill>
              <a:schemeClr val="bg2"/>
            </a:solidFill>
            <a:prstDash val="sysDash"/>
            <a:tailEnd type="arrow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urved Connector 62">
            <a:extLst>
              <a:ext uri="{FF2B5EF4-FFF2-40B4-BE49-F238E27FC236}">
                <a16:creationId xmlns:a16="http://schemas.microsoft.com/office/drawing/2014/main" id="{040A056C-DE8C-1B4E-B001-70891B5E5DE3}"/>
              </a:ext>
            </a:extLst>
          </p:cNvPr>
          <p:cNvCxnSpPr>
            <a:cxnSpLocks/>
            <a:stCxn id="39" idx="1"/>
            <a:endCxn id="40" idx="1"/>
          </p:cNvCxnSpPr>
          <p:nvPr/>
        </p:nvCxnSpPr>
        <p:spPr>
          <a:xfrm rot="10800000" flipV="1">
            <a:off x="715195" y="2805226"/>
            <a:ext cx="12700" cy="836886"/>
          </a:xfrm>
          <a:prstGeom prst="curvedConnector3">
            <a:avLst>
              <a:gd name="adj1" fmla="val 1800000"/>
            </a:avLst>
          </a:prstGeom>
          <a:ln>
            <a:solidFill>
              <a:schemeClr val="bg2"/>
            </a:solidFill>
            <a:prstDash val="sysDash"/>
            <a:tailEnd type="arrow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urved Connector 67">
            <a:extLst>
              <a:ext uri="{FF2B5EF4-FFF2-40B4-BE49-F238E27FC236}">
                <a16:creationId xmlns:a16="http://schemas.microsoft.com/office/drawing/2014/main" id="{E7A6A270-E337-8C4E-B265-6E0690B3EF5C}"/>
              </a:ext>
            </a:extLst>
          </p:cNvPr>
          <p:cNvCxnSpPr>
            <a:cxnSpLocks/>
            <a:stCxn id="41" idx="2"/>
            <a:endCxn id="42" idx="3"/>
          </p:cNvCxnSpPr>
          <p:nvPr/>
        </p:nvCxnSpPr>
        <p:spPr>
          <a:xfrm rot="5400000">
            <a:off x="6007989" y="3823358"/>
            <a:ext cx="609963" cy="792147"/>
          </a:xfrm>
          <a:prstGeom prst="curvedConnector2">
            <a:avLst/>
          </a:prstGeom>
          <a:ln>
            <a:solidFill>
              <a:schemeClr val="bg2"/>
            </a:solidFill>
            <a:prstDash val="sysDash"/>
            <a:tailEnd type="arrow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5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Маршрут вебинара</a:t>
            </a:r>
            <a:endParaRPr dirty="0"/>
          </a:p>
        </p:txBody>
      </p:sp>
      <p:sp>
        <p:nvSpPr>
          <p:cNvPr id="267" name="Google Shape;267;p52"/>
          <p:cNvSpPr/>
          <p:nvPr/>
        </p:nvSpPr>
        <p:spPr>
          <a:xfrm>
            <a:off x="762378" y="1205525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Знакомство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9" name="Google Shape;269;p52"/>
          <p:cNvSpPr/>
          <p:nvPr/>
        </p:nvSpPr>
        <p:spPr>
          <a:xfrm>
            <a:off x="762378" y="1688460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Общие слова о </a:t>
            </a:r>
            <a:r>
              <a:rPr lang="en-US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Spark</a:t>
            </a:r>
          </a:p>
        </p:txBody>
      </p:sp>
      <p:sp>
        <p:nvSpPr>
          <p:cNvPr id="270" name="Google Shape;270;p52"/>
          <p:cNvSpPr/>
          <p:nvPr/>
        </p:nvSpPr>
        <p:spPr>
          <a:xfrm>
            <a:off x="762378" y="2171395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Использование </a:t>
            </a:r>
            <a:r>
              <a:rPr lang="en-US" sz="13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SparkML</a:t>
            </a:r>
            <a:endParaRPr lang="en-US" sz="13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1" name="Google Shape;271;p52"/>
          <p:cNvSpPr/>
          <p:nvPr/>
        </p:nvSpPr>
        <p:spPr>
          <a:xfrm>
            <a:off x="762378" y="2654330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Извлечение признаков</a:t>
            </a:r>
            <a:endParaRPr sz="1300" dirty="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74" name="Google Shape;274;p52"/>
          <p:cNvCxnSpPr>
            <a:cxnSpLocks/>
            <a:stCxn id="267" idx="1"/>
            <a:endCxn id="269" idx="1"/>
          </p:cNvCxnSpPr>
          <p:nvPr/>
        </p:nvCxnSpPr>
        <p:spPr>
          <a:xfrm rot="10800000" flipV="1">
            <a:off x="762378" y="1393624"/>
            <a:ext cx="12700" cy="482935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stealth" w="med" len="med"/>
          </a:ln>
        </p:spPr>
      </p:cxnSp>
      <p:cxnSp>
        <p:nvCxnSpPr>
          <p:cNvPr id="275" name="Google Shape;275;p52"/>
          <p:cNvCxnSpPr>
            <a:stCxn id="269" idx="1"/>
            <a:endCxn id="270" idx="1"/>
          </p:cNvCxnSpPr>
          <p:nvPr/>
        </p:nvCxnSpPr>
        <p:spPr>
          <a:xfrm rot="10800000" flipV="1">
            <a:off x="762378" y="1876559"/>
            <a:ext cx="12700" cy="482935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stealth" w="med" len="med"/>
          </a:ln>
        </p:spPr>
      </p:cxnSp>
      <p:cxnSp>
        <p:nvCxnSpPr>
          <p:cNvPr id="276" name="Google Shape;276;p52"/>
          <p:cNvCxnSpPr>
            <a:stCxn id="270" idx="1"/>
            <a:endCxn id="271" idx="1"/>
          </p:cNvCxnSpPr>
          <p:nvPr/>
        </p:nvCxnSpPr>
        <p:spPr>
          <a:xfrm rot="10800000" flipV="1">
            <a:off x="762378" y="2359494"/>
            <a:ext cx="12700" cy="482935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stealth" w="med" len="med"/>
          </a:ln>
        </p:spPr>
      </p:cxnSp>
      <p:sp>
        <p:nvSpPr>
          <p:cNvPr id="14" name="Google Shape;271;p52">
            <a:extLst>
              <a:ext uri="{FF2B5EF4-FFF2-40B4-BE49-F238E27FC236}">
                <a16:creationId xmlns:a16="http://schemas.microsoft.com/office/drawing/2014/main" id="{03AE55B2-BCF2-4443-9F2B-0F282BF00732}"/>
              </a:ext>
            </a:extLst>
          </p:cNvPr>
          <p:cNvSpPr/>
          <p:nvPr/>
        </p:nvSpPr>
        <p:spPr>
          <a:xfrm>
            <a:off x="762378" y="4103135"/>
            <a:ext cx="3384900" cy="576899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Когда использовать/не использовать </a:t>
            </a:r>
            <a:r>
              <a:rPr lang="en-US" sz="13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SparkML</a:t>
            </a:r>
            <a:endParaRPr sz="1300" dirty="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" name="Google Shape;276;p52">
            <a:extLst>
              <a:ext uri="{FF2B5EF4-FFF2-40B4-BE49-F238E27FC236}">
                <a16:creationId xmlns:a16="http://schemas.microsoft.com/office/drawing/2014/main" id="{DA4704EA-4F3E-FD4F-832E-5DB8F19516B7}"/>
              </a:ext>
            </a:extLst>
          </p:cNvPr>
          <p:cNvCxnSpPr>
            <a:cxnSpLocks/>
            <a:stCxn id="271" idx="1"/>
            <a:endCxn id="20" idx="1"/>
          </p:cNvCxnSpPr>
          <p:nvPr/>
        </p:nvCxnSpPr>
        <p:spPr>
          <a:xfrm rot="10800000" flipV="1">
            <a:off x="762378" y="2842429"/>
            <a:ext cx="12700" cy="482935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stealth" w="med" len="med"/>
          </a:ln>
        </p:spPr>
      </p:cxnSp>
      <p:sp>
        <p:nvSpPr>
          <p:cNvPr id="16" name="Google Shape;267;p52">
            <a:extLst>
              <a:ext uri="{FF2B5EF4-FFF2-40B4-BE49-F238E27FC236}">
                <a16:creationId xmlns:a16="http://schemas.microsoft.com/office/drawing/2014/main" id="{C2D00F81-ADBE-4845-A852-CED04D7CA20D}"/>
              </a:ext>
            </a:extLst>
          </p:cNvPr>
          <p:cNvSpPr/>
          <p:nvPr/>
        </p:nvSpPr>
        <p:spPr>
          <a:xfrm>
            <a:off x="4971977" y="2383650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Hadoop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" name="Google Shape;267;p52">
            <a:extLst>
              <a:ext uri="{FF2B5EF4-FFF2-40B4-BE49-F238E27FC236}">
                <a16:creationId xmlns:a16="http://schemas.microsoft.com/office/drawing/2014/main" id="{40DB3885-EA73-C247-A9E2-A4BB8FCB5E1F}"/>
              </a:ext>
            </a:extLst>
          </p:cNvPr>
          <p:cNvSpPr/>
          <p:nvPr/>
        </p:nvSpPr>
        <p:spPr>
          <a:xfrm>
            <a:off x="4971977" y="2949064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Spark – </a:t>
            </a: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установка и развертывание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" name="Google Shape;267;p52">
            <a:extLst>
              <a:ext uri="{FF2B5EF4-FFF2-40B4-BE49-F238E27FC236}">
                <a16:creationId xmlns:a16="http://schemas.microsoft.com/office/drawing/2014/main" id="{1604A5F0-5F01-464A-9689-C15D16FFFEF9}"/>
              </a:ext>
            </a:extLst>
          </p:cNvPr>
          <p:cNvSpPr/>
          <p:nvPr/>
        </p:nvSpPr>
        <p:spPr>
          <a:xfrm>
            <a:off x="4971977" y="3514478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Использование других фреймворков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" name="Google Shape;271;p52">
            <a:extLst>
              <a:ext uri="{FF2B5EF4-FFF2-40B4-BE49-F238E27FC236}">
                <a16:creationId xmlns:a16="http://schemas.microsoft.com/office/drawing/2014/main" id="{DB0CB55B-CD23-3945-8B93-534530B6FA22}"/>
              </a:ext>
            </a:extLst>
          </p:cNvPr>
          <p:cNvSpPr/>
          <p:nvPr/>
        </p:nvSpPr>
        <p:spPr>
          <a:xfrm>
            <a:off x="762378" y="3137265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Результирующий вектор</a:t>
            </a:r>
            <a:endParaRPr sz="13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" name="Google Shape;271;p52">
            <a:extLst>
              <a:ext uri="{FF2B5EF4-FFF2-40B4-BE49-F238E27FC236}">
                <a16:creationId xmlns:a16="http://schemas.microsoft.com/office/drawing/2014/main" id="{C8E9868C-EA81-5D47-8556-1390860B298E}"/>
              </a:ext>
            </a:extLst>
          </p:cNvPr>
          <p:cNvSpPr/>
          <p:nvPr/>
        </p:nvSpPr>
        <p:spPr>
          <a:xfrm>
            <a:off x="762378" y="3620200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Конвейер предобработки</a:t>
            </a:r>
            <a:endParaRPr sz="1300" dirty="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2" name="Google Shape;276;p52">
            <a:extLst>
              <a:ext uri="{FF2B5EF4-FFF2-40B4-BE49-F238E27FC236}">
                <a16:creationId xmlns:a16="http://schemas.microsoft.com/office/drawing/2014/main" id="{9C93DE3F-3F74-A843-BBA7-600E9D9B4F49}"/>
              </a:ext>
            </a:extLst>
          </p:cNvPr>
          <p:cNvCxnSpPr>
            <a:cxnSpLocks/>
            <a:stCxn id="20" idx="1"/>
            <a:endCxn id="29" idx="1"/>
          </p:cNvCxnSpPr>
          <p:nvPr/>
        </p:nvCxnSpPr>
        <p:spPr>
          <a:xfrm rot="10800000" flipV="1">
            <a:off x="762378" y="3325364"/>
            <a:ext cx="12700" cy="482935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stealth" w="med" len="med"/>
          </a:ln>
        </p:spPr>
      </p:cxnSp>
      <p:cxnSp>
        <p:nvCxnSpPr>
          <p:cNvPr id="35" name="Google Shape;276;p52">
            <a:extLst>
              <a:ext uri="{FF2B5EF4-FFF2-40B4-BE49-F238E27FC236}">
                <a16:creationId xmlns:a16="http://schemas.microsoft.com/office/drawing/2014/main" id="{5C77FEAC-2069-BD48-9346-E04B1A2087EF}"/>
              </a:ext>
            </a:extLst>
          </p:cNvPr>
          <p:cNvCxnSpPr>
            <a:cxnSpLocks/>
            <a:stCxn id="29" idx="1"/>
            <a:endCxn id="14" idx="1"/>
          </p:cNvCxnSpPr>
          <p:nvPr/>
        </p:nvCxnSpPr>
        <p:spPr>
          <a:xfrm rot="10800000" flipV="1">
            <a:off x="762378" y="3808299"/>
            <a:ext cx="12700" cy="583285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stealth" w="med" len="med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5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Цели вебинара</a:t>
            </a:r>
            <a:endParaRPr/>
          </a:p>
        </p:txBody>
      </p:sp>
      <p:graphicFrame>
        <p:nvGraphicFramePr>
          <p:cNvPr id="283" name="Google Shape;283;p53"/>
          <p:cNvGraphicFramePr/>
          <p:nvPr>
            <p:extLst>
              <p:ext uri="{D42A27DB-BD31-4B8C-83A1-F6EECF244321}">
                <p14:modId xmlns:p14="http://schemas.microsoft.com/office/powerpoint/2010/main" val="3635574762"/>
              </p:ext>
            </p:extLst>
          </p:nvPr>
        </p:nvGraphicFramePr>
        <p:xfrm>
          <a:off x="952500" y="1544194"/>
          <a:ext cx="7239000" cy="698608"/>
        </p:xfrm>
        <a:graphic>
          <a:graphicData uri="http://schemas.openxmlformats.org/drawingml/2006/table">
            <a:tbl>
              <a:tblPr>
                <a:noFill/>
                <a:tableStyleId>{B623574C-9AE7-4070-A081-93A97D88BCA6}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Ориентироваться в основных командах </a:t>
                      </a:r>
                      <a:r>
                        <a:rPr lang="en-US" sz="1300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SparkML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r>
                        <a:rPr lang="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Выполнить несложную предобработку данных на </a:t>
                      </a:r>
                      <a:r>
                        <a:rPr lang="en-US" sz="1300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SparkML</a:t>
                      </a:r>
                      <a:endParaRPr lang="en-GB"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85" name="Google Shape;285;p53"/>
          <p:cNvSpPr txBox="1">
            <a:spLocks noGrp="1"/>
          </p:cNvSpPr>
          <p:nvPr>
            <p:ph type="subTitle" idx="4294967295"/>
          </p:nvPr>
        </p:nvSpPr>
        <p:spPr>
          <a:xfrm>
            <a:off x="500550" y="85736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FF9900"/>
                </a:solidFill>
              </a:rPr>
              <a:t>К концу занятия вы сможете</a:t>
            </a:r>
            <a:endParaRPr sz="1500" b="1"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5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Смысл</a:t>
            </a:r>
            <a:endParaRPr/>
          </a:p>
        </p:txBody>
      </p:sp>
      <p:graphicFrame>
        <p:nvGraphicFramePr>
          <p:cNvPr id="291" name="Google Shape;291;p54"/>
          <p:cNvGraphicFramePr/>
          <p:nvPr>
            <p:extLst>
              <p:ext uri="{D42A27DB-BD31-4B8C-83A1-F6EECF244321}">
                <p14:modId xmlns:p14="http://schemas.microsoft.com/office/powerpoint/2010/main" val="747947045"/>
              </p:ext>
            </p:extLst>
          </p:nvPr>
        </p:nvGraphicFramePr>
        <p:xfrm>
          <a:off x="952500" y="1544194"/>
          <a:ext cx="7239000" cy="698608"/>
        </p:xfrm>
        <a:graphic>
          <a:graphicData uri="http://schemas.openxmlformats.org/drawingml/2006/table">
            <a:tbl>
              <a:tblPr>
                <a:noFill/>
                <a:tableStyleId>{B623574C-9AE7-4070-A081-93A97D88BCA6}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Работать в команде с большими массивами данных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Перенос моделей в  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production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93" name="Google Shape;293;p54"/>
          <p:cNvSpPr txBox="1">
            <a:spLocks noGrp="1"/>
          </p:cNvSpPr>
          <p:nvPr>
            <p:ph type="subTitle" idx="4294967295"/>
          </p:nvPr>
        </p:nvSpPr>
        <p:spPr>
          <a:xfrm>
            <a:off x="500550" y="85736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FF9900"/>
                </a:solidFill>
              </a:rPr>
              <a:t>Зачем вам это уметь</a:t>
            </a:r>
            <a:endParaRPr sz="1500" b="1"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56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4900" dirty="0"/>
              <a:t>Фреймворки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3845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5479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Фреймворки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B03A304-EFF9-C443-82B1-DEC28AFFC567}"/>
              </a:ext>
            </a:extLst>
          </p:cNvPr>
          <p:cNvSpPr txBox="1"/>
          <p:nvPr/>
        </p:nvSpPr>
        <p:spPr>
          <a:xfrm>
            <a:off x="500550" y="1053842"/>
            <a:ext cx="6191118" cy="36317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RU" sz="2400" dirty="0"/>
              <a:t>Apache Mahout - </a:t>
            </a:r>
            <a:r>
              <a:rPr lang="en-GB" sz="2400" dirty="0">
                <a:hlinkClick r:id="rId3"/>
              </a:rPr>
              <a:t>https://mahout.apache.org</a:t>
            </a:r>
            <a:endParaRPr lang="ru-RU" sz="2400" dirty="0"/>
          </a:p>
          <a:p>
            <a:pPr>
              <a:spcAft>
                <a:spcPts val="1200"/>
              </a:spcAft>
            </a:pPr>
            <a:r>
              <a:rPr lang="ru-RU" dirty="0"/>
              <a:t>(</a:t>
            </a:r>
            <a:r>
              <a:rPr lang="en-US" dirty="0"/>
              <a:t>linear algebra and Scala DSL)</a:t>
            </a:r>
            <a:r>
              <a:rPr lang="en-GB" dirty="0"/>
              <a:t> </a:t>
            </a:r>
          </a:p>
          <a:p>
            <a:r>
              <a:rPr lang="en-GB" sz="2400" dirty="0"/>
              <a:t>Apache Spark - </a:t>
            </a:r>
            <a:r>
              <a:rPr lang="en-GB" sz="2400" dirty="0">
                <a:hlinkClick r:id="rId4"/>
              </a:rPr>
              <a:t>https://spark.apache.org</a:t>
            </a:r>
            <a:endParaRPr lang="ru-RU" sz="2400" dirty="0"/>
          </a:p>
          <a:p>
            <a:pPr>
              <a:spcAft>
                <a:spcPts val="1200"/>
              </a:spcAft>
            </a:pPr>
            <a:r>
              <a:rPr lang="ru-RU" dirty="0"/>
              <a:t>(пакетная обработка)</a:t>
            </a:r>
            <a:r>
              <a:rPr lang="en-GB" dirty="0"/>
              <a:t> </a:t>
            </a:r>
          </a:p>
          <a:p>
            <a:r>
              <a:rPr lang="en-GB" sz="2400" dirty="0"/>
              <a:t>Apache </a:t>
            </a:r>
            <a:r>
              <a:rPr lang="en-GB" sz="2400" dirty="0" err="1"/>
              <a:t>Flink</a:t>
            </a:r>
            <a:r>
              <a:rPr lang="en-GB" sz="2400" dirty="0"/>
              <a:t> - </a:t>
            </a:r>
            <a:r>
              <a:rPr lang="en-GB" sz="2400" dirty="0">
                <a:hlinkClick r:id="rId5"/>
              </a:rPr>
              <a:t>https ://flink.apache.org</a:t>
            </a:r>
            <a:r>
              <a:rPr lang="en-GB" sz="2400" dirty="0"/>
              <a:t> </a:t>
            </a:r>
          </a:p>
          <a:p>
            <a:pPr>
              <a:spcAft>
                <a:spcPts val="1200"/>
              </a:spcAft>
            </a:pPr>
            <a:r>
              <a:rPr lang="en-GB" dirty="0"/>
              <a:t>(</a:t>
            </a:r>
            <a:r>
              <a:rPr lang="ru-RU" dirty="0"/>
              <a:t>потоковая обработка)</a:t>
            </a:r>
            <a:endParaRPr lang="en-GB" dirty="0"/>
          </a:p>
          <a:p>
            <a:r>
              <a:rPr lang="en-GB" sz="2400" dirty="0"/>
              <a:t>Apache </a:t>
            </a:r>
            <a:r>
              <a:rPr lang="en-GB" sz="2400" dirty="0" err="1"/>
              <a:t>Madlib</a:t>
            </a:r>
            <a:r>
              <a:rPr lang="en-GB" sz="2400" dirty="0"/>
              <a:t> - </a:t>
            </a:r>
            <a:r>
              <a:rPr lang="en-GB" sz="2400" dirty="0">
                <a:hlinkClick r:id="rId6"/>
              </a:rPr>
              <a:t>https://madlib.apache.org</a:t>
            </a:r>
            <a:endParaRPr lang="ru-RU" sz="2400" dirty="0"/>
          </a:p>
          <a:p>
            <a:pPr>
              <a:spcAft>
                <a:spcPts val="1200"/>
              </a:spcAft>
            </a:pPr>
            <a:r>
              <a:rPr lang="ru-RU" dirty="0"/>
              <a:t>(работа поверх </a:t>
            </a:r>
            <a:r>
              <a:rPr lang="en-GB" dirty="0"/>
              <a:t>SQL) </a:t>
            </a:r>
          </a:p>
          <a:p>
            <a:r>
              <a:rPr lang="en-GB" sz="2400" dirty="0"/>
              <a:t>H2O - </a:t>
            </a:r>
            <a:r>
              <a:rPr lang="en-GB" sz="2400" dirty="0">
                <a:hlinkClick r:id="rId7"/>
              </a:rPr>
              <a:t>https://h2o.ai</a:t>
            </a:r>
            <a:r>
              <a:rPr lang="en-GB" sz="2400" dirty="0"/>
              <a:t> </a:t>
            </a:r>
          </a:p>
          <a:p>
            <a:pPr>
              <a:spcAft>
                <a:spcPts val="1200"/>
              </a:spcAft>
            </a:pPr>
            <a:r>
              <a:rPr lang="en-GB" dirty="0"/>
              <a:t>(</a:t>
            </a:r>
            <a:r>
              <a:rPr lang="ru-RU" dirty="0"/>
              <a:t>семейство фреймворков, </a:t>
            </a:r>
            <a:r>
              <a:rPr lang="en-GB" dirty="0"/>
              <a:t>OTUS ML Advanced)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56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900" dirty="0" err="1"/>
              <a:t>SparkML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646571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dirty="0">
                <a:solidFill>
                  <a:srgbClr val="000000"/>
                </a:solidFill>
                <a:latin typeface="Helvetica Neue" panose="02000503000000020004" pitchFamily="2" charset="0"/>
              </a:rPr>
              <a:t>Что есть </a:t>
            </a:r>
            <a:r>
              <a:rPr lang="en-US" dirty="0">
                <a:solidFill>
                  <a:srgbClr val="000000"/>
                </a:solidFill>
                <a:latin typeface="Helvetica Neue" panose="02000503000000020004" pitchFamily="2" charset="0"/>
              </a:rPr>
              <a:t>Spark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59AF54-A370-5048-BA1F-791838DF1C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5349" y="1426624"/>
            <a:ext cx="6116185" cy="3031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6848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dirty="0">
                <a:solidFill>
                  <a:srgbClr val="000000"/>
                </a:solidFill>
                <a:latin typeface="Helvetica Neue" panose="02000503000000020004" pitchFamily="2" charset="0"/>
              </a:rPr>
              <a:t>Работа со</a:t>
            </a:r>
            <a:r>
              <a:rPr lang="en-US" dirty="0">
                <a:solidFill>
                  <a:srgbClr val="000000"/>
                </a:solidFill>
                <a:latin typeface="Helvetica Neue" panose="02000503000000020004" pitchFamily="2" charset="0"/>
              </a:rPr>
              <a:t> Spark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70EE49-C521-D34E-9204-5F57F8758D91}"/>
              </a:ext>
            </a:extLst>
          </p:cNvPr>
          <p:cNvSpPr txBox="1"/>
          <p:nvPr/>
        </p:nvSpPr>
        <p:spPr>
          <a:xfrm>
            <a:off x="212291" y="1063898"/>
            <a:ext cx="8731873" cy="38843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  <a:tabLst>
                <a:tab pos="352425" algn="l"/>
                <a:tab pos="1149350" algn="l"/>
              </a:tabLst>
            </a:pPr>
            <a:r>
              <a:rPr lang="en-US" sz="1800" dirty="0"/>
              <a:t> 		</a:t>
            </a:r>
            <a:r>
              <a:rPr lang="en-US" sz="1800" dirty="0" err="1"/>
              <a:t>PySpark</a:t>
            </a:r>
            <a:r>
              <a:rPr lang="en-US" sz="1800" dirty="0"/>
              <a:t> –</a:t>
            </a:r>
            <a:r>
              <a:rPr lang="ru-RU" sz="1800" dirty="0"/>
              <a:t> </a:t>
            </a:r>
            <a:r>
              <a:rPr lang="en-US" sz="1800" dirty="0">
                <a:hlinkClick r:id="rId3"/>
              </a:rPr>
              <a:t>https://spark.apache.org/docs/latest/api/python/index.html</a:t>
            </a:r>
            <a:r>
              <a:rPr lang="ru-RU" sz="1800" dirty="0"/>
              <a:t> 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  <a:tabLst>
                <a:tab pos="352425" algn="l"/>
                <a:tab pos="1149350" algn="l"/>
              </a:tabLst>
            </a:pPr>
            <a:r>
              <a:rPr lang="en-US" sz="1800" dirty="0"/>
              <a:t> 		Apache </a:t>
            </a:r>
            <a:r>
              <a:rPr lang="en-US" sz="1800" dirty="0" err="1"/>
              <a:t>Zepellin</a:t>
            </a:r>
            <a:r>
              <a:rPr lang="en-US" sz="1800" dirty="0"/>
              <a:t> </a:t>
            </a:r>
            <a:r>
              <a:rPr lang="en-US" sz="1800" dirty="0">
                <a:hlinkClick r:id="rId4"/>
              </a:rPr>
              <a:t>http://zeppelin.apache.org/</a:t>
            </a:r>
            <a:r>
              <a:rPr lang="en-US" sz="1800" dirty="0"/>
              <a:t> </a:t>
            </a:r>
            <a:endParaRPr lang="ru-RU" sz="1800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  <a:tabLst>
                <a:tab pos="352425" algn="l"/>
                <a:tab pos="1149350" algn="l"/>
              </a:tabLst>
            </a:pPr>
            <a:r>
              <a:rPr lang="en-US" sz="1800" dirty="0"/>
              <a:t> 		JB Big Data </a:t>
            </a:r>
            <a:r>
              <a:rPr lang="en-US" sz="1800" dirty="0">
                <a:hlinkClick r:id="rId5"/>
              </a:rPr>
              <a:t>https://plugins.jetbrains.com/plugin/12494-big-data-tools</a:t>
            </a:r>
            <a:r>
              <a:rPr lang="en-US" sz="1800" dirty="0"/>
              <a:t>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  <a:tabLst>
                <a:tab pos="352425" algn="l"/>
                <a:tab pos="1149350" algn="l"/>
              </a:tabLst>
            </a:pPr>
            <a:r>
              <a:rPr lang="en-US" sz="1800" dirty="0"/>
              <a:t> 	 	Jupyter </a:t>
            </a:r>
            <a:r>
              <a:rPr lang="en-US" sz="1800" dirty="0">
                <a:hlinkClick r:id="rId6"/>
              </a:rPr>
              <a:t>https://jupyter.org/</a:t>
            </a:r>
            <a:r>
              <a:rPr lang="en-US" sz="1800" dirty="0"/>
              <a:t>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  <a:tabLst>
                <a:tab pos="352425" algn="l"/>
                <a:tab pos="1149350" algn="l"/>
              </a:tabLst>
            </a:pPr>
            <a:r>
              <a:rPr lang="en-US" sz="1800" dirty="0"/>
              <a:t> 		JB </a:t>
            </a:r>
            <a:r>
              <a:rPr lang="en-US" sz="1800" dirty="0" err="1"/>
              <a:t>DataSpell</a:t>
            </a:r>
            <a:r>
              <a:rPr lang="en-US" sz="1800" dirty="0"/>
              <a:t> </a:t>
            </a:r>
            <a:r>
              <a:rPr lang="en-US" sz="1800" dirty="0">
                <a:hlinkClick r:id="rId7"/>
              </a:rPr>
              <a:t>https://www.jetbrains.com/ru-ru/dataspell</a:t>
            </a:r>
            <a:r>
              <a:rPr lang="en-US" sz="1800" dirty="0"/>
              <a:t>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  <a:tabLst>
                <a:tab pos="352425" algn="l"/>
                <a:tab pos="1149350" algn="l"/>
              </a:tabLst>
            </a:pPr>
            <a:r>
              <a:rPr lang="en-US" sz="1800" dirty="0"/>
              <a:t> 	  	Almond </a:t>
            </a:r>
            <a:r>
              <a:rPr lang="en-US" sz="1800" dirty="0">
                <a:hlinkClick r:id="rId8"/>
              </a:rPr>
              <a:t>https://almond.sh/</a:t>
            </a:r>
            <a:r>
              <a:rPr lang="en-US" sz="1800" dirty="0"/>
              <a:t>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  <a:tabLst>
                <a:tab pos="352425" algn="l"/>
                <a:tab pos="1149350" algn="l"/>
              </a:tabLst>
            </a:pPr>
            <a:r>
              <a:rPr lang="en-US" sz="1800" dirty="0"/>
              <a:t> 	  	</a:t>
            </a:r>
            <a:r>
              <a:rPr lang="en-US" sz="1800" dirty="0" err="1"/>
              <a:t>DataBricks</a:t>
            </a:r>
            <a:r>
              <a:rPr lang="en-US" sz="1800" dirty="0"/>
              <a:t> </a:t>
            </a:r>
            <a:r>
              <a:rPr lang="en-US" sz="1800" dirty="0">
                <a:hlinkClick r:id="rId9"/>
              </a:rPr>
              <a:t>https://community.cloud.databricks.com/</a:t>
            </a:r>
            <a:r>
              <a:rPr lang="en-US" sz="1800" dirty="0"/>
              <a:t> </a:t>
            </a:r>
            <a:endParaRPr lang="en-RU" sz="1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EA2B35F-8362-784B-822F-70721D53D0D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0550" y="4508061"/>
            <a:ext cx="831850" cy="43672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531E05F-FE3D-EF4F-ACB5-095150811AA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4618" y="3962064"/>
            <a:ext cx="450850" cy="54254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B8D6FD4-3056-2144-B833-ACCD0B76501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1050" y="3465199"/>
            <a:ext cx="450850" cy="4508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20B2B2F-537E-8E48-8992-0C156278ABD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91050" y="2795345"/>
            <a:ext cx="468387" cy="54254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ED94697-D13C-714F-AFED-33C1107DAC08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91050" y="2299314"/>
            <a:ext cx="450850" cy="45085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08A1857-6BB6-5245-9146-ECACEFAEA501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58304" y="1793211"/>
            <a:ext cx="601133" cy="45085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82D046E-FD05-AD40-B296-AC2D4FD2BFC2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04721" y="1237827"/>
            <a:ext cx="708297" cy="387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93373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1AC5DF-9059-3949-BE11-C9B97F75CE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2464" y="1231834"/>
            <a:ext cx="6449245" cy="312060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E70EE49-C521-D34E-9204-5F57F8758D91}"/>
              </a:ext>
            </a:extLst>
          </p:cNvPr>
          <p:cNvSpPr txBox="1"/>
          <p:nvPr/>
        </p:nvSpPr>
        <p:spPr>
          <a:xfrm>
            <a:off x="212291" y="1063898"/>
            <a:ext cx="3151825" cy="12874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800" dirty="0"/>
              <a:t>Ввод данных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800" dirty="0"/>
              <a:t>Манипуляция с данными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800" dirty="0"/>
              <a:t>Вывод результата</a:t>
            </a:r>
            <a:endParaRPr lang="en-RU" sz="1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BE6E16-E0F5-864C-A38B-61CDEB14690C}"/>
              </a:ext>
            </a:extLst>
          </p:cNvPr>
          <p:cNvSpPr txBox="1"/>
          <p:nvPr/>
        </p:nvSpPr>
        <p:spPr>
          <a:xfrm>
            <a:off x="212291" y="3542334"/>
            <a:ext cx="294303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На каждом шаге создается новый </a:t>
            </a:r>
            <a:r>
              <a:rPr lang="en-US" dirty="0"/>
              <a:t>dataset </a:t>
            </a:r>
            <a:r>
              <a:rPr lang="ru-RU" dirty="0"/>
              <a:t>с результатами операции</a:t>
            </a:r>
            <a:endParaRPr lang="en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D05586-E476-5B40-AC62-1F90B92642E9}"/>
              </a:ext>
            </a:extLst>
          </p:cNvPr>
          <p:cNvSpPr txBox="1"/>
          <p:nvPr/>
        </p:nvSpPr>
        <p:spPr>
          <a:xfrm>
            <a:off x="3320194" y="879232"/>
            <a:ext cx="46281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800" b="1" dirty="0">
                <a:effectLst/>
                <a:latin typeface="LiberationSans"/>
              </a:rPr>
              <a:t>Pandas API </a:t>
            </a:r>
            <a:r>
              <a:rPr lang="en-GB" sz="1800" dirty="0">
                <a:effectLst/>
                <a:latin typeface="LiberationSans"/>
              </a:rPr>
              <a:t>— </a:t>
            </a:r>
            <a:r>
              <a:rPr lang="ru-RU" sz="1800" dirty="0" err="1">
                <a:effectLst/>
                <a:latin typeface="LiberationSans"/>
              </a:rPr>
              <a:t>новыи</a:t>
            </a:r>
            <a:r>
              <a:rPr lang="ru-RU" sz="1800" dirty="0">
                <a:effectLst/>
                <a:latin typeface="LiberationSans"/>
              </a:rPr>
              <a:t>̆ (с 3.2.0) </a:t>
            </a:r>
            <a:r>
              <a:rPr lang="en-GB" sz="1800" dirty="0">
                <a:effectLst/>
                <a:latin typeface="LiberationSans"/>
              </a:rPr>
              <a:t>API </a:t>
            </a:r>
            <a:r>
              <a:rPr lang="ru-RU" sz="1800" dirty="0">
                <a:effectLst/>
                <a:latin typeface="LiberationSans"/>
              </a:rPr>
              <a:t>для </a:t>
            </a:r>
            <a:r>
              <a:rPr lang="en-GB" sz="1800" dirty="0" err="1">
                <a:effectLst/>
                <a:latin typeface="LiberationSans"/>
              </a:rPr>
              <a:t>PySpark</a:t>
            </a:r>
            <a:r>
              <a:rPr lang="en-GB" sz="1800" dirty="0">
                <a:effectLst/>
                <a:latin typeface="LiberationSans"/>
              </a:rPr>
              <a:t> </a:t>
            </a:r>
            <a:endParaRPr lang="en-GB" dirty="0">
              <a:effectLst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E37E29D-E75C-7546-9FC2-340D7FEDF7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93" y="37940"/>
            <a:ext cx="2840884" cy="116713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6564CBF-2F30-3F4A-B554-949B92CFF4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4534" y="194030"/>
            <a:ext cx="1393529" cy="857556"/>
          </a:xfrm>
          <a:prstGeom prst="rect">
            <a:avLst/>
          </a:prstGeom>
          <a:ln>
            <a:noFill/>
          </a:ln>
          <a:effectLst>
            <a:softEdge rad="25400"/>
          </a:effectLst>
        </p:spPr>
      </p:pic>
    </p:spTree>
    <p:extLst>
      <p:ext uri="{BB962C8B-B14F-4D97-AF65-F5344CB8AC3E}">
        <p14:creationId xmlns:p14="http://schemas.microsoft.com/office/powerpoint/2010/main" val="42148134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056A6AC-EA8A-654E-A54A-5494EB50B6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93" y="37940"/>
            <a:ext cx="2840884" cy="116713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C2CCEDA-9269-5C45-B8C7-3D6CC40272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387" y="988086"/>
            <a:ext cx="1505579" cy="395608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2D6F991-BF5E-F44C-B791-111746DE45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8535" y="1909433"/>
            <a:ext cx="5808147" cy="280302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F67FD24-B310-7843-9F60-D997C13C337F}"/>
              </a:ext>
            </a:extLst>
          </p:cNvPr>
          <p:cNvSpPr txBox="1"/>
          <p:nvPr/>
        </p:nvSpPr>
        <p:spPr>
          <a:xfrm>
            <a:off x="3191317" y="1205070"/>
            <a:ext cx="36279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 err="1">
                <a:effectLst/>
                <a:latin typeface="LiberationSans"/>
              </a:rPr>
              <a:t>spark.ml</a:t>
            </a:r>
            <a:r>
              <a:rPr lang="en-GB" sz="2000" dirty="0">
                <a:effectLst/>
                <a:latin typeface="LiberationSans"/>
              </a:rPr>
              <a:t> – </a:t>
            </a:r>
            <a:r>
              <a:rPr lang="en-GB" sz="2000" dirty="0" err="1">
                <a:effectLst/>
                <a:latin typeface="LiberationSans"/>
              </a:rPr>
              <a:t>DataFrame</a:t>
            </a:r>
            <a:r>
              <a:rPr lang="en-GB" sz="2000" dirty="0">
                <a:effectLst/>
                <a:latin typeface="LiberationSans"/>
              </a:rPr>
              <a:t>-based API </a:t>
            </a:r>
            <a:endParaRPr lang="en-GB" sz="1600" dirty="0">
              <a:effectLst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33F7BE6-9492-DA45-9FB2-E866A9384E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4534" y="194030"/>
            <a:ext cx="1393529" cy="857556"/>
          </a:xfrm>
          <a:prstGeom prst="rect">
            <a:avLst/>
          </a:prstGeom>
          <a:ln>
            <a:noFill/>
          </a:ln>
          <a:effectLst>
            <a:softEdge rad="25400"/>
          </a:effectLst>
        </p:spPr>
      </p:pic>
    </p:spTree>
    <p:extLst>
      <p:ext uri="{BB962C8B-B14F-4D97-AF65-F5344CB8AC3E}">
        <p14:creationId xmlns:p14="http://schemas.microsoft.com/office/powerpoint/2010/main" val="30189875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316A0-AF68-B347-8EE2-60C54E56B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Spark </a:t>
            </a:r>
            <a:r>
              <a:rPr lang="en-US" dirty="0" err="1"/>
              <a:t>MLlib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AF1CC2-2386-C047-9D22-A57F8A5648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Базовые статистики</a:t>
            </a:r>
          </a:p>
          <a:p>
            <a:r>
              <a:rPr lang="ru-RU" dirty="0"/>
              <a:t>Форматы</a:t>
            </a:r>
            <a:r>
              <a:rPr lang="en-US" dirty="0"/>
              <a:t> </a:t>
            </a:r>
            <a:r>
              <a:rPr lang="ru-RU" dirty="0"/>
              <a:t>данных</a:t>
            </a:r>
          </a:p>
          <a:p>
            <a:r>
              <a:rPr lang="ru-RU" dirty="0"/>
              <a:t>Конвейеры</a:t>
            </a:r>
            <a:endParaRPr lang="en-US" dirty="0"/>
          </a:p>
          <a:p>
            <a:r>
              <a:rPr lang="ru-RU" dirty="0"/>
              <a:t>Извлечение, преобразование и отбор признаков</a:t>
            </a:r>
          </a:p>
          <a:p>
            <a:r>
              <a:rPr lang="ru-RU" dirty="0"/>
              <a:t>Классификация</a:t>
            </a:r>
            <a:r>
              <a:rPr lang="en-US" dirty="0"/>
              <a:t> </a:t>
            </a:r>
            <a:r>
              <a:rPr lang="ru-RU" dirty="0"/>
              <a:t>и регрессия</a:t>
            </a:r>
            <a:endParaRPr lang="en-US" dirty="0"/>
          </a:p>
          <a:p>
            <a:r>
              <a:rPr lang="ru-RU" dirty="0"/>
              <a:t>Кластеризация</a:t>
            </a:r>
            <a:endParaRPr lang="en-US" dirty="0"/>
          </a:p>
          <a:p>
            <a:r>
              <a:rPr lang="ru-RU" dirty="0" err="1"/>
              <a:t>Коллаборативная</a:t>
            </a:r>
            <a:r>
              <a:rPr lang="en-US" dirty="0"/>
              <a:t> </a:t>
            </a:r>
            <a:r>
              <a:rPr lang="ru-RU" dirty="0"/>
              <a:t>фильтрация</a:t>
            </a:r>
            <a:endParaRPr lang="en-US" dirty="0"/>
          </a:p>
          <a:p>
            <a:r>
              <a:rPr lang="ru-RU" dirty="0"/>
              <a:t>Подбор </a:t>
            </a:r>
            <a:r>
              <a:rPr lang="ru-RU" dirty="0" err="1"/>
              <a:t>гиперпараметров</a:t>
            </a:r>
            <a:r>
              <a:rPr lang="ru-RU" dirty="0"/>
              <a:t> и кросс-</a:t>
            </a:r>
            <a:r>
              <a:rPr lang="ru-RU" dirty="0" err="1"/>
              <a:t>валидация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91303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68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Этапы </a:t>
            </a:r>
            <a:r>
              <a:rPr lang="en-US" dirty="0"/>
              <a:t>ML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975588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dirty="0">
                <a:solidFill>
                  <a:srgbClr val="000000"/>
                </a:solidFill>
                <a:latin typeface="Helvetica Neue" panose="02000503000000020004" pitchFamily="2" charset="0"/>
              </a:rPr>
              <a:t>Этапы </a:t>
            </a:r>
            <a:r>
              <a:rPr lang="en-US" dirty="0">
                <a:solidFill>
                  <a:srgbClr val="000000"/>
                </a:solidFill>
                <a:latin typeface="Helvetica Neue" panose="02000503000000020004" pitchFamily="2" charset="0"/>
              </a:rPr>
              <a:t>ML - </a:t>
            </a:r>
            <a:r>
              <a:rPr lang="en-GB" b="1" i="0" u="none" strike="noStrike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CRISP-DM</a:t>
            </a:r>
            <a:r>
              <a:rPr lang="en-GB" b="0" i="0" u="none" strike="noStrike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001958F-D483-7F48-B8BC-C18F2D32AD0C}"/>
              </a:ext>
            </a:extLst>
          </p:cNvPr>
          <p:cNvSpPr txBox="1"/>
          <p:nvPr/>
        </p:nvSpPr>
        <p:spPr>
          <a:xfrm>
            <a:off x="418834" y="1183106"/>
            <a:ext cx="41440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0" i="1" u="none" strike="noStrike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Cross-Industry Standard Process for Data Mining</a:t>
            </a:r>
            <a:endParaRPr lang="en-R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33A2A3-BE84-6D43-87FF-2058E1A185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6466" y="1029457"/>
            <a:ext cx="4104798" cy="411404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672CB2A-AA45-E74D-AA9D-D85A170BA570}"/>
              </a:ext>
            </a:extLst>
          </p:cNvPr>
          <p:cNvSpPr txBox="1"/>
          <p:nvPr/>
        </p:nvSpPr>
        <p:spPr>
          <a:xfrm>
            <a:off x="491467" y="1735010"/>
            <a:ext cx="3997750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b="1" u="sng" dirty="0"/>
              <a:t>Data Preparation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b="1" dirty="0"/>
              <a:t>Extraction</a:t>
            </a:r>
            <a:r>
              <a:rPr lang="en-GB" dirty="0"/>
              <a:t>: </a:t>
            </a:r>
            <a:r>
              <a:rPr lang="ru-RU" dirty="0"/>
              <a:t>извлечение объектов из "необработанных" данных </a:t>
            </a:r>
            <a:endParaRPr lang="en-US" dirty="0"/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b="1" dirty="0"/>
              <a:t>Transformation</a:t>
            </a:r>
            <a:r>
              <a:rPr lang="en-GB" dirty="0"/>
              <a:t>: </a:t>
            </a:r>
            <a:r>
              <a:rPr lang="ru-RU" dirty="0"/>
              <a:t>масштабирование, преобразование или</a:t>
            </a:r>
            <a:r>
              <a:rPr lang="en-US" dirty="0"/>
              <a:t> </a:t>
            </a:r>
            <a:r>
              <a:rPr lang="ru-RU" dirty="0"/>
              <a:t>изменение объектов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b="1" dirty="0"/>
              <a:t>Selection</a:t>
            </a:r>
            <a:r>
              <a:rPr lang="en-GB" dirty="0"/>
              <a:t>: </a:t>
            </a:r>
            <a:r>
              <a:rPr lang="ru-RU" dirty="0"/>
              <a:t>выбор подмножества из большего набора объектов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b="1" dirty="0"/>
              <a:t>Locality Sensitive Hashing (LSH): </a:t>
            </a:r>
            <a:r>
              <a:rPr lang="ru-RU" dirty="0"/>
              <a:t>этот класс алгоритмов сочетает в себе аспекты преобразования признаков с другими алгоритмами</a:t>
            </a:r>
          </a:p>
        </p:txBody>
      </p:sp>
    </p:spTree>
    <p:extLst>
      <p:ext uri="{BB962C8B-B14F-4D97-AF65-F5344CB8AC3E}">
        <p14:creationId xmlns:p14="http://schemas.microsoft.com/office/powerpoint/2010/main" val="7159155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dirty="0">
                <a:solidFill>
                  <a:srgbClr val="000000"/>
                </a:solidFill>
                <a:latin typeface="Helvetica Neue" panose="02000503000000020004" pitchFamily="2" charset="0"/>
              </a:rPr>
              <a:t>Когда использовать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FE854AC-607E-5442-8DD3-96867BE055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4326" y="1469298"/>
            <a:ext cx="2495348" cy="334347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7EDB5EA-AAA2-B841-AC09-1BD1F8B9009B}"/>
              </a:ext>
            </a:extLst>
          </p:cNvPr>
          <p:cNvSpPr txBox="1"/>
          <p:nvPr/>
        </p:nvSpPr>
        <p:spPr>
          <a:xfrm>
            <a:off x="121013" y="1971585"/>
            <a:ext cx="302518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/>
              <a:t>Использовать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/>
              <a:t>Большой набор данных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RU" sz="1800" dirty="0"/>
              <a:t>Hadoop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RU" sz="1800" dirty="0"/>
              <a:t>Production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36BA2A-39B8-B546-B17E-E846EC77A2DC}"/>
              </a:ext>
            </a:extLst>
          </p:cNvPr>
          <p:cNvSpPr txBox="1"/>
          <p:nvPr/>
        </p:nvSpPr>
        <p:spPr>
          <a:xfrm>
            <a:off x="5753328" y="1971585"/>
            <a:ext cx="339067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/>
              <a:t>Не использовать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/>
              <a:t>Небольшой набор данных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/>
              <a:t>Исследовательский проект</a:t>
            </a:r>
            <a:endParaRPr lang="en-RU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/>
              <a:t>Красивый отчет</a:t>
            </a:r>
            <a:endParaRPr lang="en-RU" sz="1800" dirty="0"/>
          </a:p>
        </p:txBody>
      </p:sp>
    </p:spTree>
    <p:extLst>
      <p:ext uri="{BB962C8B-B14F-4D97-AF65-F5344CB8AC3E}">
        <p14:creationId xmlns:p14="http://schemas.microsoft.com/office/powerpoint/2010/main" val="11545825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68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Практика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6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Практика</a:t>
            </a:r>
            <a:endParaRPr dirty="0"/>
          </a:p>
        </p:txBody>
      </p:sp>
      <p:graphicFrame>
        <p:nvGraphicFramePr>
          <p:cNvPr id="390" name="Google Shape;390;p69"/>
          <p:cNvGraphicFramePr/>
          <p:nvPr>
            <p:extLst>
              <p:ext uri="{D42A27DB-BD31-4B8C-83A1-F6EECF244321}">
                <p14:modId xmlns:p14="http://schemas.microsoft.com/office/powerpoint/2010/main" val="2765553723"/>
              </p:ext>
            </p:extLst>
          </p:nvPr>
        </p:nvGraphicFramePr>
        <p:xfrm>
          <a:off x="952500" y="1372744"/>
          <a:ext cx="7239000" cy="698608"/>
        </p:xfrm>
        <a:graphic>
          <a:graphicData uri="http://schemas.openxmlformats.org/drawingml/2006/table">
            <a:tbl>
              <a:tblPr>
                <a:noFill/>
                <a:tableStyleId>{B623574C-9AE7-4070-A081-93A97D88BCA6}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Построить простенький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EDA c </a:t>
                      </a: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использованием </a:t>
                      </a:r>
                      <a:r>
                        <a:rPr lang="en-US" sz="1300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SparkML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r>
                        <a:rPr lang="ru-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Построить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pipeline </a:t>
                      </a: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для переноса модели в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prod</a:t>
                      </a:r>
                      <a:endParaRPr lang="en-GB"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288829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7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Список материалов для изучения</a:t>
            </a:r>
            <a:endParaRPr dirty="0"/>
          </a:p>
        </p:txBody>
      </p:sp>
      <p:sp>
        <p:nvSpPr>
          <p:cNvPr id="408" name="Google Shape;408;p71"/>
          <p:cNvSpPr txBox="1">
            <a:spLocks noGrp="1"/>
          </p:cNvSpPr>
          <p:nvPr>
            <p:ph type="body" idx="4294967295"/>
          </p:nvPr>
        </p:nvSpPr>
        <p:spPr>
          <a:xfrm>
            <a:off x="500550" y="1197862"/>
            <a:ext cx="7742400" cy="367893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indent="-311150">
              <a:lnSpc>
                <a:spcPct val="150000"/>
              </a:lnSpc>
              <a:buSzPts val="1300"/>
              <a:buFont typeface="Roboto"/>
              <a:buAutoNum type="arabicPeriod"/>
            </a:pPr>
            <a:r>
              <a:rPr lang="en-GB" sz="1300" dirty="0">
                <a:hlinkClick r:id="rId3"/>
              </a:rPr>
              <a:t>Apache Mahout</a:t>
            </a:r>
            <a:endParaRPr lang="en-GB" sz="1300" dirty="0"/>
          </a:p>
          <a:p>
            <a:pPr indent="-311150">
              <a:lnSpc>
                <a:spcPct val="150000"/>
              </a:lnSpc>
              <a:buSzPts val="1300"/>
              <a:buFont typeface="Roboto"/>
              <a:buAutoNum type="arabicPeriod"/>
            </a:pPr>
            <a:r>
              <a:rPr lang="en-GB" sz="1300" dirty="0">
                <a:hlinkClick r:id="rId4"/>
              </a:rPr>
              <a:t>Apache Spark</a:t>
            </a:r>
            <a:endParaRPr lang="ru-RU" sz="1300" dirty="0"/>
          </a:p>
          <a:p>
            <a:pPr indent="-311150">
              <a:lnSpc>
                <a:spcPct val="150000"/>
              </a:lnSpc>
              <a:buSzPts val="1300"/>
              <a:buFont typeface="Roboto"/>
              <a:buAutoNum type="arabicPeriod"/>
            </a:pPr>
            <a:r>
              <a:rPr lang="en-GB" sz="1300" dirty="0">
                <a:hlinkClick r:id="rId5"/>
              </a:rPr>
              <a:t>Apache Flink</a:t>
            </a:r>
            <a:endParaRPr lang="en-GB" sz="1300" dirty="0"/>
          </a:p>
          <a:p>
            <a:pPr indent="-311150">
              <a:lnSpc>
                <a:spcPct val="150000"/>
              </a:lnSpc>
              <a:buSzPts val="1300"/>
              <a:buFont typeface="Roboto"/>
              <a:buAutoNum type="arabicPeriod"/>
            </a:pPr>
            <a:r>
              <a:rPr lang="en-GB" sz="1300" dirty="0">
                <a:hlinkClick r:id="rId6"/>
              </a:rPr>
              <a:t>Apache </a:t>
            </a:r>
            <a:r>
              <a:rPr lang="en-GB" sz="1300" dirty="0" err="1">
                <a:hlinkClick r:id="rId6"/>
              </a:rPr>
              <a:t>Madlib</a:t>
            </a:r>
            <a:endParaRPr lang="en-GB" sz="1300" dirty="0"/>
          </a:p>
          <a:p>
            <a:pPr indent="-311150">
              <a:lnSpc>
                <a:spcPct val="150000"/>
              </a:lnSpc>
              <a:buSzPts val="1300"/>
              <a:buFont typeface="Roboto"/>
              <a:buAutoNum type="arabicPeriod"/>
            </a:pPr>
            <a:r>
              <a:rPr lang="en-GB" sz="1300" dirty="0">
                <a:hlinkClick r:id="rId7"/>
              </a:rPr>
              <a:t>H2O</a:t>
            </a:r>
            <a:endParaRPr lang="en-GB" sz="1300" dirty="0"/>
          </a:p>
          <a:p>
            <a:pPr indent="-311150">
              <a:lnSpc>
                <a:spcPct val="150000"/>
              </a:lnSpc>
              <a:buSzPts val="1300"/>
              <a:buFont typeface="Roboto"/>
              <a:buAutoNum type="arabicPeriod"/>
            </a:pPr>
            <a:r>
              <a:rPr lang="en-GB" sz="1300" dirty="0">
                <a:hlinkClick r:id="rId8"/>
              </a:rPr>
              <a:t>Apache Zepellin</a:t>
            </a:r>
            <a:endParaRPr lang="en-GB" sz="1300" dirty="0"/>
          </a:p>
          <a:p>
            <a:pPr indent="-311150">
              <a:lnSpc>
                <a:spcPct val="150000"/>
              </a:lnSpc>
              <a:buSzPts val="1300"/>
              <a:buFont typeface="Roboto"/>
              <a:buAutoNum type="arabicPeriod"/>
            </a:pPr>
            <a:r>
              <a:rPr lang="en-GB" sz="1300" dirty="0">
                <a:hlinkClick r:id="rId9"/>
              </a:rPr>
              <a:t>JetBrains Big Tool Data</a:t>
            </a:r>
            <a:endParaRPr lang="en-GB" sz="1300" dirty="0"/>
          </a:p>
          <a:p>
            <a:pPr indent="-311150">
              <a:lnSpc>
                <a:spcPct val="150000"/>
              </a:lnSpc>
              <a:buSzPts val="1300"/>
              <a:buFont typeface="Roboto"/>
              <a:buAutoNum type="arabicPeriod"/>
            </a:pPr>
            <a:r>
              <a:rPr lang="en-GB" sz="1300" dirty="0">
                <a:hlinkClick r:id="rId10"/>
              </a:rPr>
              <a:t>Jupyter</a:t>
            </a:r>
            <a:endParaRPr lang="en-GB" sz="1300" dirty="0"/>
          </a:p>
          <a:p>
            <a:pPr indent="-311150">
              <a:lnSpc>
                <a:spcPct val="150000"/>
              </a:lnSpc>
              <a:buSzPts val="1300"/>
              <a:buFont typeface="Roboto"/>
              <a:buAutoNum type="arabicPeriod"/>
            </a:pPr>
            <a:r>
              <a:rPr lang="en-GB" sz="1300" dirty="0">
                <a:hlinkClick r:id="rId11"/>
              </a:rPr>
              <a:t>JetBrains </a:t>
            </a:r>
            <a:r>
              <a:rPr lang="en-GB" sz="1300" dirty="0" err="1">
                <a:hlinkClick r:id="rId11"/>
              </a:rPr>
              <a:t>DataSpell</a:t>
            </a:r>
            <a:endParaRPr lang="en-GB" sz="1300" dirty="0"/>
          </a:p>
          <a:p>
            <a:pPr indent="-311150">
              <a:lnSpc>
                <a:spcPct val="150000"/>
              </a:lnSpc>
              <a:buSzPts val="1300"/>
              <a:buFont typeface="Roboto"/>
              <a:buAutoNum type="arabicPeriod"/>
            </a:pPr>
            <a:r>
              <a:rPr lang="en-GB" sz="1300" dirty="0">
                <a:hlinkClick r:id="rId12"/>
              </a:rPr>
              <a:t>Almond</a:t>
            </a:r>
            <a:r>
              <a:rPr lang="en-GB" sz="1300" dirty="0"/>
              <a:t> </a:t>
            </a:r>
          </a:p>
          <a:p>
            <a:pPr indent="-311150">
              <a:lnSpc>
                <a:spcPct val="150000"/>
              </a:lnSpc>
              <a:buSzPts val="1300"/>
              <a:buFont typeface="Roboto"/>
              <a:buAutoNum type="arabicPeriod"/>
            </a:pPr>
            <a:r>
              <a:rPr lang="en-GB" sz="1300" dirty="0">
                <a:hlinkClick r:id="rId13"/>
              </a:rPr>
              <a:t>DataBricks</a:t>
            </a:r>
            <a:r>
              <a:rPr lang="en-GB" sz="1300" dirty="0"/>
              <a:t> </a:t>
            </a:r>
          </a:p>
          <a:p>
            <a:pPr indent="-311150">
              <a:lnSpc>
                <a:spcPct val="150000"/>
              </a:lnSpc>
              <a:buSzPts val="1300"/>
              <a:buFont typeface="Roboto"/>
              <a:buAutoNum type="arabicPeriod"/>
            </a:pPr>
            <a:r>
              <a:rPr lang="en-GB" sz="1300" dirty="0"/>
              <a:t>Spark packages: </a:t>
            </a:r>
            <a:r>
              <a:rPr lang="en-GB" sz="1300" dirty="0">
                <a:hlinkClick r:id="rId14"/>
              </a:rPr>
              <a:t>https://spark-packages.org</a:t>
            </a:r>
            <a:endParaRPr lang="en-GB" sz="1300" dirty="0"/>
          </a:p>
          <a:p>
            <a:pPr indent="-311150">
              <a:lnSpc>
                <a:spcPct val="150000"/>
              </a:lnSpc>
              <a:buSzPts val="1300"/>
              <a:buFont typeface="Roboto"/>
              <a:buAutoNum type="arabicPeriod"/>
            </a:pPr>
            <a:r>
              <a:rPr lang="en-GB" sz="1300" dirty="0" err="1"/>
              <a:t>Mllib</a:t>
            </a:r>
            <a:r>
              <a:rPr lang="en-GB" sz="1300" dirty="0"/>
              <a:t> main guide: </a:t>
            </a:r>
            <a:r>
              <a:rPr lang="en-GB" sz="1300" dirty="0">
                <a:hlinkClick r:id="rId15"/>
              </a:rPr>
              <a:t>https://spark.apache.org/docs/latest/ml-guide.html</a:t>
            </a:r>
            <a:r>
              <a:rPr lang="en-GB" sz="1300" dirty="0"/>
              <a:t> </a:t>
            </a:r>
          </a:p>
          <a:p>
            <a:pPr indent="-311150">
              <a:lnSpc>
                <a:spcPct val="150000"/>
              </a:lnSpc>
              <a:buSzPts val="1300"/>
              <a:buFont typeface="Roboto"/>
              <a:buAutoNum type="arabicPeriod"/>
            </a:pPr>
            <a:r>
              <a:rPr lang="en-GB" sz="1300" dirty="0" err="1"/>
              <a:t>Mllib</a:t>
            </a:r>
            <a:r>
              <a:rPr lang="en-GB" sz="1300" dirty="0"/>
              <a:t> </a:t>
            </a:r>
            <a:r>
              <a:rPr lang="en-GB" sz="1300" dirty="0" err="1"/>
              <a:t>DataFrame</a:t>
            </a:r>
            <a:r>
              <a:rPr lang="en-GB" sz="1300" dirty="0"/>
              <a:t>-based: </a:t>
            </a:r>
            <a:r>
              <a:rPr lang="en-GB" sz="1300" dirty="0">
                <a:hlinkClick r:id="rId16"/>
              </a:rPr>
              <a:t>https://spark.apache.org/docs/latest/api/python/reference/pyspark.ml.html</a:t>
            </a:r>
            <a:r>
              <a:rPr lang="en-GB" sz="1300" dirty="0"/>
              <a:t> </a:t>
            </a:r>
          </a:p>
          <a:p>
            <a:pPr indent="-311150">
              <a:lnSpc>
                <a:spcPct val="150000"/>
              </a:lnSpc>
              <a:buSzPts val="1300"/>
              <a:buFont typeface="Roboto"/>
              <a:buAutoNum type="arabicPeriod"/>
            </a:pPr>
            <a:r>
              <a:rPr lang="en-GB" sz="1300" dirty="0" err="1"/>
              <a:t>MLFlow</a:t>
            </a:r>
            <a:r>
              <a:rPr lang="en-GB" sz="1300" dirty="0"/>
              <a:t> spark: </a:t>
            </a:r>
            <a:r>
              <a:rPr lang="en-GB" sz="1300" dirty="0">
                <a:hlinkClick r:id="rId17"/>
              </a:rPr>
              <a:t>https://mlflow.org/docs/latest/python_api/mlflow.spark.html</a:t>
            </a:r>
            <a:r>
              <a:rPr lang="en-GB" sz="1300" dirty="0"/>
              <a:t>  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72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900"/>
              <a:t>Вопросы?</a:t>
            </a:r>
            <a:endParaRPr/>
          </a:p>
        </p:txBody>
      </p:sp>
      <p:pic>
        <p:nvPicPr>
          <p:cNvPr id="415" name="Google Shape;415;p7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9975" y="3370764"/>
            <a:ext cx="662535" cy="662535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72"/>
          <p:cNvSpPr txBox="1"/>
          <p:nvPr/>
        </p:nvSpPr>
        <p:spPr>
          <a:xfrm>
            <a:off x="1438025" y="3378781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Ставим “+”,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вопросы есть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17" name="Google Shape;417;p7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02950" y="3370764"/>
            <a:ext cx="662535" cy="662535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72"/>
          <p:cNvSpPr txBox="1"/>
          <p:nvPr/>
        </p:nvSpPr>
        <p:spPr>
          <a:xfrm>
            <a:off x="4806700" y="3378781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Ставим “–”,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вопросов нет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73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Рефлексия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5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Цели вебинара</a:t>
            </a:r>
            <a:endParaRPr/>
          </a:p>
        </p:txBody>
      </p:sp>
      <p:graphicFrame>
        <p:nvGraphicFramePr>
          <p:cNvPr id="283" name="Google Shape;283;p53"/>
          <p:cNvGraphicFramePr/>
          <p:nvPr>
            <p:extLst>
              <p:ext uri="{D42A27DB-BD31-4B8C-83A1-F6EECF244321}">
                <p14:modId xmlns:p14="http://schemas.microsoft.com/office/powerpoint/2010/main" val="3330020569"/>
              </p:ext>
            </p:extLst>
          </p:nvPr>
        </p:nvGraphicFramePr>
        <p:xfrm>
          <a:off x="952500" y="1544194"/>
          <a:ext cx="7239000" cy="698608"/>
        </p:xfrm>
        <a:graphic>
          <a:graphicData uri="http://schemas.openxmlformats.org/drawingml/2006/table">
            <a:tbl>
              <a:tblPr>
                <a:noFill/>
                <a:tableStyleId>{B623574C-9AE7-4070-A081-93A97D88BCA6}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Познакомились со </a:t>
                      </a:r>
                      <a:r>
                        <a:rPr lang="en-US" sz="1300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SparkML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r>
                        <a:rPr lang="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Посмотрели на использование </a:t>
                      </a:r>
                      <a:r>
                        <a:rPr lang="en-US" sz="1300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SparkML</a:t>
                      </a: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на стадии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EDA</a:t>
                      </a:r>
                      <a:endParaRPr lang="en-GB"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85" name="Google Shape;285;p53"/>
          <p:cNvSpPr txBox="1">
            <a:spLocks noGrp="1"/>
          </p:cNvSpPr>
          <p:nvPr>
            <p:ph type="subTitle" idx="4294967295"/>
          </p:nvPr>
        </p:nvSpPr>
        <p:spPr>
          <a:xfrm>
            <a:off x="500550" y="85736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FF9900"/>
                </a:solidFill>
              </a:rPr>
              <a:t>К концу занятия вы сможете</a:t>
            </a:r>
            <a:endParaRPr sz="1500" b="1">
              <a:solidFill>
                <a:srgbClr val="FF99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80893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79"/>
          <p:cNvSpPr txBox="1">
            <a:spLocks noGrp="1"/>
          </p:cNvSpPr>
          <p:nvPr>
            <p:ph type="title"/>
          </p:nvPr>
        </p:nvSpPr>
        <p:spPr>
          <a:xfrm>
            <a:off x="956225" y="396394"/>
            <a:ext cx="7559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800"/>
              <a:t>Заполните, пожалуйста,</a:t>
            </a:r>
            <a:endParaRPr sz="3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800"/>
              <a:t>опрос о занятии</a:t>
            </a:r>
            <a:endParaRPr sz="3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800"/>
              <a:t>по ссылке в чате</a:t>
            </a:r>
            <a:endParaRPr sz="38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80"/>
          <p:cNvSpPr txBox="1">
            <a:spLocks noGrp="1"/>
          </p:cNvSpPr>
          <p:nvPr>
            <p:ph type="title"/>
          </p:nvPr>
        </p:nvSpPr>
        <p:spPr>
          <a:xfrm>
            <a:off x="500550" y="821221"/>
            <a:ext cx="8520600" cy="72239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</a:t>
            </a:r>
            <a:r>
              <a:rPr lang="ru" dirty="0"/>
              <a:t>ледующие вебинары</a:t>
            </a:r>
            <a:endParaRPr dirty="0"/>
          </a:p>
        </p:txBody>
      </p:sp>
      <p:sp>
        <p:nvSpPr>
          <p:cNvPr id="481" name="Google Shape;481;p80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Спасибо за внимание!</a:t>
            </a:r>
            <a:endParaRPr/>
          </a:p>
        </p:txBody>
      </p:sp>
      <p:sp>
        <p:nvSpPr>
          <p:cNvPr id="482" name="Google Shape;482;p80"/>
          <p:cNvSpPr/>
          <p:nvPr/>
        </p:nvSpPr>
        <p:spPr>
          <a:xfrm>
            <a:off x="630000" y="2716325"/>
            <a:ext cx="1033800" cy="1983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4" name="Google Shape;484;p80"/>
          <p:cNvSpPr txBox="1">
            <a:spLocks noGrp="1"/>
          </p:cNvSpPr>
          <p:nvPr>
            <p:ph type="subTitle" idx="2"/>
          </p:nvPr>
        </p:nvSpPr>
        <p:spPr>
          <a:xfrm>
            <a:off x="3082400" y="2147989"/>
            <a:ext cx="38646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Игорь Стурейко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AEC2E5-09F0-AC4E-AED3-1C0F260DE54D}"/>
              </a:ext>
            </a:extLst>
          </p:cNvPr>
          <p:cNvSpPr txBox="1"/>
          <p:nvPr/>
        </p:nvSpPr>
        <p:spPr>
          <a:xfrm>
            <a:off x="500550" y="1575703"/>
            <a:ext cx="28408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0" i="0" u="none" strike="noStrike" dirty="0" err="1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Версионирование</a:t>
            </a:r>
            <a:r>
              <a:rPr lang="ru-RU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 данных. 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DVC</a:t>
            </a:r>
            <a:endParaRPr lang="ru-RU" b="0" i="0" u="none" strike="noStrike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EDD7809-CAE8-3C41-8FAB-D4990883A4D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2156" r="295"/>
          <a:stretch/>
        </p:blipFill>
        <p:spPr>
          <a:xfrm>
            <a:off x="841370" y="2879439"/>
            <a:ext cx="1662292" cy="1657372"/>
          </a:xfrm>
          <a:prstGeom prst="ellipse">
            <a:avLst/>
          </a:prstGeom>
          <a:ln w="127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1" name="Google Shape;209;p48">
            <a:extLst>
              <a:ext uri="{FF2B5EF4-FFF2-40B4-BE49-F238E27FC236}">
                <a16:creationId xmlns:a16="http://schemas.microsoft.com/office/drawing/2014/main" id="{63EB425A-84FB-C147-9ECD-6C278B1D583D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3082400" y="2701811"/>
            <a:ext cx="5095500" cy="21336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1377950" indent="-1373188"/>
            <a:r>
              <a:rPr lang="ru-RU" sz="1150" b="1" dirty="0"/>
              <a:t>Руководитель курсов: </a:t>
            </a:r>
            <a:r>
              <a:rPr lang="en-US" sz="1150" b="1" dirty="0"/>
              <a:t>Reinforcement Learning</a:t>
            </a:r>
            <a:r>
              <a:rPr lang="ru-RU" sz="1150" b="1" dirty="0"/>
              <a:t>, </a:t>
            </a:r>
            <a:r>
              <a:rPr lang="en-US" sz="1150" b="1" dirty="0"/>
              <a:t>ML Professional, ML Basic,</a:t>
            </a:r>
            <a:br>
              <a:rPr lang="en-US" sz="1150" b="1" dirty="0"/>
            </a:br>
            <a:r>
              <a:rPr lang="en-US" sz="1150" b="1" dirty="0" err="1"/>
              <a:t>MLOps</a:t>
            </a:r>
            <a:r>
              <a:rPr lang="en-US" sz="1150" b="1" dirty="0"/>
              <a:t>, </a:t>
            </a:r>
            <a:r>
              <a:rPr lang="en-US" sz="1150" b="1" dirty="0" err="1"/>
              <a:t>FinML</a:t>
            </a:r>
            <a:endParaRPr lang="ru-RU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dirty="0" err="1"/>
              <a:t>Teamlead</a:t>
            </a:r>
            <a:r>
              <a:rPr lang="ru-RU" sz="1150" b="1" dirty="0"/>
              <a:t>, главный инженер проекта</a:t>
            </a:r>
            <a:r>
              <a:rPr lang="en-US" sz="1150" b="1" dirty="0"/>
              <a:t>, </a:t>
            </a:r>
            <a:endParaRPr lang="ru-RU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50" b="1" dirty="0"/>
              <a:t>Физический факультет МГУ, </a:t>
            </a:r>
            <a:r>
              <a:rPr lang="en-US" sz="1150" b="1" dirty="0"/>
              <a:t>PhD </a:t>
            </a:r>
            <a:r>
              <a:rPr lang="ru-RU" sz="1150" b="1" dirty="0"/>
              <a:t>теоретическая физика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5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50" b="1" dirty="0"/>
              <a:t>Опыт:</a:t>
            </a:r>
            <a:endParaRPr sz="115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50" dirty="0"/>
              <a:t>Б</a:t>
            </a:r>
            <a:r>
              <a:rPr lang="ru" sz="1150" dirty="0"/>
              <a:t>олее 20 лет занимался прикладной математикой и мат моделированием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50" dirty="0"/>
              <a:t>(Data Scientist) (Python, С++)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ru-RU" sz="115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dirty="0"/>
              <a:t>@</a:t>
            </a:r>
            <a:r>
              <a:rPr lang="en-US" sz="1150" b="1" dirty="0" err="1"/>
              <a:t>stureiko</a:t>
            </a:r>
            <a:r>
              <a:rPr lang="en-US" sz="1150" b="1" dirty="0"/>
              <a:t> (TG)</a:t>
            </a:r>
            <a:endParaRPr lang="ru-RU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ru-RU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dirty="0"/>
              <a:t>LinkedIn: </a:t>
            </a:r>
            <a:r>
              <a:rPr lang="en-US" sz="1150" dirty="0">
                <a:hlinkClick r:id="rId4"/>
              </a:rPr>
              <a:t>igor-stureiko</a:t>
            </a:r>
            <a:r>
              <a:rPr lang="en-US" sz="1150" dirty="0"/>
              <a:t> </a:t>
            </a:r>
            <a:endParaRPr lang="ru-RU" sz="115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ru-RU" sz="1150" dirty="0"/>
          </a:p>
          <a:p>
            <a:pPr marL="0" indent="0"/>
            <a:r>
              <a:rPr lang="en-US" sz="1200" b="1" kern="0" dirty="0"/>
              <a:t>@</a:t>
            </a:r>
            <a:r>
              <a:rPr lang="en-US" sz="1200" b="1" kern="0" dirty="0" err="1"/>
              <a:t>rl_fintech</a:t>
            </a:r>
            <a:r>
              <a:rPr lang="en-US" sz="1200" b="1" kern="0" dirty="0"/>
              <a:t> </a:t>
            </a:r>
            <a:r>
              <a:rPr lang="en-US" sz="1200" kern="0" dirty="0"/>
              <a:t>(</a:t>
            </a:r>
            <a:r>
              <a:rPr lang="ru-RU" sz="1200" kern="0" dirty="0"/>
              <a:t>Мой канал о моделях в бизнесе)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11385</TotalTime>
  <Words>824</Words>
  <Application>Microsoft Macintosh PowerPoint</Application>
  <PresentationFormat>On-screen Show (16:9)</PresentationFormat>
  <Paragraphs>193</Paragraphs>
  <Slides>27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27</vt:i4>
      </vt:variant>
    </vt:vector>
  </HeadingPairs>
  <TitlesOfParts>
    <vt:vector size="37" baseType="lpstr">
      <vt:lpstr>Roboto</vt:lpstr>
      <vt:lpstr>Georgia</vt:lpstr>
      <vt:lpstr>Trebuchet MS</vt:lpstr>
      <vt:lpstr>Calibri</vt:lpstr>
      <vt:lpstr>Arial</vt:lpstr>
      <vt:lpstr>Courier New</vt:lpstr>
      <vt:lpstr>Helvetica Neue</vt:lpstr>
      <vt:lpstr>LiberationSans</vt:lpstr>
      <vt:lpstr>Светлая тема</vt:lpstr>
      <vt:lpstr>Светлая тема</vt:lpstr>
      <vt:lpstr>ML Ops SparkML feature extraction</vt:lpstr>
      <vt:lpstr>Проверить, идет ли запись</vt:lpstr>
      <vt:lpstr>Правила вебинара</vt:lpstr>
      <vt:lpstr>MLOps SparkML feature extraction</vt:lpstr>
      <vt:lpstr>Карта курса</vt:lpstr>
      <vt:lpstr>Маршрут вебинара</vt:lpstr>
      <vt:lpstr>Цели вебинара</vt:lpstr>
      <vt:lpstr>Смысл</vt:lpstr>
      <vt:lpstr>Фреймворки</vt:lpstr>
      <vt:lpstr>Фреймворки</vt:lpstr>
      <vt:lpstr>SparkML</vt:lpstr>
      <vt:lpstr>Что есть Spark</vt:lpstr>
      <vt:lpstr>Работа со Spark</vt:lpstr>
      <vt:lpstr>PowerPoint Presentation</vt:lpstr>
      <vt:lpstr>PowerPoint Presentation</vt:lpstr>
      <vt:lpstr>Spark MLlib</vt:lpstr>
      <vt:lpstr>Этапы ML</vt:lpstr>
      <vt:lpstr>Этапы ML - CRISP-DM </vt:lpstr>
      <vt:lpstr>Когда использовать</vt:lpstr>
      <vt:lpstr>Практика</vt:lpstr>
      <vt:lpstr>Практика</vt:lpstr>
      <vt:lpstr>Список материалов для изучения</vt:lpstr>
      <vt:lpstr>Вопросы?</vt:lpstr>
      <vt:lpstr>Рефлексия</vt:lpstr>
      <vt:lpstr>Цели вебинара</vt:lpstr>
      <vt:lpstr>Заполните, пожалуйста, опрос о занятии по ссылке в чате</vt:lpstr>
      <vt:lpstr>Cледующие вебинары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Название курса название темы вебинара </dc:title>
  <cp:lastModifiedBy>Стурейко Игорь Олегович</cp:lastModifiedBy>
  <cp:revision>84</cp:revision>
  <dcterms:modified xsi:type="dcterms:W3CDTF">2025-09-05T16:40:37Z</dcterms:modified>
</cp:coreProperties>
</file>