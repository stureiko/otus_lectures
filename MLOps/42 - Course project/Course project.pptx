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3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7" r:id="rId2"/>
    <p:sldId id="258" r:id="rId3"/>
    <p:sldId id="312" r:id="rId4"/>
    <p:sldId id="260" r:id="rId5"/>
    <p:sldId id="261" r:id="rId6"/>
    <p:sldId id="313" r:id="rId7"/>
    <p:sldId id="314" r:id="rId8"/>
    <p:sldId id="301" r:id="rId9"/>
    <p:sldId id="315" r:id="rId10"/>
    <p:sldId id="316" r:id="rId11"/>
    <p:sldId id="304" r:id="rId12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288"/>
    <p:restoredTop sz="97030"/>
  </p:normalViewPr>
  <p:slideViewPr>
    <p:cSldViewPr>
      <p:cViewPr varScale="1">
        <p:scale>
          <a:sx n="297" d="100"/>
          <a:sy n="297" d="100"/>
        </p:scale>
        <p:origin x="1264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f305d12f4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f305d12f47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46904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1322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76664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1634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12/11/25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12/11/25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12/11/25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12/11/25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12/11/25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12/11/25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://www.linkedin.com/in/igor-stureiko" TargetMode="Externa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258" name="Google Shape;258;p62"/>
          <p:cNvSpPr txBox="1">
            <a:spLocks noGrp="1"/>
          </p:cNvSpPr>
          <p:nvPr>
            <p:ph type="title"/>
          </p:nvPr>
        </p:nvSpPr>
        <p:spPr>
          <a:xfrm>
            <a:off x="944650" y="1477350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br>
              <a:rPr lang="en-US" dirty="0"/>
            </a:br>
            <a:r>
              <a:rPr lang="ru-RU" sz="3200" dirty="0"/>
              <a:t>Курсовой проект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3"/>
          <p:cNvSpPr txBox="1"/>
          <p:nvPr/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Проверить, идет ли запись</a:t>
            </a:r>
            <a:endParaRPr sz="21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63"/>
          <p:cNvSpPr txBox="1"/>
          <p:nvPr/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Напишите 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«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»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в чат, если меня слышно и видно</a:t>
            </a:r>
            <a:endParaRPr sz="35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65" name="Google Shape;265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6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6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200" dirty="0"/>
              <a:t>ML</a:t>
            </a:r>
            <a:r>
              <a:rPr lang="en-US" dirty="0"/>
              <a:t>Ops</a:t>
            </a:r>
            <a:br>
              <a:rPr lang="en-US" sz="3200" dirty="0"/>
            </a:br>
            <a:r>
              <a:rPr lang="ru-RU" sz="2400" dirty="0"/>
              <a:t>Курсовой проект</a:t>
            </a:r>
            <a:endParaRPr b="0"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Тема </a:t>
            </a:r>
            <a:r>
              <a:rPr lang="ru-RU" dirty="0" err="1"/>
              <a:t>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8" name="Google Shape;278;p64">
            <a:extLst>
              <a:ext uri="{FF2B5EF4-FFF2-40B4-BE49-F238E27FC236}">
                <a16:creationId xmlns:a16="http://schemas.microsoft.com/office/drawing/2014/main" id="{DC03452F-6B2F-EA48-9B01-C3577A300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7621" y="258179"/>
            <a:ext cx="652375" cy="652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ADBDA60-D1B3-5B41-A4D2-CDAE2DD6B00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3" name="Google Shape;209;p48">
            <a:extLst>
              <a:ext uri="{FF2B5EF4-FFF2-40B4-BE49-F238E27FC236}">
                <a16:creationId xmlns:a16="http://schemas.microsoft.com/office/drawing/2014/main" id="{D0D012C5-1A3B-EC4C-B8A7-64C8AF21B41A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</a:t>
            </a:r>
            <a:r>
              <a:rPr lang="ru-RU" sz="1150" dirty="0"/>
              <a:t>20</a:t>
            </a:r>
            <a:r>
              <a:rPr lang="ru-RU" sz="1150" kern="0" dirty="0"/>
              <a:t>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5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курсовая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6655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выбрать тему проекта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1195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Расписание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1573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Рекомендации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24815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Пожелания и </a:t>
            </a:r>
            <a:r>
              <a:rPr lang="ru-RU" sz="15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напуствие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70275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Защита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6" name="Picture 2" descr="10 MLOps Projects Ideas for Beginners to Practice in 2024">
            <a:extLst>
              <a:ext uri="{FF2B5EF4-FFF2-40B4-BE49-F238E27FC236}">
                <a16:creationId xmlns:a16="http://schemas.microsoft.com/office/drawing/2014/main" id="{FE5AA4DD-B2B4-B442-88F6-DF85CA842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6800" y="1559273"/>
            <a:ext cx="3814762" cy="2857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Проектная работа – это просто еще одно ДЗ, просто немного большего объема;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 рамках этапа «Проектная работа» можно и нужно </a:t>
            </a:r>
            <a:r>
              <a:rPr lang="ru-RU" sz="1800" dirty="0" err="1">
                <a:solidFill>
                  <a:srgbClr val="1E1F21"/>
                </a:solidFill>
              </a:rPr>
              <a:t>досдавать</a:t>
            </a:r>
            <a:r>
              <a:rPr lang="ru-RU" sz="1800" dirty="0">
                <a:solidFill>
                  <a:srgbClr val="1E1F21"/>
                </a:solidFill>
              </a:rPr>
              <a:t> ДЗ курса;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Выполненный проект может дополнить ваше портфолио.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Проектная работа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Взять проект на работе;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Собственный домашний проект;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Взять </a:t>
            </a:r>
            <a:r>
              <a:rPr lang="ru" sz="1800" dirty="0">
                <a:solidFill>
                  <a:srgbClr val="1E1F21"/>
                </a:solidFill>
              </a:rPr>
              <a:t>интересный вам проект с </a:t>
            </a:r>
            <a:r>
              <a:rPr lang="en-US" sz="1800" dirty="0">
                <a:solidFill>
                  <a:srgbClr val="1E1F21"/>
                </a:solidFill>
                <a:hlinkClick r:id="rId3"/>
              </a:rPr>
              <a:t>https://www.kaggle.com</a:t>
            </a:r>
            <a:r>
              <a:rPr lang="ru" sz="1800" dirty="0">
                <a:solidFill>
                  <a:srgbClr val="1E1F21"/>
                </a:solidFill>
              </a:rPr>
              <a:t>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Как выбрать тему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70511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03793" y="1200150"/>
            <a:ext cx="7723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 </a:t>
            </a:r>
            <a:r>
              <a:rPr lang="en-US" sz="1400" b="0" dirty="0">
                <a:solidFill>
                  <a:srgbClr val="1E1F21"/>
                </a:solidFill>
              </a:rPr>
              <a:t>ML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Конвейер предобработки данных. Данные будут храниться на облачном ресурсе, например </a:t>
            </a:r>
            <a:r>
              <a:rPr lang="en-US" sz="1400" b="0" dirty="0">
                <a:solidFill>
                  <a:srgbClr val="1E1F21"/>
                </a:solidFill>
              </a:rPr>
              <a:t>S3.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Создание модели и </a:t>
            </a:r>
            <a:r>
              <a:rPr lang="ru-RU" sz="1400" b="0" dirty="0" err="1">
                <a:solidFill>
                  <a:srgbClr val="1E1F21"/>
                </a:solidFill>
              </a:rPr>
              <a:t>фиче-инжениринг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Обучение модели.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 err="1">
                <a:solidFill>
                  <a:srgbClr val="1E1F21"/>
                </a:solidFill>
              </a:rPr>
              <a:t>Логирование</a:t>
            </a:r>
            <a:r>
              <a:rPr lang="ru-RU" sz="1400" b="0" dirty="0">
                <a:solidFill>
                  <a:srgbClr val="1E1F21"/>
                </a:solidFill>
              </a:rPr>
              <a:t> метрик.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en-US" sz="1400" b="0" dirty="0">
                <a:solidFill>
                  <a:srgbClr val="1E1F21"/>
                </a:solidFill>
              </a:rPr>
              <a:t>CI/CD </a:t>
            </a:r>
            <a:r>
              <a:rPr lang="ru-RU" sz="1400" b="0" dirty="0">
                <a:solidFill>
                  <a:srgbClr val="1E1F21"/>
                </a:solidFill>
              </a:rPr>
              <a:t>конвейер – создание </a:t>
            </a:r>
            <a:r>
              <a:rPr lang="en-US" sz="1400" b="0" dirty="0">
                <a:solidFill>
                  <a:srgbClr val="1E1F21"/>
                </a:solidFill>
              </a:rPr>
              <a:t>docker</a:t>
            </a:r>
            <a:r>
              <a:rPr lang="ru-RU" sz="1400" b="0" dirty="0">
                <a:solidFill>
                  <a:srgbClr val="1E1F21"/>
                </a:solidFill>
              </a:rPr>
              <a:t> образа из лучшей модели.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Деплой</a:t>
            </a:r>
            <a:r>
              <a:rPr lang="ru-RU" sz="1400" b="0" dirty="0">
                <a:solidFill>
                  <a:srgbClr val="1E1F21"/>
                </a:solidFill>
              </a:rPr>
              <a:t> модели в </a:t>
            </a:r>
            <a:r>
              <a:rPr lang="en-US" sz="1400" b="0" dirty="0">
                <a:solidFill>
                  <a:srgbClr val="1E1F21"/>
                </a:solidFill>
              </a:rPr>
              <a:t>k8s. </a:t>
            </a:r>
            <a:r>
              <a:rPr lang="ru-RU" sz="1400" b="0" dirty="0">
                <a:solidFill>
                  <a:srgbClr val="1E1F21"/>
                </a:solidFill>
              </a:rPr>
              <a:t>Масштабирование под нагрузку.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Переобучение модели по расписанию и/или деградации метрик качества и раскатка лучшей модели в </a:t>
            </a:r>
            <a:r>
              <a:rPr lang="en-US" sz="1400" b="0" dirty="0">
                <a:solidFill>
                  <a:srgbClr val="1E1F21"/>
                </a:solidFill>
              </a:rPr>
              <a:t>k8s.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Мониторинг метрик и нагрузки и оповещение.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этапы формируются скриптами.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Формат сдачи – ссылка на </a:t>
            </a:r>
            <a:r>
              <a:rPr lang="en-US" sz="1400" b="0" dirty="0">
                <a:solidFill>
                  <a:srgbClr val="1E1F21"/>
                </a:solidFill>
              </a:rPr>
              <a:t>git </a:t>
            </a:r>
            <a:r>
              <a:rPr lang="ru-RU" sz="1400" b="0" dirty="0">
                <a:solidFill>
                  <a:srgbClr val="1E1F21"/>
                </a:solidFill>
              </a:rPr>
              <a:t>репозиторий.</a:t>
            </a:r>
            <a:endParaRPr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Что должно быть в проекте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3316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/>
              <a:t>Программа</a:t>
            </a:r>
            <a:endParaRPr lang="ru-RU" spc="-10"/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6463" y="2943932"/>
            <a:ext cx="2989202" cy="1992801"/>
          </a:xfrm>
          <a:prstGeom prst="rect">
            <a:avLst/>
          </a:prstGeom>
        </p:spPr>
      </p:pic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object 20"/>
          <p:cNvSpPr txBox="1"/>
          <p:nvPr/>
        </p:nvSpPr>
        <p:spPr>
          <a:xfrm>
            <a:off x="1233721" y="1921764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solidFill>
                  <a:schemeClr val="tx1"/>
                </a:solidFill>
                <a:latin typeface="Calibri"/>
                <a:cs typeface="Calibri"/>
              </a:rPr>
              <a:t>08</a:t>
            </a:r>
            <a:r>
              <a:rPr sz="1400" dirty="0">
                <a:solidFill>
                  <a:schemeClr val="tx1"/>
                </a:solidFill>
                <a:latin typeface="Calibri"/>
                <a:cs typeface="Calibri"/>
              </a:rPr>
              <a:t>.</a:t>
            </a:r>
            <a:r>
              <a:rPr lang="en-US" sz="1400" dirty="0">
                <a:solidFill>
                  <a:schemeClr val="tx1"/>
                </a:solidFill>
                <a:latin typeface="Calibri"/>
                <a:cs typeface="Calibri"/>
              </a:rPr>
              <a:t>0</a:t>
            </a:r>
            <a:r>
              <a:rPr lang="ru-RU" sz="1400" dirty="0">
                <a:solidFill>
                  <a:schemeClr val="tx1"/>
                </a:solidFill>
                <a:latin typeface="Calibri"/>
                <a:cs typeface="Calibri"/>
              </a:rPr>
              <a:t>9</a:t>
            </a:r>
            <a:r>
              <a:rPr sz="1400" spc="-4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1400" spc="-50" dirty="0">
                <a:solidFill>
                  <a:schemeClr val="tx1"/>
                </a:solidFill>
                <a:latin typeface="Calibri"/>
                <a:cs typeface="Calibri"/>
              </a:rPr>
              <a:t>-</a:t>
            </a:r>
            <a:endParaRPr sz="14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33729" y="2455164"/>
            <a:ext cx="726408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b="1" dirty="0">
                <a:solidFill>
                  <a:srgbClr val="FF0000"/>
                </a:solidFill>
                <a:latin typeface="Calibri"/>
                <a:cs typeface="Calibri"/>
              </a:rPr>
              <a:t>2</a:t>
            </a:r>
            <a:r>
              <a:rPr lang="ru-RU" sz="1400" b="1" dirty="0">
                <a:solidFill>
                  <a:srgbClr val="FF0000"/>
                </a:solidFill>
                <a:latin typeface="Calibri"/>
                <a:cs typeface="Calibri"/>
              </a:rPr>
              <a:t>6</a:t>
            </a:r>
            <a:r>
              <a:rPr sz="1400" b="1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r>
              <a:rPr lang="ru-RU" sz="1400" b="1" dirty="0">
                <a:solidFill>
                  <a:srgbClr val="FF0000"/>
                </a:solidFill>
                <a:latin typeface="Calibri"/>
                <a:cs typeface="Calibri"/>
              </a:rPr>
              <a:t>12 ?</a:t>
            </a:r>
            <a:r>
              <a:rPr sz="1400" b="1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b="1" spc="-50" dirty="0">
                <a:solidFill>
                  <a:srgbClr val="FF0000"/>
                </a:solidFill>
                <a:latin typeface="Calibri"/>
                <a:cs typeface="Calibri"/>
              </a:rPr>
              <a:t>-</a:t>
            </a:r>
            <a:endParaRPr sz="1400" b="1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90600" y="2982467"/>
            <a:ext cx="77374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b="1" dirty="0">
                <a:solidFill>
                  <a:srgbClr val="FF0000"/>
                </a:solidFill>
                <a:latin typeface="Calibri"/>
                <a:cs typeface="Calibri"/>
              </a:rPr>
              <a:t>15.01 ? </a:t>
            </a:r>
            <a:r>
              <a:rPr sz="1400" b="1" spc="-50" dirty="0">
                <a:solidFill>
                  <a:srgbClr val="FF0000"/>
                </a:solidFill>
                <a:latin typeface="Calibri"/>
                <a:cs typeface="Calibri"/>
              </a:rPr>
              <a:t>-</a:t>
            </a:r>
            <a:endParaRPr sz="1400" b="1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23" name="object 22">
            <a:extLst>
              <a:ext uri="{FF2B5EF4-FFF2-40B4-BE49-F238E27FC236}">
                <a16:creationId xmlns:a16="http://schemas.microsoft.com/office/drawing/2014/main" id="{6D51FBD1-EE22-BB4C-B22B-62B217530E17}"/>
              </a:ext>
            </a:extLst>
          </p:cNvPr>
          <p:cNvSpPr txBox="1"/>
          <p:nvPr/>
        </p:nvSpPr>
        <p:spPr>
          <a:xfrm>
            <a:off x="1233721" y="3509770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16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ru-RU" sz="1400" dirty="0">
                <a:latin typeface="Calibri"/>
                <a:cs typeface="Calibri"/>
              </a:rPr>
              <a:t>02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915779-E234-3C4D-BA4F-EE25401C044E}"/>
              </a:ext>
            </a:extLst>
          </p:cNvPr>
          <p:cNvSpPr/>
          <p:nvPr/>
        </p:nvSpPr>
        <p:spPr>
          <a:xfrm>
            <a:off x="579274" y="1051909"/>
            <a:ext cx="2613025" cy="57975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Курсовой проект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99" y="1160272"/>
            <a:ext cx="419929" cy="396000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DFC3E53-6FFD-6D45-903D-08C54E65F5DB}"/>
              </a:ext>
            </a:extLst>
          </p:cNvPr>
          <p:cNvSpPr/>
          <p:nvPr/>
        </p:nvSpPr>
        <p:spPr>
          <a:xfrm>
            <a:off x="2225090" y="3445335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Завершение курса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6298207-2573-9240-B60B-F5E23F446C25}"/>
              </a:ext>
            </a:extLst>
          </p:cNvPr>
          <p:cNvSpPr/>
          <p:nvPr/>
        </p:nvSpPr>
        <p:spPr>
          <a:xfrm>
            <a:off x="2225090" y="2922971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9675E17-BE43-F34E-98F1-0CFEA89B0E2E}"/>
              </a:ext>
            </a:extLst>
          </p:cNvPr>
          <p:cNvSpPr/>
          <p:nvPr/>
        </p:nvSpPr>
        <p:spPr>
          <a:xfrm>
            <a:off x="2225090" y="2400609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по проектам и домашним заданиям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12C9734-FC8F-C24C-940E-4BD2B5FA68F3}"/>
              </a:ext>
            </a:extLst>
          </p:cNvPr>
          <p:cNvSpPr/>
          <p:nvPr/>
        </p:nvSpPr>
        <p:spPr>
          <a:xfrm>
            <a:off x="2225090" y="1857286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Выбор темы и организация проектной работы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63630A9D-7233-354A-9488-10021EC04EFB}"/>
              </a:ext>
            </a:extLst>
          </p:cNvPr>
          <p:cNvCxnSpPr>
            <a:stCxn id="14" idx="2"/>
            <a:endCxn id="27" idx="1"/>
          </p:cNvCxnSpPr>
          <p:nvPr/>
        </p:nvCxnSpPr>
        <p:spPr>
          <a:xfrm rot="16200000" flipH="1">
            <a:off x="1843567" y="1673883"/>
            <a:ext cx="423742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92DAF46-096B-324F-B3B3-A6787F8D1DFE}"/>
              </a:ext>
            </a:extLst>
          </p:cNvPr>
          <p:cNvCxnSpPr>
            <a:cxnSpLocks/>
            <a:stCxn id="14" idx="2"/>
            <a:endCxn id="26" idx="1"/>
          </p:cNvCxnSpPr>
          <p:nvPr/>
        </p:nvCxnSpPr>
        <p:spPr>
          <a:xfrm rot="16200000" flipH="1">
            <a:off x="1571906" y="1945544"/>
            <a:ext cx="967065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DED9A16-3DDE-E148-A5A8-8B84FD095158}"/>
              </a:ext>
            </a:extLst>
          </p:cNvPr>
          <p:cNvCxnSpPr>
            <a:cxnSpLocks/>
            <a:stCxn id="14" idx="2"/>
            <a:endCxn id="25" idx="1"/>
          </p:cNvCxnSpPr>
          <p:nvPr/>
        </p:nvCxnSpPr>
        <p:spPr>
          <a:xfrm rot="16200000" flipH="1">
            <a:off x="1310725" y="2206725"/>
            <a:ext cx="1489427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29D8802E-3943-C54F-8F3F-8B24A3DD8DE1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 rot="16200000" flipH="1">
            <a:off x="1049543" y="2467907"/>
            <a:ext cx="2011791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Как реализован конвейер предобработки данных. Где хранятся данные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Какая модель выбрана и </a:t>
            </a:r>
            <a:r>
              <a:rPr lang="ru-RU" sz="1400" b="0" dirty="0" err="1">
                <a:solidFill>
                  <a:srgbClr val="1E1F21"/>
                </a:solidFill>
              </a:rPr>
              <a:t>фиче-инжениринг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r>
              <a:rPr lang="ru-RU" sz="1400" b="0" dirty="0">
                <a:solidFill>
                  <a:srgbClr val="1E1F21"/>
                </a:solidFill>
              </a:rPr>
              <a:t> Метрики модели.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Инфраструктура. Как создавали и контролировали.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en-US" sz="1400" b="0" dirty="0">
                <a:solidFill>
                  <a:srgbClr val="1E1F21"/>
                </a:solidFill>
              </a:rPr>
              <a:t>CI/CD </a:t>
            </a:r>
            <a:r>
              <a:rPr lang="ru-RU" sz="1400" b="0" dirty="0">
                <a:solidFill>
                  <a:srgbClr val="1E1F21"/>
                </a:solidFill>
              </a:rPr>
              <a:t>конвейер – что включает.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Деплой</a:t>
            </a:r>
            <a:r>
              <a:rPr lang="ru-RU" sz="1400" b="0" dirty="0">
                <a:solidFill>
                  <a:srgbClr val="1E1F21"/>
                </a:solidFill>
              </a:rPr>
              <a:t> модели в </a:t>
            </a:r>
            <a:r>
              <a:rPr lang="en-US" sz="1400" b="0" dirty="0">
                <a:solidFill>
                  <a:srgbClr val="1E1F21"/>
                </a:solidFill>
              </a:rPr>
              <a:t>k8s. </a:t>
            </a:r>
            <a:r>
              <a:rPr lang="ru-RU" sz="1400" b="0" dirty="0">
                <a:solidFill>
                  <a:srgbClr val="1E1F21"/>
                </a:solidFill>
              </a:rPr>
              <a:t>Масштабирование под нагрузку.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Трешхолд</a:t>
            </a:r>
            <a:r>
              <a:rPr lang="ru-RU" sz="1400" b="0" dirty="0">
                <a:solidFill>
                  <a:srgbClr val="1E1F21"/>
                </a:solidFill>
              </a:rPr>
              <a:t> метрик и организация переобучения модели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Мониторинг метрик и нагрузки и оповещение.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Что планировалось на этапе выбора проекта и что получилось. Причины отклонений.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Защита проекта - презентация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8050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Сосредоточьтесь не на модели и метриках, а на процессах и автоматизации.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Модель может быть любой (примитивной) она присутствует для иллюстрации автоматизации процесса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Используйте облачные технологии.</a:t>
            </a:r>
          </a:p>
          <a:p>
            <a:pPr marL="457200" indent="-342900" algn="l" rtl="0">
              <a:lnSpc>
                <a:spcPct val="115000"/>
              </a:lnSpc>
              <a:spcAft>
                <a:spcPts val="600"/>
              </a:spcAft>
              <a:buClr>
                <a:srgbClr val="FF7700"/>
              </a:buClr>
              <a:buSzPts val="1800"/>
              <a:buFontTx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Помните про </a:t>
            </a:r>
            <a:r>
              <a:rPr lang="en-US" sz="1400" b="0" dirty="0">
                <a:solidFill>
                  <a:srgbClr val="1E1F21"/>
                </a:solidFill>
              </a:rPr>
              <a:t>AGILE. </a:t>
            </a:r>
            <a:r>
              <a:rPr lang="ru-RU" sz="1400" b="0" dirty="0">
                <a:solidFill>
                  <a:srgbClr val="1E1F21"/>
                </a:solidFill>
              </a:rPr>
              <a:t>Начните с </a:t>
            </a:r>
            <a:r>
              <a:rPr lang="en-US" sz="1400" b="0" dirty="0">
                <a:solidFill>
                  <a:srgbClr val="1E1F21"/>
                </a:solidFill>
              </a:rPr>
              <a:t>MVP </a:t>
            </a:r>
            <a:r>
              <a:rPr lang="ru-RU" sz="1400" b="0" dirty="0">
                <a:solidFill>
                  <a:srgbClr val="1E1F21"/>
                </a:solidFill>
              </a:rPr>
              <a:t>и наращивайте функциональность.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решения оформляйте в репозитории.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Для каждого шага открывайте ветку, добивайтесь стабильной работы и потом сливайте ее в основную ветку. Формируйте метки релизов для каждого этапа.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Курсовой проект - рекомендации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9581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50" dirty="0">
                <a:latin typeface="Trebuchet MS"/>
                <a:cs typeface="Trebuchet MS"/>
              </a:rPr>
              <a:t>Приходите</a:t>
            </a:r>
            <a:r>
              <a:rPr sz="3200" b="1" spc="-190" dirty="0">
                <a:latin typeface="Trebuchet MS"/>
                <a:cs typeface="Trebuchet MS"/>
              </a:rPr>
              <a:t> </a:t>
            </a:r>
            <a:r>
              <a:rPr sz="3200" b="1" spc="-20" dirty="0">
                <a:latin typeface="Trebuchet MS"/>
                <a:cs typeface="Trebuchet MS"/>
              </a:rPr>
              <a:t>на</a:t>
            </a:r>
            <a:r>
              <a:rPr sz="3200" b="1" spc="-180" dirty="0">
                <a:latin typeface="Trebuchet MS"/>
                <a:cs typeface="Trebuchet MS"/>
              </a:rPr>
              <a:t> </a:t>
            </a:r>
            <a:r>
              <a:rPr sz="3200" b="1" spc="-30" dirty="0" err="1">
                <a:latin typeface="Trebuchet MS"/>
                <a:cs typeface="Trebuchet MS"/>
              </a:rPr>
              <a:t>следующие</a:t>
            </a:r>
            <a:r>
              <a:rPr sz="3200" b="1" spc="-185" dirty="0">
                <a:latin typeface="Trebuchet MS"/>
                <a:cs typeface="Trebuchet MS"/>
              </a:rPr>
              <a:t> </a:t>
            </a:r>
            <a:r>
              <a:rPr sz="3200" b="1" spc="-10" dirty="0">
                <a:latin typeface="Trebuchet MS"/>
                <a:cs typeface="Trebuchet MS"/>
              </a:rPr>
              <a:t>вебинары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9" name="Google Shape;209;p48">
            <a:extLst>
              <a:ext uri="{FF2B5EF4-FFF2-40B4-BE49-F238E27FC236}">
                <a16:creationId xmlns:a16="http://schemas.microsoft.com/office/drawing/2014/main" id="{666D51A8-B86A-A04E-A7A6-A30E8E367D45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</a:t>
            </a:r>
            <a:r>
              <a:rPr lang="ru-RU" sz="1150" dirty="0"/>
              <a:t>20</a:t>
            </a:r>
            <a:r>
              <a:rPr lang="ru-RU" sz="1150" kern="0" dirty="0"/>
              <a:t>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360</TotalTime>
  <Words>550</Words>
  <Application>Microsoft Macintosh PowerPoint</Application>
  <PresentationFormat>On-screen Show (16:9)</PresentationFormat>
  <Paragraphs>106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Roboto</vt:lpstr>
      <vt:lpstr>Trebuchet MS</vt:lpstr>
      <vt:lpstr>Office Theme</vt:lpstr>
      <vt:lpstr>MLOps Курсовой проект</vt:lpstr>
      <vt:lpstr>PowerPoint Presentation</vt:lpstr>
      <vt:lpstr>MLOps Курсовой проект</vt:lpstr>
      <vt:lpstr>Маршрут вебинара</vt:lpstr>
      <vt:lpstr>Проектная работа</vt:lpstr>
      <vt:lpstr>Как выбрать тему</vt:lpstr>
      <vt:lpstr>Что должно быть в проекте</vt:lpstr>
      <vt:lpstr>Программа</vt:lpstr>
      <vt:lpstr>Защита проекта - презентация</vt:lpstr>
      <vt:lpstr>Курсовой проект - рекомендации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18</cp:revision>
  <dcterms:created xsi:type="dcterms:W3CDTF">2024-07-23T07:20:56Z</dcterms:created>
  <dcterms:modified xsi:type="dcterms:W3CDTF">2025-12-11T13:28:56Z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