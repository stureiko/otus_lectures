
<file path=[Content_Types].xml><?xml version="1.0" encoding="utf-8"?>
<Types xmlns="http://schemas.openxmlformats.org/package/2006/content-types"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media/image3.jpg" ContentType="image/jpeg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3"/>
  </p:notesMasterIdLst>
  <p:sldIdLst>
    <p:sldId id="257" r:id="rId2"/>
    <p:sldId id="258" r:id="rId3"/>
    <p:sldId id="312" r:id="rId4"/>
    <p:sldId id="260" r:id="rId5"/>
    <p:sldId id="261" r:id="rId6"/>
    <p:sldId id="313" r:id="rId7"/>
    <p:sldId id="314" r:id="rId8"/>
    <p:sldId id="301" r:id="rId9"/>
    <p:sldId id="315" r:id="rId10"/>
    <p:sldId id="316" r:id="rId11"/>
    <p:sldId id="304" r:id="rId12"/>
  </p:sldIdLst>
  <p:sldSz cx="9144000" cy="5143500" type="screen16x9"/>
  <p:notesSz cx="9144000" cy="51435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D9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3288"/>
    <p:restoredTop sz="97030"/>
  </p:normalViewPr>
  <p:slideViewPr>
    <p:cSldViewPr>
      <p:cViewPr varScale="1">
        <p:scale>
          <a:sx n="297" d="100"/>
          <a:sy n="297" d="100"/>
        </p:scale>
        <p:origin x="1264" y="184"/>
      </p:cViewPr>
      <p:guideLst>
        <p:guide orient="horz" pos="2880"/>
        <p:guide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ED1C788-56A1-2E45-A024-5C42A74F7F0E}" type="datetimeFigureOut">
              <a:rPr lang="en-US" smtClean="0"/>
              <a:t>5/27/25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028950" y="642938"/>
            <a:ext cx="3086100" cy="17367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2474913"/>
            <a:ext cx="7315200" cy="20256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4886325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4886325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B012F9F-468F-E040-8F6D-DB6B5D3707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64389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5" name="Google Shape;255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gf305d12f47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1" name="Google Shape;261;gf305d12f47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de823becd0_0_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de823becd0_0_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gde823becd0_0_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1" name="Google Shape;281;gde823becd0_0_5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22a331324f2_0_0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94" name="Google Shape;294;g22a331324f2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22a331324f2_0_0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94" name="Google Shape;294;g22a331324f2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74469045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22a331324f2_0_0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94" name="Google Shape;294;g22a331324f2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20132282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22a331324f2_0_0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94" name="Google Shape;294;g22a331324f2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24766646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22a331324f2_0_0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94" name="Google Shape;294;g22a331324f2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1316349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79274" y="383031"/>
            <a:ext cx="3855085" cy="49784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1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371600" y="2880360"/>
            <a:ext cx="6400800" cy="12858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5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5/27/25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1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15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5/27/25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1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1787699" y="1397762"/>
            <a:ext cx="1944370" cy="314261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500" b="1" i="0">
                <a:solidFill>
                  <a:srgbClr val="FF9900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422787" y="1120140"/>
            <a:ext cx="1875790" cy="354139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000" b="1" i="0">
                <a:solidFill>
                  <a:schemeClr val="bg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5/27/25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9144000" cy="5141975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1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5/27/25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5/27/25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ИТУЛЬНЫЙ" type="title">
  <p:cSld name="ТИТУЛЬНЫЙ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/>
          <p:cNvPicPr preferRelativeResize="0"/>
          <p:nvPr/>
        </p:nvPicPr>
        <p:blipFill rotWithShape="1">
          <a:blip r:embed="rId2">
            <a:alphaModFix/>
          </a:blip>
          <a:srcRect l="99" r="99"/>
          <a:stretch/>
        </p:blipFill>
        <p:spPr>
          <a:xfrm>
            <a:off x="-17928" y="-10075"/>
            <a:ext cx="9161923" cy="516365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944650" y="4350425"/>
            <a:ext cx="77103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 b="1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title"/>
          </p:nvPr>
        </p:nvSpPr>
        <p:spPr>
          <a:xfrm>
            <a:off x="944650" y="1769194"/>
            <a:ext cx="8183100" cy="2188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 sz="5600">
                <a:solidFill>
                  <a:schemeClr val="lt1"/>
                </a:solidFill>
              </a:defRPr>
            </a:lvl1pPr>
            <a:lvl2pPr lvl="1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2732753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Белый слайд + заголовок" type="secHead">
  <p:cSld name="Белый слайд + заголовок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500550" y="1940306"/>
            <a:ext cx="79353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759578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ема вебинара" type="twoColTx">
  <p:cSld name="Тема вебинара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title"/>
          </p:nvPr>
        </p:nvSpPr>
        <p:spPr>
          <a:xfrm>
            <a:off x="500550" y="821213"/>
            <a:ext cx="8520600" cy="198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subTitle" idx="1"/>
          </p:nvPr>
        </p:nvSpPr>
        <p:spPr>
          <a:xfrm>
            <a:off x="500550" y="457313"/>
            <a:ext cx="77967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9900"/>
              </a:buClr>
              <a:buSzPts val="1500"/>
              <a:buNone/>
              <a:defRPr sz="1500">
                <a:solidFill>
                  <a:srgbClr val="FF9900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ubTitle" idx="2"/>
          </p:nvPr>
        </p:nvSpPr>
        <p:spPr>
          <a:xfrm>
            <a:off x="3135425" y="2978831"/>
            <a:ext cx="5856300" cy="58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50505"/>
              </a:buClr>
              <a:buSzPts val="1500"/>
              <a:buNone/>
              <a:defRPr sz="1500" b="1">
                <a:solidFill>
                  <a:srgbClr val="050505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9pPr>
          </a:lstStyle>
          <a:p>
            <a:endParaRPr/>
          </a:p>
        </p:txBody>
      </p:sp>
      <p:sp>
        <p:nvSpPr>
          <p:cNvPr id="25" name="Google Shape;25;p5"/>
          <p:cNvSpPr txBox="1">
            <a:spLocks noGrp="1"/>
          </p:cNvSpPr>
          <p:nvPr>
            <p:ph type="subTitle" idx="3"/>
          </p:nvPr>
        </p:nvSpPr>
        <p:spPr>
          <a:xfrm>
            <a:off x="3135425" y="3278981"/>
            <a:ext cx="58563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5"/>
          <p:cNvSpPr txBox="1">
            <a:spLocks noGrp="1"/>
          </p:cNvSpPr>
          <p:nvPr>
            <p:ph type="subTitle" idx="4"/>
          </p:nvPr>
        </p:nvSpPr>
        <p:spPr>
          <a:xfrm>
            <a:off x="3135425" y="3662550"/>
            <a:ext cx="5856300" cy="103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2166807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97">
          <p15:clr>
            <a:srgbClr val="FA7B17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">
  <p:cSld name="Заголовок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5484883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jp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11" cstate="print"/>
          <a:stretch>
            <a:fillRect/>
          </a:stretch>
        </p:blipFill>
        <p:spPr>
          <a:xfrm>
            <a:off x="7699247" y="4876800"/>
            <a:ext cx="1298448" cy="146303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579274" y="383031"/>
            <a:ext cx="4399915" cy="49784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1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161125" y="2344927"/>
            <a:ext cx="4507230" cy="240537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5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108960" y="4783455"/>
            <a:ext cx="2926080" cy="2571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4783455"/>
            <a:ext cx="2103120" cy="2571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5/27/25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6583680" y="4783455"/>
            <a:ext cx="2103120" cy="2571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.xml"/><Relationship Id="rId5" Type="http://schemas.openxmlformats.org/officeDocument/2006/relationships/hyperlink" Target="http://www.linkedin.com/in/igor-stureiko" TargetMode="External"/><Relationship Id="rId4" Type="http://schemas.openxmlformats.org/officeDocument/2006/relationships/image" Target="../media/image8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kaggle.com/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9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://www.linkedin.com/in/igor-stureiko" TargetMode="External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62"/>
          <p:cNvSpPr txBox="1">
            <a:spLocks noGrp="1"/>
          </p:cNvSpPr>
          <p:nvPr>
            <p:ph type="subTitle" idx="1"/>
          </p:nvPr>
        </p:nvSpPr>
        <p:spPr>
          <a:xfrm>
            <a:off x="944650" y="4350425"/>
            <a:ext cx="77103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otus.ru</a:t>
            </a:r>
            <a:endParaRPr dirty="0"/>
          </a:p>
        </p:txBody>
      </p:sp>
      <p:sp>
        <p:nvSpPr>
          <p:cNvPr id="258" name="Google Shape;258;p62"/>
          <p:cNvSpPr txBox="1">
            <a:spLocks noGrp="1"/>
          </p:cNvSpPr>
          <p:nvPr>
            <p:ph type="title"/>
          </p:nvPr>
        </p:nvSpPr>
        <p:spPr>
          <a:xfrm>
            <a:off x="944650" y="1477350"/>
            <a:ext cx="8183100" cy="2188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 err="1"/>
              <a:t>MLOps</a:t>
            </a:r>
            <a:br>
              <a:rPr lang="en-US" dirty="0"/>
            </a:br>
            <a:r>
              <a:rPr lang="ru-RU" sz="3200" dirty="0"/>
              <a:t>Курсовой проект</a:t>
            </a:r>
            <a:endParaRPr lang="en-US" sz="6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p63"/>
          <p:cNvSpPr txBox="1"/>
          <p:nvPr/>
        </p:nvSpPr>
        <p:spPr>
          <a:xfrm>
            <a:off x="1635875" y="772125"/>
            <a:ext cx="7935300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2100" b="1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Проверить, идет ли запись</a:t>
            </a:r>
            <a:endParaRPr sz="2100" b="1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64" name="Google Shape;264;p63"/>
          <p:cNvSpPr txBox="1"/>
          <p:nvPr/>
        </p:nvSpPr>
        <p:spPr>
          <a:xfrm>
            <a:off x="766725" y="1805199"/>
            <a:ext cx="7935300" cy="129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35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Напишите </a:t>
            </a:r>
            <a:r>
              <a:rPr lang="ru" sz="3500" b="1">
                <a:solidFill>
                  <a:schemeClr val="dk1"/>
                </a:solidFill>
                <a:highlight>
                  <a:schemeClr val="lt1"/>
                </a:highlight>
              </a:rPr>
              <a:t>«</a:t>
            </a:r>
            <a:r>
              <a:rPr lang="ru" sz="35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r>
              <a:rPr lang="ru" sz="3500" b="1">
                <a:solidFill>
                  <a:schemeClr val="dk1"/>
                </a:solidFill>
                <a:highlight>
                  <a:schemeClr val="lt1"/>
                </a:highlight>
              </a:rPr>
              <a:t>»</a:t>
            </a:r>
            <a:r>
              <a:rPr lang="ru" sz="35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в чат, если меня слышно и видно</a:t>
            </a:r>
            <a:endParaRPr sz="3500" b="1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265" name="Google Shape;265;p6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57275" y="3516281"/>
            <a:ext cx="526796" cy="526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6" name="Google Shape;266;p63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584856" y="3516281"/>
            <a:ext cx="526796" cy="526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7" name="Google Shape;267;p63"/>
          <p:cNvPicPr preferRelativeResize="0"/>
          <p:nvPr/>
        </p:nvPicPr>
        <p:blipFill rotWithShape="1">
          <a:blip r:embed="rId5">
            <a:alphaModFix/>
          </a:blip>
          <a:srcRect l="99" r="99"/>
          <a:stretch/>
        </p:blipFill>
        <p:spPr>
          <a:xfrm>
            <a:off x="880825" y="1032408"/>
            <a:ext cx="642317" cy="32115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48"/>
          <p:cNvSpPr/>
          <p:nvPr/>
        </p:nvSpPr>
        <p:spPr>
          <a:xfrm>
            <a:off x="630000" y="2703050"/>
            <a:ext cx="1033800" cy="19836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6" name="Google Shape;206;p48"/>
          <p:cNvSpPr txBox="1">
            <a:spLocks noGrp="1"/>
          </p:cNvSpPr>
          <p:nvPr>
            <p:ph type="title"/>
          </p:nvPr>
        </p:nvSpPr>
        <p:spPr>
          <a:xfrm>
            <a:off x="500550" y="821219"/>
            <a:ext cx="8520600" cy="103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3200" dirty="0"/>
              <a:t>ML</a:t>
            </a:r>
            <a:r>
              <a:rPr lang="en-US" dirty="0"/>
              <a:t>Ops</a:t>
            </a:r>
            <a:br>
              <a:rPr lang="en-US" sz="3200" dirty="0"/>
            </a:br>
            <a:r>
              <a:rPr lang="ru-RU" sz="2400" dirty="0"/>
              <a:t>Курсовой проект</a:t>
            </a:r>
            <a:endParaRPr b="0" dirty="0"/>
          </a:p>
        </p:txBody>
      </p:sp>
      <p:sp>
        <p:nvSpPr>
          <p:cNvPr id="207" name="Google Shape;207;p48"/>
          <p:cNvSpPr txBox="1">
            <a:spLocks noGrp="1"/>
          </p:cNvSpPr>
          <p:nvPr>
            <p:ph type="subTitle" idx="1"/>
          </p:nvPr>
        </p:nvSpPr>
        <p:spPr>
          <a:xfrm>
            <a:off x="500550" y="520133"/>
            <a:ext cx="7796700" cy="35692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2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/>
              <a:t>Тема </a:t>
            </a:r>
            <a:r>
              <a:rPr lang="ru-RU" dirty="0" err="1"/>
              <a:t>вебинара</a:t>
            </a:r>
            <a:endParaRPr dirty="0"/>
          </a:p>
        </p:txBody>
      </p:sp>
      <p:sp>
        <p:nvSpPr>
          <p:cNvPr id="208" name="Google Shape;208;p48"/>
          <p:cNvSpPr txBox="1">
            <a:spLocks noGrp="1"/>
          </p:cNvSpPr>
          <p:nvPr>
            <p:ph type="subTitle" idx="2"/>
          </p:nvPr>
        </p:nvSpPr>
        <p:spPr>
          <a:xfrm>
            <a:off x="3082400" y="2302060"/>
            <a:ext cx="5856300" cy="396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lnSpcReduction="1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Игорь Стурейко</a:t>
            </a:r>
            <a:endParaRPr dirty="0"/>
          </a:p>
        </p:txBody>
      </p:sp>
      <p:pic>
        <p:nvPicPr>
          <p:cNvPr id="8" name="Google Shape;278;p64">
            <a:extLst>
              <a:ext uri="{FF2B5EF4-FFF2-40B4-BE49-F238E27FC236}">
                <a16:creationId xmlns:a16="http://schemas.microsoft.com/office/drawing/2014/main" id="{DC03452F-6B2F-EA48-9B01-C3577A300545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077621" y="258179"/>
            <a:ext cx="652375" cy="652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ADBDA60-D1B3-5B41-A4D2-CDAE2DD6B009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t="12156" r="295"/>
          <a:stretch/>
        </p:blipFill>
        <p:spPr>
          <a:xfrm>
            <a:off x="832654" y="2865544"/>
            <a:ext cx="1662292" cy="1657372"/>
          </a:xfrm>
          <a:prstGeom prst="ellipse">
            <a:avLst/>
          </a:prstGeom>
          <a:ln w="127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sp>
        <p:nvSpPr>
          <p:cNvPr id="13" name="Google Shape;209;p48">
            <a:extLst>
              <a:ext uri="{FF2B5EF4-FFF2-40B4-BE49-F238E27FC236}">
                <a16:creationId xmlns:a16="http://schemas.microsoft.com/office/drawing/2014/main" id="{D0D012C5-1A3B-EC4C-B8A7-64C8AF21B41A}"/>
              </a:ext>
            </a:extLst>
          </p:cNvPr>
          <p:cNvSpPr txBox="1">
            <a:spLocks/>
          </p:cNvSpPr>
          <p:nvPr/>
        </p:nvSpPr>
        <p:spPr>
          <a:xfrm>
            <a:off x="3082400" y="2701811"/>
            <a:ext cx="5938750" cy="21336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85000" lnSpcReduction="20000"/>
          </a:bodyPr>
          <a:lstStyle>
            <a:lvl1pPr marL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470025" indent="-1465263">
              <a:tabLst>
                <a:tab pos="1465263" algn="l"/>
              </a:tabLst>
            </a:pPr>
            <a:r>
              <a:rPr lang="ru-RU" sz="1150" b="1" kern="0" dirty="0"/>
              <a:t>Руководитель курсов: </a:t>
            </a:r>
            <a:r>
              <a:rPr lang="en-US" sz="1150" b="1" kern="0" dirty="0"/>
              <a:t>	Reinforcement Learning, ML Professional, ML Basic, </a:t>
            </a:r>
            <a:br>
              <a:rPr lang="en-US" sz="1150" b="1" kern="0" dirty="0"/>
            </a:br>
            <a:r>
              <a:rPr lang="en-US" sz="1150" b="1" kern="0" dirty="0" err="1"/>
              <a:t>MLOps</a:t>
            </a:r>
            <a:r>
              <a:rPr lang="en-US" sz="1150" b="1" kern="0" dirty="0"/>
              <a:t>, </a:t>
            </a:r>
            <a:r>
              <a:rPr lang="en-US" sz="1150" b="1" kern="0" dirty="0" err="1"/>
              <a:t>FinML</a:t>
            </a:r>
            <a:endParaRPr lang="en-US" sz="1150" b="1" kern="0" dirty="0"/>
          </a:p>
          <a:p>
            <a:pPr rtl="0"/>
            <a:endParaRPr lang="en-US" sz="1150" b="1" kern="0" dirty="0"/>
          </a:p>
          <a:p>
            <a:pPr rtl="0"/>
            <a:r>
              <a:rPr lang="en-US" sz="1150" b="1" kern="0" dirty="0" err="1"/>
              <a:t>Teamlead</a:t>
            </a:r>
            <a:r>
              <a:rPr lang="en-US" sz="1150" b="1" kern="0" dirty="0"/>
              <a:t>, </a:t>
            </a:r>
            <a:r>
              <a:rPr lang="ru-RU" sz="1150" b="1" kern="0" dirty="0"/>
              <a:t>главный инженер проекта, </a:t>
            </a:r>
          </a:p>
          <a:p>
            <a:pPr rtl="0"/>
            <a:r>
              <a:rPr lang="ru-RU" sz="1150" b="1" kern="0" dirty="0"/>
              <a:t>Физический факультет МГУ, </a:t>
            </a:r>
            <a:r>
              <a:rPr lang="en-US" sz="1150" b="1" kern="0" dirty="0"/>
              <a:t>PhD </a:t>
            </a:r>
            <a:r>
              <a:rPr lang="ru-RU" sz="1150" b="1" kern="0" dirty="0"/>
              <a:t>теоретическая физика</a:t>
            </a:r>
          </a:p>
          <a:p>
            <a:pPr rtl="0"/>
            <a:endParaRPr lang="ru-RU" sz="1150" kern="0" dirty="0"/>
          </a:p>
          <a:p>
            <a:pPr rtl="0"/>
            <a:r>
              <a:rPr lang="ru-RU" sz="1150" b="1" kern="0" dirty="0"/>
              <a:t>Опыт:</a:t>
            </a:r>
            <a:endParaRPr lang="ru-RU" sz="1150" kern="0" dirty="0"/>
          </a:p>
          <a:p>
            <a:pPr rtl="0"/>
            <a:r>
              <a:rPr lang="ru-RU" sz="1150" kern="0" dirty="0"/>
              <a:t>Более 15 лет занимался прикладной математикой и мат моделированием</a:t>
            </a:r>
          </a:p>
          <a:p>
            <a:pPr rtl="0"/>
            <a:r>
              <a:rPr lang="ru-RU" sz="1150" kern="0" dirty="0"/>
              <a:t>(</a:t>
            </a:r>
            <a:r>
              <a:rPr lang="en-US" sz="1150" kern="0" dirty="0"/>
              <a:t>Data Scientist) (Python, </a:t>
            </a:r>
            <a:r>
              <a:rPr lang="ru-RU" sz="1150" kern="0" dirty="0"/>
              <a:t>С++) в НИИ ПАО Газпром</a:t>
            </a:r>
          </a:p>
          <a:p>
            <a:pPr rtl="0"/>
            <a:endParaRPr lang="ru-RU" sz="1150" kern="0" dirty="0"/>
          </a:p>
          <a:p>
            <a:pPr rtl="0"/>
            <a:endParaRPr lang="ru-RU" sz="1150" b="1" kern="0" dirty="0"/>
          </a:p>
          <a:p>
            <a:pPr rtl="0"/>
            <a:r>
              <a:rPr lang="ru-RU" sz="1150" b="1" kern="0" dirty="0"/>
              <a:t>@</a:t>
            </a:r>
            <a:r>
              <a:rPr lang="en-US" sz="1150" b="1" kern="0" dirty="0" err="1"/>
              <a:t>stureiko</a:t>
            </a:r>
            <a:r>
              <a:rPr lang="en-US" sz="1150" b="1" kern="0" dirty="0"/>
              <a:t> (TG)</a:t>
            </a:r>
          </a:p>
          <a:p>
            <a:pPr rtl="0"/>
            <a:endParaRPr lang="en-US" sz="1150" b="1" kern="0" dirty="0"/>
          </a:p>
          <a:p>
            <a:pPr rtl="0"/>
            <a:r>
              <a:rPr lang="en-US" sz="1150" b="1" kern="0" dirty="0"/>
              <a:t>LinkedIn: </a:t>
            </a:r>
            <a:r>
              <a:rPr lang="en-US" sz="1150" kern="0" dirty="0">
                <a:hlinkClick r:id="rId5"/>
              </a:rPr>
              <a:t>igor-stureiko</a:t>
            </a:r>
            <a:r>
              <a:rPr lang="en-US" sz="1150" kern="0" dirty="0"/>
              <a:t> </a:t>
            </a:r>
          </a:p>
          <a:p>
            <a:pPr rtl="0"/>
            <a:endParaRPr lang="en-US" sz="1150" kern="0" dirty="0"/>
          </a:p>
          <a:p>
            <a:pPr rtl="0"/>
            <a:r>
              <a:rPr lang="en-US" sz="1150" b="1" kern="0" dirty="0"/>
              <a:t>@</a:t>
            </a:r>
            <a:r>
              <a:rPr lang="en-US" sz="1150" b="1" kern="0" dirty="0" err="1"/>
              <a:t>rl_fintech</a:t>
            </a:r>
            <a:r>
              <a:rPr lang="en-US" sz="1150" b="1" kern="0" dirty="0"/>
              <a:t> </a:t>
            </a:r>
            <a:r>
              <a:rPr lang="en-US" sz="1150" kern="0" dirty="0"/>
              <a:t>(</a:t>
            </a:r>
            <a:r>
              <a:rPr lang="ru-RU" sz="1150" kern="0" dirty="0"/>
              <a:t>Мой канал о моделях в бизнесе)</a:t>
            </a:r>
            <a:endParaRPr lang="ru-RU" sz="1400" kern="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65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Маршрут вебинара</a:t>
            </a:r>
            <a:endParaRPr/>
          </a:p>
        </p:txBody>
      </p:sp>
      <p:sp>
        <p:nvSpPr>
          <p:cNvPr id="284" name="Google Shape;284;p65"/>
          <p:cNvSpPr/>
          <p:nvPr/>
        </p:nvSpPr>
        <p:spPr>
          <a:xfrm>
            <a:off x="680150" y="1521159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270000" tIns="91425" rIns="270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Что такое курсовая работа</a:t>
            </a:r>
            <a:endParaRPr sz="13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85" name="Google Shape;285;p65"/>
          <p:cNvSpPr/>
          <p:nvPr/>
        </p:nvSpPr>
        <p:spPr>
          <a:xfrm>
            <a:off x="680150" y="2066557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270000" tIns="91425" rIns="270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 sz="15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Как выбрать тему проекта</a:t>
            </a:r>
            <a:endParaRPr sz="13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87" name="Google Shape;287;p65"/>
          <p:cNvSpPr/>
          <p:nvPr/>
        </p:nvSpPr>
        <p:spPr>
          <a:xfrm>
            <a:off x="680150" y="2611955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270000" tIns="91425" rIns="270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Расписание</a:t>
            </a:r>
            <a:endParaRPr sz="15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88" name="Google Shape;288;p65"/>
          <p:cNvSpPr/>
          <p:nvPr/>
        </p:nvSpPr>
        <p:spPr>
          <a:xfrm>
            <a:off x="680150" y="3157353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270000" tIns="91425" rIns="270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Рекомендации</a:t>
            </a:r>
            <a:endParaRPr sz="13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" name="Google Shape;288;p65">
            <a:extLst>
              <a:ext uri="{FF2B5EF4-FFF2-40B4-BE49-F238E27FC236}">
                <a16:creationId xmlns:a16="http://schemas.microsoft.com/office/drawing/2014/main" id="{E70A6281-3704-B54B-BD03-7CD165FF9994}"/>
              </a:ext>
            </a:extLst>
          </p:cNvPr>
          <p:cNvSpPr/>
          <p:nvPr/>
        </p:nvSpPr>
        <p:spPr>
          <a:xfrm>
            <a:off x="680150" y="4248150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270000" tIns="91425" rIns="270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Пожелания и </a:t>
            </a:r>
            <a:r>
              <a:rPr lang="ru-RU" sz="150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напуствие</a:t>
            </a:r>
            <a:endParaRPr sz="13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" name="Google Shape;288;p65">
            <a:extLst>
              <a:ext uri="{FF2B5EF4-FFF2-40B4-BE49-F238E27FC236}">
                <a16:creationId xmlns:a16="http://schemas.microsoft.com/office/drawing/2014/main" id="{BE39A353-0113-CB40-A790-4710AD049C32}"/>
              </a:ext>
            </a:extLst>
          </p:cNvPr>
          <p:cNvSpPr/>
          <p:nvPr/>
        </p:nvSpPr>
        <p:spPr>
          <a:xfrm>
            <a:off x="680150" y="3702751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270000" tIns="91425" rIns="270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Защита</a:t>
            </a:r>
            <a:endParaRPr sz="13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026" name="Picture 2" descr="10 MLOps Projects Ideas for Beginners to Practice in 2024">
            <a:extLst>
              <a:ext uri="{FF2B5EF4-FFF2-40B4-BE49-F238E27FC236}">
                <a16:creationId xmlns:a16="http://schemas.microsoft.com/office/drawing/2014/main" id="{FE5AA4DD-B2B4-B442-88F6-DF85CA842F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76800" y="1559273"/>
            <a:ext cx="3814762" cy="28577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66"/>
          <p:cNvSpPr txBox="1">
            <a:spLocks noGrp="1"/>
          </p:cNvSpPr>
          <p:nvPr>
            <p:ph type="body" idx="4294967295"/>
          </p:nvPr>
        </p:nvSpPr>
        <p:spPr>
          <a:xfrm>
            <a:off x="560550" y="1665950"/>
            <a:ext cx="7723800" cy="16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FF7700"/>
              </a:buClr>
              <a:buSzPts val="1800"/>
              <a:buChar char="●"/>
            </a:pPr>
            <a:r>
              <a:rPr lang="ru" sz="1800" dirty="0">
                <a:solidFill>
                  <a:srgbClr val="1E1F21"/>
                </a:solidFill>
              </a:rPr>
              <a:t>Проектная работа – это просто еще одно ДЗ, просто немного большего объема;</a:t>
            </a:r>
            <a:endParaRPr sz="1800" dirty="0">
              <a:solidFill>
                <a:srgbClr val="1E1F21"/>
              </a:solidFill>
            </a:endParaRP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FF7700"/>
              </a:buClr>
              <a:buSzPts val="1800"/>
              <a:buChar char="●"/>
            </a:pPr>
            <a:r>
              <a:rPr lang="ru-RU" sz="1800" dirty="0">
                <a:solidFill>
                  <a:srgbClr val="1E1F21"/>
                </a:solidFill>
              </a:rPr>
              <a:t>В рамках этапа «Проектная работа» можно и нужно </a:t>
            </a:r>
            <a:r>
              <a:rPr lang="ru-RU" sz="1800" dirty="0" err="1">
                <a:solidFill>
                  <a:srgbClr val="1E1F21"/>
                </a:solidFill>
              </a:rPr>
              <a:t>досдавать</a:t>
            </a:r>
            <a:r>
              <a:rPr lang="ru-RU" sz="1800" dirty="0">
                <a:solidFill>
                  <a:srgbClr val="1E1F21"/>
                </a:solidFill>
              </a:rPr>
              <a:t> ДЗ курса;</a:t>
            </a:r>
            <a:endParaRPr sz="1800" dirty="0">
              <a:solidFill>
                <a:srgbClr val="1E1F21"/>
              </a:solidFill>
            </a:endParaRP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FF7700"/>
              </a:buClr>
              <a:buSzPts val="1800"/>
              <a:buChar char="●"/>
            </a:pPr>
            <a:r>
              <a:rPr lang="ru" sz="1800" dirty="0">
                <a:solidFill>
                  <a:srgbClr val="1E1F21"/>
                </a:solidFill>
              </a:rPr>
              <a:t>Выполненный проект может дополнить ваше портфолио.</a:t>
            </a:r>
            <a:endParaRPr sz="1800" dirty="0">
              <a:solidFill>
                <a:srgbClr val="1E1F21"/>
              </a:solidFill>
            </a:endParaRPr>
          </a:p>
        </p:txBody>
      </p:sp>
      <p:sp>
        <p:nvSpPr>
          <p:cNvPr id="297" name="Google Shape;297;p66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Проектная работа</a:t>
            </a:r>
            <a:endParaRPr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66"/>
          <p:cNvSpPr txBox="1">
            <a:spLocks noGrp="1"/>
          </p:cNvSpPr>
          <p:nvPr>
            <p:ph type="body" idx="4294967295"/>
          </p:nvPr>
        </p:nvSpPr>
        <p:spPr>
          <a:xfrm>
            <a:off x="560550" y="1665950"/>
            <a:ext cx="7723800" cy="16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FF7700"/>
              </a:buClr>
              <a:buSzPts val="1800"/>
              <a:buChar char="●"/>
            </a:pPr>
            <a:r>
              <a:rPr lang="ru" sz="1800" dirty="0">
                <a:solidFill>
                  <a:srgbClr val="1E1F21"/>
                </a:solidFill>
              </a:rPr>
              <a:t>Взять проект на работе;</a:t>
            </a:r>
            <a:endParaRPr sz="1800" dirty="0">
              <a:solidFill>
                <a:srgbClr val="1E1F21"/>
              </a:solidFill>
            </a:endParaRP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FF7700"/>
              </a:buClr>
              <a:buSzPts val="1800"/>
              <a:buChar char="●"/>
            </a:pPr>
            <a:r>
              <a:rPr lang="ru-RU" sz="1800" dirty="0">
                <a:solidFill>
                  <a:srgbClr val="1E1F21"/>
                </a:solidFill>
              </a:rPr>
              <a:t>Собственный домашний проект;</a:t>
            </a:r>
            <a:endParaRPr sz="1800" dirty="0">
              <a:solidFill>
                <a:srgbClr val="1E1F21"/>
              </a:solidFill>
            </a:endParaRP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FF7700"/>
              </a:buClr>
              <a:buSzPts val="1800"/>
              <a:buChar char="●"/>
            </a:pPr>
            <a:r>
              <a:rPr lang="ru-RU" sz="1800" dirty="0">
                <a:solidFill>
                  <a:srgbClr val="1E1F21"/>
                </a:solidFill>
              </a:rPr>
              <a:t>Взять </a:t>
            </a:r>
            <a:r>
              <a:rPr lang="ru" sz="1800" dirty="0">
                <a:solidFill>
                  <a:srgbClr val="1E1F21"/>
                </a:solidFill>
              </a:rPr>
              <a:t>интересный вам проект с </a:t>
            </a:r>
            <a:r>
              <a:rPr lang="en-US" sz="1800" dirty="0">
                <a:solidFill>
                  <a:srgbClr val="1E1F21"/>
                </a:solidFill>
                <a:hlinkClick r:id="rId3"/>
              </a:rPr>
              <a:t>https://www.kaggle.com</a:t>
            </a:r>
            <a:r>
              <a:rPr lang="ru" sz="1800" dirty="0">
                <a:solidFill>
                  <a:srgbClr val="1E1F21"/>
                </a:solidFill>
              </a:rPr>
              <a:t>.</a:t>
            </a:r>
            <a:endParaRPr sz="1800" dirty="0">
              <a:solidFill>
                <a:srgbClr val="1E1F21"/>
              </a:solidFill>
            </a:endParaRPr>
          </a:p>
        </p:txBody>
      </p:sp>
      <p:sp>
        <p:nvSpPr>
          <p:cNvPr id="297" name="Google Shape;297;p66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Как выбрать тему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9705110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66"/>
          <p:cNvSpPr txBox="1">
            <a:spLocks noGrp="1"/>
          </p:cNvSpPr>
          <p:nvPr>
            <p:ph type="body" idx="4294967295"/>
          </p:nvPr>
        </p:nvSpPr>
        <p:spPr>
          <a:xfrm>
            <a:off x="503793" y="1200150"/>
            <a:ext cx="7723800" cy="365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Постановка </a:t>
            </a:r>
            <a:r>
              <a:rPr lang="en-US" sz="1400" b="0" dirty="0">
                <a:solidFill>
                  <a:srgbClr val="1E1F21"/>
                </a:solidFill>
              </a:rPr>
              <a:t>ML </a:t>
            </a:r>
            <a:r>
              <a:rPr lang="ru-RU" sz="1400" b="0" dirty="0">
                <a:solidFill>
                  <a:srgbClr val="1E1F21"/>
                </a:solidFill>
              </a:rPr>
              <a:t>задачи;</a:t>
            </a: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Конвейер предобработки данных. Данные будут храниться на облачном ресурсе, например </a:t>
            </a:r>
            <a:r>
              <a:rPr lang="en-US" sz="1400" b="0" dirty="0">
                <a:solidFill>
                  <a:srgbClr val="1E1F21"/>
                </a:solidFill>
              </a:rPr>
              <a:t>S3.</a:t>
            </a:r>
            <a:endParaRPr lang="ru-RU" sz="1400" b="0" dirty="0">
              <a:solidFill>
                <a:srgbClr val="1E1F21"/>
              </a:solidFill>
            </a:endParaRP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Создание модели и </a:t>
            </a:r>
            <a:r>
              <a:rPr lang="ru-RU" sz="1400" b="0" dirty="0" err="1">
                <a:solidFill>
                  <a:srgbClr val="1E1F21"/>
                </a:solidFill>
              </a:rPr>
              <a:t>фиче-инжениринг</a:t>
            </a:r>
            <a:r>
              <a:rPr lang="en-US" sz="1400" b="0" dirty="0">
                <a:solidFill>
                  <a:srgbClr val="1E1F21"/>
                </a:solidFill>
              </a:rPr>
              <a:t>.</a:t>
            </a:r>
            <a:endParaRPr lang="ru-RU" sz="1400" b="0" dirty="0">
              <a:solidFill>
                <a:srgbClr val="1E1F21"/>
              </a:solidFill>
            </a:endParaRP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Обучение модели.</a:t>
            </a:r>
            <a:r>
              <a:rPr lang="en-US" sz="1400" b="0" dirty="0">
                <a:solidFill>
                  <a:srgbClr val="1E1F21"/>
                </a:solidFill>
              </a:rPr>
              <a:t> </a:t>
            </a:r>
            <a:r>
              <a:rPr lang="ru-RU" sz="1400" b="0" dirty="0" err="1">
                <a:solidFill>
                  <a:srgbClr val="1E1F21"/>
                </a:solidFill>
              </a:rPr>
              <a:t>Логирование</a:t>
            </a:r>
            <a:r>
              <a:rPr lang="ru-RU" sz="1400" b="0" dirty="0">
                <a:solidFill>
                  <a:srgbClr val="1E1F21"/>
                </a:solidFill>
              </a:rPr>
              <a:t> метрик.</a:t>
            </a: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en-US" sz="1400" b="0" dirty="0">
                <a:solidFill>
                  <a:srgbClr val="1E1F21"/>
                </a:solidFill>
              </a:rPr>
              <a:t>CI/CD </a:t>
            </a:r>
            <a:r>
              <a:rPr lang="ru-RU" sz="1400" b="0" dirty="0">
                <a:solidFill>
                  <a:srgbClr val="1E1F21"/>
                </a:solidFill>
              </a:rPr>
              <a:t>конвейер – создание </a:t>
            </a:r>
            <a:r>
              <a:rPr lang="en-US" sz="1400" b="0" dirty="0">
                <a:solidFill>
                  <a:srgbClr val="1E1F21"/>
                </a:solidFill>
              </a:rPr>
              <a:t>docker</a:t>
            </a:r>
            <a:r>
              <a:rPr lang="ru-RU" sz="1400" b="0" dirty="0">
                <a:solidFill>
                  <a:srgbClr val="1E1F21"/>
                </a:solidFill>
              </a:rPr>
              <a:t> образа из лучшей модели.</a:t>
            </a: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 err="1">
                <a:solidFill>
                  <a:srgbClr val="1E1F21"/>
                </a:solidFill>
              </a:rPr>
              <a:t>Деплой</a:t>
            </a:r>
            <a:r>
              <a:rPr lang="ru-RU" sz="1400" b="0" dirty="0">
                <a:solidFill>
                  <a:srgbClr val="1E1F21"/>
                </a:solidFill>
              </a:rPr>
              <a:t> модели в </a:t>
            </a:r>
            <a:r>
              <a:rPr lang="en-US" sz="1400" b="0" dirty="0">
                <a:solidFill>
                  <a:srgbClr val="1E1F21"/>
                </a:solidFill>
              </a:rPr>
              <a:t>k8s. </a:t>
            </a:r>
            <a:r>
              <a:rPr lang="ru-RU" sz="1400" b="0" dirty="0">
                <a:solidFill>
                  <a:srgbClr val="1E1F21"/>
                </a:solidFill>
              </a:rPr>
              <a:t>Масштабирование под нагрузку.</a:t>
            </a:r>
            <a:endParaRPr lang="en-US" sz="1400" b="0" dirty="0">
              <a:solidFill>
                <a:srgbClr val="1E1F21"/>
              </a:solidFill>
            </a:endParaRP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Переобучение модели по расписанию и/или деградации метрик качества и раскатка лучшей модели в </a:t>
            </a:r>
            <a:r>
              <a:rPr lang="en-US" sz="1400" b="0" dirty="0">
                <a:solidFill>
                  <a:srgbClr val="1E1F21"/>
                </a:solidFill>
              </a:rPr>
              <a:t>k8s.</a:t>
            </a:r>
            <a:endParaRPr lang="ru-RU" sz="1400" b="0" dirty="0">
              <a:solidFill>
                <a:srgbClr val="1E1F21"/>
              </a:solidFill>
            </a:endParaRP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Мониторинг метрик и нагрузки и оповещение.</a:t>
            </a: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Все этапы формируются скриптами.</a:t>
            </a: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Формат сдачи – ссылка на </a:t>
            </a:r>
            <a:r>
              <a:rPr lang="en-US" sz="1400" b="0" dirty="0">
                <a:solidFill>
                  <a:srgbClr val="1E1F21"/>
                </a:solidFill>
              </a:rPr>
              <a:t>git </a:t>
            </a:r>
            <a:r>
              <a:rPr lang="ru-RU" sz="1400" b="0" dirty="0">
                <a:solidFill>
                  <a:srgbClr val="1E1F21"/>
                </a:solidFill>
              </a:rPr>
              <a:t>репозиторий.</a:t>
            </a:r>
            <a:endParaRPr sz="1400" b="0" dirty="0">
              <a:solidFill>
                <a:srgbClr val="1E1F21"/>
              </a:solidFill>
            </a:endParaRPr>
          </a:p>
        </p:txBody>
      </p:sp>
      <p:sp>
        <p:nvSpPr>
          <p:cNvPr id="297" name="Google Shape;297;p66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Что должно быть в проекте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92331646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ru-RU"/>
              <a:t>Программа</a:t>
            </a:r>
            <a:endParaRPr lang="ru-RU" spc="-10"/>
          </a:p>
        </p:txBody>
      </p:sp>
      <p:pic>
        <p:nvPicPr>
          <p:cNvPr id="18" name="object 1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416463" y="2943932"/>
            <a:ext cx="2989202" cy="1992801"/>
          </a:xfrm>
          <a:prstGeom prst="rect">
            <a:avLst/>
          </a:prstGeom>
        </p:spPr>
      </p:pic>
      <p:graphicFrame>
        <p:nvGraphicFramePr>
          <p:cNvPr id="19" name="object 19"/>
          <p:cNvGraphicFramePr>
            <a:graphicFrameLocks noGrp="1"/>
          </p:cNvGraphicFramePr>
          <p:nvPr/>
        </p:nvGraphicFramePr>
        <p:xfrm>
          <a:off x="5091600" y="542763"/>
          <a:ext cx="2606039" cy="3048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2575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575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575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2575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2575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2575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2575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2575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048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400" spc="-50" dirty="0">
                          <a:latin typeface="Arial"/>
                          <a:cs typeface="Arial"/>
                        </a:rPr>
                        <a:t>1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400" spc="-50" dirty="0">
                          <a:latin typeface="Arial"/>
                          <a:cs typeface="Arial"/>
                        </a:rPr>
                        <a:t>2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400" spc="-50" dirty="0">
                          <a:latin typeface="Arial"/>
                          <a:cs typeface="Arial"/>
                        </a:rPr>
                        <a:t>3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400" spc="-50" dirty="0">
                          <a:latin typeface="Arial"/>
                          <a:cs typeface="Arial"/>
                        </a:rPr>
                        <a:t>4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400" spc="-50" dirty="0">
                          <a:latin typeface="Arial"/>
                          <a:cs typeface="Arial"/>
                        </a:rPr>
                        <a:t>5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400" spc="-50" dirty="0">
                          <a:latin typeface="Arial"/>
                          <a:cs typeface="Arial"/>
                        </a:rPr>
                        <a:t>6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400" spc="-50" dirty="0">
                          <a:latin typeface="Arial"/>
                          <a:cs typeface="Arial"/>
                        </a:rPr>
                        <a:t>7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400" spc="-50" dirty="0">
                          <a:latin typeface="Arial"/>
                          <a:cs typeface="Arial"/>
                        </a:rPr>
                        <a:t>8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B3CE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0" name="object 20"/>
          <p:cNvSpPr txBox="1"/>
          <p:nvPr/>
        </p:nvSpPr>
        <p:spPr>
          <a:xfrm>
            <a:off x="1233721" y="1921764"/>
            <a:ext cx="526415" cy="22826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1400" dirty="0">
                <a:solidFill>
                  <a:schemeClr val="tx1"/>
                </a:solidFill>
                <a:latin typeface="Calibri"/>
                <a:cs typeface="Calibri"/>
              </a:rPr>
              <a:t>27</a:t>
            </a:r>
            <a:r>
              <a:rPr sz="1400" dirty="0">
                <a:solidFill>
                  <a:schemeClr val="tx1"/>
                </a:solidFill>
                <a:latin typeface="Calibri"/>
                <a:cs typeface="Calibri"/>
              </a:rPr>
              <a:t>.</a:t>
            </a:r>
            <a:r>
              <a:rPr lang="en-US" sz="1400" dirty="0">
                <a:solidFill>
                  <a:schemeClr val="tx1"/>
                </a:solidFill>
                <a:latin typeface="Calibri"/>
                <a:cs typeface="Calibri"/>
              </a:rPr>
              <a:t>05</a:t>
            </a:r>
            <a:r>
              <a:rPr sz="1400" spc="-40" dirty="0">
                <a:solidFill>
                  <a:schemeClr val="tx1"/>
                </a:solidFill>
                <a:latin typeface="Calibri"/>
                <a:cs typeface="Calibri"/>
              </a:rPr>
              <a:t> </a:t>
            </a:r>
            <a:r>
              <a:rPr sz="1400" spc="-50" dirty="0">
                <a:solidFill>
                  <a:schemeClr val="tx1"/>
                </a:solidFill>
                <a:latin typeface="Calibri"/>
                <a:cs typeface="Calibri"/>
              </a:rPr>
              <a:t>-</a:t>
            </a:r>
            <a:endParaRPr sz="1400" dirty="0">
              <a:solidFill>
                <a:schemeClr val="tx1"/>
              </a:solidFill>
              <a:latin typeface="Calibri"/>
              <a:cs typeface="Calibri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1233721" y="2455164"/>
            <a:ext cx="526415" cy="22826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1400" dirty="0">
                <a:latin typeface="Calibri"/>
                <a:cs typeface="Calibri"/>
              </a:rPr>
              <a:t>23</a:t>
            </a:r>
            <a:r>
              <a:rPr sz="1400" dirty="0">
                <a:latin typeface="Calibri"/>
                <a:cs typeface="Calibri"/>
              </a:rPr>
              <a:t>.</a:t>
            </a:r>
            <a:r>
              <a:rPr lang="en-US" sz="1400" dirty="0">
                <a:latin typeface="Calibri"/>
                <a:cs typeface="Calibri"/>
              </a:rPr>
              <a:t>06</a:t>
            </a:r>
            <a:r>
              <a:rPr sz="1400" spc="-35" dirty="0">
                <a:latin typeface="Calibri"/>
                <a:cs typeface="Calibri"/>
              </a:rPr>
              <a:t> </a:t>
            </a:r>
            <a:r>
              <a:rPr sz="1400" spc="-50" dirty="0">
                <a:latin typeface="Calibri"/>
                <a:cs typeface="Calibri"/>
              </a:rPr>
              <a:t>-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1237928" y="2982467"/>
            <a:ext cx="526415" cy="22826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1400" dirty="0">
                <a:latin typeface="Calibri"/>
                <a:cs typeface="Calibri"/>
              </a:rPr>
              <a:t>01</a:t>
            </a:r>
            <a:r>
              <a:rPr sz="1400" dirty="0">
                <a:latin typeface="Calibri"/>
                <a:cs typeface="Calibri"/>
              </a:rPr>
              <a:t>.</a:t>
            </a:r>
            <a:r>
              <a:rPr lang="en-US" sz="1400" dirty="0">
                <a:latin typeface="Calibri"/>
                <a:cs typeface="Calibri"/>
              </a:rPr>
              <a:t>07</a:t>
            </a:r>
            <a:r>
              <a:rPr sz="1400" spc="-35" dirty="0">
                <a:latin typeface="Calibri"/>
                <a:cs typeface="Calibri"/>
              </a:rPr>
              <a:t> </a:t>
            </a:r>
            <a:r>
              <a:rPr sz="1400" spc="-50" dirty="0">
                <a:latin typeface="Calibri"/>
                <a:cs typeface="Calibri"/>
              </a:rPr>
              <a:t>-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23" name="object 22">
            <a:extLst>
              <a:ext uri="{FF2B5EF4-FFF2-40B4-BE49-F238E27FC236}">
                <a16:creationId xmlns:a16="http://schemas.microsoft.com/office/drawing/2014/main" id="{6D51FBD1-EE22-BB4C-B22B-62B217530E17}"/>
              </a:ext>
            </a:extLst>
          </p:cNvPr>
          <p:cNvSpPr txBox="1"/>
          <p:nvPr/>
        </p:nvSpPr>
        <p:spPr>
          <a:xfrm>
            <a:off x="1233721" y="3509770"/>
            <a:ext cx="526415" cy="22826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1400" dirty="0">
                <a:latin typeface="Calibri"/>
                <a:cs typeface="Calibri"/>
              </a:rPr>
              <a:t>04</a:t>
            </a:r>
            <a:r>
              <a:rPr sz="1400" dirty="0">
                <a:latin typeface="Calibri"/>
                <a:cs typeface="Calibri"/>
              </a:rPr>
              <a:t>.</a:t>
            </a:r>
            <a:r>
              <a:rPr lang="en-US" sz="1400" dirty="0">
                <a:latin typeface="Calibri"/>
                <a:cs typeface="Calibri"/>
              </a:rPr>
              <a:t>07</a:t>
            </a:r>
            <a:r>
              <a:rPr sz="1400" spc="-35" dirty="0">
                <a:latin typeface="Calibri"/>
                <a:cs typeface="Calibri"/>
              </a:rPr>
              <a:t> </a:t>
            </a:r>
            <a:r>
              <a:rPr sz="1400" spc="-50" dirty="0">
                <a:latin typeface="Calibri"/>
                <a:cs typeface="Calibri"/>
              </a:rPr>
              <a:t>-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F7915779-E234-3C4D-BA4F-EE25401C044E}"/>
              </a:ext>
            </a:extLst>
          </p:cNvPr>
          <p:cNvSpPr/>
          <p:nvPr/>
        </p:nvSpPr>
        <p:spPr>
          <a:xfrm>
            <a:off x="579274" y="1051909"/>
            <a:ext cx="2613025" cy="579755"/>
          </a:xfrm>
          <a:prstGeom prst="roundRect">
            <a:avLst/>
          </a:prstGeom>
          <a:solidFill>
            <a:srgbClr val="FFD9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Курсовой проект</a:t>
            </a:r>
            <a:endParaRPr lang="en-US" dirty="0">
              <a:solidFill>
                <a:schemeClr val="tx1"/>
              </a:solidFill>
            </a:endParaRPr>
          </a:p>
        </p:txBody>
      </p:sp>
      <p:pic>
        <p:nvPicPr>
          <p:cNvPr id="17" name="object 1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613799" y="1160272"/>
            <a:ext cx="419929" cy="396000"/>
          </a:xfrm>
          <a:prstGeom prst="rect">
            <a:avLst/>
          </a:prstGeom>
        </p:spPr>
      </p:pic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6DFC3E53-6FFD-6D45-903D-08C54E65F5DB}"/>
              </a:ext>
            </a:extLst>
          </p:cNvPr>
          <p:cNvSpPr/>
          <p:nvPr/>
        </p:nvSpPr>
        <p:spPr>
          <a:xfrm>
            <a:off x="2225090" y="3445335"/>
            <a:ext cx="3051175" cy="396240"/>
          </a:xfrm>
          <a:prstGeom prst="roundRect">
            <a:avLst/>
          </a:prstGeom>
          <a:solidFill>
            <a:srgbClr val="FFD9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ru-RU" sz="1400" dirty="0">
                <a:solidFill>
                  <a:schemeClr val="tx1"/>
                </a:solidFill>
              </a:rPr>
              <a:t>Завершение курса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A6298207-2573-9240-B60B-F5E23F446C25}"/>
              </a:ext>
            </a:extLst>
          </p:cNvPr>
          <p:cNvSpPr/>
          <p:nvPr/>
        </p:nvSpPr>
        <p:spPr>
          <a:xfrm>
            <a:off x="2225090" y="2922971"/>
            <a:ext cx="3051175" cy="396240"/>
          </a:xfrm>
          <a:prstGeom prst="roundRect">
            <a:avLst/>
          </a:prstGeom>
          <a:solidFill>
            <a:srgbClr val="FFD9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ru-RU" sz="1400" dirty="0">
                <a:solidFill>
                  <a:schemeClr val="tx1"/>
                </a:solidFill>
              </a:rPr>
              <a:t>Защита проектных работ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09675E17-BE43-F34E-98F1-0CFEA89B0E2E}"/>
              </a:ext>
            </a:extLst>
          </p:cNvPr>
          <p:cNvSpPr/>
          <p:nvPr/>
        </p:nvSpPr>
        <p:spPr>
          <a:xfrm>
            <a:off x="2225090" y="2400609"/>
            <a:ext cx="5356225" cy="396240"/>
          </a:xfrm>
          <a:prstGeom prst="roundRect">
            <a:avLst/>
          </a:prstGeom>
          <a:solidFill>
            <a:srgbClr val="FFD966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ru-RU" sz="1400" dirty="0">
                <a:solidFill>
                  <a:schemeClr val="tx1"/>
                </a:solidFill>
              </a:rPr>
              <a:t>Консультация по проектам и домашним заданиям</a:t>
            </a:r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612C9734-FC8F-C24C-940E-4BD2B5FA68F3}"/>
              </a:ext>
            </a:extLst>
          </p:cNvPr>
          <p:cNvSpPr/>
          <p:nvPr/>
        </p:nvSpPr>
        <p:spPr>
          <a:xfrm>
            <a:off x="2225090" y="1857286"/>
            <a:ext cx="5356225" cy="396240"/>
          </a:xfrm>
          <a:prstGeom prst="roundRect">
            <a:avLst/>
          </a:prstGeom>
          <a:solidFill>
            <a:srgbClr val="FFD966"/>
          </a:solidFill>
          <a:ln>
            <a:noFill/>
          </a:ln>
          <a:effectLst>
            <a:glow rad="139700">
              <a:schemeClr val="accent1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ru-RU" sz="1400" dirty="0">
                <a:solidFill>
                  <a:schemeClr val="tx1"/>
                </a:solidFill>
              </a:rPr>
              <a:t>Выбор темы и организация проектной работы</a:t>
            </a:r>
          </a:p>
        </p:txBody>
      </p:sp>
      <p:cxnSp>
        <p:nvCxnSpPr>
          <p:cNvPr id="28" name="Elbow Connector 27">
            <a:extLst>
              <a:ext uri="{FF2B5EF4-FFF2-40B4-BE49-F238E27FC236}">
                <a16:creationId xmlns:a16="http://schemas.microsoft.com/office/drawing/2014/main" id="{63630A9D-7233-354A-9488-10021EC04EFB}"/>
              </a:ext>
            </a:extLst>
          </p:cNvPr>
          <p:cNvCxnSpPr>
            <a:stCxn id="14" idx="2"/>
            <a:endCxn id="27" idx="1"/>
          </p:cNvCxnSpPr>
          <p:nvPr/>
        </p:nvCxnSpPr>
        <p:spPr>
          <a:xfrm rot="16200000" flipH="1">
            <a:off x="1843567" y="1673883"/>
            <a:ext cx="423742" cy="339303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Elbow Connector 28">
            <a:extLst>
              <a:ext uri="{FF2B5EF4-FFF2-40B4-BE49-F238E27FC236}">
                <a16:creationId xmlns:a16="http://schemas.microsoft.com/office/drawing/2014/main" id="{892DAF46-096B-324F-B3B3-A6787F8D1DFE}"/>
              </a:ext>
            </a:extLst>
          </p:cNvPr>
          <p:cNvCxnSpPr>
            <a:cxnSpLocks/>
            <a:stCxn id="14" idx="2"/>
            <a:endCxn id="26" idx="1"/>
          </p:cNvCxnSpPr>
          <p:nvPr/>
        </p:nvCxnSpPr>
        <p:spPr>
          <a:xfrm rot="16200000" flipH="1">
            <a:off x="1571906" y="1945544"/>
            <a:ext cx="967065" cy="339303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" name="Elbow Connector 30">
            <a:extLst>
              <a:ext uri="{FF2B5EF4-FFF2-40B4-BE49-F238E27FC236}">
                <a16:creationId xmlns:a16="http://schemas.microsoft.com/office/drawing/2014/main" id="{0DED9A16-3DDE-E148-A5A8-8B84FD095158}"/>
              </a:ext>
            </a:extLst>
          </p:cNvPr>
          <p:cNvCxnSpPr>
            <a:cxnSpLocks/>
            <a:stCxn id="14" idx="2"/>
            <a:endCxn id="25" idx="1"/>
          </p:cNvCxnSpPr>
          <p:nvPr/>
        </p:nvCxnSpPr>
        <p:spPr>
          <a:xfrm rot="16200000" flipH="1">
            <a:off x="1310725" y="2206725"/>
            <a:ext cx="1489427" cy="339303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Elbow Connector 33">
            <a:extLst>
              <a:ext uri="{FF2B5EF4-FFF2-40B4-BE49-F238E27FC236}">
                <a16:creationId xmlns:a16="http://schemas.microsoft.com/office/drawing/2014/main" id="{29D8802E-3943-C54F-8F3F-8B24A3DD8DE1}"/>
              </a:ext>
            </a:extLst>
          </p:cNvPr>
          <p:cNvCxnSpPr>
            <a:cxnSpLocks/>
            <a:stCxn id="14" idx="2"/>
            <a:endCxn id="15" idx="1"/>
          </p:cNvCxnSpPr>
          <p:nvPr/>
        </p:nvCxnSpPr>
        <p:spPr>
          <a:xfrm rot="16200000" flipH="1">
            <a:off x="1049543" y="2467907"/>
            <a:ext cx="2011791" cy="339303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66"/>
          <p:cNvSpPr txBox="1">
            <a:spLocks noGrp="1"/>
          </p:cNvSpPr>
          <p:nvPr>
            <p:ph type="body" idx="4294967295"/>
          </p:nvPr>
        </p:nvSpPr>
        <p:spPr>
          <a:xfrm>
            <a:off x="534597" y="1504950"/>
            <a:ext cx="7723800" cy="274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Постановка</a:t>
            </a:r>
            <a:r>
              <a:rPr lang="en-US" sz="1400" b="0" dirty="0">
                <a:solidFill>
                  <a:srgbClr val="1E1F21"/>
                </a:solidFill>
              </a:rPr>
              <a:t> </a:t>
            </a:r>
            <a:r>
              <a:rPr lang="ru-RU" sz="1400" b="0" dirty="0">
                <a:solidFill>
                  <a:srgbClr val="1E1F21"/>
                </a:solidFill>
              </a:rPr>
              <a:t>задачи;</a:t>
            </a: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Как реализован конвейер предобработки данных. Где хранятся данные</a:t>
            </a:r>
            <a:r>
              <a:rPr lang="en-US" sz="1400" b="0" dirty="0">
                <a:solidFill>
                  <a:srgbClr val="1E1F21"/>
                </a:solidFill>
              </a:rPr>
              <a:t>.</a:t>
            </a:r>
            <a:endParaRPr lang="ru-RU" sz="1400" b="0" dirty="0">
              <a:solidFill>
                <a:srgbClr val="1E1F21"/>
              </a:solidFill>
            </a:endParaRP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Какая модель выбрана и </a:t>
            </a:r>
            <a:r>
              <a:rPr lang="ru-RU" sz="1400" b="0" dirty="0" err="1">
                <a:solidFill>
                  <a:srgbClr val="1E1F21"/>
                </a:solidFill>
              </a:rPr>
              <a:t>фиче-инжениринг</a:t>
            </a:r>
            <a:r>
              <a:rPr lang="en-US" sz="1400" b="0" dirty="0">
                <a:solidFill>
                  <a:srgbClr val="1E1F21"/>
                </a:solidFill>
              </a:rPr>
              <a:t>.</a:t>
            </a:r>
            <a:r>
              <a:rPr lang="ru-RU" sz="1400" b="0" dirty="0">
                <a:solidFill>
                  <a:srgbClr val="1E1F21"/>
                </a:solidFill>
              </a:rPr>
              <a:t> Метрики модели.</a:t>
            </a: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Инфраструктура. Как создавали и контролировали.</a:t>
            </a: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en-US" sz="1400" b="0" dirty="0">
                <a:solidFill>
                  <a:srgbClr val="1E1F21"/>
                </a:solidFill>
              </a:rPr>
              <a:t>CI/CD </a:t>
            </a:r>
            <a:r>
              <a:rPr lang="ru-RU" sz="1400" b="0" dirty="0">
                <a:solidFill>
                  <a:srgbClr val="1E1F21"/>
                </a:solidFill>
              </a:rPr>
              <a:t>конвейер – что включает.</a:t>
            </a: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 err="1">
                <a:solidFill>
                  <a:srgbClr val="1E1F21"/>
                </a:solidFill>
              </a:rPr>
              <a:t>Деплой</a:t>
            </a:r>
            <a:r>
              <a:rPr lang="ru-RU" sz="1400" b="0" dirty="0">
                <a:solidFill>
                  <a:srgbClr val="1E1F21"/>
                </a:solidFill>
              </a:rPr>
              <a:t> модели в </a:t>
            </a:r>
            <a:r>
              <a:rPr lang="en-US" sz="1400" b="0" dirty="0">
                <a:solidFill>
                  <a:srgbClr val="1E1F21"/>
                </a:solidFill>
              </a:rPr>
              <a:t>k8s. </a:t>
            </a:r>
            <a:r>
              <a:rPr lang="ru-RU" sz="1400" b="0" dirty="0">
                <a:solidFill>
                  <a:srgbClr val="1E1F21"/>
                </a:solidFill>
              </a:rPr>
              <a:t>Масштабирование под нагрузку.</a:t>
            </a:r>
            <a:endParaRPr lang="en-US" sz="1400" b="0" dirty="0">
              <a:solidFill>
                <a:srgbClr val="1E1F21"/>
              </a:solidFill>
            </a:endParaRP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 err="1">
                <a:solidFill>
                  <a:srgbClr val="1E1F21"/>
                </a:solidFill>
              </a:rPr>
              <a:t>Трешхолд</a:t>
            </a:r>
            <a:r>
              <a:rPr lang="ru-RU" sz="1400" b="0" dirty="0">
                <a:solidFill>
                  <a:srgbClr val="1E1F21"/>
                </a:solidFill>
              </a:rPr>
              <a:t> метрик и организация переобучения модели</a:t>
            </a:r>
            <a:r>
              <a:rPr lang="en-US" sz="1400" b="0" dirty="0">
                <a:solidFill>
                  <a:srgbClr val="1E1F21"/>
                </a:solidFill>
              </a:rPr>
              <a:t>.</a:t>
            </a:r>
            <a:endParaRPr lang="ru-RU" sz="1400" b="0" dirty="0">
              <a:solidFill>
                <a:srgbClr val="1E1F21"/>
              </a:solidFill>
            </a:endParaRP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Мониторинг метрик и нагрузки и оповещение.</a:t>
            </a: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Что планировалось на этапе выбора проекта и что получилось. Причины отклонений.</a:t>
            </a:r>
          </a:p>
        </p:txBody>
      </p:sp>
      <p:sp>
        <p:nvSpPr>
          <p:cNvPr id="297" name="Google Shape;297;p66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Защита проекта - презентация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46805039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66"/>
          <p:cNvSpPr txBox="1">
            <a:spLocks noGrp="1"/>
          </p:cNvSpPr>
          <p:nvPr>
            <p:ph type="body" idx="4294967295"/>
          </p:nvPr>
        </p:nvSpPr>
        <p:spPr>
          <a:xfrm>
            <a:off x="534597" y="1504950"/>
            <a:ext cx="7723800" cy="274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Сосредоточьтесь не на модели и метриках, а на процессах и автоматизации.</a:t>
            </a: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Модель может быть любой (примитивной) она присутствует для иллюстрации автоматизации процесса</a:t>
            </a:r>
            <a:r>
              <a:rPr lang="en-US" sz="1400" b="0" dirty="0">
                <a:solidFill>
                  <a:srgbClr val="1E1F21"/>
                </a:solidFill>
              </a:rPr>
              <a:t>.</a:t>
            </a:r>
            <a:endParaRPr lang="ru-RU" sz="1400" b="0" dirty="0">
              <a:solidFill>
                <a:srgbClr val="1E1F21"/>
              </a:solidFill>
            </a:endParaRP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Используйте облачные технологии.</a:t>
            </a:r>
          </a:p>
          <a:p>
            <a:pPr marL="457200" indent="-342900" algn="l" rtl="0">
              <a:lnSpc>
                <a:spcPct val="115000"/>
              </a:lnSpc>
              <a:spcAft>
                <a:spcPts val="600"/>
              </a:spcAft>
              <a:buClr>
                <a:srgbClr val="FF7700"/>
              </a:buClr>
              <a:buSzPts val="1800"/>
              <a:buFontTx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Помните про </a:t>
            </a:r>
            <a:r>
              <a:rPr lang="en-US" sz="1400" b="0" dirty="0">
                <a:solidFill>
                  <a:srgbClr val="1E1F21"/>
                </a:solidFill>
              </a:rPr>
              <a:t>AGILE. </a:t>
            </a:r>
            <a:r>
              <a:rPr lang="ru-RU" sz="1400" b="0" dirty="0">
                <a:solidFill>
                  <a:srgbClr val="1E1F21"/>
                </a:solidFill>
              </a:rPr>
              <a:t>Начните с </a:t>
            </a:r>
            <a:r>
              <a:rPr lang="en-US" sz="1400" b="0" dirty="0">
                <a:solidFill>
                  <a:srgbClr val="1E1F21"/>
                </a:solidFill>
              </a:rPr>
              <a:t>MVP </a:t>
            </a:r>
            <a:r>
              <a:rPr lang="ru-RU" sz="1400" b="0" dirty="0">
                <a:solidFill>
                  <a:srgbClr val="1E1F21"/>
                </a:solidFill>
              </a:rPr>
              <a:t>и наращивайте функциональность.</a:t>
            </a: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Все решения оформляйте в репозитории. </a:t>
            </a: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Для каждого шага открывайте ветку, добивайтесь стабильной работы и потом сливайте ее в основную ветку. Формируйте метки релизов для каждого этапа.</a:t>
            </a:r>
          </a:p>
        </p:txBody>
      </p:sp>
      <p:sp>
        <p:nvSpPr>
          <p:cNvPr id="297" name="Google Shape;297;p66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Курсовой проект - рекомендации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72958192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579274" y="873252"/>
            <a:ext cx="7068184" cy="5052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200" b="1" spc="-50" dirty="0">
                <a:latin typeface="Trebuchet MS"/>
                <a:cs typeface="Trebuchet MS"/>
              </a:rPr>
              <a:t>Приходите</a:t>
            </a:r>
            <a:r>
              <a:rPr sz="3200" b="1" spc="-190" dirty="0">
                <a:latin typeface="Trebuchet MS"/>
                <a:cs typeface="Trebuchet MS"/>
              </a:rPr>
              <a:t> </a:t>
            </a:r>
            <a:r>
              <a:rPr sz="3200" b="1" spc="-20" dirty="0">
                <a:latin typeface="Trebuchet MS"/>
                <a:cs typeface="Trebuchet MS"/>
              </a:rPr>
              <a:t>на</a:t>
            </a:r>
            <a:r>
              <a:rPr sz="3200" b="1" spc="-180" dirty="0">
                <a:latin typeface="Trebuchet MS"/>
                <a:cs typeface="Trebuchet MS"/>
              </a:rPr>
              <a:t> </a:t>
            </a:r>
            <a:r>
              <a:rPr sz="3200" b="1" spc="-30" dirty="0" err="1">
                <a:latin typeface="Trebuchet MS"/>
                <a:cs typeface="Trebuchet MS"/>
              </a:rPr>
              <a:t>следующие</a:t>
            </a:r>
            <a:r>
              <a:rPr sz="3200" b="1" spc="-185" dirty="0">
                <a:latin typeface="Trebuchet MS"/>
                <a:cs typeface="Trebuchet MS"/>
              </a:rPr>
              <a:t> </a:t>
            </a:r>
            <a:r>
              <a:rPr sz="3200" b="1" spc="-10" dirty="0">
                <a:latin typeface="Trebuchet MS"/>
                <a:cs typeface="Trebuchet MS"/>
              </a:rPr>
              <a:t>вебинары</a:t>
            </a:r>
            <a:endParaRPr sz="3200" dirty="0">
              <a:latin typeface="Trebuchet MS"/>
              <a:cs typeface="Trebuchet MS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579274" y="522223"/>
            <a:ext cx="2023110" cy="254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500" b="0" dirty="0">
                <a:solidFill>
                  <a:srgbClr val="FF9900"/>
                </a:solidFill>
                <a:latin typeface="Trebuchet MS"/>
                <a:cs typeface="Trebuchet MS"/>
              </a:rPr>
              <a:t>Спасибо</a:t>
            </a:r>
            <a:r>
              <a:rPr sz="1500" b="0" spc="20" dirty="0">
                <a:solidFill>
                  <a:srgbClr val="FF9900"/>
                </a:solidFill>
                <a:latin typeface="Trebuchet MS"/>
                <a:cs typeface="Trebuchet MS"/>
              </a:rPr>
              <a:t> </a:t>
            </a:r>
            <a:r>
              <a:rPr sz="1500" b="0" spc="55" dirty="0">
                <a:solidFill>
                  <a:srgbClr val="FF9900"/>
                </a:solidFill>
                <a:latin typeface="Trebuchet MS"/>
                <a:cs typeface="Trebuchet MS"/>
              </a:rPr>
              <a:t>за</a:t>
            </a:r>
            <a:r>
              <a:rPr sz="1500" b="0" spc="35" dirty="0">
                <a:solidFill>
                  <a:srgbClr val="FF9900"/>
                </a:solidFill>
                <a:latin typeface="Trebuchet MS"/>
                <a:cs typeface="Trebuchet MS"/>
              </a:rPr>
              <a:t> </a:t>
            </a:r>
            <a:r>
              <a:rPr sz="1500" b="0" spc="-10" dirty="0">
                <a:solidFill>
                  <a:srgbClr val="FF9900"/>
                </a:solidFill>
                <a:latin typeface="Trebuchet MS"/>
                <a:cs typeface="Trebuchet MS"/>
              </a:rPr>
              <a:t>внимание!</a:t>
            </a:r>
            <a:endParaRPr sz="1500">
              <a:latin typeface="Trebuchet MS"/>
              <a:cs typeface="Trebuchet MS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606551" y="2703050"/>
            <a:ext cx="2115820" cy="2439035"/>
            <a:chOff x="606551" y="2703050"/>
            <a:chExt cx="2115820" cy="2439035"/>
          </a:xfrm>
        </p:grpSpPr>
        <p:sp>
          <p:nvSpPr>
            <p:cNvPr id="5" name="object 5"/>
            <p:cNvSpPr/>
            <p:nvPr/>
          </p:nvSpPr>
          <p:spPr>
            <a:xfrm>
              <a:off x="629999" y="2703050"/>
              <a:ext cx="1034415" cy="1983739"/>
            </a:xfrm>
            <a:custGeom>
              <a:avLst/>
              <a:gdLst/>
              <a:ahLst/>
              <a:cxnLst/>
              <a:rect l="l" t="t" r="r" b="b"/>
              <a:pathLst>
                <a:path w="1034414" h="1983739">
                  <a:moveTo>
                    <a:pt x="1033800" y="0"/>
                  </a:moveTo>
                  <a:lnTo>
                    <a:pt x="0" y="0"/>
                  </a:lnTo>
                  <a:lnTo>
                    <a:pt x="0" y="1983599"/>
                  </a:lnTo>
                  <a:lnTo>
                    <a:pt x="1033800" y="1983599"/>
                  </a:lnTo>
                  <a:lnTo>
                    <a:pt x="1033800" y="0"/>
                  </a:lnTo>
                  <a:close/>
                </a:path>
              </a:pathLst>
            </a:custGeom>
            <a:solidFill>
              <a:srgbClr val="FFAB4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6" name="object 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06551" y="2846831"/>
              <a:ext cx="2115312" cy="2295144"/>
            </a:xfrm>
            <a:prstGeom prst="rect">
              <a:avLst/>
            </a:prstGeom>
          </p:spPr>
        </p:pic>
      </p:grpSp>
      <p:sp>
        <p:nvSpPr>
          <p:cNvPr id="10" name="Google Shape;208;p48">
            <a:extLst>
              <a:ext uri="{FF2B5EF4-FFF2-40B4-BE49-F238E27FC236}">
                <a16:creationId xmlns:a16="http://schemas.microsoft.com/office/drawing/2014/main" id="{F45B4F46-1E82-E94D-A2CF-50DA3C5B7EC6}"/>
              </a:ext>
            </a:extLst>
          </p:cNvPr>
          <p:cNvSpPr txBox="1">
            <a:spLocks/>
          </p:cNvSpPr>
          <p:nvPr/>
        </p:nvSpPr>
        <p:spPr>
          <a:xfrm>
            <a:off x="3082400" y="2302060"/>
            <a:ext cx="5856300" cy="396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20000"/>
          </a:bodyPr>
          <a:lstStyle>
            <a:lvl1pPr marL="0">
              <a:defRPr>
                <a:latin typeface="+mn-lt"/>
                <a:ea typeface="+mn-ea"/>
                <a:cs typeface="+mn-cs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pPr algn="l" rtl="0"/>
            <a:r>
              <a:rPr lang="ru-RU" b="1" dirty="0"/>
              <a:t>Игорь Стурейко</a:t>
            </a:r>
          </a:p>
        </p:txBody>
      </p:sp>
      <p:sp>
        <p:nvSpPr>
          <p:cNvPr id="11" name="Google Shape;209;p48">
            <a:extLst>
              <a:ext uri="{FF2B5EF4-FFF2-40B4-BE49-F238E27FC236}">
                <a16:creationId xmlns:a16="http://schemas.microsoft.com/office/drawing/2014/main" id="{D033A29A-5C61-8440-A7AA-1A792E6BB829}"/>
              </a:ext>
            </a:extLst>
          </p:cNvPr>
          <p:cNvSpPr txBox="1">
            <a:spLocks/>
          </p:cNvSpPr>
          <p:nvPr/>
        </p:nvSpPr>
        <p:spPr>
          <a:xfrm>
            <a:off x="3082400" y="2701811"/>
            <a:ext cx="5938750" cy="21336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85000" lnSpcReduction="20000"/>
          </a:bodyPr>
          <a:lstStyle>
            <a:lvl1pPr marL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470025" indent="-1465263">
              <a:tabLst>
                <a:tab pos="1465263" algn="l"/>
              </a:tabLst>
            </a:pPr>
            <a:r>
              <a:rPr lang="ru-RU" sz="1150" b="1" kern="0" dirty="0"/>
              <a:t>Руководитель курсов: </a:t>
            </a:r>
            <a:r>
              <a:rPr lang="en-US" sz="1150" b="1" kern="0" dirty="0"/>
              <a:t>	Reinforcement Learning, ML Professional, ML Basic, </a:t>
            </a:r>
            <a:br>
              <a:rPr lang="en-US" sz="1150" b="1" kern="0" dirty="0"/>
            </a:br>
            <a:r>
              <a:rPr lang="en-US" sz="1150" b="1" kern="0" dirty="0" err="1"/>
              <a:t>MLOps</a:t>
            </a:r>
            <a:r>
              <a:rPr lang="en-US" sz="1150" b="1" kern="0" dirty="0"/>
              <a:t>, </a:t>
            </a:r>
            <a:r>
              <a:rPr lang="en-US" sz="1150" b="1" kern="0" dirty="0" err="1"/>
              <a:t>FinML</a:t>
            </a:r>
            <a:endParaRPr lang="en-US" sz="1150" b="1" kern="0" dirty="0"/>
          </a:p>
          <a:p>
            <a:pPr rtl="0"/>
            <a:endParaRPr lang="en-US" sz="1150" b="1" kern="0" dirty="0"/>
          </a:p>
          <a:p>
            <a:pPr rtl="0"/>
            <a:r>
              <a:rPr lang="en-US" sz="1150" b="1" kern="0" dirty="0" err="1"/>
              <a:t>Teamlead</a:t>
            </a:r>
            <a:r>
              <a:rPr lang="en-US" sz="1150" b="1" kern="0" dirty="0"/>
              <a:t>, </a:t>
            </a:r>
            <a:r>
              <a:rPr lang="ru-RU" sz="1150" b="1" kern="0" dirty="0"/>
              <a:t>главный инженер проекта, </a:t>
            </a:r>
          </a:p>
          <a:p>
            <a:pPr rtl="0"/>
            <a:r>
              <a:rPr lang="ru-RU" sz="1150" b="1" kern="0" dirty="0"/>
              <a:t>Физический факультет МГУ, </a:t>
            </a:r>
            <a:r>
              <a:rPr lang="en-US" sz="1150" b="1" kern="0" dirty="0"/>
              <a:t>PhD </a:t>
            </a:r>
            <a:r>
              <a:rPr lang="ru-RU" sz="1150" b="1" kern="0" dirty="0"/>
              <a:t>теоретическая физика</a:t>
            </a:r>
          </a:p>
          <a:p>
            <a:pPr rtl="0"/>
            <a:endParaRPr lang="ru-RU" sz="1150" kern="0" dirty="0"/>
          </a:p>
          <a:p>
            <a:pPr rtl="0"/>
            <a:r>
              <a:rPr lang="ru-RU" sz="1150" b="1" kern="0" dirty="0"/>
              <a:t>Опыт:</a:t>
            </a:r>
            <a:endParaRPr lang="ru-RU" sz="1150" kern="0" dirty="0"/>
          </a:p>
          <a:p>
            <a:pPr rtl="0"/>
            <a:r>
              <a:rPr lang="ru-RU" sz="1150" kern="0" dirty="0"/>
              <a:t>Более 15 лет занимался прикладной математикой и мат моделированием</a:t>
            </a:r>
          </a:p>
          <a:p>
            <a:pPr rtl="0"/>
            <a:r>
              <a:rPr lang="ru-RU" sz="1150" kern="0" dirty="0"/>
              <a:t>(</a:t>
            </a:r>
            <a:r>
              <a:rPr lang="en-US" sz="1150" kern="0" dirty="0"/>
              <a:t>Data Scientist) (Python, </a:t>
            </a:r>
            <a:r>
              <a:rPr lang="ru-RU" sz="1150" kern="0" dirty="0"/>
              <a:t>С++) в НИИ ПАО Газпром</a:t>
            </a:r>
          </a:p>
          <a:p>
            <a:pPr rtl="0"/>
            <a:endParaRPr lang="ru-RU" sz="1150" kern="0" dirty="0"/>
          </a:p>
          <a:p>
            <a:pPr rtl="0"/>
            <a:endParaRPr lang="ru-RU" sz="1150" b="1" kern="0" dirty="0"/>
          </a:p>
          <a:p>
            <a:pPr rtl="0"/>
            <a:r>
              <a:rPr lang="ru-RU" sz="1150" b="1" kern="0" dirty="0"/>
              <a:t>@</a:t>
            </a:r>
            <a:r>
              <a:rPr lang="en-US" sz="1150" b="1" kern="0" dirty="0" err="1"/>
              <a:t>stureiko</a:t>
            </a:r>
            <a:r>
              <a:rPr lang="en-US" sz="1150" b="1" kern="0" dirty="0"/>
              <a:t> (TG)</a:t>
            </a:r>
          </a:p>
          <a:p>
            <a:pPr rtl="0"/>
            <a:endParaRPr lang="en-US" sz="1150" b="1" kern="0" dirty="0"/>
          </a:p>
          <a:p>
            <a:pPr rtl="0"/>
            <a:r>
              <a:rPr lang="en-US" sz="1150" b="1" kern="0" dirty="0"/>
              <a:t>LinkedIn: </a:t>
            </a:r>
            <a:r>
              <a:rPr lang="en-US" sz="1150" kern="0" dirty="0">
                <a:hlinkClick r:id="rId3"/>
              </a:rPr>
              <a:t>igor-stureiko</a:t>
            </a:r>
            <a:r>
              <a:rPr lang="en-US" sz="1150" kern="0" dirty="0"/>
              <a:t> </a:t>
            </a:r>
          </a:p>
          <a:p>
            <a:pPr rtl="0"/>
            <a:endParaRPr lang="en-US" sz="1150" kern="0" dirty="0"/>
          </a:p>
          <a:p>
            <a:pPr rtl="0"/>
            <a:r>
              <a:rPr lang="en-US" sz="1150" b="1" kern="0" dirty="0"/>
              <a:t>@</a:t>
            </a:r>
            <a:r>
              <a:rPr lang="en-US" sz="1150" b="1" kern="0" dirty="0" err="1"/>
              <a:t>rl_fintech</a:t>
            </a:r>
            <a:r>
              <a:rPr lang="en-US" sz="1150" b="1" kern="0" dirty="0"/>
              <a:t> </a:t>
            </a:r>
            <a:r>
              <a:rPr lang="en-US" sz="1150" kern="0" dirty="0"/>
              <a:t>(</a:t>
            </a:r>
            <a:r>
              <a:rPr lang="ru-RU" sz="1150" kern="0" dirty="0"/>
              <a:t>Мой канал о моделях в бизнесе)</a:t>
            </a:r>
            <a:endParaRPr lang="ru-RU" sz="1400" kern="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97A7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357</TotalTime>
  <Words>556</Words>
  <Application>Microsoft Macintosh PowerPoint</Application>
  <PresentationFormat>On-screen Show (16:9)</PresentationFormat>
  <Paragraphs>106</Paragraphs>
  <Slides>11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Arial</vt:lpstr>
      <vt:lpstr>Calibri</vt:lpstr>
      <vt:lpstr>Roboto</vt:lpstr>
      <vt:lpstr>Trebuchet MS</vt:lpstr>
      <vt:lpstr>Office Theme</vt:lpstr>
      <vt:lpstr>MLOps Курсовой проект</vt:lpstr>
      <vt:lpstr>PowerPoint Presentation</vt:lpstr>
      <vt:lpstr>MLOps Курсовой проект</vt:lpstr>
      <vt:lpstr>Маршрут вебинара</vt:lpstr>
      <vt:lpstr>Проектная работа</vt:lpstr>
      <vt:lpstr>Как выбрать тему</vt:lpstr>
      <vt:lpstr>Что должно быть в проекте</vt:lpstr>
      <vt:lpstr>Программа</vt:lpstr>
      <vt:lpstr>Защита проекта - презентация</vt:lpstr>
      <vt:lpstr>Курсовой проект - рекомендации</vt:lpstr>
      <vt:lpstr>Спасибо за внимание!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ML Ops</dc:title>
  <cp:lastModifiedBy>Стурейко Игорь Олегович</cp:lastModifiedBy>
  <cp:revision>15</cp:revision>
  <dcterms:created xsi:type="dcterms:W3CDTF">2024-07-23T07:20:56Z</dcterms:created>
  <dcterms:modified xsi:type="dcterms:W3CDTF">2025-05-27T15:51:19Z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2024-05-22T00:00:00Z</vt:filetime>
  </property>
  <property fmtid="{D5CDD505-2E9C-101B-9397-08002B2CF9AE}" pid="3" name="LastSaved">
    <vt:filetime>2024-07-23T00:00:00Z</vt:filetime>
  </property>
  <property fmtid="{D5CDD505-2E9C-101B-9397-08002B2CF9AE}" pid="4" name="Producer">
    <vt:lpwstr>macOS Version 14.2.1 (Build 23C71) Quartz PDFContext</vt:lpwstr>
  </property>
</Properties>
</file>