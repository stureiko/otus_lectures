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302" r:id="rId17"/>
    <p:sldId id="273" r:id="rId18"/>
    <p:sldId id="274" r:id="rId19"/>
    <p:sldId id="301" r:id="rId20"/>
    <p:sldId id="303" r:id="rId21"/>
    <p:sldId id="305" r:id="rId22"/>
    <p:sldId id="306" r:id="rId23"/>
    <p:sldId id="304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99"/>
    <p:restoredTop sz="94681"/>
  </p:normalViewPr>
  <p:slideViewPr>
    <p:cSldViewPr>
      <p:cViewPr varScale="1">
        <p:scale>
          <a:sx n="280" d="100"/>
          <a:sy n="280" d="100"/>
        </p:scale>
        <p:origin x="1336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9274" y="383031"/>
            <a:ext cx="385508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87699" y="1397762"/>
            <a:ext cx="1944370" cy="3142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FF99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22787" y="1120140"/>
            <a:ext cx="1875790" cy="3541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19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99247" y="4876800"/>
            <a:ext cx="1298448" cy="1463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9274" y="383031"/>
            <a:ext cx="439991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61125" y="2344927"/>
            <a:ext cx="4507230" cy="2405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jpg"/><Relationship Id="rId7" Type="http://schemas.openxmlformats.org/officeDocument/2006/relationships/image" Target="../media/image31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8.png"/><Relationship Id="rId7" Type="http://schemas.openxmlformats.org/officeDocument/2006/relationships/image" Target="../media/image33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jpg"/><Relationship Id="rId5" Type="http://schemas.openxmlformats.org/officeDocument/2006/relationships/image" Target="../media/image30.jpg"/><Relationship Id="rId10" Type="http://schemas.openxmlformats.org/officeDocument/2006/relationships/image" Target="../media/image35.jpg"/><Relationship Id="rId4" Type="http://schemas.openxmlformats.org/officeDocument/2006/relationships/image" Target="../media/image26.jpg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" Type="http://schemas.openxmlformats.org/officeDocument/2006/relationships/image" Target="../media/image51.png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197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23375" y="4416044"/>
            <a:ext cx="756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5" dirty="0">
                <a:solidFill>
                  <a:srgbClr val="FFFFFF"/>
                </a:solidFill>
                <a:latin typeface="Trebuchet MS"/>
                <a:cs typeface="Trebuchet MS"/>
              </a:rPr>
              <a:t>otus.ru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23375" y="1720596"/>
            <a:ext cx="246507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spc="320" dirty="0">
                <a:solidFill>
                  <a:srgbClr val="FFFFFF"/>
                </a:solidFill>
              </a:rPr>
              <a:t>ML</a:t>
            </a:r>
            <a:r>
              <a:rPr sz="5600" spc="-305" dirty="0">
                <a:solidFill>
                  <a:srgbClr val="FFFFFF"/>
                </a:solidFill>
              </a:rPr>
              <a:t> </a:t>
            </a:r>
            <a:r>
              <a:rPr sz="5600" spc="55" dirty="0">
                <a:solidFill>
                  <a:srgbClr val="FFFFFF"/>
                </a:solidFill>
              </a:rPr>
              <a:t>Ops</a:t>
            </a:r>
            <a:endParaRPr sz="5600"/>
          </a:p>
        </p:txBody>
      </p:sp>
      <p:sp>
        <p:nvSpPr>
          <p:cNvPr id="5" name="object 5"/>
          <p:cNvSpPr txBox="1"/>
          <p:nvPr/>
        </p:nvSpPr>
        <p:spPr>
          <a:xfrm>
            <a:off x="1023375" y="2546604"/>
            <a:ext cx="6888480" cy="958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670"/>
              </a:lnSpc>
              <a:spcBef>
                <a:spcPts val="100"/>
              </a:spcBef>
            </a:pPr>
            <a:r>
              <a:rPr sz="3200" b="1" spc="-20" dirty="0">
                <a:solidFill>
                  <a:srgbClr val="FFFFFF"/>
                </a:solidFill>
                <a:latin typeface="Trebuchet MS"/>
                <a:cs typeface="Trebuchet MS"/>
              </a:rPr>
              <a:t>DVC.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ts val="3670"/>
              </a:lnSpc>
            </a:pPr>
            <a:r>
              <a:rPr sz="3200" b="1" dirty="0">
                <a:solidFill>
                  <a:srgbClr val="FFFFFF"/>
                </a:solidFill>
                <a:latin typeface="Trebuchet MS"/>
                <a:cs typeface="Trebuchet MS"/>
              </a:rPr>
              <a:t>Система</a:t>
            </a:r>
            <a:r>
              <a:rPr sz="32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b="1" spc="-55" dirty="0">
                <a:solidFill>
                  <a:srgbClr val="FFFFFF"/>
                </a:solidFill>
                <a:latin typeface="Trebuchet MS"/>
                <a:cs typeface="Trebuchet MS"/>
              </a:rPr>
              <a:t>версионирования</a:t>
            </a:r>
            <a:r>
              <a:rPr sz="32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Trebuchet MS"/>
                <a:cs typeface="Trebuchet MS"/>
              </a:rPr>
              <a:t>данных.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4600" y="1006855"/>
            <a:ext cx="34353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40" dirty="0"/>
              <a:t>Проверить,</a:t>
            </a:r>
            <a:r>
              <a:rPr sz="2100" spc="-100" dirty="0"/>
              <a:t> </a:t>
            </a:r>
            <a:r>
              <a:rPr sz="2100" spc="-25" dirty="0"/>
              <a:t>идет</a:t>
            </a:r>
            <a:r>
              <a:rPr sz="2100" spc="-90" dirty="0"/>
              <a:t> </a:t>
            </a:r>
            <a:r>
              <a:rPr sz="2100" spc="-85" dirty="0"/>
              <a:t>ли</a:t>
            </a:r>
            <a:r>
              <a:rPr sz="2100" spc="-95" dirty="0"/>
              <a:t> </a:t>
            </a:r>
            <a:r>
              <a:rPr sz="2100" spc="-10" dirty="0"/>
              <a:t>запись</a:t>
            </a:r>
            <a:endParaRPr sz="2100"/>
          </a:p>
        </p:txBody>
      </p:sp>
      <p:sp>
        <p:nvSpPr>
          <p:cNvPr id="3" name="object 3"/>
          <p:cNvSpPr txBox="1"/>
          <p:nvPr/>
        </p:nvSpPr>
        <p:spPr>
          <a:xfrm>
            <a:off x="845450" y="1804923"/>
            <a:ext cx="486727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Trebuchet MS"/>
                <a:cs typeface="Trebuchet MS"/>
              </a:rPr>
              <a:t>Меня</a:t>
            </a:r>
            <a:r>
              <a:rPr sz="4000" b="1" spc="-195" dirty="0">
                <a:latin typeface="Trebuchet MS"/>
                <a:cs typeface="Trebuchet MS"/>
              </a:rPr>
              <a:t> </a:t>
            </a:r>
            <a:r>
              <a:rPr sz="4000" b="1" spc="-35" dirty="0">
                <a:latin typeface="Trebuchet MS"/>
                <a:cs typeface="Trebuchet MS"/>
              </a:rPr>
              <a:t>хорошо</a:t>
            </a:r>
            <a:r>
              <a:rPr sz="4000" b="1" spc="-185" dirty="0">
                <a:latin typeface="Trebuchet MS"/>
                <a:cs typeface="Trebuchet MS"/>
              </a:rPr>
              <a:t> </a:t>
            </a:r>
            <a:r>
              <a:rPr sz="4000" b="1" spc="-10" dirty="0">
                <a:latin typeface="Trebuchet MS"/>
                <a:cs typeface="Trebuchet MS"/>
              </a:rPr>
              <a:t>видно</a:t>
            </a:r>
            <a:endParaRPr sz="4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4000" b="1" spc="-210" dirty="0">
                <a:latin typeface="Trebuchet MS"/>
                <a:cs typeface="Trebuchet MS"/>
              </a:rPr>
              <a:t>&amp;&amp;</a:t>
            </a:r>
            <a:r>
              <a:rPr sz="4000" b="1" spc="-195" dirty="0">
                <a:latin typeface="Trebuchet MS"/>
                <a:cs typeface="Trebuchet MS"/>
              </a:rPr>
              <a:t> </a:t>
            </a:r>
            <a:r>
              <a:rPr sz="4000" b="1" spc="45" dirty="0">
                <a:latin typeface="Trebuchet MS"/>
                <a:cs typeface="Trebuchet MS"/>
              </a:rPr>
              <a:t>слышно?</a:t>
            </a:r>
            <a:endParaRPr sz="4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824" y="1030224"/>
            <a:ext cx="646176" cy="3261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1727" y="3517391"/>
            <a:ext cx="527304" cy="53035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92949" y="3524503"/>
            <a:ext cx="25882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50" dirty="0">
                <a:latin typeface="Trebuchet MS"/>
                <a:cs typeface="Trebuchet MS"/>
              </a:rPr>
              <a:t>Ставим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spc="-190" dirty="0">
                <a:latin typeface="Trebuchet MS"/>
                <a:cs typeface="Trebuchet MS"/>
              </a:rPr>
              <a:t>“+”,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если</a:t>
            </a:r>
            <a:r>
              <a:rPr sz="1500" spc="-5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все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хорошо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spc="-215" dirty="0">
                <a:latin typeface="Trebuchet MS"/>
                <a:cs typeface="Trebuchet MS"/>
              </a:rPr>
              <a:t>“-</a:t>
            </a:r>
            <a:r>
              <a:rPr sz="1500" spc="-254" dirty="0">
                <a:latin typeface="Trebuchet MS"/>
                <a:cs typeface="Trebuchet MS"/>
              </a:rPr>
              <a:t>”,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если</a:t>
            </a:r>
            <a:r>
              <a:rPr sz="1500" spc="-4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есть</a:t>
            </a:r>
            <a:r>
              <a:rPr sz="1500" spc="-4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проблемы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6551" y="2703050"/>
            <a:ext cx="2115820" cy="2439035"/>
            <a:chOff x="606551" y="2703050"/>
            <a:chExt cx="2115820" cy="2439035"/>
          </a:xfrm>
        </p:grpSpPr>
        <p:sp>
          <p:nvSpPr>
            <p:cNvPr id="3" name="object 3"/>
            <p:cNvSpPr/>
            <p:nvPr/>
          </p:nvSpPr>
          <p:spPr>
            <a:xfrm>
              <a:off x="629999" y="2703050"/>
              <a:ext cx="1034415" cy="1983739"/>
            </a:xfrm>
            <a:custGeom>
              <a:avLst/>
              <a:gdLst/>
              <a:ahLst/>
              <a:cxnLst/>
              <a:rect l="l" t="t" r="r" b="b"/>
              <a:pathLst>
                <a:path w="1034414" h="1983739">
                  <a:moveTo>
                    <a:pt x="1033800" y="0"/>
                  </a:moveTo>
                  <a:lnTo>
                    <a:pt x="0" y="0"/>
                  </a:lnTo>
                  <a:lnTo>
                    <a:pt x="0" y="1983599"/>
                  </a:lnTo>
                  <a:lnTo>
                    <a:pt x="1033800" y="1983599"/>
                  </a:lnTo>
                  <a:lnTo>
                    <a:pt x="10338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51" y="2846831"/>
              <a:ext cx="2115312" cy="229514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9274" y="873252"/>
            <a:ext cx="14224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160" dirty="0"/>
              <a:t>ML</a:t>
            </a:r>
            <a:r>
              <a:rPr sz="3200" spc="-155" dirty="0"/>
              <a:t> </a:t>
            </a:r>
            <a:r>
              <a:rPr sz="3200" spc="-25" dirty="0"/>
              <a:t>Ops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579274" y="1371091"/>
            <a:ext cx="5175250" cy="1228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Trebuchet MS"/>
                <a:cs typeface="Trebuchet MS"/>
              </a:rPr>
              <a:t>DVC.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Trebuchet MS"/>
                <a:cs typeface="Trebuchet MS"/>
              </a:rPr>
              <a:t>Система</a:t>
            </a:r>
            <a:r>
              <a:rPr sz="2400" b="1" spc="-50" dirty="0">
                <a:latin typeface="Trebuchet MS"/>
                <a:cs typeface="Trebuchet MS"/>
              </a:rPr>
              <a:t> </a:t>
            </a:r>
            <a:r>
              <a:rPr sz="2400" b="1" spc="-45" dirty="0">
                <a:latin typeface="Trebuchet MS"/>
                <a:cs typeface="Trebuchet MS"/>
              </a:rPr>
              <a:t>версионирования</a:t>
            </a:r>
            <a:r>
              <a:rPr sz="2400" b="1" spc="-5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данных.</a:t>
            </a:r>
            <a:endParaRPr sz="2400">
              <a:latin typeface="Trebuchet MS"/>
              <a:cs typeface="Trebuchet MS"/>
            </a:endParaRPr>
          </a:p>
          <a:p>
            <a:pPr marL="2593975">
              <a:lnSpc>
                <a:spcPct val="100000"/>
              </a:lnSpc>
              <a:spcBef>
                <a:spcPts val="1905"/>
              </a:spcBef>
            </a:pPr>
            <a:r>
              <a:rPr sz="1500" b="1" spc="-20" dirty="0">
                <a:latin typeface="Trebuchet MS"/>
                <a:cs typeface="Trebuchet MS"/>
              </a:rPr>
              <a:t>Игорь</a:t>
            </a:r>
            <a:r>
              <a:rPr sz="1500" b="1" spc="-75" dirty="0">
                <a:latin typeface="Trebuchet MS"/>
                <a:cs typeface="Trebuchet MS"/>
              </a:rPr>
              <a:t> </a:t>
            </a:r>
            <a:r>
              <a:rPr sz="1500" b="1" spc="-10" dirty="0">
                <a:latin typeface="Trebuchet MS"/>
                <a:cs typeface="Trebuchet MS"/>
              </a:rPr>
              <a:t>Стурейко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9274" y="547115"/>
            <a:ext cx="12922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9900"/>
                </a:solidFill>
                <a:latin typeface="Trebuchet MS"/>
                <a:cs typeface="Trebuchet MS"/>
              </a:rPr>
              <a:t>Тема</a:t>
            </a:r>
            <a:r>
              <a:rPr sz="1400" spc="-10" dirty="0">
                <a:solidFill>
                  <a:srgbClr val="FF9900"/>
                </a:solidFill>
                <a:latin typeface="Trebuchet MS"/>
                <a:cs typeface="Trebuchet MS"/>
              </a:rPr>
              <a:t> вебинара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61125" y="2743707"/>
            <a:ext cx="4507230" cy="200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ts val="1090"/>
              </a:lnSpc>
              <a:spcBef>
                <a:spcPts val="100"/>
              </a:spcBef>
            </a:pPr>
            <a:r>
              <a:rPr sz="1000" b="1" spc="-10" dirty="0">
                <a:latin typeface="Trebuchet MS"/>
                <a:cs typeface="Trebuchet MS"/>
              </a:rPr>
              <a:t>Руководитель</a:t>
            </a:r>
            <a:r>
              <a:rPr sz="1000" b="1" spc="-15" dirty="0">
                <a:latin typeface="Trebuchet MS"/>
                <a:cs typeface="Trebuchet MS"/>
              </a:rPr>
              <a:t> </a:t>
            </a:r>
            <a:r>
              <a:rPr sz="1000" b="1" spc="-25" dirty="0">
                <a:latin typeface="Trebuchet MS"/>
                <a:cs typeface="Trebuchet MS"/>
              </a:rPr>
              <a:t>курсов:</a:t>
            </a:r>
            <a:r>
              <a:rPr sz="1000" b="1" dirty="0">
                <a:latin typeface="Trebuchet MS"/>
                <a:cs typeface="Trebuchet MS"/>
              </a:rPr>
              <a:t> </a:t>
            </a:r>
            <a:r>
              <a:rPr sz="1000" b="1" spc="-35" dirty="0">
                <a:latin typeface="Trebuchet MS"/>
                <a:cs typeface="Trebuchet MS"/>
              </a:rPr>
              <a:t>Reinforcement</a:t>
            </a:r>
            <a:r>
              <a:rPr sz="1000" b="1" spc="-20" dirty="0">
                <a:latin typeface="Trebuchet MS"/>
                <a:cs typeface="Trebuchet MS"/>
              </a:rPr>
              <a:t> </a:t>
            </a:r>
            <a:r>
              <a:rPr sz="1000" b="1" spc="-35" dirty="0">
                <a:latin typeface="Trebuchet MS"/>
                <a:cs typeface="Trebuchet MS"/>
              </a:rPr>
              <a:t>Learning,</a:t>
            </a:r>
            <a:r>
              <a:rPr sz="1000" b="1" spc="-10" dirty="0">
                <a:latin typeface="Trebuchet MS"/>
                <a:cs typeface="Trebuchet MS"/>
              </a:rPr>
              <a:t> </a:t>
            </a:r>
            <a:r>
              <a:rPr sz="1000" b="1" spc="50" dirty="0">
                <a:latin typeface="Trebuchet MS"/>
                <a:cs typeface="Trebuchet MS"/>
              </a:rPr>
              <a:t>ML</a:t>
            </a:r>
            <a:r>
              <a:rPr sz="1000" b="1" spc="-20" dirty="0">
                <a:latin typeface="Trebuchet MS"/>
                <a:cs typeface="Trebuchet MS"/>
              </a:rPr>
              <a:t> Professional,</a:t>
            </a:r>
            <a:r>
              <a:rPr sz="1000" b="1" spc="-15" dirty="0">
                <a:latin typeface="Trebuchet MS"/>
                <a:cs typeface="Trebuchet MS"/>
              </a:rPr>
              <a:t> </a:t>
            </a:r>
            <a:r>
              <a:rPr sz="1000" b="1" spc="50" dirty="0">
                <a:latin typeface="Trebuchet MS"/>
                <a:cs typeface="Trebuchet MS"/>
              </a:rPr>
              <a:t>ML</a:t>
            </a:r>
            <a:r>
              <a:rPr sz="1000" b="1" spc="-15" dirty="0">
                <a:latin typeface="Trebuchet MS"/>
                <a:cs typeface="Trebuchet MS"/>
              </a:rPr>
              <a:t> </a:t>
            </a:r>
            <a:r>
              <a:rPr sz="1000" b="1" spc="-10" dirty="0">
                <a:latin typeface="Trebuchet MS"/>
                <a:cs typeface="Trebuchet MS"/>
              </a:rPr>
              <a:t>Basic,</a:t>
            </a:r>
            <a:endParaRPr sz="1000">
              <a:latin typeface="Trebuchet MS"/>
              <a:cs typeface="Trebuchet MS"/>
            </a:endParaRPr>
          </a:p>
          <a:p>
            <a:pPr marL="1392555">
              <a:lnSpc>
                <a:spcPts val="1090"/>
              </a:lnSpc>
            </a:pPr>
            <a:r>
              <a:rPr sz="1000" b="1" dirty="0">
                <a:latin typeface="Trebuchet MS"/>
                <a:cs typeface="Trebuchet MS"/>
              </a:rPr>
              <a:t>MLOps,</a:t>
            </a:r>
            <a:r>
              <a:rPr sz="1000" b="1" spc="-40" dirty="0">
                <a:latin typeface="Trebuchet MS"/>
                <a:cs typeface="Trebuchet MS"/>
              </a:rPr>
              <a:t> </a:t>
            </a:r>
            <a:r>
              <a:rPr sz="1000" b="1" spc="-10" dirty="0">
                <a:latin typeface="Trebuchet MS"/>
                <a:cs typeface="Trebuchet MS"/>
              </a:rPr>
              <a:t>FinML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ts val="1105"/>
              </a:lnSpc>
              <a:spcBef>
                <a:spcPts val="695"/>
              </a:spcBef>
            </a:pPr>
            <a:r>
              <a:rPr sz="1000" b="1" spc="-35" dirty="0">
                <a:latin typeface="Trebuchet MS"/>
                <a:cs typeface="Trebuchet MS"/>
              </a:rPr>
              <a:t>Teamlead,</a:t>
            </a:r>
            <a:r>
              <a:rPr sz="1000" b="1" spc="-5" dirty="0">
                <a:latin typeface="Trebuchet MS"/>
                <a:cs typeface="Trebuchet MS"/>
              </a:rPr>
              <a:t> </a:t>
            </a:r>
            <a:r>
              <a:rPr sz="1000" b="1" spc="-20" dirty="0">
                <a:latin typeface="Trebuchet MS"/>
                <a:cs typeface="Trebuchet MS"/>
              </a:rPr>
              <a:t>главный</a:t>
            </a:r>
            <a:r>
              <a:rPr sz="1000" b="1" spc="-15" dirty="0">
                <a:latin typeface="Trebuchet MS"/>
                <a:cs typeface="Trebuchet MS"/>
              </a:rPr>
              <a:t> </a:t>
            </a:r>
            <a:r>
              <a:rPr sz="1000" b="1" spc="-25" dirty="0">
                <a:latin typeface="Trebuchet MS"/>
                <a:cs typeface="Trebuchet MS"/>
              </a:rPr>
              <a:t>инженер</a:t>
            </a:r>
            <a:r>
              <a:rPr sz="1000" b="1" spc="-10" dirty="0">
                <a:latin typeface="Trebuchet MS"/>
                <a:cs typeface="Trebuchet MS"/>
              </a:rPr>
              <a:t> проекта,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ts val="1105"/>
              </a:lnSpc>
            </a:pPr>
            <a:r>
              <a:rPr sz="1000" b="1" spc="-25" dirty="0">
                <a:latin typeface="Trebuchet MS"/>
                <a:cs typeface="Trebuchet MS"/>
              </a:rPr>
              <a:t>Физический</a:t>
            </a:r>
            <a:r>
              <a:rPr sz="1000" b="1" spc="-15" dirty="0">
                <a:latin typeface="Trebuchet MS"/>
                <a:cs typeface="Trebuchet MS"/>
              </a:rPr>
              <a:t> </a:t>
            </a:r>
            <a:r>
              <a:rPr sz="1000" b="1" spc="-20" dirty="0">
                <a:latin typeface="Trebuchet MS"/>
                <a:cs typeface="Trebuchet MS"/>
              </a:rPr>
              <a:t>факультет</a:t>
            </a:r>
            <a:r>
              <a:rPr sz="1000" b="1" spc="-5" dirty="0">
                <a:latin typeface="Trebuchet MS"/>
                <a:cs typeface="Trebuchet MS"/>
              </a:rPr>
              <a:t> </a:t>
            </a:r>
            <a:r>
              <a:rPr sz="1000" b="1" dirty="0">
                <a:latin typeface="Trebuchet MS"/>
                <a:cs typeface="Trebuchet MS"/>
              </a:rPr>
              <a:t>МГУ,</a:t>
            </a:r>
            <a:r>
              <a:rPr sz="1000" b="1" spc="-5" dirty="0">
                <a:latin typeface="Trebuchet MS"/>
                <a:cs typeface="Trebuchet MS"/>
              </a:rPr>
              <a:t> </a:t>
            </a:r>
            <a:r>
              <a:rPr sz="1000" b="1" dirty="0">
                <a:latin typeface="Trebuchet MS"/>
                <a:cs typeface="Trebuchet MS"/>
              </a:rPr>
              <a:t>PhD</a:t>
            </a:r>
            <a:r>
              <a:rPr sz="1000" b="1" spc="-10" dirty="0">
                <a:latin typeface="Trebuchet MS"/>
                <a:cs typeface="Trebuchet MS"/>
              </a:rPr>
              <a:t> </a:t>
            </a:r>
            <a:r>
              <a:rPr sz="1000" b="1" spc="-20" dirty="0">
                <a:latin typeface="Trebuchet MS"/>
                <a:cs typeface="Trebuchet MS"/>
              </a:rPr>
              <a:t>теоретическая</a:t>
            </a:r>
            <a:r>
              <a:rPr sz="1000" b="1" dirty="0">
                <a:latin typeface="Trebuchet MS"/>
                <a:cs typeface="Trebuchet MS"/>
              </a:rPr>
              <a:t> </a:t>
            </a:r>
            <a:r>
              <a:rPr sz="1000" b="1" spc="-10" dirty="0">
                <a:latin typeface="Trebuchet MS"/>
                <a:cs typeface="Trebuchet MS"/>
              </a:rPr>
              <a:t>физика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ts val="1055"/>
              </a:lnSpc>
              <a:spcBef>
                <a:spcPts val="695"/>
              </a:spcBef>
            </a:pPr>
            <a:r>
              <a:rPr sz="1000" b="1" spc="-10" dirty="0">
                <a:latin typeface="Trebuchet MS"/>
                <a:cs typeface="Trebuchet MS"/>
              </a:rPr>
              <a:t>Опыт: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ts val="950"/>
              </a:lnSpc>
            </a:pPr>
            <a:r>
              <a:rPr sz="1000" dirty="0">
                <a:latin typeface="Trebuchet MS"/>
                <a:cs typeface="Trebuchet MS"/>
              </a:rPr>
              <a:t>Более</a:t>
            </a:r>
            <a:r>
              <a:rPr sz="1000" spc="30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15</a:t>
            </a:r>
            <a:r>
              <a:rPr sz="1000" spc="40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лет</a:t>
            </a:r>
            <a:r>
              <a:rPr sz="1000" spc="35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занимался</a:t>
            </a:r>
            <a:r>
              <a:rPr sz="1000" spc="40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прикладной</a:t>
            </a:r>
            <a:r>
              <a:rPr sz="1000" spc="40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математикой</a:t>
            </a:r>
            <a:r>
              <a:rPr sz="1000" spc="45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и</a:t>
            </a:r>
            <a:r>
              <a:rPr sz="1000" spc="40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мат</a:t>
            </a:r>
            <a:r>
              <a:rPr sz="1000" spc="30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моделированием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ts val="1090"/>
              </a:lnSpc>
            </a:pPr>
            <a:r>
              <a:rPr sz="1000" dirty="0">
                <a:latin typeface="Trebuchet MS"/>
                <a:cs typeface="Trebuchet MS"/>
              </a:rPr>
              <a:t>(Data</a:t>
            </a:r>
            <a:r>
              <a:rPr sz="1000" spc="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Scientist)</a:t>
            </a:r>
            <a:r>
              <a:rPr sz="1000" spc="5" dirty="0">
                <a:latin typeface="Trebuchet MS"/>
                <a:cs typeface="Trebuchet MS"/>
              </a:rPr>
              <a:t> </a:t>
            </a:r>
            <a:r>
              <a:rPr sz="1000" spc="-30" dirty="0">
                <a:latin typeface="Trebuchet MS"/>
                <a:cs typeface="Trebuchet MS"/>
              </a:rPr>
              <a:t>(Python,</a:t>
            </a:r>
            <a:r>
              <a:rPr sz="1000" spc="5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С++) </a:t>
            </a:r>
            <a:r>
              <a:rPr sz="1000" spc="55" dirty="0">
                <a:latin typeface="Trebuchet MS"/>
                <a:cs typeface="Trebuchet MS"/>
              </a:rPr>
              <a:t>в</a:t>
            </a:r>
            <a:r>
              <a:rPr sz="1000" spc="5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НИИ ПАО</a:t>
            </a:r>
            <a:r>
              <a:rPr sz="1000" spc="-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Газпром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 spc="-10" dirty="0">
                <a:latin typeface="Trebuchet MS"/>
                <a:cs typeface="Trebuchet MS"/>
              </a:rPr>
              <a:t>@stureiko</a:t>
            </a:r>
            <a:r>
              <a:rPr sz="1000" b="1" spc="-35" dirty="0">
                <a:latin typeface="Trebuchet MS"/>
                <a:cs typeface="Trebuchet MS"/>
              </a:rPr>
              <a:t> </a:t>
            </a:r>
            <a:r>
              <a:rPr sz="1000" b="1" spc="-20" dirty="0">
                <a:latin typeface="Trebuchet MS"/>
                <a:cs typeface="Trebuchet MS"/>
              </a:rPr>
              <a:t>(TG)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000" b="1" spc="-35" dirty="0">
                <a:latin typeface="Trebuchet MS"/>
                <a:cs typeface="Trebuchet MS"/>
              </a:rPr>
              <a:t>LinkedIn:</a:t>
            </a:r>
            <a:r>
              <a:rPr sz="1000" b="1" spc="15" dirty="0">
                <a:latin typeface="Trebuchet MS"/>
                <a:cs typeface="Trebuchet MS"/>
              </a:rPr>
              <a:t> </a:t>
            </a:r>
            <a:r>
              <a:rPr sz="1000" u="sng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rebuchet MS"/>
                <a:cs typeface="Trebuchet MS"/>
              </a:rPr>
              <a:t>igor-</a:t>
            </a:r>
            <a:r>
              <a:rPr sz="10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Trebuchet MS"/>
                <a:cs typeface="Trebuchet MS"/>
              </a:rPr>
              <a:t>stureiko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000" b="1" spc="-40" dirty="0">
                <a:latin typeface="Trebuchet MS"/>
                <a:cs typeface="Trebuchet MS"/>
              </a:rPr>
              <a:t>@rl_fintech</a:t>
            </a:r>
            <a:r>
              <a:rPr sz="1000" b="1" spc="15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(Мой</a:t>
            </a:r>
            <a:r>
              <a:rPr sz="1000" spc="15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канал</a:t>
            </a:r>
            <a:r>
              <a:rPr sz="1000" spc="15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о</a:t>
            </a:r>
            <a:r>
              <a:rPr sz="1000" spc="25" dirty="0">
                <a:latin typeface="Trebuchet MS"/>
                <a:cs typeface="Trebuchet MS"/>
              </a:rPr>
              <a:t> </a:t>
            </a:r>
            <a:r>
              <a:rPr sz="1000" dirty="0">
                <a:latin typeface="Trebuchet MS"/>
                <a:cs typeface="Trebuchet MS"/>
              </a:rPr>
              <a:t>моделях</a:t>
            </a:r>
            <a:r>
              <a:rPr sz="1000" spc="25" dirty="0">
                <a:latin typeface="Trebuchet MS"/>
                <a:cs typeface="Trebuchet MS"/>
              </a:rPr>
              <a:t> </a:t>
            </a:r>
            <a:r>
              <a:rPr sz="1000" spc="55" dirty="0">
                <a:latin typeface="Trebuchet MS"/>
                <a:cs typeface="Trebuchet MS"/>
              </a:rPr>
              <a:t>в</a:t>
            </a:r>
            <a:r>
              <a:rPr sz="1000" spc="20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бизнесе)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46274" y="0"/>
            <a:ext cx="3097530" cy="5135880"/>
            <a:chOff x="6046274" y="0"/>
            <a:chExt cx="3097530" cy="5135880"/>
          </a:xfrm>
        </p:grpSpPr>
        <p:sp>
          <p:nvSpPr>
            <p:cNvPr id="3" name="object 3"/>
            <p:cNvSpPr/>
            <p:nvPr/>
          </p:nvSpPr>
          <p:spPr>
            <a:xfrm>
              <a:off x="6046274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500" y="0"/>
                  </a:moveTo>
                  <a:lnTo>
                    <a:pt x="0" y="0"/>
                  </a:lnTo>
                  <a:lnTo>
                    <a:pt x="0" y="5135449"/>
                  </a:lnTo>
                  <a:lnTo>
                    <a:pt x="3097500" y="5135449"/>
                  </a:lnTo>
                  <a:lnTo>
                    <a:pt x="3097500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37375" y="1911095"/>
              <a:ext cx="332231" cy="3322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7375" y="2389632"/>
              <a:ext cx="332231" cy="3352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7375" y="2871216"/>
              <a:ext cx="332231" cy="3322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37375" y="3349752"/>
              <a:ext cx="332231" cy="3352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37375" y="3831335"/>
              <a:ext cx="332231" cy="3322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7375" y="4309871"/>
              <a:ext cx="332231" cy="33527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/>
              <a:t>Правила</a:t>
            </a:r>
            <a:r>
              <a:rPr sz="3200" spc="-170" dirty="0"/>
              <a:t> </a:t>
            </a:r>
            <a:r>
              <a:rPr sz="3200" spc="-40" dirty="0"/>
              <a:t>вебинара</a:t>
            </a:r>
            <a:endParaRPr sz="3200"/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5152" y="3950207"/>
            <a:ext cx="697991" cy="69494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5152" y="1280160"/>
            <a:ext cx="697991" cy="69494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5152" y="2615183"/>
            <a:ext cx="697991" cy="69494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733250" y="1369567"/>
            <a:ext cx="957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Trebuchet MS"/>
                <a:cs typeface="Trebuchet MS"/>
              </a:rPr>
              <a:t>Активно участвуем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33250" y="2701544"/>
            <a:ext cx="13906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rebuchet MS"/>
                <a:cs typeface="Trebuchet MS"/>
              </a:rPr>
              <a:t>Задаем</a:t>
            </a:r>
            <a:r>
              <a:rPr sz="1500" spc="150" dirty="0">
                <a:latin typeface="Trebuchet MS"/>
                <a:cs typeface="Trebuchet MS"/>
              </a:rPr>
              <a:t> </a:t>
            </a:r>
            <a:r>
              <a:rPr sz="1500" spc="-10" dirty="0">
                <a:latin typeface="Trebuchet MS"/>
                <a:cs typeface="Trebuchet MS"/>
              </a:rPr>
              <a:t>вопрос </a:t>
            </a:r>
            <a:r>
              <a:rPr sz="1500" spc="75" dirty="0">
                <a:latin typeface="Trebuchet MS"/>
                <a:cs typeface="Trebuchet MS"/>
              </a:rPr>
              <a:t>в</a:t>
            </a:r>
            <a:r>
              <a:rPr sz="1500" spc="-75" dirty="0">
                <a:latin typeface="Trebuchet MS"/>
                <a:cs typeface="Trebuchet MS"/>
              </a:rPr>
              <a:t> </a:t>
            </a:r>
            <a:r>
              <a:rPr sz="1500" spc="-25" dirty="0">
                <a:latin typeface="Trebuchet MS"/>
                <a:cs typeface="Trebuchet MS"/>
              </a:rPr>
              <a:t>чат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33250" y="4039616"/>
            <a:ext cx="21031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rebuchet MS"/>
                <a:cs typeface="Trebuchet MS"/>
              </a:rPr>
              <a:t>Вопросы</a:t>
            </a:r>
            <a:r>
              <a:rPr sz="1500" spc="5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вижу</a:t>
            </a:r>
            <a:r>
              <a:rPr sz="1500" spc="70" dirty="0">
                <a:latin typeface="Trebuchet MS"/>
                <a:cs typeface="Trebuchet MS"/>
              </a:rPr>
              <a:t> </a:t>
            </a:r>
            <a:r>
              <a:rPr sz="1500" spc="75" dirty="0">
                <a:latin typeface="Trebuchet MS"/>
                <a:cs typeface="Trebuchet MS"/>
              </a:rPr>
              <a:t>в</a:t>
            </a:r>
            <a:r>
              <a:rPr sz="1500" spc="65" dirty="0">
                <a:latin typeface="Trebuchet MS"/>
                <a:cs typeface="Trebuchet MS"/>
              </a:rPr>
              <a:t> </a:t>
            </a:r>
            <a:r>
              <a:rPr sz="1500" spc="-20" dirty="0">
                <a:latin typeface="Trebuchet MS"/>
                <a:cs typeface="Trebuchet MS"/>
              </a:rPr>
              <a:t>чате, </a:t>
            </a:r>
            <a:r>
              <a:rPr sz="1500" dirty="0">
                <a:latin typeface="Trebuchet MS"/>
                <a:cs typeface="Trebuchet MS"/>
              </a:rPr>
              <a:t>могу</a:t>
            </a:r>
            <a:r>
              <a:rPr sz="1500" spc="15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ответить</a:t>
            </a:r>
            <a:r>
              <a:rPr sz="1500" spc="10" dirty="0">
                <a:latin typeface="Trebuchet MS"/>
                <a:cs typeface="Trebuchet MS"/>
              </a:rPr>
              <a:t> </a:t>
            </a:r>
            <a:r>
              <a:rPr sz="1500" dirty="0">
                <a:latin typeface="Trebuchet MS"/>
                <a:cs typeface="Trebuchet MS"/>
              </a:rPr>
              <a:t>не</a:t>
            </a:r>
            <a:r>
              <a:rPr sz="1500" spc="15" dirty="0">
                <a:latin typeface="Trebuchet MS"/>
                <a:cs typeface="Trebuchet MS"/>
              </a:rPr>
              <a:t> </a:t>
            </a:r>
            <a:r>
              <a:rPr sz="1500" spc="-20" dirty="0">
                <a:latin typeface="Trebuchet MS"/>
                <a:cs typeface="Trebuchet MS"/>
              </a:rPr>
              <a:t>сразу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41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35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60"/>
              </a:spcBef>
            </a:pPr>
            <a:r>
              <a:rPr sz="1100" b="0" spc="-10" dirty="0">
                <a:latin typeface="Trebuchet MS"/>
                <a:cs typeface="Trebuchet MS"/>
              </a:rPr>
              <a:t>Индивидуально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100">
              <a:latin typeface="Trebuchet MS"/>
              <a:cs typeface="Trebuchet MS"/>
            </a:endParaRPr>
          </a:p>
          <a:p>
            <a:pPr marL="497840" marR="5080">
              <a:lnSpc>
                <a:spcPct val="107300"/>
              </a:lnSpc>
            </a:pPr>
            <a:r>
              <a:rPr sz="1100" b="0" spc="-20" dirty="0">
                <a:latin typeface="Trebuchet MS"/>
                <a:cs typeface="Trebuchet MS"/>
              </a:rPr>
              <a:t>Время, </a:t>
            </a:r>
            <a:r>
              <a:rPr sz="1100" b="0" spc="-10" dirty="0">
                <a:latin typeface="Trebuchet MS"/>
                <a:cs typeface="Trebuchet MS"/>
              </a:rPr>
              <a:t>необходимое </a:t>
            </a:r>
            <a:r>
              <a:rPr sz="1100" b="0" dirty="0">
                <a:latin typeface="Trebuchet MS"/>
                <a:cs typeface="Trebuchet MS"/>
              </a:rPr>
              <a:t>на</a:t>
            </a:r>
            <a:r>
              <a:rPr sz="1100" b="0" spc="-15" dirty="0">
                <a:latin typeface="Trebuchet MS"/>
                <a:cs typeface="Trebuchet MS"/>
              </a:rPr>
              <a:t> </a:t>
            </a:r>
            <a:r>
              <a:rPr sz="1100" b="0" spc="-10" dirty="0">
                <a:latin typeface="Trebuchet MS"/>
                <a:cs typeface="Trebuchet MS"/>
              </a:rPr>
              <a:t>активность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100">
              <a:latin typeface="Trebuchet MS"/>
              <a:cs typeface="Trebuchet MS"/>
            </a:endParaRPr>
          </a:p>
          <a:p>
            <a:pPr marL="497840">
              <a:lnSpc>
                <a:spcPct val="100000"/>
              </a:lnSpc>
              <a:spcBef>
                <a:spcPts val="5"/>
              </a:spcBef>
            </a:pPr>
            <a:r>
              <a:rPr sz="1100" b="0" dirty="0">
                <a:latin typeface="Trebuchet MS"/>
                <a:cs typeface="Trebuchet MS"/>
              </a:rPr>
              <a:t>Пишем</a:t>
            </a:r>
            <a:r>
              <a:rPr sz="1100" b="0" spc="25" dirty="0">
                <a:latin typeface="Trebuchet MS"/>
                <a:cs typeface="Trebuchet MS"/>
              </a:rPr>
              <a:t> </a:t>
            </a:r>
            <a:r>
              <a:rPr sz="1100" b="0" spc="60" dirty="0">
                <a:latin typeface="Trebuchet MS"/>
                <a:cs typeface="Trebuchet MS"/>
              </a:rPr>
              <a:t>в</a:t>
            </a:r>
            <a:r>
              <a:rPr sz="1100" b="0" spc="15" dirty="0">
                <a:latin typeface="Trebuchet MS"/>
                <a:cs typeface="Trebuchet MS"/>
              </a:rPr>
              <a:t> </a:t>
            </a:r>
            <a:r>
              <a:rPr sz="1100" b="0" spc="-25" dirty="0">
                <a:latin typeface="Trebuchet MS"/>
                <a:cs typeface="Trebuchet MS"/>
              </a:rPr>
              <a:t>чат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1100">
              <a:latin typeface="Trebuchet MS"/>
              <a:cs typeface="Trebuchet MS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Trebuchet MS"/>
                <a:cs typeface="Trebuchet MS"/>
              </a:rPr>
              <a:t>Говорим</a:t>
            </a:r>
            <a:r>
              <a:rPr sz="1100" b="0" spc="145" dirty="0">
                <a:latin typeface="Trebuchet MS"/>
                <a:cs typeface="Trebuchet MS"/>
              </a:rPr>
              <a:t> </a:t>
            </a:r>
            <a:r>
              <a:rPr sz="1100" b="0" spc="-10" dirty="0">
                <a:latin typeface="Trebuchet MS"/>
                <a:cs typeface="Trebuchet MS"/>
              </a:rPr>
              <a:t>голосом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75"/>
              </a:spcBef>
            </a:pPr>
            <a:endParaRPr sz="1100">
              <a:latin typeface="Trebuchet MS"/>
              <a:cs typeface="Trebuchet MS"/>
            </a:endParaRPr>
          </a:p>
          <a:p>
            <a:pPr marL="497840">
              <a:lnSpc>
                <a:spcPct val="100000"/>
              </a:lnSpc>
            </a:pPr>
            <a:r>
              <a:rPr sz="1100" b="0" spc="-10" dirty="0">
                <a:latin typeface="Trebuchet MS"/>
                <a:cs typeface="Trebuchet MS"/>
              </a:rPr>
              <a:t>Документ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100">
              <a:latin typeface="Trebuchet MS"/>
              <a:cs typeface="Trebuchet MS"/>
            </a:endParaRPr>
          </a:p>
          <a:p>
            <a:pPr marL="497840" marR="155575">
              <a:lnSpc>
                <a:spcPct val="107300"/>
              </a:lnSpc>
            </a:pPr>
            <a:r>
              <a:rPr sz="1100" b="0" dirty="0">
                <a:latin typeface="Trebuchet MS"/>
                <a:cs typeface="Trebuchet MS"/>
              </a:rPr>
              <a:t>Ответьте себе</a:t>
            </a:r>
            <a:r>
              <a:rPr sz="1100" b="0" spc="5" dirty="0">
                <a:latin typeface="Trebuchet MS"/>
                <a:cs typeface="Trebuchet MS"/>
              </a:rPr>
              <a:t> </a:t>
            </a:r>
            <a:r>
              <a:rPr sz="1100" b="0" spc="-25" dirty="0">
                <a:latin typeface="Trebuchet MS"/>
                <a:cs typeface="Trebuchet MS"/>
              </a:rPr>
              <a:t>или </a:t>
            </a:r>
            <a:r>
              <a:rPr sz="1100" b="0" dirty="0">
                <a:latin typeface="Trebuchet MS"/>
                <a:cs typeface="Trebuchet MS"/>
              </a:rPr>
              <a:t>задайте</a:t>
            </a:r>
            <a:r>
              <a:rPr sz="1100" b="0" spc="90" dirty="0">
                <a:latin typeface="Trebuchet MS"/>
                <a:cs typeface="Trebuchet MS"/>
              </a:rPr>
              <a:t> </a:t>
            </a:r>
            <a:r>
              <a:rPr sz="1100" b="0" spc="-10" dirty="0">
                <a:latin typeface="Trebuchet MS"/>
                <a:cs typeface="Trebuchet MS"/>
              </a:rPr>
              <a:t>вопрос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Маршрут</a:t>
            </a:r>
            <a:r>
              <a:rPr spc="25" dirty="0"/>
              <a:t> </a:t>
            </a:r>
            <a:r>
              <a:rPr spc="-35" dirty="0"/>
              <a:t>вебинара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65860" y="1205524"/>
            <a:ext cx="3606165" cy="3795395"/>
            <a:chOff x="565860" y="1205524"/>
            <a:chExt cx="3606165" cy="3795395"/>
          </a:xfrm>
        </p:grpSpPr>
        <p:sp>
          <p:nvSpPr>
            <p:cNvPr id="4" name="object 4"/>
            <p:cNvSpPr/>
            <p:nvPr/>
          </p:nvSpPr>
          <p:spPr>
            <a:xfrm>
              <a:off x="786511" y="1205534"/>
              <a:ext cx="3385185" cy="2818765"/>
            </a:xfrm>
            <a:custGeom>
              <a:avLst/>
              <a:gdLst/>
              <a:ahLst/>
              <a:cxnLst/>
              <a:rect l="l" t="t" r="r" b="b"/>
              <a:pathLst>
                <a:path w="3385185" h="2818765">
                  <a:moveTo>
                    <a:pt x="3384905" y="2504948"/>
                  </a:moveTo>
                  <a:lnTo>
                    <a:pt x="3379978" y="2480538"/>
                  </a:lnTo>
                  <a:lnTo>
                    <a:pt x="3366541" y="2460612"/>
                  </a:lnTo>
                  <a:lnTo>
                    <a:pt x="3346615" y="2447175"/>
                  </a:lnTo>
                  <a:lnTo>
                    <a:pt x="3322205" y="2442248"/>
                  </a:lnTo>
                  <a:lnTo>
                    <a:pt x="62712" y="2442248"/>
                  </a:lnTo>
                  <a:lnTo>
                    <a:pt x="38303" y="2447175"/>
                  </a:lnTo>
                  <a:lnTo>
                    <a:pt x="18364" y="2460612"/>
                  </a:lnTo>
                  <a:lnTo>
                    <a:pt x="4927" y="2480538"/>
                  </a:lnTo>
                  <a:lnTo>
                    <a:pt x="0" y="2504948"/>
                  </a:lnTo>
                  <a:lnTo>
                    <a:pt x="0" y="2755747"/>
                  </a:lnTo>
                  <a:lnTo>
                    <a:pt x="4927" y="2780157"/>
                  </a:lnTo>
                  <a:lnTo>
                    <a:pt x="18364" y="2800083"/>
                  </a:lnTo>
                  <a:lnTo>
                    <a:pt x="38303" y="2813520"/>
                  </a:lnTo>
                  <a:lnTo>
                    <a:pt x="62712" y="2818447"/>
                  </a:lnTo>
                  <a:lnTo>
                    <a:pt x="3322205" y="2818447"/>
                  </a:lnTo>
                  <a:lnTo>
                    <a:pt x="3346615" y="2813520"/>
                  </a:lnTo>
                  <a:lnTo>
                    <a:pt x="3366541" y="2800083"/>
                  </a:lnTo>
                  <a:lnTo>
                    <a:pt x="3379978" y="2780157"/>
                  </a:lnTo>
                  <a:lnTo>
                    <a:pt x="3384905" y="2755747"/>
                  </a:lnTo>
                  <a:lnTo>
                    <a:pt x="3384905" y="2504948"/>
                  </a:lnTo>
                  <a:close/>
                </a:path>
                <a:path w="3385185" h="2818765">
                  <a:moveTo>
                    <a:pt x="3384905" y="2016493"/>
                  </a:moveTo>
                  <a:lnTo>
                    <a:pt x="3379978" y="1992096"/>
                  </a:lnTo>
                  <a:lnTo>
                    <a:pt x="3366541" y="1972157"/>
                  </a:lnTo>
                  <a:lnTo>
                    <a:pt x="3346615" y="1958721"/>
                  </a:lnTo>
                  <a:lnTo>
                    <a:pt x="3322205" y="1953793"/>
                  </a:lnTo>
                  <a:lnTo>
                    <a:pt x="62712" y="1953793"/>
                  </a:lnTo>
                  <a:lnTo>
                    <a:pt x="38303" y="1958721"/>
                  </a:lnTo>
                  <a:lnTo>
                    <a:pt x="18364" y="1972157"/>
                  </a:lnTo>
                  <a:lnTo>
                    <a:pt x="4927" y="1992096"/>
                  </a:lnTo>
                  <a:lnTo>
                    <a:pt x="0" y="2016493"/>
                  </a:lnTo>
                  <a:lnTo>
                    <a:pt x="0" y="2267293"/>
                  </a:lnTo>
                  <a:lnTo>
                    <a:pt x="4927" y="2291702"/>
                  </a:lnTo>
                  <a:lnTo>
                    <a:pt x="18364" y="2311628"/>
                  </a:lnTo>
                  <a:lnTo>
                    <a:pt x="38303" y="2325065"/>
                  </a:lnTo>
                  <a:lnTo>
                    <a:pt x="62712" y="2329992"/>
                  </a:lnTo>
                  <a:lnTo>
                    <a:pt x="3322205" y="2329992"/>
                  </a:lnTo>
                  <a:lnTo>
                    <a:pt x="3346615" y="2325065"/>
                  </a:lnTo>
                  <a:lnTo>
                    <a:pt x="3366541" y="2311628"/>
                  </a:lnTo>
                  <a:lnTo>
                    <a:pt x="3379978" y="2291702"/>
                  </a:lnTo>
                  <a:lnTo>
                    <a:pt x="3384905" y="2267293"/>
                  </a:lnTo>
                  <a:lnTo>
                    <a:pt x="3384905" y="2016493"/>
                  </a:lnTo>
                  <a:close/>
                </a:path>
                <a:path w="3385185" h="2818765">
                  <a:moveTo>
                    <a:pt x="3384905" y="1528051"/>
                  </a:moveTo>
                  <a:lnTo>
                    <a:pt x="3379978" y="1503641"/>
                  </a:lnTo>
                  <a:lnTo>
                    <a:pt x="3366541" y="1483715"/>
                  </a:lnTo>
                  <a:lnTo>
                    <a:pt x="3346615" y="1470279"/>
                  </a:lnTo>
                  <a:lnTo>
                    <a:pt x="3322205" y="1465351"/>
                  </a:lnTo>
                  <a:lnTo>
                    <a:pt x="62712" y="1465351"/>
                  </a:lnTo>
                  <a:lnTo>
                    <a:pt x="38303" y="1470279"/>
                  </a:lnTo>
                  <a:lnTo>
                    <a:pt x="18364" y="1483715"/>
                  </a:lnTo>
                  <a:lnTo>
                    <a:pt x="4927" y="1503641"/>
                  </a:lnTo>
                  <a:lnTo>
                    <a:pt x="0" y="1528051"/>
                  </a:lnTo>
                  <a:lnTo>
                    <a:pt x="0" y="1778850"/>
                  </a:lnTo>
                  <a:lnTo>
                    <a:pt x="4927" y="1803247"/>
                  </a:lnTo>
                  <a:lnTo>
                    <a:pt x="18364" y="1823186"/>
                  </a:lnTo>
                  <a:lnTo>
                    <a:pt x="38303" y="1836623"/>
                  </a:lnTo>
                  <a:lnTo>
                    <a:pt x="62712" y="1841550"/>
                  </a:lnTo>
                  <a:lnTo>
                    <a:pt x="3322205" y="1841550"/>
                  </a:lnTo>
                  <a:lnTo>
                    <a:pt x="3346615" y="1836623"/>
                  </a:lnTo>
                  <a:lnTo>
                    <a:pt x="3366541" y="1823186"/>
                  </a:lnTo>
                  <a:lnTo>
                    <a:pt x="3379978" y="1803247"/>
                  </a:lnTo>
                  <a:lnTo>
                    <a:pt x="3384905" y="1778850"/>
                  </a:lnTo>
                  <a:lnTo>
                    <a:pt x="3384905" y="1528051"/>
                  </a:lnTo>
                  <a:close/>
                </a:path>
                <a:path w="3385185" h="2818765">
                  <a:moveTo>
                    <a:pt x="3384905" y="1039596"/>
                  </a:moveTo>
                  <a:lnTo>
                    <a:pt x="3379978" y="1015187"/>
                  </a:lnTo>
                  <a:lnTo>
                    <a:pt x="3366541" y="995260"/>
                  </a:lnTo>
                  <a:lnTo>
                    <a:pt x="3346615" y="981824"/>
                  </a:lnTo>
                  <a:lnTo>
                    <a:pt x="3322205" y="976896"/>
                  </a:lnTo>
                  <a:lnTo>
                    <a:pt x="62712" y="976896"/>
                  </a:lnTo>
                  <a:lnTo>
                    <a:pt x="38303" y="981824"/>
                  </a:lnTo>
                  <a:lnTo>
                    <a:pt x="18364" y="995260"/>
                  </a:lnTo>
                  <a:lnTo>
                    <a:pt x="4927" y="1015187"/>
                  </a:lnTo>
                  <a:lnTo>
                    <a:pt x="0" y="1039596"/>
                  </a:lnTo>
                  <a:lnTo>
                    <a:pt x="0" y="1290396"/>
                  </a:lnTo>
                  <a:lnTo>
                    <a:pt x="4927" y="1314805"/>
                  </a:lnTo>
                  <a:lnTo>
                    <a:pt x="18364" y="1334731"/>
                  </a:lnTo>
                  <a:lnTo>
                    <a:pt x="38303" y="1348168"/>
                  </a:lnTo>
                  <a:lnTo>
                    <a:pt x="62712" y="1353096"/>
                  </a:lnTo>
                  <a:lnTo>
                    <a:pt x="3322205" y="1353096"/>
                  </a:lnTo>
                  <a:lnTo>
                    <a:pt x="3346615" y="1348168"/>
                  </a:lnTo>
                  <a:lnTo>
                    <a:pt x="3366541" y="1334731"/>
                  </a:lnTo>
                  <a:lnTo>
                    <a:pt x="3379978" y="1314805"/>
                  </a:lnTo>
                  <a:lnTo>
                    <a:pt x="3384905" y="1290396"/>
                  </a:lnTo>
                  <a:lnTo>
                    <a:pt x="3384905" y="1039596"/>
                  </a:lnTo>
                  <a:close/>
                </a:path>
                <a:path w="3385185" h="2818765">
                  <a:moveTo>
                    <a:pt x="3384905" y="62699"/>
                  </a:moveTo>
                  <a:lnTo>
                    <a:pt x="3379978" y="38290"/>
                  </a:lnTo>
                  <a:lnTo>
                    <a:pt x="3366541" y="18364"/>
                  </a:lnTo>
                  <a:lnTo>
                    <a:pt x="3346615" y="4927"/>
                  </a:lnTo>
                  <a:lnTo>
                    <a:pt x="3322205" y="0"/>
                  </a:lnTo>
                  <a:lnTo>
                    <a:pt x="62712" y="0"/>
                  </a:lnTo>
                  <a:lnTo>
                    <a:pt x="38303" y="4927"/>
                  </a:lnTo>
                  <a:lnTo>
                    <a:pt x="18364" y="18364"/>
                  </a:lnTo>
                  <a:lnTo>
                    <a:pt x="4927" y="38290"/>
                  </a:lnTo>
                  <a:lnTo>
                    <a:pt x="0" y="62699"/>
                  </a:lnTo>
                  <a:lnTo>
                    <a:pt x="0" y="313499"/>
                  </a:lnTo>
                  <a:lnTo>
                    <a:pt x="4927" y="337896"/>
                  </a:lnTo>
                  <a:lnTo>
                    <a:pt x="18364" y="357835"/>
                  </a:lnTo>
                  <a:lnTo>
                    <a:pt x="38303" y="371271"/>
                  </a:lnTo>
                  <a:lnTo>
                    <a:pt x="62712" y="376199"/>
                  </a:lnTo>
                  <a:lnTo>
                    <a:pt x="3322205" y="376199"/>
                  </a:lnTo>
                  <a:lnTo>
                    <a:pt x="3346615" y="371271"/>
                  </a:lnTo>
                  <a:lnTo>
                    <a:pt x="3366541" y="357835"/>
                  </a:lnTo>
                  <a:lnTo>
                    <a:pt x="3379978" y="337896"/>
                  </a:lnTo>
                  <a:lnTo>
                    <a:pt x="3384905" y="313499"/>
                  </a:lnTo>
                  <a:lnTo>
                    <a:pt x="3384905" y="626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0623" y="1393624"/>
              <a:ext cx="228600" cy="488950"/>
            </a:xfrm>
            <a:custGeom>
              <a:avLst/>
              <a:gdLst/>
              <a:ahLst/>
              <a:cxnLst/>
              <a:rect l="l" t="t" r="r" b="b"/>
              <a:pathLst>
                <a:path w="228600" h="488950">
                  <a:moveTo>
                    <a:pt x="228600" y="0"/>
                  </a:moveTo>
                  <a:lnTo>
                    <a:pt x="185960" y="5485"/>
                  </a:lnTo>
                  <a:lnTo>
                    <a:pt x="144660" y="20988"/>
                  </a:lnTo>
                  <a:lnTo>
                    <a:pt x="106040" y="45076"/>
                  </a:lnTo>
                  <a:lnTo>
                    <a:pt x="71437" y="76320"/>
                  </a:lnTo>
                  <a:lnTo>
                    <a:pt x="42192" y="113287"/>
                  </a:lnTo>
                  <a:lnTo>
                    <a:pt x="19645" y="154548"/>
                  </a:lnTo>
                  <a:lnTo>
                    <a:pt x="5134" y="198671"/>
                  </a:lnTo>
                  <a:lnTo>
                    <a:pt x="0" y="244225"/>
                  </a:lnTo>
                  <a:lnTo>
                    <a:pt x="4849" y="289778"/>
                  </a:lnTo>
                  <a:lnTo>
                    <a:pt x="18553" y="333901"/>
                  </a:lnTo>
                  <a:lnTo>
                    <a:pt x="39848" y="375162"/>
                  </a:lnTo>
                  <a:lnTo>
                    <a:pt x="67468" y="412129"/>
                  </a:lnTo>
                  <a:lnTo>
                    <a:pt x="100148" y="443373"/>
                  </a:lnTo>
                  <a:lnTo>
                    <a:pt x="136624" y="467461"/>
                  </a:lnTo>
                  <a:lnTo>
                    <a:pt x="175629" y="482964"/>
                  </a:lnTo>
                  <a:lnTo>
                    <a:pt x="215900" y="4884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0623" y="1882075"/>
              <a:ext cx="228600" cy="488950"/>
            </a:xfrm>
            <a:custGeom>
              <a:avLst/>
              <a:gdLst/>
              <a:ahLst/>
              <a:cxnLst/>
              <a:rect l="l" t="t" r="r" b="b"/>
              <a:pathLst>
                <a:path w="228600" h="488950">
                  <a:moveTo>
                    <a:pt x="228600" y="0"/>
                  </a:moveTo>
                  <a:lnTo>
                    <a:pt x="185960" y="5485"/>
                  </a:lnTo>
                  <a:lnTo>
                    <a:pt x="144660" y="20988"/>
                  </a:lnTo>
                  <a:lnTo>
                    <a:pt x="106040" y="45076"/>
                  </a:lnTo>
                  <a:lnTo>
                    <a:pt x="71437" y="76320"/>
                  </a:lnTo>
                  <a:lnTo>
                    <a:pt x="42192" y="113287"/>
                  </a:lnTo>
                  <a:lnTo>
                    <a:pt x="19645" y="154548"/>
                  </a:lnTo>
                  <a:lnTo>
                    <a:pt x="5134" y="198671"/>
                  </a:lnTo>
                  <a:lnTo>
                    <a:pt x="0" y="244225"/>
                  </a:lnTo>
                  <a:lnTo>
                    <a:pt x="4849" y="289778"/>
                  </a:lnTo>
                  <a:lnTo>
                    <a:pt x="18553" y="333901"/>
                  </a:lnTo>
                  <a:lnTo>
                    <a:pt x="39848" y="375162"/>
                  </a:lnTo>
                  <a:lnTo>
                    <a:pt x="67468" y="412129"/>
                  </a:lnTo>
                  <a:lnTo>
                    <a:pt x="100148" y="443373"/>
                  </a:lnTo>
                  <a:lnTo>
                    <a:pt x="136624" y="467461"/>
                  </a:lnTo>
                  <a:lnTo>
                    <a:pt x="175629" y="482964"/>
                  </a:lnTo>
                  <a:lnTo>
                    <a:pt x="215900" y="4884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0623" y="2370524"/>
              <a:ext cx="228600" cy="488950"/>
            </a:xfrm>
            <a:custGeom>
              <a:avLst/>
              <a:gdLst/>
              <a:ahLst/>
              <a:cxnLst/>
              <a:rect l="l" t="t" r="r" b="b"/>
              <a:pathLst>
                <a:path w="228600" h="488950">
                  <a:moveTo>
                    <a:pt x="228600" y="0"/>
                  </a:moveTo>
                  <a:lnTo>
                    <a:pt x="185960" y="5485"/>
                  </a:lnTo>
                  <a:lnTo>
                    <a:pt x="144660" y="20988"/>
                  </a:lnTo>
                  <a:lnTo>
                    <a:pt x="106040" y="45076"/>
                  </a:lnTo>
                  <a:lnTo>
                    <a:pt x="71437" y="76320"/>
                  </a:lnTo>
                  <a:lnTo>
                    <a:pt x="42192" y="113287"/>
                  </a:lnTo>
                  <a:lnTo>
                    <a:pt x="19645" y="154548"/>
                  </a:lnTo>
                  <a:lnTo>
                    <a:pt x="5134" y="198671"/>
                  </a:lnTo>
                  <a:lnTo>
                    <a:pt x="0" y="244225"/>
                  </a:lnTo>
                  <a:lnTo>
                    <a:pt x="4849" y="289778"/>
                  </a:lnTo>
                  <a:lnTo>
                    <a:pt x="18553" y="333901"/>
                  </a:lnTo>
                  <a:lnTo>
                    <a:pt x="39848" y="375162"/>
                  </a:lnTo>
                  <a:lnTo>
                    <a:pt x="67468" y="412129"/>
                  </a:lnTo>
                  <a:lnTo>
                    <a:pt x="100148" y="443373"/>
                  </a:lnTo>
                  <a:lnTo>
                    <a:pt x="136624" y="467461"/>
                  </a:lnTo>
                  <a:lnTo>
                    <a:pt x="175629" y="482964"/>
                  </a:lnTo>
                  <a:lnTo>
                    <a:pt x="215900" y="4884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0623" y="2858974"/>
              <a:ext cx="228600" cy="488950"/>
            </a:xfrm>
            <a:custGeom>
              <a:avLst/>
              <a:gdLst/>
              <a:ahLst/>
              <a:cxnLst/>
              <a:rect l="l" t="t" r="r" b="b"/>
              <a:pathLst>
                <a:path w="228600" h="488950">
                  <a:moveTo>
                    <a:pt x="228600" y="0"/>
                  </a:moveTo>
                  <a:lnTo>
                    <a:pt x="185960" y="5485"/>
                  </a:lnTo>
                  <a:lnTo>
                    <a:pt x="144660" y="20988"/>
                  </a:lnTo>
                  <a:lnTo>
                    <a:pt x="106040" y="45076"/>
                  </a:lnTo>
                  <a:lnTo>
                    <a:pt x="71437" y="76320"/>
                  </a:lnTo>
                  <a:lnTo>
                    <a:pt x="42192" y="113287"/>
                  </a:lnTo>
                  <a:lnTo>
                    <a:pt x="19645" y="154548"/>
                  </a:lnTo>
                  <a:lnTo>
                    <a:pt x="5134" y="198671"/>
                  </a:lnTo>
                  <a:lnTo>
                    <a:pt x="0" y="244225"/>
                  </a:lnTo>
                  <a:lnTo>
                    <a:pt x="4849" y="289778"/>
                  </a:lnTo>
                  <a:lnTo>
                    <a:pt x="18553" y="333901"/>
                  </a:lnTo>
                  <a:lnTo>
                    <a:pt x="39848" y="375162"/>
                  </a:lnTo>
                  <a:lnTo>
                    <a:pt x="67468" y="412129"/>
                  </a:lnTo>
                  <a:lnTo>
                    <a:pt x="100148" y="443373"/>
                  </a:lnTo>
                  <a:lnTo>
                    <a:pt x="136624" y="467461"/>
                  </a:lnTo>
                  <a:lnTo>
                    <a:pt x="175629" y="482964"/>
                  </a:lnTo>
                  <a:lnTo>
                    <a:pt x="215900" y="4884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0623" y="3347425"/>
              <a:ext cx="228600" cy="488950"/>
            </a:xfrm>
            <a:custGeom>
              <a:avLst/>
              <a:gdLst/>
              <a:ahLst/>
              <a:cxnLst/>
              <a:rect l="l" t="t" r="r" b="b"/>
              <a:pathLst>
                <a:path w="228600" h="488950">
                  <a:moveTo>
                    <a:pt x="228600" y="0"/>
                  </a:moveTo>
                  <a:lnTo>
                    <a:pt x="185960" y="5485"/>
                  </a:lnTo>
                  <a:lnTo>
                    <a:pt x="144660" y="20988"/>
                  </a:lnTo>
                  <a:lnTo>
                    <a:pt x="106040" y="45076"/>
                  </a:lnTo>
                  <a:lnTo>
                    <a:pt x="71437" y="76320"/>
                  </a:lnTo>
                  <a:lnTo>
                    <a:pt x="42192" y="113287"/>
                  </a:lnTo>
                  <a:lnTo>
                    <a:pt x="19645" y="154548"/>
                  </a:lnTo>
                  <a:lnTo>
                    <a:pt x="5134" y="198671"/>
                  </a:lnTo>
                  <a:lnTo>
                    <a:pt x="0" y="244225"/>
                  </a:lnTo>
                  <a:lnTo>
                    <a:pt x="4849" y="289778"/>
                  </a:lnTo>
                  <a:lnTo>
                    <a:pt x="18553" y="333901"/>
                  </a:lnTo>
                  <a:lnTo>
                    <a:pt x="39848" y="375162"/>
                  </a:lnTo>
                  <a:lnTo>
                    <a:pt x="67468" y="412129"/>
                  </a:lnTo>
                  <a:lnTo>
                    <a:pt x="100148" y="443373"/>
                  </a:lnTo>
                  <a:lnTo>
                    <a:pt x="136624" y="467461"/>
                  </a:lnTo>
                  <a:lnTo>
                    <a:pt x="175629" y="482964"/>
                  </a:lnTo>
                  <a:lnTo>
                    <a:pt x="215900" y="4884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6511" y="1693976"/>
              <a:ext cx="3385185" cy="3307079"/>
            </a:xfrm>
            <a:custGeom>
              <a:avLst/>
              <a:gdLst/>
              <a:ahLst/>
              <a:cxnLst/>
              <a:rect l="l" t="t" r="r" b="b"/>
              <a:pathLst>
                <a:path w="3385185" h="3307079">
                  <a:moveTo>
                    <a:pt x="3384004" y="2993402"/>
                  </a:moveTo>
                  <a:lnTo>
                    <a:pt x="3379076" y="2969006"/>
                  </a:lnTo>
                  <a:lnTo>
                    <a:pt x="3365639" y="2949067"/>
                  </a:lnTo>
                  <a:lnTo>
                    <a:pt x="3345713" y="2935630"/>
                  </a:lnTo>
                  <a:lnTo>
                    <a:pt x="3321304" y="2930702"/>
                  </a:lnTo>
                  <a:lnTo>
                    <a:pt x="62712" y="2930702"/>
                  </a:lnTo>
                  <a:lnTo>
                    <a:pt x="38303" y="2935630"/>
                  </a:lnTo>
                  <a:lnTo>
                    <a:pt x="18376" y="2949067"/>
                  </a:lnTo>
                  <a:lnTo>
                    <a:pt x="4927" y="2969006"/>
                  </a:lnTo>
                  <a:lnTo>
                    <a:pt x="0" y="2993402"/>
                  </a:lnTo>
                  <a:lnTo>
                    <a:pt x="0" y="3244202"/>
                  </a:lnTo>
                  <a:lnTo>
                    <a:pt x="4927" y="3268611"/>
                  </a:lnTo>
                  <a:lnTo>
                    <a:pt x="18376" y="3288538"/>
                  </a:lnTo>
                  <a:lnTo>
                    <a:pt x="38303" y="3301974"/>
                  </a:lnTo>
                  <a:lnTo>
                    <a:pt x="62712" y="3306902"/>
                  </a:lnTo>
                  <a:lnTo>
                    <a:pt x="3321304" y="3306902"/>
                  </a:lnTo>
                  <a:lnTo>
                    <a:pt x="3345713" y="3301974"/>
                  </a:lnTo>
                  <a:lnTo>
                    <a:pt x="3365639" y="3288538"/>
                  </a:lnTo>
                  <a:lnTo>
                    <a:pt x="3379076" y="3268611"/>
                  </a:lnTo>
                  <a:lnTo>
                    <a:pt x="3384004" y="3244202"/>
                  </a:lnTo>
                  <a:lnTo>
                    <a:pt x="3384004" y="2993402"/>
                  </a:lnTo>
                  <a:close/>
                </a:path>
                <a:path w="3385185" h="3307079">
                  <a:moveTo>
                    <a:pt x="3384004" y="2504960"/>
                  </a:moveTo>
                  <a:lnTo>
                    <a:pt x="3379076" y="2480551"/>
                  </a:lnTo>
                  <a:lnTo>
                    <a:pt x="3365639" y="2460625"/>
                  </a:lnTo>
                  <a:lnTo>
                    <a:pt x="3345713" y="2447175"/>
                  </a:lnTo>
                  <a:lnTo>
                    <a:pt x="3321304" y="2442248"/>
                  </a:lnTo>
                  <a:lnTo>
                    <a:pt x="62712" y="2442248"/>
                  </a:lnTo>
                  <a:lnTo>
                    <a:pt x="38303" y="2447175"/>
                  </a:lnTo>
                  <a:lnTo>
                    <a:pt x="18376" y="2460625"/>
                  </a:lnTo>
                  <a:lnTo>
                    <a:pt x="4927" y="2480551"/>
                  </a:lnTo>
                  <a:lnTo>
                    <a:pt x="0" y="2504960"/>
                  </a:lnTo>
                  <a:lnTo>
                    <a:pt x="0" y="2755747"/>
                  </a:lnTo>
                  <a:lnTo>
                    <a:pt x="4927" y="2780157"/>
                  </a:lnTo>
                  <a:lnTo>
                    <a:pt x="18376" y="2800083"/>
                  </a:lnTo>
                  <a:lnTo>
                    <a:pt x="38303" y="2813532"/>
                  </a:lnTo>
                  <a:lnTo>
                    <a:pt x="62712" y="2818460"/>
                  </a:lnTo>
                  <a:lnTo>
                    <a:pt x="3321304" y="2818460"/>
                  </a:lnTo>
                  <a:lnTo>
                    <a:pt x="3345713" y="2813532"/>
                  </a:lnTo>
                  <a:lnTo>
                    <a:pt x="3365639" y="2800083"/>
                  </a:lnTo>
                  <a:lnTo>
                    <a:pt x="3379076" y="2780157"/>
                  </a:lnTo>
                  <a:lnTo>
                    <a:pt x="3384004" y="2755747"/>
                  </a:lnTo>
                  <a:lnTo>
                    <a:pt x="3384004" y="2504960"/>
                  </a:lnTo>
                  <a:close/>
                </a:path>
                <a:path w="3385185" h="3307079">
                  <a:moveTo>
                    <a:pt x="3384905" y="62699"/>
                  </a:moveTo>
                  <a:lnTo>
                    <a:pt x="3379978" y="38303"/>
                  </a:lnTo>
                  <a:lnTo>
                    <a:pt x="3366541" y="18364"/>
                  </a:lnTo>
                  <a:lnTo>
                    <a:pt x="3346615" y="4927"/>
                  </a:lnTo>
                  <a:lnTo>
                    <a:pt x="3322205" y="0"/>
                  </a:lnTo>
                  <a:lnTo>
                    <a:pt x="62712" y="0"/>
                  </a:lnTo>
                  <a:lnTo>
                    <a:pt x="38303" y="4927"/>
                  </a:lnTo>
                  <a:lnTo>
                    <a:pt x="18364" y="18364"/>
                  </a:lnTo>
                  <a:lnTo>
                    <a:pt x="4927" y="38303"/>
                  </a:lnTo>
                  <a:lnTo>
                    <a:pt x="0" y="62699"/>
                  </a:lnTo>
                  <a:lnTo>
                    <a:pt x="0" y="313499"/>
                  </a:lnTo>
                  <a:lnTo>
                    <a:pt x="4927" y="337908"/>
                  </a:lnTo>
                  <a:lnTo>
                    <a:pt x="18364" y="357835"/>
                  </a:lnTo>
                  <a:lnTo>
                    <a:pt x="38303" y="371271"/>
                  </a:lnTo>
                  <a:lnTo>
                    <a:pt x="62712" y="376199"/>
                  </a:lnTo>
                  <a:lnTo>
                    <a:pt x="3322205" y="376199"/>
                  </a:lnTo>
                  <a:lnTo>
                    <a:pt x="3346615" y="371271"/>
                  </a:lnTo>
                  <a:lnTo>
                    <a:pt x="3366541" y="357835"/>
                  </a:lnTo>
                  <a:lnTo>
                    <a:pt x="3379978" y="337908"/>
                  </a:lnTo>
                  <a:lnTo>
                    <a:pt x="3384905" y="313499"/>
                  </a:lnTo>
                  <a:lnTo>
                    <a:pt x="3384905" y="62699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54187" y="1270000"/>
            <a:ext cx="2318385" cy="36404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Trebuchet MS"/>
                <a:cs typeface="Trebuchet MS"/>
              </a:rPr>
              <a:t>Знакомство</a:t>
            </a:r>
            <a:endParaRPr sz="1300">
              <a:latin typeface="Trebuchet MS"/>
              <a:cs typeface="Trebuchet MS"/>
            </a:endParaRPr>
          </a:p>
          <a:p>
            <a:pPr marL="12700" marR="530225">
              <a:lnSpc>
                <a:spcPct val="246200"/>
              </a:lnSpc>
            </a:pPr>
            <a:r>
              <a:rPr sz="1300" dirty="0">
                <a:latin typeface="Trebuchet MS"/>
                <a:cs typeface="Trebuchet MS"/>
              </a:rPr>
              <a:t>Об</a:t>
            </a:r>
            <a:r>
              <a:rPr sz="1300" spc="-45" dirty="0">
                <a:latin typeface="Trebuchet MS"/>
                <a:cs typeface="Trebuchet MS"/>
              </a:rPr>
              <a:t> </a:t>
            </a:r>
            <a:r>
              <a:rPr sz="1300" spc="-20" dirty="0">
                <a:latin typeface="Trebuchet MS"/>
                <a:cs typeface="Trebuchet MS"/>
              </a:rPr>
              <a:t>Отус </a:t>
            </a:r>
            <a:r>
              <a:rPr sz="1300" spc="-10" dirty="0">
                <a:solidFill>
                  <a:srgbClr val="050505"/>
                </a:solidFill>
                <a:latin typeface="Trebuchet MS"/>
                <a:cs typeface="Trebuchet MS"/>
              </a:rPr>
              <a:t>Воспроизводимость </a:t>
            </a:r>
            <a:r>
              <a:rPr sz="1300" spc="135" dirty="0">
                <a:latin typeface="Trebuchet MS"/>
                <a:cs typeface="Trebuchet MS"/>
              </a:rPr>
              <a:t>DVC–</a:t>
            </a:r>
            <a:r>
              <a:rPr sz="1300" spc="-15" dirty="0">
                <a:latin typeface="Trebuchet MS"/>
                <a:cs typeface="Trebuchet MS"/>
              </a:rPr>
              <a:t> </a:t>
            </a:r>
            <a:r>
              <a:rPr sz="1300" dirty="0">
                <a:latin typeface="Trebuchet MS"/>
                <a:cs typeface="Trebuchet MS"/>
              </a:rPr>
              <a:t>что</a:t>
            </a:r>
            <a:r>
              <a:rPr sz="1300" spc="-20" dirty="0">
                <a:latin typeface="Trebuchet MS"/>
                <a:cs typeface="Trebuchet MS"/>
              </a:rPr>
              <a:t> </a:t>
            </a:r>
            <a:r>
              <a:rPr sz="1300" dirty="0">
                <a:latin typeface="Trebuchet MS"/>
                <a:cs typeface="Trebuchet MS"/>
              </a:rPr>
              <a:t>это</a:t>
            </a:r>
            <a:r>
              <a:rPr sz="1300" spc="-20" dirty="0">
                <a:latin typeface="Trebuchet MS"/>
                <a:cs typeface="Trebuchet MS"/>
              </a:rPr>
              <a:t> </a:t>
            </a:r>
            <a:r>
              <a:rPr sz="1300" dirty="0">
                <a:latin typeface="Trebuchet MS"/>
                <a:cs typeface="Trebuchet MS"/>
              </a:rPr>
              <a:t>и</a:t>
            </a:r>
            <a:r>
              <a:rPr sz="1300" spc="-10" dirty="0">
                <a:latin typeface="Trebuchet MS"/>
                <a:cs typeface="Trebuchet MS"/>
              </a:rPr>
              <a:t> </a:t>
            </a:r>
            <a:r>
              <a:rPr sz="1300" spc="40" dirty="0">
                <a:latin typeface="Trebuchet MS"/>
                <a:cs typeface="Trebuchet MS"/>
              </a:rPr>
              <a:t>зачем?</a:t>
            </a:r>
            <a:endParaRPr sz="1300">
              <a:latin typeface="Trebuchet MS"/>
              <a:cs typeface="Trebuchet MS"/>
            </a:endParaRPr>
          </a:p>
          <a:p>
            <a:pPr marL="12700" marR="353060" algn="just">
              <a:lnSpc>
                <a:spcPct val="246200"/>
              </a:lnSpc>
              <a:spcBef>
                <a:spcPts val="20"/>
              </a:spcBef>
            </a:pPr>
            <a:r>
              <a:rPr sz="1300" spc="55" dirty="0">
                <a:latin typeface="Trebuchet MS"/>
                <a:cs typeface="Trebuchet MS"/>
              </a:rPr>
              <a:t>DVC</a:t>
            </a:r>
            <a:r>
              <a:rPr sz="1300" spc="-25" dirty="0">
                <a:latin typeface="Trebuchet MS"/>
                <a:cs typeface="Trebuchet MS"/>
              </a:rPr>
              <a:t> </a:t>
            </a:r>
            <a:r>
              <a:rPr sz="1300" spc="375" dirty="0">
                <a:latin typeface="Trebuchet MS"/>
                <a:cs typeface="Trebuchet MS"/>
              </a:rPr>
              <a:t>–</a:t>
            </a:r>
            <a:r>
              <a:rPr sz="1300" spc="-25" dirty="0">
                <a:latin typeface="Trebuchet MS"/>
                <a:cs typeface="Trebuchet MS"/>
              </a:rPr>
              <a:t> </a:t>
            </a:r>
            <a:r>
              <a:rPr sz="1300" dirty="0">
                <a:latin typeface="Trebuchet MS"/>
                <a:cs typeface="Trebuchet MS"/>
              </a:rPr>
              <a:t>работа</a:t>
            </a:r>
            <a:r>
              <a:rPr sz="1300" spc="-20" dirty="0">
                <a:latin typeface="Trebuchet MS"/>
                <a:cs typeface="Trebuchet MS"/>
              </a:rPr>
              <a:t> </a:t>
            </a:r>
            <a:r>
              <a:rPr sz="1300" dirty="0">
                <a:latin typeface="Trebuchet MS"/>
                <a:cs typeface="Trebuchet MS"/>
              </a:rPr>
              <a:t>с</a:t>
            </a:r>
            <a:r>
              <a:rPr sz="1300" spc="-35" dirty="0">
                <a:latin typeface="Trebuchet MS"/>
                <a:cs typeface="Trebuchet MS"/>
              </a:rPr>
              <a:t> </a:t>
            </a:r>
            <a:r>
              <a:rPr sz="1300" spc="-10" dirty="0">
                <a:latin typeface="Trebuchet MS"/>
                <a:cs typeface="Trebuchet MS"/>
              </a:rPr>
              <a:t>данными </a:t>
            </a:r>
            <a:r>
              <a:rPr sz="1300" dirty="0">
                <a:latin typeface="Trebuchet MS"/>
                <a:cs typeface="Trebuchet MS"/>
              </a:rPr>
              <a:t>Пайплайн</a:t>
            </a:r>
            <a:r>
              <a:rPr sz="1300" spc="175" dirty="0">
                <a:latin typeface="Trebuchet MS"/>
                <a:cs typeface="Trebuchet MS"/>
              </a:rPr>
              <a:t> </a:t>
            </a:r>
            <a:r>
              <a:rPr sz="1300" spc="-10" dirty="0">
                <a:latin typeface="Trebuchet MS"/>
                <a:cs typeface="Trebuchet MS"/>
              </a:rPr>
              <a:t>эксперимента </a:t>
            </a:r>
            <a:r>
              <a:rPr sz="1300" dirty="0">
                <a:latin typeface="Trebuchet MS"/>
                <a:cs typeface="Trebuchet MS"/>
              </a:rPr>
              <a:t>Команда</a:t>
            </a:r>
            <a:r>
              <a:rPr sz="1300" spc="204" dirty="0">
                <a:latin typeface="Trebuchet MS"/>
                <a:cs typeface="Trebuchet MS"/>
              </a:rPr>
              <a:t> </a:t>
            </a:r>
            <a:r>
              <a:rPr sz="1300" spc="-20" dirty="0">
                <a:latin typeface="Trebuchet MS"/>
                <a:cs typeface="Trebuchet MS"/>
              </a:rPr>
              <a:t>курса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300" dirty="0">
                <a:latin typeface="Trebuchet MS"/>
                <a:cs typeface="Trebuchet MS"/>
              </a:rPr>
              <a:t>О</a:t>
            </a:r>
            <a:r>
              <a:rPr sz="1300" spc="30" dirty="0">
                <a:latin typeface="Trebuchet MS"/>
                <a:cs typeface="Trebuchet MS"/>
              </a:rPr>
              <a:t> </a:t>
            </a:r>
            <a:r>
              <a:rPr sz="1300" spc="-50" dirty="0">
                <a:latin typeface="Trebuchet MS"/>
                <a:cs typeface="Trebuchet MS"/>
              </a:rPr>
              <a:t>курсе,</a:t>
            </a:r>
            <a:r>
              <a:rPr sz="1300" spc="20" dirty="0">
                <a:latin typeface="Trebuchet MS"/>
                <a:cs typeface="Trebuchet MS"/>
              </a:rPr>
              <a:t> </a:t>
            </a:r>
            <a:r>
              <a:rPr sz="1300" dirty="0">
                <a:latin typeface="Trebuchet MS"/>
                <a:cs typeface="Trebuchet MS"/>
              </a:rPr>
              <a:t>программа</a:t>
            </a:r>
            <a:r>
              <a:rPr sz="1300" spc="30" dirty="0">
                <a:latin typeface="Trebuchet MS"/>
                <a:cs typeface="Trebuchet MS"/>
              </a:rPr>
              <a:t> </a:t>
            </a:r>
            <a:r>
              <a:rPr sz="1300" spc="-10" dirty="0">
                <a:latin typeface="Trebuchet MS"/>
                <a:cs typeface="Trebuchet MS"/>
              </a:rPr>
              <a:t>обучения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65860" y="3831112"/>
            <a:ext cx="238125" cy="986790"/>
            <a:chOff x="565860" y="3831112"/>
            <a:chExt cx="238125" cy="986790"/>
          </a:xfrm>
        </p:grpSpPr>
        <p:sp>
          <p:nvSpPr>
            <p:cNvPr id="13" name="object 13"/>
            <p:cNvSpPr/>
            <p:nvPr/>
          </p:nvSpPr>
          <p:spPr>
            <a:xfrm>
              <a:off x="570623" y="3835875"/>
              <a:ext cx="228600" cy="488950"/>
            </a:xfrm>
            <a:custGeom>
              <a:avLst/>
              <a:gdLst/>
              <a:ahLst/>
              <a:cxnLst/>
              <a:rect l="l" t="t" r="r" b="b"/>
              <a:pathLst>
                <a:path w="228600" h="488950">
                  <a:moveTo>
                    <a:pt x="228600" y="0"/>
                  </a:moveTo>
                  <a:lnTo>
                    <a:pt x="185960" y="5485"/>
                  </a:lnTo>
                  <a:lnTo>
                    <a:pt x="144660" y="20988"/>
                  </a:lnTo>
                  <a:lnTo>
                    <a:pt x="106040" y="45076"/>
                  </a:lnTo>
                  <a:lnTo>
                    <a:pt x="71437" y="76320"/>
                  </a:lnTo>
                  <a:lnTo>
                    <a:pt x="42192" y="113287"/>
                  </a:lnTo>
                  <a:lnTo>
                    <a:pt x="19645" y="154548"/>
                  </a:lnTo>
                  <a:lnTo>
                    <a:pt x="5134" y="198671"/>
                  </a:lnTo>
                  <a:lnTo>
                    <a:pt x="0" y="244225"/>
                  </a:lnTo>
                  <a:lnTo>
                    <a:pt x="4849" y="289778"/>
                  </a:lnTo>
                  <a:lnTo>
                    <a:pt x="18553" y="333901"/>
                  </a:lnTo>
                  <a:lnTo>
                    <a:pt x="39848" y="375162"/>
                  </a:lnTo>
                  <a:lnTo>
                    <a:pt x="67468" y="412129"/>
                  </a:lnTo>
                  <a:lnTo>
                    <a:pt x="100148" y="443373"/>
                  </a:lnTo>
                  <a:lnTo>
                    <a:pt x="136624" y="467461"/>
                  </a:lnTo>
                  <a:lnTo>
                    <a:pt x="175629" y="482964"/>
                  </a:lnTo>
                  <a:lnTo>
                    <a:pt x="215900" y="48845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0623" y="4324324"/>
              <a:ext cx="228600" cy="488950"/>
            </a:xfrm>
            <a:custGeom>
              <a:avLst/>
              <a:gdLst/>
              <a:ahLst/>
              <a:cxnLst/>
              <a:rect l="l" t="t" r="r" b="b"/>
              <a:pathLst>
                <a:path w="228600" h="488950">
                  <a:moveTo>
                    <a:pt x="228600" y="0"/>
                  </a:moveTo>
                  <a:lnTo>
                    <a:pt x="185960" y="5485"/>
                  </a:lnTo>
                  <a:lnTo>
                    <a:pt x="144660" y="20988"/>
                  </a:lnTo>
                  <a:lnTo>
                    <a:pt x="106040" y="45076"/>
                  </a:lnTo>
                  <a:lnTo>
                    <a:pt x="71437" y="76320"/>
                  </a:lnTo>
                  <a:lnTo>
                    <a:pt x="42192" y="113288"/>
                  </a:lnTo>
                  <a:lnTo>
                    <a:pt x="19645" y="154548"/>
                  </a:lnTo>
                  <a:lnTo>
                    <a:pt x="5134" y="198671"/>
                  </a:lnTo>
                  <a:lnTo>
                    <a:pt x="0" y="244225"/>
                  </a:lnTo>
                  <a:lnTo>
                    <a:pt x="4849" y="289779"/>
                  </a:lnTo>
                  <a:lnTo>
                    <a:pt x="18553" y="333902"/>
                  </a:lnTo>
                  <a:lnTo>
                    <a:pt x="39848" y="375162"/>
                  </a:lnTo>
                  <a:lnTo>
                    <a:pt x="67468" y="412130"/>
                  </a:lnTo>
                  <a:lnTo>
                    <a:pt x="100148" y="443374"/>
                  </a:lnTo>
                  <a:lnTo>
                    <a:pt x="136624" y="467462"/>
                  </a:lnTo>
                  <a:lnTo>
                    <a:pt x="175629" y="482965"/>
                  </a:lnTo>
                  <a:lnTo>
                    <a:pt x="215900" y="48845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757928" y="1194816"/>
            <a:ext cx="3672840" cy="3026410"/>
            <a:chOff x="4757928" y="1194816"/>
            <a:chExt cx="3672840" cy="302641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6042" y="2340241"/>
              <a:ext cx="2674703" cy="188039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57928" y="1194816"/>
              <a:ext cx="1478279" cy="14782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150" y="1636268"/>
            <a:ext cx="6069330" cy="9525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40"/>
              </a:spcBef>
              <a:buClr>
                <a:srgbClr val="FF7700"/>
              </a:buClr>
              <a:buFont typeface="Times New Roman"/>
              <a:buChar char="●"/>
              <a:tabLst>
                <a:tab pos="354965" algn="l"/>
              </a:tabLst>
            </a:pPr>
            <a:r>
              <a:rPr sz="1800" dirty="0">
                <a:solidFill>
                  <a:srgbClr val="1E1F21"/>
                </a:solidFill>
                <a:latin typeface="Trebuchet MS"/>
                <a:cs typeface="Trebuchet MS"/>
              </a:rPr>
              <a:t>Как</a:t>
            </a:r>
            <a:r>
              <a:rPr sz="1800" spc="-20" dirty="0">
                <a:solidFill>
                  <a:srgbClr val="1E1F21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1E1F21"/>
                </a:solidFill>
                <a:latin typeface="Trebuchet MS"/>
                <a:cs typeface="Trebuchet MS"/>
              </a:rPr>
              <a:t>вас</a:t>
            </a:r>
            <a:r>
              <a:rPr sz="1800" spc="-20" dirty="0">
                <a:solidFill>
                  <a:srgbClr val="1E1F21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1E1F21"/>
                </a:solidFill>
                <a:latin typeface="Trebuchet MS"/>
                <a:cs typeface="Trebuchet MS"/>
              </a:rPr>
              <a:t>зовут?</a:t>
            </a:r>
            <a:r>
              <a:rPr sz="1800" spc="-15" dirty="0">
                <a:solidFill>
                  <a:srgbClr val="1E1F2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1E1F21"/>
                </a:solidFill>
                <a:latin typeface="Trebuchet MS"/>
                <a:cs typeface="Trebuchet MS"/>
              </a:rPr>
              <a:t>Откуда</a:t>
            </a:r>
            <a:r>
              <a:rPr sz="1800" spc="-20" dirty="0">
                <a:solidFill>
                  <a:srgbClr val="1E1F21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1E1F21"/>
                </a:solidFill>
                <a:latin typeface="Trebuchet MS"/>
                <a:cs typeface="Trebuchet MS"/>
              </a:rPr>
              <a:t>вы?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240"/>
              </a:spcBef>
              <a:buClr>
                <a:srgbClr val="FF7700"/>
              </a:buClr>
              <a:buFont typeface="Times New Roman"/>
              <a:buChar char="●"/>
              <a:tabLst>
                <a:tab pos="354965" algn="l"/>
              </a:tabLst>
            </a:pPr>
            <a:r>
              <a:rPr sz="1800" spc="70" dirty="0">
                <a:solidFill>
                  <a:srgbClr val="1E1F21"/>
                </a:solidFill>
                <a:latin typeface="Trebuchet MS"/>
                <a:cs typeface="Trebuchet MS"/>
              </a:rPr>
              <a:t>Ваш</a:t>
            </a:r>
            <a:r>
              <a:rPr sz="1800" spc="-90" dirty="0">
                <a:solidFill>
                  <a:srgbClr val="1E1F21"/>
                </a:solidFill>
                <a:latin typeface="Trebuchet MS"/>
                <a:cs typeface="Trebuchet MS"/>
              </a:rPr>
              <a:t> </a:t>
            </a:r>
            <a:r>
              <a:rPr sz="1800" spc="75" dirty="0">
                <a:solidFill>
                  <a:srgbClr val="1E1F21"/>
                </a:solidFill>
                <a:latin typeface="Trebuchet MS"/>
                <a:cs typeface="Trebuchet MS"/>
              </a:rPr>
              <a:t>опыт</a:t>
            </a:r>
            <a:r>
              <a:rPr sz="1800" spc="-100" dirty="0">
                <a:solidFill>
                  <a:srgbClr val="1E1F21"/>
                </a:solidFill>
                <a:latin typeface="Trebuchet MS"/>
                <a:cs typeface="Trebuchet MS"/>
              </a:rPr>
              <a:t> </a:t>
            </a:r>
            <a:r>
              <a:rPr sz="1800" spc="50" dirty="0">
                <a:solidFill>
                  <a:srgbClr val="1E1F21"/>
                </a:solidFill>
                <a:latin typeface="Trebuchet MS"/>
                <a:cs typeface="Trebuchet MS"/>
              </a:rPr>
              <a:t>работы</a:t>
            </a:r>
            <a:r>
              <a:rPr sz="1800" spc="-85" dirty="0">
                <a:solidFill>
                  <a:srgbClr val="1E1F21"/>
                </a:solidFill>
                <a:latin typeface="Trebuchet MS"/>
                <a:cs typeface="Trebuchet MS"/>
              </a:rPr>
              <a:t> </a:t>
            </a:r>
            <a:r>
              <a:rPr sz="1800" spc="100" dirty="0">
                <a:solidFill>
                  <a:srgbClr val="1E1F21"/>
                </a:solidFill>
                <a:latin typeface="Trebuchet MS"/>
                <a:cs typeface="Trebuchet MS"/>
              </a:rPr>
              <a:t>в</a:t>
            </a:r>
            <a:r>
              <a:rPr sz="1800" spc="-100" dirty="0">
                <a:solidFill>
                  <a:srgbClr val="1E1F21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1E1F21"/>
                </a:solidFill>
                <a:latin typeface="Trebuchet MS"/>
                <a:cs typeface="Trebuchet MS"/>
              </a:rPr>
              <a:t>IT?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335"/>
              </a:spcBef>
              <a:buClr>
                <a:srgbClr val="FF7700"/>
              </a:buClr>
              <a:buFont typeface="Times New Roman"/>
              <a:buChar char="●"/>
              <a:tabLst>
                <a:tab pos="354965" algn="l"/>
              </a:tabLst>
            </a:pPr>
            <a:r>
              <a:rPr sz="1800" spc="105" dirty="0">
                <a:solidFill>
                  <a:srgbClr val="1E1F21"/>
                </a:solidFill>
                <a:latin typeface="Trebuchet MS"/>
                <a:cs typeface="Trebuchet MS"/>
              </a:rPr>
              <a:t>С</a:t>
            </a:r>
            <a:r>
              <a:rPr sz="1800" spc="50" dirty="0">
                <a:solidFill>
                  <a:srgbClr val="1E1F2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1E1F21"/>
                </a:solidFill>
                <a:latin typeface="Trebuchet MS"/>
                <a:cs typeface="Trebuchet MS"/>
              </a:rPr>
              <a:t>какой</a:t>
            </a:r>
            <a:r>
              <a:rPr sz="1800" spc="50" dirty="0">
                <a:solidFill>
                  <a:srgbClr val="1E1F2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1E1F21"/>
                </a:solidFill>
                <a:latin typeface="Trebuchet MS"/>
                <a:cs typeface="Trebuchet MS"/>
              </a:rPr>
              <a:t>основной</a:t>
            </a:r>
            <a:r>
              <a:rPr sz="1800" spc="45" dirty="0">
                <a:solidFill>
                  <a:srgbClr val="1E1F21"/>
                </a:solidFill>
                <a:latin typeface="Trebuchet MS"/>
                <a:cs typeface="Trebuchet MS"/>
              </a:rPr>
              <a:t> </a:t>
            </a:r>
            <a:r>
              <a:rPr sz="1800" spc="50" dirty="0">
                <a:solidFill>
                  <a:srgbClr val="1E1F21"/>
                </a:solidFill>
                <a:latin typeface="Trebuchet MS"/>
                <a:cs typeface="Trebuchet MS"/>
              </a:rPr>
              <a:t>целью</a:t>
            </a:r>
            <a:r>
              <a:rPr sz="1800" spc="55" dirty="0">
                <a:solidFill>
                  <a:srgbClr val="1E1F21"/>
                </a:solidFill>
                <a:latin typeface="Trebuchet MS"/>
                <a:cs typeface="Trebuchet MS"/>
              </a:rPr>
              <a:t> </a:t>
            </a:r>
            <a:r>
              <a:rPr sz="1800" spc="120" dirty="0">
                <a:solidFill>
                  <a:srgbClr val="1E1F21"/>
                </a:solidFill>
                <a:latin typeface="Trebuchet MS"/>
                <a:cs typeface="Trebuchet MS"/>
              </a:rPr>
              <a:t>вы</a:t>
            </a:r>
            <a:r>
              <a:rPr sz="1800" spc="45" dirty="0">
                <a:solidFill>
                  <a:srgbClr val="1E1F2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1E1F21"/>
                </a:solidFill>
                <a:latin typeface="Trebuchet MS"/>
                <a:cs typeface="Trebuchet MS"/>
              </a:rPr>
              <a:t>записались</a:t>
            </a:r>
            <a:r>
              <a:rPr sz="1800" spc="45" dirty="0">
                <a:solidFill>
                  <a:srgbClr val="1E1F2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1E1F21"/>
                </a:solidFill>
                <a:latin typeface="Trebuchet MS"/>
                <a:cs typeface="Trebuchet MS"/>
              </a:rPr>
              <a:t>на</a:t>
            </a:r>
            <a:r>
              <a:rPr sz="1800" spc="45" dirty="0">
                <a:solidFill>
                  <a:srgbClr val="1E1F21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1E1F21"/>
                </a:solidFill>
                <a:latin typeface="Trebuchet MS"/>
                <a:cs typeface="Trebuchet MS"/>
              </a:rPr>
              <a:t>занятие?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9274" y="383031"/>
            <a:ext cx="358076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Расскажите</a:t>
            </a:r>
            <a:r>
              <a:rPr spc="-30" dirty="0"/>
              <a:t> </a:t>
            </a:r>
            <a:r>
              <a:rPr dirty="0"/>
              <a:t>о</a:t>
            </a:r>
            <a:r>
              <a:rPr spc="-30" dirty="0"/>
              <a:t> </a:t>
            </a:r>
            <a:r>
              <a:rPr spc="-35" dirty="0"/>
              <a:t>себе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824" y="3410711"/>
            <a:ext cx="624840" cy="6248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5920" y="3410711"/>
            <a:ext cx="621792" cy="624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4949" y="2051811"/>
            <a:ext cx="242252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90" dirty="0">
                <a:solidFill>
                  <a:srgbClr val="FFFFFF"/>
                </a:solidFill>
              </a:rPr>
              <a:t>Об</a:t>
            </a:r>
            <a:r>
              <a:rPr sz="4600" spc="-250" dirty="0">
                <a:solidFill>
                  <a:srgbClr val="FFFFFF"/>
                </a:solidFill>
              </a:rPr>
              <a:t> </a:t>
            </a:r>
            <a:r>
              <a:rPr sz="4600" spc="-20" dirty="0">
                <a:solidFill>
                  <a:srgbClr val="FFFFFF"/>
                </a:solidFill>
              </a:rPr>
              <a:t>ОТУС</a:t>
            </a:r>
            <a:endParaRPr sz="4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О</a:t>
            </a:r>
            <a:r>
              <a:rPr spc="-204" dirty="0"/>
              <a:t> </a:t>
            </a:r>
            <a:r>
              <a:rPr spc="-25" dirty="0"/>
              <a:t>компании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9075" y="1627632"/>
            <a:ext cx="4528185" cy="251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solidFill>
                  <a:srgbClr val="FF7700"/>
                </a:solidFill>
                <a:latin typeface="Trebuchet MS"/>
                <a:cs typeface="Trebuchet MS"/>
              </a:rPr>
              <a:t>Сфера</a:t>
            </a:r>
            <a:endParaRPr sz="17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980"/>
              </a:spcBef>
            </a:pPr>
            <a:r>
              <a:rPr sz="1200" dirty="0">
                <a:latin typeface="Trebuchet MS"/>
                <a:cs typeface="Trebuchet MS"/>
              </a:rPr>
              <a:t>ОТУС</a:t>
            </a:r>
            <a:r>
              <a:rPr sz="1200" spc="-1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специализируется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на </a:t>
            </a:r>
            <a:r>
              <a:rPr sz="1200" spc="-10" dirty="0">
                <a:latin typeface="Trebuchet MS"/>
                <a:cs typeface="Trebuchet MS"/>
              </a:rPr>
              <a:t>обучении</a:t>
            </a:r>
            <a:r>
              <a:rPr sz="1200" spc="-5" dirty="0">
                <a:latin typeface="Trebuchet MS"/>
                <a:cs typeface="Trebuchet MS"/>
              </a:rPr>
              <a:t> </a:t>
            </a:r>
            <a:r>
              <a:rPr sz="1200" spc="55" dirty="0">
                <a:latin typeface="Trebuchet MS"/>
                <a:cs typeface="Trebuchet MS"/>
              </a:rPr>
              <a:t>в</a:t>
            </a:r>
            <a:r>
              <a:rPr sz="1200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IT.</a:t>
            </a:r>
            <a:endParaRPr sz="1200">
              <a:latin typeface="Trebuchet MS"/>
              <a:cs typeface="Trebuchet MS"/>
            </a:endParaRPr>
          </a:p>
          <a:p>
            <a:pPr marL="12700" marR="203835" algn="just">
              <a:lnSpc>
                <a:spcPct val="114999"/>
              </a:lnSpc>
              <a:spcBef>
                <a:spcPts val="45"/>
              </a:spcBef>
            </a:pPr>
            <a:r>
              <a:rPr sz="1200" spc="10" dirty="0">
                <a:latin typeface="Trebuchet MS"/>
                <a:cs typeface="Trebuchet MS"/>
              </a:rPr>
              <a:t>Наша</a:t>
            </a:r>
            <a:r>
              <a:rPr sz="1200" spc="20" dirty="0">
                <a:latin typeface="Trebuchet MS"/>
                <a:cs typeface="Trebuchet MS"/>
              </a:rPr>
              <a:t> </a:t>
            </a:r>
            <a:r>
              <a:rPr sz="1200" spc="10" dirty="0">
                <a:latin typeface="Trebuchet MS"/>
                <a:cs typeface="Trebuchet MS"/>
              </a:rPr>
              <a:t>фишка</a:t>
            </a:r>
            <a:r>
              <a:rPr sz="1200" spc="20" dirty="0">
                <a:latin typeface="Trebuchet MS"/>
                <a:cs typeface="Trebuchet MS"/>
              </a:rPr>
              <a:t> </a:t>
            </a:r>
            <a:r>
              <a:rPr sz="1200" spc="10" dirty="0">
                <a:latin typeface="Trebuchet MS"/>
                <a:cs typeface="Trebuchet MS"/>
              </a:rPr>
              <a:t>—</a:t>
            </a:r>
            <a:r>
              <a:rPr sz="1200" spc="25" dirty="0">
                <a:latin typeface="Trebuchet MS"/>
                <a:cs typeface="Trebuchet MS"/>
              </a:rPr>
              <a:t> </a:t>
            </a:r>
            <a:r>
              <a:rPr sz="1200" spc="10" dirty="0">
                <a:latin typeface="Trebuchet MS"/>
                <a:cs typeface="Trebuchet MS"/>
              </a:rPr>
              <a:t>продвинутые</a:t>
            </a:r>
            <a:r>
              <a:rPr sz="1200" spc="20" dirty="0">
                <a:latin typeface="Trebuchet MS"/>
                <a:cs typeface="Trebuchet MS"/>
              </a:rPr>
              <a:t> </a:t>
            </a:r>
            <a:r>
              <a:rPr sz="1200" spc="10" dirty="0">
                <a:latin typeface="Trebuchet MS"/>
                <a:cs typeface="Trebuchet MS"/>
              </a:rPr>
              <a:t>программы</a:t>
            </a:r>
            <a:r>
              <a:rPr sz="1200" spc="30" dirty="0">
                <a:latin typeface="Trebuchet MS"/>
                <a:cs typeface="Trebuchet MS"/>
              </a:rPr>
              <a:t> </a:t>
            </a:r>
            <a:r>
              <a:rPr sz="1200" spc="10" dirty="0">
                <a:latin typeface="Trebuchet MS"/>
                <a:cs typeface="Trebuchet MS"/>
              </a:rPr>
              <a:t>для</a:t>
            </a:r>
            <a:r>
              <a:rPr sz="1200" spc="3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специалистов </a:t>
            </a:r>
            <a:r>
              <a:rPr sz="1200" dirty="0">
                <a:latin typeface="Trebuchet MS"/>
                <a:cs typeface="Trebuchet MS"/>
              </a:rPr>
              <a:t>с</a:t>
            </a:r>
            <a:r>
              <a:rPr sz="1200" spc="4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опытом</a:t>
            </a:r>
            <a:r>
              <a:rPr sz="1200" spc="4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и</a:t>
            </a:r>
            <a:r>
              <a:rPr sz="1200" spc="4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быстрый</a:t>
            </a:r>
            <a:r>
              <a:rPr sz="1200" spc="3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запуск</a:t>
            </a:r>
            <a:r>
              <a:rPr sz="1200" spc="4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курсов</a:t>
            </a:r>
            <a:r>
              <a:rPr sz="1200" spc="4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по</a:t>
            </a:r>
            <a:r>
              <a:rPr sz="1200" spc="50" dirty="0">
                <a:latin typeface="Trebuchet MS"/>
                <a:cs typeface="Trebuchet MS"/>
              </a:rPr>
              <a:t> новым</a:t>
            </a:r>
            <a:r>
              <a:rPr sz="1200" spc="4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набирающим </a:t>
            </a:r>
            <a:r>
              <a:rPr sz="1200" dirty="0">
                <a:latin typeface="Trebuchet MS"/>
                <a:cs typeface="Trebuchet MS"/>
              </a:rPr>
              <a:t>популярность</a:t>
            </a:r>
            <a:r>
              <a:rPr sz="1200" spc="13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технологиям.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b="1" spc="-10" dirty="0">
                <a:solidFill>
                  <a:srgbClr val="FF7700"/>
                </a:solidFill>
                <a:latin typeface="Trebuchet MS"/>
                <a:cs typeface="Trebuchet MS"/>
              </a:rPr>
              <a:t>Клиенты</a:t>
            </a:r>
            <a:endParaRPr sz="17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980"/>
              </a:spcBef>
            </a:pPr>
            <a:r>
              <a:rPr sz="1200" dirty="0">
                <a:latin typeface="Trebuchet MS"/>
                <a:cs typeface="Trebuchet MS"/>
              </a:rPr>
              <a:t>Наши</a:t>
            </a:r>
            <a:r>
              <a:rPr sz="1200" spc="9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партнеры</a:t>
            </a:r>
            <a:r>
              <a:rPr sz="1200" spc="10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современные</a:t>
            </a:r>
            <a:r>
              <a:rPr sz="1200" spc="11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технологичные</a:t>
            </a:r>
            <a:r>
              <a:rPr sz="1200" spc="11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компании.</a:t>
            </a: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ct val="118300"/>
              </a:lnSpc>
            </a:pPr>
            <a:r>
              <a:rPr sz="1200" spc="60" dirty="0">
                <a:latin typeface="Trebuchet MS"/>
                <a:cs typeface="Trebuchet MS"/>
              </a:rPr>
              <a:t>А</a:t>
            </a:r>
            <a:r>
              <a:rPr sz="1200" spc="7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обучение</a:t>
            </a:r>
            <a:r>
              <a:rPr sz="1200" spc="7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и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открытые</a:t>
            </a:r>
            <a:r>
              <a:rPr sz="1200" spc="7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материалы</a:t>
            </a:r>
            <a:r>
              <a:rPr sz="1200" spc="7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привлекают</a:t>
            </a:r>
            <a:r>
              <a:rPr sz="1200" spc="7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специалистов </a:t>
            </a:r>
            <a:r>
              <a:rPr sz="1200" dirty="0">
                <a:latin typeface="Trebuchet MS"/>
                <a:cs typeface="Trebuchet MS"/>
              </a:rPr>
              <a:t>разных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spc="-20" dirty="0">
                <a:latin typeface="Trebuchet MS"/>
                <a:cs typeface="Trebuchet MS"/>
              </a:rPr>
              <a:t>грейдов: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spc="-65" dirty="0">
                <a:latin typeface="Trebuchet MS"/>
                <a:cs typeface="Trebuchet MS"/>
              </a:rPr>
              <a:t>junior,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spc="-45" dirty="0">
                <a:latin typeface="Trebuchet MS"/>
                <a:cs typeface="Trebuchet MS"/>
              </a:rPr>
              <a:t>middle,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rebuchet MS"/>
                <a:cs typeface="Trebuchet MS"/>
              </a:rPr>
              <a:t>senior,</a:t>
            </a:r>
            <a:r>
              <a:rPr sz="1200" dirty="0">
                <a:latin typeface="Trebuchet MS"/>
                <a:cs typeface="Trebuchet MS"/>
              </a:rPr>
              <a:t> </a:t>
            </a:r>
            <a:r>
              <a:rPr sz="1200" spc="-20" dirty="0">
                <a:latin typeface="Trebuchet MS"/>
                <a:cs typeface="Trebuchet MS"/>
              </a:rPr>
              <a:t>lead.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887" y="1676400"/>
            <a:ext cx="399288" cy="3962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7887" y="3142488"/>
            <a:ext cx="399288" cy="3992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89903" y="0"/>
            <a:ext cx="3054095" cy="26182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Образование</a:t>
            </a:r>
            <a:r>
              <a:rPr spc="-150" dirty="0"/>
              <a:t> </a:t>
            </a:r>
            <a:r>
              <a:rPr spc="50" dirty="0"/>
              <a:t>в</a:t>
            </a:r>
            <a:r>
              <a:rPr spc="-150" dirty="0"/>
              <a:t> </a:t>
            </a:r>
            <a:r>
              <a:rPr spc="-20" dirty="0"/>
              <a:t>ОТУС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0649" y="1568196"/>
            <a:ext cx="4931410" cy="1235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7700"/>
                </a:solidFill>
                <a:latin typeface="Trebuchet MS"/>
                <a:cs typeface="Trebuchet MS"/>
              </a:rPr>
              <a:t>Программы </a:t>
            </a:r>
            <a:r>
              <a:rPr sz="2000" b="1" spc="-10" dirty="0">
                <a:solidFill>
                  <a:srgbClr val="FF7700"/>
                </a:solidFill>
                <a:latin typeface="Trebuchet MS"/>
                <a:cs typeface="Trebuchet MS"/>
              </a:rPr>
              <a:t>курсов</a:t>
            </a: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ct val="119300"/>
              </a:lnSpc>
              <a:spcBef>
                <a:spcPts val="1115"/>
              </a:spcBef>
            </a:pPr>
            <a:r>
              <a:rPr sz="1400" spc="10" dirty="0">
                <a:latin typeface="Trebuchet MS"/>
                <a:cs typeface="Trebuchet MS"/>
              </a:rPr>
              <a:t>OTUS</a:t>
            </a:r>
            <a:r>
              <a:rPr sz="1400" spc="65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имеет</a:t>
            </a:r>
            <a:r>
              <a:rPr sz="1400" spc="55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образовательную</a:t>
            </a:r>
            <a:r>
              <a:rPr sz="1400" spc="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лицензию,</a:t>
            </a:r>
            <a:r>
              <a:rPr sz="1400" spc="55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поэтому</a:t>
            </a:r>
            <a:r>
              <a:rPr sz="1400" spc="5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наши </a:t>
            </a:r>
            <a:r>
              <a:rPr sz="1400" spc="10" dirty="0">
                <a:latin typeface="Trebuchet MS"/>
                <a:cs typeface="Trebuchet MS"/>
              </a:rPr>
              <a:t>курсы</a:t>
            </a:r>
            <a:r>
              <a:rPr sz="1400" spc="150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являются</a:t>
            </a:r>
            <a:r>
              <a:rPr sz="1400" spc="140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программами</a:t>
            </a:r>
            <a:r>
              <a:rPr sz="1400" spc="160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повышения</a:t>
            </a:r>
            <a:r>
              <a:rPr sz="1400" spc="14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квалификации </a:t>
            </a:r>
            <a:r>
              <a:rPr sz="1400" dirty="0">
                <a:latin typeface="Trebuchet MS"/>
                <a:cs typeface="Trebuchet MS"/>
              </a:rPr>
              <a:t>и</a:t>
            </a:r>
            <a:r>
              <a:rPr sz="1400" spc="7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профессиональной</a:t>
            </a:r>
            <a:r>
              <a:rPr sz="1400" spc="8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переподготовки.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704" y="1563624"/>
            <a:ext cx="399288" cy="3992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9274" y="383031"/>
            <a:ext cx="8072755" cy="982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600"/>
              </a:lnSpc>
            </a:pPr>
            <a:r>
              <a:rPr spc="-75" dirty="0"/>
              <a:t>Напишите,</a:t>
            </a:r>
            <a:r>
              <a:rPr spc="-150" dirty="0"/>
              <a:t> </a:t>
            </a:r>
            <a:r>
              <a:rPr spc="-50" dirty="0"/>
              <a:t>пожалуйста,</a:t>
            </a:r>
            <a:r>
              <a:rPr spc="-135" dirty="0"/>
              <a:t> </a:t>
            </a:r>
            <a:r>
              <a:rPr spc="50" dirty="0"/>
              <a:t>в</a:t>
            </a:r>
            <a:r>
              <a:rPr spc="-140" dirty="0"/>
              <a:t> </a:t>
            </a:r>
            <a:r>
              <a:rPr dirty="0"/>
              <a:t>чат</a:t>
            </a:r>
            <a:r>
              <a:rPr spc="-130" dirty="0"/>
              <a:t> </a:t>
            </a:r>
            <a:r>
              <a:rPr spc="-10" dirty="0"/>
              <a:t>подходящую цифру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5175" y="1885696"/>
            <a:ext cx="4429760" cy="9829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11454" indent="-198755">
              <a:lnSpc>
                <a:spcPct val="100000"/>
              </a:lnSpc>
              <a:spcBef>
                <a:spcPts val="340"/>
              </a:spcBef>
              <a:buClr>
                <a:srgbClr val="FF7700"/>
              </a:buClr>
              <a:buAutoNum type="arabicPlain"/>
              <a:tabLst>
                <a:tab pos="211454" algn="l"/>
              </a:tabLst>
            </a:pPr>
            <a:r>
              <a:rPr sz="1900" b="1" dirty="0">
                <a:latin typeface="Trebuchet MS"/>
                <a:cs typeface="Trebuchet MS"/>
              </a:rPr>
              <a:t>-</a:t>
            </a:r>
            <a:r>
              <a:rPr sz="1900" b="1" spc="-6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если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уже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учились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-60" dirty="0">
                <a:latin typeface="Trebuchet MS"/>
                <a:cs typeface="Trebuchet MS"/>
              </a:rPr>
              <a:t>у </a:t>
            </a:r>
            <a:r>
              <a:rPr sz="1900" dirty="0">
                <a:latin typeface="Trebuchet MS"/>
                <a:cs typeface="Trebuchet MS"/>
              </a:rPr>
              <a:t>нас</a:t>
            </a:r>
            <a:r>
              <a:rPr sz="1900" spc="-55" dirty="0">
                <a:latin typeface="Trebuchet MS"/>
                <a:cs typeface="Trebuchet MS"/>
              </a:rPr>
              <a:t> </a:t>
            </a:r>
            <a:r>
              <a:rPr sz="1900" spc="105" dirty="0">
                <a:latin typeface="Trebuchet MS"/>
                <a:cs typeface="Trebuchet MS"/>
              </a:rPr>
              <a:t>в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компании</a:t>
            </a:r>
            <a:endParaRPr sz="1900">
              <a:latin typeface="Trebuchet MS"/>
              <a:cs typeface="Trebuchet MS"/>
            </a:endParaRPr>
          </a:p>
          <a:p>
            <a:pPr marL="211454" indent="-198755">
              <a:lnSpc>
                <a:spcPct val="100000"/>
              </a:lnSpc>
              <a:spcBef>
                <a:spcPts val="240"/>
              </a:spcBef>
              <a:buClr>
                <a:srgbClr val="FF7700"/>
              </a:buClr>
              <a:buAutoNum type="arabicPlain"/>
              <a:tabLst>
                <a:tab pos="211454" algn="l"/>
              </a:tabLst>
            </a:pPr>
            <a:r>
              <a:rPr sz="1900" b="1" dirty="0">
                <a:latin typeface="Trebuchet MS"/>
                <a:cs typeface="Trebuchet MS"/>
              </a:rPr>
              <a:t>-</a:t>
            </a:r>
            <a:r>
              <a:rPr sz="1900" b="1" spc="-7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если</a:t>
            </a:r>
            <a:r>
              <a:rPr sz="1900" spc="-70" dirty="0">
                <a:latin typeface="Trebuchet MS"/>
                <a:cs typeface="Trebuchet MS"/>
              </a:rPr>
              <a:t> </a:t>
            </a:r>
            <a:r>
              <a:rPr sz="1900" spc="70" dirty="0">
                <a:latin typeface="Trebuchet MS"/>
                <a:cs typeface="Trebuchet MS"/>
              </a:rPr>
              <a:t>НЕ</a:t>
            </a:r>
            <a:r>
              <a:rPr sz="1900" spc="-80" dirty="0">
                <a:latin typeface="Trebuchet MS"/>
                <a:cs typeface="Trebuchet MS"/>
              </a:rPr>
              <a:t> </a:t>
            </a:r>
            <a:r>
              <a:rPr sz="1900" spc="-30" dirty="0">
                <a:latin typeface="Trebuchet MS"/>
                <a:cs typeface="Trebuchet MS"/>
              </a:rPr>
              <a:t>учились,</a:t>
            </a:r>
            <a:r>
              <a:rPr sz="1900" spc="-7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но</a:t>
            </a:r>
            <a:r>
              <a:rPr sz="1900" spc="-70" dirty="0">
                <a:latin typeface="Trebuchet MS"/>
                <a:cs typeface="Trebuchet MS"/>
              </a:rPr>
              <a:t> </a:t>
            </a:r>
            <a:r>
              <a:rPr sz="1900" spc="55" dirty="0">
                <a:latin typeface="Trebuchet MS"/>
                <a:cs typeface="Trebuchet MS"/>
              </a:rPr>
              <a:t>слышали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spc="50" dirty="0">
                <a:latin typeface="Trebuchet MS"/>
                <a:cs typeface="Trebuchet MS"/>
              </a:rPr>
              <a:t>о</a:t>
            </a:r>
            <a:r>
              <a:rPr sz="1900" spc="-70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нас</a:t>
            </a:r>
            <a:endParaRPr sz="1900">
              <a:latin typeface="Trebuchet MS"/>
              <a:cs typeface="Trebuchet MS"/>
            </a:endParaRPr>
          </a:p>
          <a:p>
            <a:pPr marL="211454" indent="-198755">
              <a:lnSpc>
                <a:spcPct val="100000"/>
              </a:lnSpc>
              <a:spcBef>
                <a:spcPts val="215"/>
              </a:spcBef>
              <a:buClr>
                <a:srgbClr val="FF7700"/>
              </a:buClr>
              <a:buAutoNum type="arabicPlain"/>
              <a:tabLst>
                <a:tab pos="211454" algn="l"/>
              </a:tabLst>
            </a:pPr>
            <a:r>
              <a:rPr sz="1900" b="1" spc="10" dirty="0">
                <a:latin typeface="Trebuchet MS"/>
                <a:cs typeface="Trebuchet MS"/>
              </a:rPr>
              <a:t>-</a:t>
            </a:r>
            <a:r>
              <a:rPr sz="1900" b="1" spc="-15" dirty="0">
                <a:latin typeface="Trebuchet MS"/>
                <a:cs typeface="Trebuchet MS"/>
              </a:rPr>
              <a:t> </a:t>
            </a:r>
            <a:r>
              <a:rPr sz="1900" spc="10" dirty="0">
                <a:latin typeface="Trebuchet MS"/>
                <a:cs typeface="Trebuchet MS"/>
              </a:rPr>
              <a:t>если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50" dirty="0">
                <a:latin typeface="Trebuchet MS"/>
                <a:cs typeface="Trebuchet MS"/>
              </a:rPr>
              <a:t>впервые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10" dirty="0">
                <a:latin typeface="Trebuchet MS"/>
                <a:cs typeface="Trebuchet MS"/>
              </a:rPr>
              <a:t>знакомитесь</a:t>
            </a:r>
            <a:r>
              <a:rPr sz="1900" spc="-5" dirty="0">
                <a:latin typeface="Trebuchet MS"/>
                <a:cs typeface="Trebuchet MS"/>
              </a:rPr>
              <a:t> </a:t>
            </a:r>
            <a:r>
              <a:rPr sz="1900" spc="10" dirty="0">
                <a:latin typeface="Trebuchet MS"/>
                <a:cs typeface="Trebuchet MS"/>
              </a:rPr>
              <a:t>с</a:t>
            </a:r>
            <a:r>
              <a:rPr sz="1900" spc="-10" dirty="0">
                <a:latin typeface="Trebuchet MS"/>
                <a:cs typeface="Trebuchet MS"/>
              </a:rPr>
              <a:t> </a:t>
            </a:r>
            <a:r>
              <a:rPr sz="1900" spc="40" dirty="0">
                <a:latin typeface="Trebuchet MS"/>
                <a:cs typeface="Trebuchet MS"/>
              </a:rPr>
              <a:t>OTUS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504" y="3236975"/>
            <a:ext cx="652271" cy="655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0150" y="1569211"/>
            <a:ext cx="665353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spc="-95" dirty="0">
                <a:solidFill>
                  <a:srgbClr val="FFFFFF"/>
                </a:solidFill>
              </a:rPr>
              <a:t>Версионирование</a:t>
            </a:r>
            <a:r>
              <a:rPr sz="5400" spc="-290" dirty="0">
                <a:solidFill>
                  <a:srgbClr val="FFFFFF"/>
                </a:solidFill>
              </a:rPr>
              <a:t> </a:t>
            </a:r>
            <a:r>
              <a:rPr sz="5400" spc="-50" dirty="0">
                <a:solidFill>
                  <a:srgbClr val="FFFFFF"/>
                </a:solidFill>
              </a:rPr>
              <a:t>и </a:t>
            </a:r>
            <a:r>
              <a:rPr sz="5400" spc="-10" dirty="0">
                <a:solidFill>
                  <a:srgbClr val="FFFFFF"/>
                </a:solidFill>
              </a:rPr>
              <a:t>воспроизводимость</a:t>
            </a:r>
            <a:endParaRPr sz="5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9247" y="4876800"/>
            <a:ext cx="1298448" cy="1463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Воспроизводимость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800" y="994563"/>
            <a:ext cx="568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00038" y="4134277"/>
            <a:ext cx="2121535" cy="923925"/>
            <a:chOff x="6900038" y="4134277"/>
            <a:chExt cx="2121535" cy="923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43605" y="4249320"/>
              <a:ext cx="1077544" cy="80878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00038" y="4134277"/>
              <a:ext cx="1240977" cy="55720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Воспроизводимость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9811" y="1516172"/>
            <a:ext cx="766091" cy="76609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869381" y="1899267"/>
            <a:ext cx="6241415" cy="3107690"/>
            <a:chOff x="1869381" y="1899267"/>
            <a:chExt cx="6241415" cy="310769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3934" y="2439295"/>
              <a:ext cx="2546989" cy="25671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878211" y="1902443"/>
              <a:ext cx="1859914" cy="522605"/>
            </a:xfrm>
            <a:custGeom>
              <a:avLst/>
              <a:gdLst/>
              <a:ahLst/>
              <a:cxnLst/>
              <a:rect l="l" t="t" r="r" b="b"/>
              <a:pathLst>
                <a:path w="1859914" h="522605">
                  <a:moveTo>
                    <a:pt x="1565788" y="0"/>
                  </a:moveTo>
                  <a:lnTo>
                    <a:pt x="0" y="0"/>
                  </a:lnTo>
                  <a:lnTo>
                    <a:pt x="0" y="130531"/>
                  </a:lnTo>
                  <a:lnTo>
                    <a:pt x="1565785" y="130531"/>
                  </a:lnTo>
                  <a:lnTo>
                    <a:pt x="1603892" y="138225"/>
                  </a:lnTo>
                  <a:lnTo>
                    <a:pt x="1635011" y="159206"/>
                  </a:lnTo>
                  <a:lnTo>
                    <a:pt x="1655992" y="190324"/>
                  </a:lnTo>
                  <a:lnTo>
                    <a:pt x="1663686" y="228431"/>
                  </a:lnTo>
                  <a:lnTo>
                    <a:pt x="1663686" y="391595"/>
                  </a:lnTo>
                  <a:lnTo>
                    <a:pt x="1598420" y="391595"/>
                  </a:lnTo>
                  <a:lnTo>
                    <a:pt x="1728952" y="522128"/>
                  </a:lnTo>
                  <a:lnTo>
                    <a:pt x="1859484" y="391595"/>
                  </a:lnTo>
                  <a:lnTo>
                    <a:pt x="1794217" y="391595"/>
                  </a:lnTo>
                  <a:lnTo>
                    <a:pt x="1794219" y="228431"/>
                  </a:lnTo>
                  <a:lnTo>
                    <a:pt x="1789578" y="182394"/>
                  </a:lnTo>
                  <a:lnTo>
                    <a:pt x="1776267" y="139515"/>
                  </a:lnTo>
                  <a:lnTo>
                    <a:pt x="1755206" y="100712"/>
                  </a:lnTo>
                  <a:lnTo>
                    <a:pt x="1727313" y="66905"/>
                  </a:lnTo>
                  <a:lnTo>
                    <a:pt x="1693506" y="39012"/>
                  </a:lnTo>
                  <a:lnTo>
                    <a:pt x="1654703" y="17951"/>
                  </a:lnTo>
                  <a:lnTo>
                    <a:pt x="1611824" y="4640"/>
                  </a:lnTo>
                  <a:lnTo>
                    <a:pt x="15657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78210" y="1902443"/>
              <a:ext cx="1859914" cy="522605"/>
            </a:xfrm>
            <a:custGeom>
              <a:avLst/>
              <a:gdLst/>
              <a:ahLst/>
              <a:cxnLst/>
              <a:rect l="l" t="t" r="r" b="b"/>
              <a:pathLst>
                <a:path w="1859914" h="522605">
                  <a:moveTo>
                    <a:pt x="0" y="0"/>
                  </a:moveTo>
                  <a:lnTo>
                    <a:pt x="1565788" y="0"/>
                  </a:lnTo>
                  <a:lnTo>
                    <a:pt x="1611825" y="4640"/>
                  </a:lnTo>
                  <a:lnTo>
                    <a:pt x="1654704" y="17951"/>
                  </a:lnTo>
                  <a:lnTo>
                    <a:pt x="1693506" y="39012"/>
                  </a:lnTo>
                  <a:lnTo>
                    <a:pt x="1727313" y="66906"/>
                  </a:lnTo>
                  <a:lnTo>
                    <a:pt x="1755207" y="100713"/>
                  </a:lnTo>
                  <a:lnTo>
                    <a:pt x="1776268" y="139515"/>
                  </a:lnTo>
                  <a:lnTo>
                    <a:pt x="1789579" y="182394"/>
                  </a:lnTo>
                  <a:lnTo>
                    <a:pt x="1794220" y="228431"/>
                  </a:lnTo>
                  <a:lnTo>
                    <a:pt x="1794217" y="391596"/>
                  </a:lnTo>
                  <a:lnTo>
                    <a:pt x="1859485" y="391596"/>
                  </a:lnTo>
                  <a:lnTo>
                    <a:pt x="1728953" y="522129"/>
                  </a:lnTo>
                  <a:lnTo>
                    <a:pt x="1598421" y="391596"/>
                  </a:lnTo>
                  <a:lnTo>
                    <a:pt x="1663686" y="391596"/>
                  </a:lnTo>
                  <a:lnTo>
                    <a:pt x="1663686" y="228431"/>
                  </a:lnTo>
                  <a:lnTo>
                    <a:pt x="1655992" y="190324"/>
                  </a:lnTo>
                  <a:lnTo>
                    <a:pt x="1635011" y="159206"/>
                  </a:lnTo>
                  <a:lnTo>
                    <a:pt x="1603893" y="138225"/>
                  </a:lnTo>
                  <a:lnTo>
                    <a:pt x="1565786" y="130532"/>
                  </a:lnTo>
                  <a:lnTo>
                    <a:pt x="0" y="130532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47094" y="3741524"/>
              <a:ext cx="1263146" cy="23551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872556" y="3549761"/>
              <a:ext cx="1328420" cy="528320"/>
            </a:xfrm>
            <a:custGeom>
              <a:avLst/>
              <a:gdLst/>
              <a:ahLst/>
              <a:cxnLst/>
              <a:rect l="l" t="t" r="r" b="b"/>
              <a:pathLst>
                <a:path w="1328420" h="528320">
                  <a:moveTo>
                    <a:pt x="1140463" y="0"/>
                  </a:moveTo>
                  <a:lnTo>
                    <a:pt x="1158280" y="69039"/>
                  </a:lnTo>
                  <a:lnTo>
                    <a:pt x="0" y="367968"/>
                  </a:lnTo>
                  <a:lnTo>
                    <a:pt x="100603" y="427297"/>
                  </a:lnTo>
                  <a:lnTo>
                    <a:pt x="41275" y="527901"/>
                  </a:lnTo>
                  <a:lnTo>
                    <a:pt x="1199556" y="228973"/>
                  </a:lnTo>
                  <a:lnTo>
                    <a:pt x="1217373" y="298013"/>
                  </a:lnTo>
                  <a:lnTo>
                    <a:pt x="1327924" y="110552"/>
                  </a:lnTo>
                  <a:lnTo>
                    <a:pt x="11404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72556" y="3549761"/>
              <a:ext cx="1328420" cy="528320"/>
            </a:xfrm>
            <a:custGeom>
              <a:avLst/>
              <a:gdLst/>
              <a:ahLst/>
              <a:cxnLst/>
              <a:rect l="l" t="t" r="r" b="b"/>
              <a:pathLst>
                <a:path w="1328420" h="528320">
                  <a:moveTo>
                    <a:pt x="0" y="367968"/>
                  </a:moveTo>
                  <a:lnTo>
                    <a:pt x="1158281" y="69040"/>
                  </a:lnTo>
                  <a:lnTo>
                    <a:pt x="1140463" y="0"/>
                  </a:lnTo>
                  <a:lnTo>
                    <a:pt x="1327924" y="110552"/>
                  </a:lnTo>
                  <a:lnTo>
                    <a:pt x="1217374" y="298013"/>
                  </a:lnTo>
                  <a:lnTo>
                    <a:pt x="1199556" y="228973"/>
                  </a:lnTo>
                  <a:lnTo>
                    <a:pt x="41275" y="527901"/>
                  </a:lnTo>
                  <a:lnTo>
                    <a:pt x="100603" y="427297"/>
                  </a:lnTo>
                  <a:lnTo>
                    <a:pt x="0" y="367968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37695" y="1902442"/>
              <a:ext cx="1859914" cy="522605"/>
            </a:xfrm>
            <a:custGeom>
              <a:avLst/>
              <a:gdLst/>
              <a:ahLst/>
              <a:cxnLst/>
              <a:rect l="l" t="t" r="r" b="b"/>
              <a:pathLst>
                <a:path w="1859915" h="522605">
                  <a:moveTo>
                    <a:pt x="1859484" y="0"/>
                  </a:moveTo>
                  <a:lnTo>
                    <a:pt x="293696" y="0"/>
                  </a:lnTo>
                  <a:lnTo>
                    <a:pt x="247659" y="4640"/>
                  </a:lnTo>
                  <a:lnTo>
                    <a:pt x="204780" y="17951"/>
                  </a:lnTo>
                  <a:lnTo>
                    <a:pt x="165978" y="39012"/>
                  </a:lnTo>
                  <a:lnTo>
                    <a:pt x="132171" y="66905"/>
                  </a:lnTo>
                  <a:lnTo>
                    <a:pt x="104277" y="100712"/>
                  </a:lnTo>
                  <a:lnTo>
                    <a:pt x="83216" y="139515"/>
                  </a:lnTo>
                  <a:lnTo>
                    <a:pt x="69906" y="182394"/>
                  </a:lnTo>
                  <a:lnTo>
                    <a:pt x="65265" y="228431"/>
                  </a:lnTo>
                  <a:lnTo>
                    <a:pt x="65267" y="391596"/>
                  </a:lnTo>
                  <a:lnTo>
                    <a:pt x="0" y="391596"/>
                  </a:lnTo>
                  <a:lnTo>
                    <a:pt x="130531" y="522128"/>
                  </a:lnTo>
                  <a:lnTo>
                    <a:pt x="261063" y="391596"/>
                  </a:lnTo>
                  <a:lnTo>
                    <a:pt x="195799" y="391596"/>
                  </a:lnTo>
                  <a:lnTo>
                    <a:pt x="195799" y="228431"/>
                  </a:lnTo>
                  <a:lnTo>
                    <a:pt x="203493" y="190324"/>
                  </a:lnTo>
                  <a:lnTo>
                    <a:pt x="224473" y="159206"/>
                  </a:lnTo>
                  <a:lnTo>
                    <a:pt x="255591" y="138225"/>
                  </a:lnTo>
                  <a:lnTo>
                    <a:pt x="293698" y="130531"/>
                  </a:lnTo>
                  <a:lnTo>
                    <a:pt x="1859484" y="130531"/>
                  </a:lnTo>
                  <a:lnTo>
                    <a:pt x="1859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37695" y="1902442"/>
              <a:ext cx="1859914" cy="522605"/>
            </a:xfrm>
            <a:custGeom>
              <a:avLst/>
              <a:gdLst/>
              <a:ahLst/>
              <a:cxnLst/>
              <a:rect l="l" t="t" r="r" b="b"/>
              <a:pathLst>
                <a:path w="1859915" h="522605">
                  <a:moveTo>
                    <a:pt x="1859485" y="0"/>
                  </a:moveTo>
                  <a:lnTo>
                    <a:pt x="293696" y="0"/>
                  </a:lnTo>
                  <a:lnTo>
                    <a:pt x="247659" y="4640"/>
                  </a:lnTo>
                  <a:lnTo>
                    <a:pt x="204780" y="17951"/>
                  </a:lnTo>
                  <a:lnTo>
                    <a:pt x="165978" y="39012"/>
                  </a:lnTo>
                  <a:lnTo>
                    <a:pt x="132171" y="66906"/>
                  </a:lnTo>
                  <a:lnTo>
                    <a:pt x="104277" y="100713"/>
                  </a:lnTo>
                  <a:lnTo>
                    <a:pt x="83216" y="139515"/>
                  </a:lnTo>
                  <a:lnTo>
                    <a:pt x="69905" y="182394"/>
                  </a:lnTo>
                  <a:lnTo>
                    <a:pt x="65264" y="228431"/>
                  </a:lnTo>
                  <a:lnTo>
                    <a:pt x="65267" y="391596"/>
                  </a:lnTo>
                  <a:lnTo>
                    <a:pt x="0" y="391596"/>
                  </a:lnTo>
                  <a:lnTo>
                    <a:pt x="130532" y="522129"/>
                  </a:lnTo>
                  <a:lnTo>
                    <a:pt x="261064" y="391596"/>
                  </a:lnTo>
                  <a:lnTo>
                    <a:pt x="195799" y="391596"/>
                  </a:lnTo>
                  <a:lnTo>
                    <a:pt x="195799" y="228431"/>
                  </a:lnTo>
                  <a:lnTo>
                    <a:pt x="203492" y="190324"/>
                  </a:lnTo>
                  <a:lnTo>
                    <a:pt x="224473" y="159206"/>
                  </a:lnTo>
                  <a:lnTo>
                    <a:pt x="255591" y="138225"/>
                  </a:lnTo>
                  <a:lnTo>
                    <a:pt x="293698" y="130532"/>
                  </a:lnTo>
                  <a:lnTo>
                    <a:pt x="1859485" y="130532"/>
                  </a:lnTo>
                  <a:lnTo>
                    <a:pt x="1859485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26364" y="3549764"/>
              <a:ext cx="814069" cy="395605"/>
            </a:xfrm>
            <a:custGeom>
              <a:avLst/>
              <a:gdLst/>
              <a:ahLst/>
              <a:cxnLst/>
              <a:rect l="l" t="t" r="r" b="b"/>
              <a:pathLst>
                <a:path w="814070" h="395604">
                  <a:moveTo>
                    <a:pt x="187462" y="0"/>
                  </a:moveTo>
                  <a:lnTo>
                    <a:pt x="0" y="110550"/>
                  </a:lnTo>
                  <a:lnTo>
                    <a:pt x="110550" y="298013"/>
                  </a:lnTo>
                  <a:lnTo>
                    <a:pt x="128369" y="228972"/>
                  </a:lnTo>
                  <a:lnTo>
                    <a:pt x="772708" y="395262"/>
                  </a:lnTo>
                  <a:lnTo>
                    <a:pt x="713379" y="294659"/>
                  </a:lnTo>
                  <a:lnTo>
                    <a:pt x="813983" y="235329"/>
                  </a:lnTo>
                  <a:lnTo>
                    <a:pt x="169644" y="69039"/>
                  </a:lnTo>
                  <a:lnTo>
                    <a:pt x="1874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26365" y="3549763"/>
              <a:ext cx="814069" cy="395605"/>
            </a:xfrm>
            <a:custGeom>
              <a:avLst/>
              <a:gdLst/>
              <a:ahLst/>
              <a:cxnLst/>
              <a:rect l="l" t="t" r="r" b="b"/>
              <a:pathLst>
                <a:path w="814070" h="395604">
                  <a:moveTo>
                    <a:pt x="813983" y="235330"/>
                  </a:moveTo>
                  <a:lnTo>
                    <a:pt x="169644" y="69040"/>
                  </a:lnTo>
                  <a:lnTo>
                    <a:pt x="187461" y="0"/>
                  </a:lnTo>
                  <a:lnTo>
                    <a:pt x="0" y="110551"/>
                  </a:lnTo>
                  <a:lnTo>
                    <a:pt x="110551" y="298013"/>
                  </a:lnTo>
                  <a:lnTo>
                    <a:pt x="128368" y="228972"/>
                  </a:lnTo>
                  <a:lnTo>
                    <a:pt x="772707" y="395263"/>
                  </a:lnTo>
                  <a:lnTo>
                    <a:pt x="713379" y="294659"/>
                  </a:lnTo>
                  <a:lnTo>
                    <a:pt x="813983" y="235330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469203" y="1242059"/>
            <a:ext cx="10896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Source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code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54553" y="3454908"/>
            <a:ext cx="11099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Environment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31652" y="1245108"/>
            <a:ext cx="41020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33031" y="1533144"/>
            <a:ext cx="1136903" cy="96011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576641" y="3610355"/>
            <a:ext cx="11868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Configuration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0338" y="3868210"/>
            <a:ext cx="839913" cy="8399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75035" y="1899268"/>
            <a:ext cx="6122670" cy="3124200"/>
            <a:chOff x="2875035" y="1899268"/>
            <a:chExt cx="6122670" cy="3124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3934" y="2439295"/>
              <a:ext cx="2546989" cy="256713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878211" y="1902443"/>
              <a:ext cx="1859914" cy="522605"/>
            </a:xfrm>
            <a:custGeom>
              <a:avLst/>
              <a:gdLst/>
              <a:ahLst/>
              <a:cxnLst/>
              <a:rect l="l" t="t" r="r" b="b"/>
              <a:pathLst>
                <a:path w="1859914" h="522605">
                  <a:moveTo>
                    <a:pt x="1565788" y="0"/>
                  </a:moveTo>
                  <a:lnTo>
                    <a:pt x="0" y="0"/>
                  </a:lnTo>
                  <a:lnTo>
                    <a:pt x="0" y="130531"/>
                  </a:lnTo>
                  <a:lnTo>
                    <a:pt x="1565785" y="130531"/>
                  </a:lnTo>
                  <a:lnTo>
                    <a:pt x="1603892" y="138225"/>
                  </a:lnTo>
                  <a:lnTo>
                    <a:pt x="1635011" y="159206"/>
                  </a:lnTo>
                  <a:lnTo>
                    <a:pt x="1655992" y="190324"/>
                  </a:lnTo>
                  <a:lnTo>
                    <a:pt x="1663686" y="228431"/>
                  </a:lnTo>
                  <a:lnTo>
                    <a:pt x="1663686" y="391595"/>
                  </a:lnTo>
                  <a:lnTo>
                    <a:pt x="1598420" y="391595"/>
                  </a:lnTo>
                  <a:lnTo>
                    <a:pt x="1728952" y="522128"/>
                  </a:lnTo>
                  <a:lnTo>
                    <a:pt x="1859484" y="391595"/>
                  </a:lnTo>
                  <a:lnTo>
                    <a:pt x="1794217" y="391595"/>
                  </a:lnTo>
                  <a:lnTo>
                    <a:pt x="1794219" y="228431"/>
                  </a:lnTo>
                  <a:lnTo>
                    <a:pt x="1789578" y="182394"/>
                  </a:lnTo>
                  <a:lnTo>
                    <a:pt x="1776267" y="139515"/>
                  </a:lnTo>
                  <a:lnTo>
                    <a:pt x="1755206" y="100712"/>
                  </a:lnTo>
                  <a:lnTo>
                    <a:pt x="1727313" y="66905"/>
                  </a:lnTo>
                  <a:lnTo>
                    <a:pt x="1693506" y="39012"/>
                  </a:lnTo>
                  <a:lnTo>
                    <a:pt x="1654703" y="17951"/>
                  </a:lnTo>
                  <a:lnTo>
                    <a:pt x="1611824" y="4640"/>
                  </a:lnTo>
                  <a:lnTo>
                    <a:pt x="15657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78210" y="1902443"/>
              <a:ext cx="1859914" cy="522605"/>
            </a:xfrm>
            <a:custGeom>
              <a:avLst/>
              <a:gdLst/>
              <a:ahLst/>
              <a:cxnLst/>
              <a:rect l="l" t="t" r="r" b="b"/>
              <a:pathLst>
                <a:path w="1859914" h="522605">
                  <a:moveTo>
                    <a:pt x="0" y="0"/>
                  </a:moveTo>
                  <a:lnTo>
                    <a:pt x="1565788" y="0"/>
                  </a:lnTo>
                  <a:lnTo>
                    <a:pt x="1611825" y="4640"/>
                  </a:lnTo>
                  <a:lnTo>
                    <a:pt x="1654704" y="17951"/>
                  </a:lnTo>
                  <a:lnTo>
                    <a:pt x="1693506" y="39012"/>
                  </a:lnTo>
                  <a:lnTo>
                    <a:pt x="1727313" y="66906"/>
                  </a:lnTo>
                  <a:lnTo>
                    <a:pt x="1755207" y="100713"/>
                  </a:lnTo>
                  <a:lnTo>
                    <a:pt x="1776268" y="139515"/>
                  </a:lnTo>
                  <a:lnTo>
                    <a:pt x="1789579" y="182394"/>
                  </a:lnTo>
                  <a:lnTo>
                    <a:pt x="1794220" y="228431"/>
                  </a:lnTo>
                  <a:lnTo>
                    <a:pt x="1794217" y="391596"/>
                  </a:lnTo>
                  <a:lnTo>
                    <a:pt x="1859485" y="391596"/>
                  </a:lnTo>
                  <a:lnTo>
                    <a:pt x="1728953" y="522129"/>
                  </a:lnTo>
                  <a:lnTo>
                    <a:pt x="1598421" y="391596"/>
                  </a:lnTo>
                  <a:lnTo>
                    <a:pt x="1663686" y="391596"/>
                  </a:lnTo>
                  <a:lnTo>
                    <a:pt x="1663686" y="228431"/>
                  </a:lnTo>
                  <a:lnTo>
                    <a:pt x="1655992" y="190324"/>
                  </a:lnTo>
                  <a:lnTo>
                    <a:pt x="1635011" y="159206"/>
                  </a:lnTo>
                  <a:lnTo>
                    <a:pt x="1603893" y="138225"/>
                  </a:lnTo>
                  <a:lnTo>
                    <a:pt x="1565786" y="130532"/>
                  </a:lnTo>
                  <a:lnTo>
                    <a:pt x="0" y="130532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Воспроизводимость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5334" y="1717902"/>
            <a:ext cx="569445" cy="56944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21085" y="1503171"/>
            <a:ext cx="7854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Arial"/>
                <a:cs typeface="Arial"/>
              </a:rPr>
              <a:t>Source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code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50336" y="3901947"/>
            <a:ext cx="8001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latin typeface="Arial"/>
                <a:cs typeface="Arial"/>
              </a:rPr>
              <a:t>Environment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06947" y="3509109"/>
            <a:ext cx="5683885" cy="1530985"/>
            <a:chOff x="2606947" y="3509109"/>
            <a:chExt cx="5683885" cy="153098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30005" y="4544050"/>
              <a:ext cx="660346" cy="49564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31100" y="4188067"/>
              <a:ext cx="814196" cy="15180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00038" y="4332659"/>
              <a:ext cx="799155" cy="35882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610123" y="3512284"/>
              <a:ext cx="739775" cy="376555"/>
            </a:xfrm>
            <a:custGeom>
              <a:avLst/>
              <a:gdLst/>
              <a:ahLst/>
              <a:cxnLst/>
              <a:rect l="l" t="t" r="r" b="b"/>
              <a:pathLst>
                <a:path w="739775" h="376554">
                  <a:moveTo>
                    <a:pt x="552016" y="0"/>
                  </a:moveTo>
                  <a:lnTo>
                    <a:pt x="569835" y="69041"/>
                  </a:lnTo>
                  <a:lnTo>
                    <a:pt x="0" y="216103"/>
                  </a:lnTo>
                  <a:lnTo>
                    <a:pt x="100603" y="275431"/>
                  </a:lnTo>
                  <a:lnTo>
                    <a:pt x="41275" y="376034"/>
                  </a:lnTo>
                  <a:lnTo>
                    <a:pt x="611110" y="228972"/>
                  </a:lnTo>
                  <a:lnTo>
                    <a:pt x="628928" y="298013"/>
                  </a:lnTo>
                  <a:lnTo>
                    <a:pt x="739479" y="110550"/>
                  </a:lnTo>
                  <a:lnTo>
                    <a:pt x="552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10122" y="3512284"/>
              <a:ext cx="739775" cy="376555"/>
            </a:xfrm>
            <a:custGeom>
              <a:avLst/>
              <a:gdLst/>
              <a:ahLst/>
              <a:cxnLst/>
              <a:rect l="l" t="t" r="r" b="b"/>
              <a:pathLst>
                <a:path w="739775" h="376554">
                  <a:moveTo>
                    <a:pt x="0" y="216102"/>
                  </a:moveTo>
                  <a:lnTo>
                    <a:pt x="569834" y="69040"/>
                  </a:lnTo>
                  <a:lnTo>
                    <a:pt x="552016" y="0"/>
                  </a:lnTo>
                  <a:lnTo>
                    <a:pt x="739478" y="110551"/>
                  </a:lnTo>
                  <a:lnTo>
                    <a:pt x="628927" y="298013"/>
                  </a:lnTo>
                  <a:lnTo>
                    <a:pt x="611109" y="228972"/>
                  </a:lnTo>
                  <a:lnTo>
                    <a:pt x="41275" y="376034"/>
                  </a:lnTo>
                  <a:lnTo>
                    <a:pt x="100603" y="275431"/>
                  </a:lnTo>
                  <a:lnTo>
                    <a:pt x="0" y="216102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141819" y="1268476"/>
            <a:ext cx="3009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latin typeface="Arial"/>
                <a:cs typeface="Arial"/>
              </a:rPr>
              <a:t>Data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34520" y="1083711"/>
            <a:ext cx="4267835" cy="3990340"/>
            <a:chOff x="4734520" y="1083711"/>
            <a:chExt cx="4267835" cy="3990340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09816" y="1441704"/>
              <a:ext cx="768096" cy="64617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737695" y="1902442"/>
              <a:ext cx="1859914" cy="522605"/>
            </a:xfrm>
            <a:custGeom>
              <a:avLst/>
              <a:gdLst/>
              <a:ahLst/>
              <a:cxnLst/>
              <a:rect l="l" t="t" r="r" b="b"/>
              <a:pathLst>
                <a:path w="1859915" h="522605">
                  <a:moveTo>
                    <a:pt x="1859484" y="0"/>
                  </a:moveTo>
                  <a:lnTo>
                    <a:pt x="293696" y="0"/>
                  </a:lnTo>
                  <a:lnTo>
                    <a:pt x="247659" y="4640"/>
                  </a:lnTo>
                  <a:lnTo>
                    <a:pt x="204780" y="17951"/>
                  </a:lnTo>
                  <a:lnTo>
                    <a:pt x="165978" y="39012"/>
                  </a:lnTo>
                  <a:lnTo>
                    <a:pt x="132171" y="66905"/>
                  </a:lnTo>
                  <a:lnTo>
                    <a:pt x="104277" y="100712"/>
                  </a:lnTo>
                  <a:lnTo>
                    <a:pt x="83216" y="139515"/>
                  </a:lnTo>
                  <a:lnTo>
                    <a:pt x="69906" y="182394"/>
                  </a:lnTo>
                  <a:lnTo>
                    <a:pt x="65265" y="228431"/>
                  </a:lnTo>
                  <a:lnTo>
                    <a:pt x="65267" y="391596"/>
                  </a:lnTo>
                  <a:lnTo>
                    <a:pt x="0" y="391596"/>
                  </a:lnTo>
                  <a:lnTo>
                    <a:pt x="130531" y="522128"/>
                  </a:lnTo>
                  <a:lnTo>
                    <a:pt x="261063" y="391596"/>
                  </a:lnTo>
                  <a:lnTo>
                    <a:pt x="195799" y="391596"/>
                  </a:lnTo>
                  <a:lnTo>
                    <a:pt x="195799" y="228431"/>
                  </a:lnTo>
                  <a:lnTo>
                    <a:pt x="203493" y="190324"/>
                  </a:lnTo>
                  <a:lnTo>
                    <a:pt x="224473" y="159206"/>
                  </a:lnTo>
                  <a:lnTo>
                    <a:pt x="255591" y="138225"/>
                  </a:lnTo>
                  <a:lnTo>
                    <a:pt x="293698" y="130531"/>
                  </a:lnTo>
                  <a:lnTo>
                    <a:pt x="1859484" y="130531"/>
                  </a:lnTo>
                  <a:lnTo>
                    <a:pt x="1859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37695" y="1902442"/>
              <a:ext cx="1859914" cy="522605"/>
            </a:xfrm>
            <a:custGeom>
              <a:avLst/>
              <a:gdLst/>
              <a:ahLst/>
              <a:cxnLst/>
              <a:rect l="l" t="t" r="r" b="b"/>
              <a:pathLst>
                <a:path w="1859915" h="522605">
                  <a:moveTo>
                    <a:pt x="1859485" y="0"/>
                  </a:moveTo>
                  <a:lnTo>
                    <a:pt x="293696" y="0"/>
                  </a:lnTo>
                  <a:lnTo>
                    <a:pt x="247659" y="4640"/>
                  </a:lnTo>
                  <a:lnTo>
                    <a:pt x="204780" y="17951"/>
                  </a:lnTo>
                  <a:lnTo>
                    <a:pt x="165978" y="39012"/>
                  </a:lnTo>
                  <a:lnTo>
                    <a:pt x="132171" y="66906"/>
                  </a:lnTo>
                  <a:lnTo>
                    <a:pt x="104277" y="100713"/>
                  </a:lnTo>
                  <a:lnTo>
                    <a:pt x="83216" y="139515"/>
                  </a:lnTo>
                  <a:lnTo>
                    <a:pt x="69905" y="182394"/>
                  </a:lnTo>
                  <a:lnTo>
                    <a:pt x="65264" y="228431"/>
                  </a:lnTo>
                  <a:lnTo>
                    <a:pt x="65267" y="391596"/>
                  </a:lnTo>
                  <a:lnTo>
                    <a:pt x="0" y="391596"/>
                  </a:lnTo>
                  <a:lnTo>
                    <a:pt x="130532" y="522129"/>
                  </a:lnTo>
                  <a:lnTo>
                    <a:pt x="261064" y="391596"/>
                  </a:lnTo>
                  <a:lnTo>
                    <a:pt x="195799" y="391596"/>
                  </a:lnTo>
                  <a:lnTo>
                    <a:pt x="195799" y="228431"/>
                  </a:lnTo>
                  <a:lnTo>
                    <a:pt x="203492" y="190324"/>
                  </a:lnTo>
                  <a:lnTo>
                    <a:pt x="224473" y="159206"/>
                  </a:lnTo>
                  <a:lnTo>
                    <a:pt x="255591" y="138225"/>
                  </a:lnTo>
                  <a:lnTo>
                    <a:pt x="293698" y="130532"/>
                  </a:lnTo>
                  <a:lnTo>
                    <a:pt x="1859485" y="130532"/>
                  </a:lnTo>
                  <a:lnTo>
                    <a:pt x="1859485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26364" y="3549764"/>
              <a:ext cx="814069" cy="395605"/>
            </a:xfrm>
            <a:custGeom>
              <a:avLst/>
              <a:gdLst/>
              <a:ahLst/>
              <a:cxnLst/>
              <a:rect l="l" t="t" r="r" b="b"/>
              <a:pathLst>
                <a:path w="814070" h="395604">
                  <a:moveTo>
                    <a:pt x="187462" y="0"/>
                  </a:moveTo>
                  <a:lnTo>
                    <a:pt x="0" y="110550"/>
                  </a:lnTo>
                  <a:lnTo>
                    <a:pt x="110550" y="298013"/>
                  </a:lnTo>
                  <a:lnTo>
                    <a:pt x="128369" y="228972"/>
                  </a:lnTo>
                  <a:lnTo>
                    <a:pt x="772708" y="395262"/>
                  </a:lnTo>
                  <a:lnTo>
                    <a:pt x="713379" y="294659"/>
                  </a:lnTo>
                  <a:lnTo>
                    <a:pt x="813983" y="235329"/>
                  </a:lnTo>
                  <a:lnTo>
                    <a:pt x="169644" y="69039"/>
                  </a:lnTo>
                  <a:lnTo>
                    <a:pt x="1874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26365" y="3549763"/>
              <a:ext cx="814069" cy="395605"/>
            </a:xfrm>
            <a:custGeom>
              <a:avLst/>
              <a:gdLst/>
              <a:ahLst/>
              <a:cxnLst/>
              <a:rect l="l" t="t" r="r" b="b"/>
              <a:pathLst>
                <a:path w="814070" h="395604">
                  <a:moveTo>
                    <a:pt x="813983" y="235330"/>
                  </a:moveTo>
                  <a:lnTo>
                    <a:pt x="169644" y="69040"/>
                  </a:lnTo>
                  <a:lnTo>
                    <a:pt x="187461" y="0"/>
                  </a:lnTo>
                  <a:lnTo>
                    <a:pt x="0" y="110551"/>
                  </a:lnTo>
                  <a:lnTo>
                    <a:pt x="110551" y="298013"/>
                  </a:lnTo>
                  <a:lnTo>
                    <a:pt x="128368" y="228972"/>
                  </a:lnTo>
                  <a:lnTo>
                    <a:pt x="772707" y="395263"/>
                  </a:lnTo>
                  <a:lnTo>
                    <a:pt x="713379" y="294659"/>
                  </a:lnTo>
                  <a:lnTo>
                    <a:pt x="813983" y="235330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40932" y="1096411"/>
              <a:ext cx="2148840" cy="3964940"/>
            </a:xfrm>
            <a:custGeom>
              <a:avLst/>
              <a:gdLst/>
              <a:ahLst/>
              <a:cxnLst/>
              <a:rect l="l" t="t" r="r" b="b"/>
              <a:pathLst>
                <a:path w="2148840" h="3964940">
                  <a:moveTo>
                    <a:pt x="17234" y="361686"/>
                  </a:moveTo>
                  <a:lnTo>
                    <a:pt x="17547" y="312356"/>
                  </a:lnTo>
                  <a:lnTo>
                    <a:pt x="24255" y="265767"/>
                  </a:lnTo>
                  <a:lnTo>
                    <a:pt x="37027" y="222182"/>
                  </a:lnTo>
                  <a:lnTo>
                    <a:pt x="55533" y="181865"/>
                  </a:lnTo>
                  <a:lnTo>
                    <a:pt x="79445" y="145077"/>
                  </a:lnTo>
                  <a:lnTo>
                    <a:pt x="108430" y="112082"/>
                  </a:lnTo>
                  <a:lnTo>
                    <a:pt x="142160" y="83144"/>
                  </a:lnTo>
                  <a:lnTo>
                    <a:pt x="180305" y="58524"/>
                  </a:lnTo>
                  <a:lnTo>
                    <a:pt x="222534" y="38486"/>
                  </a:lnTo>
                  <a:lnTo>
                    <a:pt x="268518" y="23292"/>
                  </a:lnTo>
                  <a:lnTo>
                    <a:pt x="317926" y="13207"/>
                  </a:lnTo>
                  <a:lnTo>
                    <a:pt x="370428" y="8492"/>
                  </a:lnTo>
                  <a:lnTo>
                    <a:pt x="430058" y="6734"/>
                  </a:lnTo>
                  <a:lnTo>
                    <a:pt x="481539" y="5631"/>
                  </a:lnTo>
                  <a:lnTo>
                    <a:pt x="527117" y="5084"/>
                  </a:lnTo>
                  <a:lnTo>
                    <a:pt x="569039" y="4993"/>
                  </a:lnTo>
                  <a:lnTo>
                    <a:pt x="609551" y="5260"/>
                  </a:lnTo>
                  <a:lnTo>
                    <a:pt x="650900" y="5785"/>
                  </a:lnTo>
                  <a:lnTo>
                    <a:pt x="695332" y="6470"/>
                  </a:lnTo>
                  <a:lnTo>
                    <a:pt x="745094" y="7216"/>
                  </a:lnTo>
                  <a:lnTo>
                    <a:pt x="802432" y="7923"/>
                  </a:lnTo>
                  <a:lnTo>
                    <a:pt x="869593" y="8492"/>
                  </a:lnTo>
                  <a:lnTo>
                    <a:pt x="942512" y="8248"/>
                  </a:lnTo>
                  <a:lnTo>
                    <a:pt x="1001766" y="6829"/>
                  </a:lnTo>
                  <a:lnTo>
                    <a:pt x="1050837" y="4766"/>
                  </a:lnTo>
                  <a:lnTo>
                    <a:pt x="1093206" y="2586"/>
                  </a:lnTo>
                  <a:lnTo>
                    <a:pt x="1132354" y="821"/>
                  </a:lnTo>
                  <a:lnTo>
                    <a:pt x="1171764" y="0"/>
                  </a:lnTo>
                  <a:lnTo>
                    <a:pt x="1214917" y="651"/>
                  </a:lnTo>
                  <a:lnTo>
                    <a:pt x="1265294" y="3306"/>
                  </a:lnTo>
                  <a:lnTo>
                    <a:pt x="1326377" y="8492"/>
                  </a:lnTo>
                  <a:lnTo>
                    <a:pt x="1387966" y="13643"/>
                  </a:lnTo>
                  <a:lnTo>
                    <a:pt x="1439607" y="16209"/>
                  </a:lnTo>
                  <a:lnTo>
                    <a:pt x="1484402" y="16746"/>
                  </a:lnTo>
                  <a:lnTo>
                    <a:pt x="1525455" y="15809"/>
                  </a:lnTo>
                  <a:lnTo>
                    <a:pt x="1565868" y="13955"/>
                  </a:lnTo>
                  <a:lnTo>
                    <a:pt x="1608742" y="11741"/>
                  </a:lnTo>
                  <a:lnTo>
                    <a:pt x="1657180" y="9721"/>
                  </a:lnTo>
                  <a:lnTo>
                    <a:pt x="1714286" y="8453"/>
                  </a:lnTo>
                  <a:lnTo>
                    <a:pt x="1783160" y="8492"/>
                  </a:lnTo>
                  <a:lnTo>
                    <a:pt x="1826320" y="6223"/>
                  </a:lnTo>
                  <a:lnTo>
                    <a:pt x="1868588" y="9420"/>
                  </a:lnTo>
                  <a:lnTo>
                    <a:pt x="1909479" y="17931"/>
                  </a:lnTo>
                  <a:lnTo>
                    <a:pt x="1948510" y="31603"/>
                  </a:lnTo>
                  <a:lnTo>
                    <a:pt x="1985198" y="50283"/>
                  </a:lnTo>
                  <a:lnTo>
                    <a:pt x="2019060" y="73818"/>
                  </a:lnTo>
                  <a:lnTo>
                    <a:pt x="2049612" y="102056"/>
                  </a:lnTo>
                  <a:lnTo>
                    <a:pt x="2076371" y="134844"/>
                  </a:lnTo>
                  <a:lnTo>
                    <a:pt x="2098854" y="172029"/>
                  </a:lnTo>
                  <a:lnTo>
                    <a:pt x="2116577" y="213459"/>
                  </a:lnTo>
                  <a:lnTo>
                    <a:pt x="2129057" y="258980"/>
                  </a:lnTo>
                  <a:lnTo>
                    <a:pt x="2135810" y="308440"/>
                  </a:lnTo>
                  <a:lnTo>
                    <a:pt x="2136354" y="361686"/>
                  </a:lnTo>
                  <a:lnTo>
                    <a:pt x="2130787" y="423787"/>
                  </a:lnTo>
                  <a:lnTo>
                    <a:pt x="2126492" y="478763"/>
                  </a:lnTo>
                  <a:lnTo>
                    <a:pt x="2123391" y="528017"/>
                  </a:lnTo>
                  <a:lnTo>
                    <a:pt x="2121407" y="572952"/>
                  </a:lnTo>
                  <a:lnTo>
                    <a:pt x="2120461" y="614972"/>
                  </a:lnTo>
                  <a:lnTo>
                    <a:pt x="2120475" y="655480"/>
                  </a:lnTo>
                  <a:lnTo>
                    <a:pt x="2121371" y="695880"/>
                  </a:lnTo>
                  <a:lnTo>
                    <a:pt x="2123072" y="737574"/>
                  </a:lnTo>
                  <a:lnTo>
                    <a:pt x="2125498" y="781967"/>
                  </a:lnTo>
                  <a:lnTo>
                    <a:pt x="2128573" y="830461"/>
                  </a:lnTo>
                  <a:lnTo>
                    <a:pt x="2132217" y="884460"/>
                  </a:lnTo>
                  <a:lnTo>
                    <a:pt x="2136354" y="945367"/>
                  </a:lnTo>
                  <a:lnTo>
                    <a:pt x="2140050" y="1008729"/>
                  </a:lnTo>
                  <a:lnTo>
                    <a:pt x="2142534" y="1069199"/>
                  </a:lnTo>
                  <a:lnTo>
                    <a:pt x="2143967" y="1126842"/>
                  </a:lnTo>
                  <a:lnTo>
                    <a:pt x="2144512" y="1181722"/>
                  </a:lnTo>
                  <a:lnTo>
                    <a:pt x="2144331" y="1233904"/>
                  </a:lnTo>
                  <a:lnTo>
                    <a:pt x="2143586" y="1283453"/>
                  </a:lnTo>
                  <a:lnTo>
                    <a:pt x="2142439" y="1330432"/>
                  </a:lnTo>
                  <a:lnTo>
                    <a:pt x="2141053" y="1374907"/>
                  </a:lnTo>
                  <a:lnTo>
                    <a:pt x="2139589" y="1416941"/>
                  </a:lnTo>
                  <a:lnTo>
                    <a:pt x="2138210" y="1456600"/>
                  </a:lnTo>
                  <a:lnTo>
                    <a:pt x="2137077" y="1493948"/>
                  </a:lnTo>
                  <a:lnTo>
                    <a:pt x="2136354" y="1529049"/>
                  </a:lnTo>
                  <a:lnTo>
                    <a:pt x="2136201" y="1562453"/>
                  </a:lnTo>
                  <a:lnTo>
                    <a:pt x="2136471" y="1603547"/>
                  </a:lnTo>
                  <a:lnTo>
                    <a:pt x="2137065" y="1651085"/>
                  </a:lnTo>
                  <a:lnTo>
                    <a:pt x="2137882" y="1703819"/>
                  </a:lnTo>
                  <a:lnTo>
                    <a:pt x="2138823" y="1760500"/>
                  </a:lnTo>
                  <a:lnTo>
                    <a:pt x="2139788" y="1819882"/>
                  </a:lnTo>
                  <a:lnTo>
                    <a:pt x="2140676" y="1880717"/>
                  </a:lnTo>
                  <a:lnTo>
                    <a:pt x="2141388" y="1941757"/>
                  </a:lnTo>
                  <a:lnTo>
                    <a:pt x="2141823" y="2001754"/>
                  </a:lnTo>
                  <a:lnTo>
                    <a:pt x="2141882" y="2059461"/>
                  </a:lnTo>
                  <a:lnTo>
                    <a:pt x="2141464" y="2113631"/>
                  </a:lnTo>
                  <a:lnTo>
                    <a:pt x="2140471" y="2163015"/>
                  </a:lnTo>
                  <a:lnTo>
                    <a:pt x="2138800" y="2206367"/>
                  </a:lnTo>
                  <a:lnTo>
                    <a:pt x="2136354" y="2242437"/>
                  </a:lnTo>
                  <a:lnTo>
                    <a:pt x="2133154" y="2285378"/>
                  </a:lnTo>
                  <a:lnTo>
                    <a:pt x="2130808" y="2332172"/>
                  </a:lnTo>
                  <a:lnTo>
                    <a:pt x="2129245" y="2382013"/>
                  </a:lnTo>
                  <a:lnTo>
                    <a:pt x="2128393" y="2434094"/>
                  </a:lnTo>
                  <a:lnTo>
                    <a:pt x="2128180" y="2487611"/>
                  </a:lnTo>
                  <a:lnTo>
                    <a:pt x="2128537" y="2541755"/>
                  </a:lnTo>
                  <a:lnTo>
                    <a:pt x="2129390" y="2595722"/>
                  </a:lnTo>
                  <a:lnTo>
                    <a:pt x="2130670" y="2648706"/>
                  </a:lnTo>
                  <a:lnTo>
                    <a:pt x="2132305" y="2699899"/>
                  </a:lnTo>
                  <a:lnTo>
                    <a:pt x="2134223" y="2748497"/>
                  </a:lnTo>
                  <a:lnTo>
                    <a:pt x="2136354" y="2793692"/>
                  </a:lnTo>
                  <a:lnTo>
                    <a:pt x="2137944" y="2826650"/>
                  </a:lnTo>
                  <a:lnTo>
                    <a:pt x="2139628" y="2865572"/>
                  </a:lnTo>
                  <a:lnTo>
                    <a:pt x="2141341" y="2909687"/>
                  </a:lnTo>
                  <a:lnTo>
                    <a:pt x="2143016" y="2958222"/>
                  </a:lnTo>
                  <a:lnTo>
                    <a:pt x="2144588" y="3010406"/>
                  </a:lnTo>
                  <a:lnTo>
                    <a:pt x="2145992" y="3065466"/>
                  </a:lnTo>
                  <a:lnTo>
                    <a:pt x="2147162" y="3122629"/>
                  </a:lnTo>
                  <a:lnTo>
                    <a:pt x="2148033" y="3181124"/>
                  </a:lnTo>
                  <a:lnTo>
                    <a:pt x="2148539" y="3240179"/>
                  </a:lnTo>
                  <a:lnTo>
                    <a:pt x="2148614" y="3299021"/>
                  </a:lnTo>
                  <a:lnTo>
                    <a:pt x="2148193" y="3356878"/>
                  </a:lnTo>
                  <a:lnTo>
                    <a:pt x="2147210" y="3412977"/>
                  </a:lnTo>
                  <a:lnTo>
                    <a:pt x="2145601" y="3466548"/>
                  </a:lnTo>
                  <a:lnTo>
                    <a:pt x="2143299" y="3516816"/>
                  </a:lnTo>
                  <a:lnTo>
                    <a:pt x="2140238" y="3563011"/>
                  </a:lnTo>
                  <a:lnTo>
                    <a:pt x="2136354" y="3604360"/>
                  </a:lnTo>
                  <a:lnTo>
                    <a:pt x="2136526" y="3653237"/>
                  </a:lnTo>
                  <a:lnTo>
                    <a:pt x="2130530" y="3699521"/>
                  </a:lnTo>
                  <a:lnTo>
                    <a:pt x="2118806" y="3742934"/>
                  </a:lnTo>
                  <a:lnTo>
                    <a:pt x="2101792" y="3783195"/>
                  </a:lnTo>
                  <a:lnTo>
                    <a:pt x="2079930" y="3820025"/>
                  </a:lnTo>
                  <a:lnTo>
                    <a:pt x="2053656" y="3853143"/>
                  </a:lnTo>
                  <a:lnTo>
                    <a:pt x="2023412" y="3882270"/>
                  </a:lnTo>
                  <a:lnTo>
                    <a:pt x="1989636" y="3907127"/>
                  </a:lnTo>
                  <a:lnTo>
                    <a:pt x="1952768" y="3927433"/>
                  </a:lnTo>
                  <a:lnTo>
                    <a:pt x="1913247" y="3942908"/>
                  </a:lnTo>
                  <a:lnTo>
                    <a:pt x="1871512" y="3953274"/>
                  </a:lnTo>
                  <a:lnTo>
                    <a:pt x="1828004" y="3958249"/>
                  </a:lnTo>
                  <a:lnTo>
                    <a:pt x="1783160" y="3957554"/>
                  </a:lnTo>
                  <a:lnTo>
                    <a:pt x="1720073" y="3957897"/>
                  </a:lnTo>
                  <a:lnTo>
                    <a:pt x="1663054" y="3958874"/>
                  </a:lnTo>
                  <a:lnTo>
                    <a:pt x="1610428" y="3960121"/>
                  </a:lnTo>
                  <a:lnTo>
                    <a:pt x="1560522" y="3961270"/>
                  </a:lnTo>
                  <a:lnTo>
                    <a:pt x="1511663" y="3961954"/>
                  </a:lnTo>
                  <a:lnTo>
                    <a:pt x="1462177" y="3961807"/>
                  </a:lnTo>
                  <a:lnTo>
                    <a:pt x="1410391" y="3960463"/>
                  </a:lnTo>
                  <a:lnTo>
                    <a:pt x="1354631" y="3957554"/>
                  </a:lnTo>
                  <a:lnTo>
                    <a:pt x="1305678" y="3955650"/>
                  </a:lnTo>
                  <a:lnTo>
                    <a:pt x="1252987" y="3955664"/>
                  </a:lnTo>
                  <a:lnTo>
                    <a:pt x="1197880" y="3957036"/>
                  </a:lnTo>
                  <a:lnTo>
                    <a:pt x="1141678" y="3959205"/>
                  </a:lnTo>
                  <a:lnTo>
                    <a:pt x="1085703" y="3961611"/>
                  </a:lnTo>
                  <a:lnTo>
                    <a:pt x="1031275" y="3963691"/>
                  </a:lnTo>
                  <a:lnTo>
                    <a:pt x="979716" y="3964887"/>
                  </a:lnTo>
                  <a:lnTo>
                    <a:pt x="932347" y="3964636"/>
                  </a:lnTo>
                  <a:lnTo>
                    <a:pt x="890490" y="3962379"/>
                  </a:lnTo>
                  <a:lnTo>
                    <a:pt x="855466" y="3957554"/>
                  </a:lnTo>
                  <a:lnTo>
                    <a:pt x="819966" y="3952927"/>
                  </a:lnTo>
                  <a:lnTo>
                    <a:pt x="776955" y="3951176"/>
                  </a:lnTo>
                  <a:lnTo>
                    <a:pt x="728165" y="3951608"/>
                  </a:lnTo>
                  <a:lnTo>
                    <a:pt x="675331" y="3953530"/>
                  </a:lnTo>
                  <a:lnTo>
                    <a:pt x="620184" y="3956249"/>
                  </a:lnTo>
                  <a:lnTo>
                    <a:pt x="564458" y="3959072"/>
                  </a:lnTo>
                  <a:lnTo>
                    <a:pt x="509887" y="3961307"/>
                  </a:lnTo>
                  <a:lnTo>
                    <a:pt x="458203" y="3962261"/>
                  </a:lnTo>
                  <a:lnTo>
                    <a:pt x="411139" y="3961241"/>
                  </a:lnTo>
                  <a:lnTo>
                    <a:pt x="370428" y="3957554"/>
                  </a:lnTo>
                  <a:lnTo>
                    <a:pt x="319569" y="3951539"/>
                  </a:lnTo>
                  <a:lnTo>
                    <a:pt x="271587" y="3940175"/>
                  </a:lnTo>
                  <a:lnTo>
                    <a:pt x="226788" y="3923788"/>
                  </a:lnTo>
                  <a:lnTo>
                    <a:pt x="185478" y="3902708"/>
                  </a:lnTo>
                  <a:lnTo>
                    <a:pt x="147961" y="3877260"/>
                  </a:lnTo>
                  <a:lnTo>
                    <a:pt x="114544" y="3847774"/>
                  </a:lnTo>
                  <a:lnTo>
                    <a:pt x="85531" y="3814575"/>
                  </a:lnTo>
                  <a:lnTo>
                    <a:pt x="61229" y="3777991"/>
                  </a:lnTo>
                  <a:lnTo>
                    <a:pt x="41943" y="3738351"/>
                  </a:lnTo>
                  <a:lnTo>
                    <a:pt x="27978" y="3695980"/>
                  </a:lnTo>
                  <a:lnTo>
                    <a:pt x="19640" y="3651208"/>
                  </a:lnTo>
                  <a:lnTo>
                    <a:pt x="17234" y="3604360"/>
                  </a:lnTo>
                  <a:lnTo>
                    <a:pt x="13405" y="3563313"/>
                  </a:lnTo>
                  <a:lnTo>
                    <a:pt x="11594" y="3520331"/>
                  </a:lnTo>
                  <a:lnTo>
                    <a:pt x="11445" y="3475607"/>
                  </a:lnTo>
                  <a:lnTo>
                    <a:pt x="12599" y="3429332"/>
                  </a:lnTo>
                  <a:lnTo>
                    <a:pt x="14700" y="3381697"/>
                  </a:lnTo>
                  <a:lnTo>
                    <a:pt x="17390" y="3332894"/>
                  </a:lnTo>
                  <a:lnTo>
                    <a:pt x="20311" y="3283114"/>
                  </a:lnTo>
                  <a:lnTo>
                    <a:pt x="23107" y="3232549"/>
                  </a:lnTo>
                  <a:lnTo>
                    <a:pt x="25420" y="3181390"/>
                  </a:lnTo>
                  <a:lnTo>
                    <a:pt x="26893" y="3129830"/>
                  </a:lnTo>
                  <a:lnTo>
                    <a:pt x="27168" y="3078059"/>
                  </a:lnTo>
                  <a:lnTo>
                    <a:pt x="25888" y="3026269"/>
                  </a:lnTo>
                  <a:lnTo>
                    <a:pt x="22696" y="2974652"/>
                  </a:lnTo>
                  <a:lnTo>
                    <a:pt x="17234" y="2923398"/>
                  </a:lnTo>
                  <a:lnTo>
                    <a:pt x="10725" y="2861929"/>
                  </a:lnTo>
                  <a:lnTo>
                    <a:pt x="7787" y="2806518"/>
                  </a:lnTo>
                  <a:lnTo>
                    <a:pt x="7665" y="2755902"/>
                  </a:lnTo>
                  <a:lnTo>
                    <a:pt x="9601" y="2708819"/>
                  </a:lnTo>
                  <a:lnTo>
                    <a:pt x="12839" y="2664007"/>
                  </a:lnTo>
                  <a:lnTo>
                    <a:pt x="16622" y="2620204"/>
                  </a:lnTo>
                  <a:lnTo>
                    <a:pt x="20194" y="2576147"/>
                  </a:lnTo>
                  <a:lnTo>
                    <a:pt x="22798" y="2530575"/>
                  </a:lnTo>
                  <a:lnTo>
                    <a:pt x="23677" y="2482226"/>
                  </a:lnTo>
                  <a:lnTo>
                    <a:pt x="22074" y="2429836"/>
                  </a:lnTo>
                  <a:lnTo>
                    <a:pt x="17234" y="2372144"/>
                  </a:lnTo>
                  <a:lnTo>
                    <a:pt x="11661" y="2317675"/>
                  </a:lnTo>
                  <a:lnTo>
                    <a:pt x="7221" y="2265434"/>
                  </a:lnTo>
                  <a:lnTo>
                    <a:pt x="3879" y="2215070"/>
                  </a:lnTo>
                  <a:lnTo>
                    <a:pt x="1598" y="2166233"/>
                  </a:lnTo>
                  <a:lnTo>
                    <a:pt x="343" y="2118573"/>
                  </a:lnTo>
                  <a:lnTo>
                    <a:pt x="77" y="2071739"/>
                  </a:lnTo>
                  <a:lnTo>
                    <a:pt x="765" y="2025381"/>
                  </a:lnTo>
                  <a:lnTo>
                    <a:pt x="2369" y="1979149"/>
                  </a:lnTo>
                  <a:lnTo>
                    <a:pt x="4854" y="1932691"/>
                  </a:lnTo>
                  <a:lnTo>
                    <a:pt x="8184" y="1885658"/>
                  </a:lnTo>
                  <a:lnTo>
                    <a:pt x="12323" y="1837699"/>
                  </a:lnTo>
                  <a:lnTo>
                    <a:pt x="17234" y="1788463"/>
                  </a:lnTo>
                  <a:lnTo>
                    <a:pt x="21637" y="1743706"/>
                  </a:lnTo>
                  <a:lnTo>
                    <a:pt x="25724" y="1695542"/>
                  </a:lnTo>
                  <a:lnTo>
                    <a:pt x="29406" y="1644585"/>
                  </a:lnTo>
                  <a:lnTo>
                    <a:pt x="32592" y="1591447"/>
                  </a:lnTo>
                  <a:lnTo>
                    <a:pt x="35190" y="1536741"/>
                  </a:lnTo>
                  <a:lnTo>
                    <a:pt x="37111" y="1481083"/>
                  </a:lnTo>
                  <a:lnTo>
                    <a:pt x="38265" y="1425083"/>
                  </a:lnTo>
                  <a:lnTo>
                    <a:pt x="38560" y="1369357"/>
                  </a:lnTo>
                  <a:lnTo>
                    <a:pt x="37906" y="1314516"/>
                  </a:lnTo>
                  <a:lnTo>
                    <a:pt x="36212" y="1261176"/>
                  </a:lnTo>
                  <a:lnTo>
                    <a:pt x="33389" y="1209948"/>
                  </a:lnTo>
                  <a:lnTo>
                    <a:pt x="29345" y="1161446"/>
                  </a:lnTo>
                  <a:lnTo>
                    <a:pt x="23990" y="1116284"/>
                  </a:lnTo>
                  <a:lnTo>
                    <a:pt x="17234" y="1075074"/>
                  </a:lnTo>
                  <a:lnTo>
                    <a:pt x="10676" y="1033822"/>
                  </a:lnTo>
                  <a:lnTo>
                    <a:pt x="5856" y="988545"/>
                  </a:lnTo>
                  <a:lnTo>
                    <a:pt x="2591" y="939876"/>
                  </a:lnTo>
                  <a:lnTo>
                    <a:pt x="700" y="888448"/>
                  </a:lnTo>
                  <a:lnTo>
                    <a:pt x="0" y="834894"/>
                  </a:lnTo>
                  <a:lnTo>
                    <a:pt x="308" y="779847"/>
                  </a:lnTo>
                  <a:lnTo>
                    <a:pt x="1443" y="723941"/>
                  </a:lnTo>
                  <a:lnTo>
                    <a:pt x="3223" y="667807"/>
                  </a:lnTo>
                  <a:lnTo>
                    <a:pt x="5465" y="612079"/>
                  </a:lnTo>
                  <a:lnTo>
                    <a:pt x="7987" y="557391"/>
                  </a:lnTo>
                  <a:lnTo>
                    <a:pt x="10607" y="504374"/>
                  </a:lnTo>
                  <a:lnTo>
                    <a:pt x="13143" y="453662"/>
                  </a:lnTo>
                  <a:lnTo>
                    <a:pt x="15413" y="405889"/>
                  </a:lnTo>
                  <a:lnTo>
                    <a:pt x="17234" y="361686"/>
                  </a:lnTo>
                  <a:close/>
                </a:path>
              </a:pathLst>
            </a:custGeom>
            <a:ln w="25400">
              <a:solidFill>
                <a:srgbClr val="2E60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24216" y="2346960"/>
              <a:ext cx="993648" cy="993647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497511" y="3383788"/>
            <a:ext cx="858519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latin typeface="Arial"/>
                <a:cs typeface="Arial"/>
              </a:rPr>
              <a:t>Configuration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65644" y="1192287"/>
            <a:ext cx="2174240" cy="3392804"/>
            <a:chOff x="365644" y="1192287"/>
            <a:chExt cx="2174240" cy="3392804"/>
          </a:xfrm>
        </p:grpSpPr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84798" y="3647112"/>
              <a:ext cx="565813" cy="56581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78344" y="1204987"/>
              <a:ext cx="2148840" cy="3367404"/>
            </a:xfrm>
            <a:custGeom>
              <a:avLst/>
              <a:gdLst/>
              <a:ahLst/>
              <a:cxnLst/>
              <a:rect l="l" t="t" r="r" b="b"/>
              <a:pathLst>
                <a:path w="2148840" h="3367404">
                  <a:moveTo>
                    <a:pt x="20556" y="361686"/>
                  </a:moveTo>
                  <a:lnTo>
                    <a:pt x="20869" y="312356"/>
                  </a:lnTo>
                  <a:lnTo>
                    <a:pt x="27576" y="265767"/>
                  </a:lnTo>
                  <a:lnTo>
                    <a:pt x="40348" y="222182"/>
                  </a:lnTo>
                  <a:lnTo>
                    <a:pt x="58855" y="181865"/>
                  </a:lnTo>
                  <a:lnTo>
                    <a:pt x="82766" y="145077"/>
                  </a:lnTo>
                  <a:lnTo>
                    <a:pt x="111752" y="112082"/>
                  </a:lnTo>
                  <a:lnTo>
                    <a:pt x="145482" y="83144"/>
                  </a:lnTo>
                  <a:lnTo>
                    <a:pt x="183627" y="58524"/>
                  </a:lnTo>
                  <a:lnTo>
                    <a:pt x="225856" y="38486"/>
                  </a:lnTo>
                  <a:lnTo>
                    <a:pt x="271839" y="23292"/>
                  </a:lnTo>
                  <a:lnTo>
                    <a:pt x="321247" y="13207"/>
                  </a:lnTo>
                  <a:lnTo>
                    <a:pt x="373750" y="8492"/>
                  </a:lnTo>
                  <a:lnTo>
                    <a:pt x="433379" y="6734"/>
                  </a:lnTo>
                  <a:lnTo>
                    <a:pt x="484860" y="5631"/>
                  </a:lnTo>
                  <a:lnTo>
                    <a:pt x="530438" y="5084"/>
                  </a:lnTo>
                  <a:lnTo>
                    <a:pt x="572360" y="4993"/>
                  </a:lnTo>
                  <a:lnTo>
                    <a:pt x="612873" y="5260"/>
                  </a:lnTo>
                  <a:lnTo>
                    <a:pt x="654222" y="5785"/>
                  </a:lnTo>
                  <a:lnTo>
                    <a:pt x="698654" y="6470"/>
                  </a:lnTo>
                  <a:lnTo>
                    <a:pt x="748416" y="7216"/>
                  </a:lnTo>
                  <a:lnTo>
                    <a:pt x="805754" y="7923"/>
                  </a:lnTo>
                  <a:lnTo>
                    <a:pt x="872915" y="8492"/>
                  </a:lnTo>
                  <a:lnTo>
                    <a:pt x="945834" y="8248"/>
                  </a:lnTo>
                  <a:lnTo>
                    <a:pt x="1005088" y="6829"/>
                  </a:lnTo>
                  <a:lnTo>
                    <a:pt x="1054159" y="4766"/>
                  </a:lnTo>
                  <a:lnTo>
                    <a:pt x="1096527" y="2586"/>
                  </a:lnTo>
                  <a:lnTo>
                    <a:pt x="1135676" y="821"/>
                  </a:lnTo>
                  <a:lnTo>
                    <a:pt x="1175086" y="0"/>
                  </a:lnTo>
                  <a:lnTo>
                    <a:pt x="1218238" y="651"/>
                  </a:lnTo>
                  <a:lnTo>
                    <a:pt x="1268615" y="3306"/>
                  </a:lnTo>
                  <a:lnTo>
                    <a:pt x="1329699" y="8492"/>
                  </a:lnTo>
                  <a:lnTo>
                    <a:pt x="1391287" y="13643"/>
                  </a:lnTo>
                  <a:lnTo>
                    <a:pt x="1442928" y="16209"/>
                  </a:lnTo>
                  <a:lnTo>
                    <a:pt x="1487724" y="16746"/>
                  </a:lnTo>
                  <a:lnTo>
                    <a:pt x="1528777" y="15809"/>
                  </a:lnTo>
                  <a:lnTo>
                    <a:pt x="1569189" y="13955"/>
                  </a:lnTo>
                  <a:lnTo>
                    <a:pt x="1612063" y="11741"/>
                  </a:lnTo>
                  <a:lnTo>
                    <a:pt x="1660502" y="9721"/>
                  </a:lnTo>
                  <a:lnTo>
                    <a:pt x="1717607" y="8453"/>
                  </a:lnTo>
                  <a:lnTo>
                    <a:pt x="1786482" y="8492"/>
                  </a:lnTo>
                  <a:lnTo>
                    <a:pt x="1829642" y="6223"/>
                  </a:lnTo>
                  <a:lnTo>
                    <a:pt x="1871909" y="9420"/>
                  </a:lnTo>
                  <a:lnTo>
                    <a:pt x="1912800" y="17931"/>
                  </a:lnTo>
                  <a:lnTo>
                    <a:pt x="1951831" y="31603"/>
                  </a:lnTo>
                  <a:lnTo>
                    <a:pt x="1988520" y="50283"/>
                  </a:lnTo>
                  <a:lnTo>
                    <a:pt x="2022381" y="73818"/>
                  </a:lnTo>
                  <a:lnTo>
                    <a:pt x="2052934" y="102056"/>
                  </a:lnTo>
                  <a:lnTo>
                    <a:pt x="2079693" y="134844"/>
                  </a:lnTo>
                  <a:lnTo>
                    <a:pt x="2102175" y="172029"/>
                  </a:lnTo>
                  <a:lnTo>
                    <a:pt x="2119898" y="213459"/>
                  </a:lnTo>
                  <a:lnTo>
                    <a:pt x="2132378" y="258980"/>
                  </a:lnTo>
                  <a:lnTo>
                    <a:pt x="2139132" y="308440"/>
                  </a:lnTo>
                  <a:lnTo>
                    <a:pt x="2139676" y="361686"/>
                  </a:lnTo>
                  <a:lnTo>
                    <a:pt x="2133589" y="422994"/>
                  </a:lnTo>
                  <a:lnTo>
                    <a:pt x="2129873" y="478625"/>
                  </a:lnTo>
                  <a:lnTo>
                    <a:pt x="2128147" y="529706"/>
                  </a:lnTo>
                  <a:lnTo>
                    <a:pt x="2128032" y="577361"/>
                  </a:lnTo>
                  <a:lnTo>
                    <a:pt x="2129151" y="622715"/>
                  </a:lnTo>
                  <a:lnTo>
                    <a:pt x="2131124" y="666894"/>
                  </a:lnTo>
                  <a:lnTo>
                    <a:pt x="2133571" y="711021"/>
                  </a:lnTo>
                  <a:lnTo>
                    <a:pt x="2136115" y="756222"/>
                  </a:lnTo>
                  <a:lnTo>
                    <a:pt x="2138377" y="803622"/>
                  </a:lnTo>
                  <a:lnTo>
                    <a:pt x="2139976" y="854346"/>
                  </a:lnTo>
                  <a:lnTo>
                    <a:pt x="2140536" y="909519"/>
                  </a:lnTo>
                  <a:lnTo>
                    <a:pt x="2139676" y="970265"/>
                  </a:lnTo>
                  <a:lnTo>
                    <a:pt x="2138181" y="1030759"/>
                  </a:lnTo>
                  <a:lnTo>
                    <a:pt x="2137068" y="1085266"/>
                  </a:lnTo>
                  <a:lnTo>
                    <a:pt x="2136304" y="1135050"/>
                  </a:lnTo>
                  <a:lnTo>
                    <a:pt x="2135855" y="1181371"/>
                  </a:lnTo>
                  <a:lnTo>
                    <a:pt x="2135688" y="1225494"/>
                  </a:lnTo>
                  <a:lnTo>
                    <a:pt x="2135772" y="1268681"/>
                  </a:lnTo>
                  <a:lnTo>
                    <a:pt x="2136072" y="1312194"/>
                  </a:lnTo>
                  <a:lnTo>
                    <a:pt x="2136556" y="1357295"/>
                  </a:lnTo>
                  <a:lnTo>
                    <a:pt x="2137192" y="1405249"/>
                  </a:lnTo>
                  <a:lnTo>
                    <a:pt x="2137945" y="1457316"/>
                  </a:lnTo>
                  <a:lnTo>
                    <a:pt x="2138784" y="1514761"/>
                  </a:lnTo>
                  <a:lnTo>
                    <a:pt x="2139676" y="1578844"/>
                  </a:lnTo>
                  <a:lnTo>
                    <a:pt x="2140516" y="1635595"/>
                  </a:lnTo>
                  <a:lnTo>
                    <a:pt x="2141447" y="1689846"/>
                  </a:lnTo>
                  <a:lnTo>
                    <a:pt x="2142412" y="1742002"/>
                  </a:lnTo>
                  <a:lnTo>
                    <a:pt x="2143359" y="1792468"/>
                  </a:lnTo>
                  <a:lnTo>
                    <a:pt x="2144231" y="1841650"/>
                  </a:lnTo>
                  <a:lnTo>
                    <a:pt x="2144973" y="1889952"/>
                  </a:lnTo>
                  <a:lnTo>
                    <a:pt x="2145532" y="1937778"/>
                  </a:lnTo>
                  <a:lnTo>
                    <a:pt x="2145851" y="1985534"/>
                  </a:lnTo>
                  <a:lnTo>
                    <a:pt x="2145877" y="2033624"/>
                  </a:lnTo>
                  <a:lnTo>
                    <a:pt x="2145554" y="2082454"/>
                  </a:lnTo>
                  <a:lnTo>
                    <a:pt x="2144827" y="2132428"/>
                  </a:lnTo>
                  <a:lnTo>
                    <a:pt x="2143641" y="2183950"/>
                  </a:lnTo>
                  <a:lnTo>
                    <a:pt x="2141943" y="2237427"/>
                  </a:lnTo>
                  <a:lnTo>
                    <a:pt x="2139676" y="2293262"/>
                  </a:lnTo>
                  <a:lnTo>
                    <a:pt x="2137810" y="2348176"/>
                  </a:lnTo>
                  <a:lnTo>
                    <a:pt x="2137191" y="2399173"/>
                  </a:lnTo>
                  <a:lnTo>
                    <a:pt x="2137580" y="2447083"/>
                  </a:lnTo>
                  <a:lnTo>
                    <a:pt x="2138736" y="2492735"/>
                  </a:lnTo>
                  <a:lnTo>
                    <a:pt x="2140418" y="2536959"/>
                  </a:lnTo>
                  <a:lnTo>
                    <a:pt x="2142388" y="2580586"/>
                  </a:lnTo>
                  <a:lnTo>
                    <a:pt x="2144405" y="2624445"/>
                  </a:lnTo>
                  <a:lnTo>
                    <a:pt x="2146229" y="2669366"/>
                  </a:lnTo>
                  <a:lnTo>
                    <a:pt x="2147620" y="2716180"/>
                  </a:lnTo>
                  <a:lnTo>
                    <a:pt x="2148338" y="2765716"/>
                  </a:lnTo>
                  <a:lnTo>
                    <a:pt x="2148142" y="2818804"/>
                  </a:lnTo>
                  <a:lnTo>
                    <a:pt x="2146793" y="2876274"/>
                  </a:lnTo>
                  <a:lnTo>
                    <a:pt x="2144051" y="2938957"/>
                  </a:lnTo>
                  <a:lnTo>
                    <a:pt x="2139676" y="3007681"/>
                  </a:lnTo>
                  <a:lnTo>
                    <a:pt x="2126831" y="3058416"/>
                  </a:lnTo>
                  <a:lnTo>
                    <a:pt x="2110784" y="3105501"/>
                  </a:lnTo>
                  <a:lnTo>
                    <a:pt x="2091317" y="3148910"/>
                  </a:lnTo>
                  <a:lnTo>
                    <a:pt x="2068213" y="3188619"/>
                  </a:lnTo>
                  <a:lnTo>
                    <a:pt x="2041257" y="3224602"/>
                  </a:lnTo>
                  <a:lnTo>
                    <a:pt x="2010231" y="3256835"/>
                  </a:lnTo>
                  <a:lnTo>
                    <a:pt x="1974920" y="3285293"/>
                  </a:lnTo>
                  <a:lnTo>
                    <a:pt x="1935105" y="3309951"/>
                  </a:lnTo>
                  <a:lnTo>
                    <a:pt x="1890572" y="3330784"/>
                  </a:lnTo>
                  <a:lnTo>
                    <a:pt x="1841103" y="3347767"/>
                  </a:lnTo>
                  <a:lnTo>
                    <a:pt x="1786482" y="3360875"/>
                  </a:lnTo>
                  <a:lnTo>
                    <a:pt x="1722680" y="3359311"/>
                  </a:lnTo>
                  <a:lnTo>
                    <a:pt x="1666107" y="3359385"/>
                  </a:lnTo>
                  <a:lnTo>
                    <a:pt x="1615327" y="3360612"/>
                  </a:lnTo>
                  <a:lnTo>
                    <a:pt x="1568904" y="3362510"/>
                  </a:lnTo>
                  <a:lnTo>
                    <a:pt x="1525402" y="3364594"/>
                  </a:lnTo>
                  <a:lnTo>
                    <a:pt x="1483385" y="3366380"/>
                  </a:lnTo>
                  <a:lnTo>
                    <a:pt x="1441416" y="3367385"/>
                  </a:lnTo>
                  <a:lnTo>
                    <a:pt x="1398060" y="3367125"/>
                  </a:lnTo>
                  <a:lnTo>
                    <a:pt x="1351882" y="3365117"/>
                  </a:lnTo>
                  <a:lnTo>
                    <a:pt x="1301444" y="3360875"/>
                  </a:lnTo>
                  <a:lnTo>
                    <a:pt x="1250273" y="3356109"/>
                  </a:lnTo>
                  <a:lnTo>
                    <a:pt x="1202161" y="3352759"/>
                  </a:lnTo>
                  <a:lnTo>
                    <a:pt x="1156064" y="3350691"/>
                  </a:lnTo>
                  <a:lnTo>
                    <a:pt x="1110941" y="3349772"/>
                  </a:lnTo>
                  <a:lnTo>
                    <a:pt x="1065748" y="3349867"/>
                  </a:lnTo>
                  <a:lnTo>
                    <a:pt x="1019445" y="3350843"/>
                  </a:lnTo>
                  <a:lnTo>
                    <a:pt x="970989" y="3352566"/>
                  </a:lnTo>
                  <a:lnTo>
                    <a:pt x="919337" y="3354902"/>
                  </a:lnTo>
                  <a:lnTo>
                    <a:pt x="863447" y="3357716"/>
                  </a:lnTo>
                  <a:lnTo>
                    <a:pt x="802279" y="3360875"/>
                  </a:lnTo>
                  <a:lnTo>
                    <a:pt x="728345" y="3363783"/>
                  </a:lnTo>
                  <a:lnTo>
                    <a:pt x="665258" y="3364681"/>
                  </a:lnTo>
                  <a:lnTo>
                    <a:pt x="610504" y="3364158"/>
                  </a:lnTo>
                  <a:lnTo>
                    <a:pt x="561570" y="3362805"/>
                  </a:lnTo>
                  <a:lnTo>
                    <a:pt x="515941" y="3361211"/>
                  </a:lnTo>
                  <a:lnTo>
                    <a:pt x="471104" y="3359965"/>
                  </a:lnTo>
                  <a:lnTo>
                    <a:pt x="424545" y="3359657"/>
                  </a:lnTo>
                  <a:lnTo>
                    <a:pt x="373750" y="3360875"/>
                  </a:lnTo>
                  <a:lnTo>
                    <a:pt x="320756" y="3359241"/>
                  </a:lnTo>
                  <a:lnTo>
                    <a:pt x="271462" y="3351471"/>
                  </a:lnTo>
                  <a:lnTo>
                    <a:pt x="226032" y="3338078"/>
                  </a:lnTo>
                  <a:lnTo>
                    <a:pt x="184632" y="3319574"/>
                  </a:lnTo>
                  <a:lnTo>
                    <a:pt x="147425" y="3296473"/>
                  </a:lnTo>
                  <a:lnTo>
                    <a:pt x="114578" y="3269287"/>
                  </a:lnTo>
                  <a:lnTo>
                    <a:pt x="86255" y="3238528"/>
                  </a:lnTo>
                  <a:lnTo>
                    <a:pt x="62621" y="3204711"/>
                  </a:lnTo>
                  <a:lnTo>
                    <a:pt x="43840" y="3168346"/>
                  </a:lnTo>
                  <a:lnTo>
                    <a:pt x="30079" y="3129949"/>
                  </a:lnTo>
                  <a:lnTo>
                    <a:pt x="21501" y="3090030"/>
                  </a:lnTo>
                  <a:lnTo>
                    <a:pt x="18271" y="3049103"/>
                  </a:lnTo>
                  <a:lnTo>
                    <a:pt x="20556" y="3007681"/>
                  </a:lnTo>
                  <a:lnTo>
                    <a:pt x="14724" y="2959390"/>
                  </a:lnTo>
                  <a:lnTo>
                    <a:pt x="9907" y="2910893"/>
                  </a:lnTo>
                  <a:lnTo>
                    <a:pt x="6073" y="2862210"/>
                  </a:lnTo>
                  <a:lnTo>
                    <a:pt x="3194" y="2813357"/>
                  </a:lnTo>
                  <a:lnTo>
                    <a:pt x="1242" y="2764356"/>
                  </a:lnTo>
                  <a:lnTo>
                    <a:pt x="187" y="2715223"/>
                  </a:lnTo>
                  <a:lnTo>
                    <a:pt x="0" y="2665979"/>
                  </a:lnTo>
                  <a:lnTo>
                    <a:pt x="651" y="2616642"/>
                  </a:lnTo>
                  <a:lnTo>
                    <a:pt x="2113" y="2567231"/>
                  </a:lnTo>
                  <a:lnTo>
                    <a:pt x="4356" y="2517765"/>
                  </a:lnTo>
                  <a:lnTo>
                    <a:pt x="7350" y="2468262"/>
                  </a:lnTo>
                  <a:lnTo>
                    <a:pt x="11068" y="2418741"/>
                  </a:lnTo>
                  <a:lnTo>
                    <a:pt x="15479" y="2369222"/>
                  </a:lnTo>
                  <a:lnTo>
                    <a:pt x="20556" y="2319722"/>
                  </a:lnTo>
                  <a:lnTo>
                    <a:pt x="25712" y="2266404"/>
                  </a:lnTo>
                  <a:lnTo>
                    <a:pt x="29623" y="2213102"/>
                  </a:lnTo>
                  <a:lnTo>
                    <a:pt x="32394" y="2159920"/>
                  </a:lnTo>
                  <a:lnTo>
                    <a:pt x="34130" y="2106967"/>
                  </a:lnTo>
                  <a:lnTo>
                    <a:pt x="34936" y="2054348"/>
                  </a:lnTo>
                  <a:lnTo>
                    <a:pt x="34919" y="2002170"/>
                  </a:lnTo>
                  <a:lnTo>
                    <a:pt x="34182" y="1950540"/>
                  </a:lnTo>
                  <a:lnTo>
                    <a:pt x="32831" y="1899564"/>
                  </a:lnTo>
                  <a:lnTo>
                    <a:pt x="30972" y="1849348"/>
                  </a:lnTo>
                  <a:lnTo>
                    <a:pt x="28709" y="1800000"/>
                  </a:lnTo>
                  <a:lnTo>
                    <a:pt x="26149" y="1751626"/>
                  </a:lnTo>
                  <a:lnTo>
                    <a:pt x="23396" y="1704332"/>
                  </a:lnTo>
                  <a:lnTo>
                    <a:pt x="20556" y="1658224"/>
                  </a:lnTo>
                  <a:lnTo>
                    <a:pt x="18403" y="1608025"/>
                  </a:lnTo>
                  <a:lnTo>
                    <a:pt x="17873" y="1556327"/>
                  </a:lnTo>
                  <a:lnTo>
                    <a:pt x="18596" y="1503670"/>
                  </a:lnTo>
                  <a:lnTo>
                    <a:pt x="20202" y="1450598"/>
                  </a:lnTo>
                  <a:lnTo>
                    <a:pt x="22323" y="1397653"/>
                  </a:lnTo>
                  <a:lnTo>
                    <a:pt x="24589" y="1345375"/>
                  </a:lnTo>
                  <a:lnTo>
                    <a:pt x="26631" y="1294309"/>
                  </a:lnTo>
                  <a:lnTo>
                    <a:pt x="28080" y="1244994"/>
                  </a:lnTo>
                  <a:lnTo>
                    <a:pt x="28566" y="1197975"/>
                  </a:lnTo>
                  <a:lnTo>
                    <a:pt x="27720" y="1153792"/>
                  </a:lnTo>
                  <a:lnTo>
                    <a:pt x="25173" y="1112988"/>
                  </a:lnTo>
                  <a:lnTo>
                    <a:pt x="20556" y="1076105"/>
                  </a:lnTo>
                  <a:lnTo>
                    <a:pt x="16454" y="1044398"/>
                  </a:lnTo>
                  <a:lnTo>
                    <a:pt x="13899" y="1008962"/>
                  </a:lnTo>
                  <a:lnTo>
                    <a:pt x="12661" y="969984"/>
                  </a:lnTo>
                  <a:lnTo>
                    <a:pt x="12512" y="927656"/>
                  </a:lnTo>
                  <a:lnTo>
                    <a:pt x="13223" y="882165"/>
                  </a:lnTo>
                  <a:lnTo>
                    <a:pt x="14564" y="833702"/>
                  </a:lnTo>
                  <a:lnTo>
                    <a:pt x="16308" y="782455"/>
                  </a:lnTo>
                  <a:lnTo>
                    <a:pt x="18225" y="728614"/>
                  </a:lnTo>
                  <a:lnTo>
                    <a:pt x="20087" y="672368"/>
                  </a:lnTo>
                  <a:lnTo>
                    <a:pt x="21664" y="613906"/>
                  </a:lnTo>
                  <a:lnTo>
                    <a:pt x="22729" y="553418"/>
                  </a:lnTo>
                  <a:lnTo>
                    <a:pt x="23051" y="491092"/>
                  </a:lnTo>
                  <a:lnTo>
                    <a:pt x="22403" y="427118"/>
                  </a:lnTo>
                  <a:lnTo>
                    <a:pt x="20556" y="361686"/>
                  </a:lnTo>
                  <a:close/>
                </a:path>
              </a:pathLst>
            </a:custGeom>
            <a:ln w="25400">
              <a:solidFill>
                <a:srgbClr val="2E60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4031" y="2271217"/>
              <a:ext cx="933982" cy="106056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9247" y="4876800"/>
            <a:ext cx="1298448" cy="1463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Воспроизводимость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3245" y="1233748"/>
            <a:ext cx="5020725" cy="34985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0150" y="1569211"/>
            <a:ext cx="665353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5400" spc="-95" dirty="0" err="1">
                <a:solidFill>
                  <a:srgbClr val="FFFFFF"/>
                </a:solidFill>
              </a:rPr>
              <a:t>В</a:t>
            </a:r>
            <a:r>
              <a:rPr sz="5400" spc="-10" dirty="0" err="1">
                <a:solidFill>
                  <a:srgbClr val="FFFFFF"/>
                </a:solidFill>
              </a:rPr>
              <a:t>оспроизводимость</a:t>
            </a:r>
            <a:endParaRPr sz="5400" dirty="0"/>
          </a:p>
        </p:txBody>
      </p:sp>
    </p:spTree>
    <p:extLst>
      <p:ext uri="{BB962C8B-B14F-4D97-AF65-F5344CB8AC3E}">
        <p14:creationId xmlns:p14="http://schemas.microsoft.com/office/powerpoint/2010/main" val="4251738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9274" y="383031"/>
            <a:ext cx="611949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Подготовим</a:t>
            </a:r>
            <a:r>
              <a:rPr spc="-145" dirty="0"/>
              <a:t> </a:t>
            </a:r>
            <a:r>
              <a:rPr spc="-70" dirty="0"/>
              <a:t>рабочее</a:t>
            </a:r>
            <a:r>
              <a:rPr spc="-135" dirty="0"/>
              <a:t> </a:t>
            </a:r>
            <a:r>
              <a:rPr spc="-20" dirty="0"/>
              <a:t>окружение</a:t>
            </a:r>
          </a:p>
        </p:txBody>
      </p:sp>
      <p:sp>
        <p:nvSpPr>
          <p:cNvPr id="3" name="object 3"/>
          <p:cNvSpPr/>
          <p:nvPr/>
        </p:nvSpPr>
        <p:spPr>
          <a:xfrm>
            <a:off x="495788" y="1953062"/>
            <a:ext cx="7646670" cy="0"/>
          </a:xfrm>
          <a:custGeom>
            <a:avLst/>
            <a:gdLst/>
            <a:ahLst/>
            <a:cxnLst/>
            <a:rect l="l" t="t" r="r" b="b"/>
            <a:pathLst>
              <a:path w="7646670">
                <a:moveTo>
                  <a:pt x="0" y="0"/>
                </a:moveTo>
                <a:lnTo>
                  <a:pt x="7646520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5788" y="2537760"/>
            <a:ext cx="7646670" cy="0"/>
          </a:xfrm>
          <a:custGeom>
            <a:avLst/>
            <a:gdLst/>
            <a:ahLst/>
            <a:cxnLst/>
            <a:rect l="l" t="t" r="r" b="b"/>
            <a:pathLst>
              <a:path w="7646670">
                <a:moveTo>
                  <a:pt x="0" y="0"/>
                </a:moveTo>
                <a:lnTo>
                  <a:pt x="7646520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5788" y="3578833"/>
            <a:ext cx="7646670" cy="0"/>
          </a:xfrm>
          <a:custGeom>
            <a:avLst/>
            <a:gdLst/>
            <a:ahLst/>
            <a:cxnLst/>
            <a:rect l="l" t="t" r="r" b="b"/>
            <a:pathLst>
              <a:path w="7646670">
                <a:moveTo>
                  <a:pt x="0" y="0"/>
                </a:moveTo>
                <a:lnTo>
                  <a:pt x="7646520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850" y="1410208"/>
            <a:ext cx="16954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1.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2182" y="1391919"/>
            <a:ext cx="5439410" cy="4826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dirty="0">
                <a:latin typeface="Arial"/>
                <a:cs typeface="Arial"/>
              </a:rPr>
              <a:t>Сделайте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себе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копию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репозитория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с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которым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мы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будем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работать:</a:t>
            </a: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latin typeface="Courier New"/>
                <a:cs typeface="Courier New"/>
              </a:rPr>
              <a:t>git</a:t>
            </a:r>
            <a:r>
              <a:rPr sz="1300" spc="-5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clone</a:t>
            </a:r>
            <a:r>
              <a:rPr sz="1300" spc="-45" dirty="0">
                <a:latin typeface="Courier New"/>
                <a:cs typeface="Courier New"/>
              </a:rPr>
              <a:t> </a:t>
            </a:r>
            <a:r>
              <a:rPr lang="en-US" sz="1300" spc="-10" dirty="0">
                <a:latin typeface="Courier New"/>
                <a:cs typeface="Courier New"/>
              </a:rPr>
              <a:t>https://</a:t>
            </a:r>
            <a:r>
              <a:rPr lang="en-US" sz="1300" spc="-10" dirty="0" err="1">
                <a:latin typeface="Courier New"/>
                <a:cs typeface="Courier New"/>
              </a:rPr>
              <a:t>github.com</a:t>
            </a:r>
            <a:r>
              <a:rPr lang="en-US" sz="1300" spc="-10" dirty="0">
                <a:latin typeface="Courier New"/>
                <a:cs typeface="Courier New"/>
              </a:rPr>
              <a:t>/</a:t>
            </a:r>
            <a:r>
              <a:rPr lang="en-US" sz="1300" spc="-10" dirty="0" err="1">
                <a:latin typeface="Courier New"/>
                <a:cs typeface="Courier New"/>
              </a:rPr>
              <a:t>stureiko</a:t>
            </a:r>
            <a:r>
              <a:rPr lang="en-US" sz="1300" spc="-10" dirty="0">
                <a:latin typeface="Courier New"/>
                <a:cs typeface="Courier New"/>
              </a:rPr>
              <a:t>/</a:t>
            </a:r>
            <a:r>
              <a:rPr lang="en-US" sz="1300" spc="-10" dirty="0" err="1">
                <a:latin typeface="Courier New"/>
                <a:cs typeface="Courier New"/>
              </a:rPr>
              <a:t>mladv</a:t>
            </a:r>
            <a:r>
              <a:rPr lang="en-US" sz="1300" spc="-10" dirty="0">
                <a:latin typeface="Courier New"/>
                <a:cs typeface="Courier New"/>
              </a:rPr>
              <a:t>-</a:t>
            </a:r>
            <a:r>
              <a:rPr lang="en-US" sz="1300" spc="-10" dirty="0" err="1">
                <a:latin typeface="Courier New"/>
                <a:cs typeface="Courier New"/>
              </a:rPr>
              <a:t>dvc</a:t>
            </a:r>
            <a:r>
              <a:rPr lang="en-US" sz="1300" spc="-10" dirty="0">
                <a:latin typeface="Courier New"/>
                <a:cs typeface="Courier New"/>
              </a:rPr>
              <a:t>-titanic</a:t>
            </a:r>
            <a:endParaRPr sz="13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5850" y="1995423"/>
            <a:ext cx="16954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2.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2182" y="1977136"/>
            <a:ext cx="1994535" cy="4826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dirty="0">
                <a:latin typeface="Arial"/>
                <a:cs typeface="Arial"/>
              </a:rPr>
              <a:t>Перейдите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в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него:</a:t>
            </a: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latin typeface="Courier New"/>
                <a:cs typeface="Courier New"/>
              </a:rPr>
              <a:t>cd</a:t>
            </a:r>
            <a:r>
              <a:rPr sz="1300" spc="-25" dirty="0">
                <a:latin typeface="Courier New"/>
                <a:cs typeface="Courier New"/>
              </a:rPr>
              <a:t> </a:t>
            </a:r>
            <a:r>
              <a:rPr lang="en-US" sz="1300" spc="-10" dirty="0" err="1">
                <a:latin typeface="Courier New"/>
                <a:cs typeface="Courier New"/>
              </a:rPr>
              <a:t>mladv</a:t>
            </a:r>
            <a:r>
              <a:rPr lang="en-US" sz="1300" spc="-10" dirty="0">
                <a:latin typeface="Courier New"/>
                <a:cs typeface="Courier New"/>
              </a:rPr>
              <a:t>-</a:t>
            </a:r>
            <a:r>
              <a:rPr lang="en-US" sz="1300" spc="-10" dirty="0" err="1">
                <a:latin typeface="Courier New"/>
                <a:cs typeface="Courier New"/>
              </a:rPr>
              <a:t>dvc</a:t>
            </a:r>
            <a:r>
              <a:rPr lang="en-US" sz="1300" spc="-10" dirty="0">
                <a:latin typeface="Courier New"/>
                <a:cs typeface="Courier New"/>
              </a:rPr>
              <a:t>-titanic</a:t>
            </a:r>
            <a:endParaRPr sz="13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5850" y="2580639"/>
            <a:ext cx="16954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3.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02182" y="2562352"/>
            <a:ext cx="3864610" cy="9398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dirty="0">
                <a:latin typeface="Arial"/>
                <a:cs typeface="Arial"/>
              </a:rPr>
              <a:t>Создайте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и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активируйте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виртуальное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окружение: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latin typeface="Courier New"/>
                <a:cs typeface="Courier New"/>
              </a:rPr>
              <a:t>python</a:t>
            </a:r>
            <a:r>
              <a:rPr sz="1300" spc="-5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–m</a:t>
            </a:r>
            <a:r>
              <a:rPr sz="1300" spc="-4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venv</a:t>
            </a:r>
            <a:r>
              <a:rPr sz="1300" spc="-4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venv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latin typeface="Courier New"/>
                <a:cs typeface="Courier New"/>
              </a:rPr>
              <a:t>source</a:t>
            </a:r>
            <a:r>
              <a:rPr sz="1300" spc="-10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venv/bin/activate</a:t>
            </a:r>
            <a:r>
              <a:rPr sz="1300" spc="-10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(MacOS,</a:t>
            </a:r>
            <a:r>
              <a:rPr sz="1300" spc="-10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Linux)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spc="-10" dirty="0">
                <a:latin typeface="Courier New"/>
                <a:cs typeface="Courier New"/>
              </a:rPr>
              <a:t>.\venv\Scripts\activate</a:t>
            </a:r>
            <a:r>
              <a:rPr sz="1300" spc="-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(Windows)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9274" y="383031"/>
            <a:ext cx="473837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Установка</a:t>
            </a:r>
            <a:r>
              <a:rPr spc="-80" dirty="0"/>
              <a:t> </a:t>
            </a:r>
            <a:r>
              <a:rPr spc="-10" dirty="0"/>
              <a:t>зависимостей</a:t>
            </a:r>
          </a:p>
        </p:txBody>
      </p:sp>
      <p:sp>
        <p:nvSpPr>
          <p:cNvPr id="3" name="object 3"/>
          <p:cNvSpPr/>
          <p:nvPr/>
        </p:nvSpPr>
        <p:spPr>
          <a:xfrm>
            <a:off x="495788" y="1343116"/>
            <a:ext cx="7646670" cy="0"/>
          </a:xfrm>
          <a:custGeom>
            <a:avLst/>
            <a:gdLst/>
            <a:ahLst/>
            <a:cxnLst/>
            <a:rect l="l" t="t" r="r" b="b"/>
            <a:pathLst>
              <a:path w="7646670">
                <a:moveTo>
                  <a:pt x="0" y="0"/>
                </a:moveTo>
                <a:lnTo>
                  <a:pt x="7646520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5788" y="2156351"/>
            <a:ext cx="7646670" cy="0"/>
          </a:xfrm>
          <a:custGeom>
            <a:avLst/>
            <a:gdLst/>
            <a:ahLst/>
            <a:cxnLst/>
            <a:rect l="l" t="t" r="r" b="b"/>
            <a:pathLst>
              <a:path w="7646670">
                <a:moveTo>
                  <a:pt x="0" y="0"/>
                </a:moveTo>
                <a:lnTo>
                  <a:pt x="7646520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5850" y="1385823"/>
            <a:ext cx="16954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4.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2182" y="1367535"/>
            <a:ext cx="3077210" cy="7112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dirty="0">
                <a:latin typeface="Arial"/>
                <a:cs typeface="Arial"/>
              </a:rPr>
              <a:t>Установите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зависимости</a:t>
            </a: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latin typeface="Courier New"/>
                <a:cs typeface="Courier New"/>
              </a:rPr>
              <a:t>pip</a:t>
            </a:r>
            <a:r>
              <a:rPr sz="1300" spc="-6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install</a:t>
            </a:r>
            <a:r>
              <a:rPr sz="1300" spc="-65" dirty="0">
                <a:latin typeface="Courier New"/>
                <a:cs typeface="Courier New"/>
              </a:rPr>
              <a:t> </a:t>
            </a:r>
            <a:r>
              <a:rPr lang="ru-RU" sz="1300" spc="-65" dirty="0">
                <a:latin typeface="Courier New"/>
                <a:cs typeface="Courier New"/>
              </a:rPr>
              <a:t>--</a:t>
            </a:r>
            <a:r>
              <a:rPr sz="1300" dirty="0">
                <a:latin typeface="Courier New"/>
                <a:cs typeface="Courier New"/>
              </a:rPr>
              <a:t>upgrade</a:t>
            </a:r>
            <a:r>
              <a:rPr sz="1300" spc="-65" dirty="0">
                <a:latin typeface="Courier New"/>
                <a:cs typeface="Courier New"/>
              </a:rPr>
              <a:t> </a:t>
            </a:r>
            <a:r>
              <a:rPr sz="1300" spc="-25" dirty="0">
                <a:latin typeface="Courier New"/>
                <a:cs typeface="Courier New"/>
              </a:rPr>
              <a:t>pip</a:t>
            </a:r>
            <a:endParaRPr sz="13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latin typeface="Courier New"/>
                <a:cs typeface="Courier New"/>
              </a:rPr>
              <a:t>pip</a:t>
            </a:r>
            <a:r>
              <a:rPr sz="1300" spc="-4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install</a:t>
            </a:r>
            <a:r>
              <a:rPr sz="1300" spc="-4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–r</a:t>
            </a:r>
            <a:r>
              <a:rPr sz="1300" spc="-4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requirements.txt</a:t>
            </a:r>
            <a:endParaRPr sz="13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9274" y="383031"/>
            <a:ext cx="8412326" cy="9669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dirty="0"/>
              <a:t>Подгрузим данные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ru-RU" dirty="0"/>
              <a:t> запустим эксперимент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495788" y="1657350"/>
            <a:ext cx="7646670" cy="0"/>
          </a:xfrm>
          <a:custGeom>
            <a:avLst/>
            <a:gdLst/>
            <a:ahLst/>
            <a:cxnLst/>
            <a:rect l="l" t="t" r="r" b="b"/>
            <a:pathLst>
              <a:path w="7646670">
                <a:moveTo>
                  <a:pt x="0" y="0"/>
                </a:moveTo>
                <a:lnTo>
                  <a:pt x="7646520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5788" y="2470585"/>
            <a:ext cx="7646670" cy="0"/>
          </a:xfrm>
          <a:custGeom>
            <a:avLst/>
            <a:gdLst/>
            <a:ahLst/>
            <a:cxnLst/>
            <a:rect l="l" t="t" r="r" b="b"/>
            <a:pathLst>
              <a:path w="7646670">
                <a:moveTo>
                  <a:pt x="0" y="0"/>
                </a:moveTo>
                <a:lnTo>
                  <a:pt x="7646520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5850" y="1700057"/>
            <a:ext cx="16954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5</a:t>
            </a:r>
            <a:r>
              <a:rPr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.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2182" y="1681769"/>
            <a:ext cx="3077210" cy="46935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ru-RU" sz="1300" dirty="0">
                <a:latin typeface="Arial"/>
                <a:cs typeface="Arial"/>
              </a:rPr>
              <a:t>Загрузка данных</a:t>
            </a: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lang="ru-RU" sz="1300" dirty="0" err="1">
                <a:latin typeface="Courier New"/>
                <a:cs typeface="Courier New"/>
              </a:rPr>
              <a:t>d</a:t>
            </a:r>
            <a:r>
              <a:rPr lang="en-US" sz="1300" dirty="0" err="1">
                <a:latin typeface="Courier New"/>
                <a:cs typeface="Courier New"/>
              </a:rPr>
              <a:t>vc</a:t>
            </a:r>
            <a:r>
              <a:rPr lang="en-US" sz="1300" dirty="0">
                <a:latin typeface="Courier New"/>
                <a:cs typeface="Courier New"/>
              </a:rPr>
              <a:t> pull</a:t>
            </a:r>
            <a:endParaRPr sz="1300" dirty="0">
              <a:latin typeface="Courier New"/>
              <a:cs typeface="Courier New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620C6489-3971-C440-BEA8-A85E7AED22E1}"/>
              </a:ext>
            </a:extLst>
          </p:cNvPr>
          <p:cNvSpPr/>
          <p:nvPr/>
        </p:nvSpPr>
        <p:spPr>
          <a:xfrm>
            <a:off x="496925" y="2469197"/>
            <a:ext cx="7646670" cy="0"/>
          </a:xfrm>
          <a:custGeom>
            <a:avLst/>
            <a:gdLst/>
            <a:ahLst/>
            <a:cxnLst/>
            <a:rect l="l" t="t" r="r" b="b"/>
            <a:pathLst>
              <a:path w="7646670">
                <a:moveTo>
                  <a:pt x="0" y="0"/>
                </a:moveTo>
                <a:lnTo>
                  <a:pt x="7646520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6CD96FD-5F23-8C47-9D75-63789554EBDC}"/>
              </a:ext>
            </a:extLst>
          </p:cNvPr>
          <p:cNvSpPr/>
          <p:nvPr/>
        </p:nvSpPr>
        <p:spPr>
          <a:xfrm>
            <a:off x="496925" y="3282432"/>
            <a:ext cx="7646670" cy="0"/>
          </a:xfrm>
          <a:custGeom>
            <a:avLst/>
            <a:gdLst/>
            <a:ahLst/>
            <a:cxnLst/>
            <a:rect l="l" t="t" r="r" b="b"/>
            <a:pathLst>
              <a:path w="7646670">
                <a:moveTo>
                  <a:pt x="0" y="0"/>
                </a:moveTo>
                <a:lnTo>
                  <a:pt x="7646520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1580E6FE-1A83-8747-A610-58987E97ABDE}"/>
              </a:ext>
            </a:extLst>
          </p:cNvPr>
          <p:cNvSpPr txBox="1"/>
          <p:nvPr/>
        </p:nvSpPr>
        <p:spPr>
          <a:xfrm>
            <a:off x="686987" y="2511904"/>
            <a:ext cx="16954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6</a:t>
            </a:r>
            <a:r>
              <a:rPr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.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4A746B5E-CEE6-BB42-8DD8-2E596BBCBF33}"/>
              </a:ext>
            </a:extLst>
          </p:cNvPr>
          <p:cNvSpPr txBox="1"/>
          <p:nvPr/>
        </p:nvSpPr>
        <p:spPr>
          <a:xfrm>
            <a:off x="1203319" y="2493616"/>
            <a:ext cx="3077210" cy="46935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ru-RU" sz="1300" dirty="0">
                <a:latin typeface="Arial"/>
                <a:cs typeface="Arial"/>
              </a:rPr>
              <a:t>Запуск </a:t>
            </a:r>
            <a:r>
              <a:rPr lang="ru-RU" sz="1300" dirty="0" err="1">
                <a:latin typeface="Arial"/>
                <a:cs typeface="Arial"/>
              </a:rPr>
              <a:t>эесперимента</a:t>
            </a: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lang="ru-RU" sz="1300" dirty="0" err="1">
                <a:latin typeface="Courier New"/>
                <a:cs typeface="Courier New"/>
              </a:rPr>
              <a:t>d</a:t>
            </a:r>
            <a:r>
              <a:rPr lang="en-US" sz="1300" dirty="0" err="1">
                <a:latin typeface="Courier New"/>
                <a:cs typeface="Courier New"/>
              </a:rPr>
              <a:t>vc</a:t>
            </a:r>
            <a:r>
              <a:rPr lang="en-US" sz="1300" dirty="0">
                <a:latin typeface="Courier New"/>
                <a:cs typeface="Courier New"/>
              </a:rPr>
              <a:t> repro</a:t>
            </a:r>
            <a:endParaRPr sz="13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066884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0150" y="1569211"/>
            <a:ext cx="665353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5400" spc="-95" dirty="0" err="1">
                <a:solidFill>
                  <a:srgbClr val="FFFFFF"/>
                </a:solidFill>
              </a:rPr>
              <a:t>В</a:t>
            </a:r>
            <a:r>
              <a:rPr lang="en-US" sz="5400" spc="-10" dirty="0" err="1">
                <a:solidFill>
                  <a:srgbClr val="FFFFFF"/>
                </a:solidFill>
              </a:rPr>
              <a:t>е</a:t>
            </a:r>
            <a:r>
              <a:rPr lang="ru-RU" sz="5400" spc="-10" dirty="0" err="1">
                <a:solidFill>
                  <a:srgbClr val="FFFFFF"/>
                </a:solidFill>
              </a:rPr>
              <a:t>рсионирование</a:t>
            </a:r>
            <a:endParaRPr sz="5400" dirty="0"/>
          </a:p>
        </p:txBody>
      </p:sp>
    </p:spTree>
    <p:extLst>
      <p:ext uri="{BB962C8B-B14F-4D97-AF65-F5344CB8AC3E}">
        <p14:creationId xmlns:p14="http://schemas.microsoft.com/office/powerpoint/2010/main" val="3306418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9274" y="383031"/>
            <a:ext cx="611949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Подготовим</a:t>
            </a:r>
            <a:r>
              <a:rPr spc="-145" dirty="0"/>
              <a:t> </a:t>
            </a:r>
            <a:r>
              <a:rPr spc="-70" dirty="0"/>
              <a:t>рабочее</a:t>
            </a:r>
            <a:r>
              <a:rPr spc="-135" dirty="0"/>
              <a:t> </a:t>
            </a:r>
            <a:r>
              <a:rPr spc="-20" dirty="0"/>
              <a:t>окружение</a:t>
            </a:r>
          </a:p>
        </p:txBody>
      </p:sp>
      <p:sp>
        <p:nvSpPr>
          <p:cNvPr id="3" name="object 3"/>
          <p:cNvSpPr/>
          <p:nvPr/>
        </p:nvSpPr>
        <p:spPr>
          <a:xfrm>
            <a:off x="495788" y="1953062"/>
            <a:ext cx="7646670" cy="0"/>
          </a:xfrm>
          <a:custGeom>
            <a:avLst/>
            <a:gdLst/>
            <a:ahLst/>
            <a:cxnLst/>
            <a:rect l="l" t="t" r="r" b="b"/>
            <a:pathLst>
              <a:path w="7646670">
                <a:moveTo>
                  <a:pt x="0" y="0"/>
                </a:moveTo>
                <a:lnTo>
                  <a:pt x="7646520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5788" y="2537760"/>
            <a:ext cx="7646670" cy="0"/>
          </a:xfrm>
          <a:custGeom>
            <a:avLst/>
            <a:gdLst/>
            <a:ahLst/>
            <a:cxnLst/>
            <a:rect l="l" t="t" r="r" b="b"/>
            <a:pathLst>
              <a:path w="7646670">
                <a:moveTo>
                  <a:pt x="0" y="0"/>
                </a:moveTo>
                <a:lnTo>
                  <a:pt x="7646520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5788" y="3578833"/>
            <a:ext cx="7646670" cy="0"/>
          </a:xfrm>
          <a:custGeom>
            <a:avLst/>
            <a:gdLst/>
            <a:ahLst/>
            <a:cxnLst/>
            <a:rect l="l" t="t" r="r" b="b"/>
            <a:pathLst>
              <a:path w="7646670">
                <a:moveTo>
                  <a:pt x="0" y="0"/>
                </a:moveTo>
                <a:lnTo>
                  <a:pt x="7646520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850" y="1410208"/>
            <a:ext cx="16954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1.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2182" y="1391919"/>
            <a:ext cx="5439410" cy="4826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dirty="0" err="1">
                <a:latin typeface="Arial"/>
                <a:cs typeface="Arial"/>
              </a:rPr>
              <a:t>С</a:t>
            </a:r>
            <a:r>
              <a:rPr lang="ru-RU" sz="1300" dirty="0" err="1">
                <a:latin typeface="Arial"/>
                <a:cs typeface="Arial"/>
              </a:rPr>
              <a:t>оздадим</a:t>
            </a:r>
            <a:r>
              <a:rPr lang="ru-RU" sz="1300" dirty="0">
                <a:latin typeface="Arial"/>
                <a:cs typeface="Arial"/>
              </a:rPr>
              <a:t> какой-то эксперимент</a:t>
            </a: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lang="en-US" sz="1300" spc="-10" dirty="0" err="1">
                <a:latin typeface="Courier New"/>
                <a:cs typeface="Courier New"/>
              </a:rPr>
              <a:t>mkdir</a:t>
            </a:r>
            <a:r>
              <a:rPr lang="en-US" sz="1300" spc="-10" dirty="0">
                <a:latin typeface="Courier New"/>
                <a:cs typeface="Courier New"/>
              </a:rPr>
              <a:t> </a:t>
            </a:r>
            <a:r>
              <a:rPr lang="en-US" sz="1300" spc="-10" dirty="0" err="1">
                <a:latin typeface="Courier New"/>
                <a:cs typeface="Courier New"/>
              </a:rPr>
              <a:t>mladv</a:t>
            </a:r>
            <a:r>
              <a:rPr lang="en-US" sz="1300" spc="-10" dirty="0">
                <a:latin typeface="Courier New"/>
                <a:cs typeface="Courier New"/>
              </a:rPr>
              <a:t>-</a:t>
            </a:r>
            <a:r>
              <a:rPr lang="en-US" sz="1300" spc="-10" dirty="0" err="1">
                <a:latin typeface="Courier New"/>
                <a:cs typeface="Courier New"/>
              </a:rPr>
              <a:t>dvc</a:t>
            </a:r>
            <a:r>
              <a:rPr lang="en-US" sz="1300" spc="-10" dirty="0">
                <a:latin typeface="Courier New"/>
                <a:cs typeface="Courier New"/>
              </a:rPr>
              <a:t>-titanic</a:t>
            </a:r>
            <a:endParaRPr sz="13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5850" y="1995423"/>
            <a:ext cx="16954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2.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2182" y="1977136"/>
            <a:ext cx="1994535" cy="4826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ru-RU" sz="1300" dirty="0">
                <a:latin typeface="Arial"/>
                <a:cs typeface="Arial"/>
              </a:rPr>
              <a:t>Перейдите</a:t>
            </a:r>
            <a:r>
              <a:rPr lang="ru-RU" sz="1300" spc="-35" dirty="0">
                <a:latin typeface="Arial"/>
                <a:cs typeface="Arial"/>
              </a:rPr>
              <a:t> </a:t>
            </a:r>
            <a:r>
              <a:rPr lang="ru-RU" sz="1300" dirty="0">
                <a:latin typeface="Arial"/>
                <a:cs typeface="Arial"/>
              </a:rPr>
              <a:t>в</a:t>
            </a:r>
            <a:r>
              <a:rPr lang="ru-RU" sz="1300" spc="-35" dirty="0">
                <a:latin typeface="Arial"/>
                <a:cs typeface="Arial"/>
              </a:rPr>
              <a:t> </a:t>
            </a:r>
            <a:r>
              <a:rPr lang="ru-RU" sz="1300" spc="-20" dirty="0">
                <a:latin typeface="Arial"/>
                <a:cs typeface="Arial"/>
              </a:rPr>
              <a:t>него</a:t>
            </a:r>
            <a:r>
              <a:rPr sz="1300" spc="-20" dirty="0">
                <a:latin typeface="Arial"/>
                <a:cs typeface="Arial"/>
              </a:rPr>
              <a:t>:</a:t>
            </a: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latin typeface="Courier New"/>
                <a:cs typeface="Courier New"/>
              </a:rPr>
              <a:t>cd</a:t>
            </a:r>
            <a:r>
              <a:rPr sz="1300" spc="-25" dirty="0">
                <a:latin typeface="Courier New"/>
                <a:cs typeface="Courier New"/>
              </a:rPr>
              <a:t> </a:t>
            </a:r>
            <a:r>
              <a:rPr lang="en-US" sz="1300" spc="-10" dirty="0" err="1">
                <a:latin typeface="Courier New"/>
                <a:cs typeface="Courier New"/>
              </a:rPr>
              <a:t>mladv</a:t>
            </a:r>
            <a:r>
              <a:rPr lang="en-US" sz="1300" spc="-10" dirty="0">
                <a:latin typeface="Courier New"/>
                <a:cs typeface="Courier New"/>
              </a:rPr>
              <a:t>-</a:t>
            </a:r>
            <a:r>
              <a:rPr lang="en-US" sz="1300" spc="-10" dirty="0" err="1">
                <a:latin typeface="Courier New"/>
                <a:cs typeface="Courier New"/>
              </a:rPr>
              <a:t>dvc</a:t>
            </a:r>
            <a:r>
              <a:rPr lang="en-US" sz="1300" spc="-10" dirty="0">
                <a:latin typeface="Courier New"/>
                <a:cs typeface="Courier New"/>
              </a:rPr>
              <a:t>-titanic</a:t>
            </a:r>
            <a:endParaRPr sz="13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5850" y="2580639"/>
            <a:ext cx="16954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3.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02182" y="2562352"/>
            <a:ext cx="3864610" cy="9398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dirty="0">
                <a:latin typeface="Arial"/>
                <a:cs typeface="Arial"/>
              </a:rPr>
              <a:t>Создайте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и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активируйте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виртуальное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окружение: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latin typeface="Courier New"/>
                <a:cs typeface="Courier New"/>
              </a:rPr>
              <a:t>python</a:t>
            </a:r>
            <a:r>
              <a:rPr sz="1300" spc="-5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–m</a:t>
            </a:r>
            <a:r>
              <a:rPr sz="1300" spc="-4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venv</a:t>
            </a:r>
            <a:r>
              <a:rPr sz="1300" spc="-4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venv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latin typeface="Courier New"/>
                <a:cs typeface="Courier New"/>
              </a:rPr>
              <a:t>source</a:t>
            </a:r>
            <a:r>
              <a:rPr sz="1300" spc="-10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venv/bin/activate</a:t>
            </a:r>
            <a:r>
              <a:rPr sz="1300" spc="-10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(MacOS,</a:t>
            </a:r>
            <a:r>
              <a:rPr sz="1300" spc="-10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Linux)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spc="-10" dirty="0">
                <a:latin typeface="Courier New"/>
                <a:cs typeface="Courier New"/>
              </a:rPr>
              <a:t>.\venv\Scripts\activate</a:t>
            </a:r>
            <a:r>
              <a:rPr sz="1300" spc="-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(Windows)</a:t>
            </a:r>
            <a:endParaRPr sz="1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98448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9274" y="383031"/>
            <a:ext cx="473837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Установка</a:t>
            </a:r>
            <a:r>
              <a:rPr spc="-80" dirty="0"/>
              <a:t> </a:t>
            </a:r>
            <a:r>
              <a:rPr spc="-10" dirty="0"/>
              <a:t>зависимостей</a:t>
            </a:r>
          </a:p>
        </p:txBody>
      </p:sp>
      <p:sp>
        <p:nvSpPr>
          <p:cNvPr id="3" name="object 3"/>
          <p:cNvSpPr/>
          <p:nvPr/>
        </p:nvSpPr>
        <p:spPr>
          <a:xfrm>
            <a:off x="495788" y="1343116"/>
            <a:ext cx="7646670" cy="0"/>
          </a:xfrm>
          <a:custGeom>
            <a:avLst/>
            <a:gdLst/>
            <a:ahLst/>
            <a:cxnLst/>
            <a:rect l="l" t="t" r="r" b="b"/>
            <a:pathLst>
              <a:path w="7646670">
                <a:moveTo>
                  <a:pt x="0" y="0"/>
                </a:moveTo>
                <a:lnTo>
                  <a:pt x="7646520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5788" y="2156351"/>
            <a:ext cx="7646670" cy="0"/>
          </a:xfrm>
          <a:custGeom>
            <a:avLst/>
            <a:gdLst/>
            <a:ahLst/>
            <a:cxnLst/>
            <a:rect l="l" t="t" r="r" b="b"/>
            <a:pathLst>
              <a:path w="7646670">
                <a:moveTo>
                  <a:pt x="0" y="0"/>
                </a:moveTo>
                <a:lnTo>
                  <a:pt x="7646520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5850" y="1385823"/>
            <a:ext cx="16954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4.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2182" y="1367535"/>
            <a:ext cx="3077210" cy="7112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dirty="0">
                <a:latin typeface="Arial"/>
                <a:cs typeface="Arial"/>
              </a:rPr>
              <a:t>Установите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зависимости</a:t>
            </a: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latin typeface="Courier New"/>
                <a:cs typeface="Courier New"/>
              </a:rPr>
              <a:t>pip</a:t>
            </a:r>
            <a:r>
              <a:rPr sz="1300" spc="-6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install</a:t>
            </a:r>
            <a:r>
              <a:rPr sz="1300" spc="-65" dirty="0">
                <a:latin typeface="Courier New"/>
                <a:cs typeface="Courier New"/>
              </a:rPr>
              <a:t> </a:t>
            </a:r>
            <a:r>
              <a:rPr lang="ru-RU" sz="1300" spc="-65" dirty="0">
                <a:latin typeface="Courier New"/>
                <a:cs typeface="Courier New"/>
              </a:rPr>
              <a:t>--</a:t>
            </a:r>
            <a:r>
              <a:rPr sz="1300" dirty="0">
                <a:latin typeface="Courier New"/>
                <a:cs typeface="Courier New"/>
              </a:rPr>
              <a:t>upgrade</a:t>
            </a:r>
            <a:r>
              <a:rPr sz="1300" spc="-65" dirty="0">
                <a:latin typeface="Courier New"/>
                <a:cs typeface="Courier New"/>
              </a:rPr>
              <a:t> </a:t>
            </a:r>
            <a:r>
              <a:rPr sz="1300" spc="-25" dirty="0">
                <a:latin typeface="Courier New"/>
                <a:cs typeface="Courier New"/>
              </a:rPr>
              <a:t>pip</a:t>
            </a:r>
            <a:endParaRPr sz="13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latin typeface="Courier New"/>
                <a:cs typeface="Courier New"/>
              </a:rPr>
              <a:t>pip</a:t>
            </a:r>
            <a:r>
              <a:rPr sz="1300" spc="-4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install</a:t>
            </a:r>
            <a:r>
              <a:rPr sz="1300" spc="-4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–r</a:t>
            </a:r>
            <a:r>
              <a:rPr sz="1300" spc="-4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requirements.txt</a:t>
            </a:r>
            <a:endParaRPr sz="1300" dirty="0">
              <a:latin typeface="Courier New"/>
              <a:cs typeface="Courier New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489416C1-CDAD-B242-BA34-461E9B903E36}"/>
              </a:ext>
            </a:extLst>
          </p:cNvPr>
          <p:cNvSpPr/>
          <p:nvPr/>
        </p:nvSpPr>
        <p:spPr>
          <a:xfrm>
            <a:off x="495788" y="2156351"/>
            <a:ext cx="7646670" cy="0"/>
          </a:xfrm>
          <a:custGeom>
            <a:avLst/>
            <a:gdLst/>
            <a:ahLst/>
            <a:cxnLst/>
            <a:rect l="l" t="t" r="r" b="b"/>
            <a:pathLst>
              <a:path w="7646670">
                <a:moveTo>
                  <a:pt x="0" y="0"/>
                </a:moveTo>
                <a:lnTo>
                  <a:pt x="7646520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F96A83D-658C-2A45-81EA-AD85E63B09BC}"/>
              </a:ext>
            </a:extLst>
          </p:cNvPr>
          <p:cNvSpPr/>
          <p:nvPr/>
        </p:nvSpPr>
        <p:spPr>
          <a:xfrm>
            <a:off x="495788" y="4019550"/>
            <a:ext cx="7646670" cy="0"/>
          </a:xfrm>
          <a:custGeom>
            <a:avLst/>
            <a:gdLst/>
            <a:ahLst/>
            <a:cxnLst/>
            <a:rect l="l" t="t" r="r" b="b"/>
            <a:pathLst>
              <a:path w="7646670">
                <a:moveTo>
                  <a:pt x="0" y="0"/>
                </a:moveTo>
                <a:lnTo>
                  <a:pt x="7646520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C5780F76-18A2-CB48-BB7B-7490C472FA83}"/>
              </a:ext>
            </a:extLst>
          </p:cNvPr>
          <p:cNvSpPr txBox="1"/>
          <p:nvPr/>
        </p:nvSpPr>
        <p:spPr>
          <a:xfrm>
            <a:off x="685850" y="2199058"/>
            <a:ext cx="16954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5</a:t>
            </a:r>
            <a:r>
              <a:rPr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.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80C02F45-8DEC-0E48-9D62-3791C9003831}"/>
              </a:ext>
            </a:extLst>
          </p:cNvPr>
          <p:cNvSpPr txBox="1"/>
          <p:nvPr/>
        </p:nvSpPr>
        <p:spPr>
          <a:xfrm>
            <a:off x="1202182" y="2180770"/>
            <a:ext cx="6940276" cy="1597873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ru-RU" sz="1300" dirty="0">
                <a:latin typeface="Arial"/>
                <a:cs typeface="Arial"/>
              </a:rPr>
              <a:t>Инициализация репозитория</a:t>
            </a: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lang="en-US" sz="1300" dirty="0">
                <a:latin typeface="Courier New"/>
                <a:cs typeface="Courier New"/>
              </a:rPr>
              <a:t>git </a:t>
            </a:r>
            <a:r>
              <a:rPr lang="en-US" sz="1300" dirty="0" err="1">
                <a:latin typeface="Courier New"/>
                <a:cs typeface="Courier New"/>
              </a:rPr>
              <a:t>init</a:t>
            </a:r>
            <a:endParaRPr lang="en-US" sz="13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lang="en-US" sz="1300" dirty="0">
                <a:latin typeface="Courier New"/>
                <a:cs typeface="Courier New"/>
              </a:rPr>
              <a:t>git add </a:t>
            </a:r>
            <a:r>
              <a:rPr lang="en-US" sz="1300" dirty="0" err="1">
                <a:latin typeface="Courier New"/>
                <a:cs typeface="Courier New"/>
              </a:rPr>
              <a:t>requirements.txt</a:t>
            </a:r>
            <a:endParaRPr lang="en-US" sz="13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lang="en-US" sz="1300" dirty="0">
                <a:latin typeface="Courier New"/>
                <a:cs typeface="Courier New"/>
              </a:rPr>
              <a:t>git commit -m "first commit"</a:t>
            </a: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lang="en-US" sz="1300" dirty="0">
                <a:latin typeface="Courier New"/>
                <a:cs typeface="Courier New"/>
              </a:rPr>
              <a:t>git branch -M main</a:t>
            </a: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lang="en-US" sz="1300" dirty="0">
                <a:latin typeface="Courier New"/>
                <a:cs typeface="Courier New"/>
              </a:rPr>
              <a:t>git remote add origin </a:t>
            </a:r>
            <a:r>
              <a:rPr lang="en-US" sz="1300" dirty="0" err="1">
                <a:latin typeface="Courier New"/>
                <a:cs typeface="Courier New"/>
              </a:rPr>
              <a:t>git@github.com</a:t>
            </a:r>
            <a:r>
              <a:rPr lang="en-US" sz="1300" dirty="0">
                <a:latin typeface="Courier New"/>
                <a:cs typeface="Courier New"/>
              </a:rPr>
              <a:t>:</a:t>
            </a:r>
            <a:r>
              <a:rPr lang="ru-RU" sz="1300" dirty="0">
                <a:latin typeface="Courier New"/>
                <a:cs typeface="Courier New"/>
              </a:rPr>
              <a:t>&lt;</a:t>
            </a:r>
            <a:r>
              <a:rPr lang="en-US" sz="1300" dirty="0" err="1">
                <a:latin typeface="Courier New"/>
                <a:cs typeface="Courier New"/>
              </a:rPr>
              <a:t>user_name</a:t>
            </a:r>
            <a:r>
              <a:rPr lang="en-US" sz="1300" dirty="0">
                <a:latin typeface="Courier New"/>
                <a:cs typeface="Courier New"/>
              </a:rPr>
              <a:t>&gt;/&lt;your-repo-name&gt;.git</a:t>
            </a: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lang="en-US" sz="1300" dirty="0">
                <a:latin typeface="Courier New"/>
                <a:cs typeface="Courier New"/>
              </a:rPr>
              <a:t>git push -u origin main</a:t>
            </a:r>
          </a:p>
        </p:txBody>
      </p:sp>
    </p:spTree>
    <p:extLst>
      <p:ext uri="{BB962C8B-B14F-4D97-AF65-F5344CB8AC3E}">
        <p14:creationId xmlns:p14="http://schemas.microsoft.com/office/powerpoint/2010/main" val="1712499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Подключим</a:t>
            </a:r>
            <a:r>
              <a:rPr spc="-114" dirty="0"/>
              <a:t> </a:t>
            </a:r>
            <a:r>
              <a:rPr spc="135" dirty="0"/>
              <a:t>S3</a:t>
            </a:r>
            <a:r>
              <a:rPr spc="-120" dirty="0"/>
              <a:t> </a:t>
            </a:r>
            <a:r>
              <a:rPr spc="-60" dirty="0"/>
              <a:t>bucket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2329894"/>
            <a:ext cx="8364855" cy="0"/>
          </a:xfrm>
          <a:custGeom>
            <a:avLst/>
            <a:gdLst/>
            <a:ahLst/>
            <a:cxnLst/>
            <a:rect l="l" t="t" r="r" b="b"/>
            <a:pathLst>
              <a:path w="8364855">
                <a:moveTo>
                  <a:pt x="0" y="0"/>
                </a:moveTo>
                <a:lnTo>
                  <a:pt x="8364539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200" y="3142430"/>
            <a:ext cx="8364855" cy="0"/>
          </a:xfrm>
          <a:custGeom>
            <a:avLst/>
            <a:gdLst/>
            <a:ahLst/>
            <a:cxnLst/>
            <a:rect l="l" t="t" r="r" b="b"/>
            <a:pathLst>
              <a:path w="8364855">
                <a:moveTo>
                  <a:pt x="0" y="0"/>
                </a:moveTo>
                <a:lnTo>
                  <a:pt x="8364539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3487987"/>
            <a:ext cx="8364855" cy="0"/>
          </a:xfrm>
          <a:custGeom>
            <a:avLst/>
            <a:gdLst/>
            <a:ahLst/>
            <a:cxnLst/>
            <a:rect l="l" t="t" r="r" b="b"/>
            <a:pathLst>
              <a:path w="8364855">
                <a:moveTo>
                  <a:pt x="0" y="0"/>
                </a:moveTo>
                <a:lnTo>
                  <a:pt x="8364539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" y="3833544"/>
            <a:ext cx="8364855" cy="0"/>
          </a:xfrm>
          <a:custGeom>
            <a:avLst/>
            <a:gdLst/>
            <a:ahLst/>
            <a:cxnLst/>
            <a:rect l="l" t="t" r="r" b="b"/>
            <a:pathLst>
              <a:path w="8364855">
                <a:moveTo>
                  <a:pt x="0" y="0"/>
                </a:moveTo>
                <a:lnTo>
                  <a:pt x="8364539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7200" y="4179101"/>
            <a:ext cx="8364855" cy="0"/>
          </a:xfrm>
          <a:custGeom>
            <a:avLst/>
            <a:gdLst/>
            <a:ahLst/>
            <a:cxnLst/>
            <a:rect l="l" t="t" r="r" b="b"/>
            <a:pathLst>
              <a:path w="8364855">
                <a:moveTo>
                  <a:pt x="0" y="0"/>
                </a:moveTo>
                <a:lnTo>
                  <a:pt x="8364539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7263" y="2026880"/>
            <a:ext cx="16891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7</a:t>
            </a:r>
            <a:r>
              <a:rPr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.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2140" y="2039072"/>
            <a:ext cx="4011929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Arial"/>
                <a:cs typeface="Arial"/>
              </a:rPr>
              <a:t>Создадим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S3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bucket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на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Yandex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cloud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ObjectStorage: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7263" y="2374351"/>
            <a:ext cx="16891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8</a:t>
            </a:r>
            <a:r>
              <a:rPr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.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2140" y="2356064"/>
            <a:ext cx="7112634" cy="7112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dirty="0">
                <a:latin typeface="Arial"/>
                <a:cs typeface="Arial"/>
              </a:rPr>
              <a:t>Настроим</a:t>
            </a:r>
            <a:r>
              <a:rPr sz="1300" spc="-2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доступ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dvc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remote: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latin typeface="Courier New"/>
                <a:cs typeface="Courier New"/>
              </a:rPr>
              <a:t>dvc</a:t>
            </a:r>
            <a:r>
              <a:rPr sz="1300" spc="-6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remote</a:t>
            </a:r>
            <a:r>
              <a:rPr sz="1300" spc="-4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add</a:t>
            </a:r>
            <a:r>
              <a:rPr sz="1300" spc="-5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otus-</a:t>
            </a:r>
            <a:r>
              <a:rPr sz="1300" dirty="0">
                <a:latin typeface="Courier New"/>
                <a:cs typeface="Courier New"/>
              </a:rPr>
              <a:t>mlops</a:t>
            </a:r>
            <a:r>
              <a:rPr sz="1300" spc="-4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s3://otus-mlops/dvcstore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latin typeface="Courier New"/>
                <a:cs typeface="Courier New"/>
              </a:rPr>
              <a:t>dvc</a:t>
            </a:r>
            <a:r>
              <a:rPr sz="1300" spc="-7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remote</a:t>
            </a:r>
            <a:r>
              <a:rPr sz="1300" spc="-6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modify</a:t>
            </a:r>
            <a:r>
              <a:rPr sz="1300" spc="-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otus-</a:t>
            </a:r>
            <a:r>
              <a:rPr sz="1300" dirty="0">
                <a:latin typeface="Courier New"/>
                <a:cs typeface="Courier New"/>
              </a:rPr>
              <a:t>mlops</a:t>
            </a:r>
            <a:r>
              <a:rPr sz="1300" spc="-6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endpointurl</a:t>
            </a:r>
            <a:r>
              <a:rPr sz="1300" spc="-6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https://storage.yandexcloud.net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7263" y="3185120"/>
            <a:ext cx="16954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9</a:t>
            </a:r>
            <a:r>
              <a:rPr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.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12140" y="3197311"/>
            <a:ext cx="226314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Arial"/>
                <a:cs typeface="Arial"/>
              </a:rPr>
              <a:t>Создайте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сервисный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аккаунт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7262" y="3532592"/>
            <a:ext cx="26479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10</a:t>
            </a:r>
            <a:r>
              <a:rPr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.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12140" y="3544783"/>
            <a:ext cx="466852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Arial"/>
                <a:cs typeface="Arial"/>
              </a:rPr>
              <a:t>Добавить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права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сервисному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аккаунту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для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работы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с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бакетом</a:t>
            </a:r>
            <a:endParaRPr sz="1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7262" y="3877016"/>
            <a:ext cx="304752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11</a:t>
            </a:r>
            <a:r>
              <a:rPr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.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12140" y="3889207"/>
            <a:ext cx="174625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Arial"/>
                <a:cs typeface="Arial"/>
              </a:rPr>
              <a:t>Создать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ключ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доступа</a:t>
            </a:r>
            <a:endParaRPr sz="1300">
              <a:latin typeface="Arial"/>
              <a:cs typeface="Arial"/>
            </a:endParaRP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7894FC94-5656-564F-98BB-FB3153AAEA33}"/>
              </a:ext>
            </a:extLst>
          </p:cNvPr>
          <p:cNvSpPr/>
          <p:nvPr/>
        </p:nvSpPr>
        <p:spPr>
          <a:xfrm>
            <a:off x="457200" y="1886260"/>
            <a:ext cx="8364855" cy="0"/>
          </a:xfrm>
          <a:custGeom>
            <a:avLst/>
            <a:gdLst/>
            <a:ahLst/>
            <a:cxnLst/>
            <a:rect l="l" t="t" r="r" b="b"/>
            <a:pathLst>
              <a:path w="8364855">
                <a:moveTo>
                  <a:pt x="0" y="0"/>
                </a:moveTo>
                <a:lnTo>
                  <a:pt x="8364539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6">
            <a:extLst>
              <a:ext uri="{FF2B5EF4-FFF2-40B4-BE49-F238E27FC236}">
                <a16:creationId xmlns:a16="http://schemas.microsoft.com/office/drawing/2014/main" id="{E8A6CA3F-A00D-1A46-9919-660D1F5893E1}"/>
              </a:ext>
            </a:extLst>
          </p:cNvPr>
          <p:cNvSpPr txBox="1"/>
          <p:nvPr/>
        </p:nvSpPr>
        <p:spPr>
          <a:xfrm>
            <a:off x="647263" y="1421947"/>
            <a:ext cx="26479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300" b="1" spc="-30" dirty="0">
                <a:solidFill>
                  <a:srgbClr val="FF9900"/>
                </a:solidFill>
                <a:latin typeface="Trebuchet MS"/>
                <a:cs typeface="Trebuchet MS"/>
              </a:rPr>
              <a:t>6</a:t>
            </a:r>
            <a:r>
              <a:rPr sz="1300" b="1" spc="-30" dirty="0">
                <a:solidFill>
                  <a:srgbClr val="FF9900"/>
                </a:solidFill>
                <a:latin typeface="Trebuchet MS"/>
                <a:cs typeface="Trebuchet MS"/>
              </a:rPr>
              <a:t>.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20" name="object 7">
            <a:extLst>
              <a:ext uri="{FF2B5EF4-FFF2-40B4-BE49-F238E27FC236}">
                <a16:creationId xmlns:a16="http://schemas.microsoft.com/office/drawing/2014/main" id="{F6DFB415-B05B-7947-99C4-E8BB4FAAA977}"/>
              </a:ext>
            </a:extLst>
          </p:cNvPr>
          <p:cNvSpPr txBox="1"/>
          <p:nvPr/>
        </p:nvSpPr>
        <p:spPr>
          <a:xfrm>
            <a:off x="1212140" y="1403660"/>
            <a:ext cx="1998980" cy="4826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US" sz="1300" spc="-10" dirty="0" err="1">
                <a:latin typeface="Arial"/>
                <a:cs typeface="Arial"/>
              </a:rPr>
              <a:t>И</a:t>
            </a:r>
            <a:r>
              <a:rPr lang="ru-RU" sz="1300" spc="-10" dirty="0" err="1">
                <a:latin typeface="Arial"/>
                <a:cs typeface="Arial"/>
              </a:rPr>
              <a:t>нициируем</a:t>
            </a:r>
            <a:r>
              <a:rPr lang="ru-RU" sz="1300" spc="-10" dirty="0">
                <a:latin typeface="Arial"/>
                <a:cs typeface="Arial"/>
              </a:rPr>
              <a:t> </a:t>
            </a:r>
            <a:r>
              <a:rPr lang="ru-RU" sz="1300" spc="-10" dirty="0" err="1">
                <a:latin typeface="Arial"/>
                <a:cs typeface="Arial"/>
              </a:rPr>
              <a:t>d</a:t>
            </a:r>
            <a:r>
              <a:rPr lang="en-US" sz="1300" spc="-10" dirty="0" err="1">
                <a:latin typeface="Arial"/>
                <a:cs typeface="Arial"/>
              </a:rPr>
              <a:t>vc</a:t>
            </a:r>
            <a:r>
              <a:rPr sz="1300" spc="-10" dirty="0">
                <a:latin typeface="Arial"/>
                <a:cs typeface="Arial"/>
              </a:rPr>
              <a:t>:</a:t>
            </a: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dirty="0" err="1">
                <a:latin typeface="Courier New"/>
                <a:cs typeface="Courier New"/>
              </a:rPr>
              <a:t>dvc</a:t>
            </a:r>
            <a:r>
              <a:rPr sz="1300" spc="-35" dirty="0">
                <a:latin typeface="Courier New"/>
                <a:cs typeface="Courier New"/>
              </a:rPr>
              <a:t> </a:t>
            </a:r>
            <a:r>
              <a:rPr lang="en-US" sz="1300" spc="-20" dirty="0" err="1">
                <a:latin typeface="Courier New"/>
                <a:cs typeface="Courier New"/>
              </a:rPr>
              <a:t>init</a:t>
            </a:r>
            <a:endParaRPr sz="13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6476198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9274" y="383031"/>
            <a:ext cx="547052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Настроим</a:t>
            </a:r>
            <a:r>
              <a:rPr spc="-175" dirty="0"/>
              <a:t> </a:t>
            </a:r>
            <a:r>
              <a:rPr spc="-25" dirty="0"/>
              <a:t>доступ</a:t>
            </a:r>
            <a:r>
              <a:rPr spc="-170" dirty="0"/>
              <a:t> </a:t>
            </a:r>
            <a:r>
              <a:rPr spc="50" dirty="0"/>
              <a:t>к</a:t>
            </a:r>
            <a:r>
              <a:rPr spc="-155" dirty="0"/>
              <a:t> </a:t>
            </a:r>
            <a:r>
              <a:rPr spc="135" dirty="0"/>
              <a:t>S3</a:t>
            </a:r>
            <a:r>
              <a:rPr spc="-165" dirty="0"/>
              <a:t> </a:t>
            </a:r>
            <a:r>
              <a:rPr spc="-45" dirty="0"/>
              <a:t>bucket</a:t>
            </a:r>
          </a:p>
        </p:txBody>
      </p:sp>
      <p:sp>
        <p:nvSpPr>
          <p:cNvPr id="3" name="object 3"/>
          <p:cNvSpPr/>
          <p:nvPr/>
        </p:nvSpPr>
        <p:spPr>
          <a:xfrm>
            <a:off x="528851" y="2672153"/>
            <a:ext cx="8364855" cy="0"/>
          </a:xfrm>
          <a:custGeom>
            <a:avLst/>
            <a:gdLst/>
            <a:ahLst/>
            <a:cxnLst/>
            <a:rect l="l" t="t" r="r" b="b"/>
            <a:pathLst>
              <a:path w="8364855">
                <a:moveTo>
                  <a:pt x="0" y="0"/>
                </a:moveTo>
                <a:lnTo>
                  <a:pt x="8364539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18914" y="1883871"/>
            <a:ext cx="7578725" cy="7112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577215" algn="l"/>
              </a:tabLst>
            </a:pPr>
            <a:r>
              <a:rPr sz="1950" b="1" spc="-37" baseline="4273" dirty="0">
                <a:solidFill>
                  <a:srgbClr val="FF9900"/>
                </a:solidFill>
                <a:latin typeface="Trebuchet MS"/>
                <a:cs typeface="Trebuchet MS"/>
              </a:rPr>
              <a:t>1</a:t>
            </a:r>
            <a:r>
              <a:rPr lang="en-US" sz="1950" b="1" spc="-37" baseline="4273" dirty="0">
                <a:solidFill>
                  <a:srgbClr val="FF9900"/>
                </a:solidFill>
                <a:latin typeface="Trebuchet MS"/>
                <a:cs typeface="Trebuchet MS"/>
              </a:rPr>
              <a:t>2</a:t>
            </a:r>
            <a:r>
              <a:rPr sz="1950" b="1" spc="-37" baseline="4273" dirty="0">
                <a:solidFill>
                  <a:srgbClr val="FF9900"/>
                </a:solidFill>
                <a:latin typeface="Trebuchet MS"/>
                <a:cs typeface="Trebuchet MS"/>
              </a:rPr>
              <a:t>.</a:t>
            </a:r>
            <a:r>
              <a:rPr sz="1950" b="1" baseline="4273" dirty="0">
                <a:solidFill>
                  <a:srgbClr val="FF9900"/>
                </a:solidFill>
                <a:latin typeface="Trebuchet MS"/>
                <a:cs typeface="Trebuchet MS"/>
              </a:rPr>
              <a:t>	</a:t>
            </a:r>
            <a:r>
              <a:rPr sz="1300" dirty="0">
                <a:latin typeface="Arial"/>
                <a:cs typeface="Arial"/>
              </a:rPr>
              <a:t>Пропишем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cridentials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для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доступа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к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сервисному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аккаунту:</a:t>
            </a:r>
            <a:endParaRPr sz="1300" dirty="0">
              <a:latin typeface="Arial"/>
              <a:cs typeface="Arial"/>
            </a:endParaRPr>
          </a:p>
          <a:p>
            <a:pPr marL="577215" marR="5080">
              <a:lnSpc>
                <a:spcPct val="115399"/>
              </a:lnSpc>
            </a:pPr>
            <a:r>
              <a:rPr sz="1300" dirty="0">
                <a:latin typeface="Courier New"/>
                <a:cs typeface="Courier New"/>
              </a:rPr>
              <a:t>dvc</a:t>
            </a:r>
            <a:r>
              <a:rPr sz="1300" spc="-7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remote</a:t>
            </a:r>
            <a:r>
              <a:rPr sz="1300" spc="-7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modify</a:t>
            </a:r>
            <a:r>
              <a:rPr sz="1300" spc="-6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--</a:t>
            </a:r>
            <a:r>
              <a:rPr sz="1300" dirty="0">
                <a:latin typeface="Courier New"/>
                <a:cs typeface="Courier New"/>
              </a:rPr>
              <a:t>local</a:t>
            </a:r>
            <a:r>
              <a:rPr sz="1300" spc="-70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otus-</a:t>
            </a:r>
            <a:r>
              <a:rPr sz="1300" dirty="0">
                <a:latin typeface="Courier New"/>
                <a:cs typeface="Courier New"/>
              </a:rPr>
              <a:t>mlops</a:t>
            </a:r>
            <a:r>
              <a:rPr sz="1300" spc="-7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access_key_id</a:t>
            </a:r>
            <a:r>
              <a:rPr sz="1300" spc="-6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‘you-access-</a:t>
            </a:r>
            <a:r>
              <a:rPr sz="1300" spc="-20" dirty="0">
                <a:latin typeface="Courier New"/>
                <a:cs typeface="Courier New"/>
              </a:rPr>
              <a:t>key’</a:t>
            </a:r>
            <a:r>
              <a:rPr sz="1300" spc="500" dirty="0">
                <a:latin typeface="Courier New"/>
                <a:cs typeface="Courier New"/>
              </a:rPr>
              <a:t>  </a:t>
            </a:r>
            <a:r>
              <a:rPr sz="1300" dirty="0">
                <a:latin typeface="Courier New"/>
                <a:cs typeface="Courier New"/>
              </a:rPr>
              <a:t>dvc</a:t>
            </a:r>
            <a:r>
              <a:rPr sz="1300" spc="-7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remote</a:t>
            </a:r>
            <a:r>
              <a:rPr sz="1300" spc="-7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modify</a:t>
            </a:r>
            <a:r>
              <a:rPr sz="1300" spc="-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--</a:t>
            </a:r>
            <a:r>
              <a:rPr sz="1300" dirty="0">
                <a:latin typeface="Courier New"/>
                <a:cs typeface="Courier New"/>
              </a:rPr>
              <a:t>local</a:t>
            </a:r>
            <a:r>
              <a:rPr sz="1300" spc="-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otus-</a:t>
            </a:r>
            <a:r>
              <a:rPr sz="1300" dirty="0">
                <a:latin typeface="Courier New"/>
                <a:cs typeface="Courier New"/>
              </a:rPr>
              <a:t>mlops</a:t>
            </a:r>
            <a:r>
              <a:rPr sz="1300" spc="-7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secret_access_key</a:t>
            </a:r>
            <a:r>
              <a:rPr sz="1300" spc="-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‘you-secret-</a:t>
            </a:r>
            <a:r>
              <a:rPr sz="1300" spc="-20" dirty="0">
                <a:latin typeface="Courier New"/>
                <a:cs typeface="Courier New"/>
              </a:rPr>
              <a:t>key’</a:t>
            </a:r>
            <a:endParaRPr sz="13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8914" y="2715975"/>
            <a:ext cx="26479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30" dirty="0">
                <a:solidFill>
                  <a:srgbClr val="FF9900"/>
                </a:solidFill>
                <a:latin typeface="Trebuchet MS"/>
                <a:cs typeface="Trebuchet MS"/>
              </a:rPr>
              <a:t>1</a:t>
            </a:r>
            <a:r>
              <a:rPr lang="en-US" sz="1300" b="1" spc="-30" dirty="0">
                <a:solidFill>
                  <a:srgbClr val="FF9900"/>
                </a:solidFill>
                <a:latin typeface="Trebuchet MS"/>
                <a:cs typeface="Trebuchet MS"/>
              </a:rPr>
              <a:t>3</a:t>
            </a:r>
            <a:r>
              <a:rPr sz="1300" b="1" spc="-30" dirty="0">
                <a:solidFill>
                  <a:srgbClr val="FF9900"/>
                </a:solidFill>
                <a:latin typeface="Trebuchet MS"/>
                <a:cs typeface="Trebuchet MS"/>
              </a:rPr>
              <a:t>.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3790" y="2697688"/>
            <a:ext cx="3212009" cy="469359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ru-RU" sz="1300" spc="-10" dirty="0">
                <a:latin typeface="Arial"/>
                <a:cs typeface="Arial"/>
              </a:rPr>
              <a:t>Добавим </a:t>
            </a:r>
            <a:r>
              <a:rPr lang="ru-RU" sz="1300" spc="-10" dirty="0" err="1">
                <a:latin typeface="Arial"/>
                <a:cs typeface="Arial"/>
              </a:rPr>
              <a:t>эндпоинт</a:t>
            </a:r>
            <a:r>
              <a:rPr lang="ru-RU" sz="1300" spc="-10" dirty="0">
                <a:latin typeface="Arial"/>
                <a:cs typeface="Arial"/>
              </a:rPr>
              <a:t> по умолчанию</a:t>
            </a:r>
            <a:r>
              <a:rPr sz="1300" spc="-10" dirty="0">
                <a:latin typeface="Arial"/>
                <a:cs typeface="Arial"/>
              </a:rPr>
              <a:t>:</a:t>
            </a: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lang="en-US" sz="1300" dirty="0" err="1">
                <a:latin typeface="Courier New"/>
                <a:cs typeface="Courier New"/>
              </a:rPr>
              <a:t>dvc</a:t>
            </a:r>
            <a:r>
              <a:rPr lang="en-US" sz="1300" dirty="0">
                <a:latin typeface="Courier New"/>
                <a:cs typeface="Courier New"/>
              </a:rPr>
              <a:t> remote default</a:t>
            </a:r>
            <a:r>
              <a:rPr lang="ru-RU" sz="1300" spc="-20" dirty="0">
                <a:latin typeface="Courier New"/>
                <a:cs typeface="Courier New"/>
              </a:rPr>
              <a:t> </a:t>
            </a:r>
            <a:r>
              <a:rPr lang="ru-RU" sz="1300" spc="-20" dirty="0" err="1">
                <a:latin typeface="Courier New"/>
                <a:cs typeface="Courier New"/>
              </a:rPr>
              <a:t>o</a:t>
            </a:r>
            <a:r>
              <a:rPr lang="en-US" sz="1300" spc="-20" dirty="0" err="1">
                <a:latin typeface="Courier New"/>
                <a:cs typeface="Courier New"/>
              </a:rPr>
              <a:t>tus-mlops</a:t>
            </a:r>
            <a:endParaRPr sz="1300" dirty="0">
              <a:latin typeface="Courier New"/>
              <a:cs typeface="Courier New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4561E5D1-AEA9-264A-AC2E-06D3E5E6FA90}"/>
              </a:ext>
            </a:extLst>
          </p:cNvPr>
          <p:cNvSpPr/>
          <p:nvPr/>
        </p:nvSpPr>
        <p:spPr>
          <a:xfrm>
            <a:off x="528851" y="1801912"/>
            <a:ext cx="8364855" cy="0"/>
          </a:xfrm>
          <a:custGeom>
            <a:avLst/>
            <a:gdLst/>
            <a:ahLst/>
            <a:cxnLst/>
            <a:rect l="l" t="t" r="r" b="b"/>
            <a:pathLst>
              <a:path w="8364855">
                <a:moveTo>
                  <a:pt x="0" y="0"/>
                </a:moveTo>
                <a:lnTo>
                  <a:pt x="8364539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A0F3C760-8751-8944-A61A-8915CE44FA60}"/>
              </a:ext>
            </a:extLst>
          </p:cNvPr>
          <p:cNvSpPr/>
          <p:nvPr/>
        </p:nvSpPr>
        <p:spPr>
          <a:xfrm>
            <a:off x="528851" y="3257550"/>
            <a:ext cx="8364855" cy="0"/>
          </a:xfrm>
          <a:custGeom>
            <a:avLst/>
            <a:gdLst/>
            <a:ahLst/>
            <a:cxnLst/>
            <a:rect l="l" t="t" r="r" b="b"/>
            <a:pathLst>
              <a:path w="8364855">
                <a:moveTo>
                  <a:pt x="0" y="0"/>
                </a:moveTo>
                <a:lnTo>
                  <a:pt x="8364539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00318A9D-78B3-1C40-B471-94C20B3135A9}"/>
              </a:ext>
            </a:extLst>
          </p:cNvPr>
          <p:cNvSpPr/>
          <p:nvPr/>
        </p:nvSpPr>
        <p:spPr>
          <a:xfrm>
            <a:off x="528851" y="4300147"/>
            <a:ext cx="8364855" cy="0"/>
          </a:xfrm>
          <a:custGeom>
            <a:avLst/>
            <a:gdLst/>
            <a:ahLst/>
            <a:cxnLst/>
            <a:rect l="l" t="t" r="r" b="b"/>
            <a:pathLst>
              <a:path w="8364855">
                <a:moveTo>
                  <a:pt x="0" y="0"/>
                </a:moveTo>
                <a:lnTo>
                  <a:pt x="8364539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62155749-9A21-3046-9CC4-AA47822CCEF3}"/>
              </a:ext>
            </a:extLst>
          </p:cNvPr>
          <p:cNvSpPr txBox="1"/>
          <p:nvPr/>
        </p:nvSpPr>
        <p:spPr>
          <a:xfrm>
            <a:off x="718914" y="3301372"/>
            <a:ext cx="26479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30" dirty="0">
                <a:solidFill>
                  <a:srgbClr val="FF9900"/>
                </a:solidFill>
                <a:latin typeface="Trebuchet MS"/>
                <a:cs typeface="Trebuchet MS"/>
              </a:rPr>
              <a:t>1</a:t>
            </a:r>
            <a:r>
              <a:rPr lang="en-US" sz="1300" b="1" spc="-30" dirty="0">
                <a:solidFill>
                  <a:srgbClr val="FF9900"/>
                </a:solidFill>
                <a:latin typeface="Trebuchet MS"/>
                <a:cs typeface="Trebuchet MS"/>
              </a:rPr>
              <a:t>4</a:t>
            </a:r>
            <a:r>
              <a:rPr sz="1300" b="1" spc="-30" dirty="0">
                <a:solidFill>
                  <a:srgbClr val="FF9900"/>
                </a:solidFill>
                <a:latin typeface="Trebuchet MS"/>
                <a:cs typeface="Trebuchet MS"/>
              </a:rPr>
              <a:t>.</a:t>
            </a:r>
            <a:endParaRPr sz="1300" dirty="0">
              <a:latin typeface="Trebuchet MS"/>
              <a:cs typeface="Trebuchet MS"/>
            </a:endParaRP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B135E9EE-8DCA-2947-BD50-DBB10616692A}"/>
              </a:ext>
            </a:extLst>
          </p:cNvPr>
          <p:cNvSpPr txBox="1"/>
          <p:nvPr/>
        </p:nvSpPr>
        <p:spPr>
          <a:xfrm>
            <a:off x="1283790" y="3283085"/>
            <a:ext cx="3212009" cy="92076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ru-RU" sz="1300" spc="-10" dirty="0">
                <a:latin typeface="Arial"/>
                <a:cs typeface="Arial"/>
              </a:rPr>
              <a:t>Добавим и зафиксируем</a:t>
            </a:r>
            <a:r>
              <a:rPr sz="1300" spc="3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данные:</a:t>
            </a:r>
            <a:endParaRPr sz="1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dirty="0" err="1">
                <a:latin typeface="Courier New"/>
                <a:cs typeface="Courier New"/>
              </a:rPr>
              <a:t>dvc</a:t>
            </a:r>
            <a:r>
              <a:rPr sz="1300" spc="-35" dirty="0">
                <a:latin typeface="Courier New"/>
                <a:cs typeface="Courier New"/>
              </a:rPr>
              <a:t> </a:t>
            </a:r>
            <a:r>
              <a:rPr lang="ru-RU" sz="1300" spc="-20" dirty="0" err="1">
                <a:latin typeface="Courier New"/>
                <a:cs typeface="Courier New"/>
              </a:rPr>
              <a:t>a</a:t>
            </a:r>
            <a:r>
              <a:rPr lang="en-US" sz="1300" spc="-20" dirty="0">
                <a:latin typeface="Courier New"/>
                <a:cs typeface="Courier New"/>
              </a:rPr>
              <a:t>dd data</a:t>
            </a: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lang="en-US" sz="1300" spc="-20" dirty="0" err="1">
                <a:latin typeface="Courier New"/>
                <a:cs typeface="Courier New"/>
              </a:rPr>
              <a:t>dvc</a:t>
            </a:r>
            <a:r>
              <a:rPr lang="en-US" sz="1300" spc="-20" dirty="0">
                <a:latin typeface="Courier New"/>
                <a:cs typeface="Courier New"/>
              </a:rPr>
              <a:t> commit</a:t>
            </a: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lang="en-US" sz="1300" spc="-20" dirty="0" err="1">
                <a:latin typeface="Courier New"/>
                <a:cs typeface="Courier New"/>
              </a:rPr>
              <a:t>dvc</a:t>
            </a:r>
            <a:r>
              <a:rPr lang="en-US" sz="1300" spc="-20" dirty="0">
                <a:latin typeface="Courier New"/>
                <a:cs typeface="Courier New"/>
              </a:rPr>
              <a:t> push</a:t>
            </a:r>
            <a:endParaRPr sz="13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Обучим</a:t>
            </a:r>
            <a:r>
              <a:rPr spc="-175" dirty="0"/>
              <a:t> </a:t>
            </a:r>
            <a:r>
              <a:rPr spc="-10" dirty="0"/>
              <a:t>модель</a:t>
            </a:r>
          </a:p>
        </p:txBody>
      </p:sp>
      <p:sp>
        <p:nvSpPr>
          <p:cNvPr id="3" name="object 3"/>
          <p:cNvSpPr/>
          <p:nvPr/>
        </p:nvSpPr>
        <p:spPr>
          <a:xfrm>
            <a:off x="495786" y="1953062"/>
            <a:ext cx="8364855" cy="0"/>
          </a:xfrm>
          <a:custGeom>
            <a:avLst/>
            <a:gdLst/>
            <a:ahLst/>
            <a:cxnLst/>
            <a:rect l="l" t="t" r="r" b="b"/>
            <a:pathLst>
              <a:path w="8364855">
                <a:moveTo>
                  <a:pt x="0" y="0"/>
                </a:moveTo>
                <a:lnTo>
                  <a:pt x="8364539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5849" y="1391919"/>
            <a:ext cx="2763520" cy="4826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577215" algn="l"/>
              </a:tabLst>
            </a:pPr>
            <a:r>
              <a:rPr sz="1950" b="1" spc="-37" baseline="4273" dirty="0">
                <a:solidFill>
                  <a:srgbClr val="FF9900"/>
                </a:solidFill>
                <a:latin typeface="Trebuchet MS"/>
                <a:cs typeface="Trebuchet MS"/>
              </a:rPr>
              <a:t>1</a:t>
            </a:r>
            <a:r>
              <a:rPr lang="en-US" sz="1950" b="1" spc="-37" baseline="4273" dirty="0">
                <a:solidFill>
                  <a:srgbClr val="FF9900"/>
                </a:solidFill>
                <a:latin typeface="Trebuchet MS"/>
                <a:cs typeface="Trebuchet MS"/>
              </a:rPr>
              <a:t>5</a:t>
            </a:r>
            <a:r>
              <a:rPr sz="1950" b="1" spc="-37" baseline="4273" dirty="0">
                <a:solidFill>
                  <a:srgbClr val="FF9900"/>
                </a:solidFill>
                <a:latin typeface="Trebuchet MS"/>
                <a:cs typeface="Trebuchet MS"/>
              </a:rPr>
              <a:t>.</a:t>
            </a:r>
            <a:r>
              <a:rPr sz="1950" b="1" baseline="4273" dirty="0">
                <a:solidFill>
                  <a:srgbClr val="FF9900"/>
                </a:solidFill>
                <a:latin typeface="Trebuchet MS"/>
                <a:cs typeface="Trebuchet MS"/>
              </a:rPr>
              <a:t>	</a:t>
            </a:r>
            <a:r>
              <a:rPr sz="1300" dirty="0">
                <a:latin typeface="Arial"/>
                <a:cs typeface="Arial"/>
              </a:rPr>
              <a:t>Запустим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обучение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модели:</a:t>
            </a:r>
            <a:endParaRPr sz="1300" dirty="0">
              <a:latin typeface="Arial"/>
              <a:cs typeface="Arial"/>
            </a:endParaRPr>
          </a:p>
          <a:p>
            <a:pPr marL="577215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latin typeface="Courier New"/>
                <a:cs typeface="Courier New"/>
              </a:rPr>
              <a:t>python</a:t>
            </a:r>
            <a:r>
              <a:rPr sz="1300" spc="-7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train.py</a:t>
            </a:r>
            <a:endParaRPr sz="13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DVC</a:t>
            </a:r>
            <a:r>
              <a:rPr spc="-155" dirty="0"/>
              <a:t> </a:t>
            </a:r>
            <a:r>
              <a:rPr spc="-85" dirty="0"/>
              <a:t>pipeline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6099" y="1480714"/>
            <a:ext cx="4110696" cy="23258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9290" y="1522476"/>
            <a:ext cx="17278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 err="1">
                <a:latin typeface="Courier New"/>
                <a:cs typeface="Courier New"/>
              </a:rPr>
              <a:t>dvc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lang="en-US" sz="1400" spc="-25" dirty="0">
                <a:latin typeface="Courier New"/>
                <a:cs typeface="Courier New"/>
              </a:rPr>
              <a:t>stage add</a:t>
            </a:r>
            <a:endParaRPr sz="1400" dirty="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569" y="1881945"/>
          <a:ext cx="3421377" cy="11556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14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31750">
                        <a:lnSpc>
                          <a:spcPts val="1445"/>
                        </a:lnSpc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400" spc="-50" dirty="0">
                          <a:latin typeface="Courier New"/>
                          <a:cs typeface="Courier New"/>
                        </a:rPr>
                        <a:t>n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445"/>
                        </a:lnSpc>
                      </a:pPr>
                      <a:r>
                        <a:rPr sz="1400" dirty="0">
                          <a:latin typeface="Courier New"/>
                          <a:cs typeface="Courier New"/>
                        </a:rPr>
                        <a:t>train</a:t>
                      </a:r>
                      <a:r>
                        <a:rPr sz="14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1935">
                        <a:lnSpc>
                          <a:spcPts val="1445"/>
                        </a:lnSpc>
                      </a:pPr>
                      <a:r>
                        <a:rPr sz="1400" spc="-50" dirty="0">
                          <a:solidFill>
                            <a:srgbClr val="00B050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445"/>
                        </a:lnSpc>
                      </a:pPr>
                      <a:r>
                        <a:rPr sz="1400" spc="-10" dirty="0">
                          <a:solidFill>
                            <a:srgbClr val="00B050"/>
                          </a:solidFill>
                          <a:latin typeface="Courier New"/>
                          <a:cs typeface="Courier New"/>
                        </a:rPr>
                        <a:t>stage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0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400" spc="-50" dirty="0">
                          <a:latin typeface="Courier New"/>
                          <a:cs typeface="Courier New"/>
                        </a:rPr>
                        <a:t>d</a:t>
                      </a:r>
                      <a:endParaRPr sz="140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400" spc="-50" dirty="0">
                          <a:latin typeface="Courier New"/>
                          <a:cs typeface="Courier New"/>
                        </a:rPr>
                        <a:t>d</a:t>
                      </a:r>
                      <a:endParaRPr sz="140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400" spc="-50" dirty="0">
                          <a:latin typeface="Courier New"/>
                          <a:cs typeface="Courier New"/>
                        </a:rPr>
                        <a:t>o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train.py</a:t>
                      </a:r>
                      <a:endParaRPr sz="1400">
                        <a:latin typeface="Courier New"/>
                        <a:cs typeface="Courier New"/>
                      </a:endParaRPr>
                    </a:p>
                    <a:p>
                      <a:pPr marL="52705" marR="45085">
                        <a:lnSpc>
                          <a:spcPct val="148600"/>
                        </a:lnSpc>
                      </a:pPr>
                      <a:r>
                        <a:rPr sz="1400" dirty="0">
                          <a:latin typeface="Courier New"/>
                          <a:cs typeface="Courier New"/>
                        </a:rPr>
                        <a:t>data</a:t>
                      </a:r>
                      <a:r>
                        <a:rPr sz="14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0" dirty="0">
                          <a:latin typeface="Courier New"/>
                          <a:cs typeface="Courier New"/>
                        </a:rPr>
                        <a:t>\ </a:t>
                      </a:r>
                      <a:r>
                        <a:rPr sz="1400" spc="-10" dirty="0">
                          <a:latin typeface="Courier New"/>
                          <a:cs typeface="Courier New"/>
                        </a:rPr>
                        <a:t>model.h5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24193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50" dirty="0">
                          <a:solidFill>
                            <a:srgbClr val="00B050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400">
                        <a:latin typeface="Courier New"/>
                        <a:cs typeface="Courier New"/>
                      </a:endParaRPr>
                    </a:p>
                    <a:p>
                      <a:pPr marL="241935" marR="45085">
                        <a:lnSpc>
                          <a:spcPct val="148600"/>
                        </a:lnSpc>
                      </a:pPr>
                      <a:r>
                        <a:rPr sz="1400" spc="-50" dirty="0">
                          <a:solidFill>
                            <a:srgbClr val="00B050"/>
                          </a:solidFill>
                          <a:latin typeface="Courier New"/>
                          <a:cs typeface="Courier New"/>
                        </a:rPr>
                        <a:t># #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400" spc="-10" dirty="0">
                          <a:solidFill>
                            <a:srgbClr val="00B050"/>
                          </a:solidFill>
                          <a:latin typeface="Courier New"/>
                          <a:cs typeface="Courier New"/>
                        </a:rPr>
                        <a:t>dependencies</a:t>
                      </a:r>
                      <a:endParaRPr sz="1400">
                        <a:latin typeface="Courier New"/>
                        <a:cs typeface="Courier New"/>
                      </a:endParaRPr>
                    </a:p>
                    <a:p>
                      <a:pPr marL="52705" marR="24130">
                        <a:lnSpc>
                          <a:spcPct val="148600"/>
                        </a:lnSpc>
                      </a:pPr>
                      <a:r>
                        <a:rPr sz="1400" spc="-10" dirty="0">
                          <a:solidFill>
                            <a:srgbClr val="00B050"/>
                          </a:solidFill>
                          <a:latin typeface="Courier New"/>
                          <a:cs typeface="Courier New"/>
                        </a:rPr>
                        <a:t>dependencies </a:t>
                      </a:r>
                      <a:r>
                        <a:rPr sz="1400" dirty="0">
                          <a:solidFill>
                            <a:srgbClr val="00B050"/>
                          </a:solidFill>
                          <a:latin typeface="Courier New"/>
                          <a:cs typeface="Courier New"/>
                        </a:rPr>
                        <a:t>output</a:t>
                      </a:r>
                      <a:r>
                        <a:rPr sz="1400" spc="-35" dirty="0">
                          <a:solidFill>
                            <a:srgbClr val="00B05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20" dirty="0">
                          <a:solidFill>
                            <a:srgbClr val="00B050"/>
                          </a:solidFill>
                          <a:latin typeface="Courier New"/>
                          <a:cs typeface="Courier New"/>
                        </a:rPr>
                        <a:t>file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2920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33619" y="3019044"/>
            <a:ext cx="1727835" cy="659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8600"/>
              </a:lnSpc>
              <a:spcBef>
                <a:spcPts val="100"/>
              </a:spcBef>
            </a:pPr>
            <a:r>
              <a:rPr sz="1400" spc="-10" dirty="0">
                <a:latin typeface="Courier New"/>
                <a:cs typeface="Courier New"/>
              </a:rPr>
              <a:t>-</a:t>
            </a:r>
            <a:r>
              <a:rPr sz="1400" dirty="0">
                <a:latin typeface="Courier New"/>
                <a:cs typeface="Courier New"/>
              </a:rPr>
              <a:t>M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metrics.csv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\ </a:t>
            </a:r>
            <a:r>
              <a:rPr sz="1400" dirty="0">
                <a:latin typeface="Courier New"/>
                <a:cs typeface="Courier New"/>
              </a:rPr>
              <a:t>python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train.py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01790" y="3019044"/>
            <a:ext cx="1301750" cy="65976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400" dirty="0">
                <a:solidFill>
                  <a:srgbClr val="00B050"/>
                </a:solidFill>
                <a:latin typeface="Courier New"/>
                <a:cs typeface="Courier New"/>
              </a:rPr>
              <a:t>#</a:t>
            </a:r>
            <a:r>
              <a:rPr sz="1400" spc="-10" dirty="0">
                <a:solidFill>
                  <a:srgbClr val="00B050"/>
                </a:solidFill>
                <a:latin typeface="Courier New"/>
                <a:cs typeface="Courier New"/>
              </a:rPr>
              <a:t> metrics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400" dirty="0">
                <a:solidFill>
                  <a:srgbClr val="00B050"/>
                </a:solidFill>
                <a:latin typeface="Courier New"/>
                <a:cs typeface="Courier New"/>
              </a:rPr>
              <a:t>#</a:t>
            </a:r>
            <a:r>
              <a:rPr sz="1400" spc="-1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B050"/>
                </a:solidFill>
                <a:latin typeface="Courier New"/>
                <a:cs typeface="Courier New"/>
              </a:rPr>
              <a:t>run</a:t>
            </a:r>
            <a:r>
              <a:rPr sz="1400" spc="-1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0B050"/>
                </a:solidFill>
                <a:latin typeface="Courier New"/>
                <a:cs typeface="Courier New"/>
              </a:rPr>
              <a:t>script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9274" y="383031"/>
            <a:ext cx="684466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Воспроизводимость</a:t>
            </a:r>
            <a:r>
              <a:rPr spc="-180" dirty="0"/>
              <a:t> </a:t>
            </a:r>
            <a:r>
              <a:rPr spc="-10" dirty="0"/>
              <a:t>экспериментов</a:t>
            </a:r>
          </a:p>
        </p:txBody>
      </p:sp>
      <p:sp>
        <p:nvSpPr>
          <p:cNvPr id="3" name="object 3"/>
          <p:cNvSpPr/>
          <p:nvPr/>
        </p:nvSpPr>
        <p:spPr>
          <a:xfrm>
            <a:off x="495786" y="1953062"/>
            <a:ext cx="8364855" cy="0"/>
          </a:xfrm>
          <a:custGeom>
            <a:avLst/>
            <a:gdLst/>
            <a:ahLst/>
            <a:cxnLst/>
            <a:rect l="l" t="t" r="r" b="b"/>
            <a:pathLst>
              <a:path w="8364855">
                <a:moveTo>
                  <a:pt x="0" y="0"/>
                </a:moveTo>
                <a:lnTo>
                  <a:pt x="8364539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5786" y="2526457"/>
            <a:ext cx="8364855" cy="0"/>
          </a:xfrm>
          <a:custGeom>
            <a:avLst/>
            <a:gdLst/>
            <a:ahLst/>
            <a:cxnLst/>
            <a:rect l="l" t="t" r="r" b="b"/>
            <a:pathLst>
              <a:path w="8364855">
                <a:moveTo>
                  <a:pt x="0" y="0"/>
                </a:moveTo>
                <a:lnTo>
                  <a:pt x="8364539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5786" y="3111854"/>
            <a:ext cx="8364855" cy="0"/>
          </a:xfrm>
          <a:custGeom>
            <a:avLst/>
            <a:gdLst/>
            <a:ahLst/>
            <a:cxnLst/>
            <a:rect l="l" t="t" r="r" b="b"/>
            <a:pathLst>
              <a:path w="8364855">
                <a:moveTo>
                  <a:pt x="0" y="0"/>
                </a:moveTo>
                <a:lnTo>
                  <a:pt x="8364539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5786" y="3697251"/>
            <a:ext cx="8364855" cy="0"/>
          </a:xfrm>
          <a:custGeom>
            <a:avLst/>
            <a:gdLst/>
            <a:ahLst/>
            <a:cxnLst/>
            <a:rect l="l" t="t" r="r" b="b"/>
            <a:pathLst>
              <a:path w="8364855">
                <a:moveTo>
                  <a:pt x="0" y="0"/>
                </a:moveTo>
                <a:lnTo>
                  <a:pt x="8364539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50726" y="1391919"/>
            <a:ext cx="3681729" cy="4826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dirty="0">
                <a:latin typeface="Arial"/>
                <a:cs typeface="Arial"/>
              </a:rPr>
              <a:t>Запустим</a:t>
            </a:r>
            <a:r>
              <a:rPr sz="1300" spc="-2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эксперимент,</a:t>
            </a:r>
            <a:r>
              <a:rPr sz="1300" spc="-2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сохраненный</a:t>
            </a:r>
            <a:r>
              <a:rPr sz="1300" spc="-2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в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pipeline: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latin typeface="Courier New"/>
                <a:cs typeface="Courier New"/>
              </a:rPr>
              <a:t>dvc</a:t>
            </a:r>
            <a:r>
              <a:rPr sz="1300" spc="-3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repro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0726" y="1977136"/>
            <a:ext cx="70548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100"/>
              </a:spcBef>
            </a:pPr>
            <a:r>
              <a:rPr sz="1300" dirty="0">
                <a:latin typeface="Arial"/>
                <a:cs typeface="Arial"/>
              </a:rPr>
              <a:t>Попробуем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повторить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эксперимент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и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убедимся,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dvc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сообщает,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что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изменений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нет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и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ничего </a:t>
            </a:r>
            <a:r>
              <a:rPr sz="1300" dirty="0">
                <a:latin typeface="Arial"/>
                <a:cs typeface="Arial"/>
              </a:rPr>
              <a:t>больше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не</a:t>
            </a:r>
            <a:r>
              <a:rPr sz="1300" spc="-3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запускает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0726" y="2553208"/>
            <a:ext cx="5126990" cy="4826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dirty="0">
                <a:latin typeface="Arial"/>
                <a:cs typeface="Arial"/>
              </a:rPr>
              <a:t>Добавим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новые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данные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(добавим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директорию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для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отслеживания)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latin typeface="Courier New"/>
                <a:cs typeface="Courier New"/>
              </a:rPr>
              <a:t>dvc</a:t>
            </a:r>
            <a:r>
              <a:rPr sz="1300" spc="-3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add</a:t>
            </a:r>
            <a:r>
              <a:rPr sz="1300" spc="-35" dirty="0">
                <a:latin typeface="Courier New"/>
                <a:cs typeface="Courier New"/>
              </a:rPr>
              <a:t> </a:t>
            </a:r>
            <a:r>
              <a:rPr sz="1300" spc="-50" dirty="0">
                <a:latin typeface="Courier New"/>
                <a:cs typeface="Courier New"/>
              </a:rPr>
              <a:t>…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50726" y="3138424"/>
            <a:ext cx="3289935" cy="4826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dirty="0">
                <a:latin typeface="Arial"/>
                <a:cs typeface="Arial"/>
              </a:rPr>
              <a:t>Запустим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эксперимент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с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новыми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данными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latin typeface="Courier New"/>
                <a:cs typeface="Courier New"/>
              </a:rPr>
              <a:t>dvc</a:t>
            </a:r>
            <a:r>
              <a:rPr sz="1300" spc="-3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repro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Фиксируем</a:t>
            </a:r>
            <a:r>
              <a:rPr spc="-170" dirty="0"/>
              <a:t> </a:t>
            </a:r>
            <a:r>
              <a:rPr spc="-40" dirty="0"/>
              <a:t>изменения</a:t>
            </a:r>
          </a:p>
        </p:txBody>
      </p:sp>
      <p:sp>
        <p:nvSpPr>
          <p:cNvPr id="3" name="object 3"/>
          <p:cNvSpPr/>
          <p:nvPr/>
        </p:nvSpPr>
        <p:spPr>
          <a:xfrm>
            <a:off x="495786" y="1953062"/>
            <a:ext cx="8364855" cy="0"/>
          </a:xfrm>
          <a:custGeom>
            <a:avLst/>
            <a:gdLst/>
            <a:ahLst/>
            <a:cxnLst/>
            <a:rect l="l" t="t" r="r" b="b"/>
            <a:pathLst>
              <a:path w="8364855">
                <a:moveTo>
                  <a:pt x="0" y="0"/>
                </a:moveTo>
                <a:lnTo>
                  <a:pt x="8364539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5786" y="2766297"/>
            <a:ext cx="8364855" cy="0"/>
          </a:xfrm>
          <a:custGeom>
            <a:avLst/>
            <a:gdLst/>
            <a:ahLst/>
            <a:cxnLst/>
            <a:rect l="l" t="t" r="r" b="b"/>
            <a:pathLst>
              <a:path w="8364855">
                <a:moveTo>
                  <a:pt x="0" y="0"/>
                </a:moveTo>
                <a:lnTo>
                  <a:pt x="8364539" y="0"/>
                </a:lnTo>
              </a:path>
            </a:pathLst>
          </a:custGeom>
          <a:ln w="9525">
            <a:solidFill>
              <a:srgbClr val="9E9E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5849" y="1410208"/>
            <a:ext cx="16891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1.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0726" y="1391919"/>
            <a:ext cx="2746375" cy="4826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dirty="0">
                <a:latin typeface="Arial"/>
                <a:cs typeface="Arial"/>
              </a:rPr>
              <a:t>Зафиксируем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изменения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в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данных: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00" dirty="0">
                <a:latin typeface="Courier New"/>
                <a:cs typeface="Courier New"/>
              </a:rPr>
              <a:t>dvc</a:t>
            </a:r>
            <a:r>
              <a:rPr sz="1300" spc="-3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push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5849" y="1995423"/>
            <a:ext cx="16891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35" dirty="0">
                <a:solidFill>
                  <a:srgbClr val="FF9900"/>
                </a:solidFill>
                <a:latin typeface="Trebuchet MS"/>
                <a:cs typeface="Trebuchet MS"/>
              </a:rPr>
              <a:t>2.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0726" y="1977136"/>
            <a:ext cx="3948429" cy="7112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300" dirty="0">
                <a:latin typeface="Arial"/>
                <a:cs typeface="Arial"/>
              </a:rPr>
              <a:t>Зафиксируем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изменения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в</a:t>
            </a:r>
            <a:r>
              <a:rPr sz="1300" spc="-5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исходном</a:t>
            </a:r>
            <a:r>
              <a:rPr sz="1300" spc="-4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коде</a:t>
            </a:r>
            <a:r>
              <a:rPr sz="1300" spc="-4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модели:</a:t>
            </a:r>
            <a:endParaRPr sz="1300">
              <a:latin typeface="Arial"/>
              <a:cs typeface="Arial"/>
            </a:endParaRPr>
          </a:p>
          <a:p>
            <a:pPr marL="12700" marR="2943225">
              <a:lnSpc>
                <a:spcPct val="115399"/>
              </a:lnSpc>
            </a:pPr>
            <a:r>
              <a:rPr sz="1300" dirty="0">
                <a:latin typeface="Courier New"/>
                <a:cs typeface="Courier New"/>
              </a:rPr>
              <a:t>git</a:t>
            </a:r>
            <a:r>
              <a:rPr sz="1300" spc="-3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commit </a:t>
            </a:r>
            <a:r>
              <a:rPr sz="1300" dirty="0">
                <a:latin typeface="Courier New"/>
                <a:cs typeface="Courier New"/>
              </a:rPr>
              <a:t>git</a:t>
            </a:r>
            <a:r>
              <a:rPr sz="1300" spc="-35" dirty="0"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push</a:t>
            </a:r>
            <a:endParaRPr sz="1300">
              <a:latin typeface="Courier New"/>
              <a:cs typeface="Courier New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8725" y="2994813"/>
            <a:ext cx="1924385" cy="187789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19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0150" y="2028951"/>
            <a:ext cx="297751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60" dirty="0">
                <a:solidFill>
                  <a:srgbClr val="FFFFFF"/>
                </a:solidFill>
              </a:rPr>
              <a:t>Вопросы?</a:t>
            </a:r>
            <a:endParaRPr sz="4900"/>
          </a:p>
        </p:txBody>
      </p:sp>
      <p:grpSp>
        <p:nvGrpSpPr>
          <p:cNvPr id="4" name="object 4"/>
          <p:cNvGrpSpPr/>
          <p:nvPr/>
        </p:nvGrpSpPr>
        <p:grpSpPr>
          <a:xfrm>
            <a:off x="719327" y="3368039"/>
            <a:ext cx="4048125" cy="668020"/>
            <a:chOff x="719327" y="3368039"/>
            <a:chExt cx="4048125" cy="6680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9327" y="3368039"/>
              <a:ext cx="664464" cy="66751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2607" y="3368039"/>
              <a:ext cx="664463" cy="66751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516749" y="3445255"/>
            <a:ext cx="17278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50" dirty="0">
                <a:solidFill>
                  <a:srgbClr val="FFFFFF"/>
                </a:solidFill>
                <a:latin typeface="Trebuchet MS"/>
                <a:cs typeface="Trebuchet MS"/>
              </a:rPr>
              <a:t>Ставим</a:t>
            </a:r>
            <a:r>
              <a:rPr sz="1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“+”,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если</a:t>
            </a:r>
            <a:r>
              <a:rPr sz="15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45" dirty="0">
                <a:solidFill>
                  <a:srgbClr val="FFFFFF"/>
                </a:solidFill>
                <a:latin typeface="Trebuchet MS"/>
                <a:cs typeface="Trebuchet MS"/>
              </a:rPr>
              <a:t>вопросы</a:t>
            </a:r>
            <a:r>
              <a:rPr sz="15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есть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5424" y="3445255"/>
            <a:ext cx="170433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50" dirty="0">
                <a:solidFill>
                  <a:srgbClr val="FFFFFF"/>
                </a:solidFill>
                <a:latin typeface="Trebuchet MS"/>
                <a:cs typeface="Trebuchet MS"/>
              </a:rPr>
              <a:t>Ставим</a:t>
            </a:r>
            <a:r>
              <a:rPr sz="1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“–”,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если</a:t>
            </a:r>
            <a:r>
              <a:rPr sz="1500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вопросов</a:t>
            </a:r>
            <a:r>
              <a:rPr sz="1500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Trebuchet MS"/>
                <a:cs typeface="Trebuchet MS"/>
              </a:rPr>
              <a:t>нет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4949" y="1792731"/>
            <a:ext cx="588899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Знакомство</a:t>
            </a:r>
            <a:r>
              <a:rPr sz="4000" spc="-2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с</a:t>
            </a:r>
            <a:r>
              <a:rPr sz="4000" spc="-2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командой </a:t>
            </a:r>
            <a:r>
              <a:rPr sz="4000" spc="-150" dirty="0">
                <a:solidFill>
                  <a:srgbClr val="FFFFFF"/>
                </a:solidFill>
              </a:rPr>
              <a:t>и</a:t>
            </a:r>
            <a:r>
              <a:rPr sz="4000" spc="-204" dirty="0">
                <a:solidFill>
                  <a:srgbClr val="FFFFFF"/>
                </a:solidFill>
              </a:rPr>
              <a:t> </a:t>
            </a:r>
            <a:r>
              <a:rPr sz="4000" spc="-45" dirty="0">
                <a:solidFill>
                  <a:srgbClr val="FFFFFF"/>
                </a:solidFill>
              </a:rPr>
              <a:t>программой</a:t>
            </a:r>
            <a:r>
              <a:rPr sz="4000" spc="-20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курса</a:t>
            </a:r>
            <a:endParaRPr sz="4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0150" y="2051811"/>
            <a:ext cx="421449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solidFill>
                  <a:srgbClr val="FFFFFF"/>
                </a:solidFill>
              </a:rPr>
              <a:t>Команда</a:t>
            </a:r>
            <a:r>
              <a:rPr sz="4600" spc="-340" dirty="0">
                <a:solidFill>
                  <a:srgbClr val="FFFFFF"/>
                </a:solidFill>
              </a:rPr>
              <a:t> </a:t>
            </a:r>
            <a:r>
              <a:rPr sz="4600" spc="-10" dirty="0">
                <a:solidFill>
                  <a:srgbClr val="FFFFFF"/>
                </a:solidFill>
              </a:rPr>
              <a:t>курса</a:t>
            </a:r>
            <a:endParaRPr sz="4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Команда</a:t>
            </a:r>
            <a:r>
              <a:rPr spc="-175" dirty="0"/>
              <a:t> </a:t>
            </a:r>
            <a:r>
              <a:rPr spc="-10" dirty="0"/>
              <a:t>курса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1095" y="1149604"/>
            <a:ext cx="4542155" cy="243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2548890" indent="-6350">
              <a:lnSpc>
                <a:spcPct val="156300"/>
              </a:lnSpc>
              <a:spcBef>
                <a:spcPts val="100"/>
              </a:spcBef>
            </a:pPr>
            <a:r>
              <a:rPr sz="1600" b="1" spc="-10" dirty="0">
                <a:latin typeface="Trebuchet MS"/>
                <a:cs typeface="Trebuchet MS"/>
              </a:rPr>
              <a:t>Руководитель</a:t>
            </a:r>
            <a:r>
              <a:rPr sz="1600" b="1" spc="-75" dirty="0">
                <a:latin typeface="Trebuchet MS"/>
                <a:cs typeface="Trebuchet MS"/>
              </a:rPr>
              <a:t> </a:t>
            </a:r>
            <a:r>
              <a:rPr sz="1600" b="1" spc="-20" dirty="0">
                <a:latin typeface="Trebuchet MS"/>
                <a:cs typeface="Trebuchet MS"/>
              </a:rPr>
              <a:t>курса </a:t>
            </a:r>
            <a:r>
              <a:rPr sz="1600" b="1" spc="-20" dirty="0">
                <a:solidFill>
                  <a:srgbClr val="FF9900"/>
                </a:solidFill>
                <a:latin typeface="Trebuchet MS"/>
                <a:cs typeface="Trebuchet MS"/>
              </a:rPr>
              <a:t>Игорь</a:t>
            </a:r>
            <a:r>
              <a:rPr sz="1600" b="1" spc="-9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FF9900"/>
                </a:solidFill>
                <a:latin typeface="Trebuchet MS"/>
                <a:cs typeface="Trebuchet MS"/>
              </a:rPr>
              <a:t>Стурейко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1200" b="1" spc="-40" dirty="0">
                <a:latin typeface="Trebuchet MS"/>
                <a:cs typeface="Trebuchet MS"/>
              </a:rPr>
              <a:t>Teamlead,</a:t>
            </a:r>
            <a:r>
              <a:rPr sz="1200" b="1" spc="-20" dirty="0">
                <a:latin typeface="Trebuchet MS"/>
                <a:cs typeface="Trebuchet MS"/>
              </a:rPr>
              <a:t> главный</a:t>
            </a:r>
            <a:r>
              <a:rPr sz="1200" b="1" spc="-30" dirty="0">
                <a:latin typeface="Trebuchet MS"/>
                <a:cs typeface="Trebuchet MS"/>
              </a:rPr>
              <a:t> </a:t>
            </a:r>
            <a:r>
              <a:rPr sz="1200" b="1" spc="-35" dirty="0">
                <a:latin typeface="Trebuchet MS"/>
                <a:cs typeface="Trebuchet MS"/>
              </a:rPr>
              <a:t>инженер</a:t>
            </a:r>
            <a:r>
              <a:rPr sz="1200" b="1" spc="-2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проекта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200" b="1" spc="-25" dirty="0">
                <a:latin typeface="Trebuchet MS"/>
                <a:cs typeface="Trebuchet MS"/>
              </a:rPr>
              <a:t>Физический</a:t>
            </a:r>
            <a:r>
              <a:rPr sz="1200" b="1" spc="-40" dirty="0">
                <a:latin typeface="Trebuchet MS"/>
                <a:cs typeface="Trebuchet MS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факультет</a:t>
            </a:r>
            <a:r>
              <a:rPr sz="1200" b="1" spc="-30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МГУ,</a:t>
            </a:r>
            <a:r>
              <a:rPr sz="1200" b="1" spc="-2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PhD</a:t>
            </a:r>
            <a:r>
              <a:rPr sz="1200" b="1" spc="-35" dirty="0">
                <a:latin typeface="Trebuchet MS"/>
                <a:cs typeface="Trebuchet MS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теоретическая </a:t>
            </a:r>
            <a:r>
              <a:rPr sz="1200" b="1" spc="-10" dirty="0">
                <a:latin typeface="Trebuchet MS"/>
                <a:cs typeface="Trebuchet MS"/>
              </a:rPr>
              <a:t>физика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200">
              <a:latin typeface="Trebuchet MS"/>
              <a:cs typeface="Trebuchet MS"/>
            </a:endParaRPr>
          </a:p>
          <a:p>
            <a:pPr marL="12700" marR="163830">
              <a:lnSpc>
                <a:spcPts val="1420"/>
              </a:lnSpc>
            </a:pPr>
            <a:r>
              <a:rPr sz="1200" spc="50" dirty="0">
                <a:latin typeface="Trebuchet MS"/>
                <a:cs typeface="Trebuchet MS"/>
              </a:rPr>
              <a:t>15+</a:t>
            </a:r>
            <a:r>
              <a:rPr sz="1200" spc="1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лет</a:t>
            </a:r>
            <a:r>
              <a:rPr sz="1200" spc="2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опыта</a:t>
            </a:r>
            <a:r>
              <a:rPr sz="1200" spc="15" dirty="0">
                <a:latin typeface="Trebuchet MS"/>
                <a:cs typeface="Trebuchet MS"/>
              </a:rPr>
              <a:t> </a:t>
            </a:r>
            <a:r>
              <a:rPr sz="1200" spc="55" dirty="0">
                <a:latin typeface="Trebuchet MS"/>
                <a:cs typeface="Trebuchet MS"/>
              </a:rPr>
              <a:t>в</a:t>
            </a:r>
            <a:r>
              <a:rPr sz="1200" spc="2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прикладной</a:t>
            </a:r>
            <a:r>
              <a:rPr sz="1200" spc="1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математике</a:t>
            </a:r>
            <a:r>
              <a:rPr sz="1200" spc="2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и</a:t>
            </a:r>
            <a:r>
              <a:rPr sz="1200" spc="1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математическом </a:t>
            </a:r>
            <a:r>
              <a:rPr sz="1200" spc="10" dirty="0">
                <a:latin typeface="Trebuchet MS"/>
                <a:cs typeface="Trebuchet MS"/>
              </a:rPr>
              <a:t>моделировании</a:t>
            </a:r>
            <a:r>
              <a:rPr sz="1200" spc="50" dirty="0">
                <a:latin typeface="Trebuchet MS"/>
                <a:cs typeface="Trebuchet MS"/>
              </a:rPr>
              <a:t> </a:t>
            </a:r>
            <a:r>
              <a:rPr sz="1200" spc="10" dirty="0">
                <a:latin typeface="Trebuchet MS"/>
                <a:cs typeface="Trebuchet MS"/>
              </a:rPr>
              <a:t>НИИгазэкономика</a:t>
            </a:r>
            <a:r>
              <a:rPr sz="1200" spc="65" dirty="0">
                <a:latin typeface="Trebuchet MS"/>
                <a:cs typeface="Trebuchet MS"/>
              </a:rPr>
              <a:t> </a:t>
            </a:r>
            <a:r>
              <a:rPr sz="1200" spc="50" dirty="0">
                <a:latin typeface="Trebuchet MS"/>
                <a:cs typeface="Trebuchet MS"/>
              </a:rPr>
              <a:t>ПАО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Газпром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ts val="1420"/>
              </a:lnSpc>
            </a:pPr>
            <a:r>
              <a:rPr sz="1200" dirty="0">
                <a:latin typeface="Trebuchet MS"/>
                <a:cs typeface="Trebuchet MS"/>
              </a:rPr>
              <a:t>Руководил</a:t>
            </a:r>
            <a:r>
              <a:rPr sz="1200" spc="6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командой,</a:t>
            </a:r>
            <a:r>
              <a:rPr sz="1200" spc="5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решающей</a:t>
            </a:r>
            <a:r>
              <a:rPr sz="1200" spc="4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прикладные</a:t>
            </a:r>
            <a:r>
              <a:rPr sz="1200" spc="60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задачи,</a:t>
            </a:r>
            <a:r>
              <a:rPr sz="1200" spc="55" dirty="0">
                <a:latin typeface="Trebuchet MS"/>
                <a:cs typeface="Trebuchet MS"/>
              </a:rPr>
              <a:t> </a:t>
            </a:r>
            <a:r>
              <a:rPr sz="1200" spc="40" dirty="0">
                <a:latin typeface="Trebuchet MS"/>
                <a:cs typeface="Trebuchet MS"/>
              </a:rPr>
              <a:t>вывод </a:t>
            </a:r>
            <a:r>
              <a:rPr sz="1200" dirty="0">
                <a:latin typeface="Trebuchet MS"/>
                <a:cs typeface="Trebuchet MS"/>
              </a:rPr>
              <a:t>готовых</a:t>
            </a:r>
            <a:r>
              <a:rPr sz="1200" spc="1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моделей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spc="55" dirty="0">
                <a:latin typeface="Trebuchet MS"/>
                <a:cs typeface="Trebuchet MS"/>
              </a:rPr>
              <a:t>в</a:t>
            </a:r>
            <a:r>
              <a:rPr sz="1200" spc="10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продакшн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и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поддержку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dirty="0">
                <a:latin typeface="Trebuchet MS"/>
                <a:cs typeface="Trebuchet MS"/>
              </a:rPr>
              <a:t>решений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spc="-40" dirty="0">
                <a:latin typeface="Trebuchet MS"/>
                <a:cs typeface="Trebuchet MS"/>
              </a:rPr>
              <a:t>у</a:t>
            </a:r>
            <a:r>
              <a:rPr sz="1200" spc="5" dirty="0">
                <a:latin typeface="Trebuchet MS"/>
                <a:cs typeface="Trebuchet MS"/>
              </a:rPr>
              <a:t> </a:t>
            </a:r>
            <a:r>
              <a:rPr sz="1200" spc="-10" dirty="0">
                <a:latin typeface="Trebuchet MS"/>
                <a:cs typeface="Trebuchet MS"/>
              </a:rPr>
              <a:t>клиента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4099" y="1195199"/>
            <a:ext cx="2430145" cy="3232785"/>
            <a:chOff x="614099" y="1195199"/>
            <a:chExt cx="2430145" cy="3232785"/>
          </a:xfrm>
        </p:grpSpPr>
        <p:sp>
          <p:nvSpPr>
            <p:cNvPr id="5" name="object 5"/>
            <p:cNvSpPr/>
            <p:nvPr/>
          </p:nvSpPr>
          <p:spPr>
            <a:xfrm>
              <a:off x="614099" y="1195199"/>
              <a:ext cx="520700" cy="3232785"/>
            </a:xfrm>
            <a:custGeom>
              <a:avLst/>
              <a:gdLst/>
              <a:ahLst/>
              <a:cxnLst/>
              <a:rect l="l" t="t" r="r" b="b"/>
              <a:pathLst>
                <a:path w="520700" h="3232785">
                  <a:moveTo>
                    <a:pt x="520200" y="0"/>
                  </a:moveTo>
                  <a:lnTo>
                    <a:pt x="0" y="0"/>
                  </a:lnTo>
                  <a:lnTo>
                    <a:pt x="0" y="3232500"/>
                  </a:lnTo>
                  <a:lnTo>
                    <a:pt x="520200" y="3232500"/>
                  </a:lnTo>
                  <a:lnTo>
                    <a:pt x="5202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24" y="1576773"/>
              <a:ext cx="2253984" cy="221052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Команда</a:t>
            </a:r>
            <a:r>
              <a:rPr spc="-175" dirty="0"/>
              <a:t> </a:t>
            </a:r>
            <a:r>
              <a:rPr spc="-10" dirty="0"/>
              <a:t>курса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/>
              <a:t>Вадим</a:t>
            </a:r>
            <a:r>
              <a:rPr spc="15" dirty="0"/>
              <a:t> </a:t>
            </a:r>
            <a:r>
              <a:rPr spc="-10" dirty="0"/>
              <a:t>Заигрин</a:t>
            </a: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000" b="0" dirty="0">
                <a:solidFill>
                  <a:srgbClr val="000000"/>
                </a:solidFill>
                <a:latin typeface="Trebuchet MS"/>
                <a:cs typeface="Trebuchet MS"/>
              </a:rPr>
              <a:t>Ведущий </a:t>
            </a:r>
            <a:r>
              <a:rPr sz="1000" b="0" spc="-10" dirty="0">
                <a:solidFill>
                  <a:srgbClr val="000000"/>
                </a:solidFill>
                <a:latin typeface="Trebuchet MS"/>
                <a:cs typeface="Trebuchet MS"/>
              </a:rPr>
              <a:t>консультант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/>
              <a:t>Дмитрий</a:t>
            </a:r>
            <a:r>
              <a:rPr spc="-95" dirty="0"/>
              <a:t> </a:t>
            </a:r>
            <a:r>
              <a:rPr spc="-10" dirty="0"/>
              <a:t>Бугайченко</a:t>
            </a:r>
          </a:p>
          <a:p>
            <a:pPr marL="12700" marR="467995">
              <a:lnSpc>
                <a:spcPct val="118000"/>
              </a:lnSpc>
              <a:spcBef>
                <a:spcPts val="190"/>
              </a:spcBef>
            </a:pPr>
            <a:r>
              <a:rPr sz="1000" b="0" spc="10" dirty="0">
                <a:solidFill>
                  <a:srgbClr val="000000"/>
                </a:solidFill>
                <a:latin typeface="Trebuchet MS"/>
                <a:cs typeface="Trebuchet MS"/>
              </a:rPr>
              <a:t>Управляющий</a:t>
            </a:r>
            <a:r>
              <a:rPr sz="1000" b="0" spc="13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000" b="0" spc="-10" dirty="0">
                <a:solidFill>
                  <a:srgbClr val="000000"/>
                </a:solidFill>
                <a:latin typeface="Trebuchet MS"/>
                <a:cs typeface="Trebuchet MS"/>
              </a:rPr>
              <a:t>директор </a:t>
            </a:r>
            <a:r>
              <a:rPr sz="1000" b="0" spc="-75" dirty="0">
                <a:solidFill>
                  <a:srgbClr val="000000"/>
                </a:solidFill>
                <a:latin typeface="Trebuchet MS"/>
                <a:cs typeface="Trebuchet MS"/>
              </a:rPr>
              <a:t>к.ф.-</a:t>
            </a:r>
            <a:r>
              <a:rPr sz="1000" b="0" spc="-20" dirty="0">
                <a:solidFill>
                  <a:srgbClr val="000000"/>
                </a:solidFill>
                <a:latin typeface="Trebuchet MS"/>
                <a:cs typeface="Trebuchet MS"/>
              </a:rPr>
              <a:t>м.н.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/>
              <a:t>Петр</a:t>
            </a:r>
            <a:r>
              <a:rPr spc="-60" dirty="0"/>
              <a:t> </a:t>
            </a:r>
            <a:r>
              <a:rPr spc="-10" dirty="0"/>
              <a:t>Емельянов</a:t>
            </a: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000" b="0" spc="-25" dirty="0">
                <a:solidFill>
                  <a:srgbClr val="000000"/>
                </a:solidFill>
                <a:latin typeface="Trebuchet MS"/>
                <a:cs typeface="Trebuchet MS"/>
              </a:rPr>
              <a:t>CEO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Павел</a:t>
            </a:r>
            <a:r>
              <a:rPr spc="-60" dirty="0"/>
              <a:t> </a:t>
            </a:r>
            <a:r>
              <a:rPr spc="-10" dirty="0"/>
              <a:t>Филонов</a:t>
            </a: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000" b="0" dirty="0">
                <a:solidFill>
                  <a:srgbClr val="000000"/>
                </a:solidFill>
                <a:latin typeface="Trebuchet MS"/>
                <a:cs typeface="Trebuchet MS"/>
              </a:rPr>
              <a:t>Собственный</a:t>
            </a:r>
            <a:r>
              <a:rPr sz="1000" b="0" spc="18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1000" b="0" spc="-10" dirty="0">
                <a:solidFill>
                  <a:srgbClr val="000000"/>
                </a:solidFill>
                <a:latin typeface="Trebuchet MS"/>
                <a:cs typeface="Trebuchet MS"/>
              </a:rPr>
              <a:t>консалтинг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4099" y="1195199"/>
            <a:ext cx="1006475" cy="3617595"/>
            <a:chOff x="614099" y="1195199"/>
            <a:chExt cx="1006475" cy="3617595"/>
          </a:xfrm>
        </p:grpSpPr>
        <p:sp>
          <p:nvSpPr>
            <p:cNvPr id="5" name="object 5"/>
            <p:cNvSpPr/>
            <p:nvPr/>
          </p:nvSpPr>
          <p:spPr>
            <a:xfrm>
              <a:off x="614099" y="1195199"/>
              <a:ext cx="520700" cy="3617595"/>
            </a:xfrm>
            <a:custGeom>
              <a:avLst/>
              <a:gdLst/>
              <a:ahLst/>
              <a:cxnLst/>
              <a:rect l="l" t="t" r="r" b="b"/>
              <a:pathLst>
                <a:path w="520700" h="3617595">
                  <a:moveTo>
                    <a:pt x="520200" y="0"/>
                  </a:moveTo>
                  <a:lnTo>
                    <a:pt x="0" y="0"/>
                  </a:lnTo>
                  <a:lnTo>
                    <a:pt x="0" y="3617576"/>
                  </a:lnTo>
                  <a:lnTo>
                    <a:pt x="520200" y="3617576"/>
                  </a:lnTo>
                  <a:lnTo>
                    <a:pt x="5202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919" y="1279644"/>
              <a:ext cx="830099" cy="81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9919" y="2150641"/>
              <a:ext cx="830099" cy="8190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919" y="3021637"/>
              <a:ext cx="830099" cy="819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9919" y="3894441"/>
              <a:ext cx="830099" cy="81899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372360" y="1441958"/>
            <a:ext cx="1589405" cy="131826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500" b="1" dirty="0">
                <a:solidFill>
                  <a:srgbClr val="FF9900"/>
                </a:solidFill>
                <a:latin typeface="Trebuchet MS"/>
                <a:cs typeface="Trebuchet MS"/>
              </a:rPr>
              <a:t>Максим</a:t>
            </a:r>
            <a:r>
              <a:rPr sz="1500" b="1" spc="114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Мигутин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000" spc="-20" dirty="0">
                <a:latin typeface="Trebuchet MS"/>
                <a:cs typeface="Trebuchet MS"/>
              </a:rPr>
              <a:t>DataScientist,</a:t>
            </a:r>
            <a:r>
              <a:rPr sz="1000" spc="1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DataEngineer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Николай</a:t>
            </a:r>
            <a:r>
              <a:rPr sz="1500" b="1" spc="-4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Осипов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000" spc="90" dirty="0">
                <a:latin typeface="Trebuchet MS"/>
                <a:cs typeface="Trebuchet MS"/>
              </a:rPr>
              <a:t>ML</a:t>
            </a:r>
            <a:r>
              <a:rPr sz="1000" spc="-5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Engineer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466227" y="1160852"/>
            <a:ext cx="939800" cy="3617595"/>
            <a:chOff x="7466227" y="1160852"/>
            <a:chExt cx="939800" cy="3617595"/>
          </a:xfrm>
        </p:grpSpPr>
        <p:sp>
          <p:nvSpPr>
            <p:cNvPr id="12" name="object 12"/>
            <p:cNvSpPr/>
            <p:nvPr/>
          </p:nvSpPr>
          <p:spPr>
            <a:xfrm>
              <a:off x="7885690" y="1160852"/>
              <a:ext cx="520700" cy="3617595"/>
            </a:xfrm>
            <a:custGeom>
              <a:avLst/>
              <a:gdLst/>
              <a:ahLst/>
              <a:cxnLst/>
              <a:rect l="l" t="t" r="r" b="b"/>
              <a:pathLst>
                <a:path w="520700" h="3617595">
                  <a:moveTo>
                    <a:pt x="520200" y="0"/>
                  </a:moveTo>
                  <a:lnTo>
                    <a:pt x="0" y="0"/>
                  </a:lnTo>
                  <a:lnTo>
                    <a:pt x="0" y="3617576"/>
                  </a:lnTo>
                  <a:lnTo>
                    <a:pt x="520200" y="3617576"/>
                  </a:lnTo>
                  <a:lnTo>
                    <a:pt x="5202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66227" y="1245298"/>
              <a:ext cx="830099" cy="81899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66227" y="2987290"/>
              <a:ext cx="830099" cy="8190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66227" y="2116293"/>
              <a:ext cx="830099" cy="8190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66227" y="3894442"/>
              <a:ext cx="830099" cy="81899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372360" y="3193033"/>
            <a:ext cx="1729105" cy="134747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Николай</a:t>
            </a:r>
            <a:r>
              <a:rPr sz="1500" b="1" spc="-4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Степанов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000" spc="90" dirty="0">
                <a:latin typeface="Trebuchet MS"/>
                <a:cs typeface="Trebuchet MS"/>
              </a:rPr>
              <a:t>ML</a:t>
            </a:r>
            <a:r>
              <a:rPr sz="1000" spc="-5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Engineer</a:t>
            </a: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Инна</a:t>
            </a:r>
            <a:r>
              <a:rPr sz="1500" b="1" spc="-10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FF9900"/>
                </a:solidFill>
                <a:latin typeface="Trebuchet MS"/>
                <a:cs typeface="Trebuchet MS"/>
              </a:rPr>
              <a:t>Мельникова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000" dirty="0">
                <a:latin typeface="Trebuchet MS"/>
                <a:cs typeface="Trebuchet MS"/>
              </a:rPr>
              <a:t>Комьюнити</a:t>
            </a:r>
            <a:r>
              <a:rPr sz="1000" spc="165" dirty="0">
                <a:latin typeface="Trebuchet MS"/>
                <a:cs typeface="Trebuchet MS"/>
              </a:rPr>
              <a:t> </a:t>
            </a:r>
            <a:r>
              <a:rPr sz="1000" spc="-10" dirty="0">
                <a:latin typeface="Trebuchet MS"/>
                <a:cs typeface="Trebuchet MS"/>
              </a:rPr>
              <a:t>менеджер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0150" y="2051811"/>
            <a:ext cx="414909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100" dirty="0">
                <a:solidFill>
                  <a:srgbClr val="FFFFFF"/>
                </a:solidFill>
              </a:rPr>
              <a:t>О</a:t>
            </a:r>
            <a:r>
              <a:rPr sz="4600" spc="-250" dirty="0">
                <a:solidFill>
                  <a:srgbClr val="FFFFFF"/>
                </a:solidFill>
              </a:rPr>
              <a:t> </a:t>
            </a:r>
            <a:r>
              <a:rPr sz="4600" spc="-85" dirty="0">
                <a:solidFill>
                  <a:srgbClr val="FFFFFF"/>
                </a:solidFill>
              </a:rPr>
              <a:t>курсе</a:t>
            </a:r>
            <a:r>
              <a:rPr sz="4600" spc="-250" dirty="0">
                <a:solidFill>
                  <a:srgbClr val="FFFFFF"/>
                </a:solidFill>
              </a:rPr>
              <a:t> </a:t>
            </a:r>
            <a:r>
              <a:rPr sz="4600" spc="125" dirty="0">
                <a:solidFill>
                  <a:srgbClr val="FFFFFF"/>
                </a:solidFill>
              </a:rPr>
              <a:t>MLOps</a:t>
            </a:r>
            <a:endParaRPr sz="46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Карта</a:t>
            </a:r>
            <a:r>
              <a:rPr spc="-170" dirty="0"/>
              <a:t> </a:t>
            </a:r>
            <a:r>
              <a:rPr spc="-10" dirty="0"/>
              <a:t>курса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549" y="769970"/>
            <a:ext cx="8103391" cy="40440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51378" y="911859"/>
            <a:ext cx="10845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1.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Процессы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3384" y="1804923"/>
            <a:ext cx="16262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2.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Инфраструктура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53384" y="2655316"/>
            <a:ext cx="16605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4.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Моделирование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3384" y="2655316"/>
            <a:ext cx="11715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5.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3384" y="3508755"/>
            <a:ext cx="15443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6.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Развертывание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53384" y="3508755"/>
            <a:ext cx="13055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7.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Мониторинг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51378" y="4400296"/>
            <a:ext cx="151765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60" dirty="0">
                <a:latin typeface="Trebuchet MS"/>
                <a:cs typeface="Trebuchet MS"/>
              </a:rPr>
              <a:t>8.</a:t>
            </a:r>
            <a:r>
              <a:rPr sz="1300" spc="-5" dirty="0">
                <a:latin typeface="Trebuchet MS"/>
                <a:cs typeface="Trebuchet MS"/>
              </a:rPr>
              <a:t> </a:t>
            </a:r>
            <a:r>
              <a:rPr sz="1300" dirty="0">
                <a:latin typeface="Trebuchet MS"/>
                <a:cs typeface="Trebuchet MS"/>
              </a:rPr>
              <a:t>Курсовой </a:t>
            </a:r>
            <a:r>
              <a:rPr sz="1300" spc="-10" dirty="0">
                <a:latin typeface="Trebuchet MS"/>
                <a:cs typeface="Trebuchet MS"/>
              </a:rPr>
              <a:t>проект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95016" y="1338072"/>
            <a:ext cx="4761230" cy="1149350"/>
            <a:chOff x="2795016" y="1338072"/>
            <a:chExt cx="4761230" cy="114935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20639" y="1338072"/>
              <a:ext cx="246887" cy="2468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95016" y="2237232"/>
              <a:ext cx="249936" cy="2499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6056" y="2231136"/>
              <a:ext cx="249935" cy="24993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445856" y="1344676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20740" y="2246883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53384" y="1804923"/>
            <a:ext cx="2380615" cy="61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3.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6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510"/>
              </a:spcBef>
            </a:pPr>
            <a:r>
              <a:rPr sz="1000" i="1" spc="-1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89109" y="878379"/>
            <a:ext cx="6843395" cy="3844290"/>
            <a:chOff x="789109" y="878379"/>
            <a:chExt cx="6843395" cy="3844290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06056" y="3090671"/>
              <a:ext cx="249935" cy="24688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46248" y="3090671"/>
              <a:ext cx="249936" cy="24688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46248" y="3944111"/>
              <a:ext cx="249936" cy="24993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85304" y="3944111"/>
              <a:ext cx="246888" cy="24993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65383" y="878379"/>
              <a:ext cx="419929" cy="3960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9109" y="1771398"/>
              <a:ext cx="419929" cy="3960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79110" y="1770692"/>
              <a:ext cx="419929" cy="3960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79110" y="2609735"/>
              <a:ext cx="419929" cy="3960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9109" y="2616087"/>
              <a:ext cx="419929" cy="3960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9109" y="3457464"/>
              <a:ext cx="419929" cy="3959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79110" y="3471719"/>
              <a:ext cx="419929" cy="3960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65383" y="4326413"/>
              <a:ext cx="419929" cy="3960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633945" y="3097276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72375" y="3097276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72375" y="3953764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10740" y="3953764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6712" y="36601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2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2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8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5344" y="3742435"/>
            <a:ext cx="1906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Взаимодействие</a:t>
            </a:r>
            <a:r>
              <a:rPr sz="1200" spc="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</a:t>
            </a:r>
            <a:r>
              <a:rPr sz="1200" spc="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командой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0845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1.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Процессы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6712" y="209304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5344" y="2172716"/>
            <a:ext cx="2559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Вводное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занятие,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знакомство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курсом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6712" y="2615406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8"/>
                </a:lnTo>
                <a:lnTo>
                  <a:pt x="5355965" y="329998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5344" y="2696972"/>
            <a:ext cx="1929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Цели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метрики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ML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проектов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3137768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3218179"/>
            <a:ext cx="19297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Организация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исходного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кода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4182493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4263644"/>
            <a:ext cx="3123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Практика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–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 Формирование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процессов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команды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802015" y="1683727"/>
            <a:ext cx="5735688" cy="2857791"/>
            <a:chOff x="1802015" y="1683727"/>
            <a:chExt cx="5735688" cy="2857791"/>
          </a:xfrm>
        </p:grpSpPr>
        <p:sp>
          <p:nvSpPr>
            <p:cNvPr id="16" name="object 16"/>
            <p:cNvSpPr/>
            <p:nvPr/>
          </p:nvSpPr>
          <p:spPr>
            <a:xfrm>
              <a:off x="1802015" y="1683727"/>
              <a:ext cx="424815" cy="2734945"/>
            </a:xfrm>
            <a:custGeom>
              <a:avLst/>
              <a:gdLst/>
              <a:ahLst/>
              <a:cxnLst/>
              <a:rect l="l" t="t" r="r" b="b"/>
              <a:pathLst>
                <a:path w="424814" h="2734945">
                  <a:moveTo>
                    <a:pt x="424688" y="607314"/>
                  </a:moveTo>
                  <a:lnTo>
                    <a:pt x="415163" y="602551"/>
                  </a:lnTo>
                  <a:lnTo>
                    <a:pt x="348488" y="569214"/>
                  </a:lnTo>
                  <a:lnTo>
                    <a:pt x="348488" y="602551"/>
                  </a:lnTo>
                  <a:lnTo>
                    <a:pt x="9525" y="602551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609955"/>
                  </a:lnTo>
                  <a:lnTo>
                    <a:pt x="0" y="1132319"/>
                  </a:lnTo>
                  <a:lnTo>
                    <a:pt x="0" y="1654670"/>
                  </a:lnTo>
                  <a:lnTo>
                    <a:pt x="0" y="2699397"/>
                  </a:lnTo>
                  <a:lnTo>
                    <a:pt x="2133" y="2701531"/>
                  </a:lnTo>
                  <a:lnTo>
                    <a:pt x="343611" y="2701531"/>
                  </a:lnTo>
                  <a:lnTo>
                    <a:pt x="343611" y="2734868"/>
                  </a:lnTo>
                  <a:lnTo>
                    <a:pt x="410286" y="2701531"/>
                  </a:lnTo>
                  <a:lnTo>
                    <a:pt x="419811" y="2696768"/>
                  </a:lnTo>
                  <a:lnTo>
                    <a:pt x="410286" y="2692006"/>
                  </a:lnTo>
                  <a:lnTo>
                    <a:pt x="343611" y="2658668"/>
                  </a:lnTo>
                  <a:lnTo>
                    <a:pt x="343611" y="2692006"/>
                  </a:lnTo>
                  <a:lnTo>
                    <a:pt x="9525" y="2692006"/>
                  </a:lnTo>
                  <a:lnTo>
                    <a:pt x="9525" y="1656803"/>
                  </a:lnTo>
                  <a:lnTo>
                    <a:pt x="348488" y="1656803"/>
                  </a:lnTo>
                  <a:lnTo>
                    <a:pt x="348488" y="1690141"/>
                  </a:lnTo>
                  <a:lnTo>
                    <a:pt x="415163" y="1656803"/>
                  </a:lnTo>
                  <a:lnTo>
                    <a:pt x="424688" y="1652041"/>
                  </a:lnTo>
                  <a:lnTo>
                    <a:pt x="415163" y="1647278"/>
                  </a:lnTo>
                  <a:lnTo>
                    <a:pt x="348488" y="1613941"/>
                  </a:lnTo>
                  <a:lnTo>
                    <a:pt x="348488" y="1647278"/>
                  </a:lnTo>
                  <a:lnTo>
                    <a:pt x="9525" y="1647278"/>
                  </a:lnTo>
                  <a:lnTo>
                    <a:pt x="9525" y="1134440"/>
                  </a:lnTo>
                  <a:lnTo>
                    <a:pt x="348488" y="1134440"/>
                  </a:lnTo>
                  <a:lnTo>
                    <a:pt x="348488" y="1167777"/>
                  </a:lnTo>
                  <a:lnTo>
                    <a:pt x="415163" y="1134440"/>
                  </a:lnTo>
                  <a:lnTo>
                    <a:pt x="424688" y="1129677"/>
                  </a:lnTo>
                  <a:lnTo>
                    <a:pt x="415163" y="1124915"/>
                  </a:lnTo>
                  <a:lnTo>
                    <a:pt x="348488" y="1091577"/>
                  </a:lnTo>
                  <a:lnTo>
                    <a:pt x="348488" y="1124915"/>
                  </a:lnTo>
                  <a:lnTo>
                    <a:pt x="9525" y="1124915"/>
                  </a:lnTo>
                  <a:lnTo>
                    <a:pt x="9525" y="612076"/>
                  </a:lnTo>
                  <a:lnTo>
                    <a:pt x="348488" y="612076"/>
                  </a:lnTo>
                  <a:lnTo>
                    <a:pt x="348488" y="645414"/>
                  </a:lnTo>
                  <a:lnTo>
                    <a:pt x="415163" y="612076"/>
                  </a:lnTo>
                  <a:lnTo>
                    <a:pt x="424688" y="6073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11568" y="4212335"/>
              <a:ext cx="326135" cy="32918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802020" y="2193324"/>
              <a:ext cx="424815" cy="1703070"/>
            </a:xfrm>
            <a:custGeom>
              <a:avLst/>
              <a:gdLst/>
              <a:ahLst/>
              <a:cxnLst/>
              <a:rect l="l" t="t" r="r" b="b"/>
              <a:pathLst>
                <a:path w="424814" h="1703070">
                  <a:moveTo>
                    <a:pt x="348491" y="1626707"/>
                  </a:moveTo>
                  <a:lnTo>
                    <a:pt x="348491" y="1702907"/>
                  </a:lnTo>
                  <a:lnTo>
                    <a:pt x="415166" y="1669569"/>
                  </a:lnTo>
                  <a:lnTo>
                    <a:pt x="361191" y="1669569"/>
                  </a:lnTo>
                  <a:lnTo>
                    <a:pt x="361191" y="1660044"/>
                  </a:lnTo>
                  <a:lnTo>
                    <a:pt x="415166" y="1660044"/>
                  </a:lnTo>
                  <a:lnTo>
                    <a:pt x="348491" y="1626707"/>
                  </a:lnTo>
                  <a:close/>
                </a:path>
                <a:path w="424814" h="1703070">
                  <a:moveTo>
                    <a:pt x="9525" y="0"/>
                  </a:moveTo>
                  <a:lnTo>
                    <a:pt x="0" y="0"/>
                  </a:lnTo>
                  <a:lnTo>
                    <a:pt x="0" y="1667437"/>
                  </a:lnTo>
                  <a:lnTo>
                    <a:pt x="2132" y="1669569"/>
                  </a:lnTo>
                  <a:lnTo>
                    <a:pt x="348491" y="1669569"/>
                  </a:lnTo>
                  <a:lnTo>
                    <a:pt x="348491" y="1664807"/>
                  </a:lnTo>
                  <a:lnTo>
                    <a:pt x="9525" y="1664807"/>
                  </a:lnTo>
                  <a:lnTo>
                    <a:pt x="4762" y="1660044"/>
                  </a:lnTo>
                  <a:lnTo>
                    <a:pt x="9525" y="1660044"/>
                  </a:lnTo>
                  <a:lnTo>
                    <a:pt x="9525" y="0"/>
                  </a:lnTo>
                  <a:close/>
                </a:path>
                <a:path w="424814" h="1703070">
                  <a:moveTo>
                    <a:pt x="415166" y="1660044"/>
                  </a:moveTo>
                  <a:lnTo>
                    <a:pt x="361191" y="1660044"/>
                  </a:lnTo>
                  <a:lnTo>
                    <a:pt x="361191" y="1669569"/>
                  </a:lnTo>
                  <a:lnTo>
                    <a:pt x="415166" y="1669569"/>
                  </a:lnTo>
                  <a:lnTo>
                    <a:pt x="424691" y="1664807"/>
                  </a:lnTo>
                  <a:lnTo>
                    <a:pt x="415166" y="1660044"/>
                  </a:lnTo>
                  <a:close/>
                </a:path>
                <a:path w="424814" h="1703070">
                  <a:moveTo>
                    <a:pt x="9525" y="1660044"/>
                  </a:moveTo>
                  <a:lnTo>
                    <a:pt x="4762" y="1660044"/>
                  </a:lnTo>
                  <a:lnTo>
                    <a:pt x="9525" y="1664807"/>
                  </a:lnTo>
                  <a:lnTo>
                    <a:pt x="9525" y="1660044"/>
                  </a:lnTo>
                  <a:close/>
                </a:path>
                <a:path w="424814" h="1703070">
                  <a:moveTo>
                    <a:pt x="348491" y="1660044"/>
                  </a:moveTo>
                  <a:lnTo>
                    <a:pt x="9525" y="1660044"/>
                  </a:lnTo>
                  <a:lnTo>
                    <a:pt x="9525" y="1664807"/>
                  </a:lnTo>
                  <a:lnTo>
                    <a:pt x="348491" y="1664807"/>
                  </a:lnTo>
                  <a:lnTo>
                    <a:pt x="348491" y="1660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02020" y="2193324"/>
              <a:ext cx="424815" cy="1703070"/>
            </a:xfrm>
            <a:custGeom>
              <a:avLst/>
              <a:gdLst/>
              <a:ahLst/>
              <a:cxnLst/>
              <a:rect l="l" t="t" r="r" b="b"/>
              <a:pathLst>
                <a:path w="424814" h="1703070">
                  <a:moveTo>
                    <a:pt x="348491" y="1626707"/>
                  </a:moveTo>
                  <a:lnTo>
                    <a:pt x="348491" y="1702907"/>
                  </a:lnTo>
                  <a:lnTo>
                    <a:pt x="415166" y="1669569"/>
                  </a:lnTo>
                  <a:lnTo>
                    <a:pt x="361191" y="1669569"/>
                  </a:lnTo>
                  <a:lnTo>
                    <a:pt x="361191" y="1660044"/>
                  </a:lnTo>
                  <a:lnTo>
                    <a:pt x="415166" y="1660044"/>
                  </a:lnTo>
                  <a:lnTo>
                    <a:pt x="348491" y="1626707"/>
                  </a:lnTo>
                  <a:close/>
                </a:path>
                <a:path w="424814" h="1703070">
                  <a:moveTo>
                    <a:pt x="9525" y="0"/>
                  </a:moveTo>
                  <a:lnTo>
                    <a:pt x="0" y="0"/>
                  </a:lnTo>
                  <a:lnTo>
                    <a:pt x="0" y="1667437"/>
                  </a:lnTo>
                  <a:lnTo>
                    <a:pt x="2132" y="1669569"/>
                  </a:lnTo>
                  <a:lnTo>
                    <a:pt x="348491" y="1669569"/>
                  </a:lnTo>
                  <a:lnTo>
                    <a:pt x="348491" y="1664807"/>
                  </a:lnTo>
                  <a:lnTo>
                    <a:pt x="9525" y="1664807"/>
                  </a:lnTo>
                  <a:lnTo>
                    <a:pt x="4762" y="1660044"/>
                  </a:lnTo>
                  <a:lnTo>
                    <a:pt x="9525" y="1660044"/>
                  </a:lnTo>
                  <a:lnTo>
                    <a:pt x="9525" y="0"/>
                  </a:lnTo>
                  <a:close/>
                </a:path>
                <a:path w="424814" h="1703070">
                  <a:moveTo>
                    <a:pt x="415166" y="1660044"/>
                  </a:moveTo>
                  <a:lnTo>
                    <a:pt x="361191" y="1660044"/>
                  </a:lnTo>
                  <a:lnTo>
                    <a:pt x="361191" y="1669569"/>
                  </a:lnTo>
                  <a:lnTo>
                    <a:pt x="415166" y="1669569"/>
                  </a:lnTo>
                  <a:lnTo>
                    <a:pt x="424691" y="1664807"/>
                  </a:lnTo>
                  <a:lnTo>
                    <a:pt x="415166" y="1660044"/>
                  </a:lnTo>
                  <a:close/>
                </a:path>
                <a:path w="424814" h="1703070">
                  <a:moveTo>
                    <a:pt x="9525" y="1660044"/>
                  </a:moveTo>
                  <a:lnTo>
                    <a:pt x="4762" y="1660044"/>
                  </a:lnTo>
                  <a:lnTo>
                    <a:pt x="9525" y="1664807"/>
                  </a:lnTo>
                  <a:lnTo>
                    <a:pt x="9525" y="1660044"/>
                  </a:lnTo>
                  <a:close/>
                </a:path>
                <a:path w="424814" h="1703070">
                  <a:moveTo>
                    <a:pt x="348491" y="1660044"/>
                  </a:moveTo>
                  <a:lnTo>
                    <a:pt x="9525" y="1660044"/>
                  </a:lnTo>
                  <a:lnTo>
                    <a:pt x="9525" y="1664807"/>
                  </a:lnTo>
                  <a:lnTo>
                    <a:pt x="348491" y="1664807"/>
                  </a:lnTo>
                  <a:lnTo>
                    <a:pt x="348491" y="1660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 rot="20760000">
            <a:off x="7618361" y="4213134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  <p:pic>
        <p:nvPicPr>
          <p:cNvPr id="38" name="object 3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0618" y="1200956"/>
            <a:ext cx="419929" cy="396000"/>
          </a:xfrm>
          <a:prstGeom prst="rect">
            <a:avLst/>
          </a:prstGeom>
        </p:spPr>
      </p:pic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27" y="3279085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58" y="3359642"/>
            <a:ext cx="1616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Изменение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кода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CI/CD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6262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2.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Инфраструктура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19327" y="1907720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8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87957" y="1990267"/>
            <a:ext cx="21031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Базовые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блоки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инфраструктуры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27" y="2344285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1"/>
                </a:lnTo>
                <a:lnTo>
                  <a:pt x="5350778" y="40311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58" y="2426170"/>
            <a:ext cx="15347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Облачные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провайдеры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09" y="2797359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1" y="2878579"/>
            <a:ext cx="19183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Собственная</a:t>
            </a:r>
            <a:r>
              <a:rPr sz="1200" spc="-6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инфраструктура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6709" y="3764048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5339" y="3843939"/>
            <a:ext cx="2776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Биллинг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Identity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and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Access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Management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02012" y="1684173"/>
            <a:ext cx="424815" cy="2263201"/>
          </a:xfrm>
          <a:custGeom>
            <a:avLst/>
            <a:gdLst/>
            <a:ahLst/>
            <a:cxnLst/>
            <a:rect l="l" t="t" r="r" b="b"/>
            <a:pathLst>
              <a:path w="424814" h="2385695">
                <a:moveTo>
                  <a:pt x="424688" y="1389113"/>
                </a:moveTo>
                <a:lnTo>
                  <a:pt x="415163" y="1384350"/>
                </a:lnTo>
                <a:lnTo>
                  <a:pt x="348488" y="1351013"/>
                </a:lnTo>
                <a:lnTo>
                  <a:pt x="348488" y="1384350"/>
                </a:lnTo>
                <a:lnTo>
                  <a:pt x="9525" y="1384350"/>
                </a:lnTo>
                <a:lnTo>
                  <a:pt x="9525" y="914666"/>
                </a:lnTo>
                <a:lnTo>
                  <a:pt x="343611" y="914666"/>
                </a:lnTo>
                <a:lnTo>
                  <a:pt x="343611" y="948004"/>
                </a:lnTo>
                <a:lnTo>
                  <a:pt x="410286" y="914666"/>
                </a:lnTo>
                <a:lnTo>
                  <a:pt x="419811" y="909904"/>
                </a:lnTo>
                <a:lnTo>
                  <a:pt x="410286" y="905141"/>
                </a:lnTo>
                <a:lnTo>
                  <a:pt x="343611" y="871804"/>
                </a:lnTo>
                <a:lnTo>
                  <a:pt x="343611" y="905141"/>
                </a:lnTo>
                <a:lnTo>
                  <a:pt x="9525" y="905141"/>
                </a:lnTo>
                <a:lnTo>
                  <a:pt x="9525" y="435470"/>
                </a:lnTo>
                <a:lnTo>
                  <a:pt x="343611" y="435470"/>
                </a:lnTo>
                <a:lnTo>
                  <a:pt x="343611" y="468807"/>
                </a:lnTo>
                <a:lnTo>
                  <a:pt x="410286" y="435470"/>
                </a:lnTo>
                <a:lnTo>
                  <a:pt x="419811" y="430707"/>
                </a:lnTo>
                <a:lnTo>
                  <a:pt x="410286" y="425945"/>
                </a:lnTo>
                <a:lnTo>
                  <a:pt x="343611" y="392607"/>
                </a:lnTo>
                <a:lnTo>
                  <a:pt x="343611" y="425945"/>
                </a:lnTo>
                <a:lnTo>
                  <a:pt x="9525" y="425945"/>
                </a:lnTo>
                <a:lnTo>
                  <a:pt x="9525" y="0"/>
                </a:lnTo>
                <a:lnTo>
                  <a:pt x="0" y="0"/>
                </a:lnTo>
                <a:lnTo>
                  <a:pt x="0" y="2350135"/>
                </a:lnTo>
                <a:lnTo>
                  <a:pt x="2133" y="2352268"/>
                </a:lnTo>
                <a:lnTo>
                  <a:pt x="343611" y="2352268"/>
                </a:lnTo>
                <a:lnTo>
                  <a:pt x="343611" y="2385606"/>
                </a:lnTo>
                <a:lnTo>
                  <a:pt x="410286" y="2352268"/>
                </a:lnTo>
                <a:lnTo>
                  <a:pt x="419811" y="2347506"/>
                </a:lnTo>
                <a:lnTo>
                  <a:pt x="410286" y="2342743"/>
                </a:lnTo>
                <a:lnTo>
                  <a:pt x="343611" y="2309406"/>
                </a:lnTo>
                <a:lnTo>
                  <a:pt x="343611" y="2342743"/>
                </a:lnTo>
                <a:lnTo>
                  <a:pt x="9525" y="2342743"/>
                </a:lnTo>
                <a:lnTo>
                  <a:pt x="9525" y="1873072"/>
                </a:lnTo>
                <a:lnTo>
                  <a:pt x="343611" y="1873072"/>
                </a:lnTo>
                <a:lnTo>
                  <a:pt x="343611" y="1906409"/>
                </a:lnTo>
                <a:lnTo>
                  <a:pt x="410286" y="1873072"/>
                </a:lnTo>
                <a:lnTo>
                  <a:pt x="419811" y="1868309"/>
                </a:lnTo>
                <a:lnTo>
                  <a:pt x="410286" y="1863547"/>
                </a:lnTo>
                <a:lnTo>
                  <a:pt x="343611" y="1830209"/>
                </a:lnTo>
                <a:lnTo>
                  <a:pt x="343611" y="1863547"/>
                </a:lnTo>
                <a:lnTo>
                  <a:pt x="9525" y="1863547"/>
                </a:lnTo>
                <a:lnTo>
                  <a:pt x="9525" y="1393875"/>
                </a:lnTo>
                <a:lnTo>
                  <a:pt x="348488" y="1393875"/>
                </a:lnTo>
                <a:lnTo>
                  <a:pt x="348488" y="1427213"/>
                </a:lnTo>
                <a:lnTo>
                  <a:pt x="415163" y="1393875"/>
                </a:lnTo>
                <a:lnTo>
                  <a:pt x="424688" y="1389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01457" y="2608986"/>
            <a:ext cx="420370" cy="2355215"/>
          </a:xfrm>
          <a:custGeom>
            <a:avLst/>
            <a:gdLst/>
            <a:ahLst/>
            <a:cxnLst/>
            <a:rect l="l" t="t" r="r" b="b"/>
            <a:pathLst>
              <a:path w="420369" h="2355215">
                <a:moveTo>
                  <a:pt x="343609" y="2279009"/>
                </a:moveTo>
                <a:lnTo>
                  <a:pt x="343609" y="2355209"/>
                </a:lnTo>
                <a:lnTo>
                  <a:pt x="410284" y="2321872"/>
                </a:lnTo>
                <a:lnTo>
                  <a:pt x="356309" y="2321872"/>
                </a:lnTo>
                <a:lnTo>
                  <a:pt x="356309" y="2312347"/>
                </a:lnTo>
                <a:lnTo>
                  <a:pt x="410284" y="2312347"/>
                </a:lnTo>
                <a:lnTo>
                  <a:pt x="343609" y="2279009"/>
                </a:lnTo>
                <a:close/>
              </a:path>
              <a:path w="420369" h="2355215">
                <a:moveTo>
                  <a:pt x="9525" y="0"/>
                </a:moveTo>
                <a:lnTo>
                  <a:pt x="0" y="0"/>
                </a:lnTo>
                <a:lnTo>
                  <a:pt x="0" y="2319739"/>
                </a:lnTo>
                <a:lnTo>
                  <a:pt x="2132" y="2321872"/>
                </a:lnTo>
                <a:lnTo>
                  <a:pt x="343609" y="2321872"/>
                </a:lnTo>
                <a:lnTo>
                  <a:pt x="343609" y="2317109"/>
                </a:lnTo>
                <a:lnTo>
                  <a:pt x="9525" y="2317109"/>
                </a:lnTo>
                <a:lnTo>
                  <a:pt x="4762" y="2312347"/>
                </a:lnTo>
                <a:lnTo>
                  <a:pt x="9525" y="2312347"/>
                </a:lnTo>
                <a:lnTo>
                  <a:pt x="9525" y="0"/>
                </a:lnTo>
                <a:close/>
              </a:path>
              <a:path w="420369" h="2355215">
                <a:moveTo>
                  <a:pt x="410284" y="2312347"/>
                </a:moveTo>
                <a:lnTo>
                  <a:pt x="356309" y="2312347"/>
                </a:lnTo>
                <a:lnTo>
                  <a:pt x="356309" y="2321872"/>
                </a:lnTo>
                <a:lnTo>
                  <a:pt x="410284" y="2321872"/>
                </a:lnTo>
                <a:lnTo>
                  <a:pt x="419809" y="2317109"/>
                </a:lnTo>
                <a:lnTo>
                  <a:pt x="410284" y="2312347"/>
                </a:lnTo>
                <a:close/>
              </a:path>
              <a:path w="420369" h="2355215">
                <a:moveTo>
                  <a:pt x="9525" y="2312347"/>
                </a:moveTo>
                <a:lnTo>
                  <a:pt x="4762" y="2312347"/>
                </a:lnTo>
                <a:lnTo>
                  <a:pt x="9525" y="2317109"/>
                </a:lnTo>
                <a:lnTo>
                  <a:pt x="9525" y="2312347"/>
                </a:lnTo>
                <a:close/>
              </a:path>
              <a:path w="420369" h="2355215">
                <a:moveTo>
                  <a:pt x="343609" y="2312347"/>
                </a:moveTo>
                <a:lnTo>
                  <a:pt x="9525" y="2312347"/>
                </a:lnTo>
                <a:lnTo>
                  <a:pt x="9525" y="2317109"/>
                </a:lnTo>
                <a:lnTo>
                  <a:pt x="343609" y="2317109"/>
                </a:lnTo>
                <a:lnTo>
                  <a:pt x="343609" y="23123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221829" y="469438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5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5" y="395999"/>
                </a:lnTo>
                <a:lnTo>
                  <a:pt x="5315655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5" y="5186"/>
                </a:lnTo>
                <a:lnTo>
                  <a:pt x="5289965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>
            <a:off x="2390458" y="4789851"/>
            <a:ext cx="3143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Практика.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Настройка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облачной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инфраструктуры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43" name="object 4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002" y="1223450"/>
            <a:ext cx="419929" cy="396000"/>
          </a:xfrm>
          <a:prstGeom prst="rect">
            <a:avLst/>
          </a:prstGeom>
        </p:spPr>
      </p:pic>
      <p:sp>
        <p:nvSpPr>
          <p:cNvPr id="46" name="object 35">
            <a:extLst>
              <a:ext uri="{FF2B5EF4-FFF2-40B4-BE49-F238E27FC236}">
                <a16:creationId xmlns:a16="http://schemas.microsoft.com/office/drawing/2014/main" id="{E67BCFB8-7FF3-C449-B4F5-E65944A95C28}"/>
              </a:ext>
            </a:extLst>
          </p:cNvPr>
          <p:cNvSpPr/>
          <p:nvPr/>
        </p:nvSpPr>
        <p:spPr>
          <a:xfrm>
            <a:off x="2225607" y="4234506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5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5" y="395999"/>
                </a:lnTo>
                <a:lnTo>
                  <a:pt x="5315655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5" y="5186"/>
                </a:lnTo>
                <a:lnTo>
                  <a:pt x="5289965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39">
            <a:extLst>
              <a:ext uri="{FF2B5EF4-FFF2-40B4-BE49-F238E27FC236}">
                <a16:creationId xmlns:a16="http://schemas.microsoft.com/office/drawing/2014/main" id="{80930845-927D-5740-8D49-21B557BCF845}"/>
              </a:ext>
            </a:extLst>
          </p:cNvPr>
          <p:cNvSpPr txBox="1"/>
          <p:nvPr/>
        </p:nvSpPr>
        <p:spPr>
          <a:xfrm>
            <a:off x="2391632" y="4335851"/>
            <a:ext cx="31432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dirty="0" err="1">
                <a:solidFill>
                  <a:srgbClr val="1F1F1F"/>
                </a:solidFill>
                <a:latin typeface="Calibri"/>
                <a:cs typeface="Calibri"/>
              </a:rPr>
              <a:t>О</a:t>
            </a:r>
            <a:r>
              <a:rPr lang="ru-RU" sz="1200" dirty="0" err="1">
                <a:solidFill>
                  <a:srgbClr val="1F1F1F"/>
                </a:solidFill>
                <a:latin typeface="Calibri"/>
                <a:cs typeface="Calibri"/>
              </a:rPr>
              <a:t>сновы</a:t>
            </a:r>
            <a:r>
              <a:rPr lang="ru-RU" sz="120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lang="ru-RU" sz="1200" dirty="0" err="1">
                <a:solidFill>
                  <a:srgbClr val="1F1F1F"/>
                </a:solidFill>
                <a:latin typeface="Calibri"/>
                <a:cs typeface="Calibri"/>
              </a:rPr>
              <a:t>T</a:t>
            </a:r>
            <a:r>
              <a:rPr lang="en-US" sz="1200" dirty="0" err="1">
                <a:solidFill>
                  <a:srgbClr val="1F1F1F"/>
                </a:solidFill>
                <a:latin typeface="Calibri"/>
                <a:cs typeface="Calibri"/>
              </a:rPr>
              <a:t>erraform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8" name="object 26">
            <a:extLst>
              <a:ext uri="{FF2B5EF4-FFF2-40B4-BE49-F238E27FC236}">
                <a16:creationId xmlns:a16="http://schemas.microsoft.com/office/drawing/2014/main" id="{37F9F7DB-BDA3-2B44-9182-FB399DA8991E}"/>
              </a:ext>
            </a:extLst>
          </p:cNvPr>
          <p:cNvSpPr/>
          <p:nvPr/>
        </p:nvSpPr>
        <p:spPr>
          <a:xfrm>
            <a:off x="1801457" y="2114550"/>
            <a:ext cx="420370" cy="2355215"/>
          </a:xfrm>
          <a:custGeom>
            <a:avLst/>
            <a:gdLst/>
            <a:ahLst/>
            <a:cxnLst/>
            <a:rect l="l" t="t" r="r" b="b"/>
            <a:pathLst>
              <a:path w="420369" h="2355215">
                <a:moveTo>
                  <a:pt x="343609" y="2279009"/>
                </a:moveTo>
                <a:lnTo>
                  <a:pt x="343609" y="2355209"/>
                </a:lnTo>
                <a:lnTo>
                  <a:pt x="410284" y="2321872"/>
                </a:lnTo>
                <a:lnTo>
                  <a:pt x="356309" y="2321872"/>
                </a:lnTo>
                <a:lnTo>
                  <a:pt x="356309" y="2312347"/>
                </a:lnTo>
                <a:lnTo>
                  <a:pt x="410284" y="2312347"/>
                </a:lnTo>
                <a:lnTo>
                  <a:pt x="343609" y="2279009"/>
                </a:lnTo>
                <a:close/>
              </a:path>
              <a:path w="420369" h="2355215">
                <a:moveTo>
                  <a:pt x="9525" y="0"/>
                </a:moveTo>
                <a:lnTo>
                  <a:pt x="0" y="0"/>
                </a:lnTo>
                <a:lnTo>
                  <a:pt x="0" y="2319739"/>
                </a:lnTo>
                <a:lnTo>
                  <a:pt x="2132" y="2321872"/>
                </a:lnTo>
                <a:lnTo>
                  <a:pt x="343609" y="2321872"/>
                </a:lnTo>
                <a:lnTo>
                  <a:pt x="343609" y="2317109"/>
                </a:lnTo>
                <a:lnTo>
                  <a:pt x="9525" y="2317109"/>
                </a:lnTo>
                <a:lnTo>
                  <a:pt x="4762" y="2312347"/>
                </a:lnTo>
                <a:lnTo>
                  <a:pt x="9525" y="2312347"/>
                </a:lnTo>
                <a:lnTo>
                  <a:pt x="9525" y="0"/>
                </a:lnTo>
                <a:close/>
              </a:path>
              <a:path w="420369" h="2355215">
                <a:moveTo>
                  <a:pt x="410284" y="2312347"/>
                </a:moveTo>
                <a:lnTo>
                  <a:pt x="356309" y="2312347"/>
                </a:lnTo>
                <a:lnTo>
                  <a:pt x="356309" y="2321872"/>
                </a:lnTo>
                <a:lnTo>
                  <a:pt x="410284" y="2321872"/>
                </a:lnTo>
                <a:lnTo>
                  <a:pt x="419809" y="2317109"/>
                </a:lnTo>
                <a:lnTo>
                  <a:pt x="410284" y="2312347"/>
                </a:lnTo>
                <a:close/>
              </a:path>
              <a:path w="420369" h="2355215">
                <a:moveTo>
                  <a:pt x="9525" y="2312347"/>
                </a:moveTo>
                <a:lnTo>
                  <a:pt x="4762" y="2312347"/>
                </a:lnTo>
                <a:lnTo>
                  <a:pt x="9525" y="2317109"/>
                </a:lnTo>
                <a:lnTo>
                  <a:pt x="9525" y="2312347"/>
                </a:lnTo>
                <a:close/>
              </a:path>
              <a:path w="420369" h="2355215">
                <a:moveTo>
                  <a:pt x="343609" y="2312347"/>
                </a:moveTo>
                <a:lnTo>
                  <a:pt x="9525" y="2312347"/>
                </a:lnTo>
                <a:lnTo>
                  <a:pt x="9525" y="2317109"/>
                </a:lnTo>
                <a:lnTo>
                  <a:pt x="343609" y="2317109"/>
                </a:lnTo>
                <a:lnTo>
                  <a:pt x="343609" y="23123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4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1567" y="4271525"/>
            <a:ext cx="326135" cy="326136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 rot="20760000">
            <a:off x="7618361" y="4269276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3540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434588"/>
            <a:ext cx="12623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733675" cy="579755"/>
          </a:xfrm>
          <a:custGeom>
            <a:avLst/>
            <a:gdLst/>
            <a:ahLst/>
            <a:cxnLst/>
            <a:rect l="l" t="t" r="r" b="b"/>
            <a:pathLst>
              <a:path w="2733675" h="579755">
                <a:moveTo>
                  <a:pt x="2636935" y="0"/>
                </a:moveTo>
                <a:lnTo>
                  <a:pt x="96550" y="0"/>
                </a:lnTo>
                <a:lnTo>
                  <a:pt x="58968" y="7587"/>
                </a:lnTo>
                <a:lnTo>
                  <a:pt x="28279" y="28279"/>
                </a:lnTo>
                <a:lnTo>
                  <a:pt x="7587" y="58969"/>
                </a:lnTo>
                <a:lnTo>
                  <a:pt x="0" y="96551"/>
                </a:lnTo>
                <a:lnTo>
                  <a:pt x="0" y="482749"/>
                </a:lnTo>
                <a:lnTo>
                  <a:pt x="7587" y="520331"/>
                </a:lnTo>
                <a:lnTo>
                  <a:pt x="28279" y="551021"/>
                </a:lnTo>
                <a:lnTo>
                  <a:pt x="58968" y="571712"/>
                </a:lnTo>
                <a:lnTo>
                  <a:pt x="96550" y="579300"/>
                </a:lnTo>
                <a:lnTo>
                  <a:pt x="2636935" y="579300"/>
                </a:lnTo>
                <a:lnTo>
                  <a:pt x="2674517" y="571712"/>
                </a:lnTo>
                <a:lnTo>
                  <a:pt x="2705207" y="551021"/>
                </a:lnTo>
                <a:lnTo>
                  <a:pt x="2725899" y="520331"/>
                </a:lnTo>
                <a:lnTo>
                  <a:pt x="2733487" y="482749"/>
                </a:lnTo>
                <a:lnTo>
                  <a:pt x="2733487" y="96551"/>
                </a:lnTo>
                <a:lnTo>
                  <a:pt x="2725899" y="58969"/>
                </a:lnTo>
                <a:lnTo>
                  <a:pt x="2705207" y="28279"/>
                </a:lnTo>
                <a:lnTo>
                  <a:pt x="2674517" y="7587"/>
                </a:lnTo>
                <a:lnTo>
                  <a:pt x="2636935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92023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3.</a:t>
            </a:r>
            <a:r>
              <a:rPr sz="16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19164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8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1998979"/>
            <a:ext cx="2715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Выбор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хранилища.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HDFS/S3/DataBase/etc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3956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1"/>
                </a:lnTo>
                <a:lnTo>
                  <a:pt x="5350778" y="40311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477516"/>
            <a:ext cx="1957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Сбор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на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потоке.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Kafka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28748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2956051"/>
            <a:ext cx="2437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Сбор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расписанию.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AirFlow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38332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3913123"/>
            <a:ext cx="2108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Обнаружение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сдвигов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98454" y="1225104"/>
            <a:ext cx="6979340" cy="3803233"/>
            <a:chOff x="598454" y="1225104"/>
            <a:chExt cx="6979340" cy="3803233"/>
          </a:xfrm>
        </p:grpSpPr>
        <p:sp>
          <p:nvSpPr>
            <p:cNvPr id="16" name="object 16"/>
            <p:cNvSpPr/>
            <p:nvPr/>
          </p:nvSpPr>
          <p:spPr>
            <a:xfrm>
              <a:off x="1862531" y="1683727"/>
              <a:ext cx="364490" cy="2385695"/>
            </a:xfrm>
            <a:custGeom>
              <a:avLst/>
              <a:gdLst/>
              <a:ahLst/>
              <a:cxnLst/>
              <a:rect l="l" t="t" r="r" b="b"/>
              <a:pathLst>
                <a:path w="364489" h="2385695">
                  <a:moveTo>
                    <a:pt x="364172" y="1389113"/>
                  </a:moveTo>
                  <a:lnTo>
                    <a:pt x="354647" y="1384350"/>
                  </a:lnTo>
                  <a:lnTo>
                    <a:pt x="287972" y="1351013"/>
                  </a:lnTo>
                  <a:lnTo>
                    <a:pt x="287972" y="1384350"/>
                  </a:lnTo>
                  <a:lnTo>
                    <a:pt x="9525" y="1384350"/>
                  </a:lnTo>
                  <a:lnTo>
                    <a:pt x="9525" y="914666"/>
                  </a:lnTo>
                  <a:lnTo>
                    <a:pt x="283095" y="914666"/>
                  </a:lnTo>
                  <a:lnTo>
                    <a:pt x="283095" y="948004"/>
                  </a:lnTo>
                  <a:lnTo>
                    <a:pt x="349770" y="914666"/>
                  </a:lnTo>
                  <a:lnTo>
                    <a:pt x="359295" y="909904"/>
                  </a:lnTo>
                  <a:lnTo>
                    <a:pt x="349770" y="905141"/>
                  </a:lnTo>
                  <a:lnTo>
                    <a:pt x="283095" y="871804"/>
                  </a:lnTo>
                  <a:lnTo>
                    <a:pt x="283095" y="905141"/>
                  </a:lnTo>
                  <a:lnTo>
                    <a:pt x="9525" y="905141"/>
                  </a:lnTo>
                  <a:lnTo>
                    <a:pt x="9525" y="435470"/>
                  </a:lnTo>
                  <a:lnTo>
                    <a:pt x="283095" y="435470"/>
                  </a:lnTo>
                  <a:lnTo>
                    <a:pt x="283095" y="468807"/>
                  </a:lnTo>
                  <a:lnTo>
                    <a:pt x="349770" y="435470"/>
                  </a:lnTo>
                  <a:lnTo>
                    <a:pt x="359295" y="430707"/>
                  </a:lnTo>
                  <a:lnTo>
                    <a:pt x="349770" y="425945"/>
                  </a:lnTo>
                  <a:lnTo>
                    <a:pt x="283095" y="392607"/>
                  </a:lnTo>
                  <a:lnTo>
                    <a:pt x="283095" y="425945"/>
                  </a:lnTo>
                  <a:lnTo>
                    <a:pt x="9525" y="425945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2350135"/>
                  </a:lnTo>
                  <a:lnTo>
                    <a:pt x="2120" y="2352268"/>
                  </a:lnTo>
                  <a:lnTo>
                    <a:pt x="283095" y="2352268"/>
                  </a:lnTo>
                  <a:lnTo>
                    <a:pt x="283095" y="2385606"/>
                  </a:lnTo>
                  <a:lnTo>
                    <a:pt x="349770" y="2352268"/>
                  </a:lnTo>
                  <a:lnTo>
                    <a:pt x="359295" y="2347506"/>
                  </a:lnTo>
                  <a:lnTo>
                    <a:pt x="349770" y="2342743"/>
                  </a:lnTo>
                  <a:lnTo>
                    <a:pt x="283095" y="2309406"/>
                  </a:lnTo>
                  <a:lnTo>
                    <a:pt x="283095" y="2342743"/>
                  </a:lnTo>
                  <a:lnTo>
                    <a:pt x="9525" y="2342743"/>
                  </a:lnTo>
                  <a:lnTo>
                    <a:pt x="9525" y="1873072"/>
                  </a:lnTo>
                  <a:lnTo>
                    <a:pt x="283095" y="1873072"/>
                  </a:lnTo>
                  <a:lnTo>
                    <a:pt x="283095" y="1906409"/>
                  </a:lnTo>
                  <a:lnTo>
                    <a:pt x="349770" y="1873072"/>
                  </a:lnTo>
                  <a:lnTo>
                    <a:pt x="359295" y="1868309"/>
                  </a:lnTo>
                  <a:lnTo>
                    <a:pt x="349770" y="1863547"/>
                  </a:lnTo>
                  <a:lnTo>
                    <a:pt x="283095" y="1830209"/>
                  </a:lnTo>
                  <a:lnTo>
                    <a:pt x="283095" y="1863547"/>
                  </a:lnTo>
                  <a:lnTo>
                    <a:pt x="9525" y="1863547"/>
                  </a:lnTo>
                  <a:lnTo>
                    <a:pt x="9525" y="1393875"/>
                  </a:lnTo>
                  <a:lnTo>
                    <a:pt x="287972" y="1393875"/>
                  </a:lnTo>
                  <a:lnTo>
                    <a:pt x="287972" y="1427213"/>
                  </a:lnTo>
                  <a:lnTo>
                    <a:pt x="354647" y="1393875"/>
                  </a:lnTo>
                  <a:lnTo>
                    <a:pt x="364172" y="13891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62532" y="1683718"/>
              <a:ext cx="359410" cy="2865120"/>
            </a:xfrm>
            <a:custGeom>
              <a:avLst/>
              <a:gdLst/>
              <a:ahLst/>
              <a:cxnLst/>
              <a:rect l="l" t="t" r="r" b="b"/>
              <a:pathLst>
                <a:path w="359410" h="2865120">
                  <a:moveTo>
                    <a:pt x="283098" y="2788614"/>
                  </a:moveTo>
                  <a:lnTo>
                    <a:pt x="283098" y="2864814"/>
                  </a:lnTo>
                  <a:lnTo>
                    <a:pt x="349773" y="2831476"/>
                  </a:lnTo>
                  <a:lnTo>
                    <a:pt x="295798" y="2831476"/>
                  </a:lnTo>
                  <a:lnTo>
                    <a:pt x="295798" y="2821951"/>
                  </a:lnTo>
                  <a:lnTo>
                    <a:pt x="349773" y="2821951"/>
                  </a:lnTo>
                  <a:lnTo>
                    <a:pt x="283098" y="2788614"/>
                  </a:lnTo>
                  <a:close/>
                </a:path>
                <a:path w="359410" h="2865120">
                  <a:moveTo>
                    <a:pt x="9525" y="0"/>
                  </a:moveTo>
                  <a:lnTo>
                    <a:pt x="0" y="0"/>
                  </a:lnTo>
                  <a:lnTo>
                    <a:pt x="0" y="2829344"/>
                  </a:lnTo>
                  <a:lnTo>
                    <a:pt x="2132" y="2831476"/>
                  </a:lnTo>
                  <a:lnTo>
                    <a:pt x="283098" y="2831476"/>
                  </a:lnTo>
                  <a:lnTo>
                    <a:pt x="283098" y="2826714"/>
                  </a:lnTo>
                  <a:lnTo>
                    <a:pt x="9525" y="2826714"/>
                  </a:lnTo>
                  <a:lnTo>
                    <a:pt x="4762" y="2821951"/>
                  </a:lnTo>
                  <a:lnTo>
                    <a:pt x="9525" y="2821951"/>
                  </a:lnTo>
                  <a:lnTo>
                    <a:pt x="9525" y="0"/>
                  </a:lnTo>
                  <a:close/>
                </a:path>
                <a:path w="359410" h="2865120">
                  <a:moveTo>
                    <a:pt x="349773" y="2821951"/>
                  </a:moveTo>
                  <a:lnTo>
                    <a:pt x="295798" y="2821951"/>
                  </a:lnTo>
                  <a:lnTo>
                    <a:pt x="295798" y="2831476"/>
                  </a:lnTo>
                  <a:lnTo>
                    <a:pt x="349773" y="2831476"/>
                  </a:lnTo>
                  <a:lnTo>
                    <a:pt x="359298" y="2826714"/>
                  </a:lnTo>
                  <a:lnTo>
                    <a:pt x="349773" y="2821951"/>
                  </a:lnTo>
                  <a:close/>
                </a:path>
                <a:path w="359410" h="2865120">
                  <a:moveTo>
                    <a:pt x="9525" y="2821951"/>
                  </a:moveTo>
                  <a:lnTo>
                    <a:pt x="4762" y="2821951"/>
                  </a:lnTo>
                  <a:lnTo>
                    <a:pt x="9525" y="2826714"/>
                  </a:lnTo>
                  <a:lnTo>
                    <a:pt x="9525" y="2821951"/>
                  </a:lnTo>
                  <a:close/>
                </a:path>
                <a:path w="359410" h="2865120">
                  <a:moveTo>
                    <a:pt x="283098" y="2821951"/>
                  </a:moveTo>
                  <a:lnTo>
                    <a:pt x="9525" y="2821951"/>
                  </a:lnTo>
                  <a:lnTo>
                    <a:pt x="9525" y="2826714"/>
                  </a:lnTo>
                  <a:lnTo>
                    <a:pt x="283098" y="2826714"/>
                  </a:lnTo>
                  <a:lnTo>
                    <a:pt x="283098" y="28219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21829" y="4312433"/>
              <a:ext cx="5355965" cy="39599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454" y="1225104"/>
              <a:ext cx="419929" cy="3960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572000" y="4597807"/>
              <a:ext cx="485140" cy="430530"/>
            </a:xfrm>
            <a:custGeom>
              <a:avLst/>
              <a:gdLst/>
              <a:ahLst/>
              <a:cxnLst/>
              <a:rect l="l" t="t" r="r" b="b"/>
              <a:pathLst>
                <a:path w="485139" h="430529">
                  <a:moveTo>
                    <a:pt x="363474" y="0"/>
                  </a:moveTo>
                  <a:lnTo>
                    <a:pt x="242315" y="107484"/>
                  </a:lnTo>
                  <a:lnTo>
                    <a:pt x="121158" y="0"/>
                  </a:lnTo>
                  <a:lnTo>
                    <a:pt x="121158" y="214969"/>
                  </a:lnTo>
                  <a:lnTo>
                    <a:pt x="0" y="214969"/>
                  </a:lnTo>
                  <a:lnTo>
                    <a:pt x="242315" y="429938"/>
                  </a:lnTo>
                  <a:lnTo>
                    <a:pt x="484632" y="214969"/>
                  </a:lnTo>
                  <a:lnTo>
                    <a:pt x="363474" y="214969"/>
                  </a:lnTo>
                  <a:lnTo>
                    <a:pt x="363474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72000" y="4597807"/>
              <a:ext cx="485140" cy="430530"/>
            </a:xfrm>
            <a:custGeom>
              <a:avLst/>
              <a:gdLst/>
              <a:ahLst/>
              <a:cxnLst/>
              <a:rect l="l" t="t" r="r" b="b"/>
              <a:pathLst>
                <a:path w="485139" h="430529">
                  <a:moveTo>
                    <a:pt x="363474" y="0"/>
                  </a:moveTo>
                  <a:lnTo>
                    <a:pt x="363474" y="214969"/>
                  </a:lnTo>
                  <a:lnTo>
                    <a:pt x="484632" y="214969"/>
                  </a:lnTo>
                  <a:lnTo>
                    <a:pt x="242316" y="429938"/>
                  </a:lnTo>
                  <a:lnTo>
                    <a:pt x="0" y="214969"/>
                  </a:lnTo>
                  <a:lnTo>
                    <a:pt x="121158" y="214969"/>
                  </a:lnTo>
                  <a:lnTo>
                    <a:pt x="121158" y="0"/>
                  </a:lnTo>
                  <a:lnTo>
                    <a:pt x="242316" y="107484"/>
                  </a:lnTo>
                  <a:lnTo>
                    <a:pt x="363474" y="0"/>
                  </a:lnTo>
                  <a:close/>
                </a:path>
              </a:pathLst>
            </a:custGeom>
            <a:ln w="254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87567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1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955796"/>
            <a:ext cx="23158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Использование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Feature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Store: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Feast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733675" cy="579755"/>
          </a:xfrm>
          <a:custGeom>
            <a:avLst/>
            <a:gdLst/>
            <a:ahLst/>
            <a:cxnLst/>
            <a:rect l="l" t="t" r="r" b="b"/>
            <a:pathLst>
              <a:path w="2733675" h="579755">
                <a:moveTo>
                  <a:pt x="2636935" y="0"/>
                </a:moveTo>
                <a:lnTo>
                  <a:pt x="96550" y="0"/>
                </a:lnTo>
                <a:lnTo>
                  <a:pt x="58968" y="7587"/>
                </a:lnTo>
                <a:lnTo>
                  <a:pt x="28279" y="28279"/>
                </a:lnTo>
                <a:lnTo>
                  <a:pt x="7587" y="58969"/>
                </a:lnTo>
                <a:lnTo>
                  <a:pt x="0" y="96551"/>
                </a:lnTo>
                <a:lnTo>
                  <a:pt x="0" y="482749"/>
                </a:lnTo>
                <a:lnTo>
                  <a:pt x="7587" y="520331"/>
                </a:lnTo>
                <a:lnTo>
                  <a:pt x="28279" y="551021"/>
                </a:lnTo>
                <a:lnTo>
                  <a:pt x="58968" y="571712"/>
                </a:lnTo>
                <a:lnTo>
                  <a:pt x="96550" y="579300"/>
                </a:lnTo>
                <a:lnTo>
                  <a:pt x="2636935" y="579300"/>
                </a:lnTo>
                <a:lnTo>
                  <a:pt x="2674517" y="571712"/>
                </a:lnTo>
                <a:lnTo>
                  <a:pt x="2705207" y="551021"/>
                </a:lnTo>
                <a:lnTo>
                  <a:pt x="2725899" y="520331"/>
                </a:lnTo>
                <a:lnTo>
                  <a:pt x="2733487" y="482749"/>
                </a:lnTo>
                <a:lnTo>
                  <a:pt x="2733487" y="96551"/>
                </a:lnTo>
                <a:lnTo>
                  <a:pt x="2725899" y="58969"/>
                </a:lnTo>
                <a:lnTo>
                  <a:pt x="2705207" y="28279"/>
                </a:lnTo>
                <a:lnTo>
                  <a:pt x="2674517" y="7587"/>
                </a:lnTo>
                <a:lnTo>
                  <a:pt x="2636935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92023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3.</a:t>
            </a:r>
            <a:r>
              <a:rPr sz="16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243807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2520188"/>
            <a:ext cx="2251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обогащение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91727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998723"/>
            <a:ext cx="1524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Извлечение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признаков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339647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8"/>
                </a:lnTo>
                <a:lnTo>
                  <a:pt x="5355965" y="329998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3477259"/>
            <a:ext cx="20593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Версионирование</a:t>
            </a:r>
            <a:r>
              <a:rPr sz="120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данных.</a:t>
            </a:r>
            <a:r>
              <a:rPr sz="1200" spc="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DVC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4354870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6000"/>
                </a:lnTo>
                <a:lnTo>
                  <a:pt x="5289964" y="396000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1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4437379"/>
            <a:ext cx="26396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Практика.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Конвейер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подготовки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98454" y="1225104"/>
            <a:ext cx="6984222" cy="3366288"/>
            <a:chOff x="598454" y="1225104"/>
            <a:chExt cx="6984222" cy="3366288"/>
          </a:xfrm>
        </p:grpSpPr>
        <p:sp>
          <p:nvSpPr>
            <p:cNvPr id="16" name="object 16"/>
            <p:cNvSpPr/>
            <p:nvPr/>
          </p:nvSpPr>
          <p:spPr>
            <a:xfrm>
              <a:off x="1862531" y="1683727"/>
              <a:ext cx="364490" cy="2907665"/>
            </a:xfrm>
            <a:custGeom>
              <a:avLst/>
              <a:gdLst/>
              <a:ahLst/>
              <a:cxnLst/>
              <a:rect l="l" t="t" r="r" b="b"/>
              <a:pathLst>
                <a:path w="364489" h="2907665">
                  <a:moveTo>
                    <a:pt x="364172" y="1910753"/>
                  </a:moveTo>
                  <a:lnTo>
                    <a:pt x="354647" y="1905990"/>
                  </a:lnTo>
                  <a:lnTo>
                    <a:pt x="287972" y="1872653"/>
                  </a:lnTo>
                  <a:lnTo>
                    <a:pt x="287972" y="1905990"/>
                  </a:lnTo>
                  <a:lnTo>
                    <a:pt x="9525" y="1905990"/>
                  </a:lnTo>
                  <a:lnTo>
                    <a:pt x="9525" y="1436306"/>
                  </a:lnTo>
                  <a:lnTo>
                    <a:pt x="283095" y="1436306"/>
                  </a:lnTo>
                  <a:lnTo>
                    <a:pt x="283095" y="1469644"/>
                  </a:lnTo>
                  <a:lnTo>
                    <a:pt x="349770" y="1436306"/>
                  </a:lnTo>
                  <a:lnTo>
                    <a:pt x="359295" y="1431544"/>
                  </a:lnTo>
                  <a:lnTo>
                    <a:pt x="349770" y="1426781"/>
                  </a:lnTo>
                  <a:lnTo>
                    <a:pt x="283095" y="1393444"/>
                  </a:lnTo>
                  <a:lnTo>
                    <a:pt x="283095" y="1426781"/>
                  </a:lnTo>
                  <a:lnTo>
                    <a:pt x="9525" y="1426781"/>
                  </a:lnTo>
                  <a:lnTo>
                    <a:pt x="9525" y="957110"/>
                  </a:lnTo>
                  <a:lnTo>
                    <a:pt x="283095" y="957110"/>
                  </a:lnTo>
                  <a:lnTo>
                    <a:pt x="283095" y="990447"/>
                  </a:lnTo>
                  <a:lnTo>
                    <a:pt x="349770" y="957110"/>
                  </a:lnTo>
                  <a:lnTo>
                    <a:pt x="359295" y="952347"/>
                  </a:lnTo>
                  <a:lnTo>
                    <a:pt x="349770" y="947585"/>
                  </a:lnTo>
                  <a:lnTo>
                    <a:pt x="283095" y="914247"/>
                  </a:lnTo>
                  <a:lnTo>
                    <a:pt x="283095" y="947585"/>
                  </a:lnTo>
                  <a:lnTo>
                    <a:pt x="9525" y="947585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2871774"/>
                  </a:lnTo>
                  <a:lnTo>
                    <a:pt x="2120" y="2873908"/>
                  </a:lnTo>
                  <a:lnTo>
                    <a:pt x="283095" y="2873908"/>
                  </a:lnTo>
                  <a:lnTo>
                    <a:pt x="283095" y="2907246"/>
                  </a:lnTo>
                  <a:lnTo>
                    <a:pt x="349770" y="2873908"/>
                  </a:lnTo>
                  <a:lnTo>
                    <a:pt x="359295" y="2869146"/>
                  </a:lnTo>
                  <a:lnTo>
                    <a:pt x="349770" y="2864383"/>
                  </a:lnTo>
                  <a:lnTo>
                    <a:pt x="283095" y="2831046"/>
                  </a:lnTo>
                  <a:lnTo>
                    <a:pt x="283095" y="2864383"/>
                  </a:lnTo>
                  <a:lnTo>
                    <a:pt x="9525" y="2864383"/>
                  </a:lnTo>
                  <a:lnTo>
                    <a:pt x="9525" y="2394712"/>
                  </a:lnTo>
                  <a:lnTo>
                    <a:pt x="283095" y="2394712"/>
                  </a:lnTo>
                  <a:lnTo>
                    <a:pt x="283095" y="2428049"/>
                  </a:lnTo>
                  <a:lnTo>
                    <a:pt x="349770" y="2394712"/>
                  </a:lnTo>
                  <a:lnTo>
                    <a:pt x="359295" y="2389949"/>
                  </a:lnTo>
                  <a:lnTo>
                    <a:pt x="349770" y="2385187"/>
                  </a:lnTo>
                  <a:lnTo>
                    <a:pt x="283095" y="2351849"/>
                  </a:lnTo>
                  <a:lnTo>
                    <a:pt x="283095" y="2385187"/>
                  </a:lnTo>
                  <a:lnTo>
                    <a:pt x="9525" y="2385187"/>
                  </a:lnTo>
                  <a:lnTo>
                    <a:pt x="9525" y="1915515"/>
                  </a:lnTo>
                  <a:lnTo>
                    <a:pt x="287972" y="1915515"/>
                  </a:lnTo>
                  <a:lnTo>
                    <a:pt x="287972" y="1948853"/>
                  </a:lnTo>
                  <a:lnTo>
                    <a:pt x="354647" y="1915515"/>
                  </a:lnTo>
                  <a:lnTo>
                    <a:pt x="364172" y="19107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62532" y="1683718"/>
              <a:ext cx="364490" cy="513080"/>
            </a:xfrm>
            <a:custGeom>
              <a:avLst/>
              <a:gdLst/>
              <a:ahLst/>
              <a:cxnLst/>
              <a:rect l="l" t="t" r="r" b="b"/>
              <a:pathLst>
                <a:path w="364489" h="513080">
                  <a:moveTo>
                    <a:pt x="287980" y="436378"/>
                  </a:moveTo>
                  <a:lnTo>
                    <a:pt x="287980" y="512578"/>
                  </a:lnTo>
                  <a:lnTo>
                    <a:pt x="354655" y="479240"/>
                  </a:lnTo>
                  <a:lnTo>
                    <a:pt x="300680" y="479240"/>
                  </a:lnTo>
                  <a:lnTo>
                    <a:pt x="300680" y="469715"/>
                  </a:lnTo>
                  <a:lnTo>
                    <a:pt x="354655" y="469715"/>
                  </a:lnTo>
                  <a:lnTo>
                    <a:pt x="287980" y="436378"/>
                  </a:lnTo>
                  <a:close/>
                </a:path>
                <a:path w="364489" h="513080">
                  <a:moveTo>
                    <a:pt x="9525" y="0"/>
                  </a:moveTo>
                  <a:lnTo>
                    <a:pt x="0" y="0"/>
                  </a:lnTo>
                  <a:lnTo>
                    <a:pt x="0" y="477108"/>
                  </a:lnTo>
                  <a:lnTo>
                    <a:pt x="2132" y="479240"/>
                  </a:lnTo>
                  <a:lnTo>
                    <a:pt x="287980" y="479240"/>
                  </a:lnTo>
                  <a:lnTo>
                    <a:pt x="287980" y="474478"/>
                  </a:lnTo>
                  <a:lnTo>
                    <a:pt x="9525" y="474478"/>
                  </a:lnTo>
                  <a:lnTo>
                    <a:pt x="4762" y="469715"/>
                  </a:lnTo>
                  <a:lnTo>
                    <a:pt x="9525" y="469715"/>
                  </a:lnTo>
                  <a:lnTo>
                    <a:pt x="9525" y="0"/>
                  </a:lnTo>
                  <a:close/>
                </a:path>
                <a:path w="364489" h="513080">
                  <a:moveTo>
                    <a:pt x="354655" y="469715"/>
                  </a:moveTo>
                  <a:lnTo>
                    <a:pt x="300680" y="469715"/>
                  </a:lnTo>
                  <a:lnTo>
                    <a:pt x="300680" y="479240"/>
                  </a:lnTo>
                  <a:lnTo>
                    <a:pt x="354655" y="479240"/>
                  </a:lnTo>
                  <a:lnTo>
                    <a:pt x="364180" y="474478"/>
                  </a:lnTo>
                  <a:lnTo>
                    <a:pt x="354655" y="469715"/>
                  </a:lnTo>
                  <a:close/>
                </a:path>
                <a:path w="364489" h="513080">
                  <a:moveTo>
                    <a:pt x="9525" y="469715"/>
                  </a:moveTo>
                  <a:lnTo>
                    <a:pt x="4762" y="469715"/>
                  </a:lnTo>
                  <a:lnTo>
                    <a:pt x="9525" y="474478"/>
                  </a:lnTo>
                  <a:lnTo>
                    <a:pt x="9525" y="469715"/>
                  </a:lnTo>
                  <a:close/>
                </a:path>
                <a:path w="364489" h="513080">
                  <a:moveTo>
                    <a:pt x="287980" y="469715"/>
                  </a:moveTo>
                  <a:lnTo>
                    <a:pt x="9525" y="469715"/>
                  </a:lnTo>
                  <a:lnTo>
                    <a:pt x="9525" y="474478"/>
                  </a:lnTo>
                  <a:lnTo>
                    <a:pt x="287980" y="474478"/>
                  </a:lnTo>
                  <a:lnTo>
                    <a:pt x="287980" y="4697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26712" y="1960197"/>
              <a:ext cx="5355964" cy="3959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8454" y="1225104"/>
              <a:ext cx="419929" cy="396000"/>
            </a:xfrm>
            <a:prstGeom prst="rect">
              <a:avLst/>
            </a:prstGeom>
          </p:spPr>
        </p:pic>
      </p:grp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722449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803396"/>
            <a:ext cx="2356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Подбор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гиперпараметров</a:t>
            </a:r>
            <a:r>
              <a:rPr sz="1200" spc="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AutoML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65988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4.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Моделирование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19164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8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1998979"/>
            <a:ext cx="3223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Воспроизводимость</a:t>
            </a:r>
            <a:r>
              <a:rPr sz="1200" spc="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версионирование.</a:t>
            </a:r>
            <a:r>
              <a:rPr sz="1200" spc="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MLFlow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518437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599435"/>
            <a:ext cx="3266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Перенос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ML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алгоритмов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распределенную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среду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3120443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3202939"/>
            <a:ext cx="335152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Популярные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фреймворки</a:t>
            </a:r>
            <a:r>
              <a:rPr sz="12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распределенной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среде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4324454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4406900"/>
            <a:ext cx="24110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Практика.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Регулярное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переобучение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02015" y="1683727"/>
            <a:ext cx="424815" cy="2877185"/>
          </a:xfrm>
          <a:custGeom>
            <a:avLst/>
            <a:gdLst/>
            <a:ahLst/>
            <a:cxnLst/>
            <a:rect l="l" t="t" r="r" b="b"/>
            <a:pathLst>
              <a:path w="424814" h="2877185">
                <a:moveTo>
                  <a:pt x="424688" y="1634718"/>
                </a:moveTo>
                <a:lnTo>
                  <a:pt x="415163" y="1629956"/>
                </a:lnTo>
                <a:lnTo>
                  <a:pt x="348488" y="1596618"/>
                </a:lnTo>
                <a:lnTo>
                  <a:pt x="348488" y="1629956"/>
                </a:lnTo>
                <a:lnTo>
                  <a:pt x="9525" y="1629956"/>
                </a:lnTo>
                <a:lnTo>
                  <a:pt x="9525" y="1037475"/>
                </a:lnTo>
                <a:lnTo>
                  <a:pt x="343611" y="1037475"/>
                </a:lnTo>
                <a:lnTo>
                  <a:pt x="343611" y="1070813"/>
                </a:lnTo>
                <a:lnTo>
                  <a:pt x="410286" y="1037475"/>
                </a:lnTo>
                <a:lnTo>
                  <a:pt x="419811" y="1032713"/>
                </a:lnTo>
                <a:lnTo>
                  <a:pt x="410286" y="1027950"/>
                </a:lnTo>
                <a:lnTo>
                  <a:pt x="343611" y="994613"/>
                </a:lnTo>
                <a:lnTo>
                  <a:pt x="343611" y="1027950"/>
                </a:lnTo>
                <a:lnTo>
                  <a:pt x="9525" y="1027950"/>
                </a:lnTo>
                <a:lnTo>
                  <a:pt x="9525" y="435470"/>
                </a:lnTo>
                <a:lnTo>
                  <a:pt x="343611" y="435470"/>
                </a:lnTo>
                <a:lnTo>
                  <a:pt x="343611" y="468807"/>
                </a:lnTo>
                <a:lnTo>
                  <a:pt x="410286" y="435470"/>
                </a:lnTo>
                <a:lnTo>
                  <a:pt x="419811" y="430707"/>
                </a:lnTo>
                <a:lnTo>
                  <a:pt x="410286" y="425945"/>
                </a:lnTo>
                <a:lnTo>
                  <a:pt x="343611" y="392607"/>
                </a:lnTo>
                <a:lnTo>
                  <a:pt x="343611" y="425945"/>
                </a:lnTo>
                <a:lnTo>
                  <a:pt x="9525" y="425945"/>
                </a:lnTo>
                <a:lnTo>
                  <a:pt x="9525" y="0"/>
                </a:lnTo>
                <a:lnTo>
                  <a:pt x="0" y="0"/>
                </a:lnTo>
                <a:lnTo>
                  <a:pt x="0" y="2841358"/>
                </a:lnTo>
                <a:lnTo>
                  <a:pt x="2133" y="2843492"/>
                </a:lnTo>
                <a:lnTo>
                  <a:pt x="343611" y="2843492"/>
                </a:lnTo>
                <a:lnTo>
                  <a:pt x="343611" y="2876829"/>
                </a:lnTo>
                <a:lnTo>
                  <a:pt x="410286" y="2843492"/>
                </a:lnTo>
                <a:lnTo>
                  <a:pt x="419811" y="2838729"/>
                </a:lnTo>
                <a:lnTo>
                  <a:pt x="410286" y="2833967"/>
                </a:lnTo>
                <a:lnTo>
                  <a:pt x="343611" y="2800629"/>
                </a:lnTo>
                <a:lnTo>
                  <a:pt x="343611" y="2833967"/>
                </a:lnTo>
                <a:lnTo>
                  <a:pt x="9525" y="2833967"/>
                </a:lnTo>
                <a:lnTo>
                  <a:pt x="9525" y="2241486"/>
                </a:lnTo>
                <a:lnTo>
                  <a:pt x="343611" y="2241486"/>
                </a:lnTo>
                <a:lnTo>
                  <a:pt x="343611" y="2274824"/>
                </a:lnTo>
                <a:lnTo>
                  <a:pt x="410286" y="2241486"/>
                </a:lnTo>
                <a:lnTo>
                  <a:pt x="419811" y="2236724"/>
                </a:lnTo>
                <a:lnTo>
                  <a:pt x="410286" y="2231961"/>
                </a:lnTo>
                <a:lnTo>
                  <a:pt x="343611" y="2198624"/>
                </a:lnTo>
                <a:lnTo>
                  <a:pt x="343611" y="2231961"/>
                </a:lnTo>
                <a:lnTo>
                  <a:pt x="9525" y="2231961"/>
                </a:lnTo>
                <a:lnTo>
                  <a:pt x="9525" y="1639481"/>
                </a:lnTo>
                <a:lnTo>
                  <a:pt x="348488" y="1639481"/>
                </a:lnTo>
                <a:lnTo>
                  <a:pt x="348488" y="1672818"/>
                </a:lnTo>
                <a:lnTo>
                  <a:pt x="415163" y="1639481"/>
                </a:lnTo>
                <a:lnTo>
                  <a:pt x="424688" y="16347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605002" y="1223450"/>
            <a:ext cx="6932700" cy="3464373"/>
            <a:chOff x="605002" y="1223450"/>
            <a:chExt cx="6932700" cy="3464373"/>
          </a:xfrm>
        </p:grpSpPr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002" y="1223450"/>
              <a:ext cx="419929" cy="3960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11567" y="4361687"/>
              <a:ext cx="326135" cy="326136"/>
            </a:xfrm>
            <a:prstGeom prst="rect">
              <a:avLst/>
            </a:prstGeom>
          </p:spPr>
        </p:pic>
      </p:grp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 rot="20760000">
            <a:off x="7618361" y="4359438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722449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803396"/>
            <a:ext cx="11893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A/B-тестирование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1709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5.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19164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8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1998979"/>
            <a:ext cx="2035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Стратегии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валидации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моделей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518437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599435"/>
            <a:ext cx="1111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Анализ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моделей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3120443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3202939"/>
            <a:ext cx="1398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Интерпретируемость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4324454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4406900"/>
            <a:ext cx="2489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Практика.</a:t>
            </a:r>
            <a:r>
              <a:rPr sz="1200" spc="-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Автоматическая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02015" y="1683727"/>
            <a:ext cx="424815" cy="2877185"/>
          </a:xfrm>
          <a:custGeom>
            <a:avLst/>
            <a:gdLst/>
            <a:ahLst/>
            <a:cxnLst/>
            <a:rect l="l" t="t" r="r" b="b"/>
            <a:pathLst>
              <a:path w="424814" h="2877185">
                <a:moveTo>
                  <a:pt x="424688" y="1634718"/>
                </a:moveTo>
                <a:lnTo>
                  <a:pt x="415163" y="1629956"/>
                </a:lnTo>
                <a:lnTo>
                  <a:pt x="348488" y="1596618"/>
                </a:lnTo>
                <a:lnTo>
                  <a:pt x="348488" y="1629956"/>
                </a:lnTo>
                <a:lnTo>
                  <a:pt x="9525" y="1629956"/>
                </a:lnTo>
                <a:lnTo>
                  <a:pt x="9525" y="1037475"/>
                </a:lnTo>
                <a:lnTo>
                  <a:pt x="343611" y="1037475"/>
                </a:lnTo>
                <a:lnTo>
                  <a:pt x="343611" y="1070813"/>
                </a:lnTo>
                <a:lnTo>
                  <a:pt x="410286" y="1037475"/>
                </a:lnTo>
                <a:lnTo>
                  <a:pt x="419811" y="1032713"/>
                </a:lnTo>
                <a:lnTo>
                  <a:pt x="410286" y="1027950"/>
                </a:lnTo>
                <a:lnTo>
                  <a:pt x="343611" y="994613"/>
                </a:lnTo>
                <a:lnTo>
                  <a:pt x="343611" y="1027950"/>
                </a:lnTo>
                <a:lnTo>
                  <a:pt x="9525" y="1027950"/>
                </a:lnTo>
                <a:lnTo>
                  <a:pt x="9525" y="435470"/>
                </a:lnTo>
                <a:lnTo>
                  <a:pt x="343611" y="435470"/>
                </a:lnTo>
                <a:lnTo>
                  <a:pt x="343611" y="468807"/>
                </a:lnTo>
                <a:lnTo>
                  <a:pt x="410286" y="435470"/>
                </a:lnTo>
                <a:lnTo>
                  <a:pt x="419811" y="430707"/>
                </a:lnTo>
                <a:lnTo>
                  <a:pt x="410286" y="425945"/>
                </a:lnTo>
                <a:lnTo>
                  <a:pt x="343611" y="392607"/>
                </a:lnTo>
                <a:lnTo>
                  <a:pt x="343611" y="425945"/>
                </a:lnTo>
                <a:lnTo>
                  <a:pt x="9525" y="425945"/>
                </a:lnTo>
                <a:lnTo>
                  <a:pt x="9525" y="0"/>
                </a:lnTo>
                <a:lnTo>
                  <a:pt x="0" y="0"/>
                </a:lnTo>
                <a:lnTo>
                  <a:pt x="0" y="2841358"/>
                </a:lnTo>
                <a:lnTo>
                  <a:pt x="2133" y="2843492"/>
                </a:lnTo>
                <a:lnTo>
                  <a:pt x="343611" y="2843492"/>
                </a:lnTo>
                <a:lnTo>
                  <a:pt x="343611" y="2876829"/>
                </a:lnTo>
                <a:lnTo>
                  <a:pt x="410286" y="2843492"/>
                </a:lnTo>
                <a:lnTo>
                  <a:pt x="419811" y="2838729"/>
                </a:lnTo>
                <a:lnTo>
                  <a:pt x="410286" y="2833967"/>
                </a:lnTo>
                <a:lnTo>
                  <a:pt x="343611" y="2800629"/>
                </a:lnTo>
                <a:lnTo>
                  <a:pt x="343611" y="2833967"/>
                </a:lnTo>
                <a:lnTo>
                  <a:pt x="9525" y="2833967"/>
                </a:lnTo>
                <a:lnTo>
                  <a:pt x="9525" y="2241486"/>
                </a:lnTo>
                <a:lnTo>
                  <a:pt x="343611" y="2241486"/>
                </a:lnTo>
                <a:lnTo>
                  <a:pt x="343611" y="2274824"/>
                </a:lnTo>
                <a:lnTo>
                  <a:pt x="410286" y="2241486"/>
                </a:lnTo>
                <a:lnTo>
                  <a:pt x="419811" y="2236724"/>
                </a:lnTo>
                <a:lnTo>
                  <a:pt x="410286" y="2231961"/>
                </a:lnTo>
                <a:lnTo>
                  <a:pt x="343611" y="2198624"/>
                </a:lnTo>
                <a:lnTo>
                  <a:pt x="343611" y="2231961"/>
                </a:lnTo>
                <a:lnTo>
                  <a:pt x="9525" y="2231961"/>
                </a:lnTo>
                <a:lnTo>
                  <a:pt x="9525" y="1639481"/>
                </a:lnTo>
                <a:lnTo>
                  <a:pt x="348488" y="1639481"/>
                </a:lnTo>
                <a:lnTo>
                  <a:pt x="348488" y="1672818"/>
                </a:lnTo>
                <a:lnTo>
                  <a:pt x="415163" y="1639481"/>
                </a:lnTo>
                <a:lnTo>
                  <a:pt x="424688" y="16347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605002" y="1223450"/>
            <a:ext cx="6932700" cy="3464373"/>
            <a:chOff x="605002" y="1223450"/>
            <a:chExt cx="6932700" cy="3464373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002" y="1223450"/>
              <a:ext cx="419929" cy="3960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11567" y="4361687"/>
              <a:ext cx="326135" cy="326136"/>
            </a:xfrm>
            <a:prstGeom prst="rect">
              <a:avLst/>
            </a:prstGeom>
          </p:spPr>
        </p:pic>
      </p:grp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object 35"/>
          <p:cNvSpPr txBox="1"/>
          <p:nvPr/>
        </p:nvSpPr>
        <p:spPr>
          <a:xfrm rot="20760000">
            <a:off x="7618361" y="4359438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1830" y="33540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90461" y="3434588"/>
            <a:ext cx="1552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200" spc="-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артефактов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5" name="object 5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09928" y="1247140"/>
            <a:ext cx="15449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6.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Развертывание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832" y="19164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8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0462" y="1998979"/>
            <a:ext cx="1655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Пакетный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режим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работы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1830" y="23956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9"/>
                </a:lnTo>
                <a:lnTo>
                  <a:pt x="5355964" y="66001"/>
                </a:lnTo>
                <a:lnTo>
                  <a:pt x="5350778" y="40311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0461" y="2477516"/>
            <a:ext cx="2141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Асинхронный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потоковый</a:t>
            </a:r>
            <a:r>
              <a:rPr sz="1200" spc="-5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режим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6712" y="287483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5344" y="2956051"/>
            <a:ext cx="1274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Модель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как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сервис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21833" y="383323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90463" y="3913123"/>
            <a:ext cx="1368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Развертывание</a:t>
            </a:r>
            <a:r>
              <a:rPr sz="120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k8s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02015" y="1683727"/>
            <a:ext cx="424815" cy="2385695"/>
          </a:xfrm>
          <a:custGeom>
            <a:avLst/>
            <a:gdLst/>
            <a:ahLst/>
            <a:cxnLst/>
            <a:rect l="l" t="t" r="r" b="b"/>
            <a:pathLst>
              <a:path w="424814" h="2385695">
                <a:moveTo>
                  <a:pt x="424688" y="1389113"/>
                </a:moveTo>
                <a:lnTo>
                  <a:pt x="415163" y="1384350"/>
                </a:lnTo>
                <a:lnTo>
                  <a:pt x="348488" y="1351013"/>
                </a:lnTo>
                <a:lnTo>
                  <a:pt x="348488" y="1384350"/>
                </a:lnTo>
                <a:lnTo>
                  <a:pt x="9525" y="1384350"/>
                </a:lnTo>
                <a:lnTo>
                  <a:pt x="9525" y="914666"/>
                </a:lnTo>
                <a:lnTo>
                  <a:pt x="343611" y="914666"/>
                </a:lnTo>
                <a:lnTo>
                  <a:pt x="343611" y="948004"/>
                </a:lnTo>
                <a:lnTo>
                  <a:pt x="410286" y="914666"/>
                </a:lnTo>
                <a:lnTo>
                  <a:pt x="419811" y="909904"/>
                </a:lnTo>
                <a:lnTo>
                  <a:pt x="410286" y="905141"/>
                </a:lnTo>
                <a:lnTo>
                  <a:pt x="343611" y="871804"/>
                </a:lnTo>
                <a:lnTo>
                  <a:pt x="343611" y="905141"/>
                </a:lnTo>
                <a:lnTo>
                  <a:pt x="9525" y="905141"/>
                </a:lnTo>
                <a:lnTo>
                  <a:pt x="9525" y="435470"/>
                </a:lnTo>
                <a:lnTo>
                  <a:pt x="343611" y="435470"/>
                </a:lnTo>
                <a:lnTo>
                  <a:pt x="343611" y="468807"/>
                </a:lnTo>
                <a:lnTo>
                  <a:pt x="410286" y="435470"/>
                </a:lnTo>
                <a:lnTo>
                  <a:pt x="419811" y="430707"/>
                </a:lnTo>
                <a:lnTo>
                  <a:pt x="410286" y="425945"/>
                </a:lnTo>
                <a:lnTo>
                  <a:pt x="343611" y="392607"/>
                </a:lnTo>
                <a:lnTo>
                  <a:pt x="343611" y="425945"/>
                </a:lnTo>
                <a:lnTo>
                  <a:pt x="9525" y="425945"/>
                </a:lnTo>
                <a:lnTo>
                  <a:pt x="9525" y="0"/>
                </a:lnTo>
                <a:lnTo>
                  <a:pt x="0" y="0"/>
                </a:lnTo>
                <a:lnTo>
                  <a:pt x="0" y="2350135"/>
                </a:lnTo>
                <a:lnTo>
                  <a:pt x="2133" y="2352268"/>
                </a:lnTo>
                <a:lnTo>
                  <a:pt x="343611" y="2352268"/>
                </a:lnTo>
                <a:lnTo>
                  <a:pt x="343611" y="2385606"/>
                </a:lnTo>
                <a:lnTo>
                  <a:pt x="410286" y="2352268"/>
                </a:lnTo>
                <a:lnTo>
                  <a:pt x="419811" y="2347506"/>
                </a:lnTo>
                <a:lnTo>
                  <a:pt x="410286" y="2342743"/>
                </a:lnTo>
                <a:lnTo>
                  <a:pt x="343611" y="2309406"/>
                </a:lnTo>
                <a:lnTo>
                  <a:pt x="343611" y="2342743"/>
                </a:lnTo>
                <a:lnTo>
                  <a:pt x="9525" y="2342743"/>
                </a:lnTo>
                <a:lnTo>
                  <a:pt x="9525" y="1873072"/>
                </a:lnTo>
                <a:lnTo>
                  <a:pt x="343611" y="1873072"/>
                </a:lnTo>
                <a:lnTo>
                  <a:pt x="343611" y="1906409"/>
                </a:lnTo>
                <a:lnTo>
                  <a:pt x="410286" y="1873072"/>
                </a:lnTo>
                <a:lnTo>
                  <a:pt x="419811" y="1868309"/>
                </a:lnTo>
                <a:lnTo>
                  <a:pt x="410286" y="1863547"/>
                </a:lnTo>
                <a:lnTo>
                  <a:pt x="343611" y="1830209"/>
                </a:lnTo>
                <a:lnTo>
                  <a:pt x="343611" y="1863547"/>
                </a:lnTo>
                <a:lnTo>
                  <a:pt x="9525" y="1863547"/>
                </a:lnTo>
                <a:lnTo>
                  <a:pt x="9525" y="1393875"/>
                </a:lnTo>
                <a:lnTo>
                  <a:pt x="348488" y="1393875"/>
                </a:lnTo>
                <a:lnTo>
                  <a:pt x="348488" y="1427213"/>
                </a:lnTo>
                <a:lnTo>
                  <a:pt x="415163" y="1393875"/>
                </a:lnTo>
                <a:lnTo>
                  <a:pt x="424688" y="1389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02019" y="2193324"/>
            <a:ext cx="420370" cy="2355215"/>
          </a:xfrm>
          <a:custGeom>
            <a:avLst/>
            <a:gdLst/>
            <a:ahLst/>
            <a:cxnLst/>
            <a:rect l="l" t="t" r="r" b="b"/>
            <a:pathLst>
              <a:path w="420369" h="2355215">
                <a:moveTo>
                  <a:pt x="343609" y="2279009"/>
                </a:moveTo>
                <a:lnTo>
                  <a:pt x="343609" y="2355209"/>
                </a:lnTo>
                <a:lnTo>
                  <a:pt x="410284" y="2321872"/>
                </a:lnTo>
                <a:lnTo>
                  <a:pt x="356309" y="2321872"/>
                </a:lnTo>
                <a:lnTo>
                  <a:pt x="356309" y="2312347"/>
                </a:lnTo>
                <a:lnTo>
                  <a:pt x="410284" y="2312347"/>
                </a:lnTo>
                <a:lnTo>
                  <a:pt x="343609" y="2279009"/>
                </a:lnTo>
                <a:close/>
              </a:path>
              <a:path w="420369" h="2355215">
                <a:moveTo>
                  <a:pt x="9525" y="0"/>
                </a:moveTo>
                <a:lnTo>
                  <a:pt x="0" y="0"/>
                </a:lnTo>
                <a:lnTo>
                  <a:pt x="0" y="2319739"/>
                </a:lnTo>
                <a:lnTo>
                  <a:pt x="2132" y="2321872"/>
                </a:lnTo>
                <a:lnTo>
                  <a:pt x="343609" y="2321872"/>
                </a:lnTo>
                <a:lnTo>
                  <a:pt x="343609" y="2317109"/>
                </a:lnTo>
                <a:lnTo>
                  <a:pt x="9525" y="2317109"/>
                </a:lnTo>
                <a:lnTo>
                  <a:pt x="4762" y="2312347"/>
                </a:lnTo>
                <a:lnTo>
                  <a:pt x="9525" y="2312347"/>
                </a:lnTo>
                <a:lnTo>
                  <a:pt x="9525" y="0"/>
                </a:lnTo>
                <a:close/>
              </a:path>
              <a:path w="420369" h="2355215">
                <a:moveTo>
                  <a:pt x="410284" y="2312347"/>
                </a:moveTo>
                <a:lnTo>
                  <a:pt x="356309" y="2312347"/>
                </a:lnTo>
                <a:lnTo>
                  <a:pt x="356309" y="2321872"/>
                </a:lnTo>
                <a:lnTo>
                  <a:pt x="410284" y="2321872"/>
                </a:lnTo>
                <a:lnTo>
                  <a:pt x="419809" y="2317109"/>
                </a:lnTo>
                <a:lnTo>
                  <a:pt x="410284" y="2312347"/>
                </a:lnTo>
                <a:close/>
              </a:path>
              <a:path w="420369" h="2355215">
                <a:moveTo>
                  <a:pt x="9525" y="2312347"/>
                </a:moveTo>
                <a:lnTo>
                  <a:pt x="4762" y="2312347"/>
                </a:lnTo>
                <a:lnTo>
                  <a:pt x="9525" y="2317109"/>
                </a:lnTo>
                <a:lnTo>
                  <a:pt x="9525" y="2312347"/>
                </a:lnTo>
                <a:close/>
              </a:path>
              <a:path w="420369" h="2355215">
                <a:moveTo>
                  <a:pt x="343609" y="2312347"/>
                </a:moveTo>
                <a:lnTo>
                  <a:pt x="9525" y="2312347"/>
                </a:lnTo>
                <a:lnTo>
                  <a:pt x="9525" y="2317109"/>
                </a:lnTo>
                <a:lnTo>
                  <a:pt x="343609" y="2317109"/>
                </a:lnTo>
                <a:lnTo>
                  <a:pt x="343609" y="23123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221829" y="4312434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5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5" y="395999"/>
                </a:lnTo>
                <a:lnTo>
                  <a:pt x="5315655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5" y="5186"/>
                </a:lnTo>
                <a:lnTo>
                  <a:pt x="5289965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>
            <a:off x="2390461" y="4394708"/>
            <a:ext cx="1454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Обновление</a:t>
            </a:r>
            <a:r>
              <a:rPr sz="1200" spc="-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моделей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05002" y="1223450"/>
            <a:ext cx="6932700" cy="3464373"/>
            <a:chOff x="605002" y="1223450"/>
            <a:chExt cx="6932700" cy="3464373"/>
          </a:xfrm>
        </p:grpSpPr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002" y="1223450"/>
              <a:ext cx="419929" cy="3960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11567" y="4361687"/>
              <a:ext cx="326135" cy="326136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 rot="20760000">
            <a:off x="7618361" y="4359438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3" name="object 3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09928" y="1247140"/>
            <a:ext cx="13055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7.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Мониторинг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26712" y="2093042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95344" y="2172716"/>
            <a:ext cx="2433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Инструменты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метрики.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 Prometheus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6712" y="2615406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8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8"/>
                </a:lnTo>
                <a:lnTo>
                  <a:pt x="5355965" y="329998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5344" y="2696972"/>
            <a:ext cx="3369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Поиск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отклонений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сдвигов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данных/MLOps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k8s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6712" y="3137768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5344" y="3218179"/>
            <a:ext cx="18630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Построение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обратной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петли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21833" y="3679264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0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8"/>
                </a:lnTo>
                <a:lnTo>
                  <a:pt x="5186" y="355689"/>
                </a:lnTo>
                <a:lnTo>
                  <a:pt x="19330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3" y="376668"/>
                </a:lnTo>
                <a:lnTo>
                  <a:pt x="5350778" y="355689"/>
                </a:lnTo>
                <a:lnTo>
                  <a:pt x="5355964" y="329998"/>
                </a:lnTo>
                <a:lnTo>
                  <a:pt x="5355964" y="66000"/>
                </a:lnTo>
                <a:lnTo>
                  <a:pt x="5350778" y="40310"/>
                </a:lnTo>
                <a:lnTo>
                  <a:pt x="5336633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90463" y="3760723"/>
            <a:ext cx="622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Алертинг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5002" y="1223450"/>
            <a:ext cx="6926605" cy="2818197"/>
            <a:chOff x="605002" y="1223450"/>
            <a:chExt cx="6926605" cy="2818197"/>
          </a:xfrm>
        </p:grpSpPr>
        <p:sp>
          <p:nvSpPr>
            <p:cNvPr id="14" name="object 14"/>
            <p:cNvSpPr/>
            <p:nvPr/>
          </p:nvSpPr>
          <p:spPr>
            <a:xfrm>
              <a:off x="1802015" y="1683727"/>
              <a:ext cx="424815" cy="2232025"/>
            </a:xfrm>
            <a:custGeom>
              <a:avLst/>
              <a:gdLst/>
              <a:ahLst/>
              <a:cxnLst/>
              <a:rect l="l" t="t" r="r" b="b"/>
              <a:pathLst>
                <a:path w="424814" h="2232025">
                  <a:moveTo>
                    <a:pt x="424688" y="607314"/>
                  </a:moveTo>
                  <a:lnTo>
                    <a:pt x="415163" y="602551"/>
                  </a:lnTo>
                  <a:lnTo>
                    <a:pt x="348488" y="569214"/>
                  </a:lnTo>
                  <a:lnTo>
                    <a:pt x="348488" y="602551"/>
                  </a:lnTo>
                  <a:lnTo>
                    <a:pt x="9525" y="602551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609955"/>
                  </a:lnTo>
                  <a:lnTo>
                    <a:pt x="0" y="1132319"/>
                  </a:lnTo>
                  <a:lnTo>
                    <a:pt x="0" y="1654670"/>
                  </a:lnTo>
                  <a:lnTo>
                    <a:pt x="0" y="2196173"/>
                  </a:lnTo>
                  <a:lnTo>
                    <a:pt x="2133" y="2198306"/>
                  </a:lnTo>
                  <a:lnTo>
                    <a:pt x="343611" y="2198306"/>
                  </a:lnTo>
                  <a:lnTo>
                    <a:pt x="343611" y="2231644"/>
                  </a:lnTo>
                  <a:lnTo>
                    <a:pt x="410286" y="2198306"/>
                  </a:lnTo>
                  <a:lnTo>
                    <a:pt x="419811" y="2193544"/>
                  </a:lnTo>
                  <a:lnTo>
                    <a:pt x="410286" y="2188781"/>
                  </a:lnTo>
                  <a:lnTo>
                    <a:pt x="343611" y="2155444"/>
                  </a:lnTo>
                  <a:lnTo>
                    <a:pt x="343611" y="2188781"/>
                  </a:lnTo>
                  <a:lnTo>
                    <a:pt x="9525" y="2188781"/>
                  </a:lnTo>
                  <a:lnTo>
                    <a:pt x="9525" y="1656803"/>
                  </a:lnTo>
                  <a:lnTo>
                    <a:pt x="348488" y="1656803"/>
                  </a:lnTo>
                  <a:lnTo>
                    <a:pt x="348488" y="1690141"/>
                  </a:lnTo>
                  <a:lnTo>
                    <a:pt x="415163" y="1656803"/>
                  </a:lnTo>
                  <a:lnTo>
                    <a:pt x="424688" y="1652041"/>
                  </a:lnTo>
                  <a:lnTo>
                    <a:pt x="415163" y="1647278"/>
                  </a:lnTo>
                  <a:lnTo>
                    <a:pt x="348488" y="1613941"/>
                  </a:lnTo>
                  <a:lnTo>
                    <a:pt x="348488" y="1647278"/>
                  </a:lnTo>
                  <a:lnTo>
                    <a:pt x="9525" y="1647278"/>
                  </a:lnTo>
                  <a:lnTo>
                    <a:pt x="9525" y="1134440"/>
                  </a:lnTo>
                  <a:lnTo>
                    <a:pt x="348488" y="1134440"/>
                  </a:lnTo>
                  <a:lnTo>
                    <a:pt x="348488" y="1167777"/>
                  </a:lnTo>
                  <a:lnTo>
                    <a:pt x="415163" y="1134440"/>
                  </a:lnTo>
                  <a:lnTo>
                    <a:pt x="424688" y="1129677"/>
                  </a:lnTo>
                  <a:lnTo>
                    <a:pt x="415163" y="1124915"/>
                  </a:lnTo>
                  <a:lnTo>
                    <a:pt x="348488" y="1091577"/>
                  </a:lnTo>
                  <a:lnTo>
                    <a:pt x="348488" y="1124915"/>
                  </a:lnTo>
                  <a:lnTo>
                    <a:pt x="9525" y="1124915"/>
                  </a:lnTo>
                  <a:lnTo>
                    <a:pt x="9525" y="612076"/>
                  </a:lnTo>
                  <a:lnTo>
                    <a:pt x="348488" y="612076"/>
                  </a:lnTo>
                  <a:lnTo>
                    <a:pt x="348488" y="645414"/>
                  </a:lnTo>
                  <a:lnTo>
                    <a:pt x="415163" y="612076"/>
                  </a:lnTo>
                  <a:lnTo>
                    <a:pt x="424688" y="6073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5472" y="3712463"/>
              <a:ext cx="326135" cy="32918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002" y="1223450"/>
              <a:ext cx="419929" cy="396000"/>
            </a:xfrm>
            <a:prstGeom prst="rect">
              <a:avLst/>
            </a:prstGeom>
          </p:spPr>
        </p:pic>
      </p:grp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 rot="20760000">
            <a:off x="7612225" y="3713262"/>
            <a:ext cx="826437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sz="1400" i="1" spc="-65" dirty="0">
                <a:latin typeface="Georgia"/>
                <a:cs typeface="Georgia"/>
              </a:rPr>
              <a:t>HomeTask</a:t>
            </a:r>
            <a:endParaRPr sz="1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0550" y="1104418"/>
            <a:ext cx="2613025" cy="579755"/>
          </a:xfrm>
          <a:custGeom>
            <a:avLst/>
            <a:gdLst/>
            <a:ahLst/>
            <a:cxnLst/>
            <a:rect l="l" t="t" r="r" b="b"/>
            <a:pathLst>
              <a:path w="2613025" h="579755">
                <a:moveTo>
                  <a:pt x="2515913" y="0"/>
                </a:moveTo>
                <a:lnTo>
                  <a:pt x="96553" y="0"/>
                </a:lnTo>
                <a:lnTo>
                  <a:pt x="58970" y="7587"/>
                </a:lnTo>
                <a:lnTo>
                  <a:pt x="28279" y="28279"/>
                </a:lnTo>
                <a:lnTo>
                  <a:pt x="7587" y="58970"/>
                </a:lnTo>
                <a:lnTo>
                  <a:pt x="0" y="96553"/>
                </a:lnTo>
                <a:lnTo>
                  <a:pt x="0" y="482747"/>
                </a:lnTo>
                <a:lnTo>
                  <a:pt x="7587" y="520330"/>
                </a:lnTo>
                <a:lnTo>
                  <a:pt x="28279" y="551020"/>
                </a:lnTo>
                <a:lnTo>
                  <a:pt x="58970" y="571712"/>
                </a:lnTo>
                <a:lnTo>
                  <a:pt x="96553" y="579300"/>
                </a:lnTo>
                <a:lnTo>
                  <a:pt x="2515913" y="579300"/>
                </a:lnTo>
                <a:lnTo>
                  <a:pt x="2553496" y="571712"/>
                </a:lnTo>
                <a:lnTo>
                  <a:pt x="2584186" y="551020"/>
                </a:lnTo>
                <a:lnTo>
                  <a:pt x="2604878" y="520330"/>
                </a:lnTo>
                <a:lnTo>
                  <a:pt x="2612466" y="482747"/>
                </a:lnTo>
                <a:lnTo>
                  <a:pt x="2612466" y="96553"/>
                </a:lnTo>
                <a:lnTo>
                  <a:pt x="2604878" y="58970"/>
                </a:lnTo>
                <a:lnTo>
                  <a:pt x="2584186" y="28279"/>
                </a:lnTo>
                <a:lnTo>
                  <a:pt x="2553496" y="7587"/>
                </a:lnTo>
                <a:lnTo>
                  <a:pt x="2515913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Программа</a:t>
            </a:r>
            <a:r>
              <a:rPr spc="-180" dirty="0"/>
              <a:t> </a:t>
            </a:r>
            <a:r>
              <a:rPr spc="-10" dirty="0"/>
              <a:t>модуля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9928" y="1247140"/>
            <a:ext cx="16840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8.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Курсовой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проект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26712" y="1878247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1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1"/>
                </a:lnTo>
                <a:lnTo>
                  <a:pt x="5350779" y="40311"/>
                </a:lnTo>
                <a:lnTo>
                  <a:pt x="5336634" y="19331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95344" y="1959355"/>
            <a:ext cx="3039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Выбор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темы</a:t>
            </a:r>
            <a:r>
              <a:rPr sz="1200" spc="-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организация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проектной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работы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6712" y="2400611"/>
            <a:ext cx="5356225" cy="396240"/>
          </a:xfrm>
          <a:custGeom>
            <a:avLst/>
            <a:gdLst/>
            <a:ahLst/>
            <a:cxnLst/>
            <a:rect l="l" t="t" r="r" b="b"/>
            <a:pathLst>
              <a:path w="5356225" h="396239">
                <a:moveTo>
                  <a:pt x="5289964" y="0"/>
                </a:moveTo>
                <a:lnTo>
                  <a:pt x="66000" y="0"/>
                </a:lnTo>
                <a:lnTo>
                  <a:pt x="40310" y="5186"/>
                </a:lnTo>
                <a:lnTo>
                  <a:pt x="19331" y="19330"/>
                </a:lnTo>
                <a:lnTo>
                  <a:pt x="5186" y="40310"/>
                </a:lnTo>
                <a:lnTo>
                  <a:pt x="0" y="66000"/>
                </a:lnTo>
                <a:lnTo>
                  <a:pt x="0" y="329999"/>
                </a:lnTo>
                <a:lnTo>
                  <a:pt x="5186" y="355689"/>
                </a:lnTo>
                <a:lnTo>
                  <a:pt x="19331" y="376668"/>
                </a:lnTo>
                <a:lnTo>
                  <a:pt x="40310" y="390813"/>
                </a:lnTo>
                <a:lnTo>
                  <a:pt x="66000" y="395999"/>
                </a:lnTo>
                <a:lnTo>
                  <a:pt x="5289964" y="395999"/>
                </a:lnTo>
                <a:lnTo>
                  <a:pt x="5315654" y="390813"/>
                </a:lnTo>
                <a:lnTo>
                  <a:pt x="5336634" y="376668"/>
                </a:lnTo>
                <a:lnTo>
                  <a:pt x="5350779" y="355689"/>
                </a:lnTo>
                <a:lnTo>
                  <a:pt x="5355965" y="329999"/>
                </a:lnTo>
                <a:lnTo>
                  <a:pt x="5355965" y="66000"/>
                </a:lnTo>
                <a:lnTo>
                  <a:pt x="5350779" y="40310"/>
                </a:lnTo>
                <a:lnTo>
                  <a:pt x="5336634" y="19330"/>
                </a:lnTo>
                <a:lnTo>
                  <a:pt x="5315654" y="5186"/>
                </a:lnTo>
                <a:lnTo>
                  <a:pt x="5289964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95344" y="2480564"/>
            <a:ext cx="33204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Консультация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по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проектам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и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домашним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заданиям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26712" y="2922973"/>
            <a:ext cx="3051175" cy="396240"/>
          </a:xfrm>
          <a:custGeom>
            <a:avLst/>
            <a:gdLst/>
            <a:ahLst/>
            <a:cxnLst/>
            <a:rect l="l" t="t" r="r" b="b"/>
            <a:pathLst>
              <a:path w="3051175" h="396239">
                <a:moveTo>
                  <a:pt x="2985029" y="0"/>
                </a:moveTo>
                <a:lnTo>
                  <a:pt x="66003" y="0"/>
                </a:lnTo>
                <a:lnTo>
                  <a:pt x="40311" y="5186"/>
                </a:lnTo>
                <a:lnTo>
                  <a:pt x="19331" y="19331"/>
                </a:lnTo>
                <a:lnTo>
                  <a:pt x="5186" y="40311"/>
                </a:lnTo>
                <a:lnTo>
                  <a:pt x="0" y="66003"/>
                </a:lnTo>
                <a:lnTo>
                  <a:pt x="0" y="329998"/>
                </a:lnTo>
                <a:lnTo>
                  <a:pt x="5186" y="355688"/>
                </a:lnTo>
                <a:lnTo>
                  <a:pt x="19331" y="376668"/>
                </a:lnTo>
                <a:lnTo>
                  <a:pt x="40311" y="390813"/>
                </a:lnTo>
                <a:lnTo>
                  <a:pt x="66003" y="395999"/>
                </a:lnTo>
                <a:lnTo>
                  <a:pt x="2985029" y="395999"/>
                </a:lnTo>
                <a:lnTo>
                  <a:pt x="3010721" y="390813"/>
                </a:lnTo>
                <a:lnTo>
                  <a:pt x="3031700" y="376668"/>
                </a:lnTo>
                <a:lnTo>
                  <a:pt x="3045845" y="355688"/>
                </a:lnTo>
                <a:lnTo>
                  <a:pt x="3051032" y="329998"/>
                </a:lnTo>
                <a:lnTo>
                  <a:pt x="3051032" y="66003"/>
                </a:lnTo>
                <a:lnTo>
                  <a:pt x="3045845" y="40311"/>
                </a:lnTo>
                <a:lnTo>
                  <a:pt x="3031700" y="19331"/>
                </a:lnTo>
                <a:lnTo>
                  <a:pt x="3010721" y="5186"/>
                </a:lnTo>
                <a:lnTo>
                  <a:pt x="2985029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5344" y="3004820"/>
            <a:ext cx="16376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Защита</a:t>
            </a:r>
            <a:r>
              <a:rPr sz="1200" spc="-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проектных</a:t>
            </a:r>
            <a:r>
              <a:rPr sz="1200" spc="-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F1F1F"/>
                </a:solidFill>
                <a:latin typeface="Calibri"/>
                <a:cs typeface="Calibri"/>
              </a:rPr>
              <a:t>работ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5002" y="1223450"/>
            <a:ext cx="7800663" cy="3713283"/>
            <a:chOff x="605002" y="1223450"/>
            <a:chExt cx="7800663" cy="3713283"/>
          </a:xfrm>
        </p:grpSpPr>
        <p:sp>
          <p:nvSpPr>
            <p:cNvPr id="12" name="object 12"/>
            <p:cNvSpPr/>
            <p:nvPr/>
          </p:nvSpPr>
          <p:spPr>
            <a:xfrm>
              <a:off x="1802015" y="1683727"/>
              <a:ext cx="424815" cy="1475740"/>
            </a:xfrm>
            <a:custGeom>
              <a:avLst/>
              <a:gdLst/>
              <a:ahLst/>
              <a:cxnLst/>
              <a:rect l="l" t="t" r="r" b="b"/>
              <a:pathLst>
                <a:path w="424814" h="1475739">
                  <a:moveTo>
                    <a:pt x="424688" y="392518"/>
                  </a:moveTo>
                  <a:lnTo>
                    <a:pt x="415163" y="387756"/>
                  </a:lnTo>
                  <a:lnTo>
                    <a:pt x="348488" y="354418"/>
                  </a:lnTo>
                  <a:lnTo>
                    <a:pt x="348488" y="387756"/>
                  </a:lnTo>
                  <a:lnTo>
                    <a:pt x="9525" y="387756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395160"/>
                  </a:lnTo>
                  <a:lnTo>
                    <a:pt x="0" y="917524"/>
                  </a:lnTo>
                  <a:lnTo>
                    <a:pt x="0" y="1439875"/>
                  </a:lnTo>
                  <a:lnTo>
                    <a:pt x="2133" y="1442008"/>
                  </a:lnTo>
                  <a:lnTo>
                    <a:pt x="348488" y="1442008"/>
                  </a:lnTo>
                  <a:lnTo>
                    <a:pt x="348488" y="1475346"/>
                  </a:lnTo>
                  <a:lnTo>
                    <a:pt x="415163" y="1442008"/>
                  </a:lnTo>
                  <a:lnTo>
                    <a:pt x="424688" y="1437246"/>
                  </a:lnTo>
                  <a:lnTo>
                    <a:pt x="415163" y="1432483"/>
                  </a:lnTo>
                  <a:lnTo>
                    <a:pt x="348488" y="1399146"/>
                  </a:lnTo>
                  <a:lnTo>
                    <a:pt x="348488" y="1432483"/>
                  </a:lnTo>
                  <a:lnTo>
                    <a:pt x="9525" y="1432483"/>
                  </a:lnTo>
                  <a:lnTo>
                    <a:pt x="9525" y="919645"/>
                  </a:lnTo>
                  <a:lnTo>
                    <a:pt x="348488" y="919645"/>
                  </a:lnTo>
                  <a:lnTo>
                    <a:pt x="348488" y="952982"/>
                  </a:lnTo>
                  <a:lnTo>
                    <a:pt x="415163" y="919645"/>
                  </a:lnTo>
                  <a:lnTo>
                    <a:pt x="424688" y="914882"/>
                  </a:lnTo>
                  <a:lnTo>
                    <a:pt x="415163" y="910120"/>
                  </a:lnTo>
                  <a:lnTo>
                    <a:pt x="348488" y="876782"/>
                  </a:lnTo>
                  <a:lnTo>
                    <a:pt x="348488" y="910120"/>
                  </a:lnTo>
                  <a:lnTo>
                    <a:pt x="9525" y="910120"/>
                  </a:lnTo>
                  <a:lnTo>
                    <a:pt x="9525" y="397281"/>
                  </a:lnTo>
                  <a:lnTo>
                    <a:pt x="348488" y="397281"/>
                  </a:lnTo>
                  <a:lnTo>
                    <a:pt x="348488" y="430618"/>
                  </a:lnTo>
                  <a:lnTo>
                    <a:pt x="415163" y="397281"/>
                  </a:lnTo>
                  <a:lnTo>
                    <a:pt x="424688" y="3925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002" y="1223450"/>
              <a:ext cx="419929" cy="3960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6463" y="2943932"/>
              <a:ext cx="2989202" cy="1992801"/>
            </a:xfrm>
            <a:prstGeom prst="rect">
              <a:avLst/>
            </a:prstGeom>
          </p:spPr>
        </p:pic>
      </p:grp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52549" y="1264075"/>
            <a:ext cx="3427095" cy="779145"/>
          </a:xfrm>
          <a:custGeom>
            <a:avLst/>
            <a:gdLst/>
            <a:ahLst/>
            <a:cxnLst/>
            <a:rect l="l" t="t" r="r" b="b"/>
            <a:pathLst>
              <a:path w="3427095" h="779144">
                <a:moveTo>
                  <a:pt x="3426900" y="0"/>
                </a:moveTo>
                <a:lnTo>
                  <a:pt x="0" y="0"/>
                </a:lnTo>
                <a:lnTo>
                  <a:pt x="0" y="779099"/>
                </a:lnTo>
                <a:lnTo>
                  <a:pt x="3426900" y="779099"/>
                </a:lnTo>
                <a:lnTo>
                  <a:pt x="3426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52549" y="2237574"/>
            <a:ext cx="3427095" cy="993775"/>
          </a:xfrm>
          <a:custGeom>
            <a:avLst/>
            <a:gdLst/>
            <a:ahLst/>
            <a:cxnLst/>
            <a:rect l="l" t="t" r="r" b="b"/>
            <a:pathLst>
              <a:path w="3427095" h="993775">
                <a:moveTo>
                  <a:pt x="3426900" y="0"/>
                </a:moveTo>
                <a:lnTo>
                  <a:pt x="0" y="0"/>
                </a:lnTo>
                <a:lnTo>
                  <a:pt x="0" y="993300"/>
                </a:lnTo>
                <a:lnTo>
                  <a:pt x="3426900" y="993300"/>
                </a:lnTo>
                <a:lnTo>
                  <a:pt x="3426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52549" y="3425275"/>
            <a:ext cx="3427095" cy="1136015"/>
          </a:xfrm>
          <a:custGeom>
            <a:avLst/>
            <a:gdLst/>
            <a:ahLst/>
            <a:cxnLst/>
            <a:rect l="l" t="t" r="r" b="b"/>
            <a:pathLst>
              <a:path w="3427095" h="1136014">
                <a:moveTo>
                  <a:pt x="3426900" y="0"/>
                </a:moveTo>
                <a:lnTo>
                  <a:pt x="0" y="0"/>
                </a:lnTo>
                <a:lnTo>
                  <a:pt x="0" y="1135499"/>
                </a:lnTo>
                <a:lnTo>
                  <a:pt x="3426900" y="1135499"/>
                </a:lnTo>
                <a:lnTo>
                  <a:pt x="3426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73549" y="1264075"/>
            <a:ext cx="3418204" cy="1136015"/>
          </a:xfrm>
          <a:custGeom>
            <a:avLst/>
            <a:gdLst/>
            <a:ahLst/>
            <a:cxnLst/>
            <a:rect l="l" t="t" r="r" b="b"/>
            <a:pathLst>
              <a:path w="3418204" h="1136014">
                <a:moveTo>
                  <a:pt x="3417900" y="0"/>
                </a:moveTo>
                <a:lnTo>
                  <a:pt x="0" y="0"/>
                </a:lnTo>
                <a:lnTo>
                  <a:pt x="0" y="1135499"/>
                </a:lnTo>
                <a:lnTo>
                  <a:pt x="3417900" y="1135499"/>
                </a:lnTo>
                <a:lnTo>
                  <a:pt x="3417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73549" y="2579574"/>
            <a:ext cx="3418204" cy="848360"/>
          </a:xfrm>
          <a:custGeom>
            <a:avLst/>
            <a:gdLst/>
            <a:ahLst/>
            <a:cxnLst/>
            <a:rect l="l" t="t" r="r" b="b"/>
            <a:pathLst>
              <a:path w="3418204" h="848360">
                <a:moveTo>
                  <a:pt x="3417900" y="0"/>
                </a:moveTo>
                <a:lnTo>
                  <a:pt x="0" y="0"/>
                </a:lnTo>
                <a:lnTo>
                  <a:pt x="0" y="848100"/>
                </a:lnTo>
                <a:lnTo>
                  <a:pt x="3417900" y="848100"/>
                </a:lnTo>
                <a:lnTo>
                  <a:pt x="3417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73549" y="3607675"/>
            <a:ext cx="3418204" cy="951230"/>
          </a:xfrm>
          <a:custGeom>
            <a:avLst/>
            <a:gdLst/>
            <a:ahLst/>
            <a:cxnLst/>
            <a:rect l="l" t="t" r="r" b="b"/>
            <a:pathLst>
              <a:path w="3418204" h="951229">
                <a:moveTo>
                  <a:pt x="3417900" y="0"/>
                </a:moveTo>
                <a:lnTo>
                  <a:pt x="0" y="0"/>
                </a:lnTo>
                <a:lnTo>
                  <a:pt x="0" y="950999"/>
                </a:lnTo>
                <a:lnTo>
                  <a:pt x="3417900" y="950999"/>
                </a:lnTo>
                <a:lnTo>
                  <a:pt x="341790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7488" y="1420367"/>
            <a:ext cx="463295" cy="46329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52549" y="1264075"/>
            <a:ext cx="3427095" cy="77914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Times New Roman"/>
              <a:cs typeface="Times New Roman"/>
            </a:endParaRPr>
          </a:p>
          <a:p>
            <a:pPr marL="802005" marR="283210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Обучение выстроено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формате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вебинаров (онлайн).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Онлайн-вебинары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проводятся</a:t>
            </a:r>
            <a:r>
              <a:rPr sz="900" spc="500" dirty="0">
                <a:latin typeface="Trebuchet MS"/>
                <a:cs typeface="Trebuchet MS"/>
              </a:rPr>
              <a:t>  </a:t>
            </a:r>
            <a:r>
              <a:rPr sz="900" spc="10" dirty="0">
                <a:latin typeface="Trebuchet MS"/>
                <a:cs typeface="Trebuchet MS"/>
              </a:rPr>
              <a:t>по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вечерам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или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выходные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дни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7488" y="2438400"/>
            <a:ext cx="463295" cy="46329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52549" y="2237574"/>
            <a:ext cx="3427095" cy="993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endParaRPr sz="900">
              <a:latin typeface="Times New Roman"/>
              <a:cs typeface="Times New Roman"/>
            </a:endParaRPr>
          </a:p>
          <a:p>
            <a:pPr marL="802005" marR="206375">
              <a:lnSpc>
                <a:spcPct val="120700"/>
              </a:lnSpc>
              <a:spcBef>
                <a:spcPts val="5"/>
              </a:spcBef>
            </a:pPr>
            <a:r>
              <a:rPr sz="900" dirty="0">
                <a:latin typeface="Trebuchet MS"/>
                <a:cs typeface="Trebuchet MS"/>
              </a:rPr>
              <a:t>Все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записи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занятий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материалы, </a:t>
            </a:r>
            <a:r>
              <a:rPr sz="900" spc="10" dirty="0">
                <a:latin typeface="Trebuchet MS"/>
                <a:cs typeface="Trebuchet MS"/>
              </a:rPr>
              <a:t>предоставляемые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преподавателями, </a:t>
            </a:r>
            <a:r>
              <a:rPr sz="900" dirty="0">
                <a:latin typeface="Trebuchet MS"/>
                <a:cs typeface="Trebuchet MS"/>
              </a:rPr>
              <a:t>сохраняются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личном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кабинете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остаются </a:t>
            </a:r>
            <a:r>
              <a:rPr sz="900" dirty="0">
                <a:latin typeface="Trebuchet MS"/>
                <a:cs typeface="Trebuchet MS"/>
              </a:rPr>
              <a:t>доступны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даже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после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окончания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обучения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7488" y="3630167"/>
            <a:ext cx="463295" cy="4632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52549" y="3425275"/>
            <a:ext cx="3427095" cy="1136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endParaRPr sz="900">
              <a:latin typeface="Times New Roman"/>
              <a:cs typeface="Times New Roman"/>
            </a:endParaRPr>
          </a:p>
          <a:p>
            <a:pPr marL="802005" marR="654685">
              <a:lnSpc>
                <a:spcPct val="121100"/>
              </a:lnSpc>
            </a:pPr>
            <a:r>
              <a:rPr sz="900" dirty="0">
                <a:latin typeface="Trebuchet MS"/>
                <a:cs typeface="Trebuchet MS"/>
              </a:rPr>
              <a:t>Домашние</a:t>
            </a:r>
            <a:r>
              <a:rPr sz="900" spc="1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задания</a:t>
            </a:r>
            <a:r>
              <a:rPr sz="900" spc="1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позволят</a:t>
            </a:r>
            <a:r>
              <a:rPr sz="900" spc="12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Вам </a:t>
            </a:r>
            <a:r>
              <a:rPr sz="900" dirty="0">
                <a:latin typeface="Trebuchet MS"/>
                <a:cs typeface="Trebuchet MS"/>
              </a:rPr>
              <a:t>применить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5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практике</a:t>
            </a:r>
            <a:r>
              <a:rPr sz="900" spc="5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полученные </a:t>
            </a:r>
            <a:r>
              <a:rPr sz="900" dirty="0">
                <a:latin typeface="Trebuchet MS"/>
                <a:cs typeface="Trebuchet MS"/>
              </a:rPr>
              <a:t>во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время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вебинаров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знания.</a:t>
            </a:r>
            <a:endParaRPr sz="900">
              <a:latin typeface="Trebuchet MS"/>
              <a:cs typeface="Trebuchet MS"/>
            </a:endParaRPr>
          </a:p>
          <a:p>
            <a:pPr marL="802005" marR="353695">
              <a:lnSpc>
                <a:spcPct val="120000"/>
              </a:lnSpc>
            </a:pPr>
            <a:r>
              <a:rPr sz="900" dirty="0">
                <a:latin typeface="Trebuchet MS"/>
                <a:cs typeface="Trebuchet MS"/>
              </a:rPr>
              <a:t>По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каждому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домашнему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заданию </a:t>
            </a:r>
            <a:r>
              <a:rPr sz="900" dirty="0">
                <a:latin typeface="Trebuchet MS"/>
                <a:cs typeface="Trebuchet MS"/>
              </a:rPr>
              <a:t>преподаватель</a:t>
            </a:r>
            <a:r>
              <a:rPr sz="900" spc="7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дает</a:t>
            </a:r>
            <a:r>
              <a:rPr sz="900" spc="8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развернутый</a:t>
            </a:r>
            <a:r>
              <a:rPr sz="900" spc="8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фидбек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52415" y="1420367"/>
            <a:ext cx="463296" cy="46329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673549" y="1264075"/>
            <a:ext cx="3418204" cy="113601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Times New Roman"/>
              <a:cs typeface="Times New Roman"/>
            </a:endParaRPr>
          </a:p>
          <a:p>
            <a:pPr marL="796290" marR="324485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В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процессе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обучения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60" dirty="0">
                <a:latin typeface="Trebuchet MS"/>
                <a:cs typeface="Trebuchet MS"/>
              </a:rPr>
              <a:t>Вы</a:t>
            </a:r>
            <a:r>
              <a:rPr sz="900" dirty="0">
                <a:latin typeface="Trebuchet MS"/>
                <a:cs typeface="Trebuchet MS"/>
              </a:rPr>
              <a:t> можете</a:t>
            </a:r>
            <a:r>
              <a:rPr sz="900" spc="-10" dirty="0">
                <a:latin typeface="Trebuchet MS"/>
                <a:cs typeface="Trebuchet MS"/>
              </a:rPr>
              <a:t> задавать </a:t>
            </a:r>
            <a:r>
              <a:rPr sz="900" dirty="0">
                <a:latin typeface="Trebuchet MS"/>
                <a:cs typeface="Trebuchet MS"/>
              </a:rPr>
              <a:t>преподавателю</a:t>
            </a:r>
            <a:r>
              <a:rPr sz="900" spc="1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вопросы</a:t>
            </a:r>
            <a:r>
              <a:rPr sz="900" spc="1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по</a:t>
            </a:r>
            <a:r>
              <a:rPr sz="900" spc="1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материалам </a:t>
            </a:r>
            <a:r>
              <a:rPr sz="900" dirty="0">
                <a:latin typeface="Trebuchet MS"/>
                <a:cs typeface="Trebuchet MS"/>
              </a:rPr>
              <a:t>лекций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домашних</a:t>
            </a:r>
            <a:r>
              <a:rPr sz="900" spc="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заданий,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уточнять </a:t>
            </a:r>
            <a:r>
              <a:rPr sz="900" dirty="0">
                <a:latin typeface="Trebuchet MS"/>
                <a:cs typeface="Trebuchet MS"/>
              </a:rPr>
              <a:t>моменты,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которые</a:t>
            </a:r>
            <a:r>
              <a:rPr sz="900" spc="5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были</a:t>
            </a:r>
            <a:r>
              <a:rPr sz="900" spc="5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непонятны</a:t>
            </a:r>
            <a:endParaRPr sz="900">
              <a:latin typeface="Trebuchet MS"/>
              <a:cs typeface="Trebuchet MS"/>
            </a:endParaRPr>
          </a:p>
          <a:p>
            <a:pPr marL="796290">
              <a:lnSpc>
                <a:spcPct val="100000"/>
              </a:lnSpc>
            </a:pP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-10" dirty="0">
                <a:latin typeface="Trebuchet MS"/>
                <a:cs typeface="Trebuchet MS"/>
              </a:rPr>
              <a:t> уроке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52415" y="2740151"/>
            <a:ext cx="463296" cy="46634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673549" y="2579574"/>
            <a:ext cx="3418204" cy="84836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endParaRPr sz="900">
              <a:latin typeface="Times New Roman"/>
              <a:cs typeface="Times New Roman"/>
            </a:endParaRPr>
          </a:p>
          <a:p>
            <a:pPr marL="796290">
              <a:lnSpc>
                <a:spcPct val="100000"/>
              </a:lnSpc>
            </a:pPr>
            <a:r>
              <a:rPr sz="900" dirty="0">
                <a:latin typeface="Trebuchet MS"/>
                <a:cs typeface="Trebuchet MS"/>
              </a:rPr>
              <a:t>Время на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обучение: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от 4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ак.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часов</a:t>
            </a:r>
            <a:endParaRPr sz="900">
              <a:latin typeface="Trebuchet MS"/>
              <a:cs typeface="Trebuchet MS"/>
            </a:endParaRPr>
          </a:p>
          <a:p>
            <a:pPr marL="796290" marR="583565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занятия</a:t>
            </a:r>
            <a:r>
              <a:rPr sz="900" spc="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и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4-</a:t>
            </a:r>
            <a:r>
              <a:rPr sz="900" dirty="0">
                <a:latin typeface="Trebuchet MS"/>
                <a:cs typeface="Trebuchet MS"/>
              </a:rPr>
              <a:t>8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часов</a:t>
            </a:r>
            <a:r>
              <a:rPr sz="900" spc="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домашнюю </a:t>
            </a:r>
            <a:r>
              <a:rPr sz="900" dirty="0">
                <a:latin typeface="Trebuchet MS"/>
                <a:cs typeface="Trebuchet MS"/>
              </a:rPr>
              <a:t>работу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50" dirty="0">
                <a:latin typeface="Trebuchet MS"/>
                <a:cs typeface="Trebuchet MS"/>
              </a:rPr>
              <a:t>в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неделю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52415" y="3758183"/>
            <a:ext cx="463296" cy="46329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673549" y="3607675"/>
            <a:ext cx="3418204" cy="9512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900">
              <a:latin typeface="Times New Roman"/>
              <a:cs typeface="Times New Roman"/>
            </a:endParaRPr>
          </a:p>
          <a:p>
            <a:pPr marL="796290" marR="459740">
              <a:lnSpc>
                <a:spcPct val="111100"/>
              </a:lnSpc>
            </a:pPr>
            <a:r>
              <a:rPr sz="900" dirty="0">
                <a:latin typeface="Trebuchet MS"/>
                <a:cs typeface="Trebuchet MS"/>
              </a:rPr>
              <a:t>Программа</a:t>
            </a:r>
            <a:r>
              <a:rPr sz="900" spc="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обучения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на</a:t>
            </a:r>
            <a:r>
              <a:rPr sz="900" spc="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курсах </a:t>
            </a:r>
            <a:r>
              <a:rPr sz="900" dirty="0">
                <a:latin typeface="Trebuchet MS"/>
                <a:cs typeface="Trebuchet MS"/>
              </a:rPr>
              <a:t>обновляется</a:t>
            </a:r>
            <a:r>
              <a:rPr sz="900" spc="10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каждый</a:t>
            </a:r>
            <a:r>
              <a:rPr sz="900" spc="9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запуск</a:t>
            </a:r>
            <a:r>
              <a:rPr sz="900" spc="9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 </a:t>
            </a:r>
            <a:r>
              <a:rPr sz="900" spc="10" dirty="0">
                <a:latin typeface="Trebuchet MS"/>
                <a:cs typeface="Trebuchet MS"/>
              </a:rPr>
              <a:t>зависимости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от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актуальных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10" dirty="0">
                <a:latin typeface="Trebuchet MS"/>
                <a:cs typeface="Trebuchet MS"/>
              </a:rPr>
              <a:t>запросов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в </a:t>
            </a:r>
            <a:r>
              <a:rPr sz="900" spc="-20" dirty="0">
                <a:latin typeface="Trebuchet MS"/>
                <a:cs typeface="Trebuchet MS"/>
              </a:rPr>
              <a:t>сфере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IТ-</a:t>
            </a:r>
            <a:r>
              <a:rPr sz="900" spc="-10" dirty="0">
                <a:latin typeface="Trebuchet MS"/>
                <a:cs typeface="Trebuchet MS"/>
              </a:rPr>
              <a:t>технологий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Процесс</a:t>
            </a:r>
            <a:r>
              <a:rPr spc="-190" dirty="0"/>
              <a:t> </a:t>
            </a:r>
            <a:r>
              <a:rPr spc="-60" dirty="0"/>
              <a:t>обучения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4949" y="1534668"/>
            <a:ext cx="5574665" cy="17602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50"/>
              </a:spcBef>
            </a:pPr>
            <a:r>
              <a:rPr sz="3800" spc="-95" dirty="0">
                <a:solidFill>
                  <a:srgbClr val="FFFFFF"/>
                </a:solidFill>
              </a:rPr>
              <a:t>Заполните,</a:t>
            </a:r>
            <a:r>
              <a:rPr sz="3800" spc="-130" dirty="0">
                <a:solidFill>
                  <a:srgbClr val="FFFFFF"/>
                </a:solidFill>
              </a:rPr>
              <a:t> </a:t>
            </a:r>
            <a:r>
              <a:rPr sz="3800" spc="-45" dirty="0">
                <a:solidFill>
                  <a:srgbClr val="FFFFFF"/>
                </a:solidFill>
              </a:rPr>
              <a:t>пожалуйста, </a:t>
            </a:r>
            <a:r>
              <a:rPr sz="3800" spc="-55" dirty="0">
                <a:solidFill>
                  <a:srgbClr val="FFFFFF"/>
                </a:solidFill>
              </a:rPr>
              <a:t>опрос</a:t>
            </a:r>
            <a:r>
              <a:rPr sz="3800" spc="-220" dirty="0">
                <a:solidFill>
                  <a:srgbClr val="FFFFFF"/>
                </a:solidFill>
              </a:rPr>
              <a:t> </a:t>
            </a:r>
            <a:r>
              <a:rPr sz="3800" dirty="0">
                <a:solidFill>
                  <a:srgbClr val="FFFFFF"/>
                </a:solidFill>
              </a:rPr>
              <a:t>о</a:t>
            </a:r>
            <a:r>
              <a:rPr sz="3800" spc="-195" dirty="0">
                <a:solidFill>
                  <a:srgbClr val="FFFFFF"/>
                </a:solidFill>
              </a:rPr>
              <a:t> </a:t>
            </a:r>
            <a:r>
              <a:rPr sz="3800" spc="-10" dirty="0">
                <a:solidFill>
                  <a:srgbClr val="FFFFFF"/>
                </a:solidFill>
              </a:rPr>
              <a:t>занятии</a:t>
            </a:r>
            <a:endParaRPr sz="3800"/>
          </a:p>
          <a:p>
            <a:pPr marL="12700">
              <a:lnSpc>
                <a:spcPts val="4490"/>
              </a:lnSpc>
            </a:pPr>
            <a:r>
              <a:rPr sz="3800" spc="-50" dirty="0">
                <a:solidFill>
                  <a:srgbClr val="FFFFFF"/>
                </a:solidFill>
              </a:rPr>
              <a:t>по</a:t>
            </a:r>
            <a:r>
              <a:rPr sz="3800" spc="-195" dirty="0">
                <a:solidFill>
                  <a:srgbClr val="FFFFFF"/>
                </a:solidFill>
              </a:rPr>
              <a:t> </a:t>
            </a:r>
            <a:r>
              <a:rPr sz="3800" dirty="0">
                <a:solidFill>
                  <a:srgbClr val="FFFFFF"/>
                </a:solidFill>
              </a:rPr>
              <a:t>ссылке</a:t>
            </a:r>
            <a:r>
              <a:rPr sz="3800" spc="-200" dirty="0">
                <a:solidFill>
                  <a:srgbClr val="FFFFFF"/>
                </a:solidFill>
              </a:rPr>
              <a:t> </a:t>
            </a:r>
            <a:r>
              <a:rPr sz="3800" spc="60" dirty="0">
                <a:solidFill>
                  <a:srgbClr val="FFFFFF"/>
                </a:solidFill>
              </a:rPr>
              <a:t>в</a:t>
            </a:r>
            <a:r>
              <a:rPr sz="3800" spc="-195" dirty="0">
                <a:solidFill>
                  <a:srgbClr val="FFFFFF"/>
                </a:solidFill>
              </a:rPr>
              <a:t> </a:t>
            </a:r>
            <a:r>
              <a:rPr sz="3800" spc="-20" dirty="0">
                <a:solidFill>
                  <a:srgbClr val="FFFFFF"/>
                </a:solidFill>
              </a:rPr>
              <a:t>чате</a:t>
            </a:r>
            <a:endParaRPr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Words>1418</Words>
  <Application>Microsoft Macintosh PowerPoint</Application>
  <PresentationFormat>On-screen Show (16:9)</PresentationFormat>
  <Paragraphs>415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Calibri</vt:lpstr>
      <vt:lpstr>Courier New</vt:lpstr>
      <vt:lpstr>Georgia</vt:lpstr>
      <vt:lpstr>Times New Roman</vt:lpstr>
      <vt:lpstr>Trebuchet MS</vt:lpstr>
      <vt:lpstr>Office Theme</vt:lpstr>
      <vt:lpstr>ML Ops</vt:lpstr>
      <vt:lpstr>Проверить, идет ли запись</vt:lpstr>
      <vt:lpstr>ML Ops</vt:lpstr>
      <vt:lpstr>Правила вебинара</vt:lpstr>
      <vt:lpstr>Маршрут вебинара</vt:lpstr>
      <vt:lpstr>Расскажите о себе</vt:lpstr>
      <vt:lpstr>Об ОТУС</vt:lpstr>
      <vt:lpstr>О компании</vt:lpstr>
      <vt:lpstr>Образование в ОТУС</vt:lpstr>
      <vt:lpstr>Напишите, пожалуйста, в чат подходящую цифру</vt:lpstr>
      <vt:lpstr>Версионирование и воспроизводимость</vt:lpstr>
      <vt:lpstr>Воспроизводимость</vt:lpstr>
      <vt:lpstr>Воспроизводимость</vt:lpstr>
      <vt:lpstr>Воспроизводимость</vt:lpstr>
      <vt:lpstr>Воспроизводимость</vt:lpstr>
      <vt:lpstr>Воспроизводимость</vt:lpstr>
      <vt:lpstr>Подготовим рабочее окружение</vt:lpstr>
      <vt:lpstr>Установка зависимостей</vt:lpstr>
      <vt:lpstr>Подгрузим данные и запустим эксперимент</vt:lpstr>
      <vt:lpstr>Версионирование</vt:lpstr>
      <vt:lpstr>Подготовим рабочее окружение</vt:lpstr>
      <vt:lpstr>Установка зависимостей</vt:lpstr>
      <vt:lpstr>Подключим S3 bucket</vt:lpstr>
      <vt:lpstr>Настроим доступ к S3 bucket</vt:lpstr>
      <vt:lpstr>Обучим модель</vt:lpstr>
      <vt:lpstr>DVC pipeline</vt:lpstr>
      <vt:lpstr>Воспроизводимость экспериментов</vt:lpstr>
      <vt:lpstr>Фиксируем изменения</vt:lpstr>
      <vt:lpstr>Вопросы?</vt:lpstr>
      <vt:lpstr>Знакомство с командой и программой курса</vt:lpstr>
      <vt:lpstr>Команда курса</vt:lpstr>
      <vt:lpstr>Команда курса</vt:lpstr>
      <vt:lpstr>Команда курса</vt:lpstr>
      <vt:lpstr>О курсе MLOps</vt:lpstr>
      <vt:lpstr>Карта курса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Программа модуля</vt:lpstr>
      <vt:lpstr>Процесс обучения</vt:lpstr>
      <vt:lpstr>Заполните, пожалуйста, опрос о занятии по ссылке в чате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Ops</dc:title>
  <cp:lastModifiedBy>Стурейко Игорь Олегович</cp:lastModifiedBy>
  <cp:revision>8</cp:revision>
  <dcterms:created xsi:type="dcterms:W3CDTF">2025-06-02T10:31:07Z</dcterms:created>
  <dcterms:modified xsi:type="dcterms:W3CDTF">2025-06-02T15:08:11Z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2024-05-13T00:00:00Z</vt:filetime>
  </property>
  <property fmtid="{D5CDD505-2E9C-101B-9397-08002B2CF9AE}" pid="3" name="LastSaved">
    <vt:filetime>2025-06-02T00:00:00Z</vt:filetime>
  </property>
  <property fmtid="{D5CDD505-2E9C-101B-9397-08002B2CF9AE}" pid="4" name="Producer">
    <vt:lpwstr>macOS Version 14.2.1 (Build 23C71) Quartz PDFContext</vt:lpwstr>
  </property>
</Properties>
</file>