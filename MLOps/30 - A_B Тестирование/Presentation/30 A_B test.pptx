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334" r:id="rId4"/>
    <p:sldId id="259" r:id="rId5"/>
    <p:sldId id="305" r:id="rId6"/>
    <p:sldId id="371" r:id="rId7"/>
    <p:sldId id="393" r:id="rId8"/>
    <p:sldId id="342" r:id="rId9"/>
    <p:sldId id="394" r:id="rId10"/>
    <p:sldId id="486" r:id="rId11"/>
    <p:sldId id="495" r:id="rId12"/>
    <p:sldId id="411" r:id="rId13"/>
    <p:sldId id="413" r:id="rId14"/>
    <p:sldId id="487" r:id="rId15"/>
    <p:sldId id="488" r:id="rId16"/>
    <p:sldId id="489" r:id="rId17"/>
    <p:sldId id="490" r:id="rId18"/>
    <p:sldId id="491" r:id="rId19"/>
    <p:sldId id="492" r:id="rId20"/>
    <p:sldId id="493" r:id="rId21"/>
    <p:sldId id="494" r:id="rId22"/>
    <p:sldId id="501" r:id="rId23"/>
    <p:sldId id="496" r:id="rId24"/>
    <p:sldId id="497" r:id="rId25"/>
    <p:sldId id="498" r:id="rId26"/>
    <p:sldId id="499" r:id="rId27"/>
    <p:sldId id="500" r:id="rId28"/>
    <p:sldId id="502" r:id="rId29"/>
    <p:sldId id="503" r:id="rId30"/>
    <p:sldId id="504" r:id="rId31"/>
    <p:sldId id="505" r:id="rId32"/>
    <p:sldId id="507" r:id="rId33"/>
    <p:sldId id="508" r:id="rId34"/>
    <p:sldId id="391" r:id="rId35"/>
    <p:sldId id="300" r:id="rId36"/>
    <p:sldId id="364" r:id="rId37"/>
    <p:sldId id="506" r:id="rId38"/>
    <p:sldId id="302" r:id="rId39"/>
    <p:sldId id="335" r:id="rId40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88"/>
    <p:restoredTop sz="94681"/>
  </p:normalViewPr>
  <p:slideViewPr>
    <p:cSldViewPr>
      <p:cViewPr varScale="1">
        <p:scale>
          <a:sx n="280" d="100"/>
          <a:sy n="280" d="100"/>
        </p:scale>
        <p:origin x="174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03.04.2025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6638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461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576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085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8598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0051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5742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ITIPUK282HmSyCFY0uyHlJYZFPeDGNFX/view?usp=sharin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drive.google.com/file/d/17U-kzxMYN0vY9G8TyfgP6FvtDvYWWQ17/view?usp=sharing" TargetMode="External"/><Relationship Id="rId5" Type="http://schemas.openxmlformats.org/officeDocument/2006/relationships/hyperlink" Target="https://drive.google.com/file/d/15GBezm_7-4f75CEaE9ziv_-Gp6bp6a-7/view?usp=sharing" TargetMode="External"/><Relationship Id="rId4" Type="http://schemas.openxmlformats.org/officeDocument/2006/relationships/hyperlink" Target="https://drive.google.com/file/d/19bDez1HirjBfFkVHljhTlDHnvdOMimT-/view?usp=sharing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lang="en-US" sz="5600" spc="-35" dirty="0" err="1">
                <a:solidFill>
                  <a:srgbClr val="FFFFFF"/>
                </a:solidFill>
              </a:rPr>
              <a:t>MLOps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ru-RU" spc="-10" dirty="0">
                <a:solidFill>
                  <a:srgbClr val="FFFFFF"/>
                </a:solidFill>
              </a:rPr>
              <a:t>А/Б тесты</a:t>
            </a:r>
            <a:endParaRPr lang="en-US"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MLOps</a:t>
            </a:r>
            <a:br>
              <a:rPr lang="en-US" dirty="0"/>
            </a:br>
            <a:r>
              <a:rPr lang="ru-RU" sz="3200" b="1" dirty="0">
                <a:latin typeface="Roboto"/>
                <a:ea typeface="Roboto"/>
                <a:cs typeface="Roboto"/>
                <a:sym typeface="Roboto"/>
              </a:rPr>
              <a:t>А/Б тесты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ED965473-BBD3-AB44-A950-B109F48DEFA0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 dirty="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>
              <a:lnSpc>
                <a:spcPct val="100000"/>
              </a:lnSpc>
            </a:pPr>
            <a:endParaRPr sz="170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40238" y="1074905"/>
            <a:ext cx="4214193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А/А и А/Б тесты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7"/>
          <p:cNvSpPr/>
          <p:nvPr/>
        </p:nvSpPr>
        <p:spPr>
          <a:xfrm>
            <a:off x="740239" y="1944416"/>
            <a:ext cx="421419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Ошибки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II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рода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40239" y="2813927"/>
            <a:ext cx="421276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Уровень значимости и мощность теста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37"/>
          <p:cNvCxnSpPr>
            <a:cxnSpLocks/>
            <a:stCxn id="235" idx="1"/>
            <a:endCxn id="236" idx="1"/>
          </p:cNvCxnSpPr>
          <p:nvPr/>
        </p:nvCxnSpPr>
        <p:spPr>
          <a:xfrm rot="10800000" flipH="1" flipV="1">
            <a:off x="740237" y="1263004"/>
            <a:ext cx="1" cy="869511"/>
          </a:xfrm>
          <a:prstGeom prst="curvedConnector3">
            <a:avLst>
              <a:gd name="adj1" fmla="val -2286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40239" y="2132515"/>
            <a:ext cx="12700" cy="86951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238;p37">
            <a:extLst>
              <a:ext uri="{FF2B5EF4-FFF2-40B4-BE49-F238E27FC236}">
                <a16:creationId xmlns:a16="http://schemas.microsoft.com/office/drawing/2014/main" id="{6F8EE228-CF1E-F70B-4105-8ECCB7307098}"/>
              </a:ext>
            </a:extLst>
          </p:cNvPr>
          <p:cNvSpPr/>
          <p:nvPr/>
        </p:nvSpPr>
        <p:spPr>
          <a:xfrm>
            <a:off x="740239" y="3683438"/>
            <a:ext cx="421276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t-</a:t>
            </a: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тест,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Z-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тест</a:t>
            </a:r>
            <a:endParaRPr lang="ar-AE"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2" idx="1"/>
          </p:cNvCxnSpPr>
          <p:nvPr/>
        </p:nvCxnSpPr>
        <p:spPr>
          <a:xfrm rot="10800000" flipV="1">
            <a:off x="740239" y="3002026"/>
            <a:ext cx="12700" cy="86951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" name="Google Shape;238;p37">
            <a:extLst>
              <a:ext uri="{FF2B5EF4-FFF2-40B4-BE49-F238E27FC236}">
                <a16:creationId xmlns:a16="http://schemas.microsoft.com/office/drawing/2014/main" id="{1E93F41F-C7D4-7B40-9453-630D8322B79F}"/>
              </a:ext>
            </a:extLst>
          </p:cNvPr>
          <p:cNvSpPr/>
          <p:nvPr/>
        </p:nvSpPr>
        <p:spPr>
          <a:xfrm>
            <a:off x="740236" y="4552950"/>
            <a:ext cx="4212762" cy="37620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Почему нельзя подглядывать </a:t>
            </a:r>
            <a:endParaRPr lang="ar-AE"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" name="Google Shape;242;p37">
            <a:extLst>
              <a:ext uri="{FF2B5EF4-FFF2-40B4-BE49-F238E27FC236}">
                <a16:creationId xmlns:a16="http://schemas.microsoft.com/office/drawing/2014/main" id="{B2CB5C7A-BED0-5A48-8D67-CA874A50A0CA}"/>
              </a:ext>
            </a:extLst>
          </p:cNvPr>
          <p:cNvCxnSpPr>
            <a:cxnSpLocks/>
            <a:stCxn id="2" idx="1"/>
            <a:endCxn id="16" idx="1"/>
          </p:cNvCxnSpPr>
          <p:nvPr/>
        </p:nvCxnSpPr>
        <p:spPr>
          <a:xfrm rot="10800000" flipV="1">
            <a:off x="740237" y="3871537"/>
            <a:ext cx="3" cy="869513"/>
          </a:xfrm>
          <a:prstGeom prst="curvedConnector3">
            <a:avLst>
              <a:gd name="adj1" fmla="val 762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4" name="Picture 2" descr="Подглядывание и Юмор: истории из жизни, советы, новости и юмор — Лучшее |  Пикабу">
            <a:extLst>
              <a:ext uri="{FF2B5EF4-FFF2-40B4-BE49-F238E27FC236}">
                <a16:creationId xmlns:a16="http://schemas.microsoft.com/office/drawing/2014/main" id="{AABB91BD-0B5B-DD4E-A8A0-10B29B6BD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048" y="3205331"/>
            <a:ext cx="3062624" cy="1723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Рис. 1. На графике показаны распределения разницы средних. Синее распределение соответствует нулевой гипотезе, красное — альтернативной. Вертикальной линией обозначено критическое значение, которое используется для определения статистической значимости. Площадь под синим графиком справа от вертикальной линии равна половине вероятности ошибки первого рода alpha/2. Площадь под красным графиком слева от вертикальной линии равна вероятности ошибки второго рода beta. Площадь под красным графиком справа от вертикальной линии равна мощности 1-beta.">
            <a:extLst>
              <a:ext uri="{FF2B5EF4-FFF2-40B4-BE49-F238E27FC236}">
                <a16:creationId xmlns:a16="http://schemas.microsoft.com/office/drawing/2014/main" id="{25084FE1-A983-1443-B5A7-A618A6412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286" y="967728"/>
            <a:ext cx="3369009" cy="1981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4482711"/>
              </p:ext>
            </p:extLst>
          </p:nvPr>
        </p:nvGraphicFramePr>
        <p:xfrm>
          <a:off x="846750" y="1649963"/>
          <a:ext cx="7239000" cy="147214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Разобраться в том, что такое статистический тест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Понять что такое А/А тест и А/Б тест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Понять как рассчитать необходимый размер выборки и мощность теста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4953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Понять почему нельзя подглядывать в тестах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75886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1769624751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Проводить численное тестирование гипотез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Повысить эффективность и обоснованность принимаемых решений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6094990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Какие тесты бывают</a:t>
            </a:r>
            <a:br>
              <a:rPr lang="ru-RU" dirty="0"/>
            </a:br>
            <a:r>
              <a:rPr lang="ru-RU" dirty="0"/>
              <a:t>А/А, А/Б, А/Б/</a:t>
            </a:r>
            <a:r>
              <a:rPr lang="en-US" dirty="0"/>
              <a:t>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1339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Статистический тест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8CBD5-66A7-7C43-823A-9E9B7465C8A7}"/>
              </a:ext>
            </a:extLst>
          </p:cNvPr>
          <p:cNvSpPr txBox="1"/>
          <p:nvPr/>
        </p:nvSpPr>
        <p:spPr>
          <a:xfrm>
            <a:off x="500550" y="1276350"/>
            <a:ext cx="8520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Это метод, который помогает принимать решения на основе данных. </a:t>
            </a:r>
          </a:p>
          <a:p>
            <a:r>
              <a:rPr lang="ru-RU" dirty="0"/>
              <a:t>Он используется, чтобы проверить, правдиво ли наше предположение (гипотеза) о каком-то явлении или нет. </a:t>
            </a:r>
          </a:p>
          <a:p>
            <a:r>
              <a:rPr lang="ru-RU" dirty="0"/>
              <a:t>Например, мы можем предположить, что два разных продукта одинаково популярны, и с помощью теста проверим, так ли это.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А/А тест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А/Б тест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А/Б/</a:t>
            </a:r>
            <a:r>
              <a:rPr lang="en-US" dirty="0"/>
              <a:t>n </a:t>
            </a:r>
            <a:r>
              <a:rPr lang="ru-RU" dirty="0"/>
              <a:t>тест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875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Статистический тест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8CBD5-66A7-7C43-823A-9E9B7465C8A7}"/>
              </a:ext>
            </a:extLst>
          </p:cNvPr>
          <p:cNvSpPr txBox="1"/>
          <p:nvPr/>
        </p:nvSpPr>
        <p:spPr>
          <a:xfrm>
            <a:off x="500550" y="1412064"/>
            <a:ext cx="8520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ходе теста мы хотим выяснить есть ли отличия между нашими выборками, </a:t>
            </a:r>
            <a:r>
              <a:rPr lang="ru-RU" dirty="0" err="1"/>
              <a:t>т.е</a:t>
            </a:r>
            <a:r>
              <a:rPr lang="ru-RU" dirty="0"/>
              <a:t> выяснить есть ли отличия в мат ожидании генеральной совокупности в случае А (базовый случай) и в случае Б (проводимый эксперимент).</a:t>
            </a:r>
          </a:p>
          <a:p>
            <a:endParaRPr lang="ru-RU" dirty="0"/>
          </a:p>
          <a:p>
            <a:r>
              <a:rPr lang="ru-RU" dirty="0"/>
              <a:t>Н0 – нулевая гипотеза – Статистически значимых различий между мат ожиданиями в случае А и в случае Б нет.</a:t>
            </a:r>
          </a:p>
          <a:p>
            <a:endParaRPr lang="ru-RU" dirty="0"/>
          </a:p>
          <a:p>
            <a:r>
              <a:rPr lang="ru-RU" dirty="0"/>
              <a:t>Н1 – альтернативная гипотеза – Статистически значимые различия есть.</a:t>
            </a:r>
          </a:p>
        </p:txBody>
      </p:sp>
    </p:spTree>
    <p:extLst>
      <p:ext uri="{BB962C8B-B14F-4D97-AF65-F5344CB8AC3E}">
        <p14:creationId xmlns:p14="http://schemas.microsoft.com/office/powerpoint/2010/main" val="3147683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Статистические тесты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44FC2E-21C5-5B45-A8E8-3551A7FD8C01}"/>
              </a:ext>
            </a:extLst>
          </p:cNvPr>
          <p:cNvSpPr txBox="1"/>
          <p:nvPr/>
        </p:nvSpPr>
        <p:spPr>
          <a:xfrm>
            <a:off x="500550" y="1504950"/>
            <a:ext cx="84115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b="1" dirty="0"/>
              <a:t>t-</a:t>
            </a:r>
            <a:r>
              <a:rPr lang="ru-RU" b="1" dirty="0"/>
              <a:t>тест: </a:t>
            </a:r>
            <a:r>
              <a:rPr lang="ru-RU" dirty="0"/>
              <a:t>Применяется для количественных (непрерывных) данных, таких как измерения роста, веса, температуры и т.д.</a:t>
            </a:r>
          </a:p>
          <a:p>
            <a:pPr>
              <a:spcAft>
                <a:spcPts val="1200"/>
              </a:spcAft>
            </a:pPr>
            <a:r>
              <a:rPr lang="ru-RU" dirty="0"/>
              <a:t>Например, вы используете </a:t>
            </a:r>
            <a:r>
              <a:rPr lang="en-US" dirty="0"/>
              <a:t>t-</a:t>
            </a:r>
            <a:r>
              <a:rPr lang="ru-RU" dirty="0"/>
              <a:t>тест для проверки гипотезы о том, что средние значения двух групп (например, средний рост мужчин и женщин) различаются.</a:t>
            </a:r>
          </a:p>
          <a:p>
            <a:pPr>
              <a:spcAft>
                <a:spcPts val="1200"/>
              </a:spcAft>
            </a:pPr>
            <a:r>
              <a:rPr lang="en-US" b="1" dirty="0"/>
              <a:t>Z</a:t>
            </a:r>
            <a:r>
              <a:rPr lang="ru-RU" b="1" dirty="0"/>
              <a:t>-тест: </a:t>
            </a:r>
            <a:r>
              <a:rPr lang="ru-RU" dirty="0"/>
              <a:t>Применяется для дискретных (категориальных) данных, которые могут быть представлены в виде пропорций или вероятностей (например, успех/неуспех, да/нет).</a:t>
            </a:r>
          </a:p>
          <a:p>
            <a:pPr>
              <a:spcAft>
                <a:spcPts val="1200"/>
              </a:spcAft>
            </a:pPr>
            <a:r>
              <a:rPr lang="ru-RU" dirty="0"/>
              <a:t>Например, вы используете тест на пропорции для проверки гипотезы о том, что доля пользователей, купивших товар в двух разных группах, различается.</a:t>
            </a:r>
          </a:p>
        </p:txBody>
      </p:sp>
    </p:spTree>
    <p:extLst>
      <p:ext uri="{BB962C8B-B14F-4D97-AF65-F5344CB8AC3E}">
        <p14:creationId xmlns:p14="http://schemas.microsoft.com/office/powerpoint/2010/main" val="3836863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Ошибки</a:t>
            </a:r>
          </a:p>
        </p:txBody>
      </p:sp>
    </p:spTree>
    <p:extLst>
      <p:ext uri="{BB962C8B-B14F-4D97-AF65-F5344CB8AC3E}">
        <p14:creationId xmlns:p14="http://schemas.microsoft.com/office/powerpoint/2010/main" val="2575324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Матрица ошибок</a:t>
            </a:r>
            <a:endParaRPr lang="en-US" dirty="0"/>
          </a:p>
        </p:txBody>
      </p:sp>
      <p:pic>
        <p:nvPicPr>
          <p:cNvPr id="8" name="object 11">
            <a:extLst>
              <a:ext uri="{FF2B5EF4-FFF2-40B4-BE49-F238E27FC236}">
                <a16:creationId xmlns:a16="http://schemas.microsoft.com/office/drawing/2014/main" id="{934FF674-6B30-B14F-9F00-B867F2201F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5083" y="742950"/>
            <a:ext cx="2226067" cy="1905000"/>
          </a:xfrm>
          <a:prstGeom prst="rect">
            <a:avLst/>
          </a:prstGeom>
        </p:spPr>
      </p:pic>
      <p:pic>
        <p:nvPicPr>
          <p:cNvPr id="11" name="object 14">
            <a:extLst>
              <a:ext uri="{FF2B5EF4-FFF2-40B4-BE49-F238E27FC236}">
                <a16:creationId xmlns:a16="http://schemas.microsoft.com/office/drawing/2014/main" id="{220016B4-8D4F-B34D-8B25-0420BB91458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257550"/>
            <a:ext cx="2209800" cy="1752600"/>
          </a:xfrm>
          <a:prstGeom prst="rect">
            <a:avLst/>
          </a:prstGeom>
        </p:spPr>
      </p:pic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424A88BB-6FCC-C147-8D5E-0183FFF0A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690591"/>
              </p:ext>
            </p:extLst>
          </p:nvPr>
        </p:nvGraphicFramePr>
        <p:xfrm>
          <a:off x="2438400" y="1499229"/>
          <a:ext cx="2895600" cy="21554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39585203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7102091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01726936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176002476"/>
                    </a:ext>
                  </a:extLst>
                </a:gridCol>
              </a:tblGrid>
              <a:tr h="5388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Actual values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392765"/>
                  </a:ext>
                </a:extLst>
              </a:tr>
              <a:tr h="538861"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Predicted values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Positive (1)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Negative (0)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982192"/>
                  </a:ext>
                </a:extLst>
              </a:tr>
              <a:tr h="53886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Positive (1)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True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Positive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False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Positive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222477"/>
                  </a:ext>
                </a:extLst>
              </a:tr>
              <a:tr h="53886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Negative (0)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False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Negative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True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Negative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880987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AA61E68-C2D8-9747-A4E4-E6922D93F787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81600" y="1695450"/>
            <a:ext cx="1613483" cy="10287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BDCC257-5A46-6E4D-9E20-A50DF8D4C473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2286000" y="3562350"/>
            <a:ext cx="1676400" cy="5715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BA5466-CC92-4D43-AA45-803EEB8E07E4}"/>
                  </a:ext>
                </a:extLst>
              </p:cNvPr>
              <p:cNvSpPr txBox="1"/>
              <p:nvPr/>
            </p:nvSpPr>
            <p:spPr>
              <a:xfrm>
                <a:off x="5867400" y="2876550"/>
                <a:ext cx="3200400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400" dirty="0"/>
                  <a:t>Ошибка первого рода </a:t>
                </a:r>
                <a:br>
                  <a:rPr lang="ru-RU" sz="1400" dirty="0"/>
                </a:br>
                <a:r>
                  <a:rPr lang="ru-RU" sz="1400" dirty="0"/>
                  <a:t>(или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sz="1400" dirty="0"/>
                  <a:t>-</a:t>
                </a:r>
                <a:r>
                  <a:rPr lang="ru-RU" sz="1400" dirty="0"/>
                  <a:t>ошибка) </a:t>
                </a:r>
              </a:p>
              <a:p>
                <a:r>
                  <a:rPr lang="ru-RU" sz="1400" dirty="0"/>
                  <a:t>Мы отклоняем нулевую гипотезу (утверждаем, что различие есть), хотя на самом деле различий нет.</a:t>
                </a:r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BA5466-CC92-4D43-AA45-803EEB8E0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2876550"/>
                <a:ext cx="3200400" cy="1169551"/>
              </a:xfrm>
              <a:prstGeom prst="rect">
                <a:avLst/>
              </a:prstGeom>
              <a:blipFill>
                <a:blip r:embed="rId4"/>
                <a:stretch>
                  <a:fillRect l="-791" t="-1075" b="-5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19CB8B-B37B-2C46-AC3C-34651421193A}"/>
                  </a:ext>
                </a:extLst>
              </p:cNvPr>
              <p:cNvSpPr txBox="1"/>
              <p:nvPr/>
            </p:nvSpPr>
            <p:spPr>
              <a:xfrm>
                <a:off x="63230" y="1504712"/>
                <a:ext cx="2639438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400" dirty="0"/>
                  <a:t>Ошибка второго рода </a:t>
                </a:r>
                <a:br>
                  <a:rPr lang="ru-RU" sz="1400" dirty="0"/>
                </a:br>
                <a:r>
                  <a:rPr lang="ru-RU" sz="1400" dirty="0"/>
                  <a:t>(или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l-GR" sz="1400" dirty="0"/>
                  <a:t>-</a:t>
                </a:r>
                <a:r>
                  <a:rPr lang="ru-RU" sz="1400" dirty="0"/>
                  <a:t>ошибка) </a:t>
                </a:r>
              </a:p>
              <a:p>
                <a:r>
                  <a:rPr lang="ru-RU" sz="1400" dirty="0"/>
                  <a:t>Мы не отклоняем нулевую гипотезу </a:t>
                </a:r>
              </a:p>
              <a:p>
                <a:r>
                  <a:rPr lang="ru-RU" sz="1400" dirty="0"/>
                  <a:t>(то есть утверждаем, что различий нет), хотя на самом деле различия есть.</a:t>
                </a:r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19CB8B-B37B-2C46-AC3C-346514211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0" y="1504712"/>
                <a:ext cx="2639438" cy="1600438"/>
              </a:xfrm>
              <a:prstGeom prst="rect">
                <a:avLst/>
              </a:prstGeom>
              <a:blipFill>
                <a:blip r:embed="rId5"/>
                <a:stretch>
                  <a:fillRect l="-478" t="-787" b="-31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7277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Уровень значимости, мощность теста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19CB8B-B37B-2C46-AC3C-34651421193A}"/>
                  </a:ext>
                </a:extLst>
              </p:cNvPr>
              <p:cNvSpPr txBox="1"/>
              <p:nvPr/>
            </p:nvSpPr>
            <p:spPr>
              <a:xfrm>
                <a:off x="500550" y="1504950"/>
                <a:ext cx="8520600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400" b="1" dirty="0"/>
                  <a:t>Уровень значимости</a:t>
                </a:r>
                <a:r>
                  <a:rPr lang="en-US" sz="1400" b="1" dirty="0"/>
                  <a:t>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1400" b="1" dirty="0"/>
                  <a:t> </a:t>
                </a:r>
                <a:r>
                  <a:rPr lang="en-US" sz="1400" dirty="0"/>
                  <a:t>–</a:t>
                </a:r>
                <a:r>
                  <a:rPr lang="ru-RU" sz="1400" dirty="0"/>
                  <a:t> это вероятность допустить ошибку первого рода.</a:t>
                </a:r>
                <a:r>
                  <a:rPr lang="en-US" sz="1400" dirty="0"/>
                  <a:t> </a:t>
                </a:r>
                <a:r>
                  <a:rPr lang="ru-RU" sz="1400" dirty="0"/>
                  <a:t>Обычно принимается равным 0.05, в случаях высокой цены ошибки первого рода (медицина) принимается 0.01</a:t>
                </a:r>
              </a:p>
              <a:p>
                <a:r>
                  <a:rPr lang="ru-RU" sz="1400" b="1" dirty="0"/>
                  <a:t>Пример:</a:t>
                </a:r>
              </a:p>
              <a:p>
                <a:r>
                  <a:rPr lang="ru-RU" sz="1400" dirty="0"/>
                  <a:t>Вы тестируете новый дизайн сайта и говорите, что не менее чем в 95 тестовых выборках из 100 он повысит конверсию, хотя на самом деле никакой разницы нет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400" dirty="0"/>
                  <a:t>=0.05</a:t>
                </a:r>
                <a:endParaRPr lang="ru-RU" sz="1400" dirty="0"/>
              </a:p>
              <a:p>
                <a:r>
                  <a:rPr lang="ru-RU" sz="1400" dirty="0"/>
                  <a:t>Вы тестируете новый лекарственный препарат и говорите, что у не менее чем 99 пациентов из 100 он работает лучше старого, хотя на самом деле они одинаково эффективны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400" dirty="0"/>
                  <a:t>=0.01</a:t>
                </a:r>
              </a:p>
              <a:p>
                <a:endParaRPr lang="en-US" sz="1400" dirty="0"/>
              </a:p>
              <a:p>
                <a:r>
                  <a:rPr lang="ru-RU" sz="1400" b="1" dirty="0"/>
                  <a:t>Мощность теста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sz="1400" b="1" dirty="0"/>
                  <a:t> </a:t>
                </a:r>
                <a:r>
                  <a:rPr lang="en-US" sz="1400" dirty="0"/>
                  <a:t>–</a:t>
                </a:r>
                <a:r>
                  <a:rPr lang="el-GR" sz="1400" dirty="0"/>
                  <a:t> </a:t>
                </a:r>
                <a:r>
                  <a:rPr lang="ru-RU" sz="1400" dirty="0"/>
                  <a:t>это вероятность того, что тест правильно обнаружит эффект (различия), когда альтернативная гипотеза верна. Обычно принимается равным 0.8, в случаях высокой цены ошибки второго рода (безопасность) принимается 0.9</a:t>
                </a:r>
                <a:endParaRPr lang="en-US" sz="1400" dirty="0"/>
              </a:p>
              <a:p>
                <a:r>
                  <a:rPr lang="ru-RU" sz="1400" b="1" dirty="0"/>
                  <a:t>Пример:</a:t>
                </a:r>
              </a:p>
              <a:p>
                <a:r>
                  <a:rPr lang="ru-RU" sz="1400" dirty="0"/>
                  <a:t>Вы тестируете лекарство и говорите, что для 80 пациентов из 100 оно не работает лучше старого, хотя на самом деле оно лучше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400" dirty="0"/>
                  <a:t> </a:t>
                </a:r>
                <a:r>
                  <a:rPr lang="ru-RU" sz="1400" dirty="0"/>
                  <a:t>=0.8</a:t>
                </a:r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19CB8B-B37B-2C46-AC3C-346514211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504950"/>
                <a:ext cx="8520600" cy="3108543"/>
              </a:xfrm>
              <a:prstGeom prst="rect">
                <a:avLst/>
              </a:prstGeom>
              <a:blipFill>
                <a:blip r:embed="rId2"/>
                <a:stretch>
                  <a:fillRect l="-298" t="-407"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3874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А/А тест</a:t>
            </a:r>
          </a:p>
        </p:txBody>
      </p:sp>
    </p:spTree>
    <p:extLst>
      <p:ext uri="{BB962C8B-B14F-4D97-AF65-F5344CB8AC3E}">
        <p14:creationId xmlns:p14="http://schemas.microsoft.com/office/powerpoint/2010/main" val="1098196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А/А тест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19CB8B-B37B-2C46-AC3C-34651421193A}"/>
              </a:ext>
            </a:extLst>
          </p:cNvPr>
          <p:cNvSpPr txBox="1"/>
          <p:nvPr/>
        </p:nvSpPr>
        <p:spPr>
          <a:xfrm>
            <a:off x="500550" y="1352550"/>
            <a:ext cx="852060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400" b="1" dirty="0"/>
              <a:t>Точность разделения трафика и измерений: </a:t>
            </a:r>
            <a:r>
              <a:rPr lang="en-US" sz="1400" dirty="0"/>
              <a:t>A/A-</a:t>
            </a:r>
            <a:r>
              <a:rPr lang="ru-RU" sz="1400" dirty="0"/>
              <a:t>тесты служат важной предварительной проверкой для любой системы сплит- тестирования. Проведение </a:t>
            </a:r>
            <a:r>
              <a:rPr lang="en-US" sz="1400" dirty="0"/>
              <a:t>A/A-</a:t>
            </a:r>
            <a:r>
              <a:rPr lang="ru-RU" sz="1400" dirty="0"/>
              <a:t>теста означает запуск теста, в котором обе группы (контрольная и тестовая) получают одинаковый пользовательский опыт или продукт без каких-либо изменений. </a:t>
            </a:r>
            <a:br>
              <a:rPr lang="ru-RU" sz="1400" dirty="0"/>
            </a:br>
            <a:r>
              <a:rPr lang="ru-RU" sz="1400" dirty="0"/>
              <a:t>Основная цель здесь — убедиться, что система сплит-тестирования корректно разделяет пользователей на группы и точно отслеживает их поведение, не внося в процесс искусственных искажений или предвзятости.</a:t>
            </a:r>
          </a:p>
          <a:p>
            <a:pPr>
              <a:spcAft>
                <a:spcPts val="1200"/>
              </a:spcAft>
            </a:pPr>
            <a:r>
              <a:rPr lang="ru-RU" sz="1400" b="1" dirty="0"/>
              <a:t>Проверка равномерности распределения:</a:t>
            </a:r>
            <a:r>
              <a:rPr lang="ru-RU" sz="1400" dirty="0"/>
              <a:t> </a:t>
            </a:r>
            <a:r>
              <a:rPr lang="en-US" sz="1400" dirty="0"/>
              <a:t>A/A-</a:t>
            </a:r>
            <a:r>
              <a:rPr lang="ru-RU" sz="1400" dirty="0"/>
              <a:t>тесты позволяют убедиться, что распределение пользователей между группами равномерное и случайное. Это критически важно для обеспечения того, чтобы любые наблюдаемые различия в результатах </a:t>
            </a:r>
            <a:r>
              <a:rPr lang="en-US" sz="1400" dirty="0"/>
              <a:t>A/B-</a:t>
            </a:r>
            <a:r>
              <a:rPr lang="ru-RU" sz="1400" dirty="0"/>
              <a:t>теста были результатом введенных изменений, а не неравномерности в распределении пользователей.</a:t>
            </a:r>
          </a:p>
          <a:p>
            <a:pPr>
              <a:spcAft>
                <a:spcPts val="1200"/>
              </a:spcAft>
            </a:pPr>
            <a:r>
              <a:rPr lang="ru-RU" sz="1400" b="1" dirty="0"/>
              <a:t>Валидация точности измерений: </a:t>
            </a:r>
            <a:r>
              <a:rPr lang="en-US" sz="1400" dirty="0"/>
              <a:t>c </a:t>
            </a:r>
            <a:r>
              <a:rPr lang="ru-RU" sz="1400" dirty="0"/>
              <a:t>помощью </a:t>
            </a:r>
            <a:r>
              <a:rPr lang="en-US" sz="1400" dirty="0"/>
              <a:t>A/A-</a:t>
            </a:r>
            <a:r>
              <a:rPr lang="ru-RU" sz="1400" dirty="0"/>
              <a:t>тестов можно также проверить, что инструментарий аналитики и сбора данных работает корректно, и что метрики отслеживаются точно и без ошибок.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67252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А/А тест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19CB8B-B37B-2C46-AC3C-34651421193A}"/>
              </a:ext>
            </a:extLst>
          </p:cNvPr>
          <p:cNvSpPr txBox="1"/>
          <p:nvPr/>
        </p:nvSpPr>
        <p:spPr>
          <a:xfrm>
            <a:off x="500550" y="1352550"/>
            <a:ext cx="8520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dirty="0"/>
              <a:t>A/A-</a:t>
            </a:r>
            <a:r>
              <a:rPr lang="ru-RU" sz="1400" dirty="0"/>
              <a:t>тестирование не только подтверждает надежность системы сплит-тестирования, но и помогает выявить потенциальные проблемы с данными и аналитическими инструментами, которые могут исказить результаты последующих </a:t>
            </a:r>
            <a:r>
              <a:rPr lang="en-US" sz="1400" dirty="0"/>
              <a:t>A/B-</a:t>
            </a:r>
            <a:r>
              <a:rPr lang="ru-RU" sz="1400" dirty="0"/>
              <a:t>тестов.</a:t>
            </a:r>
          </a:p>
          <a:p>
            <a:pPr>
              <a:spcAft>
                <a:spcPts val="1200"/>
              </a:spcAft>
            </a:pPr>
            <a:r>
              <a:rPr lang="ru-RU" sz="1400" b="1" dirty="0"/>
              <a:t>Идентификация проблем с качеством данных: </a:t>
            </a:r>
            <a:r>
              <a:rPr lang="ru-RU" sz="1400" dirty="0"/>
              <a:t>на этапе </a:t>
            </a:r>
            <a:r>
              <a:rPr lang="en-US" sz="1400" dirty="0"/>
              <a:t>A/A-</a:t>
            </a:r>
            <a:r>
              <a:rPr lang="ru-RU" sz="1400" dirty="0"/>
              <a:t>тестирования можно выявить проблемы, связанные с качеством данных, такие как неполные данные, ошибки отслеживания или проблемы с интеграцией между различными аналитическими платформами.</a:t>
            </a:r>
          </a:p>
          <a:p>
            <a:pPr>
              <a:spcAft>
                <a:spcPts val="1200"/>
              </a:spcAft>
            </a:pPr>
            <a:r>
              <a:rPr lang="ru-RU" sz="1400" b="1" dirty="0"/>
              <a:t>Выявление технических недостатков: </a:t>
            </a:r>
            <a:r>
              <a:rPr lang="en-US" sz="1400" dirty="0"/>
              <a:t>A/A-</a:t>
            </a:r>
            <a:r>
              <a:rPr lang="ru-RU" sz="1400" dirty="0"/>
              <a:t>тесты могут указать на технические проблемы в инструментарии сплит-тестирования, включая ошибки в разделении трафика, неправильную настройку целевых страниц или сбои в отслеживании событий.</a:t>
            </a:r>
          </a:p>
          <a:p>
            <a:pPr>
              <a:spcAft>
                <a:spcPts val="1200"/>
              </a:spcAft>
            </a:pPr>
            <a:r>
              <a:rPr lang="ru-RU" sz="1400" dirty="0"/>
              <a:t>Важно, что </a:t>
            </a:r>
            <a:r>
              <a:rPr lang="ru-RU" sz="1400" b="1" dirty="0"/>
              <a:t>если в процессе </a:t>
            </a:r>
            <a:r>
              <a:rPr lang="en-US" sz="1400" b="1" dirty="0"/>
              <a:t>A/A-</a:t>
            </a:r>
            <a:r>
              <a:rPr lang="ru-RU" sz="1400" b="1" dirty="0"/>
              <a:t>тестирования обнаруживаются статистически значимые различия </a:t>
            </a:r>
            <a:r>
              <a:rPr lang="ru-RU" sz="1400" dirty="0"/>
              <a:t>между группами, это служит сигналом о существующих </a:t>
            </a:r>
            <a:r>
              <a:rPr lang="ru-RU" sz="1400" b="1" dirty="0"/>
              <a:t>проблемах</a:t>
            </a:r>
            <a:r>
              <a:rPr lang="ru-RU" sz="1400" dirty="0"/>
              <a:t>, которые </a:t>
            </a:r>
            <a:r>
              <a:rPr lang="ru-RU" sz="1400" b="1" dirty="0"/>
              <a:t>необходимо устранить </a:t>
            </a:r>
            <a:r>
              <a:rPr lang="ru-RU" sz="1400" dirty="0"/>
              <a:t>перед запуском </a:t>
            </a:r>
            <a:r>
              <a:rPr lang="en-US" sz="1400" dirty="0"/>
              <a:t>A/B-</a:t>
            </a:r>
            <a:r>
              <a:rPr lang="ru-RU" sz="1400" dirty="0"/>
              <a:t>тестов.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58404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А/Б тест</a:t>
            </a:r>
          </a:p>
        </p:txBody>
      </p:sp>
    </p:spTree>
    <p:extLst>
      <p:ext uri="{BB962C8B-B14F-4D97-AF65-F5344CB8AC3E}">
        <p14:creationId xmlns:p14="http://schemas.microsoft.com/office/powerpoint/2010/main" val="1546393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А/Б тест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E2C494-7B1C-8F4E-A971-DB623B1B9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23950"/>
            <a:ext cx="3403600" cy="345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01CA7B-E9DF-C74C-A62B-1E29314BF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475" y="1123950"/>
            <a:ext cx="34036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7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А/Б тест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/>
              <p:nvPr/>
            </p:nvSpPr>
            <p:spPr>
              <a:xfrm>
                <a:off x="609600" y="1276350"/>
                <a:ext cx="2753052" cy="2704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Дисперсия выборочных средних: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𝑑𝑖𝑠𝑡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𝑚𝑎𝑖𝑛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ru-RU" dirty="0"/>
                  <a:t>Чем больше размер выборки – тем точнее мы «видим» истинное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dirty="0"/>
                  <a:t>, </a:t>
                </a:r>
                <a:br>
                  <a:rPr lang="ru-RU" dirty="0"/>
                </a:br>
                <a:r>
                  <a:rPr lang="ru-RU" dirty="0" err="1"/>
                  <a:t>т.е</a:t>
                </a:r>
                <a:r>
                  <a:rPr lang="ru-RU" dirty="0"/>
                  <a:t> тем уже распределение выборочных средних.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276350"/>
                <a:ext cx="2753052" cy="2704651"/>
              </a:xfrm>
              <a:prstGeom prst="rect">
                <a:avLst/>
              </a:prstGeom>
              <a:blipFill>
                <a:blip r:embed="rId2"/>
                <a:stretch>
                  <a:fillRect l="-1843" t="-935"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D3CF3C5-AAE9-3C46-84C1-5B1C119C2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600" y="1200150"/>
            <a:ext cx="56896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227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А/Б тест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/>
              <p:nvPr/>
            </p:nvSpPr>
            <p:spPr>
              <a:xfrm>
                <a:off x="609600" y="1276350"/>
                <a:ext cx="41148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При достаточно большом размере выборки распределения выборочных средних не будут перекрываться и мы сможем выявить различия при любой единственной выборке.</a:t>
                </a:r>
              </a:p>
              <a:p>
                <a:endParaRPr lang="ru-RU" dirty="0"/>
              </a:p>
              <a:p>
                <a:r>
                  <a:rPr lang="ru-RU" b="1" dirty="0"/>
                  <a:t>Связь между размером эффекта, размером выборки,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b="1" dirty="0"/>
                  <a:t> </a:t>
                </a:r>
                <a:r>
                  <a:rPr lang="ru-RU" b="1" dirty="0"/>
                  <a:t>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b="1" dirty="0"/>
                  <a:t>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276350"/>
                <a:ext cx="4114800" cy="2308324"/>
              </a:xfrm>
              <a:prstGeom prst="rect">
                <a:avLst/>
              </a:prstGeom>
              <a:blipFill>
                <a:blip r:embed="rId2"/>
                <a:stretch>
                  <a:fillRect l="-1235" t="-1093"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89B98E6-656F-BA4E-999C-F49ED2CB2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979" y="833425"/>
            <a:ext cx="3970179" cy="395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772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</a:t>
            </a:r>
            <a:r>
              <a:rPr lang="ru-RU" dirty="0"/>
              <a:t>тест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44FC2E-21C5-5B45-A8E8-3551A7FD8C01}"/>
              </a:ext>
            </a:extLst>
          </p:cNvPr>
          <p:cNvSpPr txBox="1"/>
          <p:nvPr/>
        </p:nvSpPr>
        <p:spPr>
          <a:xfrm>
            <a:off x="500550" y="1200150"/>
            <a:ext cx="841155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dirty="0"/>
              <a:t>Статистический тест, который используется для проверки гипотезы о равенстве средних значений одной или нескольких групп, когда дисперсия неизвестна, и выборка мала.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 err="1"/>
              <a:t>Одновыборочный</a:t>
            </a:r>
            <a:r>
              <a:rPr lang="ru-RU" dirty="0"/>
              <a:t> </a:t>
            </a:r>
            <a:r>
              <a:rPr lang="en-US" dirty="0"/>
              <a:t>t-</a:t>
            </a:r>
            <a:r>
              <a:rPr lang="ru-RU" dirty="0"/>
              <a:t>тест</a:t>
            </a:r>
            <a:r>
              <a:rPr lang="en-US" dirty="0"/>
              <a:t>:</a:t>
            </a:r>
            <a:r>
              <a:rPr lang="ru-RU" dirty="0"/>
              <a:t> Проверяет гипотезу о том, что среднее значение выборки равно известному значению.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t-</a:t>
            </a:r>
            <a:r>
              <a:rPr lang="ru-RU" dirty="0"/>
              <a:t>тест для независимых выборок</a:t>
            </a:r>
            <a:r>
              <a:rPr lang="en-US" dirty="0"/>
              <a:t>:</a:t>
            </a:r>
            <a:r>
              <a:rPr lang="ru-RU" dirty="0"/>
              <a:t> Сравнивает средние значения двух независимых групп. Тест используется для проверки гипотезы о том, что средние значения двух групп равны.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Парный </a:t>
            </a:r>
            <a:r>
              <a:rPr lang="en-US" dirty="0"/>
              <a:t>t-</a:t>
            </a:r>
            <a:r>
              <a:rPr lang="ru-RU" dirty="0"/>
              <a:t>тест</a:t>
            </a:r>
            <a:r>
              <a:rPr lang="en-US" dirty="0"/>
              <a:t>:</a:t>
            </a:r>
            <a:r>
              <a:rPr lang="ru-RU" dirty="0"/>
              <a:t> Сравнивает средние значения двух зависимых выборок (обычно это данные до и после эксперимента для одной группы).</a:t>
            </a:r>
          </a:p>
        </p:txBody>
      </p:sp>
    </p:spTree>
    <p:extLst>
      <p:ext uri="{BB962C8B-B14F-4D97-AF65-F5344CB8AC3E}">
        <p14:creationId xmlns:p14="http://schemas.microsoft.com/office/powerpoint/2010/main" val="3406493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</a:t>
            </a:r>
            <a:r>
              <a:rPr lang="ru-RU" dirty="0"/>
              <a:t>тест условия применения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44FC2E-21C5-5B45-A8E8-3551A7FD8C01}"/>
              </a:ext>
            </a:extLst>
          </p:cNvPr>
          <p:cNvSpPr txBox="1"/>
          <p:nvPr/>
        </p:nvSpPr>
        <p:spPr>
          <a:xfrm>
            <a:off x="500550" y="1200150"/>
            <a:ext cx="841155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b="1" dirty="0"/>
              <a:t>Нормальность распределения:</a:t>
            </a:r>
            <a:r>
              <a:rPr lang="ru-RU" dirty="0"/>
              <a:t> Данные в выборке должны быть нормально распределены, особенно для малых выборок (обычно менее 30 наблюдений). Вспоминаем про тесты на нормальность: тест Шапиро-</a:t>
            </a:r>
            <a:r>
              <a:rPr lang="ru-RU" dirty="0" err="1"/>
              <a:t>Уилка</a:t>
            </a:r>
            <a:r>
              <a:rPr lang="ru-RU" dirty="0"/>
              <a:t>, Колмогорова-Смирнова. Если данные распределены не нормально – тест Манна-Уитни.</a:t>
            </a:r>
          </a:p>
          <a:p>
            <a:pPr>
              <a:spcAft>
                <a:spcPts val="1200"/>
              </a:spcAft>
            </a:pPr>
            <a:r>
              <a:rPr lang="ru-RU" b="1" dirty="0"/>
              <a:t>Гомоскедастичность (равенство дисперсий):</a:t>
            </a:r>
            <a:r>
              <a:rPr lang="ru-RU" dirty="0"/>
              <a:t> Для независимых выборок предполагается, что дисперсии в двух группах должны быть равны. Если дисперсии не равны, следует использовать модифицированный тест — </a:t>
            </a:r>
            <a:r>
              <a:rPr lang="en-US" dirty="0"/>
              <a:t>t-</a:t>
            </a:r>
            <a:r>
              <a:rPr lang="ru-RU" dirty="0"/>
              <a:t>тест с поправкой на неравные дисперсии (тест Уэлча).</a:t>
            </a:r>
          </a:p>
          <a:p>
            <a:pPr>
              <a:spcAft>
                <a:spcPts val="1200"/>
              </a:spcAft>
            </a:pPr>
            <a:r>
              <a:rPr lang="ru-RU" b="1" dirty="0"/>
              <a:t>Независимость наблюдений:</a:t>
            </a:r>
            <a:r>
              <a:rPr lang="ru-RU" dirty="0"/>
              <a:t> В выборках должны быть независимые наблюдения. Если выборки зависимы (например, до и после измерения на одной и той же группе людей), используется парный </a:t>
            </a:r>
            <a:r>
              <a:rPr lang="en-US" dirty="0"/>
              <a:t>t-</a:t>
            </a:r>
            <a:r>
              <a:rPr lang="ru-RU" dirty="0"/>
              <a:t>тест.</a:t>
            </a:r>
          </a:p>
        </p:txBody>
      </p:sp>
    </p:spTree>
    <p:extLst>
      <p:ext uri="{BB962C8B-B14F-4D97-AF65-F5344CB8AC3E}">
        <p14:creationId xmlns:p14="http://schemas.microsoft.com/office/powerpoint/2010/main" val="1429888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</a:t>
            </a:r>
            <a:r>
              <a:rPr lang="ru-RU" dirty="0"/>
              <a:t>тест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/>
              <p:nvPr/>
            </p:nvSpPr>
            <p:spPr>
              <a:xfrm>
                <a:off x="500550" y="1200150"/>
                <a:ext cx="8411550" cy="3362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200"/>
                  </a:spcAft>
                  <a:buAutoNum type="arabicPeriod"/>
                </a:pPr>
                <a:r>
                  <a:rPr lang="ru-RU" dirty="0"/>
                  <a:t>Вычисление </a:t>
                </a:r>
                <a:r>
                  <a:rPr lang="en-US" dirty="0"/>
                  <a:t>t </a:t>
                </a:r>
                <a:r>
                  <a:rPr lang="ru-RU" dirty="0"/>
                  <a:t>статистики: 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den>
                    </m:f>
                  </m:oMath>
                </a14:m>
                <a:r>
                  <a:rPr lang="ru-RU" dirty="0"/>
                  <a:t>,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dirty="0"/>
                  <a:t>2. t-</a:t>
                </a:r>
                <a:r>
                  <a:rPr lang="ru-RU" dirty="0"/>
                  <a:t>статистика сравнивается с критическим значением распределения Стьюдента для соответствующего количества степеней свободы. Если </a:t>
                </a:r>
                <a:r>
                  <a:rPr lang="en-US" dirty="0"/>
                  <a:t>t-</a:t>
                </a:r>
                <a:r>
                  <a:rPr lang="ru-RU" dirty="0"/>
                  <a:t>статистика больше критического значения, нулевая гипотеза отвергается.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:r>
                  <a:rPr lang="en-US" dirty="0"/>
                  <a:t>3. </a:t>
                </a:r>
                <a:r>
                  <a:rPr lang="ru-RU" dirty="0"/>
                  <a:t>Количество степеней свободы для распределения Стьюдента: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200150"/>
                <a:ext cx="8411550" cy="3362267"/>
              </a:xfrm>
              <a:prstGeom prst="rect">
                <a:avLst/>
              </a:prstGeom>
              <a:blipFill>
                <a:blip r:embed="rId2"/>
                <a:stretch>
                  <a:fillRect l="-603" t="-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746672-882B-B948-A0F2-95D3FE96538D}"/>
                  </a:ext>
                </a:extLst>
              </p:cNvPr>
              <p:cNvSpPr txBox="1"/>
              <p:nvPr/>
            </p:nvSpPr>
            <p:spPr>
              <a:xfrm>
                <a:off x="1844541" y="1666165"/>
                <a:ext cx="6830011" cy="6574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средние значения двух выборок,</a:t>
                </a:r>
                <a:r>
                  <a:rPr lang="en-US" dirty="0"/>
                  <a:t> </a:t>
                </a:r>
                <a:br>
                  <a:rPr lang="ru-RU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</a:t>
                </a:r>
                <a:r>
                  <a:rPr lang="ru-RU" dirty="0"/>
                  <a:t>и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— </a:t>
                </a:r>
                <a:r>
                  <a:rPr lang="ru-RU" dirty="0"/>
                  <a:t>дисперсии двух выборок,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— </a:t>
                </a:r>
                <a:r>
                  <a:rPr lang="ru-RU" dirty="0"/>
                  <a:t>размеры выборок.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746672-882B-B948-A0F2-95D3FE965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541" y="1666165"/>
                <a:ext cx="6830011" cy="657488"/>
              </a:xfrm>
              <a:prstGeom prst="rect">
                <a:avLst/>
              </a:prstGeom>
              <a:blipFill>
                <a:blip r:embed="rId3"/>
                <a:stretch>
                  <a:fillRect t="-192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690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</a:t>
            </a:r>
            <a:r>
              <a:rPr lang="ru-RU" dirty="0"/>
              <a:t>тест</a:t>
            </a:r>
            <a:r>
              <a:rPr lang="en-US" dirty="0"/>
              <a:t> </a:t>
            </a:r>
            <a:r>
              <a:rPr lang="ru-RU" dirty="0"/>
              <a:t>интерпретация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44FC2E-21C5-5B45-A8E8-3551A7FD8C01}"/>
              </a:ext>
            </a:extLst>
          </p:cNvPr>
          <p:cNvSpPr txBox="1"/>
          <p:nvPr/>
        </p:nvSpPr>
        <p:spPr>
          <a:xfrm>
            <a:off x="500550" y="1558007"/>
            <a:ext cx="841155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b="1" dirty="0"/>
              <a:t>t-</a:t>
            </a:r>
            <a:r>
              <a:rPr lang="ru-RU" b="1" dirty="0"/>
              <a:t>статистика: </a:t>
            </a:r>
            <a:r>
              <a:rPr lang="ru-RU" dirty="0"/>
              <a:t>Это значение указывает, насколько разница между средними значениями двух групп велика относительно разброса данных. Чем больше </a:t>
            </a:r>
            <a:r>
              <a:rPr lang="en-US" dirty="0"/>
              <a:t>t-</a:t>
            </a:r>
            <a:r>
              <a:rPr lang="ru-RU" dirty="0"/>
              <a:t>статистика, тем больше вероятность, что разница значима.</a:t>
            </a:r>
          </a:p>
          <a:p>
            <a:pPr>
              <a:spcAft>
                <a:spcPts val="1200"/>
              </a:spcAft>
            </a:pPr>
            <a:r>
              <a:rPr lang="en-US" b="1" dirty="0"/>
              <a:t>p-</a:t>
            </a:r>
            <a:r>
              <a:rPr lang="ru-RU" b="1" dirty="0"/>
              <a:t>значение: </a:t>
            </a:r>
            <a:r>
              <a:rPr lang="ru-RU" dirty="0"/>
              <a:t>Это вероятность получить такие данные (или более экстремальные) при условии, что нулевая гипотеза верна. Если </a:t>
            </a:r>
            <a:r>
              <a:rPr lang="en-US" dirty="0"/>
              <a:t>p-</a:t>
            </a:r>
            <a:r>
              <a:rPr lang="ru-RU" dirty="0"/>
              <a:t>значение меньше уровня значимости (например, 0.05), то нулевая гипотеза отвергается, что говорит о значимых различиях между группами.</a:t>
            </a:r>
          </a:p>
        </p:txBody>
      </p:sp>
    </p:spTree>
    <p:extLst>
      <p:ext uri="{BB962C8B-B14F-4D97-AF65-F5344CB8AC3E}">
        <p14:creationId xmlns:p14="http://schemas.microsoft.com/office/powerpoint/2010/main" val="3388795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</a:t>
            </a:r>
            <a:r>
              <a:rPr lang="ru-RU" dirty="0"/>
              <a:t>тест</a:t>
            </a:r>
            <a:r>
              <a:rPr lang="en-US" dirty="0"/>
              <a:t> </a:t>
            </a:r>
            <a:r>
              <a:rPr lang="ru-RU" dirty="0"/>
              <a:t>размер выборки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/>
              <p:nvPr/>
            </p:nvSpPr>
            <p:spPr>
              <a:xfrm>
                <a:off x="488109" y="1352550"/>
                <a:ext cx="8411550" cy="3712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dirty="0"/>
                  <a:t>t-</a:t>
                </a:r>
                <a:r>
                  <a:rPr lang="ru-RU" dirty="0"/>
                  <a:t>статистика будет увеличиваться при увеличении размера выборки.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f>
                                        <m:fPr>
                                          <m:type m:val="skw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sub>
                                  </m:sSub>
                                </m:num>
                                <m:den>
                                  <m:f>
                                    <m:fPr>
                                      <m:type m:val="skw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den>
                                  </m:f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f>
                          <m:fPr>
                            <m:type m:val="skw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l-GR" dirty="0"/>
                  <a:t>— </a:t>
                </a:r>
                <a:r>
                  <a:rPr lang="ru-RU" dirty="0"/>
                  <a:t>критическое значение стандартного нормального распределения для уровня значимости 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dirty="0"/>
                  <a:t> (</a:t>
                </a:r>
                <a:r>
                  <a:rPr lang="ru-RU" dirty="0"/>
                  <a:t>например, для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l-GR" dirty="0"/>
                  <a:t>,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f>
                          <m:fPr>
                            <m:type m:val="skw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lang="el-GR" dirty="0"/>
                  <a:t>),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l-GR" dirty="0"/>
                  <a:t>​ — </a:t>
                </a:r>
                <a:r>
                  <a:rPr lang="ru-RU" dirty="0"/>
                  <a:t>критическое значение стандартного нормального распределения для мощности теста (например, для мощности 80%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l-GR" dirty="0"/>
                  <a:t>),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≈0.84</m:t>
                    </m:r>
                  </m:oMath>
                </a14:m>
                <a:r>
                  <a:rPr lang="el-GR" dirty="0"/>
                  <a:t>),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 — </a:t>
                </a:r>
                <a:r>
                  <a:rPr lang="ru-RU" dirty="0"/>
                  <a:t>величина эффекта, которую вы хотите обнаружить,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l-GR" dirty="0"/>
                  <a:t> — </a:t>
                </a:r>
                <a:r>
                  <a:rPr lang="ru-RU" dirty="0"/>
                  <a:t>стандартное отклонение.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09" y="1352550"/>
                <a:ext cx="8411550" cy="3712363"/>
              </a:xfrm>
              <a:prstGeom prst="rect">
                <a:avLst/>
              </a:prstGeom>
              <a:blipFill>
                <a:blip r:embed="rId2"/>
                <a:stretch>
                  <a:fillRect l="-603" t="-683" r="-1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99042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</a:t>
            </a:r>
            <a:r>
              <a:rPr lang="ru-RU" dirty="0"/>
              <a:t>тест – условия применения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/>
              <p:nvPr/>
            </p:nvSpPr>
            <p:spPr>
              <a:xfrm>
                <a:off x="457200" y="1581150"/>
                <a:ext cx="8411550" cy="1908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ru-RU" b="1" dirty="0"/>
                  <a:t>Большие выборки: </a:t>
                </a:r>
                <a:r>
                  <a:rPr lang="ru-RU" dirty="0"/>
                  <a:t>Тест на пропорции предполагает использование больших выборок. Это нужно для того, чтобы распределение пропорций можно было аппроксимировать нормальным распределением. Обычно выборки считаются достаточно большими, 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≥5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размер выборки 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 – вероятность успеха.</a:t>
                </a:r>
              </a:p>
              <a:p>
                <a:pPr>
                  <a:spcAft>
                    <a:spcPts val="1200"/>
                  </a:spcAft>
                </a:pPr>
                <a:r>
                  <a:rPr lang="ru-RU" b="1" dirty="0"/>
                  <a:t>Независимость наблюдений: </a:t>
                </a:r>
                <a:r>
                  <a:rPr lang="ru-RU" dirty="0"/>
                  <a:t>Выборки должны быть независимы друг от друга.</a:t>
                </a:r>
                <a:endParaRPr lang="ru-RU" sz="1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581150"/>
                <a:ext cx="8411550" cy="1908215"/>
              </a:xfrm>
              <a:prstGeom prst="rect">
                <a:avLst/>
              </a:prstGeom>
              <a:blipFill>
                <a:blip r:embed="rId2"/>
                <a:stretch>
                  <a:fillRect l="-603" t="-1325"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22246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</a:t>
            </a:r>
            <a:r>
              <a:rPr lang="ru-RU" dirty="0"/>
              <a:t>тест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/>
              <p:nvPr/>
            </p:nvSpPr>
            <p:spPr>
              <a:xfrm>
                <a:off x="500550" y="1200150"/>
                <a:ext cx="8411550" cy="2812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ru-RU" dirty="0"/>
                  <a:t>1. Вычисление </a:t>
                </a:r>
                <a:r>
                  <a:rPr lang="en-US" dirty="0"/>
                  <a:t>Z </a:t>
                </a:r>
                <a:r>
                  <a:rPr lang="ru-RU" dirty="0"/>
                  <a:t>статистики: </a:t>
                </a:r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rad>
                      </m:den>
                    </m:f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dirty="0"/>
                  <a:t>, где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</a:t>
                </a:r>
                <a:r>
                  <a:rPr lang="ru-RU" dirty="0"/>
                  <a:t>и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— </a:t>
                </a:r>
                <a:r>
                  <a:rPr lang="ru-RU" dirty="0"/>
                  <a:t>количество успехов в первой и второй выборках соответственно,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— </a:t>
                </a:r>
                <a:r>
                  <a:rPr lang="ru-RU" dirty="0"/>
                  <a:t>размеры выборок.</a:t>
                </a:r>
              </a:p>
              <a:p>
                <a:pPr>
                  <a:spcAft>
                    <a:spcPts val="1200"/>
                  </a:spcAft>
                </a:pPr>
                <a:endParaRPr lang="ru-RU" dirty="0"/>
              </a:p>
              <a:p>
                <a:pPr>
                  <a:spcAft>
                    <a:spcPts val="1200"/>
                  </a:spcAft>
                </a:pPr>
                <a:r>
                  <a:rPr lang="ru-RU" dirty="0"/>
                  <a:t>2. </a:t>
                </a: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Z-</a:t>
                </a:r>
                <a:r>
                  <a:rPr lang="ru-RU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статистика сравнивается с критическим значением для стандартного нормального распределения. Если </a:t>
                </a: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Z-</a:t>
                </a:r>
                <a:r>
                  <a:rPr lang="ru-RU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статистика превышает критическое значение, нулевая гипотеза отвергается.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200150"/>
                <a:ext cx="8411550" cy="2812373"/>
              </a:xfrm>
              <a:prstGeom prst="rect">
                <a:avLst/>
              </a:prstGeom>
              <a:blipFill>
                <a:blip r:embed="rId2"/>
                <a:stretch>
                  <a:fillRect l="-603" t="-901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96633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</a:t>
            </a:r>
            <a:r>
              <a:rPr lang="ru-RU" dirty="0"/>
              <a:t>тест</a:t>
            </a:r>
            <a:r>
              <a:rPr lang="en-US" dirty="0"/>
              <a:t> </a:t>
            </a:r>
            <a:r>
              <a:rPr lang="ru-RU" dirty="0"/>
              <a:t>размер выборки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/>
              <p:nvPr/>
            </p:nvSpPr>
            <p:spPr>
              <a:xfrm>
                <a:off x="488109" y="1352550"/>
                <a:ext cx="8411550" cy="333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dirty="0"/>
                  <a:t>Z-</a:t>
                </a:r>
                <a:r>
                  <a:rPr lang="ru-RU" dirty="0"/>
                  <a:t>статистика будет увеличиваться при увеличении размера выборки.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f>
                                        <m:fPr>
                                          <m:type m:val="skw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sub>
                                  </m:sSub>
                                  <m:rad>
                                    <m:radPr>
                                      <m:degHide m:val="on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d>
                                    </m:e>
                                  </m:ra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sub>
                                  </m:sSub>
                                  <m:rad>
                                    <m:radPr>
                                      <m:degHide m:val="on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rad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f>
                          <m:fPr>
                            <m:type m:val="skw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l-GR" dirty="0"/>
                  <a:t>— </a:t>
                </a:r>
                <a:r>
                  <a:rPr lang="ru-RU" dirty="0"/>
                  <a:t>критическое значение стандартного нормального распределения для уровня значимости 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dirty="0"/>
                  <a:t> (</a:t>
                </a:r>
                <a:r>
                  <a:rPr lang="ru-RU" dirty="0"/>
                  <a:t>например, для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l-GR" dirty="0"/>
                  <a:t>,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f>
                          <m:fPr>
                            <m:type m:val="skw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lang="el-GR" dirty="0"/>
                  <a:t>),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l-GR" dirty="0"/>
                  <a:t>​ — </a:t>
                </a:r>
                <a:r>
                  <a:rPr lang="ru-RU" dirty="0"/>
                  <a:t>критическое значение стандартного нормального распределения для мощности теста (например, для мощности 80%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l-GR" dirty="0"/>
                  <a:t>),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≈0.84</m:t>
                    </m:r>
                  </m:oMath>
                </a14:m>
                <a:r>
                  <a:rPr lang="el-GR" dirty="0"/>
                  <a:t>),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 — </a:t>
                </a:r>
                <a:r>
                  <a:rPr lang="ru-RU" dirty="0"/>
                  <a:t>средняя вероятность успеха,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09" y="1352550"/>
                <a:ext cx="8411550" cy="3333477"/>
              </a:xfrm>
              <a:prstGeom prst="rect">
                <a:avLst/>
              </a:prstGeom>
              <a:blipFill>
                <a:blip r:embed="rId2"/>
                <a:stretch>
                  <a:fillRect l="-603" t="-758" r="-1207" b="-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1833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Проблема подглядывания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60227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Подглядывание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67BDFD-76DF-D94D-A5C2-D0BF7686C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50" y="1276350"/>
            <a:ext cx="4445000" cy="3352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6D8968-8180-1C43-B9E2-5CD91A41A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152" y="1301750"/>
            <a:ext cx="4445000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840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Множественное тестирование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40631904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Поправка </a:t>
            </a:r>
            <a:r>
              <a:rPr lang="ru-RU" dirty="0" err="1"/>
              <a:t>Бонферрони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73D0A9A-8B3F-874E-AE79-6A9DDFF05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531" y="1425575"/>
            <a:ext cx="3711469" cy="190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6B58F6B-D8E5-1C42-B6D4-903F8C0FE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328" y="1616076"/>
            <a:ext cx="3388493" cy="152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B6CE07-A0DB-9546-AB9B-D4E65E005603}"/>
                  </a:ext>
                </a:extLst>
              </p:cNvPr>
              <p:cNvSpPr txBox="1"/>
              <p:nvPr/>
            </p:nvSpPr>
            <p:spPr>
              <a:xfrm>
                <a:off x="2362200" y="3790950"/>
                <a:ext cx="1013034" cy="4614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B6CE07-A0DB-9546-AB9B-D4E65E005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3790950"/>
                <a:ext cx="1013034" cy="4614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0BE48C-91A3-4B47-9548-9D0A29A44091}"/>
                  </a:ext>
                </a:extLst>
              </p:cNvPr>
              <p:cNvSpPr txBox="1"/>
              <p:nvPr/>
            </p:nvSpPr>
            <p:spPr>
              <a:xfrm>
                <a:off x="3429000" y="3837020"/>
                <a:ext cx="37351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количество сравниваемых групп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0BE48C-91A3-4B47-9548-9D0A29A44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3837020"/>
                <a:ext cx="3735125" cy="369332"/>
              </a:xfrm>
              <a:prstGeom prst="rect">
                <a:avLst/>
              </a:prstGeom>
              <a:blipFill>
                <a:blip r:embed="rId5"/>
                <a:stretch>
                  <a:fillRect t="-3226" r="-680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98343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7733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5564030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57382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endParaRPr lang="en-US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>
                <a:hlinkClick r:id="rId3"/>
              </a:rPr>
              <a:t>Статистика для всех. Сара </a:t>
            </a:r>
            <a:r>
              <a:rPr lang="ru-RU" dirty="0" err="1">
                <a:hlinkClick r:id="rId3"/>
              </a:rPr>
              <a:t>Бослаф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>
                <a:hlinkClick r:id="rId4"/>
              </a:rPr>
              <a:t>Статистика и котики. Владимир Савельев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>
                <a:hlinkClick r:id="rId5"/>
              </a:rPr>
              <a:t>Голая статистика. Чарльз </a:t>
            </a:r>
            <a:r>
              <a:rPr lang="ru-RU" dirty="0" err="1">
                <a:hlinkClick r:id="rId5"/>
              </a:rPr>
              <a:t>Уилан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>
                <a:hlinkClick r:id="rId6"/>
              </a:rPr>
              <a:t>Как лгать при помощи статистики. </a:t>
            </a:r>
            <a:r>
              <a:rPr lang="ru-RU" dirty="0" err="1">
                <a:hlinkClick r:id="rId6"/>
              </a:rPr>
              <a:t>Дарелл</a:t>
            </a:r>
            <a:r>
              <a:rPr lang="ru-RU" dirty="0">
                <a:hlinkClick r:id="rId6"/>
              </a:rPr>
              <a:t> </a:t>
            </a:r>
            <a:r>
              <a:rPr lang="ru-RU" dirty="0" err="1">
                <a:hlinkClick r:id="rId6"/>
              </a:rPr>
              <a:t>Хафф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/>
              <a:t>Статистика. Шаг за шагом. Роберт А. </a:t>
            </a:r>
            <a:r>
              <a:rPr lang="ru-RU" dirty="0" err="1"/>
              <a:t>Доннелли</a:t>
            </a:r>
            <a:r>
              <a:rPr lang="ru-RU" dirty="0"/>
              <a:t> - мл</a:t>
            </a:r>
            <a:endParaRPr lang="en-GB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ru-RU" dirty="0"/>
            </a:br>
            <a:r>
              <a:rPr lang="ru-RU" sz="1600" dirty="0">
                <a:latin typeface="+mj-lt"/>
              </a:rPr>
              <a:t>Практика. Автоматическая </a:t>
            </a:r>
            <a:r>
              <a:rPr lang="ru-RU" sz="1600" dirty="0" err="1">
                <a:latin typeface="+mj-lt"/>
              </a:rPr>
              <a:t>валидация</a:t>
            </a:r>
            <a:r>
              <a:rPr lang="ru-RU" sz="1600" dirty="0">
                <a:latin typeface="+mj-lt"/>
              </a:rPr>
              <a:t>.</a:t>
            </a:r>
            <a:endParaRPr dirty="0">
              <a:latin typeface="+mj-lt"/>
            </a:endParaRPr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8D886C75-73B3-DA47-ACA9-200B068BFBF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11117</TotalTime>
  <Words>1990</Words>
  <Application>Microsoft Macintosh PowerPoint</Application>
  <PresentationFormat>On-screen Show (16:9)</PresentationFormat>
  <Paragraphs>219</Paragraphs>
  <Slides>39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-webkit-standard</vt:lpstr>
      <vt:lpstr>Arial</vt:lpstr>
      <vt:lpstr>Calibri</vt:lpstr>
      <vt:lpstr>Cambria Math</vt:lpstr>
      <vt:lpstr>Roboto</vt:lpstr>
      <vt:lpstr>Office Theme</vt:lpstr>
      <vt:lpstr>MLOps А/Б тесты</vt:lpstr>
      <vt:lpstr>Проверить, идет ли запись</vt:lpstr>
      <vt:lpstr>MLOps А/Б тесты</vt:lpstr>
      <vt:lpstr>Правила вебинара</vt:lpstr>
      <vt:lpstr>Маршрут вебинара</vt:lpstr>
      <vt:lpstr>Цели вебинара</vt:lpstr>
      <vt:lpstr>Смысл</vt:lpstr>
      <vt:lpstr>Какие тесты бывают А/А, А/Б, А/Б/n</vt:lpstr>
      <vt:lpstr>Статистический тест</vt:lpstr>
      <vt:lpstr>Статистический тест</vt:lpstr>
      <vt:lpstr>Статистические тесты</vt:lpstr>
      <vt:lpstr>Ошибки</vt:lpstr>
      <vt:lpstr>Матрица ошибок</vt:lpstr>
      <vt:lpstr>Уровень значимости, мощность теста</vt:lpstr>
      <vt:lpstr>А/А тест</vt:lpstr>
      <vt:lpstr>А/А тест</vt:lpstr>
      <vt:lpstr>А/А тест</vt:lpstr>
      <vt:lpstr>А/Б тест</vt:lpstr>
      <vt:lpstr>А/Б тест</vt:lpstr>
      <vt:lpstr>А/Б тест</vt:lpstr>
      <vt:lpstr>А/Б тест</vt:lpstr>
      <vt:lpstr>t-тест</vt:lpstr>
      <vt:lpstr>t-тест условия применения</vt:lpstr>
      <vt:lpstr>t-тест</vt:lpstr>
      <vt:lpstr>t-тест интерпретация</vt:lpstr>
      <vt:lpstr>t-тест размер выборки</vt:lpstr>
      <vt:lpstr>Z-тест – условия применения</vt:lpstr>
      <vt:lpstr>Z-тест</vt:lpstr>
      <vt:lpstr>Z-тест размер выборки</vt:lpstr>
      <vt:lpstr>Проблема подглядывания</vt:lpstr>
      <vt:lpstr>Подглядывание</vt:lpstr>
      <vt:lpstr>Множественное тестирование</vt:lpstr>
      <vt:lpstr>Поправка Бонферрони</vt:lpstr>
      <vt:lpstr>Вопросы?</vt:lpstr>
      <vt:lpstr>Практика</vt:lpstr>
      <vt:lpstr>Вопросы?</vt:lpstr>
      <vt:lpstr>Список материалов для изучения</vt:lpstr>
      <vt:lpstr>Заполните, пожалуйста, опрос о занятии по ссылке в чате</vt:lpstr>
      <vt:lpstr>Приходите на следующие вебинары Практика. Автоматическая валидация.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115</cp:revision>
  <dcterms:created xsi:type="dcterms:W3CDTF">2023-10-10T14:19:39Z</dcterms:created>
  <dcterms:modified xsi:type="dcterms:W3CDTF">2025-04-03T13:23:16Z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