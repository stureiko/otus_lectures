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.jpg" ContentType="image/jpeg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312" r:id="rId5"/>
    <p:sldId id="260" r:id="rId6"/>
    <p:sldId id="279" r:id="rId7"/>
    <p:sldId id="268" r:id="rId8"/>
    <p:sldId id="269" r:id="rId9"/>
    <p:sldId id="270" r:id="rId10"/>
    <p:sldId id="315" r:id="rId11"/>
    <p:sldId id="335" r:id="rId12"/>
    <p:sldId id="323" r:id="rId13"/>
    <p:sldId id="324" r:id="rId14"/>
    <p:sldId id="326" r:id="rId15"/>
    <p:sldId id="325" r:id="rId16"/>
    <p:sldId id="327" r:id="rId17"/>
    <p:sldId id="328" r:id="rId18"/>
    <p:sldId id="336" r:id="rId19"/>
    <p:sldId id="337" r:id="rId20"/>
    <p:sldId id="286" r:id="rId21"/>
    <p:sldId id="303" r:id="rId22"/>
    <p:sldId id="304" r:id="rId2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070"/>
    <p:restoredTop sz="94681"/>
  </p:normalViewPr>
  <p:slideViewPr>
    <p:cSldViewPr>
      <p:cViewPr varScale="1">
        <p:scale>
          <a:sx n="280" d="100"/>
          <a:sy n="280" d="100"/>
        </p:scale>
        <p:origin x="1664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961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8698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4853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96544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897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8472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476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5721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6688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070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783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245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www.linkedin.com/in/igor-stureiko" TargetMode="External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46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svg"/><Relationship Id="rId11" Type="http://schemas.openxmlformats.org/officeDocument/2006/relationships/image" Target="../media/image44.png"/><Relationship Id="rId5" Type="http://schemas.openxmlformats.org/officeDocument/2006/relationships/image" Target="../media/image31.pn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png"/><Relationship Id="rId14" Type="http://schemas.openxmlformats.org/officeDocument/2006/relationships/image" Target="../media/image4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mlflow.org/docs/latest/getting-started/index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lflow.org/docs/latest/getting-started/index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477350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MLOps</a:t>
            </a:r>
            <a:br>
              <a:rPr lang="en-US" dirty="0"/>
            </a:br>
            <a:r>
              <a:rPr lang="en-US" sz="3200" dirty="0" err="1"/>
              <a:t>MLFlow</a:t>
            </a:r>
            <a:r>
              <a:rPr lang="en-US" sz="3200" dirty="0"/>
              <a:t> – </a:t>
            </a:r>
            <a:br>
              <a:rPr lang="en-US" sz="3200" dirty="0"/>
            </a:br>
            <a:r>
              <a:rPr lang="en-US" sz="3200" dirty="0" err="1"/>
              <a:t>в</a:t>
            </a:r>
            <a:r>
              <a:rPr lang="ru-RU" sz="3200" dirty="0" err="1"/>
              <a:t>оспроизводимость</a:t>
            </a:r>
            <a:r>
              <a:rPr lang="ru-RU" sz="3200" dirty="0"/>
              <a:t> и </a:t>
            </a:r>
            <a:r>
              <a:rPr lang="ru-RU" sz="3200" dirty="0" err="1"/>
              <a:t>версионирование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160" name="Google Shape;160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5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5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 или голосом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5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5"/>
          <p:cNvSpPr txBox="1"/>
          <p:nvPr/>
        </p:nvSpPr>
        <p:spPr>
          <a:xfrm>
            <a:off x="1654525" y="2167999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5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5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5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1" name="Google Shape;171;p3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5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5" name="Google Shape;175;p3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7" name="Google Shape;177;p3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5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3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5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3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0726" y="2148424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ML</a:t>
            </a:r>
            <a:r>
              <a:rPr lang="en-US" dirty="0"/>
              <a:t>Ops</a:t>
            </a:r>
            <a:br>
              <a:rPr lang="en-US" sz="3200" dirty="0"/>
            </a:br>
            <a:r>
              <a:rPr lang="en-US" sz="2400" dirty="0" err="1"/>
              <a:t>MLFlow</a:t>
            </a:r>
            <a:r>
              <a:rPr lang="en-US" sz="2400" dirty="0"/>
              <a:t> – </a:t>
            </a:r>
            <a:r>
              <a:rPr lang="ru-RU" sz="2400" dirty="0"/>
              <a:t>контроль над </a:t>
            </a:r>
            <a:r>
              <a:rPr lang="en-US" sz="2400" dirty="0"/>
              <a:t>ML-</a:t>
            </a:r>
            <a:r>
              <a:rPr lang="ru-RU" sz="2400" dirty="0"/>
              <a:t>экспериментами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Тема занятия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DBDA60-D1B3-5B41-A4D2-CDAE2DD6B0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3" name="Google Shape;209;p48">
            <a:extLst>
              <a:ext uri="{FF2B5EF4-FFF2-40B4-BE49-F238E27FC236}">
                <a16:creationId xmlns:a16="http://schemas.microsoft.com/office/drawing/2014/main" id="{D0D012C5-1A3B-EC4C-B8A7-64C8AF21B41A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ru-RU" sz="115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5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7" name="Google Shape;287;p65"/>
          <p:cNvSpPr/>
          <p:nvPr/>
        </p:nvSpPr>
        <p:spPr>
          <a:xfrm>
            <a:off x="680150" y="1785754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ru-RU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2331152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9249" y="3421948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Практика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28765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Сущности </a:t>
            </a:r>
            <a:r>
              <a:rPr lang="en-US" sz="15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MLFlow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65DD0-A781-DB4E-9EBC-58BB5FCFF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10536"/>
            <a:ext cx="4268889" cy="34995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4" name="Google Shape;444;p84"/>
          <p:cNvGraphicFramePr/>
          <p:nvPr>
            <p:extLst>
              <p:ext uri="{D42A27DB-BD31-4B8C-83A1-F6EECF244321}">
                <p14:modId xmlns:p14="http://schemas.microsoft.com/office/powerpoint/2010/main" val="3753463439"/>
              </p:ext>
            </p:extLst>
          </p:nvPr>
        </p:nvGraphicFramePr>
        <p:xfrm>
          <a:off x="952500" y="1544194"/>
          <a:ext cx="7239000" cy="11429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MLFlow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система управления жизненным циклом 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ML-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проектов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Помогает навести порядок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и автоматизировать задачи (в том числе регулярное переобучение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ваших моделей)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Роботы надежнее людей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все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что можно автоматизировать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,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нужно автоматизировать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MLOps –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это инструменты + навыки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. </a:t>
                      </a: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Причем навыки важнее инструментов</a:t>
                      </a:r>
                      <a:r>
                        <a:rPr lang="en-US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. 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0150" y="1569211"/>
            <a:ext cx="6653530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5400" spc="-95" dirty="0">
                <a:solidFill>
                  <a:srgbClr val="FFFFFF"/>
                </a:solidFill>
              </a:rPr>
              <a:t>Версионирование</a:t>
            </a:r>
            <a:r>
              <a:rPr sz="5400" spc="-290" dirty="0">
                <a:solidFill>
                  <a:srgbClr val="FFFFFF"/>
                </a:solidFill>
              </a:rPr>
              <a:t> </a:t>
            </a:r>
            <a:r>
              <a:rPr sz="5400" spc="-50" dirty="0">
                <a:solidFill>
                  <a:srgbClr val="FFFFFF"/>
                </a:solidFill>
              </a:rPr>
              <a:t>и </a:t>
            </a:r>
            <a:r>
              <a:rPr sz="5400" spc="-10" dirty="0">
                <a:solidFill>
                  <a:srgbClr val="FFFFFF"/>
                </a:solidFill>
              </a:rPr>
              <a:t>воспроизводимость</a:t>
            </a:r>
            <a:endParaRPr sz="5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Воспроизводимость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994563"/>
            <a:ext cx="568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Как мы разрабатываем модели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834635-9714-255E-3D18-CC9ECF81B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9692"/>
            <a:ext cx="7772400" cy="34895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тут не так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A9530B-B7FA-3C20-D892-70EA51AE7030}"/>
              </a:ext>
            </a:extLst>
          </p:cNvPr>
          <p:cNvSpPr txBox="1"/>
          <p:nvPr/>
        </p:nvSpPr>
        <p:spPr>
          <a:xfrm>
            <a:off x="1090867" y="1241086"/>
            <a:ext cx="336025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Много ручного труда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Долго и унизительно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контекст утрачивается очень быстро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93BC2-6FDF-F833-FCEA-07867A1CC605}"/>
              </a:ext>
            </a:extLst>
          </p:cNvPr>
          <p:cNvSpPr txBox="1"/>
          <p:nvPr/>
        </p:nvSpPr>
        <p:spPr>
          <a:xfrm>
            <a:off x="5061799" y="1240982"/>
            <a:ext cx="336025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Локальные эксперименты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Разные окружения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бардак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179EF-0677-7728-1D02-3A2646035764}"/>
              </a:ext>
            </a:extLst>
          </p:cNvPr>
          <p:cNvSpPr txBox="1"/>
          <p:nvPr/>
        </p:nvSpPr>
        <p:spPr>
          <a:xfrm>
            <a:off x="1090867" y="2125273"/>
            <a:ext cx="336025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Ничего не версионируется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данные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результаты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ни модели (веса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иногда даже код)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A889-5AD2-A2D1-C6F3-B19B0BC3D611}"/>
              </a:ext>
            </a:extLst>
          </p:cNvPr>
          <p:cNvSpPr txBox="1"/>
          <p:nvPr/>
        </p:nvSpPr>
        <p:spPr>
          <a:xfrm>
            <a:off x="5061798" y="2125273"/>
            <a:ext cx="3642363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между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Нет нормальной коммуникации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 результатами в почте/</a:t>
            </a:r>
            <a:r>
              <a:rPr lang="ru-RU" sz="1400" i="1" dirty="0" err="1">
                <a:latin typeface="Roboto Light" panose="02000000000000000000" pitchFamily="2" charset="0"/>
                <a:ea typeface="Roboto Light" panose="02000000000000000000" pitchFamily="2" charset="0"/>
              </a:rPr>
              <a:t>чатиках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(бардак)</a:t>
            </a:r>
            <a:r>
              <a:rPr lang="en-US" sz="1400" i="1" dirty="0">
                <a:latin typeface="Roboto" panose="02000000000000000000" pitchFamily="2" charset="0"/>
                <a:ea typeface="Roboto" panose="02000000000000000000" pitchFamily="2" charset="0"/>
              </a:rPr>
              <a:t>;</a:t>
            </a:r>
            <a:endParaRPr lang="en-RU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0F8901-BDC0-5905-5724-C692960015E1}"/>
              </a:ext>
            </a:extLst>
          </p:cNvPr>
          <p:cNvSpPr txBox="1"/>
          <p:nvPr/>
        </p:nvSpPr>
        <p:spPr>
          <a:xfrm>
            <a:off x="1090867" y="3095435"/>
            <a:ext cx="336025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между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ML 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</a:rPr>
              <a:t>Ops</a:t>
            </a:r>
            <a:endParaRPr lang="ru-RU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Разные стеки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трудности перевода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425D1-CACA-4929-3634-FA46DE2BACA1}"/>
              </a:ext>
            </a:extLst>
          </p:cNvPr>
          <p:cNvSpPr txBox="1"/>
          <p:nvPr/>
        </p:nvSpPr>
        <p:spPr>
          <a:xfrm>
            <a:off x="5061799" y="3095435"/>
            <a:ext cx="364236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в тестировании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Модель и инфраструктура тестируются отдельно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5155E-5341-4EE7-7015-0DD059406EEA}"/>
              </a:ext>
            </a:extLst>
          </p:cNvPr>
          <p:cNvSpPr txBox="1"/>
          <p:nvPr/>
        </p:nvSpPr>
        <p:spPr>
          <a:xfrm>
            <a:off x="1090866" y="3849488"/>
            <a:ext cx="3642361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Разрыв в мониторинге</a:t>
            </a:r>
          </a:p>
          <a:p>
            <a:pPr>
              <a:spcBef>
                <a:spcPts val="600"/>
              </a:spcBef>
            </a:pP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Инфраструктура </a:t>
            </a:r>
            <a:r>
              <a:rPr lang="ru-RU" sz="1400" i="1" dirty="0" err="1">
                <a:latin typeface="Roboto Light" panose="02000000000000000000" pitchFamily="2" charset="0"/>
                <a:ea typeface="Roboto Light" panose="02000000000000000000" pitchFamily="2" charset="0"/>
              </a:rPr>
              <a:t>мониторится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(возможно)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но если деградировала модель – у нас беда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;</a:t>
            </a:r>
            <a:r>
              <a:rPr lang="ru-RU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en-US" sz="14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RU" sz="14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33F1E89-E7E5-8378-E108-E4DF7A0999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225" y="3162414"/>
            <a:ext cx="360000" cy="360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2749FF9-87E7-52B3-2BDC-9EEA293337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225" y="2203311"/>
            <a:ext cx="360000" cy="360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A3E08EA-D974-2BD9-00DD-3EC0A2E413D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6225" y="1327232"/>
            <a:ext cx="360000" cy="360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F69BF087-78B5-4F91-3FDC-288EE2382F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992" y="3947910"/>
            <a:ext cx="360000" cy="360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80ADC22D-350C-EC1C-7FD8-3AF3CC6F61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2992" y="3162414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68F420D0-E626-B8A6-7DEC-28AC000B72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2992" y="2203311"/>
            <a:ext cx="360000" cy="3600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FBD95C53-6FC0-7F89-CDBD-6111EF77209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2992" y="132317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Зачем нам воспроизводимость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1F218-9FC5-4B9F-E9E7-EF81F420186D}"/>
              </a:ext>
            </a:extLst>
          </p:cNvPr>
          <p:cNvSpPr txBox="1"/>
          <p:nvPr/>
        </p:nvSpPr>
        <p:spPr>
          <a:xfrm>
            <a:off x="736853" y="1619271"/>
            <a:ext cx="22605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 исследованиях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259A5A-534D-E381-A724-266A43D18EC4}"/>
              </a:ext>
            </a:extLst>
          </p:cNvPr>
          <p:cNvSpPr txBox="1"/>
          <p:nvPr/>
        </p:nvSpPr>
        <p:spPr>
          <a:xfrm>
            <a:off x="736853" y="2071264"/>
            <a:ext cx="36399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Исследование – это коллаборация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Один в поле не воин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 Если вы не можете повторить то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что сделал коллега (</a:t>
            </a:r>
            <a:r>
              <a:rPr lang="ru-RU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или узнать</a:t>
            </a:r>
            <a:r>
              <a:rPr lang="en-US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i="1" dirty="0">
                <a:latin typeface="Roboto Light" panose="02000000000000000000" pitchFamily="2" charset="0"/>
                <a:ea typeface="Roboto Light" panose="02000000000000000000" pitchFamily="2" charset="0"/>
              </a:rPr>
              <a:t>чего он не сделал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)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прогресса не будет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99B5D0-420F-AC26-225D-B5EE72CB44AC}"/>
              </a:ext>
            </a:extLst>
          </p:cNvPr>
          <p:cNvSpPr txBox="1"/>
          <p:nvPr/>
        </p:nvSpPr>
        <p:spPr>
          <a:xfrm>
            <a:off x="4824258" y="1619271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Roboto" panose="02000000000000000000" pitchFamily="2" charset="0"/>
                <a:ea typeface="Roboto" panose="02000000000000000000" pitchFamily="2" charset="0"/>
              </a:rPr>
              <a:t>В бизнесе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753B84-F5DB-0F73-4CC0-548E3D819927}"/>
              </a:ext>
            </a:extLst>
          </p:cNvPr>
          <p:cNvSpPr txBox="1"/>
          <p:nvPr/>
        </p:nvSpPr>
        <p:spPr>
          <a:xfrm>
            <a:off x="4824258" y="2071264"/>
            <a:ext cx="363993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Никто не будет инвестировать в то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что работает по счастливой случайности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Бизнесу нужны надежные и предсказуемые системы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ошибки в которых можно исправить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Время – деньги</a:t>
            </a:r>
            <a:r>
              <a:rPr lang="en-US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600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US" sz="16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42609C-01FE-0275-D43D-475A83F04D06}"/>
              </a:ext>
            </a:extLst>
          </p:cNvPr>
          <p:cNvSpPr txBox="1"/>
          <p:nvPr/>
        </p:nvSpPr>
        <p:spPr>
          <a:xfrm>
            <a:off x="763531" y="4417890"/>
            <a:ext cx="40607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latin typeface="Roboto Light" panose="02000000000000000000" pitchFamily="2" charset="0"/>
                <a:ea typeface="Roboto Light" panose="02000000000000000000" pitchFamily="2" charset="0"/>
              </a:rPr>
              <a:t>Воспроизводимость – основа автоматизации</a:t>
            </a:r>
            <a:r>
              <a:rPr lang="en-US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4879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MLFlow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7084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Что это</a:t>
            </a:r>
            <a:r>
              <a:rPr lang="en-US" dirty="0"/>
              <a:t>/</a:t>
            </a:r>
            <a:r>
              <a:rPr lang="ru-RU" dirty="0"/>
              <a:t>из чего состоит</a:t>
            </a:r>
            <a:endParaRPr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98BCEA4-6AC6-D827-676A-59DC009E4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376" y="1088192"/>
            <a:ext cx="497840" cy="497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45187-8F4C-B845-8483-AD623F09FB6B}"/>
              </a:ext>
            </a:extLst>
          </p:cNvPr>
          <p:cNvSpPr txBox="1"/>
          <p:nvPr/>
        </p:nvSpPr>
        <p:spPr>
          <a:xfrm>
            <a:off x="1395663" y="1075502"/>
            <a:ext cx="6352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MLFlow –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это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open-source 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платформа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 предназначенная для управления жизненным циклом 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ml-</a:t>
            </a:r>
            <a:r>
              <a:rPr lang="ru-RU" dirty="0">
                <a:latin typeface="Roboto Light" panose="02000000000000000000" pitchFamily="2" charset="0"/>
                <a:ea typeface="Roboto Light" panose="02000000000000000000" pitchFamily="2" charset="0"/>
              </a:rPr>
              <a:t>моделей</a:t>
            </a:r>
            <a:r>
              <a:rPr lang="en-US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endParaRPr lang="en-RU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23C8A-FE13-FE72-33E5-DCBAB274F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87538"/>
            <a:ext cx="7772400" cy="2119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A60FC1-6E51-6853-3DFC-372A6C00D7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0803" y="4416417"/>
            <a:ext cx="1430087" cy="4361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B88293-38B2-3498-6E75-B88015E88C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958" y="4416417"/>
            <a:ext cx="1307409" cy="2588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15AC7A-64D7-B428-2443-FC475C0F52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2326" y="4437033"/>
            <a:ext cx="1763817" cy="2472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20CEEA-D477-6628-9F56-13AB3022C8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7578" y="4419867"/>
            <a:ext cx="2306053" cy="2644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9AEF6E-092B-DCA9-83DE-2F8DD7F541A3}"/>
              </a:ext>
            </a:extLst>
          </p:cNvPr>
          <p:cNvCxnSpPr/>
          <p:nvPr/>
        </p:nvCxnSpPr>
        <p:spPr>
          <a:xfrm>
            <a:off x="771376" y="4236720"/>
            <a:ext cx="7686824" cy="0"/>
          </a:xfrm>
          <a:prstGeom prst="line">
            <a:avLst/>
          </a:prstGeom>
          <a:ln w="63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91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Сценарии использования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10D51-08CA-70A1-128D-A48C3D962C8C}"/>
              </a:ext>
            </a:extLst>
          </p:cNvPr>
          <p:cNvSpPr txBox="1"/>
          <p:nvPr/>
        </p:nvSpPr>
        <p:spPr>
          <a:xfrm>
            <a:off x="1090867" y="1535726"/>
            <a:ext cx="336025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Трекинг экспериментов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Храните гиперпараметры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метрики и результаты каждого эксперимента в одном месте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;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сравнивайте результаты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Medium" panose="02000000000000000000" pitchFamily="2" charset="0"/>
                <a:ea typeface="Roboto Medium" panose="02000000000000000000" pitchFamily="2" charset="0"/>
              </a:rPr>
              <a:t>улучшайте модели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сохраняйте их в формате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Model.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A0A24-DE91-377D-1B9F-0DE03CB3F281}"/>
              </a:ext>
            </a:extLst>
          </p:cNvPr>
          <p:cNvSpPr txBox="1"/>
          <p:nvPr/>
        </p:nvSpPr>
        <p:spPr>
          <a:xfrm>
            <a:off x="5061799" y="1535622"/>
            <a:ext cx="336025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Мониторинг модели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Вы всегда знаете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какая модель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какое окружение на проде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тестируйте модель в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“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боевом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режиме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”,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не трогая прод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В случае деградации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– переобучайте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 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89D245-7E60-6F3D-F728-4F8990B65A91}"/>
              </a:ext>
            </a:extLst>
          </p:cNvPr>
          <p:cNvSpPr txBox="1"/>
          <p:nvPr/>
        </p:nvSpPr>
        <p:spPr>
          <a:xfrm>
            <a:off x="1090867" y="3478317"/>
            <a:ext cx="3360250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Выбор и внедрение модели</a:t>
            </a:r>
          </a:p>
          <a:p>
            <a:pPr>
              <a:spcBef>
                <a:spcPts val="600"/>
              </a:spcBef>
            </a:pP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Выбирайте лучшую модель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регистрируйте в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Model Registry,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тестируйте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внедряйте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отслеживайте состояние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обучайте и переобучайте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593B4-35E6-8FE5-6044-43D7A5963A3B}"/>
              </a:ext>
            </a:extLst>
          </p:cNvPr>
          <p:cNvSpPr txBox="1"/>
          <p:nvPr/>
        </p:nvSpPr>
        <p:spPr>
          <a:xfrm>
            <a:off x="5061799" y="3478317"/>
            <a:ext cx="354372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Коллаборация</a:t>
            </a:r>
          </a:p>
          <a:p>
            <a:pPr>
              <a:spcBef>
                <a:spcPts val="600"/>
              </a:spcBef>
            </a:pP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MLFlow –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площадка для взаимодействия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обмениваются результатами экспериментов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, ML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 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Ops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обмениваются знаниями/артефактами</a:t>
            </a:r>
            <a:r>
              <a:rPr lang="en-US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. </a:t>
            </a:r>
            <a:r>
              <a:rPr lang="ru-RU" sz="1300" i="1" dirty="0">
                <a:latin typeface="Roboto Light" panose="02000000000000000000" pitchFamily="2" charset="0"/>
                <a:ea typeface="Roboto Light" panose="02000000000000000000" pitchFamily="2" charset="0"/>
              </a:rPr>
              <a:t> </a:t>
            </a:r>
            <a:endParaRPr lang="en-RU" sz="13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15CE320D-7934-980D-5671-EB91FB67F6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850" y="3556355"/>
            <a:ext cx="360000" cy="36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B809B190-0698-C6FB-3B71-2FCF2CE3D1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80850" y="1617819"/>
            <a:ext cx="360000" cy="3600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448EF84C-35A8-5A17-18D6-3CB281DA3F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2992" y="3556355"/>
            <a:ext cx="360000" cy="360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2AE8A679-428B-D44D-6A4C-59E9FA87A5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2992" y="1617819"/>
            <a:ext cx="360000" cy="3600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D294EDA-FA82-CDC3-6AF2-B1EE98F1E3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734" y="1083675"/>
            <a:ext cx="468000" cy="4680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D3471DA-791E-4B90-12C7-4031A163D97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096301" y="1083675"/>
            <a:ext cx="468000" cy="4680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22DDB79-6A60-9BB9-FF0E-639A8A15F3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10893" y="3010317"/>
            <a:ext cx="468000" cy="4680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E11E4925-DF01-7226-2B30-8B17BCF3A85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27987" y="3010317"/>
            <a:ext cx="468000" cy="468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FBF7A777-5950-E40C-3E71-10A7BCA090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45734" y="3010317"/>
            <a:ext cx="468000" cy="4680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6C2C8940-B408-1F2F-D973-B873F3C3AE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62828" y="3010317"/>
            <a:ext cx="468000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7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MLFlow Tracking</a:t>
            </a:r>
            <a:endParaRPr dirty="0"/>
          </a:p>
        </p:txBody>
      </p:sp>
      <p:pic>
        <p:nvPicPr>
          <p:cNvPr id="1026" name="Picture 2" descr="The basics of MLflow tracking.">
            <a:extLst>
              <a:ext uri="{FF2B5EF4-FFF2-40B4-BE49-F238E27FC236}">
                <a16:creationId xmlns:a16="http://schemas.microsoft.com/office/drawing/2014/main" id="{FC7FC2AB-26C2-DE73-A7F4-20BAE8698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81" y="1454916"/>
            <a:ext cx="7895237" cy="299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22C005-778B-7B8C-BBCD-C2BDC5BD42D8}"/>
              </a:ext>
            </a:extLst>
          </p:cNvPr>
          <p:cNvSpPr txBox="1"/>
          <p:nvPr/>
        </p:nvSpPr>
        <p:spPr>
          <a:xfrm>
            <a:off x="624381" y="4747107"/>
            <a:ext cx="27158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Источник</a:t>
            </a:r>
            <a:r>
              <a:rPr lang="en-US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  <a:hlinkClick r:id="rId4"/>
              </a:rPr>
              <a:t>официальная документация</a:t>
            </a:r>
            <a:endParaRPr lang="en-RU" sz="11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59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7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MLFlow</a:t>
            </a:r>
            <a:r>
              <a:rPr lang="ru-RU" dirty="0"/>
              <a:t> </a:t>
            </a:r>
            <a:r>
              <a:rPr lang="en-US" dirty="0"/>
              <a:t>Model Registry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8569C-A933-2858-0539-5104C4D01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39508"/>
            <a:ext cx="7772400" cy="317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66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22C005-778B-7B8C-BBCD-C2BDC5BD42D8}"/>
              </a:ext>
            </a:extLst>
          </p:cNvPr>
          <p:cNvSpPr txBox="1"/>
          <p:nvPr/>
        </p:nvSpPr>
        <p:spPr>
          <a:xfrm>
            <a:off x="624381" y="4747107"/>
            <a:ext cx="27158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Источник</a:t>
            </a:r>
            <a:r>
              <a:rPr lang="en-US" sz="1100" i="1" dirty="0">
                <a:latin typeface="Roboto Light" panose="02000000000000000000" pitchFamily="2" charset="0"/>
                <a:ea typeface="Roboto Light" panose="02000000000000000000" pitchFamily="2" charset="0"/>
              </a:rPr>
              <a:t>: </a:t>
            </a:r>
            <a:r>
              <a:rPr lang="ru-RU" sz="1100" i="1" dirty="0">
                <a:latin typeface="Roboto Light" panose="02000000000000000000" pitchFamily="2" charset="0"/>
                <a:ea typeface="Roboto Light" panose="02000000000000000000" pitchFamily="2" charset="0"/>
                <a:hlinkClick r:id="rId3"/>
              </a:rPr>
              <a:t>официальная документация</a:t>
            </a:r>
            <a:endParaRPr lang="en-RU" sz="1100" i="1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CB2CB11-4D91-8977-204D-203328999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550" y="887992"/>
            <a:ext cx="6930600" cy="3924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684602-A0D1-404B-5189-0A55F84FD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7400" y="239992"/>
            <a:ext cx="2034273" cy="64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2F023-7C25-8846-AB12-F98B9CDE8CB9}"/>
              </a:ext>
            </a:extLst>
          </p:cNvPr>
          <p:cNvSpPr txBox="1"/>
          <p:nvPr/>
        </p:nvSpPr>
        <p:spPr>
          <a:xfrm>
            <a:off x="6959610" y="230062"/>
            <a:ext cx="1925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Bradley Hand" pitchFamily="2" charset="77"/>
              </a:rPr>
              <a:t>Рабочий вариант!</a:t>
            </a:r>
            <a:endParaRPr lang="en-US" sz="1600" dirty="0">
              <a:latin typeface="Bradley Hand" pitchFamily="2" charset="77"/>
            </a:endParaRPr>
          </a:p>
        </p:txBody>
      </p:sp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3901C34D-E756-8148-B25B-512676642414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6629400" y="399338"/>
            <a:ext cx="330210" cy="488653"/>
          </a:xfrm>
          <a:prstGeom prst="curvedConnector2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048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4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164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Ключевые тезисы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44" name="Google Shape;444;p84"/>
          <p:cNvGraphicFramePr/>
          <p:nvPr>
            <p:extLst>
              <p:ext uri="{D42A27DB-BD31-4B8C-83A1-F6EECF244321}">
                <p14:modId xmlns:p14="http://schemas.microsoft.com/office/powerpoint/2010/main" val="1234474613"/>
              </p:ext>
            </p:extLst>
          </p:nvPr>
        </p:nvGraphicFramePr>
        <p:xfrm>
          <a:off x="952500" y="1544194"/>
          <a:ext cx="7239000" cy="10058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Как установить </a:t>
                      </a:r>
                      <a:r>
                        <a:rPr lang="en-US" sz="11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MLFlow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Как запустить сервер трекинга экспериментов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Roboto" panose="02000000000000000000" pitchFamily="2" charset="0"/>
                          <a:ea typeface="Roboto" panose="02000000000000000000" pitchFamily="2" charset="0"/>
                          <a:cs typeface="Roboto"/>
                          <a:sym typeface="Roboto"/>
                        </a:rPr>
                        <a:t>Как зафиксировать результаты эксперимента</a:t>
                      </a:r>
                      <a:endParaRPr sz="1100" dirty="0"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70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0150" y="2028951"/>
            <a:ext cx="29775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60" dirty="0">
                <a:solidFill>
                  <a:srgbClr val="FFFFFF"/>
                </a:solidFill>
              </a:rPr>
              <a:t>Вопросы?</a:t>
            </a:r>
            <a:endParaRPr sz="4900"/>
          </a:p>
        </p:txBody>
      </p:sp>
      <p:grpSp>
        <p:nvGrpSpPr>
          <p:cNvPr id="4" name="object 4"/>
          <p:cNvGrpSpPr/>
          <p:nvPr/>
        </p:nvGrpSpPr>
        <p:grpSpPr>
          <a:xfrm>
            <a:off x="719327" y="3368039"/>
            <a:ext cx="4048125" cy="668020"/>
            <a:chOff x="719327" y="3368039"/>
            <a:chExt cx="4048125" cy="6680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327" y="3368039"/>
              <a:ext cx="664464" cy="6675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02607" y="3368039"/>
              <a:ext cx="664463" cy="66751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16749" y="3445255"/>
            <a:ext cx="17278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“+”,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45" dirty="0">
                <a:solidFill>
                  <a:srgbClr val="FFFFFF"/>
                </a:solidFill>
                <a:latin typeface="Trebuchet MS"/>
                <a:cs typeface="Trebuchet MS"/>
              </a:rPr>
              <a:t>вопросы</a:t>
            </a:r>
            <a:r>
              <a:rPr sz="1500" spc="-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есть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5424" y="3445255"/>
            <a:ext cx="170433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50" dirty="0">
                <a:solidFill>
                  <a:srgbClr val="FFFFFF"/>
                </a:solidFill>
                <a:latin typeface="Trebuchet MS"/>
                <a:cs typeface="Trebuchet MS"/>
              </a:rPr>
              <a:t>Ставим</a:t>
            </a:r>
            <a:r>
              <a:rPr sz="15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0" dirty="0">
                <a:solidFill>
                  <a:srgbClr val="FFFFFF"/>
                </a:solidFill>
                <a:latin typeface="Trebuchet MS"/>
                <a:cs typeface="Trebuchet MS"/>
              </a:rPr>
              <a:t>“–”,</a:t>
            </a:r>
            <a:endParaRPr sz="15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если</a:t>
            </a:r>
            <a:r>
              <a:rPr sz="1500" spc="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dirty="0">
                <a:solidFill>
                  <a:srgbClr val="FFFFFF"/>
                </a:solidFill>
                <a:latin typeface="Trebuchet MS"/>
                <a:cs typeface="Trebuchet MS"/>
              </a:rPr>
              <a:t>вопросов</a:t>
            </a:r>
            <a:r>
              <a:rPr sz="1500" spc="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Trebuchet MS"/>
                <a:cs typeface="Trebuchet MS"/>
              </a:rPr>
              <a:t>нет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949" y="1534668"/>
            <a:ext cx="5574665" cy="17602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50"/>
              </a:spcBef>
            </a:pPr>
            <a:r>
              <a:rPr sz="3800" spc="-95" dirty="0">
                <a:solidFill>
                  <a:srgbClr val="FFFFFF"/>
                </a:solidFill>
              </a:rPr>
              <a:t>Заполните,</a:t>
            </a:r>
            <a:r>
              <a:rPr sz="3800" spc="-130" dirty="0">
                <a:solidFill>
                  <a:srgbClr val="FFFFFF"/>
                </a:solidFill>
              </a:rPr>
              <a:t> </a:t>
            </a:r>
            <a:r>
              <a:rPr sz="3800" spc="-45" dirty="0">
                <a:solidFill>
                  <a:srgbClr val="FFFFFF"/>
                </a:solidFill>
              </a:rPr>
              <a:t>пожалуйста, </a:t>
            </a:r>
            <a:r>
              <a:rPr sz="3800" spc="-55" dirty="0">
                <a:solidFill>
                  <a:srgbClr val="FFFFFF"/>
                </a:solidFill>
              </a:rPr>
              <a:t>опрос</a:t>
            </a:r>
            <a:r>
              <a:rPr sz="3800" spc="-220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10" dirty="0">
                <a:solidFill>
                  <a:srgbClr val="FFFFFF"/>
                </a:solidFill>
              </a:rPr>
              <a:t>занятии</a:t>
            </a:r>
            <a:endParaRPr sz="3800"/>
          </a:p>
          <a:p>
            <a:pPr marL="12700">
              <a:lnSpc>
                <a:spcPts val="4490"/>
              </a:lnSpc>
            </a:pPr>
            <a:r>
              <a:rPr sz="3800" spc="-50" dirty="0">
                <a:solidFill>
                  <a:srgbClr val="FFFFFF"/>
                </a:solidFill>
              </a:rPr>
              <a:t>по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dirty="0">
                <a:solidFill>
                  <a:srgbClr val="FFFFFF"/>
                </a:solidFill>
              </a:rPr>
              <a:t>ссылке</a:t>
            </a:r>
            <a:r>
              <a:rPr sz="3800" spc="-200" dirty="0">
                <a:solidFill>
                  <a:srgbClr val="FFFFFF"/>
                </a:solidFill>
              </a:rPr>
              <a:t> </a:t>
            </a:r>
            <a:r>
              <a:rPr sz="3800" spc="60" dirty="0">
                <a:solidFill>
                  <a:srgbClr val="FFFFFF"/>
                </a:solidFill>
              </a:rPr>
              <a:t>в</a:t>
            </a:r>
            <a:r>
              <a:rPr sz="3800" spc="-195" dirty="0">
                <a:solidFill>
                  <a:srgbClr val="FFFFFF"/>
                </a:solidFill>
              </a:rPr>
              <a:t> </a:t>
            </a:r>
            <a:r>
              <a:rPr sz="3800" spc="-20" dirty="0">
                <a:solidFill>
                  <a:srgbClr val="FFFFFF"/>
                </a:solidFill>
              </a:rPr>
              <a:t>чате</a:t>
            </a:r>
            <a:endParaRPr sz="3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Trebuchet MS"/>
                <a:cs typeface="Trebuchet MS"/>
              </a:rPr>
              <a:t>Приходите</a:t>
            </a:r>
            <a:r>
              <a:rPr sz="3200" b="1" spc="-190" dirty="0">
                <a:latin typeface="Trebuchet MS"/>
                <a:cs typeface="Trebuchet MS"/>
              </a:rPr>
              <a:t> </a:t>
            </a:r>
            <a:r>
              <a:rPr sz="3200" b="1" spc="-20" dirty="0">
                <a:latin typeface="Trebuchet MS"/>
                <a:cs typeface="Trebuchet MS"/>
              </a:rPr>
              <a:t>на</a:t>
            </a:r>
            <a:r>
              <a:rPr sz="3200" b="1" spc="-180" dirty="0">
                <a:latin typeface="Trebuchet MS"/>
                <a:cs typeface="Trebuchet MS"/>
              </a:rPr>
              <a:t> </a:t>
            </a:r>
            <a:r>
              <a:rPr sz="3200" b="1" spc="-30" dirty="0" err="1">
                <a:latin typeface="Trebuchet MS"/>
                <a:cs typeface="Trebuchet MS"/>
              </a:rPr>
              <a:t>следующие</a:t>
            </a:r>
            <a:r>
              <a:rPr sz="3200" b="1" spc="-185" dirty="0">
                <a:latin typeface="Trebuchet MS"/>
                <a:cs typeface="Trebuchet MS"/>
              </a:rPr>
              <a:t> </a:t>
            </a:r>
            <a:r>
              <a:rPr sz="3200" b="1" spc="-10" dirty="0">
                <a:latin typeface="Trebuchet MS"/>
                <a:cs typeface="Trebuchet MS"/>
              </a:rPr>
              <a:t>вебинары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</TotalTime>
  <Words>682</Words>
  <Application>Microsoft Macintosh PowerPoint</Application>
  <PresentationFormat>On-screen Show (16:9)</PresentationFormat>
  <Paragraphs>127</Paragraphs>
  <Slides>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Bradley Hand</vt:lpstr>
      <vt:lpstr>Calibri</vt:lpstr>
      <vt:lpstr>Roboto</vt:lpstr>
      <vt:lpstr>Roboto Light</vt:lpstr>
      <vt:lpstr>Roboto Medium</vt:lpstr>
      <vt:lpstr>Trebuchet MS</vt:lpstr>
      <vt:lpstr>Office Theme</vt:lpstr>
      <vt:lpstr>MLOps MLFlow –  воспроизводимость и версионирование</vt:lpstr>
      <vt:lpstr>PowerPoint Presentation</vt:lpstr>
      <vt:lpstr>Правила вебинара</vt:lpstr>
      <vt:lpstr>MLOps MLFlow – контроль над ML-экспериментами</vt:lpstr>
      <vt:lpstr>Маршрут вебинара</vt:lpstr>
      <vt:lpstr>Ключевые тезисы  </vt:lpstr>
      <vt:lpstr>Версионирование и воспроизводимость</vt:lpstr>
      <vt:lpstr>Воспроизводимость</vt:lpstr>
      <vt:lpstr>Как мы разрабатываем модели</vt:lpstr>
      <vt:lpstr>Что тут не так</vt:lpstr>
      <vt:lpstr>Зачем нам воспроизводимость</vt:lpstr>
      <vt:lpstr>MLFlow</vt:lpstr>
      <vt:lpstr>Что это/из чего состоит</vt:lpstr>
      <vt:lpstr>Сценарии использования</vt:lpstr>
      <vt:lpstr>MLFlow Tracking</vt:lpstr>
      <vt:lpstr>MLFlow Model Registry</vt:lpstr>
      <vt:lpstr>PowerPoint Presentation</vt:lpstr>
      <vt:lpstr>Практика</vt:lpstr>
      <vt:lpstr>Ключевые тезисы  </vt:lpstr>
      <vt:lpstr>Вопросы?</vt:lpstr>
      <vt:lpstr>Заполните, пожалуйста, опрос о занятии по ссылке в чате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12</cp:revision>
  <dcterms:created xsi:type="dcterms:W3CDTF">2024-07-23T07:20:56Z</dcterms:created>
  <dcterms:modified xsi:type="dcterms:W3CDTF">2025-12-22T10:07:44Z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