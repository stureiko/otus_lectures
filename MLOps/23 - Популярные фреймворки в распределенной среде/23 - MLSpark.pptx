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34"/>
  </p:notesMasterIdLst>
  <p:sldIdLst>
    <p:sldId id="256" r:id="rId3"/>
    <p:sldId id="257" r:id="rId4"/>
    <p:sldId id="259" r:id="rId5"/>
    <p:sldId id="312" r:id="rId6"/>
    <p:sldId id="288" r:id="rId7"/>
    <p:sldId id="262" r:id="rId8"/>
    <p:sldId id="263" r:id="rId9"/>
    <p:sldId id="264" r:id="rId10"/>
    <p:sldId id="311" r:id="rId11"/>
    <p:sldId id="360" r:id="rId12"/>
    <p:sldId id="267" r:id="rId13"/>
    <p:sldId id="344" r:id="rId14"/>
    <p:sldId id="350" r:id="rId15"/>
    <p:sldId id="352" r:id="rId16"/>
    <p:sldId id="351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278" r:id="rId25"/>
    <p:sldId id="279" r:id="rId26"/>
    <p:sldId id="281" r:id="rId27"/>
    <p:sldId id="282" r:id="rId28"/>
    <p:sldId id="283" r:id="rId29"/>
    <p:sldId id="345" r:id="rId30"/>
    <p:sldId id="287" r:id="rId31"/>
    <p:sldId id="289" r:id="rId32"/>
    <p:sldId id="337" r:id="rId3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Georgia" panose="02040502050405020303" pitchFamily="18" charset="0"/>
      <p:regular r:id="rId39"/>
      <p:bold r:id="rId40"/>
      <p:italic r:id="rId41"/>
      <p:boldItalic r:id="rId42"/>
    </p:embeddedFont>
    <p:embeddedFont>
      <p:font typeface="Helvetica Neue" panose="02000503000000020004" pitchFamily="2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  <p:embeddedFont>
      <p:font typeface="Trebuchet MS" panose="020B0703020202090204" pitchFamily="34" charset="0"/>
      <p:regular r:id="rId51"/>
      <p:bold r:id="rId52"/>
      <p: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95"/>
    <p:restoredTop sz="97146"/>
  </p:normalViewPr>
  <p:slideViewPr>
    <p:cSldViewPr snapToGrid="0">
      <p:cViewPr varScale="1">
        <p:scale>
          <a:sx n="297" d="100"/>
          <a:sy n="297" d="100"/>
        </p:scale>
        <p:origin x="832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17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8.xml"/><Relationship Id="rId41" Type="http://schemas.openxmlformats.org/officeDocument/2006/relationships/font" Target="fonts/font7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098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743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161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3867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9363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5762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804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0701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14307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501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6964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2129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581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df6222e6a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df6222e6a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84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9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ahout.apache.org/" TargetMode="External"/><Relationship Id="rId7" Type="http://schemas.openxmlformats.org/officeDocument/2006/relationships/hyperlink" Target="https://h2o.ai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madlib.apache.org/" TargetMode="External"/><Relationship Id="rId5" Type="http://schemas.openxmlformats.org/officeDocument/2006/relationships/hyperlink" Target="https://flink.apache.org/" TargetMode="External"/><Relationship Id="rId4" Type="http://schemas.openxmlformats.org/officeDocument/2006/relationships/hyperlink" Target="https://spark.apache.org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almond.sh/" TargetMode="External"/><Relationship Id="rId13" Type="http://schemas.openxmlformats.org/officeDocument/2006/relationships/image" Target="../media/image40.png"/><Relationship Id="rId3" Type="http://schemas.openxmlformats.org/officeDocument/2006/relationships/hyperlink" Target="https://spark.apache.org/docs/latest/api/python/index.html" TargetMode="External"/><Relationship Id="rId7" Type="http://schemas.openxmlformats.org/officeDocument/2006/relationships/hyperlink" Target="https://www.jetbrains.com/ru-ru/dataspell" TargetMode="External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jupyter.org/" TargetMode="External"/><Relationship Id="rId11" Type="http://schemas.openxmlformats.org/officeDocument/2006/relationships/image" Target="../media/image38.png"/><Relationship Id="rId5" Type="http://schemas.openxmlformats.org/officeDocument/2006/relationships/hyperlink" Target="https://plugins.jetbrains.com/plugin/12494-big-data-tools" TargetMode="External"/><Relationship Id="rId15" Type="http://schemas.openxmlformats.org/officeDocument/2006/relationships/image" Target="../media/image42.jpg"/><Relationship Id="rId10" Type="http://schemas.openxmlformats.org/officeDocument/2006/relationships/image" Target="../media/image37.png"/><Relationship Id="rId4" Type="http://schemas.openxmlformats.org/officeDocument/2006/relationships/hyperlink" Target="http://zeppelin.apache.org/" TargetMode="External"/><Relationship Id="rId9" Type="http://schemas.openxmlformats.org/officeDocument/2006/relationships/hyperlink" Target="https://community.cloud.databricks.com/" TargetMode="External"/><Relationship Id="rId1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jpe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jpe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0.png"/><Relationship Id="rId4" Type="http://schemas.openxmlformats.org/officeDocument/2006/relationships/hyperlink" Target="https://spark-packages.or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://zeppelin.apache.org/" TargetMode="External"/><Relationship Id="rId13" Type="http://schemas.openxmlformats.org/officeDocument/2006/relationships/hyperlink" Target="https://community.cloud.databricks.com/" TargetMode="External"/><Relationship Id="rId3" Type="http://schemas.openxmlformats.org/officeDocument/2006/relationships/hyperlink" Target="https://mahout.apache.org/" TargetMode="External"/><Relationship Id="rId7" Type="http://schemas.openxmlformats.org/officeDocument/2006/relationships/hyperlink" Target="https://h2o.ai/" TargetMode="External"/><Relationship Id="rId12" Type="http://schemas.openxmlformats.org/officeDocument/2006/relationships/hyperlink" Target="https://almond.sh/" TargetMode="External"/><Relationship Id="rId17" Type="http://schemas.openxmlformats.org/officeDocument/2006/relationships/hyperlink" Target="https://mlflow.org/docs/latest/python_api/mlflow.spark.html" TargetMode="External"/><Relationship Id="rId2" Type="http://schemas.openxmlformats.org/officeDocument/2006/relationships/notesSlide" Target="../notesSlides/notesSlide23.xml"/><Relationship Id="rId16" Type="http://schemas.openxmlformats.org/officeDocument/2006/relationships/hyperlink" Target="https://spark.apache.org/docs/latest/api/python/reference/pyspark.ml.html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madlib.apache.org/" TargetMode="External"/><Relationship Id="rId11" Type="http://schemas.openxmlformats.org/officeDocument/2006/relationships/hyperlink" Target="https://www.jetbrains.com/ru-ru/dataspell" TargetMode="External"/><Relationship Id="rId5" Type="http://schemas.openxmlformats.org/officeDocument/2006/relationships/hyperlink" Target="https%20:/flink.apache.org" TargetMode="External"/><Relationship Id="rId15" Type="http://schemas.openxmlformats.org/officeDocument/2006/relationships/hyperlink" Target="https://spark.apache.org/docs/latest/ml-guide.html" TargetMode="External"/><Relationship Id="rId10" Type="http://schemas.openxmlformats.org/officeDocument/2006/relationships/hyperlink" Target="https://jupyter.org/" TargetMode="External"/><Relationship Id="rId4" Type="http://schemas.openxmlformats.org/officeDocument/2006/relationships/hyperlink" Target="https://spark.apache.org/" TargetMode="External"/><Relationship Id="rId9" Type="http://schemas.openxmlformats.org/officeDocument/2006/relationships/hyperlink" Target="https://plugins.jetbrains.com/plugin/12494-big-data-tools" TargetMode="External"/><Relationship Id="rId14" Type="http://schemas.openxmlformats.org/officeDocument/2006/relationships/hyperlink" Target="https://spark-packages.org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Ops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 err="1"/>
              <a:t>SparkML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212722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</a:t>
            </a:r>
            <a:r>
              <a:rPr lang="en-US" dirty="0"/>
              <a:t>Ops</a:t>
            </a:r>
            <a:br>
              <a:rPr lang="en-US" sz="3200" dirty="0"/>
            </a:br>
            <a:r>
              <a:rPr lang="ru-RU" sz="2400" dirty="0"/>
              <a:t>Курсовой проект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Тема </a:t>
            </a:r>
            <a:r>
              <a:rPr lang="ru-RU" dirty="0" err="1"/>
              <a:t>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Карта</a:t>
            </a:r>
            <a:r>
              <a:rPr spc="-170" dirty="0"/>
              <a:t> </a:t>
            </a:r>
            <a:r>
              <a:rPr spc="-10" dirty="0"/>
              <a:t>курса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549" y="769970"/>
            <a:ext cx="8103391" cy="40440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1378" y="911859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3384" y="1804923"/>
            <a:ext cx="16262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2.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3384" y="2655316"/>
            <a:ext cx="1660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384" y="2655316"/>
            <a:ext cx="11715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3384" y="3508755"/>
            <a:ext cx="1544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3384" y="3508755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1378" y="4400296"/>
            <a:ext cx="15176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60" dirty="0">
                <a:latin typeface="Trebuchet MS"/>
                <a:cs typeface="Trebuchet MS"/>
              </a:rPr>
              <a:t>8.</a:t>
            </a:r>
            <a:r>
              <a:rPr sz="1300" spc="-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Курсовой </a:t>
            </a:r>
            <a:r>
              <a:rPr sz="1300" spc="-10" dirty="0">
                <a:latin typeface="Trebuchet MS"/>
                <a:cs typeface="Trebuchet MS"/>
              </a:rPr>
              <a:t>проект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95016" y="1338072"/>
            <a:ext cx="4761230" cy="1149350"/>
            <a:chOff x="2795016" y="1338072"/>
            <a:chExt cx="4761230" cy="11493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39" y="1338072"/>
              <a:ext cx="246887" cy="2468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5016" y="2237232"/>
              <a:ext cx="249936" cy="2499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056" y="2231136"/>
              <a:ext cx="249935" cy="24993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45856" y="13446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0740" y="2246883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3384" y="1804923"/>
            <a:ext cx="238061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510"/>
              </a:spcBef>
            </a:pPr>
            <a:r>
              <a:rPr sz="1000" i="1" spc="-1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9109" y="878379"/>
            <a:ext cx="6843395" cy="3844290"/>
            <a:chOff x="789109" y="878379"/>
            <a:chExt cx="6843395" cy="384429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6056" y="3090671"/>
              <a:ext cx="249935" cy="2468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6248" y="3090671"/>
              <a:ext cx="249936" cy="2468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6248" y="3944111"/>
              <a:ext cx="249936" cy="2499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5304" y="3944111"/>
              <a:ext cx="246888" cy="2499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65383" y="878379"/>
              <a:ext cx="419929" cy="396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9109" y="1771398"/>
              <a:ext cx="419929" cy="396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79110" y="1770692"/>
              <a:ext cx="419929" cy="396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79110" y="2609735"/>
              <a:ext cx="419929" cy="3960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9109" y="2616087"/>
              <a:ext cx="419929" cy="3960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9109" y="3457464"/>
              <a:ext cx="419929" cy="3959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79110" y="3471719"/>
              <a:ext cx="419929" cy="3960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65383" y="4326413"/>
              <a:ext cx="419929" cy="3960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63394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7237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72375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10740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52"/>
          <p:cNvSpPr/>
          <p:nvPr/>
        </p:nvSpPr>
        <p:spPr>
          <a:xfrm>
            <a:off x="787125" y="17950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Проблема масштабирования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2372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Общие слова о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</a:t>
            </a:r>
          </a:p>
        </p:txBody>
      </p:sp>
      <p:sp>
        <p:nvSpPr>
          <p:cNvPr id="270" name="Google Shape;270;p52"/>
          <p:cNvSpPr/>
          <p:nvPr/>
        </p:nvSpPr>
        <p:spPr>
          <a:xfrm>
            <a:off x="786525" y="294906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</a:p>
        </p:txBody>
      </p:sp>
      <p:sp>
        <p:nvSpPr>
          <p:cNvPr id="271" name="Google Shape;271;p52"/>
          <p:cNvSpPr/>
          <p:nvPr/>
        </p:nvSpPr>
        <p:spPr>
          <a:xfrm>
            <a:off x="786525" y="352610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Использование </a:t>
            </a: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SparkML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" name="Google Shape;273;p52"/>
          <p:cNvCxnSpPr>
            <a:stCxn id="267" idx="1"/>
            <a:endCxn id="268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4" name="Google Shape;274;p52"/>
          <p:cNvCxnSpPr>
            <a:stCxn id="268" idx="1"/>
            <a:endCxn id="269" idx="1"/>
          </p:cNvCxnSpPr>
          <p:nvPr/>
        </p:nvCxnSpPr>
        <p:spPr>
          <a:xfrm>
            <a:off x="787125" y="1983127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flipH="1">
            <a:off x="786525" y="2560142"/>
            <a:ext cx="600" cy="576900"/>
          </a:xfrm>
          <a:prstGeom prst="curvedConnector3">
            <a:avLst>
              <a:gd name="adj1" fmla="val 397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stCxn id="270" idx="1"/>
            <a:endCxn id="271" idx="1"/>
          </p:cNvCxnSpPr>
          <p:nvPr/>
        </p:nvCxnSpPr>
        <p:spPr>
          <a:xfrm>
            <a:off x="786525" y="3137164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4" name="Google Shape;271;p52">
            <a:extLst>
              <a:ext uri="{FF2B5EF4-FFF2-40B4-BE49-F238E27FC236}">
                <a16:creationId xmlns:a16="http://schemas.microsoft.com/office/drawing/2014/main" id="{03AE55B2-BCF2-4443-9F2B-0F282BF00732}"/>
              </a:ext>
            </a:extLst>
          </p:cNvPr>
          <p:cNvSpPr/>
          <p:nvPr/>
        </p:nvSpPr>
        <p:spPr>
          <a:xfrm>
            <a:off x="786525" y="4103135"/>
            <a:ext cx="3384900" cy="57689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Когда использовать/не использовать </a:t>
            </a: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SparkML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76;p52">
            <a:extLst>
              <a:ext uri="{FF2B5EF4-FFF2-40B4-BE49-F238E27FC236}">
                <a16:creationId xmlns:a16="http://schemas.microsoft.com/office/drawing/2014/main" id="{DA4704EA-4F3E-FD4F-832E-5DB8F19516B7}"/>
              </a:ext>
            </a:extLst>
          </p:cNvPr>
          <p:cNvCxnSpPr/>
          <p:nvPr/>
        </p:nvCxnSpPr>
        <p:spPr>
          <a:xfrm>
            <a:off x="762378" y="3714336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6" name="Google Shape;267;p52">
            <a:extLst>
              <a:ext uri="{FF2B5EF4-FFF2-40B4-BE49-F238E27FC236}">
                <a16:creationId xmlns:a16="http://schemas.microsoft.com/office/drawing/2014/main" id="{C2D00F81-ADBE-4845-A852-CED04D7CA20D}"/>
              </a:ext>
            </a:extLst>
          </p:cNvPr>
          <p:cNvSpPr/>
          <p:nvPr/>
        </p:nvSpPr>
        <p:spPr>
          <a:xfrm>
            <a:off x="4971977" y="2383650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Hadoop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67;p52">
            <a:extLst>
              <a:ext uri="{FF2B5EF4-FFF2-40B4-BE49-F238E27FC236}">
                <a16:creationId xmlns:a16="http://schemas.microsoft.com/office/drawing/2014/main" id="{40DB3885-EA73-C247-A9E2-A4BB8FCB5E1F}"/>
              </a:ext>
            </a:extLst>
          </p:cNvPr>
          <p:cNvSpPr/>
          <p:nvPr/>
        </p:nvSpPr>
        <p:spPr>
          <a:xfrm>
            <a:off x="4971977" y="2949064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 –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установка и развертывание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267;p52">
            <a:extLst>
              <a:ext uri="{FF2B5EF4-FFF2-40B4-BE49-F238E27FC236}">
                <a16:creationId xmlns:a16="http://schemas.microsoft.com/office/drawing/2014/main" id="{1604A5F0-5F01-464A-9689-C15D16FFFEF9}"/>
              </a:ext>
            </a:extLst>
          </p:cNvPr>
          <p:cNvSpPr/>
          <p:nvPr/>
        </p:nvSpPr>
        <p:spPr>
          <a:xfrm>
            <a:off x="4971977" y="3514478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Использование других фреймворков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3994886179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Ориентироваться в основных командах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SparkML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Выполнить несложный анализ на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SparkML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747947045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Работать в команде с большими массивами данных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Перенос моделей в  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Фреймворки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4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F741A-6E1E-D141-B792-11CB31BD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MapReduce </a:t>
            </a:r>
            <a:r>
              <a:rPr lang="ru-RU" dirty="0"/>
              <a:t>пример: </a:t>
            </a:r>
            <a:r>
              <a:rPr lang="en-US" dirty="0" err="1"/>
              <a:t>WordCount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537DC-87F7-5947-97FD-7357D1C2E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18" y="933450"/>
            <a:ext cx="8800363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21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Фреймворки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3A304-EFF9-C443-82B1-DEC28AFFC567}"/>
              </a:ext>
            </a:extLst>
          </p:cNvPr>
          <p:cNvSpPr txBox="1"/>
          <p:nvPr/>
        </p:nvSpPr>
        <p:spPr>
          <a:xfrm>
            <a:off x="500550" y="1053842"/>
            <a:ext cx="6191118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400" dirty="0"/>
              <a:t>Apache Mahout - </a:t>
            </a:r>
            <a:r>
              <a:rPr lang="en-GB" sz="2400" dirty="0">
                <a:hlinkClick r:id="rId3"/>
              </a:rPr>
              <a:t>https://mahout.apache.org</a:t>
            </a:r>
            <a:endParaRPr lang="ru-RU" sz="2400" dirty="0"/>
          </a:p>
          <a:p>
            <a:pPr>
              <a:spcAft>
                <a:spcPts val="1200"/>
              </a:spcAft>
            </a:pPr>
            <a:r>
              <a:rPr lang="ru-RU" dirty="0"/>
              <a:t>(</a:t>
            </a:r>
            <a:r>
              <a:rPr lang="en-US" dirty="0"/>
              <a:t>linear algebra and Scala DSL)</a:t>
            </a:r>
            <a:r>
              <a:rPr lang="en-GB" dirty="0"/>
              <a:t> </a:t>
            </a:r>
          </a:p>
          <a:p>
            <a:r>
              <a:rPr lang="en-GB" sz="2400" dirty="0"/>
              <a:t>Apache Spark - </a:t>
            </a:r>
            <a:r>
              <a:rPr lang="en-GB" sz="2400" dirty="0">
                <a:hlinkClick r:id="rId4"/>
              </a:rPr>
              <a:t>https://spark.apache.org</a:t>
            </a:r>
            <a:endParaRPr lang="ru-RU" sz="2400" dirty="0"/>
          </a:p>
          <a:p>
            <a:pPr>
              <a:spcAft>
                <a:spcPts val="1200"/>
              </a:spcAft>
            </a:pPr>
            <a:r>
              <a:rPr lang="ru-RU" dirty="0"/>
              <a:t>(пакетная обработка)</a:t>
            </a:r>
            <a:r>
              <a:rPr lang="en-GB" dirty="0"/>
              <a:t> </a:t>
            </a:r>
          </a:p>
          <a:p>
            <a:r>
              <a:rPr lang="en-GB" sz="2400" dirty="0"/>
              <a:t>Apache </a:t>
            </a:r>
            <a:r>
              <a:rPr lang="en-GB" sz="2400" dirty="0" err="1"/>
              <a:t>Flink</a:t>
            </a:r>
            <a:r>
              <a:rPr lang="en-GB" sz="2400" dirty="0"/>
              <a:t> - </a:t>
            </a:r>
            <a:r>
              <a:rPr lang="en-GB" sz="2400" dirty="0">
                <a:hlinkClick r:id="rId5"/>
              </a:rPr>
              <a:t>https ://flink.apache.org</a:t>
            </a:r>
            <a:r>
              <a:rPr lang="en-GB" sz="2400" dirty="0"/>
              <a:t> </a:t>
            </a:r>
          </a:p>
          <a:p>
            <a:pPr>
              <a:spcAft>
                <a:spcPts val="1200"/>
              </a:spcAft>
            </a:pPr>
            <a:r>
              <a:rPr lang="en-GB" dirty="0"/>
              <a:t>(</a:t>
            </a:r>
            <a:r>
              <a:rPr lang="ru-RU" dirty="0"/>
              <a:t>потоковая обработка)</a:t>
            </a:r>
            <a:endParaRPr lang="en-GB" dirty="0"/>
          </a:p>
          <a:p>
            <a:r>
              <a:rPr lang="en-GB" sz="2400" dirty="0"/>
              <a:t>Apache </a:t>
            </a:r>
            <a:r>
              <a:rPr lang="en-GB" sz="2400" dirty="0" err="1"/>
              <a:t>Madlib</a:t>
            </a:r>
            <a:r>
              <a:rPr lang="en-GB" sz="2400" dirty="0"/>
              <a:t> - </a:t>
            </a:r>
            <a:r>
              <a:rPr lang="en-GB" sz="2400" dirty="0">
                <a:hlinkClick r:id="rId6"/>
              </a:rPr>
              <a:t>https://madlib.apache.org</a:t>
            </a:r>
            <a:endParaRPr lang="ru-RU" sz="2400" dirty="0"/>
          </a:p>
          <a:p>
            <a:pPr>
              <a:spcAft>
                <a:spcPts val="1200"/>
              </a:spcAft>
            </a:pPr>
            <a:r>
              <a:rPr lang="ru-RU" dirty="0"/>
              <a:t>(работа поверх </a:t>
            </a:r>
            <a:r>
              <a:rPr lang="en-GB" dirty="0"/>
              <a:t>SQL) </a:t>
            </a:r>
          </a:p>
          <a:p>
            <a:r>
              <a:rPr lang="en-GB" sz="2400" dirty="0"/>
              <a:t>H2O - </a:t>
            </a:r>
            <a:r>
              <a:rPr lang="en-GB" sz="2400" dirty="0">
                <a:hlinkClick r:id="rId7"/>
              </a:rPr>
              <a:t>https://h2o.ai</a:t>
            </a:r>
            <a:r>
              <a:rPr lang="en-GB" sz="2400" dirty="0"/>
              <a:t> </a:t>
            </a:r>
          </a:p>
          <a:p>
            <a:pPr>
              <a:spcAft>
                <a:spcPts val="1200"/>
              </a:spcAft>
            </a:pPr>
            <a:r>
              <a:rPr lang="en-GB" dirty="0"/>
              <a:t>(</a:t>
            </a:r>
            <a:r>
              <a:rPr lang="ru-RU" dirty="0"/>
              <a:t>семейство фреймворков, </a:t>
            </a:r>
            <a:r>
              <a:rPr lang="en-GB" dirty="0"/>
              <a:t>OTUS ML Advanced)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 err="1"/>
              <a:t>SparkML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657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Что есть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Spark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59AF54-A370-5048-BA1F-791838DF1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49" y="1426624"/>
            <a:ext cx="6116185" cy="303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84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Работа со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 Spark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0EE49-C521-D34E-9204-5F57F8758D91}"/>
              </a:ext>
            </a:extLst>
          </p:cNvPr>
          <p:cNvSpPr txBox="1"/>
          <p:nvPr/>
        </p:nvSpPr>
        <p:spPr>
          <a:xfrm>
            <a:off x="212291" y="1063898"/>
            <a:ext cx="8731873" cy="3884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</a:t>
            </a:r>
            <a:r>
              <a:rPr lang="en-US" sz="1800" dirty="0" err="1"/>
              <a:t>PySpark</a:t>
            </a:r>
            <a:r>
              <a:rPr lang="en-US" sz="1800" dirty="0"/>
              <a:t> –</a:t>
            </a:r>
            <a:r>
              <a:rPr lang="ru-RU" sz="1800" dirty="0"/>
              <a:t> </a:t>
            </a:r>
            <a:r>
              <a:rPr lang="en-US" sz="1800" dirty="0">
                <a:hlinkClick r:id="rId3"/>
              </a:rPr>
              <a:t>https://spark.apache.org/docs/latest/api/python/index.html</a:t>
            </a:r>
            <a:r>
              <a:rPr lang="ru-RU" sz="1800" dirty="0"/>
              <a:t>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Apache </a:t>
            </a:r>
            <a:r>
              <a:rPr lang="en-US" sz="1800" dirty="0" err="1"/>
              <a:t>Zepellin</a:t>
            </a:r>
            <a:r>
              <a:rPr lang="en-US" sz="1800" dirty="0"/>
              <a:t> </a:t>
            </a:r>
            <a:r>
              <a:rPr lang="en-US" sz="1800" dirty="0">
                <a:hlinkClick r:id="rId4"/>
              </a:rPr>
              <a:t>http://zeppelin.apache.org/</a:t>
            </a:r>
            <a:r>
              <a:rPr lang="en-US" sz="1800" dirty="0"/>
              <a:t> </a:t>
            </a:r>
            <a:endParaRPr lang="ru-RU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JB Big Data </a:t>
            </a:r>
            <a:r>
              <a:rPr lang="en-US" sz="1800" dirty="0">
                <a:hlinkClick r:id="rId5"/>
              </a:rPr>
              <a:t>https://plugins.jetbrains.com/plugin/12494-big-data-tools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 	Jupyter </a:t>
            </a:r>
            <a:r>
              <a:rPr lang="en-US" sz="1800" dirty="0">
                <a:hlinkClick r:id="rId6"/>
              </a:rPr>
              <a:t>https://jupyter.org/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JB </a:t>
            </a:r>
            <a:r>
              <a:rPr lang="en-US" sz="1800" dirty="0" err="1"/>
              <a:t>DataSpell</a:t>
            </a:r>
            <a:r>
              <a:rPr lang="en-US" sz="1800" dirty="0"/>
              <a:t> </a:t>
            </a:r>
            <a:r>
              <a:rPr lang="en-US" sz="1800" dirty="0">
                <a:hlinkClick r:id="rId7"/>
              </a:rPr>
              <a:t>https://www.jetbrains.com/ru-ru/dataspell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  	Almond </a:t>
            </a:r>
            <a:r>
              <a:rPr lang="en-US" sz="1800" dirty="0">
                <a:hlinkClick r:id="rId8"/>
              </a:rPr>
              <a:t>https://almond.sh/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  	</a:t>
            </a:r>
            <a:r>
              <a:rPr lang="en-US" sz="1800" dirty="0" err="1"/>
              <a:t>DataBricks</a:t>
            </a:r>
            <a:r>
              <a:rPr lang="en-US" sz="1800" dirty="0"/>
              <a:t> </a:t>
            </a:r>
            <a:r>
              <a:rPr lang="en-US" sz="1800" dirty="0">
                <a:hlinkClick r:id="rId9"/>
              </a:rPr>
              <a:t>https://community.cloud.databricks.com/</a:t>
            </a:r>
            <a:r>
              <a:rPr lang="en-US" sz="1800" dirty="0"/>
              <a:t> </a:t>
            </a:r>
            <a:endParaRPr lang="en-RU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A2B35F-8362-784B-822F-70721D53D0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550" y="4508061"/>
            <a:ext cx="831850" cy="436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31E05F-FE3D-EF4F-ACB5-095150811A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618" y="3962064"/>
            <a:ext cx="450850" cy="5425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8D6FD4-3056-2144-B833-ACCD0B7650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050" y="3465199"/>
            <a:ext cx="450850" cy="450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0B2B2F-537E-8E48-8992-0C156278AB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1050" y="2795345"/>
            <a:ext cx="468387" cy="5425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D94697-D13C-714F-AFED-33C1107DAC0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1050" y="2299314"/>
            <a:ext cx="450850" cy="450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8A1857-6BB6-5245-9146-ECACEFAEA50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8304" y="1793211"/>
            <a:ext cx="601133" cy="450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82D046E-FD05-AD40-B296-AC2D4FD2BF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721" y="1237827"/>
            <a:ext cx="708297" cy="38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37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1AC5DF-9059-3949-BE11-C9B97F75C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464" y="1231834"/>
            <a:ext cx="6449245" cy="31206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70EE49-C521-D34E-9204-5F57F8758D91}"/>
              </a:ext>
            </a:extLst>
          </p:cNvPr>
          <p:cNvSpPr txBox="1"/>
          <p:nvPr/>
        </p:nvSpPr>
        <p:spPr>
          <a:xfrm>
            <a:off x="212291" y="1063898"/>
            <a:ext cx="3151825" cy="1287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Ввод данных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Манипуляция с данными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Вывод результата</a:t>
            </a:r>
            <a:endParaRPr lang="en-RU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E6E16-E0F5-864C-A38B-61CDEB14690C}"/>
              </a:ext>
            </a:extLst>
          </p:cNvPr>
          <p:cNvSpPr txBox="1"/>
          <p:nvPr/>
        </p:nvSpPr>
        <p:spPr>
          <a:xfrm>
            <a:off x="212291" y="3542334"/>
            <a:ext cx="29430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каждом шаге создается новый </a:t>
            </a:r>
            <a:r>
              <a:rPr lang="en-US" dirty="0"/>
              <a:t>dataset </a:t>
            </a:r>
            <a:r>
              <a:rPr lang="ru-RU" dirty="0"/>
              <a:t>с результатами операции</a:t>
            </a:r>
            <a:endParaRPr lang="en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D05586-E476-5B40-AC62-1F90B92642E9}"/>
              </a:ext>
            </a:extLst>
          </p:cNvPr>
          <p:cNvSpPr txBox="1"/>
          <p:nvPr/>
        </p:nvSpPr>
        <p:spPr>
          <a:xfrm>
            <a:off x="3320194" y="879232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dirty="0">
                <a:effectLst/>
                <a:latin typeface="LiberationSans"/>
              </a:rPr>
              <a:t>Pandas API </a:t>
            </a:r>
            <a:r>
              <a:rPr lang="en-GB" sz="1800" dirty="0">
                <a:effectLst/>
                <a:latin typeface="LiberationSans"/>
              </a:rPr>
              <a:t>— </a:t>
            </a:r>
            <a:r>
              <a:rPr lang="ru-RU" sz="1800" dirty="0" err="1">
                <a:effectLst/>
                <a:latin typeface="LiberationSans"/>
              </a:rPr>
              <a:t>новыи</a:t>
            </a:r>
            <a:r>
              <a:rPr lang="ru-RU" sz="1800" dirty="0">
                <a:effectLst/>
                <a:latin typeface="LiberationSans"/>
              </a:rPr>
              <a:t>̆ (с 3.2.0) </a:t>
            </a:r>
            <a:r>
              <a:rPr lang="en-GB" sz="1800" dirty="0">
                <a:effectLst/>
                <a:latin typeface="LiberationSans"/>
              </a:rPr>
              <a:t>API </a:t>
            </a:r>
            <a:r>
              <a:rPr lang="ru-RU" sz="1800" dirty="0">
                <a:effectLst/>
                <a:latin typeface="LiberationSans"/>
              </a:rPr>
              <a:t>для </a:t>
            </a:r>
            <a:r>
              <a:rPr lang="en-GB" sz="1800" dirty="0" err="1">
                <a:effectLst/>
                <a:latin typeface="LiberationSans"/>
              </a:rPr>
              <a:t>PySpark</a:t>
            </a:r>
            <a:r>
              <a:rPr lang="en-GB" sz="1800" dirty="0">
                <a:effectLst/>
                <a:latin typeface="LiberationSans"/>
              </a:rPr>
              <a:t> </a:t>
            </a:r>
            <a:endParaRPr lang="en-GB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37E29D-E75C-7546-9FC2-340D7FEDF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3" y="37940"/>
            <a:ext cx="2840884" cy="11671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564CBF-2F30-3F4A-B554-949B92CFF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534" y="194030"/>
            <a:ext cx="1393529" cy="857556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4214813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56A6AC-EA8A-654E-A54A-5494EB50B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3" y="37940"/>
            <a:ext cx="2840884" cy="11671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2CCEDA-9269-5C45-B8C7-3D6CC4027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87" y="988086"/>
            <a:ext cx="1505579" cy="39560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D6F991-BF5E-F44C-B791-111746DE4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535" y="1909433"/>
            <a:ext cx="5808147" cy="28030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67FD24-B310-7843-9F60-D997C13C337F}"/>
              </a:ext>
            </a:extLst>
          </p:cNvPr>
          <p:cNvSpPr txBox="1"/>
          <p:nvPr/>
        </p:nvSpPr>
        <p:spPr>
          <a:xfrm>
            <a:off x="3191317" y="1205070"/>
            <a:ext cx="3627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err="1">
                <a:effectLst/>
                <a:latin typeface="LiberationSans"/>
              </a:rPr>
              <a:t>spark.ml</a:t>
            </a:r>
            <a:r>
              <a:rPr lang="en-GB" sz="2000" dirty="0">
                <a:effectLst/>
                <a:latin typeface="LiberationSans"/>
              </a:rPr>
              <a:t> – </a:t>
            </a:r>
            <a:r>
              <a:rPr lang="en-GB" sz="2000" dirty="0" err="1">
                <a:effectLst/>
                <a:latin typeface="LiberationSans"/>
              </a:rPr>
              <a:t>DataFrame</a:t>
            </a:r>
            <a:r>
              <a:rPr lang="en-GB" sz="2000" dirty="0">
                <a:effectLst/>
                <a:latin typeface="LiberationSans"/>
              </a:rPr>
              <a:t>-based API </a:t>
            </a:r>
            <a:endParaRPr lang="en-GB" sz="1600" dirty="0">
              <a:effectLst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3F7BE6-9492-DA45-9FB2-E866A9384E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4534" y="194030"/>
            <a:ext cx="1393529" cy="857556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018987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Этапы </a:t>
            </a:r>
            <a:r>
              <a:rPr lang="en-US" dirty="0"/>
              <a:t>ML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7558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Этапы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ML - </a:t>
            </a:r>
            <a:r>
              <a:rPr lang="en-GB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CRISP-DM</a:t>
            </a:r>
            <a:r>
              <a:rPr lang="en-GB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01958F-D483-7F48-B8BC-C18F2D32AD0C}"/>
              </a:ext>
            </a:extLst>
          </p:cNvPr>
          <p:cNvSpPr txBox="1"/>
          <p:nvPr/>
        </p:nvSpPr>
        <p:spPr>
          <a:xfrm>
            <a:off x="418834" y="1183106"/>
            <a:ext cx="4144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1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Cross-Industry Standard Process for Data Mining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3A2A3-BE84-6D43-87FF-2058E1A18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466" y="1029457"/>
            <a:ext cx="4104798" cy="41140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72CB2A-AA45-E74D-AA9D-D85A170BA570}"/>
              </a:ext>
            </a:extLst>
          </p:cNvPr>
          <p:cNvSpPr txBox="1"/>
          <p:nvPr/>
        </p:nvSpPr>
        <p:spPr>
          <a:xfrm>
            <a:off x="491467" y="1735010"/>
            <a:ext cx="399775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u="sng" dirty="0"/>
              <a:t>Data Preparation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Extraction</a:t>
            </a:r>
            <a:r>
              <a:rPr lang="en-GB" dirty="0"/>
              <a:t>: </a:t>
            </a:r>
            <a:r>
              <a:rPr lang="ru-RU" dirty="0"/>
              <a:t>извлечение объектов из "необработанных" данных </a:t>
            </a:r>
            <a:endParaRPr 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Transformation</a:t>
            </a:r>
            <a:r>
              <a:rPr lang="en-GB" dirty="0"/>
              <a:t>: </a:t>
            </a:r>
            <a:r>
              <a:rPr lang="ru-RU" dirty="0"/>
              <a:t>масштабирование, преобразование или</a:t>
            </a:r>
            <a:r>
              <a:rPr lang="en-US" dirty="0"/>
              <a:t> </a:t>
            </a:r>
            <a:r>
              <a:rPr lang="ru-RU" dirty="0"/>
              <a:t>изменение объектов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Selection</a:t>
            </a:r>
            <a:r>
              <a:rPr lang="en-GB" dirty="0"/>
              <a:t>: </a:t>
            </a:r>
            <a:r>
              <a:rPr lang="ru-RU" dirty="0"/>
              <a:t>выбор подмножества из большего набора объектов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Locality Sensitive Hashing (LSH): </a:t>
            </a:r>
            <a:r>
              <a:rPr lang="ru-RU" dirty="0"/>
              <a:t>этот класс алгоритмов сочетает в себе аспекты преобразования признаков с другими алгоритмами</a:t>
            </a:r>
          </a:p>
        </p:txBody>
      </p:sp>
    </p:spTree>
    <p:extLst>
      <p:ext uri="{BB962C8B-B14F-4D97-AF65-F5344CB8AC3E}">
        <p14:creationId xmlns:p14="http://schemas.microsoft.com/office/powerpoint/2010/main" val="715915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Этапы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ML - </a:t>
            </a:r>
            <a:r>
              <a:rPr lang="en-GB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CRISP-DM</a:t>
            </a:r>
            <a:r>
              <a:rPr lang="en-GB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01958F-D483-7F48-B8BC-C18F2D32AD0C}"/>
              </a:ext>
            </a:extLst>
          </p:cNvPr>
          <p:cNvSpPr txBox="1"/>
          <p:nvPr/>
        </p:nvSpPr>
        <p:spPr>
          <a:xfrm>
            <a:off x="418834" y="1183106"/>
            <a:ext cx="4144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1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Cross-Industry Standard Process for Data Mining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3A2A3-BE84-6D43-87FF-2058E1A18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466" y="1029457"/>
            <a:ext cx="4104798" cy="41140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72CB2A-AA45-E74D-AA9D-D85A170BA570}"/>
              </a:ext>
            </a:extLst>
          </p:cNvPr>
          <p:cNvSpPr txBox="1"/>
          <p:nvPr/>
        </p:nvSpPr>
        <p:spPr>
          <a:xfrm>
            <a:off x="491467" y="1735010"/>
            <a:ext cx="399775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u="sng" dirty="0"/>
              <a:t>Modeling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Classification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Regression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Clustering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Collaborative Filtering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Frequent Pattern Mining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12868-B19B-574C-AE66-11BF8A93C110}"/>
              </a:ext>
            </a:extLst>
          </p:cNvPr>
          <p:cNvSpPr txBox="1"/>
          <p:nvPr/>
        </p:nvSpPr>
        <p:spPr>
          <a:xfrm>
            <a:off x="1945707" y="4318555"/>
            <a:ext cx="2342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https://spark-packages.org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1E37F8-2E09-564A-8D03-E5E38A78A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608" y="4264910"/>
            <a:ext cx="1352550" cy="4150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5515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Этапы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ML - </a:t>
            </a:r>
            <a:r>
              <a:rPr lang="en-GB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CRISP-DM</a:t>
            </a:r>
            <a:r>
              <a:rPr lang="en-GB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01958F-D483-7F48-B8BC-C18F2D32AD0C}"/>
              </a:ext>
            </a:extLst>
          </p:cNvPr>
          <p:cNvSpPr txBox="1"/>
          <p:nvPr/>
        </p:nvSpPr>
        <p:spPr>
          <a:xfrm>
            <a:off x="418834" y="1183106"/>
            <a:ext cx="4144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1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Cross-Industry Standard Process for Data Mining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3A2A3-BE84-6D43-87FF-2058E1A18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466" y="1029457"/>
            <a:ext cx="4104798" cy="41140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72CB2A-AA45-E74D-AA9D-D85A170BA570}"/>
              </a:ext>
            </a:extLst>
          </p:cNvPr>
          <p:cNvSpPr txBox="1"/>
          <p:nvPr/>
        </p:nvSpPr>
        <p:spPr>
          <a:xfrm>
            <a:off x="491467" y="1735010"/>
            <a:ext cx="399775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u="sng" dirty="0"/>
              <a:t>Evaluation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Binary Classification Evaluator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Clustering Evaluator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Multiclass Classification Evaluator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Multilabel Classification Evaluator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Ranking Evaluator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Regression Evaluator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1604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Tuning hyperparameter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2F4C90-7ABC-9940-B7E3-F20CF69CA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896" y="995099"/>
            <a:ext cx="4175348" cy="387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73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Когда использовать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E854AC-607E-5442-8DD3-96867BE05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326" y="1469298"/>
            <a:ext cx="2495348" cy="3343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EDB5EA-AAA2-B841-AC09-1BD1F8B9009B}"/>
              </a:ext>
            </a:extLst>
          </p:cNvPr>
          <p:cNvSpPr txBox="1"/>
          <p:nvPr/>
        </p:nvSpPr>
        <p:spPr>
          <a:xfrm>
            <a:off x="121013" y="1971585"/>
            <a:ext cx="30251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/>
              <a:t>Использовать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Большой набор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1800" dirty="0"/>
              <a:t>Hadoop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1800" dirty="0"/>
              <a:t>Production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36BA2A-39B8-B546-B17E-E846EC77A2DC}"/>
              </a:ext>
            </a:extLst>
          </p:cNvPr>
          <p:cNvSpPr txBox="1"/>
          <p:nvPr/>
        </p:nvSpPr>
        <p:spPr>
          <a:xfrm>
            <a:off x="5753328" y="1971585"/>
            <a:ext cx="33906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/>
              <a:t>Не использовать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Небольшой набор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Исследовательский проект</a:t>
            </a:r>
            <a:endParaRPr lang="en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Красивый отчет</a:t>
            </a:r>
            <a:endParaRPr lang="en-RU" sz="1800" dirty="0"/>
          </a:p>
        </p:txBody>
      </p:sp>
    </p:spTree>
    <p:extLst>
      <p:ext uri="{BB962C8B-B14F-4D97-AF65-F5344CB8AC3E}">
        <p14:creationId xmlns:p14="http://schemas.microsoft.com/office/powerpoint/2010/main" val="1154582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1411223588"/>
              </p:ext>
            </p:extLst>
          </p:nvPr>
        </p:nvGraphicFramePr>
        <p:xfrm>
          <a:off x="952500" y="137274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Построить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EDA c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использованием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SparkML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Построить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pipeline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переноса модели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888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2"/>
            <a:ext cx="7742400" cy="3678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3"/>
              </a:rPr>
              <a:t>Apache Mahout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4"/>
              </a:rPr>
              <a:t>Apache Spark</a:t>
            </a:r>
            <a:endParaRPr lang="ru-RU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5"/>
              </a:rPr>
              <a:t>Apache Flink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6"/>
              </a:rPr>
              <a:t>Apache </a:t>
            </a:r>
            <a:r>
              <a:rPr lang="en-GB" sz="1300" dirty="0" err="1">
                <a:hlinkClick r:id="rId6"/>
              </a:rPr>
              <a:t>Madlib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7"/>
              </a:rPr>
              <a:t>H2O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8"/>
              </a:rPr>
              <a:t>Apache Zepellin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9"/>
              </a:rPr>
              <a:t>JetBrains Big Tool Data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0"/>
              </a:rPr>
              <a:t>Jupyter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1"/>
              </a:rPr>
              <a:t>JetBrains </a:t>
            </a:r>
            <a:r>
              <a:rPr lang="en-GB" sz="1300" dirty="0" err="1">
                <a:hlinkClick r:id="rId11"/>
              </a:rPr>
              <a:t>DataSpell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2"/>
              </a:rPr>
              <a:t>Almond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3"/>
              </a:rPr>
              <a:t>DataBricks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/>
              <a:t>Spark packages: </a:t>
            </a:r>
            <a:r>
              <a:rPr lang="en-GB" sz="1300" dirty="0">
                <a:hlinkClick r:id="rId14"/>
              </a:rPr>
              <a:t>https://spark-packages.org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 err="1"/>
              <a:t>Mllib</a:t>
            </a:r>
            <a:r>
              <a:rPr lang="en-GB" sz="1300" dirty="0"/>
              <a:t> main guide: </a:t>
            </a:r>
            <a:r>
              <a:rPr lang="en-GB" sz="1300" dirty="0">
                <a:hlinkClick r:id="rId15"/>
              </a:rPr>
              <a:t>https://spark.apache.org/docs/latest/ml-guide.html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 err="1"/>
              <a:t>Mllib</a:t>
            </a:r>
            <a:r>
              <a:rPr lang="en-GB" sz="1300" dirty="0"/>
              <a:t> </a:t>
            </a:r>
            <a:r>
              <a:rPr lang="en-GB" sz="1300" dirty="0" err="1"/>
              <a:t>DataFrame</a:t>
            </a:r>
            <a:r>
              <a:rPr lang="en-GB" sz="1300" dirty="0"/>
              <a:t>-based: </a:t>
            </a:r>
            <a:r>
              <a:rPr lang="en-GB" sz="1300" dirty="0">
                <a:hlinkClick r:id="rId16"/>
              </a:rPr>
              <a:t>https://spark.apache.org/docs/latest/api/python/reference/pyspark.ml.html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 err="1"/>
              <a:t>MLFlow</a:t>
            </a:r>
            <a:r>
              <a:rPr lang="en-GB" sz="1300" dirty="0"/>
              <a:t> spark: </a:t>
            </a:r>
            <a:r>
              <a:rPr lang="en-GB" sz="1300" dirty="0">
                <a:hlinkClick r:id="rId17"/>
              </a:rPr>
              <a:t>https://mlflow.org/docs/latest/python_api/mlflow.spark.html</a:t>
            </a:r>
            <a:r>
              <a:rPr lang="en-GB" sz="1300" dirty="0"/>
              <a:t>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3275754538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Познакомимся с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SparkML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Посмотрим на использование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SparkML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089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  <p:pic>
        <p:nvPicPr>
          <p:cNvPr id="451" name="Google Shape;451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77"/>
          <p:cNvSpPr txBox="1"/>
          <p:nvPr/>
        </p:nvSpPr>
        <p:spPr>
          <a:xfrm>
            <a:off x="1700240" y="2226352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77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4" name="Google Shape;454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0"/>
          <p:cNvSpPr txBox="1">
            <a:spLocks noGrp="1"/>
          </p:cNvSpPr>
          <p:nvPr>
            <p:ph type="subTitle" idx="2"/>
          </p:nvPr>
        </p:nvSpPr>
        <p:spPr>
          <a:xfrm>
            <a:off x="3082400" y="2114411"/>
            <a:ext cx="3864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Подбор гиперпараметров и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AutoML</a:t>
            </a:r>
            <a:endParaRPr lang="ru-RU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DD7809-CAE8-3C41-8FAB-D4990883A4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41370" y="2879439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Google Shape;209;p48">
            <a:extLst>
              <a:ext uri="{FF2B5EF4-FFF2-40B4-BE49-F238E27FC236}">
                <a16:creationId xmlns:a16="http://schemas.microsoft.com/office/drawing/2014/main" id="{78BBD42E-045C-1E43-B5D6-646E0ABDDF96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11060</TotalTime>
  <Words>876</Words>
  <Application>Microsoft Macintosh PowerPoint</Application>
  <PresentationFormat>On-screen Show (16:9)</PresentationFormat>
  <Paragraphs>207</Paragraphs>
  <Slides>31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Courier New</vt:lpstr>
      <vt:lpstr>Helvetica Neue</vt:lpstr>
      <vt:lpstr>LiberationSans</vt:lpstr>
      <vt:lpstr>Roboto</vt:lpstr>
      <vt:lpstr>Georgia</vt:lpstr>
      <vt:lpstr>Trebuchet MS</vt:lpstr>
      <vt:lpstr>Calibri</vt:lpstr>
      <vt:lpstr>Arial</vt:lpstr>
      <vt:lpstr>Светлая тема</vt:lpstr>
      <vt:lpstr>Светлая тема</vt:lpstr>
      <vt:lpstr>ML Ops SparkML</vt:lpstr>
      <vt:lpstr>Проверить, идет ли запись</vt:lpstr>
      <vt:lpstr>Правила вебинара</vt:lpstr>
      <vt:lpstr>MLOps Курсовой проект</vt:lpstr>
      <vt:lpstr>Карта курса</vt:lpstr>
      <vt:lpstr>Маршрут вебинара</vt:lpstr>
      <vt:lpstr>Цели вебинара</vt:lpstr>
      <vt:lpstr>Смысл</vt:lpstr>
      <vt:lpstr>Фреймворки</vt:lpstr>
      <vt:lpstr>MapReduce пример: WordCount</vt:lpstr>
      <vt:lpstr>Фреймворки</vt:lpstr>
      <vt:lpstr>SparkML</vt:lpstr>
      <vt:lpstr>Что есть Spark</vt:lpstr>
      <vt:lpstr>Работа со Spark</vt:lpstr>
      <vt:lpstr>PowerPoint Presentation</vt:lpstr>
      <vt:lpstr>PowerPoint Presentation</vt:lpstr>
      <vt:lpstr>Этапы ML</vt:lpstr>
      <vt:lpstr>Этапы ML - CRISP-DM </vt:lpstr>
      <vt:lpstr>Этапы ML - CRISP-DM </vt:lpstr>
      <vt:lpstr>Этапы ML - CRISP-DM </vt:lpstr>
      <vt:lpstr>Tuning hyperparameter</vt:lpstr>
      <vt:lpstr>Когда использовать</vt:lpstr>
      <vt:lpstr>Практика</vt:lpstr>
      <vt:lpstr>Практика</vt:lpstr>
      <vt:lpstr>Список материалов для изучения</vt:lpstr>
      <vt:lpstr>Вопросы?</vt:lpstr>
      <vt:lpstr>Рефлексия</vt:lpstr>
      <vt:lpstr>Цели вебинара</vt:lpstr>
      <vt:lpstr>Рефлексия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78</cp:revision>
  <dcterms:modified xsi:type="dcterms:W3CDTF">2025-06-30T09:32:26Z</dcterms:modified>
</cp:coreProperties>
</file>