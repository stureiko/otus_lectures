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40"/>
  </p:notesMasterIdLst>
  <p:sldIdLst>
    <p:sldId id="256" r:id="rId2"/>
    <p:sldId id="257" r:id="rId3"/>
    <p:sldId id="334" r:id="rId4"/>
    <p:sldId id="259" r:id="rId5"/>
    <p:sldId id="260" r:id="rId6"/>
    <p:sldId id="261" r:id="rId7"/>
    <p:sldId id="263" r:id="rId8"/>
    <p:sldId id="280" r:id="rId9"/>
    <p:sldId id="335" r:id="rId10"/>
    <p:sldId id="336" r:id="rId11"/>
    <p:sldId id="337" r:id="rId12"/>
    <p:sldId id="339" r:id="rId13"/>
    <p:sldId id="338" r:id="rId14"/>
    <p:sldId id="341" r:id="rId15"/>
    <p:sldId id="340" r:id="rId16"/>
    <p:sldId id="342" r:id="rId17"/>
    <p:sldId id="343" r:id="rId18"/>
    <p:sldId id="344" r:id="rId19"/>
    <p:sldId id="345" r:id="rId20"/>
    <p:sldId id="346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9" r:id="rId33"/>
    <p:sldId id="360" r:id="rId34"/>
    <p:sldId id="361" r:id="rId35"/>
    <p:sldId id="358" r:id="rId36"/>
    <p:sldId id="314" r:id="rId37"/>
    <p:sldId id="320" r:id="rId38"/>
    <p:sldId id="319" r:id="rId3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CB5BBF-14A1-44A8-AE45-40D0EF8F1E93}">
  <a:tblStyle styleId="{91CB5BBF-14A1-44A8-AE45-40D0EF8F1E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7030"/>
  </p:normalViewPr>
  <p:slideViewPr>
    <p:cSldViewPr snapToGrid="0">
      <p:cViewPr varScale="1">
        <p:scale>
          <a:sx n="165" d="100"/>
          <a:sy n="165" d="100"/>
        </p:scale>
        <p:origin x="872" y="184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d1f9c466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d1f9c466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7364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5838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d1f9c466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d1f9c466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908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20840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8010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2044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3898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7536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648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8402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3156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d1f9c466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d1f9c466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727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4968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06717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72355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d1f9c466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d1f9c466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377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2114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9834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52782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bd1f9c4667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bd1f9c4667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4233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01386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07351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28171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43529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67031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33839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bd1f9c466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bd1f9c4667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7550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f72f1f58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f72f1f58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df6222e6a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df6222e6af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5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525" cy="341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342900" lvl="0" indent="-2667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1500"/>
            </a:lvl1pPr>
            <a:lvl2pPr marL="685800" lvl="1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○"/>
              <a:defRPr sz="1275"/>
            </a:lvl2pPr>
            <a:lvl3pPr marL="1028700" lvl="2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■"/>
              <a:defRPr sz="1275"/>
            </a:lvl3pPr>
            <a:lvl4pPr marL="1371600" lvl="3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 sz="1275"/>
            </a:lvl4pPr>
            <a:lvl5pPr marL="1714500" lvl="4" indent="-252413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275"/>
            </a:lvl5pPr>
            <a:lvl6pPr marL="2057400" lvl="5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■"/>
              <a:defRPr sz="1275"/>
            </a:lvl6pPr>
            <a:lvl7pPr marL="2400300" lvl="6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 sz="1275"/>
            </a:lvl7pPr>
            <a:lvl8pPr marL="2743200" lvl="7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○"/>
              <a:defRPr sz="1275"/>
            </a:lvl8pPr>
            <a:lvl9pPr marL="3086100" lvl="8" indent="-252413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■"/>
              <a:defRPr sz="1275"/>
            </a:lvl9pPr>
          </a:lstStyle>
          <a:p>
            <a:endParaRPr/>
          </a:p>
        </p:txBody>
      </p:sp>
      <p:sp>
        <p:nvSpPr>
          <p:cNvPr id="322" name="Google Shape;32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6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0" r:id="rId9"/>
    <p:sldLayoutId id="2147483661" r:id="rId10"/>
    <p:sldLayoutId id="214748367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/>
              <a:t>П</a:t>
            </a:r>
            <a:r>
              <a:rPr lang="ru-RU" sz="3600" dirty="0" err="1"/>
              <a:t>остроение</a:t>
            </a:r>
            <a:r>
              <a:rPr lang="ru-RU" sz="3600" dirty="0"/>
              <a:t> обратной петли</a:t>
            </a:r>
            <a:r>
              <a:rPr lang="ru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dirty="0"/>
              <a:t>Меня хорошо видно</a:t>
            </a:r>
            <a:endParaRPr sz="4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dirty="0"/>
              <a:t>&amp;&amp; слышно?</a:t>
            </a:r>
            <a:br>
              <a:rPr lang="ru" sz="4000" dirty="0"/>
            </a:br>
            <a:r>
              <a:rPr lang="ru-RU" sz="2000" b="0" dirty="0"/>
              <a:t>С</a:t>
            </a:r>
            <a:r>
              <a:rPr lang="ru" sz="2000" b="0" dirty="0"/>
              <a:t>тавьте «+» если все видно и слышно</a:t>
            </a:r>
            <a:endParaRPr sz="4000" b="0" dirty="0"/>
          </a:p>
        </p:txBody>
      </p:sp>
      <p:pic>
        <p:nvPicPr>
          <p:cNvPr id="141" name="Google Shape;14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ru-RU" sz="2400" dirty="0"/>
              <a:t>Построение обратной петли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33B90E1D-3F43-DA49-B28B-ECCA7B6E41F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indent="0"/>
            <a:r>
              <a:rPr lang="en-US" sz="1200" b="1" kern="0" dirty="0"/>
              <a:t>@</a:t>
            </a:r>
            <a:r>
              <a:rPr lang="en-US" sz="1200" b="1" kern="0" dirty="0" err="1"/>
              <a:t>rl_fintech</a:t>
            </a:r>
            <a:r>
              <a:rPr lang="en-US" sz="1200" b="1" kern="0" dirty="0"/>
              <a:t> </a:t>
            </a:r>
            <a:r>
              <a:rPr lang="en-US" sz="1200" kern="0" dirty="0"/>
              <a:t>(</a:t>
            </a:r>
            <a:r>
              <a:rPr lang="ru-RU" sz="1200" kern="0" dirty="0"/>
              <a:t>Мой канал о моделях в бизнесе)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167999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4" y="207929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</a:t>
            </a:r>
            <a:r>
              <a:rPr lang="ru-RU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астичная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перепроверка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6"/>
          <p:cNvSpPr/>
          <p:nvPr/>
        </p:nvSpPr>
        <p:spPr>
          <a:xfrm>
            <a:off x="792874" y="27649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Пересчет метрик качества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99223" y="3450634"/>
            <a:ext cx="33722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Мониторинг метрик качества</a:t>
            </a:r>
          </a:p>
        </p:txBody>
      </p:sp>
      <p:sp>
        <p:nvSpPr>
          <p:cNvPr id="190" name="Google Shape;190;p36"/>
          <p:cNvSpPr/>
          <p:nvPr/>
        </p:nvSpPr>
        <p:spPr>
          <a:xfrm>
            <a:off x="786524" y="413630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Решения для мониторинг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stCxn id="187" idx="1"/>
            <a:endCxn id="188" idx="1"/>
          </p:cNvCxnSpPr>
          <p:nvPr/>
        </p:nvCxnSpPr>
        <p:spPr>
          <a:xfrm rot="10800000" flipH="1" flipV="1">
            <a:off x="786524" y="2267394"/>
            <a:ext cx="6350" cy="685670"/>
          </a:xfrm>
          <a:prstGeom prst="curvedConnector3">
            <a:avLst>
              <a:gd name="adj1" fmla="val -36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36"/>
          <p:cNvCxnSpPr>
            <a:cxnSpLocks/>
            <a:stCxn id="188" idx="1"/>
            <a:endCxn id="189" idx="1"/>
          </p:cNvCxnSpPr>
          <p:nvPr/>
        </p:nvCxnSpPr>
        <p:spPr>
          <a:xfrm rot="10800000" flipH="1" flipV="1">
            <a:off x="792873" y="2953064"/>
            <a:ext cx="6349" cy="685670"/>
          </a:xfrm>
          <a:prstGeom prst="curvedConnector3">
            <a:avLst>
              <a:gd name="adj1" fmla="val -36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5" y="3638733"/>
            <a:ext cx="12699" cy="685671"/>
          </a:xfrm>
          <a:prstGeom prst="curvedConnector3">
            <a:avLst>
              <a:gd name="adj1" fmla="val 190014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F9DFAF5-F64F-7F4E-9563-F295C0F61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39" y="1393624"/>
            <a:ext cx="3448011" cy="2164361"/>
          </a:xfrm>
          <a:prstGeom prst="rect">
            <a:avLst/>
          </a:prstGeom>
        </p:spPr>
      </p:pic>
      <p:sp>
        <p:nvSpPr>
          <p:cNvPr id="25" name="Google Shape;187;p36">
            <a:extLst>
              <a:ext uri="{FF2B5EF4-FFF2-40B4-BE49-F238E27FC236}">
                <a16:creationId xmlns:a16="http://schemas.microsoft.com/office/drawing/2014/main" id="{ADEBF9D2-1829-4D4D-B88E-CE70BBE634AB}"/>
              </a:ext>
            </a:extLst>
          </p:cNvPr>
          <p:cNvSpPr/>
          <p:nvPr/>
        </p:nvSpPr>
        <p:spPr>
          <a:xfrm>
            <a:off x="799223" y="139362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Причины изменений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" name="Google Shape;193;p36">
            <a:extLst>
              <a:ext uri="{FF2B5EF4-FFF2-40B4-BE49-F238E27FC236}">
                <a16:creationId xmlns:a16="http://schemas.microsoft.com/office/drawing/2014/main" id="{EEC15082-E9B1-CF41-9114-41201DE1C59F}"/>
              </a:ext>
            </a:extLst>
          </p:cNvPr>
          <p:cNvCxnSpPr>
            <a:cxnSpLocks/>
            <a:stCxn id="25" idx="1"/>
            <a:endCxn id="187" idx="1"/>
          </p:cNvCxnSpPr>
          <p:nvPr/>
        </p:nvCxnSpPr>
        <p:spPr>
          <a:xfrm rot="10800000" flipV="1">
            <a:off x="786525" y="1581724"/>
            <a:ext cx="12699" cy="685670"/>
          </a:xfrm>
          <a:prstGeom prst="curvedConnector3">
            <a:avLst>
              <a:gd name="adj1" fmla="val 190014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1500370459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{91CB5BBF-14A1-44A8-AE45-40D0EF8F1E93}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в чем сложность контроля метрик на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проде</a:t>
                      </a:r>
                      <a:endParaRPr lang="ru-RU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Пути контроля метрик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Инструменты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3"/>
          <p:cNvSpPr txBox="1">
            <a:spLocks noGrp="1"/>
          </p:cNvSpPr>
          <p:nvPr>
            <p:ph type="title"/>
          </p:nvPr>
        </p:nvSpPr>
        <p:spPr>
          <a:xfrm>
            <a:off x="502800" y="372038"/>
            <a:ext cx="8343000" cy="4150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4875" dirty="0"/>
              <a:t>Причины отклонений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err="1"/>
              <a:t>Дрифт</a:t>
            </a:r>
            <a:r>
              <a:rPr lang="ru-RU" dirty="0"/>
              <a:t> данных</a:t>
            </a:r>
            <a:endParaRPr dirty="0"/>
          </a:p>
        </p:txBody>
      </p:sp>
      <p:pic>
        <p:nvPicPr>
          <p:cNvPr id="1026" name="Picture 2" descr="An introduction to Model drift in machine learning - UbiOps - AI model  serving, orchestration &amp; training">
            <a:extLst>
              <a:ext uri="{FF2B5EF4-FFF2-40B4-BE49-F238E27FC236}">
                <a16:creationId xmlns:a16="http://schemas.microsoft.com/office/drawing/2014/main" id="{58E02A79-074B-684C-967A-EDB63487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562" y="1114944"/>
            <a:ext cx="6468924" cy="369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Изменение зависимостей</a:t>
            </a:r>
            <a:endParaRPr dirty="0"/>
          </a:p>
        </p:txBody>
      </p:sp>
      <p:pic>
        <p:nvPicPr>
          <p:cNvPr id="3074" name="Picture 2" descr="A survey on machine learning for recurring concept drifting data streams -  ScienceDirect">
            <a:extLst>
              <a:ext uri="{FF2B5EF4-FFF2-40B4-BE49-F238E27FC236}">
                <a16:creationId xmlns:a16="http://schemas.microsoft.com/office/drawing/2014/main" id="{744EF376-641C-944E-B9DA-5A52F9938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13" y="1149213"/>
            <a:ext cx="5686574" cy="366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81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Изменение зависимостей</a:t>
            </a:r>
            <a:endParaRPr dirty="0"/>
          </a:p>
        </p:txBody>
      </p:sp>
      <p:pic>
        <p:nvPicPr>
          <p:cNvPr id="5124" name="Picture 4" descr="Мальчик склеил в клубе модель 1974-2024 (Сергей Горский Москва) / Проза.ру">
            <a:extLst>
              <a:ext uri="{FF2B5EF4-FFF2-40B4-BE49-F238E27FC236}">
                <a16:creationId xmlns:a16="http://schemas.microsoft.com/office/drawing/2014/main" id="{DAB3B04D-3B7B-2844-A799-5ABDA6002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14" y="2117234"/>
            <a:ext cx="3548297" cy="211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DF5924-78FE-134C-8CB6-95BDB9734099}"/>
              </a:ext>
            </a:extLst>
          </p:cNvPr>
          <p:cNvSpPr txBox="1"/>
          <p:nvPr/>
        </p:nvSpPr>
        <p:spPr>
          <a:xfrm>
            <a:off x="699864" y="1618078"/>
            <a:ext cx="2662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Парень клеит модель в клубе</a:t>
            </a:r>
            <a:endParaRPr lang="en-US" dirty="0"/>
          </a:p>
        </p:txBody>
      </p:sp>
      <p:pic>
        <p:nvPicPr>
          <p:cNvPr id="5126" name="Picture 6" descr="Более 88 600 работ на тему «хлопать в ладоши»: стоковые фото, картинки и  изображения royalty-free - iStock">
            <a:extLst>
              <a:ext uri="{FF2B5EF4-FFF2-40B4-BE49-F238E27FC236}">
                <a16:creationId xmlns:a16="http://schemas.microsoft.com/office/drawing/2014/main" id="{42EAF845-297D-F849-B7B8-5D5CB5F5D9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2" r="23589"/>
          <a:stretch/>
        </p:blipFill>
        <p:spPr bwMode="auto">
          <a:xfrm>
            <a:off x="4504494" y="2117234"/>
            <a:ext cx="2227700" cy="211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Скачать картинки Разрушенный дом, стоковые фото Разрушенный дом в хорошем  качестве | Depositphotos">
            <a:extLst>
              <a:ext uri="{FF2B5EF4-FFF2-40B4-BE49-F238E27FC236}">
                <a16:creationId xmlns:a16="http://schemas.microsoft.com/office/drawing/2014/main" id="{6F833B7B-EC96-E948-A6CB-515B3B595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2" r="17778"/>
          <a:stretch/>
        </p:blipFill>
        <p:spPr bwMode="auto">
          <a:xfrm>
            <a:off x="6775151" y="2117234"/>
            <a:ext cx="2141783" cy="211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637FD4-41BC-F247-8D28-A790D49237C9}"/>
              </a:ext>
            </a:extLst>
          </p:cNvPr>
          <p:cNvSpPr txBox="1"/>
          <p:nvPr/>
        </p:nvSpPr>
        <p:spPr>
          <a:xfrm>
            <a:off x="5781230" y="1618077"/>
            <a:ext cx="1762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Произошел хлопок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2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3"/>
          <p:cNvSpPr txBox="1">
            <a:spLocks noGrp="1"/>
          </p:cNvSpPr>
          <p:nvPr>
            <p:ph type="title"/>
          </p:nvPr>
        </p:nvSpPr>
        <p:spPr>
          <a:xfrm>
            <a:off x="502800" y="372038"/>
            <a:ext cx="8343000" cy="4150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4875" dirty="0"/>
              <a:t>Обратная связи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2220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Обратная связь</a:t>
            </a:r>
            <a:endParaRPr dirty="0"/>
          </a:p>
        </p:txBody>
      </p:sp>
      <p:pic>
        <p:nvPicPr>
          <p:cNvPr id="7170" name="Picture 2" descr="Центробежный регулятор — Википедия">
            <a:extLst>
              <a:ext uri="{FF2B5EF4-FFF2-40B4-BE49-F238E27FC236}">
                <a16:creationId xmlns:a16="http://schemas.microsoft.com/office/drawing/2014/main" id="{1934D665-1B1C-C54F-93CB-BF4EA9B7F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85" y="974200"/>
            <a:ext cx="4939661" cy="410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Уатт, Джеймс">
            <a:extLst>
              <a:ext uri="{FF2B5EF4-FFF2-40B4-BE49-F238E27FC236}">
                <a16:creationId xmlns:a16="http://schemas.microsoft.com/office/drawing/2014/main" id="{416E4FA2-6724-614E-A985-A58B37C88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577" y="1497405"/>
            <a:ext cx="3042266" cy="31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DFB41B-3828-BD46-9A03-7F17B84AF08F}"/>
              </a:ext>
            </a:extLst>
          </p:cNvPr>
          <p:cNvSpPr txBox="1"/>
          <p:nvPr/>
        </p:nvSpPr>
        <p:spPr>
          <a:xfrm>
            <a:off x="6598739" y="1154275"/>
            <a:ext cx="12666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Джеймс Уатт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451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Петля обратной связи</a:t>
            </a:r>
            <a:endParaRPr dirty="0"/>
          </a:p>
        </p:txBody>
      </p:sp>
      <p:pic>
        <p:nvPicPr>
          <p:cNvPr id="8194" name="Picture 2" descr="Обратная связь. Часть 1. Виды обратной связи">
            <a:extLst>
              <a:ext uri="{FF2B5EF4-FFF2-40B4-BE49-F238E27FC236}">
                <a16:creationId xmlns:a16="http://schemas.microsoft.com/office/drawing/2014/main" id="{091A42E7-4254-7D40-875D-9C3E248D4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1422400"/>
            <a:ext cx="5080000" cy="22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D7A368-89B0-4E47-A608-80FCD57D1C02}"/>
              </a:ext>
            </a:extLst>
          </p:cNvPr>
          <p:cNvSpPr txBox="1"/>
          <p:nvPr/>
        </p:nvSpPr>
        <p:spPr>
          <a:xfrm>
            <a:off x="952779" y="4014076"/>
            <a:ext cx="7428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Результаты работы системы влияют на параметры от которых зависит этот результат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779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Петля обратной связи </a:t>
            </a:r>
            <a:endParaRPr dirty="0"/>
          </a:p>
        </p:txBody>
      </p:sp>
      <p:pic>
        <p:nvPicPr>
          <p:cNvPr id="10244" name="Picture 4" descr="Обучение с подкреплением: 10 вариантов применения / Хабр">
            <a:extLst>
              <a:ext uri="{FF2B5EF4-FFF2-40B4-BE49-F238E27FC236}">
                <a16:creationId xmlns:a16="http://schemas.microsoft.com/office/drawing/2014/main" id="{7F572923-BEC1-8D40-9A27-9F66B865B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075" y="1196656"/>
            <a:ext cx="3810000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1B403E-8A3C-F047-9396-24EDA58E13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369" t="28992" r="32617" b="16601"/>
          <a:stretch/>
        </p:blipFill>
        <p:spPr>
          <a:xfrm>
            <a:off x="288947" y="1472860"/>
            <a:ext cx="4756107" cy="27984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714865-E80A-7042-8799-3E8CB64C3B16}"/>
              </a:ext>
            </a:extLst>
          </p:cNvPr>
          <p:cNvSpPr txBox="1"/>
          <p:nvPr/>
        </p:nvSpPr>
        <p:spPr>
          <a:xfrm>
            <a:off x="866165" y="1118922"/>
            <a:ext cx="1989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Обучение с учителем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0BB58-756C-134D-AE95-E50772C334E0}"/>
              </a:ext>
            </a:extLst>
          </p:cNvPr>
          <p:cNvSpPr txBox="1"/>
          <p:nvPr/>
        </p:nvSpPr>
        <p:spPr>
          <a:xfrm>
            <a:off x="6142444" y="811145"/>
            <a:ext cx="2501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Обучение с подкреплением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46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Петля обратной связи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311BA2-64C1-0C45-BBE7-D18B2815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583" y="1150192"/>
            <a:ext cx="4960833" cy="358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11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Сбор обратной связи в </a:t>
            </a:r>
            <a:r>
              <a:rPr lang="en-US" dirty="0"/>
              <a:t>ML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D1996-6AF8-A741-B9E3-7CEEF0CC27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74" t="26847" r="39731" b="14928"/>
          <a:stretch/>
        </p:blipFill>
        <p:spPr>
          <a:xfrm>
            <a:off x="500550" y="1014635"/>
            <a:ext cx="6354382" cy="379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6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Частичная перепроверка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5893C-25C3-AF48-A944-93614A822A63}"/>
              </a:ext>
            </a:extLst>
          </p:cNvPr>
          <p:cNvSpPr txBox="1"/>
          <p:nvPr/>
        </p:nvSpPr>
        <p:spPr>
          <a:xfrm>
            <a:off x="595280" y="1125200"/>
            <a:ext cx="8425795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Все скоры модели сохраняются в БД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Часть новых данных периодически отправляется на ручную разметку</a:t>
            </a:r>
          </a:p>
          <a:p>
            <a:pPr marL="536575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оценки метрик выбираются случайные объекты за интервал</a:t>
            </a:r>
          </a:p>
          <a:p>
            <a:pPr marL="536575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для обогащения обучающей выборки выбираются объекты с пограничными вердиктами (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active learning)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интерфейсе модели предусмотрен ответ “Я не знаю”</a:t>
            </a:r>
          </a:p>
          <a:p>
            <a:pPr marL="536575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</a:rPr>
              <a:t>при таком вердикте объект отправляется на ручную обработку</a:t>
            </a:r>
          </a:p>
          <a:p>
            <a:pPr marL="536575" lvl="1" indent="-177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Arial" panose="020B0604020202020204" pitchFamily="34" charset="0"/>
              </a:rPr>
              <a:t>для некоторой доли уверенных ответов “Я не знаю” проставляется случайным образом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На основе ручной разметки для новых данных периодически пересчитываются метрики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качества за выбранных период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 качестве эксперта можно использовать «сильную» модель</a:t>
            </a:r>
          </a:p>
        </p:txBody>
      </p:sp>
    </p:spTree>
    <p:extLst>
      <p:ext uri="{BB962C8B-B14F-4D97-AF65-F5344CB8AC3E}">
        <p14:creationId xmlns:p14="http://schemas.microsoft.com/office/powerpoint/2010/main" val="3594007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Объем ручной перепроверки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5893C-25C3-AF48-A944-93614A822A63}"/>
              </a:ext>
            </a:extLst>
          </p:cNvPr>
          <p:cNvSpPr txBox="1"/>
          <p:nvPr/>
        </p:nvSpPr>
        <p:spPr>
          <a:xfrm>
            <a:off x="595280" y="1548647"/>
            <a:ext cx="8425795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Плюсы большого объема:</a:t>
            </a:r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622300" indent="-27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маленький доверительный интервал для важных метрик</a:t>
            </a:r>
          </a:p>
          <a:p>
            <a:pPr marL="622300" indent="-27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большая скорость роста обучающей выборки</a:t>
            </a:r>
          </a:p>
          <a:p>
            <a:pPr marL="622300" indent="-2746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быстрое изменение метрик со временем</a:t>
            </a:r>
          </a:p>
          <a:p>
            <a:pPr>
              <a:lnSpc>
                <a:spcPct val="150000"/>
              </a:lnSpc>
            </a:pPr>
            <a:endParaRPr lang="ru-RU" b="1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Минусы большого объема:</a:t>
            </a:r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622300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только небольшая часть работы оказывается автоматизирована</a:t>
            </a:r>
          </a:p>
          <a:p>
            <a:pPr marL="622300" indent="-26828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большой объем ручной работы по перепроверке</a:t>
            </a:r>
          </a:p>
        </p:txBody>
      </p:sp>
    </p:spTree>
    <p:extLst>
      <p:ext uri="{BB962C8B-B14F-4D97-AF65-F5344CB8AC3E}">
        <p14:creationId xmlns:p14="http://schemas.microsoft.com/office/powerpoint/2010/main" val="796870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Выбор объема ручной перепроверки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5893C-25C3-AF48-A944-93614A822A63}"/>
              </a:ext>
            </a:extLst>
          </p:cNvPr>
          <p:cNvSpPr txBox="1"/>
          <p:nvPr/>
        </p:nvSpPr>
        <p:spPr>
          <a:xfrm>
            <a:off x="595280" y="1769576"/>
            <a:ext cx="8425795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Требования к величине доверительного интервала для метрик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Ограничения на объем ручной перепроверки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Желаемое время обнаружения деградации модели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Возможность подключения «сильной» модели</a:t>
            </a:r>
          </a:p>
        </p:txBody>
      </p:sp>
    </p:spTree>
    <p:extLst>
      <p:ext uri="{BB962C8B-B14F-4D97-AF65-F5344CB8AC3E}">
        <p14:creationId xmlns:p14="http://schemas.microsoft.com/office/powerpoint/2010/main" val="206292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3"/>
          <p:cNvSpPr txBox="1">
            <a:spLocks noGrp="1"/>
          </p:cNvSpPr>
          <p:nvPr>
            <p:ph type="title"/>
          </p:nvPr>
        </p:nvSpPr>
        <p:spPr>
          <a:xfrm>
            <a:off x="502800" y="372038"/>
            <a:ext cx="8343000" cy="4150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4875" dirty="0"/>
              <a:t>Пересчет метрик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9058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Сервис расчета метрик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5893C-25C3-AF48-A944-93614A822A63}"/>
              </a:ext>
            </a:extLst>
          </p:cNvPr>
          <p:cNvSpPr txBox="1"/>
          <p:nvPr/>
        </p:nvSpPr>
        <p:spPr>
          <a:xfrm>
            <a:off x="595280" y="1959821"/>
            <a:ext cx="8425795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периодически ходит в БД и забирает все объекты с ручной разметкой за выбранное время и вердикты модели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вычисляет необходимые метрики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сохраняет их в БД или отдает системе мониторинга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отдельный дашборд настроен для визуализации метрик во времени</a:t>
            </a:r>
          </a:p>
        </p:txBody>
      </p:sp>
    </p:spTree>
    <p:extLst>
      <p:ext uri="{BB962C8B-B14F-4D97-AF65-F5344CB8AC3E}">
        <p14:creationId xmlns:p14="http://schemas.microsoft.com/office/powerpoint/2010/main" val="892860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Схема взаимодействия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106F15-BE78-7142-B2D0-D45E9C453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08" y="1076249"/>
            <a:ext cx="8186642" cy="338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42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Автоматический пересчет метрик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66A297-2252-1944-A6FA-840C8EB1C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1268921"/>
            <a:ext cx="8142900" cy="327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8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3"/>
          <p:cNvSpPr txBox="1">
            <a:spLocks noGrp="1"/>
          </p:cNvSpPr>
          <p:nvPr>
            <p:ph type="title"/>
          </p:nvPr>
        </p:nvSpPr>
        <p:spPr>
          <a:xfrm>
            <a:off x="502800" y="372038"/>
            <a:ext cx="8343000" cy="4150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4875" dirty="0"/>
              <a:t>Мониторинг метрик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8750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Визуализация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057915-222B-7C42-B345-925D5D8A7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85" y="969632"/>
            <a:ext cx="8583430" cy="367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52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err="1"/>
              <a:t>Дрифт</a:t>
            </a:r>
            <a:r>
              <a:rPr lang="ru-RU" dirty="0"/>
              <a:t> целевой переменной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E61B1B-DC2D-A740-9E6C-236235B1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37" y="1003619"/>
            <a:ext cx="8520525" cy="372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61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err="1"/>
              <a:t>Дрифт</a:t>
            </a:r>
            <a:r>
              <a:rPr lang="ru-RU" dirty="0"/>
              <a:t> целевой переменной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BE516-733A-EB48-8E6A-B1D13466F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04" y="1321810"/>
            <a:ext cx="7413391" cy="332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49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3"/>
          <p:cNvSpPr txBox="1">
            <a:spLocks noGrp="1"/>
          </p:cNvSpPr>
          <p:nvPr>
            <p:ph type="title"/>
          </p:nvPr>
        </p:nvSpPr>
        <p:spPr>
          <a:xfrm>
            <a:off x="502800" y="372038"/>
            <a:ext cx="8343000" cy="41503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sz="4875" dirty="0"/>
              <a:t>Решения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7551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Evidently AI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62F77F-F94D-D543-8626-FDBFF3C15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025" y="1035277"/>
            <a:ext cx="5957954" cy="403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52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Evidently AI</a:t>
            </a:r>
            <a:endParaRPr dirty="0"/>
          </a:p>
        </p:txBody>
      </p:sp>
      <p:pic>
        <p:nvPicPr>
          <p:cNvPr id="12290" name="Picture 2" descr="Meet Evidently 0.2, the open-source ML monitoring tool to continuously  check on your models and data">
            <a:extLst>
              <a:ext uri="{FF2B5EF4-FFF2-40B4-BE49-F238E27FC236}">
                <a16:creationId xmlns:a16="http://schemas.microsoft.com/office/drawing/2014/main" id="{0FAC1469-A029-BA4A-AD65-075A8786B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84" y="965705"/>
            <a:ext cx="7523855" cy="403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3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Evidently AI</a:t>
            </a:r>
            <a:endParaRPr dirty="0"/>
          </a:p>
        </p:txBody>
      </p:sp>
      <p:pic>
        <p:nvPicPr>
          <p:cNvPr id="14338" name="Picture 2" descr="Evidently AI Reviews in 2025">
            <a:extLst>
              <a:ext uri="{FF2B5EF4-FFF2-40B4-BE49-F238E27FC236}">
                <a16:creationId xmlns:a16="http://schemas.microsoft.com/office/drawing/2014/main" id="{EDCDCD99-A7EE-F349-9950-6864A17FF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28" y="903642"/>
            <a:ext cx="6961944" cy="417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264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Fiddler AI</a:t>
            </a:r>
            <a:endParaRPr dirty="0"/>
          </a:p>
        </p:txBody>
      </p:sp>
      <p:pic>
        <p:nvPicPr>
          <p:cNvPr id="19458" name="Picture 2" descr="Fiddler AI: AI Observability, Model Monitoring, LLM Monitoring, and Agentic  Observability">
            <a:extLst>
              <a:ext uri="{FF2B5EF4-FFF2-40B4-BE49-F238E27FC236}">
                <a16:creationId xmlns:a16="http://schemas.microsoft.com/office/drawing/2014/main" id="{03F5898B-379A-3A49-9BE4-BE6FFF7B5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74" y="963531"/>
            <a:ext cx="6650197" cy="413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9671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Arize</a:t>
            </a:r>
            <a:r>
              <a:rPr lang="en-US" dirty="0"/>
              <a:t> AX</a:t>
            </a:r>
            <a:endParaRPr dirty="0"/>
          </a:p>
        </p:txBody>
      </p:sp>
      <p:pic>
        <p:nvPicPr>
          <p:cNvPr id="21506" name="Picture 2" descr="Agent">
            <a:extLst>
              <a:ext uri="{FF2B5EF4-FFF2-40B4-BE49-F238E27FC236}">
                <a16:creationId xmlns:a16="http://schemas.microsoft.com/office/drawing/2014/main" id="{1C97FFFB-0233-A94E-901C-D3F37E8C0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209" y="834620"/>
            <a:ext cx="6471299" cy="430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972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525" cy="1095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err="1"/>
              <a:t>NannyML</a:t>
            </a:r>
            <a:endParaRPr dirty="0"/>
          </a:p>
        </p:txBody>
      </p:sp>
      <p:pic>
        <p:nvPicPr>
          <p:cNvPr id="23554" name="Picture 2" descr="Automating post-deployment Data Collection for ML Monitoring">
            <a:extLst>
              <a:ext uri="{FF2B5EF4-FFF2-40B4-BE49-F238E27FC236}">
                <a16:creationId xmlns:a16="http://schemas.microsoft.com/office/drawing/2014/main" id="{795CEA70-18AA-5D41-B94E-3856C0651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166" y="1073960"/>
            <a:ext cx="7370433" cy="3755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042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8D07EA1A-C002-4541-90D7-4979B81A9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73" y="343509"/>
            <a:ext cx="3123689" cy="7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Aporia Reviews 2025: Details, Pricing, &amp; Features | G2">
            <a:extLst>
              <a:ext uri="{FF2B5EF4-FFF2-40B4-BE49-F238E27FC236}">
                <a16:creationId xmlns:a16="http://schemas.microsoft.com/office/drawing/2014/main" id="{81604267-7B22-564A-8B18-51EB6A41E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10" y="1273594"/>
            <a:ext cx="6793562" cy="370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185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90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611" name="Google Shape;611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90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3" name="Google Shape;613;p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90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9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95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9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Следующий вебинар</a:t>
            </a:r>
            <a:endParaRPr/>
          </a:p>
        </p:txBody>
      </p:sp>
      <p:sp>
        <p:nvSpPr>
          <p:cNvPr id="649" name="Google Shape;649;p95"/>
          <p:cNvSpPr txBox="1"/>
          <p:nvPr/>
        </p:nvSpPr>
        <p:spPr>
          <a:xfrm>
            <a:off x="1847919" y="1653708"/>
            <a:ext cx="61569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 err="1">
                <a:solidFill>
                  <a:schemeClr val="tx1"/>
                </a:solidFill>
              </a:rPr>
              <a:t>Алертинг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650" name="Google Shape;65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500" y="1558024"/>
            <a:ext cx="760725" cy="7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95"/>
          <p:cNvSpPr txBox="1"/>
          <p:nvPr/>
        </p:nvSpPr>
        <p:spPr>
          <a:xfrm>
            <a:off x="1179775" y="3660425"/>
            <a:ext cx="205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Ссылка на вебинар будет в ЛК за 15 минут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95"/>
          <p:cNvSpPr txBox="1"/>
          <p:nvPr/>
        </p:nvSpPr>
        <p:spPr>
          <a:xfrm>
            <a:off x="3844125" y="3660413"/>
            <a:ext cx="1766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Материалы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к занятию в ЛК — можно изучать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95"/>
          <p:cNvSpPr txBox="1"/>
          <p:nvPr/>
        </p:nvSpPr>
        <p:spPr>
          <a:xfrm>
            <a:off x="6101125" y="3660413"/>
            <a:ext cx="21009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Обязательный материал обозначен красной лентой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4" name="Google Shape;65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50" y="3750544"/>
            <a:ext cx="214313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250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9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0775" y="3692869"/>
            <a:ext cx="329663" cy="329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</TotalTime>
  <Words>515</Words>
  <Application>Microsoft Macintosh PowerPoint</Application>
  <PresentationFormat>On-screen Show (16:9)</PresentationFormat>
  <Paragraphs>131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Roboto</vt:lpstr>
      <vt:lpstr>Arial</vt:lpstr>
      <vt:lpstr>Courier New</vt:lpstr>
      <vt:lpstr>Светлая тема</vt:lpstr>
      <vt:lpstr>MLOps Построение обратной петли </vt:lpstr>
      <vt:lpstr>Проверить, идет ли запись</vt:lpstr>
      <vt:lpstr>MLOps Построение обратной петли</vt:lpstr>
      <vt:lpstr>Правила вебинара</vt:lpstr>
      <vt:lpstr>Маршрут вебинара</vt:lpstr>
      <vt:lpstr>Цели вебинара</vt:lpstr>
      <vt:lpstr>Причины отклонений</vt:lpstr>
      <vt:lpstr>Дрифт данных</vt:lpstr>
      <vt:lpstr>Изменение зависимостей</vt:lpstr>
      <vt:lpstr>Изменение зависимостей</vt:lpstr>
      <vt:lpstr>Обратная связи</vt:lpstr>
      <vt:lpstr>Обратная связь</vt:lpstr>
      <vt:lpstr>Петля обратной связи</vt:lpstr>
      <vt:lpstr>Петля обратной связи </vt:lpstr>
      <vt:lpstr>Петля обратной связи</vt:lpstr>
      <vt:lpstr>Сбор обратной связи в ML</vt:lpstr>
      <vt:lpstr>Частичная перепроверка</vt:lpstr>
      <vt:lpstr>Объем ручной перепроверки</vt:lpstr>
      <vt:lpstr>Выбор объема ручной перепроверки</vt:lpstr>
      <vt:lpstr>Пересчет метрик</vt:lpstr>
      <vt:lpstr>Сервис расчета метрик</vt:lpstr>
      <vt:lpstr>Схема взаимодействия</vt:lpstr>
      <vt:lpstr>Автоматический пересчет метрик</vt:lpstr>
      <vt:lpstr>Мониторинг метрик</vt:lpstr>
      <vt:lpstr>Визуализация</vt:lpstr>
      <vt:lpstr>Дрифт целевой переменной</vt:lpstr>
      <vt:lpstr>Дрифт целевой переменной</vt:lpstr>
      <vt:lpstr>Решения</vt:lpstr>
      <vt:lpstr>Evidently AI</vt:lpstr>
      <vt:lpstr>Evidently AI</vt:lpstr>
      <vt:lpstr>Evidently AI</vt:lpstr>
      <vt:lpstr>Fiddler AI</vt:lpstr>
      <vt:lpstr>Arize AX</vt:lpstr>
      <vt:lpstr>NannyML</vt:lpstr>
      <vt:lpstr>PowerPoint Presentation</vt:lpstr>
      <vt:lpstr>Вопросы?</vt:lpstr>
      <vt:lpstr>Заполните, пожалуйста, опрос о занятии по ссылке в чате</vt:lpstr>
      <vt:lpstr>Следующий вебинар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Введение </dc:title>
  <cp:lastModifiedBy>Стурейко Игорь Олегович</cp:lastModifiedBy>
  <cp:revision>75</cp:revision>
  <dcterms:modified xsi:type="dcterms:W3CDTF">2025-09-02T14:54:20Z</dcterms:modified>
</cp:coreProperties>
</file>