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  <p:sldMasterId id="2147483676" r:id="rId2"/>
  </p:sldMasterIdLst>
  <p:notesMasterIdLst>
    <p:notesMasterId r:id="rId56"/>
  </p:notesMasterIdLst>
  <p:sldIdLst>
    <p:sldId id="256" r:id="rId3"/>
    <p:sldId id="257" r:id="rId4"/>
    <p:sldId id="404" r:id="rId5"/>
    <p:sldId id="259" r:id="rId6"/>
    <p:sldId id="406" r:id="rId7"/>
    <p:sldId id="261" r:id="rId8"/>
    <p:sldId id="405" r:id="rId9"/>
    <p:sldId id="371" r:id="rId10"/>
    <p:sldId id="372" r:id="rId11"/>
    <p:sldId id="262" r:id="rId12"/>
    <p:sldId id="373" r:id="rId13"/>
    <p:sldId id="377" r:id="rId14"/>
    <p:sldId id="378" r:id="rId15"/>
    <p:sldId id="380" r:id="rId16"/>
    <p:sldId id="379" r:id="rId17"/>
    <p:sldId id="381" r:id="rId18"/>
    <p:sldId id="382" r:id="rId19"/>
    <p:sldId id="374" r:id="rId20"/>
    <p:sldId id="264" r:id="rId21"/>
    <p:sldId id="375" r:id="rId22"/>
    <p:sldId id="270" r:id="rId23"/>
    <p:sldId id="271" r:id="rId24"/>
    <p:sldId id="272" r:id="rId25"/>
    <p:sldId id="383" r:id="rId26"/>
    <p:sldId id="279" r:id="rId27"/>
    <p:sldId id="387" r:id="rId28"/>
    <p:sldId id="278" r:id="rId29"/>
    <p:sldId id="281" r:id="rId30"/>
    <p:sldId id="283" r:id="rId31"/>
    <p:sldId id="384" r:id="rId32"/>
    <p:sldId id="385" r:id="rId33"/>
    <p:sldId id="389" r:id="rId34"/>
    <p:sldId id="388" r:id="rId35"/>
    <p:sldId id="390" r:id="rId36"/>
    <p:sldId id="391" r:id="rId37"/>
    <p:sldId id="393" r:id="rId38"/>
    <p:sldId id="394" r:id="rId39"/>
    <p:sldId id="284" r:id="rId40"/>
    <p:sldId id="376" r:id="rId41"/>
    <p:sldId id="396" r:id="rId42"/>
    <p:sldId id="399" r:id="rId43"/>
    <p:sldId id="400" r:id="rId44"/>
    <p:sldId id="398" r:id="rId45"/>
    <p:sldId id="407" r:id="rId46"/>
    <p:sldId id="403" r:id="rId47"/>
    <p:sldId id="401" r:id="rId48"/>
    <p:sldId id="402" r:id="rId49"/>
    <p:sldId id="408" r:id="rId50"/>
    <p:sldId id="395" r:id="rId51"/>
    <p:sldId id="285" r:id="rId52"/>
    <p:sldId id="286" r:id="rId53"/>
    <p:sldId id="287" r:id="rId54"/>
    <p:sldId id="288" r:id="rId55"/>
  </p:sldIdLst>
  <p:sldSz cx="9144000" cy="5143500" type="screen16x9"/>
  <p:notesSz cx="6858000" cy="9144000"/>
  <p:embeddedFontLst>
    <p:embeddedFont>
      <p:font typeface="Roboto" panose="02000000000000000000" pitchFamily="2" charset="0"/>
      <p:regular r:id="rId57"/>
      <p:bold r:id="rId58"/>
      <p:italic r:id="rId59"/>
      <p:boldItalic r:id="rId6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1002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F00"/>
    <a:srgbClr val="EEEEEE"/>
    <a:srgbClr val="0B88ED"/>
    <a:srgbClr val="E5F3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88"/>
    <p:restoredTop sz="94681"/>
  </p:normalViewPr>
  <p:slideViewPr>
    <p:cSldViewPr snapToGrid="0">
      <p:cViewPr varScale="1">
        <p:scale>
          <a:sx n="280" d="100"/>
          <a:sy n="280" d="100"/>
        </p:scale>
        <p:origin x="1744" y="184"/>
      </p:cViewPr>
      <p:guideLst>
        <p:guide pos="5533"/>
        <p:guide pos="1002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font" Target="fonts/font2.fntdata"/><Relationship Id="rId5" Type="http://schemas.openxmlformats.org/officeDocument/2006/relationships/slide" Target="slides/slide3.xml"/><Relationship Id="rId61" Type="http://schemas.openxmlformats.org/officeDocument/2006/relationships/presProps" Target="pres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notesMaster" Target="notesMasters/notesMaster1.xml"/><Relationship Id="rId64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font" Target="fonts/font3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font" Target="fonts/font1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46910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3318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99441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df9c5fcdc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df9c5fcdc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df9c5fcdc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df9c5fcdc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96989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5" name="Google Shape;355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83107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df9c5fcdc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df9c5fcdc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78835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df9c5fcdc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df9c5fcdc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43136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df9c5fcdc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df9c5fcdc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26125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df9c5fcdc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df9c5fcdc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40821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df9c5fcdc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df9c5fcdc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622376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df9c5fcdc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df9c5fcdc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355366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df6222e6a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df6222e6a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4" name="Google Shape;364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" name="Google Shape;369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3" name="Google Shape;383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8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68253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67" name="Google Shape;6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7"/>
          <p:cNvPicPr preferRelativeResize="0"/>
          <p:nvPr/>
        </p:nvPicPr>
        <p:blipFill rotWithShape="1">
          <a:blip r:embed="rId2">
            <a:alphaModFix/>
          </a:blip>
          <a:srcRect l="99" r="98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7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21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21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21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2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22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3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6" name="Google Shape;96;p23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97" name="Google Shape;97;p2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7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7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8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28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8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9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9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9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78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2" r:id="rId11"/>
    <p:sldLayoutId id="2147483673" r:id="rId12"/>
    <p:sldLayoutId id="2147483674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://fastapi_net:5002/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hyperlink" Target="https://habr.com/ru/articles/729380/" TargetMode="External"/><Relationship Id="rId3" Type="http://schemas.openxmlformats.org/officeDocument/2006/relationships/hyperlink" Target="https://habr.com/ru/companies/ruvds/articles/438796/" TargetMode="External"/><Relationship Id="rId7" Type="http://schemas.openxmlformats.org/officeDocument/2006/relationships/hyperlink" Target="https://habr.com/ru/articles/548910/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habr.com/ru/companies/first/articles/702168/" TargetMode="External"/><Relationship Id="rId11" Type="http://schemas.openxmlformats.org/officeDocument/2006/relationships/hyperlink" Target="https://habr.com/ru/articles/346306/" TargetMode="External"/><Relationship Id="rId5" Type="http://schemas.openxmlformats.org/officeDocument/2006/relationships/hyperlink" Target="https://habr.com/ru/companies/evrone/articles/716630/" TargetMode="External"/><Relationship Id="rId10" Type="http://schemas.openxmlformats.org/officeDocument/2006/relationships/hyperlink" Target="https://habr.com/ru/companies/otus/articles/731854/" TargetMode="External"/><Relationship Id="rId4" Type="http://schemas.openxmlformats.org/officeDocument/2006/relationships/hyperlink" Target="https://habr.com/ru/companies/flant/articles/336654/" TargetMode="External"/><Relationship Id="rId9" Type="http://schemas.openxmlformats.org/officeDocument/2006/relationships/hyperlink" Target="https://habr.com/ru/companies/ruvds/articles/450312/" TargetMode="Externa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0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linkedin.com/in/igor-sturei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/>
              <a:t>otus.ru</a:t>
            </a:r>
            <a:endParaRPr/>
          </a:p>
        </p:txBody>
      </p:sp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8050193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Recommendation Systems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200" dirty="0" err="1"/>
              <a:t>Docker</a:t>
            </a:r>
            <a:r>
              <a:rPr lang="ru-RU" sz="3200" dirty="0"/>
              <a:t>: </a:t>
            </a:r>
            <a:r>
              <a:rPr lang="ru-RU" sz="3200" b="0" dirty="0"/>
              <a:t>Структура, применение, </a:t>
            </a:r>
            <a:r>
              <a:rPr lang="ru-RU" sz="3200" b="0" dirty="0" err="1"/>
              <a:t>деплой</a:t>
            </a:r>
            <a:endParaRPr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 sz="2100"/>
              <a:t>Проверить, идет ли запись</a:t>
            </a:r>
            <a:endParaRPr sz="2100"/>
          </a:p>
        </p:txBody>
      </p:sp>
      <p:sp>
        <p:nvSpPr>
          <p:cNvPr id="132" name="Google Shape;132;p31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000"/>
              <a:t>Меня хорошо видно</a:t>
            </a:r>
            <a:endParaRPr sz="4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 sz="4000"/>
              <a:t>&amp;&amp; слышно?</a:t>
            </a:r>
            <a:endParaRPr sz="4000"/>
          </a:p>
        </p:txBody>
      </p:sp>
      <p:pic>
        <p:nvPicPr>
          <p:cNvPr id="133" name="Google Shape;133;p31"/>
          <p:cNvPicPr preferRelativeResize="0"/>
          <p:nvPr/>
        </p:nvPicPr>
        <p:blipFill rotWithShape="1">
          <a:blip r:embed="rId3">
            <a:alphaModFix/>
          </a:blip>
          <a:srcRect l="99" r="98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2375" y="3520050"/>
            <a:ext cx="525600" cy="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1"/>
          <p:cNvSpPr txBox="1"/>
          <p:nvPr/>
        </p:nvSpPr>
        <p:spPr>
          <a:xfrm>
            <a:off x="1514225" y="3459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Ставим “+”, если все хорошо</a:t>
            </a:r>
            <a:b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“-”, если есть проблемы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Recommendation Systems</a:t>
            </a:r>
            <a:br>
              <a:rPr lang="en-US" dirty="0"/>
            </a:br>
            <a:r>
              <a:rPr lang="en-US" sz="2400" dirty="0"/>
              <a:t>Docker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A16391D9-582B-5E48-9BA0-0B7CDC9CFBC5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3200" b="1"/>
              <a:t>Правила вебинара</a:t>
            </a:r>
            <a:endParaRPr sz="3200" b="1"/>
          </a:p>
        </p:txBody>
      </p:sp>
      <p:pic>
        <p:nvPicPr>
          <p:cNvPr id="151" name="Google Shape;151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3061406"/>
            <a:ext cx="692621" cy="692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3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7650" y="2171509"/>
            <a:ext cx="692621" cy="69262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3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33"/>
          <p:cNvSpPr txBox="1"/>
          <p:nvPr/>
        </p:nvSpPr>
        <p:spPr>
          <a:xfrm>
            <a:off x="1654525" y="306641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чат или голосом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33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33"/>
          <p:cNvSpPr txBox="1"/>
          <p:nvPr/>
        </p:nvSpPr>
        <p:spPr>
          <a:xfrm>
            <a:off x="1654525" y="204930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Off-topic обсуждаем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учебной группе 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33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3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1" name="Google Shape;161;p3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3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3" name="Google Shape;163;p3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3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5" name="Google Shape;165;p3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3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7" name="Google Shape;167;p3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3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3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593" y="38324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3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1" name="Google Shape;171;p33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438593" y="43125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3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187" name="Google Shape;187;p36"/>
          <p:cNvSpPr/>
          <p:nvPr/>
        </p:nvSpPr>
        <p:spPr>
          <a:xfrm>
            <a:off x="786525" y="120552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Знакомство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36"/>
          <p:cNvSpPr/>
          <p:nvPr/>
        </p:nvSpPr>
        <p:spPr>
          <a:xfrm>
            <a:off x="787125" y="1785042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Механизмы </a:t>
            </a:r>
            <a:r>
              <a:rPr lang="ru-RU" sz="1300" dirty="0" err="1">
                <a:latin typeface="Roboto"/>
                <a:ea typeface="Roboto"/>
                <a:cs typeface="Roboto"/>
                <a:sym typeface="Roboto"/>
              </a:rPr>
              <a:t>контейниризации</a:t>
            </a:r>
            <a:endParaRPr lang="en-US" sz="1300" b="0" i="0" u="none" strike="noStrike" cap="none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36"/>
          <p:cNvSpPr/>
          <p:nvPr/>
        </p:nvSpPr>
        <p:spPr>
          <a:xfrm>
            <a:off x="787125" y="2364559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3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Docker</a:t>
            </a:r>
            <a:endParaRPr lang="en-US" sz="1300" b="0" i="0" u="none" strike="noStrike" cap="none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36"/>
          <p:cNvSpPr/>
          <p:nvPr/>
        </p:nvSpPr>
        <p:spPr>
          <a:xfrm>
            <a:off x="786525" y="2944076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Запуск контейнера</a:t>
            </a:r>
            <a:endParaRPr sz="1300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36"/>
          <p:cNvSpPr/>
          <p:nvPr/>
        </p:nvSpPr>
        <p:spPr>
          <a:xfrm>
            <a:off x="786525" y="3523593"/>
            <a:ext cx="3384900" cy="376201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Сборка контейнера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36"/>
          <p:cNvSpPr/>
          <p:nvPr/>
        </p:nvSpPr>
        <p:spPr>
          <a:xfrm>
            <a:off x="786525" y="4103113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Docker Compose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" name="Google Shape;193;p36"/>
          <p:cNvCxnSpPr>
            <a:stCxn id="187" idx="1"/>
            <a:endCxn id="188" idx="1"/>
          </p:cNvCxnSpPr>
          <p:nvPr/>
        </p:nvCxnSpPr>
        <p:spPr>
          <a:xfrm rot="10800000" flipH="1" flipV="1">
            <a:off x="786525" y="1393624"/>
            <a:ext cx="600" cy="579517"/>
          </a:xfrm>
          <a:prstGeom prst="curvedConnector3">
            <a:avLst>
              <a:gd name="adj1" fmla="val -38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4" name="Google Shape;194;p36"/>
          <p:cNvCxnSpPr>
            <a:stCxn id="188" idx="1"/>
            <a:endCxn id="189" idx="1"/>
          </p:cNvCxnSpPr>
          <p:nvPr/>
        </p:nvCxnSpPr>
        <p:spPr>
          <a:xfrm rot="10800000" flipV="1">
            <a:off x="787125" y="1973141"/>
            <a:ext cx="12700" cy="579517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5" name="Google Shape;195;p36"/>
          <p:cNvCxnSpPr>
            <a:cxnSpLocks/>
            <a:stCxn id="189" idx="1"/>
            <a:endCxn id="190" idx="1"/>
          </p:cNvCxnSpPr>
          <p:nvPr/>
        </p:nvCxnSpPr>
        <p:spPr>
          <a:xfrm rot="10800000" flipV="1">
            <a:off x="786525" y="2552658"/>
            <a:ext cx="600" cy="579517"/>
          </a:xfrm>
          <a:prstGeom prst="curvedConnector3">
            <a:avLst>
              <a:gd name="adj1" fmla="val 382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6" name="Google Shape;196;p36"/>
          <p:cNvCxnSpPr>
            <a:cxnSpLocks/>
            <a:stCxn id="190" idx="1"/>
            <a:endCxn id="191" idx="1"/>
          </p:cNvCxnSpPr>
          <p:nvPr/>
        </p:nvCxnSpPr>
        <p:spPr>
          <a:xfrm rot="10800000" flipV="1">
            <a:off x="786525" y="3132176"/>
            <a:ext cx="12700" cy="579518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36"/>
          <p:cNvCxnSpPr>
            <a:cxnSpLocks/>
            <a:stCxn id="191" idx="1"/>
            <a:endCxn id="192" idx="1"/>
          </p:cNvCxnSpPr>
          <p:nvPr/>
        </p:nvCxnSpPr>
        <p:spPr>
          <a:xfrm rot="10800000" flipV="1">
            <a:off x="786525" y="3711693"/>
            <a:ext cx="12700" cy="579519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56539A90-06AC-8946-A29E-7B33C459CCF6}"/>
              </a:ext>
            </a:extLst>
          </p:cNvPr>
          <p:cNvGrpSpPr/>
          <p:nvPr/>
        </p:nvGrpSpPr>
        <p:grpSpPr>
          <a:xfrm>
            <a:off x="5775022" y="1104087"/>
            <a:ext cx="2278070" cy="1839989"/>
            <a:chOff x="4481794" y="1270785"/>
            <a:chExt cx="2278070" cy="183998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C8E64C8-88A3-974F-8842-CB97BB5E50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56980"/>
            <a:stretch/>
          </p:blipFill>
          <p:spPr>
            <a:xfrm>
              <a:off x="4760850" y="1270785"/>
              <a:ext cx="1719958" cy="949532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8BB4E7A0-9F4B-E347-B662-17623C7C144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3020"/>
            <a:stretch/>
          </p:blipFill>
          <p:spPr>
            <a:xfrm>
              <a:off x="4481794" y="2161242"/>
              <a:ext cx="2278070" cy="949532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FAB09C8-95A1-984B-B06A-2EF5FEF35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4040" y="3036559"/>
            <a:ext cx="3324896" cy="1595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97;p36">
            <a:extLst>
              <a:ext uri="{FF2B5EF4-FFF2-40B4-BE49-F238E27FC236}">
                <a16:creationId xmlns:a16="http://schemas.microsoft.com/office/drawing/2014/main" id="{46F47711-9D3B-078E-596D-A5F6F868CEE0}"/>
              </a:ext>
            </a:extLst>
          </p:cNvPr>
          <p:cNvSpPr/>
          <p:nvPr/>
        </p:nvSpPr>
        <p:spPr>
          <a:xfrm>
            <a:off x="6837345" y="4106661"/>
            <a:ext cx="1429572" cy="5793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Проектная работа</a:t>
            </a:r>
            <a:endParaRPr sz="1600" dirty="0">
              <a:solidFill>
                <a:schemeClr val="tx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p36"/>
          <p:cNvSpPr/>
          <p:nvPr/>
        </p:nvSpPr>
        <p:spPr>
          <a:xfrm>
            <a:off x="2742593" y="3686074"/>
            <a:ext cx="2056385" cy="5793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300" b="1" dirty="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Рекомендательные системы в продакшн</a:t>
            </a:r>
          </a:p>
        </p:txBody>
      </p:sp>
      <p:sp>
        <p:nvSpPr>
          <p:cNvPr id="194" name="Google Shape;194;p36"/>
          <p:cNvSpPr/>
          <p:nvPr/>
        </p:nvSpPr>
        <p:spPr>
          <a:xfrm>
            <a:off x="293540" y="1233418"/>
            <a:ext cx="2143598" cy="82224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Современные методы рекомендаций</a:t>
            </a:r>
          </a:p>
        </p:txBody>
      </p:sp>
      <p:sp>
        <p:nvSpPr>
          <p:cNvPr id="191" name="Google Shape;191;p36"/>
          <p:cNvSpPr/>
          <p:nvPr/>
        </p:nvSpPr>
        <p:spPr>
          <a:xfrm>
            <a:off x="6461394" y="1179944"/>
            <a:ext cx="2121386" cy="5793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От классического 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ML </a:t>
            </a:r>
            <a:r>
              <a:rPr lang="ru-RU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к персонализации</a:t>
            </a:r>
            <a:endParaRPr sz="1300" dirty="0">
              <a:solidFill>
                <a:schemeClr val="tx1">
                  <a:lumMod val="65000"/>
                  <a:lumOff val="35000"/>
                </a:schemeClr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7" name="Google Shape;196;p36">
            <a:extLst>
              <a:ext uri="{FF2B5EF4-FFF2-40B4-BE49-F238E27FC236}">
                <a16:creationId xmlns:a16="http://schemas.microsoft.com/office/drawing/2014/main" id="{005A86CA-87FF-7853-3329-B7DB7E7C7C54}"/>
              </a:ext>
            </a:extLst>
          </p:cNvPr>
          <p:cNvCxnSpPr>
            <a:cxnSpLocks/>
            <a:stCxn id="152" idx="2"/>
            <a:endCxn id="153" idx="6"/>
          </p:cNvCxnSpPr>
          <p:nvPr/>
        </p:nvCxnSpPr>
        <p:spPr>
          <a:xfrm rot="10800000">
            <a:off x="4464421" y="1838918"/>
            <a:ext cx="2276091" cy="1119838"/>
          </a:xfrm>
          <a:prstGeom prst="curvedConnector3">
            <a:avLst>
              <a:gd name="adj1" fmla="val 50000"/>
            </a:avLst>
          </a:prstGeom>
          <a:noFill/>
          <a:ln w="317500" cap="sq" cmpd="sng">
            <a:solidFill>
              <a:schemeClr val="tx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2" name="Google Shape;196;p36">
            <a:extLst>
              <a:ext uri="{FF2B5EF4-FFF2-40B4-BE49-F238E27FC236}">
                <a16:creationId xmlns:a16="http://schemas.microsoft.com/office/drawing/2014/main" id="{02305CD2-59BE-F645-E787-A7A3BFB93529}"/>
              </a:ext>
            </a:extLst>
          </p:cNvPr>
          <p:cNvCxnSpPr>
            <a:cxnSpLocks/>
            <a:stCxn id="160" idx="2"/>
            <a:endCxn id="155" idx="6"/>
          </p:cNvCxnSpPr>
          <p:nvPr/>
        </p:nvCxnSpPr>
        <p:spPr>
          <a:xfrm rot="10800000">
            <a:off x="2807483" y="4478227"/>
            <a:ext cx="3551063" cy="6024"/>
          </a:xfrm>
          <a:prstGeom prst="curvedConnector3">
            <a:avLst>
              <a:gd name="adj1" fmla="val 50000"/>
            </a:avLst>
          </a:prstGeom>
          <a:noFill/>
          <a:ln w="317500" cap="sq" cmpd="sng">
            <a:solidFill>
              <a:schemeClr val="tx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9" name="Google Shape;196;p36">
            <a:extLst>
              <a:ext uri="{FF2B5EF4-FFF2-40B4-BE49-F238E27FC236}">
                <a16:creationId xmlns:a16="http://schemas.microsoft.com/office/drawing/2014/main" id="{63C7D9DE-688A-37FA-8E0F-5F5F08DBA00F}"/>
              </a:ext>
            </a:extLst>
          </p:cNvPr>
          <p:cNvCxnSpPr>
            <a:cxnSpLocks/>
            <a:stCxn id="154" idx="2"/>
            <a:endCxn id="155" idx="2"/>
          </p:cNvCxnSpPr>
          <p:nvPr/>
        </p:nvCxnSpPr>
        <p:spPr>
          <a:xfrm rot="10800000" flipH="1" flipV="1">
            <a:off x="1736854" y="2208811"/>
            <a:ext cx="655159" cy="2269416"/>
          </a:xfrm>
          <a:prstGeom prst="curvedConnector3">
            <a:avLst>
              <a:gd name="adj1" fmla="val -34892"/>
            </a:avLst>
          </a:prstGeom>
          <a:noFill/>
          <a:ln w="317500" cap="sq" cmpd="sng">
            <a:solidFill>
              <a:schemeClr val="tx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6" name="Google Shape;196;p36">
            <a:extLst>
              <a:ext uri="{FF2B5EF4-FFF2-40B4-BE49-F238E27FC236}">
                <a16:creationId xmlns:a16="http://schemas.microsoft.com/office/drawing/2014/main" id="{1D8BFEB7-4083-1154-30CA-3F31269D74A2}"/>
              </a:ext>
            </a:extLst>
          </p:cNvPr>
          <p:cNvCxnSpPr>
            <a:cxnSpLocks/>
            <a:stCxn id="153" idx="2"/>
            <a:endCxn id="154" idx="6"/>
          </p:cNvCxnSpPr>
          <p:nvPr/>
        </p:nvCxnSpPr>
        <p:spPr>
          <a:xfrm rot="10800000" flipV="1">
            <a:off x="2214644" y="1838917"/>
            <a:ext cx="1834309" cy="369893"/>
          </a:xfrm>
          <a:prstGeom prst="curvedConnector3">
            <a:avLst>
              <a:gd name="adj1" fmla="val 50000"/>
            </a:avLst>
          </a:prstGeom>
          <a:noFill/>
          <a:ln w="317500" cap="sq" cmpd="sng">
            <a:solidFill>
              <a:schemeClr val="tx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3" name="Google Shape;196;p36">
            <a:extLst>
              <a:ext uri="{FF2B5EF4-FFF2-40B4-BE49-F238E27FC236}">
                <a16:creationId xmlns:a16="http://schemas.microsoft.com/office/drawing/2014/main" id="{E7363D1A-FC89-975B-47E1-090F28923686}"/>
              </a:ext>
            </a:extLst>
          </p:cNvPr>
          <p:cNvCxnSpPr>
            <a:cxnSpLocks/>
            <a:stCxn id="143" idx="4"/>
            <a:endCxn id="152" idx="6"/>
          </p:cNvCxnSpPr>
          <p:nvPr/>
        </p:nvCxnSpPr>
        <p:spPr>
          <a:xfrm rot="5400000">
            <a:off x="7250807" y="1841827"/>
            <a:ext cx="1022102" cy="1211757"/>
          </a:xfrm>
          <a:prstGeom prst="curvedConnector2">
            <a:avLst/>
          </a:prstGeom>
          <a:noFill/>
          <a:ln w="317500" cap="sq" cmpd="sng">
            <a:solidFill>
              <a:schemeClr val="tx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9" name="Google Shape;189;p3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tx1"/>
                </a:solidFill>
              </a:rPr>
              <a:t>Карта курса</a:t>
            </a:r>
            <a:r>
              <a:rPr lang="en-US" dirty="0">
                <a:solidFill>
                  <a:schemeClr val="tx1"/>
                </a:solidFill>
              </a:rPr>
              <a:t> “</a:t>
            </a:r>
            <a:r>
              <a:rPr lang="ru-RU" dirty="0">
                <a:solidFill>
                  <a:schemeClr val="tx1"/>
                </a:solidFill>
              </a:rPr>
              <a:t>Рекомендательные системы</a:t>
            </a:r>
            <a:r>
              <a:rPr lang="en-US" dirty="0">
                <a:solidFill>
                  <a:schemeClr val="tx1"/>
                </a:solidFill>
              </a:rPr>
              <a:t>”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92" name="Google Shape;192;p36"/>
          <p:cNvSpPr/>
          <p:nvPr/>
        </p:nvSpPr>
        <p:spPr>
          <a:xfrm>
            <a:off x="3010887" y="1065241"/>
            <a:ext cx="2491598" cy="5793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Контентные и гибридные методы рекомендаций</a:t>
            </a:r>
          </a:p>
        </p:txBody>
      </p:sp>
      <p:cxnSp>
        <p:nvCxnSpPr>
          <p:cNvPr id="196" name="Google Shape;196;p36"/>
          <p:cNvCxnSpPr>
            <a:cxnSpLocks/>
            <a:stCxn id="143" idx="4"/>
            <a:endCxn id="152" idx="6"/>
          </p:cNvCxnSpPr>
          <p:nvPr/>
        </p:nvCxnSpPr>
        <p:spPr>
          <a:xfrm rot="5400000">
            <a:off x="7250807" y="1841827"/>
            <a:ext cx="1022102" cy="1211757"/>
          </a:xfrm>
          <a:prstGeom prst="curvedConnector2">
            <a:avLst/>
          </a:prstGeom>
          <a:noFill/>
          <a:ln w="19050" cap="flat" cmpd="sng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3" name="Oval 142">
            <a:extLst>
              <a:ext uri="{FF2B5EF4-FFF2-40B4-BE49-F238E27FC236}">
                <a16:creationId xmlns:a16="http://schemas.microsoft.com/office/drawing/2014/main" id="{F44116BD-3967-2070-FE09-AFB751269B8C}"/>
              </a:ext>
            </a:extLst>
          </p:cNvPr>
          <p:cNvSpPr/>
          <p:nvPr/>
        </p:nvSpPr>
        <p:spPr>
          <a:xfrm>
            <a:off x="8160002" y="1521186"/>
            <a:ext cx="415468" cy="41546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9050">
            <a:solidFill>
              <a:schemeClr val="bg1"/>
            </a:solidFill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1</a:t>
            </a:r>
            <a:endParaRPr lang="ru-RU" b="1" dirty="0">
              <a:solidFill>
                <a:schemeClr val="bg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14042C03-9D5D-EE78-292E-32621C7CEF8E}"/>
              </a:ext>
            </a:extLst>
          </p:cNvPr>
          <p:cNvSpPr/>
          <p:nvPr/>
        </p:nvSpPr>
        <p:spPr>
          <a:xfrm>
            <a:off x="6740511" y="2751022"/>
            <a:ext cx="415468" cy="41546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9050">
            <a:solidFill>
              <a:schemeClr val="bg1"/>
            </a:solidFill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2</a:t>
            </a:r>
            <a:endParaRPr lang="ru-RU" b="1" dirty="0">
              <a:solidFill>
                <a:schemeClr val="bg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7C76ADBA-C0D3-2DEE-8448-009D008A5C81}"/>
              </a:ext>
            </a:extLst>
          </p:cNvPr>
          <p:cNvSpPr/>
          <p:nvPr/>
        </p:nvSpPr>
        <p:spPr>
          <a:xfrm>
            <a:off x="4048952" y="1631184"/>
            <a:ext cx="415468" cy="41546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9050">
            <a:solidFill>
              <a:schemeClr val="bg1"/>
            </a:solidFill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3</a:t>
            </a:r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E5E56917-9AFC-372D-998B-3347A6A3DB27}"/>
              </a:ext>
            </a:extLst>
          </p:cNvPr>
          <p:cNvSpPr>
            <a:spLocks noChangeAspect="1"/>
          </p:cNvSpPr>
          <p:nvPr/>
        </p:nvSpPr>
        <p:spPr>
          <a:xfrm>
            <a:off x="1736855" y="1969917"/>
            <a:ext cx="477788" cy="47778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9050">
            <a:solidFill>
              <a:schemeClr val="bg1"/>
            </a:solidFill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  <a:latin typeface="Roboto"/>
                <a:ea typeface="Roboto"/>
                <a:cs typeface="Roboto"/>
              </a:rPr>
              <a:t>4</a:t>
            </a:r>
            <a:endParaRPr lang="ru-RU" b="1" dirty="0">
              <a:solidFill>
                <a:schemeClr val="bg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DE5BBAD3-A4F4-529F-2BF5-E1BB5085CF53}"/>
              </a:ext>
            </a:extLst>
          </p:cNvPr>
          <p:cNvSpPr/>
          <p:nvPr/>
        </p:nvSpPr>
        <p:spPr>
          <a:xfrm>
            <a:off x="2392014" y="4270493"/>
            <a:ext cx="415468" cy="415468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solidFill>
              <a:schemeClr val="bg1"/>
            </a:solidFill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5</a:t>
            </a:r>
          </a:p>
        </p:txBody>
      </p:sp>
      <p:cxnSp>
        <p:nvCxnSpPr>
          <p:cNvPr id="165" name="Google Shape;196;p36">
            <a:extLst>
              <a:ext uri="{FF2B5EF4-FFF2-40B4-BE49-F238E27FC236}">
                <a16:creationId xmlns:a16="http://schemas.microsoft.com/office/drawing/2014/main" id="{B994D247-1D40-7641-AF21-6EC9011667A0}"/>
              </a:ext>
            </a:extLst>
          </p:cNvPr>
          <p:cNvCxnSpPr>
            <a:cxnSpLocks/>
            <a:stCxn id="152" idx="2"/>
            <a:endCxn id="153" idx="6"/>
          </p:cNvCxnSpPr>
          <p:nvPr/>
        </p:nvCxnSpPr>
        <p:spPr>
          <a:xfrm rot="10800000">
            <a:off x="4464421" y="1838918"/>
            <a:ext cx="2276091" cy="1119838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68" name="Google Shape;196;p36">
            <a:extLst>
              <a:ext uri="{FF2B5EF4-FFF2-40B4-BE49-F238E27FC236}">
                <a16:creationId xmlns:a16="http://schemas.microsoft.com/office/drawing/2014/main" id="{3AFF8C00-9291-B7E5-7990-AD1AE3A3A8E3}"/>
              </a:ext>
            </a:extLst>
          </p:cNvPr>
          <p:cNvCxnSpPr>
            <a:cxnSpLocks/>
            <a:stCxn id="153" idx="2"/>
            <a:endCxn id="154" idx="6"/>
          </p:cNvCxnSpPr>
          <p:nvPr/>
        </p:nvCxnSpPr>
        <p:spPr>
          <a:xfrm rot="10800000" flipV="1">
            <a:off x="2214644" y="1838917"/>
            <a:ext cx="1834309" cy="369893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1" name="Google Shape;196;p36">
            <a:extLst>
              <a:ext uri="{FF2B5EF4-FFF2-40B4-BE49-F238E27FC236}">
                <a16:creationId xmlns:a16="http://schemas.microsoft.com/office/drawing/2014/main" id="{7F8CC97A-8279-EA9E-23EF-912B4D73E702}"/>
              </a:ext>
            </a:extLst>
          </p:cNvPr>
          <p:cNvCxnSpPr>
            <a:cxnSpLocks/>
            <a:stCxn id="154" idx="2"/>
            <a:endCxn id="155" idx="2"/>
          </p:cNvCxnSpPr>
          <p:nvPr/>
        </p:nvCxnSpPr>
        <p:spPr>
          <a:xfrm rot="10800000" flipH="1" flipV="1">
            <a:off x="1736854" y="2208811"/>
            <a:ext cx="655159" cy="2269416"/>
          </a:xfrm>
          <a:prstGeom prst="curvedConnector3">
            <a:avLst>
              <a:gd name="adj1" fmla="val -34892"/>
            </a:avLst>
          </a:prstGeom>
          <a:noFill/>
          <a:ln w="19050" cap="flat" cmpd="sng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6" name="Google Shape;196;p36">
            <a:extLst>
              <a:ext uri="{FF2B5EF4-FFF2-40B4-BE49-F238E27FC236}">
                <a16:creationId xmlns:a16="http://schemas.microsoft.com/office/drawing/2014/main" id="{E6C850B4-3502-A845-C5F8-D0854B82EC1B}"/>
              </a:ext>
            </a:extLst>
          </p:cNvPr>
          <p:cNvCxnSpPr>
            <a:cxnSpLocks/>
            <a:stCxn id="155" idx="6"/>
            <a:endCxn id="160" idx="2"/>
          </p:cNvCxnSpPr>
          <p:nvPr/>
        </p:nvCxnSpPr>
        <p:spPr>
          <a:xfrm>
            <a:off x="2807482" y="4478227"/>
            <a:ext cx="3551063" cy="6024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7" name="Google Shape;196;p36">
            <a:extLst>
              <a:ext uri="{FF2B5EF4-FFF2-40B4-BE49-F238E27FC236}">
                <a16:creationId xmlns:a16="http://schemas.microsoft.com/office/drawing/2014/main" id="{CA64937D-7BF4-8E31-2C6E-F51E978E98BF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95092" y="2887922"/>
            <a:ext cx="247665" cy="154345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24" name="Arrow: Down 323">
            <a:extLst>
              <a:ext uri="{FF2B5EF4-FFF2-40B4-BE49-F238E27FC236}">
                <a16:creationId xmlns:a16="http://schemas.microsoft.com/office/drawing/2014/main" id="{57C4075D-F6D3-611B-F620-2F646AFEAB95}"/>
              </a:ext>
            </a:extLst>
          </p:cNvPr>
          <p:cNvSpPr/>
          <p:nvPr/>
        </p:nvSpPr>
        <p:spPr>
          <a:xfrm>
            <a:off x="2352898" y="3659360"/>
            <a:ext cx="484632" cy="545911"/>
          </a:xfrm>
          <a:prstGeom prst="downArrow">
            <a:avLst>
              <a:gd name="adj1" fmla="val 66933"/>
              <a:gd name="adj2" fmla="val 50000"/>
            </a:avLst>
          </a:prstGeom>
          <a:solidFill>
            <a:schemeClr val="accent1">
              <a:lumMod val="75000"/>
            </a:schemeClr>
          </a:solidFill>
          <a:ln w="19050"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algn="ctr"/>
            <a:endParaRPr lang="ru-RU" b="1">
              <a:solidFill>
                <a:schemeClr val="bg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3D223195-F0B5-6505-F821-2BDEAAE69919}"/>
              </a:ext>
            </a:extLst>
          </p:cNvPr>
          <p:cNvSpPr txBox="1">
            <a:spLocks noChangeAspect="1"/>
          </p:cNvSpPr>
          <p:nvPr/>
        </p:nvSpPr>
        <p:spPr>
          <a:xfrm>
            <a:off x="2362229" y="3638827"/>
            <a:ext cx="465970" cy="4912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</a:t>
            </a:r>
          </a:p>
          <a:p>
            <a:pPr algn="ctr"/>
            <a:r>
              <a:rPr lang="en-US" sz="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ARE</a:t>
            </a:r>
          </a:p>
          <a:p>
            <a:pPr algn="ctr"/>
            <a:r>
              <a:rPr lang="en-US" sz="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HERE</a:t>
            </a:r>
            <a:endParaRPr lang="ru-RU" sz="8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550" name="Group 549">
            <a:extLst>
              <a:ext uri="{FF2B5EF4-FFF2-40B4-BE49-F238E27FC236}">
                <a16:creationId xmlns:a16="http://schemas.microsoft.com/office/drawing/2014/main" id="{A7FA81D2-A6AD-4F50-8FE6-5C636A466B8A}"/>
              </a:ext>
            </a:extLst>
          </p:cNvPr>
          <p:cNvGrpSpPr/>
          <p:nvPr/>
        </p:nvGrpSpPr>
        <p:grpSpPr>
          <a:xfrm>
            <a:off x="6358545" y="4244851"/>
            <a:ext cx="478800" cy="478800"/>
            <a:chOff x="4737136" y="4278905"/>
            <a:chExt cx="478800" cy="478800"/>
          </a:xfrm>
        </p:grpSpPr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9E714CEE-778D-20A8-D633-18CBC379007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37136" y="4278905"/>
              <a:ext cx="478800" cy="478800"/>
            </a:xfrm>
            <a:prstGeom prst="ellipse">
              <a:avLst/>
            </a:prstGeom>
            <a:solidFill>
              <a:srgbClr val="8B8EE3"/>
            </a:solidFill>
            <a:ln w="19050">
              <a:solidFill>
                <a:schemeClr val="bg1"/>
              </a:solidFill>
            </a:ln>
          </p:spPr>
          <p:txBody>
            <a:bodyPr spcFirstLastPara="1" wrap="square" lIns="162000" tIns="91425" rIns="162000" bIns="91425" anchor="ctr" anchorCtr="0">
              <a:noAutofit/>
            </a:bodyPr>
            <a:lstStyle/>
            <a:p>
              <a:pPr algn="ctr"/>
              <a:endParaRPr lang="ru-RU" b="1" dirty="0">
                <a:solidFill>
                  <a:schemeClr val="bg1"/>
                </a:solidFill>
                <a:latin typeface="Roboto"/>
                <a:ea typeface="Roboto"/>
                <a:cs typeface="Roboto"/>
              </a:endParaRPr>
            </a:p>
          </p:txBody>
        </p:sp>
        <p:pic>
          <p:nvPicPr>
            <p:cNvPr id="533" name="Graphic 532" descr="Race Flag with solid fill">
              <a:extLst>
                <a:ext uri="{FF2B5EF4-FFF2-40B4-BE49-F238E27FC236}">
                  <a16:creationId xmlns:a16="http://schemas.microsoft.com/office/drawing/2014/main" id="{9909BC32-6C59-CEB7-9CE1-03FEAA980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775373" y="4330107"/>
              <a:ext cx="402336" cy="402336"/>
            </a:xfrm>
            <a:prstGeom prst="rect">
              <a:avLst/>
            </a:prstGeom>
          </p:spPr>
        </p:pic>
      </p:grpSp>
      <p:sp>
        <p:nvSpPr>
          <p:cNvPr id="136" name="Google Shape;192;p36">
            <a:extLst>
              <a:ext uri="{FF2B5EF4-FFF2-40B4-BE49-F238E27FC236}">
                <a16:creationId xmlns:a16="http://schemas.microsoft.com/office/drawing/2014/main" id="{1F4778F4-E544-3C46-B9B2-64D11DD18A88}"/>
              </a:ext>
            </a:extLst>
          </p:cNvPr>
          <p:cNvSpPr/>
          <p:nvPr/>
        </p:nvSpPr>
        <p:spPr>
          <a:xfrm>
            <a:off x="5800661" y="1939679"/>
            <a:ext cx="2179977" cy="5793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Классические методы рекомендаций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Production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2093043"/>
            <a:ext cx="5355965" cy="39600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Особенности работы с большими объемами данных</a:t>
            </a:r>
            <a:endParaRPr dirty="0">
              <a:solidFill>
                <a:schemeClr val="bg2">
                  <a:lumMod val="75000"/>
                </a:schemeClr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341211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22479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Docker</a:t>
            </a:r>
            <a:r>
              <a:rPr lang="en-US">
                <a:solidFill>
                  <a:srgbClr val="1F1F1F"/>
                </a:solidFill>
                <a:latin typeface="Google Sans"/>
                <a:sym typeface="Roboto"/>
              </a:rPr>
              <a:t>: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Структура, применение</a:t>
            </a:r>
            <a:r>
              <a:rPr lang="ru-RU">
                <a:solidFill>
                  <a:srgbClr val="1F1F1F"/>
                </a:solidFill>
                <a:latin typeface="Google Sans"/>
                <a:sym typeface="Roboto"/>
              </a:rPr>
              <a:t>, деплой</a:t>
            </a:r>
            <a:endParaRPr lang="en-US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713086" y="1777416"/>
            <a:ext cx="607324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053552" y="2436950"/>
            <a:ext cx="192639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591900"/>
              </p:ext>
            </p:extLst>
          </p:nvPr>
        </p:nvGraphicFramePr>
        <p:xfrm>
          <a:off x="5097951" y="549114"/>
          <a:ext cx="2129766" cy="304800"/>
        </p:xfrm>
        <a:graphic>
          <a:graphicData uri="http://schemas.openxmlformats.org/drawingml/2006/table">
            <a:tbl>
              <a:tblPr firstRow="1" bandRow="1"/>
              <a:tblGrid>
                <a:gridCol w="354961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54961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54961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54961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54961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54961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28" name="Google Shape;271;p44">
            <a:extLst>
              <a:ext uri="{FF2B5EF4-FFF2-40B4-BE49-F238E27FC236}">
                <a16:creationId xmlns:a16="http://schemas.microsoft.com/office/drawing/2014/main" id="{005DACA9-53FC-BB4C-8427-1FCE77B838EC}"/>
              </a:ext>
            </a:extLst>
          </p:cNvPr>
          <p:cNvSpPr/>
          <p:nvPr/>
        </p:nvSpPr>
        <p:spPr>
          <a:xfrm>
            <a:off x="2226713" y="2654458"/>
            <a:ext cx="5355965" cy="592238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Внедрение рекомендательных систем на практике. </a:t>
            </a:r>
            <a:r>
              <a:rPr lang="ru-RU" dirty="0" err="1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Микросервисы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Google Sans"/>
                <a:sym typeface="Roboto"/>
              </a:rPr>
              <a:t>.</a:t>
            </a:r>
            <a:endParaRPr dirty="0">
              <a:solidFill>
                <a:schemeClr val="bg2">
                  <a:lumMod val="75000"/>
                </a:schemeClr>
              </a:solidFill>
              <a:latin typeface="Google Sans"/>
              <a:sym typeface="Roboto"/>
            </a:endParaRPr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371249C9-D6DF-0D4F-9D52-31A1B8118156}"/>
              </a:ext>
            </a:extLst>
          </p:cNvPr>
          <p:cNvCxnSpPr>
            <a:cxnSpLocks/>
            <a:stCxn id="271" idx="2"/>
            <a:endCxn id="28" idx="1"/>
          </p:cNvCxnSpPr>
          <p:nvPr/>
        </p:nvCxnSpPr>
        <p:spPr>
          <a:xfrm rot="16200000" flipH="1">
            <a:off x="1383319" y="2107183"/>
            <a:ext cx="1266858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060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sp>
        <p:nvSpPr>
          <p:cNvPr id="204" name="Google Shape;204;p37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 dirty="0">
                <a:solidFill>
                  <a:srgbClr val="FF9900"/>
                </a:solidFill>
              </a:rPr>
              <a:t>К концу занятия вы сможете</a:t>
            </a:r>
            <a:endParaRPr sz="1500" b="1" dirty="0">
              <a:solidFill>
                <a:srgbClr val="FF9900"/>
              </a:solidFill>
            </a:endParaRPr>
          </a:p>
        </p:txBody>
      </p:sp>
      <p:graphicFrame>
        <p:nvGraphicFramePr>
          <p:cNvPr id="5" name="Google Shape;210;p38">
            <a:extLst>
              <a:ext uri="{FF2B5EF4-FFF2-40B4-BE49-F238E27FC236}">
                <a16:creationId xmlns:a16="http://schemas.microsoft.com/office/drawing/2014/main" id="{B0C8E344-6310-094A-A544-66E8083E1A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9197067"/>
              </p:ext>
            </p:extLst>
          </p:nvPr>
        </p:nvGraphicFramePr>
        <p:xfrm>
          <a:off x="846750" y="1649963"/>
          <a:ext cx="7239000" cy="69111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ym typeface="Roboto"/>
                        </a:rPr>
                        <a:t>docker, </a:t>
                      </a:r>
                      <a:r>
                        <a:rPr lang="ru-RU" sz="1300" dirty="0">
                          <a:sym typeface="Roboto"/>
                        </a:rPr>
                        <a:t>для чего он используется и где применяется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sym typeface="Roboto"/>
                        </a:rPr>
                        <a:t>Научиться использовать </a:t>
                      </a:r>
                      <a:r>
                        <a:rPr lang="en-US" sz="1300" dirty="0">
                          <a:sym typeface="Roboto"/>
                        </a:rPr>
                        <a:t>docker </a:t>
                      </a:r>
                      <a:r>
                        <a:rPr lang="ru-RU" sz="1300" dirty="0">
                          <a:sym typeface="Roboto"/>
                        </a:rPr>
                        <a:t>для упаковки</a:t>
                      </a:r>
                      <a:r>
                        <a:rPr lang="en-US" sz="1300" dirty="0">
                          <a:sym typeface="Roboto"/>
                        </a:rPr>
                        <a:t> </a:t>
                      </a:r>
                      <a:r>
                        <a:rPr lang="ru-RU" sz="1300" dirty="0">
                          <a:sym typeface="Roboto"/>
                        </a:rPr>
                        <a:t>своего кода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Смысл</a:t>
            </a:r>
            <a:endParaRPr dirty="0"/>
          </a:p>
        </p:txBody>
      </p:sp>
      <p:graphicFrame>
        <p:nvGraphicFramePr>
          <p:cNvPr id="210" name="Google Shape;210;p38"/>
          <p:cNvGraphicFramePr/>
          <p:nvPr>
            <p:extLst>
              <p:ext uri="{D42A27DB-BD31-4B8C-83A1-F6EECF244321}">
                <p14:modId xmlns:p14="http://schemas.microsoft.com/office/powerpoint/2010/main" val="590747848"/>
              </p:ext>
            </p:extLst>
          </p:nvPr>
        </p:nvGraphicFramePr>
        <p:xfrm>
          <a:off x="952500" y="1544194"/>
          <a:ext cx="7239000" cy="6986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Изолирование окружения от хоста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Подготовка кода к развертыванию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1" name="Google Shape;211;p38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знать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4900"/>
              <a:t>Docker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BD232-874C-644B-880E-B7B67B47D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Virtualization vs containerization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5C84F0-90B0-3246-B787-1D5AE763E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6818"/>
            <a:ext cx="9144000" cy="3357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406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AAFC7-8250-6142-8E2B-EE9574208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Механизмы контейнеризации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5F096E-984E-304A-93B5-06724E038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713" y="1095785"/>
            <a:ext cx="2191155" cy="15157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0C477A-51AF-8F42-B1C9-52911B47C24E}"/>
              </a:ext>
            </a:extLst>
          </p:cNvPr>
          <p:cNvSpPr txBox="1"/>
          <p:nvPr/>
        </p:nvSpPr>
        <p:spPr>
          <a:xfrm>
            <a:off x="622570" y="1699795"/>
            <a:ext cx="7409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chroot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9AB943-3A93-2A47-9AB8-9EDD7F5FF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444" y="1005448"/>
            <a:ext cx="2579001" cy="13886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5145C1-7225-0845-8FE6-115BD595BB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570" y="3233482"/>
            <a:ext cx="2717260" cy="18388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F6BBCBA-4CF4-3F4F-B7AC-498D54151D5F}"/>
              </a:ext>
            </a:extLst>
          </p:cNvPr>
          <p:cNvSpPr txBox="1"/>
          <p:nvPr/>
        </p:nvSpPr>
        <p:spPr>
          <a:xfrm>
            <a:off x="1163508" y="2920866"/>
            <a:ext cx="16353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systemd-nspawn</a:t>
            </a:r>
            <a:endParaRPr lang="en-US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8380D70-9945-C148-9B59-4488E26C2E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6289" y="1142367"/>
            <a:ext cx="1622178" cy="13201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9569CFD-DFAD-7043-80EE-4B74DAB8F9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2712" y="2363146"/>
            <a:ext cx="3371575" cy="2786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8725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F67FE-39E2-D44F-A19D-46490D9A8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chroot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33B9E5-1CF3-6F4A-9DE0-2561B317A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1754" y="752732"/>
            <a:ext cx="4060044" cy="40600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F6465A-E9FA-6D46-93AD-722049EB5888}"/>
              </a:ext>
            </a:extLst>
          </p:cNvPr>
          <p:cNvSpPr txBox="1"/>
          <p:nvPr/>
        </p:nvSpPr>
        <p:spPr>
          <a:xfrm>
            <a:off x="447472" y="1628592"/>
            <a:ext cx="37678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Roboto" panose="02000000000000000000" pitchFamily="2" charset="0"/>
              </a:rPr>
              <a:t>Chroot – </a:t>
            </a:r>
            <a:r>
              <a:rPr lang="ru-RU" sz="1800" dirty="0">
                <a:effectLst/>
                <a:latin typeface="Roboto" panose="02000000000000000000" pitchFamily="2" charset="0"/>
              </a:rPr>
              <a:t>от англ. </a:t>
            </a:r>
            <a:r>
              <a:rPr lang="en-US" sz="1800" b="1" dirty="0">
                <a:effectLst/>
                <a:latin typeface="Roboto" panose="02000000000000000000" pitchFamily="2" charset="0"/>
              </a:rPr>
              <a:t>change root </a:t>
            </a:r>
            <a:r>
              <a:rPr lang="en-US" sz="1800" dirty="0">
                <a:effectLst/>
                <a:latin typeface="Roboto" panose="02000000000000000000" pitchFamily="2" charset="0"/>
              </a:rPr>
              <a:t>- </a:t>
            </a:r>
            <a:r>
              <a:rPr lang="ru-RU" sz="1800" dirty="0">
                <a:effectLst/>
                <a:latin typeface="Roboto" panose="02000000000000000000" pitchFamily="2" charset="0"/>
              </a:rPr>
              <a:t>смена корневого каталога</a:t>
            </a:r>
          </a:p>
          <a:p>
            <a:r>
              <a:rPr lang="ru-RU" sz="1800" dirty="0">
                <a:effectLst/>
                <a:latin typeface="Roboto" panose="02000000000000000000" pitchFamily="2" charset="0"/>
              </a:rPr>
              <a:t> </a:t>
            </a:r>
            <a:endParaRPr lang="ru-RU" dirty="0"/>
          </a:p>
          <a:p>
            <a:r>
              <a:rPr lang="ru-RU" sz="1800" dirty="0">
                <a:effectLst/>
                <a:latin typeface="Roboto" panose="02000000000000000000" pitchFamily="2" charset="0"/>
              </a:rPr>
              <a:t>- </a:t>
            </a:r>
            <a:r>
              <a:rPr lang="ru-RU" sz="1800" dirty="0">
                <a:latin typeface="Roboto" panose="02000000000000000000" pitchFamily="2" charset="0"/>
              </a:rPr>
              <a:t>э</a:t>
            </a:r>
            <a:r>
              <a:rPr lang="ru-RU" sz="1800" dirty="0">
                <a:effectLst/>
                <a:latin typeface="Roboto" panose="02000000000000000000" pitchFamily="2" charset="0"/>
              </a:rPr>
              <a:t>то утилита в </a:t>
            </a:r>
            <a:r>
              <a:rPr lang="en-US" sz="1800" dirty="0">
                <a:effectLst/>
                <a:latin typeface="Roboto" panose="02000000000000000000" pitchFamily="2" charset="0"/>
              </a:rPr>
              <a:t>Unix-</a:t>
            </a:r>
            <a:r>
              <a:rPr lang="ru-RU" sz="1800" dirty="0">
                <a:effectLst/>
                <a:latin typeface="Roboto" panose="02000000000000000000" pitchFamily="2" charset="0"/>
              </a:rPr>
              <a:t>подобн</a:t>
            </a:r>
            <a:r>
              <a:rPr lang="ru-RU" sz="1800" dirty="0">
                <a:latin typeface="Roboto" panose="02000000000000000000" pitchFamily="2" charset="0"/>
              </a:rPr>
              <a:t>ы</a:t>
            </a:r>
            <a:r>
              <a:rPr lang="ru-RU" sz="1800" dirty="0">
                <a:effectLst/>
                <a:latin typeface="Roboto" panose="02000000000000000000" pitchFamily="2" charset="0"/>
              </a:rPr>
              <a:t>х системах, которая</a:t>
            </a:r>
            <a:r>
              <a:rPr lang="en-TR" sz="1800" dirty="0">
                <a:effectLst/>
                <a:latin typeface="Roboto" panose="02000000000000000000" pitchFamily="2" charset="0"/>
              </a:rPr>
              <a:t> </a:t>
            </a:r>
            <a:r>
              <a:rPr lang="ru-RU" sz="1800" dirty="0">
                <a:effectLst/>
                <a:latin typeface="Roboto" panose="02000000000000000000" pitchFamily="2" charset="0"/>
              </a:rPr>
              <a:t>позволяет изменить</a:t>
            </a:r>
            <a:r>
              <a:rPr lang="en-TR" sz="1800" dirty="0">
                <a:effectLst/>
                <a:latin typeface="Roboto" panose="02000000000000000000" pitchFamily="2" charset="0"/>
              </a:rPr>
              <a:t> </a:t>
            </a:r>
            <a:r>
              <a:rPr lang="ru-RU" sz="1800" dirty="0">
                <a:effectLst/>
                <a:latin typeface="Roboto" panose="02000000000000000000" pitchFamily="2" charset="0"/>
              </a:rPr>
              <a:t>корневой каталог процесса на другой каталог в файловой системе.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1073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BCE87-CD9F-714D-823C-0FF280E13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systemd-nspawn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3123F9-A001-7948-830E-F34C0A435A95}"/>
              </a:ext>
            </a:extLst>
          </p:cNvPr>
          <p:cNvSpPr txBox="1"/>
          <p:nvPr/>
        </p:nvSpPr>
        <p:spPr>
          <a:xfrm>
            <a:off x="500550" y="1718553"/>
            <a:ext cx="423357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err="1">
                <a:effectLst/>
                <a:latin typeface="Roboto" panose="02000000000000000000" pitchFamily="2" charset="0"/>
              </a:rPr>
              <a:t>systemd-nspawn</a:t>
            </a:r>
            <a:r>
              <a:rPr lang="en-US" sz="1800" b="1" dirty="0">
                <a:effectLst/>
                <a:latin typeface="Roboto" panose="02000000000000000000" pitchFamily="2" charset="0"/>
              </a:rPr>
              <a:t> </a:t>
            </a:r>
            <a:endParaRPr lang="en-US" dirty="0"/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ru-RU" sz="1800" dirty="0">
                <a:effectLst/>
                <a:latin typeface="Roboto" panose="02000000000000000000" pitchFamily="2" charset="0"/>
              </a:rPr>
              <a:t>это утилита виртуализации на уровне операционной системы</a:t>
            </a:r>
            <a:r>
              <a:rPr lang="en-TR" sz="1800" dirty="0">
                <a:effectLst/>
                <a:latin typeface="Roboto" panose="02000000000000000000" pitchFamily="2" charset="0"/>
              </a:rPr>
              <a:t>, </a:t>
            </a:r>
            <a:r>
              <a:rPr lang="ru-RU" sz="1800" dirty="0">
                <a:effectLst/>
                <a:latin typeface="Roboto" panose="02000000000000000000" pitchFamily="2" charset="0"/>
              </a:rPr>
              <a:t>входящая</a:t>
            </a:r>
            <a:r>
              <a:rPr lang="en-TR" sz="1800" dirty="0">
                <a:effectLst/>
                <a:latin typeface="Roboto" panose="02000000000000000000" pitchFamily="2" charset="0"/>
              </a:rPr>
              <a:t> </a:t>
            </a:r>
            <a:r>
              <a:rPr lang="ru-RU" sz="1800" dirty="0">
                <a:effectLst/>
                <a:latin typeface="Roboto" panose="02000000000000000000" pitchFamily="2" charset="0"/>
              </a:rPr>
              <a:t>в состав системы</a:t>
            </a:r>
            <a:r>
              <a:rPr lang="en-TR" sz="1800" dirty="0">
                <a:effectLst/>
                <a:latin typeface="Roboto" panose="02000000000000000000" pitchFamily="2" charset="0"/>
              </a:rPr>
              <a:t> </a:t>
            </a:r>
            <a:r>
              <a:rPr lang="ru-RU" sz="1800" dirty="0">
                <a:effectLst/>
                <a:latin typeface="Roboto" panose="02000000000000000000" pitchFamily="2" charset="0"/>
              </a:rPr>
              <a:t>инициализации </a:t>
            </a:r>
            <a:r>
              <a:rPr lang="en-US" sz="1800" dirty="0" err="1">
                <a:effectLst/>
                <a:latin typeface="Roboto" panose="02000000000000000000" pitchFamily="2" charset="0"/>
              </a:rPr>
              <a:t>systemd</a:t>
            </a:r>
            <a:r>
              <a:rPr lang="en-US" sz="1800" dirty="0">
                <a:effectLst/>
                <a:latin typeface="Roboto" panose="02000000000000000000" pitchFamily="2" charset="0"/>
              </a:rPr>
              <a:t> </a:t>
            </a:r>
            <a:r>
              <a:rPr lang="ru-RU" sz="1800" dirty="0">
                <a:effectLst/>
                <a:latin typeface="Roboto" panose="02000000000000000000" pitchFamily="2" charset="0"/>
              </a:rPr>
              <a:t>в </a:t>
            </a:r>
            <a:r>
              <a:rPr lang="en-US" sz="1800" dirty="0">
                <a:effectLst/>
                <a:latin typeface="Roboto" panose="02000000000000000000" pitchFamily="2" charset="0"/>
              </a:rPr>
              <a:t>Linux. </a:t>
            </a:r>
            <a:endParaRPr lang="ru-RU" sz="1800" dirty="0">
              <a:effectLst/>
              <a:latin typeface="Roboto" panose="02000000000000000000" pitchFamily="2" charset="0"/>
            </a:endParaRP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sz="1800" b="1" dirty="0" err="1">
                <a:effectLst/>
                <a:latin typeface="Roboto" panose="02000000000000000000" pitchFamily="2" charset="0"/>
              </a:rPr>
              <a:t>systemd-nspawn</a:t>
            </a:r>
            <a:r>
              <a:rPr lang="en-US" sz="1800" b="1" dirty="0">
                <a:effectLst/>
                <a:latin typeface="Roboto" panose="02000000000000000000" pitchFamily="2" charset="0"/>
              </a:rPr>
              <a:t> </a:t>
            </a:r>
            <a:r>
              <a:rPr lang="ru-RU" sz="1800" dirty="0">
                <a:effectLst/>
                <a:latin typeface="Roboto" panose="02000000000000000000" pitchFamily="2" charset="0"/>
              </a:rPr>
              <a:t>похож на команду </a:t>
            </a:r>
            <a:r>
              <a:rPr lang="en-US" sz="1800" i="1" dirty="0">
                <a:effectLst/>
                <a:latin typeface="Roboto" panose="02000000000000000000" pitchFamily="2" charset="0"/>
              </a:rPr>
              <a:t>chroot</a:t>
            </a:r>
            <a:r>
              <a:rPr lang="en-US" sz="1800" dirty="0">
                <a:effectLst/>
                <a:latin typeface="Roboto" panose="02000000000000000000" pitchFamily="2" charset="0"/>
              </a:rPr>
              <a:t>, </a:t>
            </a:r>
            <a:r>
              <a:rPr lang="ru-RU" sz="1800" dirty="0">
                <a:effectLst/>
                <a:latin typeface="Roboto" panose="02000000000000000000" pitchFamily="2" charset="0"/>
              </a:rPr>
              <a:t>но обеспечивает лучшую изоляцию конте</a:t>
            </a:r>
            <a:r>
              <a:rPr lang="ru-RU" sz="1800" dirty="0">
                <a:latin typeface="Roboto" panose="02000000000000000000" pitchFamily="2" charset="0"/>
              </a:rPr>
              <a:t>й</a:t>
            </a:r>
            <a:r>
              <a:rPr lang="ru-RU" sz="1800" dirty="0">
                <a:effectLst/>
                <a:latin typeface="Roboto" panose="02000000000000000000" pitchFamily="2" charset="0"/>
              </a:rPr>
              <a:t>нера от хост системы</a:t>
            </a:r>
            <a:endParaRPr lang="ru-RU" dirty="0">
              <a:effectLst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41A320-59CD-714C-A35F-3D4591921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7811" y="1579780"/>
            <a:ext cx="4383339" cy="296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951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3D876-B228-1444-88EA-924734226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LXC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19B5F2-C8F4-1B46-9152-0C7766404A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49" t="10152" r="42616" b="8146"/>
          <a:stretch/>
        </p:blipFill>
        <p:spPr>
          <a:xfrm>
            <a:off x="1442795" y="421532"/>
            <a:ext cx="541647" cy="4724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98FA65-DC8E-874F-AEBC-8D7BA15108EC}"/>
              </a:ext>
            </a:extLst>
          </p:cNvPr>
          <p:cNvSpPr txBox="1"/>
          <p:nvPr/>
        </p:nvSpPr>
        <p:spPr>
          <a:xfrm>
            <a:off x="551234" y="1586865"/>
            <a:ext cx="3599234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effectLst/>
                <a:latin typeface="Roboto" panose="02000000000000000000" pitchFamily="2" charset="0"/>
              </a:rPr>
              <a:t>от англ. </a:t>
            </a:r>
            <a:r>
              <a:rPr lang="en-US" sz="1800" b="1" dirty="0">
                <a:effectLst/>
                <a:latin typeface="Roboto" panose="02000000000000000000" pitchFamily="2" charset="0"/>
              </a:rPr>
              <a:t>Linux Containers</a:t>
            </a:r>
            <a:r>
              <a:rPr lang="en-US" sz="1800" dirty="0">
                <a:effectLst/>
                <a:latin typeface="Roboto" panose="02000000000000000000" pitchFamily="2" charset="0"/>
              </a:rPr>
              <a:t> – </a:t>
            </a:r>
            <a:endParaRPr lang="ru-RU" sz="1800" dirty="0">
              <a:effectLst/>
              <a:latin typeface="Roboto" panose="02000000000000000000" pitchFamily="2" charset="0"/>
            </a:endParaRPr>
          </a:p>
          <a:p>
            <a:endParaRPr lang="en-US" dirty="0"/>
          </a:p>
          <a:p>
            <a:r>
              <a:rPr lang="en-US" sz="1800" dirty="0">
                <a:effectLst/>
                <a:latin typeface="Roboto" panose="02000000000000000000" pitchFamily="2" charset="0"/>
              </a:rPr>
              <a:t>- </a:t>
            </a:r>
            <a:r>
              <a:rPr lang="ru-RU" sz="1800" dirty="0">
                <a:effectLst/>
                <a:latin typeface="Roboto" panose="02000000000000000000" pitchFamily="2" charset="0"/>
              </a:rPr>
              <a:t>технология</a:t>
            </a:r>
            <a:r>
              <a:rPr lang="en-TR" sz="1800" dirty="0">
                <a:effectLst/>
                <a:latin typeface="Roboto" panose="02000000000000000000" pitchFamily="2" charset="0"/>
              </a:rPr>
              <a:t> </a:t>
            </a:r>
            <a:r>
              <a:rPr lang="ru-RU" sz="1800" dirty="0">
                <a:effectLst/>
                <a:latin typeface="Roboto" panose="02000000000000000000" pitchFamily="2" charset="0"/>
              </a:rPr>
              <a:t>виртуализации на уровне операционной системы</a:t>
            </a:r>
            <a:r>
              <a:rPr lang="en-TR" sz="1800" dirty="0">
                <a:effectLst/>
                <a:latin typeface="Roboto" panose="02000000000000000000" pitchFamily="2" charset="0"/>
              </a:rPr>
              <a:t> </a:t>
            </a:r>
            <a:r>
              <a:rPr lang="ru-RU" sz="1800" dirty="0">
                <a:effectLst/>
                <a:latin typeface="Roboto" panose="02000000000000000000" pitchFamily="2" charset="0"/>
              </a:rPr>
              <a:t>для</a:t>
            </a:r>
            <a:r>
              <a:rPr lang="en-TR" sz="1800" dirty="0">
                <a:effectLst/>
                <a:latin typeface="Roboto" panose="02000000000000000000" pitchFamily="2" charset="0"/>
              </a:rPr>
              <a:t> </a:t>
            </a:r>
            <a:r>
              <a:rPr lang="ru-RU" sz="1800" dirty="0">
                <a:effectLst/>
                <a:latin typeface="Roboto" panose="02000000000000000000" pitchFamily="2" charset="0"/>
              </a:rPr>
              <a:t>изоляции процессов и ресурсов между различными приложениями и сервисами. </a:t>
            </a:r>
            <a:endParaRPr lang="ru-R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59D054-5175-BE44-9E35-2D073D8621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837" t="7727" r="4114" b="2513"/>
          <a:stretch/>
        </p:blipFill>
        <p:spPr>
          <a:xfrm>
            <a:off x="4831404" y="421531"/>
            <a:ext cx="3936460" cy="4565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801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126C46-A300-6143-BEA7-4184EAB8E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23" y="0"/>
            <a:ext cx="4715078" cy="13152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BB5BB4-3C47-3B4C-996D-763398AFF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5752" y="994755"/>
            <a:ext cx="4961091" cy="38958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050502-BC52-BD48-87D8-58E9BC55FBA1}"/>
              </a:ext>
            </a:extLst>
          </p:cNvPr>
          <p:cNvSpPr txBox="1"/>
          <p:nvPr/>
        </p:nvSpPr>
        <p:spPr>
          <a:xfrm>
            <a:off x="557719" y="1979518"/>
            <a:ext cx="267834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err="1">
                <a:effectLst/>
                <a:latin typeface="Roboto" panose="02000000000000000000" pitchFamily="2" charset="0"/>
              </a:rPr>
              <a:t>podman</a:t>
            </a:r>
            <a:r>
              <a:rPr lang="en-US" sz="1800" b="1" dirty="0">
                <a:effectLst/>
                <a:latin typeface="Roboto" panose="02000000000000000000" pitchFamily="2" charset="0"/>
              </a:rPr>
              <a:t> </a:t>
            </a:r>
            <a:endParaRPr lang="ru-RU" sz="1800" b="1" dirty="0">
              <a:effectLst/>
              <a:latin typeface="Roboto" panose="02000000000000000000" pitchFamily="2" charset="0"/>
            </a:endParaRPr>
          </a:p>
          <a:p>
            <a:endParaRPr lang="en-US" dirty="0"/>
          </a:p>
          <a:p>
            <a:r>
              <a:rPr lang="en-US" sz="1800" dirty="0">
                <a:effectLst/>
                <a:latin typeface="Roboto" panose="02000000000000000000" pitchFamily="2" charset="0"/>
              </a:rPr>
              <a:t>- </a:t>
            </a:r>
            <a:r>
              <a:rPr lang="ru-RU" sz="1800" dirty="0">
                <a:effectLst/>
                <a:latin typeface="Roboto" panose="02000000000000000000" pitchFamily="2" charset="0"/>
              </a:rPr>
              <a:t>это утилита для</a:t>
            </a:r>
            <a:r>
              <a:rPr lang="en-TR" sz="1800" dirty="0">
                <a:effectLst/>
                <a:latin typeface="Roboto" panose="02000000000000000000" pitchFamily="2" charset="0"/>
              </a:rPr>
              <a:t> </a:t>
            </a:r>
            <a:r>
              <a:rPr lang="ru-RU" sz="1800" dirty="0">
                <a:effectLst/>
                <a:latin typeface="Roboto" panose="02000000000000000000" pitchFamily="2" charset="0"/>
              </a:rPr>
              <a:t>управления</a:t>
            </a:r>
            <a:r>
              <a:rPr lang="en-TR" sz="1800" dirty="0">
                <a:effectLst/>
                <a:latin typeface="Roboto" panose="02000000000000000000" pitchFamily="2" charset="0"/>
              </a:rPr>
              <a:t> </a:t>
            </a:r>
            <a:r>
              <a:rPr lang="ru-RU" sz="1800" dirty="0">
                <a:effectLst/>
                <a:latin typeface="Roboto" panose="02000000000000000000" pitchFamily="2" charset="0"/>
              </a:rPr>
              <a:t>контейнерами </a:t>
            </a:r>
            <a:br>
              <a:rPr lang="en-US" sz="1800" dirty="0">
                <a:effectLst/>
                <a:latin typeface="Roboto" panose="02000000000000000000" pitchFamily="2" charset="0"/>
              </a:rPr>
            </a:br>
            <a:r>
              <a:rPr lang="ru-RU" sz="1800" b="1" i="1" dirty="0">
                <a:effectLst/>
                <a:latin typeface="Roboto" panose="02000000000000000000" pitchFamily="2" charset="0"/>
              </a:rPr>
              <a:t>на базе </a:t>
            </a:r>
            <a:r>
              <a:rPr lang="en-US" sz="1800" b="1" i="1" dirty="0">
                <a:effectLst/>
                <a:latin typeface="Roboto" panose="02000000000000000000" pitchFamily="2" charset="0"/>
              </a:rPr>
              <a:t>Linux</a:t>
            </a:r>
            <a:r>
              <a:rPr lang="en-US" sz="1800" dirty="0">
                <a:effectLst/>
                <a:latin typeface="Roboto" panose="02000000000000000000" pitchFamily="2" charset="0"/>
              </a:rPr>
              <a:t>, </a:t>
            </a:r>
            <a:r>
              <a:rPr lang="ru-RU" sz="1800" dirty="0">
                <a:effectLst/>
                <a:latin typeface="Roboto" panose="02000000000000000000" pitchFamily="2" charset="0"/>
              </a:rPr>
              <a:t>которая</a:t>
            </a:r>
            <a:r>
              <a:rPr lang="en-TR" sz="1800" dirty="0">
                <a:effectLst/>
                <a:latin typeface="Roboto" panose="02000000000000000000" pitchFamily="2" charset="0"/>
              </a:rPr>
              <a:t> </a:t>
            </a:r>
            <a:r>
              <a:rPr lang="ru-RU" sz="1800" dirty="0">
                <a:effectLst/>
                <a:latin typeface="Roboto" panose="02000000000000000000" pitchFamily="2" charset="0"/>
              </a:rPr>
              <a:t>является</a:t>
            </a:r>
            <a:r>
              <a:rPr lang="en-TR" sz="1800" dirty="0">
                <a:effectLst/>
                <a:latin typeface="Roboto" panose="02000000000000000000" pitchFamily="2" charset="0"/>
              </a:rPr>
              <a:t> </a:t>
            </a:r>
            <a:r>
              <a:rPr lang="ru-RU" sz="1800" dirty="0">
                <a:effectLst/>
                <a:latin typeface="Roboto" panose="02000000000000000000" pitchFamily="2" charset="0"/>
              </a:rPr>
              <a:t>альтернативой </a:t>
            </a:r>
            <a:r>
              <a:rPr lang="en-US" sz="1800" dirty="0">
                <a:effectLst/>
                <a:latin typeface="Roboto" panose="02000000000000000000" pitchFamily="2" charset="0"/>
              </a:rPr>
              <a:t>Docker.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709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9A2B05-3E77-624B-83E1-87ED35DFC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6" y="128323"/>
            <a:ext cx="3391711" cy="8055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D6A556-7999-684B-B20C-8C0103FF5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906" y="1120437"/>
            <a:ext cx="3454400" cy="3175000"/>
          </a:xfrm>
          <a:prstGeom prst="rect">
            <a:avLst/>
          </a:prstGeom>
        </p:spPr>
      </p:pic>
      <p:pic>
        <p:nvPicPr>
          <p:cNvPr id="6" name="Google Shape;245;p40">
            <a:extLst>
              <a:ext uri="{FF2B5EF4-FFF2-40B4-BE49-F238E27FC236}">
                <a16:creationId xmlns:a16="http://schemas.microsoft.com/office/drawing/2014/main" id="{778E4B63-E93A-5B4E-AA45-CDB1E2F8B2B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32136" y="1738008"/>
            <a:ext cx="5025958" cy="24406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74334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5BB36FD-8933-EA4F-8648-6AF881E90D3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757"/>
          <a:stretch/>
        </p:blipFill>
        <p:spPr>
          <a:xfrm>
            <a:off x="0" y="0"/>
            <a:ext cx="9170490" cy="5143500"/>
          </a:xfrm>
          <a:prstGeom prst="rect">
            <a:avLst/>
          </a:prstGeom>
        </p:spPr>
      </p:pic>
      <p:sp>
        <p:nvSpPr>
          <p:cNvPr id="4" name="Google Shape;209;p38">
            <a:extLst>
              <a:ext uri="{FF2B5EF4-FFF2-40B4-BE49-F238E27FC236}">
                <a16:creationId xmlns:a16="http://schemas.microsoft.com/office/drawing/2014/main" id="{031FF106-1400-6740-80DE-B4549C27D7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Deployment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25182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3200"/>
              <a:t>Docker</a:t>
            </a:r>
            <a:endParaRPr/>
          </a:p>
        </p:txBody>
      </p:sp>
      <p:sp>
        <p:nvSpPr>
          <p:cNvPr id="233" name="Google Shape;233;p38"/>
          <p:cNvSpPr txBox="1"/>
          <p:nvPr/>
        </p:nvSpPr>
        <p:spPr>
          <a:xfrm>
            <a:off x="500550" y="1426624"/>
            <a:ext cx="6997530" cy="3288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55600" marR="40132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ru-RU" sz="22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Абстракция от </a:t>
            </a:r>
            <a:r>
              <a:rPr lang="ru-RU" sz="22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host</a:t>
            </a:r>
            <a:r>
              <a:rPr lang="ru-RU" sz="22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-системы</a:t>
            </a:r>
            <a:endParaRPr sz="22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55600" marR="40132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ru-RU" sz="22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Легковесные изолированные окружения</a:t>
            </a:r>
            <a:endParaRPr sz="22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55600" marR="40132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ru-RU" sz="22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Общие слои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2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образов и</a:t>
            </a:r>
            <a:r>
              <a:rPr lang="ru-RU" sz="22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файловой системы</a:t>
            </a:r>
            <a:endParaRPr sz="22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55600" marR="40132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ru-RU" sz="22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Компоновка и предсказуемость</a:t>
            </a:r>
            <a:endParaRPr sz="22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55600" marR="5080" lvl="0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ru-RU" sz="22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Простое управления зависимостями</a:t>
            </a:r>
            <a:endParaRPr sz="22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55600" marR="5080" lvl="0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ru-RU" sz="22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Дистрибуцию и тиражируемость</a:t>
            </a:r>
            <a:endParaRPr sz="22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55600" marR="5080" lvl="0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ru-RU" sz="22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Стандартизация описания окружения, сборки</a:t>
            </a:r>
            <a:endParaRPr sz="22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55600" marR="5080" lvl="0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ru-RU" sz="22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Воспроизводимость</a:t>
            </a:r>
            <a:endParaRPr sz="22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2DDA54-EBBA-8348-B165-AF9DA099F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0616" y="339913"/>
            <a:ext cx="1892834" cy="156421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06BB8-A721-B14F-A3A6-CBAF857E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Unionfs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9CEF88-892F-784A-B9A1-77B3AAE0E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09" y="1900777"/>
            <a:ext cx="5918200" cy="1816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FA5CB7-32DF-5C41-BFAF-FB6343863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825" y="1900777"/>
            <a:ext cx="2421466" cy="18161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Right Arrow 6">
            <a:extLst>
              <a:ext uri="{FF2B5EF4-FFF2-40B4-BE49-F238E27FC236}">
                <a16:creationId xmlns:a16="http://schemas.microsoft.com/office/drawing/2014/main" id="{61A723CE-A302-844F-82AA-3BB56E917E76}"/>
              </a:ext>
            </a:extLst>
          </p:cNvPr>
          <p:cNvSpPr/>
          <p:nvPr/>
        </p:nvSpPr>
        <p:spPr>
          <a:xfrm>
            <a:off x="6105909" y="2708307"/>
            <a:ext cx="356681" cy="201039"/>
          </a:xfrm>
          <a:prstGeom prst="rightArrow">
            <a:avLst>
              <a:gd name="adj1" fmla="val 50000"/>
              <a:gd name="adj2" fmla="val 82787"/>
            </a:avLst>
          </a:prstGeom>
          <a:solidFill>
            <a:schemeClr val="bg1"/>
          </a:solidFill>
          <a:ln w="95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AFA577-CE75-914F-830F-632001A079B9}"/>
              </a:ext>
            </a:extLst>
          </p:cNvPr>
          <p:cNvSpPr/>
          <p:nvPr/>
        </p:nvSpPr>
        <p:spPr>
          <a:xfrm>
            <a:off x="3780817" y="2571750"/>
            <a:ext cx="473413" cy="3375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3118B2-05DE-6444-A3C5-E868C072F600}"/>
              </a:ext>
            </a:extLst>
          </p:cNvPr>
          <p:cNvSpPr/>
          <p:nvPr/>
        </p:nvSpPr>
        <p:spPr>
          <a:xfrm>
            <a:off x="1698916" y="2565449"/>
            <a:ext cx="473413" cy="3375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6EAD1A59-18D4-D64E-8E2F-E38ED99ED8D1}"/>
              </a:ext>
            </a:extLst>
          </p:cNvPr>
          <p:cNvSpPr/>
          <p:nvPr/>
        </p:nvSpPr>
        <p:spPr>
          <a:xfrm>
            <a:off x="3933666" y="2708307"/>
            <a:ext cx="356681" cy="201039"/>
          </a:xfrm>
          <a:prstGeom prst="rightArrow">
            <a:avLst>
              <a:gd name="adj1" fmla="val 50000"/>
              <a:gd name="adj2" fmla="val 82787"/>
            </a:avLst>
          </a:prstGeom>
          <a:solidFill>
            <a:schemeClr val="bg1"/>
          </a:solidFill>
          <a:ln w="95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B16F702A-752A-2A40-99E2-924CA6631C85}"/>
              </a:ext>
            </a:extLst>
          </p:cNvPr>
          <p:cNvSpPr/>
          <p:nvPr/>
        </p:nvSpPr>
        <p:spPr>
          <a:xfrm>
            <a:off x="1827221" y="2708307"/>
            <a:ext cx="356681" cy="201039"/>
          </a:xfrm>
          <a:prstGeom prst="rightArrow">
            <a:avLst>
              <a:gd name="adj1" fmla="val 50000"/>
              <a:gd name="adj2" fmla="val 82787"/>
            </a:avLst>
          </a:prstGeom>
          <a:solidFill>
            <a:schemeClr val="bg1"/>
          </a:solidFill>
          <a:ln w="95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3451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3200" dirty="0" err="1"/>
              <a:t>Docker</a:t>
            </a:r>
            <a:r>
              <a:rPr lang="ru-RU" sz="3200" dirty="0"/>
              <a:t> </a:t>
            </a:r>
            <a:r>
              <a:rPr lang="en-US" sz="3200" dirty="0"/>
              <a:t>image -&gt; Docker container</a:t>
            </a:r>
            <a:endParaRPr dirty="0"/>
          </a:p>
        </p:txBody>
      </p:sp>
      <p:pic>
        <p:nvPicPr>
          <p:cNvPr id="269" name="Google Shape;269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9601" y="1135380"/>
            <a:ext cx="6944797" cy="36011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3200"/>
              <a:t>Docker unionfs</a:t>
            </a:r>
            <a:endParaRPr/>
          </a:p>
        </p:txBody>
      </p:sp>
      <p:pic>
        <p:nvPicPr>
          <p:cNvPr id="275" name="Google Shape;275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0252" y="1063464"/>
            <a:ext cx="7583496" cy="3604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3200" dirty="0" err="1"/>
              <a:t>Docker</a:t>
            </a:r>
            <a:r>
              <a:rPr lang="ru-RU" sz="3200" dirty="0"/>
              <a:t> </a:t>
            </a:r>
            <a:r>
              <a:rPr lang="ru-RU" sz="3200" dirty="0" err="1"/>
              <a:t>unionfs</a:t>
            </a:r>
            <a:r>
              <a:rPr lang="ru-RU" sz="3200" dirty="0"/>
              <a:t> - пример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F82EEB-78D6-9A44-AB4C-531FF258A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50" y="945856"/>
            <a:ext cx="4147942" cy="40355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F13DD4-8BB6-AC4C-959B-5334AD2F0F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1307" y="945856"/>
            <a:ext cx="3684081" cy="674043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9ACCFC8-205B-174F-BE97-4BF99330F254}"/>
              </a:ext>
            </a:extLst>
          </p:cNvPr>
          <p:cNvSpPr/>
          <p:nvPr/>
        </p:nvSpPr>
        <p:spPr>
          <a:xfrm>
            <a:off x="4648492" y="1159457"/>
            <a:ext cx="649840" cy="460442"/>
          </a:xfrm>
          <a:custGeom>
            <a:avLst/>
            <a:gdLst>
              <a:gd name="connsiteX0" fmla="*/ 0 w 642026"/>
              <a:gd name="connsiteY0" fmla="*/ 460442 h 460442"/>
              <a:gd name="connsiteX1" fmla="*/ 6486 w 642026"/>
              <a:gd name="connsiteY1" fmla="*/ 0 h 460442"/>
              <a:gd name="connsiteX2" fmla="*/ 642026 w 642026"/>
              <a:gd name="connsiteY2" fmla="*/ 6485 h 460442"/>
              <a:gd name="connsiteX3" fmla="*/ 642026 w 642026"/>
              <a:gd name="connsiteY3" fmla="*/ 201038 h 460442"/>
              <a:gd name="connsiteX4" fmla="*/ 0 w 642026"/>
              <a:gd name="connsiteY4" fmla="*/ 460442 h 460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2026" h="460442">
                <a:moveTo>
                  <a:pt x="0" y="460442"/>
                </a:moveTo>
                <a:lnTo>
                  <a:pt x="6486" y="0"/>
                </a:lnTo>
                <a:lnTo>
                  <a:pt x="642026" y="6485"/>
                </a:lnTo>
                <a:lnTo>
                  <a:pt x="642026" y="201038"/>
                </a:lnTo>
                <a:lnTo>
                  <a:pt x="0" y="46044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8C5AD5CB-11F1-AE42-BB72-C2C53A0A4757}"/>
              </a:ext>
            </a:extLst>
          </p:cNvPr>
          <p:cNvSpPr/>
          <p:nvPr/>
        </p:nvSpPr>
        <p:spPr>
          <a:xfrm>
            <a:off x="4647828" y="1371600"/>
            <a:ext cx="649840" cy="3584575"/>
          </a:xfrm>
          <a:custGeom>
            <a:avLst/>
            <a:gdLst>
              <a:gd name="connsiteX0" fmla="*/ 0 w 648511"/>
              <a:gd name="connsiteY0" fmla="*/ 259405 h 3579779"/>
              <a:gd name="connsiteX1" fmla="*/ 648511 w 648511"/>
              <a:gd name="connsiteY1" fmla="*/ 0 h 3579779"/>
              <a:gd name="connsiteX2" fmla="*/ 648511 w 648511"/>
              <a:gd name="connsiteY2" fmla="*/ 201039 h 3579779"/>
              <a:gd name="connsiteX3" fmla="*/ 0 w 648511"/>
              <a:gd name="connsiteY3" fmla="*/ 3579779 h 3579779"/>
              <a:gd name="connsiteX4" fmla="*/ 0 w 648511"/>
              <a:gd name="connsiteY4" fmla="*/ 259405 h 3579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8511" h="3579779">
                <a:moveTo>
                  <a:pt x="0" y="259405"/>
                </a:moveTo>
                <a:lnTo>
                  <a:pt x="648511" y="0"/>
                </a:lnTo>
                <a:lnTo>
                  <a:pt x="648511" y="201039"/>
                </a:lnTo>
                <a:lnTo>
                  <a:pt x="0" y="3579779"/>
                </a:lnTo>
                <a:lnTo>
                  <a:pt x="0" y="259405"/>
                </a:lnTo>
                <a:close/>
              </a:path>
            </a:pathLst>
          </a:custGeom>
          <a:solidFill>
            <a:srgbClr val="E5F3FD"/>
          </a:solidFill>
          <a:ln w="6350">
            <a:solidFill>
              <a:srgbClr val="0B88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E1384FDB-DE68-0644-B3B1-BAF7AC4620C2}"/>
              </a:ext>
            </a:extLst>
          </p:cNvPr>
          <p:cNvSpPr/>
          <p:nvPr/>
        </p:nvSpPr>
        <p:spPr>
          <a:xfrm>
            <a:off x="505048" y="1630265"/>
            <a:ext cx="4143443" cy="3351106"/>
          </a:xfrm>
          <a:custGeom>
            <a:avLst/>
            <a:gdLst>
              <a:gd name="connsiteX0" fmla="*/ 4146697 w 4152013"/>
              <a:gd name="connsiteY0" fmla="*/ 0 h 3354572"/>
              <a:gd name="connsiteX1" fmla="*/ 5316 w 4152013"/>
              <a:gd name="connsiteY1" fmla="*/ 21265 h 3354572"/>
              <a:gd name="connsiteX2" fmla="*/ 0 w 4152013"/>
              <a:gd name="connsiteY2" fmla="*/ 3354572 h 3354572"/>
              <a:gd name="connsiteX3" fmla="*/ 4152013 w 4152013"/>
              <a:gd name="connsiteY3" fmla="*/ 3338623 h 3354572"/>
              <a:gd name="connsiteX4" fmla="*/ 4146697 w 4152013"/>
              <a:gd name="connsiteY4" fmla="*/ 0 h 3354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2013" h="3354572">
                <a:moveTo>
                  <a:pt x="4146697" y="0"/>
                </a:moveTo>
                <a:lnTo>
                  <a:pt x="5316" y="21265"/>
                </a:lnTo>
                <a:lnTo>
                  <a:pt x="0" y="3354572"/>
                </a:lnTo>
                <a:lnTo>
                  <a:pt x="4152013" y="3338623"/>
                </a:lnTo>
                <a:lnTo>
                  <a:pt x="4146697" y="0"/>
                </a:lnTo>
                <a:close/>
              </a:path>
            </a:pathLst>
          </a:custGeom>
          <a:noFill/>
          <a:ln w="6350">
            <a:solidFill>
              <a:srgbClr val="0B88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A32A5-3672-274A-A362-A9D559202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data volumes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BFB817-282D-8B4A-84AA-8395CF332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8373" y="330724"/>
            <a:ext cx="2275077" cy="14198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D181DA-8D45-8A46-A1A9-CB9E65C8BF67}"/>
              </a:ext>
            </a:extLst>
          </p:cNvPr>
          <p:cNvSpPr txBox="1"/>
          <p:nvPr/>
        </p:nvSpPr>
        <p:spPr>
          <a:xfrm>
            <a:off x="500549" y="1176211"/>
            <a:ext cx="53566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effectLst/>
                <a:latin typeface="Roboto" panose="02000000000000000000" pitchFamily="2" charset="0"/>
              </a:rPr>
              <a:t>Позволяют отделить</a:t>
            </a:r>
            <a:r>
              <a:rPr lang="en-TR" sz="1800" dirty="0">
                <a:effectLst/>
                <a:latin typeface="Roboto" panose="02000000000000000000" pitchFamily="2" charset="0"/>
              </a:rPr>
              <a:t> </a:t>
            </a:r>
            <a:r>
              <a:rPr lang="ru-RU" sz="1800" dirty="0">
                <a:effectLst/>
                <a:latin typeface="Roboto" panose="02000000000000000000" pitchFamily="2" charset="0"/>
              </a:rPr>
              <a:t>жизненный цикл данных, которые он в себе хранит, от жизни самого контейнера, который эти данные создал 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C88931-1B66-8B4F-B3CB-224CA43C6855}"/>
              </a:ext>
            </a:extLst>
          </p:cNvPr>
          <p:cNvSpPr txBox="1"/>
          <p:nvPr/>
        </p:nvSpPr>
        <p:spPr>
          <a:xfrm>
            <a:off x="500549" y="1999730"/>
            <a:ext cx="819166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Типы </a:t>
            </a:r>
            <a:r>
              <a:rPr lang="en-US" b="1" dirty="0"/>
              <a:t>volumes</a:t>
            </a:r>
            <a:endParaRPr lang="ru-RU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Volumes - </a:t>
            </a:r>
            <a:r>
              <a:rPr lang="ru-RU" dirty="0"/>
              <a:t>тома управляемые </a:t>
            </a:r>
            <a:r>
              <a:rPr lang="en-US" dirty="0"/>
              <a:t>Docker'</a:t>
            </a:r>
            <a:r>
              <a:rPr lang="ru-RU" dirty="0"/>
              <a:t>ом. Другие процессы</a:t>
            </a:r>
            <a:r>
              <a:rPr lang="en-US" dirty="0"/>
              <a:t> </a:t>
            </a:r>
            <a:r>
              <a:rPr lang="ru-RU" dirty="0"/>
              <a:t>не должны</a:t>
            </a:r>
            <a:r>
              <a:rPr lang="en-US" dirty="0"/>
              <a:t> </a:t>
            </a:r>
            <a:r>
              <a:rPr lang="ru-RU" dirty="0"/>
              <a:t>иметь</a:t>
            </a:r>
            <a:r>
              <a:rPr lang="en-US" dirty="0"/>
              <a:t> </a:t>
            </a:r>
            <a:r>
              <a:rPr lang="ru-RU" dirty="0"/>
              <a:t>к ним доступ;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Bind mount - </a:t>
            </a:r>
            <a:r>
              <a:rPr lang="ru-RU" dirty="0"/>
              <a:t>директории в файловой системе. Любой процесс может получить</a:t>
            </a:r>
            <a:r>
              <a:rPr lang="en-US" dirty="0"/>
              <a:t> </a:t>
            </a:r>
            <a:r>
              <a:rPr lang="ru-RU" dirty="0"/>
              <a:t>к ним доступ;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tmpfs</a:t>
            </a:r>
            <a:r>
              <a:rPr lang="en-US" dirty="0"/>
              <a:t> - </a:t>
            </a:r>
            <a:r>
              <a:rPr lang="ru-RU" dirty="0"/>
              <a:t>тома расположенные в памяти хоста. Никогда не записываются</a:t>
            </a:r>
            <a:r>
              <a:rPr lang="en-US" dirty="0"/>
              <a:t> </a:t>
            </a:r>
            <a:r>
              <a:rPr lang="ru-RU" dirty="0"/>
              <a:t>на диск.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1F4648-9C56-304A-A5FD-6170525BC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4019" y="3096282"/>
            <a:ext cx="4614747" cy="190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3534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3200"/>
              <a:t>Docker сеть Bridge network</a:t>
            </a:r>
            <a:endParaRPr/>
          </a:p>
        </p:txBody>
      </p:sp>
      <p:sp>
        <p:nvSpPr>
          <p:cNvPr id="328" name="Google Shape;328;p53"/>
          <p:cNvSpPr txBox="1"/>
          <p:nvPr/>
        </p:nvSpPr>
        <p:spPr>
          <a:xfrm>
            <a:off x="311700" y="1445980"/>
            <a:ext cx="8142900" cy="1330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98450" marR="5080" lvl="0" indent="-285750" algn="l" rtl="0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Если нужно отделить контейнер или группу контейнеров</a:t>
            </a:r>
            <a:endParaRPr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98450" marR="5080" lvl="0" indent="-285750" algn="l" rtl="0">
              <a:lnSpc>
                <a:spcPct val="100699"/>
              </a:lnSpc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Контейнер может быть подключен к нескольким </a:t>
            </a:r>
            <a:r>
              <a:rPr lang="ru-RU" sz="16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Bridge</a:t>
            </a: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сетям (без рестарта)</a:t>
            </a:r>
            <a:endParaRPr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98450" marR="2011045" lvl="0" indent="-285750" algn="l" rtl="0">
              <a:lnSpc>
                <a:spcPct val="100699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Работает </a:t>
            </a:r>
            <a:r>
              <a:rPr lang="ru-RU" sz="16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Service</a:t>
            </a: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16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Discovery</a:t>
            </a:r>
            <a:endParaRPr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98450" marR="2011045" lvl="0" indent="-285750" algn="l" rtl="0">
              <a:lnSpc>
                <a:spcPct val="100699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Произвольные диапазоны IP-адресов</a:t>
            </a:r>
            <a:endParaRPr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" name="Google Shape;334;p54">
            <a:extLst>
              <a:ext uri="{FF2B5EF4-FFF2-40B4-BE49-F238E27FC236}">
                <a16:creationId xmlns:a16="http://schemas.microsoft.com/office/drawing/2014/main" id="{F4932ED1-CB98-1B4B-92B9-CE75D16FFA2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07540" y="2360580"/>
            <a:ext cx="3624760" cy="23419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ubtitle 3">
            <a:extLst>
              <a:ext uri="{FF2B5EF4-FFF2-40B4-BE49-F238E27FC236}">
                <a16:creationId xmlns:a16="http://schemas.microsoft.com/office/drawing/2014/main" id="{0D431A44-647C-1C4D-95C3-7F852AC72F14}"/>
              </a:ext>
            </a:extLst>
          </p:cNvPr>
          <p:cNvSpPr txBox="1">
            <a:spLocks/>
          </p:cNvSpPr>
          <p:nvPr/>
        </p:nvSpPr>
        <p:spPr>
          <a:xfrm>
            <a:off x="500550" y="2866417"/>
            <a:ext cx="4706989" cy="173152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docker network create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test_net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docker network attach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test_net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my_container_name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docker network inspect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test_net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A39B-462B-8A4F-B353-676585F8F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port mapping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192002-1F03-3A41-B2A3-B7F092B66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50" y="1974273"/>
            <a:ext cx="4564008" cy="25749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913F86-4620-B94F-AB61-7A07765691C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86" r="10188"/>
          <a:stretch/>
        </p:blipFill>
        <p:spPr>
          <a:xfrm>
            <a:off x="5395975" y="1426624"/>
            <a:ext cx="3625175" cy="32661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AB85C4-C561-5548-A2AA-3A6A9DAE968B}"/>
              </a:ext>
            </a:extLst>
          </p:cNvPr>
          <p:cNvSpPr txBox="1"/>
          <p:nvPr/>
        </p:nvSpPr>
        <p:spPr>
          <a:xfrm>
            <a:off x="966281" y="1392671"/>
            <a:ext cx="31165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docker run –p 8080:80 –p 6603:3306</a:t>
            </a:r>
          </a:p>
        </p:txBody>
      </p:sp>
    </p:spTree>
    <p:extLst>
      <p:ext uri="{BB962C8B-B14F-4D97-AF65-F5344CB8AC3E}">
        <p14:creationId xmlns:p14="http://schemas.microsoft.com/office/powerpoint/2010/main" val="39836573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3200" dirty="0" err="1"/>
              <a:t>Docker</a:t>
            </a:r>
            <a:r>
              <a:rPr lang="en-US" sz="3200" dirty="0"/>
              <a:t> hub</a:t>
            </a:r>
            <a:endParaRPr dirty="0"/>
          </a:p>
        </p:txBody>
      </p:sp>
      <p:sp>
        <p:nvSpPr>
          <p:cNvPr id="321" name="Google Shape;321;p52"/>
          <p:cNvSpPr txBox="1"/>
          <p:nvPr/>
        </p:nvSpPr>
        <p:spPr>
          <a:xfrm>
            <a:off x="500550" y="1426624"/>
            <a:ext cx="595884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Так называемый приватный “репозиторий” для хранения image.</a:t>
            </a:r>
            <a:endParaRPr sz="20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Docker hub, Private registry, Docker Store</a:t>
            </a:r>
            <a:endParaRPr sz="20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2" name="Google Shape;322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1968" y="3167815"/>
            <a:ext cx="8839182" cy="1356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3200" dirty="0" err="1"/>
              <a:t>Docker</a:t>
            </a:r>
            <a:r>
              <a:rPr lang="ru-RU" sz="3200" dirty="0"/>
              <a:t> основные команды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275217-2AAF-7D44-A361-6CFC26D37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77467"/>
            <a:ext cx="9144000" cy="333159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999717-70E2-B247-9C42-40A592F0D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344" y="52025"/>
            <a:ext cx="3488987" cy="16747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92F185-373E-8449-932A-CF8FE6F29825}"/>
              </a:ext>
            </a:extLst>
          </p:cNvPr>
          <p:cNvSpPr txBox="1"/>
          <p:nvPr/>
        </p:nvSpPr>
        <p:spPr>
          <a:xfrm>
            <a:off x="293742" y="1896680"/>
            <a:ext cx="8556516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dirty="0"/>
              <a:t>Необходимо управлять </a:t>
            </a:r>
            <a:r>
              <a:rPr lang="ru-RU" sz="1600" dirty="0" err="1"/>
              <a:t>микросервисами</a:t>
            </a:r>
            <a:r>
              <a:rPr lang="ru-RU" sz="1600" dirty="0"/>
              <a:t> в контейнерах и взаимодействиями между ними: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Декларативное описание </a:t>
            </a:r>
            <a:r>
              <a:rPr lang="en-US" sz="1600" dirty="0"/>
              <a:t>Docker </a:t>
            </a:r>
            <a:r>
              <a:rPr lang="ru-RU" sz="1600" dirty="0"/>
              <a:t>инфраструктуры</a:t>
            </a:r>
            <a:r>
              <a:rPr lang="en-US" sz="1600" dirty="0"/>
              <a:t> </a:t>
            </a:r>
            <a:r>
              <a:rPr lang="ru-RU" sz="1600" dirty="0"/>
              <a:t>в </a:t>
            </a:r>
            <a:r>
              <a:rPr lang="en-US" sz="1600" dirty="0"/>
              <a:t>YAML-</a:t>
            </a:r>
            <a:r>
              <a:rPr lang="ru-RU" sz="1600" dirty="0"/>
              <a:t>формате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/>
              <a:t>Dockerfile</a:t>
            </a:r>
            <a:r>
              <a:rPr lang="en-US" sz="1600" dirty="0"/>
              <a:t> – </a:t>
            </a:r>
            <a:r>
              <a:rPr lang="ru-RU" sz="1600" dirty="0"/>
              <a:t>конфигурация</a:t>
            </a:r>
            <a:r>
              <a:rPr lang="en-US" sz="1600" dirty="0"/>
              <a:t> </a:t>
            </a:r>
            <a:r>
              <a:rPr lang="ru-RU" sz="1600" dirty="0"/>
              <a:t>сборки окружения</a:t>
            </a:r>
            <a:r>
              <a:rPr lang="en-US" sz="1600" dirty="0"/>
              <a:t> </a:t>
            </a:r>
            <a:r>
              <a:rPr lang="ru-RU" sz="1600" dirty="0"/>
              <a:t>и приложений в нем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docker-</a:t>
            </a:r>
            <a:r>
              <a:rPr lang="en-US" sz="1600" dirty="0" err="1"/>
              <a:t>compose.yml</a:t>
            </a:r>
            <a:r>
              <a:rPr lang="en-US" sz="1600" dirty="0"/>
              <a:t> - </a:t>
            </a:r>
            <a:r>
              <a:rPr lang="ru-RU" sz="1600" dirty="0"/>
              <a:t>конфигурация</a:t>
            </a:r>
            <a:r>
              <a:rPr lang="en-US" sz="1600" dirty="0"/>
              <a:t> </a:t>
            </a:r>
            <a:r>
              <a:rPr lang="ru-RU" sz="1600" dirty="0"/>
              <a:t>проекта</a:t>
            </a:r>
            <a:endParaRPr lang="en-US"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Один </a:t>
            </a:r>
            <a:r>
              <a:rPr lang="en-US" sz="1600" dirty="0"/>
              <a:t>docker-</a:t>
            </a:r>
            <a:r>
              <a:rPr lang="en-US" sz="1600" dirty="0" err="1"/>
              <a:t>compose.yml</a:t>
            </a:r>
            <a:r>
              <a:rPr lang="en-US" sz="1600" dirty="0"/>
              <a:t> </a:t>
            </a:r>
            <a:r>
              <a:rPr lang="ru-RU" sz="1600" dirty="0"/>
              <a:t>на все окружения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0737C2-26E2-DA46-9264-40304D4AC36C}"/>
              </a:ext>
            </a:extLst>
          </p:cNvPr>
          <p:cNvSpPr txBox="1"/>
          <p:nvPr/>
        </p:nvSpPr>
        <p:spPr>
          <a:xfrm>
            <a:off x="3774331" y="651187"/>
            <a:ext cx="39260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dirty="0"/>
              <a:t>Управление </a:t>
            </a:r>
            <a:r>
              <a:rPr lang="ru-RU" sz="1800" dirty="0" err="1"/>
              <a:t>многоконтейнерными</a:t>
            </a:r>
            <a:r>
              <a:rPr lang="ru-RU" sz="1800" dirty="0"/>
              <a:t> </a:t>
            </a:r>
          </a:p>
          <a:p>
            <a:r>
              <a:rPr lang="ru-RU" sz="1800" dirty="0"/>
              <a:t>приложениями</a:t>
            </a:r>
            <a:endParaRPr lang="en-US" sz="1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E7CFC9E-CC75-E94C-A321-6E8E04B170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400" y="3865550"/>
            <a:ext cx="4723590" cy="101545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4900" dirty="0"/>
              <a:t>Сборка образа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217638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BED4208-3E5D-FA45-8214-CE2617875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Dockerfile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9A400F-297B-424F-A8D9-6882E5C55D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376" b="13119"/>
          <a:stretch/>
        </p:blipFill>
        <p:spPr>
          <a:xfrm>
            <a:off x="3702996" y="155643"/>
            <a:ext cx="5146736" cy="11932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387B8D-A71B-1B4E-8C7B-B50EB6D15712}"/>
              </a:ext>
            </a:extLst>
          </p:cNvPr>
          <p:cNvSpPr txBox="1"/>
          <p:nvPr/>
        </p:nvSpPr>
        <p:spPr>
          <a:xfrm>
            <a:off x="300048" y="1601705"/>
            <a:ext cx="4129280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Roboto" panose="02000000000000000000" pitchFamily="2" charset="0"/>
              </a:rPr>
              <a:t>Текстов</a:t>
            </a:r>
            <a:r>
              <a:rPr lang="ru-RU" sz="2000" dirty="0">
                <a:latin typeface="Roboto" panose="02000000000000000000" pitchFamily="2" charset="0"/>
              </a:rPr>
              <a:t>ый</a:t>
            </a:r>
            <a:r>
              <a:rPr lang="ru-RU" sz="2000" dirty="0">
                <a:effectLst/>
                <a:latin typeface="Roboto" panose="02000000000000000000" pitchFamily="2" charset="0"/>
              </a:rPr>
              <a:t> файл с </a:t>
            </a:r>
            <a:r>
              <a:rPr lang="en-US" sz="2000" dirty="0">
                <a:effectLst/>
                <a:latin typeface="Roboto" panose="02000000000000000000" pitchFamily="2" charset="0"/>
              </a:rPr>
              <a:t>build </a:t>
            </a:r>
            <a:r>
              <a:rPr lang="ru-RU" sz="2000" dirty="0">
                <a:effectLst/>
                <a:latin typeface="Roboto" panose="02000000000000000000" pitchFamily="2" charset="0"/>
              </a:rPr>
              <a:t>инструкциями </a:t>
            </a:r>
            <a:endParaRPr lang="ru-RU" sz="1600" dirty="0">
              <a:effectLst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Roboto" panose="02000000000000000000" pitchFamily="2" charset="0"/>
              </a:rPr>
              <a:t>Инструкции декларативно описывают </a:t>
            </a:r>
            <a:r>
              <a:rPr lang="en-US" sz="2000" dirty="0">
                <a:effectLst/>
                <a:latin typeface="Roboto" panose="02000000000000000000" pitchFamily="2" charset="0"/>
              </a:rPr>
              <a:t>image </a:t>
            </a:r>
            <a:endParaRPr lang="en-US" sz="1600" dirty="0">
              <a:effectLst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Roboto" panose="02000000000000000000" pitchFamily="2" charset="0"/>
              </a:rPr>
              <a:t>каждая</a:t>
            </a:r>
            <a:r>
              <a:rPr lang="en-TR" sz="2000" dirty="0">
                <a:effectLst/>
                <a:latin typeface="Roboto" panose="02000000000000000000" pitchFamily="2" charset="0"/>
              </a:rPr>
              <a:t> </a:t>
            </a:r>
            <a:r>
              <a:rPr lang="ru-RU" sz="2000" dirty="0">
                <a:effectLst/>
                <a:latin typeface="Roboto" panose="02000000000000000000" pitchFamily="2" charset="0"/>
              </a:rPr>
              <a:t>инструкция</a:t>
            </a:r>
            <a:r>
              <a:rPr lang="en-TR" sz="2000" dirty="0">
                <a:effectLst/>
                <a:latin typeface="Roboto" panose="02000000000000000000" pitchFamily="2" charset="0"/>
              </a:rPr>
              <a:t> – </a:t>
            </a:r>
            <a:r>
              <a:rPr lang="ru-RU" sz="2000" dirty="0">
                <a:effectLst/>
                <a:latin typeface="Roboto" panose="02000000000000000000" pitchFamily="2" charset="0"/>
              </a:rPr>
              <a:t>промежуточный </a:t>
            </a:r>
            <a:r>
              <a:rPr lang="en-US" sz="2000" dirty="0">
                <a:effectLst/>
                <a:latin typeface="Roboto" panose="02000000000000000000" pitchFamily="2" charset="0"/>
              </a:rPr>
              <a:t>image </a:t>
            </a:r>
            <a:endParaRPr lang="en-US" sz="1600" dirty="0">
              <a:effectLst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Roboto" panose="02000000000000000000" pitchFamily="2" charset="0"/>
              </a:rPr>
              <a:t>сам </a:t>
            </a:r>
            <a:r>
              <a:rPr lang="en-US" sz="2000" dirty="0">
                <a:effectLst/>
                <a:latin typeface="Roboto" panose="02000000000000000000" pitchFamily="2" charset="0"/>
              </a:rPr>
              <a:t>build </a:t>
            </a:r>
            <a:r>
              <a:rPr lang="ru-RU" sz="2000" dirty="0">
                <a:effectLst/>
                <a:latin typeface="Roboto" panose="02000000000000000000" pitchFamily="2" charset="0"/>
              </a:rPr>
              <a:t>делает </a:t>
            </a:r>
            <a:r>
              <a:rPr lang="en-US" sz="2000" dirty="0">
                <a:effectLst/>
                <a:latin typeface="Roboto" panose="02000000000000000000" pitchFamily="2" charset="0"/>
              </a:rPr>
              <a:t>docker daemon </a:t>
            </a:r>
            <a:endParaRPr lang="en-US" sz="1600" dirty="0">
              <a:effectLst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973DC0-B57F-B149-A772-964F73588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328" y="2010383"/>
            <a:ext cx="4392933" cy="2517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5761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5;p11">
            <a:extLst>
              <a:ext uri="{FF2B5EF4-FFF2-40B4-BE49-F238E27FC236}">
                <a16:creationId xmlns:a16="http://schemas.microsoft.com/office/drawing/2014/main" id="{0B3D95D9-6A17-564D-AAC6-81EA5655D9B4}"/>
              </a:ext>
            </a:extLst>
          </p:cNvPr>
          <p:cNvSpPr/>
          <p:nvPr/>
        </p:nvSpPr>
        <p:spPr>
          <a:xfrm>
            <a:off x="577800" y="1566607"/>
            <a:ext cx="7988400" cy="731152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6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Пишем </a:t>
            </a:r>
            <a:r>
              <a:rPr lang="en-US" dirty="0" err="1"/>
              <a:t>dockerfile</a:t>
            </a:r>
            <a:endParaRPr dirty="0"/>
          </a:p>
        </p:txBody>
      </p:sp>
      <p:sp>
        <p:nvSpPr>
          <p:cNvPr id="340" name="Google Shape;340;p61"/>
          <p:cNvSpPr txBox="1">
            <a:spLocks noGrp="1"/>
          </p:cNvSpPr>
          <p:nvPr>
            <p:ph type="subTitle" idx="1"/>
          </p:nvPr>
        </p:nvSpPr>
        <p:spPr>
          <a:xfrm>
            <a:off x="647700" y="1614402"/>
            <a:ext cx="8226300" cy="6164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>
                <a:solidFill>
                  <a:srgbClr val="0645AD"/>
                </a:solidFill>
              </a:rPr>
              <a:t>#!/bin/bash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dirty="0">
                <a:solidFill>
                  <a:srgbClr val="019836"/>
                </a:solidFill>
              </a:rPr>
              <a:t>echo</a:t>
            </a:r>
            <a:r>
              <a:rPr lang="en-US" dirty="0"/>
              <a:t> </a:t>
            </a:r>
            <a:r>
              <a:rPr lang="en-US" dirty="0">
                <a:solidFill>
                  <a:srgbClr val="A61C00"/>
                </a:solidFill>
              </a:rPr>
              <a:t>“Hello</a:t>
            </a:r>
            <a:r>
              <a:rPr lang="ru-RU" dirty="0">
                <a:solidFill>
                  <a:srgbClr val="A61C00"/>
                </a:solidFill>
              </a:rPr>
              <a:t> </a:t>
            </a:r>
            <a:r>
              <a:rPr lang="en-US" dirty="0">
                <a:solidFill>
                  <a:srgbClr val="A61C00"/>
                </a:solidFill>
              </a:rPr>
              <a:t>declarative world!”</a:t>
            </a:r>
            <a:endParaRPr dirty="0">
              <a:solidFill>
                <a:srgbClr val="A61C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39E14D-4EA6-044D-A5C4-17433E4C1CD5}"/>
              </a:ext>
            </a:extLst>
          </p:cNvPr>
          <p:cNvSpPr txBox="1"/>
          <p:nvPr/>
        </p:nvSpPr>
        <p:spPr>
          <a:xfrm>
            <a:off x="577800" y="1201858"/>
            <a:ext cx="881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script.sh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A9983B-FCB5-BA4A-8FB1-89F1080E6F59}"/>
              </a:ext>
            </a:extLst>
          </p:cNvPr>
          <p:cNvSpPr txBox="1"/>
          <p:nvPr/>
        </p:nvSpPr>
        <p:spPr>
          <a:xfrm>
            <a:off x="577799" y="2380769"/>
            <a:ext cx="9509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dockerfile</a:t>
            </a:r>
            <a:endParaRPr lang="en-US" dirty="0"/>
          </a:p>
        </p:txBody>
      </p:sp>
      <p:sp>
        <p:nvSpPr>
          <p:cNvPr id="7" name="Google Shape;45;p11">
            <a:extLst>
              <a:ext uri="{FF2B5EF4-FFF2-40B4-BE49-F238E27FC236}">
                <a16:creationId xmlns:a16="http://schemas.microsoft.com/office/drawing/2014/main" id="{3D7BE9E8-92A4-9A4B-BD3C-CD76BF3BA189}"/>
              </a:ext>
            </a:extLst>
          </p:cNvPr>
          <p:cNvSpPr/>
          <p:nvPr/>
        </p:nvSpPr>
        <p:spPr>
          <a:xfrm>
            <a:off x="577800" y="2772192"/>
            <a:ext cx="7988400" cy="1169449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340;p61">
            <a:extLst>
              <a:ext uri="{FF2B5EF4-FFF2-40B4-BE49-F238E27FC236}">
                <a16:creationId xmlns:a16="http://schemas.microsoft.com/office/drawing/2014/main" id="{19C69A4A-F725-1E4C-93AC-2980B5E96433}"/>
              </a:ext>
            </a:extLst>
          </p:cNvPr>
          <p:cNvSpPr txBox="1">
            <a:spLocks/>
          </p:cNvSpPr>
          <p:nvPr/>
        </p:nvSpPr>
        <p:spPr>
          <a:xfrm>
            <a:off x="647700" y="2819988"/>
            <a:ext cx="7633781" cy="1169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None/>
              <a:defRPr sz="11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None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None/>
              <a:defRPr sz="17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None/>
              <a:defRPr sz="17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None/>
              <a:defRPr sz="17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None/>
              <a:defRPr sz="17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None/>
              <a:defRPr sz="17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None/>
              <a:defRPr sz="17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None/>
              <a:defRPr sz="17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SzPct val="100000"/>
              <a:buFont typeface="Arial"/>
              <a:buNone/>
            </a:pPr>
            <a:r>
              <a:rPr lang="en-US" dirty="0">
                <a:solidFill>
                  <a:schemeClr val="tx1"/>
                </a:solidFill>
              </a:rPr>
              <a:t>FROM ubuntu:16.04</a:t>
            </a:r>
          </a:p>
          <a:p>
            <a:pPr marL="0" indent="0">
              <a:buSzPct val="100000"/>
              <a:buFont typeface="Arial"/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SzPct val="100000"/>
              <a:buFont typeface="Arial"/>
              <a:buNone/>
            </a:pPr>
            <a:r>
              <a:rPr lang="en-US" dirty="0">
                <a:solidFill>
                  <a:schemeClr val="tx1"/>
                </a:solidFill>
              </a:rPr>
              <a:t>LABEL maintainer="nikita@express42.com" LABEL version="1.0"</a:t>
            </a:r>
          </a:p>
          <a:p>
            <a:pPr marL="0" indent="0">
              <a:buSzPct val="100000"/>
              <a:buFont typeface="Arial"/>
              <a:buNone/>
            </a:pPr>
            <a:r>
              <a:rPr lang="en-US" dirty="0">
                <a:solidFill>
                  <a:schemeClr val="tx1"/>
                </a:solidFill>
              </a:rPr>
              <a:t>LABEL description="Simple docker image \ with your script"</a:t>
            </a:r>
          </a:p>
          <a:p>
            <a:pPr marL="0" indent="0">
              <a:buSzPct val="100000"/>
              <a:buFont typeface="Arial"/>
              <a:buNone/>
            </a:pPr>
            <a:r>
              <a:rPr lang="en-US" dirty="0">
                <a:solidFill>
                  <a:schemeClr val="tx1"/>
                </a:solidFill>
              </a:rPr>
              <a:t>COPY ./</a:t>
            </a:r>
            <a:r>
              <a:rPr lang="en-US" dirty="0" err="1">
                <a:solidFill>
                  <a:schemeClr val="tx1"/>
                </a:solidFill>
              </a:rPr>
              <a:t>script.sh</a:t>
            </a:r>
            <a:r>
              <a:rPr lang="en-US" dirty="0">
                <a:solidFill>
                  <a:schemeClr val="tx1"/>
                </a:solidFill>
              </a:rPr>
              <a:t> /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2331A-89F0-E246-9C88-F32EDC945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Собираем </a:t>
            </a:r>
            <a:r>
              <a:rPr lang="en-US" dirty="0"/>
              <a:t>image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0A1417-8A72-B943-B17F-A45DFF8FD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50" y="967440"/>
            <a:ext cx="5569726" cy="398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7658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F7A73-0947-C942-B942-386758D82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images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5F050B-D062-854B-97EB-E167611D4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75" y="1289337"/>
            <a:ext cx="8643450" cy="332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7357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F1A28-64BB-BF42-824F-D052405C7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Запускаем наш контейнер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20B7DA-E765-644A-811A-57921099A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1574800"/>
            <a:ext cx="7048500" cy="199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4533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Пишем </a:t>
            </a:r>
            <a:r>
              <a:rPr lang="en-US" dirty="0" err="1"/>
              <a:t>dockerfile</a:t>
            </a:r>
            <a:endParaRPr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323F5B-2824-084F-B024-D6E27CB67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107" y="1426624"/>
            <a:ext cx="4300831" cy="2478121"/>
          </a:xfrm>
          <a:prstGeom prst="rect">
            <a:avLst/>
          </a:prstGeom>
        </p:spPr>
      </p:pic>
      <p:sp>
        <p:nvSpPr>
          <p:cNvPr id="11" name="Notched Right Arrow 10">
            <a:extLst>
              <a:ext uri="{FF2B5EF4-FFF2-40B4-BE49-F238E27FC236}">
                <a16:creationId xmlns:a16="http://schemas.microsoft.com/office/drawing/2014/main" id="{B54DBB09-6465-FB4A-AED6-C60CD213D0A0}"/>
              </a:ext>
            </a:extLst>
          </p:cNvPr>
          <p:cNvSpPr/>
          <p:nvPr/>
        </p:nvSpPr>
        <p:spPr>
          <a:xfrm>
            <a:off x="4760850" y="2470826"/>
            <a:ext cx="661481" cy="484632"/>
          </a:xfrm>
          <a:custGeom>
            <a:avLst/>
            <a:gdLst>
              <a:gd name="connsiteX0" fmla="*/ 0 w 661481"/>
              <a:gd name="connsiteY0" fmla="*/ 121158 h 484632"/>
              <a:gd name="connsiteX1" fmla="*/ 419165 w 661481"/>
              <a:gd name="connsiteY1" fmla="*/ 121158 h 484632"/>
              <a:gd name="connsiteX2" fmla="*/ 419165 w 661481"/>
              <a:gd name="connsiteY2" fmla="*/ 0 h 484632"/>
              <a:gd name="connsiteX3" fmla="*/ 661481 w 661481"/>
              <a:gd name="connsiteY3" fmla="*/ 242316 h 484632"/>
              <a:gd name="connsiteX4" fmla="*/ 419165 w 661481"/>
              <a:gd name="connsiteY4" fmla="*/ 484632 h 484632"/>
              <a:gd name="connsiteX5" fmla="*/ 419165 w 661481"/>
              <a:gd name="connsiteY5" fmla="*/ 363474 h 484632"/>
              <a:gd name="connsiteX6" fmla="*/ 0 w 661481"/>
              <a:gd name="connsiteY6" fmla="*/ 363474 h 484632"/>
              <a:gd name="connsiteX7" fmla="*/ 121158 w 661481"/>
              <a:gd name="connsiteY7" fmla="*/ 242316 h 484632"/>
              <a:gd name="connsiteX8" fmla="*/ 0 w 661481"/>
              <a:gd name="connsiteY8" fmla="*/ 121158 h 484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61481" h="484632" extrusionOk="0">
                <a:moveTo>
                  <a:pt x="0" y="121158"/>
                </a:moveTo>
                <a:cubicBezTo>
                  <a:pt x="185616" y="120389"/>
                  <a:pt x="255830" y="108830"/>
                  <a:pt x="419165" y="121158"/>
                </a:cubicBezTo>
                <a:cubicBezTo>
                  <a:pt x="420996" y="75069"/>
                  <a:pt x="411446" y="15125"/>
                  <a:pt x="419165" y="0"/>
                </a:cubicBezTo>
                <a:cubicBezTo>
                  <a:pt x="472752" y="62695"/>
                  <a:pt x="555939" y="117289"/>
                  <a:pt x="661481" y="242316"/>
                </a:cubicBezTo>
                <a:cubicBezTo>
                  <a:pt x="582346" y="338830"/>
                  <a:pt x="524732" y="393339"/>
                  <a:pt x="419165" y="484632"/>
                </a:cubicBezTo>
                <a:cubicBezTo>
                  <a:pt x="413131" y="471836"/>
                  <a:pt x="420275" y="415788"/>
                  <a:pt x="419165" y="363474"/>
                </a:cubicBezTo>
                <a:cubicBezTo>
                  <a:pt x="363370" y="355869"/>
                  <a:pt x="116454" y="358825"/>
                  <a:pt x="0" y="363474"/>
                </a:cubicBezTo>
                <a:cubicBezTo>
                  <a:pt x="46077" y="325778"/>
                  <a:pt x="71842" y="297775"/>
                  <a:pt x="121158" y="242316"/>
                </a:cubicBezTo>
                <a:cubicBezTo>
                  <a:pt x="84186" y="204178"/>
                  <a:pt x="44160" y="174799"/>
                  <a:pt x="0" y="121158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219033472">
                  <a:prstGeom prst="notchedRight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A0C339E-0233-1542-9DC7-B62455DF04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7243" y="2167996"/>
            <a:ext cx="3300106" cy="995376"/>
          </a:xfrm>
          <a:prstGeom prst="rect">
            <a:avLst/>
          </a:pr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3BC0CFAD-6CC6-AA40-BC21-1DE0BCFB3F60}"/>
              </a:ext>
            </a:extLst>
          </p:cNvPr>
          <p:cNvSpPr/>
          <p:nvPr/>
        </p:nvSpPr>
        <p:spPr>
          <a:xfrm>
            <a:off x="181583" y="3482502"/>
            <a:ext cx="2509736" cy="551234"/>
          </a:xfrm>
          <a:custGeom>
            <a:avLst/>
            <a:gdLst>
              <a:gd name="connsiteX0" fmla="*/ 778213 w 2509736"/>
              <a:gd name="connsiteY0" fmla="*/ 64851 h 639846"/>
              <a:gd name="connsiteX1" fmla="*/ 486383 w 2509736"/>
              <a:gd name="connsiteY1" fmla="*/ 77821 h 639846"/>
              <a:gd name="connsiteX2" fmla="*/ 434502 w 2509736"/>
              <a:gd name="connsiteY2" fmla="*/ 84307 h 639846"/>
              <a:gd name="connsiteX3" fmla="*/ 304800 w 2509736"/>
              <a:gd name="connsiteY3" fmla="*/ 97277 h 639846"/>
              <a:gd name="connsiteX4" fmla="*/ 220494 w 2509736"/>
              <a:gd name="connsiteY4" fmla="*/ 110247 h 639846"/>
              <a:gd name="connsiteX5" fmla="*/ 201038 w 2509736"/>
              <a:gd name="connsiteY5" fmla="*/ 116732 h 639846"/>
              <a:gd name="connsiteX6" fmla="*/ 162128 w 2509736"/>
              <a:gd name="connsiteY6" fmla="*/ 123217 h 639846"/>
              <a:gd name="connsiteX7" fmla="*/ 136187 w 2509736"/>
              <a:gd name="connsiteY7" fmla="*/ 129702 h 639846"/>
              <a:gd name="connsiteX8" fmla="*/ 97277 w 2509736"/>
              <a:gd name="connsiteY8" fmla="*/ 142672 h 639846"/>
              <a:gd name="connsiteX9" fmla="*/ 77821 w 2509736"/>
              <a:gd name="connsiteY9" fmla="*/ 155643 h 639846"/>
              <a:gd name="connsiteX10" fmla="*/ 58366 w 2509736"/>
              <a:gd name="connsiteY10" fmla="*/ 162128 h 639846"/>
              <a:gd name="connsiteX11" fmla="*/ 25940 w 2509736"/>
              <a:gd name="connsiteY11" fmla="*/ 188068 h 639846"/>
              <a:gd name="connsiteX12" fmla="*/ 0 w 2509736"/>
              <a:gd name="connsiteY12" fmla="*/ 226979 h 639846"/>
              <a:gd name="connsiteX13" fmla="*/ 19455 w 2509736"/>
              <a:gd name="connsiteY13" fmla="*/ 304800 h 639846"/>
              <a:gd name="connsiteX14" fmla="*/ 25940 w 2509736"/>
              <a:gd name="connsiteY14" fmla="*/ 324255 h 639846"/>
              <a:gd name="connsiteX15" fmla="*/ 38911 w 2509736"/>
              <a:gd name="connsiteY15" fmla="*/ 337226 h 639846"/>
              <a:gd name="connsiteX16" fmla="*/ 77821 w 2509736"/>
              <a:gd name="connsiteY16" fmla="*/ 389107 h 639846"/>
              <a:gd name="connsiteX17" fmla="*/ 90791 w 2509736"/>
              <a:gd name="connsiteY17" fmla="*/ 408562 h 639846"/>
              <a:gd name="connsiteX18" fmla="*/ 142672 w 2509736"/>
              <a:gd name="connsiteY18" fmla="*/ 453958 h 639846"/>
              <a:gd name="connsiteX19" fmla="*/ 162128 w 2509736"/>
              <a:gd name="connsiteY19" fmla="*/ 466928 h 639846"/>
              <a:gd name="connsiteX20" fmla="*/ 188068 w 2509736"/>
              <a:gd name="connsiteY20" fmla="*/ 486383 h 639846"/>
              <a:gd name="connsiteX21" fmla="*/ 214008 w 2509736"/>
              <a:gd name="connsiteY21" fmla="*/ 499353 h 639846"/>
              <a:gd name="connsiteX22" fmla="*/ 226979 w 2509736"/>
              <a:gd name="connsiteY22" fmla="*/ 512324 h 639846"/>
              <a:gd name="connsiteX23" fmla="*/ 259404 w 2509736"/>
              <a:gd name="connsiteY23" fmla="*/ 525294 h 639846"/>
              <a:gd name="connsiteX24" fmla="*/ 304800 w 2509736"/>
              <a:gd name="connsiteY24" fmla="*/ 551234 h 639846"/>
              <a:gd name="connsiteX25" fmla="*/ 337226 w 2509736"/>
              <a:gd name="connsiteY25" fmla="*/ 557719 h 639846"/>
              <a:gd name="connsiteX26" fmla="*/ 395591 w 2509736"/>
              <a:gd name="connsiteY26" fmla="*/ 577175 h 639846"/>
              <a:gd name="connsiteX27" fmla="*/ 415047 w 2509736"/>
              <a:gd name="connsiteY27" fmla="*/ 583660 h 639846"/>
              <a:gd name="connsiteX28" fmla="*/ 453957 w 2509736"/>
              <a:gd name="connsiteY28" fmla="*/ 590145 h 639846"/>
              <a:gd name="connsiteX29" fmla="*/ 473413 w 2509736"/>
              <a:gd name="connsiteY29" fmla="*/ 596630 h 639846"/>
              <a:gd name="connsiteX30" fmla="*/ 531779 w 2509736"/>
              <a:gd name="connsiteY30" fmla="*/ 603115 h 639846"/>
              <a:gd name="connsiteX31" fmla="*/ 564204 w 2509736"/>
              <a:gd name="connsiteY31" fmla="*/ 609600 h 639846"/>
              <a:gd name="connsiteX32" fmla="*/ 642026 w 2509736"/>
              <a:gd name="connsiteY32" fmla="*/ 616085 h 639846"/>
              <a:gd name="connsiteX33" fmla="*/ 1420238 w 2509736"/>
              <a:gd name="connsiteY33" fmla="*/ 616085 h 639846"/>
              <a:gd name="connsiteX34" fmla="*/ 1439694 w 2509736"/>
              <a:gd name="connsiteY34" fmla="*/ 609600 h 639846"/>
              <a:gd name="connsiteX35" fmla="*/ 1478604 w 2509736"/>
              <a:gd name="connsiteY35" fmla="*/ 603115 h 639846"/>
              <a:gd name="connsiteX36" fmla="*/ 1504545 w 2509736"/>
              <a:gd name="connsiteY36" fmla="*/ 596630 h 639846"/>
              <a:gd name="connsiteX37" fmla="*/ 1524000 w 2509736"/>
              <a:gd name="connsiteY37" fmla="*/ 590145 h 639846"/>
              <a:gd name="connsiteX38" fmla="*/ 1608306 w 2509736"/>
              <a:gd name="connsiteY38" fmla="*/ 577175 h 639846"/>
              <a:gd name="connsiteX39" fmla="*/ 1660187 w 2509736"/>
              <a:gd name="connsiteY39" fmla="*/ 564204 h 639846"/>
              <a:gd name="connsiteX40" fmla="*/ 1679643 w 2509736"/>
              <a:gd name="connsiteY40" fmla="*/ 557719 h 639846"/>
              <a:gd name="connsiteX41" fmla="*/ 1712068 w 2509736"/>
              <a:gd name="connsiteY41" fmla="*/ 551234 h 639846"/>
              <a:gd name="connsiteX42" fmla="*/ 1770434 w 2509736"/>
              <a:gd name="connsiteY42" fmla="*/ 538264 h 639846"/>
              <a:gd name="connsiteX43" fmla="*/ 1815830 w 2509736"/>
              <a:gd name="connsiteY43" fmla="*/ 531779 h 639846"/>
              <a:gd name="connsiteX44" fmla="*/ 1835285 w 2509736"/>
              <a:gd name="connsiteY44" fmla="*/ 525294 h 639846"/>
              <a:gd name="connsiteX45" fmla="*/ 1913106 w 2509736"/>
              <a:gd name="connsiteY45" fmla="*/ 512324 h 639846"/>
              <a:gd name="connsiteX46" fmla="*/ 1952017 w 2509736"/>
              <a:gd name="connsiteY46" fmla="*/ 505838 h 639846"/>
              <a:gd name="connsiteX47" fmla="*/ 1990928 w 2509736"/>
              <a:gd name="connsiteY47" fmla="*/ 499353 h 639846"/>
              <a:gd name="connsiteX48" fmla="*/ 2075234 w 2509736"/>
              <a:gd name="connsiteY48" fmla="*/ 486383 h 639846"/>
              <a:gd name="connsiteX49" fmla="*/ 2146570 w 2509736"/>
              <a:gd name="connsiteY49" fmla="*/ 473413 h 639846"/>
              <a:gd name="connsiteX50" fmla="*/ 2211421 w 2509736"/>
              <a:gd name="connsiteY50" fmla="*/ 460443 h 639846"/>
              <a:gd name="connsiteX51" fmla="*/ 2263302 w 2509736"/>
              <a:gd name="connsiteY51" fmla="*/ 447472 h 639846"/>
              <a:gd name="connsiteX52" fmla="*/ 2295728 w 2509736"/>
              <a:gd name="connsiteY52" fmla="*/ 440987 h 639846"/>
              <a:gd name="connsiteX53" fmla="*/ 2328153 w 2509736"/>
              <a:gd name="connsiteY53" fmla="*/ 428017 h 639846"/>
              <a:gd name="connsiteX54" fmla="*/ 2367064 w 2509736"/>
              <a:gd name="connsiteY54" fmla="*/ 415047 h 639846"/>
              <a:gd name="connsiteX55" fmla="*/ 2386519 w 2509736"/>
              <a:gd name="connsiteY55" fmla="*/ 408562 h 639846"/>
              <a:gd name="connsiteX56" fmla="*/ 2412460 w 2509736"/>
              <a:gd name="connsiteY56" fmla="*/ 395592 h 639846"/>
              <a:gd name="connsiteX57" fmla="*/ 2490281 w 2509736"/>
              <a:gd name="connsiteY57" fmla="*/ 317770 h 639846"/>
              <a:gd name="connsiteX58" fmla="*/ 2503251 w 2509736"/>
              <a:gd name="connsiteY58" fmla="*/ 298315 h 639846"/>
              <a:gd name="connsiteX59" fmla="*/ 2509736 w 2509736"/>
              <a:gd name="connsiteY59" fmla="*/ 278860 h 639846"/>
              <a:gd name="connsiteX60" fmla="*/ 2503251 w 2509736"/>
              <a:gd name="connsiteY60" fmla="*/ 214009 h 639846"/>
              <a:gd name="connsiteX61" fmla="*/ 2490281 w 2509736"/>
              <a:gd name="connsiteY61" fmla="*/ 201038 h 639846"/>
              <a:gd name="connsiteX62" fmla="*/ 2444885 w 2509736"/>
              <a:gd name="connsiteY62" fmla="*/ 149158 h 639846"/>
              <a:gd name="connsiteX63" fmla="*/ 2431915 w 2509736"/>
              <a:gd name="connsiteY63" fmla="*/ 136187 h 639846"/>
              <a:gd name="connsiteX64" fmla="*/ 2405974 w 2509736"/>
              <a:gd name="connsiteY64" fmla="*/ 123217 h 639846"/>
              <a:gd name="connsiteX65" fmla="*/ 2367064 w 2509736"/>
              <a:gd name="connsiteY65" fmla="*/ 97277 h 639846"/>
              <a:gd name="connsiteX66" fmla="*/ 2321668 w 2509736"/>
              <a:gd name="connsiteY66" fmla="*/ 77821 h 639846"/>
              <a:gd name="connsiteX67" fmla="*/ 2295728 w 2509736"/>
              <a:gd name="connsiteY67" fmla="*/ 64851 h 639846"/>
              <a:gd name="connsiteX68" fmla="*/ 2256817 w 2509736"/>
              <a:gd name="connsiteY68" fmla="*/ 51881 h 639846"/>
              <a:gd name="connsiteX69" fmla="*/ 2237362 w 2509736"/>
              <a:gd name="connsiteY69" fmla="*/ 45396 h 639846"/>
              <a:gd name="connsiteX70" fmla="*/ 2217906 w 2509736"/>
              <a:gd name="connsiteY70" fmla="*/ 38911 h 639846"/>
              <a:gd name="connsiteX71" fmla="*/ 2198451 w 2509736"/>
              <a:gd name="connsiteY71" fmla="*/ 32426 h 639846"/>
              <a:gd name="connsiteX72" fmla="*/ 2172511 w 2509736"/>
              <a:gd name="connsiteY72" fmla="*/ 25941 h 639846"/>
              <a:gd name="connsiteX73" fmla="*/ 2153055 w 2509736"/>
              <a:gd name="connsiteY73" fmla="*/ 19455 h 639846"/>
              <a:gd name="connsiteX74" fmla="*/ 2120630 w 2509736"/>
              <a:gd name="connsiteY74" fmla="*/ 12970 h 639846"/>
              <a:gd name="connsiteX75" fmla="*/ 2010383 w 2509736"/>
              <a:gd name="connsiteY75" fmla="*/ 0 h 639846"/>
              <a:gd name="connsiteX76" fmla="*/ 1601821 w 2509736"/>
              <a:gd name="connsiteY76" fmla="*/ 6485 h 639846"/>
              <a:gd name="connsiteX77" fmla="*/ 1511030 w 2509736"/>
              <a:gd name="connsiteY77" fmla="*/ 12970 h 639846"/>
              <a:gd name="connsiteX78" fmla="*/ 1264596 w 2509736"/>
              <a:gd name="connsiteY78" fmla="*/ 25941 h 639846"/>
              <a:gd name="connsiteX79" fmla="*/ 246434 w 2509736"/>
              <a:gd name="connsiteY79" fmla="*/ 38911 h 639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2509736" h="639846">
                <a:moveTo>
                  <a:pt x="778213" y="64851"/>
                </a:moveTo>
                <a:cubicBezTo>
                  <a:pt x="634814" y="82776"/>
                  <a:pt x="799415" y="63908"/>
                  <a:pt x="486383" y="77821"/>
                </a:cubicBezTo>
                <a:cubicBezTo>
                  <a:pt x="468972" y="78595"/>
                  <a:pt x="451831" y="82450"/>
                  <a:pt x="434502" y="84307"/>
                </a:cubicBezTo>
                <a:cubicBezTo>
                  <a:pt x="391300" y="88936"/>
                  <a:pt x="347813" y="91132"/>
                  <a:pt x="304800" y="97277"/>
                </a:cubicBezTo>
                <a:cubicBezTo>
                  <a:pt x="290317" y="99346"/>
                  <a:pt x="236693" y="106647"/>
                  <a:pt x="220494" y="110247"/>
                </a:cubicBezTo>
                <a:cubicBezTo>
                  <a:pt x="213821" y="111730"/>
                  <a:pt x="207711" y="115249"/>
                  <a:pt x="201038" y="116732"/>
                </a:cubicBezTo>
                <a:cubicBezTo>
                  <a:pt x="188202" y="119584"/>
                  <a:pt x="175022" y="120638"/>
                  <a:pt x="162128" y="123217"/>
                </a:cubicBezTo>
                <a:cubicBezTo>
                  <a:pt x="153388" y="124965"/>
                  <a:pt x="144724" y="127141"/>
                  <a:pt x="136187" y="129702"/>
                </a:cubicBezTo>
                <a:cubicBezTo>
                  <a:pt x="123092" y="133630"/>
                  <a:pt x="97277" y="142672"/>
                  <a:pt x="97277" y="142672"/>
                </a:cubicBezTo>
                <a:cubicBezTo>
                  <a:pt x="90792" y="146996"/>
                  <a:pt x="84793" y="152157"/>
                  <a:pt x="77821" y="155643"/>
                </a:cubicBezTo>
                <a:cubicBezTo>
                  <a:pt x="71707" y="158700"/>
                  <a:pt x="64480" y="159071"/>
                  <a:pt x="58366" y="162128"/>
                </a:cubicBezTo>
                <a:cubicBezTo>
                  <a:pt x="48158" y="167232"/>
                  <a:pt x="33177" y="178419"/>
                  <a:pt x="25940" y="188068"/>
                </a:cubicBezTo>
                <a:cubicBezTo>
                  <a:pt x="16587" y="200539"/>
                  <a:pt x="0" y="226979"/>
                  <a:pt x="0" y="226979"/>
                </a:cubicBezTo>
                <a:cubicBezTo>
                  <a:pt x="8733" y="279374"/>
                  <a:pt x="2327" y="253416"/>
                  <a:pt x="19455" y="304800"/>
                </a:cubicBezTo>
                <a:cubicBezTo>
                  <a:pt x="21617" y="311285"/>
                  <a:pt x="21106" y="319421"/>
                  <a:pt x="25940" y="324255"/>
                </a:cubicBezTo>
                <a:lnTo>
                  <a:pt x="38911" y="337226"/>
                </a:lnTo>
                <a:cubicBezTo>
                  <a:pt x="55783" y="387843"/>
                  <a:pt x="28144" y="314591"/>
                  <a:pt x="77821" y="389107"/>
                </a:cubicBezTo>
                <a:cubicBezTo>
                  <a:pt x="82144" y="395592"/>
                  <a:pt x="85801" y="402575"/>
                  <a:pt x="90791" y="408562"/>
                </a:cubicBezTo>
                <a:cubicBezTo>
                  <a:pt x="104119" y="424555"/>
                  <a:pt x="127105" y="442283"/>
                  <a:pt x="142672" y="453958"/>
                </a:cubicBezTo>
                <a:cubicBezTo>
                  <a:pt x="148907" y="458635"/>
                  <a:pt x="155785" y="462398"/>
                  <a:pt x="162128" y="466928"/>
                </a:cubicBezTo>
                <a:cubicBezTo>
                  <a:pt x="170923" y="473210"/>
                  <a:pt x="178903" y="480655"/>
                  <a:pt x="188068" y="486383"/>
                </a:cubicBezTo>
                <a:cubicBezTo>
                  <a:pt x="196266" y="491507"/>
                  <a:pt x="205964" y="493991"/>
                  <a:pt x="214008" y="499353"/>
                </a:cubicBezTo>
                <a:cubicBezTo>
                  <a:pt x="219096" y="502745"/>
                  <a:pt x="221670" y="509290"/>
                  <a:pt x="226979" y="512324"/>
                </a:cubicBezTo>
                <a:cubicBezTo>
                  <a:pt x="237086" y="518100"/>
                  <a:pt x="248992" y="520088"/>
                  <a:pt x="259404" y="525294"/>
                </a:cubicBezTo>
                <a:cubicBezTo>
                  <a:pt x="287864" y="539524"/>
                  <a:pt x="270698" y="539867"/>
                  <a:pt x="304800" y="551234"/>
                </a:cubicBezTo>
                <a:cubicBezTo>
                  <a:pt x="315257" y="554720"/>
                  <a:pt x="326592" y="554819"/>
                  <a:pt x="337226" y="557719"/>
                </a:cubicBezTo>
                <a:cubicBezTo>
                  <a:pt x="337275" y="557732"/>
                  <a:pt x="385839" y="573924"/>
                  <a:pt x="395591" y="577175"/>
                </a:cubicBezTo>
                <a:cubicBezTo>
                  <a:pt x="402076" y="579337"/>
                  <a:pt x="408304" y="582536"/>
                  <a:pt x="415047" y="583660"/>
                </a:cubicBezTo>
                <a:cubicBezTo>
                  <a:pt x="428017" y="585822"/>
                  <a:pt x="441121" y="587293"/>
                  <a:pt x="453957" y="590145"/>
                </a:cubicBezTo>
                <a:cubicBezTo>
                  <a:pt x="460630" y="591628"/>
                  <a:pt x="466670" y="595506"/>
                  <a:pt x="473413" y="596630"/>
                </a:cubicBezTo>
                <a:cubicBezTo>
                  <a:pt x="492722" y="599848"/>
                  <a:pt x="512401" y="600347"/>
                  <a:pt x="531779" y="603115"/>
                </a:cubicBezTo>
                <a:cubicBezTo>
                  <a:pt x="542691" y="604674"/>
                  <a:pt x="553257" y="608312"/>
                  <a:pt x="564204" y="609600"/>
                </a:cubicBezTo>
                <a:cubicBezTo>
                  <a:pt x="590056" y="612641"/>
                  <a:pt x="616085" y="613923"/>
                  <a:pt x="642026" y="616085"/>
                </a:cubicBezTo>
                <a:cubicBezTo>
                  <a:pt x="922208" y="662782"/>
                  <a:pt x="701864" y="628365"/>
                  <a:pt x="1420238" y="616085"/>
                </a:cubicBezTo>
                <a:cubicBezTo>
                  <a:pt x="1427073" y="615968"/>
                  <a:pt x="1433021" y="611083"/>
                  <a:pt x="1439694" y="609600"/>
                </a:cubicBezTo>
                <a:cubicBezTo>
                  <a:pt x="1452530" y="606748"/>
                  <a:pt x="1465710" y="605694"/>
                  <a:pt x="1478604" y="603115"/>
                </a:cubicBezTo>
                <a:cubicBezTo>
                  <a:pt x="1487344" y="601367"/>
                  <a:pt x="1495975" y="599079"/>
                  <a:pt x="1504545" y="596630"/>
                </a:cubicBezTo>
                <a:cubicBezTo>
                  <a:pt x="1511118" y="594752"/>
                  <a:pt x="1517274" y="591368"/>
                  <a:pt x="1524000" y="590145"/>
                </a:cubicBezTo>
                <a:cubicBezTo>
                  <a:pt x="1610500" y="574418"/>
                  <a:pt x="1543814" y="592058"/>
                  <a:pt x="1608306" y="577175"/>
                </a:cubicBezTo>
                <a:cubicBezTo>
                  <a:pt x="1625675" y="573167"/>
                  <a:pt x="1643276" y="569841"/>
                  <a:pt x="1660187" y="564204"/>
                </a:cubicBezTo>
                <a:cubicBezTo>
                  <a:pt x="1666672" y="562042"/>
                  <a:pt x="1673011" y="559377"/>
                  <a:pt x="1679643" y="557719"/>
                </a:cubicBezTo>
                <a:cubicBezTo>
                  <a:pt x="1690336" y="555046"/>
                  <a:pt x="1701308" y="553625"/>
                  <a:pt x="1712068" y="551234"/>
                </a:cubicBezTo>
                <a:cubicBezTo>
                  <a:pt x="1747048" y="543461"/>
                  <a:pt x="1731313" y="544784"/>
                  <a:pt x="1770434" y="538264"/>
                </a:cubicBezTo>
                <a:cubicBezTo>
                  <a:pt x="1785512" y="535751"/>
                  <a:pt x="1800698" y="533941"/>
                  <a:pt x="1815830" y="531779"/>
                </a:cubicBezTo>
                <a:cubicBezTo>
                  <a:pt x="1822315" y="529617"/>
                  <a:pt x="1828582" y="526635"/>
                  <a:pt x="1835285" y="525294"/>
                </a:cubicBezTo>
                <a:cubicBezTo>
                  <a:pt x="1861072" y="520137"/>
                  <a:pt x="1887166" y="516648"/>
                  <a:pt x="1913106" y="512324"/>
                </a:cubicBezTo>
                <a:lnTo>
                  <a:pt x="1952017" y="505838"/>
                </a:lnTo>
                <a:cubicBezTo>
                  <a:pt x="1964987" y="503676"/>
                  <a:pt x="1977911" y="501213"/>
                  <a:pt x="1990928" y="499353"/>
                </a:cubicBezTo>
                <a:cubicBezTo>
                  <a:pt x="2012728" y="496239"/>
                  <a:pt x="2052742" y="490881"/>
                  <a:pt x="2075234" y="486383"/>
                </a:cubicBezTo>
                <a:cubicBezTo>
                  <a:pt x="2151678" y="471094"/>
                  <a:pt x="2031167" y="489899"/>
                  <a:pt x="2146570" y="473413"/>
                </a:cubicBezTo>
                <a:cubicBezTo>
                  <a:pt x="2190528" y="458761"/>
                  <a:pt x="2136896" y="475349"/>
                  <a:pt x="2211421" y="460443"/>
                </a:cubicBezTo>
                <a:cubicBezTo>
                  <a:pt x="2228901" y="456947"/>
                  <a:pt x="2245822" y="450968"/>
                  <a:pt x="2263302" y="447472"/>
                </a:cubicBezTo>
                <a:lnTo>
                  <a:pt x="2295728" y="440987"/>
                </a:lnTo>
                <a:cubicBezTo>
                  <a:pt x="2306536" y="436664"/>
                  <a:pt x="2317213" y="431995"/>
                  <a:pt x="2328153" y="428017"/>
                </a:cubicBezTo>
                <a:cubicBezTo>
                  <a:pt x="2341002" y="423345"/>
                  <a:pt x="2354094" y="419370"/>
                  <a:pt x="2367064" y="415047"/>
                </a:cubicBezTo>
                <a:cubicBezTo>
                  <a:pt x="2373549" y="412885"/>
                  <a:pt x="2380405" y="411619"/>
                  <a:pt x="2386519" y="408562"/>
                </a:cubicBezTo>
                <a:cubicBezTo>
                  <a:pt x="2395166" y="404239"/>
                  <a:pt x="2404066" y="400389"/>
                  <a:pt x="2412460" y="395592"/>
                </a:cubicBezTo>
                <a:cubicBezTo>
                  <a:pt x="2444921" y="377043"/>
                  <a:pt x="2468898" y="347708"/>
                  <a:pt x="2490281" y="317770"/>
                </a:cubicBezTo>
                <a:cubicBezTo>
                  <a:pt x="2494811" y="311428"/>
                  <a:pt x="2499765" y="305286"/>
                  <a:pt x="2503251" y="298315"/>
                </a:cubicBezTo>
                <a:cubicBezTo>
                  <a:pt x="2506308" y="292201"/>
                  <a:pt x="2507574" y="285345"/>
                  <a:pt x="2509736" y="278860"/>
                </a:cubicBezTo>
                <a:cubicBezTo>
                  <a:pt x="2507574" y="257243"/>
                  <a:pt x="2508520" y="235085"/>
                  <a:pt x="2503251" y="214009"/>
                </a:cubicBezTo>
                <a:cubicBezTo>
                  <a:pt x="2501768" y="208077"/>
                  <a:pt x="2494101" y="205813"/>
                  <a:pt x="2490281" y="201038"/>
                </a:cubicBezTo>
                <a:cubicBezTo>
                  <a:pt x="2447387" y="147419"/>
                  <a:pt x="2524879" y="229152"/>
                  <a:pt x="2444885" y="149158"/>
                </a:cubicBezTo>
                <a:cubicBezTo>
                  <a:pt x="2440561" y="144834"/>
                  <a:pt x="2437384" y="138921"/>
                  <a:pt x="2431915" y="136187"/>
                </a:cubicBezTo>
                <a:cubicBezTo>
                  <a:pt x="2423268" y="131864"/>
                  <a:pt x="2414264" y="128191"/>
                  <a:pt x="2405974" y="123217"/>
                </a:cubicBezTo>
                <a:cubicBezTo>
                  <a:pt x="2392607" y="115197"/>
                  <a:pt x="2381006" y="104248"/>
                  <a:pt x="2367064" y="97277"/>
                </a:cubicBezTo>
                <a:cubicBezTo>
                  <a:pt x="2281015" y="54254"/>
                  <a:pt x="2388473" y="106453"/>
                  <a:pt x="2321668" y="77821"/>
                </a:cubicBezTo>
                <a:cubicBezTo>
                  <a:pt x="2312782" y="74013"/>
                  <a:pt x="2304704" y="68441"/>
                  <a:pt x="2295728" y="64851"/>
                </a:cubicBezTo>
                <a:cubicBezTo>
                  <a:pt x="2283034" y="59773"/>
                  <a:pt x="2269787" y="56204"/>
                  <a:pt x="2256817" y="51881"/>
                </a:cubicBezTo>
                <a:lnTo>
                  <a:pt x="2237362" y="45396"/>
                </a:lnTo>
                <a:lnTo>
                  <a:pt x="2217906" y="38911"/>
                </a:lnTo>
                <a:cubicBezTo>
                  <a:pt x="2211421" y="36749"/>
                  <a:pt x="2205083" y="34084"/>
                  <a:pt x="2198451" y="32426"/>
                </a:cubicBezTo>
                <a:cubicBezTo>
                  <a:pt x="2189804" y="30264"/>
                  <a:pt x="2181081" y="28390"/>
                  <a:pt x="2172511" y="25941"/>
                </a:cubicBezTo>
                <a:cubicBezTo>
                  <a:pt x="2165938" y="24063"/>
                  <a:pt x="2159687" y="21113"/>
                  <a:pt x="2153055" y="19455"/>
                </a:cubicBezTo>
                <a:cubicBezTo>
                  <a:pt x="2142362" y="16782"/>
                  <a:pt x="2131502" y="14782"/>
                  <a:pt x="2120630" y="12970"/>
                </a:cubicBezTo>
                <a:cubicBezTo>
                  <a:pt x="2077622" y="5802"/>
                  <a:pt x="2056483" y="4610"/>
                  <a:pt x="2010383" y="0"/>
                </a:cubicBezTo>
                <a:lnTo>
                  <a:pt x="1601821" y="6485"/>
                </a:lnTo>
                <a:cubicBezTo>
                  <a:pt x="1571490" y="7273"/>
                  <a:pt x="1541308" y="11017"/>
                  <a:pt x="1511030" y="12970"/>
                </a:cubicBezTo>
                <a:cubicBezTo>
                  <a:pt x="1464452" y="15975"/>
                  <a:pt x="1302940" y="25295"/>
                  <a:pt x="1264596" y="25941"/>
                </a:cubicBezTo>
                <a:lnTo>
                  <a:pt x="246434" y="38911"/>
                </a:ln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4484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B9864-F696-4B49-B294-33416930B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Выполнить скрипт сразу после запуска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6910F8-AF22-CC49-9286-DA7FD9D0E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26" y="1047336"/>
            <a:ext cx="5259396" cy="3048827"/>
          </a:xfrm>
          <a:prstGeom prst="rect">
            <a:avLst/>
          </a:prstGeom>
        </p:spPr>
      </p:pic>
      <p:sp>
        <p:nvSpPr>
          <p:cNvPr id="6" name="Freeform 5">
            <a:extLst>
              <a:ext uri="{FF2B5EF4-FFF2-40B4-BE49-F238E27FC236}">
                <a16:creationId xmlns:a16="http://schemas.microsoft.com/office/drawing/2014/main" id="{CC7DC5B1-2959-4145-A5EF-71EB38C73BA4}"/>
              </a:ext>
            </a:extLst>
          </p:cNvPr>
          <p:cNvSpPr/>
          <p:nvPr/>
        </p:nvSpPr>
        <p:spPr>
          <a:xfrm>
            <a:off x="0" y="3664084"/>
            <a:ext cx="2509736" cy="551234"/>
          </a:xfrm>
          <a:custGeom>
            <a:avLst/>
            <a:gdLst>
              <a:gd name="connsiteX0" fmla="*/ 778213 w 2509736"/>
              <a:gd name="connsiteY0" fmla="*/ 64851 h 639846"/>
              <a:gd name="connsiteX1" fmla="*/ 486383 w 2509736"/>
              <a:gd name="connsiteY1" fmla="*/ 77821 h 639846"/>
              <a:gd name="connsiteX2" fmla="*/ 434502 w 2509736"/>
              <a:gd name="connsiteY2" fmla="*/ 84307 h 639846"/>
              <a:gd name="connsiteX3" fmla="*/ 304800 w 2509736"/>
              <a:gd name="connsiteY3" fmla="*/ 97277 h 639846"/>
              <a:gd name="connsiteX4" fmla="*/ 220494 w 2509736"/>
              <a:gd name="connsiteY4" fmla="*/ 110247 h 639846"/>
              <a:gd name="connsiteX5" fmla="*/ 201038 w 2509736"/>
              <a:gd name="connsiteY5" fmla="*/ 116732 h 639846"/>
              <a:gd name="connsiteX6" fmla="*/ 162128 w 2509736"/>
              <a:gd name="connsiteY6" fmla="*/ 123217 h 639846"/>
              <a:gd name="connsiteX7" fmla="*/ 136187 w 2509736"/>
              <a:gd name="connsiteY7" fmla="*/ 129702 h 639846"/>
              <a:gd name="connsiteX8" fmla="*/ 97277 w 2509736"/>
              <a:gd name="connsiteY8" fmla="*/ 142672 h 639846"/>
              <a:gd name="connsiteX9" fmla="*/ 77821 w 2509736"/>
              <a:gd name="connsiteY9" fmla="*/ 155643 h 639846"/>
              <a:gd name="connsiteX10" fmla="*/ 58366 w 2509736"/>
              <a:gd name="connsiteY10" fmla="*/ 162128 h 639846"/>
              <a:gd name="connsiteX11" fmla="*/ 25940 w 2509736"/>
              <a:gd name="connsiteY11" fmla="*/ 188068 h 639846"/>
              <a:gd name="connsiteX12" fmla="*/ 0 w 2509736"/>
              <a:gd name="connsiteY12" fmla="*/ 226979 h 639846"/>
              <a:gd name="connsiteX13" fmla="*/ 19455 w 2509736"/>
              <a:gd name="connsiteY13" fmla="*/ 304800 h 639846"/>
              <a:gd name="connsiteX14" fmla="*/ 25940 w 2509736"/>
              <a:gd name="connsiteY14" fmla="*/ 324255 h 639846"/>
              <a:gd name="connsiteX15" fmla="*/ 38911 w 2509736"/>
              <a:gd name="connsiteY15" fmla="*/ 337226 h 639846"/>
              <a:gd name="connsiteX16" fmla="*/ 77821 w 2509736"/>
              <a:gd name="connsiteY16" fmla="*/ 389107 h 639846"/>
              <a:gd name="connsiteX17" fmla="*/ 90791 w 2509736"/>
              <a:gd name="connsiteY17" fmla="*/ 408562 h 639846"/>
              <a:gd name="connsiteX18" fmla="*/ 142672 w 2509736"/>
              <a:gd name="connsiteY18" fmla="*/ 453958 h 639846"/>
              <a:gd name="connsiteX19" fmla="*/ 162128 w 2509736"/>
              <a:gd name="connsiteY19" fmla="*/ 466928 h 639846"/>
              <a:gd name="connsiteX20" fmla="*/ 188068 w 2509736"/>
              <a:gd name="connsiteY20" fmla="*/ 486383 h 639846"/>
              <a:gd name="connsiteX21" fmla="*/ 214008 w 2509736"/>
              <a:gd name="connsiteY21" fmla="*/ 499353 h 639846"/>
              <a:gd name="connsiteX22" fmla="*/ 226979 w 2509736"/>
              <a:gd name="connsiteY22" fmla="*/ 512324 h 639846"/>
              <a:gd name="connsiteX23" fmla="*/ 259404 w 2509736"/>
              <a:gd name="connsiteY23" fmla="*/ 525294 h 639846"/>
              <a:gd name="connsiteX24" fmla="*/ 304800 w 2509736"/>
              <a:gd name="connsiteY24" fmla="*/ 551234 h 639846"/>
              <a:gd name="connsiteX25" fmla="*/ 337226 w 2509736"/>
              <a:gd name="connsiteY25" fmla="*/ 557719 h 639846"/>
              <a:gd name="connsiteX26" fmla="*/ 395591 w 2509736"/>
              <a:gd name="connsiteY26" fmla="*/ 577175 h 639846"/>
              <a:gd name="connsiteX27" fmla="*/ 415047 w 2509736"/>
              <a:gd name="connsiteY27" fmla="*/ 583660 h 639846"/>
              <a:gd name="connsiteX28" fmla="*/ 453957 w 2509736"/>
              <a:gd name="connsiteY28" fmla="*/ 590145 h 639846"/>
              <a:gd name="connsiteX29" fmla="*/ 473413 w 2509736"/>
              <a:gd name="connsiteY29" fmla="*/ 596630 h 639846"/>
              <a:gd name="connsiteX30" fmla="*/ 531779 w 2509736"/>
              <a:gd name="connsiteY30" fmla="*/ 603115 h 639846"/>
              <a:gd name="connsiteX31" fmla="*/ 564204 w 2509736"/>
              <a:gd name="connsiteY31" fmla="*/ 609600 h 639846"/>
              <a:gd name="connsiteX32" fmla="*/ 642026 w 2509736"/>
              <a:gd name="connsiteY32" fmla="*/ 616085 h 639846"/>
              <a:gd name="connsiteX33" fmla="*/ 1420238 w 2509736"/>
              <a:gd name="connsiteY33" fmla="*/ 616085 h 639846"/>
              <a:gd name="connsiteX34" fmla="*/ 1439694 w 2509736"/>
              <a:gd name="connsiteY34" fmla="*/ 609600 h 639846"/>
              <a:gd name="connsiteX35" fmla="*/ 1478604 w 2509736"/>
              <a:gd name="connsiteY35" fmla="*/ 603115 h 639846"/>
              <a:gd name="connsiteX36" fmla="*/ 1504545 w 2509736"/>
              <a:gd name="connsiteY36" fmla="*/ 596630 h 639846"/>
              <a:gd name="connsiteX37" fmla="*/ 1524000 w 2509736"/>
              <a:gd name="connsiteY37" fmla="*/ 590145 h 639846"/>
              <a:gd name="connsiteX38" fmla="*/ 1608306 w 2509736"/>
              <a:gd name="connsiteY38" fmla="*/ 577175 h 639846"/>
              <a:gd name="connsiteX39" fmla="*/ 1660187 w 2509736"/>
              <a:gd name="connsiteY39" fmla="*/ 564204 h 639846"/>
              <a:gd name="connsiteX40" fmla="*/ 1679643 w 2509736"/>
              <a:gd name="connsiteY40" fmla="*/ 557719 h 639846"/>
              <a:gd name="connsiteX41" fmla="*/ 1712068 w 2509736"/>
              <a:gd name="connsiteY41" fmla="*/ 551234 h 639846"/>
              <a:gd name="connsiteX42" fmla="*/ 1770434 w 2509736"/>
              <a:gd name="connsiteY42" fmla="*/ 538264 h 639846"/>
              <a:gd name="connsiteX43" fmla="*/ 1815830 w 2509736"/>
              <a:gd name="connsiteY43" fmla="*/ 531779 h 639846"/>
              <a:gd name="connsiteX44" fmla="*/ 1835285 w 2509736"/>
              <a:gd name="connsiteY44" fmla="*/ 525294 h 639846"/>
              <a:gd name="connsiteX45" fmla="*/ 1913106 w 2509736"/>
              <a:gd name="connsiteY45" fmla="*/ 512324 h 639846"/>
              <a:gd name="connsiteX46" fmla="*/ 1952017 w 2509736"/>
              <a:gd name="connsiteY46" fmla="*/ 505838 h 639846"/>
              <a:gd name="connsiteX47" fmla="*/ 1990928 w 2509736"/>
              <a:gd name="connsiteY47" fmla="*/ 499353 h 639846"/>
              <a:gd name="connsiteX48" fmla="*/ 2075234 w 2509736"/>
              <a:gd name="connsiteY48" fmla="*/ 486383 h 639846"/>
              <a:gd name="connsiteX49" fmla="*/ 2146570 w 2509736"/>
              <a:gd name="connsiteY49" fmla="*/ 473413 h 639846"/>
              <a:gd name="connsiteX50" fmla="*/ 2211421 w 2509736"/>
              <a:gd name="connsiteY50" fmla="*/ 460443 h 639846"/>
              <a:gd name="connsiteX51" fmla="*/ 2263302 w 2509736"/>
              <a:gd name="connsiteY51" fmla="*/ 447472 h 639846"/>
              <a:gd name="connsiteX52" fmla="*/ 2295728 w 2509736"/>
              <a:gd name="connsiteY52" fmla="*/ 440987 h 639846"/>
              <a:gd name="connsiteX53" fmla="*/ 2328153 w 2509736"/>
              <a:gd name="connsiteY53" fmla="*/ 428017 h 639846"/>
              <a:gd name="connsiteX54" fmla="*/ 2367064 w 2509736"/>
              <a:gd name="connsiteY54" fmla="*/ 415047 h 639846"/>
              <a:gd name="connsiteX55" fmla="*/ 2386519 w 2509736"/>
              <a:gd name="connsiteY55" fmla="*/ 408562 h 639846"/>
              <a:gd name="connsiteX56" fmla="*/ 2412460 w 2509736"/>
              <a:gd name="connsiteY56" fmla="*/ 395592 h 639846"/>
              <a:gd name="connsiteX57" fmla="*/ 2490281 w 2509736"/>
              <a:gd name="connsiteY57" fmla="*/ 317770 h 639846"/>
              <a:gd name="connsiteX58" fmla="*/ 2503251 w 2509736"/>
              <a:gd name="connsiteY58" fmla="*/ 298315 h 639846"/>
              <a:gd name="connsiteX59" fmla="*/ 2509736 w 2509736"/>
              <a:gd name="connsiteY59" fmla="*/ 278860 h 639846"/>
              <a:gd name="connsiteX60" fmla="*/ 2503251 w 2509736"/>
              <a:gd name="connsiteY60" fmla="*/ 214009 h 639846"/>
              <a:gd name="connsiteX61" fmla="*/ 2490281 w 2509736"/>
              <a:gd name="connsiteY61" fmla="*/ 201038 h 639846"/>
              <a:gd name="connsiteX62" fmla="*/ 2444885 w 2509736"/>
              <a:gd name="connsiteY62" fmla="*/ 149158 h 639846"/>
              <a:gd name="connsiteX63" fmla="*/ 2431915 w 2509736"/>
              <a:gd name="connsiteY63" fmla="*/ 136187 h 639846"/>
              <a:gd name="connsiteX64" fmla="*/ 2405974 w 2509736"/>
              <a:gd name="connsiteY64" fmla="*/ 123217 h 639846"/>
              <a:gd name="connsiteX65" fmla="*/ 2367064 w 2509736"/>
              <a:gd name="connsiteY65" fmla="*/ 97277 h 639846"/>
              <a:gd name="connsiteX66" fmla="*/ 2321668 w 2509736"/>
              <a:gd name="connsiteY66" fmla="*/ 77821 h 639846"/>
              <a:gd name="connsiteX67" fmla="*/ 2295728 w 2509736"/>
              <a:gd name="connsiteY67" fmla="*/ 64851 h 639846"/>
              <a:gd name="connsiteX68" fmla="*/ 2256817 w 2509736"/>
              <a:gd name="connsiteY68" fmla="*/ 51881 h 639846"/>
              <a:gd name="connsiteX69" fmla="*/ 2237362 w 2509736"/>
              <a:gd name="connsiteY69" fmla="*/ 45396 h 639846"/>
              <a:gd name="connsiteX70" fmla="*/ 2217906 w 2509736"/>
              <a:gd name="connsiteY70" fmla="*/ 38911 h 639846"/>
              <a:gd name="connsiteX71" fmla="*/ 2198451 w 2509736"/>
              <a:gd name="connsiteY71" fmla="*/ 32426 h 639846"/>
              <a:gd name="connsiteX72" fmla="*/ 2172511 w 2509736"/>
              <a:gd name="connsiteY72" fmla="*/ 25941 h 639846"/>
              <a:gd name="connsiteX73" fmla="*/ 2153055 w 2509736"/>
              <a:gd name="connsiteY73" fmla="*/ 19455 h 639846"/>
              <a:gd name="connsiteX74" fmla="*/ 2120630 w 2509736"/>
              <a:gd name="connsiteY74" fmla="*/ 12970 h 639846"/>
              <a:gd name="connsiteX75" fmla="*/ 2010383 w 2509736"/>
              <a:gd name="connsiteY75" fmla="*/ 0 h 639846"/>
              <a:gd name="connsiteX76" fmla="*/ 1601821 w 2509736"/>
              <a:gd name="connsiteY76" fmla="*/ 6485 h 639846"/>
              <a:gd name="connsiteX77" fmla="*/ 1511030 w 2509736"/>
              <a:gd name="connsiteY77" fmla="*/ 12970 h 639846"/>
              <a:gd name="connsiteX78" fmla="*/ 1264596 w 2509736"/>
              <a:gd name="connsiteY78" fmla="*/ 25941 h 639846"/>
              <a:gd name="connsiteX79" fmla="*/ 246434 w 2509736"/>
              <a:gd name="connsiteY79" fmla="*/ 38911 h 639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2509736" h="639846">
                <a:moveTo>
                  <a:pt x="778213" y="64851"/>
                </a:moveTo>
                <a:cubicBezTo>
                  <a:pt x="634814" y="82776"/>
                  <a:pt x="799415" y="63908"/>
                  <a:pt x="486383" y="77821"/>
                </a:cubicBezTo>
                <a:cubicBezTo>
                  <a:pt x="468972" y="78595"/>
                  <a:pt x="451831" y="82450"/>
                  <a:pt x="434502" y="84307"/>
                </a:cubicBezTo>
                <a:cubicBezTo>
                  <a:pt x="391300" y="88936"/>
                  <a:pt x="347813" y="91132"/>
                  <a:pt x="304800" y="97277"/>
                </a:cubicBezTo>
                <a:cubicBezTo>
                  <a:pt x="290317" y="99346"/>
                  <a:pt x="236693" y="106647"/>
                  <a:pt x="220494" y="110247"/>
                </a:cubicBezTo>
                <a:cubicBezTo>
                  <a:pt x="213821" y="111730"/>
                  <a:pt x="207711" y="115249"/>
                  <a:pt x="201038" y="116732"/>
                </a:cubicBezTo>
                <a:cubicBezTo>
                  <a:pt x="188202" y="119584"/>
                  <a:pt x="175022" y="120638"/>
                  <a:pt x="162128" y="123217"/>
                </a:cubicBezTo>
                <a:cubicBezTo>
                  <a:pt x="153388" y="124965"/>
                  <a:pt x="144724" y="127141"/>
                  <a:pt x="136187" y="129702"/>
                </a:cubicBezTo>
                <a:cubicBezTo>
                  <a:pt x="123092" y="133630"/>
                  <a:pt x="97277" y="142672"/>
                  <a:pt x="97277" y="142672"/>
                </a:cubicBezTo>
                <a:cubicBezTo>
                  <a:pt x="90792" y="146996"/>
                  <a:pt x="84793" y="152157"/>
                  <a:pt x="77821" y="155643"/>
                </a:cubicBezTo>
                <a:cubicBezTo>
                  <a:pt x="71707" y="158700"/>
                  <a:pt x="64480" y="159071"/>
                  <a:pt x="58366" y="162128"/>
                </a:cubicBezTo>
                <a:cubicBezTo>
                  <a:pt x="48158" y="167232"/>
                  <a:pt x="33177" y="178419"/>
                  <a:pt x="25940" y="188068"/>
                </a:cubicBezTo>
                <a:cubicBezTo>
                  <a:pt x="16587" y="200539"/>
                  <a:pt x="0" y="226979"/>
                  <a:pt x="0" y="226979"/>
                </a:cubicBezTo>
                <a:cubicBezTo>
                  <a:pt x="8733" y="279374"/>
                  <a:pt x="2327" y="253416"/>
                  <a:pt x="19455" y="304800"/>
                </a:cubicBezTo>
                <a:cubicBezTo>
                  <a:pt x="21617" y="311285"/>
                  <a:pt x="21106" y="319421"/>
                  <a:pt x="25940" y="324255"/>
                </a:cubicBezTo>
                <a:lnTo>
                  <a:pt x="38911" y="337226"/>
                </a:lnTo>
                <a:cubicBezTo>
                  <a:pt x="55783" y="387843"/>
                  <a:pt x="28144" y="314591"/>
                  <a:pt x="77821" y="389107"/>
                </a:cubicBezTo>
                <a:cubicBezTo>
                  <a:pt x="82144" y="395592"/>
                  <a:pt x="85801" y="402575"/>
                  <a:pt x="90791" y="408562"/>
                </a:cubicBezTo>
                <a:cubicBezTo>
                  <a:pt x="104119" y="424555"/>
                  <a:pt x="127105" y="442283"/>
                  <a:pt x="142672" y="453958"/>
                </a:cubicBezTo>
                <a:cubicBezTo>
                  <a:pt x="148907" y="458635"/>
                  <a:pt x="155785" y="462398"/>
                  <a:pt x="162128" y="466928"/>
                </a:cubicBezTo>
                <a:cubicBezTo>
                  <a:pt x="170923" y="473210"/>
                  <a:pt x="178903" y="480655"/>
                  <a:pt x="188068" y="486383"/>
                </a:cubicBezTo>
                <a:cubicBezTo>
                  <a:pt x="196266" y="491507"/>
                  <a:pt x="205964" y="493991"/>
                  <a:pt x="214008" y="499353"/>
                </a:cubicBezTo>
                <a:cubicBezTo>
                  <a:pt x="219096" y="502745"/>
                  <a:pt x="221670" y="509290"/>
                  <a:pt x="226979" y="512324"/>
                </a:cubicBezTo>
                <a:cubicBezTo>
                  <a:pt x="237086" y="518100"/>
                  <a:pt x="248992" y="520088"/>
                  <a:pt x="259404" y="525294"/>
                </a:cubicBezTo>
                <a:cubicBezTo>
                  <a:pt x="287864" y="539524"/>
                  <a:pt x="270698" y="539867"/>
                  <a:pt x="304800" y="551234"/>
                </a:cubicBezTo>
                <a:cubicBezTo>
                  <a:pt x="315257" y="554720"/>
                  <a:pt x="326592" y="554819"/>
                  <a:pt x="337226" y="557719"/>
                </a:cubicBezTo>
                <a:cubicBezTo>
                  <a:pt x="337275" y="557732"/>
                  <a:pt x="385839" y="573924"/>
                  <a:pt x="395591" y="577175"/>
                </a:cubicBezTo>
                <a:cubicBezTo>
                  <a:pt x="402076" y="579337"/>
                  <a:pt x="408304" y="582536"/>
                  <a:pt x="415047" y="583660"/>
                </a:cubicBezTo>
                <a:cubicBezTo>
                  <a:pt x="428017" y="585822"/>
                  <a:pt x="441121" y="587293"/>
                  <a:pt x="453957" y="590145"/>
                </a:cubicBezTo>
                <a:cubicBezTo>
                  <a:pt x="460630" y="591628"/>
                  <a:pt x="466670" y="595506"/>
                  <a:pt x="473413" y="596630"/>
                </a:cubicBezTo>
                <a:cubicBezTo>
                  <a:pt x="492722" y="599848"/>
                  <a:pt x="512401" y="600347"/>
                  <a:pt x="531779" y="603115"/>
                </a:cubicBezTo>
                <a:cubicBezTo>
                  <a:pt x="542691" y="604674"/>
                  <a:pt x="553257" y="608312"/>
                  <a:pt x="564204" y="609600"/>
                </a:cubicBezTo>
                <a:cubicBezTo>
                  <a:pt x="590056" y="612641"/>
                  <a:pt x="616085" y="613923"/>
                  <a:pt x="642026" y="616085"/>
                </a:cubicBezTo>
                <a:cubicBezTo>
                  <a:pt x="922208" y="662782"/>
                  <a:pt x="701864" y="628365"/>
                  <a:pt x="1420238" y="616085"/>
                </a:cubicBezTo>
                <a:cubicBezTo>
                  <a:pt x="1427073" y="615968"/>
                  <a:pt x="1433021" y="611083"/>
                  <a:pt x="1439694" y="609600"/>
                </a:cubicBezTo>
                <a:cubicBezTo>
                  <a:pt x="1452530" y="606748"/>
                  <a:pt x="1465710" y="605694"/>
                  <a:pt x="1478604" y="603115"/>
                </a:cubicBezTo>
                <a:cubicBezTo>
                  <a:pt x="1487344" y="601367"/>
                  <a:pt x="1495975" y="599079"/>
                  <a:pt x="1504545" y="596630"/>
                </a:cubicBezTo>
                <a:cubicBezTo>
                  <a:pt x="1511118" y="594752"/>
                  <a:pt x="1517274" y="591368"/>
                  <a:pt x="1524000" y="590145"/>
                </a:cubicBezTo>
                <a:cubicBezTo>
                  <a:pt x="1610500" y="574418"/>
                  <a:pt x="1543814" y="592058"/>
                  <a:pt x="1608306" y="577175"/>
                </a:cubicBezTo>
                <a:cubicBezTo>
                  <a:pt x="1625675" y="573167"/>
                  <a:pt x="1643276" y="569841"/>
                  <a:pt x="1660187" y="564204"/>
                </a:cubicBezTo>
                <a:cubicBezTo>
                  <a:pt x="1666672" y="562042"/>
                  <a:pt x="1673011" y="559377"/>
                  <a:pt x="1679643" y="557719"/>
                </a:cubicBezTo>
                <a:cubicBezTo>
                  <a:pt x="1690336" y="555046"/>
                  <a:pt x="1701308" y="553625"/>
                  <a:pt x="1712068" y="551234"/>
                </a:cubicBezTo>
                <a:cubicBezTo>
                  <a:pt x="1747048" y="543461"/>
                  <a:pt x="1731313" y="544784"/>
                  <a:pt x="1770434" y="538264"/>
                </a:cubicBezTo>
                <a:cubicBezTo>
                  <a:pt x="1785512" y="535751"/>
                  <a:pt x="1800698" y="533941"/>
                  <a:pt x="1815830" y="531779"/>
                </a:cubicBezTo>
                <a:cubicBezTo>
                  <a:pt x="1822315" y="529617"/>
                  <a:pt x="1828582" y="526635"/>
                  <a:pt x="1835285" y="525294"/>
                </a:cubicBezTo>
                <a:cubicBezTo>
                  <a:pt x="1861072" y="520137"/>
                  <a:pt x="1887166" y="516648"/>
                  <a:pt x="1913106" y="512324"/>
                </a:cubicBezTo>
                <a:lnTo>
                  <a:pt x="1952017" y="505838"/>
                </a:lnTo>
                <a:cubicBezTo>
                  <a:pt x="1964987" y="503676"/>
                  <a:pt x="1977911" y="501213"/>
                  <a:pt x="1990928" y="499353"/>
                </a:cubicBezTo>
                <a:cubicBezTo>
                  <a:pt x="2012728" y="496239"/>
                  <a:pt x="2052742" y="490881"/>
                  <a:pt x="2075234" y="486383"/>
                </a:cubicBezTo>
                <a:cubicBezTo>
                  <a:pt x="2151678" y="471094"/>
                  <a:pt x="2031167" y="489899"/>
                  <a:pt x="2146570" y="473413"/>
                </a:cubicBezTo>
                <a:cubicBezTo>
                  <a:pt x="2190528" y="458761"/>
                  <a:pt x="2136896" y="475349"/>
                  <a:pt x="2211421" y="460443"/>
                </a:cubicBezTo>
                <a:cubicBezTo>
                  <a:pt x="2228901" y="456947"/>
                  <a:pt x="2245822" y="450968"/>
                  <a:pt x="2263302" y="447472"/>
                </a:cubicBezTo>
                <a:lnTo>
                  <a:pt x="2295728" y="440987"/>
                </a:lnTo>
                <a:cubicBezTo>
                  <a:pt x="2306536" y="436664"/>
                  <a:pt x="2317213" y="431995"/>
                  <a:pt x="2328153" y="428017"/>
                </a:cubicBezTo>
                <a:cubicBezTo>
                  <a:pt x="2341002" y="423345"/>
                  <a:pt x="2354094" y="419370"/>
                  <a:pt x="2367064" y="415047"/>
                </a:cubicBezTo>
                <a:cubicBezTo>
                  <a:pt x="2373549" y="412885"/>
                  <a:pt x="2380405" y="411619"/>
                  <a:pt x="2386519" y="408562"/>
                </a:cubicBezTo>
                <a:cubicBezTo>
                  <a:pt x="2395166" y="404239"/>
                  <a:pt x="2404066" y="400389"/>
                  <a:pt x="2412460" y="395592"/>
                </a:cubicBezTo>
                <a:cubicBezTo>
                  <a:pt x="2444921" y="377043"/>
                  <a:pt x="2468898" y="347708"/>
                  <a:pt x="2490281" y="317770"/>
                </a:cubicBezTo>
                <a:cubicBezTo>
                  <a:pt x="2494811" y="311428"/>
                  <a:pt x="2499765" y="305286"/>
                  <a:pt x="2503251" y="298315"/>
                </a:cubicBezTo>
                <a:cubicBezTo>
                  <a:pt x="2506308" y="292201"/>
                  <a:pt x="2507574" y="285345"/>
                  <a:pt x="2509736" y="278860"/>
                </a:cubicBezTo>
                <a:cubicBezTo>
                  <a:pt x="2507574" y="257243"/>
                  <a:pt x="2508520" y="235085"/>
                  <a:pt x="2503251" y="214009"/>
                </a:cubicBezTo>
                <a:cubicBezTo>
                  <a:pt x="2501768" y="208077"/>
                  <a:pt x="2494101" y="205813"/>
                  <a:pt x="2490281" y="201038"/>
                </a:cubicBezTo>
                <a:cubicBezTo>
                  <a:pt x="2447387" y="147419"/>
                  <a:pt x="2524879" y="229152"/>
                  <a:pt x="2444885" y="149158"/>
                </a:cubicBezTo>
                <a:cubicBezTo>
                  <a:pt x="2440561" y="144834"/>
                  <a:pt x="2437384" y="138921"/>
                  <a:pt x="2431915" y="136187"/>
                </a:cubicBezTo>
                <a:cubicBezTo>
                  <a:pt x="2423268" y="131864"/>
                  <a:pt x="2414264" y="128191"/>
                  <a:pt x="2405974" y="123217"/>
                </a:cubicBezTo>
                <a:cubicBezTo>
                  <a:pt x="2392607" y="115197"/>
                  <a:pt x="2381006" y="104248"/>
                  <a:pt x="2367064" y="97277"/>
                </a:cubicBezTo>
                <a:cubicBezTo>
                  <a:pt x="2281015" y="54254"/>
                  <a:pt x="2388473" y="106453"/>
                  <a:pt x="2321668" y="77821"/>
                </a:cubicBezTo>
                <a:cubicBezTo>
                  <a:pt x="2312782" y="74013"/>
                  <a:pt x="2304704" y="68441"/>
                  <a:pt x="2295728" y="64851"/>
                </a:cubicBezTo>
                <a:cubicBezTo>
                  <a:pt x="2283034" y="59773"/>
                  <a:pt x="2269787" y="56204"/>
                  <a:pt x="2256817" y="51881"/>
                </a:cubicBezTo>
                <a:lnTo>
                  <a:pt x="2237362" y="45396"/>
                </a:lnTo>
                <a:lnTo>
                  <a:pt x="2217906" y="38911"/>
                </a:lnTo>
                <a:cubicBezTo>
                  <a:pt x="2211421" y="36749"/>
                  <a:pt x="2205083" y="34084"/>
                  <a:pt x="2198451" y="32426"/>
                </a:cubicBezTo>
                <a:cubicBezTo>
                  <a:pt x="2189804" y="30264"/>
                  <a:pt x="2181081" y="28390"/>
                  <a:pt x="2172511" y="25941"/>
                </a:cubicBezTo>
                <a:cubicBezTo>
                  <a:pt x="2165938" y="24063"/>
                  <a:pt x="2159687" y="21113"/>
                  <a:pt x="2153055" y="19455"/>
                </a:cubicBezTo>
                <a:cubicBezTo>
                  <a:pt x="2142362" y="16782"/>
                  <a:pt x="2131502" y="14782"/>
                  <a:pt x="2120630" y="12970"/>
                </a:cubicBezTo>
                <a:cubicBezTo>
                  <a:pt x="2077622" y="5802"/>
                  <a:pt x="2056483" y="4610"/>
                  <a:pt x="2010383" y="0"/>
                </a:cubicBezTo>
                <a:lnTo>
                  <a:pt x="1601821" y="6485"/>
                </a:lnTo>
                <a:cubicBezTo>
                  <a:pt x="1571490" y="7273"/>
                  <a:pt x="1541308" y="11017"/>
                  <a:pt x="1511030" y="12970"/>
                </a:cubicBezTo>
                <a:cubicBezTo>
                  <a:pt x="1464452" y="15975"/>
                  <a:pt x="1302940" y="25295"/>
                  <a:pt x="1264596" y="25941"/>
                </a:cubicBezTo>
                <a:lnTo>
                  <a:pt x="246434" y="38911"/>
                </a:ln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1D7F53-E901-BB48-921B-6E21494C9049}"/>
              </a:ext>
            </a:extLst>
          </p:cNvPr>
          <p:cNvSpPr/>
          <p:nvPr/>
        </p:nvSpPr>
        <p:spPr>
          <a:xfrm>
            <a:off x="3287949" y="3391711"/>
            <a:ext cx="2775625" cy="8236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564CCEC-FA92-7646-902B-5498737F43FF}"/>
              </a:ext>
            </a:extLst>
          </p:cNvPr>
          <p:cNvGrpSpPr/>
          <p:nvPr/>
        </p:nvGrpSpPr>
        <p:grpSpPr>
          <a:xfrm>
            <a:off x="3612571" y="3716877"/>
            <a:ext cx="5408579" cy="620876"/>
            <a:chOff x="3612571" y="3159941"/>
            <a:chExt cx="5408579" cy="6208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15504B2-6079-E640-B072-6E2ED7BE20E1}"/>
                </a:ext>
              </a:extLst>
            </p:cNvPr>
            <p:cNvSpPr/>
            <p:nvPr/>
          </p:nvSpPr>
          <p:spPr>
            <a:xfrm>
              <a:off x="5719865" y="3444439"/>
              <a:ext cx="914400" cy="298315"/>
            </a:xfrm>
            <a:prstGeom prst="rect">
              <a:avLst/>
            </a:prstGeom>
            <a:solidFill>
              <a:srgbClr val="EEEEEE"/>
            </a:solidFill>
            <a:ln>
              <a:solidFill>
                <a:srgbClr val="EEEE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FBF20E8-D839-F54A-9A79-182ADF880E83}"/>
                </a:ext>
              </a:extLst>
            </p:cNvPr>
            <p:cNvGrpSpPr/>
            <p:nvPr/>
          </p:nvGrpSpPr>
          <p:grpSpPr>
            <a:xfrm>
              <a:off x="3612571" y="3159941"/>
              <a:ext cx="5408579" cy="620876"/>
              <a:chOff x="3612571" y="3159941"/>
              <a:chExt cx="5408579" cy="620876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800879DD-C422-AD40-95F4-FD90D561461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b="33683"/>
              <a:stretch/>
            </p:blipFill>
            <p:spPr>
              <a:xfrm>
                <a:off x="3612571" y="3159941"/>
                <a:ext cx="5408579" cy="620876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2FF3E6AA-3F3B-DE40-AF07-37E890B9236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1814" t="65394" r="59538" b="346"/>
              <a:stretch/>
            </p:blipFill>
            <p:spPr>
              <a:xfrm>
                <a:off x="5719865" y="3457895"/>
                <a:ext cx="2090319" cy="320748"/>
              </a:xfrm>
              <a:prstGeom prst="rect">
                <a:avLst/>
              </a:prstGeom>
            </p:spPr>
          </p:pic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98D5B99-9868-924D-8F0D-743658E1BA72}"/>
              </a:ext>
            </a:extLst>
          </p:cNvPr>
          <p:cNvSpPr txBox="1"/>
          <p:nvPr/>
        </p:nvSpPr>
        <p:spPr>
          <a:xfrm>
            <a:off x="220126" y="4511037"/>
            <a:ext cx="48317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 </a:t>
            </a:r>
            <a:r>
              <a:rPr lang="en-US" dirty="0" err="1"/>
              <a:t>Dockerfile</a:t>
            </a:r>
            <a:r>
              <a:rPr lang="en-US" dirty="0"/>
              <a:t> </a:t>
            </a:r>
            <a:r>
              <a:rPr lang="ru-RU" dirty="0"/>
              <a:t>может быть </a:t>
            </a:r>
            <a:r>
              <a:rPr lang="ru-RU" b="1" dirty="0"/>
              <a:t>только одна </a:t>
            </a:r>
            <a:r>
              <a:rPr lang="ru-RU" dirty="0"/>
              <a:t>инструкция </a:t>
            </a:r>
            <a:r>
              <a:rPr lang="en-US" dirty="0"/>
              <a:t>CMD</a:t>
            </a:r>
            <a:r>
              <a:rPr lang="ru-RU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7010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4900"/>
              <a:t>Вопросы?</a:t>
            </a:r>
            <a:endParaRPr/>
          </a:p>
        </p:txBody>
      </p:sp>
      <p:pic>
        <p:nvPicPr>
          <p:cNvPr id="358" name="Google Shape;358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975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58"/>
          <p:cNvSpPr txBox="1"/>
          <p:nvPr/>
        </p:nvSpPr>
        <p:spPr>
          <a:xfrm>
            <a:off x="1438025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60" name="Google Shape;360;p5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2950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58"/>
          <p:cNvSpPr txBox="1"/>
          <p:nvPr/>
        </p:nvSpPr>
        <p:spPr>
          <a:xfrm>
            <a:off x="4806700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4900" dirty="0"/>
              <a:t>Практика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170034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428FB05-33AB-E84B-9565-602B3DEFD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Практика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82D875-6739-E441-A4EF-8C6D19231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4350" y="1064519"/>
            <a:ext cx="8520600" cy="333886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Запустить простой контейнер</a:t>
            </a:r>
          </a:p>
          <a:p>
            <a:pPr>
              <a:lnSpc>
                <a:spcPct val="150000"/>
              </a:lnSpc>
            </a:pPr>
            <a:r>
              <a:rPr lang="ru-RU" dirty="0"/>
              <a:t>Подключиться к контейнеру</a:t>
            </a:r>
          </a:p>
          <a:p>
            <a:pPr>
              <a:lnSpc>
                <a:spcPct val="150000"/>
              </a:lnSpc>
            </a:pPr>
            <a:r>
              <a:rPr lang="ru-RU" dirty="0"/>
              <a:t>Запустить </a:t>
            </a:r>
            <a:r>
              <a:rPr lang="en-US" dirty="0" err="1"/>
              <a:t>jupyter</a:t>
            </a:r>
            <a:r>
              <a:rPr lang="en-US" dirty="0"/>
              <a:t> notebook </a:t>
            </a:r>
            <a:r>
              <a:rPr lang="ru-RU" dirty="0"/>
              <a:t>в контейнере и подключиться к нему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ru-RU" dirty="0"/>
              <a:t>Развернуть </a:t>
            </a:r>
            <a:r>
              <a:rPr lang="en-US" dirty="0"/>
              <a:t>ML </a:t>
            </a:r>
            <a:r>
              <a:rPr lang="ru-RU" dirty="0"/>
              <a:t>модель в </a:t>
            </a:r>
            <a:r>
              <a:rPr lang="en-US" dirty="0"/>
              <a:t>Docker </a:t>
            </a:r>
            <a:r>
              <a:rPr lang="ru-RU" dirty="0"/>
              <a:t>с использованием </a:t>
            </a:r>
            <a:r>
              <a:rPr lang="en-US" dirty="0"/>
              <a:t>Flask</a:t>
            </a:r>
          </a:p>
          <a:p>
            <a:pPr>
              <a:lnSpc>
                <a:spcPct val="150000"/>
              </a:lnSpc>
            </a:pPr>
            <a:r>
              <a:rPr lang="ru-RU" dirty="0"/>
              <a:t>Развернуть </a:t>
            </a:r>
            <a:r>
              <a:rPr lang="en-US" dirty="0"/>
              <a:t>ML </a:t>
            </a:r>
            <a:r>
              <a:rPr lang="ru-RU" dirty="0"/>
              <a:t>модель в </a:t>
            </a:r>
            <a:r>
              <a:rPr lang="en-US" dirty="0"/>
              <a:t>Docker </a:t>
            </a:r>
            <a:r>
              <a:rPr lang="ru-RU" dirty="0"/>
              <a:t>с использованием </a:t>
            </a:r>
            <a:r>
              <a:rPr lang="en-US" dirty="0" err="1"/>
              <a:t>FastAPI</a:t>
            </a:r>
            <a:endParaRPr lang="ru-RU" dirty="0"/>
          </a:p>
          <a:p>
            <a:pPr>
              <a:lnSpc>
                <a:spcPct val="150000"/>
              </a:lnSpc>
            </a:pPr>
            <a:r>
              <a:rPr lang="ru-RU" dirty="0"/>
              <a:t>Развернуть несколько ядер модели и </a:t>
            </a:r>
            <a:r>
              <a:rPr lang="ru-RU" dirty="0" err="1"/>
              <a:t>балансировщик</a:t>
            </a:r>
            <a:r>
              <a:rPr lang="ru-RU" dirty="0"/>
              <a:t> </a:t>
            </a:r>
            <a:r>
              <a:rPr lang="en-US" dirty="0" err="1"/>
              <a:t>nginx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2417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428FB05-33AB-E84B-9565-602B3DEFD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Практика</a:t>
            </a:r>
            <a:r>
              <a:rPr lang="en-US" dirty="0"/>
              <a:t> – </a:t>
            </a:r>
            <a:r>
              <a:rPr lang="ru-RU" dirty="0"/>
              <a:t>простой контейнер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7C9E1-9C8D-EC43-B225-942953056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4350" y="1189763"/>
            <a:ext cx="8520600" cy="840075"/>
          </a:xfrm>
        </p:spPr>
        <p:txBody>
          <a:bodyPr>
            <a:normAutofit/>
          </a:bodyPr>
          <a:lstStyle/>
          <a:p>
            <a:r>
              <a:rPr lang="ru-RU" sz="1400" dirty="0"/>
              <a:t>Запустить простой контейнер</a:t>
            </a:r>
          </a:p>
          <a:p>
            <a:r>
              <a:rPr lang="ru-RU" sz="1400" dirty="0"/>
              <a:t>Подключиться к контейнеру</a:t>
            </a:r>
          </a:p>
          <a:p>
            <a:r>
              <a:rPr lang="ru-RU" sz="1400" dirty="0"/>
              <a:t>Посмотреть лог</a:t>
            </a:r>
            <a:endParaRPr lang="en-US" sz="1400" dirty="0"/>
          </a:p>
        </p:txBody>
      </p:sp>
      <p:sp>
        <p:nvSpPr>
          <p:cNvPr id="7" name="Google Shape;45;p11">
            <a:extLst>
              <a:ext uri="{FF2B5EF4-FFF2-40B4-BE49-F238E27FC236}">
                <a16:creationId xmlns:a16="http://schemas.microsoft.com/office/drawing/2014/main" id="{93FD6223-C4AD-C645-AA2A-8E9B2F8A0746}"/>
              </a:ext>
            </a:extLst>
          </p:cNvPr>
          <p:cNvSpPr/>
          <p:nvPr/>
        </p:nvSpPr>
        <p:spPr>
          <a:xfrm>
            <a:off x="417150" y="1964987"/>
            <a:ext cx="7988400" cy="2871636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340;p61">
            <a:extLst>
              <a:ext uri="{FF2B5EF4-FFF2-40B4-BE49-F238E27FC236}">
                <a16:creationId xmlns:a16="http://schemas.microsoft.com/office/drawing/2014/main" id="{4CC678BF-6E76-5241-8F90-6E440CB94648}"/>
              </a:ext>
            </a:extLst>
          </p:cNvPr>
          <p:cNvSpPr txBox="1">
            <a:spLocks/>
          </p:cNvSpPr>
          <p:nvPr/>
        </p:nvSpPr>
        <p:spPr>
          <a:xfrm>
            <a:off x="500550" y="1964988"/>
            <a:ext cx="8226300" cy="2964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SzPct val="100000"/>
              <a:buNone/>
            </a:pPr>
            <a:r>
              <a:rPr lang="en-US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скачаем образ и запустим контейнер</a:t>
            </a:r>
          </a:p>
          <a:p>
            <a:pPr marL="0" indent="0">
              <a:buSzPct val="100000"/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docker pull hello-world</a:t>
            </a:r>
          </a:p>
          <a:p>
            <a:pPr marL="0" indent="0">
              <a:buSzPct val="100000"/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docker run --rm --name hello hello-world</a:t>
            </a:r>
          </a:p>
          <a:p>
            <a:pPr marL="0" indent="0">
              <a:buSzPct val="100000"/>
              <a:buFont typeface="Arial"/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SzPct val="100000"/>
              <a:buFont typeface="Arial"/>
              <a:buNone/>
            </a:pPr>
            <a:r>
              <a:rPr lang="en-US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подключимся к контейнеру</a:t>
            </a:r>
            <a:r>
              <a:rPr lang="en-US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</a:t>
            </a: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интерактивном режиме</a:t>
            </a:r>
          </a:p>
          <a:p>
            <a:pPr marL="0" indent="0">
              <a:buSzPct val="10000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docker run –it --rm ubuntu bash</a:t>
            </a:r>
            <a:endParaRPr lang="ru-RU" sz="1400" dirty="0">
              <a:solidFill>
                <a:srgbClr val="008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SzPct val="100000"/>
              <a:buFont typeface="Arial"/>
              <a:buNone/>
            </a:pPr>
            <a:endParaRPr lang="ru-RU" sz="1400" dirty="0">
              <a:solidFill>
                <a:srgbClr val="008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SzPct val="100000"/>
              <a:buFont typeface="Arial"/>
              <a:buNone/>
            </a:pP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посмотрим </a:t>
            </a:r>
            <a:r>
              <a:rPr lang="ru-RU" sz="1400" dirty="0" err="1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логи</a:t>
            </a:r>
            <a:endParaRPr lang="ru-RU" sz="1400" dirty="0">
              <a:solidFill>
                <a:srgbClr val="008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SzPct val="100000"/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docker logs 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container_name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покажет текущие </a:t>
            </a:r>
            <a:r>
              <a:rPr lang="ru-RU" sz="1400" dirty="0" err="1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логи</a:t>
            </a: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и завершит подключение</a:t>
            </a:r>
          </a:p>
          <a:p>
            <a:pPr marL="0" indent="0">
              <a:buSzPct val="100000"/>
              <a:buNone/>
              <a:tabLst>
                <a:tab pos="3641725" algn="l"/>
              </a:tabLst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docker logs -f 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container_name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	</a:t>
            </a: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покажет текущие </a:t>
            </a:r>
            <a:r>
              <a:rPr lang="ru-RU" sz="1400" dirty="0" err="1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логи</a:t>
            </a: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и оставит</a:t>
            </a:r>
            <a:br>
              <a:rPr lang="en-US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подключение открытым</a:t>
            </a:r>
          </a:p>
        </p:txBody>
      </p:sp>
    </p:spTree>
    <p:extLst>
      <p:ext uri="{BB962C8B-B14F-4D97-AF65-F5344CB8AC3E}">
        <p14:creationId xmlns:p14="http://schemas.microsoft.com/office/powerpoint/2010/main" val="32250623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428FB05-33AB-E84B-9565-602B3DEFD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Практика</a:t>
            </a:r>
            <a:r>
              <a:rPr lang="en-US" dirty="0"/>
              <a:t> – </a:t>
            </a:r>
            <a:r>
              <a:rPr lang="en-US" dirty="0" err="1"/>
              <a:t>jupyter</a:t>
            </a:r>
            <a:r>
              <a:rPr lang="en-US" dirty="0"/>
              <a:t> notebook </a:t>
            </a:r>
            <a:r>
              <a:rPr lang="ru-RU" dirty="0"/>
              <a:t>в контейнере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7C9E1-9C8D-EC43-B225-942953056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865" y="878674"/>
            <a:ext cx="8520600" cy="976066"/>
          </a:xfrm>
        </p:spPr>
        <p:txBody>
          <a:bodyPr/>
          <a:lstStyle/>
          <a:p>
            <a:r>
              <a:rPr lang="ru-RU" dirty="0"/>
              <a:t>Запустить контейнер с </a:t>
            </a:r>
            <a:r>
              <a:rPr lang="en-US" dirty="0"/>
              <a:t>Jupyter notebook </a:t>
            </a:r>
            <a:r>
              <a:rPr lang="ru-RU" dirty="0"/>
              <a:t>и пробросить его порт 8888 наружу</a:t>
            </a:r>
          </a:p>
          <a:p>
            <a:r>
              <a:rPr lang="ru-RU" dirty="0"/>
              <a:t>Подключиться и выполнить код на исполнение</a:t>
            </a:r>
          </a:p>
          <a:p>
            <a:r>
              <a:rPr lang="ru-RU" dirty="0"/>
              <a:t>Подключиться и посмотреть лог</a:t>
            </a:r>
          </a:p>
          <a:p>
            <a:endParaRPr lang="en-US" dirty="0"/>
          </a:p>
        </p:txBody>
      </p:sp>
      <p:sp>
        <p:nvSpPr>
          <p:cNvPr id="4" name="Google Shape;45;p11">
            <a:extLst>
              <a:ext uri="{FF2B5EF4-FFF2-40B4-BE49-F238E27FC236}">
                <a16:creationId xmlns:a16="http://schemas.microsoft.com/office/drawing/2014/main" id="{39824ABA-5C64-DF47-B38E-3B0429EB074C}"/>
              </a:ext>
            </a:extLst>
          </p:cNvPr>
          <p:cNvSpPr/>
          <p:nvPr/>
        </p:nvSpPr>
        <p:spPr>
          <a:xfrm>
            <a:off x="417150" y="1964987"/>
            <a:ext cx="7988400" cy="2871636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340;p61">
            <a:extLst>
              <a:ext uri="{FF2B5EF4-FFF2-40B4-BE49-F238E27FC236}">
                <a16:creationId xmlns:a16="http://schemas.microsoft.com/office/drawing/2014/main" id="{56AA946A-D3E6-8B45-BD5E-B5E9112CAA03}"/>
              </a:ext>
            </a:extLst>
          </p:cNvPr>
          <p:cNvSpPr txBox="1">
            <a:spLocks/>
          </p:cNvSpPr>
          <p:nvPr/>
        </p:nvSpPr>
        <p:spPr>
          <a:xfrm>
            <a:off x="500550" y="1964988"/>
            <a:ext cx="8226300" cy="2964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SzPct val="100000"/>
              <a:buNone/>
            </a:pPr>
            <a:r>
              <a:rPr lang="en-US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скачаем образ и запустим контейнер</a:t>
            </a:r>
          </a:p>
          <a:p>
            <a:pPr marL="0" indent="0">
              <a:buSzPct val="10000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docker pull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jupyter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datascience-notebook:latest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внимание 5.67 </a:t>
            </a:r>
            <a:r>
              <a:rPr lang="en-US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Gb</a:t>
            </a:r>
            <a:endParaRPr lang="ru-RU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SzPct val="100000"/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docker run -d --name ds-notebook -p 9000:8888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jupyter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datascience-notebook:latest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SzPct val="100000"/>
              <a:buFont typeface="Arial"/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SzPct val="100000"/>
              <a:buFont typeface="Arial"/>
              <a:buNone/>
            </a:pPr>
            <a:r>
              <a:rPr lang="en-US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подключимся к контейнеру</a:t>
            </a:r>
            <a:r>
              <a:rPr lang="en-US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через браузер </a:t>
            </a:r>
          </a:p>
          <a:p>
            <a:pPr marL="0" indent="0">
              <a:buSzPct val="100000"/>
              <a:buFont typeface="Arial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localhost:9000</a:t>
            </a:r>
            <a:endParaRPr lang="en-US" sz="1400" dirty="0">
              <a:solidFill>
                <a:srgbClr val="008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SzPct val="100000"/>
              <a:buFont typeface="Arial"/>
              <a:buNone/>
            </a:pPr>
            <a:endParaRPr lang="ru-RU" sz="1400" dirty="0">
              <a:solidFill>
                <a:srgbClr val="008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SzPct val="100000"/>
              <a:buFont typeface="Arial"/>
              <a:buNone/>
            </a:pP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посмотрим </a:t>
            </a:r>
            <a:r>
              <a:rPr lang="ru-RU" sz="1400" dirty="0" err="1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логи</a:t>
            </a:r>
            <a:r>
              <a:rPr lang="en-US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400" dirty="0">
                <a:solidFill>
                  <a:srgbClr val="008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 оставим подключение открытым</a:t>
            </a:r>
          </a:p>
          <a:p>
            <a:pPr marL="0" indent="0">
              <a:buSzPct val="10000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docker logs -f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jupyter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datascience-notebook:latest</a:t>
            </a:r>
            <a:endParaRPr lang="ru-RU" sz="1400" dirty="0">
              <a:solidFill>
                <a:srgbClr val="008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8752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5;p11">
            <a:extLst>
              <a:ext uri="{FF2B5EF4-FFF2-40B4-BE49-F238E27FC236}">
                <a16:creationId xmlns:a16="http://schemas.microsoft.com/office/drawing/2014/main" id="{0B3D95D9-6A17-564D-AAC6-81EA5655D9B4}"/>
              </a:ext>
            </a:extLst>
          </p:cNvPr>
          <p:cNvSpPr/>
          <p:nvPr/>
        </p:nvSpPr>
        <p:spPr>
          <a:xfrm>
            <a:off x="500550" y="1426623"/>
            <a:ext cx="7988400" cy="3489087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6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Развернуть </a:t>
            </a:r>
            <a:r>
              <a:rPr lang="en-US" dirty="0"/>
              <a:t>ML </a:t>
            </a:r>
            <a:r>
              <a:rPr lang="ru-RU" dirty="0"/>
              <a:t>модель в </a:t>
            </a:r>
            <a:r>
              <a:rPr lang="en-US" dirty="0"/>
              <a:t>Docker </a:t>
            </a:r>
            <a:r>
              <a:rPr lang="ru-RU" dirty="0"/>
              <a:t>с использованием </a:t>
            </a:r>
            <a:r>
              <a:rPr lang="en-US" dirty="0"/>
              <a:t>Flask </a:t>
            </a:r>
            <a:r>
              <a:rPr lang="ru-RU" dirty="0"/>
              <a:t>и </a:t>
            </a:r>
            <a:r>
              <a:rPr lang="en-US" dirty="0" err="1"/>
              <a:t>FastAPI</a:t>
            </a:r>
            <a:endParaRPr dirty="0"/>
          </a:p>
        </p:txBody>
      </p:sp>
      <p:sp>
        <p:nvSpPr>
          <p:cNvPr id="340" name="Google Shape;340;p61"/>
          <p:cNvSpPr txBox="1">
            <a:spLocks noGrp="1"/>
          </p:cNvSpPr>
          <p:nvPr>
            <p:ph type="subTitle" idx="1"/>
          </p:nvPr>
        </p:nvSpPr>
        <p:spPr>
          <a:xfrm>
            <a:off x="458850" y="1426623"/>
            <a:ext cx="8226300" cy="35474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b="1" u="sng" dirty="0" err="1">
                <a:solidFill>
                  <a:schemeClr val="tx1"/>
                </a:solidFill>
              </a:rPr>
              <a:t>fastapi.Dockerfile</a:t>
            </a:r>
            <a:endParaRPr lang="en-US" sz="1400" b="1" u="sng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b="1" u="sng" dirty="0">
              <a:solidFill>
                <a:schemeClr val="tx1"/>
              </a:solidFill>
            </a:endParaRPr>
          </a:p>
          <a:p>
            <a:pPr marL="355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FROM python:3.10</a:t>
            </a:r>
          </a:p>
          <a:p>
            <a:pPr marL="355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355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RUN python -m pip install </a:t>
            </a:r>
            <a:r>
              <a:rPr lang="en-US" sz="1400" dirty="0" err="1">
                <a:solidFill>
                  <a:schemeClr val="tx1"/>
                </a:solidFill>
              </a:rPr>
              <a:t>fastapi</a:t>
            </a:r>
            <a:r>
              <a:rPr lang="en-US" sz="1400" dirty="0">
                <a:solidFill>
                  <a:schemeClr val="tx1"/>
                </a:solidFill>
              </a:rPr>
              <a:t>==0.103.2 </a:t>
            </a:r>
            <a:r>
              <a:rPr lang="en-US" sz="1400" dirty="0" err="1">
                <a:solidFill>
                  <a:schemeClr val="tx1"/>
                </a:solidFill>
              </a:rPr>
              <a:t>uvicorn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netifaces</a:t>
            </a:r>
            <a:endParaRPr lang="en-US" sz="1400" dirty="0">
              <a:solidFill>
                <a:schemeClr val="tx1"/>
              </a:solidFill>
            </a:endParaRPr>
          </a:p>
          <a:p>
            <a:pPr marL="355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355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WORKDIR /app</a:t>
            </a:r>
          </a:p>
          <a:p>
            <a:pPr marL="355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355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ADD </a:t>
            </a:r>
            <a:r>
              <a:rPr lang="en-US" sz="1400" dirty="0" err="1">
                <a:solidFill>
                  <a:schemeClr val="tx1"/>
                </a:solidFill>
              </a:rPr>
              <a:t>dummy_fast_api.py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dummy_fast_api.py</a:t>
            </a:r>
            <a:endParaRPr lang="en-US" sz="1400" dirty="0">
              <a:solidFill>
                <a:schemeClr val="tx1"/>
              </a:solidFill>
            </a:endParaRPr>
          </a:p>
          <a:p>
            <a:pPr marL="355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355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EXPOSE 5002</a:t>
            </a:r>
          </a:p>
          <a:p>
            <a:pPr marL="355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355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CMD ["</a:t>
            </a:r>
            <a:r>
              <a:rPr lang="en-US" sz="1400" dirty="0" err="1">
                <a:solidFill>
                  <a:schemeClr val="tx1"/>
                </a:solidFill>
              </a:rPr>
              <a:t>uvicorn</a:t>
            </a:r>
            <a:r>
              <a:rPr lang="en-US" sz="1400" dirty="0">
                <a:solidFill>
                  <a:schemeClr val="tx1"/>
                </a:solidFill>
              </a:rPr>
              <a:t>", "</a:t>
            </a:r>
            <a:r>
              <a:rPr lang="en-US" sz="1400" dirty="0" err="1">
                <a:solidFill>
                  <a:schemeClr val="tx1"/>
                </a:solidFill>
              </a:rPr>
              <a:t>dummy_fast_api:app</a:t>
            </a:r>
            <a:r>
              <a:rPr lang="en-US" sz="1400" dirty="0">
                <a:solidFill>
                  <a:schemeClr val="tx1"/>
                </a:solidFill>
              </a:rPr>
              <a:t>", "--host", "0.0.0.0", "--port", "5002", "--reload"]</a:t>
            </a:r>
            <a:endParaRPr lang="en-US" sz="16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docker build –f </a:t>
            </a:r>
            <a:r>
              <a:rPr lang="en-US" sz="1400" dirty="0" err="1">
                <a:solidFill>
                  <a:schemeClr val="tx1"/>
                </a:solidFill>
              </a:rPr>
              <a:t>fastapi.Dockerfile</a:t>
            </a:r>
            <a:r>
              <a:rPr lang="en-US" sz="1400" dirty="0">
                <a:solidFill>
                  <a:schemeClr val="tx1"/>
                </a:solidFill>
              </a:rPr>
              <a:t> -t </a:t>
            </a:r>
            <a:r>
              <a:rPr lang="en-US" sz="1400" dirty="0" err="1">
                <a:solidFill>
                  <a:schemeClr val="tx1"/>
                </a:solidFill>
              </a:rPr>
              <a:t>dummy_fast_api</a:t>
            </a:r>
            <a:r>
              <a:rPr lang="en-US" sz="1400" dirty="0">
                <a:solidFill>
                  <a:schemeClr val="tx1"/>
                </a:solidFill>
              </a:rPr>
              <a:t> 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docker run -d -p 5002:5002 </a:t>
            </a:r>
            <a:r>
              <a:rPr lang="en-US" sz="1400" dirty="0" err="1">
                <a:solidFill>
                  <a:schemeClr val="tx1"/>
                </a:solidFill>
              </a:rPr>
              <a:t>dummy_fast_api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515030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5;p11">
            <a:extLst>
              <a:ext uri="{FF2B5EF4-FFF2-40B4-BE49-F238E27FC236}">
                <a16:creationId xmlns:a16="http://schemas.microsoft.com/office/drawing/2014/main" id="{0B3D95D9-6A17-564D-AAC6-81EA5655D9B4}"/>
              </a:ext>
            </a:extLst>
          </p:cNvPr>
          <p:cNvSpPr/>
          <p:nvPr/>
        </p:nvSpPr>
        <p:spPr>
          <a:xfrm>
            <a:off x="500550" y="2338334"/>
            <a:ext cx="7988400" cy="189644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6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Развернуть </a:t>
            </a:r>
            <a:r>
              <a:rPr lang="en-US" dirty="0"/>
              <a:t>ML </a:t>
            </a:r>
            <a:r>
              <a:rPr lang="ru-RU" dirty="0"/>
              <a:t>модель в </a:t>
            </a:r>
            <a:r>
              <a:rPr lang="en-US" dirty="0"/>
              <a:t>Docker </a:t>
            </a:r>
            <a:r>
              <a:rPr lang="ru-RU" dirty="0"/>
              <a:t>с использованием </a:t>
            </a:r>
            <a:r>
              <a:rPr lang="en-US" dirty="0"/>
              <a:t>Flask </a:t>
            </a:r>
            <a:r>
              <a:rPr lang="ru-RU" dirty="0"/>
              <a:t>и </a:t>
            </a:r>
            <a:r>
              <a:rPr lang="en-US" dirty="0" err="1"/>
              <a:t>FastAPI</a:t>
            </a:r>
            <a:endParaRPr dirty="0"/>
          </a:p>
        </p:txBody>
      </p:sp>
      <p:sp>
        <p:nvSpPr>
          <p:cNvPr id="340" name="Google Shape;340;p61"/>
          <p:cNvSpPr txBox="1">
            <a:spLocks noGrp="1"/>
          </p:cNvSpPr>
          <p:nvPr>
            <p:ph type="subTitle" idx="1"/>
          </p:nvPr>
        </p:nvSpPr>
        <p:spPr>
          <a:xfrm>
            <a:off x="570450" y="2386129"/>
            <a:ext cx="8226300" cy="18486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docker build –f </a:t>
            </a:r>
            <a:r>
              <a:rPr lang="en-US" sz="1400" dirty="0" err="1">
                <a:solidFill>
                  <a:schemeClr val="tx1"/>
                </a:solidFill>
              </a:rPr>
              <a:t>flask.Dockerfile</a:t>
            </a:r>
            <a:r>
              <a:rPr lang="en-US" sz="1400" dirty="0">
                <a:solidFill>
                  <a:schemeClr val="tx1"/>
                </a:solidFill>
              </a:rPr>
              <a:t> -t </a:t>
            </a:r>
            <a:r>
              <a:rPr lang="en-US" sz="1400" dirty="0" err="1">
                <a:solidFill>
                  <a:schemeClr val="tx1"/>
                </a:solidFill>
              </a:rPr>
              <a:t>dummy_flask_api</a:t>
            </a:r>
            <a:r>
              <a:rPr lang="en-US" sz="1400" dirty="0">
                <a:solidFill>
                  <a:schemeClr val="tx1"/>
                </a:solidFill>
              </a:rPr>
              <a:t> 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docker run -d -p 5001:5001 </a:t>
            </a:r>
            <a:r>
              <a:rPr lang="en-US" sz="1400" dirty="0" err="1">
                <a:solidFill>
                  <a:schemeClr val="tx1"/>
                </a:solidFill>
              </a:rPr>
              <a:t>dummy_flask_api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6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docker build –f </a:t>
            </a:r>
            <a:r>
              <a:rPr lang="en-US" sz="1400" dirty="0" err="1">
                <a:solidFill>
                  <a:schemeClr val="tx1"/>
                </a:solidFill>
              </a:rPr>
              <a:t>fastapi.Dockerfile</a:t>
            </a:r>
            <a:r>
              <a:rPr lang="en-US" sz="1400" dirty="0">
                <a:solidFill>
                  <a:schemeClr val="tx1"/>
                </a:solidFill>
              </a:rPr>
              <a:t> -t </a:t>
            </a:r>
            <a:r>
              <a:rPr lang="en-US" sz="1400" dirty="0" err="1">
                <a:solidFill>
                  <a:schemeClr val="tx1"/>
                </a:solidFill>
              </a:rPr>
              <a:t>dummy_fast_api</a:t>
            </a:r>
            <a:r>
              <a:rPr lang="en-US" sz="1400" dirty="0">
                <a:solidFill>
                  <a:schemeClr val="tx1"/>
                </a:solidFill>
              </a:rPr>
              <a:t> 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docker run -d -p 5002:5002 </a:t>
            </a:r>
            <a:r>
              <a:rPr lang="en-US" sz="1400" dirty="0" err="1">
                <a:solidFill>
                  <a:schemeClr val="tx1"/>
                </a:solidFill>
              </a:rPr>
              <a:t>dummy_fast_api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9761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5;p11">
            <a:extLst>
              <a:ext uri="{FF2B5EF4-FFF2-40B4-BE49-F238E27FC236}">
                <a16:creationId xmlns:a16="http://schemas.microsoft.com/office/drawing/2014/main" id="{0B3D95D9-6A17-564D-AAC6-81EA5655D9B4}"/>
              </a:ext>
            </a:extLst>
          </p:cNvPr>
          <p:cNvSpPr/>
          <p:nvPr/>
        </p:nvSpPr>
        <p:spPr>
          <a:xfrm>
            <a:off x="500550" y="2338334"/>
            <a:ext cx="7988400" cy="189644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6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Развернуть </a:t>
            </a:r>
            <a:r>
              <a:rPr lang="en-US" dirty="0"/>
              <a:t>ML </a:t>
            </a:r>
            <a:r>
              <a:rPr lang="ru-RU" dirty="0"/>
              <a:t>модель в </a:t>
            </a:r>
            <a:r>
              <a:rPr lang="en-US" dirty="0"/>
              <a:t>Docker </a:t>
            </a:r>
            <a:r>
              <a:rPr lang="ru-RU" dirty="0"/>
              <a:t>с использованием </a:t>
            </a:r>
            <a:r>
              <a:rPr lang="en-US" dirty="0"/>
              <a:t>Flask </a:t>
            </a:r>
            <a:r>
              <a:rPr lang="ru-RU" dirty="0"/>
              <a:t>и </a:t>
            </a:r>
            <a:r>
              <a:rPr lang="en-US" dirty="0" err="1"/>
              <a:t>FastAPI</a:t>
            </a:r>
            <a:endParaRPr dirty="0"/>
          </a:p>
        </p:txBody>
      </p:sp>
      <p:sp>
        <p:nvSpPr>
          <p:cNvPr id="340" name="Google Shape;340;p61"/>
          <p:cNvSpPr txBox="1">
            <a:spLocks noGrp="1"/>
          </p:cNvSpPr>
          <p:nvPr>
            <p:ph type="subTitle" idx="1"/>
          </p:nvPr>
        </p:nvSpPr>
        <p:spPr>
          <a:xfrm>
            <a:off x="570450" y="2386129"/>
            <a:ext cx="8226300" cy="18486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docker build –f </a:t>
            </a:r>
            <a:r>
              <a:rPr lang="en-US" sz="1400" dirty="0" err="1">
                <a:solidFill>
                  <a:schemeClr val="tx1"/>
                </a:solidFill>
              </a:rPr>
              <a:t>flask.Dockerfile</a:t>
            </a:r>
            <a:r>
              <a:rPr lang="en-US" sz="1400" dirty="0">
                <a:solidFill>
                  <a:schemeClr val="tx1"/>
                </a:solidFill>
              </a:rPr>
              <a:t> -t </a:t>
            </a:r>
            <a:r>
              <a:rPr lang="en-US" sz="1400" dirty="0" err="1">
                <a:solidFill>
                  <a:schemeClr val="tx1"/>
                </a:solidFill>
              </a:rPr>
              <a:t>dummy_flask_api</a:t>
            </a:r>
            <a:r>
              <a:rPr lang="en-US" sz="1400" dirty="0">
                <a:solidFill>
                  <a:schemeClr val="tx1"/>
                </a:solidFill>
              </a:rPr>
              <a:t> 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docker run -d -p 5001:5001 </a:t>
            </a:r>
            <a:r>
              <a:rPr lang="en-US" sz="1400" dirty="0" err="1">
                <a:solidFill>
                  <a:schemeClr val="tx1"/>
                </a:solidFill>
              </a:rPr>
              <a:t>dummy_flask_api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6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docker build –f </a:t>
            </a:r>
            <a:r>
              <a:rPr lang="en-US" sz="1400" dirty="0" err="1">
                <a:solidFill>
                  <a:schemeClr val="tx1"/>
                </a:solidFill>
              </a:rPr>
              <a:t>fastapi.Dockerfile</a:t>
            </a:r>
            <a:r>
              <a:rPr lang="en-US" sz="1400" dirty="0">
                <a:solidFill>
                  <a:schemeClr val="tx1"/>
                </a:solidFill>
              </a:rPr>
              <a:t> -t </a:t>
            </a:r>
            <a:r>
              <a:rPr lang="en-US" sz="1400" dirty="0" err="1">
                <a:solidFill>
                  <a:schemeClr val="tx1"/>
                </a:solidFill>
              </a:rPr>
              <a:t>dummy_fast_api</a:t>
            </a:r>
            <a:r>
              <a:rPr lang="en-US" sz="1400" dirty="0">
                <a:solidFill>
                  <a:schemeClr val="tx1"/>
                </a:solidFill>
              </a:rPr>
              <a:t> 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docker run -d -p 5002:5002 </a:t>
            </a:r>
            <a:r>
              <a:rPr lang="en-US" sz="1400" dirty="0" err="1">
                <a:solidFill>
                  <a:schemeClr val="tx1"/>
                </a:solidFill>
              </a:rPr>
              <a:t>dummy_fast_api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5B3A08C-5610-FD47-B657-F760DE7F19C0}"/>
              </a:ext>
            </a:extLst>
          </p:cNvPr>
          <p:cNvSpPr/>
          <p:nvPr/>
        </p:nvSpPr>
        <p:spPr>
          <a:xfrm>
            <a:off x="6147882" y="2386129"/>
            <a:ext cx="233464" cy="395982"/>
          </a:xfrm>
          <a:custGeom>
            <a:avLst/>
            <a:gdLst>
              <a:gd name="connsiteX0" fmla="*/ 0 w 233464"/>
              <a:gd name="connsiteY0" fmla="*/ 197991 h 395982"/>
              <a:gd name="connsiteX1" fmla="*/ 116732 w 233464"/>
              <a:gd name="connsiteY1" fmla="*/ 0 h 395982"/>
              <a:gd name="connsiteX2" fmla="*/ 233464 w 233464"/>
              <a:gd name="connsiteY2" fmla="*/ 197991 h 395982"/>
              <a:gd name="connsiteX3" fmla="*/ 116732 w 233464"/>
              <a:gd name="connsiteY3" fmla="*/ 395982 h 395982"/>
              <a:gd name="connsiteX4" fmla="*/ 0 w 233464"/>
              <a:gd name="connsiteY4" fmla="*/ 197991 h 395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3464" h="395982" extrusionOk="0">
                <a:moveTo>
                  <a:pt x="0" y="197991"/>
                </a:moveTo>
                <a:cubicBezTo>
                  <a:pt x="-12739" y="80786"/>
                  <a:pt x="47464" y="1801"/>
                  <a:pt x="116732" y="0"/>
                </a:cubicBezTo>
                <a:cubicBezTo>
                  <a:pt x="199670" y="3888"/>
                  <a:pt x="221821" y="89014"/>
                  <a:pt x="233464" y="197991"/>
                </a:cubicBezTo>
                <a:cubicBezTo>
                  <a:pt x="224941" y="315661"/>
                  <a:pt x="180853" y="397903"/>
                  <a:pt x="116732" y="395982"/>
                </a:cubicBezTo>
                <a:cubicBezTo>
                  <a:pt x="37673" y="387999"/>
                  <a:pt x="20648" y="317204"/>
                  <a:pt x="0" y="197991"/>
                </a:cubicBezTo>
                <a:close/>
              </a:path>
            </a:pathLst>
          </a:custGeom>
          <a:noFill/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33374F-44D3-364B-8BB9-6DE07E7EDFF2}"/>
              </a:ext>
            </a:extLst>
          </p:cNvPr>
          <p:cNvSpPr txBox="1"/>
          <p:nvPr/>
        </p:nvSpPr>
        <p:spPr>
          <a:xfrm>
            <a:off x="5651317" y="1596972"/>
            <a:ext cx="33698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Точка в конце - контекст исполнения, </a:t>
            </a:r>
            <a:br>
              <a:rPr lang="ru-RU" dirty="0"/>
            </a:br>
            <a:r>
              <a:rPr lang="ru-RU" dirty="0"/>
              <a:t>не забывайте про него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4269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5;p11">
            <a:extLst>
              <a:ext uri="{FF2B5EF4-FFF2-40B4-BE49-F238E27FC236}">
                <a16:creationId xmlns:a16="http://schemas.microsoft.com/office/drawing/2014/main" id="{0B3D95D9-6A17-564D-AAC6-81EA5655D9B4}"/>
              </a:ext>
            </a:extLst>
          </p:cNvPr>
          <p:cNvSpPr/>
          <p:nvPr/>
        </p:nvSpPr>
        <p:spPr>
          <a:xfrm>
            <a:off x="500549" y="1209926"/>
            <a:ext cx="8437729" cy="371227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6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Развернуть </a:t>
            </a:r>
            <a:r>
              <a:rPr lang="en-US" dirty="0"/>
              <a:t>ML </a:t>
            </a:r>
            <a:r>
              <a:rPr lang="ru-RU" dirty="0"/>
              <a:t>модель в </a:t>
            </a:r>
            <a:r>
              <a:rPr lang="en-US" dirty="0"/>
              <a:t>Docker Compose</a:t>
            </a:r>
            <a:endParaRPr dirty="0"/>
          </a:p>
        </p:txBody>
      </p:sp>
      <p:sp>
        <p:nvSpPr>
          <p:cNvPr id="340" name="Google Shape;340;p61"/>
          <p:cNvSpPr txBox="1">
            <a:spLocks noGrp="1"/>
          </p:cNvSpPr>
          <p:nvPr>
            <p:ph type="subTitle" idx="1"/>
          </p:nvPr>
        </p:nvSpPr>
        <p:spPr>
          <a:xfrm>
            <a:off x="583420" y="1290146"/>
            <a:ext cx="8437730" cy="35736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version: '2.4’</a:t>
            </a:r>
            <a:r>
              <a:rPr lang="ru-RU" sz="1400" dirty="0">
                <a:solidFill>
                  <a:schemeClr val="tx1"/>
                </a:solidFill>
              </a:rPr>
              <a:t>	</a:t>
            </a:r>
            <a:r>
              <a:rPr lang="en-US" sz="1400" dirty="0">
                <a:solidFill>
                  <a:srgbClr val="008F00"/>
                </a:solidFill>
              </a:rPr>
              <a:t># </a:t>
            </a:r>
            <a:r>
              <a:rPr lang="ru-RU" sz="1400" dirty="0">
                <a:solidFill>
                  <a:srgbClr val="008F00"/>
                </a:solidFill>
              </a:rPr>
              <a:t>Обязательная секция</a:t>
            </a:r>
            <a:endParaRPr lang="en-US" sz="1400" dirty="0">
              <a:solidFill>
                <a:srgbClr val="008F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services:</a:t>
            </a:r>
            <a:r>
              <a:rPr lang="ru-RU" sz="1400" dirty="0">
                <a:solidFill>
                  <a:schemeClr val="tx1"/>
                </a:solidFill>
              </a:rPr>
              <a:t>		</a:t>
            </a:r>
            <a:r>
              <a:rPr lang="en-US" sz="1400" dirty="0">
                <a:solidFill>
                  <a:srgbClr val="008F00"/>
                </a:solidFill>
              </a:rPr>
              <a:t># </a:t>
            </a:r>
            <a:r>
              <a:rPr lang="ru-RU" sz="1400" dirty="0">
                <a:solidFill>
                  <a:srgbClr val="008F00"/>
                </a:solidFill>
              </a:rPr>
              <a:t>Обязательная секция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</a:t>
            </a:r>
            <a:r>
              <a:rPr lang="en-US" sz="1400" dirty="0" err="1">
                <a:solidFill>
                  <a:schemeClr val="tx1"/>
                </a:solidFill>
              </a:rPr>
              <a:t>nginx</a:t>
            </a:r>
            <a:r>
              <a:rPr lang="en-US" sz="1400" dirty="0">
                <a:solidFill>
                  <a:schemeClr val="tx1"/>
                </a:solidFill>
              </a:rPr>
              <a:t>:</a:t>
            </a:r>
            <a:r>
              <a:rPr lang="ru-RU" sz="1400" dirty="0">
                <a:solidFill>
                  <a:schemeClr val="tx1"/>
                </a:solidFill>
              </a:rPr>
              <a:t>		</a:t>
            </a:r>
            <a:r>
              <a:rPr lang="en-US" sz="1400" dirty="0">
                <a:solidFill>
                  <a:srgbClr val="008F00"/>
                </a:solidFill>
              </a:rPr>
              <a:t># </a:t>
            </a:r>
            <a:r>
              <a:rPr lang="en-US" sz="1400" dirty="0" err="1">
                <a:solidFill>
                  <a:srgbClr val="008F00"/>
                </a:solidFill>
              </a:rPr>
              <a:t>nginx</a:t>
            </a:r>
            <a:r>
              <a:rPr lang="en-US" sz="1400" dirty="0">
                <a:solidFill>
                  <a:srgbClr val="008F00"/>
                </a:solidFill>
              </a:rPr>
              <a:t> </a:t>
            </a:r>
            <a:r>
              <a:rPr lang="ru-RU" sz="1400" dirty="0">
                <a:solidFill>
                  <a:srgbClr val="008F00"/>
                </a:solidFill>
              </a:rPr>
              <a:t>запустим в качестве </a:t>
            </a:r>
            <a:r>
              <a:rPr lang="ru-RU" sz="1400" dirty="0" err="1">
                <a:solidFill>
                  <a:srgbClr val="008F00"/>
                </a:solidFill>
              </a:rPr>
              <a:t>балансировщика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image: </a:t>
            </a:r>
            <a:r>
              <a:rPr lang="en-US" sz="1400" dirty="0" err="1">
                <a:solidFill>
                  <a:schemeClr val="tx1"/>
                </a:solidFill>
              </a:rPr>
              <a:t>nginx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volumes: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- ./</a:t>
            </a:r>
            <a:r>
              <a:rPr lang="en-US" sz="1400" dirty="0" err="1">
                <a:solidFill>
                  <a:schemeClr val="tx1"/>
                </a:solidFill>
              </a:rPr>
              <a:t>nginx.conf</a:t>
            </a:r>
            <a:r>
              <a:rPr lang="en-US" sz="1400" dirty="0">
                <a:solidFill>
                  <a:schemeClr val="tx1"/>
                </a:solidFill>
              </a:rPr>
              <a:t>:/</a:t>
            </a:r>
            <a:r>
              <a:rPr lang="en-US" sz="1400" dirty="0" err="1">
                <a:solidFill>
                  <a:schemeClr val="tx1"/>
                </a:solidFill>
              </a:rPr>
              <a:t>etc</a:t>
            </a:r>
            <a:r>
              <a:rPr lang="en-US" sz="1400" dirty="0">
                <a:solidFill>
                  <a:schemeClr val="tx1"/>
                </a:solidFill>
              </a:rPr>
              <a:t>/</a:t>
            </a:r>
            <a:r>
              <a:rPr lang="en-US" sz="1400" dirty="0" err="1">
                <a:solidFill>
                  <a:schemeClr val="tx1"/>
                </a:solidFill>
              </a:rPr>
              <a:t>nginx</a:t>
            </a:r>
            <a:r>
              <a:rPr lang="en-US" sz="1400" dirty="0">
                <a:solidFill>
                  <a:schemeClr val="tx1"/>
                </a:solidFill>
              </a:rPr>
              <a:t>/</a:t>
            </a:r>
            <a:r>
              <a:rPr lang="en-US" sz="1400" dirty="0" err="1">
                <a:solidFill>
                  <a:schemeClr val="tx1"/>
                </a:solidFill>
              </a:rPr>
              <a:t>nginx.conf:ro</a:t>
            </a:r>
            <a:r>
              <a:rPr lang="ru-RU" sz="1400" dirty="0">
                <a:solidFill>
                  <a:schemeClr val="tx1"/>
                </a:solidFill>
              </a:rPr>
              <a:t>	</a:t>
            </a:r>
            <a:r>
              <a:rPr lang="en-US" sz="1400" dirty="0">
                <a:solidFill>
                  <a:srgbClr val="008F00"/>
                </a:solidFill>
              </a:rPr>
              <a:t># </a:t>
            </a:r>
            <a:r>
              <a:rPr lang="ru-RU" sz="1400" dirty="0">
                <a:solidFill>
                  <a:srgbClr val="008F00"/>
                </a:solidFill>
              </a:rPr>
              <a:t>Пробросим </a:t>
            </a:r>
            <a:r>
              <a:rPr lang="ru-RU" sz="1400" dirty="0" err="1">
                <a:solidFill>
                  <a:srgbClr val="008F00"/>
                </a:solidFill>
              </a:rPr>
              <a:t>конфиг</a:t>
            </a:r>
            <a:r>
              <a:rPr lang="ru-RU" sz="1400" dirty="0">
                <a:solidFill>
                  <a:srgbClr val="008F00"/>
                </a:solidFill>
              </a:rPr>
              <a:t> </a:t>
            </a:r>
            <a:r>
              <a:rPr lang="en-US" sz="1400" dirty="0" err="1">
                <a:solidFill>
                  <a:srgbClr val="008F00"/>
                </a:solidFill>
              </a:rPr>
              <a:t>nginx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</a:t>
            </a:r>
            <a:r>
              <a:rPr lang="en-US" sz="1400" dirty="0" err="1">
                <a:solidFill>
                  <a:schemeClr val="tx1"/>
                </a:solidFill>
              </a:rPr>
              <a:t>depends_on</a:t>
            </a:r>
            <a:r>
              <a:rPr lang="en-US" sz="1400" dirty="0">
                <a:solidFill>
                  <a:schemeClr val="tx1"/>
                </a:solidFill>
              </a:rPr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- </a:t>
            </a:r>
            <a:r>
              <a:rPr lang="en-US" sz="1400" dirty="0" err="1">
                <a:solidFill>
                  <a:schemeClr val="tx1"/>
                </a:solidFill>
              </a:rPr>
              <a:t>fastapi_net</a:t>
            </a:r>
            <a:r>
              <a:rPr lang="ru-RU" sz="1400" dirty="0">
                <a:solidFill>
                  <a:schemeClr val="tx1"/>
                </a:solidFill>
              </a:rPr>
              <a:t>		</a:t>
            </a:r>
            <a:r>
              <a:rPr lang="en-US" sz="1400" dirty="0">
                <a:solidFill>
                  <a:srgbClr val="008F00"/>
                </a:solidFill>
              </a:rPr>
              <a:t> 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ports: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- 8080:4000	</a:t>
            </a:r>
            <a:r>
              <a:rPr lang="en-US" sz="1400" dirty="0">
                <a:solidFill>
                  <a:srgbClr val="008F00"/>
                </a:solidFill>
              </a:rPr>
              <a:t> # </a:t>
            </a:r>
            <a:r>
              <a:rPr lang="ru-RU" sz="1400" dirty="0">
                <a:solidFill>
                  <a:srgbClr val="008F00"/>
                </a:solidFill>
              </a:rPr>
              <a:t>Слушаем порт 8080 и пробрасываем его внутрь контейнера на 4000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</a:t>
            </a:r>
            <a:r>
              <a:rPr lang="en-US" sz="1400" dirty="0" err="1">
                <a:solidFill>
                  <a:schemeClr val="tx1"/>
                </a:solidFill>
              </a:rPr>
              <a:t>fastapi_net</a:t>
            </a:r>
            <a:r>
              <a:rPr lang="en-US" sz="1400" dirty="0">
                <a:solidFill>
                  <a:schemeClr val="tx1"/>
                </a:solidFill>
              </a:rPr>
              <a:t>:</a:t>
            </a:r>
            <a:r>
              <a:rPr lang="ru-RU" sz="1400" dirty="0">
                <a:solidFill>
                  <a:schemeClr val="tx1"/>
                </a:solidFill>
              </a:rPr>
              <a:t>	</a:t>
            </a:r>
            <a:r>
              <a:rPr lang="en-US" sz="1400" dirty="0">
                <a:solidFill>
                  <a:srgbClr val="008F00"/>
                </a:solidFill>
              </a:rPr>
              <a:t> # ML </a:t>
            </a:r>
            <a:r>
              <a:rPr lang="ru-RU" sz="1400" dirty="0">
                <a:solidFill>
                  <a:srgbClr val="008F00"/>
                </a:solidFill>
              </a:rPr>
              <a:t>Модель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image: </a:t>
            </a:r>
            <a:r>
              <a:rPr lang="en-US" sz="1400" dirty="0" err="1">
                <a:solidFill>
                  <a:schemeClr val="tx1"/>
                </a:solidFill>
              </a:rPr>
              <a:t>fastapi_net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ports: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- 5002:5002	</a:t>
            </a:r>
            <a:r>
              <a:rPr lang="en-US" sz="1400" dirty="0">
                <a:solidFill>
                  <a:srgbClr val="008F00"/>
                </a:solidFill>
              </a:rPr>
              <a:t># </a:t>
            </a:r>
            <a:r>
              <a:rPr lang="ru-RU" sz="1400" dirty="0">
                <a:solidFill>
                  <a:srgbClr val="008F00"/>
                </a:solidFill>
              </a:rPr>
              <a:t>Проброс портов для модели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F461C8-3BDB-AD4C-8767-FD9378A70A54}"/>
              </a:ext>
            </a:extLst>
          </p:cNvPr>
          <p:cNvSpPr txBox="1"/>
          <p:nvPr/>
        </p:nvSpPr>
        <p:spPr>
          <a:xfrm>
            <a:off x="500550" y="982369"/>
            <a:ext cx="1866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docker-</a:t>
            </a:r>
            <a:r>
              <a:rPr lang="en-US" dirty="0" err="1"/>
              <a:t>compose.yml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0240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5;p11">
            <a:extLst>
              <a:ext uri="{FF2B5EF4-FFF2-40B4-BE49-F238E27FC236}">
                <a16:creationId xmlns:a16="http://schemas.microsoft.com/office/drawing/2014/main" id="{0B3D95D9-6A17-564D-AAC6-81EA5655D9B4}"/>
              </a:ext>
            </a:extLst>
          </p:cNvPr>
          <p:cNvSpPr/>
          <p:nvPr/>
        </p:nvSpPr>
        <p:spPr>
          <a:xfrm>
            <a:off x="500549" y="1209926"/>
            <a:ext cx="8437729" cy="371227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6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Развернуть </a:t>
            </a:r>
            <a:r>
              <a:rPr lang="en-US" dirty="0"/>
              <a:t>ML </a:t>
            </a:r>
            <a:r>
              <a:rPr lang="ru-RU" dirty="0"/>
              <a:t>модель в </a:t>
            </a:r>
            <a:r>
              <a:rPr lang="en-US" dirty="0"/>
              <a:t>Docker Compose</a:t>
            </a:r>
            <a:endParaRPr dirty="0"/>
          </a:p>
        </p:txBody>
      </p:sp>
      <p:sp>
        <p:nvSpPr>
          <p:cNvPr id="340" name="Google Shape;340;p61"/>
          <p:cNvSpPr txBox="1">
            <a:spLocks noGrp="1"/>
          </p:cNvSpPr>
          <p:nvPr>
            <p:ph type="subTitle" idx="1"/>
          </p:nvPr>
        </p:nvSpPr>
        <p:spPr>
          <a:xfrm>
            <a:off x="583420" y="1290146"/>
            <a:ext cx="8437730" cy="35736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user  </a:t>
            </a:r>
            <a:r>
              <a:rPr lang="en-US" sz="1400" dirty="0" err="1">
                <a:solidFill>
                  <a:schemeClr val="tx1"/>
                </a:solidFill>
              </a:rPr>
              <a:t>nginx</a:t>
            </a:r>
            <a:r>
              <a:rPr lang="en-US" sz="1400" dirty="0">
                <a:solidFill>
                  <a:schemeClr val="tx1"/>
                </a:solidFill>
              </a:rPr>
              <a:t>;</a:t>
            </a:r>
            <a:r>
              <a:rPr lang="ru-RU" sz="1400" dirty="0">
                <a:solidFill>
                  <a:schemeClr val="tx1"/>
                </a:solidFill>
              </a:rPr>
              <a:t>	</a:t>
            </a:r>
            <a:r>
              <a:rPr lang="en-US" sz="1400" dirty="0">
                <a:solidFill>
                  <a:srgbClr val="008F00"/>
                </a:solidFill>
              </a:rPr>
              <a:t> # </a:t>
            </a:r>
            <a:r>
              <a:rPr lang="ru-RU" sz="1400" dirty="0">
                <a:solidFill>
                  <a:srgbClr val="008F00"/>
                </a:solidFill>
              </a:rPr>
              <a:t>служебный </a:t>
            </a:r>
            <a:r>
              <a:rPr lang="en-US" sz="1400" dirty="0">
                <a:solidFill>
                  <a:srgbClr val="008F00"/>
                </a:solidFill>
              </a:rPr>
              <a:t>user </a:t>
            </a:r>
            <a:r>
              <a:rPr lang="ru-RU" sz="1400" dirty="0">
                <a:solidFill>
                  <a:srgbClr val="008F00"/>
                </a:solidFill>
              </a:rPr>
              <a:t>по умолчанию, на </a:t>
            </a:r>
            <a:r>
              <a:rPr lang="ru-RU" sz="1400" dirty="0" err="1">
                <a:solidFill>
                  <a:srgbClr val="008F00"/>
                </a:solidFill>
              </a:rPr>
              <a:t>проде</a:t>
            </a:r>
            <a:r>
              <a:rPr lang="ru-RU" sz="1400" dirty="0">
                <a:solidFill>
                  <a:srgbClr val="008F00"/>
                </a:solidFill>
              </a:rPr>
              <a:t> настроить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events 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</a:t>
            </a:r>
            <a:r>
              <a:rPr lang="en-US" sz="1400" dirty="0" err="1">
                <a:solidFill>
                  <a:schemeClr val="tx1"/>
                </a:solidFill>
              </a:rPr>
              <a:t>worker_connections</a:t>
            </a:r>
            <a:r>
              <a:rPr lang="en-US" sz="1400" dirty="0">
                <a:solidFill>
                  <a:schemeClr val="tx1"/>
                </a:solidFill>
              </a:rPr>
              <a:t>   1000;</a:t>
            </a:r>
            <a:r>
              <a:rPr lang="ru-RU" sz="1400" dirty="0">
                <a:solidFill>
                  <a:schemeClr val="tx1"/>
                </a:solidFill>
              </a:rPr>
              <a:t>	</a:t>
            </a:r>
            <a:r>
              <a:rPr lang="en-US" sz="1400" dirty="0">
                <a:solidFill>
                  <a:srgbClr val="008F00"/>
                </a:solidFill>
              </a:rPr>
              <a:t> # </a:t>
            </a:r>
            <a:r>
              <a:rPr lang="ru-RU" sz="1400" dirty="0">
                <a:solidFill>
                  <a:srgbClr val="008F00"/>
                </a:solidFill>
              </a:rPr>
              <a:t>Максимум соединений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http 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  server 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      listen 4000;</a:t>
            </a:r>
            <a:r>
              <a:rPr lang="ru-RU" sz="1400" dirty="0">
                <a:solidFill>
                  <a:schemeClr val="tx1"/>
                </a:solidFill>
              </a:rPr>
              <a:t>	</a:t>
            </a:r>
            <a:r>
              <a:rPr lang="en-US" sz="1400" dirty="0">
                <a:solidFill>
                  <a:srgbClr val="008F00"/>
                </a:solidFill>
              </a:rPr>
              <a:t> # </a:t>
            </a:r>
            <a:r>
              <a:rPr lang="ru-RU" sz="1400" dirty="0">
                <a:solidFill>
                  <a:srgbClr val="008F00"/>
                </a:solidFill>
              </a:rPr>
              <a:t>Слушаем порт 4000 </a:t>
            </a:r>
            <a:r>
              <a:rPr lang="ru-RU" sz="1400" b="1" dirty="0">
                <a:solidFill>
                  <a:srgbClr val="008F00"/>
                </a:solidFill>
              </a:rPr>
              <a:t>внутри контейнера</a:t>
            </a:r>
            <a:endParaRPr lang="en-US" sz="1400" b="1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      location / 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          </a:t>
            </a:r>
            <a:r>
              <a:rPr lang="en-US" sz="1400" dirty="0" err="1">
                <a:solidFill>
                  <a:schemeClr val="tx1"/>
                </a:solidFill>
              </a:rPr>
              <a:t>proxy_pass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>
                <a:solidFill>
                  <a:schemeClr val="tx1"/>
                </a:solidFill>
                <a:hlinkClick r:id="rId3"/>
              </a:rPr>
              <a:t>http://fastapi_net:5002</a:t>
            </a:r>
            <a:r>
              <a:rPr lang="en-US" sz="1400" dirty="0">
                <a:solidFill>
                  <a:schemeClr val="tx1"/>
                </a:solidFill>
              </a:rPr>
              <a:t>;</a:t>
            </a:r>
            <a:r>
              <a:rPr lang="ru-RU" sz="1400" dirty="0">
                <a:solidFill>
                  <a:schemeClr val="tx1"/>
                </a:solidFill>
              </a:rPr>
              <a:t> </a:t>
            </a:r>
            <a:r>
              <a:rPr lang="en-US" sz="1400" dirty="0">
                <a:solidFill>
                  <a:srgbClr val="008F00"/>
                </a:solidFill>
              </a:rPr>
              <a:t># </a:t>
            </a:r>
            <a:r>
              <a:rPr lang="ru-RU" sz="1400" dirty="0">
                <a:solidFill>
                  <a:srgbClr val="008F00"/>
                </a:solidFill>
              </a:rPr>
              <a:t>Пробрасываем запрос на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-RU" sz="1400" dirty="0">
                <a:solidFill>
                  <a:schemeClr val="tx1"/>
                </a:solidFill>
              </a:rPr>
              <a:t>						</a:t>
            </a:r>
            <a:r>
              <a:rPr lang="ru-RU" sz="1400" dirty="0">
                <a:solidFill>
                  <a:srgbClr val="008F00"/>
                </a:solidFill>
              </a:rPr>
              <a:t> </a:t>
            </a:r>
            <a:r>
              <a:rPr lang="en-US" sz="1400" dirty="0">
                <a:solidFill>
                  <a:srgbClr val="008F00"/>
                </a:solidFill>
              </a:rPr>
              <a:t># ML </a:t>
            </a:r>
            <a:r>
              <a:rPr lang="ru-RU" sz="1400" dirty="0">
                <a:solidFill>
                  <a:srgbClr val="008F00"/>
                </a:solidFill>
              </a:rPr>
              <a:t>Модель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      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  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F461C8-3BDB-AD4C-8767-FD9378A70A54}"/>
              </a:ext>
            </a:extLst>
          </p:cNvPr>
          <p:cNvSpPr txBox="1"/>
          <p:nvPr/>
        </p:nvSpPr>
        <p:spPr>
          <a:xfrm>
            <a:off x="500550" y="982369"/>
            <a:ext cx="10005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nginx.conf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5659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5;p11">
            <a:extLst>
              <a:ext uri="{FF2B5EF4-FFF2-40B4-BE49-F238E27FC236}">
                <a16:creationId xmlns:a16="http://schemas.microsoft.com/office/drawing/2014/main" id="{0B3D95D9-6A17-564D-AAC6-81EA5655D9B4}"/>
              </a:ext>
            </a:extLst>
          </p:cNvPr>
          <p:cNvSpPr/>
          <p:nvPr/>
        </p:nvSpPr>
        <p:spPr>
          <a:xfrm>
            <a:off x="500549" y="1209926"/>
            <a:ext cx="8437729" cy="371227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6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Развернуть </a:t>
            </a:r>
            <a:r>
              <a:rPr lang="en-US" dirty="0"/>
              <a:t>ML </a:t>
            </a:r>
            <a:r>
              <a:rPr lang="ru-RU" dirty="0"/>
              <a:t>модель в </a:t>
            </a:r>
            <a:r>
              <a:rPr lang="en-US" dirty="0"/>
              <a:t>Docker Compose</a:t>
            </a:r>
            <a:endParaRPr dirty="0"/>
          </a:p>
        </p:txBody>
      </p:sp>
      <p:sp>
        <p:nvSpPr>
          <p:cNvPr id="340" name="Google Shape;340;p61"/>
          <p:cNvSpPr txBox="1">
            <a:spLocks noGrp="1"/>
          </p:cNvSpPr>
          <p:nvPr>
            <p:ph type="subTitle" idx="1"/>
          </p:nvPr>
        </p:nvSpPr>
        <p:spPr>
          <a:xfrm>
            <a:off x="583420" y="1290146"/>
            <a:ext cx="8437730" cy="35736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version: '2.4’</a:t>
            </a:r>
            <a:r>
              <a:rPr lang="ru-RU" sz="1400" dirty="0">
                <a:solidFill>
                  <a:schemeClr val="tx1"/>
                </a:solidFill>
              </a:rPr>
              <a:t>	</a:t>
            </a:r>
            <a:r>
              <a:rPr lang="en-US" sz="1400" dirty="0">
                <a:solidFill>
                  <a:srgbClr val="008F00"/>
                </a:solidFill>
              </a:rPr>
              <a:t># </a:t>
            </a:r>
            <a:r>
              <a:rPr lang="ru-RU" sz="1400" dirty="0">
                <a:solidFill>
                  <a:srgbClr val="008F00"/>
                </a:solidFill>
              </a:rPr>
              <a:t>Обязательная секция</a:t>
            </a:r>
            <a:endParaRPr lang="en-US" sz="1400" dirty="0">
              <a:solidFill>
                <a:srgbClr val="008F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services:</a:t>
            </a:r>
            <a:r>
              <a:rPr lang="ru-RU" sz="1400" dirty="0">
                <a:solidFill>
                  <a:schemeClr val="tx1"/>
                </a:solidFill>
              </a:rPr>
              <a:t>		</a:t>
            </a:r>
            <a:r>
              <a:rPr lang="en-US" sz="1400" dirty="0">
                <a:solidFill>
                  <a:srgbClr val="008F00"/>
                </a:solidFill>
              </a:rPr>
              <a:t># </a:t>
            </a:r>
            <a:r>
              <a:rPr lang="ru-RU" sz="1400" dirty="0">
                <a:solidFill>
                  <a:srgbClr val="008F00"/>
                </a:solidFill>
              </a:rPr>
              <a:t>Обязательная секция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</a:t>
            </a:r>
            <a:r>
              <a:rPr lang="en-US" sz="1400" dirty="0" err="1">
                <a:solidFill>
                  <a:schemeClr val="tx1"/>
                </a:solidFill>
              </a:rPr>
              <a:t>nginx</a:t>
            </a:r>
            <a:r>
              <a:rPr lang="en-US" sz="1400" dirty="0">
                <a:solidFill>
                  <a:schemeClr val="tx1"/>
                </a:solidFill>
              </a:rPr>
              <a:t>:</a:t>
            </a:r>
            <a:r>
              <a:rPr lang="ru-RU" sz="1400" dirty="0">
                <a:solidFill>
                  <a:schemeClr val="tx1"/>
                </a:solidFill>
              </a:rPr>
              <a:t>		</a:t>
            </a:r>
            <a:r>
              <a:rPr lang="en-US" sz="1400" dirty="0">
                <a:solidFill>
                  <a:srgbClr val="008F00"/>
                </a:solidFill>
              </a:rPr>
              <a:t># </a:t>
            </a:r>
            <a:r>
              <a:rPr lang="en-US" sz="1400" dirty="0" err="1">
                <a:solidFill>
                  <a:srgbClr val="008F00"/>
                </a:solidFill>
              </a:rPr>
              <a:t>nginx</a:t>
            </a:r>
            <a:r>
              <a:rPr lang="en-US" sz="1400" dirty="0">
                <a:solidFill>
                  <a:srgbClr val="008F00"/>
                </a:solidFill>
              </a:rPr>
              <a:t> </a:t>
            </a:r>
            <a:r>
              <a:rPr lang="ru-RU" sz="1400" dirty="0">
                <a:solidFill>
                  <a:srgbClr val="008F00"/>
                </a:solidFill>
              </a:rPr>
              <a:t>запустим в качестве </a:t>
            </a:r>
            <a:r>
              <a:rPr lang="ru-RU" sz="1400" dirty="0" err="1">
                <a:solidFill>
                  <a:srgbClr val="008F00"/>
                </a:solidFill>
              </a:rPr>
              <a:t>балансировщика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image: </a:t>
            </a:r>
            <a:r>
              <a:rPr lang="en-US" sz="1400" dirty="0" err="1">
                <a:solidFill>
                  <a:schemeClr val="tx1"/>
                </a:solidFill>
              </a:rPr>
              <a:t>nginx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volumes: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- ./</a:t>
            </a:r>
            <a:r>
              <a:rPr lang="en-US" sz="1400" dirty="0" err="1">
                <a:solidFill>
                  <a:schemeClr val="tx1"/>
                </a:solidFill>
              </a:rPr>
              <a:t>nginx.conf</a:t>
            </a:r>
            <a:r>
              <a:rPr lang="en-US" sz="1400" dirty="0">
                <a:solidFill>
                  <a:schemeClr val="tx1"/>
                </a:solidFill>
              </a:rPr>
              <a:t>:/</a:t>
            </a:r>
            <a:r>
              <a:rPr lang="en-US" sz="1400" dirty="0" err="1">
                <a:solidFill>
                  <a:schemeClr val="tx1"/>
                </a:solidFill>
              </a:rPr>
              <a:t>etc</a:t>
            </a:r>
            <a:r>
              <a:rPr lang="en-US" sz="1400" dirty="0">
                <a:solidFill>
                  <a:schemeClr val="tx1"/>
                </a:solidFill>
              </a:rPr>
              <a:t>/</a:t>
            </a:r>
            <a:r>
              <a:rPr lang="en-US" sz="1400" dirty="0" err="1">
                <a:solidFill>
                  <a:schemeClr val="tx1"/>
                </a:solidFill>
              </a:rPr>
              <a:t>nginx</a:t>
            </a:r>
            <a:r>
              <a:rPr lang="en-US" sz="1400" dirty="0">
                <a:solidFill>
                  <a:schemeClr val="tx1"/>
                </a:solidFill>
              </a:rPr>
              <a:t>/</a:t>
            </a:r>
            <a:r>
              <a:rPr lang="en-US" sz="1400" dirty="0" err="1">
                <a:solidFill>
                  <a:schemeClr val="tx1"/>
                </a:solidFill>
              </a:rPr>
              <a:t>nginx.conf:ro</a:t>
            </a:r>
            <a:r>
              <a:rPr lang="ru-RU" sz="1400" dirty="0">
                <a:solidFill>
                  <a:schemeClr val="tx1"/>
                </a:solidFill>
              </a:rPr>
              <a:t>	</a:t>
            </a:r>
            <a:r>
              <a:rPr lang="en-US" sz="1400" dirty="0">
                <a:solidFill>
                  <a:srgbClr val="008F00"/>
                </a:solidFill>
              </a:rPr>
              <a:t># </a:t>
            </a:r>
            <a:r>
              <a:rPr lang="ru-RU" sz="1400" dirty="0">
                <a:solidFill>
                  <a:srgbClr val="008F00"/>
                </a:solidFill>
              </a:rPr>
              <a:t>Пробросим </a:t>
            </a:r>
            <a:r>
              <a:rPr lang="ru-RU" sz="1400" dirty="0" err="1">
                <a:solidFill>
                  <a:srgbClr val="008F00"/>
                </a:solidFill>
              </a:rPr>
              <a:t>конфиг</a:t>
            </a:r>
            <a:r>
              <a:rPr lang="ru-RU" sz="1400" dirty="0">
                <a:solidFill>
                  <a:srgbClr val="008F00"/>
                </a:solidFill>
              </a:rPr>
              <a:t> </a:t>
            </a:r>
            <a:r>
              <a:rPr lang="en-US" sz="1400" dirty="0" err="1">
                <a:solidFill>
                  <a:srgbClr val="008F00"/>
                </a:solidFill>
              </a:rPr>
              <a:t>nginx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</a:t>
            </a:r>
            <a:r>
              <a:rPr lang="en-US" sz="1400" dirty="0" err="1">
                <a:solidFill>
                  <a:schemeClr val="tx1"/>
                </a:solidFill>
              </a:rPr>
              <a:t>depends_on</a:t>
            </a:r>
            <a:r>
              <a:rPr lang="en-US" sz="1400" dirty="0">
                <a:solidFill>
                  <a:schemeClr val="tx1"/>
                </a:solidFill>
              </a:rPr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- </a:t>
            </a:r>
            <a:r>
              <a:rPr lang="en-US" sz="1400" dirty="0" err="1">
                <a:solidFill>
                  <a:schemeClr val="tx1"/>
                </a:solidFill>
              </a:rPr>
              <a:t>fastapi_net</a:t>
            </a:r>
            <a:r>
              <a:rPr lang="ru-RU" sz="1400" dirty="0">
                <a:solidFill>
                  <a:schemeClr val="tx1"/>
                </a:solidFill>
              </a:rPr>
              <a:t>		</a:t>
            </a:r>
            <a:r>
              <a:rPr lang="en-US" sz="1400" dirty="0">
                <a:solidFill>
                  <a:srgbClr val="008F00"/>
                </a:solidFill>
              </a:rPr>
              <a:t> 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ports: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- 8080:4000	</a:t>
            </a:r>
            <a:r>
              <a:rPr lang="en-US" sz="1400" dirty="0">
                <a:solidFill>
                  <a:srgbClr val="008F00"/>
                </a:solidFill>
              </a:rPr>
              <a:t> # </a:t>
            </a:r>
            <a:r>
              <a:rPr lang="ru-RU" sz="1400" dirty="0">
                <a:solidFill>
                  <a:srgbClr val="008F00"/>
                </a:solidFill>
              </a:rPr>
              <a:t>Слушаем порт 8080 и пробрасываем его внутрь контейнера на 4000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</a:t>
            </a:r>
            <a:r>
              <a:rPr lang="en-US" sz="1400" dirty="0" err="1">
                <a:solidFill>
                  <a:schemeClr val="tx1"/>
                </a:solidFill>
              </a:rPr>
              <a:t>fastapi_net</a:t>
            </a:r>
            <a:r>
              <a:rPr lang="en-US" sz="1400" dirty="0">
                <a:solidFill>
                  <a:schemeClr val="tx1"/>
                </a:solidFill>
              </a:rPr>
              <a:t>:</a:t>
            </a:r>
            <a:r>
              <a:rPr lang="ru-RU" sz="1400" dirty="0">
                <a:solidFill>
                  <a:schemeClr val="tx1"/>
                </a:solidFill>
              </a:rPr>
              <a:t>	</a:t>
            </a:r>
            <a:r>
              <a:rPr lang="en-US" sz="1400" dirty="0">
                <a:solidFill>
                  <a:srgbClr val="008F00"/>
                </a:solidFill>
              </a:rPr>
              <a:t> # ML </a:t>
            </a:r>
            <a:r>
              <a:rPr lang="ru-RU" sz="1400" dirty="0">
                <a:solidFill>
                  <a:srgbClr val="008F00"/>
                </a:solidFill>
              </a:rPr>
              <a:t>Модель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image: </a:t>
            </a:r>
            <a:r>
              <a:rPr lang="en-US" sz="1400" dirty="0" err="1">
                <a:solidFill>
                  <a:schemeClr val="tx1"/>
                </a:solidFill>
              </a:rPr>
              <a:t>fastapi_net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ports: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- 5002	</a:t>
            </a:r>
            <a:r>
              <a:rPr lang="en-US" sz="1400" dirty="0">
                <a:solidFill>
                  <a:srgbClr val="008F00"/>
                </a:solidFill>
              </a:rPr>
              <a:t># </a:t>
            </a:r>
            <a:r>
              <a:rPr lang="ru-RU" sz="1400" dirty="0">
                <a:solidFill>
                  <a:srgbClr val="008F00"/>
                </a:solidFill>
              </a:rPr>
              <a:t>Не указывать внутренний порт, он будет назначен автоматически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deploy: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</a:rPr>
              <a:t>      replicas: 3</a:t>
            </a:r>
            <a:r>
              <a:rPr lang="ru-RU" sz="1400" dirty="0">
                <a:solidFill>
                  <a:schemeClr val="tx1"/>
                </a:solidFill>
              </a:rPr>
              <a:t>	</a:t>
            </a:r>
            <a:r>
              <a:rPr lang="en-US" sz="1400" dirty="0">
                <a:solidFill>
                  <a:srgbClr val="008F00"/>
                </a:solidFill>
              </a:rPr>
              <a:t> # </a:t>
            </a:r>
            <a:r>
              <a:rPr lang="ru-RU" sz="1400" dirty="0">
                <a:solidFill>
                  <a:srgbClr val="008F00"/>
                </a:solidFill>
              </a:rPr>
              <a:t>Запустить 3 копии, </a:t>
            </a:r>
            <a:r>
              <a:rPr lang="en-US" sz="1400" dirty="0" err="1">
                <a:solidFill>
                  <a:srgbClr val="008F00"/>
                </a:solidFill>
              </a:rPr>
              <a:t>nginx</a:t>
            </a:r>
            <a:r>
              <a:rPr lang="en-US" sz="1400" dirty="0">
                <a:solidFill>
                  <a:srgbClr val="008F00"/>
                </a:solidFill>
              </a:rPr>
              <a:t> </a:t>
            </a:r>
            <a:r>
              <a:rPr lang="ru-RU" sz="1400" dirty="0">
                <a:solidFill>
                  <a:srgbClr val="008F00"/>
                </a:solidFill>
              </a:rPr>
              <a:t>будет на них распределять нагрузку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F461C8-3BDB-AD4C-8767-FD9378A70A54}"/>
              </a:ext>
            </a:extLst>
          </p:cNvPr>
          <p:cNvSpPr txBox="1"/>
          <p:nvPr/>
        </p:nvSpPr>
        <p:spPr>
          <a:xfrm>
            <a:off x="500550" y="982369"/>
            <a:ext cx="1866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docker-</a:t>
            </a:r>
            <a:r>
              <a:rPr lang="en-US" dirty="0" err="1"/>
              <a:t>compose.yml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7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Список материалов для изучения</a:t>
            </a:r>
            <a:endParaRPr dirty="0"/>
          </a:p>
        </p:txBody>
      </p:sp>
      <p:sp>
        <p:nvSpPr>
          <p:cNvPr id="408" name="Google Shape;408;p71"/>
          <p:cNvSpPr txBox="1">
            <a:spLocks noGrp="1"/>
          </p:cNvSpPr>
          <p:nvPr>
            <p:ph type="body" idx="4294967295"/>
          </p:nvPr>
        </p:nvSpPr>
        <p:spPr>
          <a:xfrm>
            <a:off x="381000" y="895350"/>
            <a:ext cx="8610600" cy="39684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r>
              <a:rPr lang="en-US" sz="1800" b="1" dirty="0"/>
              <a:t>Docker</a:t>
            </a:r>
            <a:r>
              <a:rPr lang="ru-RU" sz="1800" b="1" dirty="0"/>
              <a:t> </a:t>
            </a:r>
            <a:endParaRPr lang="en-US" sz="1800" b="1" dirty="0"/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ru-RU" sz="1400" dirty="0"/>
              <a:t>Основы </a:t>
            </a:r>
            <a:r>
              <a:rPr lang="en-US" sz="1400" dirty="0"/>
              <a:t>docker: </a:t>
            </a:r>
            <a:r>
              <a:rPr lang="en-US" sz="1400" dirty="0">
                <a:hlinkClick r:id="rId3"/>
              </a:rPr>
              <a:t>https://habr.com/ru/companies/ruvds/articles/438796/</a:t>
            </a:r>
            <a:r>
              <a:rPr lang="en-US" sz="1400" dirty="0"/>
              <a:t> </a:t>
            </a:r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ru-RU" sz="1400" dirty="0"/>
              <a:t>Основные команды </a:t>
            </a:r>
            <a:r>
              <a:rPr lang="en-US" sz="1400" dirty="0"/>
              <a:t>docker: </a:t>
            </a:r>
            <a:r>
              <a:rPr lang="en-US" sz="1400" dirty="0">
                <a:hlinkClick r:id="rId4"/>
              </a:rPr>
              <a:t>https://habr.com/ru/companies/flant/articles/336654/</a:t>
            </a:r>
            <a:r>
              <a:rPr lang="en-US" sz="1400" dirty="0"/>
              <a:t> </a:t>
            </a:r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en-US" sz="1400" dirty="0"/>
              <a:t>Docker </a:t>
            </a:r>
            <a:r>
              <a:rPr lang="ru-RU" sz="1400" dirty="0"/>
              <a:t>на </a:t>
            </a:r>
            <a:r>
              <a:rPr lang="en-US" sz="1400" dirty="0"/>
              <a:t>mac m1: </a:t>
            </a:r>
            <a:r>
              <a:rPr lang="en-US" sz="1400" dirty="0">
                <a:hlinkClick r:id="rId5"/>
              </a:rPr>
              <a:t>https://habr.com/ru/companies/evrone/articles/716630/</a:t>
            </a:r>
            <a:r>
              <a:rPr lang="en-US" sz="1400" dirty="0"/>
              <a:t> </a:t>
            </a:r>
            <a:endParaRPr lang="ru-RU" sz="1400" dirty="0"/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endParaRPr lang="en-US" sz="1300" dirty="0"/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r>
              <a:rPr lang="ru-RU" sz="1800" b="1" dirty="0"/>
              <a:t>Оптимизация сборки </a:t>
            </a:r>
            <a:r>
              <a:rPr lang="en-US" sz="1800" b="1" dirty="0" err="1"/>
              <a:t>dockerfile</a:t>
            </a:r>
            <a:endParaRPr lang="en-US" sz="1800" b="1" dirty="0"/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en-US" sz="1400" dirty="0">
                <a:hlinkClick r:id="rId6"/>
              </a:rPr>
              <a:t>https://habr.com/ru/companies/first/articles/702168/</a:t>
            </a:r>
            <a:r>
              <a:rPr lang="en-US" sz="1400" dirty="0"/>
              <a:t>  </a:t>
            </a:r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endParaRPr lang="en-US" sz="1900" b="1" dirty="0"/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r>
              <a:rPr lang="ru-RU" sz="1800" b="1" dirty="0"/>
              <a:t>Развертывание</a:t>
            </a:r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ru-RU" sz="1400" dirty="0"/>
              <a:t>Развертывание </a:t>
            </a:r>
            <a:r>
              <a:rPr lang="en-US" sz="1400" dirty="0"/>
              <a:t>ML </a:t>
            </a:r>
            <a:r>
              <a:rPr lang="ru-RU" sz="1400" dirty="0"/>
              <a:t>модели в </a:t>
            </a:r>
            <a:r>
              <a:rPr lang="en-US" sz="1400" dirty="0"/>
              <a:t>Docker</a:t>
            </a:r>
            <a:r>
              <a:rPr lang="ru-RU" sz="1400" dirty="0"/>
              <a:t>: </a:t>
            </a:r>
            <a:r>
              <a:rPr lang="en-US" sz="1400" dirty="0">
                <a:hlinkClick r:id="rId7"/>
              </a:rPr>
              <a:t>https://habr.com/ru/articles/548910/</a:t>
            </a:r>
            <a:r>
              <a:rPr lang="ru-RU" sz="1400" dirty="0"/>
              <a:t> </a:t>
            </a:r>
            <a:endParaRPr lang="en-US" sz="1400" dirty="0"/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ru-RU" sz="1400" dirty="0"/>
              <a:t>Простой </a:t>
            </a:r>
            <a:r>
              <a:rPr lang="en-US" sz="1400" dirty="0"/>
              <a:t>ML </a:t>
            </a:r>
            <a:r>
              <a:rPr lang="ru-RU" sz="1400" dirty="0"/>
              <a:t>веб-сервис на </a:t>
            </a:r>
            <a:r>
              <a:rPr lang="en-US" sz="1400" dirty="0" err="1"/>
              <a:t>FastAPI</a:t>
            </a:r>
            <a:r>
              <a:rPr lang="ru-RU" sz="1400" dirty="0"/>
              <a:t>: </a:t>
            </a:r>
            <a:r>
              <a:rPr lang="en-US" sz="1400" dirty="0">
                <a:hlinkClick r:id="rId8"/>
              </a:rPr>
              <a:t>https://habr.com/ru/articles/729380/</a:t>
            </a:r>
            <a:r>
              <a:rPr lang="ru-RU" sz="1400" dirty="0"/>
              <a:t> </a:t>
            </a:r>
            <a:endParaRPr lang="en-US" sz="1400" dirty="0"/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endParaRPr lang="en-US" sz="1300" dirty="0"/>
          </a:p>
          <a:p>
            <a:pPr indent="-311150">
              <a:lnSpc>
                <a:spcPct val="100000"/>
              </a:lnSpc>
              <a:buSzPts val="1300"/>
              <a:buFont typeface="Roboto"/>
              <a:buAutoNum type="arabicPeriod"/>
            </a:pPr>
            <a:r>
              <a:rPr lang="en-US" sz="1800" b="1" dirty="0"/>
              <a:t>Docker Compose</a:t>
            </a:r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ru-RU" sz="1400" dirty="0"/>
              <a:t>Руководство по </a:t>
            </a:r>
            <a:r>
              <a:rPr lang="en-US" sz="1400" dirty="0"/>
              <a:t>Docker Compose </a:t>
            </a:r>
            <a:r>
              <a:rPr lang="ru-RU" sz="1400" dirty="0"/>
              <a:t>для начинающих</a:t>
            </a:r>
            <a:r>
              <a:rPr lang="en-US" sz="1400" dirty="0"/>
              <a:t>: </a:t>
            </a:r>
            <a:r>
              <a:rPr lang="en-US" sz="1400" dirty="0">
                <a:hlinkClick r:id="rId9"/>
              </a:rPr>
              <a:t>https://habr.com/ru/companies/ruvds/articles/450312/</a:t>
            </a:r>
            <a:r>
              <a:rPr lang="en-US" sz="1400" dirty="0"/>
              <a:t> </a:t>
            </a:r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en-US" sz="1400" dirty="0"/>
              <a:t>Docker Compose: </a:t>
            </a:r>
            <a:r>
              <a:rPr lang="en-US" sz="1400" dirty="0">
                <a:hlinkClick r:id="rId10"/>
              </a:rPr>
              <a:t>https://habr.com/ru/companies/otus/articles/731854/</a:t>
            </a:r>
            <a:r>
              <a:rPr lang="en-US" sz="1400" dirty="0"/>
              <a:t> </a:t>
            </a:r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488950" indent="-342900">
              <a:buSzPts val="1300"/>
              <a:buFont typeface="+mj-lt"/>
              <a:buAutoNum type="arabicPeriod"/>
            </a:pPr>
            <a:r>
              <a:rPr lang="en-US" b="1" dirty="0"/>
              <a:t>Flask</a:t>
            </a:r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ru-RU" sz="1400" dirty="0"/>
              <a:t>Учебник по </a:t>
            </a:r>
            <a:r>
              <a:rPr lang="en-US" sz="1400" dirty="0"/>
              <a:t>Flask: </a:t>
            </a:r>
            <a:r>
              <a:rPr lang="en-US" sz="1400" dirty="0">
                <a:hlinkClick r:id="rId11"/>
              </a:rPr>
              <a:t>https://habr.com/ru/articles/346306/</a:t>
            </a:r>
            <a:r>
              <a:rPr lang="en-US" sz="1400" dirty="0"/>
              <a:t> </a:t>
            </a:r>
            <a:endParaRPr lang="ru-RU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9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/>
              <a:t>Рефлексия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Рефлексия</a:t>
            </a:r>
            <a:endParaRPr/>
          </a:p>
        </p:txBody>
      </p:sp>
      <p:pic>
        <p:nvPicPr>
          <p:cNvPr id="372" name="Google Shape;372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114" y="2019850"/>
            <a:ext cx="828522" cy="828504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60"/>
          <p:cNvSpPr txBox="1"/>
          <p:nvPr/>
        </p:nvSpPr>
        <p:spPr>
          <a:xfrm>
            <a:off x="1700240" y="2364004"/>
            <a:ext cx="4672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 какими впечатлениями уходите с вебинара?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p60"/>
          <p:cNvSpPr txBox="1"/>
          <p:nvPr/>
        </p:nvSpPr>
        <p:spPr>
          <a:xfrm>
            <a:off x="1700240" y="3414189"/>
            <a:ext cx="4996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 будете применять на практике то,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узнали на вебинаре?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75" name="Google Shape;375;p6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950" y="3330152"/>
            <a:ext cx="845250" cy="845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61"/>
          <p:cNvSpPr txBox="1">
            <a:spLocks noGrp="1"/>
          </p:cNvSpPr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/>
              <a:t>Заполните, пожалуйста,</a:t>
            </a:r>
            <a:endParaRPr sz="3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/>
              <a:t>опрос о занятии</a:t>
            </a:r>
            <a:endParaRPr sz="3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/>
              <a:t>по ссылке в чате</a:t>
            </a:r>
            <a:endParaRPr sz="38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2"/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13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ru-RU" dirty="0"/>
              <a:t>Приходите на следующие вебинары</a:t>
            </a:r>
            <a:endParaRPr dirty="0"/>
          </a:p>
        </p:txBody>
      </p:sp>
      <p:sp>
        <p:nvSpPr>
          <p:cNvPr id="386" name="Google Shape;386;p62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ru-RU" dirty="0"/>
              <a:t>Спасибо за внимание!</a:t>
            </a:r>
            <a:endParaRPr dirty="0"/>
          </a:p>
        </p:txBody>
      </p:sp>
      <p:sp>
        <p:nvSpPr>
          <p:cNvPr id="387" name="Google Shape;387;p62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8" name="Google Shape;388;p62"/>
          <p:cNvPicPr preferRelativeResize="0"/>
          <p:nvPr/>
        </p:nvPicPr>
        <p:blipFill>
          <a:blip r:embed="rId3"/>
          <a:srcRect t="6397" b="6397"/>
          <a:stretch/>
        </p:blipFill>
        <p:spPr>
          <a:xfrm>
            <a:off x="1069674" y="2950614"/>
            <a:ext cx="1508400" cy="1488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2" name="Google Shape;208;p48">
            <a:extLst>
              <a:ext uri="{FF2B5EF4-FFF2-40B4-BE49-F238E27FC236}">
                <a16:creationId xmlns:a16="http://schemas.microsoft.com/office/drawing/2014/main" id="{3AD9921B-818B-2E49-87DE-01818F089A2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14" name="Google Shape;208;p48">
            <a:extLst>
              <a:ext uri="{FF2B5EF4-FFF2-40B4-BE49-F238E27FC236}">
                <a16:creationId xmlns:a16="http://schemas.microsoft.com/office/drawing/2014/main" id="{A2C5D46D-0E08-6F4B-84D8-3C201E1F3D28}"/>
              </a:ext>
            </a:extLst>
          </p:cNvPr>
          <p:cNvSpPr txBox="1">
            <a:spLocks/>
          </p:cNvSpPr>
          <p:nvPr/>
        </p:nvSpPr>
        <p:spPr>
          <a:xfrm>
            <a:off x="500550" y="1454436"/>
            <a:ext cx="58563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None/>
              <a:defRPr sz="15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ru-RU" dirty="0"/>
              <a:t>Выбор темы и организация проектной работы</a:t>
            </a:r>
          </a:p>
        </p:txBody>
      </p:sp>
      <p:sp>
        <p:nvSpPr>
          <p:cNvPr id="9" name="Google Shape;209;p48">
            <a:extLst>
              <a:ext uri="{FF2B5EF4-FFF2-40B4-BE49-F238E27FC236}">
                <a16:creationId xmlns:a16="http://schemas.microsoft.com/office/drawing/2014/main" id="{1BBEA119-5E64-794C-9879-843DC3D9814F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3062</TotalTime>
  <Words>1852</Words>
  <Application>Microsoft Macintosh PowerPoint</Application>
  <PresentationFormat>On-screen Show (16:9)</PresentationFormat>
  <Paragraphs>343</Paragraphs>
  <Slides>53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53</vt:i4>
      </vt:variant>
    </vt:vector>
  </HeadingPairs>
  <TitlesOfParts>
    <vt:vector size="59" baseType="lpstr">
      <vt:lpstr>Google Sans</vt:lpstr>
      <vt:lpstr>Roboto</vt:lpstr>
      <vt:lpstr>Arial</vt:lpstr>
      <vt:lpstr>Courier New</vt:lpstr>
      <vt:lpstr>Светлая тема</vt:lpstr>
      <vt:lpstr>Светлая тема</vt:lpstr>
      <vt:lpstr>Recommendation Systems Docker: Структура, применение, деплой</vt:lpstr>
      <vt:lpstr>Проверить, идет ли запись</vt:lpstr>
      <vt:lpstr>Recommendation Systems Docker</vt:lpstr>
      <vt:lpstr>Правила вебинара</vt:lpstr>
      <vt:lpstr>Маршрут вебинара</vt:lpstr>
      <vt:lpstr>Карта курса “Рекомендательные системы”</vt:lpstr>
      <vt:lpstr>Программа курса</vt:lpstr>
      <vt:lpstr>Цели вебинара</vt:lpstr>
      <vt:lpstr>Смысл</vt:lpstr>
      <vt:lpstr>Docker</vt:lpstr>
      <vt:lpstr>Virtualization vs containerization</vt:lpstr>
      <vt:lpstr>Механизмы контейнеризации</vt:lpstr>
      <vt:lpstr>chroot</vt:lpstr>
      <vt:lpstr>systemd-nspawn</vt:lpstr>
      <vt:lpstr>LXC</vt:lpstr>
      <vt:lpstr>PowerPoint Presentation</vt:lpstr>
      <vt:lpstr>PowerPoint Presentation</vt:lpstr>
      <vt:lpstr>Deployment</vt:lpstr>
      <vt:lpstr>Docker</vt:lpstr>
      <vt:lpstr>Unionfs</vt:lpstr>
      <vt:lpstr>Docker image -&gt; Docker container</vt:lpstr>
      <vt:lpstr>Docker unionfs</vt:lpstr>
      <vt:lpstr>Docker unionfs - пример</vt:lpstr>
      <vt:lpstr>Docker data volumes</vt:lpstr>
      <vt:lpstr>Docker сеть Bridge network</vt:lpstr>
      <vt:lpstr>Docker port mapping</vt:lpstr>
      <vt:lpstr>Docker hub</vt:lpstr>
      <vt:lpstr>Docker основные команды</vt:lpstr>
      <vt:lpstr>PowerPoint Presentation</vt:lpstr>
      <vt:lpstr>Сборка образа</vt:lpstr>
      <vt:lpstr>Dockerfile</vt:lpstr>
      <vt:lpstr>Пишем dockerfile</vt:lpstr>
      <vt:lpstr>Собираем image</vt:lpstr>
      <vt:lpstr>Docker images</vt:lpstr>
      <vt:lpstr>Запускаем наш контейнер</vt:lpstr>
      <vt:lpstr>Пишем dockerfile</vt:lpstr>
      <vt:lpstr>Выполнить скрипт сразу после запуска</vt:lpstr>
      <vt:lpstr>Вопросы?</vt:lpstr>
      <vt:lpstr>Практика</vt:lpstr>
      <vt:lpstr>Практика</vt:lpstr>
      <vt:lpstr>Практика – простой контейнер</vt:lpstr>
      <vt:lpstr>Практика – jupyter notebook в контейнере </vt:lpstr>
      <vt:lpstr>Развернуть ML модель в Docker с использованием Flask и FastAPI</vt:lpstr>
      <vt:lpstr>Развернуть ML модель в Docker с использованием Flask и FastAPI</vt:lpstr>
      <vt:lpstr>Развернуть ML модель в Docker с использованием Flask и FastAPI</vt:lpstr>
      <vt:lpstr>Развернуть ML модель в Docker Compose</vt:lpstr>
      <vt:lpstr>Развернуть ML модель в Docker Compose</vt:lpstr>
      <vt:lpstr>Развернуть ML модель в Docker Compose</vt:lpstr>
      <vt:lpstr>Список материалов для изучения</vt:lpstr>
      <vt:lpstr>Рефлексия</vt:lpstr>
      <vt:lpstr>Рефлексия</vt:lpstr>
      <vt:lpstr>Заполните, пожалуйста, опрос о занятии по ссылке в чате</vt:lpstr>
      <vt:lpstr>Приходите на следующие вебинары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Advanced Docker: Структура, применение, деплой</dc:title>
  <cp:lastModifiedBy>Стурейко Игорь Олегович</cp:lastModifiedBy>
  <cp:revision>58</cp:revision>
  <dcterms:modified xsi:type="dcterms:W3CDTF">2025-08-18T09:55:18Z</dcterms:modified>
</cp:coreProperties>
</file>