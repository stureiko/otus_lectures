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164592" cy="2286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FinOps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90C8FF"/>
                </a:solidFill>
              </a:rPr>
              <a:t>Архитектура, управляемая стоимостью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DDEE"/>
                </a:solidFill>
              </a:rPr>
              <a:t>Как принимать архитектурные решения с учётом стоимости AI-систем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0A0C0"/>
                </a:solidFill>
              </a:rPr>
              <a:t>OTUS · AI Architect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1097280"/>
            <a:ext cx="3200400" cy="3200400"/>
          </a:xfrm>
          <a:prstGeom prst="rect">
            <a:avLst/>
          </a:prstGeom>
          <a:solidFill>
            <a:srgbClr val="255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128016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0B8FF"/>
                </a:solidFill>
              </a:rPr>
              <a:t>Cost = f(
Architecture,
Load,
Efficiency
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О чём занятие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5B9B"/>
                </a:solidFill>
              </a:rPr>
              <a:t>Программа занятия:</a:t>
            </a:r>
          </a:p>
          <a:p>
            <a:pPr algn="l"/>
            <a:r>
              <a:rPr sz="2000">
                <a:solidFill>
                  <a:srgbClr val="1A1A1A"/>
                </a:solidFill>
              </a:rPr>
              <a:t>•  Почему cloud bill выходит из-под контроля</a:t>
            </a:r>
          </a:p>
          <a:p>
            <a:pPr algn="l"/>
            <a:r>
              <a:rPr sz="2000">
                <a:solidFill>
                  <a:srgbClr val="1A1A1A"/>
                </a:solidFill>
              </a:rPr>
              <a:t>•  Что такое FinOps и зачем он инженеру</a:t>
            </a:r>
          </a:p>
          <a:p>
            <a:pPr algn="l"/>
            <a:r>
              <a:rPr sz="2000">
                <a:solidFill>
                  <a:srgbClr val="1A1A1A"/>
                </a:solidFill>
              </a:rPr>
              <a:t>•  Где архитектура влияет на стоимость</a:t>
            </a:r>
          </a:p>
          <a:p>
            <a:pPr algn="l"/>
            <a:r>
              <a:rPr sz="2000">
                <a:solidFill>
                  <a:srgbClr val="1A1A1A"/>
                </a:solidFill>
              </a:rPr>
              <a:t>•  Как находить точки оптимизации</a:t>
            </a:r>
          </a:p>
          <a:p>
            <a:pPr algn="l"/>
            <a:r>
              <a:rPr sz="2000">
                <a:solidFill>
                  <a:srgbClr val="1A1A1A"/>
                </a:solidFill>
              </a:rPr>
              <a:t>•  Практика: снижение затрат на 20%+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⚠  Это не лекция про финансы — это лекция про архитектурное мышление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669280"/>
            <a:ext cx="11612880" cy="914400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⚠  Это не лекция про финансы — это лекция про архитектурное мышление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Проблема: проекты не учитывают стоимость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3035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Архитектура проектируется под: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1A1A1A"/>
                </a:solidFill>
              </a:rPr>
              <a:t>•  Производительность</a:t>
            </a:r>
          </a:p>
          <a:p>
            <a:pPr algn="l"/>
            <a:r>
              <a:rPr sz="1700">
                <a:solidFill>
                  <a:srgbClr val="1A1A1A"/>
                </a:solidFill>
              </a:rPr>
              <a:t>•  Отказоустойчивость</a:t>
            </a:r>
          </a:p>
          <a:p>
            <a:pPr algn="l"/>
            <a:r>
              <a:rPr sz="1700">
                <a:solidFill>
                  <a:srgbClr val="1A1A1A"/>
                </a:solidFill>
              </a:rPr>
              <a:t>•  Масштабируемость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554480"/>
            <a:ext cx="53035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👉  Стоимость — постфактум: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1A1A1A"/>
                </a:solidFill>
              </a:rPr>
              <a:t>•  Неожиданные счета</a:t>
            </a:r>
          </a:p>
          <a:p>
            <a:pPr algn="l"/>
            <a:r>
              <a:rPr sz="1700">
                <a:solidFill>
                  <a:srgbClr val="1A1A1A"/>
                </a:solidFill>
              </a:rPr>
              <a:t>•  Бюджетные ограничения</a:t>
            </a:r>
          </a:p>
          <a:p>
            <a:pPr algn="l"/>
            <a:r>
              <a:rPr sz="1700">
                <a:solidFill>
                  <a:srgbClr val="1A1A1A"/>
                </a:solidFill>
              </a:rPr>
              <a:t>•  Переделка архитектуры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5603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0392B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1">
                <a:solidFill>
                  <a:srgbClr val="FFFFFF"/>
                </a:solidFill>
              </a:rPr>
              <a:t>"Самая дорогая архитектура — это та,
которую потом пришлось переделывать"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Почему cloud bill растёт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🔴  Overprovisioning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5270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Ресурсы выделены «с запасом» и не используются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11247120" cy="749808"/>
          </a:xfrm>
          <a:prstGeom prst="rect">
            <a:avLst/>
          </a:prstGeom>
          <a:solidFill>
            <a:srgbClr val="FB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🔴  Zombie instances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35000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Постоянные инстансы, о которых забыли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08960"/>
            <a:ext cx="112471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5467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🔴  Дублирование данных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1729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Одни и те же данные хранятся в нескольких местах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11247120" cy="749808"/>
          </a:xfrm>
          <a:prstGeom prst="rect">
            <a:avLst/>
          </a:prstGeom>
          <a:solidFill>
            <a:srgbClr val="FB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7763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🔴  Неправильные storage-классы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9959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Все данные в hot storage независимо от частоты доступа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54880"/>
            <a:ext cx="112471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00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🔴  Отсутствие lifecycle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81888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Данные никогда не архивируются и не удаляются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</a:rPr>
              <a:t>Cloud по умолчанию оптимизирован под скорость, а не под стоимость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Особенности AI/ML систем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>
                <a:solidFill>
                  <a:srgbClr val="1A1A1A"/>
                </a:solidFill>
              </a:rPr>
              <a:t>•  GPU простаивают между training-запусками</a:t>
            </a:r>
          </a:p>
          <a:p>
            <a:pPr algn="l"/>
            <a:r>
              <a:rPr sz="1900">
                <a:solidFill>
                  <a:srgbClr val="1A1A1A"/>
                </a:solidFill>
              </a:rPr>
              <a:t>•  Training запускается чаще, чем реально нужно</a:t>
            </a:r>
          </a:p>
          <a:p>
            <a:pPr algn="l"/>
            <a:r>
              <a:rPr sz="1900">
                <a:solidFill>
                  <a:srgbClr val="1A1A1A"/>
                </a:solidFill>
              </a:rPr>
              <a:t>•  Хранится весь исторический датасет без очистки</a:t>
            </a:r>
          </a:p>
          <a:p>
            <a:pPr algn="l"/>
            <a:r>
              <a:rPr sz="1900">
                <a:solidFill>
                  <a:srgbClr val="1A1A1A"/>
                </a:solidFill>
              </a:rPr>
              <a:t>•  Inference всегда realtime — даже там, где не нужно</a:t>
            </a:r>
          </a:p>
          <a:p>
            <a:pPr algn="l"/>
            <a:r>
              <a:rPr sz="1900">
                <a:solidFill>
                  <a:srgbClr val="1A1A1A"/>
                </a:solidFill>
              </a:rPr>
              <a:t>•  Избыточное логирование экспериментов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0" y="1554480"/>
            <a:ext cx="3383280" cy="4114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8288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Ключевая
проблема: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74320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39C12"/>
                </a:solidFill>
              </a:rPr>
              <a:t>AI-системы
по умолчанию
дорогие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0392B"/>
                </a:solidFill>
              </a:rPr>
              <a:t>Связь с практикой: Kubeflow / MLflow / pipelines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Что такое FinOps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8B4C"/>
                </a:solidFill>
              </a:rPr>
              <a:t>FinOps = практика управления облачными затратами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5303520" cy="228600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</a:rPr>
              <a:t>❌  НЕ: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1A1A1A"/>
                </a:solidFill>
              </a:rPr>
              <a:t>•  Бухгалтерия</a:t>
            </a:r>
          </a:p>
          <a:p>
            <a:pPr algn="l"/>
            <a:r>
              <a:rPr sz="1700">
                <a:solidFill>
                  <a:srgbClr val="1A1A1A"/>
                </a:solidFill>
              </a:rPr>
              <a:t>•  Контроль бюджета</a:t>
            </a:r>
          </a:p>
          <a:p>
            <a:pPr algn="l"/>
            <a:r>
              <a:rPr sz="1700">
                <a:solidFill>
                  <a:srgbClr val="1A1A1A"/>
                </a:solidFill>
              </a:rPr>
              <a:t>•  Урезание возможностей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377440"/>
            <a:ext cx="5303520" cy="228600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8B4C"/>
                </a:solidFill>
              </a:rPr>
              <a:t>✅  А: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926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1A1A1A"/>
                </a:solidFill>
              </a:rPr>
              <a:t>•  Часть инженерного процесса</a:t>
            </a:r>
          </a:p>
          <a:p>
            <a:pPr algn="l"/>
            <a:r>
              <a:rPr sz="1700">
                <a:solidFill>
                  <a:srgbClr val="1A1A1A"/>
                </a:solidFill>
              </a:rPr>
              <a:t>•  Continuous optimization</a:t>
            </a:r>
          </a:p>
          <a:p>
            <a:pPr algn="l"/>
            <a:r>
              <a:rPr sz="1700">
                <a:solidFill>
                  <a:srgbClr val="1A1A1A"/>
                </a:solidFill>
              </a:rPr>
              <a:t>•  Метрика качества архитектуры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120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FinOps = DevOps + Finance +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Принципы FinOps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822960" cy="9144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463040"/>
            <a:ext cx="103327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508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8B4C"/>
                </a:solidFill>
              </a:rPr>
              <a:t>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90195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Прозрачность затрат — каждая команда видит свой 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87168"/>
            <a:ext cx="822960" cy="9144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78608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487168"/>
            <a:ext cx="103327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5328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8B4C"/>
                </a:solidFill>
              </a:rPr>
              <a:t>Accountability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92608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Распределённая ответственность за расходы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11296"/>
            <a:ext cx="822960" cy="9144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602736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511296"/>
            <a:ext cx="103327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55701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8B4C"/>
                </a:solidFill>
              </a:rPr>
              <a:t>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95020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Постоянный поиск и устранение неэффективностей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35424"/>
            <a:ext cx="822960" cy="9144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626864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4535424"/>
            <a:ext cx="103327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458114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8B4C"/>
                </a:solidFill>
              </a:rPr>
              <a:t>Iteration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974336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Непрерывные улучшения, а не разовые акции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Смена мышления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Самый важный слайд — смена парадигмы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554480"/>
          <a:ext cx="10332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Без FinOps</a:t>
                      </a:r>
                    </a:p>
                  </a:txBody>
                  <a:tcPr>
                    <a:solidFill>
                      <a:srgbClr val="1E8B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С FinOps</a:t>
                      </a:r>
                    </a:p>
                  </a:txBody>
                  <a:tcPr>
                    <a:solidFill>
                      <a:srgbClr val="1E8B4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Фиксированный бюджет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Динамическая оптимизация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Cost = проблема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Cost = метрика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Централизованный контроль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Распределённая ответственность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Оптимизация раз в квартал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Continuous improvement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Архитектор не думает о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Архитектор = cost owner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8B4C"/>
                </a:solidFill>
              </a:rPr>
              <a:t>👉  Мы меняем paradigm, не просто добавляем инструменты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Стоимость как функция архитектуры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1554480"/>
            <a:ext cx="8503920" cy="13716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91640"/>
            <a:ext cx="8503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Cost = f( Architecture,  Load,  Efficiency 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3657600" cy="2286000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39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Как устроена система
Выбор компонентов, паттернов, интеграций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8848" y="3200400"/>
            <a:ext cx="3657600" cy="228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32918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3977639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Нагрузка от бизнес-требований
(в основном вне нашего контроля)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0496" y="3200400"/>
            <a:ext cx="3657600" cy="22860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0496" y="32918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1936" y="3977639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Эффективность использования ресурсов
Rightsizing, batching, caching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760720"/>
            <a:ext cx="11247120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👉  Мы управляем только Architecture и Efficiency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Роль архитектора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DF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1554480"/>
            <a:ext cx="4846320" cy="91440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16459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Архитектор = Cost Owner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743200"/>
            <a:ext cx="27432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743200"/>
            <a:ext cx="2743200" cy="50292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⚙  Compute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91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CPU vs GPU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86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Batch vs realtime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480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Autoscaling vs fixed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743200"/>
            <a:ext cx="27432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2743200"/>
            <a:ext cx="2743200" cy="50292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💾 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291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Hot vs cold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886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S3 vs FS vs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4480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Lifecycle policies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743200"/>
            <a:ext cx="27432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2743200"/>
            <a:ext cx="2743200" cy="50292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79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🌐  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291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Межзонный трафик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886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Egress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480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Data locality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2743200"/>
            <a:ext cx="27432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69680" y="2743200"/>
            <a:ext cx="2743200" cy="50292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19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📊  Data patterns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3291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Batching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3886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Caching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4480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Compression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0350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4AC0D"/>
                </a:solidFill>
              </a:rPr>
              <a:t>Каждое архитектурное решение имеет ценник — архитектор его видит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Compute: архитектурные решения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DF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7498079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37160" cy="137160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AC0D"/>
                </a:solidFill>
              </a:rPr>
              <a:t>CPU vs GPU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GPU дороже в 5–10x.
Используй только там, где реально нужен параллелизм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463040"/>
            <a:ext cx="3657600" cy="1371600"/>
          </a:xfrm>
          <a:prstGeom prst="rect">
            <a:avLst/>
          </a:prstGeom>
          <a:solidFill>
            <a:srgbClr val="FD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5544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D4E00"/>
                </a:solidFill>
              </a:rPr>
              <a:t>💡 Служение LLM inference → GPU,
Batch ETL → CPU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71800"/>
            <a:ext cx="7498079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971800"/>
            <a:ext cx="137160" cy="137160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0175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AC0D"/>
                </a:solidFill>
              </a:rPr>
              <a:t>Batch vs Realtime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74720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Realtime = постоянные ресурсы.
Batch = ресурсы только во время выполнения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971800"/>
            <a:ext cx="3657600" cy="1371600"/>
          </a:xfrm>
          <a:prstGeom prst="rect">
            <a:avLst/>
          </a:prstGeom>
          <a:solidFill>
            <a:srgbClr val="FD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30632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D4E00"/>
                </a:solidFill>
              </a:rPr>
              <a:t>💡 Нужен ли ответ за &lt;100ms?
Если нет — это batch!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7498079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480560"/>
            <a:ext cx="137160" cy="137160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262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AC0D"/>
                </a:solidFill>
              </a:rPr>
              <a:t>Autoscaling vs Fixed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983480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Fixed instances → платишь 24/7.
Autoscaling → платишь за нагрузку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4480560"/>
            <a:ext cx="3657600" cy="1371600"/>
          </a:xfrm>
          <a:prstGeom prst="rect">
            <a:avLst/>
          </a:prstGeom>
          <a:solidFill>
            <a:srgbClr val="FD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45720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D4E00"/>
                </a:solidFill>
              </a:rPr>
              <a:t>💡 Типовая экономия:
30–50% для непостоянной нагрузки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Storage: архитектурные решения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DF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AC0D"/>
                </a:solidFill>
              </a:rPr>
              <a:t>Сравнение storage-классов: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01168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85216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Класс</a:t>
                      </a:r>
                    </a:p>
                  </a:txBody>
                  <a:tcPr>
                    <a:solidFill>
                      <a:srgbClr val="D4AC0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Стоимость</a:t>
                      </a:r>
                    </a:p>
                  </a:txBody>
                  <a:tcPr>
                    <a:solidFill>
                      <a:srgbClr val="D4AC0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Доступность</a:t>
                      </a:r>
                    </a:p>
                  </a:txBody>
                  <a:tcPr>
                    <a:solidFill>
                      <a:srgbClr val="D4AC0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Использование</a:t>
                      </a:r>
                    </a:p>
                  </a:txBody>
                  <a:tcPr>
                    <a:solidFill>
                      <a:srgbClr val="D4AC0D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S3 Standard (hot)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$$$$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Мгновенно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Активные данные (&lt;30 дней)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S3 Infrequent Access</a:t>
                      </a:r>
                    </a:p>
                  </a:txBody>
                  <a:tcPr>
                    <a:solidFill>
                      <a:srgbClr val="FDF9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$$</a:t>
                      </a:r>
                    </a:p>
                  </a:txBody>
                  <a:tcPr>
                    <a:solidFill>
                      <a:srgbClr val="FDF9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Секунды</a:t>
                      </a:r>
                    </a:p>
                  </a:txBody>
                  <a:tcPr>
                    <a:solidFill>
                      <a:srgbClr val="FDF9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Данные 30–90 дней</a:t>
                      </a:r>
                    </a:p>
                  </a:txBody>
                  <a:tcPr>
                    <a:solidFill>
                      <a:srgbClr val="FDF9E3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S3 Glacier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Минуты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Архив 90+ дней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S3 Deep Archive</a:t>
                      </a:r>
                    </a:p>
                  </a:txBody>
                  <a:tcPr>
                    <a:solidFill>
                      <a:srgbClr val="FDF9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¢</a:t>
                      </a:r>
                    </a:p>
                  </a:txBody>
                  <a:tcPr>
                    <a:solidFill>
                      <a:srgbClr val="FDF9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Часы</a:t>
                      </a:r>
                    </a:p>
                  </a:txBody>
                  <a:tcPr>
                    <a:solidFill>
                      <a:srgbClr val="FDF9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Долгосрочный архив</a:t>
                      </a:r>
                    </a:p>
                  </a:txBody>
                  <a:tcPr>
                    <a:solidFill>
                      <a:srgbClr val="FDF9E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303520" cy="109728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303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💥 Типичная ошибка: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392B"/>
                </a:solidFill>
              </a:rPr>
              <a:t>Всё хранится в hot storage
→ переплата 50–80%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5212080"/>
            <a:ext cx="5303520" cy="109728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5303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B4C"/>
                </a:solidFill>
              </a:rPr>
              <a:t>✅ Решение: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6692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8B4C"/>
                </a:solidFill>
              </a:rPr>
              <a:t>S3 Lifecycle policy:
hot → IA → Glacier автоматически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Network: скрытые расходы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DF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86868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C0D"/>
                </a:solidFill>
              </a:rPr>
              <a:t>Egress traffic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842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Самый дорогой тип трафика.
Облако берёт деньги за исходящий трафик во внешний интернет</a:t>
            </a:r>
          </a:p>
        </p:txBody>
      </p:sp>
      <p:sp>
        <p:nvSpPr>
          <p:cNvPr id="8" name="Rectangle 7"/>
          <p:cNvSpPr/>
          <p:nvPr/>
        </p:nvSpPr>
        <p:spPr>
          <a:xfrm>
            <a:off x="9235440" y="1508760"/>
            <a:ext cx="2468880" cy="100584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0" y="17373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~$0.08–0.09/GB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39"/>
            <a:ext cx="86868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5175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C0D"/>
                </a:solidFill>
              </a:rPr>
              <a:t>Cross-AZ traffic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81527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Трафик между зонами доступности внутри одного региона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2606039"/>
            <a:ext cx="2468880" cy="100584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83463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~$0.01/GB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03320"/>
            <a:ext cx="86868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4903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C0D"/>
                </a:solidFill>
              </a:rPr>
              <a:t>Cross-region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7880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Трафик между регионами — очень дорого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3703320"/>
            <a:ext cx="2468880" cy="100584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39319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~$0.02–0.08/GB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00600"/>
            <a:ext cx="86868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8463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C0D"/>
                </a:solidFill>
              </a:rPr>
              <a:t>Intra-AZ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7608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Трафик внутри одной зоны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4800600"/>
            <a:ext cx="2468880" cy="10058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5029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Бесплатно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</a:rPr>
              <a:t>💥 Типичная ошибка: данные гоняются между регионами без необходимости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64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Стоимость AI/ML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4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103120" cy="14630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Data
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103120"/>
            <a:ext cx="274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644AB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645920"/>
            <a:ext cx="2103120" cy="14630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9202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Feature
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103120"/>
            <a:ext cx="274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644AB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1645920"/>
            <a:ext cx="2103120" cy="1463040"/>
          </a:xfrm>
          <a:prstGeom prst="rect">
            <a:avLst/>
          </a:prstGeom>
          <a:solidFill>
            <a:srgbClr val="FF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9202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Model
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103120"/>
            <a:ext cx="274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644AB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645920"/>
            <a:ext cx="2103120" cy="1463040"/>
          </a:xfrm>
          <a:prstGeom prst="rect">
            <a:avLst/>
          </a:prstGeom>
          <a:solidFill>
            <a:srgbClr val="A53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19202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Model
Serving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103120"/>
            <a:ext cx="274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644AB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66960" y="1645920"/>
            <a:ext cx="2103120" cy="1463040"/>
          </a:xfrm>
          <a:prstGeom prst="rect">
            <a:avLst/>
          </a:prstGeom>
          <a:solidFill>
            <a:srgbClr val="009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19202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Monitoring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937760"/>
            <a:ext cx="1554480" cy="3657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394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B9BD5"/>
                </a:solidFill>
              </a:rPr>
              <a:t>10%
$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4800600"/>
            <a:ext cx="1554480" cy="502919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5394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0AD47"/>
                </a:solidFill>
              </a:rPr>
              <a:t>15%
$$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3291840"/>
            <a:ext cx="1554480" cy="2011680"/>
          </a:xfrm>
          <a:prstGeom prst="rect">
            <a:avLst/>
          </a:prstGeom>
          <a:solidFill>
            <a:srgbClr val="FF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0" y="5394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7522"/>
                </a:solidFill>
              </a:rPr>
              <a:t>70%
$$$$$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4663440"/>
            <a:ext cx="1554480" cy="640080"/>
          </a:xfrm>
          <a:prstGeom prst="rect">
            <a:avLst/>
          </a:prstGeom>
          <a:solidFill>
            <a:srgbClr val="A53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5394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535BF"/>
                </a:solidFill>
              </a:rPr>
              <a:t>20%
$$$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1280" y="5074920"/>
            <a:ext cx="1554480" cy="228600"/>
          </a:xfrm>
          <a:prstGeom prst="rect">
            <a:avLst/>
          </a:prstGeom>
          <a:solidFill>
            <a:srgbClr val="009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60" y="5394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B77"/>
                </a:solidFill>
              </a:rPr>
              <a:t>5%
$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26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Training = до 70% всех затрат на AI/ML систему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080760"/>
            <a:ext cx="11247120" cy="594360"/>
          </a:xfrm>
          <a:prstGeom prst="rect">
            <a:avLst/>
          </a:prstGeom>
          <a:solidFill>
            <a:srgbClr val="764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126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Training = до 70% всех затрат на AI/ML систему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64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Типовые утечки стоимости в AI/ML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4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762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Утечка</a:t>
                      </a:r>
                    </a:p>
                  </a:txBody>
                  <a:tcPr>
                    <a:solidFill>
                      <a:srgbClr val="7644A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Причина</a:t>
                      </a:r>
                    </a:p>
                  </a:txBody>
                  <a:tcPr>
                    <a:solidFill>
                      <a:srgbClr val="7644A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Потенциальная экономия</a:t>
                      </a:r>
                    </a:p>
                  </a:txBody>
                  <a:tcPr>
                    <a:solidFill>
                      <a:srgbClr val="7644AB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Training слишком часто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Запускается ежедневно там, где достаточно еженедельно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20–40%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Realtime вместо batch</a:t>
                      </a:r>
                    </a:p>
                  </a:txBody>
                  <a:tcPr>
                    <a:solidFill>
                      <a:srgbClr val="F4E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Inference в realtime там, где приемлема задержка</a:t>
                      </a:r>
                    </a:p>
                  </a:txBody>
                  <a:tcPr>
                    <a:solidFill>
                      <a:srgbClr val="F4E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15–30%</a:t>
                      </a:r>
                    </a:p>
                  </a:txBody>
                  <a:tcPr>
                    <a:solidFill>
                      <a:srgbClr val="F4ECFC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Overprovisioned serving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Слишком большие инстансы для serving-нагрузки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20–40%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Excessive logging</a:t>
                      </a:r>
                    </a:p>
                  </a:txBody>
                  <a:tcPr>
                    <a:solidFill>
                      <a:srgbClr val="F4E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Логируется всё подряд без retention policy</a:t>
                      </a:r>
                    </a:p>
                  </a:txBody>
                  <a:tcPr>
                    <a:solidFill>
                      <a:srgbClr val="F4E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20–50%</a:t>
                      </a:r>
                    </a:p>
                  </a:txBody>
                  <a:tcPr>
                    <a:solidFill>
                      <a:srgbClr val="F4ECFC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Постоянные GPU-инстансы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GPU работают 24/7, но используются 10–20% времени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до 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126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644AB"/>
                </a:solidFill>
              </a:rPr>
              <a:t>Самые дорогие решения часто принимаются «по умолчанию»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Инструменты FinOps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26517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2651760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Cloud Native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95548"/>
                </a:solidFill>
              </a:rPr>
              <a:t>AWS Cost Explorer /
GCP Billing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06324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Визуализация расходов по сервисам, регионам, тегам.
Анализ трендов и аномалий.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554480"/>
            <a:ext cx="26517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554480"/>
            <a:ext cx="2651760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5727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Open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031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95548"/>
                </a:solidFill>
              </a:rPr>
              <a:t>Prometheus +
Grafana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06324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Метрики использования ресурсов Kubernetes.
Rightsizing рекомендации.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554480"/>
            <a:ext cx="26517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554480"/>
            <a:ext cx="2651760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727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K8s Specific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031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95548"/>
                </a:solidFill>
              </a:rPr>
              <a:t>Kubecost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6324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Cost allocation по namespace, team, workload.
Pod-level cost visibility.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1554480"/>
            <a:ext cx="26517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554480"/>
            <a:ext cx="2651760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19" y="15727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ML Specific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21031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95548"/>
                </a:solidFill>
              </a:rPr>
              <a:t>MLflow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19" y="306324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Tracking экспериментов с привязкой к ресурсам.
Cost per experiment analysis.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95548"/>
                </a:solidFill>
              </a:rPr>
              <a:t>Инструменты дают visibility — но решения принимает архитектор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Практики FinOps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471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3200400" cy="86868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39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🏷  Tagging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60020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project / team / env / cost-center.
Без тегов невозможно атрибуция стоимости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41448"/>
            <a:ext cx="112471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441448"/>
            <a:ext cx="3200400" cy="86868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2432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💰  Budgets + Alerts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532888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Автоматические оповещения при превышении порогов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74136"/>
            <a:ext cx="112471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74136"/>
            <a:ext cx="3200400" cy="86868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5701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📐  Rightsizing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465576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Регулярный анализ использования ресурсов и оптимизация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06824"/>
            <a:ext cx="112471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306824"/>
            <a:ext cx="3200400" cy="86868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89704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⚡  Spot/Preemptible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398264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Экономия до 60–90% для fault-tolerant нагрузок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39512"/>
            <a:ext cx="112471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239512"/>
            <a:ext cx="3200400" cy="86868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42239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♻  Lifecycle policies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330952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Автоматическое перемещение данных между storage-классами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080760"/>
            <a:ext cx="11247120" cy="594360"/>
          </a:xfrm>
          <a:prstGeom prst="rect">
            <a:avLst/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126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39C12"/>
                </a:solidFill>
              </a:rPr>
              <a:t>Золотое правило: нет тегов → нет FinOps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0CAF9"/>
                </a:solidFill>
              </a:rPr>
              <a:t>🧪 ПРАКТИЧЕСКАЯ ЧАСТЬ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Анализ Cloud Bill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651760"/>
            <a:ext cx="8503920" cy="7315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69748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Задача: снизить стоимость AI-системы на ≥20%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0CAF9"/>
                </a:solidFill>
              </a:rPr>
              <a:t>Формат: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</a:rPr>
              <a:t>•  Работа в группах (3–4 человека)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•  15 минут на анализ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•  5 минут на презентацию решения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0CAF9"/>
                </a:solidFill>
              </a:rPr>
              <a:t>Формат оценки: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023360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</a:rPr>
              <a:t>•  Найдены ключевые источники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•  Корректные причины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•  Реалистичные решения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Входные данные: Cloud Bill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Реальная ситуация — AI-система в продакшене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27017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Сервис</a:t>
                      </a:r>
                    </a:p>
                  </a:txBody>
                  <a:tcPr>
                    <a:solidFill>
                      <a:srgbClr val="1E5B9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Стоимость/мес</a:t>
                      </a:r>
                    </a:p>
                  </a:txBody>
                  <a:tcPr>
                    <a:solidFill>
                      <a:srgbClr val="1E5B9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Доля</a:t>
                      </a:r>
                    </a:p>
                  </a:txBody>
                  <a:tcPr>
                    <a:solidFill>
                      <a:srgbClr val="1E5B9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Примечание</a:t>
                      </a:r>
                    </a:p>
                  </a:txBody>
                  <a:tcPr>
                    <a:solidFill>
                      <a:srgbClr val="1E5B9B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EC2 GPU (p3.2xlarge × 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$12,000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24/7, utilization ~15%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Kubernetes nodes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$4,000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17%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Fixed size, нет autoscaling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S3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$3,500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Весь датасет в Standard tier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Data transfer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$2,000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9%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Cross-region replication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CloudWatch Logging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$1,500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Все логи, 90 дней retention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ИТОГО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$23,000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807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5B9B"/>
                </a:solidFill>
              </a:rPr>
              <a:t>Вопрос к группам: где biggest win?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Архитектура AI-системы (намеренно плохая)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64592" cy="1051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📅 Ежедневный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Pipeline запускается каждый день в 00:00
Данные обновляются раз в неделю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97480"/>
            <a:ext cx="112471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97480"/>
            <a:ext cx="164592" cy="1051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⚡ Realtime 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Все запросы обрабатываются в realtime
95% запросов могут ждать до 1 минуты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112471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164592" cy="1051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💾 S3 без lifecycle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Все данные хранятся в Standard tier
Датасеты за 3 года без архивирования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83480"/>
            <a:ext cx="112471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983480"/>
            <a:ext cx="164592" cy="1051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📈 Нет autoscaling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Kubernetes с фиксированным числом нод
Пик нагрузки — 2 часа в день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807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C0392B"/>
                </a:solidFill>
              </a:rPr>
              <a:t>Это намеренно плохая архитектура — найди все проблемы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Задание для групп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5B9B"/>
                </a:solidFill>
              </a:rPr>
              <a:t>Проанализируйте архитектуру и cloud bill: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594360" cy="777240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67127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103120"/>
            <a:ext cx="106070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139696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</a:rPr>
              <a:t>Найти 3–5 главных источников затрат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505456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Какие сервисы/компоненты создают наибольшие расходы?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594360" cy="777240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81527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017520"/>
            <a:ext cx="106070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054096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</a:rPr>
              <a:t>Определить архитектурные причины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19856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Почему так получилось? Какие решения привели к этому?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594360" cy="777240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995928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931920"/>
            <a:ext cx="106070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3968496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</a:rPr>
              <a:t>Предложить конкретные изменения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34256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Что именно нужно изменить? Какие паттерны применить?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46320"/>
            <a:ext cx="594360" cy="777240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910328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4846320"/>
            <a:ext cx="106070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4882896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</a:rPr>
              <a:t>Оценить потенциальную экономию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248656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На сколько % можно снизить bill для каждого решения?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989320"/>
            <a:ext cx="11247120" cy="640080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0807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⏱  15 минут на анализ → затем разбор в группах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Подсказки (если застряли)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486400" cy="594360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🖥  GPU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GPU используется постоянно?
Какой реальный utilization? Когда запускается training?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0" y="160020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1600200"/>
            <a:ext cx="5486400" cy="594360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6916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⚡ Realtime?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Действительно нужен ответ за миллисекунды?
Какова допустимая задержка с точки зрения бизнеса?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5486400" cy="594360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1148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📦 Batching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70916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Можно ли объединить запросы?
Есть ли периодические паттерны нагрузки?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402336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7960" y="4023360"/>
            <a:ext cx="5486400" cy="594360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1148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❄  Cold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70916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Когда последний раз читались данные 2-летней давности?
Нужен ли мгновенный доступ к архивным данным?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807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5B9B"/>
                </a:solidFill>
              </a:rPr>
              <a:t>Цель: найти решения, дающие в сумме ≥20% экономии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Разбор решений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Оптимизация</a:t>
                      </a:r>
                    </a:p>
                  </a:txBody>
                  <a:tcPr>
                    <a:solidFill>
                      <a:srgbClr val="1E8B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Решение</a:t>
                      </a:r>
                    </a:p>
                  </a:txBody>
                  <a:tcPr>
                    <a:solidFill>
                      <a:srgbClr val="1E8B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До</a:t>
                      </a:r>
                    </a:p>
                  </a:txBody>
                  <a:tcPr>
                    <a:solidFill>
                      <a:srgbClr val="1E8B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После</a:t>
                      </a:r>
                    </a:p>
                  </a:txBody>
                  <a:tcPr>
                    <a:solidFill>
                      <a:srgbClr val="1E8B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Экономия</a:t>
                      </a:r>
                    </a:p>
                  </a:txBody>
                  <a:tcPr>
                    <a:solidFill>
                      <a:srgbClr val="1E8B4C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GPU → Spot + Scheduling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Spot instances + запуск только по расписанию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$12,000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$4,800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до 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Training реже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Еженедельный training вместо ежедневного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Входит в GPU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20–40%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S3 Lifecycle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hot → IA (30д) → Glacier (90д) автоматически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$3,500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до 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Kubernetes Autoscaling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HPA + Cluster Autoscaler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$4,000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$2,800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30%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Logging reduction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Sampling + retention 30 дней + log levels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943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8B4C"/>
                </a:solidFill>
              </a:rPr>
              <a:t>Итого: экономия $12,950 из $23,000 = -56% 🎯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Результат оптимизации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0392B"/>
                </a:solidFill>
              </a:rPr>
              <a:t>Было: $23,000/мес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E8B4C"/>
                </a:solidFill>
              </a:rPr>
              <a:t>Стало: ~$10,000/мес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69164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6225571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74211" y="2743200"/>
            <a:ext cx="1037595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03247" y="2743200"/>
            <a:ext cx="2421055" cy="54864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415742" y="2743200"/>
            <a:ext cx="648497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2743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337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GPU Spot+Sched: $7,200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3383280"/>
            <a:ext cx="27432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0" y="3337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K8s Autoscaling: $1,200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383280"/>
            <a:ext cx="274320" cy="27432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337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S3 Lifecycle: $2,800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3383280"/>
            <a:ext cx="274320" cy="2743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3337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Logging: $750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4023360"/>
            <a:ext cx="8503920" cy="13716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416052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Экономия: ~$13,000/мес = $156,000/год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70916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CFFCC"/>
                </a:solidFill>
              </a:rPr>
              <a:t>При этом функциональность системы не изменилась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8B4C"/>
                </a:solidFill>
              </a:rPr>
              <a:t>Ключевое: все оптимизации — архитектурные решения, а не «урезание»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80A0C0"/>
                </a:solidFill>
              </a:rPr>
              <a:t>Главный вывод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FinOps —
это архитектурная
дисциплина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80A0C0"/>
                </a:solidFill>
              </a:rPr>
              <a:t>не бухгалтерия, не контроль расходов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206240"/>
            <a:ext cx="9144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178807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Стоимость — управляемый параметр системы, как latency или reliability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754879"/>
            <a:ext cx="9144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727447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Каждое решение должно иметь cost-обоснование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303519"/>
            <a:ext cx="9144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276087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Архитектор = cost owner (это ответственность, не наказание)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5D6A7"/>
                </a:solidFill>
              </a:rPr>
              <a:t>Архитектурное правило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Каждое архитектурное решение
должно отвечать на 3 вопроса: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/>
              <a:t>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377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5D6A7"/>
                </a:solidFill>
              </a:rPr>
              <a:t>Сколько это стоит?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834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FFCC"/>
                </a:solidFill>
              </a:rPr>
              <a:t>Конкретные цифры, не «наверное недорого»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520440"/>
            <a:ext cx="1033272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033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/>
              <a:t>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611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5D6A7"/>
                </a:solidFill>
              </a:rPr>
              <a:t>Можно ли дешевле?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0690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FFCC"/>
                </a:solidFill>
              </a:rPr>
              <a:t>Альтернативы всегда существуют — были ли они рассмотрены?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754880"/>
            <a:ext cx="1033272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9377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/>
              <a:t>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5D6A7"/>
                </a:solidFill>
              </a:rPr>
              <a:t>Что будет при росте нагрузки?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5303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FFCC"/>
                </a:solidFill>
              </a:rPr>
              <a:t>Стоимость должна расти линейно, а не экспоненциально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350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A5D6A7"/>
                </a:solidFill>
              </a:rPr>
              <a:t>Если нет ответа на эти вопросы — архитектурное решение не принято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</a:rPr>
              <a:t>Вопросы?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2743200"/>
            <a:ext cx="109728" cy="38404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2724912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DFF"/>
                </a:solidFill>
              </a:rPr>
              <a:t>FinOps = часть архитектурного процесса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246120"/>
            <a:ext cx="109728" cy="38404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3227832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DFF"/>
                </a:solidFill>
              </a:rPr>
              <a:t>Cost = f(Architecture, Load, Efficiency)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3749039"/>
            <a:ext cx="109728" cy="38404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3730752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DFF"/>
                </a:solidFill>
              </a:rPr>
              <a:t>Каждое решение требует cost-обоснования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4251959"/>
            <a:ext cx="109728" cy="38404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4233672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DFF"/>
                </a:solidFill>
              </a:rPr>
              <a:t>Экономия 20–60% достижима без деградации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532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080A0"/>
                </a:solidFill>
              </a:rPr>
              <a:t>OTUS · AI Architect · FinOps: архитектура, управляемая стоимостью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