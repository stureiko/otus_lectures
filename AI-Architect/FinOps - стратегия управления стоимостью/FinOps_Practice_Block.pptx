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7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80B0D8"/>
                </a:solidFill>
              </a:rPr>
              <a:t>ПРАКТИЧЕСКИЙ БЛОК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Анализ Cloud Bill
AI-системы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90C8FF"/>
                </a:solidFill>
              </a:rPr>
              <a:t>Полный разбор: диагностика → причины → решения → расчёт экономии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73152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21607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D8F0"/>
                </a:solidFill>
              </a:rPr>
              <a:t>Входные данные и контекст системы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87952"/>
            <a:ext cx="73152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D8F0"/>
                </a:solidFill>
              </a:rPr>
              <a:t>5 архитектурных проблем — детальный разбор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26864"/>
            <a:ext cx="73152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5994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D8F0"/>
                </a:solidFill>
              </a:rPr>
              <a:t>Конкретные решения с примерами конфигурации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65776"/>
            <a:ext cx="73152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03834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D8F0"/>
                </a:solidFill>
              </a:rPr>
              <a:t>Расчёт экономии по каждому пункту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504688"/>
            <a:ext cx="73152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47725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D8F0"/>
                </a:solidFill>
              </a:rPr>
              <a:t>Итоговый результат и план внедрения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80A0"/>
                </a:solidFill>
              </a:rPr>
              <a:t>⏱  ~45 минут · Работа в группах · Разбор преподавателем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Контекст: что за система?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5A80"/>
                </a:solidFill>
              </a:rPr>
              <a:t>E-commerce рекомендательная система на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486400" cy="4572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Что делает система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</a:rPr>
              <a:t>•  Рекомендует товары пользователям (ML-модель)</a:t>
            </a:r>
          </a:p>
          <a:p>
            <a:pPr algn="l"/>
            <a:r>
              <a:rPr sz="1400">
                <a:solidFill>
                  <a:srgbClr val="1A1A1A"/>
                </a:solidFill>
              </a:rPr>
              <a:t>•  Обучение на данных о покупках и кликах</a:t>
            </a:r>
          </a:p>
          <a:p>
            <a:pPr algn="l"/>
            <a:r>
              <a:rPr sz="1400">
                <a:solidFill>
                  <a:srgbClr val="1A1A1A"/>
                </a:solidFill>
              </a:rPr>
              <a:t>•  Обслуживает 50,000 запросов/день</a:t>
            </a:r>
          </a:p>
          <a:p>
            <a:pPr algn="l"/>
            <a:r>
              <a:rPr sz="1400">
                <a:solidFill>
                  <a:srgbClr val="1A1A1A"/>
                </a:solidFill>
              </a:rPr>
              <a:t>•  Пиковая нагрузка: 09:00–11:00 (×3 от среднего)</a:t>
            </a:r>
          </a:p>
          <a:p>
            <a:pPr algn="l"/>
            <a:r>
              <a:rPr sz="1400">
                <a:solidFill>
                  <a:srgbClr val="1A1A1A"/>
                </a:solidFill>
              </a:rPr>
              <a:t>•  Данные за 3 года: 5 TB исторических логов</a:t>
            </a:r>
          </a:p>
          <a:p>
            <a:pPr algn="l"/>
            <a:r>
              <a:rPr sz="1400">
                <a:solidFill>
                  <a:srgbClr val="1A1A1A"/>
                </a:solidFill>
              </a:rPr>
              <a:t>•  Команда: 3 ML-инженера, 1 DevOps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486400" cy="45720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Бизнес-требования и 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</a:rPr>
              <a:t>•  Latency inference: &lt; 500ms (p99)</a:t>
            </a:r>
          </a:p>
          <a:p>
            <a:pPr algn="l"/>
            <a:r>
              <a:rPr sz="1400">
                <a:solidFill>
                  <a:srgbClr val="1A1A1A"/>
                </a:solidFill>
              </a:rPr>
              <a:t>•  Availability: 99.5% (не 99.99%)</a:t>
            </a:r>
          </a:p>
          <a:p>
            <a:pPr algn="l"/>
            <a:r>
              <a:rPr sz="1400">
                <a:solidFill>
                  <a:srgbClr val="1A1A1A"/>
                </a:solidFill>
              </a:rPr>
              <a:t>•  Модель: обновляется не реже раза в неделю</a:t>
            </a:r>
          </a:p>
          <a:p>
            <a:pPr algn="l"/>
            <a:r>
              <a:rPr sz="1400">
                <a:solidFill>
                  <a:srgbClr val="1A1A1A"/>
                </a:solidFill>
              </a:rPr>
              <a:t>•  Данные старше 6 мес — только для аудита</a:t>
            </a:r>
          </a:p>
          <a:p>
            <a:pPr algn="l"/>
            <a:r>
              <a:rPr sz="1400">
                <a:solidFill>
                  <a:srgbClr val="1A1A1A"/>
                </a:solidFill>
              </a:rPr>
              <a:t>•  Бюджет: хотят снизить, не критично мгновенно</a:t>
            </a:r>
          </a:p>
          <a:p>
            <a:pPr algn="l"/>
            <a:r>
              <a:rPr sz="1400">
                <a:solidFill>
                  <a:srgbClr val="1A1A1A"/>
                </a:solidFill>
              </a:rPr>
              <a:t>•  Downtime inference: до 30 мин/неделю 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347472"/>
          </a:xfrm>
          <a:prstGeom prst="rect">
            <a:avLst/>
          </a:prstGeom>
          <a:solidFill>
            <a:srgbClr val="FD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3825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B0D"/>
                </a:solidFill>
              </a:rPr>
              <a:t>Ключевой вывод: SLA допускает batch inference и еженедельный training — это открывает большие возможности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Cloud Bill: что платим и за что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640312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052"/>
                <a:gridCol w="1940052"/>
                <a:gridCol w="1940052"/>
                <a:gridCol w="1940052"/>
                <a:gridCol w="1940052"/>
                <a:gridCol w="1940052"/>
              </a:tblGrid>
              <a:tr h="36224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Сервис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Тип ресурса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Кол-во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Цена/ед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Итого/мес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Доля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6224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EC2 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p3.2xlarge (1× V100)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4 инстанса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$2.48/час × 24 ×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$7,142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24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EC2 GPU (dev)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p3.2xlarge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1 инстанс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$2.48/час × 24 × 30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$1,786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8%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</a:tr>
              <a:tr h="36224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EC2 Spot (нет)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24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S3 Standard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5 TB × 3 года данных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15 TB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$0.023/GB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$354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1.5%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</a:tr>
              <a:tr h="36224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S3 Standard (копии)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Backup + dev копии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5 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$0.023/GB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24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S3 итого выставлено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включая PUT/GET запросы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$3,500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</a:tr>
              <a:tr h="36224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K8s nodes (EKS)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m5.2xlarge × 8 нод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8 нод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$0.384/час × 24 ×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$2,212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24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K8s nodes (fixed)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r5.xlarge × 4 нод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4 нод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$0.252/час × 24 × 30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$726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</a:tr>
              <a:tr h="36224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K8s overhead (EKS)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Control plane + LB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$1,062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24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Data Transfer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Cross-region replication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~25 TB/мес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$0.08/GB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$2,000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8.7%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</a:tr>
              <a:tr h="36224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CloudWatch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90 дней retention, все сервисы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~500 GB/мес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$0.03/GB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2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Прочее (Route53, NAT)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$900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DF0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172200"/>
            <a:ext cx="11640312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ИТОГО: $23,046/мес  ·  $276,552/год  ·  GPU = 39% расходов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Архитектура «как есть» (AS-IS)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965960" cy="137160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S3
(все данные
hot tier)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D5A80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508760"/>
            <a:ext cx="196596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6002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
Pipeline
(ежедневно)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D5A8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508760"/>
            <a:ext cx="196596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002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Training
(GPU 24/7
ежедневно)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D5A8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1508760"/>
            <a:ext cx="1965960" cy="137160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16002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
Registry
(MLflow)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D5A8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1508760"/>
            <a:ext cx="1965960" cy="1371600"/>
          </a:xfrm>
          <a:prstGeom prst="rect">
            <a:avLst/>
          </a:prstGeom>
          <a:solidFill>
            <a:srgbClr val="6A3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002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Realtime
Inference
(K8s fixed)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17520"/>
            <a:ext cx="1965960" cy="1645920"/>
          </a:xfrm>
          <a:prstGeom prst="rect">
            <a:avLst/>
          </a:prstGeom>
          <a:solidFill>
            <a:srgbClr val="FDED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90672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❌ Нет lifecycle
5 TB в hot tier
Данные за 3 года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3017520"/>
            <a:ext cx="1965960" cy="1645920"/>
          </a:xfrm>
          <a:prstGeom prst="rect">
            <a:avLst/>
          </a:prstGeom>
          <a:solidFill>
            <a:srgbClr val="FDED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3090672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❌ CPU-only
Фиксированный
расклад ежедневно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3017520"/>
            <a:ext cx="1965960" cy="1645920"/>
          </a:xfrm>
          <a:prstGeom prst="rect">
            <a:avLst/>
          </a:prstGeom>
          <a:solidFill>
            <a:srgbClr val="FDED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59" y="3090672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❌ GPU простаивает
80% времени
Ежедневный запуск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3017520"/>
            <a:ext cx="1965960" cy="1645920"/>
          </a:xfrm>
          <a:prstGeom prst="rect">
            <a:avLst/>
          </a:prstGeom>
          <a:solidFill>
            <a:srgbClr val="FDED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3090672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❌ Нет versioning
Все в один S3
копируется 3×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3017520"/>
            <a:ext cx="1965960" cy="1645920"/>
          </a:xfrm>
          <a:prstGeom prst="rect">
            <a:avLst/>
          </a:prstGeom>
          <a:solidFill>
            <a:srgbClr val="FDED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3090672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❌ Fixed 8 нод
Пик 2ч/день
Нет autoscaling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46320"/>
            <a:ext cx="11430000" cy="64008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5604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📊 Monitoring / Logging (CloudWatch): всё логируется, retention 90 дней, нет фильтрации → $1,500/мес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577840"/>
            <a:ext cx="114300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</a:rPr>
              <a:t>GPU utilization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89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~15%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</a:rPr>
              <a:t>K8s node utilization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989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~25%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</a:rPr>
              <a:t>S3 read (данные &gt;6 мес)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5989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~0.1%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</a:rPr>
              <a:t>Training необходимость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5989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7B0D"/>
                </a:solidFill>
              </a:rPr>
              <a:t>1×/неделю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</a:rPr>
              <a:t>Реальный realtime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5989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7B0D"/>
                </a:solidFill>
              </a:rPr>
              <a:t>~5%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Задание: найдите точки оптимизации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E5B9B"/>
                </a:solidFill>
              </a:rPr>
              <a:t>У вас есть 15 минут. Работайте в группах по 3–4 человека.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94360" cy="132588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011680"/>
            <a:ext cx="106070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06654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B9B"/>
                </a:solidFill>
              </a:rPr>
              <a:t>Диагностика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87168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→  Выпишите 3–5 крупнейших источников затрат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79776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→  Посчитайте долю каждого в общем bill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72384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→  Определите — это архитектурная или операционная проблема?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594360" cy="1325880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4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474720"/>
            <a:ext cx="106070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52958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7B0D"/>
                </a:solidFill>
              </a:rPr>
              <a:t>Анализ причин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50208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→  Для каждой проблемы: почему так получилось?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42816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→  Какое архитектурное решение привело к этому?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535424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→  Было ли это сознательное решение или «по умолчанию»?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594360" cy="132588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937760"/>
            <a:ext cx="106070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99262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7A45"/>
                </a:solidFill>
              </a:rPr>
              <a:t>Решения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413248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→  Предложите конкретное архитектурное изменение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705856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→  Оцените сложность внедрения (легко/средне/сложно)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98464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→  Оцените потенциальную экономию в $ и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6480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Цель: найти суммарную экономию ≥20% от $23,000 = минимум $4,600/мес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Подсказки (открыть, если группа застряла)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749039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361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🖥  GPU utilization = 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Сколько часов в сутки реально идёт training?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Что происходит в остальное время?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Можно ли запускать только по расписанию?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Spot instances — что это и когда применимо?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46304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463040"/>
            <a:ext cx="3749039" cy="475488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19" y="15361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📅  Training ежедневно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Данные о покупках — как часто реально меняются паттерны?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68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Есть ли смысл переобучать ежедневно?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803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Что произойдёт, если обучать раз в неделю?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2918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Как бизнес заметит разницу?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46304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1463040"/>
            <a:ext cx="3749039" cy="475488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5361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💾  S3 без lifecycle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57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Когда последний раз читали данные 2-летней давности?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68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Нужен ли мгновенный доступ к архиву?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8803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Какие S3 storage классы существуют?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918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Что такое lifecycle policy?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06908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069080"/>
            <a:ext cx="3749039" cy="475488"/>
          </a:xfrm>
          <a:prstGeom prst="rect">
            <a:avLst/>
          </a:prstGeom>
          <a:solidFill>
            <a:srgbClr val="6A3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41422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K8s без autoscaling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63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График нагрузки: пик 09–11, потом падение в 3–4 раза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749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Сколько нод реально нужно в ночное время?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Что такое HPA и Cluster Autoscaler?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97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Каков trade-off: экономия vs холодный старт?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79" y="406908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79" y="4069080"/>
            <a:ext cx="3749039" cy="475488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19" y="41422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Логирование $1,500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663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Что именно логируется? Все уровни?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0749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Нужны ли DEBUG-логи в production?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486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Через 90 дней логи реально читают?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897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Sampling: нужно ли логировать каждый запрос?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406908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66760" y="4069080"/>
            <a:ext cx="3749039" cy="475488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41422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Логирование $1,500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663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Что именно логируется? Все уровни?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0749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Нужны ли DEBUG-логи в production?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486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Через 90 дней логи реально читают?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89787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→  Sampling: нужно ли логировать каждый запрос?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7A"/>
                </a:solidFill>
              </a:rPr>
              <a:t>Общее правило: если ресурс используется менее 30% — это сигнал к оптимизации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80B0D8"/>
                </a:solidFill>
              </a:rPr>
              <a:t>РАЗБОР РЕШЕНИЙ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5 архитектурных
оптимизаций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51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90C8FF"/>
                </a:solidFill>
              </a:rPr>
              <a:t>с конкретными решениями, конфигурацией и расчётом экономии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29200"/>
            <a:ext cx="2011680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02352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1. GPU Spot + Scheduling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5029200"/>
            <a:ext cx="2011680" cy="731520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5102352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2. Training Frequency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5029200"/>
            <a:ext cx="2011680" cy="73152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5102352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3. S3 Lifecycle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5029200"/>
            <a:ext cx="2011680" cy="731520"/>
          </a:xfrm>
          <a:prstGeom prst="rect">
            <a:avLst/>
          </a:prstGeom>
          <a:solidFill>
            <a:srgbClr val="6A3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5102352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4. K8s Autoscaling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5029200"/>
            <a:ext cx="2011680" cy="73152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5102352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5. Log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11480"/>
            <a:ext cx="777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777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914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GPU: Spot Instances + Job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CCC"/>
                </a:solidFill>
              </a:rPr>
              <a:t>Экономия: $7,200–$8,500/мес · Сложность: средняя · Срок внедрения: 2–3 недели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🔍 Диагностика проблемы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</a:rPr>
              <a:t>•  4× p3.2xlarge работают 24/7 = 2,976 часов/мес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Training занимает ~3–4 часа в сутки = 12.5% времени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Остальные 87.5% — GPU просто ждут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Dev-инстанс работает даже в выходные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Нет механизма авто-выключения после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508760"/>
            <a:ext cx="5943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57276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5"/>
                </a:solidFill>
              </a:rPr>
              <a:t>✅ Решение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011680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</a:rPr>
              <a:t>•  Spot instances вместо On-Demand (экономия 60–70%)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Training запускается по cron → авто-завершение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Dev-инстанс: lifecycle schedule (только рабочие часы)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Fallback: On-Demand при недоступности Spot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Saving Plans для baseline serving нагрузки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7315200" cy="2606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023359"/>
            <a:ext cx="709574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# AWS Batch Job Definition (training)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{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"jobDefinition": "ml-training",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"instanceTypes": ["p3.2xlarge"],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"allocationStrategy": "SPOT_CAPACITY_OPTIMIZED",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"bidPercentage": 60,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"retryStrategy": { "attempts": 3 }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}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# Cron schedule (CloudWatch Events)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cron(0 2 ? * SUN *)   # Воскресенье 02:00 UTC (еженедельно)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# Auto-shutdown после завершения training job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aws ec2 terminate-instances --instance-ids $TRAINING_INSTANCE_ID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3931920"/>
            <a:ext cx="393192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005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5"/>
                </a:solidFill>
              </a:rPr>
              <a:t>💰 Расчёт экономии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38912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On-Demand: $2.48/час × 5 инст = $12.4/час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54296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Spot (~40%): ~$1.0/час × 5 инст = $5/час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919472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Training: 4ч/нед × 4 = 16ч × $5 = $80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184648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Serving spot: $5/час × 24 × 30 = $3,600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449824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Dev schedule: 8ч × 5д × $2.48 = $496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71500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───────────────────────────────────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980176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БЫЛО:  $8,928/мес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245352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СТАЛО: $4,176/мес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6510528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5"/>
                </a:solidFill>
              </a:rPr>
              <a:t>Экономия: $4,752/мес (53%)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11480"/>
            <a:ext cx="777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777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7B0D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914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Training: оптимизация частоты и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0CC"/>
                </a:solidFill>
              </a:rPr>
              <a:t>Экономия: $800–1,500/мес (входит в GPU-бюджет) · Сложность: низкая · Срок: 1 неделя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7B0D"/>
                </a:solidFill>
              </a:rPr>
              <a:t>🔍 Анализ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</a:rPr>
              <a:t>•  Training ежедневно в 00:00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Данные: покупки + клики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Паттерны поведения меняются медленно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Нет A/B теста между моделями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Метрики качества не отслеживаются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Ежедневный training = 7× GPU-часов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vs еженедельный = 1× GPU-часов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508760"/>
            <a:ext cx="3657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5727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5"/>
                </a:solidFill>
              </a:rPr>
              <a:t>✅ Решение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1168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</a:rPr>
              <a:t>•  Еженедельный training (воскр. ночью)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Мониторинг data drift (Evidently AI)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Trigger на переобучение при drift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A/B testing: старая vs новая модель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Champion-Challenger deployment</a:t>
            </a:r>
          </a:p>
          <a:p>
            <a:pPr algn="l"/>
            <a:r>
              <a:rPr sz="1200">
                <a:solidFill>
                  <a:srgbClr val="1A1A1A"/>
                </a:solidFill>
              </a:rPr>
              <a:t>•  Online learning для быстрых сигналов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508760"/>
            <a:ext cx="39319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5727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B9B"/>
                </a:solidFill>
              </a:rPr>
              <a:t>📐 Архитектура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011680"/>
            <a:ext cx="3749039" cy="3977639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7" y="2103120"/>
            <a:ext cx="3529583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# MLflow + Airflow DAG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@dag(schedule="0 2 * * 0")  # Каждое воскресенье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def weekly_training_pipeline():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check_drift = DataDriftSensor(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  threshold=0.15,  # Если drift &gt; 15%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  trigger_immediate=True  # → внеплановый run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)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train = TrainingOperator(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  instance_type="p3.2xlarge",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  use_spot=True,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  max_runtime=14400  # 4 часа max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)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evaluate = ModelEvaluationOperator(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  min_auc=0.82,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  compare_to_champion=True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)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deploy_if_better &gt;&gt; champion_challenger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solidFill>
            <a:srgbClr val="FD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291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7B0D"/>
                </a:solidFill>
              </a:rPr>
              <a:t>Результат: экономия вычислений в 6–7× + лучший контроль качества модели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11480"/>
            <a:ext cx="777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777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5B9B"/>
                </a:solidFill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914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S3: Lifecycle Policy — горячее/холодное хранение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DFF"/>
                </a:solidFill>
              </a:rPr>
              <a:t>Экономия: $2,450–$2,800/мес · Сложность: низкая · Срок: 2–3 дня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2697480" cy="3108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S3 Standard
(HOT)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Активные данные
≤ 30 дней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2697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</a:rPr>
              <a:t>$0.023/GB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</a:rPr>
              <a:t>$354/мес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D5A8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1508760"/>
            <a:ext cx="2697480" cy="3108960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6002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S3 Infrequent
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33172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Данные 30–90 дней
Редкий доступ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108960"/>
            <a:ext cx="2697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1546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7B0D"/>
                </a:solidFill>
              </a:rPr>
              <a:t>$0.0125/GB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5661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7B0D"/>
                </a:solidFill>
              </a:rPr>
              <a:t>$94/мес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D5A8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508760"/>
            <a:ext cx="2697480" cy="31089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6002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S3 Glacier
Instant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33172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Данные 90–365 дней
Доступ за сек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108960"/>
            <a:ext cx="2697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1546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5B9B"/>
                </a:solidFill>
              </a:rPr>
              <a:t>$0.004/GB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5661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5B9B"/>
                </a:solidFill>
              </a:rPr>
              <a:t>$30/мес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D5A8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1508760"/>
            <a:ext cx="2697480" cy="310896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40" y="16002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S3 Glacier
Deep Archive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33172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Данные &gt; 1 года
Только аудит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3108960"/>
            <a:ext cx="2697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31546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A7A"/>
                </a:solidFill>
              </a:rPr>
              <a:t>$0.00099/GB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35661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7A"/>
                </a:solidFill>
              </a:rPr>
              <a:t>$7/мес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8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D5A80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754880"/>
            <a:ext cx="6858000" cy="1874519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846320"/>
            <a:ext cx="663854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# S3 Lifecycle Configuration (JSON)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{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"Rules": [{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"ID": "ml-data-tiering",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"Filter": { "Prefix": "datasets/" },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"Status": "Enabled",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"Transitions": [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{ "Days": 30,  "StorageClass": "STANDARD_IA" },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{ "Days": 90,  "StorageClass": "GLACIER_IR" },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{ "Days": 365, "StorageClass": "DEEP_ARCHIVE" }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],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"NoncurrentVersionExpiration": { "NoncurrentDays": 30 },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"AbortIncompleteMultipartUpload": { "DaysAfterInitiation": 7 }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}]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4754880"/>
            <a:ext cx="44348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482803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45"/>
                </a:solidFill>
              </a:rPr>
              <a:t>💰 Расчёт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5166360"/>
            <a:ext cx="4160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Текущее: 15 TB все в Standard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422392"/>
            <a:ext cx="4160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→ $0.023 × 15,360 GB = $353/мес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678424"/>
            <a:ext cx="4160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После lifecycle: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934456"/>
            <a:ext cx="4160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Hot (30д):    0.5 TB × $0.023 = $12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6190488"/>
            <a:ext cx="4160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IA (30–90д):  1.0 TB × $0.013 = $13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6446520"/>
            <a:ext cx="4160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Glacier:      3.5 TB × $0.004 = $14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6702552"/>
            <a:ext cx="4160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Deep Archive: 10 TB × $0.001 = $10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6958584"/>
            <a:ext cx="4160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S3 requests + реплика: ~$15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7214616"/>
            <a:ext cx="4160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──────────────────────────────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7470648"/>
            <a:ext cx="4160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БЫЛО:  $3,500/мес (вкл копии)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7726680"/>
            <a:ext cx="4160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СТАЛО: ~$750/мес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7982712"/>
            <a:ext cx="4160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5"/>
                </a:solidFill>
              </a:rPr>
              <a:t>Экономия: $2,750/мес (79%)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6A3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A3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11480"/>
            <a:ext cx="777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777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A3B9E"/>
                </a:solidFill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914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Kubernetes: Horizontal + Cluster Autoscaling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D8FF"/>
                </a:solidFill>
              </a:rPr>
              <a:t>Экономия: $1,500–$2,000/мес · Сложность: средняя · Срок: 1–2 недели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0292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3B9E"/>
                </a:solidFill>
              </a:rPr>
              <a:t>📊 Профиль нагрузки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00:00–06:00  ▂▂▂▂  ~5k req/h   → 1–2 ноды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06:00–09:00  ▄▄▄▄  ~15k req/h  → 3–4 ноды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523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09:00–11:00  ████  ~50k req/h  → 8 нод (пик)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9981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11:00–18:00  ▅▅▅▅  ~20k req/h  → 4–5 нод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4728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18:00–21:00  ▆▆▆▆  ~30k req/h  → 5–6 нод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9475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21:00–24:00  ▃▃▃▃  ~8k req/h   → 2–3 ноды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06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Сейчас: 8 нод постоянно = переплата ~70% времени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1508760"/>
            <a:ext cx="4572000" cy="457200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3288" y="1600200"/>
            <a:ext cx="43525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# HorizontalPodAutoscaler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apiVersion: autoscaling/v2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kind: HPA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metadata: { name: inference-hpa }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spec: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scaleTargetRef: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kind: Deployment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name: ml-inference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minReplicas: 2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maxReplicas: 20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metrics: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- type: Resource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resource: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name: cpu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target: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  averageUtilization: 60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- type: Pods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pods: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metric: { name: requests_per_second }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target: { averageValue: "100" }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behavior: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scaleDown: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  stabilizationWindowSeconds: 300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0" y="1508760"/>
            <a:ext cx="15544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1600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/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21031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</a:rPr>
              <a:t>БЫЛО
$4,000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2971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4290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7A45"/>
                </a:solidFill>
              </a:rPr>
              <a:t>СТАЛО
~$2,200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343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A3B9E"/>
                </a:solidFill>
              </a:rPr>
              <a:t>-45%
$1,800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309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3B9E"/>
                </a:solidFill>
              </a:rPr>
              <a:t>Дополнительно: Spot node groups для non-critical workloads даёт ещё +30–40% экономии на нодах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11480"/>
            <a:ext cx="777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777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7A"/>
                </a:solidFill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914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Логирование: сокращение объёма и стоимости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FFFF"/>
                </a:solidFill>
              </a:rPr>
              <a:t>Экономия: $900–$1,200/мес · Сложность: низкая · Срок: 3–5 дней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❌ Что логируется сейчас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0392B"/>
                </a:solidFill>
              </a:rPr>
              <a:t>•  DEBUG логи всех сервисов (90% объёма!)</a:t>
            </a:r>
          </a:p>
          <a:p>
            <a:pPr algn="l"/>
            <a:r>
              <a:rPr sz="1200">
                <a:solidFill>
                  <a:srgbClr val="C0392B"/>
                </a:solidFill>
              </a:rPr>
              <a:t>•  Каждый ML inference запрос (~50k/день)</a:t>
            </a:r>
          </a:p>
          <a:p>
            <a:pPr algn="l"/>
            <a:r>
              <a:rPr sz="1200">
                <a:solidFill>
                  <a:srgbClr val="C0392B"/>
                </a:solidFill>
              </a:rPr>
              <a:t>•  K8s events (все уровни)</a:t>
            </a:r>
          </a:p>
          <a:p>
            <a:pPr algn="l"/>
            <a:r>
              <a:rPr sz="1200">
                <a:solidFill>
                  <a:srgbClr val="C0392B"/>
                </a:solidFill>
              </a:rPr>
              <a:t>•  S3 access logs (каждый GET/PUT)</a:t>
            </a:r>
          </a:p>
          <a:p>
            <a:pPr algn="l"/>
            <a:r>
              <a:rPr sz="1200">
                <a:solidFill>
                  <a:srgbClr val="C0392B"/>
                </a:solidFill>
              </a:rPr>
              <a:t>•  Retention: 90 дней для всего</a:t>
            </a:r>
          </a:p>
          <a:p>
            <a:pPr algn="l"/>
            <a:r>
              <a:rPr sz="1200">
                <a:solidFill>
                  <a:srgbClr val="C0392B"/>
                </a:solidFill>
              </a:rPr>
              <a:t>•  Нет sampling для однотипных событий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50876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5727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5"/>
                </a:solidFill>
              </a:rPr>
              <a:t>✅ Как должно быть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01168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7A45"/>
                </a:solidFill>
              </a:rPr>
              <a:t>•  Production: только INFO + ERROR + WARN</a:t>
            </a:r>
          </a:p>
          <a:p>
            <a:pPr algn="l"/>
            <a:r>
              <a:rPr sz="1200">
                <a:solidFill>
                  <a:srgbClr val="1A7A45"/>
                </a:solidFill>
              </a:rPr>
              <a:t>•  Inference: 1% sampling + все ошибки</a:t>
            </a:r>
          </a:p>
          <a:p>
            <a:pPr algn="l"/>
            <a:r>
              <a:rPr sz="1200">
                <a:solidFill>
                  <a:srgbClr val="1A7A45"/>
                </a:solidFill>
              </a:rPr>
              <a:t>•  K8s: WARNING и выше только</a:t>
            </a:r>
          </a:p>
          <a:p>
            <a:pPr algn="l"/>
            <a:r>
              <a:rPr sz="1200">
                <a:solidFill>
                  <a:srgbClr val="1A7A45"/>
                </a:solidFill>
              </a:rPr>
              <a:t>•  S3: только error events</a:t>
            </a:r>
          </a:p>
          <a:p>
            <a:pPr algn="l"/>
            <a:r>
              <a:rPr sz="1200">
                <a:solidFill>
                  <a:srgbClr val="1A7A45"/>
                </a:solidFill>
              </a:rPr>
              <a:t>•  Retention: 30 дней стандарт, 90 — errors</a:t>
            </a:r>
          </a:p>
          <a:p>
            <a:pPr algn="l"/>
            <a:r>
              <a:rPr sz="1200">
                <a:solidFill>
                  <a:srgbClr val="1A7A45"/>
                </a:solidFill>
              </a:rPr>
              <a:t>•  Structured logging → меньше данных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7132320" cy="2697480"/>
          </a:xfrm>
          <a:prstGeom prst="rect">
            <a:avLst/>
          </a:prstGeom>
          <a:solidFill>
            <a:srgbClr val="0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977639"/>
            <a:ext cx="69128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# CloudWatch Log Group settings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aws logs put-retention-policy \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--log-group-name /ml/inference \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--retention-in-days 30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# Fluentd sampling config (1% inference logs)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&lt;filter ml.inference&gt;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@type sampling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sample_unit minute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sample_threshold 1  # 1 из 100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sample_rate 0.01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&lt;/filter&gt;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# Python logging level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import logging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logging.getLogger("ml_service").setLevel(logging.WARNING)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logging.getLogger("inference").setLevel(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    logging.DEBUG if os.getenv("ENV") == "dev" else logging.INFO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3886200"/>
            <a:ext cx="416052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9593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45"/>
                </a:solidFill>
              </a:rPr>
              <a:t>💰 Расчёт экономии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31596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Было: 500 GB/мес × $0.03 = $1,500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67258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После оптимизации: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91947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Уровни INFO→WARN: -70% объём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16636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Sampling 1%: -50%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1324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Retention 30д: -67% хранение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6986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Итого объём: ~80 GB/мес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601675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80 GB × $0.03 = $240/мес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626364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─────────────────────────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6510527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БЫЛО:  $1,500/мес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6757415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СТАЛО: $240/мес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7004303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5"/>
                </a:solidFill>
              </a:rPr>
              <a:t>Экономия: $1,260/мес (84%)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91440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144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45"/>
                </a:solidFill>
              </a:rPr>
              <a:t>BONUS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 Transfer: устранение cross-region репликации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DFF"/>
                </a:solidFill>
              </a:rPr>
              <a:t>Экономия: $1,500–$1,800/мес · Сложность: средняя · Срок: 1 неделя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3035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🔍 Проблема: зачем cross-region?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ML данные реплицируются в 3 региона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408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Исторически: DR требования из 2022 года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70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Реальность: DR тест не проводился ни разу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992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Inference сервис читает данные только из us-east-1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2841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Dev-окружение в eu-west-1 — читает из us-east-1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575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25 TB данных × $0.02–0.08/GB = $2,000+/мес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239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B0D"/>
                </a:solidFill>
              </a:rPr>
              <a:t>Решение: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531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5"/>
                </a:solidFill>
              </a:rPr>
              <a:t>→ Dev-окружение перенести в us-east-1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82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5"/>
                </a:solidFill>
              </a:rPr>
              <a:t>→ S3 Replication только для backup (Deep Archive)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11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5"/>
                </a:solidFill>
              </a:rPr>
              <a:t>→ Использовать S3 Transfer Acceleration только при необходимости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5"/>
                </a:solidFill>
              </a:rPr>
              <a:t>→ Пересмотреть DR стратегию с бизнесом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508760"/>
            <a:ext cx="59436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5727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5A80"/>
                </a:solidFill>
              </a:rPr>
              <a:t>💸 Стоимость трафика AWS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943600" y="2011680"/>
          <a:ext cx="5943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Тип трафика</a:t>
                      </a:r>
                    </a:p>
                  </a:txBody>
                  <a:tcPr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Цена/GB</a:t>
                      </a:r>
                    </a:p>
                  </a:txBody>
                  <a:tcPr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Объём</a:t>
                      </a:r>
                    </a:p>
                  </a:txBody>
                  <a:tcPr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Стоимость</a:t>
                      </a:r>
                    </a:p>
                  </a:txBody>
                  <a:tcPr>
                    <a:solidFill>
                      <a:srgbClr val="3D5A8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Cross-region (us→eu)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$0.02/GB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25 TB/мес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Cross-region (us→ap)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$0.08/GB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10 TB/мес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$800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Egress (→ internet)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$0.09/GB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~5 TB/мес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Cross-AZ (в регионе)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$0.01/GB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~10 TB/мес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$100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Intra-AZ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БЕСПЛАТНО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943600" y="4526280"/>
            <a:ext cx="5943600" cy="6858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6177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45"/>
                </a:solidFill>
              </a:rPr>
              <a:t>После оптимизации: только intra-AZ + минимальный egress = ~$200/мес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59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5A80"/>
                </a:solidFill>
              </a:rPr>
              <a:t>📐 Принцип data locality: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943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</a:rPr>
              <a:t>Данные должны находиться там, где их обрабатывают.
Перемещение данных между регионами и AZ — это всегда дорого и медленно.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Итоговый расчёт: было → стало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1164030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901"/>
                <a:gridCol w="1662901"/>
                <a:gridCol w="1662901"/>
                <a:gridCol w="1662901"/>
                <a:gridCol w="1662901"/>
                <a:gridCol w="1662901"/>
                <a:gridCol w="1662901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A7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Оптимизация</a:t>
                      </a:r>
                    </a:p>
                  </a:txBody>
                  <a:tcPr>
                    <a:solidFill>
                      <a:srgbClr val="1A7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Было, $/мес</a:t>
                      </a:r>
                    </a:p>
                  </a:txBody>
                  <a:tcPr>
                    <a:solidFill>
                      <a:srgbClr val="1A7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Стало, $/мес</a:t>
                      </a:r>
                    </a:p>
                  </a:txBody>
                  <a:tcPr>
                    <a:solidFill>
                      <a:srgbClr val="1A7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Экономия, $</a:t>
                      </a:r>
                    </a:p>
                  </a:txBody>
                  <a:tcPr>
                    <a:solidFill>
                      <a:srgbClr val="1A7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Экономия, %</a:t>
                      </a:r>
                    </a:p>
                  </a:txBody>
                  <a:tcPr>
                    <a:solidFill>
                      <a:srgbClr val="1A7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Сложность</a:t>
                      </a:r>
                    </a:p>
                  </a:txBody>
                  <a:tcPr>
                    <a:solidFill>
                      <a:srgbClr val="1A7A4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GPU: Spot + Scheduling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$8,928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$4,176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$4,752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Training: еженедельно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входит в GPU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входит в GPU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~$800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⭐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S3 Lifecycle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$2,750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K8s Autoscaling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$4,000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$2,200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$1,800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45%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⭐⭐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Log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$1,260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Data Transfer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$2,000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$200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$1,800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⭐⭐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Прочее (без изменений)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$3,118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$3,118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ИТОГО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$23,046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$10,684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$12,362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54%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943600"/>
            <a:ext cx="5303520" cy="77724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533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</a:rPr>
              <a:t>БЫЛО: $23,046/мес  ($276,552/год)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60350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5943600"/>
            <a:ext cx="5303520" cy="7772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60533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7A45"/>
                </a:solidFill>
              </a:rPr>
              <a:t>СТАЛО: $10,684/мес  ($128,208/год)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Визуализация: структура расходов до и после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</a:rPr>
              <a:t>ДО оптимизации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3209544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97096" y="20391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GPU (EC2): 39%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78024"/>
            <a:ext cx="1399032" cy="438912"/>
          </a:xfrm>
          <a:prstGeom prst="rect">
            <a:avLst/>
          </a:prstGeom>
          <a:solidFill>
            <a:srgbClr val="6A3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6584" y="25511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Kubernetes: 17%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90088"/>
            <a:ext cx="1234439" cy="438912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1991" y="3063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S3 Storage: 15%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02152"/>
            <a:ext cx="740664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28216" y="35753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Data Transfer: 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014216"/>
            <a:ext cx="493776" cy="43891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40873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Logging: 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526280"/>
            <a:ext cx="1152144" cy="438912"/>
          </a:xfrm>
          <a:prstGeom prst="rect">
            <a:avLst/>
          </a:prstGeom>
          <a:solidFill>
            <a:srgbClr val="55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9696" y="45994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Прочее: 14%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7A45"/>
                </a:solidFill>
              </a:rPr>
              <a:t>ПОСЛЕ оптимизации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965960"/>
            <a:ext cx="3209544" cy="438912"/>
          </a:xfrm>
          <a:prstGeom prst="rect">
            <a:avLst/>
          </a:prstGeom>
          <a:solidFill>
            <a:srgbClr val="FF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0696" y="20391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GPU (Spot): 39%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478024"/>
            <a:ext cx="1728216" cy="438912"/>
          </a:xfrm>
          <a:prstGeom prst="rect">
            <a:avLst/>
          </a:prstGeom>
          <a:solidFill>
            <a:srgbClr val="CC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9368" y="25511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Kubernetes: 21%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990088"/>
            <a:ext cx="576072" cy="438912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7224" y="3063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S3 Storage: 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502152"/>
            <a:ext cx="164592" cy="43891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5744" y="35753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Data Transfer: 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4014216"/>
            <a:ext cx="164592" cy="438912"/>
          </a:xfrm>
          <a:prstGeom prst="rect">
            <a:avLst/>
          </a:prstGeom>
          <a:solidFill>
            <a:srgbClr val="AA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5744" y="40873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Logging: 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4526280"/>
            <a:ext cx="2386584" cy="4389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45994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Прочее: 29%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2286000"/>
            <a:ext cx="3931920" cy="2286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2468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0B0D8"/>
                </a:solidFill>
              </a:rPr>
              <a:t>Экономия
за год: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1546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9C12"/>
                </a:solidFill>
              </a:rPr>
              <a:t>$148,344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97763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45"/>
                </a:solidFill>
              </a:rPr>
              <a:t>54% savings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212080"/>
            <a:ext cx="1164031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285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Важно: функциональность системы не изменилась.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509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0"/>
                </a:solidFill>
              </a:rPr>
              <a:t>Все пользователи получают рекомендации с той же точностью и скоростью.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Приоритизация: план внедрения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9436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7B0D"/>
                </a:solidFill>
              </a:rPr>
              <a:t>Матрица: Экономия vs Сложность внедрения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2834640" cy="21031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5"/>
                </a:solidFill>
              </a:rPr>
              <a:t>СНАЧАЛА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7A45"/>
                </a:solidFill>
              </a:rPr>
              <a:t>Низкие усилия
Высокий эффект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7A45"/>
                </a:solidFill>
              </a:rPr>
              <a:t>✓  S3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1012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7A45"/>
                </a:solidFill>
              </a:rPr>
              <a:t>✓  Log Retention 30д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0273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7A45"/>
                </a:solidFill>
              </a:rPr>
              <a:t>✓  Log Levels (INFO)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057400"/>
            <a:ext cx="2834640" cy="21031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B9B"/>
                </a:solidFill>
              </a:rPr>
              <a:t>ПЛАНИРОВАТЬ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505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5B9B"/>
                </a:solidFill>
              </a:rPr>
              <a:t>Средние усилия
Высокий эффект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0175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5B9B"/>
                </a:solidFill>
              </a:rPr>
              <a:t>→  GPU Spot Instances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31012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5B9B"/>
                </a:solidFill>
              </a:rPr>
              <a:t>→  K8s Autoscaling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60273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5B9B"/>
                </a:solidFill>
              </a:rPr>
              <a:t>→  Training Schedule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2834640" cy="1371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570"/>
                </a:solidFill>
              </a:rPr>
              <a:t>ПОПУТНО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63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</a:rPr>
              <a:t>Log Sampling 1%
S3 Request Opt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4206240"/>
            <a:ext cx="2834640" cy="137160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42519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B0D"/>
                </a:solidFill>
              </a:rPr>
              <a:t>ПОТОМ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663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7B0D"/>
                </a:solidFill>
              </a:rPr>
              <a:t>Data Transfer
Dev→us-east-1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0"/>
                </a:solidFill>
              </a:rPr>
              <a:t>← Малый эффект          Большой эффект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508760"/>
            <a:ext cx="530352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1572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7B0D"/>
                </a:solidFill>
              </a:rPr>
              <a:t>📅 Timeline внедрения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2057400"/>
            <a:ext cx="1417320" cy="1627632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1031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Неделя 1–2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1488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S3 Lifecycle Policy (1 день)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45973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Log retention → 30 дней (1 день)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7706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Log levels → INFO (3 дня)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08152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5"/>
                </a:solidFill>
              </a:rPr>
              <a:t>Ожидаемая экономия: +$4,010/мес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3803904"/>
            <a:ext cx="1417320" cy="1627632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84962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Неделя 3–4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8953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GPU Spot instances (5 дней)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2062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Training cron schedule (2 дня)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51713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K8s HPA настройка (3 дня)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828031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5"/>
                </a:solidFill>
              </a:rPr>
              <a:t>Ожидаемая экономия: +$5,750/мес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5550408"/>
            <a:ext cx="1417320" cy="1627632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55961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Месяц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64184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Cluster Autoscaler (5 дней)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9527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Data Transfer оптимизация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62636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Log sampling (2 дня)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657453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5"/>
                </a:solidFill>
              </a:rPr>
              <a:t>Ожидаемая экономия: +$2,600/мес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Архитектура «как должно быть» (TO-BE)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1965960" cy="128016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73352"/>
            <a:ext cx="1965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S3 Tiered
(lifecycle
policy)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0574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A45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600200"/>
            <a:ext cx="1965960" cy="128016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673352"/>
            <a:ext cx="1965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
Pipeline
(по расписанию)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A45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600200"/>
            <a:ext cx="1965960" cy="12801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73352"/>
            <a:ext cx="1965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Training
(Spot GPU
1×/неделю)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0574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A45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1600200"/>
            <a:ext cx="1965960" cy="128016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1673352"/>
            <a:ext cx="1965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
Registry
(A/B testing)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574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A4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1600200"/>
            <a:ext cx="1965960" cy="1280160"/>
          </a:xfrm>
          <a:prstGeom prst="rect">
            <a:avLst/>
          </a:prstGeom>
          <a:solidFill>
            <a:srgbClr val="6A3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73352"/>
            <a:ext cx="1965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Batch/RT
Inference
(K8s autoscale)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17520"/>
            <a:ext cx="1965960" cy="1554480"/>
          </a:xfrm>
          <a:prstGeom prst="rect">
            <a:avLst/>
          </a:prstGeom>
          <a:solidFill>
            <a:srgbClr val="D5F5E3"/>
          </a:solidFill>
          <a:ln w="12700">
            <a:solidFill>
              <a:srgbClr val="1A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90672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7A45"/>
                </a:solidFill>
              </a:rPr>
              <a:t>✅ Lifecycle:
hot→IA→Glacier
автоматически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3017520"/>
            <a:ext cx="1965960" cy="1554480"/>
          </a:xfrm>
          <a:prstGeom prst="rect">
            <a:avLst/>
          </a:prstGeom>
          <a:solidFill>
            <a:srgbClr val="D5F5E3"/>
          </a:solidFill>
          <a:ln w="12700">
            <a:solidFill>
              <a:srgbClr val="1A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3090672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7A45"/>
                </a:solidFill>
              </a:rPr>
              <a:t>✅ Запуск
по расписанию
+ data drift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3017520"/>
            <a:ext cx="1965960" cy="1554480"/>
          </a:xfrm>
          <a:prstGeom prst="rect">
            <a:avLst/>
          </a:prstGeom>
          <a:solidFill>
            <a:srgbClr val="D5F5E3"/>
          </a:solidFill>
          <a:ln w="12700">
            <a:solidFill>
              <a:srgbClr val="1A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59" y="3090672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7A45"/>
                </a:solidFill>
              </a:rPr>
              <a:t>✅ Spot GPU
1×/неделю
+ авто-выкл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3017520"/>
            <a:ext cx="1965960" cy="1554480"/>
          </a:xfrm>
          <a:prstGeom prst="rect">
            <a:avLst/>
          </a:prstGeom>
          <a:solidFill>
            <a:srgbClr val="D5F5E3"/>
          </a:solidFill>
          <a:ln w="12700">
            <a:solidFill>
              <a:srgbClr val="1A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3090672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7A45"/>
                </a:solidFill>
              </a:rPr>
              <a:t>✅ Champion-
Challenger
A/B deploy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3017520"/>
            <a:ext cx="1965960" cy="1554480"/>
          </a:xfrm>
          <a:prstGeom prst="rect">
            <a:avLst/>
          </a:prstGeom>
          <a:solidFill>
            <a:srgbClr val="D5F5E3"/>
          </a:solidFill>
          <a:ln w="12700">
            <a:solidFill>
              <a:srgbClr val="1A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3090672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7A45"/>
                </a:solidFill>
              </a:rPr>
              <a:t>✅ HPA + CAS
Spot node groups
Автомасштаб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54880"/>
            <a:ext cx="11430000" cy="64008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45"/>
                </a:solidFill>
              </a:rPr>
              <a:t>📊 Monitoring / Logging: structured logs · sampling 1% · INFO/WARN/ERROR · retention 30 дней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532120"/>
            <a:ext cx="11430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577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</a:rPr>
              <a:t>GPU utilization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618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5"/>
                </a:solidFill>
              </a:rPr>
              <a:t>~80%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577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</a:rPr>
              <a:t>K8s node util.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9618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5"/>
                </a:solidFill>
              </a:rPr>
              <a:t>~65%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577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</a:rPr>
              <a:t>S3 avg tier 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59618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5"/>
                </a:solidFill>
              </a:rPr>
              <a:t>-79%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577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</a:rPr>
              <a:t>Training cadence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59618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5B9B"/>
                </a:solidFill>
              </a:rPr>
              <a:t>1×/неделю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5577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</a:rPr>
              <a:t>Inference mode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59618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A7A"/>
                </a:solidFill>
              </a:rPr>
              <a:t>Batch+RT mix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Чеклист внедрения FinOps-практик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30000" cy="384048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636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Быстрые победы (неделя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92807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92807"/>
            <a:ext cx="73152" cy="36576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38527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☐  S3 Lifecycle Policy — настроить правила hot→IA→Glacier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9476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7A45"/>
                </a:solidFill>
              </a:rPr>
              <a:t>1 день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58568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58568"/>
            <a:ext cx="73152" cy="36576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04287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☐  CloudWatch retention: установить 30 дней для всех лог-групп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313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7A45"/>
                </a:solidFill>
              </a:rPr>
              <a:t>2 часа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24327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24327"/>
            <a:ext cx="73152" cy="36576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70047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☐  Log levels: убрать DEBUG из production конфигов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67919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7A45"/>
                </a:solidFill>
              </a:rPr>
              <a:t>1 день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90087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990087"/>
            <a:ext cx="73152" cy="36576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35807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☐  Теги на все ресурсы: project/env/team/cost-center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04495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7A45"/>
                </a:solidFill>
              </a:rPr>
              <a:t>1–2 дня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65575"/>
            <a:ext cx="11430000" cy="384048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5204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Среднесрочные (неделя 2–4)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49624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849624"/>
            <a:ext cx="73152" cy="3657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95344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☐  GPU: настроить Spot instance + bid strategy в AWS Batch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904487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5B9B"/>
                </a:solidFill>
              </a:rPr>
              <a:t>3–5 дней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15384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215384"/>
            <a:ext cx="73152" cy="3657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261104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☐  Training cron: перевести на еженедельный schedule + drift 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2702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5B9B"/>
                </a:solidFill>
              </a:rPr>
              <a:t>3 дня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581144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581144"/>
            <a:ext cx="73152" cy="3657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626864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☐  K8s HPA: настроить по CPU и RPS метрикам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6360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5B9B"/>
                </a:solidFill>
              </a:rPr>
              <a:t>2–3 дня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946904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946904"/>
            <a:ext cx="73152" cy="365760"/>
          </a:xfrm>
          <a:prstGeom prst="rect">
            <a:avLst/>
          </a:prstGeom>
          <a:solidFill>
            <a:srgbClr val="1E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992624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☐  Cluster Autoscaler: добавить Spot node group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001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5B9B"/>
                </a:solidFill>
              </a:rPr>
              <a:t>3–5 дней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422392"/>
            <a:ext cx="11430000" cy="384048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47725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Долгосрочные (месяц 2–3)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806440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5806440"/>
            <a:ext cx="73152" cy="365760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85216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☐  Data Transfer: перенести dev окружение в us-east-1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58613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47B0D"/>
                </a:solidFill>
              </a:rPr>
              <a:t>1 неделя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6172200"/>
            <a:ext cx="73152" cy="365760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21792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☐  Log sampling: настроить 1% sampling для inference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62270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47B0D"/>
                </a:solidFill>
              </a:rPr>
              <a:t>2–3 дня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6537960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6537960"/>
            <a:ext cx="73152" cy="365760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58368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☐  MLflow: добавить cost tracking per experiment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6592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47B0D"/>
                </a:solidFill>
              </a:rPr>
              <a:t>1 неделя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6903720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" y="6903720"/>
            <a:ext cx="73152" cy="365760"/>
          </a:xfrm>
          <a:prstGeom prst="rect">
            <a:avLst/>
          </a:prstGeom>
          <a:solidFill>
            <a:srgbClr val="D47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94944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☐  Budget alerts: настроить оповещения при отклонении &gt;10%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6958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47B0D"/>
                </a:solidFill>
              </a:rPr>
              <a:t>1 день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0B0D8"/>
                </a:solidFill>
              </a:rPr>
              <a:t>Выводы практической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Что мы сделали: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Метрика</a:t>
                      </a:r>
                    </a:p>
                  </a:txBody>
                  <a:tcPr>
                    <a:solidFill>
                      <a:srgbClr val="1E5B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До</a:t>
                      </a:r>
                    </a:p>
                  </a:txBody>
                  <a:tcPr>
                    <a:solidFill>
                      <a:srgbClr val="1E5B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После</a:t>
                      </a:r>
                    </a:p>
                  </a:txBody>
                  <a:tcPr>
                    <a:solidFill>
                      <a:srgbClr val="1E5B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Изменение</a:t>
                      </a:r>
                    </a:p>
                  </a:txBody>
                  <a:tcPr>
                    <a:solidFill>
                      <a:srgbClr val="1E5B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Что это значит</a:t>
                      </a:r>
                    </a:p>
                  </a:txBody>
                  <a:tcPr>
                    <a:solidFill>
                      <a:srgbClr val="1E5B9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Снизили cloud bill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$23,046/мес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$10,684/мес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Улучшили эффективность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15% GPU util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80% GPU util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×5.3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Сократили хранение логов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90д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30д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-67%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Оптимизировали training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Ежедневно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1×/неделю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7×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97763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</a:rPr>
              <a:t>Главный инсайт: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80560"/>
            <a:ext cx="109728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453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Экономия получена без ухудшения качества сервиса для пользователей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56048"/>
            <a:ext cx="109728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9286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Каждая проблема имела архитектурную причину, а не «плохой DevOps»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31536"/>
            <a:ext cx="109728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40410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Самые дорогие решения были приняты «по умолчанию» — без анализа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07023"/>
            <a:ext cx="109728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1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FinOps = сделать стоимость явным параметром архитектурных решений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39C12"/>
                </a:solidFill>
              </a:rPr>
              <a:t>FinOps — это не про экономию.  Это про управляемость системы через стоимость.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