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media/image72.jpg" ContentType="image/jpg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678" r:id="rId2"/>
  </p:sldMasterIdLst>
  <p:notesMasterIdLst>
    <p:notesMasterId r:id="rId60"/>
  </p:notesMasterIdLst>
  <p:sldIdLst>
    <p:sldId id="256" r:id="rId3"/>
    <p:sldId id="257" r:id="rId4"/>
    <p:sldId id="334" r:id="rId5"/>
    <p:sldId id="259" r:id="rId6"/>
    <p:sldId id="260" r:id="rId7"/>
    <p:sldId id="261" r:id="rId8"/>
    <p:sldId id="262" r:id="rId9"/>
    <p:sldId id="263" r:id="rId10"/>
    <p:sldId id="389" r:id="rId11"/>
    <p:sldId id="371" r:id="rId12"/>
    <p:sldId id="388" r:id="rId13"/>
    <p:sldId id="390" r:id="rId14"/>
    <p:sldId id="265" r:id="rId15"/>
    <p:sldId id="266" r:id="rId16"/>
    <p:sldId id="267" r:id="rId17"/>
    <p:sldId id="392" r:id="rId18"/>
    <p:sldId id="391" r:id="rId19"/>
    <p:sldId id="268" r:id="rId20"/>
    <p:sldId id="372" r:id="rId21"/>
    <p:sldId id="373" r:id="rId22"/>
    <p:sldId id="393" r:id="rId23"/>
    <p:sldId id="374" r:id="rId24"/>
    <p:sldId id="394" r:id="rId25"/>
    <p:sldId id="395" r:id="rId26"/>
    <p:sldId id="375" r:id="rId27"/>
    <p:sldId id="397" r:id="rId28"/>
    <p:sldId id="396" r:id="rId29"/>
    <p:sldId id="376" r:id="rId30"/>
    <p:sldId id="402" r:id="rId31"/>
    <p:sldId id="269" r:id="rId32"/>
    <p:sldId id="270" r:id="rId33"/>
    <p:sldId id="271" r:id="rId34"/>
    <p:sldId id="272" r:id="rId35"/>
    <p:sldId id="273" r:id="rId36"/>
    <p:sldId id="274" r:id="rId37"/>
    <p:sldId id="398" r:id="rId38"/>
    <p:sldId id="275" r:id="rId39"/>
    <p:sldId id="276" r:id="rId40"/>
    <p:sldId id="377" r:id="rId41"/>
    <p:sldId id="400" r:id="rId42"/>
    <p:sldId id="378" r:id="rId43"/>
    <p:sldId id="401" r:id="rId44"/>
    <p:sldId id="336" r:id="rId45"/>
    <p:sldId id="337" r:id="rId46"/>
    <p:sldId id="338" r:id="rId47"/>
    <p:sldId id="339" r:id="rId48"/>
    <p:sldId id="340" r:id="rId49"/>
    <p:sldId id="341" r:id="rId50"/>
    <p:sldId id="342" r:id="rId51"/>
    <p:sldId id="399" r:id="rId52"/>
    <p:sldId id="285" r:id="rId53"/>
    <p:sldId id="379" r:id="rId54"/>
    <p:sldId id="380" r:id="rId55"/>
    <p:sldId id="296" r:id="rId56"/>
    <p:sldId id="297" r:id="rId57"/>
    <p:sldId id="318" r:id="rId58"/>
    <p:sldId id="319" r:id="rId59"/>
  </p:sldIdLst>
  <p:sldSz cx="9144000" cy="5143500" type="screen16x9"/>
  <p:notesSz cx="6858000" cy="9144000"/>
  <p:embeddedFontLst>
    <p:embeddedFont>
      <p:font typeface="AkayaTelivigala" pitchFamily="2" charset="77"/>
      <p:regular r:id="rId61"/>
    </p:embeddedFont>
    <p:embeddedFont>
      <p:font typeface="Avenir" panose="02000503020000020003" pitchFamily="2" charset="0"/>
      <p:regular r:id="rId62"/>
      <p:italic r:id="rId63"/>
    </p:embeddedFont>
    <p:embeddedFont>
      <p:font typeface="Open Sans" panose="020B0606030504020204" pitchFamily="34" charset="0"/>
      <p:regular r:id="rId64"/>
      <p:bold r:id="rId65"/>
      <p:italic r:id="rId66"/>
      <p:boldItalic r:id="rId67"/>
    </p:embeddedFont>
    <p:embeddedFont>
      <p:font typeface="Roboto" panose="02000000000000000000" pitchFamily="2" charset="0"/>
      <p:regular r:id="rId68"/>
      <p:bold r:id="rId69"/>
      <p:italic r:id="rId70"/>
      <p:boldItalic r:id="rId71"/>
    </p:embeddedFont>
    <p:embeddedFont>
      <p:font typeface="Roboto" panose="02000000000000000000" pitchFamily="2" charset="0"/>
      <p:regular r:id="rId68"/>
      <p:bold r:id="rId69"/>
      <p:italic r:id="rId70"/>
      <p:boldItalic r:id="rId7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CB5BBF-14A1-44A8-AE45-40D0EF8F1E93}">
  <a:tblStyle styleId="{91CB5BBF-14A1-44A8-AE45-40D0EF8F1E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89"/>
    <p:restoredTop sz="97030"/>
  </p:normalViewPr>
  <p:slideViewPr>
    <p:cSldViewPr snapToGrid="0">
      <p:cViewPr varScale="1">
        <p:scale>
          <a:sx n="297" d="100"/>
          <a:sy n="297" d="100"/>
        </p:scale>
        <p:origin x="1264" y="184"/>
      </p:cViewPr>
      <p:guideLst>
        <p:guide pos="5533"/>
        <p:guide pos="227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font" Target="fonts/font6.fntdata"/><Relationship Id="rId74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font" Target="fonts/font1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font" Target="fonts/font7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font" Target="fonts/font2.fntdata"/><Relationship Id="rId70" Type="http://schemas.openxmlformats.org/officeDocument/2006/relationships/font" Target="fonts/font10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73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6638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885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16133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deaee39f1e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deaee39f1e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dc08f4a25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dc08f4a25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Рассказать про бесплатный текстовый курс о том, как учиться. где найти: доступен в ЛК + приложена ссылка в материалы вводного занятия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deaee39f1e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deaee39f1e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deaee39f1e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deaee39f1e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0785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60106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56995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65672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23047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52293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84098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83730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7725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deaee39f1e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deaee39f1e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Расскажите о содержании проектной работы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формате защиты, а также можно ли будет добавить проект в своей портфолио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deaee39f1e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deaee39f1e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Расскажите об особенностях ДЗ, важности их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выполнения и связи с итоговым проектом, скорости проверки и критериях оценки. Если на курсе есть ментор,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то рассказать о формате взаимодействия.  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deaee39f1e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deaee39f1e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deaee39f1e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deaee39f1e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e035c63f2d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e035c63f2d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df29b9fb2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df29b9fb2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df29b9fb2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df29b9fb2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df29b9fb2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df29b9fb2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9893088cf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9893088cf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9893088cf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9893088cf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29640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9893088cf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9893088cf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5beb2bd227_0_9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5beb2bd227_0_9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9bc73b5b4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9bc73b5b4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5beb2bd227_0_9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5beb2bd227_0_9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5beb2bd227_0_9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25beb2bd227_0_9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df6222e6a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df6222e6a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Запланируйте пару минут на рефлексию в конце занятия. Чтобы студенты действительно делились обратной связью, рекомендуем не относиться к этому формально и варьировать вопросы в зависимости от темы, формата занятия, аудитории, текущей ситуации.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Варианты вопросов (вы можете задавать свои):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в прошедшем занятии вам показалось наиболее полезным?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какими тезисами вебинара вы не согласны?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 какому вопросу захотелось глубже изучить информацию?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какими выводами уходите с занятия?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насколько тема была для вас сложной?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какой знания получилось применить на практике на вебинаре?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понимаете ли вы, как применять на практике то, что узнали на вебинаре. Если да, то как?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какой раздел вебинара показался вам самым сложным для понимания?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 какому разделу вам не хватило информации и примеров?</a:t>
            </a:r>
            <a:endParaRPr sz="140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df6222e6af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df6222e6af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текст 1">
  <p:cSld name="Заголовок и текст 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5024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00261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609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8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8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4" name="Google Shape;104;p25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05" name="Google Shape;105;p2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06" name="Google Shape;106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8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8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9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9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0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30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0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1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1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60" r:id="rId11"/>
    <p:sldLayoutId id="2147483661" r:id="rId12"/>
    <p:sldLayoutId id="2147483679" r:id="rId13"/>
    <p:sldLayoutId id="2147483680" r:id="rId14"/>
    <p:sldLayoutId id="2147483681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JP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jpg"/><Relationship Id="rId4" Type="http://schemas.openxmlformats.org/officeDocument/2006/relationships/image" Target="../media/image30.png"/><Relationship Id="rId9" Type="http://schemas.openxmlformats.org/officeDocument/2006/relationships/image" Target="../media/image3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otusbook.notion.site/Otus-Heroes-8736ea4e22294c6e8794fbbc167df612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0.jp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4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5" Type="http://schemas.openxmlformats.org/officeDocument/2006/relationships/image" Target="../media/image55.png"/><Relationship Id="rId4" Type="http://schemas.openxmlformats.org/officeDocument/2006/relationships/image" Target="../media/image11.png"/><Relationship Id="rId9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otus.ru/lessons/reinforcement-learning-cours/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8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0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hyperlink" Target="https://habr.com/ru/companies/otus/articles/651895/" TargetMode="External"/><Relationship Id="rId3" Type="http://schemas.openxmlformats.org/officeDocument/2006/relationships/hyperlink" Target="https://habr.com/ru/feed/" TargetMode="External"/><Relationship Id="rId7" Type="http://schemas.openxmlformats.org/officeDocument/2006/relationships/hyperlink" Target="https://habr.com/ru/companies/otus/articles/672450/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9.xml"/><Relationship Id="rId6" Type="http://schemas.openxmlformats.org/officeDocument/2006/relationships/hyperlink" Target="https://habr.com/ru/companies/otus/articles/675954/" TargetMode="External"/><Relationship Id="rId5" Type="http://schemas.openxmlformats.org/officeDocument/2006/relationships/hyperlink" Target="https://habr.com/ru/companies/otus/articles/503398/" TargetMode="External"/><Relationship Id="rId10" Type="http://schemas.openxmlformats.org/officeDocument/2006/relationships/hyperlink" Target="https://habr.com/ru/companies/otus/articles/675898/" TargetMode="External"/><Relationship Id="rId4" Type="http://schemas.openxmlformats.org/officeDocument/2006/relationships/hyperlink" Target="https://habr.com/ru/companies/otus/articles/648891/" TargetMode="External"/><Relationship Id="rId9" Type="http://schemas.openxmlformats.org/officeDocument/2006/relationships/hyperlink" Target="https://habr.com/ru/companies/otus/articles/504806/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4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otus.ru</a:t>
            </a:r>
            <a:endParaRPr/>
          </a:p>
        </p:txBody>
      </p:sp>
      <p:sp>
        <p:nvSpPr>
          <p:cNvPr id="134" name="Google Shape;134;p3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Machine Learning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Specialization</a:t>
            </a:r>
            <a:br>
              <a:rPr lang="en-US" sz="3600" dirty="0"/>
            </a:br>
            <a:r>
              <a:rPr lang="en-US" sz="3600" dirty="0"/>
              <a:t>ML Basic</a:t>
            </a:r>
            <a:r>
              <a:rPr lang="ru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40" name="Google Shape;140;p33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&amp;&amp; слышно?</a:t>
            </a:r>
            <a:endParaRPr sz="4000"/>
          </a:p>
        </p:txBody>
      </p:sp>
      <p:pic>
        <p:nvPicPr>
          <p:cNvPr id="141" name="Google Shape;14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Basic</a:t>
            </a:r>
            <a:br>
              <a:rPr lang="en-US" dirty="0"/>
            </a:br>
            <a:r>
              <a:rPr lang="ru-RU" sz="2400" dirty="0"/>
              <a:t>Знакомство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4F81826C-3F3C-F345-B41E-2C4AE321EFFB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477758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</a:t>
            </a:r>
            <a:r>
              <a:rPr lang="en-US" sz="1150" dirty="0"/>
              <a:t>20</a:t>
            </a:r>
            <a:r>
              <a:rPr lang="ru" sz="1150" dirty="0"/>
              <a:t>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160" name="Google Shape;16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5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35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35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5"/>
          <p:cNvSpPr txBox="1"/>
          <p:nvPr/>
        </p:nvSpPr>
        <p:spPr>
          <a:xfrm>
            <a:off x="1654525" y="2049300"/>
            <a:ext cx="24753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 #</a:t>
            </a:r>
            <a:r>
              <a:rPr lang="ru" sz="1500" b="1" dirty="0">
                <a:latin typeface="Roboto"/>
                <a:ea typeface="Roboto"/>
                <a:cs typeface="Roboto"/>
                <a:sym typeface="Roboto"/>
              </a:rPr>
              <a:t>OTUS </a:t>
            </a:r>
            <a:r>
              <a:rPr lang="en-US" sz="1500" b="1" dirty="0"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ru" sz="1500" b="1" dirty="0"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1500" b="1" dirty="0">
                <a:latin typeface="Roboto"/>
                <a:ea typeface="Roboto"/>
                <a:cs typeface="Roboto"/>
                <a:sym typeface="Roboto"/>
              </a:rPr>
              <a:t> Basic </a:t>
            </a:r>
            <a:r>
              <a:rPr lang="ru" sz="1500" b="1" dirty="0">
                <a:latin typeface="Roboto"/>
                <a:ea typeface="Roboto"/>
                <a:cs typeface="Roboto"/>
                <a:sym typeface="Roboto"/>
              </a:rPr>
              <a:t>202</a:t>
            </a:r>
            <a:r>
              <a:rPr lang="en-US" sz="1500" b="1" dirty="0"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1500" b="1" dirty="0"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en-US" sz="1500" b="1" dirty="0">
                <a:latin typeface="Roboto"/>
                <a:ea typeface="Roboto"/>
                <a:cs typeface="Roboto"/>
                <a:sym typeface="Roboto"/>
              </a:rPr>
              <a:t>07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35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5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5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5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173;p3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5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" name="Google Shape;175;p3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5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7" name="Google Shape;177;p3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5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9" name="Google Shape;179;p3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5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1" name="Google Shape;181;p35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0726" y="2148424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87" name="Google Shape;187;p36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787125" y="170476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специализации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787125" y="2204001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</a:p>
        </p:txBody>
      </p:sp>
      <p:sp>
        <p:nvSpPr>
          <p:cNvPr id="190" name="Google Shape;190;p36"/>
          <p:cNvSpPr/>
          <p:nvPr/>
        </p:nvSpPr>
        <p:spPr>
          <a:xfrm>
            <a:off x="786525" y="2703239"/>
            <a:ext cx="3384900" cy="5769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Что будем осваивать – </a:t>
            </a:r>
            <a:r>
              <a:rPr lang="en-US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6"/>
          <p:cNvSpPr/>
          <p:nvPr/>
        </p:nvSpPr>
        <p:spPr>
          <a:xfrm>
            <a:off x="786525" y="3403177"/>
            <a:ext cx="3384900" cy="57689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Как будем осваивать - 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Инструменты необходимые на курсе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6"/>
          <p:cNvSpPr/>
          <p:nvPr/>
        </p:nvSpPr>
        <p:spPr>
          <a:xfrm>
            <a:off x="786525" y="410311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сможем после курса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36"/>
          <p:cNvCxnSpPr>
            <a:stCxn id="187" idx="1"/>
            <a:endCxn id="188" idx="1"/>
          </p:cNvCxnSpPr>
          <p:nvPr/>
        </p:nvCxnSpPr>
        <p:spPr>
          <a:xfrm rot="10800000" flipH="1" flipV="1">
            <a:off x="786525" y="1393625"/>
            <a:ext cx="600" cy="499238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36"/>
          <p:cNvCxnSpPr>
            <a:stCxn id="188" idx="1"/>
            <a:endCxn id="189" idx="1"/>
          </p:cNvCxnSpPr>
          <p:nvPr/>
        </p:nvCxnSpPr>
        <p:spPr>
          <a:xfrm rot="10800000" flipV="1">
            <a:off x="787125" y="1892863"/>
            <a:ext cx="12700" cy="49923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36"/>
          <p:cNvCxnSpPr>
            <a:cxnSpLocks/>
            <a:stCxn id="189" idx="1"/>
            <a:endCxn id="190" idx="1"/>
          </p:cNvCxnSpPr>
          <p:nvPr/>
        </p:nvCxnSpPr>
        <p:spPr>
          <a:xfrm rot="10800000" flipV="1">
            <a:off x="786525" y="2392101"/>
            <a:ext cx="600" cy="599588"/>
          </a:xfrm>
          <a:prstGeom prst="curvedConnector3">
            <a:avLst>
              <a:gd name="adj1" fmla="val 382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36"/>
          <p:cNvCxnSpPr>
            <a:cxnSpLocks/>
            <a:stCxn id="190" idx="1"/>
            <a:endCxn id="191" idx="1"/>
          </p:cNvCxnSpPr>
          <p:nvPr/>
        </p:nvCxnSpPr>
        <p:spPr>
          <a:xfrm rot="10800000" flipV="1">
            <a:off x="786525" y="2991689"/>
            <a:ext cx="12700" cy="69993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36"/>
          <p:cNvCxnSpPr>
            <a:cxnSpLocks/>
            <a:stCxn id="191" idx="1"/>
            <a:endCxn id="192" idx="1"/>
          </p:cNvCxnSpPr>
          <p:nvPr/>
        </p:nvCxnSpPr>
        <p:spPr>
          <a:xfrm rot="10800000" flipV="1">
            <a:off x="786525" y="3691627"/>
            <a:ext cx="12700" cy="599586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B3B91C7-0A28-CB48-8BB4-387724CD1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400" y="1274489"/>
            <a:ext cx="4445000" cy="30167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03" name="Google Shape;203;p37"/>
          <p:cNvGraphicFramePr/>
          <p:nvPr>
            <p:extLst>
              <p:ext uri="{D42A27DB-BD31-4B8C-83A1-F6EECF244321}">
                <p14:modId xmlns:p14="http://schemas.microsoft.com/office/powerpoint/2010/main" val="1373795645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{91CB5BBF-14A1-44A8-AE45-40D0EF8F1E93}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как будет устроено обучение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программу курса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Разобраться в основных парадигмах </a:t>
                      </a:r>
                      <a:r>
                        <a:rPr lang="en-US" sz="13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Machine</a:t>
                      </a:r>
                      <a:r>
                        <a:rPr lang="ru" sz="13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Learning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3212701874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  <a:tableStyleId>{91CB5BBF-14A1-44A8-AE45-40D0EF8F1E93}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общего понимания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Machine</a:t>
                      </a: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Learning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Чтобы заложить основы для дальнейшего обучения на курсе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Знакомство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4108393" y="15767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rgbClr val="FF9900"/>
                </a:solidFill>
              </a:rPr>
              <a:t>Мария Тихонова</a:t>
            </a:r>
            <a:endParaRPr sz="1600" b="1" dirty="0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4102371" y="2027224"/>
            <a:ext cx="4808426" cy="2071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597"/>
              <a:buNone/>
            </a:pPr>
            <a:r>
              <a:rPr lang="en-US" sz="1200" b="1" dirty="0"/>
              <a:t>Senior Data</a:t>
            </a:r>
            <a:r>
              <a:rPr lang="ru-RU" sz="1200" b="1" dirty="0"/>
              <a:t> </a:t>
            </a:r>
            <a:r>
              <a:rPr lang="en-US" sz="1200" b="1" dirty="0"/>
              <a:t>Scientist </a:t>
            </a:r>
            <a:r>
              <a:rPr lang="en-US" sz="1200" b="1" dirty="0" err="1"/>
              <a:t>SberDevices</a:t>
            </a:r>
            <a:endParaRPr lang="en-US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r>
              <a:rPr lang="ru-RU" sz="1200" b="1" dirty="0" err="1"/>
              <a:t>МехМат</a:t>
            </a:r>
            <a:r>
              <a:rPr lang="ru-RU" sz="1200" b="1" dirty="0"/>
              <a:t> МГУ</a:t>
            </a:r>
            <a:r>
              <a:rPr lang="en-US" sz="1200" b="1" dirty="0"/>
              <a:t>, PhD Computer Science</a:t>
            </a:r>
            <a:endParaRPr lang="ru-RU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endParaRPr lang="en-US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Занимается обучением больших языковых моделей, а также их оценкой. Участвовала в создании </a:t>
            </a:r>
            <a:r>
              <a:rPr lang="ru-RU" sz="1200" dirty="0" err="1"/>
              <a:t>мультиязычной</a:t>
            </a:r>
            <a:r>
              <a:rPr lang="ru-RU" sz="1200" dirty="0"/>
              <a:t> нейросети </a:t>
            </a:r>
            <a:r>
              <a:rPr lang="en-US" sz="1200" dirty="0" err="1"/>
              <a:t>mGPT</a:t>
            </a:r>
            <a:r>
              <a:rPr lang="en-US" sz="1200" dirty="0"/>
              <a:t> </a:t>
            </a:r>
            <a:r>
              <a:rPr lang="ru-RU" sz="1200" dirty="0"/>
              <a:t>на 61 язык, первого русскоязычного </a:t>
            </a:r>
            <a:r>
              <a:rPr lang="ru-RU" sz="1200" dirty="0" err="1"/>
              <a:t>бенчмарк</a:t>
            </a:r>
            <a:r>
              <a:rPr lang="ru-RU" sz="1200" dirty="0"/>
              <a:t> для русского языка, а также в проекте </a:t>
            </a:r>
            <a:r>
              <a:rPr lang="en-US" sz="1200" dirty="0" err="1"/>
              <a:t>GigaChat</a:t>
            </a:r>
            <a:r>
              <a:rPr lang="en-US" sz="1200" dirty="0"/>
              <a:t>. </a:t>
            </a: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Преподает в Высшей Школе Экономики дисциплины по анализу данных, машинному обучению и </a:t>
            </a:r>
            <a:r>
              <a:rPr lang="en-US" sz="1200" dirty="0"/>
              <a:t>data science. </a:t>
            </a:r>
            <a:endParaRPr sz="1200" dirty="0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11830" b="11830"/>
          <a:stretch/>
        </p:blipFill>
        <p:spPr>
          <a:xfrm>
            <a:off x="789925" y="1576774"/>
            <a:ext cx="2253984" cy="2210521"/>
          </a:xfrm>
          <a:prstGeom prst="ellipse">
            <a:avLst/>
          </a:prstGeom>
          <a:noFill/>
          <a:ln>
            <a:noFill/>
          </a:ln>
        </p:spPr>
      </p:pic>
      <p:sp>
        <p:nvSpPr>
          <p:cNvPr id="7" name="Google Shape;222;p40">
            <a:extLst>
              <a:ext uri="{FF2B5EF4-FFF2-40B4-BE49-F238E27FC236}">
                <a16:creationId xmlns:a16="http://schemas.microsoft.com/office/drawing/2014/main" id="{E575E226-45E6-AE48-8B19-560BA1F78F51}"/>
              </a:ext>
            </a:extLst>
          </p:cNvPr>
          <p:cNvSpPr txBox="1">
            <a:spLocks/>
          </p:cNvSpPr>
          <p:nvPr/>
        </p:nvSpPr>
        <p:spPr>
          <a:xfrm>
            <a:off x="4102370" y="1195200"/>
            <a:ext cx="2850751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chemeClr val="tx1"/>
                </a:solidFill>
              </a:rPr>
              <a:t>Руководитель курса</a:t>
            </a:r>
          </a:p>
        </p:txBody>
      </p:sp>
    </p:spTree>
    <p:extLst>
      <p:ext uri="{BB962C8B-B14F-4D97-AF65-F5344CB8AC3E}">
        <p14:creationId xmlns:p14="http://schemas.microsoft.com/office/powerpoint/2010/main" val="1733881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4108393" y="15767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600" b="1" dirty="0">
                <a:solidFill>
                  <a:srgbClr val="FF9900"/>
                </a:solidFill>
              </a:rPr>
              <a:t>Игорь Стурейко</a:t>
            </a:r>
            <a:endParaRPr sz="1600" b="1" dirty="0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4102371" y="2027224"/>
            <a:ext cx="4808426" cy="2071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597"/>
              <a:buNone/>
            </a:pPr>
            <a:r>
              <a:rPr lang="en-US" sz="1200" b="1" dirty="0" err="1"/>
              <a:t>Teamlead</a:t>
            </a:r>
            <a:r>
              <a:rPr lang="ru-RU" sz="1200" b="1" dirty="0"/>
              <a:t>, главный инженер проекта</a:t>
            </a:r>
            <a:endParaRPr lang="en-US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r>
              <a:rPr lang="ru-RU" sz="1200" b="1" dirty="0"/>
              <a:t>Физический факультет МГУ</a:t>
            </a:r>
            <a:r>
              <a:rPr lang="en-US" sz="1200" b="1" dirty="0"/>
              <a:t>, PhD </a:t>
            </a:r>
            <a:r>
              <a:rPr lang="ru-RU" sz="1200" b="1" dirty="0"/>
              <a:t>теоретическая физика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en-US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en-US" sz="1200" dirty="0"/>
              <a:t>20</a:t>
            </a:r>
            <a:r>
              <a:rPr lang="ru" sz="1200" dirty="0"/>
              <a:t>+ лет опыта в прикладной математике и математическом моделировании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1200" dirty="0"/>
              <a:t>Руководил командой, решающей прикладные задачи, вывод готовых моделей в продакшн и поддержку решений у клиента</a:t>
            </a:r>
            <a:endParaRPr sz="1200" dirty="0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6408" b="6408"/>
          <a:stretch/>
        </p:blipFill>
        <p:spPr>
          <a:xfrm>
            <a:off x="789925" y="1576774"/>
            <a:ext cx="2253984" cy="2210521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C1D32E20-496A-5641-9195-7B125A28579B}"/>
              </a:ext>
            </a:extLst>
          </p:cNvPr>
          <p:cNvSpPr txBox="1">
            <a:spLocks/>
          </p:cNvSpPr>
          <p:nvPr/>
        </p:nvSpPr>
        <p:spPr>
          <a:xfrm>
            <a:off x="4102370" y="1195200"/>
            <a:ext cx="2850751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chemeClr val="tx1"/>
                </a:solidFill>
              </a:rPr>
              <a:t>Руководитель курса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1377655"/>
            <a:ext cx="1991700" cy="622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517" b="1" dirty="0">
                <a:solidFill>
                  <a:srgbClr val="FF9900"/>
                </a:solidFill>
              </a:rPr>
              <a:t>Евгений Ревняков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к.т.н. </a:t>
            </a:r>
            <a:r>
              <a:rPr lang="en-US" sz="1000" dirty="0">
                <a:solidFill>
                  <a:schemeClr val="tx1"/>
                </a:solidFill>
              </a:rPr>
              <a:t>Senior Software Engineer</a:t>
            </a:r>
            <a:endParaRPr sz="1000" dirty="0">
              <a:solidFill>
                <a:schemeClr val="tx1"/>
              </a:solidFill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617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6527" b="6527"/>
          <a:stretch/>
        </p:blipFill>
        <p:spPr>
          <a:xfrm>
            <a:off x="789920" y="1279645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" name="Google Shape;225;p40">
            <a:extLst>
              <a:ext uri="{FF2B5EF4-FFF2-40B4-BE49-F238E27FC236}">
                <a16:creationId xmlns:a16="http://schemas.microsoft.com/office/drawing/2014/main" id="{C18948FA-AA9F-A34D-979C-C7E1397B69E5}"/>
              </a:ext>
            </a:extLst>
          </p:cNvPr>
          <p:cNvPicPr preferRelativeResize="0"/>
          <p:nvPr/>
        </p:nvPicPr>
        <p:blipFill>
          <a:blip r:embed="rId4"/>
          <a:srcRect t="3752" b="3752"/>
          <a:stretch/>
        </p:blipFill>
        <p:spPr>
          <a:xfrm>
            <a:off x="789920" y="2150641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" name="Google Shape;225;p40">
            <a:extLst>
              <a:ext uri="{FF2B5EF4-FFF2-40B4-BE49-F238E27FC236}">
                <a16:creationId xmlns:a16="http://schemas.microsoft.com/office/drawing/2014/main" id="{401B034C-4DD5-3A42-B042-0F0E1FD288C3}"/>
              </a:ext>
            </a:extLst>
          </p:cNvPr>
          <p:cNvPicPr preferRelativeResize="0"/>
          <p:nvPr/>
        </p:nvPicPr>
        <p:blipFill>
          <a:blip r:embed="rId5"/>
          <a:srcRect t="11306" b="11306"/>
          <a:stretch/>
        </p:blipFill>
        <p:spPr>
          <a:xfrm>
            <a:off x="789920" y="3021637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" name="Google Shape;225;p40">
            <a:extLst>
              <a:ext uri="{FF2B5EF4-FFF2-40B4-BE49-F238E27FC236}">
                <a16:creationId xmlns:a16="http://schemas.microsoft.com/office/drawing/2014/main" id="{6EF89EA8-22F9-5748-A259-8EC70A56A3CB}"/>
              </a:ext>
            </a:extLst>
          </p:cNvPr>
          <p:cNvPicPr preferRelativeResize="0"/>
          <p:nvPr/>
        </p:nvPicPr>
        <p:blipFill>
          <a:blip r:embed="rId6"/>
          <a:srcRect t="6701" b="6701"/>
          <a:stretch/>
        </p:blipFill>
        <p:spPr>
          <a:xfrm>
            <a:off x="789920" y="3894442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0445F228-9D2B-3744-9505-97096EC8A520}"/>
              </a:ext>
            </a:extLst>
          </p:cNvPr>
          <p:cNvSpPr txBox="1">
            <a:spLocks/>
          </p:cNvSpPr>
          <p:nvPr/>
        </p:nvSpPr>
        <p:spPr>
          <a:xfrm>
            <a:off x="1708975" y="2248651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Антон </a:t>
            </a:r>
            <a:r>
              <a:rPr lang="ru-RU" sz="1517" b="1" dirty="0" err="1">
                <a:solidFill>
                  <a:srgbClr val="FF9900"/>
                </a:solidFill>
              </a:rPr>
              <a:t>Витвицкий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к.ф.-м.н. </a:t>
            </a:r>
            <a:r>
              <a:rPr lang="en-US" sz="1000" dirty="0">
                <a:solidFill>
                  <a:schemeClr val="tx1"/>
                </a:solidFill>
              </a:rPr>
              <a:t>Director of Computer Vision</a:t>
            </a:r>
          </a:p>
        </p:txBody>
      </p:sp>
      <p:sp>
        <p:nvSpPr>
          <p:cNvPr id="17" name="Google Shape;222;p40">
            <a:extLst>
              <a:ext uri="{FF2B5EF4-FFF2-40B4-BE49-F238E27FC236}">
                <a16:creationId xmlns:a16="http://schemas.microsoft.com/office/drawing/2014/main" id="{7D39B9E1-749C-A44D-8756-AE2FE1059967}"/>
              </a:ext>
            </a:extLst>
          </p:cNvPr>
          <p:cNvSpPr txBox="1">
            <a:spLocks/>
          </p:cNvSpPr>
          <p:nvPr/>
        </p:nvSpPr>
        <p:spPr>
          <a:xfrm>
            <a:off x="1708974" y="3123707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Виталий Сидоренко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Data Scientist</a:t>
            </a:r>
          </a:p>
        </p:txBody>
      </p:sp>
      <p:sp>
        <p:nvSpPr>
          <p:cNvPr id="18" name="Google Shape;222;p40">
            <a:extLst>
              <a:ext uri="{FF2B5EF4-FFF2-40B4-BE49-F238E27FC236}">
                <a16:creationId xmlns:a16="http://schemas.microsoft.com/office/drawing/2014/main" id="{5E38E83A-2787-5041-81F3-6A9D17FCAD22}"/>
              </a:ext>
            </a:extLst>
          </p:cNvPr>
          <p:cNvSpPr txBox="1">
            <a:spLocks/>
          </p:cNvSpPr>
          <p:nvPr/>
        </p:nvSpPr>
        <p:spPr>
          <a:xfrm>
            <a:off x="1708975" y="3992452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Борис </a:t>
            </a:r>
            <a:r>
              <a:rPr lang="ru-RU" sz="1517" b="1" dirty="0" err="1">
                <a:solidFill>
                  <a:srgbClr val="FF9900"/>
                </a:solidFill>
              </a:rPr>
              <a:t>Цейтлин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ML Scientist</a:t>
            </a:r>
          </a:p>
        </p:txBody>
      </p:sp>
      <p:sp>
        <p:nvSpPr>
          <p:cNvPr id="19" name="Google Shape;222;p40">
            <a:extLst>
              <a:ext uri="{FF2B5EF4-FFF2-40B4-BE49-F238E27FC236}">
                <a16:creationId xmlns:a16="http://schemas.microsoft.com/office/drawing/2014/main" id="{974809FF-7808-8A4F-AD58-B2F44123551C}"/>
              </a:ext>
            </a:extLst>
          </p:cNvPr>
          <p:cNvSpPr txBox="1">
            <a:spLocks/>
          </p:cNvSpPr>
          <p:nvPr/>
        </p:nvSpPr>
        <p:spPr>
          <a:xfrm>
            <a:off x="5293637" y="1426624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Глеб Карпов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исследователь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0" name="Google Shape;224;p40">
            <a:extLst>
              <a:ext uri="{FF2B5EF4-FFF2-40B4-BE49-F238E27FC236}">
                <a16:creationId xmlns:a16="http://schemas.microsoft.com/office/drawing/2014/main" id="{9C3D8589-53EF-4845-8266-7436B042D915}"/>
              </a:ext>
            </a:extLst>
          </p:cNvPr>
          <p:cNvSpPr/>
          <p:nvPr/>
        </p:nvSpPr>
        <p:spPr>
          <a:xfrm>
            <a:off x="7885691" y="1160853"/>
            <a:ext cx="520200" cy="3617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25;p40">
            <a:extLst>
              <a:ext uri="{FF2B5EF4-FFF2-40B4-BE49-F238E27FC236}">
                <a16:creationId xmlns:a16="http://schemas.microsoft.com/office/drawing/2014/main" id="{FA2761CE-DF28-0C43-A3F4-71C2EE7C4962}"/>
              </a:ext>
            </a:extLst>
          </p:cNvPr>
          <p:cNvPicPr preferRelativeResize="0"/>
          <p:nvPr/>
        </p:nvPicPr>
        <p:blipFill>
          <a:blip r:embed="rId7"/>
          <a:srcRect t="14466" b="14466"/>
          <a:stretch/>
        </p:blipFill>
        <p:spPr>
          <a:xfrm>
            <a:off x="7466227" y="1245298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" name="Google Shape;225;p40">
            <a:extLst>
              <a:ext uri="{FF2B5EF4-FFF2-40B4-BE49-F238E27FC236}">
                <a16:creationId xmlns:a16="http://schemas.microsoft.com/office/drawing/2014/main" id="{9DF24FA0-9B4C-5E48-A3C0-049DEFEC1931}"/>
              </a:ext>
            </a:extLst>
          </p:cNvPr>
          <p:cNvPicPr preferRelativeResize="0"/>
          <p:nvPr/>
        </p:nvPicPr>
        <p:blipFill>
          <a:blip r:embed="rId8"/>
          <a:srcRect t="19168" b="19168"/>
          <a:stretch/>
        </p:blipFill>
        <p:spPr>
          <a:xfrm>
            <a:off x="7466227" y="2116294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" name="Google Shape;225;p40">
            <a:extLst>
              <a:ext uri="{FF2B5EF4-FFF2-40B4-BE49-F238E27FC236}">
                <a16:creationId xmlns:a16="http://schemas.microsoft.com/office/drawing/2014/main" id="{1C0F122C-D206-FD4C-A64D-2A9D3CCEEB9C}"/>
              </a:ext>
            </a:extLst>
          </p:cNvPr>
          <p:cNvPicPr preferRelativeResize="0"/>
          <p:nvPr/>
        </p:nvPicPr>
        <p:blipFill>
          <a:blip r:embed="rId9"/>
          <a:srcRect t="9778" b="9778"/>
          <a:stretch/>
        </p:blipFill>
        <p:spPr>
          <a:xfrm>
            <a:off x="7466227" y="2987290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" name="Google Shape;225;p40">
            <a:extLst>
              <a:ext uri="{FF2B5EF4-FFF2-40B4-BE49-F238E27FC236}">
                <a16:creationId xmlns:a16="http://schemas.microsoft.com/office/drawing/2014/main" id="{9ACFEDD3-C2C5-2E43-B960-BE4DDAC3509D}"/>
              </a:ext>
            </a:extLst>
          </p:cNvPr>
          <p:cNvPicPr preferRelativeResize="0"/>
          <p:nvPr/>
        </p:nvPicPr>
        <p:blipFill>
          <a:blip r:embed="rId10"/>
          <a:srcRect l="963" r="963"/>
          <a:stretch/>
        </p:blipFill>
        <p:spPr>
          <a:xfrm>
            <a:off x="7466227" y="3860095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" name="Google Shape;222;p40">
            <a:extLst>
              <a:ext uri="{FF2B5EF4-FFF2-40B4-BE49-F238E27FC236}">
                <a16:creationId xmlns:a16="http://schemas.microsoft.com/office/drawing/2014/main" id="{859CA201-40D4-3143-85D9-C80355AB324D}"/>
              </a:ext>
            </a:extLst>
          </p:cNvPr>
          <p:cNvSpPr txBox="1">
            <a:spLocks/>
          </p:cNvSpPr>
          <p:nvPr/>
        </p:nvSpPr>
        <p:spPr>
          <a:xfrm>
            <a:off x="5293637" y="2297620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Максим Бекетов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аспирант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6" name="Google Shape;222;p40">
            <a:extLst>
              <a:ext uri="{FF2B5EF4-FFF2-40B4-BE49-F238E27FC236}">
                <a16:creationId xmlns:a16="http://schemas.microsoft.com/office/drawing/2014/main" id="{6FEB9B0C-599D-6348-817F-440794CF89E4}"/>
              </a:ext>
            </a:extLst>
          </p:cNvPr>
          <p:cNvSpPr txBox="1">
            <a:spLocks/>
          </p:cNvSpPr>
          <p:nvPr/>
        </p:nvSpPr>
        <p:spPr>
          <a:xfrm>
            <a:off x="5293636" y="3172676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Евгений Романов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Data Scientist</a:t>
            </a:r>
          </a:p>
        </p:txBody>
      </p:sp>
      <p:sp>
        <p:nvSpPr>
          <p:cNvPr id="27" name="Google Shape;222;p40">
            <a:extLst>
              <a:ext uri="{FF2B5EF4-FFF2-40B4-BE49-F238E27FC236}">
                <a16:creationId xmlns:a16="http://schemas.microsoft.com/office/drawing/2014/main" id="{6C274C22-D92B-534C-B217-44DCDAD42111}"/>
              </a:ext>
            </a:extLst>
          </p:cNvPr>
          <p:cNvSpPr txBox="1">
            <a:spLocks/>
          </p:cNvSpPr>
          <p:nvPr/>
        </p:nvSpPr>
        <p:spPr>
          <a:xfrm>
            <a:off x="5293637" y="4041421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Александр </a:t>
            </a:r>
            <a:br>
              <a:rPr lang="ru-RU" sz="1517" b="1" dirty="0">
                <a:solidFill>
                  <a:srgbClr val="FF9900"/>
                </a:solidFill>
              </a:rPr>
            </a:br>
            <a:r>
              <a:rPr lang="ru-RU" sz="1517" b="1" dirty="0">
                <a:solidFill>
                  <a:srgbClr val="FF9900"/>
                </a:solidFill>
              </a:rPr>
              <a:t>Брут-</a:t>
            </a:r>
            <a:r>
              <a:rPr lang="ru-RU" sz="1517" b="1" dirty="0" err="1">
                <a:solidFill>
                  <a:srgbClr val="FF9900"/>
                </a:solidFill>
              </a:rPr>
              <a:t>Бруляко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 инженер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781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1708974" y="1377655"/>
            <a:ext cx="2141389" cy="622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517" b="1" dirty="0">
                <a:solidFill>
                  <a:srgbClr val="FF9900"/>
                </a:solidFill>
              </a:rPr>
              <a:t>Константин Алексин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Специалист по прогнозному моделированию</a:t>
            </a:r>
            <a:endParaRPr sz="1000" dirty="0">
              <a:solidFill>
                <a:schemeClr val="tx1"/>
              </a:solidFill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617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4503" b="4503"/>
          <a:stretch/>
        </p:blipFill>
        <p:spPr>
          <a:xfrm>
            <a:off x="789920" y="1279645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" name="Google Shape;225;p40">
            <a:extLst>
              <a:ext uri="{FF2B5EF4-FFF2-40B4-BE49-F238E27FC236}">
                <a16:creationId xmlns:a16="http://schemas.microsoft.com/office/drawing/2014/main" id="{C18948FA-AA9F-A34D-979C-C7E1397B69E5}"/>
              </a:ext>
            </a:extLst>
          </p:cNvPr>
          <p:cNvPicPr preferRelativeResize="0"/>
          <p:nvPr/>
        </p:nvPicPr>
        <p:blipFill>
          <a:blip r:embed="rId4"/>
          <a:srcRect t="10689" b="10689"/>
          <a:stretch/>
        </p:blipFill>
        <p:spPr>
          <a:xfrm>
            <a:off x="789920" y="2150641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" name="Google Shape;225;p40">
            <a:extLst>
              <a:ext uri="{FF2B5EF4-FFF2-40B4-BE49-F238E27FC236}">
                <a16:creationId xmlns:a16="http://schemas.microsoft.com/office/drawing/2014/main" id="{401B034C-4DD5-3A42-B042-0F0E1FD288C3}"/>
              </a:ext>
            </a:extLst>
          </p:cNvPr>
          <p:cNvPicPr preferRelativeResize="0"/>
          <p:nvPr/>
        </p:nvPicPr>
        <p:blipFill>
          <a:blip r:embed="rId5"/>
          <a:srcRect t="15853" b="15853"/>
          <a:stretch/>
        </p:blipFill>
        <p:spPr>
          <a:xfrm>
            <a:off x="789920" y="3021637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" name="Google Shape;225;p40">
            <a:extLst>
              <a:ext uri="{FF2B5EF4-FFF2-40B4-BE49-F238E27FC236}">
                <a16:creationId xmlns:a16="http://schemas.microsoft.com/office/drawing/2014/main" id="{6EF89EA8-22F9-5748-A259-8EC70A56A3CB}"/>
              </a:ext>
            </a:extLst>
          </p:cNvPr>
          <p:cNvPicPr preferRelativeResize="0"/>
          <p:nvPr/>
        </p:nvPicPr>
        <p:blipFill>
          <a:blip r:embed="rId6"/>
          <a:srcRect t="7452" b="7452"/>
          <a:stretch/>
        </p:blipFill>
        <p:spPr>
          <a:xfrm>
            <a:off x="789920" y="3894442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0445F228-9D2B-3744-9505-97096EC8A520}"/>
              </a:ext>
            </a:extLst>
          </p:cNvPr>
          <p:cNvSpPr txBox="1">
            <a:spLocks/>
          </p:cNvSpPr>
          <p:nvPr/>
        </p:nvSpPr>
        <p:spPr>
          <a:xfrm>
            <a:off x="1708975" y="2248651"/>
            <a:ext cx="2083636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Алексей Кисляков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к.э.н., к.т.н. преподаватель/исследователь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" name="Google Shape;222;p40">
            <a:extLst>
              <a:ext uri="{FF2B5EF4-FFF2-40B4-BE49-F238E27FC236}">
                <a16:creationId xmlns:a16="http://schemas.microsoft.com/office/drawing/2014/main" id="{7D39B9E1-749C-A44D-8756-AE2FE1059967}"/>
              </a:ext>
            </a:extLst>
          </p:cNvPr>
          <p:cNvSpPr txBox="1">
            <a:spLocks/>
          </p:cNvSpPr>
          <p:nvPr/>
        </p:nvSpPr>
        <p:spPr>
          <a:xfrm>
            <a:off x="1708974" y="3123707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Вероника Иванова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Data Scientist</a:t>
            </a:r>
          </a:p>
        </p:txBody>
      </p:sp>
      <p:sp>
        <p:nvSpPr>
          <p:cNvPr id="18" name="Google Shape;222;p40">
            <a:extLst>
              <a:ext uri="{FF2B5EF4-FFF2-40B4-BE49-F238E27FC236}">
                <a16:creationId xmlns:a16="http://schemas.microsoft.com/office/drawing/2014/main" id="{5E38E83A-2787-5041-81F3-6A9D17FCAD22}"/>
              </a:ext>
            </a:extLst>
          </p:cNvPr>
          <p:cNvSpPr txBox="1">
            <a:spLocks/>
          </p:cNvSpPr>
          <p:nvPr/>
        </p:nvSpPr>
        <p:spPr>
          <a:xfrm>
            <a:off x="1708975" y="3992452"/>
            <a:ext cx="2141388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Дмитрий </a:t>
            </a:r>
            <a:r>
              <a:rPr lang="ru-RU" sz="1517" b="1" dirty="0" err="1">
                <a:solidFill>
                  <a:srgbClr val="FF9900"/>
                </a:solidFill>
              </a:rPr>
              <a:t>Гайнуллин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ML Engineer</a:t>
            </a:r>
          </a:p>
        </p:txBody>
      </p:sp>
      <p:sp>
        <p:nvSpPr>
          <p:cNvPr id="19" name="Google Shape;222;p40">
            <a:extLst>
              <a:ext uri="{FF2B5EF4-FFF2-40B4-BE49-F238E27FC236}">
                <a16:creationId xmlns:a16="http://schemas.microsoft.com/office/drawing/2014/main" id="{974809FF-7808-8A4F-AD58-B2F44123551C}"/>
              </a:ext>
            </a:extLst>
          </p:cNvPr>
          <p:cNvSpPr txBox="1">
            <a:spLocks/>
          </p:cNvSpPr>
          <p:nvPr/>
        </p:nvSpPr>
        <p:spPr>
          <a:xfrm>
            <a:off x="5293637" y="1426624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Валерий Валов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EdTech</a:t>
            </a:r>
          </a:p>
        </p:txBody>
      </p:sp>
      <p:sp>
        <p:nvSpPr>
          <p:cNvPr id="20" name="Google Shape;224;p40">
            <a:extLst>
              <a:ext uri="{FF2B5EF4-FFF2-40B4-BE49-F238E27FC236}">
                <a16:creationId xmlns:a16="http://schemas.microsoft.com/office/drawing/2014/main" id="{9C3D8589-53EF-4845-8266-7436B042D915}"/>
              </a:ext>
            </a:extLst>
          </p:cNvPr>
          <p:cNvSpPr/>
          <p:nvPr/>
        </p:nvSpPr>
        <p:spPr>
          <a:xfrm>
            <a:off x="7885691" y="1160853"/>
            <a:ext cx="520200" cy="3617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25;p40">
            <a:extLst>
              <a:ext uri="{FF2B5EF4-FFF2-40B4-BE49-F238E27FC236}">
                <a16:creationId xmlns:a16="http://schemas.microsoft.com/office/drawing/2014/main" id="{FA2761CE-DF28-0C43-A3F4-71C2EE7C4962}"/>
              </a:ext>
            </a:extLst>
          </p:cNvPr>
          <p:cNvPicPr preferRelativeResize="0"/>
          <p:nvPr/>
        </p:nvPicPr>
        <p:blipFill>
          <a:blip r:embed="rId7"/>
          <a:srcRect t="12308" b="12308"/>
          <a:stretch/>
        </p:blipFill>
        <p:spPr>
          <a:xfrm>
            <a:off x="7466227" y="1245298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" name="Google Shape;225;p40">
            <a:extLst>
              <a:ext uri="{FF2B5EF4-FFF2-40B4-BE49-F238E27FC236}">
                <a16:creationId xmlns:a16="http://schemas.microsoft.com/office/drawing/2014/main" id="{9DF24FA0-9B4C-5E48-A3C0-049DEFEC1931}"/>
              </a:ext>
            </a:extLst>
          </p:cNvPr>
          <p:cNvPicPr preferRelativeResize="0"/>
          <p:nvPr/>
        </p:nvPicPr>
        <p:blipFill>
          <a:blip r:embed="rId8"/>
          <a:srcRect t="669" b="669"/>
          <a:stretch/>
        </p:blipFill>
        <p:spPr>
          <a:xfrm>
            <a:off x="7466227" y="2116294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" name="Google Shape;225;p40">
            <a:extLst>
              <a:ext uri="{FF2B5EF4-FFF2-40B4-BE49-F238E27FC236}">
                <a16:creationId xmlns:a16="http://schemas.microsoft.com/office/drawing/2014/main" id="{1C0F122C-D206-FD4C-A64D-2A9D3CCEEB9C}"/>
              </a:ext>
            </a:extLst>
          </p:cNvPr>
          <p:cNvPicPr preferRelativeResize="0"/>
          <p:nvPr/>
        </p:nvPicPr>
        <p:blipFill>
          <a:blip r:embed="rId9"/>
          <a:srcRect t="669" b="669"/>
          <a:stretch/>
        </p:blipFill>
        <p:spPr>
          <a:xfrm>
            <a:off x="7466227" y="2987290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" name="Google Shape;225;p40">
            <a:extLst>
              <a:ext uri="{FF2B5EF4-FFF2-40B4-BE49-F238E27FC236}">
                <a16:creationId xmlns:a16="http://schemas.microsoft.com/office/drawing/2014/main" id="{9ACFEDD3-C2C5-2E43-B960-BE4DDAC3509D}"/>
              </a:ext>
            </a:extLst>
          </p:cNvPr>
          <p:cNvPicPr preferRelativeResize="0"/>
          <p:nvPr/>
        </p:nvPicPr>
        <p:blipFill>
          <a:blip r:embed="rId10"/>
          <a:srcRect t="669" b="669"/>
          <a:stretch/>
        </p:blipFill>
        <p:spPr>
          <a:xfrm>
            <a:off x="7466227" y="3860095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" name="Google Shape;222;p40">
            <a:extLst>
              <a:ext uri="{FF2B5EF4-FFF2-40B4-BE49-F238E27FC236}">
                <a16:creationId xmlns:a16="http://schemas.microsoft.com/office/drawing/2014/main" id="{859CA201-40D4-3143-85D9-C80355AB324D}"/>
              </a:ext>
            </a:extLst>
          </p:cNvPr>
          <p:cNvSpPr txBox="1">
            <a:spLocks/>
          </p:cNvSpPr>
          <p:nvPr/>
        </p:nvSpPr>
        <p:spPr>
          <a:xfrm>
            <a:off x="5293637" y="2297620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Кирилл Панфилов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 err="1">
                <a:solidFill>
                  <a:schemeClr val="tx1"/>
                </a:solidFill>
              </a:rPr>
              <a:t>Блогер</a:t>
            </a:r>
            <a:r>
              <a:rPr lang="ru-RU" sz="1000" dirty="0">
                <a:solidFill>
                  <a:schemeClr val="tx1"/>
                </a:solidFill>
              </a:rPr>
              <a:t>/программист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6" name="Google Shape;222;p40">
            <a:extLst>
              <a:ext uri="{FF2B5EF4-FFF2-40B4-BE49-F238E27FC236}">
                <a16:creationId xmlns:a16="http://schemas.microsoft.com/office/drawing/2014/main" id="{6FEB9B0C-599D-6348-817F-440794CF89E4}"/>
              </a:ext>
            </a:extLst>
          </p:cNvPr>
          <p:cNvSpPr txBox="1">
            <a:spLocks/>
          </p:cNvSpPr>
          <p:nvPr/>
        </p:nvSpPr>
        <p:spPr>
          <a:xfrm>
            <a:off x="5293636" y="3172676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Мария Кузьмина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 err="1">
                <a:solidFill>
                  <a:schemeClr val="tx1"/>
                </a:solidFill>
              </a:rPr>
              <a:t>Продакт</a:t>
            </a:r>
            <a:r>
              <a:rPr lang="ru-RU" sz="1000" dirty="0">
                <a:solidFill>
                  <a:schemeClr val="tx1"/>
                </a:solidFill>
              </a:rPr>
              <a:t> менеджер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7" name="Google Shape;222;p40">
            <a:extLst>
              <a:ext uri="{FF2B5EF4-FFF2-40B4-BE49-F238E27FC236}">
                <a16:creationId xmlns:a16="http://schemas.microsoft.com/office/drawing/2014/main" id="{6C274C22-D92B-534C-B217-44DCDAD42111}"/>
              </a:ext>
            </a:extLst>
          </p:cNvPr>
          <p:cNvSpPr txBox="1">
            <a:spLocks/>
          </p:cNvSpPr>
          <p:nvPr/>
        </p:nvSpPr>
        <p:spPr>
          <a:xfrm>
            <a:off x="5293637" y="4041421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Инна Мельникова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 err="1">
                <a:solidFill>
                  <a:schemeClr val="tx1"/>
                </a:solidFill>
              </a:rPr>
              <a:t>Комьюнити</a:t>
            </a:r>
            <a:r>
              <a:rPr lang="ru-RU" sz="1000" dirty="0">
                <a:solidFill>
                  <a:schemeClr val="tx1"/>
                </a:solidFill>
              </a:rPr>
              <a:t> менеджер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623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sp>
        <p:nvSpPr>
          <p:cNvPr id="240" name="Google Shape;240;p41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Напишите, пожалуйста, в чат или скажите голосом </a:t>
            </a:r>
            <a:endParaRPr sz="1500" b="1">
              <a:solidFill>
                <a:srgbClr val="FF9900"/>
              </a:solidFill>
            </a:endParaRPr>
          </a:p>
        </p:txBody>
      </p:sp>
      <p:pic>
        <p:nvPicPr>
          <p:cNvPr id="241" name="Google Shape;241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6925" y="1880900"/>
            <a:ext cx="730678" cy="730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0173" y="1880910"/>
            <a:ext cx="730678" cy="730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6925" y="2982867"/>
            <a:ext cx="730678" cy="73067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1"/>
          <p:cNvSpPr txBox="1"/>
          <p:nvPr/>
        </p:nvSpPr>
        <p:spPr>
          <a:xfrm>
            <a:off x="2006125" y="2038489"/>
            <a:ext cx="2475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Как вас зовут?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41"/>
          <p:cNvSpPr txBox="1"/>
          <p:nvPr/>
        </p:nvSpPr>
        <p:spPr>
          <a:xfrm>
            <a:off x="5561550" y="2038489"/>
            <a:ext cx="3231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Какой опыт в IT?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41"/>
          <p:cNvSpPr txBox="1"/>
          <p:nvPr/>
        </p:nvSpPr>
        <p:spPr>
          <a:xfrm>
            <a:off x="2006125" y="3024956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Какие ожидания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от курса?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7" name="Google Shape;247;p4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28355" y="2996505"/>
            <a:ext cx="703404" cy="70340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1"/>
          <p:cNvSpPr txBox="1"/>
          <p:nvPr/>
        </p:nvSpPr>
        <p:spPr>
          <a:xfrm>
            <a:off x="5561550" y="2909606"/>
            <a:ext cx="27687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Заполните информацию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разделе «О себе»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личном кабинете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 txBox="1">
            <a:spLocks noGrp="1"/>
          </p:cNvSpPr>
          <p:nvPr>
            <p:ph type="title"/>
          </p:nvPr>
        </p:nvSpPr>
        <p:spPr>
          <a:xfrm>
            <a:off x="500550" y="248043"/>
            <a:ext cx="8520600" cy="8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подготовиться к обучению</a:t>
            </a:r>
            <a:endParaRPr/>
          </a:p>
        </p:txBody>
      </p:sp>
      <p:sp>
        <p:nvSpPr>
          <p:cNvPr id="254" name="Google Shape;254;p42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 u="sng">
                <a:solidFill>
                  <a:schemeClr val="hlink"/>
                </a:solidFill>
                <a:hlinkClick r:id="rId3"/>
              </a:rPr>
              <a:t>Полезный курс о том, как эффективно учиться </a:t>
            </a:r>
            <a:endParaRPr sz="1600" b="1">
              <a:solidFill>
                <a:srgbClr val="FF9900"/>
              </a:solidFill>
            </a:endParaRPr>
          </a:p>
        </p:txBody>
      </p:sp>
      <p:sp>
        <p:nvSpPr>
          <p:cNvPr id="255" name="Google Shape;255;p42"/>
          <p:cNvSpPr txBox="1"/>
          <p:nvPr/>
        </p:nvSpPr>
        <p:spPr>
          <a:xfrm>
            <a:off x="2006125" y="2050013"/>
            <a:ext cx="247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42"/>
          <p:cNvSpPr txBox="1"/>
          <p:nvPr/>
        </p:nvSpPr>
        <p:spPr>
          <a:xfrm>
            <a:off x="2006125" y="2974763"/>
            <a:ext cx="247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42"/>
          <p:cNvSpPr txBox="1"/>
          <p:nvPr/>
        </p:nvSpPr>
        <p:spPr>
          <a:xfrm>
            <a:off x="6131100" y="2909606"/>
            <a:ext cx="276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550" y="1222130"/>
            <a:ext cx="1856475" cy="827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000" y="2102681"/>
            <a:ext cx="3835574" cy="271869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2"/>
          <p:cNvSpPr txBox="1"/>
          <p:nvPr/>
        </p:nvSpPr>
        <p:spPr>
          <a:xfrm>
            <a:off x="2831425" y="1872769"/>
            <a:ext cx="570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О </a:t>
            </a:r>
            <a:r>
              <a:rPr lang="ru-RU" dirty="0"/>
              <a:t>специализации</a:t>
            </a:r>
            <a:br>
              <a:rPr lang="en-US" dirty="0"/>
            </a:br>
            <a:r>
              <a:rPr lang="en-US" dirty="0"/>
              <a:t>Machine Learning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BEA234-3E9C-E742-8BD0-54484070E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Специализация </a:t>
            </a:r>
            <a:r>
              <a:rPr lang="en-US" dirty="0"/>
              <a:t>Machine Learning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E15DDE-BB5B-CE4A-BAB6-731330011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1150118"/>
            <a:ext cx="3600000" cy="1624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ADC8DA-C12E-F44E-9F42-F3D6161A5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878" y="3088743"/>
            <a:ext cx="3600000" cy="16133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6EBD08-2F28-AA41-B3A1-F0482BB47925}"/>
              </a:ext>
            </a:extLst>
          </p:cNvPr>
          <p:cNvSpPr txBox="1"/>
          <p:nvPr/>
        </p:nvSpPr>
        <p:spPr>
          <a:xfrm>
            <a:off x="4314250" y="1215109"/>
            <a:ext cx="382668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Введение в </a:t>
            </a:r>
            <a:r>
              <a:rPr lang="en-US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Продвинутый </a:t>
            </a:r>
            <a:r>
              <a:rPr lang="en-US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</a:t>
            </a:r>
            <a:r>
              <a:rPr lang="ru-RU" dirty="0"/>
              <a:t>для </a:t>
            </a:r>
            <a:r>
              <a:rPr lang="en-US" dirty="0"/>
              <a:t>ML </a:t>
            </a:r>
            <a:r>
              <a:rPr lang="ru-RU" dirty="0"/>
              <a:t>и работа с БД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Теоретический минимум для </a:t>
            </a:r>
            <a:r>
              <a:rPr lang="en-US" dirty="0"/>
              <a:t>ML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Основные методы машинного обучения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Курсовой проект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34246A-87CF-FF41-A486-7F43AB7F85D3}"/>
              </a:ext>
            </a:extLst>
          </p:cNvPr>
          <p:cNvSpPr txBox="1"/>
          <p:nvPr/>
        </p:nvSpPr>
        <p:spPr>
          <a:xfrm>
            <a:off x="1262009" y="3128172"/>
            <a:ext cx="383630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Продвинутый </a:t>
            </a:r>
            <a:r>
              <a:rPr lang="en-US" dirty="0"/>
              <a:t>ML: </a:t>
            </a:r>
            <a:r>
              <a:rPr lang="ru-RU" dirty="0"/>
              <a:t>обучение с учителем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Продвинутый </a:t>
            </a:r>
            <a:r>
              <a:rPr lang="en-US" dirty="0"/>
              <a:t>ML: </a:t>
            </a:r>
            <a:r>
              <a:rPr lang="ru-RU" dirty="0"/>
              <a:t>обучение без учителя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Введение в </a:t>
            </a:r>
            <a:r>
              <a:rPr lang="en-US" dirty="0"/>
              <a:t>Deep Learning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Сбор и анализ текстовых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Анализ временных рядов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Рекомендательные системы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Курсовой проект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042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О курсе</a:t>
            </a:r>
            <a:r>
              <a:rPr lang="en-US" dirty="0"/>
              <a:t> ML Basic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9090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Карта курса</a:t>
            </a:r>
            <a:endParaRPr/>
          </a:p>
        </p:txBody>
      </p:sp>
      <p:sp>
        <p:nvSpPr>
          <p:cNvPr id="271" name="Google Shape;271;p44"/>
          <p:cNvSpPr/>
          <p:nvPr/>
        </p:nvSpPr>
        <p:spPr>
          <a:xfrm>
            <a:off x="4491135" y="669270"/>
            <a:ext cx="3034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534821" y="1862921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3980224" y="1847803"/>
            <a:ext cx="3428859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работа с БД</a:t>
            </a:r>
            <a:endParaRPr lang="en-US"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44"/>
          <p:cNvSpPr/>
          <p:nvPr/>
        </p:nvSpPr>
        <p:spPr>
          <a:xfrm>
            <a:off x="4140833" y="2947320"/>
            <a:ext cx="29706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Теоретический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минимум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44"/>
          <p:cNvCxnSpPr>
            <a:cxnSpLocks/>
            <a:stCxn id="272" idx="3"/>
            <a:endCxn id="273" idx="1"/>
          </p:cNvCxnSpPr>
          <p:nvPr/>
        </p:nvCxnSpPr>
        <p:spPr>
          <a:xfrm flipV="1">
            <a:off x="3008021" y="2137453"/>
            <a:ext cx="972203" cy="1511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44"/>
          <p:cNvCxnSpPr>
            <a:cxnSpLocks/>
            <a:stCxn id="271" idx="1"/>
            <a:endCxn id="272" idx="0"/>
          </p:cNvCxnSpPr>
          <p:nvPr/>
        </p:nvCxnSpPr>
        <p:spPr>
          <a:xfrm rot="10800000" flipV="1">
            <a:off x="1771421" y="958919"/>
            <a:ext cx="2719714" cy="904001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8" name="Google Shape;278;p44"/>
          <p:cNvSpPr/>
          <p:nvPr/>
        </p:nvSpPr>
        <p:spPr>
          <a:xfrm>
            <a:off x="500550" y="3983922"/>
            <a:ext cx="3350988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Основные методы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машинного обучения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44"/>
          <p:cNvCxnSpPr>
            <a:cxnSpLocks/>
            <a:stCxn id="273" idx="3"/>
            <a:endCxn id="274" idx="3"/>
          </p:cNvCxnSpPr>
          <p:nvPr/>
        </p:nvCxnSpPr>
        <p:spPr>
          <a:xfrm flipH="1">
            <a:off x="7111433" y="2137453"/>
            <a:ext cx="297650" cy="1099517"/>
          </a:xfrm>
          <a:prstGeom prst="curvedConnector3">
            <a:avLst>
              <a:gd name="adj1" fmla="val -7680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44"/>
          <p:cNvCxnSpPr>
            <a:cxnSpLocks/>
            <a:stCxn id="274" idx="1"/>
            <a:endCxn id="278" idx="0"/>
          </p:cNvCxnSpPr>
          <p:nvPr/>
        </p:nvCxnSpPr>
        <p:spPr>
          <a:xfrm rot="10800000" flipV="1">
            <a:off x="2176045" y="3236970"/>
            <a:ext cx="1964789" cy="746952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CCDE05CC-2BC0-2242-878F-9266DBB0C31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06074" y="1325172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CD39ED7-986F-C44F-AB9B-9B7D2D7A7297}"/>
              </a:ext>
            </a:extLst>
          </p:cNvPr>
          <p:cNvSpPr txBox="1"/>
          <p:nvPr/>
        </p:nvSpPr>
        <p:spPr>
          <a:xfrm>
            <a:off x="6686076" y="1298950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5" name="Google Shape;530;p82">
            <a:extLst>
              <a:ext uri="{FF2B5EF4-FFF2-40B4-BE49-F238E27FC236}">
                <a16:creationId xmlns:a16="http://schemas.microsoft.com/office/drawing/2014/main" id="{F8762030-AB6E-EA48-94AA-05667E56E0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107950" y="247969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EE8DB15-D7EB-AF4A-AF42-E23E858A9200}"/>
              </a:ext>
            </a:extLst>
          </p:cNvPr>
          <p:cNvSpPr txBox="1"/>
          <p:nvPr/>
        </p:nvSpPr>
        <p:spPr>
          <a:xfrm>
            <a:off x="2287952" y="245347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9B0FF9F4-BD74-6D4A-84F0-EEE42E67D71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107950" y="2700425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E2FDB-CC58-2148-AEE8-60319C2CDB06}"/>
              </a:ext>
            </a:extLst>
          </p:cNvPr>
          <p:cNvSpPr txBox="1"/>
          <p:nvPr/>
        </p:nvSpPr>
        <p:spPr>
          <a:xfrm>
            <a:off x="2287952" y="2674203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9" name="Google Shape;530;p82">
            <a:extLst>
              <a:ext uri="{FF2B5EF4-FFF2-40B4-BE49-F238E27FC236}">
                <a16:creationId xmlns:a16="http://schemas.microsoft.com/office/drawing/2014/main" id="{B93C8975-AB14-2B4C-ABCD-AAE0570C29D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71396" y="246844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3C42D55-1755-C841-9C69-D39873572F99}"/>
              </a:ext>
            </a:extLst>
          </p:cNvPr>
          <p:cNvSpPr txBox="1"/>
          <p:nvPr/>
        </p:nvSpPr>
        <p:spPr>
          <a:xfrm>
            <a:off x="6751398" y="244222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25" name="Google Shape;530;p82">
            <a:extLst>
              <a:ext uri="{FF2B5EF4-FFF2-40B4-BE49-F238E27FC236}">
                <a16:creationId xmlns:a16="http://schemas.microsoft.com/office/drawing/2014/main" id="{F83CD1EB-5BF6-BC4C-B06B-F4343799D93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06074" y="152101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7504E57-C94A-3C4D-A330-D4A7DEF3FED0}"/>
              </a:ext>
            </a:extLst>
          </p:cNvPr>
          <p:cNvSpPr txBox="1"/>
          <p:nvPr/>
        </p:nvSpPr>
        <p:spPr>
          <a:xfrm>
            <a:off x="6686076" y="149479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50" name="Google Shape;278;p44">
            <a:extLst>
              <a:ext uri="{FF2B5EF4-FFF2-40B4-BE49-F238E27FC236}">
                <a16:creationId xmlns:a16="http://schemas.microsoft.com/office/drawing/2014/main" id="{97C3207F-070C-984C-AB48-D6E345C22189}"/>
              </a:ext>
            </a:extLst>
          </p:cNvPr>
          <p:cNvSpPr/>
          <p:nvPr/>
        </p:nvSpPr>
        <p:spPr>
          <a:xfrm>
            <a:off x="5144226" y="3983921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B500AC69-3C3E-EF47-9E8E-5DF23250CB04}"/>
              </a:ext>
            </a:extLst>
          </p:cNvPr>
          <p:cNvCxnSpPr>
            <a:cxnSpLocks/>
            <a:stCxn id="278" idx="2"/>
            <a:endCxn id="50" idx="2"/>
          </p:cNvCxnSpPr>
          <p:nvPr/>
        </p:nvCxnSpPr>
        <p:spPr>
          <a:xfrm rot="5400000" flipH="1" flipV="1">
            <a:off x="4431059" y="2308206"/>
            <a:ext cx="1" cy="4510032"/>
          </a:xfrm>
          <a:prstGeom prst="curvedConnector3">
            <a:avLst>
              <a:gd name="adj1" fmla="val -228600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3" name="Google Shape;530;p82">
            <a:extLst>
              <a:ext uri="{FF2B5EF4-FFF2-40B4-BE49-F238E27FC236}">
                <a16:creationId xmlns:a16="http://schemas.microsoft.com/office/drawing/2014/main" id="{71E0AD10-6167-104D-86AB-51E4A2F2747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289306" y="3592204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FCD16D1-7338-474C-87C0-C4E822AF1808}"/>
              </a:ext>
            </a:extLst>
          </p:cNvPr>
          <p:cNvSpPr txBox="1"/>
          <p:nvPr/>
        </p:nvSpPr>
        <p:spPr>
          <a:xfrm>
            <a:off x="6469308" y="3565982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5" name="Google Shape;530;p82">
            <a:extLst>
              <a:ext uri="{FF2B5EF4-FFF2-40B4-BE49-F238E27FC236}">
                <a16:creationId xmlns:a16="http://schemas.microsoft.com/office/drawing/2014/main" id="{1EACA93C-958F-BA4F-B67A-91550009AF9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591419" y="4619792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126E6D77-612D-964F-B16D-A944AF51913D}"/>
              </a:ext>
            </a:extLst>
          </p:cNvPr>
          <p:cNvSpPr txBox="1"/>
          <p:nvPr/>
        </p:nvSpPr>
        <p:spPr>
          <a:xfrm>
            <a:off x="1771421" y="4593570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7" name="Google Shape;530;p82">
            <a:extLst>
              <a:ext uri="{FF2B5EF4-FFF2-40B4-BE49-F238E27FC236}">
                <a16:creationId xmlns:a16="http://schemas.microsoft.com/office/drawing/2014/main" id="{9F00384A-E8B0-D24D-9B4C-0D8D4931E6E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591419" y="4840524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86FC6F23-1F7D-8047-B30E-35ED5FA579FC}"/>
              </a:ext>
            </a:extLst>
          </p:cNvPr>
          <p:cNvSpPr txBox="1"/>
          <p:nvPr/>
        </p:nvSpPr>
        <p:spPr>
          <a:xfrm>
            <a:off x="1771421" y="4814302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Вводная лекция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Настройка окружения для работы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Базовые типы и структуры данных. Управление потоком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Работа с функциями и данными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401209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Git, shell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FCFA0A0F-0529-E544-9923-E3AAE4181126}"/>
              </a:ext>
            </a:extLst>
          </p:cNvPr>
          <p:cNvSpPr/>
          <p:nvPr/>
        </p:nvSpPr>
        <p:spPr>
          <a:xfrm>
            <a:off x="2226713" y="4542115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Групповая менторская консультация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753562" y="2736940"/>
            <a:ext cx="252637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E9CB2CD1-40F9-FB4A-9875-639CC68A7199}"/>
              </a:ext>
            </a:extLst>
          </p:cNvPr>
          <p:cNvCxnSpPr>
            <a:stCxn id="271" idx="2"/>
            <a:endCxn id="18" idx="1"/>
          </p:cNvCxnSpPr>
          <p:nvPr/>
        </p:nvCxnSpPr>
        <p:spPr>
          <a:xfrm rot="16200000" flipH="1">
            <a:off x="488550" y="3001952"/>
            <a:ext cx="3056396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200385"/>
              </p:ext>
            </p:extLst>
          </p:nvPr>
        </p:nvGraphicFramePr>
        <p:xfrm>
          <a:off x="5355768" y="573874"/>
          <a:ext cx="2226912" cy="304800"/>
        </p:xfrm>
        <a:graphic>
          <a:graphicData uri="http://schemas.openxmlformats.org/drawingml/2006/table">
            <a:tbl>
              <a:tblPr firstRow="1" bandRow="1">
                <a:tableStyleId>{91CB5BBF-14A1-44A8-AE45-40D0EF8F1E93}</a:tableStyleId>
              </a:tblPr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4048091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34369" y="3991997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6A3C3A01-8FA9-5044-B844-67B828B9AE3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3531199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2543060-81DC-D14A-972C-E308D4DE77DE}"/>
              </a:ext>
            </a:extLst>
          </p:cNvPr>
          <p:cNvSpPr txBox="1"/>
          <p:nvPr/>
        </p:nvSpPr>
        <p:spPr>
          <a:xfrm rot="20748746">
            <a:off x="7534369" y="3475105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271;p44">
            <a:extLst>
              <a:ext uri="{FF2B5EF4-FFF2-40B4-BE49-F238E27FC236}">
                <a16:creationId xmlns:a16="http://schemas.microsoft.com/office/drawing/2014/main" id="{2321D80C-0B39-C644-9004-B1B5C3433603}"/>
              </a:ext>
            </a:extLst>
          </p:cNvPr>
          <p:cNvSpPr/>
          <p:nvPr/>
        </p:nvSpPr>
        <p:spPr>
          <a:xfrm>
            <a:off x="2226713" y="189305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Git, shell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Python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42918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Основы ООП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95920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Продвинутый ООП, исключения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8922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Продвинутый ООП, продолжение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401924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Модули и импорты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545017" y="1945485"/>
            <a:ext cx="94346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280007" y="2210495"/>
            <a:ext cx="147348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4996" y="2475506"/>
            <a:ext cx="200350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749986" y="2740516"/>
            <a:ext cx="2533525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2037" y="246624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71191" y="241014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141433"/>
              </p:ext>
            </p:extLst>
          </p:nvPr>
        </p:nvGraphicFramePr>
        <p:xfrm>
          <a:off x="5355768" y="573874"/>
          <a:ext cx="2226912" cy="304800"/>
        </p:xfrm>
        <a:graphic>
          <a:graphicData uri="http://schemas.openxmlformats.org/drawingml/2006/table">
            <a:tbl>
              <a:tblPr firstRow="1" bandRow="1">
                <a:tableStyleId>{91CB5BBF-14A1-44A8-AE45-40D0EF8F1E93}</a:tableStyleId>
              </a:tblPr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4" name="Notched Right Arrow 3">
            <a:extLst>
              <a:ext uri="{FF2B5EF4-FFF2-40B4-BE49-F238E27FC236}">
                <a16:creationId xmlns:a16="http://schemas.microsoft.com/office/drawing/2014/main" id="{6C70E98D-9B16-3848-B370-110B5BFC3522}"/>
              </a:ext>
            </a:extLst>
          </p:cNvPr>
          <p:cNvSpPr/>
          <p:nvPr/>
        </p:nvSpPr>
        <p:spPr>
          <a:xfrm rot="5400000">
            <a:off x="3157333" y="4570460"/>
            <a:ext cx="39600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DD218481-3AD9-3342-AE7A-E8FB1778A202}"/>
              </a:ext>
            </a:extLst>
          </p:cNvPr>
          <p:cNvCxnSpPr>
            <a:cxnSpLocks/>
            <a:stCxn id="271" idx="2"/>
            <a:endCxn id="33" idx="1"/>
          </p:cNvCxnSpPr>
          <p:nvPr/>
        </p:nvCxnSpPr>
        <p:spPr>
          <a:xfrm rot="16200000" flipH="1">
            <a:off x="1813079" y="1677423"/>
            <a:ext cx="40733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264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Python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4320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Тесты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96207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Знакомство со встроенными модулями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9209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Файлы и сеть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402211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543580" y="1946922"/>
            <a:ext cx="94633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278569" y="2211933"/>
            <a:ext cx="147635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3559" y="2476943"/>
            <a:ext cx="200637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748548" y="2741954"/>
            <a:ext cx="253640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3536872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34369" y="3480778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2" cy="304800"/>
        </p:xfrm>
        <a:graphic>
          <a:graphicData uri="http://schemas.openxmlformats.org/drawingml/2006/table">
            <a:tbl>
              <a:tblPr firstRow="1" bandRow="1">
                <a:tableStyleId>{91CB5BBF-14A1-44A8-AE45-40D0EF8F1E93}</a:tableStyleId>
              </a:tblPr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3" name="Google Shape;271;p44">
            <a:extLst>
              <a:ext uri="{FF2B5EF4-FFF2-40B4-BE49-F238E27FC236}">
                <a16:creationId xmlns:a16="http://schemas.microsoft.com/office/drawing/2014/main" id="{3FED2974-94C2-824C-B391-10805E2D36B3}"/>
              </a:ext>
            </a:extLst>
          </p:cNvPr>
          <p:cNvSpPr/>
          <p:nvPr/>
        </p:nvSpPr>
        <p:spPr>
          <a:xfrm>
            <a:off x="2238429" y="1904328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chemeClr val="bg1">
                  <a:lumMod val="0"/>
                  <a:lumOff val="100000"/>
                </a:schemeClr>
              </a:gs>
              <a:gs pos="100000">
                <a:srgbClr val="FFD966"/>
              </a:gs>
              <a:gs pos="100000">
                <a:schemeClr val="accent1">
                  <a:lumMod val="45000"/>
                  <a:lumOff val="55000"/>
                </a:schemeClr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9979A166-FE18-0143-9C5F-3262DEC8F68F}"/>
              </a:ext>
            </a:extLst>
          </p:cNvPr>
          <p:cNvCxnSpPr>
            <a:stCxn id="271" idx="2"/>
            <a:endCxn id="33" idx="1"/>
          </p:cNvCxnSpPr>
          <p:nvPr/>
        </p:nvCxnSpPr>
        <p:spPr>
          <a:xfrm rot="16200000" flipH="1">
            <a:off x="1813302" y="1677200"/>
            <a:ext cx="418609" cy="4316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816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работа с БД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Основы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NumPy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Основы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Pandas</a:t>
            </a:r>
            <a:endParaRPr lang="ru-RU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Визуализация данных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Практика: Построение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датасета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из сырых данных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F1CFE2F-28F6-854C-B875-84E1551E53BA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988049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AAA4539-F01D-3B46-8649-E7BCB5ED75D3}"/>
              </a:ext>
            </a:extLst>
          </p:cNvPr>
          <p:cNvSpPr txBox="1"/>
          <p:nvPr/>
        </p:nvSpPr>
        <p:spPr>
          <a:xfrm rot="20748746">
            <a:off x="7534369" y="2931955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8017949-1E75-194E-94F4-04C0C8C92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533793"/>
              </p:ext>
            </p:extLst>
          </p:nvPr>
        </p:nvGraphicFramePr>
        <p:xfrm>
          <a:off x="5355768" y="573874"/>
          <a:ext cx="2226912" cy="304800"/>
        </p:xfrm>
        <a:graphic>
          <a:graphicData uri="http://schemas.openxmlformats.org/drawingml/2006/table">
            <a:tbl>
              <a:tblPr firstRow="1" bandRow="1">
                <a:tableStyleId>{91CB5BBF-14A1-44A8-AE45-40D0EF8F1E93}</a:tableStyleId>
              </a:tblPr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0" name="Notched Right Arrow 29">
            <a:extLst>
              <a:ext uri="{FF2B5EF4-FFF2-40B4-BE49-F238E27FC236}">
                <a16:creationId xmlns:a16="http://schemas.microsoft.com/office/drawing/2014/main" id="{C501120B-075B-9B48-88C0-54C9E8B22C08}"/>
              </a:ext>
            </a:extLst>
          </p:cNvPr>
          <p:cNvSpPr/>
          <p:nvPr/>
        </p:nvSpPr>
        <p:spPr>
          <a:xfrm rot="5400000">
            <a:off x="3056373" y="4179237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381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работа с БД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4320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Бонус: Основы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SQL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96207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Бонус: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Join, exists,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вложенные запросы,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group by, having</a:t>
            </a:r>
            <a:endParaRPr lang="ru-RU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9209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Бону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c: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Оконные функции 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SQL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543580" y="1946922"/>
            <a:ext cx="94633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278569" y="2211933"/>
            <a:ext cx="147635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3559" y="2476943"/>
            <a:ext cx="200637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693506"/>
              </p:ext>
            </p:extLst>
          </p:nvPr>
        </p:nvGraphicFramePr>
        <p:xfrm>
          <a:off x="5355768" y="573874"/>
          <a:ext cx="2226912" cy="304800"/>
        </p:xfrm>
        <a:graphic>
          <a:graphicData uri="http://schemas.openxmlformats.org/drawingml/2006/table">
            <a:tbl>
              <a:tblPr firstRow="1" bandRow="1">
                <a:tableStyleId>{91CB5BBF-14A1-44A8-AE45-40D0EF8F1E93}</a:tableStyleId>
              </a:tblPr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3" name="Google Shape;271;p44">
            <a:extLst>
              <a:ext uri="{FF2B5EF4-FFF2-40B4-BE49-F238E27FC236}">
                <a16:creationId xmlns:a16="http://schemas.microsoft.com/office/drawing/2014/main" id="{3FED2974-94C2-824C-B391-10805E2D36B3}"/>
              </a:ext>
            </a:extLst>
          </p:cNvPr>
          <p:cNvSpPr/>
          <p:nvPr/>
        </p:nvSpPr>
        <p:spPr>
          <a:xfrm>
            <a:off x="2238429" y="1904328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chemeClr val="bg1">
                  <a:lumMod val="0"/>
                  <a:lumOff val="100000"/>
                </a:schemeClr>
              </a:gs>
              <a:gs pos="100000">
                <a:srgbClr val="FFD966"/>
              </a:gs>
              <a:gs pos="100000">
                <a:schemeClr val="accent1">
                  <a:lumMod val="45000"/>
                  <a:lumOff val="55000"/>
                </a:schemeClr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9979A166-FE18-0143-9C5F-3262DEC8F68F}"/>
              </a:ext>
            </a:extLst>
          </p:cNvPr>
          <p:cNvCxnSpPr>
            <a:stCxn id="271" idx="2"/>
            <a:endCxn id="33" idx="1"/>
          </p:cNvCxnSpPr>
          <p:nvPr/>
        </p:nvCxnSpPr>
        <p:spPr>
          <a:xfrm rot="16200000" flipH="1">
            <a:off x="1813302" y="1677200"/>
            <a:ext cx="418609" cy="4316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065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Теоретический минимум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  <a:endParaRPr lang="ru-RU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Матрицы. Основные понятия и операции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Основы линейной алгебры: базис, отображение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Матричные разложения. Практика 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Дифференцирование и оптимизация функций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3">
            <a:extLst>
              <a:ext uri="{FF2B5EF4-FFF2-40B4-BE49-F238E27FC236}">
                <a16:creationId xmlns:a16="http://schemas.microsoft.com/office/drawing/2014/main" id="{606A42E9-4464-834E-A997-E40E28D13241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2" cy="304800"/>
        </p:xfrm>
        <a:graphic>
          <a:graphicData uri="http://schemas.openxmlformats.org/drawingml/2006/table">
            <a:tbl>
              <a:tblPr firstRow="1" bandRow="1">
                <a:tableStyleId>{91CB5BBF-14A1-44A8-AE45-40D0EF8F1E93}</a:tableStyleId>
              </a:tblPr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2" name="Google Shape;271;p44">
            <a:extLst>
              <a:ext uri="{FF2B5EF4-FFF2-40B4-BE49-F238E27FC236}">
                <a16:creationId xmlns:a16="http://schemas.microsoft.com/office/drawing/2014/main" id="{06087216-5C43-B04B-9B4F-E2581FB237B5}"/>
              </a:ext>
            </a:extLst>
          </p:cNvPr>
          <p:cNvSpPr/>
          <p:nvPr/>
        </p:nvSpPr>
        <p:spPr>
          <a:xfrm>
            <a:off x="2226713" y="401209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Практика. Дифференцирование и оптимизация функций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4" name="Google Shape;271;p44">
            <a:extLst>
              <a:ext uri="{FF2B5EF4-FFF2-40B4-BE49-F238E27FC236}">
                <a16:creationId xmlns:a16="http://schemas.microsoft.com/office/drawing/2014/main" id="{A178BDB2-3AE5-0243-99AF-C4363604D07D}"/>
              </a:ext>
            </a:extLst>
          </p:cNvPr>
          <p:cNvSpPr/>
          <p:nvPr/>
        </p:nvSpPr>
        <p:spPr>
          <a:xfrm>
            <a:off x="2226713" y="454211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Метод наименьших квадратов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50F0E16F-A1F2-5E4A-B0FE-AE7F7FDA3F5A}"/>
              </a:ext>
            </a:extLst>
          </p:cNvPr>
          <p:cNvCxnSpPr>
            <a:stCxn id="271" idx="2"/>
            <a:endCxn id="22" idx="1"/>
          </p:cNvCxnSpPr>
          <p:nvPr/>
        </p:nvCxnSpPr>
        <p:spPr>
          <a:xfrm rot="16200000" flipH="1">
            <a:off x="753562" y="2736940"/>
            <a:ext cx="252637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E6078BC5-B1E0-814B-A959-8AE51F87A379}"/>
              </a:ext>
            </a:extLst>
          </p:cNvPr>
          <p:cNvCxnSpPr>
            <a:stCxn id="271" idx="2"/>
            <a:endCxn id="24" idx="1"/>
          </p:cNvCxnSpPr>
          <p:nvPr/>
        </p:nvCxnSpPr>
        <p:spPr>
          <a:xfrm rot="16200000" flipH="1">
            <a:off x="488551" y="3001951"/>
            <a:ext cx="305639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otched Right Arrow 38">
            <a:extLst>
              <a:ext uri="{FF2B5EF4-FFF2-40B4-BE49-F238E27FC236}">
                <a16:creationId xmlns:a16="http://schemas.microsoft.com/office/drawing/2014/main" id="{F6177A2C-F976-114E-9D6C-603526797BB7}"/>
              </a:ext>
            </a:extLst>
          </p:cNvPr>
          <p:cNvSpPr/>
          <p:nvPr/>
        </p:nvSpPr>
        <p:spPr>
          <a:xfrm rot="5400000">
            <a:off x="8479874" y="4272531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A0D77B94-D03C-AE45-AB1A-2CDCA5153973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6" y="4569626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FAAEEEC-958E-2443-B10C-10D5A3E5103C}"/>
              </a:ext>
            </a:extLst>
          </p:cNvPr>
          <p:cNvSpPr txBox="1"/>
          <p:nvPr/>
        </p:nvSpPr>
        <p:spPr>
          <a:xfrm rot="20748746">
            <a:off x="7534370" y="4513532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913745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Теоретический минимум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  <a:endParaRPr lang="ru-RU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Аксиоматика теории вероятностей. Случайные величины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Многомерные случайные величины. ЦПТ. Практика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Основные понятия статистики. Точечные оценки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Проверка гипотез (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Б тестирование)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3">
            <a:extLst>
              <a:ext uri="{FF2B5EF4-FFF2-40B4-BE49-F238E27FC236}">
                <a16:creationId xmlns:a16="http://schemas.microsoft.com/office/drawing/2014/main" id="{606A42E9-4464-834E-A997-E40E28D132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297901"/>
              </p:ext>
            </p:extLst>
          </p:nvPr>
        </p:nvGraphicFramePr>
        <p:xfrm>
          <a:off x="5355768" y="573874"/>
          <a:ext cx="2226912" cy="304800"/>
        </p:xfrm>
        <a:graphic>
          <a:graphicData uri="http://schemas.openxmlformats.org/drawingml/2006/table">
            <a:tbl>
              <a:tblPr firstRow="1" bandRow="1">
                <a:tableStyleId>{91CB5BBF-14A1-44A8-AE45-40D0EF8F1E93}</a:tableStyleId>
              </a:tblPr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2" name="Google Shape;271;p44">
            <a:extLst>
              <a:ext uri="{FF2B5EF4-FFF2-40B4-BE49-F238E27FC236}">
                <a16:creationId xmlns:a16="http://schemas.microsoft.com/office/drawing/2014/main" id="{06087216-5C43-B04B-9B4F-E2581FB237B5}"/>
              </a:ext>
            </a:extLst>
          </p:cNvPr>
          <p:cNvSpPr/>
          <p:nvPr/>
        </p:nvSpPr>
        <p:spPr>
          <a:xfrm>
            <a:off x="2226713" y="401209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Исследование зависимостей: номинальные, порядковые и количественные величины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4" name="Google Shape;271;p44">
            <a:extLst>
              <a:ext uri="{FF2B5EF4-FFF2-40B4-BE49-F238E27FC236}">
                <a16:creationId xmlns:a16="http://schemas.microsoft.com/office/drawing/2014/main" id="{A178BDB2-3AE5-0243-99AF-C4363604D07D}"/>
              </a:ext>
            </a:extLst>
          </p:cNvPr>
          <p:cNvSpPr/>
          <p:nvPr/>
        </p:nvSpPr>
        <p:spPr>
          <a:xfrm>
            <a:off x="2226713" y="454211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Практика. Исследование зависимостей: номинальные, порядковые и количественные величины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50F0E16F-A1F2-5E4A-B0FE-AE7F7FDA3F5A}"/>
              </a:ext>
            </a:extLst>
          </p:cNvPr>
          <p:cNvCxnSpPr>
            <a:stCxn id="271" idx="2"/>
            <a:endCxn id="22" idx="1"/>
          </p:cNvCxnSpPr>
          <p:nvPr/>
        </p:nvCxnSpPr>
        <p:spPr>
          <a:xfrm rot="16200000" flipH="1">
            <a:off x="753562" y="2736940"/>
            <a:ext cx="252637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E6078BC5-B1E0-814B-A959-8AE51F87A379}"/>
              </a:ext>
            </a:extLst>
          </p:cNvPr>
          <p:cNvCxnSpPr>
            <a:stCxn id="271" idx="2"/>
            <a:endCxn id="24" idx="1"/>
          </p:cNvCxnSpPr>
          <p:nvPr/>
        </p:nvCxnSpPr>
        <p:spPr>
          <a:xfrm rot="16200000" flipH="1">
            <a:off x="488551" y="3001951"/>
            <a:ext cx="305639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622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Основные методы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Введение в машинное обучение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Задача регрессии. Линейная регрессия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Задача классификации. Метод ближайших соседей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Выбор темы курсового проекта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991737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34369" y="2935643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439277"/>
              </p:ext>
            </p:extLst>
          </p:nvPr>
        </p:nvGraphicFramePr>
        <p:xfrm>
          <a:off x="5355768" y="573874"/>
          <a:ext cx="2226912" cy="304800"/>
        </p:xfrm>
        <a:graphic>
          <a:graphicData uri="http://schemas.openxmlformats.org/drawingml/2006/table">
            <a:tbl>
              <a:tblPr firstRow="1" bandRow="1">
                <a:tableStyleId>{91CB5BBF-14A1-44A8-AE45-40D0EF8F1E93}</a:tableStyleId>
              </a:tblPr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4" name="Notched Right Arrow 3">
            <a:extLst>
              <a:ext uri="{FF2B5EF4-FFF2-40B4-BE49-F238E27FC236}">
                <a16:creationId xmlns:a16="http://schemas.microsoft.com/office/drawing/2014/main" id="{6C70E98D-9B16-3848-B370-110B5BFC3522}"/>
              </a:ext>
            </a:extLst>
          </p:cNvPr>
          <p:cNvSpPr/>
          <p:nvPr/>
        </p:nvSpPr>
        <p:spPr>
          <a:xfrm rot="5400000">
            <a:off x="3056373" y="4179237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0858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Основные методы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4320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Деревья решений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96207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Ансамбли моделей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9209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Feature engineering &amp; advanced preprocessing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402211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543580" y="1946922"/>
            <a:ext cx="94633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278569" y="2211933"/>
            <a:ext cx="147635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3559" y="2476943"/>
            <a:ext cx="200637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748548" y="2741954"/>
            <a:ext cx="253640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995785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34369" y="2939691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563738"/>
              </p:ext>
            </p:extLst>
          </p:nvPr>
        </p:nvGraphicFramePr>
        <p:xfrm>
          <a:off x="5355768" y="573874"/>
          <a:ext cx="2226912" cy="304800"/>
        </p:xfrm>
        <a:graphic>
          <a:graphicData uri="http://schemas.openxmlformats.org/drawingml/2006/table">
            <a:tbl>
              <a:tblPr firstRow="1" bandRow="1">
                <a:tableStyleId>{91CB5BBF-14A1-44A8-AE45-40D0EF8F1E93}</a:tableStyleId>
              </a:tblPr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3" name="Google Shape;271;p44">
            <a:extLst>
              <a:ext uri="{FF2B5EF4-FFF2-40B4-BE49-F238E27FC236}">
                <a16:creationId xmlns:a16="http://schemas.microsoft.com/office/drawing/2014/main" id="{3FED2974-94C2-824C-B391-10805E2D36B3}"/>
              </a:ext>
            </a:extLst>
          </p:cNvPr>
          <p:cNvSpPr/>
          <p:nvPr/>
        </p:nvSpPr>
        <p:spPr>
          <a:xfrm>
            <a:off x="2238429" y="190432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Логистическая регрессия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9979A166-FE18-0143-9C5F-3262DEC8F68F}"/>
              </a:ext>
            </a:extLst>
          </p:cNvPr>
          <p:cNvCxnSpPr>
            <a:stCxn id="271" idx="2"/>
            <a:endCxn id="33" idx="1"/>
          </p:cNvCxnSpPr>
          <p:nvPr/>
        </p:nvCxnSpPr>
        <p:spPr>
          <a:xfrm rot="16200000" flipH="1">
            <a:off x="1813302" y="1677200"/>
            <a:ext cx="418609" cy="4316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5827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Консультация по проектам и домашним заданиям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3035751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Защита проектных работ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D3A5F98-F024-0E46-989B-34E1B0491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464" y="2943932"/>
            <a:ext cx="2989203" cy="1992802"/>
          </a:xfrm>
          <a:prstGeom prst="rect">
            <a:avLst/>
          </a:prstGeom>
          <a:effectLst>
            <a:softEdge rad="0"/>
          </a:effectLst>
        </p:spPr>
      </p:pic>
      <p:graphicFrame>
        <p:nvGraphicFramePr>
          <p:cNvPr id="18" name="Table 23">
            <a:extLst>
              <a:ext uri="{FF2B5EF4-FFF2-40B4-BE49-F238E27FC236}">
                <a16:creationId xmlns:a16="http://schemas.microsoft.com/office/drawing/2014/main" id="{685AC7D5-8E46-554E-AC25-43436FD15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609643"/>
              </p:ext>
            </p:extLst>
          </p:nvPr>
        </p:nvGraphicFramePr>
        <p:xfrm>
          <a:off x="5355768" y="573874"/>
          <a:ext cx="2226912" cy="304800"/>
        </p:xfrm>
        <a:graphic>
          <a:graphicData uri="http://schemas.openxmlformats.org/drawingml/2006/table">
            <a:tbl>
              <a:tblPr firstRow="1" bandRow="1">
                <a:tableStyleId>{91CB5BBF-14A1-44A8-AE45-40D0EF8F1E93}</a:tableStyleId>
              </a:tblPr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2229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6225366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30" dirty="0"/>
              <a:t>ML Professional</a:t>
            </a:r>
            <a:endParaRPr spc="-15" dirty="0"/>
          </a:p>
        </p:txBody>
      </p:sp>
      <p:sp>
        <p:nvSpPr>
          <p:cNvPr id="3" name="object 3"/>
          <p:cNvSpPr/>
          <p:nvPr/>
        </p:nvSpPr>
        <p:spPr>
          <a:xfrm>
            <a:off x="5805201" y="627324"/>
            <a:ext cx="2473325" cy="579755"/>
          </a:xfrm>
          <a:custGeom>
            <a:avLst/>
            <a:gdLst/>
            <a:ahLst/>
            <a:cxnLst/>
            <a:rect l="l" t="t" r="r" b="b"/>
            <a:pathLst>
              <a:path w="2473325" h="579755">
                <a:moveTo>
                  <a:pt x="2376647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376647" y="0"/>
                </a:lnTo>
                <a:lnTo>
                  <a:pt x="2430215" y="16221"/>
                </a:lnTo>
                <a:lnTo>
                  <a:pt x="2465850" y="59603"/>
                </a:lnTo>
                <a:lnTo>
                  <a:pt x="2473199" y="96551"/>
                </a:lnTo>
                <a:lnTo>
                  <a:pt x="2473199" y="482747"/>
                </a:lnTo>
                <a:lnTo>
                  <a:pt x="2465612" y="520330"/>
                </a:lnTo>
                <a:lnTo>
                  <a:pt x="2444920" y="551020"/>
                </a:lnTo>
                <a:lnTo>
                  <a:pt x="2414230" y="571712"/>
                </a:lnTo>
                <a:lnTo>
                  <a:pt x="2376647" y="579299"/>
                </a:lnTo>
                <a:close/>
              </a:path>
            </a:pathLst>
          </a:cu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</a:pPr>
            <a:r>
              <a:rPr lang="ru-RU" sz="1400" spc="-10" dirty="0">
                <a:latin typeface="Roboto"/>
                <a:cs typeface="Roboto"/>
              </a:rPr>
              <a:t>Обучение с учителем</a:t>
            </a:r>
          </a:p>
        </p:txBody>
      </p:sp>
      <p:sp>
        <p:nvSpPr>
          <p:cNvPr id="5" name="object 5"/>
          <p:cNvSpPr/>
          <p:nvPr/>
        </p:nvSpPr>
        <p:spPr>
          <a:xfrm>
            <a:off x="1905000" y="1684386"/>
            <a:ext cx="2473325" cy="579755"/>
          </a:xfrm>
          <a:custGeom>
            <a:avLst/>
            <a:gdLst/>
            <a:ahLst/>
            <a:cxnLst/>
            <a:rect l="l" t="t" r="r" b="b"/>
            <a:pathLst>
              <a:path w="2473325" h="579755">
                <a:moveTo>
                  <a:pt x="2376647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376647" y="0"/>
                </a:lnTo>
                <a:lnTo>
                  <a:pt x="2430215" y="16221"/>
                </a:lnTo>
                <a:lnTo>
                  <a:pt x="2465850" y="59603"/>
                </a:lnTo>
                <a:lnTo>
                  <a:pt x="2473199" y="96551"/>
                </a:lnTo>
                <a:lnTo>
                  <a:pt x="2473199" y="482747"/>
                </a:lnTo>
                <a:lnTo>
                  <a:pt x="2465612" y="520330"/>
                </a:lnTo>
                <a:lnTo>
                  <a:pt x="2444920" y="551020"/>
                </a:lnTo>
                <a:lnTo>
                  <a:pt x="2414230" y="571712"/>
                </a:lnTo>
                <a:lnTo>
                  <a:pt x="2376647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spc="-20" dirty="0">
                <a:latin typeface="Roboto"/>
                <a:cs typeface="Roboto"/>
              </a:rPr>
              <a:t>Обучение без учителя</a:t>
            </a:r>
            <a:endParaRPr lang="en-US" sz="1400" spc="-20" dirty="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05882" y="1847802"/>
            <a:ext cx="2203450" cy="579755"/>
          </a:xfrm>
          <a:custGeom>
            <a:avLst/>
            <a:gdLst/>
            <a:ahLst/>
            <a:cxnLst/>
            <a:rect l="l" t="t" r="r" b="b"/>
            <a:pathLst>
              <a:path w="2203450" h="579755">
                <a:moveTo>
                  <a:pt x="2106648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106648" y="0"/>
                </a:lnTo>
                <a:lnTo>
                  <a:pt x="2160214" y="16221"/>
                </a:lnTo>
                <a:lnTo>
                  <a:pt x="2195850" y="59603"/>
                </a:lnTo>
                <a:lnTo>
                  <a:pt x="2203199" y="96551"/>
                </a:lnTo>
                <a:lnTo>
                  <a:pt x="2203199" y="482747"/>
                </a:lnTo>
                <a:lnTo>
                  <a:pt x="2195612" y="520330"/>
                </a:lnTo>
                <a:lnTo>
                  <a:pt x="2174920" y="551020"/>
                </a:lnTo>
                <a:lnTo>
                  <a:pt x="2144230" y="571712"/>
                </a:lnTo>
                <a:lnTo>
                  <a:pt x="2106648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spc="-20" dirty="0">
                <a:latin typeface="Roboto"/>
                <a:cs typeface="Roboto"/>
              </a:rPr>
              <a:t>Введение в </a:t>
            </a:r>
            <a:r>
              <a:rPr lang="en-US" sz="1400" spc="-20" dirty="0">
                <a:latin typeface="Roboto"/>
                <a:cs typeface="Roboto"/>
              </a:rPr>
              <a:t>Deep learning</a:t>
            </a:r>
            <a:endParaRPr sz="1400" spc="-20" dirty="0">
              <a:latin typeface="Roboto"/>
              <a:cs typeface="Robo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16500" y="3022737"/>
            <a:ext cx="2971165" cy="579755"/>
          </a:xfrm>
          <a:custGeom>
            <a:avLst/>
            <a:gdLst/>
            <a:ahLst/>
            <a:cxnLst/>
            <a:rect l="l" t="t" r="r" b="b"/>
            <a:pathLst>
              <a:path w="2971165" h="579754">
                <a:moveTo>
                  <a:pt x="2874047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874047" y="0"/>
                </a:lnTo>
                <a:lnTo>
                  <a:pt x="2927615" y="16221"/>
                </a:lnTo>
                <a:lnTo>
                  <a:pt x="2963250" y="59603"/>
                </a:lnTo>
                <a:lnTo>
                  <a:pt x="2970599" y="96551"/>
                </a:lnTo>
                <a:lnTo>
                  <a:pt x="2970599" y="482747"/>
                </a:lnTo>
                <a:lnTo>
                  <a:pt x="2963012" y="520330"/>
                </a:lnTo>
                <a:lnTo>
                  <a:pt x="2942320" y="551020"/>
                </a:lnTo>
                <a:lnTo>
                  <a:pt x="2911630" y="571712"/>
                </a:lnTo>
                <a:lnTo>
                  <a:pt x="2874047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b="0" i="0" u="none" strike="noStrike" dirty="0">
                <a:effectLst/>
                <a:latin typeface="roboto" panose="02000000000000000000" pitchFamily="2" charset="0"/>
              </a:rPr>
              <a:t>Анализ временных рядов</a:t>
            </a:r>
          </a:p>
        </p:txBody>
      </p:sp>
      <p:sp>
        <p:nvSpPr>
          <p:cNvPr id="11" name="object 11"/>
          <p:cNvSpPr/>
          <p:nvPr/>
        </p:nvSpPr>
        <p:spPr>
          <a:xfrm>
            <a:off x="5840299" y="2778634"/>
            <a:ext cx="2473325" cy="579755"/>
          </a:xfrm>
          <a:custGeom>
            <a:avLst/>
            <a:gdLst/>
            <a:ahLst/>
            <a:cxnLst/>
            <a:rect l="l" t="t" r="r" b="b"/>
            <a:pathLst>
              <a:path w="2473325" h="579754">
                <a:moveTo>
                  <a:pt x="2376647" y="579300"/>
                </a:moveTo>
                <a:lnTo>
                  <a:pt x="96551" y="579300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8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376647" y="0"/>
                </a:lnTo>
                <a:lnTo>
                  <a:pt x="2430215" y="16221"/>
                </a:lnTo>
                <a:lnTo>
                  <a:pt x="2465850" y="59603"/>
                </a:lnTo>
                <a:lnTo>
                  <a:pt x="2473200" y="96551"/>
                </a:lnTo>
                <a:lnTo>
                  <a:pt x="2473200" y="482748"/>
                </a:lnTo>
                <a:lnTo>
                  <a:pt x="2465612" y="520330"/>
                </a:lnTo>
                <a:lnTo>
                  <a:pt x="2444920" y="551020"/>
                </a:lnTo>
                <a:lnTo>
                  <a:pt x="2414230" y="571712"/>
                </a:lnTo>
                <a:lnTo>
                  <a:pt x="2376647" y="57930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b="0" i="0" u="none" strike="noStrike" dirty="0">
                <a:effectLst/>
                <a:latin typeface="roboto" panose="02000000000000000000" pitchFamily="2" charset="0"/>
              </a:rPr>
              <a:t>Сбор данных. Анализ текстовых данных</a:t>
            </a:r>
          </a:p>
        </p:txBody>
      </p:sp>
      <p:sp>
        <p:nvSpPr>
          <p:cNvPr id="14" name="object 14"/>
          <p:cNvSpPr/>
          <p:nvPr/>
        </p:nvSpPr>
        <p:spPr>
          <a:xfrm>
            <a:off x="1472660" y="916975"/>
            <a:ext cx="4332605" cy="1220470"/>
          </a:xfrm>
          <a:custGeom>
            <a:avLst/>
            <a:gdLst/>
            <a:ahLst/>
            <a:cxnLst/>
            <a:rect l="l" t="t" r="r" b="b"/>
            <a:pathLst>
              <a:path w="4332605" h="1220470">
                <a:moveTo>
                  <a:pt x="2898413" y="1010949"/>
                </a:moveTo>
                <a:lnTo>
                  <a:pt x="2964258" y="1012817"/>
                </a:lnTo>
                <a:lnTo>
                  <a:pt x="3023231" y="1018131"/>
                </a:lnTo>
                <a:lnTo>
                  <a:pt x="3076192" y="1026461"/>
                </a:lnTo>
                <a:lnTo>
                  <a:pt x="3124000" y="1037376"/>
                </a:lnTo>
                <a:lnTo>
                  <a:pt x="3167514" y="1050445"/>
                </a:lnTo>
                <a:lnTo>
                  <a:pt x="3207593" y="1065238"/>
                </a:lnTo>
                <a:lnTo>
                  <a:pt x="3245096" y="1081324"/>
                </a:lnTo>
                <a:lnTo>
                  <a:pt x="3280884" y="1098271"/>
                </a:lnTo>
                <a:lnTo>
                  <a:pt x="3315813" y="1115649"/>
                </a:lnTo>
                <a:lnTo>
                  <a:pt x="3350745" y="1133028"/>
                </a:lnTo>
                <a:lnTo>
                  <a:pt x="3386537" y="1149975"/>
                </a:lnTo>
                <a:lnTo>
                  <a:pt x="3424048" y="1166061"/>
                </a:lnTo>
                <a:lnTo>
                  <a:pt x="3464138" y="1180854"/>
                </a:lnTo>
                <a:lnTo>
                  <a:pt x="3507664" y="1193923"/>
                </a:lnTo>
                <a:lnTo>
                  <a:pt x="3555486" y="1204838"/>
                </a:lnTo>
                <a:lnTo>
                  <a:pt x="3608463" y="1213168"/>
                </a:lnTo>
                <a:lnTo>
                  <a:pt x="3667452" y="1218482"/>
                </a:lnTo>
                <a:lnTo>
                  <a:pt x="3733313" y="1220349"/>
                </a:lnTo>
              </a:path>
              <a:path w="4332605" h="1220470">
                <a:moveTo>
                  <a:pt x="4332540" y="0"/>
                </a:moveTo>
                <a:lnTo>
                  <a:pt x="4257836" y="109"/>
                </a:lnTo>
                <a:lnTo>
                  <a:pt x="4183563" y="436"/>
                </a:lnTo>
                <a:lnTo>
                  <a:pt x="4109729" y="978"/>
                </a:lnTo>
                <a:lnTo>
                  <a:pt x="4036339" y="1732"/>
                </a:lnTo>
                <a:lnTo>
                  <a:pt x="3963400" y="2696"/>
                </a:lnTo>
                <a:lnTo>
                  <a:pt x="3890918" y="3866"/>
                </a:lnTo>
                <a:lnTo>
                  <a:pt x="3818900" y="5241"/>
                </a:lnTo>
                <a:lnTo>
                  <a:pt x="3747352" y="6817"/>
                </a:lnTo>
                <a:lnTo>
                  <a:pt x="3676281" y="8593"/>
                </a:lnTo>
                <a:lnTo>
                  <a:pt x="3605692" y="10564"/>
                </a:lnTo>
                <a:lnTo>
                  <a:pt x="3535592" y="12729"/>
                </a:lnTo>
                <a:lnTo>
                  <a:pt x="3465987" y="15085"/>
                </a:lnTo>
                <a:lnTo>
                  <a:pt x="3396885" y="17630"/>
                </a:lnTo>
                <a:lnTo>
                  <a:pt x="3328291" y="20360"/>
                </a:lnTo>
                <a:lnTo>
                  <a:pt x="3260211" y="23273"/>
                </a:lnTo>
                <a:lnTo>
                  <a:pt x="3192652" y="26366"/>
                </a:lnTo>
                <a:lnTo>
                  <a:pt x="3125621" y="29637"/>
                </a:lnTo>
                <a:lnTo>
                  <a:pt x="3059124" y="33083"/>
                </a:lnTo>
                <a:lnTo>
                  <a:pt x="2993166" y="36702"/>
                </a:lnTo>
                <a:lnTo>
                  <a:pt x="2927755" y="40490"/>
                </a:lnTo>
                <a:lnTo>
                  <a:pt x="2862897" y="44445"/>
                </a:lnTo>
                <a:lnTo>
                  <a:pt x="2798599" y="48565"/>
                </a:lnTo>
                <a:lnTo>
                  <a:pt x="2734866" y="52847"/>
                </a:lnTo>
                <a:lnTo>
                  <a:pt x="2671705" y="57287"/>
                </a:lnTo>
                <a:lnTo>
                  <a:pt x="2609122" y="61884"/>
                </a:lnTo>
                <a:lnTo>
                  <a:pt x="2547124" y="66635"/>
                </a:lnTo>
                <a:lnTo>
                  <a:pt x="2485717" y="71538"/>
                </a:lnTo>
                <a:lnTo>
                  <a:pt x="2424908" y="76588"/>
                </a:lnTo>
                <a:lnTo>
                  <a:pt x="2364702" y="81785"/>
                </a:lnTo>
                <a:lnTo>
                  <a:pt x="2305107" y="87125"/>
                </a:lnTo>
                <a:lnTo>
                  <a:pt x="2246128" y="92605"/>
                </a:lnTo>
                <a:lnTo>
                  <a:pt x="2187773" y="98223"/>
                </a:lnTo>
                <a:lnTo>
                  <a:pt x="2130046" y="103977"/>
                </a:lnTo>
                <a:lnTo>
                  <a:pt x="2072956" y="109863"/>
                </a:lnTo>
                <a:lnTo>
                  <a:pt x="2016508" y="115879"/>
                </a:lnTo>
                <a:lnTo>
                  <a:pt x="1960708" y="122022"/>
                </a:lnTo>
                <a:lnTo>
                  <a:pt x="1905563" y="128291"/>
                </a:lnTo>
                <a:lnTo>
                  <a:pt x="1851079" y="134681"/>
                </a:lnTo>
                <a:lnTo>
                  <a:pt x="1797263" y="141190"/>
                </a:lnTo>
                <a:lnTo>
                  <a:pt x="1744121" y="147816"/>
                </a:lnTo>
                <a:lnTo>
                  <a:pt x="1691659" y="154556"/>
                </a:lnTo>
                <a:lnTo>
                  <a:pt x="1639884" y="161408"/>
                </a:lnTo>
                <a:lnTo>
                  <a:pt x="1588802" y="168368"/>
                </a:lnTo>
                <a:lnTo>
                  <a:pt x="1538420" y="175434"/>
                </a:lnTo>
                <a:lnTo>
                  <a:pt x="1488744" y="182604"/>
                </a:lnTo>
                <a:lnTo>
                  <a:pt x="1439779" y="189875"/>
                </a:lnTo>
                <a:lnTo>
                  <a:pt x="1391534" y="197244"/>
                </a:lnTo>
                <a:lnTo>
                  <a:pt x="1344013" y="204708"/>
                </a:lnTo>
                <a:lnTo>
                  <a:pt x="1297224" y="212265"/>
                </a:lnTo>
                <a:lnTo>
                  <a:pt x="1251173" y="219912"/>
                </a:lnTo>
                <a:lnTo>
                  <a:pt x="1205865" y="227647"/>
                </a:lnTo>
                <a:lnTo>
                  <a:pt x="1161308" y="235466"/>
                </a:lnTo>
                <a:lnTo>
                  <a:pt x="1117509" y="243368"/>
                </a:lnTo>
                <a:lnTo>
                  <a:pt x="1074472" y="251350"/>
                </a:lnTo>
                <a:lnTo>
                  <a:pt x="1032205" y="259408"/>
                </a:lnTo>
                <a:lnTo>
                  <a:pt x="990714" y="267540"/>
                </a:lnTo>
                <a:lnTo>
                  <a:pt x="950005" y="275745"/>
                </a:lnTo>
                <a:lnTo>
                  <a:pt x="910085" y="284018"/>
                </a:lnTo>
                <a:lnTo>
                  <a:pt x="870960" y="292357"/>
                </a:lnTo>
                <a:lnTo>
                  <a:pt x="832637" y="300760"/>
                </a:lnTo>
                <a:lnTo>
                  <a:pt x="795122" y="309224"/>
                </a:lnTo>
                <a:lnTo>
                  <a:pt x="722540" y="326325"/>
                </a:lnTo>
                <a:lnTo>
                  <a:pt x="653266" y="343638"/>
                </a:lnTo>
                <a:lnTo>
                  <a:pt x="587352" y="361141"/>
                </a:lnTo>
                <a:lnTo>
                  <a:pt x="524847" y="378815"/>
                </a:lnTo>
                <a:lnTo>
                  <a:pt x="465803" y="396637"/>
                </a:lnTo>
                <a:lnTo>
                  <a:pt x="410272" y="414586"/>
                </a:lnTo>
                <a:lnTo>
                  <a:pt x="358303" y="432641"/>
                </a:lnTo>
                <a:lnTo>
                  <a:pt x="309948" y="450782"/>
                </a:lnTo>
                <a:lnTo>
                  <a:pt x="265259" y="468986"/>
                </a:lnTo>
                <a:lnTo>
                  <a:pt x="224285" y="487232"/>
                </a:lnTo>
                <a:lnTo>
                  <a:pt x="187079" y="505499"/>
                </a:lnTo>
                <a:lnTo>
                  <a:pt x="135498" y="534649"/>
                </a:lnTo>
                <a:lnTo>
                  <a:pt x="93104" y="563711"/>
                </a:lnTo>
                <a:lnTo>
                  <a:pt x="59356" y="592602"/>
                </a:lnTo>
                <a:lnTo>
                  <a:pt x="33712" y="621233"/>
                </a:lnTo>
                <a:lnTo>
                  <a:pt x="4575" y="677374"/>
                </a:lnTo>
                <a:lnTo>
                  <a:pt x="0" y="704711"/>
                </a:lnTo>
                <a:lnTo>
                  <a:pt x="1366" y="731444"/>
                </a:lnTo>
                <a:lnTo>
                  <a:pt x="19758" y="782754"/>
                </a:lnTo>
                <a:lnTo>
                  <a:pt x="55426" y="830612"/>
                </a:lnTo>
                <a:lnTo>
                  <a:pt x="104041" y="874328"/>
                </a:lnTo>
                <a:lnTo>
                  <a:pt x="161278" y="913213"/>
                </a:lnTo>
                <a:lnTo>
                  <a:pt x="222809" y="946575"/>
                </a:lnTo>
                <a:lnTo>
                  <a:pt x="284307" y="973725"/>
                </a:lnTo>
                <a:lnTo>
                  <a:pt x="341446" y="993973"/>
                </a:lnTo>
                <a:lnTo>
                  <a:pt x="389899" y="1006628"/>
                </a:lnTo>
                <a:lnTo>
                  <a:pt x="409517" y="1009892"/>
                </a:lnTo>
                <a:lnTo>
                  <a:pt x="425340" y="10109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01749" y="4031600"/>
            <a:ext cx="3084195" cy="579755"/>
          </a:xfrm>
          <a:custGeom>
            <a:avLst/>
            <a:gdLst/>
            <a:ahLst/>
            <a:cxnLst/>
            <a:rect l="l" t="t" r="r" b="b"/>
            <a:pathLst>
              <a:path w="3084195" h="579754">
                <a:moveTo>
                  <a:pt x="2987147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987147" y="0"/>
                </a:lnTo>
                <a:lnTo>
                  <a:pt x="3040715" y="16221"/>
                </a:lnTo>
                <a:lnTo>
                  <a:pt x="3076350" y="59603"/>
                </a:lnTo>
                <a:lnTo>
                  <a:pt x="3083699" y="96551"/>
                </a:lnTo>
                <a:lnTo>
                  <a:pt x="3083699" y="482747"/>
                </a:lnTo>
                <a:lnTo>
                  <a:pt x="3076112" y="520330"/>
                </a:lnTo>
                <a:lnTo>
                  <a:pt x="3055420" y="551020"/>
                </a:lnTo>
                <a:lnTo>
                  <a:pt x="3024730" y="571712"/>
                </a:lnTo>
                <a:lnTo>
                  <a:pt x="2987147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b="0" i="0" u="none" strike="noStrike" dirty="0">
                <a:effectLst/>
                <a:latin typeface="roboto" panose="02000000000000000000" pitchFamily="2" charset="0"/>
              </a:rPr>
              <a:t>Рекомендательные системы</a:t>
            </a:r>
          </a:p>
        </p:txBody>
      </p:sp>
      <p:sp>
        <p:nvSpPr>
          <p:cNvPr id="18" name="object 18"/>
          <p:cNvSpPr/>
          <p:nvPr/>
        </p:nvSpPr>
        <p:spPr>
          <a:xfrm>
            <a:off x="870483" y="2137452"/>
            <a:ext cx="7710805" cy="2184400"/>
          </a:xfrm>
          <a:custGeom>
            <a:avLst/>
            <a:gdLst/>
            <a:ahLst/>
            <a:cxnLst/>
            <a:rect l="l" t="t" r="r" b="b"/>
            <a:pathLst>
              <a:path w="7710805" h="2184400">
                <a:moveTo>
                  <a:pt x="6538599" y="0"/>
                </a:moveTo>
                <a:lnTo>
                  <a:pt x="6604000" y="1019"/>
                </a:lnTo>
                <a:lnTo>
                  <a:pt x="6668319" y="4025"/>
                </a:lnTo>
                <a:lnTo>
                  <a:pt x="6731475" y="8937"/>
                </a:lnTo>
                <a:lnTo>
                  <a:pt x="6793390" y="15677"/>
                </a:lnTo>
                <a:lnTo>
                  <a:pt x="6853985" y="24164"/>
                </a:lnTo>
                <a:lnTo>
                  <a:pt x="6913181" y="34320"/>
                </a:lnTo>
                <a:lnTo>
                  <a:pt x="6970897" y="46065"/>
                </a:lnTo>
                <a:lnTo>
                  <a:pt x="7027055" y="59319"/>
                </a:lnTo>
                <a:lnTo>
                  <a:pt x="7081576" y="74004"/>
                </a:lnTo>
                <a:lnTo>
                  <a:pt x="7134380" y="90039"/>
                </a:lnTo>
                <a:lnTo>
                  <a:pt x="7185389" y="107345"/>
                </a:lnTo>
                <a:lnTo>
                  <a:pt x="7234522" y="125843"/>
                </a:lnTo>
                <a:lnTo>
                  <a:pt x="7281701" y="145453"/>
                </a:lnTo>
                <a:lnTo>
                  <a:pt x="7326847" y="166095"/>
                </a:lnTo>
                <a:lnTo>
                  <a:pt x="7369880" y="187692"/>
                </a:lnTo>
                <a:lnTo>
                  <a:pt x="7410721" y="210162"/>
                </a:lnTo>
                <a:lnTo>
                  <a:pt x="7449291" y="233426"/>
                </a:lnTo>
                <a:lnTo>
                  <a:pt x="7485511" y="257406"/>
                </a:lnTo>
                <a:lnTo>
                  <a:pt x="7519301" y="282021"/>
                </a:lnTo>
                <a:lnTo>
                  <a:pt x="7550582" y="307192"/>
                </a:lnTo>
                <a:lnTo>
                  <a:pt x="7579275" y="332840"/>
                </a:lnTo>
                <a:lnTo>
                  <a:pt x="7628579" y="385248"/>
                </a:lnTo>
                <a:lnTo>
                  <a:pt x="7666581" y="438610"/>
                </a:lnTo>
                <a:lnTo>
                  <a:pt x="7700257" y="515234"/>
                </a:lnTo>
                <a:lnTo>
                  <a:pt x="7709805" y="564510"/>
                </a:lnTo>
                <a:lnTo>
                  <a:pt x="7710791" y="612768"/>
                </a:lnTo>
                <a:lnTo>
                  <a:pt x="7704217" y="659500"/>
                </a:lnTo>
                <a:lnTo>
                  <a:pt x="7691085" y="704196"/>
                </a:lnTo>
                <a:lnTo>
                  <a:pt x="7672397" y="746348"/>
                </a:lnTo>
                <a:lnTo>
                  <a:pt x="7649154" y="785446"/>
                </a:lnTo>
                <a:lnTo>
                  <a:pt x="7622360" y="820983"/>
                </a:lnTo>
                <a:lnTo>
                  <a:pt x="7593014" y="852448"/>
                </a:lnTo>
                <a:lnTo>
                  <a:pt x="7562121" y="879334"/>
                </a:lnTo>
                <a:lnTo>
                  <a:pt x="7530680" y="901130"/>
                </a:lnTo>
                <a:lnTo>
                  <a:pt x="7470168" y="927422"/>
                </a:lnTo>
                <a:lnTo>
                  <a:pt x="7443099" y="930899"/>
                </a:lnTo>
              </a:path>
              <a:path w="7710805" h="2184400">
                <a:moveTo>
                  <a:pt x="4969816" y="930831"/>
                </a:moveTo>
                <a:lnTo>
                  <a:pt x="4898757" y="931386"/>
                </a:lnTo>
                <a:lnTo>
                  <a:pt x="4831532" y="933009"/>
                </a:lnTo>
                <a:lnTo>
                  <a:pt x="4767914" y="935636"/>
                </a:lnTo>
                <a:lnTo>
                  <a:pt x="4707678" y="939206"/>
                </a:lnTo>
                <a:lnTo>
                  <a:pt x="4650598" y="943655"/>
                </a:lnTo>
                <a:lnTo>
                  <a:pt x="4596449" y="948920"/>
                </a:lnTo>
                <a:lnTo>
                  <a:pt x="4545006" y="954939"/>
                </a:lnTo>
                <a:lnTo>
                  <a:pt x="4496043" y="961649"/>
                </a:lnTo>
                <a:lnTo>
                  <a:pt x="4449335" y="968988"/>
                </a:lnTo>
                <a:lnTo>
                  <a:pt x="4404655" y="976891"/>
                </a:lnTo>
                <a:lnTo>
                  <a:pt x="4361780" y="985297"/>
                </a:lnTo>
                <a:lnTo>
                  <a:pt x="4320483" y="994142"/>
                </a:lnTo>
                <a:lnTo>
                  <a:pt x="4280538" y="1003365"/>
                </a:lnTo>
                <a:lnTo>
                  <a:pt x="4241721" y="1012901"/>
                </a:lnTo>
                <a:lnTo>
                  <a:pt x="4203805" y="1022689"/>
                </a:lnTo>
                <a:lnTo>
                  <a:pt x="4166567" y="1032665"/>
                </a:lnTo>
                <a:lnTo>
                  <a:pt x="4129778" y="1042767"/>
                </a:lnTo>
                <a:lnTo>
                  <a:pt x="4056653" y="1063096"/>
                </a:lnTo>
                <a:lnTo>
                  <a:pt x="4019865" y="1073198"/>
                </a:lnTo>
                <a:lnTo>
                  <a:pt x="3982626" y="1083174"/>
                </a:lnTo>
                <a:lnTo>
                  <a:pt x="3944711" y="1092961"/>
                </a:lnTo>
                <a:lnTo>
                  <a:pt x="3905894" y="1102498"/>
                </a:lnTo>
                <a:lnTo>
                  <a:pt x="3865949" y="1111720"/>
                </a:lnTo>
                <a:lnTo>
                  <a:pt x="3824652" y="1120566"/>
                </a:lnTo>
                <a:lnTo>
                  <a:pt x="3781776" y="1128972"/>
                </a:lnTo>
                <a:lnTo>
                  <a:pt x="3737097" y="1136875"/>
                </a:lnTo>
                <a:lnTo>
                  <a:pt x="3690389" y="1144213"/>
                </a:lnTo>
                <a:lnTo>
                  <a:pt x="3641426" y="1150923"/>
                </a:lnTo>
                <a:lnTo>
                  <a:pt x="3589983" y="1156943"/>
                </a:lnTo>
                <a:lnTo>
                  <a:pt x="3535834" y="1162208"/>
                </a:lnTo>
                <a:lnTo>
                  <a:pt x="3478754" y="1166657"/>
                </a:lnTo>
                <a:lnTo>
                  <a:pt x="3418518" y="1170227"/>
                </a:lnTo>
                <a:lnTo>
                  <a:pt x="3354900" y="1172854"/>
                </a:lnTo>
                <a:lnTo>
                  <a:pt x="3287674" y="1174477"/>
                </a:lnTo>
                <a:lnTo>
                  <a:pt x="3216616" y="1175031"/>
                </a:lnTo>
              </a:path>
              <a:path w="7710805" h="2184400">
                <a:moveTo>
                  <a:pt x="246017" y="1174934"/>
                </a:moveTo>
                <a:lnTo>
                  <a:pt x="188605" y="1191926"/>
                </a:lnTo>
                <a:lnTo>
                  <a:pt x="130113" y="1239225"/>
                </a:lnTo>
                <a:lnTo>
                  <a:pt x="102260" y="1272518"/>
                </a:lnTo>
                <a:lnTo>
                  <a:pt x="76297" y="1311322"/>
                </a:lnTo>
                <a:lnTo>
                  <a:pt x="52942" y="1354948"/>
                </a:lnTo>
                <a:lnTo>
                  <a:pt x="32915" y="1402706"/>
                </a:lnTo>
                <a:lnTo>
                  <a:pt x="16936" y="1453909"/>
                </a:lnTo>
                <a:lnTo>
                  <a:pt x="5724" y="1507867"/>
                </a:lnTo>
                <a:lnTo>
                  <a:pt x="0" y="1563891"/>
                </a:lnTo>
                <a:lnTo>
                  <a:pt x="482" y="1621294"/>
                </a:lnTo>
                <a:lnTo>
                  <a:pt x="7890" y="1679384"/>
                </a:lnTo>
                <a:lnTo>
                  <a:pt x="17880" y="1721379"/>
                </a:lnTo>
                <a:lnTo>
                  <a:pt x="31687" y="1763114"/>
                </a:lnTo>
                <a:lnTo>
                  <a:pt x="49138" y="1804329"/>
                </a:lnTo>
                <a:lnTo>
                  <a:pt x="70061" y="1844767"/>
                </a:lnTo>
                <a:lnTo>
                  <a:pt x="94284" y="1884166"/>
                </a:lnTo>
                <a:lnTo>
                  <a:pt x="121635" y="1922268"/>
                </a:lnTo>
                <a:lnTo>
                  <a:pt x="151942" y="1958813"/>
                </a:lnTo>
                <a:lnTo>
                  <a:pt x="185033" y="1993541"/>
                </a:lnTo>
                <a:lnTo>
                  <a:pt x="220736" y="2026194"/>
                </a:lnTo>
                <a:lnTo>
                  <a:pt x="258879" y="2056511"/>
                </a:lnTo>
                <a:lnTo>
                  <a:pt x="299290" y="2084233"/>
                </a:lnTo>
                <a:lnTo>
                  <a:pt x="341797" y="2109101"/>
                </a:lnTo>
                <a:lnTo>
                  <a:pt x="386227" y="2130855"/>
                </a:lnTo>
                <a:lnTo>
                  <a:pt x="432410" y="2149236"/>
                </a:lnTo>
                <a:lnTo>
                  <a:pt x="480172" y="2163983"/>
                </a:lnTo>
                <a:lnTo>
                  <a:pt x="529342" y="2174839"/>
                </a:lnTo>
                <a:lnTo>
                  <a:pt x="579748" y="2181542"/>
                </a:lnTo>
                <a:lnTo>
                  <a:pt x="631217" y="2183834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83000" y="4031600"/>
            <a:ext cx="3084195" cy="579755"/>
          </a:xfrm>
          <a:custGeom>
            <a:avLst/>
            <a:gdLst/>
            <a:ahLst/>
            <a:cxnLst/>
            <a:rect l="l" t="t" r="r" b="b"/>
            <a:pathLst>
              <a:path w="3084195" h="579754">
                <a:moveTo>
                  <a:pt x="2987148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987148" y="0"/>
                </a:lnTo>
                <a:lnTo>
                  <a:pt x="3040714" y="16221"/>
                </a:lnTo>
                <a:lnTo>
                  <a:pt x="3076350" y="59603"/>
                </a:lnTo>
                <a:lnTo>
                  <a:pt x="3083699" y="96551"/>
                </a:lnTo>
                <a:lnTo>
                  <a:pt x="3083699" y="482747"/>
                </a:lnTo>
                <a:lnTo>
                  <a:pt x="3076112" y="520330"/>
                </a:lnTo>
                <a:lnTo>
                  <a:pt x="3055420" y="551020"/>
                </a:lnTo>
                <a:lnTo>
                  <a:pt x="3024730" y="571712"/>
                </a:lnTo>
                <a:lnTo>
                  <a:pt x="2987148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b="0" i="0" u="none" strike="noStrike" dirty="0">
                <a:effectLst/>
                <a:latin typeface="roboto" panose="02000000000000000000" pitchFamily="2" charset="0"/>
              </a:rPr>
              <a:t>Проектная работа</a:t>
            </a:r>
          </a:p>
        </p:txBody>
      </p:sp>
      <p:sp>
        <p:nvSpPr>
          <p:cNvPr id="21" name="object 21"/>
          <p:cNvSpPr/>
          <p:nvPr/>
        </p:nvSpPr>
        <p:spPr>
          <a:xfrm>
            <a:off x="4585449" y="4321249"/>
            <a:ext cx="497840" cy="0"/>
          </a:xfrm>
          <a:custGeom>
            <a:avLst/>
            <a:gdLst/>
            <a:ahLst/>
            <a:cxnLst/>
            <a:rect l="l" t="t" r="r" b="b"/>
            <a:pathLst>
              <a:path w="497839">
                <a:moveTo>
                  <a:pt x="0" y="0"/>
                </a:moveTo>
                <a:lnTo>
                  <a:pt x="4976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Результат</a:t>
            </a:r>
            <a:endParaRPr dirty="0"/>
          </a:p>
        </p:txBody>
      </p:sp>
      <p:sp>
        <p:nvSpPr>
          <p:cNvPr id="287" name="Google Shape;287;p45"/>
          <p:cNvSpPr txBox="1">
            <a:spLocks noGrp="1"/>
          </p:cNvSpPr>
          <p:nvPr>
            <p:ph type="body" idx="1"/>
          </p:nvPr>
        </p:nvSpPr>
        <p:spPr>
          <a:xfrm>
            <a:off x="500550" y="1076131"/>
            <a:ext cx="8520600" cy="37366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rabicParenR"/>
            </a:pPr>
            <a:r>
              <a:rPr lang="ru" sz="1200" b="1" dirty="0"/>
              <a:t>Что получите от курса</a:t>
            </a:r>
            <a:endParaRPr sz="1200" b="1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en-US" sz="1200" dirty="0"/>
              <a:t>Python. </a:t>
            </a:r>
            <a:r>
              <a:rPr lang="ru-RU" sz="1200" dirty="0"/>
              <a:t>Освоите основы и научитесь использовать его в задачах </a:t>
            </a:r>
            <a:r>
              <a:rPr lang="en-US" sz="1200" dirty="0"/>
              <a:t>Machine Learning.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Математика. Вспомните ключевые разделы, чтобы понимать теоретические основы и принципы работы алгоритмов Машинного Обучения.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Классические модели </a:t>
            </a:r>
            <a:r>
              <a:rPr lang="en-US" sz="1200" dirty="0"/>
              <a:t>Machine Learning.</a:t>
            </a:r>
            <a:endParaRPr lang="ru-RU" sz="1200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Познакомитесь с коллегами и возможно </a:t>
            </a:r>
            <a:r>
              <a:rPr lang="ru-RU" sz="1200" b="1" i="1" dirty="0"/>
              <a:t>создадите группу </a:t>
            </a:r>
            <a:r>
              <a:rPr lang="ru-RU" sz="1200" dirty="0"/>
              <a:t>для собственного пет-проекта</a:t>
            </a:r>
            <a:endParaRPr sz="1200" dirty="0"/>
          </a:p>
          <a:p>
            <a:pPr marL="457200" lvl="0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rabicParenR"/>
            </a:pPr>
            <a:endParaRPr lang="en-US" sz="1200" b="1" dirty="0"/>
          </a:p>
          <a:p>
            <a:pPr marL="457200" lvl="0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rabicParenR"/>
            </a:pPr>
            <a:r>
              <a:rPr lang="ru" sz="1200" b="1" dirty="0"/>
              <a:t>За время курса</a:t>
            </a:r>
            <a:endParaRPr sz="1200" b="1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Научитесь работать с </a:t>
            </a:r>
            <a:r>
              <a:rPr lang="en-US" sz="1200" dirty="0"/>
              <a:t>Git, Shell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Вспомните теорию вероятностей и математическую статистику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Попробуете решать реальные бизнес-задачи при помощи методов машинного обучения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Научитесь работать с </a:t>
            </a:r>
            <a:r>
              <a:rPr lang="en-US" sz="1200" dirty="0"/>
              <a:t>Python-</a:t>
            </a:r>
            <a:r>
              <a:rPr lang="ru-RU" sz="1200" dirty="0"/>
              <a:t>библиотеками для </a:t>
            </a:r>
            <a:r>
              <a:rPr lang="en-US" sz="1200" dirty="0"/>
              <a:t>Machine Learning</a:t>
            </a:r>
            <a:endParaRPr lang="ru-RU" sz="1200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Научитесь ориентироваться в различных направлениях </a:t>
            </a:r>
            <a:r>
              <a:rPr lang="en-US" sz="1200" dirty="0"/>
              <a:t>Data Science</a:t>
            </a:r>
            <a:endParaRPr lang="en-TR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будем учиться?</a:t>
            </a:r>
            <a:endParaRPr/>
          </a:p>
        </p:txBody>
      </p:sp>
      <p:sp>
        <p:nvSpPr>
          <p:cNvPr id="294" name="Google Shape;294;p46"/>
          <p:cNvSpPr txBox="1"/>
          <p:nvPr/>
        </p:nvSpPr>
        <p:spPr>
          <a:xfrm>
            <a:off x="473250" y="1823599"/>
            <a:ext cx="25263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Вебинары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два раза в неделю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20:00.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(запись и материалы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выкладывают, как правило,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на следующий день после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вебинара)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46"/>
          <p:cNvSpPr txBox="1"/>
          <p:nvPr/>
        </p:nvSpPr>
        <p:spPr>
          <a:xfrm>
            <a:off x="3456338" y="2528549"/>
            <a:ext cx="21381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Домашние задания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latin typeface="Roboto"/>
                <a:ea typeface="Roboto"/>
                <a:cs typeface="Roboto"/>
                <a:sym typeface="Roboto"/>
              </a:rPr>
              <a:t>~</a:t>
            </a:r>
            <a:r>
              <a:rPr lang="ru" sz="1300" b="1" dirty="0">
                <a:latin typeface="Roboto"/>
                <a:ea typeface="Roboto"/>
                <a:cs typeface="Roboto"/>
                <a:sym typeface="Roboto"/>
              </a:rPr>
              <a:t>1 дз в неделю.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Дедлайна нет, кроме окончания курса :)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Типовой срок проверки: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2-3 дня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46"/>
          <p:cNvSpPr txBox="1"/>
          <p:nvPr/>
        </p:nvSpPr>
        <p:spPr>
          <a:xfrm>
            <a:off x="6330300" y="3427376"/>
            <a:ext cx="24300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Чат в телеграм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b="1" dirty="0">
                <a:latin typeface="Roboto"/>
                <a:ea typeface="Roboto"/>
                <a:cs typeface="Roboto"/>
                <a:sym typeface="Roboto"/>
              </a:rPr>
              <a:t>Задавайте вопросы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, обменивайтесь инсайтами.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Наш чат – это </a:t>
            </a:r>
            <a:br>
              <a:rPr lang="ru" sz="1300" dirty="0">
                <a:latin typeface="Roboto"/>
                <a:ea typeface="Roboto"/>
                <a:cs typeface="Roboto"/>
                <a:sym typeface="Roboto"/>
              </a:rPr>
            </a:b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OTUS </a:t>
            </a:r>
            <a:r>
              <a:rPr lang="en-US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Basic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-202</a:t>
            </a:r>
            <a:r>
              <a:rPr lang="ru-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en-US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ru-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7" name="Google Shape;29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0462" y="1823599"/>
            <a:ext cx="615971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25" y="1118649"/>
            <a:ext cx="615971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20;p84">
            <a:extLst>
              <a:ext uri="{FF2B5EF4-FFF2-40B4-BE49-F238E27FC236}">
                <a16:creationId xmlns:a16="http://schemas.microsoft.com/office/drawing/2014/main" id="{5562D981-7D92-094F-B4B3-4553D9575A7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7625" y="2717656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037FC6-7D11-294F-92A7-A14EC27D02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0801" y="284257"/>
            <a:ext cx="3309499" cy="19857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Отзывы</a:t>
            </a:r>
            <a:endParaRPr/>
          </a:p>
        </p:txBody>
      </p:sp>
      <p:pic>
        <p:nvPicPr>
          <p:cNvPr id="305" name="Google Shape;305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9641" y="1443384"/>
            <a:ext cx="659225" cy="65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7"/>
          <p:cNvSpPr txBox="1"/>
          <p:nvPr/>
        </p:nvSpPr>
        <p:spPr>
          <a:xfrm>
            <a:off x="1407466" y="1426624"/>
            <a:ext cx="3390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Всегда рады вашим конструктивным отзывам :)</a:t>
            </a:r>
            <a:endParaRPr sz="1500" dirty="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C5884A-5CCF-3645-B08C-60BDE6085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731" y="0"/>
            <a:ext cx="4410269" cy="2680405"/>
          </a:xfrm>
          <a:prstGeom prst="rect">
            <a:avLst/>
          </a:prstGeom>
        </p:spPr>
      </p:pic>
      <p:sp>
        <p:nvSpPr>
          <p:cNvPr id="304" name="Google Shape;304;p47"/>
          <p:cNvSpPr txBox="1">
            <a:spLocks noGrp="1"/>
          </p:cNvSpPr>
          <p:nvPr>
            <p:ph type="body" idx="1"/>
          </p:nvPr>
        </p:nvSpPr>
        <p:spPr>
          <a:xfrm>
            <a:off x="2867429" y="3069713"/>
            <a:ext cx="5623429" cy="124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18"/>
              <a:buNone/>
            </a:pPr>
            <a:r>
              <a:rPr lang="ru" sz="1700" dirty="0"/>
              <a:t>Вебинары во многом адаптивны.</a:t>
            </a:r>
            <a:endParaRPr sz="1700" dirty="0"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18"/>
              <a:buNone/>
            </a:pPr>
            <a:r>
              <a:rPr lang="ru" sz="1700" dirty="0"/>
              <a:t>Мы следим за результатами опросов, </a:t>
            </a:r>
            <a:br>
              <a:rPr lang="en-US" sz="1700" dirty="0"/>
            </a:br>
            <a:r>
              <a:rPr lang="ru" sz="1700" dirty="0"/>
              <a:t>обсуждениями в телеграм и ДЗ.</a:t>
            </a:r>
            <a:endParaRPr sz="1700" dirty="0">
              <a:solidFill>
                <a:srgbClr val="02418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D42AF3-22C6-EE46-AEE6-39D4D72878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550" y="3069713"/>
            <a:ext cx="2103971" cy="140264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Лайфхаки</a:t>
            </a:r>
            <a:endParaRPr/>
          </a:p>
        </p:txBody>
      </p:sp>
      <p:pic>
        <p:nvPicPr>
          <p:cNvPr id="312" name="Google Shape;312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326" y="1690262"/>
            <a:ext cx="665028" cy="66503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8"/>
          <p:cNvSpPr txBox="1"/>
          <p:nvPr/>
        </p:nvSpPr>
        <p:spPr>
          <a:xfrm>
            <a:off x="1335850" y="1699527"/>
            <a:ext cx="2922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Сделайте упор на тему, которая вам важна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48"/>
          <p:cNvSpPr txBox="1"/>
          <p:nvPr/>
        </p:nvSpPr>
        <p:spPr>
          <a:xfrm>
            <a:off x="5267125" y="1699527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Старайтесь полученные знания применять на практике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48"/>
          <p:cNvSpPr txBox="1"/>
          <p:nvPr/>
        </p:nvSpPr>
        <p:spPr>
          <a:xfrm>
            <a:off x="1335850" y="2770650"/>
            <a:ext cx="26961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Задавайте вопросы,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так материал лучше усваивается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48"/>
          <p:cNvSpPr txBox="1"/>
          <p:nvPr/>
        </p:nvSpPr>
        <p:spPr>
          <a:xfrm>
            <a:off x="5267125" y="2886000"/>
            <a:ext cx="3015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Регулярное выполняйте ДЗ (наверстать пропуски тяжело)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7" name="Google Shape;317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326" y="2876735"/>
            <a:ext cx="665028" cy="665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9098" y="1690262"/>
            <a:ext cx="665028" cy="665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79098" y="2876735"/>
            <a:ext cx="665028" cy="665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28;p82">
            <a:extLst>
              <a:ext uri="{FF2B5EF4-FFF2-40B4-BE49-F238E27FC236}">
                <a16:creationId xmlns:a16="http://schemas.microsoft.com/office/drawing/2014/main" id="{9B72F30F-3B58-D143-A213-DD3E96EA32E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326" y="4063208"/>
            <a:ext cx="620721" cy="62071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315;p48">
            <a:extLst>
              <a:ext uri="{FF2B5EF4-FFF2-40B4-BE49-F238E27FC236}">
                <a16:creationId xmlns:a16="http://schemas.microsoft.com/office/drawing/2014/main" id="{3710700A-5549-2A44-9448-5A7C88143B28}"/>
              </a:ext>
            </a:extLst>
          </p:cNvPr>
          <p:cNvSpPr txBox="1"/>
          <p:nvPr/>
        </p:nvSpPr>
        <p:spPr>
          <a:xfrm>
            <a:off x="1335850" y="4050417"/>
            <a:ext cx="26961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latin typeface="Roboto"/>
                <a:ea typeface="Roboto"/>
                <a:cs typeface="Roboto"/>
                <a:sym typeface="Roboto"/>
              </a:rPr>
              <a:t>Обсуждайте материал и задачи в учебной группе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Google Shape;315;p48">
            <a:extLst>
              <a:ext uri="{FF2B5EF4-FFF2-40B4-BE49-F238E27FC236}">
                <a16:creationId xmlns:a16="http://schemas.microsoft.com/office/drawing/2014/main" id="{EBFFF96E-7B34-C349-9457-E798C5B0E3A8}"/>
              </a:ext>
            </a:extLst>
          </p:cNvPr>
          <p:cNvSpPr txBox="1"/>
          <p:nvPr/>
        </p:nvSpPr>
        <p:spPr>
          <a:xfrm>
            <a:off x="5320304" y="3935643"/>
            <a:ext cx="2696100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latin typeface="Roboto"/>
                <a:ea typeface="Roboto"/>
                <a:cs typeface="Roboto"/>
                <a:sym typeface="Roboto"/>
              </a:rPr>
              <a:t>Объединяйтесь в группе и выполняйте проект совместно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" name="Google Shape;529;p82">
            <a:extLst>
              <a:ext uri="{FF2B5EF4-FFF2-40B4-BE49-F238E27FC236}">
                <a16:creationId xmlns:a16="http://schemas.microsoft.com/office/drawing/2014/main" id="{168A1E11-4256-D34E-949D-6A179F63365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23405" y="4061666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536;p82">
            <a:extLst>
              <a:ext uri="{FF2B5EF4-FFF2-40B4-BE49-F238E27FC236}">
                <a16:creationId xmlns:a16="http://schemas.microsoft.com/office/drawing/2014/main" id="{40687EF5-FE60-4C4B-976A-9A5EC65CEA2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79098" y="548100"/>
            <a:ext cx="620721" cy="62071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314;p48">
            <a:extLst>
              <a:ext uri="{FF2B5EF4-FFF2-40B4-BE49-F238E27FC236}">
                <a16:creationId xmlns:a16="http://schemas.microsoft.com/office/drawing/2014/main" id="{5BDE2274-394D-7843-AC27-FBB1365306E2}"/>
              </a:ext>
            </a:extLst>
          </p:cNvPr>
          <p:cNvSpPr txBox="1"/>
          <p:nvPr/>
        </p:nvSpPr>
        <p:spPr>
          <a:xfrm>
            <a:off x="5444984" y="555424"/>
            <a:ext cx="32310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latin typeface="Roboto"/>
                <a:ea typeface="Roboto"/>
                <a:cs typeface="Roboto"/>
                <a:sym typeface="Roboto"/>
              </a:rPr>
              <a:t>Определитесь зачем оно вам? Зачем вы пришли на курс?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9"/>
          <p:cNvSpPr txBox="1">
            <a:spLocks noGrp="1"/>
          </p:cNvSpPr>
          <p:nvPr>
            <p:ph type="title"/>
          </p:nvPr>
        </p:nvSpPr>
        <p:spPr>
          <a:xfrm>
            <a:off x="500550" y="332517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Мотивация</a:t>
            </a:r>
            <a:endParaRPr/>
          </a:p>
        </p:txBody>
      </p:sp>
      <p:sp>
        <p:nvSpPr>
          <p:cNvPr id="325" name="Google Shape;325;p49"/>
          <p:cNvSpPr txBox="1"/>
          <p:nvPr/>
        </p:nvSpPr>
        <p:spPr>
          <a:xfrm>
            <a:off x="500550" y="4068939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700" dirty="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Это нормально :)</a:t>
            </a:r>
            <a:endParaRPr sz="1700" dirty="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49"/>
          <p:cNvSpPr txBox="1">
            <a:spLocks noGrp="1"/>
          </p:cNvSpPr>
          <p:nvPr>
            <p:ph type="body" idx="1"/>
          </p:nvPr>
        </p:nvSpPr>
        <p:spPr>
          <a:xfrm>
            <a:off x="500550" y="1294575"/>
            <a:ext cx="6524400" cy="10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 dirty="0"/>
              <a:t>Приготовьтесь к волнообразной реакции</a:t>
            </a:r>
            <a:endParaRPr sz="1700" dirty="0"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 dirty="0"/>
              <a:t>от «ух ты как интересно», до «куда я попал?»</a:t>
            </a:r>
            <a:endParaRPr sz="1700" dirty="0"/>
          </a:p>
        </p:txBody>
      </p:sp>
      <p:sp>
        <p:nvSpPr>
          <p:cNvPr id="329" name="Google Shape;329;p49"/>
          <p:cNvSpPr txBox="1"/>
          <p:nvPr/>
        </p:nvSpPr>
        <p:spPr>
          <a:xfrm>
            <a:off x="500550" y="2166025"/>
            <a:ext cx="38082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такие моменты вспоминайте</a:t>
            </a:r>
            <a:endParaRPr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 цели обучения, которые вас мотивируют :) </a:t>
            </a:r>
            <a:endParaRPr sz="1100" dirty="0"/>
          </a:p>
        </p:txBody>
      </p:sp>
      <p:pic>
        <p:nvPicPr>
          <p:cNvPr id="8" name="Google Shape;568;p83">
            <a:extLst>
              <a:ext uri="{FF2B5EF4-FFF2-40B4-BE49-F238E27FC236}">
                <a16:creationId xmlns:a16="http://schemas.microsoft.com/office/drawing/2014/main" id="{03D10E4A-0F6D-284F-9271-E59F0F2269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550" y="3087932"/>
            <a:ext cx="621000" cy="6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328;p49">
            <a:extLst>
              <a:ext uri="{FF2B5EF4-FFF2-40B4-BE49-F238E27FC236}">
                <a16:creationId xmlns:a16="http://schemas.microsoft.com/office/drawing/2014/main" id="{896CE022-B61E-1448-8B4F-F78902B8FF50}"/>
              </a:ext>
            </a:extLst>
          </p:cNvPr>
          <p:cNvSpPr txBox="1">
            <a:spLocks/>
          </p:cNvSpPr>
          <p:nvPr/>
        </p:nvSpPr>
        <p:spPr>
          <a:xfrm>
            <a:off x="1139250" y="2924358"/>
            <a:ext cx="3883200" cy="10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00000"/>
              </a:lnSpc>
              <a:buSzPts val="1100"/>
              <a:buFont typeface="Arial"/>
              <a:buNone/>
            </a:pPr>
            <a:r>
              <a:rPr lang="ru-RU" sz="1400" dirty="0"/>
              <a:t>Первые уроки позволяют адаптироваться и «влиться» в процесс и могут показаться вам слишком простыми, особенно если вы имеете опыт разработки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73469C-DD28-E24C-B2D1-EEFD70B05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3850" y="1170122"/>
            <a:ext cx="3657600" cy="282253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7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Организационные вопросы</a:t>
            </a:r>
            <a:endParaRPr/>
          </a:p>
        </p:txBody>
      </p:sp>
      <p:sp>
        <p:nvSpPr>
          <p:cNvPr id="337" name="Google Shape;337;p50"/>
          <p:cNvSpPr txBox="1"/>
          <p:nvPr/>
        </p:nvSpPr>
        <p:spPr>
          <a:xfrm>
            <a:off x="1993125" y="1263175"/>
            <a:ext cx="6825300" cy="1074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Комьюнити менеджер: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На связи в рабочее время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Ответит на все организационные вопросы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Поможет с подключениями</a:t>
            </a:r>
          </a:p>
        </p:txBody>
      </p:sp>
      <p:sp>
        <p:nvSpPr>
          <p:cNvPr id="338" name="Google Shape;338;p50"/>
          <p:cNvSpPr txBox="1"/>
          <p:nvPr/>
        </p:nvSpPr>
        <p:spPr>
          <a:xfrm>
            <a:off x="1993125" y="2512846"/>
            <a:ext cx="6825300" cy="110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Преподаватель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Проводит вебинары 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Отвечает на вопросы</a:t>
            </a:r>
            <a:endParaRPr lang="en-US"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indent="-311150">
              <a:lnSpc>
                <a:spcPct val="115000"/>
              </a:lnSpc>
              <a:buClr>
                <a:schemeClr val="dk1"/>
              </a:buClr>
              <a:buSzPts val="1300"/>
              <a:buFont typeface="Roboto"/>
              <a:buChar char="-"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Проверяет ДЗ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50"/>
          <p:cNvSpPr txBox="1"/>
          <p:nvPr/>
        </p:nvSpPr>
        <p:spPr>
          <a:xfrm>
            <a:off x="1993125" y="3762975"/>
            <a:ext cx="6825300" cy="110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Руководитель курса: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Выбор курсового проекта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Консультирование по сложным вопросам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Консульирование по курсовому проекту</a:t>
            </a:r>
          </a:p>
        </p:txBody>
      </p:sp>
      <p:pic>
        <p:nvPicPr>
          <p:cNvPr id="9" name="Google Shape;530;p82">
            <a:extLst>
              <a:ext uri="{FF2B5EF4-FFF2-40B4-BE49-F238E27FC236}">
                <a16:creationId xmlns:a16="http://schemas.microsoft.com/office/drawing/2014/main" id="{6399020F-EA36-354A-BDAF-1F3E86191C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0725" y="146783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553;p83">
            <a:extLst>
              <a:ext uri="{FF2B5EF4-FFF2-40B4-BE49-F238E27FC236}">
                <a16:creationId xmlns:a16="http://schemas.microsoft.com/office/drawing/2014/main" id="{E02214EB-08B0-264A-85A5-18B9DEBACBA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0725" y="392256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47;p83">
            <a:extLst>
              <a:ext uri="{FF2B5EF4-FFF2-40B4-BE49-F238E27FC236}">
                <a16:creationId xmlns:a16="http://schemas.microsoft.com/office/drawing/2014/main" id="{579BB668-A6A3-0649-B4B7-6E200F44F9A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0725" y="2611580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7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Технические моменты</a:t>
            </a:r>
            <a:endParaRPr dirty="0"/>
          </a:p>
        </p:txBody>
      </p:sp>
      <p:pic>
        <p:nvPicPr>
          <p:cNvPr id="335" name="Google Shape;335;p50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0725" y="1423699"/>
            <a:ext cx="622800" cy="62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50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0725" y="2547150"/>
            <a:ext cx="622800" cy="62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50"/>
          <p:cNvSpPr txBox="1"/>
          <p:nvPr/>
        </p:nvSpPr>
        <p:spPr>
          <a:xfrm>
            <a:off x="1993125" y="1263175"/>
            <a:ext cx="6825300" cy="1074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Стек технологий: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Python 3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, virtual environment (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venv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conda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poertry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)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Пакетные менеджеры 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pip / conda 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Git / 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Github</a:t>
            </a:r>
            <a:endParaRPr lang="ru-RU"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50"/>
          <p:cNvSpPr txBox="1"/>
          <p:nvPr/>
        </p:nvSpPr>
        <p:spPr>
          <a:xfrm>
            <a:off x="1993125" y="2512846"/>
            <a:ext cx="6825300" cy="110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инструменты будем</a:t>
            </a:r>
            <a:r>
              <a:rPr lang="en-US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использовать: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indent="-311150">
              <a:lnSpc>
                <a:spcPct val="115000"/>
              </a:lnSpc>
              <a:buClr>
                <a:schemeClr val="dk1"/>
              </a:buClr>
              <a:buSzPts val="1300"/>
              <a:buFont typeface="Roboto"/>
              <a:buChar char="-"/>
            </a:pP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Jupyter notebook </a:t>
            </a:r>
            <a:endParaRPr lang="ru-RU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indent="-311150">
              <a:lnSpc>
                <a:spcPct val="115000"/>
              </a:lnSpc>
              <a:buClr>
                <a:schemeClr val="dk1"/>
              </a:buClr>
              <a:buSzPts val="1300"/>
              <a:buFont typeface="Roboto"/>
              <a:buChar char="-"/>
            </a:pP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VSCode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 </a:t>
            </a:r>
            <a:endParaRPr lang="ru-RU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indent="-311150">
              <a:lnSpc>
                <a:spcPct val="115000"/>
              </a:lnSpc>
              <a:buClr>
                <a:schemeClr val="dk1"/>
              </a:buClr>
              <a:buSzPts val="1300"/>
              <a:buFont typeface="Roboto"/>
              <a:buChar char="-"/>
            </a:pP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PyCharm</a:t>
            </a:r>
          </a:p>
        </p:txBody>
      </p:sp>
      <p:sp>
        <p:nvSpPr>
          <p:cNvPr id="339" name="Google Shape;339;p50"/>
          <p:cNvSpPr txBox="1"/>
          <p:nvPr/>
        </p:nvSpPr>
        <p:spPr>
          <a:xfrm>
            <a:off x="1993125" y="3762975"/>
            <a:ext cx="6825300" cy="87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Практика на курсе: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разработка алгоритмов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п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рименение алгоритмов для решения практических задач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0" name="Google Shape;340;p50"/>
          <p:cNvPicPr preferRelativeResize="0"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0725" y="3762975"/>
            <a:ext cx="622800" cy="6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1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Ваши вопросы?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Machine</a:t>
            </a:r>
            <a:r>
              <a:rPr lang="ru" sz="4900" dirty="0"/>
              <a:t> Learning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>
            <a:spLocks noGrp="1"/>
          </p:cNvSpPr>
          <p:nvPr>
            <p:ph type="title"/>
          </p:nvPr>
        </p:nvSpPr>
        <p:spPr>
          <a:xfrm>
            <a:off x="500550" y="330729"/>
            <a:ext cx="85206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Место</a:t>
            </a:r>
            <a:r>
              <a:rPr lang="ru" dirty="0"/>
              <a:t> машинного обучения</a:t>
            </a:r>
            <a:endParaRPr dirty="0"/>
          </a:p>
        </p:txBody>
      </p:sp>
      <p:pic>
        <p:nvPicPr>
          <p:cNvPr id="325" name="Google Shape;325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6551" y="985329"/>
            <a:ext cx="4970898" cy="4158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>
            <a:spLocks noGrp="1"/>
          </p:cNvSpPr>
          <p:nvPr>
            <p:ph type="title"/>
          </p:nvPr>
        </p:nvSpPr>
        <p:spPr>
          <a:xfrm>
            <a:off x="500550" y="330729"/>
            <a:ext cx="85206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Тр</a:t>
            </a:r>
            <a:r>
              <a:rPr lang="ru-RU" dirty="0"/>
              <a:t>и</a:t>
            </a:r>
            <a:r>
              <a:rPr lang="ru" dirty="0"/>
              <a:t> парадигмы машинного обучения</a:t>
            </a:r>
            <a:endParaRPr dirty="0"/>
          </a:p>
        </p:txBody>
      </p:sp>
      <p:pic>
        <p:nvPicPr>
          <p:cNvPr id="324" name="Google Shape;32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2068" y="985329"/>
            <a:ext cx="6199864" cy="41581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89486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8"/>
          <p:cNvSpPr txBox="1"/>
          <p:nvPr/>
        </p:nvSpPr>
        <p:spPr>
          <a:xfrm>
            <a:off x="197494" y="3597909"/>
            <a:ext cx="8641705" cy="1431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1" dirty="0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Обучение с подкреплением</a:t>
            </a:r>
            <a:endParaRPr sz="1200" b="1" dirty="0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Агент взаимодействует со средой методом проб и ошибок, чтобы выработать наиболее оптимальное поведение 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максимизации получаемого вознаграждения.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Агент своими действиями может влиять на последующие состояния среды и получаемое вознаграждение 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(в том числе отложенное).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https://otus.ru/lessons/reinforcement-learning-cours/</a:t>
            </a:r>
            <a:r>
              <a:rPr lang="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48"/>
          <p:cNvSpPr txBox="1">
            <a:spLocks noGrp="1"/>
          </p:cNvSpPr>
          <p:nvPr>
            <p:ph type="title"/>
          </p:nvPr>
        </p:nvSpPr>
        <p:spPr>
          <a:xfrm>
            <a:off x="500550" y="330729"/>
            <a:ext cx="85206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Три парадигмы машинного обучения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924AF-833D-D94B-AA07-D19892893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32" y="1195426"/>
            <a:ext cx="3482225" cy="19532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11D4F1-8530-D443-A772-64D4E93E7018}"/>
              </a:ext>
            </a:extLst>
          </p:cNvPr>
          <p:cNvSpPr txBox="1"/>
          <p:nvPr/>
        </p:nvSpPr>
        <p:spPr>
          <a:xfrm>
            <a:off x="3614057" y="1110201"/>
            <a:ext cx="52251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Обучение с учителем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Модель обучается на основе прецедентов (пары стимул-реакция), с целью восстановления / приближения потенциальной функциональной связи между входными и выходными сигналами.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Обучение без учителя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Модель обучается с целью обнаружения структуры в некотором пространстве объектов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(внутренние взаимосвязи, зависимости, закономерности).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B890C84-D27A-BD48-9093-2272F13E250F}"/>
              </a:ext>
            </a:extLst>
          </p:cNvPr>
          <p:cNvSpPr/>
          <p:nvPr/>
        </p:nvSpPr>
        <p:spPr>
          <a:xfrm>
            <a:off x="3657600" y="1110201"/>
            <a:ext cx="5044542" cy="2038433"/>
          </a:xfrm>
          <a:prstGeom prst="roundRect">
            <a:avLst>
              <a:gd name="adj" fmla="val 793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576C4-96A4-314B-ACEB-15F5BE54B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vs Software development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342B6-76BF-224A-9C1B-2D128F3E4D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51"/>
          <a:stretch/>
        </p:blipFill>
        <p:spPr>
          <a:xfrm>
            <a:off x="311700" y="1479691"/>
            <a:ext cx="4018007" cy="2767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FD17F3-48DC-A140-BA5A-3684A310B6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304" b="27626"/>
          <a:stretch/>
        </p:blipFill>
        <p:spPr>
          <a:xfrm>
            <a:off x="4814295" y="1479691"/>
            <a:ext cx="4084228" cy="276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7900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260;gaf7c1d9c3d_0_100" descr="Google Shape;260;gaf7c1d9c3d_0_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675" y="1153161"/>
            <a:ext cx="6834527" cy="383872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" name="Google Shape;246;gaf7c1d9c3d_0_91">
            <a:extLst>
              <a:ext uri="{FF2B5EF4-FFF2-40B4-BE49-F238E27FC236}">
                <a16:creationId xmlns:a16="http://schemas.microsoft.com/office/drawing/2014/main" id="{DEB7646E-FE5A-7045-8816-651AD9102082}"/>
              </a:ext>
            </a:extLst>
          </p:cNvPr>
          <p:cNvGrpSpPr/>
          <p:nvPr/>
        </p:nvGrpSpPr>
        <p:grpSpPr>
          <a:xfrm>
            <a:off x="146425" y="448449"/>
            <a:ext cx="2965277" cy="640577"/>
            <a:chOff x="0" y="18700"/>
            <a:chExt cx="3953701" cy="854101"/>
          </a:xfrm>
        </p:grpSpPr>
        <p:sp>
          <p:nvSpPr>
            <p:cNvPr id="8" name="Rectangle">
              <a:extLst>
                <a:ext uri="{FF2B5EF4-FFF2-40B4-BE49-F238E27FC236}">
                  <a16:creationId xmlns:a16="http://schemas.microsoft.com/office/drawing/2014/main" id="{2E1C8A4B-AE82-B245-88B2-21DF73F7AC82}"/>
                </a:ext>
              </a:extLst>
            </p:cNvPr>
            <p:cNvSpPr/>
            <p:nvPr/>
          </p:nvSpPr>
          <p:spPr>
            <a:xfrm>
              <a:off x="0" y="18700"/>
              <a:ext cx="3953701" cy="854101"/>
            </a:xfrm>
            <a:prstGeom prst="rect">
              <a:avLst/>
            </a:prstGeom>
            <a:solidFill>
              <a:srgbClr val="A2C4C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r">
                <a:defRPr sz="3700">
                  <a:latin typeface="Avenir"/>
                  <a:ea typeface="Avenir"/>
                  <a:cs typeface="Avenir"/>
                  <a:sym typeface="Avenir Roman"/>
                </a:defRPr>
              </a:pPr>
              <a:endParaRPr sz="2775"/>
            </a:p>
          </p:txBody>
        </p:sp>
        <p:sp>
          <p:nvSpPr>
            <p:cNvPr id="9" name="Task:">
              <a:extLst>
                <a:ext uri="{FF2B5EF4-FFF2-40B4-BE49-F238E27FC236}">
                  <a16:creationId xmlns:a16="http://schemas.microsoft.com/office/drawing/2014/main" id="{38DB6140-42E4-134D-8150-8405751A2A3B}"/>
                </a:ext>
              </a:extLst>
            </p:cNvPr>
            <p:cNvSpPr txBox="1"/>
            <p:nvPr/>
          </p:nvSpPr>
          <p:spPr>
            <a:xfrm>
              <a:off x="0" y="37968"/>
              <a:ext cx="3953701" cy="8155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r">
                <a:defRPr sz="3700"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lang="ru-RU" sz="2775" dirty="0">
                  <a:latin typeface="Arial" panose="020B0604020202020204" pitchFamily="34" charset="0"/>
                  <a:cs typeface="Arial" panose="020B0604020202020204" pitchFamily="34" charset="0"/>
                </a:rPr>
                <a:t>Задача</a:t>
              </a:r>
              <a:r>
                <a:rPr sz="2775" dirty="0"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</a:p>
          </p:txBody>
        </p:sp>
      </p:grpSp>
      <p:sp>
        <p:nvSpPr>
          <p:cNvPr id="10" name="Google Shape;247;gaf7c1d9c3d_0_91">
            <a:extLst>
              <a:ext uri="{FF2B5EF4-FFF2-40B4-BE49-F238E27FC236}">
                <a16:creationId xmlns:a16="http://schemas.microsoft.com/office/drawing/2014/main" id="{F8434A73-245B-9D40-9043-7B10D96E245A}"/>
              </a:ext>
            </a:extLst>
          </p:cNvPr>
          <p:cNvSpPr txBox="1"/>
          <p:nvPr/>
        </p:nvSpPr>
        <p:spPr>
          <a:xfrm>
            <a:off x="3111694" y="505498"/>
            <a:ext cx="5975549" cy="611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normAutofit/>
          </a:bodyPr>
          <a:lstStyle>
            <a:lvl1pPr defTabSz="822959"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ru-RU" sz="2498" dirty="0">
                <a:latin typeface="Arial" panose="020B0604020202020204" pitchFamily="34" charset="0"/>
                <a:cs typeface="Arial" panose="020B0604020202020204" pitchFamily="34" charset="0"/>
              </a:rPr>
              <a:t>кошка или собака?</a:t>
            </a:r>
            <a:endParaRPr sz="249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" name="Google Shape;308;gaf7c1d9c3d_0_148"/>
          <p:cNvGrpSpPr/>
          <p:nvPr/>
        </p:nvGrpSpPr>
        <p:grpSpPr>
          <a:xfrm>
            <a:off x="3389325" y="1596318"/>
            <a:ext cx="2304227" cy="863777"/>
            <a:chOff x="-1" y="0"/>
            <a:chExt cx="3072302" cy="1151700"/>
          </a:xfrm>
        </p:grpSpPr>
        <p:sp>
          <p:nvSpPr>
            <p:cNvPr id="383" name="Rectangle"/>
            <p:cNvSpPr/>
            <p:nvPr/>
          </p:nvSpPr>
          <p:spPr>
            <a:xfrm>
              <a:off x="-1" y="0"/>
              <a:ext cx="3072302" cy="1151700"/>
            </a:xfrm>
            <a:prstGeom prst="rect">
              <a:avLst/>
            </a:prstGeom>
            <a:solidFill>
              <a:srgbClr val="B7CCE4"/>
            </a:solidFill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84" name="Computer"/>
            <p:cNvSpPr txBox="1"/>
            <p:nvPr/>
          </p:nvSpPr>
          <p:spPr>
            <a:xfrm>
              <a:off x="64774" y="345039"/>
              <a:ext cx="2942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Компьютер</a:t>
              </a:r>
              <a:endParaRPr sz="1800" dirty="0"/>
            </a:p>
          </p:txBody>
        </p:sp>
      </p:grpSp>
      <p:grpSp>
        <p:nvGrpSpPr>
          <p:cNvPr id="388" name="Google Shape;309;gaf7c1d9c3d_0_148"/>
          <p:cNvGrpSpPr/>
          <p:nvPr/>
        </p:nvGrpSpPr>
        <p:grpSpPr>
          <a:xfrm>
            <a:off x="754785" y="1345331"/>
            <a:ext cx="1800226" cy="501977"/>
            <a:chOff x="0" y="0"/>
            <a:chExt cx="2400300" cy="669300"/>
          </a:xfrm>
        </p:grpSpPr>
        <p:sp>
          <p:nvSpPr>
            <p:cNvPr id="386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87" name="Data"/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Данные</a:t>
              </a:r>
              <a:endParaRPr sz="1800" dirty="0"/>
            </a:p>
          </p:txBody>
        </p:sp>
      </p:grpSp>
      <p:grpSp>
        <p:nvGrpSpPr>
          <p:cNvPr id="391" name="Google Shape;310;gaf7c1d9c3d_0_148"/>
          <p:cNvGrpSpPr/>
          <p:nvPr/>
        </p:nvGrpSpPr>
        <p:grpSpPr>
          <a:xfrm>
            <a:off x="6395790" y="1777184"/>
            <a:ext cx="1800226" cy="501977"/>
            <a:chOff x="0" y="0"/>
            <a:chExt cx="2400300" cy="669300"/>
          </a:xfrm>
        </p:grpSpPr>
        <p:sp>
          <p:nvSpPr>
            <p:cNvPr id="389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90" name="Answer"/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Ответ</a:t>
              </a:r>
              <a:endParaRPr sz="1800" dirty="0"/>
            </a:p>
          </p:txBody>
        </p:sp>
      </p:grpSp>
      <p:grpSp>
        <p:nvGrpSpPr>
          <p:cNvPr id="394" name="Google Shape;311;gaf7c1d9c3d_0_148"/>
          <p:cNvGrpSpPr/>
          <p:nvPr/>
        </p:nvGrpSpPr>
        <p:grpSpPr>
          <a:xfrm>
            <a:off x="754785" y="2228461"/>
            <a:ext cx="1800226" cy="501977"/>
            <a:chOff x="0" y="0"/>
            <a:chExt cx="2400300" cy="669300"/>
          </a:xfrm>
        </p:grpSpPr>
        <p:sp>
          <p:nvSpPr>
            <p:cNvPr id="392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93" name="Algorithm"/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Алгоритм</a:t>
              </a:r>
              <a:endParaRPr sz="1800" dirty="0"/>
            </a:p>
          </p:txBody>
        </p:sp>
      </p:grpSp>
      <p:sp>
        <p:nvSpPr>
          <p:cNvPr id="417" name="Google Shape;312;gaf7c1d9c3d_0_148"/>
          <p:cNvSpPr/>
          <p:nvPr/>
        </p:nvSpPr>
        <p:spPr>
          <a:xfrm>
            <a:off x="2569298" y="1733132"/>
            <a:ext cx="805741" cy="120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8575">
            <a:solidFill>
              <a:srgbClr val="4A7DBA"/>
            </a:solidFill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96" name="Google Shape;313;gaf7c1d9c3d_0_148"/>
          <p:cNvSpPr/>
          <p:nvPr/>
        </p:nvSpPr>
        <p:spPr>
          <a:xfrm flipV="1">
            <a:off x="2555010" y="2129798"/>
            <a:ext cx="834301" cy="349650"/>
          </a:xfrm>
          <a:prstGeom prst="line">
            <a:avLst/>
          </a:prstGeom>
          <a:ln w="28575">
            <a:solidFill>
              <a:srgbClr val="4A7DBA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397" name="Google Shape;314;gaf7c1d9c3d_0_148"/>
          <p:cNvSpPr/>
          <p:nvPr/>
        </p:nvSpPr>
        <p:spPr>
          <a:xfrm flipV="1">
            <a:off x="5693550" y="2023707"/>
            <a:ext cx="680400" cy="4501"/>
          </a:xfrm>
          <a:prstGeom prst="line">
            <a:avLst/>
          </a:prstGeom>
          <a:ln w="28575">
            <a:solidFill>
              <a:srgbClr val="4A7DBA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grpSp>
        <p:nvGrpSpPr>
          <p:cNvPr id="415" name="Google Shape;322;gaf7c1d9c3d_0_148"/>
          <p:cNvGrpSpPr/>
          <p:nvPr/>
        </p:nvGrpSpPr>
        <p:grpSpPr>
          <a:xfrm>
            <a:off x="146425" y="448449"/>
            <a:ext cx="2965277" cy="640577"/>
            <a:chOff x="0" y="6000"/>
            <a:chExt cx="3953701" cy="854101"/>
          </a:xfrm>
        </p:grpSpPr>
        <p:sp>
          <p:nvSpPr>
            <p:cNvPr id="413" name="Rectangle"/>
            <p:cNvSpPr/>
            <p:nvPr/>
          </p:nvSpPr>
          <p:spPr>
            <a:xfrm>
              <a:off x="0" y="6000"/>
              <a:ext cx="3953701" cy="854101"/>
            </a:xfrm>
            <a:prstGeom prst="rect">
              <a:avLst/>
            </a:prstGeom>
            <a:solidFill>
              <a:srgbClr val="A2C4C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r">
                <a:defRPr sz="3600">
                  <a:latin typeface="Avenir"/>
                  <a:ea typeface="Avenir"/>
                  <a:cs typeface="Avenir"/>
                  <a:sym typeface="Avenir Roman"/>
                </a:defRPr>
              </a:pPr>
              <a:endParaRPr sz="2700"/>
            </a:p>
          </p:txBody>
        </p:sp>
        <p:sp>
          <p:nvSpPr>
            <p:cNvPr id="414" name="Machine Learning"/>
            <p:cNvSpPr txBox="1"/>
            <p:nvPr/>
          </p:nvSpPr>
          <p:spPr>
            <a:xfrm>
              <a:off x="0" y="79128"/>
              <a:ext cx="3953701" cy="70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r">
                <a:defRPr sz="3600"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lang="ru-RU" sz="2250" dirty="0">
                  <a:latin typeface="Arial" panose="020B0604020202020204" pitchFamily="34" charset="0"/>
                  <a:cs typeface="Arial" panose="020B0604020202020204" pitchFamily="34" charset="0"/>
                </a:rPr>
                <a:t>Машинное обучение</a:t>
              </a:r>
              <a:endParaRPr sz="22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16" name="Google Shape;323;gaf7c1d9c3d_0_148"/>
          <p:cNvSpPr txBox="1">
            <a:spLocks noGrp="1"/>
          </p:cNvSpPr>
          <p:nvPr>
            <p:ph type="title" idx="4294967295"/>
          </p:nvPr>
        </p:nvSpPr>
        <p:spPr>
          <a:xfrm>
            <a:off x="3111694" y="466971"/>
            <a:ext cx="5975549" cy="611776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rm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sz="2250" dirty="0">
                <a:latin typeface="Arial" panose="020B0604020202020204" pitchFamily="34" charset="0"/>
                <a:cs typeface="Arial" panose="020B0604020202020204" pitchFamily="34" charset="0"/>
              </a:rPr>
              <a:t>vs </a:t>
            </a:r>
            <a:r>
              <a:rPr lang="ru-RU" sz="2250" b="0" dirty="0">
                <a:latin typeface="Arial" panose="020B0604020202020204" pitchFamily="34" charset="0"/>
                <a:cs typeface="Arial" panose="020B0604020202020204" pitchFamily="34" charset="0"/>
              </a:rPr>
              <a:t>Традиционное программирование</a:t>
            </a:r>
            <a:endParaRPr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" name="Google Shape;308;gaf7c1d9c3d_0_148"/>
          <p:cNvGrpSpPr/>
          <p:nvPr/>
        </p:nvGrpSpPr>
        <p:grpSpPr>
          <a:xfrm>
            <a:off x="3389325" y="1596318"/>
            <a:ext cx="2304227" cy="863777"/>
            <a:chOff x="-1" y="0"/>
            <a:chExt cx="3072302" cy="1151700"/>
          </a:xfrm>
        </p:grpSpPr>
        <p:sp>
          <p:nvSpPr>
            <p:cNvPr id="383" name="Rectangle"/>
            <p:cNvSpPr/>
            <p:nvPr/>
          </p:nvSpPr>
          <p:spPr>
            <a:xfrm>
              <a:off x="-1" y="0"/>
              <a:ext cx="3072302" cy="1151700"/>
            </a:xfrm>
            <a:prstGeom prst="rect">
              <a:avLst/>
            </a:prstGeom>
            <a:solidFill>
              <a:srgbClr val="B7CCE4"/>
            </a:solidFill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84" name="Computer"/>
            <p:cNvSpPr txBox="1"/>
            <p:nvPr/>
          </p:nvSpPr>
          <p:spPr>
            <a:xfrm>
              <a:off x="64774" y="345039"/>
              <a:ext cx="2942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Компьютер</a:t>
              </a:r>
              <a:endParaRPr sz="1800" dirty="0"/>
            </a:p>
          </p:txBody>
        </p:sp>
      </p:grpSp>
      <p:grpSp>
        <p:nvGrpSpPr>
          <p:cNvPr id="388" name="Google Shape;309;gaf7c1d9c3d_0_148"/>
          <p:cNvGrpSpPr/>
          <p:nvPr/>
        </p:nvGrpSpPr>
        <p:grpSpPr>
          <a:xfrm>
            <a:off x="754785" y="1345331"/>
            <a:ext cx="1800226" cy="501977"/>
            <a:chOff x="0" y="0"/>
            <a:chExt cx="2400300" cy="669300"/>
          </a:xfrm>
        </p:grpSpPr>
        <p:sp>
          <p:nvSpPr>
            <p:cNvPr id="386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87" name="Data"/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en-US" sz="1800" dirty="0"/>
                <a:t>x = 5</a:t>
              </a:r>
              <a:endParaRPr sz="1800" dirty="0"/>
            </a:p>
          </p:txBody>
        </p:sp>
      </p:grpSp>
      <p:grpSp>
        <p:nvGrpSpPr>
          <p:cNvPr id="391" name="Google Shape;310;gaf7c1d9c3d_0_148"/>
          <p:cNvGrpSpPr/>
          <p:nvPr/>
        </p:nvGrpSpPr>
        <p:grpSpPr>
          <a:xfrm>
            <a:off x="6395790" y="1777184"/>
            <a:ext cx="1800226" cy="501977"/>
            <a:chOff x="0" y="0"/>
            <a:chExt cx="2400300" cy="669300"/>
          </a:xfrm>
        </p:grpSpPr>
        <p:sp>
          <p:nvSpPr>
            <p:cNvPr id="389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90" name="Answer"/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en-US" sz="1800" dirty="0"/>
                <a:t>300</a:t>
              </a:r>
              <a:endParaRPr sz="1800" dirty="0"/>
            </a:p>
          </p:txBody>
        </p:sp>
      </p:grpSp>
      <p:grpSp>
        <p:nvGrpSpPr>
          <p:cNvPr id="394" name="Google Shape;311;gaf7c1d9c3d_0_148"/>
          <p:cNvGrpSpPr/>
          <p:nvPr/>
        </p:nvGrpSpPr>
        <p:grpSpPr>
          <a:xfrm>
            <a:off x="754785" y="2228461"/>
            <a:ext cx="1800226" cy="501977"/>
            <a:chOff x="0" y="0"/>
            <a:chExt cx="2400300" cy="669300"/>
          </a:xfrm>
        </p:grpSpPr>
        <p:sp>
          <p:nvSpPr>
            <p:cNvPr id="392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93" name="Algorithm"/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en" sz="1800" dirty="0"/>
                <a:t>f(x) = 60x</a:t>
              </a:r>
            </a:p>
          </p:txBody>
        </p:sp>
      </p:grpSp>
      <p:sp>
        <p:nvSpPr>
          <p:cNvPr id="417" name="Google Shape;312;gaf7c1d9c3d_0_148"/>
          <p:cNvSpPr/>
          <p:nvPr/>
        </p:nvSpPr>
        <p:spPr>
          <a:xfrm>
            <a:off x="2569298" y="1733132"/>
            <a:ext cx="805741" cy="120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8575">
            <a:solidFill>
              <a:srgbClr val="4A7DBA"/>
            </a:solidFill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96" name="Google Shape;313;gaf7c1d9c3d_0_148"/>
          <p:cNvSpPr/>
          <p:nvPr/>
        </p:nvSpPr>
        <p:spPr>
          <a:xfrm flipV="1">
            <a:off x="2555010" y="2129798"/>
            <a:ext cx="834301" cy="349650"/>
          </a:xfrm>
          <a:prstGeom prst="line">
            <a:avLst/>
          </a:prstGeom>
          <a:ln w="28575">
            <a:solidFill>
              <a:srgbClr val="4A7DBA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397" name="Google Shape;314;gaf7c1d9c3d_0_148"/>
          <p:cNvSpPr/>
          <p:nvPr/>
        </p:nvSpPr>
        <p:spPr>
          <a:xfrm flipV="1">
            <a:off x="5693550" y="2023707"/>
            <a:ext cx="680400" cy="4501"/>
          </a:xfrm>
          <a:prstGeom prst="line">
            <a:avLst/>
          </a:prstGeom>
          <a:ln w="28575">
            <a:solidFill>
              <a:srgbClr val="4A7DBA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grpSp>
        <p:nvGrpSpPr>
          <p:cNvPr id="415" name="Google Shape;322;gaf7c1d9c3d_0_148"/>
          <p:cNvGrpSpPr/>
          <p:nvPr/>
        </p:nvGrpSpPr>
        <p:grpSpPr>
          <a:xfrm>
            <a:off x="146425" y="448449"/>
            <a:ext cx="2965277" cy="640577"/>
            <a:chOff x="0" y="6000"/>
            <a:chExt cx="3953701" cy="854101"/>
          </a:xfrm>
        </p:grpSpPr>
        <p:sp>
          <p:nvSpPr>
            <p:cNvPr id="413" name="Rectangle"/>
            <p:cNvSpPr/>
            <p:nvPr/>
          </p:nvSpPr>
          <p:spPr>
            <a:xfrm>
              <a:off x="0" y="6000"/>
              <a:ext cx="3953701" cy="854101"/>
            </a:xfrm>
            <a:prstGeom prst="rect">
              <a:avLst/>
            </a:prstGeom>
            <a:solidFill>
              <a:srgbClr val="A2C4C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r">
                <a:defRPr sz="3600">
                  <a:latin typeface="Avenir"/>
                  <a:ea typeface="Avenir"/>
                  <a:cs typeface="Avenir"/>
                  <a:sym typeface="Avenir Roman"/>
                </a:defRPr>
              </a:pPr>
              <a:endParaRPr sz="2700"/>
            </a:p>
          </p:txBody>
        </p:sp>
        <p:sp>
          <p:nvSpPr>
            <p:cNvPr id="414" name="Machine Learning"/>
            <p:cNvSpPr txBox="1"/>
            <p:nvPr/>
          </p:nvSpPr>
          <p:spPr>
            <a:xfrm>
              <a:off x="0" y="79128"/>
              <a:ext cx="3953701" cy="70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r">
                <a:defRPr sz="3600"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lang="ru-RU" sz="2250" dirty="0">
                  <a:latin typeface="Arial" panose="020B0604020202020204" pitchFamily="34" charset="0"/>
                  <a:cs typeface="Arial" panose="020B0604020202020204" pitchFamily="34" charset="0"/>
                </a:rPr>
                <a:t>Машинное обучение</a:t>
              </a:r>
              <a:endParaRPr sz="22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" name="Google Shape;323;gaf7c1d9c3d_0_148">
            <a:extLst>
              <a:ext uri="{FF2B5EF4-FFF2-40B4-BE49-F238E27FC236}">
                <a16:creationId xmlns:a16="http://schemas.microsoft.com/office/drawing/2014/main" id="{DFDE8BC2-F149-2B4B-AFAA-A6E72721F20E}"/>
              </a:ext>
            </a:extLst>
          </p:cNvPr>
          <p:cNvSpPr txBox="1">
            <a:spLocks/>
          </p:cNvSpPr>
          <p:nvPr/>
        </p:nvSpPr>
        <p:spPr>
          <a:xfrm>
            <a:off x="3111694" y="466971"/>
            <a:ext cx="5975549" cy="61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91424" rIns="91424" bIns="9142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defTabSz="822959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33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2250">
                <a:latin typeface="Arial" panose="020B0604020202020204" pitchFamily="34" charset="0"/>
                <a:cs typeface="Arial" panose="020B0604020202020204" pitchFamily="34" charset="0"/>
              </a:rPr>
              <a:t>vs </a:t>
            </a:r>
            <a:r>
              <a:rPr lang="ru-RU" sz="2250" b="0">
                <a:latin typeface="Arial" panose="020B0604020202020204" pitchFamily="34" charset="0"/>
                <a:cs typeface="Arial" panose="020B0604020202020204" pitchFamily="34" charset="0"/>
              </a:rPr>
              <a:t>Традиционное программирование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722987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" name="Google Shape;308;gaf7c1d9c3d_0_148"/>
          <p:cNvGrpSpPr/>
          <p:nvPr/>
        </p:nvGrpSpPr>
        <p:grpSpPr>
          <a:xfrm>
            <a:off x="3389325" y="1596318"/>
            <a:ext cx="2304227" cy="863777"/>
            <a:chOff x="-1" y="0"/>
            <a:chExt cx="3072302" cy="1151700"/>
          </a:xfrm>
        </p:grpSpPr>
        <p:sp>
          <p:nvSpPr>
            <p:cNvPr id="383" name="Rectangle"/>
            <p:cNvSpPr/>
            <p:nvPr/>
          </p:nvSpPr>
          <p:spPr>
            <a:xfrm>
              <a:off x="-1" y="0"/>
              <a:ext cx="3072302" cy="1151700"/>
            </a:xfrm>
            <a:prstGeom prst="rect">
              <a:avLst/>
            </a:prstGeom>
            <a:solidFill>
              <a:srgbClr val="B7CCE4"/>
            </a:solidFill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84" name="Computer"/>
            <p:cNvSpPr txBox="1"/>
            <p:nvPr/>
          </p:nvSpPr>
          <p:spPr>
            <a:xfrm>
              <a:off x="64774" y="345039"/>
              <a:ext cx="2942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Компьютер</a:t>
              </a:r>
              <a:endParaRPr sz="1800" dirty="0"/>
            </a:p>
          </p:txBody>
        </p:sp>
      </p:grpSp>
      <p:grpSp>
        <p:nvGrpSpPr>
          <p:cNvPr id="388" name="Google Shape;309;gaf7c1d9c3d_0_148"/>
          <p:cNvGrpSpPr/>
          <p:nvPr/>
        </p:nvGrpSpPr>
        <p:grpSpPr>
          <a:xfrm>
            <a:off x="754785" y="1345331"/>
            <a:ext cx="1800226" cy="501977"/>
            <a:chOff x="0" y="0"/>
            <a:chExt cx="2400300" cy="669300"/>
          </a:xfrm>
        </p:grpSpPr>
        <p:sp>
          <p:nvSpPr>
            <p:cNvPr id="386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87" name="Data"/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Данные</a:t>
              </a:r>
              <a:endParaRPr sz="1800" dirty="0"/>
            </a:p>
          </p:txBody>
        </p:sp>
      </p:grpSp>
      <p:grpSp>
        <p:nvGrpSpPr>
          <p:cNvPr id="391" name="Google Shape;310;gaf7c1d9c3d_0_148"/>
          <p:cNvGrpSpPr/>
          <p:nvPr/>
        </p:nvGrpSpPr>
        <p:grpSpPr>
          <a:xfrm>
            <a:off x="6395790" y="1777184"/>
            <a:ext cx="1800226" cy="501977"/>
            <a:chOff x="0" y="0"/>
            <a:chExt cx="2400300" cy="669300"/>
          </a:xfrm>
        </p:grpSpPr>
        <p:sp>
          <p:nvSpPr>
            <p:cNvPr id="389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90" name="Answer"/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Ответ</a:t>
              </a:r>
              <a:endParaRPr sz="1800" dirty="0"/>
            </a:p>
          </p:txBody>
        </p:sp>
      </p:grpSp>
      <p:grpSp>
        <p:nvGrpSpPr>
          <p:cNvPr id="394" name="Google Shape;311;gaf7c1d9c3d_0_148"/>
          <p:cNvGrpSpPr/>
          <p:nvPr/>
        </p:nvGrpSpPr>
        <p:grpSpPr>
          <a:xfrm>
            <a:off x="754785" y="2228461"/>
            <a:ext cx="1800226" cy="501977"/>
            <a:chOff x="0" y="0"/>
            <a:chExt cx="2400300" cy="669300"/>
          </a:xfrm>
        </p:grpSpPr>
        <p:sp>
          <p:nvSpPr>
            <p:cNvPr id="392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93" name="Algorithm"/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Алгоритм</a:t>
              </a:r>
              <a:endParaRPr sz="1800" dirty="0"/>
            </a:p>
          </p:txBody>
        </p:sp>
      </p:grpSp>
      <p:sp>
        <p:nvSpPr>
          <p:cNvPr id="417" name="Google Shape;312;gaf7c1d9c3d_0_148"/>
          <p:cNvSpPr/>
          <p:nvPr/>
        </p:nvSpPr>
        <p:spPr>
          <a:xfrm>
            <a:off x="2569298" y="1733132"/>
            <a:ext cx="805741" cy="120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8575">
            <a:solidFill>
              <a:srgbClr val="4A7DBA"/>
            </a:solidFill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96" name="Google Shape;313;gaf7c1d9c3d_0_148"/>
          <p:cNvSpPr/>
          <p:nvPr/>
        </p:nvSpPr>
        <p:spPr>
          <a:xfrm flipV="1">
            <a:off x="2555010" y="2129798"/>
            <a:ext cx="834301" cy="349650"/>
          </a:xfrm>
          <a:prstGeom prst="line">
            <a:avLst/>
          </a:prstGeom>
          <a:ln w="28575">
            <a:solidFill>
              <a:srgbClr val="4A7DBA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397" name="Google Shape;314;gaf7c1d9c3d_0_148"/>
          <p:cNvSpPr/>
          <p:nvPr/>
        </p:nvSpPr>
        <p:spPr>
          <a:xfrm flipV="1">
            <a:off x="5693550" y="2023707"/>
            <a:ext cx="680400" cy="4501"/>
          </a:xfrm>
          <a:prstGeom prst="line">
            <a:avLst/>
          </a:prstGeom>
          <a:ln w="28575">
            <a:solidFill>
              <a:srgbClr val="4A7DBA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grpSp>
        <p:nvGrpSpPr>
          <p:cNvPr id="400" name="Google Shape;315;gaf7c1d9c3d_0_148"/>
          <p:cNvGrpSpPr/>
          <p:nvPr/>
        </p:nvGrpSpPr>
        <p:grpSpPr>
          <a:xfrm>
            <a:off x="3389325" y="3467456"/>
            <a:ext cx="2304227" cy="863777"/>
            <a:chOff x="-1" y="0"/>
            <a:chExt cx="3072302" cy="1151700"/>
          </a:xfrm>
        </p:grpSpPr>
        <p:sp>
          <p:nvSpPr>
            <p:cNvPr id="398" name="Rectangle"/>
            <p:cNvSpPr/>
            <p:nvPr/>
          </p:nvSpPr>
          <p:spPr>
            <a:xfrm>
              <a:off x="-1" y="0"/>
              <a:ext cx="3072302" cy="1151700"/>
            </a:xfrm>
            <a:prstGeom prst="rect">
              <a:avLst/>
            </a:prstGeom>
            <a:solidFill>
              <a:srgbClr val="D9EAD3"/>
            </a:solidFill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99" name="Computer"/>
            <p:cNvSpPr txBox="1"/>
            <p:nvPr/>
          </p:nvSpPr>
          <p:spPr>
            <a:xfrm>
              <a:off x="64774" y="345039"/>
              <a:ext cx="2942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Компьютер</a:t>
              </a:r>
              <a:endParaRPr sz="1800" dirty="0"/>
            </a:p>
          </p:txBody>
        </p:sp>
      </p:grpSp>
      <p:grpSp>
        <p:nvGrpSpPr>
          <p:cNvPr id="403" name="Google Shape;316;gaf7c1d9c3d_0_148"/>
          <p:cNvGrpSpPr/>
          <p:nvPr/>
        </p:nvGrpSpPr>
        <p:grpSpPr>
          <a:xfrm>
            <a:off x="754785" y="3216469"/>
            <a:ext cx="1800226" cy="501977"/>
            <a:chOff x="0" y="0"/>
            <a:chExt cx="2400300" cy="669300"/>
          </a:xfrm>
        </p:grpSpPr>
        <p:sp>
          <p:nvSpPr>
            <p:cNvPr id="401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402" name="Data"/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Данные</a:t>
              </a:r>
              <a:endParaRPr sz="1800" dirty="0"/>
            </a:p>
          </p:txBody>
        </p:sp>
      </p:grpSp>
      <p:grpSp>
        <p:nvGrpSpPr>
          <p:cNvPr id="406" name="Google Shape;317;gaf7c1d9c3d_0_148"/>
          <p:cNvGrpSpPr/>
          <p:nvPr/>
        </p:nvGrpSpPr>
        <p:grpSpPr>
          <a:xfrm>
            <a:off x="6395790" y="3648322"/>
            <a:ext cx="1800226" cy="501977"/>
            <a:chOff x="0" y="0"/>
            <a:chExt cx="2400300" cy="669300"/>
          </a:xfrm>
        </p:grpSpPr>
        <p:sp>
          <p:nvSpPr>
            <p:cNvPr id="404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405" name="Algorithm"/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b="1" dirty="0">
                  <a:solidFill>
                    <a:schemeClr val="accent6">
                      <a:lumMod val="50000"/>
                    </a:schemeClr>
                  </a:solidFill>
                </a:rPr>
                <a:t>Алгоритм</a:t>
              </a:r>
              <a:endParaRPr sz="180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409" name="Google Shape;318;gaf7c1d9c3d_0_148"/>
          <p:cNvGrpSpPr/>
          <p:nvPr/>
        </p:nvGrpSpPr>
        <p:grpSpPr>
          <a:xfrm>
            <a:off x="754785" y="4099598"/>
            <a:ext cx="1800226" cy="501977"/>
            <a:chOff x="0" y="0"/>
            <a:chExt cx="2400300" cy="669300"/>
          </a:xfrm>
        </p:grpSpPr>
        <p:sp>
          <p:nvSpPr>
            <p:cNvPr id="407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408" name="Answer"/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Ответ</a:t>
              </a:r>
              <a:endParaRPr sz="1800" dirty="0"/>
            </a:p>
          </p:txBody>
        </p:sp>
      </p:grpSp>
      <p:sp>
        <p:nvSpPr>
          <p:cNvPr id="418" name="Google Shape;319;gaf7c1d9c3d_0_148"/>
          <p:cNvSpPr/>
          <p:nvPr/>
        </p:nvSpPr>
        <p:spPr>
          <a:xfrm>
            <a:off x="2569298" y="3604270"/>
            <a:ext cx="805741" cy="120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8575">
            <a:solidFill>
              <a:srgbClr val="38761D"/>
            </a:solidFill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411" name="Google Shape;320;gaf7c1d9c3d_0_148"/>
          <p:cNvSpPr/>
          <p:nvPr/>
        </p:nvSpPr>
        <p:spPr>
          <a:xfrm flipV="1">
            <a:off x="2555010" y="4000936"/>
            <a:ext cx="834301" cy="349650"/>
          </a:xfrm>
          <a:prstGeom prst="line">
            <a:avLst/>
          </a:prstGeom>
          <a:ln w="28575">
            <a:solidFill>
              <a:srgbClr val="38761D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412" name="Google Shape;321;gaf7c1d9c3d_0_148"/>
          <p:cNvSpPr/>
          <p:nvPr/>
        </p:nvSpPr>
        <p:spPr>
          <a:xfrm flipV="1">
            <a:off x="5693550" y="3894843"/>
            <a:ext cx="680400" cy="4501"/>
          </a:xfrm>
          <a:prstGeom prst="line">
            <a:avLst/>
          </a:prstGeom>
          <a:ln w="28575">
            <a:solidFill>
              <a:srgbClr val="38761D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grpSp>
        <p:nvGrpSpPr>
          <p:cNvPr id="415" name="Google Shape;322;gaf7c1d9c3d_0_148"/>
          <p:cNvGrpSpPr/>
          <p:nvPr/>
        </p:nvGrpSpPr>
        <p:grpSpPr>
          <a:xfrm>
            <a:off x="146425" y="448449"/>
            <a:ext cx="2965277" cy="640577"/>
            <a:chOff x="0" y="6000"/>
            <a:chExt cx="3953701" cy="854101"/>
          </a:xfrm>
        </p:grpSpPr>
        <p:sp>
          <p:nvSpPr>
            <p:cNvPr id="413" name="Rectangle"/>
            <p:cNvSpPr/>
            <p:nvPr/>
          </p:nvSpPr>
          <p:spPr>
            <a:xfrm>
              <a:off x="0" y="6000"/>
              <a:ext cx="3953701" cy="854101"/>
            </a:xfrm>
            <a:prstGeom prst="rect">
              <a:avLst/>
            </a:prstGeom>
            <a:solidFill>
              <a:srgbClr val="A2C4C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r">
                <a:defRPr sz="3600">
                  <a:latin typeface="Avenir"/>
                  <a:ea typeface="Avenir"/>
                  <a:cs typeface="Avenir"/>
                  <a:sym typeface="Avenir Roman"/>
                </a:defRPr>
              </a:pPr>
              <a:endParaRPr sz="2700"/>
            </a:p>
          </p:txBody>
        </p:sp>
        <p:sp>
          <p:nvSpPr>
            <p:cNvPr id="414" name="Machine Learning"/>
            <p:cNvSpPr txBox="1"/>
            <p:nvPr/>
          </p:nvSpPr>
          <p:spPr>
            <a:xfrm>
              <a:off x="0" y="79128"/>
              <a:ext cx="3953701" cy="70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r">
                <a:defRPr sz="3600"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lang="ru-RU" sz="2250" dirty="0">
                  <a:latin typeface="Arial" panose="020B0604020202020204" pitchFamily="34" charset="0"/>
                  <a:cs typeface="Arial" panose="020B0604020202020204" pitchFamily="34" charset="0"/>
                </a:rPr>
                <a:t>Машинное обучение</a:t>
              </a:r>
              <a:endParaRPr sz="22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6" name="Google Shape;323;gaf7c1d9c3d_0_148">
            <a:extLst>
              <a:ext uri="{FF2B5EF4-FFF2-40B4-BE49-F238E27FC236}">
                <a16:creationId xmlns:a16="http://schemas.microsoft.com/office/drawing/2014/main" id="{D458C396-136B-C543-8316-050AE7035E4D}"/>
              </a:ext>
            </a:extLst>
          </p:cNvPr>
          <p:cNvSpPr txBox="1">
            <a:spLocks/>
          </p:cNvSpPr>
          <p:nvPr/>
        </p:nvSpPr>
        <p:spPr>
          <a:xfrm>
            <a:off x="3111694" y="466971"/>
            <a:ext cx="5975549" cy="61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91424" rIns="91424" bIns="9142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defTabSz="822959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33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2250">
                <a:latin typeface="Arial" panose="020B0604020202020204" pitchFamily="34" charset="0"/>
                <a:cs typeface="Arial" panose="020B0604020202020204" pitchFamily="34" charset="0"/>
              </a:rPr>
              <a:t>vs </a:t>
            </a:r>
            <a:r>
              <a:rPr lang="ru-RU" sz="2250" b="0">
                <a:latin typeface="Arial" panose="020B0604020202020204" pitchFamily="34" charset="0"/>
                <a:cs typeface="Arial" panose="020B0604020202020204" pitchFamily="34" charset="0"/>
              </a:rPr>
              <a:t>Традиционное программирование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113591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" name="Google Shape;308;gaf7c1d9c3d_0_148"/>
          <p:cNvGrpSpPr/>
          <p:nvPr/>
        </p:nvGrpSpPr>
        <p:grpSpPr>
          <a:xfrm>
            <a:off x="3389325" y="1596318"/>
            <a:ext cx="2304227" cy="863777"/>
            <a:chOff x="-1" y="0"/>
            <a:chExt cx="3072302" cy="1151700"/>
          </a:xfrm>
        </p:grpSpPr>
        <p:sp>
          <p:nvSpPr>
            <p:cNvPr id="383" name="Rectangle"/>
            <p:cNvSpPr/>
            <p:nvPr/>
          </p:nvSpPr>
          <p:spPr>
            <a:xfrm>
              <a:off x="-1" y="0"/>
              <a:ext cx="3072302" cy="1151700"/>
            </a:xfrm>
            <a:prstGeom prst="rect">
              <a:avLst/>
            </a:prstGeom>
            <a:solidFill>
              <a:srgbClr val="B7CCE4"/>
            </a:solidFill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84" name="Computer"/>
            <p:cNvSpPr txBox="1"/>
            <p:nvPr/>
          </p:nvSpPr>
          <p:spPr>
            <a:xfrm>
              <a:off x="64774" y="345039"/>
              <a:ext cx="2942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Компьютер</a:t>
              </a:r>
              <a:endParaRPr sz="1800" dirty="0"/>
            </a:p>
          </p:txBody>
        </p:sp>
      </p:grpSp>
      <p:grpSp>
        <p:nvGrpSpPr>
          <p:cNvPr id="388" name="Google Shape;309;gaf7c1d9c3d_0_148"/>
          <p:cNvGrpSpPr/>
          <p:nvPr/>
        </p:nvGrpSpPr>
        <p:grpSpPr>
          <a:xfrm>
            <a:off x="754785" y="1345331"/>
            <a:ext cx="1800226" cy="501977"/>
            <a:chOff x="0" y="0"/>
            <a:chExt cx="2400300" cy="669300"/>
          </a:xfrm>
        </p:grpSpPr>
        <p:sp>
          <p:nvSpPr>
            <p:cNvPr id="386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87" name="Data"/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Данные</a:t>
              </a:r>
              <a:endParaRPr sz="1800" dirty="0"/>
            </a:p>
          </p:txBody>
        </p:sp>
      </p:grpSp>
      <p:grpSp>
        <p:nvGrpSpPr>
          <p:cNvPr id="391" name="Google Shape;310;gaf7c1d9c3d_0_148"/>
          <p:cNvGrpSpPr/>
          <p:nvPr/>
        </p:nvGrpSpPr>
        <p:grpSpPr>
          <a:xfrm>
            <a:off x="6395790" y="1777184"/>
            <a:ext cx="1800226" cy="501977"/>
            <a:chOff x="0" y="0"/>
            <a:chExt cx="2400300" cy="669300"/>
          </a:xfrm>
        </p:grpSpPr>
        <p:sp>
          <p:nvSpPr>
            <p:cNvPr id="389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90" name="Answer"/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Ответ</a:t>
              </a:r>
              <a:endParaRPr sz="1800" dirty="0"/>
            </a:p>
          </p:txBody>
        </p:sp>
      </p:grpSp>
      <p:grpSp>
        <p:nvGrpSpPr>
          <p:cNvPr id="394" name="Google Shape;311;gaf7c1d9c3d_0_148"/>
          <p:cNvGrpSpPr/>
          <p:nvPr/>
        </p:nvGrpSpPr>
        <p:grpSpPr>
          <a:xfrm>
            <a:off x="754785" y="2228461"/>
            <a:ext cx="1800226" cy="501977"/>
            <a:chOff x="0" y="0"/>
            <a:chExt cx="2400300" cy="669300"/>
          </a:xfrm>
        </p:grpSpPr>
        <p:sp>
          <p:nvSpPr>
            <p:cNvPr id="392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93" name="Algorithm"/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Алгоритм</a:t>
              </a:r>
              <a:endParaRPr sz="1800" dirty="0"/>
            </a:p>
          </p:txBody>
        </p:sp>
      </p:grpSp>
      <p:sp>
        <p:nvSpPr>
          <p:cNvPr id="417" name="Google Shape;312;gaf7c1d9c3d_0_148"/>
          <p:cNvSpPr/>
          <p:nvPr/>
        </p:nvSpPr>
        <p:spPr>
          <a:xfrm>
            <a:off x="2569298" y="1733132"/>
            <a:ext cx="805741" cy="120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8575">
            <a:solidFill>
              <a:srgbClr val="4A7DBA"/>
            </a:solidFill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96" name="Google Shape;313;gaf7c1d9c3d_0_148"/>
          <p:cNvSpPr/>
          <p:nvPr/>
        </p:nvSpPr>
        <p:spPr>
          <a:xfrm flipV="1">
            <a:off x="2555010" y="2129798"/>
            <a:ext cx="834301" cy="349650"/>
          </a:xfrm>
          <a:prstGeom prst="line">
            <a:avLst/>
          </a:prstGeom>
          <a:ln w="28575">
            <a:solidFill>
              <a:srgbClr val="4A7DBA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397" name="Google Shape;314;gaf7c1d9c3d_0_148"/>
          <p:cNvSpPr/>
          <p:nvPr/>
        </p:nvSpPr>
        <p:spPr>
          <a:xfrm flipV="1">
            <a:off x="5693550" y="2023707"/>
            <a:ext cx="680400" cy="4501"/>
          </a:xfrm>
          <a:prstGeom prst="line">
            <a:avLst/>
          </a:prstGeom>
          <a:ln w="28575">
            <a:solidFill>
              <a:srgbClr val="4A7DBA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grpSp>
        <p:nvGrpSpPr>
          <p:cNvPr id="400" name="Google Shape;315;gaf7c1d9c3d_0_148"/>
          <p:cNvGrpSpPr/>
          <p:nvPr/>
        </p:nvGrpSpPr>
        <p:grpSpPr>
          <a:xfrm>
            <a:off x="3389325" y="3467456"/>
            <a:ext cx="2304227" cy="863777"/>
            <a:chOff x="-1" y="0"/>
            <a:chExt cx="3072302" cy="1151700"/>
          </a:xfrm>
        </p:grpSpPr>
        <p:sp>
          <p:nvSpPr>
            <p:cNvPr id="398" name="Rectangle"/>
            <p:cNvSpPr/>
            <p:nvPr/>
          </p:nvSpPr>
          <p:spPr>
            <a:xfrm>
              <a:off x="-1" y="0"/>
              <a:ext cx="3072302" cy="1151700"/>
            </a:xfrm>
            <a:prstGeom prst="rect">
              <a:avLst/>
            </a:prstGeom>
            <a:solidFill>
              <a:srgbClr val="D9EAD3"/>
            </a:solidFill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99" name="Computer"/>
            <p:cNvSpPr txBox="1"/>
            <p:nvPr/>
          </p:nvSpPr>
          <p:spPr>
            <a:xfrm>
              <a:off x="64774" y="345039"/>
              <a:ext cx="2942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Компьютер</a:t>
              </a:r>
              <a:endParaRPr sz="1800" dirty="0"/>
            </a:p>
          </p:txBody>
        </p:sp>
      </p:grpSp>
      <p:grpSp>
        <p:nvGrpSpPr>
          <p:cNvPr id="403" name="Google Shape;316;gaf7c1d9c3d_0_148"/>
          <p:cNvGrpSpPr/>
          <p:nvPr/>
        </p:nvGrpSpPr>
        <p:grpSpPr>
          <a:xfrm>
            <a:off x="754785" y="3216469"/>
            <a:ext cx="1800226" cy="501977"/>
            <a:chOff x="0" y="0"/>
            <a:chExt cx="2400300" cy="669300"/>
          </a:xfrm>
        </p:grpSpPr>
        <p:sp>
          <p:nvSpPr>
            <p:cNvPr id="401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402" name="Data"/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Изображения</a:t>
              </a:r>
              <a:endParaRPr sz="1800" dirty="0"/>
            </a:p>
          </p:txBody>
        </p:sp>
      </p:grpSp>
      <p:grpSp>
        <p:nvGrpSpPr>
          <p:cNvPr id="406" name="Google Shape;317;gaf7c1d9c3d_0_148"/>
          <p:cNvGrpSpPr/>
          <p:nvPr/>
        </p:nvGrpSpPr>
        <p:grpSpPr>
          <a:xfrm>
            <a:off x="6395790" y="3648322"/>
            <a:ext cx="1800226" cy="501977"/>
            <a:chOff x="0" y="0"/>
            <a:chExt cx="2400300" cy="669300"/>
          </a:xfrm>
        </p:grpSpPr>
        <p:sp>
          <p:nvSpPr>
            <p:cNvPr id="404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405" name="Algorithm"/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b="1" dirty="0">
                  <a:solidFill>
                    <a:schemeClr val="accent6">
                      <a:lumMod val="50000"/>
                    </a:schemeClr>
                  </a:solidFill>
                </a:rPr>
                <a:t>Модель</a:t>
              </a:r>
              <a:endParaRPr sz="180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409" name="Google Shape;318;gaf7c1d9c3d_0_148"/>
          <p:cNvGrpSpPr/>
          <p:nvPr/>
        </p:nvGrpSpPr>
        <p:grpSpPr>
          <a:xfrm>
            <a:off x="754785" y="4099598"/>
            <a:ext cx="1800226" cy="501977"/>
            <a:chOff x="0" y="0"/>
            <a:chExt cx="2400300" cy="669300"/>
          </a:xfrm>
        </p:grpSpPr>
        <p:sp>
          <p:nvSpPr>
            <p:cNvPr id="407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408" name="Answer"/>
            <p:cNvSpPr txBox="1"/>
            <p:nvPr/>
          </p:nvSpPr>
          <p:spPr>
            <a:xfrm>
              <a:off x="64775" y="134614"/>
              <a:ext cx="2270751" cy="4000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500" dirty="0"/>
                <a:t>Лейблы: </a:t>
              </a:r>
              <a:r>
                <a:rPr lang="en-US" sz="1500" dirty="0"/>
                <a:t>cat/dog</a:t>
              </a:r>
              <a:endParaRPr sz="1500" dirty="0"/>
            </a:p>
          </p:txBody>
        </p:sp>
      </p:grpSp>
      <p:sp>
        <p:nvSpPr>
          <p:cNvPr id="418" name="Google Shape;319;gaf7c1d9c3d_0_148"/>
          <p:cNvSpPr/>
          <p:nvPr/>
        </p:nvSpPr>
        <p:spPr>
          <a:xfrm>
            <a:off x="2569298" y="3604270"/>
            <a:ext cx="805741" cy="120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8575">
            <a:solidFill>
              <a:srgbClr val="38761D"/>
            </a:solidFill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411" name="Google Shape;320;gaf7c1d9c3d_0_148"/>
          <p:cNvSpPr/>
          <p:nvPr/>
        </p:nvSpPr>
        <p:spPr>
          <a:xfrm flipV="1">
            <a:off x="2555010" y="4000936"/>
            <a:ext cx="834301" cy="349650"/>
          </a:xfrm>
          <a:prstGeom prst="line">
            <a:avLst/>
          </a:prstGeom>
          <a:ln w="28575">
            <a:solidFill>
              <a:srgbClr val="38761D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412" name="Google Shape;321;gaf7c1d9c3d_0_148"/>
          <p:cNvSpPr/>
          <p:nvPr/>
        </p:nvSpPr>
        <p:spPr>
          <a:xfrm flipV="1">
            <a:off x="5693550" y="3894843"/>
            <a:ext cx="680400" cy="4501"/>
          </a:xfrm>
          <a:prstGeom prst="line">
            <a:avLst/>
          </a:prstGeom>
          <a:ln w="28575">
            <a:solidFill>
              <a:srgbClr val="38761D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grpSp>
        <p:nvGrpSpPr>
          <p:cNvPr id="415" name="Google Shape;322;gaf7c1d9c3d_0_148"/>
          <p:cNvGrpSpPr/>
          <p:nvPr/>
        </p:nvGrpSpPr>
        <p:grpSpPr>
          <a:xfrm>
            <a:off x="146425" y="448449"/>
            <a:ext cx="2965277" cy="640577"/>
            <a:chOff x="0" y="6000"/>
            <a:chExt cx="3953701" cy="854101"/>
          </a:xfrm>
        </p:grpSpPr>
        <p:sp>
          <p:nvSpPr>
            <p:cNvPr id="413" name="Rectangle"/>
            <p:cNvSpPr/>
            <p:nvPr/>
          </p:nvSpPr>
          <p:spPr>
            <a:xfrm>
              <a:off x="0" y="6000"/>
              <a:ext cx="3953701" cy="854101"/>
            </a:xfrm>
            <a:prstGeom prst="rect">
              <a:avLst/>
            </a:prstGeom>
            <a:solidFill>
              <a:srgbClr val="A2C4C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r">
                <a:defRPr sz="3600">
                  <a:latin typeface="Avenir"/>
                  <a:ea typeface="Avenir"/>
                  <a:cs typeface="Avenir"/>
                  <a:sym typeface="Avenir Roman"/>
                </a:defRPr>
              </a:pPr>
              <a:endParaRPr sz="2700"/>
            </a:p>
          </p:txBody>
        </p:sp>
        <p:sp>
          <p:nvSpPr>
            <p:cNvPr id="414" name="Machine Learning"/>
            <p:cNvSpPr txBox="1"/>
            <p:nvPr/>
          </p:nvSpPr>
          <p:spPr>
            <a:xfrm>
              <a:off x="0" y="79128"/>
              <a:ext cx="3953701" cy="70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r">
                <a:defRPr sz="3600"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lang="ru-RU" sz="2250" dirty="0">
                  <a:latin typeface="Arial" panose="020B0604020202020204" pitchFamily="34" charset="0"/>
                  <a:cs typeface="Arial" panose="020B0604020202020204" pitchFamily="34" charset="0"/>
                </a:rPr>
                <a:t>Машинное обучение</a:t>
              </a:r>
              <a:endParaRPr sz="22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6" name="Google Shape;323;gaf7c1d9c3d_0_148">
            <a:extLst>
              <a:ext uri="{FF2B5EF4-FFF2-40B4-BE49-F238E27FC236}">
                <a16:creationId xmlns:a16="http://schemas.microsoft.com/office/drawing/2014/main" id="{5E8E3686-D22D-8E4D-A3F6-D6F54F562D7E}"/>
              </a:ext>
            </a:extLst>
          </p:cNvPr>
          <p:cNvSpPr txBox="1">
            <a:spLocks/>
          </p:cNvSpPr>
          <p:nvPr/>
        </p:nvSpPr>
        <p:spPr>
          <a:xfrm>
            <a:off x="3111694" y="466971"/>
            <a:ext cx="5975549" cy="61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91424" rIns="91424" bIns="9142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defTabSz="822959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33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2250">
                <a:latin typeface="Arial" panose="020B0604020202020204" pitchFamily="34" charset="0"/>
                <a:cs typeface="Arial" panose="020B0604020202020204" pitchFamily="34" charset="0"/>
              </a:rPr>
              <a:t>vs </a:t>
            </a:r>
            <a:r>
              <a:rPr lang="ru-RU" sz="2250" b="0">
                <a:latin typeface="Arial" panose="020B0604020202020204" pitchFamily="34" charset="0"/>
                <a:cs typeface="Arial" panose="020B0604020202020204" pitchFamily="34" charset="0"/>
              </a:rPr>
              <a:t>Традиционное программирование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383173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" name="Google Shape;315;gaf7c1d9c3d_0_148"/>
          <p:cNvGrpSpPr/>
          <p:nvPr/>
        </p:nvGrpSpPr>
        <p:grpSpPr>
          <a:xfrm>
            <a:off x="3389325" y="2203735"/>
            <a:ext cx="2304227" cy="863777"/>
            <a:chOff x="-1" y="0"/>
            <a:chExt cx="3072302" cy="1151700"/>
          </a:xfrm>
        </p:grpSpPr>
        <p:sp>
          <p:nvSpPr>
            <p:cNvPr id="398" name="Rectangle"/>
            <p:cNvSpPr/>
            <p:nvPr/>
          </p:nvSpPr>
          <p:spPr>
            <a:xfrm>
              <a:off x="-1" y="0"/>
              <a:ext cx="3072302" cy="1151700"/>
            </a:xfrm>
            <a:prstGeom prst="rect">
              <a:avLst/>
            </a:prstGeom>
            <a:solidFill>
              <a:srgbClr val="D9EAD3"/>
            </a:solidFill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99" name="Computer"/>
            <p:cNvSpPr txBox="1"/>
            <p:nvPr/>
          </p:nvSpPr>
          <p:spPr>
            <a:xfrm>
              <a:off x="64774" y="345039"/>
              <a:ext cx="2942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Компьютер</a:t>
              </a:r>
              <a:endParaRPr sz="1800" dirty="0"/>
            </a:p>
          </p:txBody>
        </p:sp>
      </p:grpSp>
      <p:grpSp>
        <p:nvGrpSpPr>
          <p:cNvPr id="403" name="Google Shape;316;gaf7c1d9c3d_0_148"/>
          <p:cNvGrpSpPr/>
          <p:nvPr/>
        </p:nvGrpSpPr>
        <p:grpSpPr>
          <a:xfrm>
            <a:off x="754785" y="1952747"/>
            <a:ext cx="1800226" cy="501977"/>
            <a:chOff x="0" y="0"/>
            <a:chExt cx="2400300" cy="669300"/>
          </a:xfrm>
        </p:grpSpPr>
        <p:sp>
          <p:nvSpPr>
            <p:cNvPr id="401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402" name="Data"/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Изображения</a:t>
              </a:r>
              <a:endParaRPr sz="1800" dirty="0"/>
            </a:p>
          </p:txBody>
        </p:sp>
      </p:grpSp>
      <p:grpSp>
        <p:nvGrpSpPr>
          <p:cNvPr id="406" name="Google Shape;317;gaf7c1d9c3d_0_148"/>
          <p:cNvGrpSpPr/>
          <p:nvPr/>
        </p:nvGrpSpPr>
        <p:grpSpPr>
          <a:xfrm>
            <a:off x="6395790" y="2384600"/>
            <a:ext cx="1800226" cy="501977"/>
            <a:chOff x="0" y="0"/>
            <a:chExt cx="2400300" cy="669300"/>
          </a:xfrm>
        </p:grpSpPr>
        <p:sp>
          <p:nvSpPr>
            <p:cNvPr id="404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405" name="Algorithm"/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b="1" dirty="0">
                  <a:solidFill>
                    <a:schemeClr val="accent6">
                      <a:lumMod val="50000"/>
                    </a:schemeClr>
                  </a:solidFill>
                </a:rPr>
                <a:t>Модель</a:t>
              </a:r>
              <a:endParaRPr sz="180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409" name="Google Shape;318;gaf7c1d9c3d_0_148"/>
          <p:cNvGrpSpPr/>
          <p:nvPr/>
        </p:nvGrpSpPr>
        <p:grpSpPr>
          <a:xfrm>
            <a:off x="754785" y="2835877"/>
            <a:ext cx="1800226" cy="501977"/>
            <a:chOff x="0" y="0"/>
            <a:chExt cx="2400300" cy="669300"/>
          </a:xfrm>
        </p:grpSpPr>
        <p:sp>
          <p:nvSpPr>
            <p:cNvPr id="407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408" name="Answer"/>
            <p:cNvSpPr txBox="1"/>
            <p:nvPr/>
          </p:nvSpPr>
          <p:spPr>
            <a:xfrm>
              <a:off x="64775" y="134614"/>
              <a:ext cx="2270751" cy="4000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500" dirty="0"/>
                <a:t>Лейблы: </a:t>
              </a:r>
              <a:r>
                <a:rPr lang="en-US" sz="1500" dirty="0"/>
                <a:t>cat/dog</a:t>
              </a:r>
              <a:endParaRPr sz="1500" dirty="0"/>
            </a:p>
          </p:txBody>
        </p:sp>
      </p:grpSp>
      <p:sp>
        <p:nvSpPr>
          <p:cNvPr id="418" name="Google Shape;319;gaf7c1d9c3d_0_148"/>
          <p:cNvSpPr/>
          <p:nvPr/>
        </p:nvSpPr>
        <p:spPr>
          <a:xfrm>
            <a:off x="2569298" y="2340548"/>
            <a:ext cx="805741" cy="120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8575">
            <a:solidFill>
              <a:srgbClr val="38761D"/>
            </a:solidFill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411" name="Google Shape;320;gaf7c1d9c3d_0_148"/>
          <p:cNvSpPr/>
          <p:nvPr/>
        </p:nvSpPr>
        <p:spPr>
          <a:xfrm flipV="1">
            <a:off x="2555010" y="2737214"/>
            <a:ext cx="834301" cy="349650"/>
          </a:xfrm>
          <a:prstGeom prst="line">
            <a:avLst/>
          </a:prstGeom>
          <a:ln w="28575">
            <a:solidFill>
              <a:srgbClr val="38761D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412" name="Google Shape;321;gaf7c1d9c3d_0_148"/>
          <p:cNvSpPr/>
          <p:nvPr/>
        </p:nvSpPr>
        <p:spPr>
          <a:xfrm flipV="1">
            <a:off x="5693550" y="2631122"/>
            <a:ext cx="680400" cy="4501"/>
          </a:xfrm>
          <a:prstGeom prst="line">
            <a:avLst/>
          </a:prstGeom>
          <a:ln w="28575">
            <a:solidFill>
              <a:srgbClr val="38761D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grpSp>
        <p:nvGrpSpPr>
          <p:cNvPr id="415" name="Google Shape;322;gaf7c1d9c3d_0_148"/>
          <p:cNvGrpSpPr/>
          <p:nvPr/>
        </p:nvGrpSpPr>
        <p:grpSpPr>
          <a:xfrm>
            <a:off x="146425" y="448449"/>
            <a:ext cx="2965277" cy="640577"/>
            <a:chOff x="0" y="6000"/>
            <a:chExt cx="3953701" cy="854101"/>
          </a:xfrm>
        </p:grpSpPr>
        <p:sp>
          <p:nvSpPr>
            <p:cNvPr id="413" name="Rectangle"/>
            <p:cNvSpPr/>
            <p:nvPr/>
          </p:nvSpPr>
          <p:spPr>
            <a:xfrm>
              <a:off x="0" y="6000"/>
              <a:ext cx="3953701" cy="854101"/>
            </a:xfrm>
            <a:prstGeom prst="rect">
              <a:avLst/>
            </a:prstGeom>
            <a:solidFill>
              <a:srgbClr val="A2C4C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r">
                <a:defRPr sz="3600">
                  <a:latin typeface="Avenir"/>
                  <a:ea typeface="Avenir"/>
                  <a:cs typeface="Avenir"/>
                  <a:sym typeface="Avenir Roman"/>
                </a:defRPr>
              </a:pPr>
              <a:endParaRPr sz="2700"/>
            </a:p>
          </p:txBody>
        </p:sp>
        <p:sp>
          <p:nvSpPr>
            <p:cNvPr id="414" name="Machine Learning"/>
            <p:cNvSpPr txBox="1"/>
            <p:nvPr/>
          </p:nvSpPr>
          <p:spPr>
            <a:xfrm>
              <a:off x="0" y="79128"/>
              <a:ext cx="3953701" cy="70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r">
                <a:defRPr sz="3600"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lang="ru-RU" sz="2250" dirty="0">
                  <a:latin typeface="Arial" panose="020B0604020202020204" pitchFamily="34" charset="0"/>
                  <a:cs typeface="Arial" panose="020B0604020202020204" pitchFamily="34" charset="0"/>
                </a:rPr>
                <a:t>Эврика!</a:t>
              </a:r>
              <a:endParaRPr sz="22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16" name="Google Shape;323;gaf7c1d9c3d_0_148"/>
          <p:cNvSpPr txBox="1">
            <a:spLocks noGrp="1"/>
          </p:cNvSpPr>
          <p:nvPr>
            <p:ph type="title" idx="4294967295"/>
          </p:nvPr>
        </p:nvSpPr>
        <p:spPr>
          <a:xfrm>
            <a:off x="3111694" y="497793"/>
            <a:ext cx="5975549" cy="611776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rm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ru-RU" sz="2250" dirty="0">
                <a:latin typeface="Arial" panose="020B0604020202020204" pitchFamily="34" charset="0"/>
                <a:cs typeface="Arial" panose="020B0604020202020204" pitchFamily="34" charset="0"/>
              </a:rPr>
              <a:t>Мы </a:t>
            </a:r>
            <a:r>
              <a:rPr lang="ru-RU" sz="225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обучили</a:t>
            </a:r>
            <a:r>
              <a:rPr lang="ru-RU" sz="2250" dirty="0">
                <a:latin typeface="Arial" panose="020B0604020202020204" pitchFamily="34" charset="0"/>
                <a:cs typeface="Arial" panose="020B0604020202020204" pitchFamily="34" charset="0"/>
              </a:rPr>
              <a:t> нашу </a:t>
            </a:r>
            <a:r>
              <a:rPr lang="ru-RU" sz="225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модель!</a:t>
            </a:r>
            <a:endParaRPr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899323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" name="Google Shape;315;gaf7c1d9c3d_0_148"/>
          <p:cNvGrpSpPr/>
          <p:nvPr/>
        </p:nvGrpSpPr>
        <p:grpSpPr>
          <a:xfrm>
            <a:off x="3389325" y="2203735"/>
            <a:ext cx="2304227" cy="863777"/>
            <a:chOff x="-1" y="0"/>
            <a:chExt cx="3072302" cy="1151700"/>
          </a:xfrm>
        </p:grpSpPr>
        <p:sp>
          <p:nvSpPr>
            <p:cNvPr id="398" name="Rectangle"/>
            <p:cNvSpPr/>
            <p:nvPr/>
          </p:nvSpPr>
          <p:spPr>
            <a:xfrm>
              <a:off x="-1" y="0"/>
              <a:ext cx="3072302" cy="1151700"/>
            </a:xfrm>
            <a:prstGeom prst="rect">
              <a:avLst/>
            </a:prstGeom>
            <a:solidFill>
              <a:srgbClr val="D9EAD3"/>
            </a:solidFill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99" name="Computer"/>
            <p:cNvSpPr txBox="1"/>
            <p:nvPr/>
          </p:nvSpPr>
          <p:spPr>
            <a:xfrm>
              <a:off x="64774" y="345039"/>
              <a:ext cx="2942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Модель</a:t>
              </a:r>
              <a:endParaRPr sz="1800" dirty="0"/>
            </a:p>
          </p:txBody>
        </p:sp>
      </p:grpSp>
      <p:grpSp>
        <p:nvGrpSpPr>
          <p:cNvPr id="406" name="Google Shape;317;gaf7c1d9c3d_0_148"/>
          <p:cNvGrpSpPr/>
          <p:nvPr/>
        </p:nvGrpSpPr>
        <p:grpSpPr>
          <a:xfrm>
            <a:off x="6395790" y="2384600"/>
            <a:ext cx="1800226" cy="501977"/>
            <a:chOff x="0" y="0"/>
            <a:chExt cx="2400300" cy="669300"/>
          </a:xfrm>
        </p:grpSpPr>
        <p:sp>
          <p:nvSpPr>
            <p:cNvPr id="404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405" name="Algorithm"/>
            <p:cNvSpPr txBox="1"/>
            <p:nvPr/>
          </p:nvSpPr>
          <p:spPr>
            <a:xfrm>
              <a:off x="64775" y="134614"/>
              <a:ext cx="2270751" cy="4000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en-US" sz="1500" dirty="0"/>
                <a:t>Dog</a:t>
              </a:r>
              <a:endParaRPr lang="en" sz="1500" dirty="0"/>
            </a:p>
          </p:txBody>
        </p:sp>
      </p:grpSp>
      <p:sp>
        <p:nvSpPr>
          <p:cNvPr id="412" name="Google Shape;321;gaf7c1d9c3d_0_148"/>
          <p:cNvSpPr/>
          <p:nvPr/>
        </p:nvSpPr>
        <p:spPr>
          <a:xfrm flipV="1">
            <a:off x="5693550" y="2631122"/>
            <a:ext cx="680400" cy="4501"/>
          </a:xfrm>
          <a:prstGeom prst="line">
            <a:avLst/>
          </a:prstGeom>
          <a:ln w="28575">
            <a:solidFill>
              <a:srgbClr val="38761D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grpSp>
        <p:nvGrpSpPr>
          <p:cNvPr id="415" name="Google Shape;322;gaf7c1d9c3d_0_148"/>
          <p:cNvGrpSpPr/>
          <p:nvPr/>
        </p:nvGrpSpPr>
        <p:grpSpPr>
          <a:xfrm>
            <a:off x="146425" y="448449"/>
            <a:ext cx="2965277" cy="640577"/>
            <a:chOff x="0" y="6000"/>
            <a:chExt cx="3953701" cy="854101"/>
          </a:xfrm>
        </p:grpSpPr>
        <p:sp>
          <p:nvSpPr>
            <p:cNvPr id="413" name="Rectangle"/>
            <p:cNvSpPr/>
            <p:nvPr/>
          </p:nvSpPr>
          <p:spPr>
            <a:xfrm>
              <a:off x="0" y="6000"/>
              <a:ext cx="3953701" cy="854101"/>
            </a:xfrm>
            <a:prstGeom prst="rect">
              <a:avLst/>
            </a:prstGeom>
            <a:solidFill>
              <a:srgbClr val="A2C4C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r">
                <a:defRPr sz="3600">
                  <a:latin typeface="Avenir"/>
                  <a:ea typeface="Avenir"/>
                  <a:cs typeface="Avenir"/>
                  <a:sym typeface="Avenir Roman"/>
                </a:defRPr>
              </a:pPr>
              <a:endParaRPr sz="2700"/>
            </a:p>
          </p:txBody>
        </p:sp>
        <p:sp>
          <p:nvSpPr>
            <p:cNvPr id="414" name="Machine Learning"/>
            <p:cNvSpPr txBox="1"/>
            <p:nvPr/>
          </p:nvSpPr>
          <p:spPr>
            <a:xfrm>
              <a:off x="0" y="79128"/>
              <a:ext cx="3953701" cy="70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r">
                <a:defRPr sz="3600"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lang="ru-RU" sz="2250" dirty="0">
                  <a:latin typeface="Arial" panose="020B0604020202020204" pitchFamily="34" charset="0"/>
                  <a:cs typeface="Arial" panose="020B0604020202020204" pitchFamily="34" charset="0"/>
                </a:rPr>
                <a:t>Эврика!</a:t>
              </a:r>
              <a:endParaRPr sz="22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16" name="Google Shape;323;gaf7c1d9c3d_0_148"/>
          <p:cNvSpPr txBox="1">
            <a:spLocks noGrp="1"/>
          </p:cNvSpPr>
          <p:nvPr>
            <p:ph type="title" idx="4294967295"/>
          </p:nvPr>
        </p:nvSpPr>
        <p:spPr>
          <a:xfrm>
            <a:off x="3111694" y="497793"/>
            <a:ext cx="5975549" cy="611776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rm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ru-RU" sz="2250" dirty="0">
                <a:latin typeface="Arial" panose="020B0604020202020204" pitchFamily="34" charset="0"/>
                <a:cs typeface="Arial" panose="020B0604020202020204" pitchFamily="34" charset="0"/>
              </a:rPr>
              <a:t>Мы </a:t>
            </a:r>
            <a:r>
              <a:rPr lang="ru-RU" sz="225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обучили</a:t>
            </a:r>
            <a:r>
              <a:rPr lang="ru-RU" sz="2250" dirty="0">
                <a:latin typeface="Arial" panose="020B0604020202020204" pitchFamily="34" charset="0"/>
                <a:cs typeface="Arial" panose="020B0604020202020204" pitchFamily="34" charset="0"/>
              </a:rPr>
              <a:t> нашу </a:t>
            </a:r>
            <a:r>
              <a:rPr lang="ru-RU" sz="225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модель!</a:t>
            </a:r>
            <a:endParaRPr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Google Shape;321;gaf7c1d9c3d_0_148">
            <a:extLst>
              <a:ext uri="{FF2B5EF4-FFF2-40B4-BE49-F238E27FC236}">
                <a16:creationId xmlns:a16="http://schemas.microsoft.com/office/drawing/2014/main" id="{FFDDE48F-5940-0A48-B2EC-B3E4A5F8B3DD}"/>
              </a:ext>
            </a:extLst>
          </p:cNvPr>
          <p:cNvSpPr/>
          <p:nvPr/>
        </p:nvSpPr>
        <p:spPr>
          <a:xfrm flipV="1">
            <a:off x="2684634" y="2631122"/>
            <a:ext cx="680400" cy="4501"/>
          </a:xfrm>
          <a:prstGeom prst="line">
            <a:avLst/>
          </a:prstGeom>
          <a:ln w="28575">
            <a:solidFill>
              <a:srgbClr val="38761D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B600FCE-8C53-0747-A040-C06C26982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56" y="1601909"/>
            <a:ext cx="2075696" cy="205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48146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6D4C-D966-7F4E-BB0D-27073ABB4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Классический </a:t>
            </a:r>
            <a:r>
              <a:rPr lang="en-US" dirty="0"/>
              <a:t>ML</a:t>
            </a:r>
          </a:p>
        </p:txBody>
      </p:sp>
      <p:pic>
        <p:nvPicPr>
          <p:cNvPr id="3" name="object 2">
            <a:extLst>
              <a:ext uri="{FF2B5EF4-FFF2-40B4-BE49-F238E27FC236}">
                <a16:creationId xmlns:a16="http://schemas.microsoft.com/office/drawing/2014/main" id="{B85E4FB4-2C5B-934F-817A-E81C6554DE9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9685" y="911003"/>
            <a:ext cx="5604630" cy="423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4654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1"/>
          <p:cNvSpPr txBox="1">
            <a:spLocks noGrp="1"/>
          </p:cNvSpPr>
          <p:nvPr>
            <p:ph type="title"/>
          </p:nvPr>
        </p:nvSpPr>
        <p:spPr>
          <a:xfrm>
            <a:off x="956225" y="11064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Вопросы?</a:t>
            </a:r>
            <a:endParaRPr/>
          </a:p>
        </p:txBody>
      </p:sp>
      <p:pic>
        <p:nvPicPr>
          <p:cNvPr id="413" name="Google Shape;413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750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61"/>
          <p:cNvSpPr txBox="1"/>
          <p:nvPr/>
        </p:nvSpPr>
        <p:spPr>
          <a:xfrm>
            <a:off x="1750800" y="2887700"/>
            <a:ext cx="163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Задаем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5" name="Google Shape;415;p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5725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61"/>
          <p:cNvSpPr txBox="1"/>
          <p:nvPr/>
        </p:nvSpPr>
        <p:spPr>
          <a:xfrm>
            <a:off x="5119475" y="289230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Проекты выполненные студентами</a:t>
            </a:r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>
            <a:spLocks noGrp="1"/>
          </p:cNvSpPr>
          <p:nvPr>
            <p:ph type="title"/>
          </p:nvPr>
        </p:nvSpPr>
        <p:spPr>
          <a:xfrm>
            <a:off x="500550" y="330729"/>
            <a:ext cx="85206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Проекты студентов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823D37-2F38-AE43-9D46-FB37EB703A26}"/>
              </a:ext>
            </a:extLst>
          </p:cNvPr>
          <p:cNvSpPr txBox="1"/>
          <p:nvPr/>
        </p:nvSpPr>
        <p:spPr>
          <a:xfrm>
            <a:off x="500550" y="986700"/>
            <a:ext cx="8459343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b="1" dirty="0"/>
              <a:t>Вы все имеете возможность опубликовать ваш курсовой проект в нашем канале на сайте </a:t>
            </a:r>
            <a:r>
              <a:rPr lang="en-US" b="1" dirty="0" err="1">
                <a:hlinkClick r:id="rId3"/>
              </a:rPr>
              <a:t>habr.com</a:t>
            </a:r>
            <a:endParaRPr lang="ru-RU" b="1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Рекомендательная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торговой</a:t>
            </a:r>
            <a:r>
              <a:rPr lang="en-US" dirty="0"/>
              <a:t> </a:t>
            </a:r>
            <a:r>
              <a:rPr lang="en-US" dirty="0" err="1"/>
              <a:t>сети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https://habr.com/ru/companies/otus/articles/648891/</a:t>
            </a:r>
            <a:r>
              <a:rPr lang="ru-RU" dirty="0"/>
              <a:t>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Тематическое моделирование форума </a:t>
            </a:r>
            <a:r>
              <a:rPr lang="en-US" dirty="0">
                <a:hlinkClick r:id="rId5"/>
              </a:rPr>
              <a:t>https://habr.com/ru/companies/otus/articles/503398/</a:t>
            </a:r>
            <a:endParaRPr lang="ru-RU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 Предсказание </a:t>
            </a:r>
            <a:r>
              <a:rPr lang="ru-RU" dirty="0" err="1"/>
              <a:t>горимости</a:t>
            </a:r>
            <a:r>
              <a:rPr lang="ru-RU" dirty="0"/>
              <a:t> территорий</a:t>
            </a:r>
            <a:r>
              <a:rPr lang="en-US" dirty="0"/>
              <a:t> </a:t>
            </a:r>
            <a:r>
              <a:rPr lang="en-US" dirty="0">
                <a:hlinkClick r:id="rId6"/>
              </a:rPr>
              <a:t>https://habr.com/ru/companies/otus/articles/675954/</a:t>
            </a:r>
            <a:r>
              <a:rPr lang="en-US" dirty="0"/>
              <a:t>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Тематическое моделирование сообществ в </a:t>
            </a:r>
            <a:r>
              <a:rPr lang="en-US" dirty="0"/>
              <a:t>Telegram </a:t>
            </a:r>
            <a:r>
              <a:rPr lang="en-US" dirty="0">
                <a:hlinkClick r:id="rId7"/>
              </a:rPr>
              <a:t>https://habr.com/ru/companies/otus/articles/672450/</a:t>
            </a:r>
            <a:r>
              <a:rPr lang="en-US" dirty="0"/>
              <a:t>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Обработка временных рядов и байесовские модели для распознавания рукописного текста</a:t>
            </a:r>
            <a:r>
              <a:rPr lang="en-US" dirty="0"/>
              <a:t> </a:t>
            </a:r>
            <a:r>
              <a:rPr lang="en-US" dirty="0">
                <a:hlinkClick r:id="rId8"/>
              </a:rPr>
              <a:t>https://habr.com/ru/companies/otus/articles/651895/</a:t>
            </a:r>
            <a:r>
              <a:rPr lang="en-US" dirty="0"/>
              <a:t>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Анализ шедевров живописи </a:t>
            </a:r>
            <a:r>
              <a:rPr lang="en-US" dirty="0">
                <a:hlinkClick r:id="rId9"/>
              </a:rPr>
              <a:t>https://habr.com/ru/companies/otus/articles/504806/</a:t>
            </a:r>
            <a:r>
              <a:rPr lang="ru-RU" dirty="0"/>
              <a:t>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Построение векторов личности по характеристикам человека </a:t>
            </a:r>
            <a:r>
              <a:rPr lang="en-US" dirty="0">
                <a:hlinkClick r:id="rId10"/>
              </a:rPr>
              <a:t>https://habr.com/ru/companies/otus/articles/675898/</a:t>
            </a:r>
            <a:r>
              <a:rPr lang="ru-RU" dirty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2"/>
          <p:cNvSpPr txBox="1">
            <a:spLocks noGrp="1"/>
          </p:cNvSpPr>
          <p:nvPr>
            <p:ph type="title"/>
          </p:nvPr>
        </p:nvSpPr>
        <p:spPr>
          <a:xfrm>
            <a:off x="956225" y="11064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Вопросы?</a:t>
            </a:r>
            <a:endParaRPr/>
          </a:p>
        </p:txBody>
      </p:sp>
      <p:pic>
        <p:nvPicPr>
          <p:cNvPr id="488" name="Google Shape;488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750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72"/>
          <p:cNvSpPr txBox="1"/>
          <p:nvPr/>
        </p:nvSpPr>
        <p:spPr>
          <a:xfrm>
            <a:off x="1750800" y="2887700"/>
            <a:ext cx="163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Задаем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0" name="Google Shape;490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5725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72"/>
          <p:cNvSpPr txBox="1"/>
          <p:nvPr/>
        </p:nvSpPr>
        <p:spPr>
          <a:xfrm>
            <a:off x="5119475" y="289230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Ключевые тезисы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97" name="Google Shape;497;p73"/>
          <p:cNvGraphicFramePr/>
          <p:nvPr>
            <p:extLst>
              <p:ext uri="{D42A27DB-BD31-4B8C-83A1-F6EECF244321}">
                <p14:modId xmlns:p14="http://schemas.microsoft.com/office/powerpoint/2010/main" val="3374360241"/>
              </p:ext>
            </p:extLst>
          </p:nvPr>
        </p:nvGraphicFramePr>
        <p:xfrm>
          <a:off x="952500" y="1544194"/>
          <a:ext cx="7239000" cy="1737320"/>
        </p:xfrm>
        <a:graphic>
          <a:graphicData uri="http://schemas.openxmlformats.org/drawingml/2006/table">
            <a:tbl>
              <a:tblPr>
                <a:noFill/>
                <a:tableStyleId>{91CB5BBF-14A1-44A8-AE45-40D0EF8F1E93}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Познакомились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из чего состоит специализация и курс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какие парадигмы машинного обучения существуют и какими из них мы будем заниматься на курсе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07049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в чем разница между машинным обучением и классическим программированием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6201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9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Рефлексия</a:t>
            </a:r>
            <a:endParaRPr/>
          </a:p>
        </p:txBody>
      </p:sp>
      <p:pic>
        <p:nvPicPr>
          <p:cNvPr id="639" name="Google Shape;639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640" y="1144299"/>
            <a:ext cx="828522" cy="828504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94"/>
          <p:cNvSpPr txBox="1"/>
          <p:nvPr/>
        </p:nvSpPr>
        <p:spPr>
          <a:xfrm>
            <a:off x="1678930" y="1349475"/>
            <a:ext cx="46722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какими впечатлениями уходите с вебинара?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94"/>
          <p:cNvSpPr txBox="1"/>
          <p:nvPr/>
        </p:nvSpPr>
        <p:spPr>
          <a:xfrm>
            <a:off x="1678930" y="2298350"/>
            <a:ext cx="49968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показалось сложным?</a:t>
            </a:r>
            <a:endParaRPr lang="en-US"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мы можем улучшить?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2" name="Google Shape;642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0640" y="2198876"/>
            <a:ext cx="845250" cy="8452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7085A8-1FF2-8D4D-96B1-5A89706D8720}"/>
              </a:ext>
            </a:extLst>
          </p:cNvPr>
          <p:cNvSpPr txBox="1"/>
          <p:nvPr/>
        </p:nvSpPr>
        <p:spPr>
          <a:xfrm>
            <a:off x="1014901" y="3691424"/>
            <a:ext cx="5244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dirty="0"/>
              <a:t>Заполните, пожалуйста, опрос о занятии по ссылке в чате</a:t>
            </a:r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95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9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Следующий вебинар</a:t>
            </a:r>
            <a:endParaRPr/>
          </a:p>
        </p:txBody>
      </p:sp>
      <p:sp>
        <p:nvSpPr>
          <p:cNvPr id="648" name="Google Shape;648;p95"/>
          <p:cNvSpPr txBox="1"/>
          <p:nvPr/>
        </p:nvSpPr>
        <p:spPr>
          <a:xfrm>
            <a:off x="1915425" y="1502825"/>
            <a:ext cx="6825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lang="ru" sz="1500" dirty="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500" dirty="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августа</a:t>
            </a:r>
            <a:r>
              <a:rPr lang="ru" sz="1500" dirty="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 2025</a:t>
            </a:r>
            <a:endParaRPr sz="1500" dirty="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95"/>
          <p:cNvSpPr txBox="1"/>
          <p:nvPr/>
        </p:nvSpPr>
        <p:spPr>
          <a:xfrm>
            <a:off x="1915425" y="1826708"/>
            <a:ext cx="6156900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1" dirty="0" err="1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-US" sz="2500" b="1" dirty="0" err="1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ython</a:t>
            </a:r>
            <a:r>
              <a:rPr lang="en-US" sz="2500" b="1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ru-RU" sz="2500" b="1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базовые типы данных</a:t>
            </a:r>
            <a:endParaRPr sz="2400" b="1" dirty="0">
              <a:solidFill>
                <a:srgbClr val="013D85"/>
              </a:solidFill>
            </a:endParaRPr>
          </a:p>
        </p:txBody>
      </p:sp>
      <p:pic>
        <p:nvPicPr>
          <p:cNvPr id="650" name="Google Shape;650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500" y="1558024"/>
            <a:ext cx="760725" cy="760725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95"/>
          <p:cNvSpPr txBox="1"/>
          <p:nvPr/>
        </p:nvSpPr>
        <p:spPr>
          <a:xfrm>
            <a:off x="1179775" y="3660425"/>
            <a:ext cx="2056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Ссылка на вебинар будет в ЛК за 15 минут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95"/>
          <p:cNvSpPr txBox="1"/>
          <p:nvPr/>
        </p:nvSpPr>
        <p:spPr>
          <a:xfrm>
            <a:off x="3844125" y="3660413"/>
            <a:ext cx="1766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Материалы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к занятию в ЛК — можно изучать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95"/>
          <p:cNvSpPr txBox="1"/>
          <p:nvPr/>
        </p:nvSpPr>
        <p:spPr>
          <a:xfrm>
            <a:off x="6101125" y="3660413"/>
            <a:ext cx="21009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Обязательный материал обозначен красной лентой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4" name="Google Shape;654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5150" y="3750544"/>
            <a:ext cx="214313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9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3250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9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0775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2411</TotalTime>
  <Words>1955</Words>
  <Application>Microsoft Macintosh PowerPoint</Application>
  <PresentationFormat>On-screen Show (16:9)</PresentationFormat>
  <Paragraphs>442</Paragraphs>
  <Slides>57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57</vt:i4>
      </vt:variant>
    </vt:vector>
  </HeadingPairs>
  <TitlesOfParts>
    <vt:vector size="68" baseType="lpstr">
      <vt:lpstr>AkayaTelivigala</vt:lpstr>
      <vt:lpstr>Open Sans</vt:lpstr>
      <vt:lpstr>Avenir</vt:lpstr>
      <vt:lpstr>Arial</vt:lpstr>
      <vt:lpstr>Bradley Hand</vt:lpstr>
      <vt:lpstr>Google Sans</vt:lpstr>
      <vt:lpstr>Roboto</vt:lpstr>
      <vt:lpstr>Courier New</vt:lpstr>
      <vt:lpstr>Roboto</vt:lpstr>
      <vt:lpstr>Светлая тема</vt:lpstr>
      <vt:lpstr>Светлая тема</vt:lpstr>
      <vt:lpstr>Machine Learning Specialization ML Basic </vt:lpstr>
      <vt:lpstr>Проверить, идет ли запись</vt:lpstr>
      <vt:lpstr>ML Basic Знакомство</vt:lpstr>
      <vt:lpstr>Правила вебинара</vt:lpstr>
      <vt:lpstr>Маршрут вебинара</vt:lpstr>
      <vt:lpstr>Цели вебинара</vt:lpstr>
      <vt:lpstr>Смысл</vt:lpstr>
      <vt:lpstr>Знакомство</vt:lpstr>
      <vt:lpstr>Команда курса</vt:lpstr>
      <vt:lpstr>Команда курса</vt:lpstr>
      <vt:lpstr>Команда курса</vt:lpstr>
      <vt:lpstr>Команда курса</vt:lpstr>
      <vt:lpstr>Расскажите о себе</vt:lpstr>
      <vt:lpstr>Как подготовиться к обучению</vt:lpstr>
      <vt:lpstr>О специализации Machine Learning</vt:lpstr>
      <vt:lpstr>Специализация Machine Learning</vt:lpstr>
      <vt:lpstr>О курсе ML Basic</vt:lpstr>
      <vt:lpstr>Карта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ML Professional</vt:lpstr>
      <vt:lpstr>Результат</vt:lpstr>
      <vt:lpstr>Как будем учиться?</vt:lpstr>
      <vt:lpstr>Отзывы</vt:lpstr>
      <vt:lpstr>Лайфхаки</vt:lpstr>
      <vt:lpstr>Мотивация</vt:lpstr>
      <vt:lpstr>Организационные вопросы</vt:lpstr>
      <vt:lpstr>Технические моменты</vt:lpstr>
      <vt:lpstr>Ваши вопросы?</vt:lpstr>
      <vt:lpstr>Machine Learning</vt:lpstr>
      <vt:lpstr>Место машинного обучения</vt:lpstr>
      <vt:lpstr>Три парадигмы машинного обучения</vt:lpstr>
      <vt:lpstr>Три парадигмы машинного обучения</vt:lpstr>
      <vt:lpstr>Machine Learning vs Software development</vt:lpstr>
      <vt:lpstr>PowerPoint Presentation</vt:lpstr>
      <vt:lpstr>vs Традиционное программирование</vt:lpstr>
      <vt:lpstr>PowerPoint Presentation</vt:lpstr>
      <vt:lpstr>PowerPoint Presentation</vt:lpstr>
      <vt:lpstr>PowerPoint Presentation</vt:lpstr>
      <vt:lpstr>Мы обучили нашу модель!</vt:lpstr>
      <vt:lpstr>Мы обучили нашу модель!</vt:lpstr>
      <vt:lpstr>Классический ML</vt:lpstr>
      <vt:lpstr>Вопросы?</vt:lpstr>
      <vt:lpstr>Проекты выполненные студентами</vt:lpstr>
      <vt:lpstr>Проекты студентов</vt:lpstr>
      <vt:lpstr>Вопросы?</vt:lpstr>
      <vt:lpstr>Ключевые тезисы  </vt:lpstr>
      <vt:lpstr>Рефлексия</vt:lpstr>
      <vt:lpstr>Следующий вебинар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 Введение </dc:title>
  <cp:lastModifiedBy>Стурейко Игорь Олегович</cp:lastModifiedBy>
  <cp:revision>56</cp:revision>
  <dcterms:modified xsi:type="dcterms:W3CDTF">2025-07-30T10:53:28Z</dcterms:modified>
</cp:coreProperties>
</file>