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26.jpg" ContentType="image/jpeg"/>
  <Override PartName="/ppt/notesSlides/notesSlide5.xml" ContentType="application/vnd.openxmlformats-officedocument.presentationml.notesSlide+xml"/>
  <Override PartName="/ppt/media/image31.jpg" ContentType="image/jpeg"/>
  <Override PartName="/ppt/media/image34.jpg" ContentType="image/jpeg"/>
  <Override PartName="/ppt/notesSlides/notesSlide6.xml" ContentType="application/vnd.openxmlformats-officedocument.presentationml.notesSlide+xml"/>
  <Override PartName="/ppt/media/image47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334" r:id="rId4"/>
    <p:sldId id="259" r:id="rId5"/>
    <p:sldId id="455" r:id="rId6"/>
    <p:sldId id="305" r:id="rId7"/>
    <p:sldId id="265" r:id="rId8"/>
    <p:sldId id="425" r:id="rId9"/>
    <p:sldId id="396" r:id="rId10"/>
    <p:sldId id="451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48" r:id="rId20"/>
    <p:sldId id="449" r:id="rId21"/>
    <p:sldId id="435" r:id="rId22"/>
    <p:sldId id="436" r:id="rId23"/>
    <p:sldId id="437" r:id="rId24"/>
    <p:sldId id="438" r:id="rId25"/>
    <p:sldId id="439" r:id="rId26"/>
    <p:sldId id="446" r:id="rId27"/>
    <p:sldId id="300" r:id="rId28"/>
    <p:sldId id="441" r:id="rId29"/>
    <p:sldId id="450" r:id="rId30"/>
    <p:sldId id="442" r:id="rId31"/>
    <p:sldId id="443" r:id="rId32"/>
    <p:sldId id="444" r:id="rId33"/>
    <p:sldId id="445" r:id="rId34"/>
    <p:sldId id="420" r:id="rId35"/>
    <p:sldId id="440" r:id="rId36"/>
    <p:sldId id="295" r:id="rId37"/>
    <p:sldId id="302" r:id="rId38"/>
    <p:sldId id="335" r:id="rId39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9D2"/>
    <a:srgbClr val="99FFC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97"/>
    <p:restoredTop sz="97030"/>
  </p:normalViewPr>
  <p:slideViewPr>
    <p:cSldViewPr>
      <p:cViewPr varScale="1">
        <p:scale>
          <a:sx n="359" d="100"/>
          <a:sy n="359" d="100"/>
        </p:scale>
        <p:origin x="125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4239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419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56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4720" cy="40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87560"/>
            <a:ext cx="955440" cy="50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818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791E8DD-FD8E-4944-90D7-9D159E56172C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58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8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ru/1-10-decision-trees/" TargetMode="External"/><Relationship Id="rId7" Type="http://schemas.openxmlformats.org/officeDocument/2006/relationships/hyperlink" Target="https://www.hse.ru/mirror/pubs/share/21528595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mi.nstu.ru/~vms/lecture/data_mining/trees.htm#_Toc123289775" TargetMode="External"/><Relationship Id="rId5" Type="http://schemas.openxmlformats.org/officeDocument/2006/relationships/hyperlink" Target="https://towardsdatascience.com/an-exhaustive-guide-to-classification-using-decision-trees-8d472e77223f" TargetMode="External"/><Relationship Id="rId4" Type="http://schemas.openxmlformats.org/officeDocument/2006/relationships/hyperlink" Target="https://www.youtube.com/watch?v=h7FF6EcXDqA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905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lang="en-US" sz="5600" spc="20" dirty="0">
                <a:solidFill>
                  <a:srgbClr val="FFFFFF"/>
                </a:solidFill>
              </a:rPr>
              <a:t>Basic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en-US" spc="-10" dirty="0">
                <a:solidFill>
                  <a:srgbClr val="FFFFFF"/>
                </a:solidFill>
              </a:rPr>
              <a:t>Decision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Decision tree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063EB284-3801-2C44-8FE9-F58E27AB8AB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xfrm>
            <a:off x="1727549" y="1317655"/>
            <a:ext cx="2095500" cy="318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endParaRPr lang="en-US" spc="-35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 err="1"/>
              <a:t>учебной</a:t>
            </a:r>
            <a:r>
              <a:rPr spc="-15" dirty="0"/>
              <a:t> </a:t>
            </a:r>
            <a:r>
              <a:rPr spc="-10" dirty="0" err="1"/>
              <a:t>группе</a:t>
            </a:r>
            <a:endParaRPr lang="en-US" spc="-10" dirty="0"/>
          </a:p>
          <a:p>
            <a:pPr marL="12700" marR="280670">
              <a:lnSpc>
                <a:spcPct val="100000"/>
              </a:lnSpc>
            </a:pPr>
            <a:endParaRPr lang="en-TR" sz="1950" spc="-10" dirty="0"/>
          </a:p>
          <a:p>
            <a:pPr marL="12700">
              <a:lnSpc>
                <a:spcPct val="100000"/>
              </a:lnSpc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200" b="1" strike="noStrike" spc="-1">
                <a:solidFill>
                  <a:schemeClr val="dk1"/>
                </a:solidFill>
                <a:latin typeface="Roboto"/>
                <a:ea typeface="Roboto"/>
              </a:rPr>
              <a:t>Правила вебинара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Google Shape;215;p49"/>
          <p:cNvPicPr/>
          <p:nvPr/>
        </p:nvPicPr>
        <p:blipFill>
          <a:blip r:embed="rId2"/>
          <a:stretch/>
        </p:blipFill>
        <p:spPr>
          <a:xfrm>
            <a:off x="837720" y="395136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7" name="Google Shape;216;p49"/>
          <p:cNvPicPr/>
          <p:nvPr/>
        </p:nvPicPr>
        <p:blipFill>
          <a:blip r:embed="rId3"/>
          <a:stretch/>
        </p:blipFill>
        <p:spPr>
          <a:xfrm>
            <a:off x="837720" y="128160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8" name="Google Shape;217;p49"/>
          <p:cNvPicPr/>
          <p:nvPr/>
        </p:nvPicPr>
        <p:blipFill>
          <a:blip r:embed="rId4"/>
          <a:stretch/>
        </p:blipFill>
        <p:spPr>
          <a:xfrm>
            <a:off x="837720" y="3061440"/>
            <a:ext cx="692280" cy="69228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218;p49"/>
          <p:cNvPicPr/>
          <p:nvPr/>
        </p:nvPicPr>
        <p:blipFill>
          <a:blip r:embed="rId5"/>
          <a:stretch/>
        </p:blipFill>
        <p:spPr>
          <a:xfrm>
            <a:off x="837720" y="2171520"/>
            <a:ext cx="692280" cy="692280"/>
          </a:xfrm>
          <a:prstGeom prst="rect">
            <a:avLst/>
          </a:prstGeom>
          <a:ln w="0">
            <a:noFill/>
          </a:ln>
        </p:spPr>
      </p:pic>
      <p:sp>
        <p:nvSpPr>
          <p:cNvPr id="100" name="Google Shape;219;p49"/>
          <p:cNvSpPr/>
          <p:nvPr/>
        </p:nvSpPr>
        <p:spPr>
          <a:xfrm>
            <a:off x="1654560" y="1252080"/>
            <a:ext cx="247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Активно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участвуем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220;p49"/>
          <p:cNvSpPr/>
          <p:nvPr/>
        </p:nvSpPr>
        <p:spPr>
          <a:xfrm>
            <a:off x="1654560" y="3066480"/>
            <a:ext cx="3230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Задаем вопрос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 чат или голосом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221;p49"/>
          <p:cNvSpPr/>
          <p:nvPr/>
        </p:nvSpPr>
        <p:spPr>
          <a:xfrm>
            <a:off x="1654560" y="3975120"/>
            <a:ext cx="3230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Вопросы вижу в чате,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могу ответить не сразу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222;p49"/>
          <p:cNvSpPr/>
          <p:nvPr/>
        </p:nvSpPr>
        <p:spPr>
          <a:xfrm>
            <a:off x="1654560" y="2194560"/>
            <a:ext cx="2475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Off-topic обсуждаем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000000"/>
                </a:solidFill>
                <a:latin typeface="Roboto"/>
                <a:ea typeface="Roboto"/>
              </a:rPr>
              <a:t>в учебной группе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4014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Критерии информативности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06474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построения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589566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7280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Категориальные признаки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252847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73818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Идея дерева решений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926285"/>
            <a:ext cx="12700" cy="66328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8" y="4391312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916128"/>
            <a:ext cx="1" cy="663283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4902B6E-B801-C047-8EB0-F39F8B4D7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42" y="1095900"/>
            <a:ext cx="3716876" cy="3716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занятия</a:t>
            </a:r>
            <a:endParaRPr dirty="0"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3073273191"/>
              </p:ext>
            </p:extLst>
          </p:nvPr>
        </p:nvGraphicFramePr>
        <p:xfrm>
          <a:off x="1219200" y="1511273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Рассмотреть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Decision tree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как происходят разбиения в деревьях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Что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83" name="Google Shape;183;p25"/>
          <p:cNvGraphicFramePr/>
          <p:nvPr>
            <p:extLst>
              <p:ext uri="{D42A27DB-BD31-4B8C-83A1-F6EECF244321}">
                <p14:modId xmlns:p14="http://schemas.microsoft.com/office/powerpoint/2010/main" val="2610163159"/>
              </p:ext>
            </p:extLst>
          </p:nvPr>
        </p:nvGraphicFramePr>
        <p:xfrm>
          <a:off x="1219200" y="1511273"/>
          <a:ext cx="7239000" cy="1047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работает алгоритм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Знать особенности применения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недостатки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03522"/>
                  </a:ext>
                </a:extLst>
              </a:tr>
            </a:tbl>
          </a:graphicData>
        </a:graphic>
      </p:graphicFrame>
      <p:sp>
        <p:nvSpPr>
          <p:cNvPr id="185" name="Google Shape;185;p25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 rtl="0"/>
            <a:r>
              <a:rPr lang="ru" sz="1500" b="1" dirty="0">
                <a:solidFill>
                  <a:srgbClr val="FF9900"/>
                </a:solidFill>
              </a:rPr>
              <a:t>Зачем вам это уметь</a:t>
            </a:r>
            <a:endParaRPr sz="15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633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– </a:t>
            </a:r>
            <a:r>
              <a:rPr lang="ru-RU" dirty="0"/>
              <a:t>в чем идея…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6B4817-F6EA-104D-BC2B-3353CF182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19" y="878674"/>
            <a:ext cx="7167561" cy="4095749"/>
          </a:xfrm>
          <a:prstGeom prst="rect">
            <a:avLst/>
          </a:prstGeom>
          <a:ln>
            <a:noFill/>
          </a:ln>
          <a:effectLst>
            <a:softEdge rad="183404"/>
          </a:effectLst>
        </p:spPr>
      </p:pic>
    </p:spTree>
    <p:extLst>
      <p:ext uri="{BB962C8B-B14F-4D97-AF65-F5344CB8AC3E}">
        <p14:creationId xmlns:p14="http://schemas.microsoft.com/office/powerpoint/2010/main" val="151228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10CC-C8E5-6345-B6CE-40BB3296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дерева решений</a:t>
            </a:r>
            <a:endParaRPr lang="en-US" dirty="0"/>
          </a:p>
        </p:txBody>
      </p:sp>
      <p:pic>
        <p:nvPicPr>
          <p:cNvPr id="3" name="Google Shape;229;g28bf07d12b5_0_5">
            <a:extLst>
              <a:ext uri="{FF2B5EF4-FFF2-40B4-BE49-F238E27FC236}">
                <a16:creationId xmlns:a16="http://schemas.microsoft.com/office/drawing/2014/main" id="{5A54F49E-1332-B54D-89EB-3AA282B4D6D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9925" y="1175600"/>
            <a:ext cx="5588474" cy="37044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964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pic>
        <p:nvPicPr>
          <p:cNvPr id="4" name="Google Shape;242;p43">
            <a:extLst>
              <a:ext uri="{FF2B5EF4-FFF2-40B4-BE49-F238E27FC236}">
                <a16:creationId xmlns:a16="http://schemas.microsoft.com/office/drawing/2014/main" id="{C94E8EBE-BC97-0741-85F9-D43885C692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62036" y="1011791"/>
            <a:ext cx="6619927" cy="377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21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21" name="Google Shape;265;p44">
            <a:extLst>
              <a:ext uri="{FF2B5EF4-FFF2-40B4-BE49-F238E27FC236}">
                <a16:creationId xmlns:a16="http://schemas.microsoft.com/office/drawing/2014/main" id="{73B502D0-3902-A849-8E96-610BB269C617}"/>
              </a:ext>
            </a:extLst>
          </p:cNvPr>
          <p:cNvSpPr txBox="1"/>
          <p:nvPr/>
        </p:nvSpPr>
        <p:spPr>
          <a:xfrm>
            <a:off x="698250" y="1020625"/>
            <a:ext cx="70998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Дерево – кусочно-постоянная функция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802C7-578E-704B-A328-BAF6A319928F}"/>
              </a:ext>
            </a:extLst>
          </p:cNvPr>
          <p:cNvSpPr txBox="1"/>
          <p:nvPr/>
        </p:nvSpPr>
        <p:spPr>
          <a:xfrm>
            <a:off x="5791200" y="3208013"/>
            <a:ext cx="26650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DA0305-8E17-7646-B5A3-A2568647C098}"/>
              </a:ext>
            </a:extLst>
          </p:cNvPr>
          <p:cNvSpPr txBox="1"/>
          <p:nvPr/>
        </p:nvSpPr>
        <p:spPr>
          <a:xfrm>
            <a:off x="4661464" y="2121522"/>
            <a:ext cx="108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threshold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19363-283B-BA4D-9529-6DDB5257206B}"/>
              </a:ext>
            </a:extLst>
          </p:cNvPr>
          <p:cNvSpPr txBox="1"/>
          <p:nvPr/>
        </p:nvSpPr>
        <p:spPr>
          <a:xfrm>
            <a:off x="1447800" y="2121522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feature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/>
              <p:nvPr/>
            </p:nvSpPr>
            <p:spPr>
              <a:xfrm>
                <a:off x="2628901" y="28765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1" y="28765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3733C0-16EE-FD47-9B38-46B6A48509DE}"/>
              </a:ext>
            </a:extLst>
          </p:cNvPr>
          <p:cNvCxnSpPr>
            <a:stCxn id="23" idx="2"/>
          </p:cNvCxnSpPr>
          <p:nvPr/>
        </p:nvCxnSpPr>
        <p:spPr>
          <a:xfrm>
            <a:off x="1880130" y="2490854"/>
            <a:ext cx="1167870" cy="61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725283-9FE5-DC46-BC07-1B7F91527B02}"/>
              </a:ext>
            </a:extLst>
          </p:cNvPr>
          <p:cNvCxnSpPr>
            <a:stCxn id="22" idx="2"/>
          </p:cNvCxnSpPr>
          <p:nvPr/>
        </p:nvCxnSpPr>
        <p:spPr>
          <a:xfrm flipH="1">
            <a:off x="3733800" y="2490854"/>
            <a:ext cx="1469736" cy="7285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6C74445-F8DB-A542-94F9-303B6A90EDC1}"/>
              </a:ext>
            </a:extLst>
          </p:cNvPr>
          <p:cNvSpPr/>
          <p:nvPr/>
        </p:nvSpPr>
        <p:spPr>
          <a:xfrm>
            <a:off x="3048000" y="3028950"/>
            <a:ext cx="304801" cy="304800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18DF5DE-C8B5-E948-B75D-E321A0A42806}"/>
              </a:ext>
            </a:extLst>
          </p:cNvPr>
          <p:cNvSpPr/>
          <p:nvPr/>
        </p:nvSpPr>
        <p:spPr>
          <a:xfrm>
            <a:off x="3581400" y="3105150"/>
            <a:ext cx="152400" cy="22860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413CD4-DB1F-6F4A-A230-2221B01D8156}"/>
              </a:ext>
            </a:extLst>
          </p:cNvPr>
          <p:cNvCxnSpPr>
            <a:stCxn id="24" idx="2"/>
          </p:cNvCxnSpPr>
          <p:nvPr/>
        </p:nvCxnSpPr>
        <p:spPr>
          <a:xfrm flipH="1">
            <a:off x="2667000" y="3562350"/>
            <a:ext cx="685801" cy="533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3DAC2F-8B72-BC4E-8888-D49461F86D2E}"/>
              </a:ext>
            </a:extLst>
          </p:cNvPr>
          <p:cNvCxnSpPr>
            <a:cxnSpLocks/>
          </p:cNvCxnSpPr>
          <p:nvPr/>
        </p:nvCxnSpPr>
        <p:spPr>
          <a:xfrm>
            <a:off x="3352801" y="3570336"/>
            <a:ext cx="685801" cy="533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860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AB93D8-9777-2140-BA1B-C2EC7DFD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21" name="Google Shape;265;p44">
            <a:extLst>
              <a:ext uri="{FF2B5EF4-FFF2-40B4-BE49-F238E27FC236}">
                <a16:creationId xmlns:a16="http://schemas.microsoft.com/office/drawing/2014/main" id="{73B502D0-3902-A849-8E96-610BB269C617}"/>
              </a:ext>
            </a:extLst>
          </p:cNvPr>
          <p:cNvSpPr txBox="1"/>
          <p:nvPr/>
        </p:nvSpPr>
        <p:spPr>
          <a:xfrm>
            <a:off x="698250" y="1020625"/>
            <a:ext cx="7099800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Дерево – кусочно-постоянная функция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802C7-578E-704B-A328-BAF6A319928F}"/>
              </a:ext>
            </a:extLst>
          </p:cNvPr>
          <p:cNvSpPr txBox="1"/>
          <p:nvPr/>
        </p:nvSpPr>
        <p:spPr>
          <a:xfrm>
            <a:off x="5791200" y="1427257"/>
            <a:ext cx="28151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Построение: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Определить </a:t>
            </a:r>
            <a:r>
              <a:rPr lang="en-US" dirty="0"/>
              <a:t>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Выполнить разбиение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Выучить весь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>
                <a:sym typeface="Wingdings" pitchFamily="2" charset="2"/>
              </a:rPr>
              <a:t>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/>
              <p:nvPr/>
            </p:nvSpPr>
            <p:spPr>
              <a:xfrm>
                <a:off x="2209800" y="1773625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522ACBD-CDF2-FD40-855C-E31B16E74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773625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433900-D6C8-A247-97DB-43A897B83361}"/>
                  </a:ext>
                </a:extLst>
              </p:cNvPr>
              <p:cNvSpPr/>
              <p:nvPr/>
            </p:nvSpPr>
            <p:spPr>
              <a:xfrm>
                <a:off x="1295400" y="299807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E0433900-D6C8-A247-97DB-43A897B833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99807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372E6F1-87D6-AE42-A638-786AB8E37A8B}"/>
                  </a:ext>
                </a:extLst>
              </p:cNvPr>
              <p:cNvSpPr/>
              <p:nvPr/>
            </p:nvSpPr>
            <p:spPr>
              <a:xfrm>
                <a:off x="3048000" y="300478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372E6F1-87D6-AE42-A638-786AB8E37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00478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C4BAA4-96A7-CA46-998D-18F119CE8814}"/>
              </a:ext>
            </a:extLst>
          </p:cNvPr>
          <p:cNvCxnSpPr>
            <a:stCxn id="24" idx="2"/>
            <a:endCxn id="14" idx="0"/>
          </p:cNvCxnSpPr>
          <p:nvPr/>
        </p:nvCxnSpPr>
        <p:spPr>
          <a:xfrm flipH="1">
            <a:off x="2019300" y="2459425"/>
            <a:ext cx="914400" cy="53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98B16B-2A55-5C4C-A6ED-AB69F6E3A503}"/>
              </a:ext>
            </a:extLst>
          </p:cNvPr>
          <p:cNvCxnSpPr>
            <a:stCxn id="24" idx="2"/>
            <a:endCxn id="15" idx="0"/>
          </p:cNvCxnSpPr>
          <p:nvPr/>
        </p:nvCxnSpPr>
        <p:spPr>
          <a:xfrm>
            <a:off x="2933700" y="2459425"/>
            <a:ext cx="838200" cy="5453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0338B-151C-7D48-8A4E-C320D89A1342}"/>
              </a:ext>
            </a:extLst>
          </p:cNvPr>
          <p:cNvCxnSpPr>
            <a:cxnSpLocks/>
          </p:cNvCxnSpPr>
          <p:nvPr/>
        </p:nvCxnSpPr>
        <p:spPr>
          <a:xfrm flipH="1">
            <a:off x="1752600" y="3691285"/>
            <a:ext cx="228600" cy="640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3726F3B-8AB3-0C40-BD99-8A933E189720}"/>
              </a:ext>
            </a:extLst>
          </p:cNvPr>
          <p:cNvCxnSpPr>
            <a:cxnSpLocks/>
          </p:cNvCxnSpPr>
          <p:nvPr/>
        </p:nvCxnSpPr>
        <p:spPr>
          <a:xfrm>
            <a:off x="1981200" y="3691285"/>
            <a:ext cx="304800" cy="63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6A4551-61C1-0D4A-A285-BF880ACA18AB}"/>
              </a:ext>
            </a:extLst>
          </p:cNvPr>
          <p:cNvCxnSpPr>
            <a:cxnSpLocks/>
          </p:cNvCxnSpPr>
          <p:nvPr/>
        </p:nvCxnSpPr>
        <p:spPr>
          <a:xfrm flipH="1">
            <a:off x="3505200" y="3683870"/>
            <a:ext cx="228600" cy="6404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58223F-94C2-1147-9BBA-EE71A820D05A}"/>
              </a:ext>
            </a:extLst>
          </p:cNvPr>
          <p:cNvCxnSpPr>
            <a:cxnSpLocks/>
          </p:cNvCxnSpPr>
          <p:nvPr/>
        </p:nvCxnSpPr>
        <p:spPr>
          <a:xfrm>
            <a:off x="3733800" y="3683870"/>
            <a:ext cx="304800" cy="63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265;p44">
            <a:extLst>
              <a:ext uri="{FF2B5EF4-FFF2-40B4-BE49-F238E27FC236}">
                <a16:creationId xmlns:a16="http://schemas.microsoft.com/office/drawing/2014/main" id="{BAE08FB8-2825-A544-904B-FED0BE3B5546}"/>
              </a:ext>
            </a:extLst>
          </p:cNvPr>
          <p:cNvSpPr txBox="1"/>
          <p:nvPr/>
        </p:nvSpPr>
        <p:spPr>
          <a:xfrm>
            <a:off x="4953000" y="3716877"/>
            <a:ext cx="3817162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Как разбить данные?</a:t>
            </a:r>
          </a:p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endParaRPr lang="ru" sz="2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Когда остановить разбиение?</a:t>
            </a:r>
            <a:endParaRPr sz="200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6886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ru-RU" dirty="0"/>
            </a:br>
            <a:br>
              <a:rPr lang="ru-RU" dirty="0"/>
            </a:br>
            <a:r>
              <a:rPr lang="ru-RU" dirty="0"/>
              <a:t>Как разбить данные – Критерии информативности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382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42E10-636B-7C4E-8B9F-50399DF0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/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9E56C-B416-634D-8211-840B7218098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6210300" y="3105150"/>
            <a:ext cx="9144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27ED65-28DE-D143-8F32-024F685B62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7124700" y="3105150"/>
            <a:ext cx="8382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/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1533E-0148-034A-8460-84574026ABD0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7124700" y="2076450"/>
            <a:ext cx="0" cy="342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/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/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56C198-7D4A-F842-9678-07CDCFE2EB63}"/>
              </a:ext>
            </a:extLst>
          </p:cNvPr>
          <p:cNvSpPr txBox="1"/>
          <p:nvPr/>
        </p:nvSpPr>
        <p:spPr>
          <a:xfrm>
            <a:off x="381000" y="1047750"/>
            <a:ext cx="51053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выбрать критерий разбиения?</a:t>
            </a:r>
          </a:p>
          <a:p>
            <a:r>
              <a:rPr lang="en-US" sz="1600" dirty="0"/>
              <a:t>H(・) — </a:t>
            </a:r>
            <a:r>
              <a:rPr lang="ru-RU" sz="1600" dirty="0"/>
              <a:t>критерий информативности (</a:t>
            </a:r>
            <a:r>
              <a:rPr lang="en-US" sz="1600" dirty="0"/>
              <a:t>impurity criterion) </a:t>
            </a:r>
          </a:p>
          <a:p>
            <a:r>
              <a:rPr lang="ru-RU" sz="1600" dirty="0"/>
              <a:t>мера хаоса, который мы стараемся уменьшить</a:t>
            </a:r>
          </a:p>
          <a:p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Оценивает качество распределения целевой переменной среди объектов  множества </a:t>
            </a:r>
            <a:r>
              <a:rPr lang="en-US" sz="1200" dirty="0"/>
              <a:t>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Чем меньше разнообразие целевой переменной, тем меньше должно быть  значение критерия информативности.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Соответственно, мы будем пытаться минимизировать его значение.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/>
              <p:nvPr/>
            </p:nvSpPr>
            <p:spPr>
              <a:xfrm>
                <a:off x="828636" y="3727027"/>
                <a:ext cx="396903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36" y="3727027"/>
                <a:ext cx="3969035" cy="572657"/>
              </a:xfrm>
              <a:prstGeom prst="rect">
                <a:avLst/>
              </a:prstGeom>
              <a:blipFill>
                <a:blip r:embed="rId6"/>
                <a:stretch>
                  <a:fillRect l="-95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018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42E10-636B-7C4E-8B9F-50399DF0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en-US" dirty="0" err="1"/>
              <a:t>Info.Gain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/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DF3797B2-7AE6-5D4B-BD1D-7A56E6F02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19350"/>
                <a:ext cx="1447800" cy="6858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09E56C-B416-634D-8211-840B7218098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flipH="1">
            <a:off x="6210300" y="3105150"/>
            <a:ext cx="9144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27ED65-28DE-D143-8F32-024F685B621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7124700" y="3105150"/>
            <a:ext cx="838200" cy="565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/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5C03B15-F0D9-2D4E-A920-F627E9F35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90650"/>
                <a:ext cx="1447800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51533E-0148-034A-8460-84574026ABD0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7124700" y="2076450"/>
            <a:ext cx="0" cy="3429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/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1D9272D-25BF-4B43-B5D8-02F694767C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670456"/>
                <a:ext cx="1447800" cy="6858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/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7C90B41-BA23-CB4F-9E0E-6A6C36BAD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670456"/>
                <a:ext cx="1447800" cy="6858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F56C198-7D4A-F842-9678-07CDCFE2EB63}"/>
              </a:ext>
            </a:extLst>
          </p:cNvPr>
          <p:cNvSpPr txBox="1"/>
          <p:nvPr/>
        </p:nvSpPr>
        <p:spPr>
          <a:xfrm>
            <a:off x="381000" y="1047750"/>
            <a:ext cx="510539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выбрать критерий разбиения?</a:t>
            </a:r>
          </a:p>
          <a:p>
            <a:r>
              <a:rPr lang="en-US" sz="1600" dirty="0"/>
              <a:t>H(・) — </a:t>
            </a:r>
            <a:r>
              <a:rPr lang="ru-RU" sz="1600" dirty="0"/>
              <a:t>критерий информативности (</a:t>
            </a:r>
            <a:r>
              <a:rPr lang="en-US" sz="1600" dirty="0"/>
              <a:t>impurity criterion) </a:t>
            </a:r>
          </a:p>
          <a:p>
            <a:r>
              <a:rPr lang="ru-RU" sz="1600" dirty="0"/>
              <a:t>мера хаоса, который мы стараемся уменьшить</a:t>
            </a:r>
          </a:p>
          <a:p>
            <a:endParaRPr lang="ru-RU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Оценивает качество распределения целевой переменной среди объектов  множества </a:t>
            </a:r>
            <a:r>
              <a:rPr lang="en-US" sz="1200" dirty="0"/>
              <a:t>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Чем меньше разнообразие целевой переменной, тем меньше должно быть  значение критерия информативности.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/>
              <a:t>Соответственно, мы будем пытаться минимизировать его значение.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/>
              <p:nvPr/>
            </p:nvSpPr>
            <p:spPr>
              <a:xfrm>
                <a:off x="949179" y="3321415"/>
                <a:ext cx="3969035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833A38-45C3-7449-B4F7-7333C818C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79" y="3321415"/>
                <a:ext cx="3969035" cy="572657"/>
              </a:xfrm>
              <a:prstGeom prst="rect">
                <a:avLst/>
              </a:prstGeom>
              <a:blipFill>
                <a:blip r:embed="rId6"/>
                <a:stretch>
                  <a:fillRect l="-63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EE4076B-E266-6244-9E36-D713A12E5992}"/>
              </a:ext>
            </a:extLst>
          </p:cNvPr>
          <p:cNvSpPr txBox="1"/>
          <p:nvPr/>
        </p:nvSpPr>
        <p:spPr>
          <a:xfrm>
            <a:off x="304800" y="3911084"/>
            <a:ext cx="1123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Info.Gain</a:t>
            </a:r>
            <a:r>
              <a:rPr lang="en-US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1DE803-038F-B94A-BE35-CA8DD51873D1}"/>
                  </a:ext>
                </a:extLst>
              </p:cNvPr>
              <p:cNvSpPr txBox="1"/>
              <p:nvPr/>
            </p:nvSpPr>
            <p:spPr>
              <a:xfrm>
                <a:off x="457200" y="3945108"/>
                <a:ext cx="5039521" cy="849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1DE803-038F-B94A-BE35-CA8DD518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45108"/>
                <a:ext cx="5039521" cy="849656"/>
              </a:xfrm>
              <a:prstGeom prst="rect">
                <a:avLst/>
              </a:prstGeom>
              <a:blipFill>
                <a:blip r:embed="rId7"/>
                <a:stretch>
                  <a:fillRect l="-1259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130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sp>
        <p:nvSpPr>
          <p:cNvPr id="3" name="Google Shape;364;p49">
            <a:extLst>
              <a:ext uri="{FF2B5EF4-FFF2-40B4-BE49-F238E27FC236}">
                <a16:creationId xmlns:a16="http://schemas.microsoft.com/office/drawing/2014/main" id="{F7B56F38-9B2E-5448-BC7A-073D3C7EE546}"/>
              </a:ext>
            </a:extLst>
          </p:cNvPr>
          <p:cNvSpPr txBox="1"/>
          <p:nvPr/>
        </p:nvSpPr>
        <p:spPr>
          <a:xfrm>
            <a:off x="533400" y="1512470"/>
            <a:ext cx="5225100" cy="142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latin typeface="Trebuchet MS"/>
                <a:ea typeface="Trebuchet MS"/>
                <a:cs typeface="Trebuchet MS"/>
                <a:sym typeface="Trebuchet MS"/>
              </a:rPr>
              <a:t>Энтропия Шеннона </a:t>
            </a:r>
            <a:r>
              <a:rPr lang="ru" sz="1800" dirty="0">
                <a:latin typeface="Calibri"/>
                <a:ea typeface="Calibri"/>
                <a:cs typeface="Calibri"/>
                <a:sym typeface="Calibri"/>
              </a:rPr>
              <a:t>— мера неопределенности некоторой системы.</a:t>
            </a:r>
            <a:endParaRPr sz="1200" dirty="0"/>
          </a:p>
          <a:p>
            <a:pPr marL="12065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12065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" sz="1800" dirty="0">
                <a:latin typeface="Calibri"/>
                <a:ea typeface="Calibri"/>
                <a:cs typeface="Calibri"/>
                <a:sym typeface="Calibri"/>
              </a:rPr>
              <a:t>В нашем случае энтропия Шеннона оценивает непредсказуемость появления какого-либо лейбла.</a:t>
            </a:r>
            <a:endParaRPr sz="1800" b="1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Google Shape;365;p49">
            <a:extLst>
              <a:ext uri="{FF2B5EF4-FFF2-40B4-BE49-F238E27FC236}">
                <a16:creationId xmlns:a16="http://schemas.microsoft.com/office/drawing/2014/main" id="{9FBD4BEC-9FBE-DC4F-A2E5-E0ABF0B220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0600" y="3137943"/>
            <a:ext cx="3352800" cy="128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BE759E-894D-3440-B27E-18B9468B5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350" y="1047750"/>
            <a:ext cx="3352800" cy="376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21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15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4038600" y="1553077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blipFill>
                <a:blip r:embed="rId5"/>
                <a:stretch>
                  <a:fillRect l="-1143" r="-1143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blipFill>
                <a:blip r:embed="rId6"/>
                <a:stretch>
                  <a:fillRect l="-990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Google Shape;373;p50">
            <a:extLst>
              <a:ext uri="{FF2B5EF4-FFF2-40B4-BE49-F238E27FC236}">
                <a16:creationId xmlns:a16="http://schemas.microsoft.com/office/drawing/2014/main" id="{18F7A581-EE23-EA40-84A4-ED3B2CCF55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710"/>
          <a:stretch/>
        </p:blipFill>
        <p:spPr>
          <a:xfrm>
            <a:off x="660372" y="2957921"/>
            <a:ext cx="243840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B9DBF5C7-6ECD-D143-9304-789D5EF310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779" r="5933"/>
          <a:stretch/>
        </p:blipFill>
        <p:spPr>
          <a:xfrm>
            <a:off x="5486400" y="2952750"/>
            <a:ext cx="27686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/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9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blipFill>
                <a:blip r:embed="rId7"/>
                <a:stretch>
                  <a:fillRect l="-5172" t="-6452" r="-344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03292-35A7-164E-A584-F40AAA829655}"/>
              </a:ext>
            </a:extLst>
          </p:cNvPr>
          <p:cNvCxnSpPr>
            <a:stCxn id="6" idx="3"/>
          </p:cNvCxnSpPr>
          <p:nvPr/>
        </p:nvCxnSpPr>
        <p:spPr>
          <a:xfrm>
            <a:off x="4398581" y="2685643"/>
            <a:ext cx="131641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C33383-AC75-D746-98C8-2391AE9E5B19}"/>
              </a:ext>
            </a:extLst>
          </p:cNvPr>
          <p:cNvCxnSpPr>
            <a:stCxn id="6" idx="1"/>
          </p:cNvCxnSpPr>
          <p:nvPr/>
        </p:nvCxnSpPr>
        <p:spPr>
          <a:xfrm flipH="1">
            <a:off x="2438400" y="2685643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D7E5FA-64D1-784F-A224-4C3995713E3B}"/>
              </a:ext>
            </a:extLst>
          </p:cNvPr>
          <p:cNvSpPr txBox="1"/>
          <p:nvPr/>
        </p:nvSpPr>
        <p:spPr>
          <a:xfrm>
            <a:off x="2882634" y="2527432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7311-23C2-924A-B6B9-547458559CE7}"/>
              </a:ext>
            </a:extLst>
          </p:cNvPr>
          <p:cNvSpPr txBox="1"/>
          <p:nvPr/>
        </p:nvSpPr>
        <p:spPr>
          <a:xfrm>
            <a:off x="5049472" y="2540132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46918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4038600" y="1553077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99;p52">
            <a:extLst>
              <a:ext uri="{FF2B5EF4-FFF2-40B4-BE49-F238E27FC236}">
                <a16:creationId xmlns:a16="http://schemas.microsoft.com/office/drawing/2014/main" id="{C5DD2F54-78F6-5A4D-A53A-DC4C1535C93C}"/>
              </a:ext>
            </a:extLst>
          </p:cNvPr>
          <p:cNvSpPr txBox="1"/>
          <p:nvPr/>
        </p:nvSpPr>
        <p:spPr>
          <a:xfrm>
            <a:off x="3682034" y="4001192"/>
            <a:ext cx="1618106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 dirty="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Gain</a:t>
            </a:r>
            <a:endParaRPr sz="1600" u="sng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</m:t>
                      </m:r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215350" cy="350673"/>
              </a:xfrm>
              <a:prstGeom prst="rect">
                <a:avLst/>
              </a:prstGeom>
              <a:blipFill>
                <a:blip r:embed="rId5"/>
                <a:stretch>
                  <a:fillRect l="-1143" r="-1143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u-RU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ru-RU" sz="12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ru-RU" sz="12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≈0.99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742" y="3924900"/>
                <a:ext cx="2558777" cy="349455"/>
              </a:xfrm>
              <a:prstGeom prst="rect">
                <a:avLst/>
              </a:prstGeom>
              <a:blipFill>
                <a:blip r:embed="rId6"/>
                <a:stretch>
                  <a:fillRect l="-990" t="-3571" r="-990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/>
              <p:nvPr/>
            </p:nvSpPr>
            <p:spPr>
              <a:xfrm>
                <a:off x="3202593" y="4356605"/>
                <a:ext cx="2706254" cy="5203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≈0.08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593" y="4356605"/>
                <a:ext cx="2706254" cy="520399"/>
              </a:xfrm>
              <a:prstGeom prst="rect">
                <a:avLst/>
              </a:prstGeom>
              <a:blipFill>
                <a:blip r:embed="rId7"/>
                <a:stretch>
                  <a:fillRect l="-1402" t="-7317" r="-1402" b="-1463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BB597-A34E-3D4E-BC5F-892CADFD7DEA}"/>
              </a:ext>
            </a:extLst>
          </p:cNvPr>
          <p:cNvCxnSpPr/>
          <p:nvPr/>
        </p:nvCxnSpPr>
        <p:spPr>
          <a:xfrm>
            <a:off x="5429406" y="4781550"/>
            <a:ext cx="4794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oogle Shape;373;p50">
            <a:extLst>
              <a:ext uri="{FF2B5EF4-FFF2-40B4-BE49-F238E27FC236}">
                <a16:creationId xmlns:a16="http://schemas.microsoft.com/office/drawing/2014/main" id="{18F7A581-EE23-EA40-84A4-ED3B2CCF55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5710"/>
          <a:stretch/>
        </p:blipFill>
        <p:spPr>
          <a:xfrm>
            <a:off x="660372" y="2957921"/>
            <a:ext cx="243840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B9DBF5C7-6ECD-D143-9304-789D5EF310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779" r="5933"/>
          <a:stretch/>
        </p:blipFill>
        <p:spPr>
          <a:xfrm>
            <a:off x="5486400" y="2952750"/>
            <a:ext cx="27686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/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9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8B75C-65AA-E14E-BDE6-9718FF159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748" y="2500977"/>
                <a:ext cx="700833" cy="369332"/>
              </a:xfrm>
              <a:prstGeom prst="rect">
                <a:avLst/>
              </a:prstGeom>
              <a:blipFill>
                <a:blip r:embed="rId8"/>
                <a:stretch>
                  <a:fillRect l="-5172" t="-6452" r="-344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03292-35A7-164E-A584-F40AAA829655}"/>
              </a:ext>
            </a:extLst>
          </p:cNvPr>
          <p:cNvCxnSpPr>
            <a:stCxn id="6" idx="3"/>
          </p:cNvCxnSpPr>
          <p:nvPr/>
        </p:nvCxnSpPr>
        <p:spPr>
          <a:xfrm>
            <a:off x="4398581" y="2685643"/>
            <a:ext cx="131641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C33383-AC75-D746-98C8-2391AE9E5B19}"/>
              </a:ext>
            </a:extLst>
          </p:cNvPr>
          <p:cNvCxnSpPr>
            <a:stCxn id="6" idx="1"/>
          </p:cNvCxnSpPr>
          <p:nvPr/>
        </p:nvCxnSpPr>
        <p:spPr>
          <a:xfrm flipH="1">
            <a:off x="2438400" y="2685643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D7E5FA-64D1-784F-A224-4C3995713E3B}"/>
              </a:ext>
            </a:extLst>
          </p:cNvPr>
          <p:cNvSpPr txBox="1"/>
          <p:nvPr/>
        </p:nvSpPr>
        <p:spPr>
          <a:xfrm>
            <a:off x="2882634" y="2527432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7311-23C2-924A-B6B9-547458559CE7}"/>
              </a:ext>
            </a:extLst>
          </p:cNvPr>
          <p:cNvSpPr txBox="1"/>
          <p:nvPr/>
        </p:nvSpPr>
        <p:spPr>
          <a:xfrm>
            <a:off x="5049472" y="2540132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240556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</a:t>
            </a:r>
            <a:r>
              <a:rPr lang="ru-RU" dirty="0"/>
              <a:t>энтропия</a:t>
            </a:r>
            <a:endParaRPr lang="en-US" dirty="0"/>
          </a:p>
        </p:txBody>
      </p:sp>
      <p:pic>
        <p:nvPicPr>
          <p:cNvPr id="7" name="Google Shape;373;p50">
            <a:extLst>
              <a:ext uri="{FF2B5EF4-FFF2-40B4-BE49-F238E27FC236}">
                <a16:creationId xmlns:a16="http://schemas.microsoft.com/office/drawing/2014/main" id="{98B130E1-DE83-EF4A-8304-A25707672B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90675" y="1568790"/>
            <a:ext cx="5505449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/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66F394-8261-7F4D-9D5C-29239CA24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72601"/>
                <a:ext cx="1829475" cy="596189"/>
              </a:xfrm>
              <a:prstGeom prst="rect">
                <a:avLst/>
              </a:prstGeom>
              <a:blipFill>
                <a:blip r:embed="rId3"/>
                <a:stretch>
                  <a:fillRect l="-8276" t="-147917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/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156C61-6262-F041-A34E-7A7E6980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1047750"/>
                <a:ext cx="3143809" cy="462627"/>
              </a:xfrm>
              <a:prstGeom prst="rect">
                <a:avLst/>
              </a:prstGeom>
              <a:blipFill>
                <a:blip r:embed="rId4"/>
                <a:stretch>
                  <a:fillRect l="-1210" t="-2632" r="-1210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DE7288-A5A6-9D40-AA9B-F639B711C8AD}"/>
              </a:ext>
            </a:extLst>
          </p:cNvPr>
          <p:cNvCxnSpPr/>
          <p:nvPr/>
        </p:nvCxnSpPr>
        <p:spPr>
          <a:xfrm>
            <a:off x="5008744" y="1581150"/>
            <a:ext cx="0" cy="990600"/>
          </a:xfrm>
          <a:prstGeom prst="line">
            <a:avLst/>
          </a:prstGeom>
          <a:ln w="2857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99;p52">
            <a:extLst>
              <a:ext uri="{FF2B5EF4-FFF2-40B4-BE49-F238E27FC236}">
                <a16:creationId xmlns:a16="http://schemas.microsoft.com/office/drawing/2014/main" id="{C5DD2F54-78F6-5A4D-A53A-DC4C1535C93C}"/>
              </a:ext>
            </a:extLst>
          </p:cNvPr>
          <p:cNvSpPr txBox="1"/>
          <p:nvPr/>
        </p:nvSpPr>
        <p:spPr>
          <a:xfrm>
            <a:off x="4199691" y="4075164"/>
            <a:ext cx="1618106" cy="25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 dirty="0">
                <a:solidFill>
                  <a:srgbClr val="CC0000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Gain</a:t>
            </a:r>
            <a:endParaRPr sz="1600" u="sng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/>
              <p:nvPr/>
            </p:nvSpPr>
            <p:spPr>
              <a:xfrm>
                <a:off x="907990" y="3920412"/>
                <a:ext cx="2555187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≈0.96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92F43-D731-B845-A522-0A49FEFE3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90" y="3920412"/>
                <a:ext cx="2555187" cy="350673"/>
              </a:xfrm>
              <a:prstGeom prst="rect">
                <a:avLst/>
              </a:prstGeom>
              <a:blipFill>
                <a:blip r:embed="rId5"/>
                <a:stretch>
                  <a:fillRect l="-990" r="-99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/>
              <p:nvPr/>
            </p:nvSpPr>
            <p:spPr>
              <a:xfrm>
                <a:off x="6297238" y="3920412"/>
                <a:ext cx="2133981" cy="346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≈0.6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2BB0B-5DDF-1A42-837D-55126931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238" y="3920412"/>
                <a:ext cx="2133981" cy="346185"/>
              </a:xfrm>
              <a:prstGeom prst="rect">
                <a:avLst/>
              </a:prstGeom>
              <a:blipFill>
                <a:blip r:embed="rId6"/>
                <a:stretch>
                  <a:fillRect l="-1183" r="-118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/>
              <p:nvPr/>
            </p:nvSpPr>
            <p:spPr>
              <a:xfrm>
                <a:off x="3720250" y="4430577"/>
                <a:ext cx="2706254" cy="5203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29B544-122F-D84C-919D-A3CE392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250" y="4430577"/>
                <a:ext cx="2706254" cy="520399"/>
              </a:xfrm>
              <a:prstGeom prst="rect">
                <a:avLst/>
              </a:prstGeom>
              <a:blipFill>
                <a:blip r:embed="rId7"/>
                <a:stretch>
                  <a:fillRect l="-1402" t="-4762" r="-1869" b="-1428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9BB597-A34E-3D4E-BC5F-892CADFD7DEA}"/>
              </a:ext>
            </a:extLst>
          </p:cNvPr>
          <p:cNvCxnSpPr/>
          <p:nvPr/>
        </p:nvCxnSpPr>
        <p:spPr>
          <a:xfrm>
            <a:off x="5947063" y="4857750"/>
            <a:ext cx="47944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373;p50">
            <a:extLst>
              <a:ext uri="{FF2B5EF4-FFF2-40B4-BE49-F238E27FC236}">
                <a16:creationId xmlns:a16="http://schemas.microsoft.com/office/drawing/2014/main" id="{3B6C682F-FCB4-F34E-BC5A-84DF1FBD21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37771"/>
          <a:stretch/>
        </p:blipFill>
        <p:spPr>
          <a:xfrm>
            <a:off x="660372" y="2957921"/>
            <a:ext cx="3426050" cy="9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73;p50">
            <a:extLst>
              <a:ext uri="{FF2B5EF4-FFF2-40B4-BE49-F238E27FC236}">
                <a16:creationId xmlns:a16="http://schemas.microsoft.com/office/drawing/2014/main" id="{6EFFD65D-2362-D349-85EE-25D562B3E2F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1772" r="5933"/>
          <a:stretch/>
        </p:blipFill>
        <p:spPr>
          <a:xfrm>
            <a:off x="6477000" y="2952750"/>
            <a:ext cx="1778028" cy="9164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36BC43-B983-CB4D-8BE2-556693FE218E}"/>
                  </a:ext>
                </a:extLst>
              </p:cNvPr>
              <p:cNvSpPr txBox="1"/>
              <p:nvPr/>
            </p:nvSpPr>
            <p:spPr>
              <a:xfrm>
                <a:off x="4664946" y="2510646"/>
                <a:ext cx="817853" cy="369332"/>
              </a:xfrm>
              <a:prstGeom prst="rect">
                <a:avLst/>
              </a:prstGeom>
              <a:solidFill>
                <a:srgbClr val="E0E9D2"/>
              </a:solidFill>
              <a:ln w="12700"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12</a:t>
                </a:r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36BC43-B983-CB4D-8BE2-556693FE2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946" y="2510646"/>
                <a:ext cx="817853" cy="369332"/>
              </a:xfrm>
              <a:prstGeom prst="rect">
                <a:avLst/>
              </a:prstGeom>
              <a:blipFill>
                <a:blip r:embed="rId9"/>
                <a:stretch>
                  <a:fillRect l="-4478" t="-6452" r="-4478" b="-22581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260230-4184-154D-B7C8-3B2EFEEBA358}"/>
              </a:ext>
            </a:extLst>
          </p:cNvPr>
          <p:cNvCxnSpPr>
            <a:stCxn id="18" idx="3"/>
          </p:cNvCxnSpPr>
          <p:nvPr/>
        </p:nvCxnSpPr>
        <p:spPr>
          <a:xfrm>
            <a:off x="5482799" y="2695312"/>
            <a:ext cx="1199399" cy="2321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A7126E-6CF3-574B-B15B-D2D677105ED6}"/>
              </a:ext>
            </a:extLst>
          </p:cNvPr>
          <p:cNvCxnSpPr>
            <a:stCxn id="18" idx="1"/>
          </p:cNvCxnSpPr>
          <p:nvPr/>
        </p:nvCxnSpPr>
        <p:spPr>
          <a:xfrm flipH="1">
            <a:off x="3405598" y="2695312"/>
            <a:ext cx="1259348" cy="267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4A2126-47F9-2444-BF56-7CD785A47B00}"/>
              </a:ext>
            </a:extLst>
          </p:cNvPr>
          <p:cNvSpPr txBox="1"/>
          <p:nvPr/>
        </p:nvSpPr>
        <p:spPr>
          <a:xfrm>
            <a:off x="3720250" y="2510646"/>
            <a:ext cx="425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7BE201-EDE5-874E-A2B7-FBDDB85566A7}"/>
              </a:ext>
            </a:extLst>
          </p:cNvPr>
          <p:cNvSpPr txBox="1"/>
          <p:nvPr/>
        </p:nvSpPr>
        <p:spPr>
          <a:xfrm>
            <a:off x="6002379" y="2507766"/>
            <a:ext cx="4523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43862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778D93-0437-174C-9167-610602C3C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695" y="1457181"/>
            <a:ext cx="3415303" cy="3415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информативности </a:t>
            </a:r>
            <a:r>
              <a:rPr lang="en-US" dirty="0"/>
              <a:t>– Gini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69520-0A9F-9148-A31C-F0D0F732F123}"/>
              </a:ext>
            </a:extLst>
          </p:cNvPr>
          <p:cNvSpPr txBox="1"/>
          <p:nvPr/>
        </p:nvSpPr>
        <p:spPr>
          <a:xfrm>
            <a:off x="476002" y="1241958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-RU" sz="1800" dirty="0">
                <a:latin typeface="Trebuchet MS"/>
                <a:ea typeface="Trebuchet MS"/>
                <a:cs typeface="Trebuchet MS"/>
                <a:sym typeface="Trebuchet MS"/>
              </a:rPr>
              <a:t>Мат. ожидание того, что мы ошиблись на данном наблюдении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4ACFFA-185C-2C40-AC68-4F0C5DF52133}"/>
              </a:ext>
            </a:extLst>
          </p:cNvPr>
          <p:cNvGrpSpPr/>
          <p:nvPr/>
        </p:nvGrpSpPr>
        <p:grpSpPr>
          <a:xfrm>
            <a:off x="773255" y="1885950"/>
            <a:ext cx="3766609" cy="2694199"/>
            <a:chOff x="773255" y="1885950"/>
            <a:chExt cx="3766609" cy="2694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04EC47-4849-384D-88FB-A887AA69D3F0}"/>
                    </a:ext>
                  </a:extLst>
                </p:cNvPr>
                <p:cNvSpPr txBox="1"/>
                <p:nvPr/>
              </p:nvSpPr>
              <p:spPr>
                <a:xfrm>
                  <a:off x="773255" y="1885950"/>
                  <a:ext cx="3766609" cy="26941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𝑚𝑖𝑠𝑡𝑎𝑘𝑒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204EC47-4849-384D-88FB-A887AA69D3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55" y="1885950"/>
                  <a:ext cx="3766609" cy="2694199"/>
                </a:xfrm>
                <a:prstGeom prst="rect">
                  <a:avLst/>
                </a:prstGeom>
                <a:blipFill>
                  <a:blip r:embed="rId3"/>
                  <a:stretch>
                    <a:fillRect l="-14430" t="-35211" b="-48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BB0D3-36E3-CB44-8BD1-391146D4CF7C}"/>
                </a:ext>
              </a:extLst>
            </p:cNvPr>
            <p:cNvSpPr/>
            <p:nvPr/>
          </p:nvSpPr>
          <p:spPr>
            <a:xfrm>
              <a:off x="2743200" y="3713182"/>
              <a:ext cx="1538199" cy="86233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1469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F3F5-8FC7-A24A-9D5D-FAF0E554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информативности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2B3CB-9F25-8047-8EFA-54A1C5E18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71550"/>
            <a:ext cx="62484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83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1F09-C35F-734F-AE84-F91EB5FC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информативности</a:t>
            </a:r>
            <a:endParaRPr lang="en-US" dirty="0"/>
          </a:p>
        </p:txBody>
      </p:sp>
      <p:sp>
        <p:nvSpPr>
          <p:cNvPr id="3" name="Google Shape;420;p55">
            <a:extLst>
              <a:ext uri="{FF2B5EF4-FFF2-40B4-BE49-F238E27FC236}">
                <a16:creationId xmlns:a16="http://schemas.microsoft.com/office/drawing/2014/main" id="{EE6CC94A-A828-AA40-8DE1-E9D4F9FB73E7}"/>
              </a:ext>
            </a:extLst>
          </p:cNvPr>
          <p:cNvSpPr txBox="1"/>
          <p:nvPr/>
        </p:nvSpPr>
        <p:spPr>
          <a:xfrm>
            <a:off x="630001" y="1477573"/>
            <a:ext cx="170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Entropy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Google Shape;421;p55">
            <a:extLst>
              <a:ext uri="{FF2B5EF4-FFF2-40B4-BE49-F238E27FC236}">
                <a16:creationId xmlns:a16="http://schemas.microsoft.com/office/drawing/2014/main" id="{A4173968-216C-734C-BD7D-091EF17F96AB}"/>
              </a:ext>
            </a:extLst>
          </p:cNvPr>
          <p:cNvSpPr txBox="1"/>
          <p:nvPr/>
        </p:nvSpPr>
        <p:spPr>
          <a:xfrm>
            <a:off x="630001" y="3326578"/>
            <a:ext cx="134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06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2000"/>
            </a:pPr>
            <a:r>
              <a:rPr lang="ru" sz="2000" dirty="0">
                <a:latin typeface="Trebuchet MS"/>
                <a:ea typeface="Trebuchet MS"/>
                <a:cs typeface="Trebuchet MS"/>
                <a:sym typeface="Trebuchet MS"/>
              </a:rPr>
              <a:t>Gini</a:t>
            </a:r>
            <a:endParaRPr sz="20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" name="Google Shape;424;p55">
            <a:extLst>
              <a:ext uri="{FF2B5EF4-FFF2-40B4-BE49-F238E27FC236}">
                <a16:creationId xmlns:a16="http://schemas.microsoft.com/office/drawing/2014/main" id="{9275338D-44EE-754A-B6DD-66DE8F74E8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1123950"/>
            <a:ext cx="3951400" cy="38031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7E1EA3-FE86-944E-9F51-3A37FD0A3347}"/>
                  </a:ext>
                </a:extLst>
              </p:cNvPr>
              <p:cNvSpPr txBox="1"/>
              <p:nvPr/>
            </p:nvSpPr>
            <p:spPr>
              <a:xfrm>
                <a:off x="919515" y="2143081"/>
                <a:ext cx="2110771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7E1EA3-FE86-944E-9F51-3A37FD0A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15" y="2143081"/>
                <a:ext cx="2110771" cy="779124"/>
              </a:xfrm>
              <a:prstGeom prst="rect">
                <a:avLst/>
              </a:prstGeom>
              <a:blipFill>
                <a:blip r:embed="rId3"/>
                <a:stretch>
                  <a:fillRect l="-6587"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73B51-E087-DB4B-B8C2-01F4EBA2A7FB}"/>
                  </a:ext>
                </a:extLst>
              </p:cNvPr>
              <p:cNvSpPr txBox="1"/>
              <p:nvPr/>
            </p:nvSpPr>
            <p:spPr>
              <a:xfrm>
                <a:off x="919515" y="3790950"/>
                <a:ext cx="1539524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873B51-E087-DB4B-B8C2-01F4EBA2A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15" y="3790950"/>
                <a:ext cx="1539524" cy="779124"/>
              </a:xfrm>
              <a:prstGeom prst="rect">
                <a:avLst/>
              </a:prstGeom>
              <a:blipFill>
                <a:blip r:embed="rId4"/>
                <a:stretch>
                  <a:fillRect l="-2459" t="-111290" r="-15574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391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3DBC-F8E3-A047-B4BA-F32777A2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 для регрессии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98E9A-EC0F-BF4E-915E-3933AC8512AC}"/>
              </a:ext>
            </a:extLst>
          </p:cNvPr>
          <p:cNvSpPr txBox="1"/>
          <p:nvPr/>
        </p:nvSpPr>
        <p:spPr>
          <a:xfrm>
            <a:off x="582688" y="1472790"/>
            <a:ext cx="3293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MSE</a:t>
            </a:r>
            <a:endParaRPr lang="ru-RU" dirty="0"/>
          </a:p>
          <a:p>
            <a:pPr algn="ctr"/>
            <a:r>
              <a:rPr lang="ru-RU" dirty="0"/>
              <a:t>или дисперсия вокруг среднего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56347-ACE5-B249-832B-97B0CA064339}"/>
                  </a:ext>
                </a:extLst>
              </p:cNvPr>
              <p:cNvSpPr txBox="1"/>
              <p:nvPr/>
            </p:nvSpPr>
            <p:spPr>
              <a:xfrm>
                <a:off x="762000" y="2494780"/>
                <a:ext cx="2934906" cy="1693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556347-ACE5-B249-832B-97B0CA064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494780"/>
                <a:ext cx="2934906" cy="1693797"/>
              </a:xfrm>
              <a:prstGeom prst="rect">
                <a:avLst/>
              </a:prstGeom>
              <a:blipFill>
                <a:blip r:embed="rId2"/>
                <a:stretch>
                  <a:fillRect l="-3030" t="-58209" b="-77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0E363B-3622-9648-BA40-1DC4E0639F5E}"/>
              </a:ext>
            </a:extLst>
          </p:cNvPr>
          <p:cNvSpPr txBox="1"/>
          <p:nvPr/>
        </p:nvSpPr>
        <p:spPr>
          <a:xfrm>
            <a:off x="6021579" y="142662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8654D-2F9E-024D-994F-542143F0B504}"/>
                  </a:ext>
                </a:extLst>
              </p:cNvPr>
              <p:cNvSpPr txBox="1"/>
              <p:nvPr/>
            </p:nvSpPr>
            <p:spPr>
              <a:xfrm>
                <a:off x="5107179" y="2494780"/>
                <a:ext cx="3459473" cy="703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median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48654D-2F9E-024D-994F-542143F0B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179" y="2494780"/>
                <a:ext cx="3459473" cy="703141"/>
              </a:xfrm>
              <a:prstGeom prst="rect">
                <a:avLst/>
              </a:prstGeom>
              <a:blipFill>
                <a:blip r:embed="rId3"/>
                <a:stretch>
                  <a:fillRect l="-2198" t="-136842" b="-182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542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39223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Общий алгоритм построения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4" name="Google Shape;468;p59">
            <a:extLst>
              <a:ext uri="{FF2B5EF4-FFF2-40B4-BE49-F238E27FC236}">
                <a16:creationId xmlns:a16="http://schemas.microsoft.com/office/drawing/2014/main" id="{8F89CF3E-776E-484E-AF78-F6D9065D39CC}"/>
              </a:ext>
            </a:extLst>
          </p:cNvPr>
          <p:cNvSpPr txBox="1"/>
          <p:nvPr/>
        </p:nvSpPr>
        <p:spPr>
          <a:xfrm>
            <a:off x="617650" y="1053108"/>
            <a:ext cx="57855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dirty="0">
                <a:latin typeface="Trebuchet MS"/>
                <a:ea typeface="Trebuchet MS"/>
                <a:cs typeface="Trebuchet MS"/>
                <a:sym typeface="Trebuchet MS"/>
              </a:rPr>
              <a:t>Рассмотрим простой рекурсивный (жадный) алгоритм</a:t>
            </a:r>
            <a:endParaRPr sz="17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" name="Google Shape;469;p59">
            <a:extLst>
              <a:ext uri="{FF2B5EF4-FFF2-40B4-BE49-F238E27FC236}">
                <a16:creationId xmlns:a16="http://schemas.microsoft.com/office/drawing/2014/main" id="{159225BE-7603-F644-A9CE-8B929449B3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0710" y="1469500"/>
            <a:ext cx="5839366" cy="21713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70;p59">
            <a:extLst>
              <a:ext uri="{FF2B5EF4-FFF2-40B4-BE49-F238E27FC236}">
                <a16:creationId xmlns:a16="http://schemas.microsoft.com/office/drawing/2014/main" id="{633E2D97-A34D-EC4C-AA60-011CB64FE8AC}"/>
              </a:ext>
            </a:extLst>
          </p:cNvPr>
          <p:cNvSpPr txBox="1"/>
          <p:nvPr/>
        </p:nvSpPr>
        <p:spPr>
          <a:xfrm>
            <a:off x="617650" y="3683734"/>
            <a:ext cx="5473800" cy="10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1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определяет алгоритм построения?</a:t>
            </a:r>
            <a:endParaRPr sz="1700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Функционал качества </a:t>
            </a: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Pruning: Стрижка и Критерий останова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774065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700"/>
              <a:buFont typeface="Arial" panose="020B0604020202020204" pitchFamily="34" charset="0"/>
              <a:buChar char="•"/>
            </a:pPr>
            <a:r>
              <a:rPr lang="ru" sz="1700" b="0" i="0" u="none" strike="noStrike" cap="none" dirty="0">
                <a:solidFill>
                  <a:srgbClr val="3E3E3E"/>
                </a:solidFill>
                <a:latin typeface="Trebuchet MS"/>
                <a:ea typeface="Trebuchet MS"/>
                <a:cs typeface="Trebuchet MS"/>
                <a:sym typeface="Trebuchet MS"/>
              </a:rPr>
              <a:t>Обработка пропусков в данных</a:t>
            </a:r>
            <a:endParaRPr sz="17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55500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52F0-0776-BC44-ADA5-49368DBE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Оптимальное дерево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09D9E-E817-3C4C-895D-DDB669429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47750"/>
            <a:ext cx="5842687" cy="3891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B6BC3-870B-3847-B3C7-FB2BE91D0058}"/>
              </a:ext>
            </a:extLst>
          </p:cNvPr>
          <p:cNvSpPr txBox="1"/>
          <p:nvPr/>
        </p:nvSpPr>
        <p:spPr>
          <a:xfrm>
            <a:off x="6248400" y="1504950"/>
            <a:ext cx="2620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Построить оптимальное с точки зрения качества на обучающей выборке дерево минимальной глубины – </a:t>
            </a:r>
            <a:r>
              <a:rPr lang="en-US" b="1" i="1" dirty="0"/>
              <a:t>NP</a:t>
            </a:r>
            <a:r>
              <a:rPr lang="ru-RU" b="1" dirty="0"/>
              <a:t>-полная задача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3219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7" name="Google Shape;476;p60">
            <a:extLst>
              <a:ext uri="{FF2B5EF4-FFF2-40B4-BE49-F238E27FC236}">
                <a16:creationId xmlns:a16="http://schemas.microsoft.com/office/drawing/2014/main" id="{00391208-55C5-244E-8F39-BABCE23A5929}"/>
              </a:ext>
            </a:extLst>
          </p:cNvPr>
          <p:cNvSpPr txBox="1"/>
          <p:nvPr/>
        </p:nvSpPr>
        <p:spPr>
          <a:xfrm>
            <a:off x="500550" y="864125"/>
            <a:ext cx="8643600" cy="161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r>
              <a:rPr lang="ru" sz="1300" dirty="0">
                <a:latin typeface="Trebuchet MS"/>
                <a:ea typeface="Trebuchet MS"/>
                <a:cs typeface="Trebuchet MS"/>
                <a:sym typeface="Trebuchet MS"/>
              </a:rPr>
              <a:t>Pre-Pruning / Критерий Останова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0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Ограничение максимальной глубины дерева / минимального числа объектов в листе </a:t>
            </a:r>
            <a:r>
              <a:rPr lang="ru-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/</a:t>
            </a: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 максимального количества листьев в дереве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643255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Требование, что функционал качества при дроблении  улучшился как минимум на </a:t>
            </a:r>
            <a:r>
              <a:rPr lang="ru" sz="1300" b="0" i="1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</a:t>
            </a: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51535" marR="643255" lvl="1" indent="-3378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dirty="0">
                <a:latin typeface="Trebuchet MS"/>
                <a:ea typeface="Trebuchet MS"/>
                <a:cs typeface="Trebuchet MS"/>
                <a:sym typeface="Trebuchet MS"/>
              </a:rPr>
              <a:t>Останов в случае, если все объекты в листе относятся к  одному классу</a:t>
            </a:r>
          </a:p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endParaRPr lang="ru-RU" sz="13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516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300"/>
            </a:pPr>
            <a:r>
              <a:rPr lang="en-US" sz="1300" dirty="0">
                <a:latin typeface="Trebuchet MS"/>
                <a:ea typeface="Trebuchet MS"/>
                <a:cs typeface="Trebuchet MS"/>
                <a:sym typeface="Trebuchet MS"/>
              </a:rPr>
              <a:t>Post-Pruning / </a:t>
            </a:r>
            <a:r>
              <a:rPr lang="ru-RU" sz="1300" dirty="0">
                <a:latin typeface="Trebuchet MS"/>
                <a:ea typeface="Trebuchet MS"/>
                <a:cs typeface="Trebuchet MS"/>
                <a:sym typeface="Trebuchet MS"/>
              </a:rPr>
              <a:t>Стрижка</a:t>
            </a:r>
          </a:p>
          <a:p>
            <a:pPr marL="88900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-RU" sz="1300" dirty="0">
                <a:latin typeface="Trebuchet MS"/>
                <a:ea typeface="Trebuchet MS"/>
                <a:cs typeface="Trebuchet MS"/>
                <a:sym typeface="Trebuchet MS"/>
              </a:rPr>
              <a:t>Строим переобученное(один лист - один объект) дерево и отсекаем лишние узлы</a:t>
            </a:r>
            <a:endParaRPr sz="13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" name="Google Shape;477;p60">
            <a:extLst>
              <a:ext uri="{FF2B5EF4-FFF2-40B4-BE49-F238E27FC236}">
                <a16:creationId xmlns:a16="http://schemas.microsoft.com/office/drawing/2014/main" id="{1ECADFF4-E90B-9947-A4E8-5C98AE59AF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05400" y="3790938"/>
            <a:ext cx="198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78;p60">
            <a:extLst>
              <a:ext uri="{FF2B5EF4-FFF2-40B4-BE49-F238E27FC236}">
                <a16:creationId xmlns:a16="http://schemas.microsoft.com/office/drawing/2014/main" id="{FB13FF6A-9A1A-094C-AF37-0129298D1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400" y="3790938"/>
            <a:ext cx="19800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4F3B301-08C6-1E40-B30A-90640961E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600" y="2561015"/>
            <a:ext cx="1903800" cy="115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B5EFBCC-C936-084B-857A-7DF9321A0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081" y="2561015"/>
            <a:ext cx="1929830" cy="119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5">
            <a:extLst>
              <a:ext uri="{FF2B5EF4-FFF2-40B4-BE49-F238E27FC236}">
                <a16:creationId xmlns:a16="http://schemas.microsoft.com/office/drawing/2014/main" id="{AF4B2E00-E7C2-7347-9C4D-C0FA1B7CF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755901"/>
            <a:ext cx="1576448" cy="2078038"/>
          </a:xfrm>
          <a:prstGeom prst="rightArrowCallout">
            <a:avLst>
              <a:gd name="adj1" fmla="val 41850"/>
              <a:gd name="adj2" fmla="val 40055"/>
              <a:gd name="adj3" fmla="val 45389"/>
              <a:gd name="adj4" fmla="val 9689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gamma/>
                  <a:shade val="3176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0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Пропуски в данных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485;p61">
                <a:extLst>
                  <a:ext uri="{FF2B5EF4-FFF2-40B4-BE49-F238E27FC236}">
                    <a16:creationId xmlns:a16="http://schemas.microsoft.com/office/drawing/2014/main" id="{BEFEE568-A5BD-7149-81E1-1083880F4AAD}"/>
                  </a:ext>
                </a:extLst>
              </p:cNvPr>
              <p:cNvSpPr txBox="1"/>
              <p:nvPr/>
            </p:nvSpPr>
            <p:spPr>
              <a:xfrm>
                <a:off x="500555" y="1403250"/>
                <a:ext cx="7484700" cy="13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12700" rIns="0" bIns="0" anchor="t" anchorCtr="0">
                <a:spAutoFit/>
              </a:bodyPr>
              <a:lstStyle/>
              <a:p>
                <a:pPr marL="329566" marR="10033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:r>
                  <a:rPr lang="ru-RU" sz="1500" dirty="0">
                    <a:latin typeface="Trebuchet MS"/>
                    <a:ea typeface="Trebuchet MS"/>
                    <a:cs typeface="Trebuchet MS"/>
                    <a:sym typeface="Trebuchet MS"/>
                  </a:rPr>
                  <a:t>Что делать, если встретился пропуск в признаке, который  используется вершиной?</a:t>
                </a:r>
                <a:endParaRPr lang="ru-RU" sz="2600" dirty="0"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329566" marR="5080" lvl="0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:r>
                  <a:rPr lang="ru-RU" sz="1500" dirty="0">
                    <a:latin typeface="Trebuchet MS"/>
                    <a:ea typeface="Trebuchet MS"/>
                    <a:cs typeface="Trebuchet MS"/>
                    <a:sym typeface="Trebuchet MS"/>
                  </a:rPr>
                  <a:t>Первый вариант решения проблемы - отправить результат  последней вершины в оба поддерева.</a:t>
                </a:r>
              </a:p>
              <a:p>
                <a:pPr marL="786765" marR="0" lvl="1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500" b="0" i="1" u="none" strike="noStrike" cap="none" smtClean="0">
                        <a:latin typeface="Cambria Math" panose="02040503050406030204" pitchFamily="18" charset="0"/>
                        <a:ea typeface="Trebuchet MS"/>
                        <a:cs typeface="Trebuchet MS"/>
                        <a:sym typeface="Trebuchet MS"/>
                      </a:rPr>
                      <m:t>𝛼</m:t>
                    </m:r>
                  </m:oMath>
                </a14:m>
                <a:r>
                  <a:rPr lang="en-US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ru-RU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– вероятность класса</a:t>
                </a:r>
              </a:p>
              <a:p>
                <a:pPr marL="786765" marR="0" lvl="1" indent="-2857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Pts val="15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500" b="0" i="1" u="none" strike="noStrike" cap="none" smtClean="0">
                        <a:latin typeface="Cambria Math" panose="02040503050406030204" pitchFamily="18" charset="0"/>
                        <a:ea typeface="Trebuchet MS"/>
                        <a:cs typeface="Trebuchet MS"/>
                        <a:sym typeface="Trebuchet MS"/>
                      </a:rPr>
                      <m:t>𝛽</m:t>
                    </m:r>
                  </m:oMath>
                </a14:m>
                <a:r>
                  <a:rPr lang="en-US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 – </a:t>
                </a:r>
                <a:r>
                  <a:rPr lang="ru-RU" sz="1500" b="0" i="0" u="none" strike="noStrike" cap="none" dirty="0">
                    <a:latin typeface="Trebuchet MS"/>
                    <a:ea typeface="Trebuchet MS"/>
                    <a:cs typeface="Trebuchet MS"/>
                    <a:sym typeface="Trebuchet MS"/>
                  </a:rPr>
                  <a:t>предикат осуществляющий сравнение</a:t>
                </a:r>
                <a:endParaRPr sz="1500" b="0" i="0" u="none" strike="noStrike" cap="none" dirty="0"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mc:Choice>
        <mc:Fallback xmlns="">
          <p:sp>
            <p:nvSpPr>
              <p:cNvPr id="6" name="Google Shape;485;p61">
                <a:extLst>
                  <a:ext uri="{FF2B5EF4-FFF2-40B4-BE49-F238E27FC236}">
                    <a16:creationId xmlns:a16="http://schemas.microsoft.com/office/drawing/2014/main" id="{BEFEE568-A5BD-7149-81E1-1083880F4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5" y="1403250"/>
                <a:ext cx="7484700" cy="1398000"/>
              </a:xfrm>
              <a:prstGeom prst="rect">
                <a:avLst/>
              </a:prstGeom>
              <a:blipFill>
                <a:blip r:embed="rId2"/>
                <a:stretch>
                  <a:fillRect l="-847" t="-3604" r="-1864" b="-7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487;p61">
            <a:extLst>
              <a:ext uri="{FF2B5EF4-FFF2-40B4-BE49-F238E27FC236}">
                <a16:creationId xmlns:a16="http://schemas.microsoft.com/office/drawing/2014/main" id="{15A36ACF-184B-CB4A-B530-5053EC7F1323}"/>
              </a:ext>
            </a:extLst>
          </p:cNvPr>
          <p:cNvSpPr txBox="1"/>
          <p:nvPr/>
        </p:nvSpPr>
        <p:spPr>
          <a:xfrm>
            <a:off x="500555" y="4230750"/>
            <a:ext cx="74529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29566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Второй вариант - Суррогатный сплит.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786765" marR="508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Проводим разбиение по другому (похожему / важному  признаку)</a:t>
            </a: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5AA9A-80B1-454D-987C-C50F07C2FE18}"/>
                  </a:ext>
                </a:extLst>
              </p:cNvPr>
              <p:cNvSpPr txBox="1"/>
              <p:nvPr/>
            </p:nvSpPr>
            <p:spPr>
              <a:xfrm>
                <a:off x="914400" y="2805624"/>
                <a:ext cx="6926704" cy="1360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=0;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=1;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нельзя вычислить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5AA9A-80B1-454D-987C-C50F07C2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05624"/>
                <a:ext cx="6926704" cy="1360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240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построения</a:t>
            </a:r>
            <a:endParaRPr lang="en-US" dirty="0"/>
          </a:p>
        </p:txBody>
      </p:sp>
      <p:sp>
        <p:nvSpPr>
          <p:cNvPr id="7" name="Google Shape;493;p62">
            <a:extLst>
              <a:ext uri="{FF2B5EF4-FFF2-40B4-BE49-F238E27FC236}">
                <a16:creationId xmlns:a16="http://schemas.microsoft.com/office/drawing/2014/main" id="{F60C3F04-05AD-1545-9FAE-889FCD910D20}"/>
              </a:ext>
            </a:extLst>
          </p:cNvPr>
          <p:cNvSpPr txBox="1"/>
          <p:nvPr/>
        </p:nvSpPr>
        <p:spPr>
          <a:xfrm>
            <a:off x="531235" y="1200150"/>
            <a:ext cx="8283499" cy="346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8" marR="0" lvl="0" algn="l" rtl="0">
              <a:spcBef>
                <a:spcPts val="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ID3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Энтропийный критерий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5080" lvl="1" indent="-285750" algn="l" rtl="0">
              <a:lnSpc>
                <a:spcPct val="103125"/>
              </a:lnSpc>
              <a:spcBef>
                <a:spcPts val="7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Строит дерево до тех пор, пока в каждом листе не окажутся объекты одного класса,  либо пока разбиение вершины дает уменьшение энтропийного критерия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07975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800"/>
              <a:buFont typeface="Arial" panose="020B0604020202020204" pitchFamily="34" charset="0"/>
              <a:buChar char="•"/>
            </a:pP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338" marR="0" lvl="0" algn="l" rtl="0">
              <a:spcBef>
                <a:spcPts val="1260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C4.5 (позднее С5.0)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5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Использует критерий Gain Ratio (нормированный энтропийный критерий)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0" lvl="1" indent="-28575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Критерий останова — ограничение на число объектов в листе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364490" lvl="1" indent="-285750" algn="l" rtl="0">
              <a:lnSpc>
                <a:spcPct val="103125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Обработка пропущенных значений: переносит такие объекты в оба поддерева с  определенными весами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07975" marR="0" lvl="1" indent="-285750" algn="l" rtl="0"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800"/>
              <a:buFont typeface="Arial" panose="020B0604020202020204" pitchFamily="34" charset="0"/>
              <a:buChar char="•"/>
            </a:pPr>
            <a:endParaRPr sz="15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3338" marR="0" lvl="0" algn="l" rtl="0">
              <a:spcBef>
                <a:spcPts val="1265"/>
              </a:spcBef>
              <a:spcAft>
                <a:spcPts val="0"/>
              </a:spcAft>
              <a:buClr>
                <a:srgbClr val="8C91E6"/>
              </a:buClr>
              <a:buSzPts val="1700"/>
            </a:pPr>
            <a:r>
              <a:rPr lang="ru" sz="1700" b="1" dirty="0">
                <a:latin typeface="Calibri"/>
                <a:ea typeface="Calibri"/>
                <a:cs typeface="Calibri"/>
                <a:sym typeface="Calibri"/>
              </a:rPr>
              <a:t>CART</a:t>
            </a:r>
            <a:endParaRPr sz="1100" b="1" dirty="0"/>
          </a:p>
          <a:p>
            <a:pPr marL="842010" marR="0" lvl="1" indent="-285750" algn="l" rtl="0">
              <a:lnSpc>
                <a:spcPct val="104000"/>
              </a:lnSpc>
              <a:spcBef>
                <a:spcPts val="2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Использует критерий Джини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842010" marR="0" lvl="1" indent="-28575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E3E3E"/>
              </a:buClr>
              <a:buSzPts val="1300"/>
              <a:buFont typeface="Arial" panose="020B0604020202020204" pitchFamily="34" charset="0"/>
              <a:buChar char="•"/>
            </a:pPr>
            <a:r>
              <a:rPr lang="ru" sz="13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Для обработки пропусков используется метод суррогатных предикатов</a:t>
            </a:r>
            <a:endParaRPr sz="1300" b="0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911046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161D75-6689-FE47-925A-E0781C1B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построения</a:t>
            </a:r>
            <a:endParaRPr lang="en-US" dirty="0"/>
          </a:p>
        </p:txBody>
      </p:sp>
      <p:sp>
        <p:nvSpPr>
          <p:cNvPr id="4" name="Google Shape;499;p63">
            <a:extLst>
              <a:ext uri="{FF2B5EF4-FFF2-40B4-BE49-F238E27FC236}">
                <a16:creationId xmlns:a16="http://schemas.microsoft.com/office/drawing/2014/main" id="{0167E065-A930-4B47-AE98-3B7F01FB6F8C}"/>
              </a:ext>
            </a:extLst>
          </p:cNvPr>
          <p:cNvSpPr txBox="1"/>
          <p:nvPr/>
        </p:nvSpPr>
        <p:spPr>
          <a:xfrm>
            <a:off x="1447799" y="1319850"/>
            <a:ext cx="7120261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1051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Понятные, четкие правила классификации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Деревья решений могут легко визуализироваться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Относительно быстрые процессы обучения и классификации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Малое число параметров модели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051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600"/>
              <a:buFont typeface="Arial" panose="020B0604020202020204" pitchFamily="34" charset="0"/>
              <a:buChar char="•"/>
            </a:pPr>
            <a:r>
              <a:rPr lang="ru" sz="1600" dirty="0">
                <a:latin typeface="Trebuchet MS"/>
                <a:ea typeface="Trebuchet MS"/>
                <a:cs typeface="Trebuchet MS"/>
                <a:sym typeface="Trebuchet MS"/>
              </a:rPr>
              <a:t>Поддержка и числовых, и категориальных признаков</a:t>
            </a:r>
            <a:endParaRPr sz="16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500;p63">
            <a:extLst>
              <a:ext uri="{FF2B5EF4-FFF2-40B4-BE49-F238E27FC236}">
                <a16:creationId xmlns:a16="http://schemas.microsoft.com/office/drawing/2014/main" id="{71674FCE-8C00-E141-87CF-478437ADA313}"/>
              </a:ext>
            </a:extLst>
          </p:cNvPr>
          <p:cNvSpPr txBox="1"/>
          <p:nvPr/>
        </p:nvSpPr>
        <p:spPr>
          <a:xfrm>
            <a:off x="1467124" y="3076914"/>
            <a:ext cx="6914875" cy="18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316865" marR="6985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Разделяющая граница дерева имеет свои ограничения  (состоит из гиперкубов) -&gt; отсутствует экстраполяция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Переобучение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5080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Нестабильность: небольшие изменения в данных могут  существенно изменять построенное дерево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192405" lvl="0" indent="-28575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Использование эвристик не гарантируют нахождения  глобально оптимального дерева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316865" marR="0" lvl="0" indent="-28575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tx1"/>
              </a:buClr>
              <a:buSzPts val="1500"/>
              <a:buFont typeface="Arial" panose="020B0604020202020204" pitchFamily="34" charset="0"/>
              <a:buChar char="•"/>
            </a:pPr>
            <a:r>
              <a:rPr lang="ru" sz="1500" dirty="0">
                <a:latin typeface="Trebuchet MS"/>
                <a:ea typeface="Trebuchet MS"/>
                <a:cs typeface="Trebuchet MS"/>
                <a:sym typeface="Trebuchet MS"/>
              </a:rPr>
              <a:t>Сложно поддерживаются пропуски в данных</a:t>
            </a:r>
            <a:endParaRPr sz="150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" name="Google Shape;501;p63">
            <a:extLst>
              <a:ext uri="{FF2B5EF4-FFF2-40B4-BE49-F238E27FC236}">
                <a16:creationId xmlns:a16="http://schemas.microsoft.com/office/drawing/2014/main" id="{7D197F7F-26D0-1B43-B932-6E3FA0107DD5}"/>
              </a:ext>
            </a:extLst>
          </p:cNvPr>
          <p:cNvGrpSpPr/>
          <p:nvPr/>
        </p:nvGrpSpPr>
        <p:grpSpPr>
          <a:xfrm>
            <a:off x="575935" y="1616018"/>
            <a:ext cx="693447" cy="659577"/>
            <a:chOff x="355790" y="1725822"/>
            <a:chExt cx="737239" cy="758309"/>
          </a:xfrm>
        </p:grpSpPr>
        <p:sp>
          <p:nvSpPr>
            <p:cNvPr id="8" name="Google Shape;502;p63">
              <a:extLst>
                <a:ext uri="{FF2B5EF4-FFF2-40B4-BE49-F238E27FC236}">
                  <a16:creationId xmlns:a16="http://schemas.microsoft.com/office/drawing/2014/main" id="{7996406E-88B4-EE4F-A332-78B0783A3B70}"/>
                </a:ext>
              </a:extLst>
            </p:cNvPr>
            <p:cNvSpPr/>
            <p:nvPr/>
          </p:nvSpPr>
          <p:spPr>
            <a:xfrm>
              <a:off x="355790" y="1725942"/>
              <a:ext cx="737235" cy="758189"/>
            </a:xfrm>
            <a:custGeom>
              <a:avLst/>
              <a:gdLst/>
              <a:ahLst/>
              <a:cxnLst/>
              <a:rect l="l" t="t" r="r" b="b"/>
              <a:pathLst>
                <a:path w="737235" h="758189" extrusionOk="0">
                  <a:moveTo>
                    <a:pt x="736803" y="260350"/>
                  </a:moveTo>
                  <a:lnTo>
                    <a:pt x="486308" y="260350"/>
                  </a:lnTo>
                  <a:lnTo>
                    <a:pt x="486308" y="0"/>
                  </a:lnTo>
                  <a:lnTo>
                    <a:pt x="250494" y="0"/>
                  </a:lnTo>
                  <a:lnTo>
                    <a:pt x="250494" y="260350"/>
                  </a:lnTo>
                  <a:lnTo>
                    <a:pt x="0" y="260350"/>
                  </a:lnTo>
                  <a:lnTo>
                    <a:pt x="0" y="496570"/>
                  </a:lnTo>
                  <a:lnTo>
                    <a:pt x="250494" y="496570"/>
                  </a:lnTo>
                  <a:lnTo>
                    <a:pt x="250494" y="758190"/>
                  </a:lnTo>
                  <a:lnTo>
                    <a:pt x="486308" y="758190"/>
                  </a:lnTo>
                  <a:lnTo>
                    <a:pt x="486308" y="496570"/>
                  </a:lnTo>
                  <a:lnTo>
                    <a:pt x="736803" y="496570"/>
                  </a:lnTo>
                  <a:lnTo>
                    <a:pt x="736803" y="26035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03;p63">
              <a:extLst>
                <a:ext uri="{FF2B5EF4-FFF2-40B4-BE49-F238E27FC236}">
                  <a16:creationId xmlns:a16="http://schemas.microsoft.com/office/drawing/2014/main" id="{F4EBA811-416F-324E-A003-F63E31D91D38}"/>
                </a:ext>
              </a:extLst>
            </p:cNvPr>
            <p:cNvSpPr/>
            <p:nvPr/>
          </p:nvSpPr>
          <p:spPr>
            <a:xfrm>
              <a:off x="355794" y="1725822"/>
              <a:ext cx="737235" cy="758189"/>
            </a:xfrm>
            <a:custGeom>
              <a:avLst/>
              <a:gdLst/>
              <a:ahLst/>
              <a:cxnLst/>
              <a:rect l="l" t="t" r="r" b="b"/>
              <a:pathLst>
                <a:path w="737235" h="758189" extrusionOk="0">
                  <a:moveTo>
                    <a:pt x="0" y="260971"/>
                  </a:moveTo>
                  <a:lnTo>
                    <a:pt x="250499" y="260971"/>
                  </a:lnTo>
                  <a:lnTo>
                    <a:pt x="250499" y="0"/>
                  </a:lnTo>
                  <a:lnTo>
                    <a:pt x="486311" y="0"/>
                  </a:lnTo>
                  <a:lnTo>
                    <a:pt x="486311" y="260971"/>
                  </a:lnTo>
                  <a:lnTo>
                    <a:pt x="736810" y="260971"/>
                  </a:lnTo>
                  <a:lnTo>
                    <a:pt x="736810" y="496783"/>
                  </a:lnTo>
                  <a:lnTo>
                    <a:pt x="486311" y="496783"/>
                  </a:lnTo>
                  <a:lnTo>
                    <a:pt x="486311" y="757755"/>
                  </a:lnTo>
                  <a:lnTo>
                    <a:pt x="250499" y="757755"/>
                  </a:lnTo>
                  <a:lnTo>
                    <a:pt x="250499" y="496783"/>
                  </a:lnTo>
                  <a:lnTo>
                    <a:pt x="0" y="496783"/>
                  </a:lnTo>
                  <a:lnTo>
                    <a:pt x="0" y="260971"/>
                  </a:lnTo>
                  <a:close/>
                </a:path>
              </a:pathLst>
            </a:custGeom>
            <a:noFill/>
            <a:ln w="9525" cap="flat" cmpd="sng">
              <a:solidFill>
                <a:srgbClr val="3E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504;p63">
            <a:extLst>
              <a:ext uri="{FF2B5EF4-FFF2-40B4-BE49-F238E27FC236}">
                <a16:creationId xmlns:a16="http://schemas.microsoft.com/office/drawing/2014/main" id="{9601D926-30F3-B449-8642-397860CA97C7}"/>
              </a:ext>
            </a:extLst>
          </p:cNvPr>
          <p:cNvGrpSpPr/>
          <p:nvPr/>
        </p:nvGrpSpPr>
        <p:grpSpPr>
          <a:xfrm>
            <a:off x="575914" y="3904628"/>
            <a:ext cx="693443" cy="210987"/>
            <a:chOff x="355794" y="4802317"/>
            <a:chExt cx="737235" cy="242570"/>
          </a:xfrm>
        </p:grpSpPr>
        <p:sp>
          <p:nvSpPr>
            <p:cNvPr id="11" name="Google Shape;505;p63">
              <a:extLst>
                <a:ext uri="{FF2B5EF4-FFF2-40B4-BE49-F238E27FC236}">
                  <a16:creationId xmlns:a16="http://schemas.microsoft.com/office/drawing/2014/main" id="{1EE2A434-6D92-9045-A3EB-6998083B54C7}"/>
                </a:ext>
              </a:extLst>
            </p:cNvPr>
            <p:cNvSpPr/>
            <p:nvPr/>
          </p:nvSpPr>
          <p:spPr>
            <a:xfrm>
              <a:off x="355794" y="4802317"/>
              <a:ext cx="737235" cy="242570"/>
            </a:xfrm>
            <a:custGeom>
              <a:avLst/>
              <a:gdLst/>
              <a:ahLst/>
              <a:cxnLst/>
              <a:rect l="l" t="t" r="r" b="b"/>
              <a:pathLst>
                <a:path w="737235" h="242570" extrusionOk="0">
                  <a:moveTo>
                    <a:pt x="736810" y="242514"/>
                  </a:moveTo>
                  <a:lnTo>
                    <a:pt x="0" y="242514"/>
                  </a:lnTo>
                  <a:lnTo>
                    <a:pt x="0" y="0"/>
                  </a:lnTo>
                  <a:lnTo>
                    <a:pt x="736810" y="0"/>
                  </a:lnTo>
                  <a:lnTo>
                    <a:pt x="736810" y="242514"/>
                  </a:ln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506;p63">
              <a:extLst>
                <a:ext uri="{FF2B5EF4-FFF2-40B4-BE49-F238E27FC236}">
                  <a16:creationId xmlns:a16="http://schemas.microsoft.com/office/drawing/2014/main" id="{F9ACE311-ECB0-A149-9613-39A0B9D7C978}"/>
                </a:ext>
              </a:extLst>
            </p:cNvPr>
            <p:cNvSpPr/>
            <p:nvPr/>
          </p:nvSpPr>
          <p:spPr>
            <a:xfrm>
              <a:off x="355794" y="4802317"/>
              <a:ext cx="737235" cy="242570"/>
            </a:xfrm>
            <a:custGeom>
              <a:avLst/>
              <a:gdLst/>
              <a:ahLst/>
              <a:cxnLst/>
              <a:rect l="l" t="t" r="r" b="b"/>
              <a:pathLst>
                <a:path w="737235" h="242570" extrusionOk="0">
                  <a:moveTo>
                    <a:pt x="0" y="0"/>
                  </a:moveTo>
                  <a:lnTo>
                    <a:pt x="736810" y="0"/>
                  </a:lnTo>
                  <a:lnTo>
                    <a:pt x="736810" y="242514"/>
                  </a:lnTo>
                  <a:lnTo>
                    <a:pt x="0" y="2425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E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410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3344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001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553" name="Google Shape;553;p70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scikit-learn.ru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Решающие деревья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Практический гайд для деревьев решений</a:t>
            </a:r>
            <a:endParaRPr sz="1300"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Более подробно про CART, ID3, C4.5</a:t>
            </a:r>
            <a:endParaRPr dirty="0"/>
          </a:p>
          <a:p>
            <a:pPr marL="457200" lvl="0" indent="-311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Лекция ВШЭ по деревьям решений</a:t>
            </a:r>
            <a:endParaRPr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Ансамбли моделей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1D519F3-8EFB-174E-B280-1CC7F47F942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15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14746</TotalTime>
  <Words>1195</Words>
  <Application>Microsoft Macintosh PowerPoint</Application>
  <PresentationFormat>On-screen Show (16:9)</PresentationFormat>
  <Paragraphs>275</Paragraphs>
  <Slides>38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roboto</vt:lpstr>
      <vt:lpstr>roboto</vt:lpstr>
      <vt:lpstr>Trebuchet MS</vt:lpstr>
      <vt:lpstr>Office Theme</vt:lpstr>
      <vt:lpstr>ML Basic Decision tree</vt:lpstr>
      <vt:lpstr>Проверить, идет ли запись</vt:lpstr>
      <vt:lpstr>ML Basic Decision tree</vt:lpstr>
      <vt:lpstr>Правила вебинара</vt:lpstr>
      <vt:lpstr>Правила вебинара</vt:lpstr>
      <vt:lpstr>Маршрут вебинара</vt:lpstr>
      <vt:lpstr>Цели занятия</vt:lpstr>
      <vt:lpstr>Смысл</vt:lpstr>
      <vt:lpstr>Decision tree – в чем идея…</vt:lpstr>
      <vt:lpstr>Пример дерева решений</vt:lpstr>
      <vt:lpstr>Decision tree</vt:lpstr>
      <vt:lpstr>Decision tree</vt:lpstr>
      <vt:lpstr>Decision tree</vt:lpstr>
      <vt:lpstr>  Как разбить данные – Критерии информативности </vt:lpstr>
      <vt:lpstr>Критерий информативности</vt:lpstr>
      <vt:lpstr>Критерий информативности – Info.Gain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энтропия</vt:lpstr>
      <vt:lpstr>Критерий информативности – Gini</vt:lpstr>
      <vt:lpstr>Критерии информативности</vt:lpstr>
      <vt:lpstr>Критерии информативности</vt:lpstr>
      <vt:lpstr>Критерии для регрессии</vt:lpstr>
      <vt:lpstr>Вопросы?</vt:lpstr>
      <vt:lpstr>Общий алгоритм построения</vt:lpstr>
      <vt:lpstr>Алгоритм построения</vt:lpstr>
      <vt:lpstr>Оптимальное дерево</vt:lpstr>
      <vt:lpstr>Алгоритм построения</vt:lpstr>
      <vt:lpstr>Пропуски в данных</vt:lpstr>
      <vt:lpstr>Алгоритмы построения</vt:lpstr>
      <vt:lpstr>Алгоритм построения</vt:lpstr>
      <vt:lpstr>Вопросы?</vt:lpstr>
      <vt:lpstr>Практика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Ансамбли моделей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150</cp:revision>
  <dcterms:created xsi:type="dcterms:W3CDTF">2023-10-10T14:19:39Z</dcterms:created>
  <dcterms:modified xsi:type="dcterms:W3CDTF">2025-05-16T17:01:28Z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