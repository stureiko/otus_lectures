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24"/>
  </p:notesMasterIdLst>
  <p:sldIdLst>
    <p:sldId id="256" r:id="rId3"/>
    <p:sldId id="257" r:id="rId4"/>
    <p:sldId id="334" r:id="rId5"/>
    <p:sldId id="259" r:id="rId6"/>
    <p:sldId id="298" r:id="rId7"/>
    <p:sldId id="261" r:id="rId8"/>
    <p:sldId id="266" r:id="rId9"/>
    <p:sldId id="330" r:id="rId10"/>
    <p:sldId id="391" r:id="rId11"/>
    <p:sldId id="304" r:id="rId12"/>
    <p:sldId id="392" r:id="rId13"/>
    <p:sldId id="393" r:id="rId14"/>
    <p:sldId id="394" r:id="rId15"/>
    <p:sldId id="395" r:id="rId16"/>
    <p:sldId id="396" r:id="rId17"/>
    <p:sldId id="397" r:id="rId18"/>
    <p:sldId id="356" r:id="rId19"/>
    <p:sldId id="303" r:id="rId20"/>
    <p:sldId id="281" r:id="rId21"/>
    <p:sldId id="301" r:id="rId22"/>
    <p:sldId id="302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Microsoft Sans Serif" panose="020B0604020202020204" pitchFamily="34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A6CCFC-FD92-49FC-AF9B-8857316BB494}">
  <a:tblStyle styleId="{9FA6CCFC-FD92-49FC-AF9B-8857316BB4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04"/>
    <p:restoredTop sz="94681"/>
  </p:normalViewPr>
  <p:slideViewPr>
    <p:cSldViewPr snapToGrid="0">
      <p:cViewPr varScale="1">
        <p:scale>
          <a:sx n="280" d="100"/>
          <a:sy n="280" d="100"/>
        </p:scale>
        <p:origin x="135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05f183c16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05f183c16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05f183c16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05f183c16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490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374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729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1750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424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258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310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199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205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756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138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05f183c16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05f183c161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440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032c82b1f1_2_2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032c82b1f1_2_2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032c82b1f1_2_2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032c82b1f1_2_2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what-is-feature-engineering-importance-tools-and-techniques-for-machine-learning-2080b0269f10#:~:text=Feature%20engineering%20is%20a%20machine,while%20also%20enhancing%20model%20accuracy.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kaggle.com/learn/feature-engineering" TargetMode="External"/><Relationship Id="rId4" Type="http://schemas.openxmlformats.org/officeDocument/2006/relationships/hyperlink" Target="https://habr.com/ru/companies/ruvds/articles/680498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49" y="1769200"/>
            <a:ext cx="7936304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 err="1"/>
              <a:t>M</a:t>
            </a:r>
            <a:r>
              <a:rPr lang="en-US" dirty="0"/>
              <a:t>L Basic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/>
              <a:t>Feature engineering &amp; advanced preprocessing</a:t>
            </a:r>
            <a:r>
              <a:rPr lang="ru-RU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Feature engineering &amp; advanced preprocessing.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DA211B5-D839-2D46-A709-5E6E9DC808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425575" indent="-1417638"/>
            <a:r>
              <a:rPr lang="ru-RU" sz="1150" b="1" dirty="0"/>
              <a:t>Руководитель курсов: </a:t>
            </a:r>
            <a:r>
              <a:rPr lang="en-US" sz="1150" b="1" dirty="0"/>
              <a:t>	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 txBox="1"/>
          <p:nvPr/>
        </p:nvSpPr>
        <p:spPr>
          <a:xfrm>
            <a:off x="1654525" y="2194669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lang="en-US"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51" name="Google Shape;251;p56"/>
          <p:cNvSpPr/>
          <p:nvPr/>
        </p:nvSpPr>
        <p:spPr>
          <a:xfrm>
            <a:off x="786525" y="1205525"/>
            <a:ext cx="39744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категориальные и порядковые признаки</a:t>
            </a:r>
            <a:endParaRPr lang="ru-RU"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56"/>
          <p:cNvSpPr/>
          <p:nvPr/>
        </p:nvSpPr>
        <p:spPr>
          <a:xfrm>
            <a:off x="787125" y="1795025"/>
            <a:ext cx="39744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работа с категориальными признаками</a:t>
            </a:r>
            <a:endParaRPr lang="ru-RU"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56"/>
          <p:cNvSpPr/>
          <p:nvPr/>
        </p:nvSpPr>
        <p:spPr>
          <a:xfrm>
            <a:off x="787125" y="2372050"/>
            <a:ext cx="39744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 lang="ru-RU"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56"/>
          <p:cNvCxnSpPr>
            <a:cxnSpLocks/>
            <a:stCxn id="251" idx="1"/>
            <a:endCxn id="252" idx="1"/>
          </p:cNvCxnSpPr>
          <p:nvPr/>
        </p:nvCxnSpPr>
        <p:spPr>
          <a:xfrm rot="10800000" flipH="1" flipV="1">
            <a:off x="786525" y="1393625"/>
            <a:ext cx="600" cy="589500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56"/>
          <p:cNvCxnSpPr>
            <a:cxnSpLocks/>
            <a:stCxn id="252" idx="1"/>
            <a:endCxn id="253" idx="1"/>
          </p:cNvCxnSpPr>
          <p:nvPr/>
        </p:nvCxnSpPr>
        <p:spPr>
          <a:xfrm rot="10800000" flipV="1">
            <a:off x="787125" y="1983124"/>
            <a:ext cx="12700" cy="57702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67" name="Google Shape;267;p57"/>
          <p:cNvGraphicFramePr/>
          <p:nvPr>
            <p:extLst>
              <p:ext uri="{D42A27DB-BD31-4B8C-83A1-F6EECF244321}">
                <p14:modId xmlns:p14="http://schemas.microsoft.com/office/powerpoint/2010/main" val="3002741294"/>
              </p:ext>
            </p:extLst>
          </p:nvPr>
        </p:nvGraphicFramePr>
        <p:xfrm>
          <a:off x="952500" y="1696594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узнаете методах работы с категориальными признаками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научитесь применять их на практике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узнаете о </a:t>
                      </a:r>
                      <a:r>
                        <a:rPr lang="ru-RU" sz="13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пайплайнах</a:t>
                      </a: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который упрощают настройку и обучение моделей</a:t>
                      </a:r>
                      <a:endParaRPr lang="ru" sz="13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8" name="Google Shape;268;p5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6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7822433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К</a:t>
            </a:r>
            <a:r>
              <a:rPr lang="ru-RU" sz="4900" dirty="0" err="1"/>
              <a:t>атегориальные</a:t>
            </a:r>
            <a:r>
              <a:rPr lang="ru-RU" sz="4900" dirty="0"/>
              <a:t> и порядковые признаки.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162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 dirty="0"/>
              <a:t>Категориальные признаки</a:t>
            </a:r>
            <a:endParaRPr sz="3200" b="1" dirty="0"/>
          </a:p>
        </p:txBody>
      </p:sp>
      <p:pic>
        <p:nvPicPr>
          <p:cNvPr id="4" name="Google Shape;852;gb472e075ec_0_555" descr="Google Shape;852;gb472e075ec_0_555">
            <a:extLst>
              <a:ext uri="{FF2B5EF4-FFF2-40B4-BE49-F238E27FC236}">
                <a16:creationId xmlns:a16="http://schemas.microsoft.com/office/drawing/2014/main" id="{9E6D79CE-1B83-3D40-98C3-0C42D8E0D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95" y="1691678"/>
            <a:ext cx="3662046" cy="47145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Google Shape;838;gb472e075ec_0_540">
            <a:extLst>
              <a:ext uri="{FF2B5EF4-FFF2-40B4-BE49-F238E27FC236}">
                <a16:creationId xmlns:a16="http://schemas.microsoft.com/office/drawing/2014/main" id="{2A645DE0-B0A6-C849-98B5-24B0BCD8EAFF}"/>
              </a:ext>
            </a:extLst>
          </p:cNvPr>
          <p:cNvSpPr txBox="1">
            <a:spLocks/>
          </p:cNvSpPr>
          <p:nvPr/>
        </p:nvSpPr>
        <p:spPr>
          <a:xfrm>
            <a:off x="594495" y="2428190"/>
            <a:ext cx="6413818" cy="1791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lnSpcReduction="10000"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Значения признака нельзя упорядочить!</a:t>
            </a:r>
            <a:endParaRPr lang="en-US" sz="1800" dirty="0">
              <a:latin typeface="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en-US" sz="1800" u="sng" dirty="0">
              <a:latin typeface="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Примеры:</a:t>
            </a:r>
            <a:br>
              <a:rPr lang="ru-RU" sz="1800" u="sng" dirty="0">
                <a:latin typeface=""/>
                <a:ea typeface="Avenir"/>
                <a:cs typeface="Arial" panose="020B0604020202020204" pitchFamily="34" charset="0"/>
                <a:sym typeface="Avenir Roman"/>
              </a:rPr>
            </a:br>
            <a:endParaRPr lang="ru-RU" sz="1800" u="sng" dirty="0">
              <a:latin typeface=""/>
              <a:ea typeface="Avenir"/>
              <a:cs typeface="Arial" panose="020B0604020202020204" pitchFamily="34" charset="0"/>
              <a:sym typeface="Avenir Roman"/>
            </a:endParaRPr>
          </a:p>
          <a:p>
            <a:pPr marL="76200" hangingPunct="1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- Район, в котором построен дом</a:t>
            </a:r>
          </a:p>
          <a:p>
            <a:pPr marL="76200" hangingPunct="1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- Гражданство клиента</a:t>
            </a:r>
            <a:b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</a:b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- Специалист, у которого изначально лечился пациент</a:t>
            </a:r>
          </a:p>
        </p:txBody>
      </p:sp>
    </p:spTree>
    <p:extLst>
      <p:ext uri="{BB962C8B-B14F-4D97-AF65-F5344CB8AC3E}">
        <p14:creationId xmlns:p14="http://schemas.microsoft.com/office/powerpoint/2010/main" val="3492871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Порядковые</a:t>
            </a:r>
            <a:r>
              <a:rPr lang="ru" sz="3200" b="1" dirty="0"/>
              <a:t> признаки</a:t>
            </a:r>
            <a:endParaRPr sz="3200" b="1" dirty="0"/>
          </a:p>
        </p:txBody>
      </p:sp>
      <p:pic>
        <p:nvPicPr>
          <p:cNvPr id="4" name="Google Shape;852;gb472e075ec_0_555" descr="Google Shape;852;gb472e075ec_0_555">
            <a:extLst>
              <a:ext uri="{FF2B5EF4-FFF2-40B4-BE49-F238E27FC236}">
                <a16:creationId xmlns:a16="http://schemas.microsoft.com/office/drawing/2014/main" id="{9E6D79CE-1B83-3D40-98C3-0C42D8E0D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95" y="1691678"/>
            <a:ext cx="3662046" cy="47145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Google Shape;838;gb472e075ec_0_540">
            <a:extLst>
              <a:ext uri="{FF2B5EF4-FFF2-40B4-BE49-F238E27FC236}">
                <a16:creationId xmlns:a16="http://schemas.microsoft.com/office/drawing/2014/main" id="{2A645DE0-B0A6-C849-98B5-24B0BCD8EAFF}"/>
              </a:ext>
            </a:extLst>
          </p:cNvPr>
          <p:cNvSpPr txBox="1">
            <a:spLocks/>
          </p:cNvSpPr>
          <p:nvPr/>
        </p:nvSpPr>
        <p:spPr>
          <a:xfrm>
            <a:off x="594494" y="2428190"/>
            <a:ext cx="6595445" cy="1791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Можно ввести порядок для значения признака!</a:t>
            </a:r>
            <a:endParaRPr lang="en-US" sz="1800" dirty="0">
              <a:latin typeface="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en-US" sz="1800" u="sng" dirty="0">
              <a:latin typeface="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Примеры:</a:t>
            </a:r>
            <a:br>
              <a:rPr lang="ru-RU" sz="1800" u="sng" dirty="0">
                <a:latin typeface=""/>
                <a:ea typeface="Avenir"/>
                <a:cs typeface="Arial" panose="020B0604020202020204" pitchFamily="34" charset="0"/>
                <a:sym typeface="Avenir Roman"/>
              </a:rPr>
            </a:br>
            <a:endParaRPr lang="ru-RU" sz="1800" u="sng" dirty="0">
              <a:latin typeface=""/>
              <a:ea typeface="Avenir"/>
              <a:cs typeface="Arial" panose="020B0604020202020204" pitchFamily="34" charset="0"/>
              <a:sym typeface="Avenir Roman"/>
            </a:endParaRPr>
          </a:p>
          <a:p>
            <a:pPr marL="76200" hangingPunct="1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- Тип города (маленький город, большой город, </a:t>
            </a:r>
            <a:r>
              <a:rPr lang="ru-RU" sz="1800" dirty="0" err="1">
                <a:latin typeface=""/>
                <a:ea typeface="Avenir"/>
                <a:cs typeface="Arial" panose="020B0604020202020204" pitchFamily="34" charset="0"/>
                <a:sym typeface="Avenir Roman"/>
              </a:rPr>
              <a:t>магаполис</a:t>
            </a: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)</a:t>
            </a:r>
          </a:p>
          <a:p>
            <a:pPr marL="76200" hangingPunct="1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- Количество детей у клиента</a:t>
            </a:r>
            <a:b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</a:br>
            <a:r>
              <a:rPr lang="ru-RU" sz="1800" dirty="0">
                <a:latin typeface=""/>
                <a:ea typeface="Avenir"/>
                <a:cs typeface="Arial" panose="020B0604020202020204" pitchFamily="34" charset="0"/>
                <a:sym typeface="Avenir Roman"/>
              </a:rPr>
              <a:t>- Фактор риска пациента</a:t>
            </a:r>
          </a:p>
        </p:txBody>
      </p:sp>
    </p:spTree>
    <p:extLst>
      <p:ext uri="{BB962C8B-B14F-4D97-AF65-F5344CB8AC3E}">
        <p14:creationId xmlns:p14="http://schemas.microsoft.com/office/powerpoint/2010/main" val="3662558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6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8348527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Р</a:t>
            </a:r>
            <a:r>
              <a:rPr lang="ru-RU" sz="4900" dirty="0" err="1"/>
              <a:t>абота</a:t>
            </a:r>
            <a:r>
              <a:rPr lang="ru-RU" sz="4900" dirty="0"/>
              <a:t> с категориальными признаками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0610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Работа с категориальными признаками</a:t>
            </a:r>
            <a:endParaRPr sz="3200" b="1" dirty="0"/>
          </a:p>
        </p:txBody>
      </p:sp>
      <p:sp>
        <p:nvSpPr>
          <p:cNvPr id="5" name="Google Shape;838;gb472e075ec_0_540">
            <a:extLst>
              <a:ext uri="{FF2B5EF4-FFF2-40B4-BE49-F238E27FC236}">
                <a16:creationId xmlns:a16="http://schemas.microsoft.com/office/drawing/2014/main" id="{2A645DE0-B0A6-C849-98B5-24B0BCD8EAFF}"/>
              </a:ext>
            </a:extLst>
          </p:cNvPr>
          <p:cNvSpPr txBox="1">
            <a:spLocks/>
          </p:cNvSpPr>
          <p:nvPr/>
        </p:nvSpPr>
        <p:spPr>
          <a:xfrm>
            <a:off x="500550" y="1495002"/>
            <a:ext cx="3081895" cy="153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7980" indent="-335280">
              <a:lnSpc>
                <a:spcPct val="100000"/>
              </a:lnSpc>
              <a:spcBef>
                <a:spcPts val="95"/>
              </a:spcBef>
              <a:buSzPct val="130769"/>
              <a:buFont typeface="Microsoft Sans Serif"/>
              <a:buChar char="•"/>
              <a:tabLst>
                <a:tab pos="347345" algn="l"/>
                <a:tab pos="347980" algn="l"/>
              </a:tabLst>
            </a:pPr>
            <a:r>
              <a:rPr lang="en" sz="1800" dirty="0">
                <a:latin typeface=""/>
                <a:cs typeface="Arial" panose="020B0604020202020204" pitchFamily="34" charset="0"/>
              </a:rPr>
              <a:t>Ordinary</a:t>
            </a:r>
            <a:r>
              <a:rPr lang="en" sz="1800" spc="-20" dirty="0">
                <a:latin typeface=""/>
                <a:cs typeface="Arial" panose="020B0604020202020204" pitchFamily="34" charset="0"/>
              </a:rPr>
              <a:t> </a:t>
            </a:r>
            <a:r>
              <a:rPr lang="en" sz="1800" spc="-5" dirty="0">
                <a:latin typeface=""/>
                <a:cs typeface="Arial" panose="020B0604020202020204" pitchFamily="34" charset="0"/>
              </a:rPr>
              <a:t>Encoding</a:t>
            </a:r>
            <a:r>
              <a:rPr lang="en" sz="1800" spc="15" dirty="0">
                <a:latin typeface=""/>
                <a:cs typeface="Arial" panose="020B0604020202020204" pitchFamily="34" charset="0"/>
              </a:rPr>
              <a:t> </a:t>
            </a:r>
          </a:p>
          <a:p>
            <a:pPr marL="347980" indent="-335280">
              <a:lnSpc>
                <a:spcPct val="100000"/>
              </a:lnSpc>
              <a:spcBef>
                <a:spcPts val="95"/>
              </a:spcBef>
              <a:buSzPct val="130769"/>
              <a:buFont typeface="Microsoft Sans Serif"/>
              <a:buChar char="•"/>
              <a:tabLst>
                <a:tab pos="347345" algn="l"/>
                <a:tab pos="347980" algn="l"/>
              </a:tabLst>
            </a:pPr>
            <a:r>
              <a:rPr lang="en" sz="1800" spc="-5" dirty="0">
                <a:latin typeface=""/>
                <a:cs typeface="Arial" panose="020B0604020202020204" pitchFamily="34" charset="0"/>
              </a:rPr>
              <a:t>Count Encoding</a:t>
            </a:r>
          </a:p>
          <a:p>
            <a:pPr marL="347980" indent="-335280">
              <a:lnSpc>
                <a:spcPct val="100000"/>
              </a:lnSpc>
              <a:spcBef>
                <a:spcPts val="95"/>
              </a:spcBef>
              <a:buSzPct val="130769"/>
              <a:buFont typeface="Microsoft Sans Serif"/>
              <a:buChar char="•"/>
              <a:tabLst>
                <a:tab pos="347345" algn="l"/>
                <a:tab pos="347980" algn="l"/>
              </a:tabLst>
            </a:pPr>
            <a:r>
              <a:rPr lang="en" sz="1800" spc="-5" dirty="0">
                <a:latin typeface=""/>
                <a:cs typeface="Arial" panose="020B0604020202020204" pitchFamily="34" charset="0"/>
              </a:rPr>
              <a:t>Frequency Encoding</a:t>
            </a:r>
            <a:endParaRPr lang="en" sz="1800" dirty="0">
              <a:latin typeface=""/>
              <a:cs typeface="Arial" panose="020B0604020202020204" pitchFamily="34" charset="0"/>
            </a:endParaRPr>
          </a:p>
          <a:p>
            <a:pPr marL="347980" indent="-335280">
              <a:lnSpc>
                <a:spcPct val="100000"/>
              </a:lnSpc>
              <a:spcBef>
                <a:spcPts val="240"/>
              </a:spcBef>
              <a:buSzPct val="130769"/>
              <a:buFont typeface="Microsoft Sans Serif"/>
              <a:buChar char="•"/>
              <a:tabLst>
                <a:tab pos="347345" algn="l"/>
                <a:tab pos="347980" algn="l"/>
              </a:tabLst>
            </a:pPr>
            <a:r>
              <a:rPr lang="en" sz="1800" spc="-5" dirty="0">
                <a:latin typeface=""/>
                <a:cs typeface="Arial" panose="020B0604020202020204" pitchFamily="34" charset="0"/>
              </a:rPr>
              <a:t>One </a:t>
            </a:r>
            <a:r>
              <a:rPr lang="en" sz="1800" spc="-10" dirty="0">
                <a:latin typeface=""/>
                <a:cs typeface="Arial" panose="020B0604020202020204" pitchFamily="34" charset="0"/>
              </a:rPr>
              <a:t>Hot</a:t>
            </a:r>
            <a:r>
              <a:rPr lang="en" sz="1800" spc="15" dirty="0">
                <a:latin typeface=""/>
                <a:cs typeface="Arial" panose="020B0604020202020204" pitchFamily="34" charset="0"/>
              </a:rPr>
              <a:t> </a:t>
            </a:r>
            <a:r>
              <a:rPr lang="en" sz="1800" spc="-5" dirty="0">
                <a:latin typeface=""/>
                <a:cs typeface="Arial" panose="020B0604020202020204" pitchFamily="34" charset="0"/>
              </a:rPr>
              <a:t>Encoding</a:t>
            </a:r>
            <a:endParaRPr lang="en" sz="1800" spc="10" dirty="0">
              <a:latin typeface=""/>
              <a:cs typeface="Arial" panose="020B0604020202020204" pitchFamily="34" charset="0"/>
            </a:endParaRPr>
          </a:p>
          <a:p>
            <a:pPr marL="347980" indent="-335280">
              <a:lnSpc>
                <a:spcPct val="100000"/>
              </a:lnSpc>
              <a:spcBef>
                <a:spcPts val="240"/>
              </a:spcBef>
              <a:buSzPct val="130769"/>
              <a:buFont typeface="Microsoft Sans Serif"/>
              <a:buChar char="•"/>
              <a:tabLst>
                <a:tab pos="347345" algn="l"/>
                <a:tab pos="347980" algn="l"/>
              </a:tabLst>
            </a:pPr>
            <a:r>
              <a:rPr lang="en" sz="1800" spc="-5" dirty="0">
                <a:latin typeface=""/>
                <a:cs typeface="Arial" panose="020B0604020202020204" pitchFamily="34" charset="0"/>
              </a:rPr>
              <a:t>Binary</a:t>
            </a:r>
            <a:r>
              <a:rPr lang="en" sz="1800" dirty="0">
                <a:latin typeface=""/>
                <a:cs typeface="Arial" panose="020B0604020202020204" pitchFamily="34" charset="0"/>
              </a:rPr>
              <a:t> </a:t>
            </a:r>
            <a:r>
              <a:rPr lang="en" sz="1800" spc="-5" dirty="0">
                <a:latin typeface=""/>
                <a:cs typeface="Arial" panose="020B0604020202020204" pitchFamily="34" charset="0"/>
              </a:rPr>
              <a:t>Encoding</a:t>
            </a:r>
            <a:endParaRPr lang="en" sz="1800" dirty="0"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25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Ordinary Encoding</a:t>
            </a:r>
            <a:endParaRPr sz="3200" b="1" dirty="0"/>
          </a:p>
        </p:txBody>
      </p:sp>
      <p:sp>
        <p:nvSpPr>
          <p:cNvPr id="4" name="object 63">
            <a:extLst>
              <a:ext uri="{FF2B5EF4-FFF2-40B4-BE49-F238E27FC236}">
                <a16:creationId xmlns:a16="http://schemas.microsoft.com/office/drawing/2014/main" id="{1F5409CF-7B5F-454D-914E-D7AF6DB1A534}"/>
              </a:ext>
            </a:extLst>
          </p:cNvPr>
          <p:cNvSpPr txBox="1"/>
          <p:nvPr/>
        </p:nvSpPr>
        <p:spPr>
          <a:xfrm>
            <a:off x="4258338" y="982931"/>
            <a:ext cx="33826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latin typeface=""/>
                <a:cs typeface="Microsoft Sans Serif"/>
              </a:rPr>
              <a:t>Ключевые</a:t>
            </a:r>
            <a:r>
              <a:rPr sz="2000" spc="-20" dirty="0">
                <a:latin typeface=""/>
                <a:cs typeface="Microsoft Sans Serif"/>
              </a:rPr>
              <a:t> </a:t>
            </a:r>
            <a:r>
              <a:rPr sz="2000" spc="-15" dirty="0">
                <a:latin typeface=""/>
                <a:cs typeface="Microsoft Sans Serif"/>
              </a:rPr>
              <a:t>Моменты</a:t>
            </a:r>
            <a:endParaRPr sz="2000" dirty="0">
              <a:latin typeface=""/>
              <a:cs typeface="Microsoft Sans Serif"/>
            </a:endParaRPr>
          </a:p>
        </p:txBody>
      </p:sp>
      <p:sp>
        <p:nvSpPr>
          <p:cNvPr id="6" name="object 64">
            <a:extLst>
              <a:ext uri="{FF2B5EF4-FFF2-40B4-BE49-F238E27FC236}">
                <a16:creationId xmlns:a16="http://schemas.microsoft.com/office/drawing/2014/main" id="{037A2E67-FA42-8B45-8DBC-3AAB8D8D5F5B}"/>
              </a:ext>
            </a:extLst>
          </p:cNvPr>
          <p:cNvSpPr txBox="1"/>
          <p:nvPr/>
        </p:nvSpPr>
        <p:spPr>
          <a:xfrm>
            <a:off x="4258337" y="1318165"/>
            <a:ext cx="4810929" cy="9675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5"/>
              </a:spcBef>
              <a:tabLst>
                <a:tab pos="299085" algn="l"/>
                <a:tab pos="299720" algn="l"/>
              </a:tabLst>
            </a:pPr>
            <a:r>
              <a:rPr lang="ru-RU" spc="-5" dirty="0">
                <a:latin typeface=""/>
                <a:cs typeface="Microsoft Sans Serif"/>
              </a:rPr>
              <a:t>Однозначное кодирование: </a:t>
            </a:r>
            <a:r>
              <a:rPr spc="-5" dirty="0" err="1">
                <a:latin typeface=""/>
                <a:cs typeface="Microsoft Sans Serif"/>
              </a:rPr>
              <a:t>цифра</a:t>
            </a:r>
            <a:r>
              <a:rPr dirty="0">
                <a:latin typeface=""/>
                <a:cs typeface="Microsoft Sans Serif"/>
              </a:rPr>
              <a:t> </a:t>
            </a:r>
            <a:r>
              <a:rPr dirty="0">
                <a:latin typeface=""/>
                <a:cs typeface="Cambria Math"/>
              </a:rPr>
              <a:t>↔</a:t>
            </a:r>
            <a:r>
              <a:rPr spc="-10" dirty="0">
                <a:latin typeface=""/>
                <a:cs typeface="Cambria Math"/>
              </a:rPr>
              <a:t> </a:t>
            </a:r>
            <a:r>
              <a:rPr spc="-15" dirty="0">
                <a:latin typeface=""/>
                <a:cs typeface="Microsoft Sans Serif"/>
              </a:rPr>
              <a:t>значение </a:t>
            </a:r>
            <a:r>
              <a:rPr spc="-20" dirty="0">
                <a:latin typeface=""/>
                <a:cs typeface="Microsoft Sans Serif"/>
              </a:rPr>
              <a:t>признака</a:t>
            </a:r>
            <a:endParaRPr dirty="0">
              <a:latin typeface="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Microsoft Sans Serif"/>
              <a:buChar char="•"/>
            </a:pPr>
            <a:endParaRPr sz="1600" dirty="0">
              <a:latin typeface="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"/>
                <a:cs typeface="Microsoft Sans Serif"/>
              </a:rPr>
              <a:t>Минусы:</a:t>
            </a:r>
            <a:endParaRPr sz="1600" dirty="0">
              <a:solidFill>
                <a:srgbClr val="C00000"/>
              </a:solidFill>
              <a:latin typeface=""/>
              <a:cs typeface="Microsoft Sans Serif"/>
            </a:endParaRPr>
          </a:p>
        </p:txBody>
      </p:sp>
      <p:sp>
        <p:nvSpPr>
          <p:cNvPr id="7" name="object 65">
            <a:extLst>
              <a:ext uri="{FF2B5EF4-FFF2-40B4-BE49-F238E27FC236}">
                <a16:creationId xmlns:a16="http://schemas.microsoft.com/office/drawing/2014/main" id="{BF87528D-8B4A-2F4F-83B8-3D9A30111503}"/>
              </a:ext>
            </a:extLst>
          </p:cNvPr>
          <p:cNvSpPr txBox="1"/>
          <p:nvPr/>
        </p:nvSpPr>
        <p:spPr>
          <a:xfrm>
            <a:off x="3978703" y="2285738"/>
            <a:ext cx="48109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pc="-5" dirty="0">
                <a:latin typeface=""/>
                <a:cs typeface="Microsoft Sans Serif"/>
              </a:rPr>
              <a:t>Может быть неверно интерпретирован моделью</a:t>
            </a:r>
            <a:endParaRPr dirty="0">
              <a:latin typeface=""/>
              <a:cs typeface="Microsoft Sans Serif"/>
            </a:endParaRPr>
          </a:p>
        </p:txBody>
      </p:sp>
      <p:graphicFrame>
        <p:nvGraphicFramePr>
          <p:cNvPr id="8" name="object 69">
            <a:extLst>
              <a:ext uri="{FF2B5EF4-FFF2-40B4-BE49-F238E27FC236}">
                <a16:creationId xmlns:a16="http://schemas.microsoft.com/office/drawing/2014/main" id="{063AB444-C35E-894F-B4FD-84A761FAB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47671"/>
              </p:ext>
            </p:extLst>
          </p:nvPr>
        </p:nvGraphicFramePr>
        <p:xfrm>
          <a:off x="313636" y="1032353"/>
          <a:ext cx="4387799" cy="3698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90"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Значение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Ordinary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Encoding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Январь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spc="-15" dirty="0">
                          <a:latin typeface="Microsoft Sans Serif"/>
                          <a:cs typeface="Microsoft Sans Serif"/>
                        </a:rPr>
                        <a:t>Февраль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Март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2</a:t>
                      </a: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Апрель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3</a:t>
                      </a: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Май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Июнь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Июль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Август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Сентябрь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Октябрь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Ноябрь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Microsoft Sans Serif"/>
                          <a:cs typeface="Microsoft Sans Serif"/>
                        </a:rPr>
                        <a:t>Декабрь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object 67">
            <a:extLst>
              <a:ext uri="{FF2B5EF4-FFF2-40B4-BE49-F238E27FC236}">
                <a16:creationId xmlns:a16="http://schemas.microsoft.com/office/drawing/2014/main" id="{05149F3C-9000-2F49-ABDC-740E92B089D4}"/>
              </a:ext>
            </a:extLst>
          </p:cNvPr>
          <p:cNvSpPr txBox="1"/>
          <p:nvPr/>
        </p:nvSpPr>
        <p:spPr>
          <a:xfrm>
            <a:off x="4279835" y="2635811"/>
            <a:ext cx="138095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solidFill>
                  <a:srgbClr val="00B050"/>
                </a:solidFill>
                <a:latin typeface=""/>
                <a:cs typeface="Microsoft Sans Serif"/>
              </a:rPr>
              <a:t>П</a:t>
            </a:r>
            <a:r>
              <a:rPr sz="1600" spc="10" dirty="0">
                <a:solidFill>
                  <a:srgbClr val="00B050"/>
                </a:solidFill>
                <a:latin typeface=""/>
                <a:cs typeface="Microsoft Sans Serif"/>
              </a:rPr>
              <a:t>лю</a:t>
            </a:r>
            <a:r>
              <a:rPr sz="1600" dirty="0">
                <a:solidFill>
                  <a:srgbClr val="00B050"/>
                </a:solidFill>
                <a:latin typeface=""/>
                <a:cs typeface="Microsoft Sans Serif"/>
              </a:rPr>
              <a:t>сы:</a:t>
            </a:r>
          </a:p>
        </p:txBody>
      </p:sp>
      <p:sp>
        <p:nvSpPr>
          <p:cNvPr id="10" name="object 68">
            <a:extLst>
              <a:ext uri="{FF2B5EF4-FFF2-40B4-BE49-F238E27FC236}">
                <a16:creationId xmlns:a16="http://schemas.microsoft.com/office/drawing/2014/main" id="{4DDE7A25-DC34-194E-91D2-982607D221A7}"/>
              </a:ext>
            </a:extLst>
          </p:cNvPr>
          <p:cNvSpPr txBox="1"/>
          <p:nvPr/>
        </p:nvSpPr>
        <p:spPr>
          <a:xfrm>
            <a:off x="4279835" y="2891093"/>
            <a:ext cx="45505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dirty="0" err="1">
                <a:latin typeface=""/>
                <a:cs typeface="Microsoft Sans Serif"/>
              </a:rPr>
              <a:t>Простая</a:t>
            </a:r>
            <a:r>
              <a:rPr spc="-25" dirty="0">
                <a:latin typeface=""/>
                <a:cs typeface="Microsoft Sans Serif"/>
              </a:rPr>
              <a:t> </a:t>
            </a:r>
            <a:r>
              <a:rPr dirty="0">
                <a:latin typeface=""/>
                <a:cs typeface="Microsoft Sans Serif"/>
              </a:rPr>
              <a:t>и</a:t>
            </a:r>
            <a:r>
              <a:rPr spc="15" dirty="0">
                <a:latin typeface=""/>
                <a:cs typeface="Microsoft Sans Serif"/>
              </a:rPr>
              <a:t> </a:t>
            </a:r>
            <a:r>
              <a:rPr spc="-5" dirty="0">
                <a:latin typeface=""/>
                <a:cs typeface="Microsoft Sans Serif"/>
              </a:rPr>
              <a:t>вычислительно</a:t>
            </a:r>
            <a:r>
              <a:rPr spc="-15" dirty="0">
                <a:latin typeface=""/>
                <a:cs typeface="Microsoft Sans Serif"/>
              </a:rPr>
              <a:t> </a:t>
            </a:r>
            <a:r>
              <a:rPr spc="-10" dirty="0">
                <a:latin typeface=""/>
                <a:cs typeface="Microsoft Sans Serif"/>
              </a:rPr>
              <a:t>эффективная реализация</a:t>
            </a:r>
            <a:endParaRPr dirty="0">
              <a:latin typeface="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266317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Count Encoding</a:t>
            </a:r>
            <a:endParaRPr sz="3200" b="1" dirty="0"/>
          </a:p>
        </p:txBody>
      </p:sp>
      <p:sp>
        <p:nvSpPr>
          <p:cNvPr id="4" name="object 63">
            <a:extLst>
              <a:ext uri="{FF2B5EF4-FFF2-40B4-BE49-F238E27FC236}">
                <a16:creationId xmlns:a16="http://schemas.microsoft.com/office/drawing/2014/main" id="{1F5409CF-7B5F-454D-914E-D7AF6DB1A534}"/>
              </a:ext>
            </a:extLst>
          </p:cNvPr>
          <p:cNvSpPr txBox="1"/>
          <p:nvPr/>
        </p:nvSpPr>
        <p:spPr>
          <a:xfrm>
            <a:off x="4684223" y="882723"/>
            <a:ext cx="33826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latin typeface=""/>
                <a:cs typeface="Microsoft Sans Serif"/>
              </a:rPr>
              <a:t>Ключевые</a:t>
            </a:r>
            <a:r>
              <a:rPr sz="2000" spc="-20" dirty="0">
                <a:latin typeface=""/>
                <a:cs typeface="Microsoft Sans Serif"/>
              </a:rPr>
              <a:t> </a:t>
            </a:r>
            <a:r>
              <a:rPr sz="2000" spc="-15" dirty="0">
                <a:latin typeface=""/>
                <a:cs typeface="Microsoft Sans Serif"/>
              </a:rPr>
              <a:t>Моменты</a:t>
            </a:r>
            <a:endParaRPr sz="2000" dirty="0">
              <a:latin typeface=""/>
              <a:cs typeface="Microsoft Sans Serif"/>
            </a:endParaRPr>
          </a:p>
        </p:txBody>
      </p:sp>
      <p:sp>
        <p:nvSpPr>
          <p:cNvPr id="6" name="object 64">
            <a:extLst>
              <a:ext uri="{FF2B5EF4-FFF2-40B4-BE49-F238E27FC236}">
                <a16:creationId xmlns:a16="http://schemas.microsoft.com/office/drawing/2014/main" id="{037A2E67-FA42-8B45-8DBC-3AAB8D8D5F5B}"/>
              </a:ext>
            </a:extLst>
          </p:cNvPr>
          <p:cNvSpPr txBox="1"/>
          <p:nvPr/>
        </p:nvSpPr>
        <p:spPr>
          <a:xfrm>
            <a:off x="4684222" y="1217957"/>
            <a:ext cx="4336927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82295">
              <a:lnSpc>
                <a:spcPct val="100000"/>
              </a:lnSpc>
              <a:tabLst>
                <a:tab pos="299085" algn="l"/>
                <a:tab pos="299720" algn="l"/>
              </a:tabLst>
            </a:pPr>
            <a:r>
              <a:rPr lang="ru-RU" sz="1400" spc="-10" dirty="0">
                <a:latin typeface="Microsoft Sans Serif"/>
                <a:cs typeface="Microsoft Sans Serif"/>
              </a:rPr>
              <a:t>К</a:t>
            </a:r>
            <a:r>
              <a:rPr lang="ru-RU" sz="1400" spc="-15" dirty="0">
                <a:latin typeface="Microsoft Sans Serif"/>
                <a:cs typeface="Microsoft Sans Serif"/>
              </a:rPr>
              <a:t>одировани</a:t>
            </a:r>
            <a:r>
              <a:rPr lang="ru-RU" spc="-15" dirty="0">
                <a:latin typeface="Microsoft Sans Serif"/>
                <a:cs typeface="Microsoft Sans Serif"/>
              </a:rPr>
              <a:t>е</a:t>
            </a:r>
            <a:r>
              <a:rPr lang="ru-RU" sz="1400" spc="-15" dirty="0">
                <a:latin typeface="Microsoft Sans Serif"/>
                <a:cs typeface="Microsoft Sans Serif"/>
              </a:rPr>
              <a:t> </a:t>
            </a:r>
            <a:r>
              <a:rPr lang="ru-RU" sz="1400" spc="-360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значения</a:t>
            </a:r>
            <a:r>
              <a:rPr lang="ru-RU" sz="1400" spc="-20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признака</a:t>
            </a:r>
            <a:r>
              <a:rPr lang="ru-RU" sz="1400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его</a:t>
            </a:r>
            <a:r>
              <a:rPr lang="ru-RU" sz="1400" spc="5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количеством</a:t>
            </a:r>
            <a:r>
              <a:rPr lang="ru-RU" sz="1400" spc="-2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появлений</a:t>
            </a:r>
            <a:r>
              <a:rPr lang="ru-RU" sz="1400" spc="30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</a:t>
            </a:r>
            <a:r>
              <a:rPr lang="ru-RU" sz="1400" spc="2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данных</a:t>
            </a:r>
            <a:endParaRPr lang="ru-RU" sz="1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"/>
                <a:cs typeface="Microsoft Sans Serif"/>
              </a:rPr>
              <a:t>Минусы:</a:t>
            </a:r>
            <a:endParaRPr sz="1600" dirty="0">
              <a:solidFill>
                <a:srgbClr val="C00000"/>
              </a:solidFill>
              <a:latin typeface=""/>
              <a:cs typeface="Microsoft Sans Serif"/>
            </a:endParaRPr>
          </a:p>
        </p:txBody>
      </p:sp>
      <p:sp>
        <p:nvSpPr>
          <p:cNvPr id="7" name="object 65">
            <a:extLst>
              <a:ext uri="{FF2B5EF4-FFF2-40B4-BE49-F238E27FC236}">
                <a16:creationId xmlns:a16="http://schemas.microsoft.com/office/drawing/2014/main" id="{BF87528D-8B4A-2F4F-83B8-3D9A30111503}"/>
              </a:ext>
            </a:extLst>
          </p:cNvPr>
          <p:cNvSpPr txBox="1"/>
          <p:nvPr/>
        </p:nvSpPr>
        <p:spPr>
          <a:xfrm>
            <a:off x="4684221" y="2129147"/>
            <a:ext cx="4190469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ru-RU" sz="1400" spc="-10" dirty="0">
                <a:latin typeface="Microsoft Sans Serif"/>
                <a:cs typeface="Microsoft Sans Serif"/>
              </a:rPr>
              <a:t>Н</a:t>
            </a:r>
            <a:r>
              <a:rPr lang="ru-RU" sz="1400" spc="-5" dirty="0">
                <a:latin typeface="Microsoft Sans Serif"/>
                <a:cs typeface="Microsoft Sans Serif"/>
              </a:rPr>
              <a:t>е гарантирует</a:t>
            </a:r>
            <a:r>
              <a:rPr lang="ru-RU" sz="1400" spc="-45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однозначности</a:t>
            </a:r>
            <a:r>
              <a:rPr lang="ru-RU" sz="140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сопоставления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ru-RU" sz="1400" spc="-5" dirty="0">
                <a:latin typeface="Microsoft Sans Serif"/>
                <a:cs typeface="Microsoft Sans Serif"/>
              </a:rPr>
              <a:t>Может быть неверно интерпретировано моделью</a:t>
            </a:r>
            <a:endParaRPr lang="ru-RU" sz="1400" dirty="0">
              <a:latin typeface="Microsoft Sans Serif"/>
              <a:cs typeface="Microsoft Sans Serif"/>
            </a:endParaRPr>
          </a:p>
        </p:txBody>
      </p:sp>
      <p:sp>
        <p:nvSpPr>
          <p:cNvPr id="9" name="object 67">
            <a:extLst>
              <a:ext uri="{FF2B5EF4-FFF2-40B4-BE49-F238E27FC236}">
                <a16:creationId xmlns:a16="http://schemas.microsoft.com/office/drawing/2014/main" id="{05149F3C-9000-2F49-ABDC-740E92B089D4}"/>
              </a:ext>
            </a:extLst>
          </p:cNvPr>
          <p:cNvSpPr txBox="1"/>
          <p:nvPr/>
        </p:nvSpPr>
        <p:spPr>
          <a:xfrm>
            <a:off x="4705720" y="2715706"/>
            <a:ext cx="1380951" cy="23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solidFill>
                  <a:srgbClr val="00B050"/>
                </a:solidFill>
                <a:latin typeface=""/>
                <a:cs typeface="Microsoft Sans Serif"/>
              </a:rPr>
              <a:t>П</a:t>
            </a:r>
            <a:r>
              <a:rPr sz="1600" spc="10" dirty="0">
                <a:solidFill>
                  <a:srgbClr val="00B050"/>
                </a:solidFill>
                <a:latin typeface=""/>
                <a:cs typeface="Microsoft Sans Serif"/>
              </a:rPr>
              <a:t>лю</a:t>
            </a:r>
            <a:r>
              <a:rPr sz="1600" dirty="0">
                <a:solidFill>
                  <a:srgbClr val="00B050"/>
                </a:solidFill>
                <a:latin typeface=""/>
                <a:cs typeface="Microsoft Sans Serif"/>
              </a:rPr>
              <a:t>сы:</a:t>
            </a:r>
          </a:p>
        </p:txBody>
      </p:sp>
      <p:sp>
        <p:nvSpPr>
          <p:cNvPr id="10" name="object 68">
            <a:extLst>
              <a:ext uri="{FF2B5EF4-FFF2-40B4-BE49-F238E27FC236}">
                <a16:creationId xmlns:a16="http://schemas.microsoft.com/office/drawing/2014/main" id="{4DDE7A25-DC34-194E-91D2-982607D221A7}"/>
              </a:ext>
            </a:extLst>
          </p:cNvPr>
          <p:cNvSpPr txBox="1"/>
          <p:nvPr/>
        </p:nvSpPr>
        <p:spPr>
          <a:xfrm>
            <a:off x="4705720" y="2969589"/>
            <a:ext cx="4550529" cy="207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dirty="0" err="1">
                <a:latin typeface=""/>
                <a:cs typeface="Microsoft Sans Serif"/>
              </a:rPr>
              <a:t>Простая</a:t>
            </a:r>
            <a:r>
              <a:rPr spc="-25" dirty="0">
                <a:latin typeface=""/>
                <a:cs typeface="Microsoft Sans Serif"/>
              </a:rPr>
              <a:t> </a:t>
            </a:r>
            <a:r>
              <a:rPr dirty="0">
                <a:latin typeface=""/>
                <a:cs typeface="Microsoft Sans Serif"/>
              </a:rPr>
              <a:t>и</a:t>
            </a:r>
            <a:r>
              <a:rPr spc="15" dirty="0">
                <a:latin typeface=""/>
                <a:cs typeface="Microsoft Sans Serif"/>
              </a:rPr>
              <a:t> </a:t>
            </a:r>
            <a:r>
              <a:rPr spc="-5" dirty="0">
                <a:latin typeface=""/>
                <a:cs typeface="Microsoft Sans Serif"/>
              </a:rPr>
              <a:t>вычислительно</a:t>
            </a:r>
            <a:r>
              <a:rPr spc="-15" dirty="0">
                <a:latin typeface=""/>
                <a:cs typeface="Microsoft Sans Serif"/>
              </a:rPr>
              <a:t> </a:t>
            </a:r>
            <a:r>
              <a:rPr spc="-10" dirty="0">
                <a:latin typeface=""/>
                <a:cs typeface="Microsoft Sans Serif"/>
              </a:rPr>
              <a:t>эффективная реализация</a:t>
            </a:r>
            <a:endParaRPr dirty="0">
              <a:latin typeface=""/>
              <a:cs typeface="Microsoft Sans Serif"/>
            </a:endParaRPr>
          </a:p>
        </p:txBody>
      </p:sp>
      <p:graphicFrame>
        <p:nvGraphicFramePr>
          <p:cNvPr id="69" name="object 69">
            <a:extLst>
              <a:ext uri="{FF2B5EF4-FFF2-40B4-BE49-F238E27FC236}">
                <a16:creationId xmlns:a16="http://schemas.microsoft.com/office/drawing/2014/main" id="{43AB116D-2E2E-0B42-B358-821F1A412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919141"/>
              </p:ext>
            </p:extLst>
          </p:nvPr>
        </p:nvGraphicFramePr>
        <p:xfrm>
          <a:off x="122850" y="953743"/>
          <a:ext cx="4937759" cy="297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Значение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Ordinary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Encoding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Количество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(Count)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Январь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spc="-15" dirty="0">
                          <a:latin typeface="Microsoft Sans Serif"/>
                          <a:cs typeface="Microsoft Sans Serif"/>
                        </a:rPr>
                        <a:t>Февраль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1</a:t>
                      </a: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Март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Апрель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Май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Июнь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Июль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Август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Сентябрь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Октябрь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Ноябрь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Microsoft Sans Serif"/>
                          <a:cs typeface="Microsoft Sans Serif"/>
                        </a:rPr>
                        <a:t>Декабрь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97901E-6327-184D-919C-911E7C47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588" y="3288206"/>
            <a:ext cx="3289896" cy="176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04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err="1"/>
              <a:t>F</a:t>
            </a:r>
            <a:r>
              <a:rPr lang="en-US" sz="3200" dirty="0" err="1"/>
              <a:t>requency</a:t>
            </a:r>
            <a:r>
              <a:rPr lang="en-US" sz="3200" dirty="0"/>
              <a:t> Encoding</a:t>
            </a:r>
            <a:endParaRPr sz="3200" b="1" dirty="0"/>
          </a:p>
        </p:txBody>
      </p:sp>
      <p:sp>
        <p:nvSpPr>
          <p:cNvPr id="4" name="object 63">
            <a:extLst>
              <a:ext uri="{FF2B5EF4-FFF2-40B4-BE49-F238E27FC236}">
                <a16:creationId xmlns:a16="http://schemas.microsoft.com/office/drawing/2014/main" id="{1F5409CF-7B5F-454D-914E-D7AF6DB1A534}"/>
              </a:ext>
            </a:extLst>
          </p:cNvPr>
          <p:cNvSpPr txBox="1"/>
          <p:nvPr/>
        </p:nvSpPr>
        <p:spPr>
          <a:xfrm>
            <a:off x="4684223" y="882723"/>
            <a:ext cx="33826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latin typeface=""/>
                <a:cs typeface="Microsoft Sans Serif"/>
              </a:rPr>
              <a:t>Ключевые</a:t>
            </a:r>
            <a:r>
              <a:rPr sz="2000" spc="-20" dirty="0">
                <a:latin typeface=""/>
                <a:cs typeface="Microsoft Sans Serif"/>
              </a:rPr>
              <a:t> </a:t>
            </a:r>
            <a:r>
              <a:rPr sz="2000" spc="-15" dirty="0">
                <a:latin typeface=""/>
                <a:cs typeface="Microsoft Sans Serif"/>
              </a:rPr>
              <a:t>Моменты</a:t>
            </a:r>
            <a:endParaRPr sz="2000" dirty="0">
              <a:latin typeface=""/>
              <a:cs typeface="Microsoft Sans Serif"/>
            </a:endParaRPr>
          </a:p>
        </p:txBody>
      </p:sp>
      <p:sp>
        <p:nvSpPr>
          <p:cNvPr id="6" name="object 64">
            <a:extLst>
              <a:ext uri="{FF2B5EF4-FFF2-40B4-BE49-F238E27FC236}">
                <a16:creationId xmlns:a16="http://schemas.microsoft.com/office/drawing/2014/main" id="{037A2E67-FA42-8B45-8DBC-3AAB8D8D5F5B}"/>
              </a:ext>
            </a:extLst>
          </p:cNvPr>
          <p:cNvSpPr txBox="1"/>
          <p:nvPr/>
        </p:nvSpPr>
        <p:spPr>
          <a:xfrm>
            <a:off x="4684222" y="1217957"/>
            <a:ext cx="4336927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82295">
              <a:lnSpc>
                <a:spcPct val="100000"/>
              </a:lnSpc>
              <a:tabLst>
                <a:tab pos="299085" algn="l"/>
                <a:tab pos="299720" algn="l"/>
              </a:tabLst>
            </a:pPr>
            <a:r>
              <a:rPr lang="ru-RU" sz="1400" spc="-15" dirty="0">
                <a:latin typeface="Microsoft Sans Serif"/>
                <a:cs typeface="Microsoft Sans Serif"/>
              </a:rPr>
              <a:t>Кодирование значения</a:t>
            </a:r>
            <a:r>
              <a:rPr lang="ru-RU" sz="1400" spc="-20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признака</a:t>
            </a:r>
            <a:r>
              <a:rPr lang="ru-RU" sz="1400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его</a:t>
            </a:r>
            <a:r>
              <a:rPr lang="ru-RU" sz="1400" spc="5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частотой </a:t>
            </a:r>
            <a:r>
              <a:rPr lang="ru-RU" sz="1400" dirty="0">
                <a:latin typeface="Microsoft Sans Serif"/>
                <a:cs typeface="Microsoft Sans Serif"/>
              </a:rPr>
              <a:t>в</a:t>
            </a:r>
            <a:r>
              <a:rPr lang="ru-RU" sz="1400" spc="2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данных</a:t>
            </a:r>
            <a:endParaRPr lang="ru-RU" sz="1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"/>
                <a:cs typeface="Microsoft Sans Serif"/>
              </a:rPr>
              <a:t>Минусы:</a:t>
            </a:r>
            <a:endParaRPr sz="1600" dirty="0">
              <a:solidFill>
                <a:srgbClr val="C00000"/>
              </a:solidFill>
              <a:latin typeface=""/>
              <a:cs typeface="Microsoft Sans Serif"/>
            </a:endParaRPr>
          </a:p>
        </p:txBody>
      </p:sp>
      <p:sp>
        <p:nvSpPr>
          <p:cNvPr id="7" name="object 65">
            <a:extLst>
              <a:ext uri="{FF2B5EF4-FFF2-40B4-BE49-F238E27FC236}">
                <a16:creationId xmlns:a16="http://schemas.microsoft.com/office/drawing/2014/main" id="{BF87528D-8B4A-2F4F-83B8-3D9A30111503}"/>
              </a:ext>
            </a:extLst>
          </p:cNvPr>
          <p:cNvSpPr txBox="1"/>
          <p:nvPr/>
        </p:nvSpPr>
        <p:spPr>
          <a:xfrm>
            <a:off x="4681849" y="2154752"/>
            <a:ext cx="4249209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ru-RU" sz="1400" spc="-10" dirty="0">
                <a:latin typeface="Microsoft Sans Serif"/>
                <a:cs typeface="Microsoft Sans Serif"/>
              </a:rPr>
              <a:t>Н</a:t>
            </a:r>
            <a:r>
              <a:rPr lang="ru-RU" sz="1400" spc="-5" dirty="0">
                <a:latin typeface="Microsoft Sans Serif"/>
                <a:cs typeface="Microsoft Sans Serif"/>
              </a:rPr>
              <a:t>е гарантирует</a:t>
            </a:r>
            <a:r>
              <a:rPr lang="ru-RU" sz="1400" spc="-45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однозначности</a:t>
            </a:r>
            <a:r>
              <a:rPr lang="ru-RU" sz="140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сопоставления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ru-RU" sz="1400" spc="-5" dirty="0">
                <a:latin typeface="Microsoft Sans Serif"/>
                <a:cs typeface="Microsoft Sans Serif"/>
              </a:rPr>
              <a:t>Может быть неверно интерпретировано моделью</a:t>
            </a:r>
            <a:endParaRPr lang="ru-RU" sz="1400" dirty="0">
              <a:latin typeface="Microsoft Sans Serif"/>
              <a:cs typeface="Microsoft Sans Serif"/>
            </a:endParaRPr>
          </a:p>
        </p:txBody>
      </p:sp>
      <p:sp>
        <p:nvSpPr>
          <p:cNvPr id="9" name="object 67">
            <a:extLst>
              <a:ext uri="{FF2B5EF4-FFF2-40B4-BE49-F238E27FC236}">
                <a16:creationId xmlns:a16="http://schemas.microsoft.com/office/drawing/2014/main" id="{05149F3C-9000-2F49-ABDC-740E92B089D4}"/>
              </a:ext>
            </a:extLst>
          </p:cNvPr>
          <p:cNvSpPr txBox="1"/>
          <p:nvPr/>
        </p:nvSpPr>
        <p:spPr>
          <a:xfrm>
            <a:off x="4705720" y="2715706"/>
            <a:ext cx="1380951" cy="23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solidFill>
                  <a:srgbClr val="00B050"/>
                </a:solidFill>
                <a:latin typeface=""/>
                <a:cs typeface="Microsoft Sans Serif"/>
              </a:rPr>
              <a:t>П</a:t>
            </a:r>
            <a:r>
              <a:rPr sz="1600" spc="10" dirty="0">
                <a:solidFill>
                  <a:srgbClr val="00B050"/>
                </a:solidFill>
                <a:latin typeface=""/>
                <a:cs typeface="Microsoft Sans Serif"/>
              </a:rPr>
              <a:t>лю</a:t>
            </a:r>
            <a:r>
              <a:rPr sz="1600" dirty="0">
                <a:solidFill>
                  <a:srgbClr val="00B050"/>
                </a:solidFill>
                <a:latin typeface=""/>
                <a:cs typeface="Microsoft Sans Serif"/>
              </a:rPr>
              <a:t>сы:</a:t>
            </a:r>
          </a:p>
        </p:txBody>
      </p:sp>
      <p:sp>
        <p:nvSpPr>
          <p:cNvPr id="10" name="object 68">
            <a:extLst>
              <a:ext uri="{FF2B5EF4-FFF2-40B4-BE49-F238E27FC236}">
                <a16:creationId xmlns:a16="http://schemas.microsoft.com/office/drawing/2014/main" id="{4DDE7A25-DC34-194E-91D2-982607D221A7}"/>
              </a:ext>
            </a:extLst>
          </p:cNvPr>
          <p:cNvSpPr txBox="1"/>
          <p:nvPr/>
        </p:nvSpPr>
        <p:spPr>
          <a:xfrm>
            <a:off x="4705720" y="2969589"/>
            <a:ext cx="4550529" cy="207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dirty="0" err="1">
                <a:latin typeface=""/>
                <a:cs typeface="Microsoft Sans Serif"/>
              </a:rPr>
              <a:t>Простая</a:t>
            </a:r>
            <a:r>
              <a:rPr spc="-25" dirty="0">
                <a:latin typeface=""/>
                <a:cs typeface="Microsoft Sans Serif"/>
              </a:rPr>
              <a:t> </a:t>
            </a:r>
            <a:r>
              <a:rPr dirty="0">
                <a:latin typeface=""/>
                <a:cs typeface="Microsoft Sans Serif"/>
              </a:rPr>
              <a:t>и</a:t>
            </a:r>
            <a:r>
              <a:rPr spc="15" dirty="0">
                <a:latin typeface=""/>
                <a:cs typeface="Microsoft Sans Serif"/>
              </a:rPr>
              <a:t> </a:t>
            </a:r>
            <a:r>
              <a:rPr spc="-5" dirty="0">
                <a:latin typeface=""/>
                <a:cs typeface="Microsoft Sans Serif"/>
              </a:rPr>
              <a:t>вычислительно</a:t>
            </a:r>
            <a:r>
              <a:rPr spc="-15" dirty="0">
                <a:latin typeface=""/>
                <a:cs typeface="Microsoft Sans Serif"/>
              </a:rPr>
              <a:t> </a:t>
            </a:r>
            <a:r>
              <a:rPr spc="-10" dirty="0">
                <a:latin typeface=""/>
                <a:cs typeface="Microsoft Sans Serif"/>
              </a:rPr>
              <a:t>эффективная реализация</a:t>
            </a:r>
            <a:endParaRPr dirty="0">
              <a:latin typeface=""/>
              <a:cs typeface="Microsoft Sans Serif"/>
            </a:endParaRPr>
          </a:p>
        </p:txBody>
      </p:sp>
      <p:graphicFrame>
        <p:nvGraphicFramePr>
          <p:cNvPr id="11" name="object 69">
            <a:extLst>
              <a:ext uri="{FF2B5EF4-FFF2-40B4-BE49-F238E27FC236}">
                <a16:creationId xmlns:a16="http://schemas.microsoft.com/office/drawing/2014/main" id="{5E7E4F14-58C1-6946-B789-DA7EA06FC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823653"/>
              </p:ext>
            </p:extLst>
          </p:nvPr>
        </p:nvGraphicFramePr>
        <p:xfrm>
          <a:off x="47695" y="976849"/>
          <a:ext cx="4870683" cy="2774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889">
                  <a:extLst>
                    <a:ext uri="{9D8B030D-6E8A-4147-A177-3AD203B41FA5}">
                      <a16:colId xmlns:a16="http://schemas.microsoft.com/office/drawing/2014/main" val="40792755"/>
                    </a:ext>
                  </a:extLst>
                </a:gridCol>
                <a:gridCol w="494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913"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Значение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Ordinary</a:t>
                      </a:r>
                      <a:r>
                        <a:rPr sz="7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Encoding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Количество</a:t>
                      </a:r>
                      <a:r>
                        <a:rPr sz="7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(Count)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Частота</a:t>
                      </a:r>
                    </a:p>
                    <a:p>
                      <a:pPr marL="9207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Frequency</a:t>
                      </a:r>
                      <a:r>
                        <a:rPr lang="en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lang="en" sz="700" dirty="0">
                        <a:latin typeface="Arial"/>
                        <a:cs typeface="Arial"/>
                      </a:endParaRPr>
                    </a:p>
                  </a:txBody>
                  <a:tcPr marL="0" marR="0" marT="35178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1C4"/>
                    </a:solidFill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Январь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7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0.09</a:t>
                      </a:r>
                      <a:endParaRPr sz="7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5178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5" dirty="0">
                          <a:latin typeface="Microsoft Sans Serif"/>
                          <a:cs typeface="Microsoft Sans Serif"/>
                        </a:rPr>
                        <a:t>Февраль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1</a:t>
                      </a: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</a:p>
                  </a:txBody>
                  <a:tcPr marL="0" marR="0" marT="351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7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0.12</a:t>
                      </a:r>
                      <a:endParaRPr sz="7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178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Март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2</a:t>
                      </a: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dirty="0">
                          <a:latin typeface="Microsoft Sans Serif"/>
                          <a:cs typeface="Microsoft Sans Serif"/>
                        </a:rPr>
                        <a:t>0.04</a:t>
                      </a:r>
                      <a:endParaRPr sz="7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Апрель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3</a:t>
                      </a: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dirty="0">
                          <a:latin typeface="Microsoft Sans Serif"/>
                          <a:cs typeface="Microsoft Sans Serif"/>
                        </a:rPr>
                        <a:t>0.05</a:t>
                      </a:r>
                      <a:endParaRPr sz="7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10" dirty="0">
                          <a:latin typeface="Microsoft Sans Serif"/>
                          <a:cs typeface="Microsoft Sans Serif"/>
                        </a:rPr>
                        <a:t>Май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0.09</a:t>
                      </a:r>
                      <a:endParaRPr sz="7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Июнь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1</a:t>
                      </a: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dirty="0">
                          <a:latin typeface="Microsoft Sans Serif"/>
                          <a:cs typeface="Microsoft Sans Serif"/>
                        </a:rPr>
                        <a:t>0.02</a:t>
                      </a:r>
                      <a:endParaRPr sz="7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Июль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8</a:t>
                      </a: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dirty="0">
                          <a:latin typeface="Microsoft Sans Serif"/>
                          <a:cs typeface="Microsoft Sans Serif"/>
                        </a:rPr>
                        <a:t>0.14</a:t>
                      </a:r>
                      <a:endParaRPr sz="7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Август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0.07</a:t>
                      </a:r>
                      <a:endParaRPr sz="700" b="1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Сентябрь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b="1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endParaRPr sz="700" b="1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0.09</a:t>
                      </a:r>
                      <a:endParaRPr sz="7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10" dirty="0">
                          <a:latin typeface="Microsoft Sans Serif"/>
                          <a:cs typeface="Microsoft Sans Serif"/>
                        </a:rPr>
                        <a:t>Октябрь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dirty="0">
                          <a:latin typeface="Microsoft Sans Serif"/>
                          <a:cs typeface="Microsoft Sans Serif"/>
                        </a:rPr>
                        <a:t>0.11</a:t>
                      </a:r>
                      <a:endParaRPr sz="7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7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Ноябрь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Sans Serif"/>
                          <a:cs typeface="Microsoft Sans Serif"/>
                        </a:rPr>
                        <a:t>0.12</a:t>
                      </a:r>
                      <a:endParaRPr sz="7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7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25" dirty="0">
                          <a:latin typeface="Microsoft Sans Serif"/>
                          <a:cs typeface="Microsoft Sans Serif"/>
                        </a:rPr>
                        <a:t>Декабрь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spc="-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57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0.07</a:t>
                      </a:r>
                      <a:endParaRPr sz="700" b="1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5703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971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One Hot Encoding</a:t>
            </a:r>
            <a:endParaRPr sz="3200" b="1" dirty="0"/>
          </a:p>
        </p:txBody>
      </p:sp>
      <p:sp>
        <p:nvSpPr>
          <p:cNvPr id="4" name="object 63">
            <a:extLst>
              <a:ext uri="{FF2B5EF4-FFF2-40B4-BE49-F238E27FC236}">
                <a16:creationId xmlns:a16="http://schemas.microsoft.com/office/drawing/2014/main" id="{1F5409CF-7B5F-454D-914E-D7AF6DB1A534}"/>
              </a:ext>
            </a:extLst>
          </p:cNvPr>
          <p:cNvSpPr txBox="1"/>
          <p:nvPr/>
        </p:nvSpPr>
        <p:spPr>
          <a:xfrm>
            <a:off x="4684223" y="882723"/>
            <a:ext cx="33826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latin typeface=""/>
                <a:cs typeface="Microsoft Sans Serif"/>
              </a:rPr>
              <a:t>Ключевые</a:t>
            </a:r>
            <a:r>
              <a:rPr sz="2000" spc="-20" dirty="0">
                <a:latin typeface=""/>
                <a:cs typeface="Microsoft Sans Serif"/>
              </a:rPr>
              <a:t> </a:t>
            </a:r>
            <a:r>
              <a:rPr sz="2000" spc="-15" dirty="0">
                <a:latin typeface=""/>
                <a:cs typeface="Microsoft Sans Serif"/>
              </a:rPr>
              <a:t>Моменты</a:t>
            </a:r>
            <a:endParaRPr sz="2000" dirty="0">
              <a:latin typeface=""/>
              <a:cs typeface="Microsoft Sans Serif"/>
            </a:endParaRPr>
          </a:p>
        </p:txBody>
      </p:sp>
      <p:sp>
        <p:nvSpPr>
          <p:cNvPr id="6" name="object 64">
            <a:extLst>
              <a:ext uri="{FF2B5EF4-FFF2-40B4-BE49-F238E27FC236}">
                <a16:creationId xmlns:a16="http://schemas.microsoft.com/office/drawing/2014/main" id="{037A2E67-FA42-8B45-8DBC-3AAB8D8D5F5B}"/>
              </a:ext>
            </a:extLst>
          </p:cNvPr>
          <p:cNvSpPr txBox="1"/>
          <p:nvPr/>
        </p:nvSpPr>
        <p:spPr>
          <a:xfrm>
            <a:off x="4684222" y="1217957"/>
            <a:ext cx="4336927" cy="9496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461645">
              <a:lnSpc>
                <a:spcPct val="100000"/>
              </a:lnSpc>
              <a:spcBef>
                <a:spcPts val="105"/>
              </a:spcBef>
              <a:tabLst>
                <a:tab pos="299085" algn="l"/>
                <a:tab pos="299720" algn="l"/>
              </a:tabLst>
            </a:pPr>
            <a:r>
              <a:rPr lang="ru-RU" sz="1400" spc="-10" dirty="0">
                <a:latin typeface="Microsoft Sans Serif"/>
                <a:cs typeface="Microsoft Sans Serif"/>
              </a:rPr>
              <a:t>Создается </a:t>
            </a:r>
            <a:r>
              <a:rPr lang="en" sz="1400" dirty="0">
                <a:latin typeface="Microsoft Sans Serif"/>
                <a:cs typeface="Microsoft Sans Serif"/>
              </a:rPr>
              <a:t>n </a:t>
            </a:r>
            <a:r>
              <a:rPr lang="ru-RU" sz="1400" spc="-20" dirty="0">
                <a:latin typeface="Microsoft Sans Serif"/>
                <a:cs typeface="Microsoft Sans Serif"/>
              </a:rPr>
              <a:t>признаков, </a:t>
            </a:r>
            <a:r>
              <a:rPr lang="ru-RU" sz="1400" spc="-10" dirty="0">
                <a:latin typeface="Microsoft Sans Serif"/>
                <a:cs typeface="Microsoft Sans Serif"/>
              </a:rPr>
              <a:t>где </a:t>
            </a:r>
            <a:r>
              <a:rPr lang="en" sz="1400" dirty="0">
                <a:latin typeface="Microsoft Sans Serif"/>
                <a:cs typeface="Microsoft Sans Serif"/>
              </a:rPr>
              <a:t>n </a:t>
            </a:r>
            <a:r>
              <a:rPr lang="en" sz="1400" spc="370" dirty="0">
                <a:latin typeface="Microsoft Sans Serif"/>
                <a:cs typeface="Microsoft Sans Serif"/>
              </a:rPr>
              <a:t>– </a:t>
            </a:r>
            <a:r>
              <a:rPr lang="en" sz="1400" spc="-360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количество</a:t>
            </a:r>
            <a:r>
              <a:rPr lang="ru-RU" sz="1400" spc="-30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значений</a:t>
            </a:r>
            <a:r>
              <a:rPr lang="ru-RU" sz="1400" spc="-35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признака</a:t>
            </a:r>
            <a:endParaRPr lang="ru-RU" sz="1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"/>
                <a:cs typeface="Microsoft Sans Serif"/>
              </a:rPr>
              <a:t>Минусы:</a:t>
            </a:r>
            <a:endParaRPr sz="1600" dirty="0">
              <a:solidFill>
                <a:srgbClr val="C00000"/>
              </a:solidFill>
              <a:latin typeface=""/>
              <a:cs typeface="Microsoft Sans Serif"/>
            </a:endParaRPr>
          </a:p>
        </p:txBody>
      </p:sp>
      <p:sp>
        <p:nvSpPr>
          <p:cNvPr id="7" name="object 65">
            <a:extLst>
              <a:ext uri="{FF2B5EF4-FFF2-40B4-BE49-F238E27FC236}">
                <a16:creationId xmlns:a16="http://schemas.microsoft.com/office/drawing/2014/main" id="{BF87528D-8B4A-2F4F-83B8-3D9A30111503}"/>
              </a:ext>
            </a:extLst>
          </p:cNvPr>
          <p:cNvSpPr txBox="1"/>
          <p:nvPr/>
        </p:nvSpPr>
        <p:spPr>
          <a:xfrm>
            <a:off x="4681849" y="2154752"/>
            <a:ext cx="43830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273050">
              <a:lnSpc>
                <a:spcPct val="100000"/>
              </a:lnSpc>
              <a:spcBef>
                <a:spcPts val="5"/>
              </a:spcBef>
              <a:tabLst>
                <a:tab pos="299085" algn="l"/>
                <a:tab pos="299720" algn="l"/>
              </a:tabLst>
            </a:pPr>
            <a:r>
              <a:rPr lang="ru-RU" sz="1400" spc="-20" dirty="0">
                <a:latin typeface="Microsoft Sans Serif"/>
                <a:cs typeface="Microsoft Sans Serif"/>
              </a:rPr>
              <a:t>Признаковое </a:t>
            </a:r>
            <a:r>
              <a:rPr lang="ru-RU" sz="1400" spc="-5" dirty="0">
                <a:latin typeface="Microsoft Sans Serif"/>
                <a:cs typeface="Microsoft Sans Serif"/>
              </a:rPr>
              <a:t>пространство </a:t>
            </a:r>
            <a:r>
              <a:rPr lang="ru-RU" sz="140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увеличивается</a:t>
            </a:r>
            <a:r>
              <a:rPr lang="ru-RU" sz="1400" spc="10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пропорционально </a:t>
            </a:r>
            <a:r>
              <a:rPr lang="ru-RU" sz="1400" spc="-355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количеству</a:t>
            </a:r>
            <a:r>
              <a:rPr lang="ru-RU" sz="1400" spc="-20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значений</a:t>
            </a:r>
            <a:r>
              <a:rPr lang="ru-RU" sz="1400" spc="-10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признака</a:t>
            </a:r>
            <a:endParaRPr lang="ru-RU" sz="1400" dirty="0">
              <a:latin typeface="Microsoft Sans Serif"/>
              <a:cs typeface="Microsoft Sans Serif"/>
            </a:endParaRPr>
          </a:p>
        </p:txBody>
      </p:sp>
      <p:sp>
        <p:nvSpPr>
          <p:cNvPr id="9" name="object 67">
            <a:extLst>
              <a:ext uri="{FF2B5EF4-FFF2-40B4-BE49-F238E27FC236}">
                <a16:creationId xmlns:a16="http://schemas.microsoft.com/office/drawing/2014/main" id="{05149F3C-9000-2F49-ABDC-740E92B089D4}"/>
              </a:ext>
            </a:extLst>
          </p:cNvPr>
          <p:cNvSpPr txBox="1"/>
          <p:nvPr/>
        </p:nvSpPr>
        <p:spPr>
          <a:xfrm>
            <a:off x="4705720" y="2715706"/>
            <a:ext cx="1380951" cy="23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solidFill>
                  <a:srgbClr val="00B050"/>
                </a:solidFill>
                <a:latin typeface=""/>
                <a:cs typeface="Microsoft Sans Serif"/>
              </a:rPr>
              <a:t>П</a:t>
            </a:r>
            <a:r>
              <a:rPr sz="1600" spc="10" dirty="0">
                <a:solidFill>
                  <a:srgbClr val="00B050"/>
                </a:solidFill>
                <a:latin typeface=""/>
                <a:cs typeface="Microsoft Sans Serif"/>
              </a:rPr>
              <a:t>лю</a:t>
            </a:r>
            <a:r>
              <a:rPr sz="1600" dirty="0">
                <a:solidFill>
                  <a:srgbClr val="00B050"/>
                </a:solidFill>
                <a:latin typeface=""/>
                <a:cs typeface="Microsoft Sans Serif"/>
              </a:rPr>
              <a:t>сы:</a:t>
            </a:r>
          </a:p>
        </p:txBody>
      </p:sp>
      <p:sp>
        <p:nvSpPr>
          <p:cNvPr id="10" name="object 68">
            <a:extLst>
              <a:ext uri="{FF2B5EF4-FFF2-40B4-BE49-F238E27FC236}">
                <a16:creationId xmlns:a16="http://schemas.microsoft.com/office/drawing/2014/main" id="{4DDE7A25-DC34-194E-91D2-982607D221A7}"/>
              </a:ext>
            </a:extLst>
          </p:cNvPr>
          <p:cNvSpPr txBox="1"/>
          <p:nvPr/>
        </p:nvSpPr>
        <p:spPr>
          <a:xfrm>
            <a:off x="4705721" y="2969589"/>
            <a:ext cx="42781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5"/>
              </a:spcBef>
              <a:tabLst>
                <a:tab pos="299085" algn="l"/>
                <a:tab pos="299720" algn="l"/>
              </a:tabLst>
            </a:pPr>
            <a:r>
              <a:rPr lang="ru-RU" sz="1400" spc="-5" dirty="0">
                <a:latin typeface="Microsoft Sans Serif"/>
                <a:cs typeface="Microsoft Sans Serif"/>
              </a:rPr>
              <a:t>Исправляется интерпретация </a:t>
            </a:r>
            <a:r>
              <a:rPr lang="ru-RU" sz="140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моделью </a:t>
            </a:r>
            <a:r>
              <a:rPr lang="ru-RU" sz="1400" spc="-20" dirty="0">
                <a:latin typeface="Microsoft Sans Serif"/>
                <a:cs typeface="Microsoft Sans Serif"/>
              </a:rPr>
              <a:t>признаков, </a:t>
            </a:r>
            <a:endParaRPr lang="en-US" sz="1400" spc="-20" dirty="0">
              <a:latin typeface="Microsoft Sans Serif"/>
              <a:cs typeface="Microsoft Sans Serif"/>
            </a:endParaRPr>
          </a:p>
          <a:p>
            <a:pPr marL="12065" marR="5080">
              <a:lnSpc>
                <a:spcPct val="100000"/>
              </a:lnSpc>
              <a:spcBef>
                <a:spcPts val="5"/>
              </a:spcBef>
              <a:tabLst>
                <a:tab pos="299085" algn="l"/>
                <a:tab pos="299720" algn="l"/>
              </a:tabLst>
            </a:pPr>
            <a:r>
              <a:rPr lang="ru-RU" sz="1400" spc="-15" dirty="0">
                <a:latin typeface="Microsoft Sans Serif"/>
                <a:cs typeface="Microsoft Sans Serif"/>
              </a:rPr>
              <a:t>по </a:t>
            </a:r>
            <a:r>
              <a:rPr lang="ru-RU" sz="1400" spc="-5" dirty="0">
                <a:latin typeface="Microsoft Sans Serif"/>
                <a:cs typeface="Microsoft Sans Serif"/>
              </a:rPr>
              <a:t>сравнению </a:t>
            </a:r>
            <a:r>
              <a:rPr lang="ru-RU" sz="1400" dirty="0">
                <a:latin typeface="Microsoft Sans Serif"/>
                <a:cs typeface="Microsoft Sans Serif"/>
              </a:rPr>
              <a:t>с </a:t>
            </a:r>
            <a:r>
              <a:rPr lang="ru-RU" sz="1400" spc="-360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предыдущими</a:t>
            </a:r>
            <a:r>
              <a:rPr lang="ru-RU" sz="1400" spc="25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методами</a:t>
            </a:r>
            <a:endParaRPr lang="ru-RU" sz="1400" dirty="0">
              <a:latin typeface="Microsoft Sans Serif"/>
              <a:cs typeface="Microsoft Sans Serif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8B3A3A-5C28-D84C-A330-D31F975F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38" y="977030"/>
            <a:ext cx="4383055" cy="262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70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Binary Encoding</a:t>
            </a:r>
            <a:endParaRPr sz="3200" b="1" dirty="0"/>
          </a:p>
        </p:txBody>
      </p:sp>
      <p:sp>
        <p:nvSpPr>
          <p:cNvPr id="4" name="object 63">
            <a:extLst>
              <a:ext uri="{FF2B5EF4-FFF2-40B4-BE49-F238E27FC236}">
                <a16:creationId xmlns:a16="http://schemas.microsoft.com/office/drawing/2014/main" id="{1F5409CF-7B5F-454D-914E-D7AF6DB1A534}"/>
              </a:ext>
            </a:extLst>
          </p:cNvPr>
          <p:cNvSpPr txBox="1"/>
          <p:nvPr/>
        </p:nvSpPr>
        <p:spPr>
          <a:xfrm>
            <a:off x="4477544" y="1628825"/>
            <a:ext cx="33826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latin typeface=""/>
                <a:cs typeface="Microsoft Sans Serif"/>
              </a:rPr>
              <a:t>Ключевые</a:t>
            </a:r>
            <a:r>
              <a:rPr sz="2000" spc="-20" dirty="0">
                <a:latin typeface=""/>
                <a:cs typeface="Microsoft Sans Serif"/>
              </a:rPr>
              <a:t> </a:t>
            </a:r>
            <a:r>
              <a:rPr sz="2000" spc="-15" dirty="0">
                <a:latin typeface=""/>
                <a:cs typeface="Microsoft Sans Serif"/>
              </a:rPr>
              <a:t>Моменты</a:t>
            </a:r>
            <a:endParaRPr sz="2000" dirty="0">
              <a:latin typeface=""/>
              <a:cs typeface="Microsoft Sans Serif"/>
            </a:endParaRPr>
          </a:p>
        </p:txBody>
      </p:sp>
      <p:sp>
        <p:nvSpPr>
          <p:cNvPr id="6" name="object 64">
            <a:extLst>
              <a:ext uri="{FF2B5EF4-FFF2-40B4-BE49-F238E27FC236}">
                <a16:creationId xmlns:a16="http://schemas.microsoft.com/office/drawing/2014/main" id="{037A2E67-FA42-8B45-8DBC-3AAB8D8D5F5B}"/>
              </a:ext>
            </a:extLst>
          </p:cNvPr>
          <p:cNvSpPr txBox="1"/>
          <p:nvPr/>
        </p:nvSpPr>
        <p:spPr>
          <a:xfrm>
            <a:off x="4477543" y="1964059"/>
            <a:ext cx="4336927" cy="1742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714"/>
              </a:spcBef>
              <a:tabLst>
                <a:tab pos="337185" algn="l"/>
                <a:tab pos="337820" algn="l"/>
              </a:tabLst>
            </a:pPr>
            <a:r>
              <a:rPr lang="ru-RU" sz="1400" spc="-50" dirty="0">
                <a:latin typeface="Microsoft Sans Serif"/>
                <a:cs typeface="Microsoft Sans Serif"/>
              </a:rPr>
              <a:t>Для</a:t>
            </a:r>
            <a:r>
              <a:rPr lang="ru-RU" sz="1400" spc="10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уменьшения</a:t>
            </a:r>
            <a:r>
              <a:rPr lang="ru-RU" sz="1400" spc="70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признакового</a:t>
            </a:r>
            <a:r>
              <a:rPr lang="ru-RU" sz="1400" spc="25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пространства</a:t>
            </a:r>
            <a:r>
              <a:rPr lang="en-US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используется</a:t>
            </a:r>
            <a:r>
              <a:rPr lang="ru-RU" sz="1400" spc="65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бинарное</a:t>
            </a:r>
            <a:r>
              <a:rPr lang="ru-RU" sz="1400" spc="5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представление</a:t>
            </a:r>
            <a:r>
              <a:rPr lang="ru-RU" sz="1400" spc="50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обычного</a:t>
            </a:r>
            <a:r>
              <a:rPr lang="en-US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кодирования</a:t>
            </a:r>
            <a:endParaRPr lang="en-US" sz="1400" spc="-15" dirty="0">
              <a:latin typeface="Microsoft Sans Serif"/>
              <a:cs typeface="Microsoft Sans Serif"/>
            </a:endParaRPr>
          </a:p>
          <a:p>
            <a:pPr marL="50165">
              <a:spcBef>
                <a:spcPts val="1714"/>
              </a:spcBef>
              <a:tabLst>
                <a:tab pos="337185" algn="l"/>
                <a:tab pos="337820" algn="l"/>
              </a:tabLst>
            </a:pPr>
            <a:r>
              <a:rPr lang="ru-RU" spc="-10" dirty="0">
                <a:latin typeface="Microsoft Sans Serif"/>
                <a:cs typeface="Microsoft Sans Serif"/>
              </a:rPr>
              <a:t>Сочетает</a:t>
            </a:r>
            <a:r>
              <a:rPr lang="ru-RU" spc="30" dirty="0">
                <a:latin typeface="Microsoft Sans Serif"/>
                <a:cs typeface="Microsoft Sans Serif"/>
              </a:rPr>
              <a:t> </a:t>
            </a:r>
            <a:r>
              <a:rPr lang="ru-RU" spc="-5" dirty="0">
                <a:latin typeface="Microsoft Sans Serif"/>
                <a:cs typeface="Microsoft Sans Serif"/>
              </a:rPr>
              <a:t>в</a:t>
            </a:r>
            <a:r>
              <a:rPr lang="ru-RU" spc="15" dirty="0">
                <a:latin typeface="Microsoft Sans Serif"/>
                <a:cs typeface="Microsoft Sans Serif"/>
              </a:rPr>
              <a:t> </a:t>
            </a:r>
            <a:r>
              <a:rPr lang="ru-RU" spc="-5" dirty="0">
                <a:latin typeface="Microsoft Sans Serif"/>
                <a:cs typeface="Microsoft Sans Serif"/>
              </a:rPr>
              <a:t>себе</a:t>
            </a:r>
            <a:r>
              <a:rPr lang="ru-RU" spc="10" dirty="0">
                <a:latin typeface="Microsoft Sans Serif"/>
                <a:cs typeface="Microsoft Sans Serif"/>
              </a:rPr>
              <a:t> </a:t>
            </a:r>
            <a:r>
              <a:rPr lang="ru-RU" dirty="0">
                <a:latin typeface="Microsoft Sans Serif"/>
                <a:cs typeface="Microsoft Sans Serif"/>
              </a:rPr>
              <a:t>плюсы</a:t>
            </a:r>
            <a:r>
              <a:rPr lang="ru-RU" spc="25" dirty="0">
                <a:latin typeface="Microsoft Sans Serif"/>
                <a:cs typeface="Microsoft Sans Serif"/>
              </a:rPr>
              <a:t> </a:t>
            </a:r>
            <a:r>
              <a:rPr lang="en" spc="-10" dirty="0">
                <a:latin typeface="Microsoft Sans Serif"/>
                <a:cs typeface="Microsoft Sans Serif"/>
              </a:rPr>
              <a:t>One</a:t>
            </a:r>
            <a:r>
              <a:rPr lang="en" spc="35" dirty="0">
                <a:latin typeface="Microsoft Sans Serif"/>
                <a:cs typeface="Microsoft Sans Serif"/>
              </a:rPr>
              <a:t> </a:t>
            </a:r>
            <a:r>
              <a:rPr lang="en" spc="-5" dirty="0">
                <a:latin typeface="Microsoft Sans Serif"/>
                <a:cs typeface="Microsoft Sans Serif"/>
              </a:rPr>
              <a:t>Hot</a:t>
            </a:r>
            <a:r>
              <a:rPr lang="en" spc="20" dirty="0">
                <a:latin typeface="Microsoft Sans Serif"/>
                <a:cs typeface="Microsoft Sans Serif"/>
              </a:rPr>
              <a:t> </a:t>
            </a:r>
            <a:r>
              <a:rPr lang="en" spc="-5" dirty="0">
                <a:latin typeface="Microsoft Sans Serif"/>
                <a:cs typeface="Microsoft Sans Serif"/>
              </a:rPr>
              <a:t>Encoding</a:t>
            </a:r>
          </a:p>
          <a:p>
            <a:pPr marL="50165">
              <a:spcBef>
                <a:spcPts val="1714"/>
              </a:spcBef>
              <a:tabLst>
                <a:tab pos="337185" algn="l"/>
                <a:tab pos="337820" algn="l"/>
              </a:tabLst>
            </a:pPr>
            <a:r>
              <a:rPr lang="ru-RU" sz="1400" spc="-10" dirty="0">
                <a:latin typeface="Microsoft Sans Serif"/>
                <a:cs typeface="Microsoft Sans Serif"/>
              </a:rPr>
              <a:t>Требует</a:t>
            </a:r>
            <a:r>
              <a:rPr lang="ru-RU" sz="1400" spc="45" dirty="0">
                <a:latin typeface="Microsoft Sans Serif"/>
                <a:cs typeface="Microsoft Sans Serif"/>
              </a:rPr>
              <a:t> </a:t>
            </a:r>
            <a:r>
              <a:rPr lang="ru-RU" sz="1400" spc="-20" dirty="0">
                <a:latin typeface="Microsoft Sans Serif"/>
                <a:cs typeface="Microsoft Sans Serif"/>
              </a:rPr>
              <a:t>меньший</a:t>
            </a:r>
            <a:r>
              <a:rPr lang="ru-RU" sz="1400" spc="70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размер</a:t>
            </a:r>
            <a:r>
              <a:rPr lang="ru-RU" sz="1400" spc="30" dirty="0">
                <a:latin typeface="Microsoft Sans Serif"/>
                <a:cs typeface="Microsoft Sans Serif"/>
              </a:rPr>
              <a:t> </a:t>
            </a:r>
            <a:r>
              <a:rPr lang="ru-RU" sz="1400" spc="15" dirty="0">
                <a:latin typeface="Microsoft Sans Serif"/>
                <a:cs typeface="Microsoft Sans Serif"/>
              </a:rPr>
              <a:t>(</a:t>
            </a:r>
            <a:r>
              <a:rPr lang="en" sz="1400" spc="15" dirty="0">
                <a:latin typeface="Cambria Math"/>
                <a:cs typeface="Cambria Math"/>
              </a:rPr>
              <a:t>log</a:t>
            </a:r>
            <a:r>
              <a:rPr lang="en" sz="1400" spc="22" baseline="-14492" dirty="0">
                <a:latin typeface="Cambria Math"/>
                <a:cs typeface="Cambria Math"/>
              </a:rPr>
              <a:t>2</a:t>
            </a:r>
            <a:r>
              <a:rPr lang="en" sz="1400" spc="120" baseline="-14492" dirty="0">
                <a:latin typeface="Cambria Math"/>
                <a:cs typeface="Cambria Math"/>
              </a:rPr>
              <a:t> </a:t>
            </a:r>
            <a:r>
              <a:rPr lang="en" sz="1400" spc="25" dirty="0">
                <a:latin typeface="Cambria Math"/>
                <a:cs typeface="Cambria Math"/>
              </a:rPr>
              <a:t>𝑘</a:t>
            </a:r>
            <a:r>
              <a:rPr lang="en" sz="1400" spc="25" dirty="0">
                <a:latin typeface="Microsoft Sans Serif"/>
                <a:cs typeface="Microsoft Sans Serif"/>
              </a:rPr>
              <a:t>)</a:t>
            </a:r>
            <a:r>
              <a:rPr lang="en" sz="1400" spc="45" dirty="0">
                <a:latin typeface="Microsoft Sans Serif"/>
                <a:cs typeface="Microsoft Sans Serif"/>
              </a:rPr>
              <a:t> </a:t>
            </a:r>
            <a:r>
              <a:rPr lang="ru-RU" sz="1400" spc="-25" dirty="0">
                <a:latin typeface="Microsoft Sans Serif"/>
                <a:cs typeface="Microsoft Sans Serif"/>
              </a:rPr>
              <a:t>признакового </a:t>
            </a:r>
            <a:r>
              <a:rPr lang="ru-RU" sz="1400" spc="-20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пространства,</a:t>
            </a:r>
            <a:r>
              <a:rPr lang="ru-RU" sz="1400" spc="35" dirty="0">
                <a:latin typeface="Microsoft Sans Serif"/>
                <a:cs typeface="Microsoft Sans Serif"/>
              </a:rPr>
              <a:t> </a:t>
            </a:r>
            <a:r>
              <a:rPr lang="ru-RU" sz="1400" spc="-15" dirty="0">
                <a:latin typeface="Microsoft Sans Serif"/>
                <a:cs typeface="Microsoft Sans Serif"/>
              </a:rPr>
              <a:t>по</a:t>
            </a:r>
            <a:r>
              <a:rPr lang="ru-RU" sz="1400" spc="15" dirty="0">
                <a:latin typeface="Microsoft Sans Serif"/>
                <a:cs typeface="Microsoft Sans Serif"/>
              </a:rPr>
              <a:t> </a:t>
            </a:r>
            <a:r>
              <a:rPr lang="ru-RU" sz="1400" spc="-10" dirty="0">
                <a:latin typeface="Microsoft Sans Serif"/>
                <a:cs typeface="Microsoft Sans Serif"/>
              </a:rPr>
              <a:t>сравнению</a:t>
            </a:r>
            <a:r>
              <a:rPr lang="ru-RU" sz="1400" spc="55" dirty="0">
                <a:latin typeface="Microsoft Sans Serif"/>
                <a:cs typeface="Microsoft Sans Serif"/>
              </a:rPr>
              <a:t> </a:t>
            </a:r>
            <a:r>
              <a:rPr lang="ru-RU" sz="1400" spc="-5" dirty="0">
                <a:latin typeface="Microsoft Sans Serif"/>
                <a:cs typeface="Microsoft Sans Serif"/>
              </a:rPr>
              <a:t>с</a:t>
            </a:r>
            <a:r>
              <a:rPr lang="ru-RU" sz="1400" spc="20" dirty="0">
                <a:latin typeface="Microsoft Sans Serif"/>
                <a:cs typeface="Microsoft Sans Serif"/>
              </a:rPr>
              <a:t> </a:t>
            </a:r>
            <a:r>
              <a:rPr lang="en" sz="1400" spc="-10" dirty="0">
                <a:latin typeface="Microsoft Sans Serif"/>
                <a:cs typeface="Microsoft Sans Serif"/>
              </a:rPr>
              <a:t>One</a:t>
            </a:r>
            <a:r>
              <a:rPr lang="en" sz="1400" spc="35" dirty="0">
                <a:latin typeface="Microsoft Sans Serif"/>
                <a:cs typeface="Microsoft Sans Serif"/>
              </a:rPr>
              <a:t> </a:t>
            </a:r>
            <a:r>
              <a:rPr lang="en" sz="1400" spc="-5" dirty="0">
                <a:latin typeface="Microsoft Sans Serif"/>
                <a:cs typeface="Microsoft Sans Serif"/>
              </a:rPr>
              <a:t>Hot</a:t>
            </a:r>
            <a:r>
              <a:rPr lang="en" sz="1400" spc="15" dirty="0">
                <a:latin typeface="Microsoft Sans Serif"/>
                <a:cs typeface="Microsoft Sans Serif"/>
              </a:rPr>
              <a:t> </a:t>
            </a:r>
            <a:r>
              <a:rPr lang="en" sz="1400" spc="-5" dirty="0">
                <a:latin typeface="Microsoft Sans Serif"/>
                <a:cs typeface="Microsoft Sans Serif"/>
              </a:rPr>
              <a:t>Encoding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C2753C-85DB-0F41-8226-4AC33BC1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80" y="1669876"/>
            <a:ext cx="22606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2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6" name="Google Shape;41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8" name="Google Shape;418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91667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200"/>
              <a:t>LIVE</a:t>
            </a:r>
            <a:endParaRPr sz="7200"/>
          </a:p>
        </p:txBody>
      </p:sp>
    </p:spTree>
    <p:extLst>
      <p:ext uri="{BB962C8B-B14F-4D97-AF65-F5344CB8AC3E}">
        <p14:creationId xmlns:p14="http://schemas.microsoft.com/office/powerpoint/2010/main" val="2195153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9" name="Google Shape;409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en" sz="1400" i="0" dirty="0">
                <a:solidFill>
                  <a:srgbClr val="292929"/>
                </a:solidFill>
                <a:effectLst/>
                <a:latin typeface=""/>
                <a:hlinkClick r:id="rId3"/>
              </a:rPr>
              <a:t>What is Feature Engineering</a:t>
            </a:r>
            <a:endParaRPr lang="en" sz="1400" i="0" dirty="0">
              <a:solidFill>
                <a:srgbClr val="292929"/>
              </a:solidFill>
              <a:effectLst/>
              <a:latin typeface=""/>
            </a:endParaRPr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400" b="0" i="0" dirty="0" err="1">
                <a:solidFill>
                  <a:srgbClr val="333333"/>
                </a:solidFill>
                <a:effectLst/>
                <a:latin typeface=""/>
                <a:hlinkClick r:id="rId4"/>
              </a:rPr>
              <a:t>Feature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"/>
                <a:hlinkClick r:id="rId4"/>
              </a:rPr>
              <a:t>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"/>
                <a:hlinkClick r:id="rId4"/>
              </a:rPr>
              <a:t>Engineering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"/>
                <a:hlinkClick r:id="rId4"/>
              </a:rPr>
              <a:t> или стероиды для ML моделей</a:t>
            </a:r>
            <a:endParaRPr lang="ru-RU" sz="1400" b="0" i="0" dirty="0">
              <a:solidFill>
                <a:srgbClr val="333333"/>
              </a:solidFill>
              <a:effectLst/>
              <a:latin typeface=""/>
            </a:endParaRPr>
          </a:p>
          <a:p>
            <a:pPr indent="-311150">
              <a:buSzPts val="1300"/>
              <a:buFont typeface="Roboto"/>
              <a:buAutoNum type="arabicPeriod"/>
            </a:pPr>
            <a:r>
              <a:rPr lang="en" sz="1400" i="0" dirty="0">
                <a:solidFill>
                  <a:srgbClr val="202124"/>
                </a:solidFill>
                <a:effectLst/>
                <a:latin typeface=""/>
                <a:hlinkClick r:id="rId5"/>
              </a:rPr>
              <a:t>Feature Engineering (Kaggle)</a:t>
            </a:r>
            <a:endParaRPr lang="en" sz="1400" i="0" dirty="0">
              <a:solidFill>
                <a:srgbClr val="202124"/>
              </a:solidFill>
              <a:effectLst/>
              <a:latin typeface="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7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10997</TotalTime>
  <Words>599</Words>
  <Application>Microsoft Macintosh PowerPoint</Application>
  <PresentationFormat>On-screen Show (16:9)</PresentationFormat>
  <Paragraphs>238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Cambria Math</vt:lpstr>
      <vt:lpstr>Arial</vt:lpstr>
      <vt:lpstr>Courier New</vt:lpstr>
      <vt:lpstr>Microsoft Sans Serif</vt:lpstr>
      <vt:lpstr>Roboto</vt:lpstr>
      <vt:lpstr>Times New Roman</vt:lpstr>
      <vt:lpstr>Светлая тема</vt:lpstr>
      <vt:lpstr>Светлая тема</vt:lpstr>
      <vt:lpstr>ML Basic Feature engineering &amp; advanced preprocessing.</vt:lpstr>
      <vt:lpstr>Проверить, идет ли запись</vt:lpstr>
      <vt:lpstr>Feature engineering &amp; advanced preprocessing.</vt:lpstr>
      <vt:lpstr>Правила вебинара</vt:lpstr>
      <vt:lpstr>Маршрут вебинара</vt:lpstr>
      <vt:lpstr>Цели вебинара</vt:lpstr>
      <vt:lpstr>Категориальные и порядковые признаки.</vt:lpstr>
      <vt:lpstr>Категориальные признаки</vt:lpstr>
      <vt:lpstr>Порядковые признаки</vt:lpstr>
      <vt:lpstr>Работа с категориальными признаками</vt:lpstr>
      <vt:lpstr>Работа с категориальными признаками</vt:lpstr>
      <vt:lpstr>Ordinary Encoding</vt:lpstr>
      <vt:lpstr>Count Encoding</vt:lpstr>
      <vt:lpstr>Frequency Encoding</vt:lpstr>
      <vt:lpstr>One Hot Encoding</vt:lpstr>
      <vt:lpstr>Binary Encoding</vt:lpstr>
      <vt:lpstr>Вопросы?</vt:lpstr>
      <vt:lpstr>LIVE</vt:lpstr>
      <vt:lpstr>Список материалов для изучения</vt:lpstr>
      <vt:lpstr>Рефлексия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Basic Задача регрессии. Линейная регрессия.</dc:title>
  <cp:lastModifiedBy>Стурейко Игорь Олегович</cp:lastModifiedBy>
  <cp:revision>13</cp:revision>
  <dcterms:modified xsi:type="dcterms:W3CDTF">2025-02-16T16:59:54Z</dcterms:modified>
</cp:coreProperties>
</file>