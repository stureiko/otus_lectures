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8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2" r:id="rId1"/>
  </p:sldMasterIdLst>
  <p:notesMasterIdLst>
    <p:notesMasterId r:id="rId19"/>
  </p:notesMasterIdLst>
  <p:sldIdLst>
    <p:sldId id="432" r:id="rId2"/>
    <p:sldId id="429" r:id="rId3"/>
    <p:sldId id="334" r:id="rId4"/>
    <p:sldId id="430" r:id="rId5"/>
    <p:sldId id="431" r:id="rId6"/>
    <p:sldId id="349" r:id="rId7"/>
    <p:sldId id="433" r:id="rId8"/>
    <p:sldId id="435" r:id="rId9"/>
    <p:sldId id="448" r:id="rId10"/>
    <p:sldId id="449" r:id="rId11"/>
    <p:sldId id="450" r:id="rId12"/>
    <p:sldId id="452" r:id="rId13"/>
    <p:sldId id="451" r:id="rId14"/>
    <p:sldId id="453" r:id="rId15"/>
    <p:sldId id="389" r:id="rId16"/>
    <p:sldId id="454" r:id="rId17"/>
    <p:sldId id="390" r:id="rId1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E6A93D-E22E-496A-AE55-A62C1E3046BF}">
  <a:tblStyle styleId="{23E6A93D-E22E-496A-AE55-A62C1E3046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64"/>
    <p:restoredTop sz="94641"/>
  </p:normalViewPr>
  <p:slideViewPr>
    <p:cSldViewPr snapToGrid="0">
      <p:cViewPr varScale="1">
        <p:scale>
          <a:sx n="280" d="100"/>
          <a:sy n="280" d="100"/>
        </p:scale>
        <p:origin x="1632" y="184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28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706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f72f1f578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f72f1f578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669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8807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5971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837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21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7" r:id="rId6"/>
    <p:sldLayoutId id="2147483663" r:id="rId7"/>
    <p:sldLayoutId id="2147483664" r:id="rId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ML Basic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Практика – А/Б тест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Basic</a:t>
            </a:r>
            <a:br>
              <a:rPr lang="en-US" dirty="0"/>
            </a:br>
            <a:r>
              <a:rPr lang="ru-RU" dirty="0"/>
              <a:t>Практика: А/Б тест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FDA211B5-D839-2D46-A709-5E6E9DC808C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425575" indent="-1417638"/>
            <a:r>
              <a:rPr lang="ru-RU" sz="1150" b="1" dirty="0"/>
              <a:t>Руководитель курсов: </a:t>
            </a:r>
            <a:r>
              <a:rPr lang="en-US" sz="1150" b="1" dirty="0"/>
              <a:t>	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Анализ временных рядов, эволюционные модели, финансовые модели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738008" y="1426469"/>
            <a:ext cx="2665379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1148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2200" dirty="0"/>
          </a:p>
          <a:p>
            <a:pPr marL="0" marR="28067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400" dirty="0"/>
          </a:p>
          <a:p>
            <a:pPr marL="133350" indent="0">
              <a:lnSpc>
                <a:spcPct val="100000"/>
              </a:lnSpc>
              <a:spcBef>
                <a:spcPts val="0"/>
              </a:spcBef>
              <a:buNone/>
            </a:pPr>
            <a:endParaRPr sz="9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35" dirty="0" err="1"/>
              <a:t>Задаем</a:t>
            </a:r>
            <a:r>
              <a:rPr spc="-45" dirty="0"/>
              <a:t> </a:t>
            </a:r>
            <a:r>
              <a:rPr spc="-5" dirty="0" err="1"/>
              <a:t>вопрос</a:t>
            </a:r>
            <a:r>
              <a:rPr lang="ru-RU" spc="-5" dirty="0"/>
              <a:t> </a:t>
            </a:r>
            <a:br>
              <a:rPr lang="ru-RU" spc="-5" dirty="0"/>
            </a:b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lang="ru-RU" spc="-3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200" spc="-1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1600" spc="-10" dirty="0"/>
          </a:p>
          <a:p>
            <a:pPr marL="0" marR="5080" indent="0">
              <a:lnSpc>
                <a:spcPct val="100000"/>
              </a:lnSpc>
              <a:spcBef>
                <a:spcPts val="0"/>
              </a:spcBef>
              <a:buNone/>
            </a:pPr>
            <a:r>
              <a:rPr spc="-10" dirty="0" err="1"/>
              <a:t>Вопросы</a:t>
            </a:r>
            <a:r>
              <a:rPr spc="-10" dirty="0"/>
              <a:t>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EC7AAE1-F612-A948-BBCA-1CDECDA2E53E}"/>
              </a:ext>
            </a:extLst>
          </p:cNvPr>
          <p:cNvGrpSpPr/>
          <p:nvPr/>
        </p:nvGrpSpPr>
        <p:grpSpPr>
          <a:xfrm>
            <a:off x="6046470" y="1135"/>
            <a:ext cx="3097530" cy="5135880"/>
            <a:chOff x="6046470" y="1135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470" y="1135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 dirty="0">
                <a:solidFill>
                  <a:schemeClr val="bg1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69332" y="190441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69332" y="238450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69332" y="286460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9332" y="334469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69332" y="382478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9332" y="430488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4294967295"/>
          </p:nvPr>
        </p:nvSpPr>
        <p:spPr>
          <a:xfrm>
            <a:off x="7277100" y="1116013"/>
            <a:ext cx="1866900" cy="35353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29591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pc="-10" dirty="0">
                <a:solidFill>
                  <a:schemeClr val="bg1"/>
                </a:solidFill>
              </a:rPr>
              <a:t>Условные </a:t>
            </a:r>
            <a:r>
              <a:rPr spc="-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обозначения</a:t>
            </a:r>
          </a:p>
          <a:p>
            <a:pPr marL="161290" indent="0">
              <a:lnSpc>
                <a:spcPct val="100000"/>
              </a:lnSpc>
              <a:spcBef>
                <a:spcPts val="1895"/>
              </a:spcBef>
              <a:buNone/>
            </a:pP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Индивидуально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5080" indent="0">
              <a:lnSpc>
                <a:spcPct val="100000"/>
              </a:lnSpc>
              <a:spcBef>
                <a:spcPts val="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на</a:t>
            </a:r>
            <a:r>
              <a:rPr sz="1100" b="0" spc="-1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активность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20"/>
              </a:spcBef>
              <a:buNone/>
            </a:pPr>
            <a:endParaRPr sz="16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buNone/>
            </a:pP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Пишем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dirty="0">
                <a:solidFill>
                  <a:schemeClr val="bg1"/>
                </a:solidFill>
                <a:latin typeface="Roboto"/>
                <a:cs typeface="Roboto"/>
              </a:rPr>
              <a:t>в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чат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950"/>
              </a:spcBef>
              <a:buNone/>
            </a:pP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Говорим</a:t>
            </a:r>
            <a:r>
              <a:rPr sz="1100" b="0" spc="-3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голосом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buNone/>
            </a:pPr>
            <a:endParaRPr sz="13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indent="0">
              <a:lnSpc>
                <a:spcPct val="100000"/>
              </a:lnSpc>
              <a:spcBef>
                <a:spcPts val="805"/>
              </a:spcBef>
              <a:buNone/>
            </a:pPr>
            <a:r>
              <a:rPr sz="1100" b="0" spc="-15" dirty="0">
                <a:solidFill>
                  <a:schemeClr val="bg1"/>
                </a:solidFill>
                <a:latin typeface="Roboto"/>
                <a:cs typeface="Roboto"/>
              </a:rPr>
              <a:t>Документ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20650" indent="0">
              <a:lnSpc>
                <a:spcPct val="100000"/>
              </a:lnSpc>
              <a:spcBef>
                <a:spcPts val="55"/>
              </a:spcBef>
              <a:buNone/>
            </a:pPr>
            <a:endParaRPr sz="1450" dirty="0">
              <a:solidFill>
                <a:schemeClr val="bg1"/>
              </a:solidFill>
              <a:latin typeface="Roboto"/>
              <a:cs typeface="Roboto"/>
            </a:endParaRPr>
          </a:p>
          <a:p>
            <a:pPr marL="161290" marR="161925" indent="0">
              <a:lnSpc>
                <a:spcPct val="100000"/>
              </a:lnSpc>
              <a:buNone/>
            </a:pP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Ответьте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себе </a:t>
            </a:r>
            <a:r>
              <a:rPr sz="1100" b="0" spc="10" dirty="0">
                <a:solidFill>
                  <a:schemeClr val="bg1"/>
                </a:solidFill>
                <a:latin typeface="Roboto"/>
                <a:cs typeface="Roboto"/>
              </a:rPr>
              <a:t>или </a:t>
            </a:r>
            <a:r>
              <a:rPr sz="1100" b="0" spc="-26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25" dirty="0">
                <a:solidFill>
                  <a:schemeClr val="bg1"/>
                </a:solidFill>
                <a:latin typeface="Roboto"/>
                <a:cs typeface="Roboto"/>
              </a:rPr>
              <a:t>задайте</a:t>
            </a:r>
            <a:r>
              <a:rPr sz="1100" b="0" spc="-20" dirty="0">
                <a:solidFill>
                  <a:schemeClr val="bg1"/>
                </a:solidFill>
                <a:latin typeface="Roboto"/>
                <a:cs typeface="Roboto"/>
              </a:rPr>
              <a:t> </a:t>
            </a:r>
            <a:r>
              <a:rPr sz="1100" b="0" spc="-5" dirty="0">
                <a:solidFill>
                  <a:schemeClr val="bg1"/>
                </a:solidFill>
                <a:latin typeface="Roboto"/>
                <a:cs typeface="Roboto"/>
              </a:rPr>
              <a:t>вопрос</a:t>
            </a:r>
            <a:endParaRPr sz="1100" dirty="0">
              <a:solidFill>
                <a:schemeClr val="bg1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Введение в </a:t>
            </a:r>
            <a:r>
              <a:rPr lang="en-US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1822876" y="2215059"/>
            <a:ext cx="2871318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Python </a:t>
            </a:r>
            <a:r>
              <a:rPr lang="ru-RU">
                <a:solidFill>
                  <a:schemeClr val="tx1"/>
                </a:solidFill>
              </a:rPr>
              <a:t>для </a:t>
            </a:r>
            <a:r>
              <a:rPr lang="en-US" dirty="0">
                <a:solidFill>
                  <a:schemeClr val="tx1"/>
                </a:solidFill>
              </a:rPr>
              <a:t>ML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844986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pc="-10">
                <a:solidFill>
                  <a:schemeClr val="tx1"/>
                </a:solidFill>
                <a:latin typeface="Roboto"/>
                <a:cs typeface="Roboto"/>
              </a:rPr>
              <a:t>Математика для </a:t>
            </a:r>
            <a:r>
              <a:rPr lang="en-US" spc="-10">
                <a:solidFill>
                  <a:schemeClr val="tx1"/>
                </a:solidFill>
                <a:latin typeface="Roboto"/>
                <a:cs typeface="Roboto"/>
              </a:rPr>
              <a:t>ML</a:t>
            </a:r>
            <a:endParaRPr lang="en-US" spc="-1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62000" y="335169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chemeClr val="tx1"/>
                </a:solidFill>
                <a:latin typeface="roboto" panose="02000000000000000000" pitchFamily="2" charset="0"/>
              </a:rPr>
              <a:t>Основные методы </a:t>
            </a:r>
            <a:r>
              <a:rPr lang="en-US">
                <a:solidFill>
                  <a:schemeClr val="tx1"/>
                </a:solidFill>
                <a:latin typeface="roboto" panose="02000000000000000000" pitchFamily="2" charset="0"/>
              </a:rPr>
              <a:t>ML</a:t>
            </a:r>
            <a:endParaRPr lang="ru-RU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4800600" y="394335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cxnSpLocks/>
            <a:stCxn id="27" idx="1"/>
            <a:endCxn id="12" idx="3"/>
          </p:cNvCxnSpPr>
          <p:nvPr/>
        </p:nvCxnSpPr>
        <p:spPr>
          <a:xfrm rot="10800000" flipV="1">
            <a:off x="2983317" y="1368349"/>
            <a:ext cx="2481341" cy="166244"/>
          </a:xfrm>
          <a:prstGeom prst="curvedConnector3">
            <a:avLst>
              <a:gd name="adj1" fmla="val 50000"/>
            </a:avLst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rot="16200000" flipV="1">
            <a:off x="5478033" y="1697921"/>
            <a:ext cx="363227" cy="1930903"/>
          </a:xfrm>
          <a:prstGeom prst="curvedConnector2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32" idx="0"/>
          </p:cNvCxnSpPr>
          <p:nvPr/>
        </p:nvCxnSpPr>
        <p:spPr>
          <a:xfrm rot="10800000" flipV="1">
            <a:off x="2341541" y="3185218"/>
            <a:ext cx="2704017" cy="166471"/>
          </a:xfrm>
          <a:prstGeom prst="curvedConnector2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2"/>
          </p:cNvCxnSpPr>
          <p:nvPr/>
        </p:nvCxnSpPr>
        <p:spPr>
          <a:xfrm rot="10800000">
            <a:off x="2341540" y="4032155"/>
            <a:ext cx="2459060" cy="251428"/>
          </a:xfrm>
          <a:prstGeom prst="curvedConnector2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70D3979-C0E5-2F4B-AC3A-6740724DC1A7}"/>
              </a:ext>
            </a:extLst>
          </p:cNvPr>
          <p:cNvSpPr/>
          <p:nvPr/>
        </p:nvSpPr>
        <p:spPr>
          <a:xfrm>
            <a:off x="662436" y="1284892"/>
            <a:ext cx="2320880" cy="4994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Python</a:t>
            </a:r>
            <a:r>
              <a:rPr lang="ru-RU" dirty="0">
                <a:solidFill>
                  <a:schemeClr val="tx1"/>
                </a:solidFill>
              </a:rPr>
              <a:t> ООП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66DC31A5-5702-914E-B4E6-630020165793}"/>
              </a:ext>
            </a:extLst>
          </p:cNvPr>
          <p:cNvCxnSpPr>
            <a:stCxn id="12" idx="2"/>
            <a:endCxn id="28" idx="0"/>
          </p:cNvCxnSpPr>
          <p:nvPr/>
        </p:nvCxnSpPr>
        <p:spPr>
          <a:xfrm rot="16200000" flipH="1">
            <a:off x="2325323" y="1281846"/>
            <a:ext cx="430765" cy="1435659"/>
          </a:xfrm>
          <a:prstGeom prst="curvedConnector3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Случайные величины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427538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7</a:t>
            </a:fld>
            <a:endParaRPr lang="ru"/>
          </a:p>
        </p:txBody>
      </p:sp>
      <p:pic>
        <p:nvPicPr>
          <p:cNvPr id="1026" name="Picture 2" descr="Что такое A/B test - Блог Ringostat: статьи о маркетинге и аналитике">
            <a:extLst>
              <a:ext uri="{FF2B5EF4-FFF2-40B4-BE49-F238E27FC236}">
                <a16:creationId xmlns:a16="http://schemas.microsoft.com/office/drawing/2014/main" id="{0547FA40-BD68-4F41-B662-FD81FE69B2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420"/>
          <a:stretch/>
        </p:blipFill>
        <p:spPr bwMode="auto">
          <a:xfrm>
            <a:off x="735734" y="1051746"/>
            <a:ext cx="5237049" cy="376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549141-93C4-5649-A45B-ED97EE90A074}"/>
              </a:ext>
            </a:extLst>
          </p:cNvPr>
          <p:cNvSpPr txBox="1"/>
          <p:nvPr/>
        </p:nvSpPr>
        <p:spPr>
          <a:xfrm>
            <a:off x="5972783" y="1624426"/>
            <a:ext cx="186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Контрольная группа</a:t>
            </a:r>
          </a:p>
          <a:p>
            <a:r>
              <a:rPr lang="ru-RU" dirty="0"/>
              <a:t>Конверсия 0.01%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F613D-D8C0-3741-AC4C-F30C026C6908}"/>
              </a:ext>
            </a:extLst>
          </p:cNvPr>
          <p:cNvSpPr txBox="1"/>
          <p:nvPr/>
        </p:nvSpPr>
        <p:spPr>
          <a:xfrm>
            <a:off x="5972783" y="3381983"/>
            <a:ext cx="2858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Эксперимент</a:t>
            </a:r>
          </a:p>
          <a:p>
            <a:r>
              <a:rPr lang="ru-RU" b="1" dirty="0">
                <a:solidFill>
                  <a:srgbClr val="00B050"/>
                </a:solidFill>
              </a:rPr>
              <a:t>Ожидаемая конверсия 0.013%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55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8</a:t>
            </a:fld>
            <a:endParaRPr lang="r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D1C1A0-F0FF-7142-8894-F41590C83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11" y="978887"/>
            <a:ext cx="6886778" cy="413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0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9</a:t>
            </a:fld>
            <a:endParaRPr lang="r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D1C1A0-F0FF-7142-8894-F41590C83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074324"/>
            <a:ext cx="2700000" cy="162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C8CE40-78C3-BB4C-864C-26EC50ECA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09" y="1074324"/>
            <a:ext cx="2699999" cy="162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736216-1488-5D43-AFED-4664B3018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36" y="3043217"/>
            <a:ext cx="2700000" cy="16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D4F25A-5CD1-3342-AB09-38CCFE6BA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467" y="3043217"/>
            <a:ext cx="2700000" cy="16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7ED606-5D8F-2E45-90F1-EFDF3A460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467" y="1074324"/>
            <a:ext cx="2700000" cy="16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1D86B3-EC56-154D-81EF-2D7FD0E0F3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2008" y="3043217"/>
            <a:ext cx="270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07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  <a:r>
              <a:rPr lang="en-US" dirty="0"/>
              <a:t> 1000 </a:t>
            </a:r>
            <a:r>
              <a:rPr lang="ru-RU" dirty="0"/>
              <a:t>серий по </a:t>
            </a:r>
            <a:r>
              <a:rPr lang="en-US" dirty="0"/>
              <a:t>1000</a:t>
            </a:r>
            <a:r>
              <a:rPr lang="ru-RU" dirty="0"/>
              <a:t> значений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10</a:t>
            </a:fld>
            <a:endParaRPr lang="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A4148E-DBC1-F74B-B6E6-1F691768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211" y="828553"/>
            <a:ext cx="7191578" cy="431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508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31C5E3C-E884-6C45-8289-8A026DD4B0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23" r="8365"/>
          <a:stretch/>
        </p:blipFill>
        <p:spPr>
          <a:xfrm>
            <a:off x="4777375" y="1588031"/>
            <a:ext cx="4243772" cy="3060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  <a:r>
              <a:rPr lang="en-US" dirty="0"/>
              <a:t> n = 1000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A4148E-DBC1-F74B-B6E6-1F691768F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23" r="8365"/>
          <a:stretch/>
        </p:blipFill>
        <p:spPr>
          <a:xfrm>
            <a:off x="122853" y="1588031"/>
            <a:ext cx="4243772" cy="3060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4893F8-21B6-4041-A84C-FA86806F0146}"/>
              </a:ext>
            </a:extLst>
          </p:cNvPr>
          <p:cNvCxnSpPr>
            <a:cxnSpLocks/>
          </p:cNvCxnSpPr>
          <p:nvPr/>
        </p:nvCxnSpPr>
        <p:spPr>
          <a:xfrm>
            <a:off x="1997413" y="2276272"/>
            <a:ext cx="0" cy="2030264"/>
          </a:xfrm>
          <a:prstGeom prst="line">
            <a:avLst/>
          </a:prstGeom>
          <a:ln w="28575">
            <a:solidFill>
              <a:srgbClr val="0070C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225AFE-305D-E648-8973-0889C8BFF8FB}"/>
              </a:ext>
            </a:extLst>
          </p:cNvPr>
          <p:cNvCxnSpPr>
            <a:cxnSpLocks/>
          </p:cNvCxnSpPr>
          <p:nvPr/>
        </p:nvCxnSpPr>
        <p:spPr>
          <a:xfrm>
            <a:off x="6965004" y="2276272"/>
            <a:ext cx="0" cy="2030264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C26D6E-4618-2B47-B8C1-0017B14393DE}"/>
              </a:ext>
            </a:extLst>
          </p:cNvPr>
          <p:cNvSpPr txBox="1"/>
          <p:nvPr/>
        </p:nvSpPr>
        <p:spPr>
          <a:xfrm>
            <a:off x="3785567" y="1026514"/>
            <a:ext cx="157286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sz="1000" dirty="0"/>
              <a:t>Значения в отдельных </a:t>
            </a:r>
            <a:br>
              <a:rPr lang="ru-RU" sz="1000" dirty="0"/>
            </a:br>
            <a:r>
              <a:rPr lang="ru-RU" sz="1000" dirty="0"/>
              <a:t>экспериментах</a:t>
            </a:r>
            <a:endParaRPr lang="en-US" sz="1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9640B1-A6B3-4849-B07B-60578C3FE8DD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997413" y="1226569"/>
            <a:ext cx="1788154" cy="1095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0380A2-40C0-B945-9B01-4645F9C59FAF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795804" y="1226569"/>
            <a:ext cx="1989763" cy="158796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9DADE7-5658-F848-A44A-A648C9A6D189}"/>
              </a:ext>
            </a:extLst>
          </p:cNvPr>
          <p:cNvCxnSpPr>
            <a:cxnSpLocks/>
          </p:cNvCxnSpPr>
          <p:nvPr/>
        </p:nvCxnSpPr>
        <p:spPr>
          <a:xfrm>
            <a:off x="1773677" y="2276272"/>
            <a:ext cx="0" cy="2030264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65E562F-F764-5441-940B-ED365A1B9CBD}"/>
              </a:ext>
            </a:extLst>
          </p:cNvPr>
          <p:cNvCxnSpPr>
            <a:cxnSpLocks/>
          </p:cNvCxnSpPr>
          <p:nvPr/>
        </p:nvCxnSpPr>
        <p:spPr>
          <a:xfrm>
            <a:off x="6507805" y="2276272"/>
            <a:ext cx="0" cy="2030264"/>
          </a:xfrm>
          <a:prstGeom prst="line">
            <a:avLst/>
          </a:prstGeom>
          <a:ln w="28575">
            <a:solidFill>
              <a:srgbClr val="0070C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198358-1855-6B44-9311-63FC5001C38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358433" y="1226569"/>
            <a:ext cx="1606571" cy="10497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A5441D5-2E6E-2643-97E6-4CFB9DB6B54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358433" y="1226569"/>
            <a:ext cx="1149372" cy="1089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756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</a:t>
            </a:r>
            <a:r>
              <a:rPr lang="en-US" dirty="0"/>
              <a:t>n = 10.000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12</a:t>
            </a:fld>
            <a:endParaRPr lang="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D40731-72C8-8F49-89D8-204160DE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0" y="823500"/>
            <a:ext cx="7199999" cy="4320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FF39C-79C6-594B-A9AB-8C18A797DD28}"/>
              </a:ext>
            </a:extLst>
          </p:cNvPr>
          <p:cNvCxnSpPr>
            <a:cxnSpLocks/>
          </p:cNvCxnSpPr>
          <p:nvPr/>
        </p:nvCxnSpPr>
        <p:spPr>
          <a:xfrm>
            <a:off x="3767845" y="1361872"/>
            <a:ext cx="0" cy="3301345"/>
          </a:xfrm>
          <a:prstGeom prst="line">
            <a:avLst/>
          </a:prstGeom>
          <a:ln w="38100">
            <a:solidFill>
              <a:srgbClr val="0070C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5E6517-EE0F-B049-A3E9-B9BBEC054E43}"/>
              </a:ext>
            </a:extLst>
          </p:cNvPr>
          <p:cNvCxnSpPr>
            <a:cxnSpLocks/>
          </p:cNvCxnSpPr>
          <p:nvPr/>
        </p:nvCxnSpPr>
        <p:spPr>
          <a:xfrm>
            <a:off x="4370965" y="1361872"/>
            <a:ext cx="0" cy="3301345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CFB7695-0B08-934C-BCC0-BE7DD9725C40}"/>
              </a:ext>
            </a:extLst>
          </p:cNvPr>
          <p:cNvSpPr txBox="1"/>
          <p:nvPr/>
        </p:nvSpPr>
        <p:spPr>
          <a:xfrm>
            <a:off x="4987046" y="2204936"/>
            <a:ext cx="1572866" cy="40011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sz="1000" dirty="0"/>
              <a:t>Значения в отдельных </a:t>
            </a:r>
            <a:br>
              <a:rPr lang="ru-RU" sz="1000" dirty="0"/>
            </a:br>
            <a:r>
              <a:rPr lang="ru-RU" sz="1000" dirty="0"/>
              <a:t>экспериментах</a:t>
            </a:r>
            <a:endParaRPr lang="en-US" sz="1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FEEC62-FAEC-C049-835A-0A7EC66BA5FC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767845" y="2404991"/>
            <a:ext cx="1219201" cy="623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047D4A-E944-9446-8B60-2047F6FACDE1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4370965" y="2404991"/>
            <a:ext cx="616081" cy="57815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65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13</a:t>
            </a:fld>
            <a:endParaRPr lang="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A8F6C6-B8D2-C747-9C05-3CEA278CB98D}"/>
              </a:ext>
            </a:extLst>
          </p:cNvPr>
          <p:cNvSpPr txBox="1"/>
          <p:nvPr/>
        </p:nvSpPr>
        <p:spPr>
          <a:xfrm>
            <a:off x="700391" y="1549941"/>
            <a:ext cx="83207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Чем длиннее серию мы соберем</a:t>
            </a:r>
            <a:r>
              <a:rPr lang="en-US" dirty="0"/>
              <a:t> – </a:t>
            </a:r>
            <a:r>
              <a:rPr lang="ru-RU" dirty="0"/>
              <a:t>тем уже будет распределение средних вокруг истинного мат ожидания и значит тем меньший эффект мы сможем обнаружить.</a:t>
            </a:r>
          </a:p>
          <a:p>
            <a:endParaRPr lang="ru-RU" dirty="0"/>
          </a:p>
          <a:p>
            <a:r>
              <a:rPr lang="ru-RU" dirty="0"/>
              <a:t>Как оценить размер выборки, что бы мы могли с сказать, что из 100 возможных выборок только в 5 случаях могут наблюдаться отличия такие или еще более значимые.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Вероятность совершить ошибку первого рода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Вероятность совершить ошибку второго рода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Размер эффекта который мы ловим</a:t>
            </a:r>
          </a:p>
        </p:txBody>
      </p:sp>
    </p:spTree>
    <p:extLst>
      <p:ext uri="{BB962C8B-B14F-4D97-AF65-F5344CB8AC3E}">
        <p14:creationId xmlns:p14="http://schemas.microsoft.com/office/powerpoint/2010/main" val="3999908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CEBC6F-BD3E-6F4A-BA26-07D44926C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размера выборки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3BAB41-0138-F14D-9450-B319B4F30A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14</a:t>
            </a:fld>
            <a:endParaRPr lang="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A8F6C6-B8D2-C747-9C05-3CEA278CB98D}"/>
                  </a:ext>
                </a:extLst>
              </p:cNvPr>
              <p:cNvSpPr txBox="1"/>
              <p:nvPr/>
            </p:nvSpPr>
            <p:spPr>
              <a:xfrm>
                <a:off x="700391" y="1050127"/>
                <a:ext cx="8320759" cy="3895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Точное значение - решение уравнения мощности</a:t>
                </a:r>
              </a:p>
              <a:p>
                <a:endParaRPr lang="ru-RU" dirty="0"/>
              </a:p>
              <a:p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statsmodels.stats.power.tt_ind_solve_power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effect_size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alpha=0.05, power=0.8, alternative='two-sided)</a:t>
                </a:r>
                <a:endParaRPr lang="ru-RU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ru-RU" dirty="0"/>
              </a:p>
              <a:p>
                <a:r>
                  <a:rPr lang="ru-RU" dirty="0"/>
                  <a:t>Внимание: в данной формуле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effect_size</a:t>
                </a:r>
                <a:r>
                  <a:rPr lang="ru-RU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ru-RU" dirty="0">
                    <a:latin typeface="+mn-lt"/>
                    <a:cs typeface="Courier New" panose="02070309020205020404" pitchFamily="49" charset="0"/>
                  </a:rPr>
                  <a:t>это </a:t>
                </a:r>
                <a:r>
                  <a:rPr lang="ru-RU" b="1" dirty="0">
                    <a:latin typeface="+mn-lt"/>
                    <a:cs typeface="Courier New" panose="02070309020205020404" pitchFamily="49" charset="0"/>
                  </a:rPr>
                  <a:t>размер эффекта деленный </a:t>
                </a:r>
                <a:r>
                  <a:rPr lang="ru-RU" dirty="0">
                    <a:latin typeface="+mn-lt"/>
                    <a:cs typeface="Courier New" panose="02070309020205020404" pitchFamily="49" charset="0"/>
                  </a:rPr>
                  <a:t>на стандартное отклонение!</a:t>
                </a:r>
              </a:p>
              <a:p>
                <a:endParaRPr lang="ru-RU" dirty="0">
                  <a:latin typeface="+mn-lt"/>
                  <a:cs typeface="Courier New" panose="02070309020205020404" pitchFamily="49" charset="0"/>
                </a:endParaRPr>
              </a:p>
              <a:p>
                <a:r>
                  <a:rPr lang="ru-RU" dirty="0">
                    <a:latin typeface="+mn-lt"/>
                    <a:cs typeface="Courier New" panose="02070309020205020404" pitchFamily="49" charset="0"/>
                  </a:rPr>
                  <a:t>Приближенное решение:</a:t>
                </a:r>
              </a:p>
              <a:p>
                <a:endParaRPr lang="ru-RU" dirty="0">
                  <a:latin typeface="+mn-lt"/>
                  <a:cs typeface="Courier New" panose="02070309020205020404" pitchFamily="49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f>
                                        <m:fPr>
                                          <m:type m:val="skw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2⋅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𝐵𝐶𝑅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𝐵𝐶𝑅</m:t>
                                          </m:r>
                                        </m:e>
                                      </m:d>
                                    </m:e>
                                  </m:ra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𝐵𝐶𝑅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𝐵𝐶𝑅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𝐵𝐶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⋅(1−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𝐵𝐶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n-lt"/>
                  </a:rPr>
                  <a:t>- </a:t>
                </a:r>
                <a:r>
                  <a:rPr lang="ru-RU" dirty="0">
                    <a:latin typeface="+mn-lt"/>
                  </a:rPr>
                  <a:t>критическое значение, соответствующее искомому уровню значимости.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- </a:t>
                </a:r>
                <a:r>
                  <a:rPr lang="ru-RU" dirty="0">
                    <a:latin typeface="+mn-lt"/>
                  </a:rPr>
                  <a:t>критическое значение, соответствующее заданному уровню статистической мощности.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+mn-lt"/>
                  </a:rPr>
                  <a:t> - </a:t>
                </a:r>
                <a:r>
                  <a:rPr lang="ru-RU" dirty="0">
                    <a:latin typeface="+mn-lt"/>
                  </a:rPr>
                  <a:t>размер эффекта, который необходимо выловить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𝐵𝐶𝑅</m:t>
                    </m:r>
                  </m:oMath>
                </a14:m>
                <a:r>
                  <a:rPr lang="en-US" dirty="0">
                    <a:latin typeface="+mn-lt"/>
                  </a:rPr>
                  <a:t> - </a:t>
                </a:r>
                <a:r>
                  <a:rPr lang="ru-RU" dirty="0">
                    <a:latin typeface="+mn-lt"/>
                  </a:rPr>
                  <a:t>базовый показатель конверсии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>
                    <a:latin typeface="+mn-lt"/>
                  </a:rPr>
                  <a:t> - </a:t>
                </a:r>
                <a:r>
                  <a:rPr lang="ru-RU" dirty="0">
                    <a:latin typeface="+mn-lt"/>
                  </a:rPr>
                  <a:t>показатель конверсии после изменений</a:t>
                </a:r>
                <a:r>
                  <a:rPr lang="en-US" dirty="0"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𝐵𝐶𝑅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ru-RU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A8F6C6-B8D2-C747-9C05-3CEA278CB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91" y="1050127"/>
                <a:ext cx="8320759" cy="3895234"/>
              </a:xfrm>
              <a:prstGeom prst="rect">
                <a:avLst/>
              </a:prstGeom>
              <a:blipFill>
                <a:blip r:embed="rId2"/>
                <a:stretch>
                  <a:fillRect l="-305" t="-325" b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160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 dirty="0"/>
              <a:t>Вопросы?</a:t>
            </a:r>
            <a:endParaRPr dirty="0"/>
          </a:p>
        </p:txBody>
      </p:sp>
      <p:pic>
        <p:nvPicPr>
          <p:cNvPr id="297" name="Google Shape;297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1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9" name="Google Shape;299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1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8CF9D2-628E-C34E-8B65-6B4E58685E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15</a:t>
            </a:fld>
            <a:endParaRPr lang="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1256C3-07D0-7344-AC32-1F6D226281ED}"/>
              </a:ext>
            </a:extLst>
          </p:cNvPr>
          <p:cNvSpPr txBox="1"/>
          <p:nvPr/>
        </p:nvSpPr>
        <p:spPr>
          <a:xfrm>
            <a:off x="651425" y="4487194"/>
            <a:ext cx="1386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Опрос и </a:t>
            </a:r>
            <a:r>
              <a:rPr lang="ru-RU" dirty="0" err="1">
                <a:solidFill>
                  <a:schemeClr val="bg1"/>
                </a:solidFill>
              </a:rPr>
              <a:t>дз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329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Практика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C6F7EEA-CFB2-FB45-BFE3-1E2E99EA3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/>
              <a:t>16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1727928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336" name="Google Shape;336;p46"/>
          <p:cNvSpPr txBox="1"/>
          <p:nvPr/>
        </p:nvSpPr>
        <p:spPr>
          <a:xfrm>
            <a:off x="1915425" y="1558024"/>
            <a:ext cx="61569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Roboto"/>
                <a:ea typeface="Roboto"/>
              </a:rPr>
              <a:t>Введение в машинное обучение</a:t>
            </a:r>
            <a:endParaRPr sz="2000" dirty="0">
              <a:solidFill>
                <a:schemeClr val="tx1"/>
              </a:solidFill>
              <a:latin typeface="Roboto"/>
              <a:ea typeface="Roboto"/>
            </a:endParaRPr>
          </a:p>
        </p:txBody>
      </p:sp>
      <p:pic>
        <p:nvPicPr>
          <p:cNvPr id="337" name="Google Shape;33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6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46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46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1" name="Google Shape;34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8404141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9207</TotalTime>
  <Words>447</Words>
  <Application>Microsoft Macintosh PowerPoint</Application>
  <PresentationFormat>On-screen Show (16:9)</PresentationFormat>
  <Paragraphs>112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Roboto</vt:lpstr>
      <vt:lpstr>Cambria Math</vt:lpstr>
      <vt:lpstr>Roboto</vt:lpstr>
      <vt:lpstr>Arial</vt:lpstr>
      <vt:lpstr>Courier New</vt:lpstr>
      <vt:lpstr>Светлая тема</vt:lpstr>
      <vt:lpstr>ML Basic Практика – А/Б тест</vt:lpstr>
      <vt:lpstr>Проверить, идет ли запись</vt:lpstr>
      <vt:lpstr>ML Basic Практика: А/Б тест</vt:lpstr>
      <vt:lpstr>Правила вебинара</vt:lpstr>
      <vt:lpstr>Карта курса</vt:lpstr>
      <vt:lpstr>Случайные величины</vt:lpstr>
      <vt:lpstr>Эксперимент</vt:lpstr>
      <vt:lpstr>Результат</vt:lpstr>
      <vt:lpstr>Результат</vt:lpstr>
      <vt:lpstr>Результат 1000 серий по 1000 значений</vt:lpstr>
      <vt:lpstr>Результат n = 1000</vt:lpstr>
      <vt:lpstr>Результат n = 10.000</vt:lpstr>
      <vt:lpstr>Результат</vt:lpstr>
      <vt:lpstr>Оценка размера выборки</vt:lpstr>
      <vt:lpstr>Вопросы?</vt:lpstr>
      <vt:lpstr>Практика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17. Основы статистики</dc:title>
  <cp:lastModifiedBy>Стурейко Игорь Олегович</cp:lastModifiedBy>
  <cp:revision>65</cp:revision>
  <dcterms:modified xsi:type="dcterms:W3CDTF">2025-04-15T12:47:53Z</dcterms:modified>
</cp:coreProperties>
</file>