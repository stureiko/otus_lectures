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media/image32.jpg" ContentType="image/jpg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68"/>
  </p:notesMasterIdLst>
  <p:sldIdLst>
    <p:sldId id="304" r:id="rId2"/>
    <p:sldId id="257" r:id="rId3"/>
    <p:sldId id="334" r:id="rId4"/>
    <p:sldId id="258" r:id="rId5"/>
    <p:sldId id="263" r:id="rId6"/>
    <p:sldId id="313" r:id="rId7"/>
    <p:sldId id="347" r:id="rId8"/>
    <p:sldId id="350" r:id="rId9"/>
    <p:sldId id="351" r:id="rId10"/>
    <p:sldId id="352" r:id="rId11"/>
    <p:sldId id="354" r:id="rId12"/>
    <p:sldId id="355" r:id="rId13"/>
    <p:sldId id="353" r:id="rId14"/>
    <p:sldId id="1485" r:id="rId15"/>
    <p:sldId id="356" r:id="rId16"/>
    <p:sldId id="318" r:id="rId17"/>
    <p:sldId id="348" r:id="rId18"/>
    <p:sldId id="1448" r:id="rId19"/>
    <p:sldId id="1449" r:id="rId20"/>
    <p:sldId id="1452" r:id="rId21"/>
    <p:sldId id="1453" r:id="rId22"/>
    <p:sldId id="1484" r:id="rId23"/>
    <p:sldId id="363" r:id="rId24"/>
    <p:sldId id="1455" r:id="rId25"/>
    <p:sldId id="366" r:id="rId26"/>
    <p:sldId id="1456" r:id="rId27"/>
    <p:sldId id="1457" r:id="rId28"/>
    <p:sldId id="371" r:id="rId29"/>
    <p:sldId id="372" r:id="rId30"/>
    <p:sldId id="1458" r:id="rId31"/>
    <p:sldId id="1483" r:id="rId32"/>
    <p:sldId id="1477" r:id="rId33"/>
    <p:sldId id="1479" r:id="rId34"/>
    <p:sldId id="1480" r:id="rId35"/>
    <p:sldId id="1481" r:id="rId36"/>
    <p:sldId id="1482" r:id="rId37"/>
    <p:sldId id="324" r:id="rId38"/>
    <p:sldId id="325" r:id="rId39"/>
    <p:sldId id="378" r:id="rId40"/>
    <p:sldId id="377" r:id="rId41"/>
    <p:sldId id="376" r:id="rId42"/>
    <p:sldId id="375" r:id="rId43"/>
    <p:sldId id="349" r:id="rId44"/>
    <p:sldId id="1487" r:id="rId45"/>
    <p:sldId id="1488" r:id="rId46"/>
    <p:sldId id="14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  <p:sldId id="386" r:id="rId55"/>
    <p:sldId id="387" r:id="rId56"/>
    <p:sldId id="329" r:id="rId57"/>
    <p:sldId id="390" r:id="rId58"/>
    <p:sldId id="389" r:id="rId59"/>
    <p:sldId id="393" r:id="rId60"/>
    <p:sldId id="394" r:id="rId61"/>
    <p:sldId id="395" r:id="rId62"/>
    <p:sldId id="396" r:id="rId63"/>
    <p:sldId id="397" r:id="rId64"/>
    <p:sldId id="391" r:id="rId65"/>
    <p:sldId id="302" r:id="rId66"/>
    <p:sldId id="335" r:id="rId67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69"/>
    </p:embeddedFont>
    <p:embeddedFont>
      <p:font typeface="Open Sans" panose="020B0606030504020204" pitchFamily="34" charset="0"/>
      <p:regular r:id="rId70"/>
      <p:bold r:id="rId71"/>
      <p:italic r:id="rId72"/>
      <p:boldItalic r:id="rId73"/>
    </p:embeddedFont>
    <p:embeddedFont>
      <p:font typeface="Roboto" panose="02000000000000000000" pitchFamily="2" charset="0"/>
      <p:regular r:id="rId74"/>
      <p:bold r:id="rId75"/>
      <p:italic r:id="rId76"/>
      <p:boldItalic r:id="rId7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1002">
          <p15:clr>
            <a:srgbClr val="9AA0A6"/>
          </p15:clr>
        </p15:guide>
        <p15:guide id="3" orient="horz" pos="179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66"/>
    <p:restoredTop sz="94688"/>
  </p:normalViewPr>
  <p:slideViewPr>
    <p:cSldViewPr snapToGrid="0">
      <p:cViewPr varScale="1">
        <p:scale>
          <a:sx n="186" d="100"/>
          <a:sy n="186" d="100"/>
        </p:scale>
        <p:origin x="224" y="368"/>
      </p:cViewPr>
      <p:guideLst>
        <p:guide pos="5533"/>
        <p:guide pos="1002"/>
        <p:guide orient="horz" pos="1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6.fntdata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1.fntdata"/><Relationship Id="rId77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4.fntdata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2.fntdata"/><Relationship Id="rId75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font" Target="fonts/font5.fntdata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font" Target="fonts/font3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8" name="Google Shape;13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1" name="Google Shape;23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85127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9907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14701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298917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4888F-475D-467B-8769-85C324E6C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721F94-EDA0-1651-A1CE-F3BD47244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F784D86-0720-3721-6A96-9C947C3588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1317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>
          <a:extLst>
            <a:ext uri="{FF2B5EF4-FFF2-40B4-BE49-F238E27FC236}">
              <a16:creationId xmlns:a16="http://schemas.microsoft.com/office/drawing/2014/main" id="{46F56B50-7EDA-3193-E100-749C4050A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>
            <a:extLst>
              <a:ext uri="{FF2B5EF4-FFF2-40B4-BE49-F238E27FC236}">
                <a16:creationId xmlns:a16="http://schemas.microsoft.com/office/drawing/2014/main" id="{FBEB7291-E30E-4975-8CDA-0230084B4F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>
            <a:extLst>
              <a:ext uri="{FF2B5EF4-FFF2-40B4-BE49-F238E27FC236}">
                <a16:creationId xmlns:a16="http://schemas.microsoft.com/office/drawing/2014/main" id="{4114E10C-F7DC-2EC7-8734-E3C0FF931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43027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4820A-783C-FAED-06C1-D7A6F74E4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D8B1F0A-60F3-9E27-C291-D0C6D9D73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07D96A5-1457-4ADD-6486-11A0365C6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25672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8E0EB-0518-89C9-12E3-C40D76076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2E52467-8FD3-A31F-9B3B-0AEEC2F130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1164D5C-FFB8-EF53-A3EE-593B3C654C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789806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FAC17-BEF1-9C5F-339F-8D585F7FD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7CF7EFF-C032-E6E9-FE27-FA0AC1B7C6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6C3C76-A9EE-F066-89BF-959102150F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73570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C4B9B-019F-029C-2FC4-446F51EEA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A538DF1-790B-69BA-DA4D-6615F14A4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27FC383-3ADE-7ECD-6A59-A16B60CED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586219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042EC-1BC2-2082-EEE6-636F0C6CB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82DB7F4-E698-67D0-81F8-CDD9315F16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92256A4-F365-5848-8837-05AFCDF67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524248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02645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64236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0BC9-09B3-0BE7-1A2D-B7DD6A7DF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00008D8-59B2-99EA-A624-88C4F7F72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4136CF3-6A5D-0698-35A7-9EF17C3029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675480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95A93-000F-656F-51C3-9C00760B6A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24EBD54-09A9-14E3-A805-DA3FCD150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1BCE935E-9815-CF2F-8D4E-D1EFEDC1C1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4954822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864068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37971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8" name="Google Shape;478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72283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1" name="Google Shape;431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17346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2" name="Google Shape;492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21183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99" r="98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500"/>
              <a:buNone/>
              <a:defRPr sz="1500">
                <a:solidFill>
                  <a:srgbClr val="FF99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29" name="Google Shape;29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11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Ваш макет 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788680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Заголовок и объект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14350" y="2000251"/>
            <a:ext cx="5619996" cy="1450181"/>
          </a:xfrm>
          <a:prstGeom prst="rect">
            <a:avLst/>
          </a:prstGeom>
        </p:spPr>
        <p:txBody>
          <a:bodyPr lIns="0" tIns="0" rIns="0" bIns="0"/>
          <a:lstStyle>
            <a:lvl1pPr>
              <a:defRPr sz="4950" b="0" i="0">
                <a:solidFill>
                  <a:schemeClr val="tx1"/>
                </a:solidFill>
                <a:latin typeface="SBSansDisplay-Light"/>
                <a:cs typeface="SBSansDisplay-Light"/>
              </a:defRPr>
            </a:lvl1pPr>
          </a:lstStyle>
          <a:p>
            <a:r>
              <a:rPr lang="ru-RU"/>
              <a:t>Образец заголовка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10/17/25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478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365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238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115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6" r:id="rId13"/>
    <p:sldLayoutId id="2147483677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2.deloitte.com/us/en/insights/focus/tech-trends/2021/mlops-industrialized-ai.html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2.deloitte.com/us/en/insights/focus/tech-trends/2021/mlops-industrialized-ai.html" TargetMode="External"/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pypi.org/project/dostoevsky/" TargetMode="External"/><Relationship Id="rId2" Type="http://schemas.openxmlformats.org/officeDocument/2006/relationships/hyperlink" Target="https://www.kaggle.com/c/home-credit-default-risk" TargetMode="Externa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www.kaggle.com/c/tweet-sentiment-extraction" TargetMode="Externa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linkedin.com/in/igor-stureik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0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ru-RU"/>
              <a:t>otus.ru</a:t>
            </a:r>
            <a:endParaRPr/>
          </a:p>
        </p:txBody>
      </p:sp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dirty="0"/>
              <a:t>ML </a:t>
            </a:r>
            <a:r>
              <a:rPr lang="en-US" dirty="0"/>
              <a:t>Basic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b="1" dirty="0">
                <a:latin typeface="Roboto"/>
                <a:ea typeface="Roboto"/>
                <a:cs typeface="Roboto"/>
                <a:sym typeface="Roboto"/>
              </a:rPr>
              <a:t>Введение в машинное обучение</a:t>
            </a:r>
            <a:endParaRPr lang="en-US" sz="5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"/>
          <p:cNvSpPr txBox="1">
            <a:spLocks noGrp="1"/>
          </p:cNvSpPr>
          <p:nvPr>
            <p:ph type="title"/>
          </p:nvPr>
        </p:nvSpPr>
        <p:spPr>
          <a:xfrm>
            <a:off x="1635875" y="772125"/>
            <a:ext cx="79353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2100"/>
              <a:t>Проверить, идет ли запись</a:t>
            </a:r>
            <a:endParaRPr sz="2100"/>
          </a:p>
        </p:txBody>
      </p:sp>
      <p:sp>
        <p:nvSpPr>
          <p:cNvPr id="132" name="Google Shape;132;p31"/>
          <p:cNvSpPr txBox="1">
            <a:spLocks noGrp="1"/>
          </p:cNvSpPr>
          <p:nvPr>
            <p:ph type="title"/>
          </p:nvPr>
        </p:nvSpPr>
        <p:spPr>
          <a:xfrm>
            <a:off x="766725" y="1805199"/>
            <a:ext cx="7935300" cy="129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4000"/>
              <a:t>Меня хорошо видно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ru-RU" sz="4000"/>
              <a:t>&amp;&amp; слышно?</a:t>
            </a:r>
            <a:endParaRPr sz="4000"/>
          </a:p>
        </p:txBody>
      </p:sp>
      <p:pic>
        <p:nvPicPr>
          <p:cNvPr id="133" name="Google Shape;133;p31"/>
          <p:cNvPicPr preferRelativeResize="0"/>
          <p:nvPr/>
        </p:nvPicPr>
        <p:blipFill rotWithShape="1">
          <a:blip r:embed="rId3">
            <a:alphaModFix/>
          </a:blip>
          <a:srcRect l="99" r="98"/>
          <a:stretch/>
        </p:blipFill>
        <p:spPr>
          <a:xfrm>
            <a:off x="880825" y="1032408"/>
            <a:ext cx="642317" cy="32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72375" y="3520050"/>
            <a:ext cx="525600" cy="5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31"/>
          <p:cNvSpPr txBox="1"/>
          <p:nvPr/>
        </p:nvSpPr>
        <p:spPr>
          <a:xfrm>
            <a:off x="1514225" y="3459600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Ставим “+”, если все хорошо</a:t>
            </a:r>
            <a:b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ru-RU" sz="15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“-”, если есть проблемы</a:t>
            </a:r>
            <a:endParaRPr sz="15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48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ML Basic</a:t>
            </a:r>
            <a:br>
              <a:rPr lang="en-US" dirty="0"/>
            </a:br>
            <a:r>
              <a:rPr lang="en-US" sz="2400" dirty="0" err="1"/>
              <a:t>Вв</a:t>
            </a:r>
            <a:r>
              <a:rPr lang="ru-RU" sz="2400" dirty="0" err="1"/>
              <a:t>едение</a:t>
            </a:r>
            <a:r>
              <a:rPr lang="ru-RU" sz="2400" dirty="0"/>
              <a:t> в машинное обучение</a:t>
            </a:r>
            <a:endParaRPr dirty="0"/>
          </a:p>
        </p:txBody>
      </p:sp>
      <p:sp>
        <p:nvSpPr>
          <p:cNvPr id="207" name="Google Shape;207;p48"/>
          <p:cNvSpPr txBox="1">
            <a:spLocks noGrp="1"/>
          </p:cNvSpPr>
          <p:nvPr>
            <p:ph type="subTitle" idx="1"/>
          </p:nvPr>
        </p:nvSpPr>
        <p:spPr>
          <a:xfrm>
            <a:off x="500550" y="520133"/>
            <a:ext cx="7796700" cy="35692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Тема вебинара</a:t>
            </a:r>
            <a:endParaRPr dirty="0"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2215E3-7B5E-BC4F-9DA6-F65D728D82F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063EB284-3801-2C44-8FE9-F58E27AB8AB5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20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2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2"/>
          <p:cNvSpPr txBox="1">
            <a:spLocks noGrp="1"/>
          </p:cNvSpPr>
          <p:nvPr>
            <p:ph type="title"/>
          </p:nvPr>
        </p:nvSpPr>
        <p:spPr>
          <a:xfrm>
            <a:off x="500550" y="821219"/>
            <a:ext cx="85206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ru-RU" sz="2400" b="1" dirty="0">
                <a:latin typeface="Roboto"/>
                <a:ea typeface="Roboto"/>
                <a:cs typeface="Roboto"/>
                <a:sym typeface="Roboto"/>
              </a:rPr>
              <a:t>Введение в машинное обучение</a:t>
            </a:r>
            <a:endParaRPr lang="ru-RU" sz="2400" dirty="0"/>
          </a:p>
        </p:txBody>
      </p:sp>
      <p:sp>
        <p:nvSpPr>
          <p:cNvPr id="143" name="Google Shape;143;p32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Тема вебинара</a:t>
            </a:r>
            <a:endParaRPr dirty="0"/>
          </a:p>
        </p:txBody>
      </p:sp>
      <p:sp>
        <p:nvSpPr>
          <p:cNvPr id="144" name="Google Shape;144;p32"/>
          <p:cNvSpPr txBox="1">
            <a:spLocks noGrp="1"/>
          </p:cNvSpPr>
          <p:nvPr>
            <p:ph type="subTitle" idx="2"/>
          </p:nvPr>
        </p:nvSpPr>
        <p:spPr>
          <a:xfrm>
            <a:off x="3082400" y="2703052"/>
            <a:ext cx="58563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Мария Тихонова, PhD </a:t>
            </a:r>
            <a:endParaRPr dirty="0"/>
          </a:p>
        </p:txBody>
      </p:sp>
      <p:sp>
        <p:nvSpPr>
          <p:cNvPr id="145" name="Google Shape;145;p32"/>
          <p:cNvSpPr txBox="1">
            <a:spLocks noGrp="1"/>
          </p:cNvSpPr>
          <p:nvPr>
            <p:ph type="subTitle" idx="3"/>
          </p:nvPr>
        </p:nvSpPr>
        <p:spPr>
          <a:xfrm>
            <a:off x="3153470" y="3289382"/>
            <a:ext cx="5095500" cy="15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1150" b="1" dirty="0"/>
              <a:t>Руководитель исследовательского направления</a:t>
            </a:r>
            <a:r>
              <a:rPr lang="en-US" sz="1150" b="1" dirty="0"/>
              <a:t>, C</a:t>
            </a:r>
            <a:r>
              <a:rPr lang="ru-RU" sz="1150" b="1" dirty="0" err="1"/>
              <a:t>бер</a:t>
            </a:r>
            <a:endParaRPr sz="1150" b="1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endParaRPr sz="115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ru-RU" sz="1400" dirty="0" err="1"/>
              <a:t>Тг</a:t>
            </a:r>
            <a:r>
              <a:rPr lang="ru-RU" sz="1400" dirty="0"/>
              <a:t>-канал </a:t>
            </a:r>
            <a:r>
              <a:rPr lang="en-US" sz="1400" dirty="0"/>
              <a:t>@</a:t>
            </a:r>
            <a:r>
              <a:rPr lang="en-US" sz="1400" dirty="0" err="1"/>
              <a:t>mashkka_ds</a:t>
            </a:r>
            <a:endParaRPr sz="1400" dirty="0"/>
          </a:p>
        </p:txBody>
      </p:sp>
      <p:pic>
        <p:nvPicPr>
          <p:cNvPr id="3" name="Google Shape;144;g32b0fb1c27f_0_25">
            <a:extLst>
              <a:ext uri="{FF2B5EF4-FFF2-40B4-BE49-F238E27FC236}">
                <a16:creationId xmlns:a16="http://schemas.microsoft.com/office/drawing/2014/main" id="{49256599-CFAB-96E0-0D2B-11C3C131616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1076" b="11084"/>
          <a:stretch/>
        </p:blipFill>
        <p:spPr>
          <a:xfrm>
            <a:off x="895030" y="2901502"/>
            <a:ext cx="1683555" cy="1635839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7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</a:pPr>
            <a:r>
              <a:rPr lang="ru-RU"/>
              <a:t>Маршрут вебинара</a:t>
            </a:r>
            <a:endParaRPr/>
          </a:p>
        </p:txBody>
      </p:sp>
      <p:sp>
        <p:nvSpPr>
          <p:cNvPr id="234" name="Google Shape;234;p37"/>
          <p:cNvSpPr/>
          <p:nvPr/>
        </p:nvSpPr>
        <p:spPr>
          <a:xfrm>
            <a:off x="787724" y="1660379"/>
            <a:ext cx="4695067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Знакомство с машинным обучением</a:t>
            </a:r>
          </a:p>
        </p:txBody>
      </p:sp>
      <p:sp>
        <p:nvSpPr>
          <p:cNvPr id="235" name="Google Shape;235;p37"/>
          <p:cNvSpPr/>
          <p:nvPr/>
        </p:nvSpPr>
        <p:spPr>
          <a:xfrm>
            <a:off x="788326" y="2249881"/>
            <a:ext cx="4696874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Основные понятия 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sp>
        <p:nvSpPr>
          <p:cNvPr id="236" name="Google Shape;236;p37"/>
          <p:cNvSpPr/>
          <p:nvPr/>
        </p:nvSpPr>
        <p:spPr>
          <a:xfrm>
            <a:off x="788325" y="2826896"/>
            <a:ext cx="46968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Pipeline </a:t>
            </a:r>
            <a:r>
              <a:rPr lang="ru-RU" sz="16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обучения</a:t>
            </a:r>
            <a:r>
              <a:rPr lang="ru-RU" sz="16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модели</a:t>
            </a:r>
          </a:p>
        </p:txBody>
      </p:sp>
      <p:sp>
        <p:nvSpPr>
          <p:cNvPr id="237" name="Google Shape;237;p37"/>
          <p:cNvSpPr/>
          <p:nvPr/>
        </p:nvSpPr>
        <p:spPr>
          <a:xfrm>
            <a:off x="787725" y="3403918"/>
            <a:ext cx="46986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Задачи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ML</a:t>
            </a:r>
          </a:p>
        </p:txBody>
      </p:sp>
      <p:cxnSp>
        <p:nvCxnSpPr>
          <p:cNvPr id="239" name="Google Shape;239;p37"/>
          <p:cNvCxnSpPr>
            <a:cxnSpLocks/>
            <a:stCxn id="234" idx="1"/>
            <a:endCxn id="235" idx="1"/>
          </p:cNvCxnSpPr>
          <p:nvPr/>
        </p:nvCxnSpPr>
        <p:spPr>
          <a:xfrm rot="10800000" flipH="1" flipV="1">
            <a:off x="787724" y="1848479"/>
            <a:ext cx="602" cy="589502"/>
          </a:xfrm>
          <a:prstGeom prst="curvedConnector3">
            <a:avLst>
              <a:gd name="adj1" fmla="val -37973422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0" name="Google Shape;240;p37"/>
          <p:cNvCxnSpPr>
            <a:cxnSpLocks/>
            <a:stCxn id="235" idx="1"/>
            <a:endCxn id="236" idx="1"/>
          </p:cNvCxnSpPr>
          <p:nvPr/>
        </p:nvCxnSpPr>
        <p:spPr>
          <a:xfrm rot="10800000" flipV="1">
            <a:off x="788326" y="2437980"/>
            <a:ext cx="1" cy="577015"/>
          </a:xfrm>
          <a:prstGeom prst="curvedConnector3">
            <a:avLst>
              <a:gd name="adj1" fmla="val 228601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241" name="Google Shape;241;p37"/>
          <p:cNvCxnSpPr>
            <a:cxnSpLocks/>
            <a:stCxn id="236" idx="1"/>
            <a:endCxn id="237" idx="1"/>
          </p:cNvCxnSpPr>
          <p:nvPr/>
        </p:nvCxnSpPr>
        <p:spPr>
          <a:xfrm rot="10800000" flipV="1">
            <a:off x="787725" y="3014996"/>
            <a:ext cx="600" cy="577022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4" name="Google Shape;237;p37">
            <a:extLst>
              <a:ext uri="{FF2B5EF4-FFF2-40B4-BE49-F238E27FC236}">
                <a16:creationId xmlns:a16="http://schemas.microsoft.com/office/drawing/2014/main" id="{356F55A0-0C61-65E3-CF76-64236C5847AC}"/>
              </a:ext>
            </a:extLst>
          </p:cNvPr>
          <p:cNvSpPr/>
          <p:nvPr/>
        </p:nvSpPr>
        <p:spPr>
          <a:xfrm>
            <a:off x="787724" y="3980933"/>
            <a:ext cx="4698675" cy="376200"/>
          </a:xfrm>
          <a:prstGeom prst="roundRect">
            <a:avLst>
              <a:gd name="adj" fmla="val 16667"/>
            </a:avLst>
          </a:prstGeom>
          <a:solidFill>
            <a:srgbClr val="FFD966"/>
          </a:solidFill>
          <a:ln>
            <a:noFill/>
          </a:ln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Типы признаков</a:t>
            </a:r>
          </a:p>
        </p:txBody>
      </p:sp>
      <p:cxnSp>
        <p:nvCxnSpPr>
          <p:cNvPr id="5" name="Google Shape;241;p37">
            <a:extLst>
              <a:ext uri="{FF2B5EF4-FFF2-40B4-BE49-F238E27FC236}">
                <a16:creationId xmlns:a16="http://schemas.microsoft.com/office/drawing/2014/main" id="{5BEEA92A-E98F-F9D0-6123-A4719C71E2F8}"/>
              </a:ext>
            </a:extLst>
          </p:cNvPr>
          <p:cNvCxnSpPr>
            <a:cxnSpLocks/>
          </p:cNvCxnSpPr>
          <p:nvPr/>
        </p:nvCxnSpPr>
        <p:spPr>
          <a:xfrm rot="10800000" flipV="1">
            <a:off x="782367" y="3592010"/>
            <a:ext cx="600" cy="577022"/>
          </a:xfrm>
          <a:prstGeom prst="curvedConnector3">
            <a:avLst>
              <a:gd name="adj1" fmla="val 38200000"/>
            </a:avLst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80ABFE44-BFB6-1643-821F-67C98E36DE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18" y="1660379"/>
            <a:ext cx="2696754" cy="26967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Знакомство с машинным обучением</a:t>
            </a:r>
          </a:p>
        </p:txBody>
      </p:sp>
    </p:spTree>
    <p:extLst>
      <p:ext uri="{BB962C8B-B14F-4D97-AF65-F5344CB8AC3E}">
        <p14:creationId xmlns:p14="http://schemas.microsoft.com/office/powerpoint/2010/main" val="896161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A9A14728-7AA0-D8A6-FFD0-F35C7E29CB22}"/>
              </a:ext>
            </a:extLst>
          </p:cNvPr>
          <p:cNvGrpSpPr/>
          <p:nvPr/>
        </p:nvGrpSpPr>
        <p:grpSpPr>
          <a:xfrm>
            <a:off x="86710" y="612248"/>
            <a:ext cx="9057290" cy="4202526"/>
            <a:chOff x="150124" y="1703763"/>
            <a:chExt cx="11891752" cy="5425051"/>
          </a:xfrm>
        </p:grpSpPr>
        <p:sp>
          <p:nvSpPr>
            <p:cNvPr id="10" name="Google Shape;212;p2">
              <a:extLst>
                <a:ext uri="{FF2B5EF4-FFF2-40B4-BE49-F238E27FC236}">
                  <a16:creationId xmlns:a16="http://schemas.microsoft.com/office/drawing/2014/main" id="{C11461C9-4941-2DB5-5DAB-FF3E19DFB80B}"/>
                </a:ext>
              </a:extLst>
            </p:cNvPr>
            <p:cNvSpPr txBox="1"/>
            <p:nvPr/>
          </p:nvSpPr>
          <p:spPr>
            <a:xfrm>
              <a:off x="1641234" y="1703763"/>
              <a:ext cx="9206819" cy="202622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>
              <a:spAutoFit/>
            </a:bodyPr>
            <a:lstStyle>
              <a:lvl1pPr algn="ctr">
                <a:defRPr sz="6000">
                  <a:latin typeface="Avenir"/>
                  <a:ea typeface="Avenir"/>
                  <a:cs typeface="Avenir"/>
                  <a:sym typeface="Avenir Roman"/>
                </a:defRPr>
              </a:lvl1pPr>
            </a:lstStyle>
            <a:p>
              <a:r>
                <a:rPr lang="ru-RU" sz="4800" dirty="0">
                  <a:latin typeface="Arial" panose="020B0604020202020204" pitchFamily="34" charset="0"/>
                  <a:cs typeface="Arial" panose="020B0604020202020204" pitchFamily="34" charset="0"/>
                </a:rPr>
                <a:t>Что такое </a:t>
              </a:r>
            </a:p>
            <a:p>
              <a:r>
                <a:rPr lang="ru-RU"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машинное обучение</a:t>
              </a:r>
              <a:r>
                <a:rPr sz="4800" b="1" dirty="0">
                  <a:latin typeface="Arial" panose="020B0604020202020204" pitchFamily="34" charset="0"/>
                  <a:cs typeface="Arial" panose="020B0604020202020204" pitchFamily="34" charset="0"/>
                </a:rPr>
                <a:t>?</a:t>
              </a:r>
            </a:p>
          </p:txBody>
        </p:sp>
        <p:sp>
          <p:nvSpPr>
            <p:cNvPr id="11" name="Google Shape;213;p2">
              <a:extLst>
                <a:ext uri="{FF2B5EF4-FFF2-40B4-BE49-F238E27FC236}">
                  <a16:creationId xmlns:a16="http://schemas.microsoft.com/office/drawing/2014/main" id="{BDC99BA7-0BC1-A39A-C736-5061D78F21B6}"/>
                </a:ext>
              </a:extLst>
            </p:cNvPr>
            <p:cNvSpPr txBox="1"/>
            <p:nvPr/>
          </p:nvSpPr>
          <p:spPr>
            <a:xfrm>
              <a:off x="2411249" y="4029200"/>
              <a:ext cx="7277701" cy="101563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91424" tIns="91424" rIns="91424" bIns="91424">
              <a:spAutoFit/>
            </a:bodyPr>
            <a:lstStyle/>
            <a:p>
              <a:pPr lvl="1" indent="457200" algn="r">
                <a:defRPr sz="2400">
                  <a:solidFill>
                    <a:srgbClr val="3A3A3A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rPr sz="1800" dirty="0"/>
                <a:t>“Field of study that gives computers the ability to learn without being explicitly programmed”</a:t>
              </a:r>
            </a:p>
            <a:p>
              <a:pPr lvl="1" indent="457200" algn="r">
                <a:defRPr sz="2400">
                  <a:solidFill>
                    <a:srgbClr val="3A3A3A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r>
                <a:rPr sz="1800" dirty="0"/>
                <a:t>			- Arthur Samuel</a:t>
              </a:r>
            </a:p>
          </p:txBody>
        </p:sp>
        <p:pic>
          <p:nvPicPr>
            <p:cNvPr id="12" name="Google Shape;214;p2" descr="Google Shape;214;p2">
              <a:extLst>
                <a:ext uri="{FF2B5EF4-FFF2-40B4-BE49-F238E27FC236}">
                  <a16:creationId xmlns:a16="http://schemas.microsoft.com/office/drawing/2014/main" id="{D2A67308-527E-E4EB-2653-9BF4AE96CB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27252" y="4330739"/>
              <a:ext cx="2014624" cy="2798075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3" name="Google Shape;215;p2">
              <a:extLst>
                <a:ext uri="{FF2B5EF4-FFF2-40B4-BE49-F238E27FC236}">
                  <a16:creationId xmlns:a16="http://schemas.microsoft.com/office/drawing/2014/main" id="{7C5FEB80-39CC-01A0-B98A-DF4C0A5B4195}"/>
                </a:ext>
              </a:extLst>
            </p:cNvPr>
            <p:cNvSpPr txBox="1"/>
            <p:nvPr/>
          </p:nvSpPr>
          <p:spPr>
            <a:xfrm>
              <a:off x="7674323" y="6208725"/>
              <a:ext cx="2252432" cy="59590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>
              <a:spAutoFit/>
            </a:bodyPr>
            <a:lstStyle>
              <a:lvl1pPr>
                <a:defRPr sz="1500">
                  <a:solidFill>
                    <a:srgbClr val="AEAEAE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sz="1200" dirty="0"/>
                <a:t>https://en.wikipedia.org/wiki/Arthur_Samuel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2B36F2-8B40-2F87-B855-D5D185D12169}"/>
                </a:ext>
              </a:extLst>
            </p:cNvPr>
            <p:cNvSpPr txBox="1"/>
            <p:nvPr/>
          </p:nvSpPr>
          <p:spPr>
            <a:xfrm>
              <a:off x="150124" y="5514334"/>
              <a:ext cx="6094520" cy="4308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wrap="square">
              <a:spAutoFit/>
            </a:bodyPr>
            <a:lstStyle/>
            <a:p>
              <a:r>
                <a:rPr lang="en-US" sz="1100" dirty="0"/>
                <a:t>* </a:t>
              </a:r>
              <a:r>
                <a:rPr lang="ru-RU" sz="1100" dirty="0"/>
                <a:t>Область исследования, которая дает компьютерам возможность учиться без явного программирования.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8677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DF593-3AFC-1893-D5A2-CE91BBF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 Перевести часы в минуты</a:t>
            </a:r>
          </a:p>
        </p:txBody>
      </p:sp>
      <p:pic>
        <p:nvPicPr>
          <p:cNvPr id="3" name="Google Shape;220;gb10daea3ca_0_381" descr="Google Shape;220;gb10daea3ca_0_381">
            <a:extLst>
              <a:ext uri="{FF2B5EF4-FFF2-40B4-BE49-F238E27FC236}">
                <a16:creationId xmlns:a16="http://schemas.microsoft.com/office/drawing/2014/main" id="{84ED5BC1-48A9-7314-8122-4670922E6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23" y="1243744"/>
            <a:ext cx="3386153" cy="338615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20860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DDF593-3AFC-1893-D5A2-CE91BBF9D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 Перевести часы в минуты</a:t>
            </a:r>
          </a:p>
        </p:txBody>
      </p:sp>
      <p:pic>
        <p:nvPicPr>
          <p:cNvPr id="3" name="Google Shape;220;gb10daea3ca_0_381" descr="Google Shape;220;gb10daea3ca_0_381">
            <a:extLst>
              <a:ext uri="{FF2B5EF4-FFF2-40B4-BE49-F238E27FC236}">
                <a16:creationId xmlns:a16="http://schemas.microsoft.com/office/drawing/2014/main" id="{84ED5BC1-48A9-7314-8122-4670922E6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923" y="1243744"/>
            <a:ext cx="3386153" cy="3386152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Google Shape;228;gaf7c1d9c3d_0_63">
            <a:extLst>
              <a:ext uri="{FF2B5EF4-FFF2-40B4-BE49-F238E27FC236}">
                <a16:creationId xmlns:a16="http://schemas.microsoft.com/office/drawing/2014/main" id="{42D94493-336C-38E8-5598-455A1245F7CB}"/>
              </a:ext>
            </a:extLst>
          </p:cNvPr>
          <p:cNvSpPr txBox="1">
            <a:spLocks/>
          </p:cNvSpPr>
          <p:nvPr/>
        </p:nvSpPr>
        <p:spPr>
          <a:xfrm>
            <a:off x="500550" y="1992359"/>
            <a:ext cx="1457521" cy="11587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>
              <a:defRPr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20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x - часы</a:t>
            </a:r>
            <a:br>
              <a:rPr lang="ru-RU" sz="20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</a:br>
            <a:endParaRPr lang="ru-RU" sz="2000" dirty="0">
              <a:latin typeface="Arial" panose="020B0604020202020204" pitchFamily="34" charset="0"/>
              <a:ea typeface="Avenir"/>
              <a:cs typeface="Arial" panose="020B0604020202020204" pitchFamily="34" charset="0"/>
              <a:sym typeface="Avenir Roman"/>
            </a:endParaRPr>
          </a:p>
          <a:p>
            <a:pPr>
              <a:defRPr>
                <a:latin typeface="Avenir"/>
                <a:ea typeface="Avenir"/>
                <a:cs typeface="Avenir"/>
                <a:sym typeface="Avenir Roman"/>
              </a:defRPr>
            </a:pPr>
            <a:r>
              <a:rPr lang="ru-RU" sz="2000" dirty="0">
                <a:latin typeface="Arial" panose="020B0604020202020204" pitchFamily="34" charset="0"/>
                <a:ea typeface="Avenir"/>
                <a:cs typeface="Arial" panose="020B0604020202020204" pitchFamily="34" charset="0"/>
                <a:sym typeface="Avenir Roman"/>
              </a:rPr>
              <a:t>f(x) = 60x</a:t>
            </a:r>
          </a:p>
        </p:txBody>
      </p:sp>
    </p:spTree>
    <p:extLst>
      <p:ext uri="{BB962C8B-B14F-4D97-AF65-F5344CB8AC3E}">
        <p14:creationId xmlns:p14="http://schemas.microsoft.com/office/powerpoint/2010/main" val="1006453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4BDF78-0009-9105-B6D2-FF7A88DBE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Задача: Кошка или собака?</a:t>
            </a:r>
          </a:p>
        </p:txBody>
      </p:sp>
      <p:pic>
        <p:nvPicPr>
          <p:cNvPr id="3" name="Google Shape;260;gaf7c1d9c3d_0_100" descr="Google Shape;260;gaf7c1d9c3d_0_100">
            <a:extLst>
              <a:ext uri="{FF2B5EF4-FFF2-40B4-BE49-F238E27FC236}">
                <a16:creationId xmlns:a16="http://schemas.microsoft.com/office/drawing/2014/main" id="{86F70986-EE5F-1259-6976-3186D0877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748" y="1129444"/>
            <a:ext cx="6328503" cy="355451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708675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026E2-7A88-7EBB-B005-56B2A899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8A43FFAF-00C7-B234-0A19-9F057DE34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1426624"/>
            <a:ext cx="7018020" cy="1340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0939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026E2-7A88-7EBB-B005-56B2A8997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Машинное обучение</a:t>
            </a: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8FE7EAB8-C01F-B164-5A1A-65FA80F30B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" y="1426624"/>
            <a:ext cx="7155180" cy="1366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591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3026E2-7A88-7EBB-B005-56B2A8997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262144"/>
            <a:ext cx="8520600" cy="1095900"/>
          </a:xfrm>
        </p:spPr>
        <p:txBody>
          <a:bodyPr/>
          <a:lstStyle/>
          <a:p>
            <a:r>
              <a:rPr lang="ru-RU" dirty="0"/>
              <a:t>Машинное обучение </a:t>
            </a:r>
            <a:r>
              <a:rPr lang="en-US" dirty="0"/>
              <a:t>vs </a:t>
            </a:r>
            <a:r>
              <a:rPr lang="ru-RU" dirty="0"/>
              <a:t>Традиционное программирование</a:t>
            </a:r>
          </a:p>
        </p:txBody>
      </p:sp>
      <p:grpSp>
        <p:nvGrpSpPr>
          <p:cNvPr id="3" name="Google Shape;308;gaf7c1d9c3d_0_148">
            <a:extLst>
              <a:ext uri="{FF2B5EF4-FFF2-40B4-BE49-F238E27FC236}">
                <a16:creationId xmlns:a16="http://schemas.microsoft.com/office/drawing/2014/main" id="{2BFDEB72-CA67-9AA9-769B-A35ED05A4791}"/>
              </a:ext>
            </a:extLst>
          </p:cNvPr>
          <p:cNvGrpSpPr/>
          <p:nvPr/>
        </p:nvGrpSpPr>
        <p:grpSpPr>
          <a:xfrm>
            <a:off x="3389325" y="1596318"/>
            <a:ext cx="2304227" cy="863777"/>
            <a:chOff x="-1" y="0"/>
            <a:chExt cx="3072302" cy="1151700"/>
          </a:xfrm>
        </p:grpSpPr>
        <p:sp>
          <p:nvSpPr>
            <p:cNvPr id="4" name="Rectangle">
              <a:extLst>
                <a:ext uri="{FF2B5EF4-FFF2-40B4-BE49-F238E27FC236}">
                  <a16:creationId xmlns:a16="http://schemas.microsoft.com/office/drawing/2014/main" id="{D1975D37-27BB-C5B0-8934-261A9B94E312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B7CCE4"/>
            </a:solidFill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5" name="Computer">
              <a:extLst>
                <a:ext uri="{FF2B5EF4-FFF2-40B4-BE49-F238E27FC236}">
                  <a16:creationId xmlns:a16="http://schemas.microsoft.com/office/drawing/2014/main" id="{9C734F6E-786D-AF2D-45F3-B3DF0150BB23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6" name="Google Shape;309;gaf7c1d9c3d_0_148">
            <a:extLst>
              <a:ext uri="{FF2B5EF4-FFF2-40B4-BE49-F238E27FC236}">
                <a16:creationId xmlns:a16="http://schemas.microsoft.com/office/drawing/2014/main" id="{8343E7F9-F82D-F53B-3F1B-11DCAD70D24B}"/>
              </a:ext>
            </a:extLst>
          </p:cNvPr>
          <p:cNvGrpSpPr/>
          <p:nvPr/>
        </p:nvGrpSpPr>
        <p:grpSpPr>
          <a:xfrm>
            <a:off x="754785" y="1345331"/>
            <a:ext cx="1800226" cy="501977"/>
            <a:chOff x="0" y="0"/>
            <a:chExt cx="2400300" cy="669300"/>
          </a:xfrm>
        </p:grpSpPr>
        <p:sp>
          <p:nvSpPr>
            <p:cNvPr id="7" name="Rectangle">
              <a:extLst>
                <a:ext uri="{FF2B5EF4-FFF2-40B4-BE49-F238E27FC236}">
                  <a16:creationId xmlns:a16="http://schemas.microsoft.com/office/drawing/2014/main" id="{7B3FA18C-33B6-F1AF-AB8E-AEB4EEC7FA3C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8" name="Data">
              <a:extLst>
                <a:ext uri="{FF2B5EF4-FFF2-40B4-BE49-F238E27FC236}">
                  <a16:creationId xmlns:a16="http://schemas.microsoft.com/office/drawing/2014/main" id="{0E98CEFD-F9CF-6E45-9CEA-5EBBC4A996B2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9" name="Google Shape;310;gaf7c1d9c3d_0_148">
            <a:extLst>
              <a:ext uri="{FF2B5EF4-FFF2-40B4-BE49-F238E27FC236}">
                <a16:creationId xmlns:a16="http://schemas.microsoft.com/office/drawing/2014/main" id="{3B4F27ED-DB52-DF1E-62A0-7777CA7374DD}"/>
              </a:ext>
            </a:extLst>
          </p:cNvPr>
          <p:cNvGrpSpPr/>
          <p:nvPr/>
        </p:nvGrpSpPr>
        <p:grpSpPr>
          <a:xfrm>
            <a:off x="6395790" y="1777184"/>
            <a:ext cx="1800226" cy="501977"/>
            <a:chOff x="0" y="0"/>
            <a:chExt cx="2400300" cy="669300"/>
          </a:xfrm>
        </p:grpSpPr>
        <p:sp>
          <p:nvSpPr>
            <p:cNvPr id="10" name="Rectangle">
              <a:extLst>
                <a:ext uri="{FF2B5EF4-FFF2-40B4-BE49-F238E27FC236}">
                  <a16:creationId xmlns:a16="http://schemas.microsoft.com/office/drawing/2014/main" id="{223748C5-9390-72D1-7101-A1D747785920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11" name="Answer">
              <a:extLst>
                <a:ext uri="{FF2B5EF4-FFF2-40B4-BE49-F238E27FC236}">
                  <a16:creationId xmlns:a16="http://schemas.microsoft.com/office/drawing/2014/main" id="{41A7E50B-9F02-B5BB-5F6A-74E2852E7D1C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grpSp>
        <p:nvGrpSpPr>
          <p:cNvPr id="12" name="Google Shape;311;gaf7c1d9c3d_0_148">
            <a:extLst>
              <a:ext uri="{FF2B5EF4-FFF2-40B4-BE49-F238E27FC236}">
                <a16:creationId xmlns:a16="http://schemas.microsoft.com/office/drawing/2014/main" id="{EAD13BA7-619E-0F71-50BA-7AFD7C872BB7}"/>
              </a:ext>
            </a:extLst>
          </p:cNvPr>
          <p:cNvGrpSpPr/>
          <p:nvPr/>
        </p:nvGrpSpPr>
        <p:grpSpPr>
          <a:xfrm>
            <a:off x="754785" y="2228461"/>
            <a:ext cx="1800226" cy="501977"/>
            <a:chOff x="0" y="0"/>
            <a:chExt cx="2400300" cy="669300"/>
          </a:xfrm>
        </p:grpSpPr>
        <p:sp>
          <p:nvSpPr>
            <p:cNvPr id="13" name="Rectangle">
              <a:extLst>
                <a:ext uri="{FF2B5EF4-FFF2-40B4-BE49-F238E27FC236}">
                  <a16:creationId xmlns:a16="http://schemas.microsoft.com/office/drawing/2014/main" id="{A40B1456-5547-1D46-6F1D-AA00C70FFA88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0059A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14" name="Algorithm">
              <a:extLst>
                <a:ext uri="{FF2B5EF4-FFF2-40B4-BE49-F238E27FC236}">
                  <a16:creationId xmlns:a16="http://schemas.microsoft.com/office/drawing/2014/main" id="{52D80C16-5DDB-4226-1DA5-8248F87B4A5E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Алгоритм</a:t>
              </a:r>
              <a:endParaRPr sz="1800" dirty="0"/>
            </a:p>
          </p:txBody>
        </p:sp>
      </p:grpSp>
      <p:sp>
        <p:nvSpPr>
          <p:cNvPr id="15" name="Google Shape;312;gaf7c1d9c3d_0_148">
            <a:extLst>
              <a:ext uri="{FF2B5EF4-FFF2-40B4-BE49-F238E27FC236}">
                <a16:creationId xmlns:a16="http://schemas.microsoft.com/office/drawing/2014/main" id="{B676F946-89C8-5052-DAEC-C858956B295B}"/>
              </a:ext>
            </a:extLst>
          </p:cNvPr>
          <p:cNvSpPr/>
          <p:nvPr/>
        </p:nvSpPr>
        <p:spPr>
          <a:xfrm>
            <a:off x="2569298" y="1733132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4A7DBA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6" name="Google Shape;313;gaf7c1d9c3d_0_148">
            <a:extLst>
              <a:ext uri="{FF2B5EF4-FFF2-40B4-BE49-F238E27FC236}">
                <a16:creationId xmlns:a16="http://schemas.microsoft.com/office/drawing/2014/main" id="{B1857ADF-AE2F-95AA-AA97-6E8C592E5B7B}"/>
              </a:ext>
            </a:extLst>
          </p:cNvPr>
          <p:cNvSpPr/>
          <p:nvPr/>
        </p:nvSpPr>
        <p:spPr>
          <a:xfrm flipV="1">
            <a:off x="2555010" y="2129798"/>
            <a:ext cx="834301" cy="349650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17" name="Google Shape;314;gaf7c1d9c3d_0_148">
            <a:extLst>
              <a:ext uri="{FF2B5EF4-FFF2-40B4-BE49-F238E27FC236}">
                <a16:creationId xmlns:a16="http://schemas.microsoft.com/office/drawing/2014/main" id="{A68674B9-AA05-E811-C633-9FDBCF48E40E}"/>
              </a:ext>
            </a:extLst>
          </p:cNvPr>
          <p:cNvSpPr/>
          <p:nvPr/>
        </p:nvSpPr>
        <p:spPr>
          <a:xfrm flipV="1">
            <a:off x="5693550" y="2023707"/>
            <a:ext cx="680400" cy="4501"/>
          </a:xfrm>
          <a:prstGeom prst="line">
            <a:avLst/>
          </a:prstGeom>
          <a:ln w="28575">
            <a:solidFill>
              <a:srgbClr val="4A7DBA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grpSp>
        <p:nvGrpSpPr>
          <p:cNvPr id="19" name="Google Shape;315;gaf7c1d9c3d_0_148">
            <a:extLst>
              <a:ext uri="{FF2B5EF4-FFF2-40B4-BE49-F238E27FC236}">
                <a16:creationId xmlns:a16="http://schemas.microsoft.com/office/drawing/2014/main" id="{0069B83E-4BA2-20B7-6A69-711CA8005A1B}"/>
              </a:ext>
            </a:extLst>
          </p:cNvPr>
          <p:cNvGrpSpPr/>
          <p:nvPr/>
        </p:nvGrpSpPr>
        <p:grpSpPr>
          <a:xfrm>
            <a:off x="3389325" y="3467456"/>
            <a:ext cx="2304227" cy="863777"/>
            <a:chOff x="-1" y="0"/>
            <a:chExt cx="3072302" cy="1151700"/>
          </a:xfrm>
        </p:grpSpPr>
        <p:sp>
          <p:nvSpPr>
            <p:cNvPr id="20" name="Rectangle">
              <a:extLst>
                <a:ext uri="{FF2B5EF4-FFF2-40B4-BE49-F238E27FC236}">
                  <a16:creationId xmlns:a16="http://schemas.microsoft.com/office/drawing/2014/main" id="{EC90923F-FE81-F82C-8A93-3040B54741D6}"/>
                </a:ext>
              </a:extLst>
            </p:cNvPr>
            <p:cNvSpPr/>
            <p:nvPr/>
          </p:nvSpPr>
          <p:spPr>
            <a:xfrm>
              <a:off x="-1" y="0"/>
              <a:ext cx="3072302" cy="1151700"/>
            </a:xfrm>
            <a:prstGeom prst="rect">
              <a:avLst/>
            </a:prstGeom>
            <a:solidFill>
              <a:srgbClr val="D9EAD3"/>
            </a:solidFill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1" name="Computer">
              <a:extLst>
                <a:ext uri="{FF2B5EF4-FFF2-40B4-BE49-F238E27FC236}">
                  <a16:creationId xmlns:a16="http://schemas.microsoft.com/office/drawing/2014/main" id="{C3BCBD0D-2E67-90FD-410C-F2B336E7FBEF}"/>
                </a:ext>
              </a:extLst>
            </p:cNvPr>
            <p:cNvSpPr txBox="1"/>
            <p:nvPr/>
          </p:nvSpPr>
          <p:spPr>
            <a:xfrm>
              <a:off x="64774" y="345039"/>
              <a:ext cx="2942751" cy="4616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Компьютер</a:t>
              </a:r>
              <a:endParaRPr sz="1800" dirty="0"/>
            </a:p>
          </p:txBody>
        </p:sp>
      </p:grpSp>
      <p:grpSp>
        <p:nvGrpSpPr>
          <p:cNvPr id="22" name="Google Shape;316;gaf7c1d9c3d_0_148">
            <a:extLst>
              <a:ext uri="{FF2B5EF4-FFF2-40B4-BE49-F238E27FC236}">
                <a16:creationId xmlns:a16="http://schemas.microsoft.com/office/drawing/2014/main" id="{F631DEA4-FEFF-80E3-A3CB-E204CEE44277}"/>
              </a:ext>
            </a:extLst>
          </p:cNvPr>
          <p:cNvGrpSpPr/>
          <p:nvPr/>
        </p:nvGrpSpPr>
        <p:grpSpPr>
          <a:xfrm>
            <a:off x="754785" y="3216469"/>
            <a:ext cx="1800226" cy="501977"/>
            <a:chOff x="0" y="0"/>
            <a:chExt cx="2400300" cy="669300"/>
          </a:xfrm>
        </p:grpSpPr>
        <p:sp>
          <p:nvSpPr>
            <p:cNvPr id="23" name="Rectangle">
              <a:extLst>
                <a:ext uri="{FF2B5EF4-FFF2-40B4-BE49-F238E27FC236}">
                  <a16:creationId xmlns:a16="http://schemas.microsoft.com/office/drawing/2014/main" id="{0805E9A9-6715-F2C9-D00F-F771F6A46540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4" name="Data">
              <a:extLst>
                <a:ext uri="{FF2B5EF4-FFF2-40B4-BE49-F238E27FC236}">
                  <a16:creationId xmlns:a16="http://schemas.microsoft.com/office/drawing/2014/main" id="{0260C959-212E-D001-4454-C528AA725566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Данные</a:t>
              </a:r>
              <a:endParaRPr sz="1800" dirty="0"/>
            </a:p>
          </p:txBody>
        </p:sp>
      </p:grpSp>
      <p:grpSp>
        <p:nvGrpSpPr>
          <p:cNvPr id="25" name="Google Shape;317;gaf7c1d9c3d_0_148">
            <a:extLst>
              <a:ext uri="{FF2B5EF4-FFF2-40B4-BE49-F238E27FC236}">
                <a16:creationId xmlns:a16="http://schemas.microsoft.com/office/drawing/2014/main" id="{B089DC1B-D62A-6F9C-C703-6104447E33A1}"/>
              </a:ext>
            </a:extLst>
          </p:cNvPr>
          <p:cNvGrpSpPr/>
          <p:nvPr/>
        </p:nvGrpSpPr>
        <p:grpSpPr>
          <a:xfrm>
            <a:off x="6395790" y="3648322"/>
            <a:ext cx="1800226" cy="501977"/>
            <a:chOff x="0" y="0"/>
            <a:chExt cx="2400300" cy="669300"/>
          </a:xfrm>
        </p:grpSpPr>
        <p:sp>
          <p:nvSpPr>
            <p:cNvPr id="26" name="Rectangle">
              <a:extLst>
                <a:ext uri="{FF2B5EF4-FFF2-40B4-BE49-F238E27FC236}">
                  <a16:creationId xmlns:a16="http://schemas.microsoft.com/office/drawing/2014/main" id="{D6164878-A5DB-5FC8-8D62-C277D8F9310F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27" name="Algorithm">
              <a:extLst>
                <a:ext uri="{FF2B5EF4-FFF2-40B4-BE49-F238E27FC236}">
                  <a16:creationId xmlns:a16="http://schemas.microsoft.com/office/drawing/2014/main" id="{F23C2518-31F0-F9E1-367E-983AE50F7D2A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b="1" dirty="0">
                  <a:solidFill>
                    <a:srgbClr val="92D050"/>
                  </a:solidFill>
                </a:rPr>
                <a:t>Алгоритм</a:t>
              </a:r>
              <a:endParaRPr sz="1800" b="1" dirty="0">
                <a:solidFill>
                  <a:srgbClr val="92D050"/>
                </a:solidFill>
              </a:endParaRPr>
            </a:p>
          </p:txBody>
        </p:sp>
      </p:grpSp>
      <p:grpSp>
        <p:nvGrpSpPr>
          <p:cNvPr id="28" name="Google Shape;318;gaf7c1d9c3d_0_148">
            <a:extLst>
              <a:ext uri="{FF2B5EF4-FFF2-40B4-BE49-F238E27FC236}">
                <a16:creationId xmlns:a16="http://schemas.microsoft.com/office/drawing/2014/main" id="{AB038EF8-4C3F-D353-B259-3F191EB78D50}"/>
              </a:ext>
            </a:extLst>
          </p:cNvPr>
          <p:cNvGrpSpPr/>
          <p:nvPr/>
        </p:nvGrpSpPr>
        <p:grpSpPr>
          <a:xfrm>
            <a:off x="754785" y="4099598"/>
            <a:ext cx="1800226" cy="501977"/>
            <a:chOff x="0" y="0"/>
            <a:chExt cx="2400300" cy="669300"/>
          </a:xfrm>
        </p:grpSpPr>
        <p:sp>
          <p:nvSpPr>
            <p:cNvPr id="29" name="Rectangle">
              <a:extLst>
                <a:ext uri="{FF2B5EF4-FFF2-40B4-BE49-F238E27FC236}">
                  <a16:creationId xmlns:a16="http://schemas.microsoft.com/office/drawing/2014/main" id="{AB8A2971-16B4-A7B2-21BC-FA787595DB00}"/>
                </a:ext>
              </a:extLst>
            </p:cNvPr>
            <p:cNvSpPr/>
            <p:nvPr/>
          </p:nvSpPr>
          <p:spPr>
            <a:xfrm>
              <a:off x="0" y="0"/>
              <a:ext cx="2400300" cy="669300"/>
            </a:xfrm>
            <a:prstGeom prst="rect">
              <a:avLst/>
            </a:prstGeom>
            <a:noFill/>
            <a:ln w="38100" cap="flat">
              <a:solidFill>
                <a:srgbClr val="38761D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pPr>
              <a:endParaRPr sz="1800"/>
            </a:p>
          </p:txBody>
        </p:sp>
        <p:sp>
          <p:nvSpPr>
            <p:cNvPr id="30" name="Answer">
              <a:extLst>
                <a:ext uri="{FF2B5EF4-FFF2-40B4-BE49-F238E27FC236}">
                  <a16:creationId xmlns:a16="http://schemas.microsoft.com/office/drawing/2014/main" id="{BA80CDEB-39AD-641C-EEFF-E6AB0B19885C}"/>
                </a:ext>
              </a:extLst>
            </p:cNvPr>
            <p:cNvSpPr txBox="1"/>
            <p:nvPr/>
          </p:nvSpPr>
          <p:spPr>
            <a:xfrm>
              <a:off x="64775" y="103840"/>
              <a:ext cx="2270751" cy="46161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34274" tIns="34274" rIns="34274" bIns="34274" numCol="1" anchor="ctr">
              <a:spAutoFit/>
            </a:bodyPr>
            <a:lstStyle>
              <a:lvl1pPr algn="ctr">
                <a:defRPr sz="2400">
                  <a:solidFill>
                    <a:srgbClr val="171717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lang="ru-RU" sz="1800" dirty="0"/>
                <a:t>Ответ</a:t>
              </a:r>
              <a:endParaRPr sz="1800" dirty="0"/>
            </a:p>
          </p:txBody>
        </p:sp>
      </p:grpSp>
      <p:sp>
        <p:nvSpPr>
          <p:cNvPr id="31" name="Google Shape;319;gaf7c1d9c3d_0_148">
            <a:extLst>
              <a:ext uri="{FF2B5EF4-FFF2-40B4-BE49-F238E27FC236}">
                <a16:creationId xmlns:a16="http://schemas.microsoft.com/office/drawing/2014/main" id="{EF796EEC-0D2E-B2DF-2423-17F04ADF2C9F}"/>
              </a:ext>
            </a:extLst>
          </p:cNvPr>
          <p:cNvSpPr/>
          <p:nvPr/>
        </p:nvSpPr>
        <p:spPr>
          <a:xfrm>
            <a:off x="2569298" y="3604270"/>
            <a:ext cx="805741" cy="120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8575">
            <a:solidFill>
              <a:srgbClr val="38761D"/>
            </a:solidFill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2" name="Google Shape;320;gaf7c1d9c3d_0_148">
            <a:extLst>
              <a:ext uri="{FF2B5EF4-FFF2-40B4-BE49-F238E27FC236}">
                <a16:creationId xmlns:a16="http://schemas.microsoft.com/office/drawing/2014/main" id="{9D07485C-751A-B627-FD1C-B620366EE3B1}"/>
              </a:ext>
            </a:extLst>
          </p:cNvPr>
          <p:cNvSpPr/>
          <p:nvPr/>
        </p:nvSpPr>
        <p:spPr>
          <a:xfrm flipV="1">
            <a:off x="2555010" y="4000936"/>
            <a:ext cx="834301" cy="349650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  <p:sp>
        <p:nvSpPr>
          <p:cNvPr id="33" name="Google Shape;321;gaf7c1d9c3d_0_148">
            <a:extLst>
              <a:ext uri="{FF2B5EF4-FFF2-40B4-BE49-F238E27FC236}">
                <a16:creationId xmlns:a16="http://schemas.microsoft.com/office/drawing/2014/main" id="{DF1D5333-48D4-0022-C361-1CE12753D78F}"/>
              </a:ext>
            </a:extLst>
          </p:cNvPr>
          <p:cNvSpPr/>
          <p:nvPr/>
        </p:nvSpPr>
        <p:spPr>
          <a:xfrm flipV="1">
            <a:off x="5693550" y="3894843"/>
            <a:ext cx="680400" cy="4501"/>
          </a:xfrm>
          <a:prstGeom prst="line">
            <a:avLst/>
          </a:prstGeom>
          <a:ln w="28575">
            <a:solidFill>
              <a:srgbClr val="38761D"/>
            </a:solidFill>
            <a:tailEnd type="triangle"/>
          </a:ln>
        </p:spPr>
        <p:txBody>
          <a:bodyPr lIns="0" tIns="0" rIns="0" bIns="0"/>
          <a:lstStyle/>
          <a:p>
            <a:endParaRPr sz="1050"/>
          </a:p>
        </p:txBody>
      </p:sp>
    </p:spTree>
    <p:extLst>
      <p:ext uri="{BB962C8B-B14F-4D97-AF65-F5344CB8AC3E}">
        <p14:creationId xmlns:p14="http://schemas.microsoft.com/office/powerpoint/2010/main" val="37730493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7D1F5-17AD-C06F-ACF7-CE291D2D1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85F989-F5E5-710C-A103-110498FB7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262144"/>
            <a:ext cx="8520600" cy="1095900"/>
          </a:xfrm>
        </p:spPr>
        <p:txBody>
          <a:bodyPr/>
          <a:lstStyle/>
          <a:p>
            <a:r>
              <a:rPr lang="ru-RU" dirty="0"/>
              <a:t>Машинное обучение </a:t>
            </a:r>
            <a:r>
              <a:rPr lang="en-US" dirty="0"/>
              <a:t>vs </a:t>
            </a:r>
            <a:r>
              <a:rPr lang="ru-RU" dirty="0"/>
              <a:t>Традиционное программирование</a:t>
            </a:r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BA0E0ACC-4F3D-375E-BB42-6F1A780DAF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2990" y="1426624"/>
            <a:ext cx="7018020" cy="1340038"/>
          </a:xfrm>
          <a:prstGeom prst="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174A222D-0170-1DCA-4EA0-361991F9C4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990" y="3038842"/>
            <a:ext cx="7194210" cy="1356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406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63304A-693C-A62B-47C6-6B7B51FB9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 </a:t>
            </a:r>
            <a:r>
              <a:rPr lang="ru-RU" dirty="0">
                <a:solidFill>
                  <a:schemeClr val="tx1"/>
                </a:solidFill>
              </a:rPr>
              <a:t>обучили </a:t>
            </a:r>
            <a:r>
              <a:rPr lang="ru-RU" dirty="0"/>
              <a:t>нашу </a:t>
            </a:r>
            <a:r>
              <a:rPr lang="ru-RU" dirty="0">
                <a:solidFill>
                  <a:schemeClr val="tx1"/>
                </a:solidFill>
              </a:rPr>
              <a:t>модель!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25FB712-D9BC-FE81-61C1-402C9FFA0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29912"/>
            <a:ext cx="8001000" cy="215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131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Основные понятия </a:t>
            </a:r>
            <a:r>
              <a:rPr lang="en-US" dirty="0"/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5437992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C5FA2-A634-ED00-8464-CE4D9A48F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задачи: предсказание цен на квартиры</a:t>
            </a:r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0A72F58C-0192-C081-23E6-0AADDA63A7A6}"/>
              </a:ext>
            </a:extLst>
          </p:cNvPr>
          <p:cNvGrpSpPr/>
          <p:nvPr/>
        </p:nvGrpSpPr>
        <p:grpSpPr>
          <a:xfrm>
            <a:off x="5730767" y="1284890"/>
            <a:ext cx="3413233" cy="3025713"/>
            <a:chOff x="7277484" y="2025051"/>
            <a:chExt cx="4816086" cy="4269293"/>
          </a:xfrm>
        </p:grpSpPr>
        <p:pic>
          <p:nvPicPr>
            <p:cNvPr id="4" name="Google Shape;476;gb10daea3ca_0_1227" descr="Google Shape;476;gb10daea3ca_0_1227">
              <a:extLst>
                <a:ext uri="{FF2B5EF4-FFF2-40B4-BE49-F238E27FC236}">
                  <a16:creationId xmlns:a16="http://schemas.microsoft.com/office/drawing/2014/main" id="{0DA52D25-BBB9-8E0B-CC21-DAE764D9E5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630103" y="2025051"/>
              <a:ext cx="4290124" cy="37916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5" name="Google Shape;477;gb10daea3ca_0_1227">
              <a:extLst>
                <a:ext uri="{FF2B5EF4-FFF2-40B4-BE49-F238E27FC236}">
                  <a16:creationId xmlns:a16="http://schemas.microsoft.com/office/drawing/2014/main" id="{39F89013-9257-4C64-84B4-53112B825F6A}"/>
                </a:ext>
              </a:extLst>
            </p:cNvPr>
            <p:cNvSpPr txBox="1"/>
            <p:nvPr/>
          </p:nvSpPr>
          <p:spPr>
            <a:xfrm>
              <a:off x="7277484" y="5816702"/>
              <a:ext cx="4816086" cy="477642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>
              <a:spAutoFit/>
            </a:bodyPr>
            <a:lstStyle>
              <a:lvl1pPr>
                <a:defRPr sz="1500">
                  <a:solidFill>
                    <a:srgbClr val="AEAEAE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sz="800" dirty="0"/>
                <a:t>https://www.kaggle.com/c/zillow-prize-1/overview/competition-overview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3DE0A7D5-BFF9-1FAD-A22C-3DC64E4B844D}"/>
              </a:ext>
            </a:extLst>
          </p:cNvPr>
          <p:cNvSpPr txBox="1"/>
          <p:nvPr/>
        </p:nvSpPr>
        <p:spPr>
          <a:xfrm>
            <a:off x="500550" y="1248311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ru-RU" sz="1600" dirty="0"/>
          </a:p>
          <a:p>
            <a:endParaRPr lang="ru-RU" sz="1600" dirty="0"/>
          </a:p>
          <a:p>
            <a:pPr marL="257175" indent="-257175">
              <a:buFont typeface="Arial" pitchFamily="34" charset="0"/>
              <a:buChar char="•"/>
            </a:pPr>
            <a:r>
              <a:rPr lang="ru-RU" sz="1600" dirty="0">
                <a:latin typeface="Arial" pitchFamily="34" charset="0"/>
                <a:cs typeface="Arial" pitchFamily="34" charset="0"/>
              </a:rPr>
              <a:t>Известны характеристики квартир…</a:t>
            </a:r>
          </a:p>
          <a:p>
            <a:pPr marL="257175" indent="-257175">
              <a:buFont typeface="Arial" pitchFamily="34" charset="0"/>
              <a:buChar char="•"/>
            </a:pPr>
            <a:r>
              <a:rPr lang="ru-RU" sz="1600" dirty="0">
                <a:latin typeface="Arial" pitchFamily="34" charset="0"/>
                <a:cs typeface="Arial" pitchFamily="34" charset="0"/>
              </a:rPr>
              <a:t>Как по характеристикам определить рыночную стоимость квартиры?</a:t>
            </a:r>
            <a:endParaRPr lang="ru-RU" sz="1600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93D4148-3666-BFB8-1CFD-466F6DA8E1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93163"/>
            <a:ext cx="3461304" cy="20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00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FB70B-979A-E030-56A3-E2BDA8AF4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1B918A-CEE0-2D11-40DD-52E921657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CA6F07B-8C79-F4D9-D0AA-BB6CC8988FF5}"/>
              </a:ext>
            </a:extLst>
          </p:cNvPr>
          <p:cNvSpPr txBox="1">
            <a:spLocks/>
          </p:cNvSpPr>
          <p:nvPr/>
        </p:nvSpPr>
        <p:spPr>
          <a:xfrm>
            <a:off x="628650" y="1332310"/>
            <a:ext cx="7886700" cy="33004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594" indent="-228594" defTabSz="914378">
              <a:spcBef>
                <a:spcPts val="1000"/>
              </a:spcBef>
              <a:buFont typeface="Arial"/>
              <a:buChar char="•"/>
            </a:pPr>
            <a:r>
              <a:rPr lang="ru-RU" sz="1800" b="1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Объект</a:t>
            </a:r>
            <a:r>
              <a:rPr lang="ru-RU" sz="1800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 —</a:t>
            </a:r>
            <a:r>
              <a:rPr lang="ru-RU" sz="1800" i="1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 </a:t>
            </a:r>
            <a:r>
              <a:rPr lang="ru-RU" sz="1800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для чего хотим делать предсказания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.</a:t>
            </a:r>
            <a:endParaRPr lang="ru-RU" sz="1800" dirty="0">
              <a:solidFill>
                <a:prstClr val="black"/>
              </a:solidFill>
              <a:latin typeface="Arial" pitchFamily="34" charset="0"/>
              <a:ea typeface="Calibri" charset="0"/>
              <a:cs typeface="Arial" pitchFamily="34" charset="0"/>
            </a:endParaRPr>
          </a:p>
          <a:p>
            <a:pPr marL="457189" lvl="1" defTabSz="914378">
              <a:spcBef>
                <a:spcPts val="500"/>
              </a:spcBef>
            </a:pPr>
            <a:r>
              <a:rPr lang="ru-RU" sz="1800" i="1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Конкретная квартира:</a:t>
            </a:r>
          </a:p>
          <a:p>
            <a:pPr marL="457189" lvl="1" defTabSz="914378">
              <a:spcBef>
                <a:spcPts val="500"/>
              </a:spcBef>
            </a:pPr>
            <a:r>
              <a:rPr lang="ru-RU" sz="1800" i="1" dirty="0"/>
              <a:t>𝒙 — </a:t>
            </a:r>
            <a:r>
              <a:rPr lang="ru-RU" sz="1800" i="1" dirty="0" err="1"/>
              <a:t>example</a:t>
            </a:r>
            <a:r>
              <a:rPr lang="ru-RU" sz="1800" i="1" dirty="0"/>
              <a:t> / объект / наблюдение</a:t>
            </a:r>
          </a:p>
          <a:p>
            <a:pPr marL="685783" lvl="1" indent="-228594" defTabSz="914378">
              <a:spcBef>
                <a:spcPts val="500"/>
              </a:spcBef>
              <a:buFont typeface="Wingdings" pitchFamily="2" charset="2"/>
              <a:buChar char="§"/>
            </a:pPr>
            <a:endParaRPr lang="ru-RU" sz="1800" dirty="0">
              <a:solidFill>
                <a:prstClr val="black"/>
              </a:solidFill>
              <a:latin typeface="Arial" pitchFamily="34" charset="0"/>
              <a:ea typeface="Calibri" charset="0"/>
              <a:cs typeface="Arial" pitchFamily="34" charset="0"/>
            </a:endParaRPr>
          </a:p>
          <a:p>
            <a:pPr marL="228594" indent="-228594" defTabSz="914378">
              <a:spcBef>
                <a:spcPts val="1000"/>
              </a:spcBef>
              <a:buFont typeface="Arial"/>
              <a:buChar char="•"/>
            </a:pPr>
            <a:r>
              <a:rPr lang="ru-RU" sz="1800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Ответ, </a:t>
            </a:r>
            <a:r>
              <a:rPr lang="ru-RU" sz="1800" b="1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целевая переменная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 — </a:t>
            </a:r>
            <a:r>
              <a:rPr lang="ru-RU" sz="1800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что предсказываем</a:t>
            </a:r>
            <a:r>
              <a:rPr lang="en-US" sz="1800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.</a:t>
            </a:r>
            <a:endParaRPr lang="ru-RU" sz="1800" dirty="0">
              <a:solidFill>
                <a:prstClr val="black"/>
              </a:solidFill>
              <a:latin typeface="Arial" pitchFamily="34" charset="0"/>
              <a:ea typeface="Calibri" charset="0"/>
              <a:cs typeface="Arial" pitchFamily="34" charset="0"/>
            </a:endParaRPr>
          </a:p>
          <a:p>
            <a:pPr marL="457189" lvl="1" defTabSz="914378">
              <a:spcBef>
                <a:spcPts val="500"/>
              </a:spcBef>
            </a:pPr>
            <a:r>
              <a:rPr lang="ru-RU" sz="1800" i="1" dirty="0">
                <a:solidFill>
                  <a:prstClr val="black"/>
                </a:solidFill>
                <a:latin typeface="Arial" pitchFamily="34" charset="0"/>
                <a:ea typeface="Calibri" charset="0"/>
                <a:cs typeface="Arial" pitchFamily="34" charset="0"/>
              </a:rPr>
              <a:t>Стоимость квартиры:</a:t>
            </a:r>
          </a:p>
          <a:p>
            <a:pPr marL="457189" lvl="1" defTabSz="914378">
              <a:spcBef>
                <a:spcPts val="500"/>
              </a:spcBef>
            </a:pPr>
            <a:r>
              <a:rPr lang="ru-RU" sz="1800" i="1" dirty="0"/>
              <a:t>𝒚 — </a:t>
            </a:r>
            <a:r>
              <a:rPr lang="ru-RU" sz="1800" i="1" dirty="0" err="1"/>
              <a:t>target</a:t>
            </a:r>
            <a:r>
              <a:rPr lang="ru-RU" sz="1800" i="1" dirty="0"/>
              <a:t> / ответ / целевая переменная</a:t>
            </a:r>
            <a:endParaRPr lang="en-US" sz="1800" i="1" dirty="0">
              <a:solidFill>
                <a:prstClr val="black"/>
              </a:solidFill>
              <a:latin typeface="Arial" pitchFamily="34" charset="0"/>
              <a:ea typeface="Calibri" charset="0"/>
              <a:cs typeface="Arial" pitchFamily="34" charset="0"/>
            </a:endParaRPr>
          </a:p>
          <a:p>
            <a:endParaRPr lang="ru-RU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4">
            <a:extLst>
              <a:ext uri="{FF2B5EF4-FFF2-40B4-BE49-F238E27FC236}">
                <a16:creationId xmlns:a16="http://schemas.microsoft.com/office/drawing/2014/main" id="{33D3B831-243A-26A4-7B27-56BF73F91CA3}"/>
              </a:ext>
            </a:extLst>
          </p:cNvPr>
          <p:cNvSpPr/>
          <p:nvPr/>
        </p:nvSpPr>
        <p:spPr>
          <a:xfrm>
            <a:off x="1127234" y="4048149"/>
            <a:ext cx="2191407" cy="7646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Объект</a:t>
            </a:r>
            <a:endParaRPr lang="x-none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EAF9FB38-D44D-9E15-FD80-254DF076C562}"/>
              </a:ext>
            </a:extLst>
          </p:cNvPr>
          <p:cNvSpPr/>
          <p:nvPr/>
        </p:nvSpPr>
        <p:spPr>
          <a:xfrm>
            <a:off x="4977962" y="4048149"/>
            <a:ext cx="2191407" cy="76462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Ответ</a:t>
            </a:r>
            <a:endParaRPr lang="x-none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ight Arrow 7">
            <a:extLst>
              <a:ext uri="{FF2B5EF4-FFF2-40B4-BE49-F238E27FC236}">
                <a16:creationId xmlns:a16="http://schemas.microsoft.com/office/drawing/2014/main" id="{F59018EE-BBCB-CDCD-7C58-26977D3A60EB}"/>
              </a:ext>
            </a:extLst>
          </p:cNvPr>
          <p:cNvSpPr/>
          <p:nvPr/>
        </p:nvSpPr>
        <p:spPr>
          <a:xfrm>
            <a:off x="3598793" y="4304338"/>
            <a:ext cx="1134492" cy="252248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sz="105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4736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36753-B064-0C48-678E-DE943DFCD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5D5BCD-D976-F61E-86F6-4A192B1DE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Постановка задачи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672F8C-2489-FBF4-6AC0-60B5F50BD02F}"/>
              </a:ext>
            </a:extLst>
          </p:cNvPr>
          <p:cNvSpPr txBox="1">
            <a:spLocks/>
          </p:cNvSpPr>
          <p:nvPr/>
        </p:nvSpPr>
        <p:spPr>
          <a:xfrm>
            <a:off x="628650" y="1332310"/>
            <a:ext cx="7886700" cy="330041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7175" indent="-257175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ea typeface="Calibri" charset="0"/>
                <a:cs typeface="Arial" pitchFamily="34" charset="0"/>
              </a:rPr>
              <a:t>Объект должен содержать </a:t>
            </a:r>
            <a:r>
              <a:rPr lang="ru-RU" sz="1800" b="1" dirty="0">
                <a:latin typeface="Arial" pitchFamily="34" charset="0"/>
                <a:ea typeface="Calibri" charset="0"/>
                <a:cs typeface="Arial" pitchFamily="34" charset="0"/>
              </a:rPr>
              <a:t>достаточно информации для решения задачи</a:t>
            </a:r>
            <a:r>
              <a:rPr lang="en-US" sz="1800" b="1" dirty="0">
                <a:latin typeface="Arial" pitchFamily="34" charset="0"/>
                <a:ea typeface="Calibri" charset="0"/>
                <a:cs typeface="Arial" pitchFamily="34" charset="0"/>
              </a:rPr>
              <a:t>.</a:t>
            </a:r>
            <a:endParaRPr lang="ru-RU" sz="1800" b="1" dirty="0">
              <a:latin typeface="Arial" pitchFamily="34" charset="0"/>
              <a:ea typeface="Calibri" charset="0"/>
              <a:cs typeface="Arial" pitchFamily="34" charset="0"/>
            </a:endParaRPr>
          </a:p>
          <a:p>
            <a:pPr marL="257175" indent="-257175">
              <a:buFont typeface="Arial" pitchFamily="34" charset="0"/>
              <a:buChar char="•"/>
            </a:pPr>
            <a:r>
              <a:rPr lang="ru-RU" sz="1800" dirty="0">
                <a:latin typeface="Arial" pitchFamily="34" charset="0"/>
                <a:ea typeface="Calibri" charset="0"/>
                <a:cs typeface="Arial" pitchFamily="34" charset="0"/>
              </a:rPr>
              <a:t>Целевая переменная должна быть </a:t>
            </a:r>
            <a:r>
              <a:rPr lang="ru-RU" sz="1800" b="1" dirty="0">
                <a:latin typeface="Arial" pitchFamily="34" charset="0"/>
                <a:ea typeface="Calibri" charset="0"/>
                <a:cs typeface="Arial" pitchFamily="34" charset="0"/>
              </a:rPr>
              <a:t>конкретной</a:t>
            </a:r>
            <a:r>
              <a:rPr lang="en-US" sz="1800" b="1" dirty="0">
                <a:latin typeface="Arial" pitchFamily="34" charset="0"/>
                <a:ea typeface="Calibri" charset="0"/>
                <a:cs typeface="Arial" pitchFamily="34" charset="0"/>
              </a:rPr>
              <a:t>.</a:t>
            </a:r>
            <a:endParaRPr lang="ru-RU" sz="1800" b="1" dirty="0">
              <a:latin typeface="Arial" pitchFamily="34" charset="0"/>
              <a:ea typeface="Calibri" charset="0"/>
              <a:cs typeface="Arial" pitchFamily="34" charset="0"/>
            </a:endParaRPr>
          </a:p>
          <a:p>
            <a:endParaRPr lang="ru-RU" sz="1800" dirty="0">
              <a:latin typeface="Arial" pitchFamily="34" charset="0"/>
              <a:ea typeface="Calibri" charset="0"/>
              <a:cs typeface="Arial" pitchFamily="34" charset="0"/>
            </a:endParaRPr>
          </a:p>
          <a:p>
            <a:r>
              <a:rPr lang="ru-RU" sz="1800" u="sng" dirty="0">
                <a:latin typeface="Arial" pitchFamily="34" charset="0"/>
                <a:ea typeface="Calibri" charset="0"/>
                <a:cs typeface="Arial" pitchFamily="34" charset="0"/>
              </a:rPr>
              <a:t>Плохие постановки задач:</a:t>
            </a:r>
          </a:p>
          <a:p>
            <a:pPr marL="600075" lvl="1" indent="-257175">
              <a:buFont typeface="Arial" pitchFamily="34" charset="0"/>
              <a:buChar char="•"/>
            </a:pPr>
            <a:r>
              <a:rPr lang="ru-RU" sz="1800" i="1" dirty="0">
                <a:latin typeface="Arial" pitchFamily="34" charset="0"/>
                <a:cs typeface="Arial" pitchFamily="34" charset="0"/>
              </a:rPr>
              <a:t>Случай травматизации на производстве </a:t>
            </a:r>
            <a:r>
              <a:rPr lang="en-US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ru-RU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 стратегия по изменению процессов для снижения рисков</a:t>
            </a:r>
            <a:r>
              <a:rPr lang="en-US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.</a:t>
            </a:r>
            <a:endParaRPr lang="ru-RU" sz="1800" i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600075" lvl="1" indent="-257175">
              <a:buFont typeface="Arial" pitchFamily="34" charset="0"/>
              <a:buChar char="•"/>
            </a:pPr>
            <a:r>
              <a:rPr lang="ru-RU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Все внутренние данные компании </a:t>
            </a:r>
            <a:r>
              <a:rPr lang="en-US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ru-RU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 план развития на ближайшие 10 лет</a:t>
            </a:r>
            <a:r>
              <a:rPr lang="en-US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.</a:t>
            </a:r>
            <a:endParaRPr lang="ru-RU" sz="1800" i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pPr marL="600075" lvl="1" indent="-257175">
              <a:buFont typeface="Arial" pitchFamily="34" charset="0"/>
              <a:buChar char="•"/>
            </a:pPr>
            <a:r>
              <a:rPr lang="ru-RU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Современное состояние науки </a:t>
            </a:r>
            <a:r>
              <a:rPr lang="en-US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</a:t>
            </a:r>
            <a:r>
              <a:rPr lang="ru-RU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 конструкция корабля для полёта на Марс</a:t>
            </a:r>
            <a:r>
              <a:rPr lang="en-US" sz="1800" i="1" dirty="0">
                <a:latin typeface="Arial" pitchFamily="34" charset="0"/>
                <a:cs typeface="Arial" pitchFamily="34" charset="0"/>
                <a:sym typeface="Wingdings" pitchFamily="2" charset="2"/>
              </a:rPr>
              <a:t>.</a:t>
            </a:r>
            <a:endParaRPr lang="ru-RU" sz="1800" i="1" dirty="0">
              <a:latin typeface="Arial" pitchFamily="34" charset="0"/>
              <a:cs typeface="Arial" pitchFamily="34" charset="0"/>
              <a:sym typeface="Wingdings" pitchFamily="2" charset="2"/>
            </a:endParaRPr>
          </a:p>
          <a:p>
            <a:endParaRPr lang="ru-RU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7823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58EBF-16E1-AB63-A55B-DB449F68D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B604F4-02E7-059A-BA26-A990693E2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Данные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3DA2B7D1-267D-3930-35C6-24AB76F6B9CF}"/>
              </a:ext>
            </a:extLst>
          </p:cNvPr>
          <p:cNvSpPr txBox="1">
            <a:spLocks/>
          </p:cNvSpPr>
          <p:nvPr/>
        </p:nvSpPr>
        <p:spPr>
          <a:xfrm>
            <a:off x="628650" y="1332310"/>
            <a:ext cx="7886700" cy="3300413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7175" indent="-257175">
              <a:buFont typeface="Arial" pitchFamily="34" charset="0"/>
              <a:buChar char="•"/>
            </a:pPr>
            <a:r>
              <a:rPr lang="ru-RU" sz="1800" b="1" dirty="0">
                <a:latin typeface="Arial" pitchFamily="34" charset="0"/>
                <a:cs typeface="Arial" pitchFamily="34" charset="0"/>
              </a:rPr>
              <a:t>Обучающая выборка (или датасет) </a:t>
            </a:r>
            <a:r>
              <a:rPr lang="ru-RU" sz="1800" dirty="0">
                <a:latin typeface="Arial" pitchFamily="34" charset="0"/>
                <a:cs typeface="Arial" pitchFamily="34" charset="0"/>
              </a:rPr>
              <a:t>— набор объектов, для которых известны правильные ответы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.</a:t>
            </a:r>
            <a:endParaRPr lang="ru-RU" sz="1800" dirty="0">
              <a:latin typeface="Arial" pitchFamily="34" charset="0"/>
              <a:cs typeface="Arial" pitchFamily="34" charset="0"/>
            </a:endParaRPr>
          </a:p>
          <a:p>
            <a:r>
              <a:rPr lang="ru-RU" sz="1800" dirty="0">
                <a:latin typeface="Arial" pitchFamily="34" charset="0"/>
                <a:cs typeface="Arial" pitchFamily="34" charset="0"/>
              </a:rPr>
              <a:t>	</a:t>
            </a:r>
            <a:r>
              <a:rPr lang="ru-RU" sz="1800" i="1" dirty="0">
                <a:latin typeface="Arial" pitchFamily="34" charset="0"/>
                <a:cs typeface="Arial" pitchFamily="34" charset="0"/>
              </a:rPr>
              <a:t>Квартиры, для которых известна рыночная стоимость:</a:t>
            </a:r>
          </a:p>
          <a:p>
            <a:endParaRPr lang="ru-RU" sz="1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F73B8D-3C83-26FA-5847-D9FBE694F24B}"/>
              </a:ext>
            </a:extLst>
          </p:cNvPr>
          <p:cNvSpPr/>
          <p:nvPr/>
        </p:nvSpPr>
        <p:spPr>
          <a:xfrm>
            <a:off x="1514902" y="2425891"/>
            <a:ext cx="1985042" cy="63040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Объект 1</a:t>
            </a:r>
            <a:endParaRPr lang="x-none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79B156-3674-AFDE-A2E5-D78F37D76776}"/>
              </a:ext>
            </a:extLst>
          </p:cNvPr>
          <p:cNvSpPr/>
          <p:nvPr/>
        </p:nvSpPr>
        <p:spPr>
          <a:xfrm>
            <a:off x="5365630" y="2425891"/>
            <a:ext cx="1985042" cy="63040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Ответ 1</a:t>
            </a:r>
            <a:endParaRPr lang="x-none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DEF5C393-A5FF-1CF5-8C7D-09C5F717C8E1}"/>
              </a:ext>
            </a:extLst>
          </p:cNvPr>
          <p:cNvSpPr/>
          <p:nvPr/>
        </p:nvSpPr>
        <p:spPr>
          <a:xfrm>
            <a:off x="3886930" y="2592138"/>
            <a:ext cx="1027657" cy="20797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sz="1050"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AFCAE15-7166-AACE-825A-872C2D922F97}"/>
              </a:ext>
            </a:extLst>
          </p:cNvPr>
          <p:cNvSpPr/>
          <p:nvPr/>
        </p:nvSpPr>
        <p:spPr>
          <a:xfrm>
            <a:off x="1514902" y="4089868"/>
            <a:ext cx="1985042" cy="63040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Объект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</a:t>
            </a:r>
            <a:endParaRPr lang="x-none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1EB0FBF1-2865-53EC-760F-CE22233EDDA4}"/>
              </a:ext>
            </a:extLst>
          </p:cNvPr>
          <p:cNvSpPr/>
          <p:nvPr/>
        </p:nvSpPr>
        <p:spPr>
          <a:xfrm>
            <a:off x="5365630" y="4089868"/>
            <a:ext cx="1985042" cy="63040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Ответ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N</a:t>
            </a:r>
            <a:endParaRPr lang="x-none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ight Arrow 9">
            <a:extLst>
              <a:ext uri="{FF2B5EF4-FFF2-40B4-BE49-F238E27FC236}">
                <a16:creationId xmlns:a16="http://schemas.microsoft.com/office/drawing/2014/main" id="{4D58DA4E-8255-7335-25B2-4160BCC83B68}"/>
              </a:ext>
            </a:extLst>
          </p:cNvPr>
          <p:cNvSpPr/>
          <p:nvPr/>
        </p:nvSpPr>
        <p:spPr>
          <a:xfrm>
            <a:off x="3886930" y="4256115"/>
            <a:ext cx="1027657" cy="207970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sz="1050">
              <a:latin typeface="Arial" pitchFamily="34" charset="0"/>
              <a:cs typeface="Arial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D121C5-EB6F-EA44-5BB4-40E5C4937FBB}"/>
              </a:ext>
            </a:extLst>
          </p:cNvPr>
          <p:cNvSpPr txBox="1"/>
          <p:nvPr/>
        </p:nvSpPr>
        <p:spPr>
          <a:xfrm>
            <a:off x="4204773" y="3363668"/>
            <a:ext cx="318217" cy="46166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x-none" sz="2400" dirty="0">
                <a:latin typeface="Arial" pitchFamily="34" charset="0"/>
                <a:cs typeface="Arial" pitchFamily="34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88060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727AF-CEB0-AF2D-FAD2-2821AB52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5B345-B07D-7BFE-69B1-552038A59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Определение: признаки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37C2861E-9055-E21E-2D07-2E0F4B1D94BE}"/>
              </a:ext>
            </a:extLst>
          </p:cNvPr>
          <p:cNvSpPr/>
          <p:nvPr/>
        </p:nvSpPr>
        <p:spPr>
          <a:xfrm>
            <a:off x="3579479" y="983664"/>
            <a:ext cx="1985042" cy="630407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latin typeface="Arial" pitchFamily="34" charset="0"/>
                <a:cs typeface="Arial" pitchFamily="34" charset="0"/>
              </a:rPr>
              <a:t>Объект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endParaRPr lang="x-none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23B36-62CF-AD61-AB29-CB343912BD38}"/>
              </a:ext>
            </a:extLst>
          </p:cNvPr>
          <p:cNvSpPr txBox="1"/>
          <p:nvPr/>
        </p:nvSpPr>
        <p:spPr>
          <a:xfrm>
            <a:off x="543337" y="1688183"/>
            <a:ext cx="860066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600" dirty="0"/>
              <a:t>𝒙 — </a:t>
            </a:r>
            <a:r>
              <a:rPr lang="ru-RU" sz="1600" dirty="0" err="1"/>
              <a:t>example</a:t>
            </a:r>
            <a:r>
              <a:rPr lang="ru-RU" sz="1600" dirty="0"/>
              <a:t> / объект / наблюдение</a:t>
            </a:r>
          </a:p>
          <a:p>
            <a:endParaRPr lang="ru-RU" sz="1600" dirty="0"/>
          </a:p>
          <a:p>
            <a:r>
              <a:rPr lang="ru-RU" sz="1600" dirty="0"/>
              <a:t>Каждый пример (</a:t>
            </a:r>
            <a:r>
              <a:rPr lang="ru-RU" sz="1600" dirty="0" err="1"/>
              <a:t>квартика</a:t>
            </a:r>
            <a:r>
              <a:rPr lang="ru-RU" sz="1600" dirty="0"/>
              <a:t>) описывается набором характеристик  </a:t>
            </a:r>
            <a:br>
              <a:rPr lang="en-US" sz="1600" dirty="0"/>
            </a:br>
            <a:r>
              <a:rPr lang="ru-RU" sz="1600" dirty="0"/>
              <a:t>(например, чисел) — </a:t>
            </a:r>
            <a:r>
              <a:rPr lang="ru-RU" sz="1600" b="1" dirty="0">
                <a:solidFill>
                  <a:schemeClr val="tx1"/>
                </a:solidFill>
              </a:rPr>
              <a:t>признаков</a:t>
            </a:r>
            <a:r>
              <a:rPr lang="en-US" sz="1600" b="1" dirty="0">
                <a:solidFill>
                  <a:schemeClr val="tx1"/>
                </a:solidFill>
              </a:rPr>
              <a:t> (features)</a:t>
            </a:r>
            <a:r>
              <a:rPr lang="ru-RU" b="1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2" name="Google Shape;513;gb472e075ec_0_133" descr="Google Shape;513;gb472e075ec_0_133">
            <a:extLst>
              <a:ext uri="{FF2B5EF4-FFF2-40B4-BE49-F238E27FC236}">
                <a16:creationId xmlns:a16="http://schemas.microsoft.com/office/drawing/2014/main" id="{23B9CA5F-6062-2749-842D-7B236EB26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652" y="2839513"/>
            <a:ext cx="3945542" cy="474605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0BC16A5-31EB-4309-A3A5-B1138DDE2340}"/>
              </a:ext>
            </a:extLst>
          </p:cNvPr>
          <p:cNvSpPr txBox="1"/>
          <p:nvPr/>
        </p:nvSpPr>
        <p:spPr>
          <a:xfrm>
            <a:off x="543337" y="3583727"/>
            <a:ext cx="457200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У нас будут разные </a:t>
            </a:r>
            <a:r>
              <a:rPr lang="ru-RU" b="1" dirty="0">
                <a:solidFill>
                  <a:schemeClr val="tx1"/>
                </a:solidFill>
              </a:rPr>
              <a:t>признаки</a:t>
            </a:r>
            <a:r>
              <a:rPr lang="ru-RU" dirty="0"/>
              <a:t> о домах: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Площадь дома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Число комнат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Район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ru-RU" dirty="0"/>
              <a:t>….</a:t>
            </a:r>
          </a:p>
        </p:txBody>
      </p:sp>
    </p:spTree>
    <p:extLst>
      <p:ext uri="{BB962C8B-B14F-4D97-AF65-F5344CB8AC3E}">
        <p14:creationId xmlns:p14="http://schemas.microsoft.com/office/powerpoint/2010/main" val="31401925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2AF17-7D3F-ADE8-12E8-C3A95141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131477-01CE-36AF-10F0-03B3ADB7E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Определения: модель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549AC1-1577-91A8-2DAD-FD989AAE9441}"/>
              </a:ext>
            </a:extLst>
          </p:cNvPr>
          <p:cNvSpPr txBox="1"/>
          <p:nvPr/>
        </p:nvSpPr>
        <p:spPr>
          <a:xfrm>
            <a:off x="500547" y="811926"/>
            <a:ext cx="874027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sz="1800" b="1" dirty="0"/>
              <a:t>Модель</a:t>
            </a:r>
            <a:r>
              <a:rPr lang="ru-RU" sz="1800" dirty="0"/>
              <a:t> – </a:t>
            </a:r>
            <a:r>
              <a:rPr lang="ru-RU" sz="1800" dirty="0">
                <a:solidFill>
                  <a:schemeClr val="tx1"/>
                </a:solidFill>
              </a:rPr>
              <a:t>функция</a:t>
            </a:r>
            <a:r>
              <a:rPr lang="ru-RU" sz="1800" dirty="0"/>
              <a:t>, которая предсказывает ответ для любого объекта 𝒙: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6" name="Google Shape;541;gb472e075ec_0_167" descr="Google Shape;541;gb472e075ec_0_167">
            <a:extLst>
              <a:ext uri="{FF2B5EF4-FFF2-40B4-BE49-F238E27FC236}">
                <a16:creationId xmlns:a16="http://schemas.microsoft.com/office/drawing/2014/main" id="{E3DFA960-C9D6-FF17-0A27-C0480F0C9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15" y="1907826"/>
            <a:ext cx="2436290" cy="43024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919987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C5FA2-A634-ED00-8464-CE4D9A48F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Определения: модель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0A7D5-BFF9-1FAD-A22C-3DC64E4B844D}"/>
              </a:ext>
            </a:extLst>
          </p:cNvPr>
          <p:cNvSpPr txBox="1"/>
          <p:nvPr/>
        </p:nvSpPr>
        <p:spPr>
          <a:xfrm>
            <a:off x="500547" y="811926"/>
            <a:ext cx="874027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sz="1800" b="1" dirty="0"/>
              <a:t>Модель</a:t>
            </a:r>
            <a:r>
              <a:rPr lang="ru-RU" sz="1800" dirty="0"/>
              <a:t> – </a:t>
            </a:r>
            <a:r>
              <a:rPr lang="ru-RU" sz="1800" dirty="0">
                <a:solidFill>
                  <a:schemeClr val="tx1"/>
                </a:solidFill>
              </a:rPr>
              <a:t>функция</a:t>
            </a:r>
            <a:r>
              <a:rPr lang="ru-RU" sz="1800" dirty="0"/>
              <a:t>, которая предсказывает ответ для любого объекта 𝒙: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6" name="Google Shape;541;gb472e075ec_0_167" descr="Google Shape;541;gb472e075ec_0_167">
            <a:extLst>
              <a:ext uri="{FF2B5EF4-FFF2-40B4-BE49-F238E27FC236}">
                <a16:creationId xmlns:a16="http://schemas.microsoft.com/office/drawing/2014/main" id="{D7C77165-3C40-568A-5CDE-2BB88ADAD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15" y="1907826"/>
            <a:ext cx="2436290" cy="430248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6AC376-5B98-1FCB-21CB-0066B4216FAC}"/>
                  </a:ext>
                </a:extLst>
              </p:cNvPr>
              <p:cNvSpPr txBox="1"/>
              <p:nvPr/>
            </p:nvSpPr>
            <p:spPr>
              <a:xfrm>
                <a:off x="500547" y="3803015"/>
                <a:ext cx="8396027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u="sng" dirty="0"/>
                  <a:t>Пример: линейная модель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en-US" sz="1800" i="1" dirty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1</m:t>
                        </m:r>
                      </m:sub>
                    </m:sSub>
                    <m:r>
                      <a:rPr lang="en-US" sz="1800" i="1" dirty="0">
                        <a:solidFill>
                          <a:prstClr val="black"/>
                        </a:solidFill>
                        <a:latin typeface="Cambria Math" charset="0"/>
                      </a:rPr>
                      <m:t>∗</m:t>
                    </m:r>
                    <m:r>
                      <a:rPr lang="ru-RU" sz="1800" i="1" dirty="0">
                        <a:solidFill>
                          <a:prstClr val="black"/>
                        </a:solidFill>
                        <a:latin typeface="Cambria Math" charset="0"/>
                      </a:rPr>
                      <m:t>площадь</m:t>
                    </m:r>
                  </m:oMath>
                </a14:m>
                <a:r>
                  <a:rPr lang="ru-RU" sz="18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prstClr val="black"/>
                            </a:solidFill>
                            <a:latin typeface="Cambria Math" charset="0"/>
                          </a:rPr>
                          <m:t>𝑤</m:t>
                        </m:r>
                      </m:e>
                      <m:sub>
                        <m:r>
                          <a:rPr lang="ru-RU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ru-RU" sz="18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ru-RU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число комнат</m:t>
                        </m:r>
                      </m:e>
                    </m:d>
                    <m:r>
                      <a:rPr lang="ru-RU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∗(</m:t>
                    </m:r>
                    <m:r>
                      <a:rPr lang="ru-RU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расстрояние до метро)</m:t>
                    </m:r>
                  </m:oMath>
                </a14:m>
                <a:endParaRPr lang="ru-RU" sz="18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26AC376-5B98-1FCB-21CB-0066B4216F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7" y="3803015"/>
                <a:ext cx="8396027" cy="646331"/>
              </a:xfrm>
              <a:prstGeom prst="rect">
                <a:avLst/>
              </a:prstGeom>
              <a:blipFill>
                <a:blip r:embed="rId3"/>
                <a:stretch>
                  <a:fillRect l="-604" t="-3846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564440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83807-F5DE-2255-A49E-6158E045D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69C3A1-C274-1E0A-B17A-7E9BA312B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Определения: параметры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311D05-CF5B-1415-CD6E-2A026FFCDDE5}"/>
              </a:ext>
            </a:extLst>
          </p:cNvPr>
          <p:cNvSpPr txBox="1"/>
          <p:nvPr/>
        </p:nvSpPr>
        <p:spPr>
          <a:xfrm>
            <a:off x="500547" y="811926"/>
            <a:ext cx="8740271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sz="1800" b="1" dirty="0"/>
              <a:t>Модель</a:t>
            </a:r>
            <a:r>
              <a:rPr lang="ru-RU" sz="1800" dirty="0"/>
              <a:t> – </a:t>
            </a:r>
            <a:r>
              <a:rPr lang="ru-RU" sz="1800" dirty="0">
                <a:solidFill>
                  <a:schemeClr val="tx1"/>
                </a:solidFill>
              </a:rPr>
              <a:t>функция</a:t>
            </a:r>
            <a:r>
              <a:rPr lang="ru-RU" sz="1800" dirty="0"/>
              <a:t>, которая предсказывает ответ для любого объекта 𝒙: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6" name="Google Shape;541;gb472e075ec_0_167" descr="Google Shape;541;gb472e075ec_0_167">
            <a:extLst>
              <a:ext uri="{FF2B5EF4-FFF2-40B4-BE49-F238E27FC236}">
                <a16:creationId xmlns:a16="http://schemas.microsoft.com/office/drawing/2014/main" id="{88703583-3B7D-180C-34D3-FDF13CCA8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66" y="1985498"/>
            <a:ext cx="2436290" cy="43024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8831DE85-9A3D-78C7-4130-53E81747A424}"/>
              </a:ext>
            </a:extLst>
          </p:cNvPr>
          <p:cNvGrpSpPr/>
          <p:nvPr/>
        </p:nvGrpSpPr>
        <p:grpSpPr>
          <a:xfrm>
            <a:off x="500547" y="3803015"/>
            <a:ext cx="8396027" cy="695245"/>
            <a:chOff x="500548" y="3141368"/>
            <a:chExt cx="8396027" cy="69524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4E79E8C-F638-C55B-7BE8-63CD2080E1DF}"/>
                    </a:ext>
                  </a:extLst>
                </p:cNvPr>
                <p:cNvSpPr txBox="1"/>
                <p:nvPr/>
              </p:nvSpPr>
              <p:spPr>
                <a:xfrm>
                  <a:off x="500548" y="3141368"/>
                  <a:ext cx="8396027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ru-RU" sz="1800" u="sng" dirty="0"/>
                    <a:t>Пример: линейная модель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1</m:t>
                          </m:r>
                        </m:sub>
                      </m:sSub>
                      <m:r>
                        <a:rPr lang="en-US" sz="1800" i="1" dirty="0">
                          <a:solidFill>
                            <a:prstClr val="black"/>
                          </a:solidFill>
                          <a:latin typeface="Cambria Math" charset="0"/>
                        </a:rPr>
                        <m:t>∗</m:t>
                      </m:r>
                      <m:r>
                        <a:rPr lang="ru-RU" sz="1800" i="1" dirty="0">
                          <a:solidFill>
                            <a:prstClr val="black"/>
                          </a:solidFill>
                          <a:latin typeface="Cambria Math" charset="0"/>
                        </a:rPr>
                        <m:t>площадь</m:t>
                      </m:r>
                    </m:oMath>
                  </a14:m>
                  <a:r>
                    <a:rPr lang="ru-RU" sz="1800" dirty="0">
                      <a:solidFill>
                        <a:prstClr val="black"/>
                      </a:solidFill>
                      <a:latin typeface="Arial" pitchFamily="34" charset="0"/>
                      <a:cs typeface="Arial" pitchFamily="34" charset="0"/>
                    </a:rPr>
                    <a:t> +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prstClr val="black"/>
                              </a:solidFill>
                              <a:latin typeface="Cambria Math" charset="0"/>
                            </a:rPr>
                            <m:t>𝑤</m:t>
                          </m:r>
                        </m:e>
                        <m:sub>
                          <m:r>
                            <a:rPr lang="ru-RU" sz="1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ru-RU" sz="1800" b="0" i="1" dirty="0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ru-RU" sz="1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1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число комнат</m:t>
                          </m:r>
                        </m:e>
                      </m:d>
                      <m:r>
                        <a:rPr lang="ru-RU" sz="1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8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sz="1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∗(</m:t>
                      </m:r>
                      <m:r>
                        <a:rPr lang="ru-RU" sz="18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расстрояние до метро)</m:t>
                      </m:r>
                    </m:oMath>
                  </a14:m>
                  <a:endParaRPr lang="ru-RU" sz="18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endParaRP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74E79E8C-F638-C55B-7BE8-63CD2080E1D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548" y="3141368"/>
                  <a:ext cx="8396027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604" t="-3846" b="-13462"/>
                  </a:stretch>
                </a:blipFill>
              </p:spPr>
              <p:txBody>
                <a:bodyPr/>
                <a:lstStyle/>
                <a:p>
                  <a:r>
                    <a:rPr lang="ru-RU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Alternate Process 3">
              <a:extLst>
                <a:ext uri="{FF2B5EF4-FFF2-40B4-BE49-F238E27FC236}">
                  <a16:creationId xmlns:a16="http://schemas.microsoft.com/office/drawing/2014/main" id="{0B1F6619-C9AD-6821-A143-40485AD47783}"/>
                </a:ext>
              </a:extLst>
            </p:cNvPr>
            <p:cNvSpPr/>
            <p:nvPr/>
          </p:nvSpPr>
          <p:spPr>
            <a:xfrm>
              <a:off x="522067" y="3470162"/>
              <a:ext cx="393700" cy="366451"/>
            </a:xfrm>
            <a:prstGeom prst="flowChartAlternateProcess">
              <a:avLst/>
            </a:prstGeom>
            <a:noFill/>
            <a:ln w="53975">
              <a:solidFill>
                <a:srgbClr val="FF0000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783">
                <a:buClrTx/>
                <a:defRPr/>
              </a:pPr>
              <a:endParaRPr lang="en-US" sz="1013" kern="120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Calibri"/>
              </a:endParaRPr>
            </a:p>
          </p:txBody>
        </p:sp>
        <p:sp>
          <p:nvSpPr>
            <p:cNvPr id="11" name="Alternate Process 3">
              <a:extLst>
                <a:ext uri="{FF2B5EF4-FFF2-40B4-BE49-F238E27FC236}">
                  <a16:creationId xmlns:a16="http://schemas.microsoft.com/office/drawing/2014/main" id="{0EE3BBD7-5D32-5DD6-CC1F-7E38A26EFD35}"/>
                </a:ext>
              </a:extLst>
            </p:cNvPr>
            <p:cNvSpPr/>
            <p:nvPr/>
          </p:nvSpPr>
          <p:spPr>
            <a:xfrm>
              <a:off x="2174703" y="3447861"/>
              <a:ext cx="393700" cy="388752"/>
            </a:xfrm>
            <a:prstGeom prst="flowChartAlternateProcess">
              <a:avLst/>
            </a:prstGeom>
            <a:noFill/>
            <a:ln w="53975">
              <a:solidFill>
                <a:srgbClr val="FF0000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783">
                <a:buClrTx/>
                <a:defRPr/>
              </a:pPr>
              <a:endParaRPr lang="en-US" sz="1013" kern="120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Calibri"/>
              </a:endParaRPr>
            </a:p>
          </p:txBody>
        </p:sp>
        <p:sp>
          <p:nvSpPr>
            <p:cNvPr id="14" name="Alternate Process 3">
              <a:extLst>
                <a:ext uri="{FF2B5EF4-FFF2-40B4-BE49-F238E27FC236}">
                  <a16:creationId xmlns:a16="http://schemas.microsoft.com/office/drawing/2014/main" id="{72C89EBB-4909-8D20-CD0A-01DF601C064F}"/>
                </a:ext>
              </a:extLst>
            </p:cNvPr>
            <p:cNvSpPr/>
            <p:nvPr/>
          </p:nvSpPr>
          <p:spPr>
            <a:xfrm>
              <a:off x="4415650" y="3494606"/>
              <a:ext cx="308751" cy="320235"/>
            </a:xfrm>
            <a:prstGeom prst="flowChartAlternateProcess">
              <a:avLst/>
            </a:prstGeom>
            <a:noFill/>
            <a:ln w="53975">
              <a:solidFill>
                <a:srgbClr val="FF0000"/>
              </a:solidFill>
              <a:round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defTabSz="685783">
                <a:buClrTx/>
                <a:defRPr/>
              </a:pPr>
              <a:endParaRPr lang="en-US" sz="1013" kern="1200">
                <a:solidFill>
                  <a:prstClr val="black"/>
                </a:solidFill>
                <a:latin typeface="Arial" pitchFamily="34" charset="0"/>
                <a:cs typeface="Arial" pitchFamily="34" charset="0"/>
                <a:sym typeface="Calibri"/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854AE75F-1A26-A3AB-C83A-9A68DACC900C}"/>
              </a:ext>
            </a:extLst>
          </p:cNvPr>
          <p:cNvSpPr txBox="1"/>
          <p:nvPr/>
        </p:nvSpPr>
        <p:spPr>
          <a:xfrm>
            <a:off x="500546" y="2519096"/>
            <a:ext cx="839602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r>
              <a:rPr lang="ru-RU" sz="1800" b="1" dirty="0"/>
              <a:t>Параметры</a:t>
            </a:r>
            <a:r>
              <a:rPr lang="ru-RU" sz="1800" dirty="0"/>
              <a:t> — то, что мы </a:t>
            </a:r>
            <a:r>
              <a:rPr lang="ru-RU" sz="1800" b="1" dirty="0">
                <a:solidFill>
                  <a:schemeClr val="tx1"/>
                </a:solidFill>
              </a:rPr>
              <a:t>выучиваем</a:t>
            </a:r>
            <a:r>
              <a:rPr lang="ru-RU" sz="1800" dirty="0"/>
              <a:t> про 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ru-RU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ru-RU" sz="1800" dirty="0"/>
              <a:t>из данных (коэффициенты нашей функции)</a:t>
            </a:r>
            <a:r>
              <a:rPr lang="en-US" sz="1800" dirty="0"/>
              <a:t>.</a:t>
            </a:r>
            <a:endParaRPr lang="ru-RU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30805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CC5FA2-A634-ED00-8464-CE4D9A48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74870" cy="1095900"/>
          </a:xfrm>
        </p:spPr>
        <p:txBody>
          <a:bodyPr/>
          <a:lstStyle/>
          <a:p>
            <a:r>
              <a:rPr lang="ru-RU" dirty="0"/>
              <a:t>Определения: функция потерь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E0A7D5-BFF9-1FAD-A22C-3DC64E4B844D}"/>
              </a:ext>
            </a:extLst>
          </p:cNvPr>
          <p:cNvSpPr txBox="1"/>
          <p:nvPr/>
        </p:nvSpPr>
        <p:spPr>
          <a:xfrm>
            <a:off x="500549" y="1011125"/>
            <a:ext cx="7032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Функция потерь (</a:t>
            </a:r>
            <a:r>
              <a:rPr lang="ru-RU" sz="1600" b="1" dirty="0" err="1"/>
              <a:t>Loss</a:t>
            </a:r>
            <a:r>
              <a:rPr lang="ru-RU" sz="1600" b="1" dirty="0"/>
              <a:t> </a:t>
            </a:r>
            <a:r>
              <a:rPr lang="ru-RU" sz="1600" b="1" dirty="0" err="1"/>
              <a:t>function</a:t>
            </a:r>
            <a:r>
              <a:rPr lang="ru-RU" sz="1600" b="1" dirty="0"/>
              <a:t>) </a:t>
            </a:r>
            <a:r>
              <a:rPr lang="ru-RU" sz="1600" dirty="0"/>
              <a:t>— наш критерий качества. </a:t>
            </a:r>
            <a:endParaRPr lang="en-US" sz="1600" dirty="0"/>
          </a:p>
          <a:p>
            <a:r>
              <a:rPr lang="ru-RU" sz="1600" dirty="0"/>
              <a:t>Это функция, которая измеряет, насколько предсказание отличается от ответа</a:t>
            </a:r>
            <a:r>
              <a:rPr lang="en-US" sz="1600" dirty="0"/>
              <a:t>.</a:t>
            </a:r>
            <a:endParaRPr lang="ru-RU" sz="1600" dirty="0"/>
          </a:p>
        </p:txBody>
      </p:sp>
      <p:pic>
        <p:nvPicPr>
          <p:cNvPr id="3" name="Google Shape;568;gb472e075ec_0_188" descr="Google Shape;568;gb472e075ec_0_188">
            <a:extLst>
              <a:ext uri="{FF2B5EF4-FFF2-40B4-BE49-F238E27FC236}">
                <a16:creationId xmlns:a16="http://schemas.microsoft.com/office/drawing/2014/main" id="{1EA429A4-7B98-2BD4-B8AA-FA00B42B9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2018" y="1194038"/>
            <a:ext cx="1328251" cy="465169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8657047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3BBD1-DE18-C68C-69D9-705F83F26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D7FBE3-83D6-4448-A7C2-4D7C6BF8D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74870" cy="1095900"/>
          </a:xfrm>
        </p:spPr>
        <p:txBody>
          <a:bodyPr/>
          <a:lstStyle/>
          <a:p>
            <a:r>
              <a:rPr lang="ru-RU" dirty="0"/>
              <a:t>Определения: </a:t>
            </a:r>
            <a:r>
              <a:rPr lang="en-US" dirty="0"/>
              <a:t>MSE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B37F91-D2EE-CFD9-B077-124DFDBD12F7}"/>
              </a:ext>
            </a:extLst>
          </p:cNvPr>
          <p:cNvSpPr txBox="1"/>
          <p:nvPr/>
        </p:nvSpPr>
        <p:spPr>
          <a:xfrm>
            <a:off x="500549" y="1011125"/>
            <a:ext cx="7032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Функция потерь (</a:t>
            </a:r>
            <a:r>
              <a:rPr lang="ru-RU" sz="1600" b="1" dirty="0" err="1"/>
              <a:t>Loss</a:t>
            </a:r>
            <a:r>
              <a:rPr lang="ru-RU" sz="1600" b="1" dirty="0"/>
              <a:t> </a:t>
            </a:r>
            <a:r>
              <a:rPr lang="ru-RU" sz="1600" b="1" dirty="0" err="1"/>
              <a:t>function</a:t>
            </a:r>
            <a:r>
              <a:rPr lang="ru-RU" sz="1600" b="1" dirty="0"/>
              <a:t>) </a:t>
            </a:r>
            <a:r>
              <a:rPr lang="ru-RU" sz="1600" dirty="0"/>
              <a:t>— наш критерий качества. </a:t>
            </a:r>
            <a:endParaRPr lang="en-US" sz="1600" dirty="0"/>
          </a:p>
          <a:p>
            <a:r>
              <a:rPr lang="ru-RU" sz="1600" dirty="0"/>
              <a:t>Это функция, которая измеряет, насколько предсказание отличается от ответа</a:t>
            </a:r>
            <a:r>
              <a:rPr lang="en-US" sz="1600" dirty="0"/>
              <a:t>.</a:t>
            </a:r>
            <a:endParaRPr lang="ru-RU" sz="1600" dirty="0"/>
          </a:p>
        </p:txBody>
      </p:sp>
      <p:pic>
        <p:nvPicPr>
          <p:cNvPr id="3" name="Google Shape;568;gb472e075ec_0_188" descr="Google Shape;568;gb472e075ec_0_188">
            <a:extLst>
              <a:ext uri="{FF2B5EF4-FFF2-40B4-BE49-F238E27FC236}">
                <a16:creationId xmlns:a16="http://schemas.microsoft.com/office/drawing/2014/main" id="{251328F2-F970-396C-0F5F-9B66DDCBD1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1226357"/>
            <a:ext cx="1328251" cy="46516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EA2C61A4-12EF-B14A-F6C8-7C6D9C0B89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00549" y="2107024"/>
                <a:ext cx="7886700" cy="3300413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defTabSz="914378">
                  <a:spcBef>
                    <a:spcPts val="1000"/>
                  </a:spcBef>
                  <a:buSzPct val="100000"/>
                  <a:defRPr/>
                </a:pPr>
                <a:r>
                  <a:rPr lang="ru-RU" sz="1700" b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Среднеквадратичная ошибка</a:t>
                </a:r>
                <a:r>
                  <a:rPr lang="en-US" sz="1700" b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(Mean Squared Error, MSE)</a:t>
                </a:r>
                <a:r>
                  <a:rPr lang="ru-RU" sz="1700" b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:</a:t>
                </a:r>
                <a:endParaRPr lang="en-US" sz="17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algn="ctr" defTabSz="914378">
                  <a:spcBef>
                    <a:spcPts val="1000"/>
                  </a:spcBef>
                  <a:defRPr/>
                </a:pPr>
                <a:r>
                  <a:rPr lang="ru-RU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ru-RU" sz="15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ru-RU" sz="15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прогноз−факт</m:t>
                            </m:r>
                          </m:e>
                        </m:d>
                      </m:e>
                      <m:sup>
                        <m:r>
                          <a:rPr lang="en-US" sz="15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5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571494" lvl="1" indent="-228594" defTabSz="914378">
                  <a:spcBef>
                    <a:spcPts val="1000"/>
                  </a:spcBef>
                  <a:buSzPct val="100000"/>
                  <a:buFont typeface="Arial"/>
                  <a:buChar char="•"/>
                  <a:defRPr/>
                </a:pPr>
                <a14:m>
                  <m:oMath xmlns:m="http://schemas.openxmlformats.org/officeDocument/2006/math">
                    <m:r>
                      <a:rPr lang="ru-RU" sz="1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прогноз</m:t>
                    </m:r>
                    <m:r>
                      <a:rPr lang="en-US" sz="15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=1.000.000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,</a:t>
                </a:r>
                <a14:m>
                  <m:oMath xmlns:m="http://schemas.openxmlformats.org/officeDocument/2006/math">
                    <m:r>
                      <a:rPr lang="ru-RU" sz="1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факт</m:t>
                    </m:r>
                    <m:r>
                      <a:rPr lang="en-US" sz="15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=1.000.000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5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1.000.000−1.000.000</m:t>
                            </m:r>
                          </m:e>
                        </m:d>
                      </m:e>
                      <m:sup>
                        <m:r>
                          <a:rPr lang="en-US" sz="15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5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600075" lvl="1" indent="-257175" defTabSz="914378">
                  <a:spcBef>
                    <a:spcPts val="1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ru-RU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прогноз</m:t>
                    </m:r>
                    <m:r>
                      <a:rPr lang="en-US" sz="15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=1.000.000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,</a:t>
                </a:r>
                <a:r>
                  <a:rPr lang="ru-RU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5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факт</m:t>
                    </m:r>
                    <m:r>
                      <a:rPr lang="en-US" sz="15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=1.000.005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5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1.000.000−1.000.005</m:t>
                            </m:r>
                          </m:e>
                        </m:d>
                      </m:e>
                      <m:sup>
                        <m:r>
                          <a:rPr lang="en-US" sz="15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=25</m:t>
                    </m:r>
                  </m:oMath>
                </a14:m>
                <a:endParaRPr lang="en-US" sz="15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marL="600075" lvl="1" indent="-257175" defTabSz="914378">
                  <a:spcBef>
                    <a:spcPts val="1000"/>
                  </a:spcBef>
                  <a:buFont typeface="Arial" panose="020B0604020202020204" pitchFamily="34" charset="0"/>
                  <a:buChar char="•"/>
                  <a:defRPr/>
                </a:pPr>
                <a:r>
                  <a:rPr lang="ru-RU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прогноз</m:t>
                    </m:r>
                    <m:r>
                      <a:rPr lang="en-US" sz="15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=1.000.000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,</a:t>
                </a:r>
                <a:r>
                  <a:rPr lang="ru-RU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ru-RU" sz="15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факт</m:t>
                    </m:r>
                    <m:r>
                      <a:rPr lang="en-US" sz="150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=2.000.000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5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⟹</m:t>
                    </m:r>
                  </m:oMath>
                </a14:m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5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5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1.000.000−2.000.000</m:t>
                            </m:r>
                          </m:e>
                        </m:d>
                      </m:e>
                      <m:sup>
                        <m:r>
                          <a:rPr lang="en-US" sz="15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500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5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5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5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</m:oMath>
                </a14:m>
                <a:endParaRPr lang="ru-RU" sz="15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defTabSz="914378">
                  <a:spcBef>
                    <a:spcPts val="1000"/>
                  </a:spcBef>
                  <a:defRPr/>
                </a:pPr>
                <a:endParaRPr lang="ru-RU" sz="15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defTabSz="914378">
                  <a:spcBef>
                    <a:spcPts val="1000"/>
                  </a:spcBef>
                  <a:buSzPct val="100000"/>
                  <a:defRPr/>
                </a:pPr>
                <a:r>
                  <a:rPr lang="ru-RU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Функция потерь </a:t>
                </a:r>
                <a:r>
                  <a:rPr lang="ru-RU" sz="1500" b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должна соответствовать бизнес-требованиям</a:t>
                </a:r>
                <a:r>
                  <a:rPr lang="en-US" sz="1500" b="1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!</a:t>
                </a:r>
                <a:endParaRPr lang="ru-RU" sz="1500" b="1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pPr defTabSz="914378">
                  <a:spcBef>
                    <a:spcPts val="1000"/>
                  </a:spcBef>
                  <a:buSzPct val="100000"/>
                  <a:defRPr/>
                </a:pPr>
                <a:r>
                  <a:rPr lang="ru-RU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Одна из самых важных составляющих анализа данных</a:t>
                </a:r>
                <a:r>
                  <a:rPr lang="en-US" sz="1500" dirty="0">
                    <a:solidFill>
                      <a:prstClr val="black"/>
                    </a:solidFill>
                    <a:latin typeface="Arial" pitchFamily="34" charset="0"/>
                    <a:cs typeface="Arial" pitchFamily="34" charset="0"/>
                  </a:rPr>
                  <a:t>.</a:t>
                </a:r>
                <a:endParaRPr lang="ru-RU" sz="1500" dirty="0">
                  <a:solidFill>
                    <a:prstClr val="black"/>
                  </a:solidFill>
                  <a:latin typeface="Arial" pitchFamily="34" charset="0"/>
                  <a:cs typeface="Arial" pitchFamily="34" charset="0"/>
                </a:endParaRPr>
              </a:p>
              <a:p>
                <a:endParaRPr lang="ru-RU" sz="1500" dirty="0">
                  <a:latin typeface="Arial" pitchFamily="34" charset="0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4" name="Объект 2">
                <a:extLst>
                  <a:ext uri="{FF2B5EF4-FFF2-40B4-BE49-F238E27FC236}">
                    <a16:creationId xmlns:a16="http://schemas.microsoft.com/office/drawing/2014/main" id="{EA2C61A4-12EF-B14A-F6C8-7C6D9C0B8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549" y="2107024"/>
                <a:ext cx="7886700" cy="3300413"/>
              </a:xfrm>
              <a:prstGeom prst="rect">
                <a:avLst/>
              </a:prstGeom>
              <a:blipFill>
                <a:blip r:embed="rId3"/>
                <a:stretch>
                  <a:fillRect l="-482" t="-7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67074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07D95-3208-334F-7D16-9E58E400E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E52900-457C-C32B-DEED-5F7A69467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550" y="330724"/>
            <a:ext cx="8574870" cy="1095900"/>
          </a:xfrm>
        </p:spPr>
        <p:txBody>
          <a:bodyPr/>
          <a:lstStyle/>
          <a:p>
            <a:r>
              <a:rPr lang="ru-RU" dirty="0"/>
              <a:t>Определения: </a:t>
            </a:r>
            <a:r>
              <a:rPr lang="en-US" dirty="0"/>
              <a:t>MSE</a:t>
            </a:r>
            <a:endParaRPr lang="ru-RU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EA481C-2342-7A31-CA9A-773D2DC4CC5D}"/>
              </a:ext>
            </a:extLst>
          </p:cNvPr>
          <p:cNvSpPr txBox="1"/>
          <p:nvPr/>
        </p:nvSpPr>
        <p:spPr>
          <a:xfrm>
            <a:off x="500549" y="1011125"/>
            <a:ext cx="70323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Функция потерь (</a:t>
            </a:r>
            <a:r>
              <a:rPr lang="ru-RU" sz="1600" b="1" dirty="0" err="1"/>
              <a:t>Loss</a:t>
            </a:r>
            <a:r>
              <a:rPr lang="ru-RU" sz="1600" b="1" dirty="0"/>
              <a:t> </a:t>
            </a:r>
            <a:r>
              <a:rPr lang="ru-RU" sz="1600" b="1" dirty="0" err="1"/>
              <a:t>function</a:t>
            </a:r>
            <a:r>
              <a:rPr lang="ru-RU" sz="1600" b="1" dirty="0"/>
              <a:t>) </a:t>
            </a:r>
            <a:r>
              <a:rPr lang="ru-RU" sz="1600" dirty="0"/>
              <a:t>— наш критерий качества. </a:t>
            </a:r>
            <a:endParaRPr lang="en-US" sz="1600" dirty="0"/>
          </a:p>
          <a:p>
            <a:r>
              <a:rPr lang="ru-RU" sz="1600" dirty="0"/>
              <a:t>Это функция, которая измеряет, насколько предсказание отличается от ответа</a:t>
            </a:r>
            <a:r>
              <a:rPr lang="en-US" sz="1600" dirty="0"/>
              <a:t>.</a:t>
            </a:r>
            <a:endParaRPr lang="ru-RU" sz="1600" dirty="0"/>
          </a:p>
        </p:txBody>
      </p:sp>
      <p:pic>
        <p:nvPicPr>
          <p:cNvPr id="3" name="Google Shape;568;gb472e075ec_0_188" descr="Google Shape;568;gb472e075ec_0_188">
            <a:extLst>
              <a:ext uri="{FF2B5EF4-FFF2-40B4-BE49-F238E27FC236}">
                <a16:creationId xmlns:a16="http://schemas.microsoft.com/office/drawing/2014/main" id="{D0CD5203-28C3-3EA4-CE68-29CA1FAB0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199" y="1169204"/>
            <a:ext cx="1328251" cy="465169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Объект 2">
            <a:extLst>
              <a:ext uri="{FF2B5EF4-FFF2-40B4-BE49-F238E27FC236}">
                <a16:creationId xmlns:a16="http://schemas.microsoft.com/office/drawing/2014/main" id="{F01BADE3-2092-67CC-5C93-B4C3F6CEE3C1}"/>
              </a:ext>
            </a:extLst>
          </p:cNvPr>
          <p:cNvSpPr txBox="1">
            <a:spLocks/>
          </p:cNvSpPr>
          <p:nvPr/>
        </p:nvSpPr>
        <p:spPr>
          <a:xfrm>
            <a:off x="500549" y="2107024"/>
            <a:ext cx="7886700" cy="3300413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8">
              <a:spcBef>
                <a:spcPts val="1000"/>
              </a:spcBef>
              <a:buSzPct val="100000"/>
              <a:defRPr/>
            </a:pPr>
            <a:r>
              <a:rPr lang="ru-RU" sz="17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Среднеквадратичная ошибка</a:t>
            </a:r>
            <a:r>
              <a:rPr lang="en-US" sz="17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 (Mean Squared Error, MSE)</a:t>
            </a:r>
            <a:r>
              <a:rPr lang="ru-RU" sz="17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:</a:t>
            </a:r>
            <a:endParaRPr lang="en-US" sz="17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defTabSz="914378">
              <a:spcBef>
                <a:spcPts val="1000"/>
              </a:spcBef>
              <a:buSzPct val="100000"/>
              <a:defRPr/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defTabSz="914378">
              <a:spcBef>
                <a:spcPts val="1000"/>
              </a:spcBef>
              <a:buSzPct val="100000"/>
              <a:defRPr/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defTabSz="914378">
              <a:spcBef>
                <a:spcPts val="1000"/>
              </a:spcBef>
              <a:buSzPct val="100000"/>
              <a:defRPr/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defTabSz="914378">
              <a:spcBef>
                <a:spcPts val="1000"/>
              </a:spcBef>
              <a:buSzPct val="100000"/>
              <a:defRPr/>
            </a:pPr>
            <a:endParaRPr lang="en-US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defTabSz="914378">
              <a:spcBef>
                <a:spcPts val="1000"/>
              </a:spcBef>
              <a:buSzPct val="100000"/>
              <a:defRPr/>
            </a:pPr>
            <a:r>
              <a:rPr lang="ru-RU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Функция потерь </a:t>
            </a:r>
            <a:r>
              <a:rPr lang="ru-RU" sz="15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должна соответствовать бизнес-требованиям</a:t>
            </a:r>
            <a:r>
              <a:rPr lang="en-US" sz="1500" b="1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!</a:t>
            </a:r>
            <a:endParaRPr lang="ru-RU" sz="1500" b="1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defTabSz="914378">
              <a:spcBef>
                <a:spcPts val="1000"/>
              </a:spcBef>
              <a:buSzPct val="100000"/>
              <a:defRPr/>
            </a:pPr>
            <a:r>
              <a:rPr lang="ru-RU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Одна из самых важных составляющих анализа данных</a:t>
            </a:r>
            <a:r>
              <a:rPr lang="en-US" sz="15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.</a:t>
            </a:r>
            <a:endParaRPr lang="ru-RU" sz="15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endParaRPr lang="ru-RU" sz="15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Google Shape;601;gb472e075ec_0_225" descr="Google Shape;601;gb472e075ec_0_225">
            <a:extLst>
              <a:ext uri="{FF2B5EF4-FFF2-40B4-BE49-F238E27FC236}">
                <a16:creationId xmlns:a16="http://schemas.microsoft.com/office/drawing/2014/main" id="{69C078B4-8ED0-7620-FA54-B436A203CC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1961" y="2572422"/>
            <a:ext cx="4803875" cy="104772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9152539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AD1F1-905E-DBBF-91DB-FC19823F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Определения: обучение модели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BF14C-A3C5-6CC4-D0AF-D3AA07F19B1B}"/>
              </a:ext>
            </a:extLst>
          </p:cNvPr>
          <p:cNvSpPr txBox="1"/>
          <p:nvPr/>
        </p:nvSpPr>
        <p:spPr>
          <a:xfrm>
            <a:off x="500548" y="1284890"/>
            <a:ext cx="87729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У нас есть датасет и функция потерь</a:t>
            </a:r>
            <a:r>
              <a:rPr lang="en-US" sz="1600" dirty="0"/>
              <a:t>.</a:t>
            </a:r>
            <a:endParaRPr lang="ru-RU" sz="1600" dirty="0"/>
          </a:p>
          <a:p>
            <a:endParaRPr lang="ru-RU" sz="1600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89667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6AD1F1-905E-DBBF-91DB-FC19823F3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Определения: обучение модели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1BF14C-A3C5-6CC4-D0AF-D3AA07F19B1B}"/>
              </a:ext>
            </a:extLst>
          </p:cNvPr>
          <p:cNvSpPr txBox="1"/>
          <p:nvPr/>
        </p:nvSpPr>
        <p:spPr>
          <a:xfrm>
            <a:off x="500548" y="1284890"/>
            <a:ext cx="8772992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У нас есть датасет и функция потерь</a:t>
            </a:r>
            <a:r>
              <a:rPr lang="en-US" sz="1600" dirty="0"/>
              <a:t>.</a:t>
            </a:r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Мы выбираем семейство моделей 𝒜  (то есть модели какого </a:t>
            </a:r>
            <a:r>
              <a:rPr lang="ru-RU" sz="1600" b="1" dirty="0"/>
              <a:t>типа</a:t>
            </a:r>
            <a:r>
              <a:rPr lang="ru-RU" sz="1600" dirty="0"/>
              <a:t> мы рассматриваем)</a:t>
            </a:r>
            <a:r>
              <a:rPr lang="en-US" sz="1600" dirty="0"/>
              <a:t>.</a:t>
            </a:r>
            <a:endParaRPr lang="ru-RU" sz="1600" dirty="0"/>
          </a:p>
          <a:p>
            <a:pPr lvl="8"/>
            <a:r>
              <a:rPr lang="ru-RU" sz="1600" dirty="0"/>
              <a:t>		</a:t>
            </a:r>
            <a:endParaRPr lang="en-US" sz="1600" dirty="0"/>
          </a:p>
          <a:p>
            <a:pPr lvl="8"/>
            <a:r>
              <a:rPr lang="ru-RU" sz="1600" u="sng" dirty="0"/>
              <a:t>Например, линейная модель</a:t>
            </a:r>
            <a:r>
              <a:rPr lang="en-US" sz="1600" u="sng" dirty="0"/>
              <a:t>:</a:t>
            </a:r>
            <a:endParaRPr lang="ru-RU" sz="1600" u="sng" dirty="0"/>
          </a:p>
          <a:p>
            <a:endParaRPr lang="ru-RU" sz="1600" dirty="0"/>
          </a:p>
          <a:p>
            <a:endParaRPr lang="ru-RU" dirty="0"/>
          </a:p>
          <a:p>
            <a:endParaRPr lang="ru-RU" b="1" dirty="0"/>
          </a:p>
          <a:p>
            <a:pPr>
              <a:spcAft>
                <a:spcPts val="600"/>
              </a:spcAft>
            </a:pPr>
            <a:endParaRPr lang="ru-RU" b="1" dirty="0"/>
          </a:p>
        </p:txBody>
      </p:sp>
      <p:pic>
        <p:nvPicPr>
          <p:cNvPr id="12" name="Google Shape;608;gb10daea3ca_0_1347" descr="Google Shape;608;gb10daea3ca_0_1347">
            <a:extLst>
              <a:ext uri="{FF2B5EF4-FFF2-40B4-BE49-F238E27FC236}">
                <a16:creationId xmlns:a16="http://schemas.microsoft.com/office/drawing/2014/main" id="{28DDEEE8-57FC-5C47-2FE1-9A8A26A0ED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75" y="2911194"/>
            <a:ext cx="5207449" cy="3903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386017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0F33-D0EF-67EF-B1B2-7048A9E2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355D5F-317F-C11E-C3FB-4A5E0C2C2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Определения: обучение модели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945AEC-81F1-CA5B-810C-E31EF36DCA92}"/>
              </a:ext>
            </a:extLst>
          </p:cNvPr>
          <p:cNvSpPr txBox="1"/>
          <p:nvPr/>
        </p:nvSpPr>
        <p:spPr>
          <a:xfrm>
            <a:off x="500548" y="1284890"/>
            <a:ext cx="8772992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У нас есть датасет и функция потерь</a:t>
            </a:r>
            <a:r>
              <a:rPr lang="en-US" sz="1600" dirty="0"/>
              <a:t>.</a:t>
            </a:r>
            <a:endParaRPr lang="ru-RU" sz="1600" dirty="0"/>
          </a:p>
          <a:p>
            <a:endParaRPr lang="ru-RU" sz="1600" dirty="0"/>
          </a:p>
          <a:p>
            <a:endParaRPr lang="ru-RU" sz="1600" dirty="0"/>
          </a:p>
          <a:p>
            <a:r>
              <a:rPr lang="ru-RU" sz="1600" dirty="0"/>
              <a:t>Мы выбираем семейство моделей 𝒜  (то есть модели какого </a:t>
            </a:r>
            <a:r>
              <a:rPr lang="ru-RU" sz="1600" b="1" dirty="0"/>
              <a:t>типа</a:t>
            </a:r>
            <a:r>
              <a:rPr lang="ru-RU" sz="1600" dirty="0"/>
              <a:t> мы рассматриваем)</a:t>
            </a:r>
            <a:r>
              <a:rPr lang="en-US" sz="1600" dirty="0"/>
              <a:t>.</a:t>
            </a:r>
            <a:endParaRPr lang="ru-RU" sz="1600" dirty="0"/>
          </a:p>
          <a:p>
            <a:pPr lvl="8"/>
            <a:r>
              <a:rPr lang="ru-RU" sz="1600" dirty="0"/>
              <a:t>		</a:t>
            </a:r>
            <a:endParaRPr lang="en-US" sz="1600" dirty="0"/>
          </a:p>
          <a:p>
            <a:pPr lvl="8"/>
            <a:r>
              <a:rPr lang="ru-RU" sz="1600" u="sng" dirty="0"/>
              <a:t>Например, линейная модель</a:t>
            </a:r>
            <a:r>
              <a:rPr lang="en-US" sz="1600" u="sng" dirty="0"/>
              <a:t>:</a:t>
            </a:r>
          </a:p>
          <a:p>
            <a:pPr lvl="8"/>
            <a:endParaRPr lang="en-US" sz="1600" u="sng" dirty="0"/>
          </a:p>
          <a:p>
            <a:pPr lvl="8"/>
            <a:endParaRPr lang="en-US" sz="1600" u="sng" dirty="0"/>
          </a:p>
          <a:p>
            <a:pPr lvl="8"/>
            <a:endParaRPr lang="en-US" sz="1600" u="sng" dirty="0"/>
          </a:p>
          <a:p>
            <a:pPr>
              <a:spcAft>
                <a:spcPts val="600"/>
              </a:spcAft>
            </a:pPr>
            <a:r>
              <a:rPr lang="ru-RU" sz="1600" b="1" dirty="0"/>
              <a:t>Обучение</a:t>
            </a:r>
            <a:r>
              <a:rPr lang="ru-RU" sz="1600" dirty="0"/>
              <a:t> — поиск оптимальной модели (из выбранного семейства) в терминах функции потерь</a:t>
            </a:r>
          </a:p>
          <a:p>
            <a:r>
              <a:rPr lang="ru-RU" sz="1600" dirty="0"/>
              <a:t>Неформально: обучение — </a:t>
            </a:r>
            <a:r>
              <a:rPr lang="ru-RU" sz="1600" b="1" dirty="0">
                <a:solidFill>
                  <a:schemeClr val="tx1"/>
                </a:solidFill>
              </a:rPr>
              <a:t>поиск лучшего набора параметро</a:t>
            </a:r>
            <a:r>
              <a:rPr lang="ru-RU" sz="1600" dirty="0">
                <a:solidFill>
                  <a:schemeClr val="tx1"/>
                </a:solidFill>
              </a:rPr>
              <a:t>в</a:t>
            </a:r>
            <a:r>
              <a:rPr lang="ru-RU" sz="1600" dirty="0">
                <a:solidFill>
                  <a:srgbClr val="FFC000"/>
                </a:solidFill>
              </a:rPr>
              <a:t> </a:t>
            </a:r>
            <a:r>
              <a:rPr lang="ru-RU" sz="1600" dirty="0"/>
              <a:t>среди всех возможных</a:t>
            </a:r>
            <a:r>
              <a:rPr lang="en-US" sz="1600" dirty="0"/>
              <a:t>.</a:t>
            </a:r>
            <a:endParaRPr lang="ru-RU" sz="1600" u="sng" dirty="0"/>
          </a:p>
          <a:p>
            <a:endParaRPr lang="ru-RU" sz="1600" dirty="0"/>
          </a:p>
          <a:p>
            <a:endParaRPr lang="ru-RU" dirty="0"/>
          </a:p>
          <a:p>
            <a:endParaRPr lang="ru-RU" b="1" dirty="0"/>
          </a:p>
          <a:p>
            <a:pPr>
              <a:spcAft>
                <a:spcPts val="600"/>
              </a:spcAft>
            </a:pPr>
            <a:endParaRPr lang="ru-RU" b="1" dirty="0"/>
          </a:p>
        </p:txBody>
      </p:sp>
      <p:pic>
        <p:nvPicPr>
          <p:cNvPr id="12" name="Google Shape;608;gb10daea3ca_0_1347" descr="Google Shape;608;gb10daea3ca_0_1347">
            <a:extLst>
              <a:ext uri="{FF2B5EF4-FFF2-40B4-BE49-F238E27FC236}">
                <a16:creationId xmlns:a16="http://schemas.microsoft.com/office/drawing/2014/main" id="{03CC58FC-2AD3-EE20-DAC5-84856FC1D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575" y="2911194"/>
            <a:ext cx="5207449" cy="39037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88132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>
          <a:extLst>
            <a:ext uri="{FF2B5EF4-FFF2-40B4-BE49-F238E27FC236}">
              <a16:creationId xmlns:a16="http://schemas.microsoft.com/office/drawing/2014/main" id="{C3660B6E-95C7-34FE-AA02-1B8BC69115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>
            <a:extLst>
              <a:ext uri="{FF2B5EF4-FFF2-40B4-BE49-F238E27FC236}">
                <a16:creationId xmlns:a16="http://schemas.microsoft.com/office/drawing/2014/main" id="{36930209-BEA7-A541-DC85-DEFC95436D3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Обучение модели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4837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59055-B3BF-BF09-F50B-D79EAC47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BAC648-7083-0EAB-FFA0-C8FD4DA8C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 на пальцах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186C972-2E8B-3B7D-B020-E32708B944AB}"/>
              </a:ext>
            </a:extLst>
          </p:cNvPr>
          <p:cNvGrpSpPr/>
          <p:nvPr/>
        </p:nvGrpSpPr>
        <p:grpSpPr>
          <a:xfrm>
            <a:off x="228668" y="1891171"/>
            <a:ext cx="6861002" cy="1825706"/>
            <a:chOff x="906399" y="1863672"/>
            <a:chExt cx="6861002" cy="1825706"/>
          </a:xfrm>
        </p:grpSpPr>
        <p:sp>
          <p:nvSpPr>
            <p:cNvPr id="3" name="Rounded Rectangle 4">
              <a:extLst>
                <a:ext uri="{FF2B5EF4-FFF2-40B4-BE49-F238E27FC236}">
                  <a16:creationId xmlns:a16="http://schemas.microsoft.com/office/drawing/2014/main" id="{04D1E7A0-B726-2AD6-ACA8-5B6DA3353E94}"/>
                </a:ext>
              </a:extLst>
            </p:cNvPr>
            <p:cNvSpPr/>
            <p:nvPr/>
          </p:nvSpPr>
          <p:spPr>
            <a:xfrm>
              <a:off x="2702431" y="1863672"/>
              <a:ext cx="1426779" cy="161596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800" dirty="0">
                  <a:latin typeface="Arial" pitchFamily="34" charset="0"/>
                  <a:cs typeface="Arial" pitchFamily="34" charset="0"/>
                </a:rPr>
                <a:t>Модель</a:t>
              </a:r>
            </a:p>
            <a:p>
              <a:pPr algn="ctr"/>
              <a:endParaRPr lang="ru-RU" sz="1800" dirty="0">
                <a:latin typeface="Arial" pitchFamily="34" charset="0"/>
                <a:cs typeface="Arial" pitchFamily="34" charset="0"/>
              </a:endParaRPr>
            </a:p>
            <a:p>
              <a:pPr algn="ctr"/>
              <a:endParaRPr lang="x-none" sz="1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id="{269DE8BE-674F-3778-67FF-3C0BB5AB5B4D}"/>
                </a:ext>
              </a:extLst>
            </p:cNvPr>
            <p:cNvSpPr/>
            <p:nvPr/>
          </p:nvSpPr>
          <p:spPr>
            <a:xfrm>
              <a:off x="2797024" y="2802273"/>
              <a:ext cx="1237593" cy="51238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Параметры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D5CE6364-E010-C38D-0FD5-6D24C68EA7C0}"/>
                </a:ext>
              </a:extLst>
            </p:cNvPr>
            <p:cNvSpPr/>
            <p:nvPr/>
          </p:nvSpPr>
          <p:spPr>
            <a:xfrm>
              <a:off x="906399" y="2464456"/>
              <a:ext cx="1024759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Объект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24788297-FD1C-2AD0-6EDC-A6C061885A2F}"/>
                </a:ext>
              </a:extLst>
            </p:cNvPr>
            <p:cNvSpPr/>
            <p:nvPr/>
          </p:nvSpPr>
          <p:spPr>
            <a:xfrm>
              <a:off x="4786244" y="2466997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Ответ модели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ight Arrow 8">
              <a:extLst>
                <a:ext uri="{FF2B5EF4-FFF2-40B4-BE49-F238E27FC236}">
                  <a16:creationId xmlns:a16="http://schemas.microsoft.com/office/drawing/2014/main" id="{B4A49B6F-48E4-69BC-3196-089448F0A3EA}"/>
                </a:ext>
              </a:extLst>
            </p:cNvPr>
            <p:cNvSpPr/>
            <p:nvPr/>
          </p:nvSpPr>
          <p:spPr>
            <a:xfrm>
              <a:off x="2205877" y="2541883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ight Arrow 9">
              <a:extLst>
                <a:ext uri="{FF2B5EF4-FFF2-40B4-BE49-F238E27FC236}">
                  <a16:creationId xmlns:a16="http://schemas.microsoft.com/office/drawing/2014/main" id="{69EB9451-5718-8655-7900-8E2A3C0FCD6A}"/>
                </a:ext>
              </a:extLst>
            </p:cNvPr>
            <p:cNvSpPr/>
            <p:nvPr/>
          </p:nvSpPr>
          <p:spPr>
            <a:xfrm>
              <a:off x="4207977" y="2540190"/>
              <a:ext cx="417787" cy="26293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ounded Rectangle 10">
              <a:extLst>
                <a:ext uri="{FF2B5EF4-FFF2-40B4-BE49-F238E27FC236}">
                  <a16:creationId xmlns:a16="http://schemas.microsoft.com/office/drawing/2014/main" id="{D30ADA8F-D226-FE7D-C703-474D21DA92F7}"/>
                </a:ext>
              </a:extLst>
            </p:cNvPr>
            <p:cNvSpPr/>
            <p:nvPr/>
          </p:nvSpPr>
          <p:spPr>
            <a:xfrm>
              <a:off x="4786243" y="3145468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latin typeface="Arial" pitchFamily="34" charset="0"/>
                  <a:cs typeface="Arial" pitchFamily="34" charset="0"/>
                </a:rPr>
                <a:t>Правильный ответ</a:t>
              </a:r>
              <a:endParaRPr lang="x-none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ight Arrow 11">
              <a:extLst>
                <a:ext uri="{FF2B5EF4-FFF2-40B4-BE49-F238E27FC236}">
                  <a16:creationId xmlns:a16="http://schemas.microsoft.com/office/drawing/2014/main" id="{BE41163F-0467-2ED0-BD9C-A1A2177A3CD8}"/>
                </a:ext>
              </a:extLst>
            </p:cNvPr>
            <p:cNvSpPr/>
            <p:nvPr/>
          </p:nvSpPr>
          <p:spPr>
            <a:xfrm>
              <a:off x="6127431" y="2540189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1C49C255-6326-1DC1-D660-04249F2D2C7C}"/>
                </a:ext>
              </a:extLst>
            </p:cNvPr>
            <p:cNvSpPr/>
            <p:nvPr/>
          </p:nvSpPr>
          <p:spPr>
            <a:xfrm>
              <a:off x="6127431" y="3220354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16499331-C2BE-6BE7-73CD-D97533975BBB}"/>
                </a:ext>
              </a:extLst>
            </p:cNvPr>
            <p:cNvSpPr/>
            <p:nvPr/>
          </p:nvSpPr>
          <p:spPr>
            <a:xfrm>
              <a:off x="6632283" y="2073413"/>
              <a:ext cx="1135118" cy="161596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500" dirty="0">
                  <a:latin typeface="Arial" pitchFamily="34" charset="0"/>
                  <a:cs typeface="Arial" pitchFamily="34" charset="0"/>
                </a:rPr>
                <a:t>Функция потерь</a:t>
              </a:r>
              <a:endParaRPr lang="x-none" sz="1500" dirty="0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84797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6B2D8-092F-2C3C-7F47-ED98C768C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40240-A6AB-A3AB-B8C3-26C16F1688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 на пальцах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87A8A56-E169-4FBF-0F66-0A2FB8E6A279}"/>
              </a:ext>
            </a:extLst>
          </p:cNvPr>
          <p:cNvGrpSpPr/>
          <p:nvPr/>
        </p:nvGrpSpPr>
        <p:grpSpPr>
          <a:xfrm>
            <a:off x="228668" y="1891171"/>
            <a:ext cx="6861002" cy="1825706"/>
            <a:chOff x="906399" y="1863672"/>
            <a:chExt cx="6861002" cy="1825706"/>
          </a:xfrm>
        </p:grpSpPr>
        <p:sp>
          <p:nvSpPr>
            <p:cNvPr id="3" name="Rounded Rectangle 4">
              <a:extLst>
                <a:ext uri="{FF2B5EF4-FFF2-40B4-BE49-F238E27FC236}">
                  <a16:creationId xmlns:a16="http://schemas.microsoft.com/office/drawing/2014/main" id="{95B45389-7C4E-4E48-CB57-74B072B2559E}"/>
                </a:ext>
              </a:extLst>
            </p:cNvPr>
            <p:cNvSpPr/>
            <p:nvPr/>
          </p:nvSpPr>
          <p:spPr>
            <a:xfrm>
              <a:off x="2702431" y="1863672"/>
              <a:ext cx="1426779" cy="161596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800" dirty="0">
                  <a:latin typeface="Arial" pitchFamily="34" charset="0"/>
                  <a:cs typeface="Arial" pitchFamily="34" charset="0"/>
                </a:rPr>
                <a:t>Модель</a:t>
              </a:r>
            </a:p>
            <a:p>
              <a:pPr algn="ctr"/>
              <a:endParaRPr lang="ru-RU" sz="1800" dirty="0">
                <a:latin typeface="Arial" pitchFamily="34" charset="0"/>
                <a:cs typeface="Arial" pitchFamily="34" charset="0"/>
              </a:endParaRPr>
            </a:p>
            <a:p>
              <a:pPr algn="ctr"/>
              <a:endParaRPr lang="x-none" sz="1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id="{E23BC751-13B6-B5E0-085C-8EE64945F4CD}"/>
                </a:ext>
              </a:extLst>
            </p:cNvPr>
            <p:cNvSpPr/>
            <p:nvPr/>
          </p:nvSpPr>
          <p:spPr>
            <a:xfrm>
              <a:off x="2797024" y="2802273"/>
              <a:ext cx="1237593" cy="51238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Параметры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2F8C320E-9887-35D3-0E2A-E93D0AFCFDF6}"/>
                </a:ext>
              </a:extLst>
            </p:cNvPr>
            <p:cNvSpPr/>
            <p:nvPr/>
          </p:nvSpPr>
          <p:spPr>
            <a:xfrm>
              <a:off x="906399" y="2464456"/>
              <a:ext cx="1024759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Объект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027D780A-02A6-F4EB-4A35-9B7D6DBA4251}"/>
                </a:ext>
              </a:extLst>
            </p:cNvPr>
            <p:cNvSpPr/>
            <p:nvPr/>
          </p:nvSpPr>
          <p:spPr>
            <a:xfrm>
              <a:off x="4786244" y="2466997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Ответ модели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ight Arrow 8">
              <a:extLst>
                <a:ext uri="{FF2B5EF4-FFF2-40B4-BE49-F238E27FC236}">
                  <a16:creationId xmlns:a16="http://schemas.microsoft.com/office/drawing/2014/main" id="{12DA99F7-7BE9-62FE-DAC8-E0339E099ED5}"/>
                </a:ext>
              </a:extLst>
            </p:cNvPr>
            <p:cNvSpPr/>
            <p:nvPr/>
          </p:nvSpPr>
          <p:spPr>
            <a:xfrm>
              <a:off x="2205877" y="2541883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ight Arrow 9">
              <a:extLst>
                <a:ext uri="{FF2B5EF4-FFF2-40B4-BE49-F238E27FC236}">
                  <a16:creationId xmlns:a16="http://schemas.microsoft.com/office/drawing/2014/main" id="{B87331BD-92A7-58AE-B265-A61A8DBCA937}"/>
                </a:ext>
              </a:extLst>
            </p:cNvPr>
            <p:cNvSpPr/>
            <p:nvPr/>
          </p:nvSpPr>
          <p:spPr>
            <a:xfrm>
              <a:off x="4207977" y="2540190"/>
              <a:ext cx="417787" cy="26293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ounded Rectangle 10">
              <a:extLst>
                <a:ext uri="{FF2B5EF4-FFF2-40B4-BE49-F238E27FC236}">
                  <a16:creationId xmlns:a16="http://schemas.microsoft.com/office/drawing/2014/main" id="{429204E2-DA65-CBC1-3C16-8F9008EDA982}"/>
                </a:ext>
              </a:extLst>
            </p:cNvPr>
            <p:cNvSpPr/>
            <p:nvPr/>
          </p:nvSpPr>
          <p:spPr>
            <a:xfrm>
              <a:off x="4786243" y="3145468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latin typeface="Arial" pitchFamily="34" charset="0"/>
                  <a:cs typeface="Arial" pitchFamily="34" charset="0"/>
                </a:rPr>
                <a:t>Правильный ответ</a:t>
              </a:r>
              <a:endParaRPr lang="x-none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ight Arrow 11">
              <a:extLst>
                <a:ext uri="{FF2B5EF4-FFF2-40B4-BE49-F238E27FC236}">
                  <a16:creationId xmlns:a16="http://schemas.microsoft.com/office/drawing/2014/main" id="{4EDF009F-BB86-D954-2BAE-77D938DAC7C8}"/>
                </a:ext>
              </a:extLst>
            </p:cNvPr>
            <p:cNvSpPr/>
            <p:nvPr/>
          </p:nvSpPr>
          <p:spPr>
            <a:xfrm>
              <a:off x="6127431" y="2540189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EFAC5311-8578-44B0-8C90-BF4E6B2442A1}"/>
                </a:ext>
              </a:extLst>
            </p:cNvPr>
            <p:cNvSpPr/>
            <p:nvPr/>
          </p:nvSpPr>
          <p:spPr>
            <a:xfrm>
              <a:off x="6127431" y="3220354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D2128DB1-BF2D-B97E-8182-1D57507F9FC7}"/>
                </a:ext>
              </a:extLst>
            </p:cNvPr>
            <p:cNvSpPr/>
            <p:nvPr/>
          </p:nvSpPr>
          <p:spPr>
            <a:xfrm>
              <a:off x="6632283" y="2073413"/>
              <a:ext cx="1135118" cy="161596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500" dirty="0">
                  <a:latin typeface="Arial" pitchFamily="34" charset="0"/>
                  <a:cs typeface="Arial" pitchFamily="34" charset="0"/>
                </a:rPr>
                <a:t>Функция потерь</a:t>
              </a:r>
              <a:endParaRPr lang="x-none" sz="15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" name="Right Arrow 24">
            <a:extLst>
              <a:ext uri="{FF2B5EF4-FFF2-40B4-BE49-F238E27FC236}">
                <a16:creationId xmlns:a16="http://schemas.microsoft.com/office/drawing/2014/main" id="{769A4DC3-D2E2-6537-C0FE-E2B359FEF089}"/>
              </a:ext>
            </a:extLst>
          </p:cNvPr>
          <p:cNvSpPr/>
          <p:nvPr/>
        </p:nvSpPr>
        <p:spPr>
          <a:xfrm>
            <a:off x="7169073" y="2787002"/>
            <a:ext cx="433071" cy="238701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sz="1050"/>
          </a:p>
        </p:txBody>
      </p:sp>
      <p:pic>
        <p:nvPicPr>
          <p:cNvPr id="16" name="Picture 2" descr="😢 Tear Emoji Meaning with Pictures: from A to Z">
            <a:extLst>
              <a:ext uri="{FF2B5EF4-FFF2-40B4-BE49-F238E27FC236}">
                <a16:creationId xmlns:a16="http://schemas.microsoft.com/office/drawing/2014/main" id="{4086FBFF-0BC8-EE37-9B45-CAF0C350A9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678" y="2479694"/>
            <a:ext cx="790328" cy="79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43572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CC8E-3554-44D0-61EC-C37047DA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868FE8-09B6-7ECF-84CE-6C3D8C792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 на пальцах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625C91E5-3372-55C9-F6E8-30E51DA7C836}"/>
              </a:ext>
            </a:extLst>
          </p:cNvPr>
          <p:cNvGrpSpPr/>
          <p:nvPr/>
        </p:nvGrpSpPr>
        <p:grpSpPr>
          <a:xfrm>
            <a:off x="228668" y="1891171"/>
            <a:ext cx="6861002" cy="1825706"/>
            <a:chOff x="906399" y="1863672"/>
            <a:chExt cx="6861002" cy="1825706"/>
          </a:xfrm>
        </p:grpSpPr>
        <p:sp>
          <p:nvSpPr>
            <p:cNvPr id="3" name="Rounded Rectangle 4">
              <a:extLst>
                <a:ext uri="{FF2B5EF4-FFF2-40B4-BE49-F238E27FC236}">
                  <a16:creationId xmlns:a16="http://schemas.microsoft.com/office/drawing/2014/main" id="{89654FB8-0D3D-96CE-E47C-BCD1D751FC2B}"/>
                </a:ext>
              </a:extLst>
            </p:cNvPr>
            <p:cNvSpPr/>
            <p:nvPr/>
          </p:nvSpPr>
          <p:spPr>
            <a:xfrm>
              <a:off x="2702431" y="1863672"/>
              <a:ext cx="1426779" cy="161596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800" dirty="0">
                  <a:latin typeface="Arial" pitchFamily="34" charset="0"/>
                  <a:cs typeface="Arial" pitchFamily="34" charset="0"/>
                </a:rPr>
                <a:t>Модель</a:t>
              </a:r>
            </a:p>
            <a:p>
              <a:pPr algn="ctr"/>
              <a:endParaRPr lang="ru-RU" sz="1800" dirty="0">
                <a:latin typeface="Arial" pitchFamily="34" charset="0"/>
                <a:cs typeface="Arial" pitchFamily="34" charset="0"/>
              </a:endParaRPr>
            </a:p>
            <a:p>
              <a:pPr algn="ctr"/>
              <a:endParaRPr lang="x-none" sz="1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id="{270C5E62-D799-1AA3-7918-478A113982D3}"/>
                </a:ext>
              </a:extLst>
            </p:cNvPr>
            <p:cNvSpPr/>
            <p:nvPr/>
          </p:nvSpPr>
          <p:spPr>
            <a:xfrm>
              <a:off x="2797024" y="2802273"/>
              <a:ext cx="1237593" cy="51238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Параметры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1BEBE79A-E13C-1BAC-63F1-7A887ECFB94A}"/>
                </a:ext>
              </a:extLst>
            </p:cNvPr>
            <p:cNvSpPr/>
            <p:nvPr/>
          </p:nvSpPr>
          <p:spPr>
            <a:xfrm>
              <a:off x="906399" y="2464456"/>
              <a:ext cx="1024759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Объект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029B3C84-061A-D10F-99CD-F632892A1A6A}"/>
                </a:ext>
              </a:extLst>
            </p:cNvPr>
            <p:cNvSpPr/>
            <p:nvPr/>
          </p:nvSpPr>
          <p:spPr>
            <a:xfrm>
              <a:off x="4786244" y="2466997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Ответ модели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ight Arrow 8">
              <a:extLst>
                <a:ext uri="{FF2B5EF4-FFF2-40B4-BE49-F238E27FC236}">
                  <a16:creationId xmlns:a16="http://schemas.microsoft.com/office/drawing/2014/main" id="{0ABB7AB7-EA18-3812-5E42-609B0C501E30}"/>
                </a:ext>
              </a:extLst>
            </p:cNvPr>
            <p:cNvSpPr/>
            <p:nvPr/>
          </p:nvSpPr>
          <p:spPr>
            <a:xfrm>
              <a:off x="2205877" y="2541883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ight Arrow 9">
              <a:extLst>
                <a:ext uri="{FF2B5EF4-FFF2-40B4-BE49-F238E27FC236}">
                  <a16:creationId xmlns:a16="http://schemas.microsoft.com/office/drawing/2014/main" id="{E700A2E5-4413-8EB5-5B56-296240A07EAE}"/>
                </a:ext>
              </a:extLst>
            </p:cNvPr>
            <p:cNvSpPr/>
            <p:nvPr/>
          </p:nvSpPr>
          <p:spPr>
            <a:xfrm>
              <a:off x="4207977" y="2540190"/>
              <a:ext cx="417787" cy="26293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ounded Rectangle 10">
              <a:extLst>
                <a:ext uri="{FF2B5EF4-FFF2-40B4-BE49-F238E27FC236}">
                  <a16:creationId xmlns:a16="http://schemas.microsoft.com/office/drawing/2014/main" id="{BEC53513-ED49-157B-3C03-7B871639DEC7}"/>
                </a:ext>
              </a:extLst>
            </p:cNvPr>
            <p:cNvSpPr/>
            <p:nvPr/>
          </p:nvSpPr>
          <p:spPr>
            <a:xfrm>
              <a:off x="4786243" y="3145468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latin typeface="Arial" pitchFamily="34" charset="0"/>
                  <a:cs typeface="Arial" pitchFamily="34" charset="0"/>
                </a:rPr>
                <a:t>Правильный ответ</a:t>
              </a:r>
              <a:endParaRPr lang="x-none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ight Arrow 11">
              <a:extLst>
                <a:ext uri="{FF2B5EF4-FFF2-40B4-BE49-F238E27FC236}">
                  <a16:creationId xmlns:a16="http://schemas.microsoft.com/office/drawing/2014/main" id="{C96473B2-0188-2F88-01A4-8C0CE9C9FDB2}"/>
                </a:ext>
              </a:extLst>
            </p:cNvPr>
            <p:cNvSpPr/>
            <p:nvPr/>
          </p:nvSpPr>
          <p:spPr>
            <a:xfrm>
              <a:off x="6127431" y="2540189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A4CCDEE6-F530-01DF-2338-3852AB0EC952}"/>
                </a:ext>
              </a:extLst>
            </p:cNvPr>
            <p:cNvSpPr/>
            <p:nvPr/>
          </p:nvSpPr>
          <p:spPr>
            <a:xfrm>
              <a:off x="6127431" y="3220354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5BA7C1F-10CF-B825-E230-5F5B0BB320AA}"/>
                </a:ext>
              </a:extLst>
            </p:cNvPr>
            <p:cNvSpPr/>
            <p:nvPr/>
          </p:nvSpPr>
          <p:spPr>
            <a:xfrm>
              <a:off x="6632283" y="2073413"/>
              <a:ext cx="1135118" cy="161596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500" dirty="0">
                  <a:latin typeface="Arial" pitchFamily="34" charset="0"/>
                  <a:cs typeface="Arial" pitchFamily="34" charset="0"/>
                </a:rPr>
                <a:t>Функция потерь</a:t>
              </a:r>
              <a:endParaRPr lang="x-none" sz="15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" name="Right Arrow 24">
            <a:extLst>
              <a:ext uri="{FF2B5EF4-FFF2-40B4-BE49-F238E27FC236}">
                <a16:creationId xmlns:a16="http://schemas.microsoft.com/office/drawing/2014/main" id="{E6BC6BCA-F176-D3B2-7675-F6EEB0C29920}"/>
              </a:ext>
            </a:extLst>
          </p:cNvPr>
          <p:cNvSpPr/>
          <p:nvPr/>
        </p:nvSpPr>
        <p:spPr>
          <a:xfrm>
            <a:off x="7169073" y="2787002"/>
            <a:ext cx="433071" cy="238701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sz="1050"/>
          </a:p>
        </p:txBody>
      </p:sp>
      <p:pic>
        <p:nvPicPr>
          <p:cNvPr id="12" name="Picture 2" descr="😢 Tear Emoji Meaning with Pictures: from A to Z">
            <a:extLst>
              <a:ext uri="{FF2B5EF4-FFF2-40B4-BE49-F238E27FC236}">
                <a16:creationId xmlns:a16="http://schemas.microsoft.com/office/drawing/2014/main" id="{71537A7B-CC66-5D91-CAFA-BD117374B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678" y="2479694"/>
            <a:ext cx="790328" cy="7903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6" name="Straight Connector 27">
            <a:extLst>
              <a:ext uri="{FF2B5EF4-FFF2-40B4-BE49-F238E27FC236}">
                <a16:creationId xmlns:a16="http://schemas.microsoft.com/office/drawing/2014/main" id="{1331DD4C-7440-5ECB-8C1F-F902B10AB2D3}"/>
              </a:ext>
            </a:extLst>
          </p:cNvPr>
          <p:cNvCxnSpPr>
            <a:cxnSpLocks/>
          </p:cNvCxnSpPr>
          <p:nvPr/>
        </p:nvCxnSpPr>
        <p:spPr>
          <a:xfrm>
            <a:off x="2634493" y="4303646"/>
            <a:ext cx="55843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461CE7E-A5F3-28A1-F8F0-3CC409D3A3EC}"/>
              </a:ext>
            </a:extLst>
          </p:cNvPr>
          <p:cNvSpPr txBox="1"/>
          <p:nvPr/>
        </p:nvSpPr>
        <p:spPr>
          <a:xfrm>
            <a:off x="4616402" y="4350980"/>
            <a:ext cx="167706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>
                <a:latin typeface="Arial" pitchFamily="34" charset="0"/>
                <a:cs typeface="Arial" pitchFamily="34" charset="0"/>
              </a:rPr>
              <a:t>Подкрутить параметры!</a:t>
            </a:r>
            <a:endParaRPr lang="x-none" sz="105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" name="Straight Connector 26">
            <a:extLst>
              <a:ext uri="{FF2B5EF4-FFF2-40B4-BE49-F238E27FC236}">
                <a16:creationId xmlns:a16="http://schemas.microsoft.com/office/drawing/2014/main" id="{353B6794-DF7A-5AE7-1328-49076F927AFC}"/>
              </a:ext>
            </a:extLst>
          </p:cNvPr>
          <p:cNvCxnSpPr>
            <a:cxnSpLocks/>
          </p:cNvCxnSpPr>
          <p:nvPr/>
        </p:nvCxnSpPr>
        <p:spPr>
          <a:xfrm>
            <a:off x="8218842" y="3377509"/>
            <a:ext cx="0" cy="9261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8">
            <a:extLst>
              <a:ext uri="{FF2B5EF4-FFF2-40B4-BE49-F238E27FC236}">
                <a16:creationId xmlns:a16="http://schemas.microsoft.com/office/drawing/2014/main" id="{C8247E66-0264-AF2B-4B95-C61466D8A3E5}"/>
              </a:ext>
            </a:extLst>
          </p:cNvPr>
          <p:cNvCxnSpPr>
            <a:cxnSpLocks/>
          </p:cNvCxnSpPr>
          <p:nvPr/>
        </p:nvCxnSpPr>
        <p:spPr>
          <a:xfrm flipV="1">
            <a:off x="2634493" y="3587365"/>
            <a:ext cx="0" cy="716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96453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3F2D1-E0E9-449C-B2A9-3BC7148B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68E5A4-6460-4AB7-3FEE-5AA04C145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 на пальцах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A1E7657A-9FC9-0C0E-4B11-4FC51A41C62E}"/>
              </a:ext>
            </a:extLst>
          </p:cNvPr>
          <p:cNvGrpSpPr/>
          <p:nvPr/>
        </p:nvGrpSpPr>
        <p:grpSpPr>
          <a:xfrm>
            <a:off x="228668" y="1891171"/>
            <a:ext cx="6861002" cy="1825706"/>
            <a:chOff x="906399" y="1863672"/>
            <a:chExt cx="6861002" cy="1825706"/>
          </a:xfrm>
        </p:grpSpPr>
        <p:sp>
          <p:nvSpPr>
            <p:cNvPr id="3" name="Rounded Rectangle 4">
              <a:extLst>
                <a:ext uri="{FF2B5EF4-FFF2-40B4-BE49-F238E27FC236}">
                  <a16:creationId xmlns:a16="http://schemas.microsoft.com/office/drawing/2014/main" id="{BE464801-8FA5-1007-52B8-84111D0AE0B0}"/>
                </a:ext>
              </a:extLst>
            </p:cNvPr>
            <p:cNvSpPr/>
            <p:nvPr/>
          </p:nvSpPr>
          <p:spPr>
            <a:xfrm>
              <a:off x="2702431" y="1863672"/>
              <a:ext cx="1426779" cy="161596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800" dirty="0">
                  <a:latin typeface="Arial" pitchFamily="34" charset="0"/>
                  <a:cs typeface="Arial" pitchFamily="34" charset="0"/>
                </a:rPr>
                <a:t>Модель</a:t>
              </a:r>
            </a:p>
            <a:p>
              <a:pPr algn="ctr"/>
              <a:endParaRPr lang="ru-RU" sz="1800" dirty="0">
                <a:latin typeface="Arial" pitchFamily="34" charset="0"/>
                <a:cs typeface="Arial" pitchFamily="34" charset="0"/>
              </a:endParaRPr>
            </a:p>
            <a:p>
              <a:pPr algn="ctr"/>
              <a:endParaRPr lang="x-none" sz="1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id="{E20A3BEE-79A6-66FD-3298-979BCD1B5D32}"/>
                </a:ext>
              </a:extLst>
            </p:cNvPr>
            <p:cNvSpPr/>
            <p:nvPr/>
          </p:nvSpPr>
          <p:spPr>
            <a:xfrm>
              <a:off x="2797024" y="2802273"/>
              <a:ext cx="1237593" cy="51238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Параметры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D13E0DC3-76DD-0324-A2AE-56F6CACE20CE}"/>
                </a:ext>
              </a:extLst>
            </p:cNvPr>
            <p:cNvSpPr/>
            <p:nvPr/>
          </p:nvSpPr>
          <p:spPr>
            <a:xfrm>
              <a:off x="906399" y="2464456"/>
              <a:ext cx="1024759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Объект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B03A9898-8EBD-4B73-CCE9-EB056DC1B9AB}"/>
                </a:ext>
              </a:extLst>
            </p:cNvPr>
            <p:cNvSpPr/>
            <p:nvPr/>
          </p:nvSpPr>
          <p:spPr>
            <a:xfrm>
              <a:off x="4786244" y="2466997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Ответ модели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ight Arrow 8">
              <a:extLst>
                <a:ext uri="{FF2B5EF4-FFF2-40B4-BE49-F238E27FC236}">
                  <a16:creationId xmlns:a16="http://schemas.microsoft.com/office/drawing/2014/main" id="{17940810-609C-D17F-E2C6-F8E47BC22542}"/>
                </a:ext>
              </a:extLst>
            </p:cNvPr>
            <p:cNvSpPr/>
            <p:nvPr/>
          </p:nvSpPr>
          <p:spPr>
            <a:xfrm>
              <a:off x="2205877" y="2541883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ight Arrow 9">
              <a:extLst>
                <a:ext uri="{FF2B5EF4-FFF2-40B4-BE49-F238E27FC236}">
                  <a16:creationId xmlns:a16="http://schemas.microsoft.com/office/drawing/2014/main" id="{D5DB6242-6EB5-DE31-F9E0-43562F09109E}"/>
                </a:ext>
              </a:extLst>
            </p:cNvPr>
            <p:cNvSpPr/>
            <p:nvPr/>
          </p:nvSpPr>
          <p:spPr>
            <a:xfrm>
              <a:off x="4207977" y="2540190"/>
              <a:ext cx="417787" cy="26293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ounded Rectangle 10">
              <a:extLst>
                <a:ext uri="{FF2B5EF4-FFF2-40B4-BE49-F238E27FC236}">
                  <a16:creationId xmlns:a16="http://schemas.microsoft.com/office/drawing/2014/main" id="{7E33A5B1-391E-4A1B-EB4D-D218FF7D0483}"/>
                </a:ext>
              </a:extLst>
            </p:cNvPr>
            <p:cNvSpPr/>
            <p:nvPr/>
          </p:nvSpPr>
          <p:spPr>
            <a:xfrm>
              <a:off x="4786243" y="3145468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latin typeface="Arial" pitchFamily="34" charset="0"/>
                  <a:cs typeface="Arial" pitchFamily="34" charset="0"/>
                </a:rPr>
                <a:t>Правильный ответ</a:t>
              </a:r>
              <a:endParaRPr lang="x-none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ight Arrow 11">
              <a:extLst>
                <a:ext uri="{FF2B5EF4-FFF2-40B4-BE49-F238E27FC236}">
                  <a16:creationId xmlns:a16="http://schemas.microsoft.com/office/drawing/2014/main" id="{3B8AC36D-68AC-7262-54B5-077EEE7523D7}"/>
                </a:ext>
              </a:extLst>
            </p:cNvPr>
            <p:cNvSpPr/>
            <p:nvPr/>
          </p:nvSpPr>
          <p:spPr>
            <a:xfrm>
              <a:off x="6127431" y="2540189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E3FA9530-4BB0-7AF8-685C-2FEFB54A42CA}"/>
                </a:ext>
              </a:extLst>
            </p:cNvPr>
            <p:cNvSpPr/>
            <p:nvPr/>
          </p:nvSpPr>
          <p:spPr>
            <a:xfrm>
              <a:off x="6127431" y="3220354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2ECFA035-659F-30A3-C368-73078882B1B7}"/>
                </a:ext>
              </a:extLst>
            </p:cNvPr>
            <p:cNvSpPr/>
            <p:nvPr/>
          </p:nvSpPr>
          <p:spPr>
            <a:xfrm>
              <a:off x="6632283" y="2073413"/>
              <a:ext cx="1135118" cy="161596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500" dirty="0">
                  <a:latin typeface="Arial" pitchFamily="34" charset="0"/>
                  <a:cs typeface="Arial" pitchFamily="34" charset="0"/>
                </a:rPr>
                <a:t>Функция потерь</a:t>
              </a:r>
              <a:endParaRPr lang="x-none" sz="15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" name="Right Arrow 24">
            <a:extLst>
              <a:ext uri="{FF2B5EF4-FFF2-40B4-BE49-F238E27FC236}">
                <a16:creationId xmlns:a16="http://schemas.microsoft.com/office/drawing/2014/main" id="{CC17F2D9-E855-4268-C4F0-8FD52FAE72E8}"/>
              </a:ext>
            </a:extLst>
          </p:cNvPr>
          <p:cNvSpPr/>
          <p:nvPr/>
        </p:nvSpPr>
        <p:spPr>
          <a:xfrm>
            <a:off x="7169073" y="2787002"/>
            <a:ext cx="433071" cy="238701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sz="1050"/>
          </a:p>
        </p:txBody>
      </p:sp>
      <p:cxnSp>
        <p:nvCxnSpPr>
          <p:cNvPr id="16" name="Straight Connector 27">
            <a:extLst>
              <a:ext uri="{FF2B5EF4-FFF2-40B4-BE49-F238E27FC236}">
                <a16:creationId xmlns:a16="http://schemas.microsoft.com/office/drawing/2014/main" id="{38C74CFC-009B-1C90-DE52-F7194F33323C}"/>
              </a:ext>
            </a:extLst>
          </p:cNvPr>
          <p:cNvCxnSpPr>
            <a:cxnSpLocks/>
          </p:cNvCxnSpPr>
          <p:nvPr/>
        </p:nvCxnSpPr>
        <p:spPr>
          <a:xfrm>
            <a:off x="2634493" y="4303646"/>
            <a:ext cx="55843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577F9C42-4066-EB8A-1369-3F5DDE59508D}"/>
              </a:ext>
            </a:extLst>
          </p:cNvPr>
          <p:cNvSpPr txBox="1"/>
          <p:nvPr/>
        </p:nvSpPr>
        <p:spPr>
          <a:xfrm>
            <a:off x="4616402" y="4350980"/>
            <a:ext cx="101983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>
                <a:latin typeface="Arial" pitchFamily="34" charset="0"/>
                <a:cs typeface="Arial" pitchFamily="34" charset="0"/>
              </a:rPr>
              <a:t>И так сойдет!</a:t>
            </a:r>
            <a:endParaRPr lang="x-none" sz="105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" name="Straight Connector 26">
            <a:extLst>
              <a:ext uri="{FF2B5EF4-FFF2-40B4-BE49-F238E27FC236}">
                <a16:creationId xmlns:a16="http://schemas.microsoft.com/office/drawing/2014/main" id="{65A34B8C-FB72-5F0C-4989-A74F6ECDC82A}"/>
              </a:ext>
            </a:extLst>
          </p:cNvPr>
          <p:cNvCxnSpPr>
            <a:cxnSpLocks/>
          </p:cNvCxnSpPr>
          <p:nvPr/>
        </p:nvCxnSpPr>
        <p:spPr>
          <a:xfrm>
            <a:off x="8218842" y="3377509"/>
            <a:ext cx="0" cy="9261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8">
            <a:extLst>
              <a:ext uri="{FF2B5EF4-FFF2-40B4-BE49-F238E27FC236}">
                <a16:creationId xmlns:a16="http://schemas.microsoft.com/office/drawing/2014/main" id="{D15CD1D3-DA30-FD11-7944-A97A946CA2E3}"/>
              </a:ext>
            </a:extLst>
          </p:cNvPr>
          <p:cNvCxnSpPr>
            <a:cxnSpLocks/>
          </p:cNvCxnSpPr>
          <p:nvPr/>
        </p:nvCxnSpPr>
        <p:spPr>
          <a:xfrm flipV="1">
            <a:off x="2634493" y="3587365"/>
            <a:ext cx="0" cy="716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FDD5B574-7893-B408-A00A-02C83EDB6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01" y="2493846"/>
            <a:ext cx="937341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317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2E37A-601B-78D2-A66F-C2EC31D00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3354BF-29C4-9349-DB0D-03E7AAE05F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Обучение модели на пальцах</a:t>
            </a:r>
          </a:p>
        </p:txBody>
      </p: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451EB84D-4B20-1B2E-889B-D2CD9543FC5F}"/>
              </a:ext>
            </a:extLst>
          </p:cNvPr>
          <p:cNvGrpSpPr/>
          <p:nvPr/>
        </p:nvGrpSpPr>
        <p:grpSpPr>
          <a:xfrm>
            <a:off x="228668" y="1891171"/>
            <a:ext cx="6861002" cy="1825706"/>
            <a:chOff x="906399" y="1863672"/>
            <a:chExt cx="6861002" cy="1825706"/>
          </a:xfrm>
        </p:grpSpPr>
        <p:sp>
          <p:nvSpPr>
            <p:cNvPr id="3" name="Rounded Rectangle 4">
              <a:extLst>
                <a:ext uri="{FF2B5EF4-FFF2-40B4-BE49-F238E27FC236}">
                  <a16:creationId xmlns:a16="http://schemas.microsoft.com/office/drawing/2014/main" id="{BB455BB5-BF8B-008A-B592-CE68BD8539F0}"/>
                </a:ext>
              </a:extLst>
            </p:cNvPr>
            <p:cNvSpPr/>
            <p:nvPr/>
          </p:nvSpPr>
          <p:spPr>
            <a:xfrm>
              <a:off x="2702431" y="1863672"/>
              <a:ext cx="1426779" cy="1615965"/>
            </a:xfrm>
            <a:prstGeom prst="roundRect">
              <a:avLst/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800" dirty="0">
                  <a:latin typeface="Arial" pitchFamily="34" charset="0"/>
                  <a:cs typeface="Arial" pitchFamily="34" charset="0"/>
                </a:rPr>
                <a:t>Модель</a:t>
              </a:r>
            </a:p>
            <a:p>
              <a:pPr algn="ctr"/>
              <a:endParaRPr lang="ru-RU" sz="1800" dirty="0">
                <a:latin typeface="Arial" pitchFamily="34" charset="0"/>
                <a:cs typeface="Arial" pitchFamily="34" charset="0"/>
              </a:endParaRPr>
            </a:p>
            <a:p>
              <a:pPr algn="ctr"/>
              <a:endParaRPr lang="x-none" sz="18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" name="Rounded Rectangle 5">
              <a:extLst>
                <a:ext uri="{FF2B5EF4-FFF2-40B4-BE49-F238E27FC236}">
                  <a16:creationId xmlns:a16="http://schemas.microsoft.com/office/drawing/2014/main" id="{6988F480-0FE2-0546-9413-592F956DAD6B}"/>
                </a:ext>
              </a:extLst>
            </p:cNvPr>
            <p:cNvSpPr/>
            <p:nvPr/>
          </p:nvSpPr>
          <p:spPr>
            <a:xfrm>
              <a:off x="2797024" y="2802273"/>
              <a:ext cx="1237593" cy="51238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Параметры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Rounded Rectangle 6">
              <a:extLst>
                <a:ext uri="{FF2B5EF4-FFF2-40B4-BE49-F238E27FC236}">
                  <a16:creationId xmlns:a16="http://schemas.microsoft.com/office/drawing/2014/main" id="{E88F6827-11EA-B0DF-204A-0DC2978503E7}"/>
                </a:ext>
              </a:extLst>
            </p:cNvPr>
            <p:cNvSpPr/>
            <p:nvPr/>
          </p:nvSpPr>
          <p:spPr>
            <a:xfrm>
              <a:off x="906399" y="2464456"/>
              <a:ext cx="1024759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Объект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Rounded Rectangle 7">
              <a:extLst>
                <a:ext uri="{FF2B5EF4-FFF2-40B4-BE49-F238E27FC236}">
                  <a16:creationId xmlns:a16="http://schemas.microsoft.com/office/drawing/2014/main" id="{4E27E65C-2FAF-ED2E-9C95-BAB57BD5D8FA}"/>
                </a:ext>
              </a:extLst>
            </p:cNvPr>
            <p:cNvSpPr/>
            <p:nvPr/>
          </p:nvSpPr>
          <p:spPr>
            <a:xfrm>
              <a:off x="4786244" y="2466997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050" dirty="0">
                  <a:latin typeface="Arial" pitchFamily="34" charset="0"/>
                  <a:cs typeface="Arial" pitchFamily="34" charset="0"/>
                </a:rPr>
                <a:t>Ответ модели</a:t>
              </a:r>
              <a:endParaRPr lang="x-none" sz="105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" name="Right Arrow 8">
              <a:extLst>
                <a:ext uri="{FF2B5EF4-FFF2-40B4-BE49-F238E27FC236}">
                  <a16:creationId xmlns:a16="http://schemas.microsoft.com/office/drawing/2014/main" id="{601548FB-7DB8-030E-B226-48F71981C369}"/>
                </a:ext>
              </a:extLst>
            </p:cNvPr>
            <p:cNvSpPr/>
            <p:nvPr/>
          </p:nvSpPr>
          <p:spPr>
            <a:xfrm>
              <a:off x="2205877" y="2541883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Right Arrow 9">
              <a:extLst>
                <a:ext uri="{FF2B5EF4-FFF2-40B4-BE49-F238E27FC236}">
                  <a16:creationId xmlns:a16="http://schemas.microsoft.com/office/drawing/2014/main" id="{9392841F-A579-CAD0-76CD-131C408EDE23}"/>
                </a:ext>
              </a:extLst>
            </p:cNvPr>
            <p:cNvSpPr/>
            <p:nvPr/>
          </p:nvSpPr>
          <p:spPr>
            <a:xfrm>
              <a:off x="4207977" y="2540190"/>
              <a:ext cx="417787" cy="262931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Rounded Rectangle 10">
              <a:extLst>
                <a:ext uri="{FF2B5EF4-FFF2-40B4-BE49-F238E27FC236}">
                  <a16:creationId xmlns:a16="http://schemas.microsoft.com/office/drawing/2014/main" id="{91E13D60-0EFB-68C2-120A-8D13C93F5071}"/>
                </a:ext>
              </a:extLst>
            </p:cNvPr>
            <p:cNvSpPr/>
            <p:nvPr/>
          </p:nvSpPr>
          <p:spPr>
            <a:xfrm>
              <a:off x="4786243" y="3145468"/>
              <a:ext cx="1135118" cy="414398"/>
            </a:xfrm>
            <a:prstGeom prst="round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200" dirty="0">
                  <a:latin typeface="Arial" pitchFamily="34" charset="0"/>
                  <a:cs typeface="Arial" pitchFamily="34" charset="0"/>
                </a:rPr>
                <a:t>Правильный ответ</a:t>
              </a:r>
              <a:endParaRPr lang="x-none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Right Arrow 11">
              <a:extLst>
                <a:ext uri="{FF2B5EF4-FFF2-40B4-BE49-F238E27FC236}">
                  <a16:creationId xmlns:a16="http://schemas.microsoft.com/office/drawing/2014/main" id="{B6C68DF9-D7BF-78A1-0A26-61DA771855CB}"/>
                </a:ext>
              </a:extLst>
            </p:cNvPr>
            <p:cNvSpPr/>
            <p:nvPr/>
          </p:nvSpPr>
          <p:spPr>
            <a:xfrm>
              <a:off x="6127431" y="2540189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993D9A9A-24DC-D281-38C7-146A0B605283}"/>
                </a:ext>
              </a:extLst>
            </p:cNvPr>
            <p:cNvSpPr/>
            <p:nvPr/>
          </p:nvSpPr>
          <p:spPr>
            <a:xfrm>
              <a:off x="6127431" y="3220354"/>
              <a:ext cx="417787" cy="264626"/>
            </a:xfrm>
            <a:prstGeom prst="rightArrow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x-none" sz="105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Rounded Rectangle 13">
              <a:extLst>
                <a:ext uri="{FF2B5EF4-FFF2-40B4-BE49-F238E27FC236}">
                  <a16:creationId xmlns:a16="http://schemas.microsoft.com/office/drawing/2014/main" id="{579F25DC-855E-6E45-9B95-D2931EE0B1D2}"/>
                </a:ext>
              </a:extLst>
            </p:cNvPr>
            <p:cNvSpPr/>
            <p:nvPr/>
          </p:nvSpPr>
          <p:spPr>
            <a:xfrm>
              <a:off x="6632283" y="2073413"/>
              <a:ext cx="1135118" cy="1615965"/>
            </a:xfrm>
            <a:prstGeom prst="round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ru-RU" sz="1500" dirty="0">
                  <a:latin typeface="Arial" pitchFamily="34" charset="0"/>
                  <a:cs typeface="Arial" pitchFamily="34" charset="0"/>
                </a:rPr>
                <a:t>Функция потерь</a:t>
              </a:r>
              <a:endParaRPr lang="x-none" sz="1500" dirty="0">
                <a:latin typeface="Arial" pitchFamily="34" charset="0"/>
                <a:cs typeface="Arial" pitchFamily="34" charset="0"/>
              </a:endParaRPr>
            </a:p>
          </p:txBody>
        </p:sp>
      </p:grpSp>
      <p:sp>
        <p:nvSpPr>
          <p:cNvPr id="11" name="Right Arrow 24">
            <a:extLst>
              <a:ext uri="{FF2B5EF4-FFF2-40B4-BE49-F238E27FC236}">
                <a16:creationId xmlns:a16="http://schemas.microsoft.com/office/drawing/2014/main" id="{C5EFECE1-CD3A-B42A-3731-081A45E853DB}"/>
              </a:ext>
            </a:extLst>
          </p:cNvPr>
          <p:cNvSpPr/>
          <p:nvPr/>
        </p:nvSpPr>
        <p:spPr>
          <a:xfrm>
            <a:off x="7169073" y="2787002"/>
            <a:ext cx="433071" cy="238701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x-none" sz="1050"/>
          </a:p>
        </p:txBody>
      </p:sp>
      <p:cxnSp>
        <p:nvCxnSpPr>
          <p:cNvPr id="16" name="Straight Connector 27">
            <a:extLst>
              <a:ext uri="{FF2B5EF4-FFF2-40B4-BE49-F238E27FC236}">
                <a16:creationId xmlns:a16="http://schemas.microsoft.com/office/drawing/2014/main" id="{138FF88F-A5C3-2402-27B0-2BA3178509B7}"/>
              </a:ext>
            </a:extLst>
          </p:cNvPr>
          <p:cNvCxnSpPr>
            <a:cxnSpLocks/>
          </p:cNvCxnSpPr>
          <p:nvPr/>
        </p:nvCxnSpPr>
        <p:spPr>
          <a:xfrm>
            <a:off x="2634493" y="4303646"/>
            <a:ext cx="558434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1DEB2DD-9C20-58B5-3231-B98E40CFBBA4}"/>
              </a:ext>
            </a:extLst>
          </p:cNvPr>
          <p:cNvSpPr txBox="1"/>
          <p:nvPr/>
        </p:nvSpPr>
        <p:spPr>
          <a:xfrm>
            <a:off x="2765735" y="4350980"/>
            <a:ext cx="52917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50" dirty="0">
                <a:latin typeface="Arial" pitchFamily="34" charset="0"/>
                <a:cs typeface="Arial" pitchFamily="34" charset="0"/>
              </a:rPr>
              <a:t>По очереди проделываем для всей выборки, пока ошибка уменьшается</a:t>
            </a:r>
            <a:r>
              <a:rPr lang="en-US" sz="1050" dirty="0">
                <a:latin typeface="Arial" pitchFamily="34" charset="0"/>
                <a:cs typeface="Arial" pitchFamily="34" charset="0"/>
              </a:rPr>
              <a:t>.</a:t>
            </a:r>
            <a:endParaRPr lang="x-none" sz="1050" dirty="0"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18" name="Straight Connector 26">
            <a:extLst>
              <a:ext uri="{FF2B5EF4-FFF2-40B4-BE49-F238E27FC236}">
                <a16:creationId xmlns:a16="http://schemas.microsoft.com/office/drawing/2014/main" id="{8402004D-7360-798E-3FFD-A8BA022BDB6C}"/>
              </a:ext>
            </a:extLst>
          </p:cNvPr>
          <p:cNvCxnSpPr>
            <a:cxnSpLocks/>
          </p:cNvCxnSpPr>
          <p:nvPr/>
        </p:nvCxnSpPr>
        <p:spPr>
          <a:xfrm>
            <a:off x="8218842" y="3377509"/>
            <a:ext cx="0" cy="92613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28">
            <a:extLst>
              <a:ext uri="{FF2B5EF4-FFF2-40B4-BE49-F238E27FC236}">
                <a16:creationId xmlns:a16="http://schemas.microsoft.com/office/drawing/2014/main" id="{569E9666-BA2C-841C-A6E5-271311C10BEB}"/>
              </a:ext>
            </a:extLst>
          </p:cNvPr>
          <p:cNvCxnSpPr>
            <a:cxnSpLocks/>
          </p:cNvCxnSpPr>
          <p:nvPr/>
        </p:nvCxnSpPr>
        <p:spPr>
          <a:xfrm flipV="1">
            <a:off x="2634493" y="3587365"/>
            <a:ext cx="0" cy="7162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76B028A-74D0-DAAF-977B-054041FB2C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7401" y="2493846"/>
            <a:ext cx="937341" cy="937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528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434" name="Google Shape;434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6" name="Google Shape;436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7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5024984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en-US" dirty="0"/>
              <a:t>ML Pipeline</a:t>
            </a:r>
          </a:p>
        </p:txBody>
      </p:sp>
    </p:spTree>
    <p:extLst>
      <p:ext uri="{BB962C8B-B14F-4D97-AF65-F5344CB8AC3E}">
        <p14:creationId xmlns:p14="http://schemas.microsoft.com/office/powerpoint/2010/main" val="23314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62D6F-8383-53B5-7C8E-69A535EC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Pipeline</a:t>
            </a:r>
            <a:endParaRPr lang="ru-RU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641A7F02-1F84-8553-6A72-B781DE8AA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077003"/>
            <a:ext cx="5816930" cy="161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2136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62D6F-8383-53B5-7C8E-69A535EC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Pipeline</a:t>
            </a:r>
            <a:endParaRPr lang="ru-RU" dirty="0"/>
          </a:p>
        </p:txBody>
      </p:sp>
      <p:pic>
        <p:nvPicPr>
          <p:cNvPr id="78" name="Рисунок 77">
            <a:extLst>
              <a:ext uri="{FF2B5EF4-FFF2-40B4-BE49-F238E27FC236}">
                <a16:creationId xmlns:a16="http://schemas.microsoft.com/office/drawing/2014/main" id="{D9EFE661-40C0-9955-4C83-5FF6FAB7BE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077003"/>
            <a:ext cx="7953703" cy="351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1836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62D6F-8383-53B5-7C8E-69A535EC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Pipeline</a:t>
            </a:r>
            <a:endParaRPr lang="ru-RU" dirty="0"/>
          </a:p>
        </p:txBody>
      </p:sp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C8D926C5-6FA0-155A-27A4-763CFBE28A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077003"/>
            <a:ext cx="8166538" cy="360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8449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62D6F-8383-53B5-7C8E-69A535EC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Pipeline</a:t>
            </a:r>
            <a:endParaRPr lang="ru-RU" dirty="0"/>
          </a:p>
        </p:txBody>
      </p:sp>
      <p:pic>
        <p:nvPicPr>
          <p:cNvPr id="44" name="Рисунок 43">
            <a:extLst>
              <a:ext uri="{FF2B5EF4-FFF2-40B4-BE49-F238E27FC236}">
                <a16:creationId xmlns:a16="http://schemas.microsoft.com/office/drawing/2014/main" id="{ED7815B8-2FD8-70B0-C322-487236FC3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063254"/>
            <a:ext cx="8253248" cy="36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57024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62D6F-8383-53B5-7C8E-69A535EC8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Pipeline</a:t>
            </a:r>
            <a:endParaRPr lang="ru-RU" dirty="0"/>
          </a:p>
        </p:txBody>
      </p:sp>
      <p:pic>
        <p:nvPicPr>
          <p:cNvPr id="101" name="Рисунок 100">
            <a:extLst>
              <a:ext uri="{FF2B5EF4-FFF2-40B4-BE49-F238E27FC236}">
                <a16:creationId xmlns:a16="http://schemas.microsoft.com/office/drawing/2014/main" id="{C99630A2-B562-F0E4-4226-E6A8E1AD30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1063254"/>
            <a:ext cx="8253248" cy="364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5733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C9F8E-5EBE-F137-0E2C-0E2426CB4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3516A8-6B39-206B-9B71-45606A26E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 и это еще не все!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1476A40-C726-BBE9-65C0-003CEF523357}"/>
              </a:ext>
            </a:extLst>
          </p:cNvPr>
          <p:cNvSpPr txBox="1">
            <a:spLocks/>
          </p:cNvSpPr>
          <p:nvPr/>
        </p:nvSpPr>
        <p:spPr>
          <a:xfrm>
            <a:off x="628650" y="1525555"/>
            <a:ext cx="8392500" cy="310716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28% проектов в области ML проваливаются из-за отсутствия качественных данных и инструментов для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 </a:t>
            </a:r>
            <a:r>
              <a:rPr lang="ru-RU" sz="2100" dirty="0">
                <a:latin typeface="Arial" pitchFamily="34" charset="0"/>
                <a:cs typeface="Arial" pitchFamily="34" charset="0"/>
              </a:rPr>
              <a:t>разработки/аналитики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.</a:t>
            </a:r>
            <a:endParaRPr lang="ru-RU" sz="21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47% проектов </a:t>
            </a:r>
            <a:r>
              <a:rPr lang="ru-RU" sz="2100" b="1" dirty="0">
                <a:latin typeface="Arial" pitchFamily="34" charset="0"/>
                <a:cs typeface="Arial" pitchFamily="34" charset="0"/>
              </a:rPr>
              <a:t>не доходят до эксперимента и внедрения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.</a:t>
            </a:r>
            <a:endParaRPr lang="ru-RU" sz="2100" dirty="0">
              <a:latin typeface="Arial" pitchFamily="34" charset="0"/>
              <a:cs typeface="Arial" pitchFamily="34" charset="0"/>
            </a:endParaRPr>
          </a:p>
          <a:p>
            <a:endParaRPr lang="ru-RU" sz="2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4233E8B-8AF2-AD01-B192-41D91D623528}"/>
              </a:ext>
            </a:extLst>
          </p:cNvPr>
          <p:cNvSpPr txBox="1"/>
          <p:nvPr/>
        </p:nvSpPr>
        <p:spPr>
          <a:xfrm>
            <a:off x="1066877" y="4494223"/>
            <a:ext cx="71942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latin typeface="Arial" pitchFamily="34" charset="0"/>
                <a:cs typeface="Arial" pitchFamily="34" charset="0"/>
                <a:hlinkClick r:id="rId3"/>
              </a:rPr>
              <a:t>https://www2.deloitte.com/us/en/insights/focus/tech-trends/2021/mlops-industrialized-ai.html</a:t>
            </a:r>
            <a:r>
              <a:rPr lang="ru-RU" sz="1050" dirty="0">
                <a:latin typeface="Arial" pitchFamily="34" charset="0"/>
                <a:cs typeface="Arial" pitchFamily="34" charset="0"/>
              </a:rPr>
              <a:t> </a:t>
            </a:r>
            <a:endParaRPr lang="x-none" sz="105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7116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24E153-10F2-DF8B-0900-0244A9B760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72AF89-E488-2456-87FE-D0A5F05F8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 и это еще не все!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50FEABB-E048-6654-2067-32E446A98DAA}"/>
              </a:ext>
            </a:extLst>
          </p:cNvPr>
          <p:cNvSpPr txBox="1">
            <a:spLocks/>
          </p:cNvSpPr>
          <p:nvPr/>
        </p:nvSpPr>
        <p:spPr>
          <a:xfrm>
            <a:off x="628650" y="1483567"/>
            <a:ext cx="7886700" cy="314915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Внедрить модель в IT-инфраструктуру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.</a:t>
            </a:r>
            <a:endParaRPr lang="ru-RU" sz="21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Настроить мониторинги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.</a:t>
            </a:r>
            <a:endParaRPr lang="ru-RU" sz="21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Настроить процессы по дообучению моделей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.</a:t>
            </a:r>
            <a:endParaRPr lang="ru-RU" sz="21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В дальнейшем — масштабировать решение на другие сервисы/команды/отделы</a:t>
            </a:r>
            <a:r>
              <a:rPr lang="en-US" sz="2100" dirty="0">
                <a:latin typeface="Arial" pitchFamily="34" charset="0"/>
                <a:cs typeface="Arial" pitchFamily="34" charset="0"/>
              </a:rPr>
              <a:t>.</a:t>
            </a:r>
            <a:endParaRPr lang="ru-RU" sz="2100" dirty="0">
              <a:latin typeface="Arial" pitchFamily="34" charset="0"/>
              <a:cs typeface="Arial" pitchFamily="34" charset="0"/>
            </a:endParaRPr>
          </a:p>
          <a:p>
            <a:endParaRPr lang="ru-RU" sz="2100" dirty="0">
              <a:latin typeface="Arial" pitchFamily="34" charset="0"/>
              <a:cs typeface="Arial" pitchFamily="34" charset="0"/>
            </a:endParaRPr>
          </a:p>
          <a:p>
            <a:endParaRPr lang="en-US" sz="2100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ru-RU" sz="2100" dirty="0">
                <a:latin typeface="Arial" pitchFamily="34" charset="0"/>
                <a:cs typeface="Arial" pitchFamily="34" charset="0"/>
              </a:rPr>
              <a:t>Новое направление: </a:t>
            </a:r>
            <a:r>
              <a:rPr lang="ru-RU" sz="2100" b="1" dirty="0" err="1">
                <a:latin typeface="Arial" pitchFamily="34" charset="0"/>
                <a:cs typeface="Arial" pitchFamily="34" charset="0"/>
              </a:rPr>
              <a:t>MLOps</a:t>
            </a:r>
            <a:r>
              <a:rPr lang="en-US" sz="2100" b="1" dirty="0">
                <a:latin typeface="Arial" pitchFamily="34" charset="0"/>
                <a:cs typeface="Arial" pitchFamily="34" charset="0"/>
              </a:rPr>
              <a:t>!</a:t>
            </a:r>
            <a:endParaRPr lang="ru-RU" sz="2100" b="1" dirty="0">
              <a:latin typeface="Arial" pitchFamily="34" charset="0"/>
              <a:cs typeface="Arial" pitchFamily="34" charset="0"/>
            </a:endParaRPr>
          </a:p>
          <a:p>
            <a:endParaRPr lang="ru-RU" sz="2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Стрелка вниз 5">
            <a:extLst>
              <a:ext uri="{FF2B5EF4-FFF2-40B4-BE49-F238E27FC236}">
                <a16:creationId xmlns:a16="http://schemas.microsoft.com/office/drawing/2014/main" id="{1B26D977-D3A1-AF6A-9DCC-37537BC03CFD}"/>
              </a:ext>
            </a:extLst>
          </p:cNvPr>
          <p:cNvSpPr/>
          <p:nvPr/>
        </p:nvSpPr>
        <p:spPr>
          <a:xfrm>
            <a:off x="4450976" y="3146612"/>
            <a:ext cx="336177" cy="497541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959015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8650" y="338138"/>
            <a:ext cx="7886700" cy="994172"/>
          </a:xfrm>
        </p:spPr>
        <p:txBody>
          <a:bodyPr>
            <a:normAutofit/>
          </a:bodyPr>
          <a:lstStyle/>
          <a:p>
            <a:r>
              <a:rPr lang="ru-RU" sz="3600" dirty="0">
                <a:latin typeface="Arial" pitchFamily="34" charset="0"/>
                <a:cs typeface="Arial" pitchFamily="34" charset="0"/>
              </a:rPr>
              <a:t>Но это ещё не всё!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28650" y="1525555"/>
            <a:ext cx="7886700" cy="3107168"/>
          </a:xfrm>
        </p:spPr>
        <p:txBody>
          <a:bodyPr/>
          <a:lstStyle/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28% проектов в области ML проваливаются из-за отсутствия качественных данных и инструментов для разработки/аналитики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100" dirty="0">
                <a:latin typeface="Arial" pitchFamily="34" charset="0"/>
                <a:cs typeface="Arial" pitchFamily="34" charset="0"/>
              </a:rPr>
              <a:t>47% проектов не доходят до эксперимента и внедрения</a:t>
            </a:r>
          </a:p>
          <a:p>
            <a:endParaRPr lang="ru-RU" sz="21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5394E-18F6-3040-B123-F6E660B89277}"/>
              </a:ext>
            </a:extLst>
          </p:cNvPr>
          <p:cNvSpPr txBox="1"/>
          <p:nvPr/>
        </p:nvSpPr>
        <p:spPr>
          <a:xfrm>
            <a:off x="1066877" y="4494223"/>
            <a:ext cx="7194254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050" dirty="0">
                <a:latin typeface="Arial" pitchFamily="34" charset="0"/>
                <a:cs typeface="Arial" pitchFamily="34" charset="0"/>
                <a:hlinkClick r:id="rId2"/>
              </a:rPr>
              <a:t>https://www2.deloitte.com/us/en/insights/focus/tech-trends/2021/mlops-industrialized-ai.html</a:t>
            </a:r>
            <a:r>
              <a:rPr lang="ru-RU" sz="1050" dirty="0">
                <a:latin typeface="Arial" pitchFamily="34" charset="0"/>
                <a:cs typeface="Arial" pitchFamily="34" charset="0"/>
              </a:rPr>
              <a:t> </a:t>
            </a:r>
            <a:endParaRPr lang="x-none" sz="105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06783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Задачи </a:t>
            </a:r>
            <a:r>
              <a:rPr lang="en-US" dirty="0"/>
              <a:t>ML</a:t>
            </a:r>
          </a:p>
        </p:txBody>
      </p:sp>
    </p:spTree>
    <p:extLst>
      <p:ext uri="{BB962C8B-B14F-4D97-AF65-F5344CB8AC3E}">
        <p14:creationId xmlns:p14="http://schemas.microsoft.com/office/powerpoint/2010/main" val="166095669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CFF3EA-A92E-7A2A-4AAC-6817A3E02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Задачи </a:t>
            </a:r>
            <a:r>
              <a:rPr lang="en-US" dirty="0"/>
              <a:t>ML</a:t>
            </a:r>
            <a:endParaRPr lang="ru-RU" dirty="0"/>
          </a:p>
        </p:txBody>
      </p:sp>
      <p:pic>
        <p:nvPicPr>
          <p:cNvPr id="3" name="object 2">
            <a:extLst>
              <a:ext uri="{FF2B5EF4-FFF2-40B4-BE49-F238E27FC236}">
                <a16:creationId xmlns:a16="http://schemas.microsoft.com/office/drawing/2014/main" id="{F3B22803-CD26-D4C2-7C50-18CDAFB61D9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21177" y="878674"/>
            <a:ext cx="5279346" cy="4071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22765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D262EE-DB7A-BE38-370B-FAEDDFF6A6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 Unsupervised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7FB81C-D335-0F44-DB55-EBB350395D53}"/>
              </a:ext>
            </a:extLst>
          </p:cNvPr>
          <p:cNvSpPr txBox="1"/>
          <p:nvPr/>
        </p:nvSpPr>
        <p:spPr>
          <a:xfrm>
            <a:off x="500550" y="1260991"/>
            <a:ext cx="371331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Обучение с учителем</a:t>
            </a:r>
          </a:p>
          <a:p>
            <a:r>
              <a:rPr lang="ru-RU" sz="1600" b="1" dirty="0"/>
              <a:t>(</a:t>
            </a:r>
            <a:r>
              <a:rPr lang="ru-RU" sz="1600" b="1" dirty="0" err="1"/>
              <a:t>supervised</a:t>
            </a:r>
            <a:r>
              <a:rPr lang="ru-RU" sz="1600" b="1" dirty="0"/>
              <a:t> </a:t>
            </a:r>
            <a:r>
              <a:rPr lang="ru-RU" sz="1600" b="1" dirty="0" err="1"/>
              <a:t>learning</a:t>
            </a:r>
            <a:r>
              <a:rPr lang="ru-RU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обучающих данных есть правильные ответы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ru-RU" dirty="0"/>
          </a:p>
          <a:p>
            <a:r>
              <a:rPr lang="ru-RU" sz="1600" b="1" dirty="0"/>
              <a:t>Обучение без учителя (</a:t>
            </a:r>
            <a:r>
              <a:rPr lang="ru-RU" sz="1600" b="1" dirty="0" err="1"/>
              <a:t>unsupervised</a:t>
            </a:r>
            <a:r>
              <a:rPr lang="ru-RU" sz="1600" b="1" dirty="0"/>
              <a:t> </a:t>
            </a:r>
            <a:r>
              <a:rPr lang="ru-RU" sz="1600" b="1" dirty="0" err="1"/>
              <a:t>learning</a:t>
            </a:r>
            <a:r>
              <a:rPr lang="ru-RU" sz="1600" b="1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 обучающих данных есть только примеры, а зависимости алгоритм находит сам</a:t>
            </a:r>
          </a:p>
        </p:txBody>
      </p:sp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18A8917B-4ACD-804D-95FF-4A5C9B56A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3860" y="1303820"/>
            <a:ext cx="4518925" cy="293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1359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3FF21-F50B-2BFD-E7A7-60DFF0A9C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</a:t>
            </a:r>
            <a:br>
              <a:rPr lang="ru-RU" dirty="0"/>
            </a:b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4B3648-E2D1-8983-4372-7ADD058107DF}"/>
              </a:ext>
            </a:extLst>
          </p:cNvPr>
          <p:cNvSpPr txBox="1"/>
          <p:nvPr/>
        </p:nvSpPr>
        <p:spPr>
          <a:xfrm>
            <a:off x="500550" y="1630349"/>
            <a:ext cx="4572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Ответ y принадлежит одному из классов: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Бинарная классификация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 err="1"/>
              <a:t>Мультиклассовая</a:t>
            </a:r>
            <a:r>
              <a:rPr lang="ru-RU" sz="2000" dirty="0"/>
              <a:t> классификация </a:t>
            </a:r>
          </a:p>
        </p:txBody>
      </p:sp>
      <p:pic>
        <p:nvPicPr>
          <p:cNvPr id="7" name="Google Shape;767;p9" descr="Google Shape;767;p9">
            <a:extLst>
              <a:ext uri="{FF2B5EF4-FFF2-40B4-BE49-F238E27FC236}">
                <a16:creationId xmlns:a16="http://schemas.microsoft.com/office/drawing/2014/main" id="{7C46FCB1-0539-4A48-F690-A94686E9EB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3415155"/>
            <a:ext cx="3850470" cy="566647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Google Shape;260;gaf7c1d9c3d_0_100" descr="Google Shape;260;gaf7c1d9c3d_0_100">
            <a:extLst>
              <a:ext uri="{FF2B5EF4-FFF2-40B4-BE49-F238E27FC236}">
                <a16:creationId xmlns:a16="http://schemas.microsoft.com/office/drawing/2014/main" id="{78922750-310B-9BB0-2990-406B89C7D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2858" y="1476759"/>
            <a:ext cx="3899077" cy="2189982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44588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E346FAB-AED1-5616-7232-1202A65318F2}"/>
              </a:ext>
            </a:extLst>
          </p:cNvPr>
          <p:cNvSpPr txBox="1"/>
          <p:nvPr/>
        </p:nvSpPr>
        <p:spPr>
          <a:xfrm>
            <a:off x="667838" y="871571"/>
            <a:ext cx="502158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Пример 1: Кредитный скоринг</a:t>
            </a:r>
          </a:p>
          <a:p>
            <a:r>
              <a:rPr lang="ru-RU" sz="1600" dirty="0">
                <a:hlinkClick r:id="rId2"/>
              </a:rPr>
              <a:t>https://www.kaggle.com/c/home-credit-default-risk</a:t>
            </a:r>
            <a:endParaRPr lang="en-US" sz="1600" dirty="0"/>
          </a:p>
          <a:p>
            <a:endParaRPr lang="ru-RU" sz="1800" dirty="0"/>
          </a:p>
          <a:p>
            <a:r>
              <a:rPr lang="ru-RU" sz="1800" dirty="0"/>
              <a:t>Пример 2: Анализ тональности</a:t>
            </a:r>
            <a:br>
              <a:rPr lang="ru-RU" sz="1800" dirty="0"/>
            </a:br>
            <a:r>
              <a:rPr lang="ru-RU" sz="1600" dirty="0">
                <a:hlinkClick r:id="rId3"/>
              </a:rPr>
              <a:t>https://pypi.org/project/dostoevsky/</a:t>
            </a:r>
            <a:endParaRPr lang="en-US" sz="1600" dirty="0"/>
          </a:p>
          <a:p>
            <a:r>
              <a:rPr lang="ru-RU" sz="1600" dirty="0">
                <a:hlinkClick r:id="rId4"/>
              </a:rPr>
              <a:t>https://www.kaggle.com/c/tweet-sentiment-extraction</a:t>
            </a:r>
            <a:endParaRPr lang="en-US" sz="1600" dirty="0"/>
          </a:p>
          <a:p>
            <a:endParaRPr lang="ru-RU" sz="1800" dirty="0"/>
          </a:p>
          <a:p>
            <a:r>
              <a:rPr lang="ru-RU" sz="1800" dirty="0"/>
              <a:t>Пример 3: Классификация спама</a:t>
            </a:r>
          </a:p>
        </p:txBody>
      </p:sp>
    </p:spTree>
    <p:extLst>
      <p:ext uri="{BB962C8B-B14F-4D97-AF65-F5344CB8AC3E}">
        <p14:creationId xmlns:p14="http://schemas.microsoft.com/office/powerpoint/2010/main" val="19013747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FC9BEF-3D04-1A04-9677-D97100EB5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Регрессия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06EE5-4141-A13E-E6E6-847BC154818A}"/>
              </a:ext>
            </a:extLst>
          </p:cNvPr>
          <p:cNvSpPr txBox="1"/>
          <p:nvPr/>
        </p:nvSpPr>
        <p:spPr>
          <a:xfrm>
            <a:off x="500550" y="142662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/>
              <a:t>Ответ — </a:t>
            </a:r>
            <a:r>
              <a:rPr lang="ru-RU" sz="2000" b="1" dirty="0"/>
              <a:t>действительно число</a:t>
            </a:r>
            <a:r>
              <a:rPr lang="en-US" sz="2000" b="1" dirty="0"/>
              <a:t>.</a:t>
            </a:r>
            <a:endParaRPr lang="ru-RU" sz="2000" b="1" dirty="0"/>
          </a:p>
        </p:txBody>
      </p:sp>
      <p:pic>
        <p:nvPicPr>
          <p:cNvPr id="7" name="Google Shape;793;gb10daea3ca_0_1538" descr="Google Shape;793;gb10daea3ca_0_1538">
            <a:extLst>
              <a:ext uri="{FF2B5EF4-FFF2-40B4-BE49-F238E27FC236}">
                <a16:creationId xmlns:a16="http://schemas.microsoft.com/office/drawing/2014/main" id="{6D03C08D-5825-9293-C7EC-18913DDF6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30" y="2054398"/>
            <a:ext cx="1880726" cy="46812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AE590B53-3FED-4A6F-9923-12D0D807FAB5}"/>
              </a:ext>
            </a:extLst>
          </p:cNvPr>
          <p:cNvGrpSpPr/>
          <p:nvPr/>
        </p:nvGrpSpPr>
        <p:grpSpPr>
          <a:xfrm>
            <a:off x="5662187" y="1284890"/>
            <a:ext cx="3413233" cy="3210379"/>
            <a:chOff x="7277484" y="2025051"/>
            <a:chExt cx="4816086" cy="4529857"/>
          </a:xfrm>
        </p:grpSpPr>
        <p:pic>
          <p:nvPicPr>
            <p:cNvPr id="9" name="Google Shape;476;gb10daea3ca_0_1227" descr="Google Shape;476;gb10daea3ca_0_1227">
              <a:extLst>
                <a:ext uri="{FF2B5EF4-FFF2-40B4-BE49-F238E27FC236}">
                  <a16:creationId xmlns:a16="http://schemas.microsoft.com/office/drawing/2014/main" id="{5B0795FB-8682-BF7B-B6DA-3C30A7EBC7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30103" y="2025051"/>
              <a:ext cx="4290124" cy="3791651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0" name="Google Shape;477;gb10daea3ca_0_1227">
              <a:extLst>
                <a:ext uri="{FF2B5EF4-FFF2-40B4-BE49-F238E27FC236}">
                  <a16:creationId xmlns:a16="http://schemas.microsoft.com/office/drawing/2014/main" id="{9DFB7209-1E71-35E7-7656-620CD161CF63}"/>
                </a:ext>
              </a:extLst>
            </p:cNvPr>
            <p:cNvSpPr txBox="1"/>
            <p:nvPr/>
          </p:nvSpPr>
          <p:spPr>
            <a:xfrm>
              <a:off x="7277484" y="5816702"/>
              <a:ext cx="4816086" cy="73820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699" tIns="45699" rIns="45699" bIns="45699">
              <a:spAutoFit/>
            </a:bodyPr>
            <a:lstStyle>
              <a:lvl1pPr>
                <a:defRPr sz="1500">
                  <a:solidFill>
                    <a:srgbClr val="AEAEAE"/>
                  </a:solidFill>
                  <a:latin typeface="Open Sans"/>
                  <a:ea typeface="Open Sans"/>
                  <a:cs typeface="Open Sans"/>
                  <a:sym typeface="Open Sans"/>
                </a:defRPr>
              </a:lvl1pPr>
            </a:lstStyle>
            <a:p>
              <a:r>
                <a:rPr sz="1400" dirty="0"/>
                <a:t>https://www.kaggle.com/c/zillow-prize-1/overview/competition-overview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8508035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CB55A6-EB3E-4A72-DBCC-4D22904828CB}"/>
              </a:ext>
            </a:extLst>
          </p:cNvPr>
          <p:cNvSpPr txBox="1"/>
          <p:nvPr/>
        </p:nvSpPr>
        <p:spPr>
          <a:xfrm>
            <a:off x="526869" y="900431"/>
            <a:ext cx="4572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u="sng" dirty="0"/>
              <a:t>Пример 1</a:t>
            </a:r>
            <a:r>
              <a:rPr lang="ru-RU" sz="1800" dirty="0"/>
              <a:t>: Предсказание цен на жилье</a:t>
            </a:r>
          </a:p>
          <a:p>
            <a:br>
              <a:rPr lang="ru-RU" sz="1800" dirty="0"/>
            </a:br>
            <a:endParaRPr lang="ru-RU" sz="1800" dirty="0"/>
          </a:p>
          <a:p>
            <a:r>
              <a:rPr lang="ru-RU" sz="1800" u="sng" dirty="0"/>
              <a:t>Пример 2</a:t>
            </a:r>
            <a:r>
              <a:rPr lang="ru-RU" sz="1800" dirty="0"/>
              <a:t>: Предсказание курса валют</a:t>
            </a:r>
            <a:endParaRPr lang="en-US" sz="1800" dirty="0"/>
          </a:p>
          <a:p>
            <a:br>
              <a:rPr lang="ru-RU" sz="1800" dirty="0"/>
            </a:br>
            <a:endParaRPr lang="ru-RU" sz="1800" dirty="0"/>
          </a:p>
          <a:p>
            <a:r>
              <a:rPr lang="ru-RU" sz="1800" u="sng" dirty="0"/>
              <a:t>Пример </a:t>
            </a:r>
            <a:r>
              <a:rPr lang="en-US" sz="1800" u="sng" dirty="0"/>
              <a:t>3</a:t>
            </a:r>
            <a:r>
              <a:rPr lang="ru-RU" sz="1800" dirty="0"/>
              <a:t>: Предсказание погоды</a:t>
            </a:r>
          </a:p>
          <a:p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2441712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368CAC-D755-A7CB-A844-9BCD884640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Кластеризация</a:t>
            </a:r>
          </a:p>
        </p:txBody>
      </p:sp>
      <p:pic>
        <p:nvPicPr>
          <p:cNvPr id="3" name="Google Shape;803;gb10daea3ca_0_1548" descr="Google Shape;803;gb10daea3ca_0_1548">
            <a:extLst>
              <a:ext uri="{FF2B5EF4-FFF2-40B4-BE49-F238E27FC236}">
                <a16:creationId xmlns:a16="http://schemas.microsoft.com/office/drawing/2014/main" id="{95E81350-F209-917A-361D-22D53C1D5F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973" y="1087979"/>
            <a:ext cx="6370053" cy="3724797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4255709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CA585E-B2E8-8169-58C6-A68F1677B8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Детекция</a:t>
            </a:r>
            <a:r>
              <a:rPr lang="en-US" dirty="0"/>
              <a:t> </a:t>
            </a:r>
            <a:r>
              <a:rPr lang="ru-RU" dirty="0"/>
              <a:t>аномалий</a:t>
            </a:r>
          </a:p>
        </p:txBody>
      </p:sp>
      <p:pic>
        <p:nvPicPr>
          <p:cNvPr id="3" name="Google Shape;809;gb10daea3ca_0_1556" descr="Google Shape;809;gb10daea3ca_0_1556">
            <a:extLst>
              <a:ext uri="{FF2B5EF4-FFF2-40B4-BE49-F238E27FC236}">
                <a16:creationId xmlns:a16="http://schemas.microsoft.com/office/drawing/2014/main" id="{3FF74B64-25A6-5DEE-407C-7D15D78B3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802" y="1054045"/>
            <a:ext cx="5638096" cy="375873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8156685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434" name="Google Shape;434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6" name="Google Shape;436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7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28102092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4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dirty="0"/>
              <a:t>Типы признаков</a:t>
            </a:r>
          </a:p>
        </p:txBody>
      </p:sp>
    </p:spTree>
    <p:extLst>
      <p:ext uri="{BB962C8B-B14F-4D97-AF65-F5344CB8AC3E}">
        <p14:creationId xmlns:p14="http://schemas.microsoft.com/office/powerpoint/2010/main" val="315869821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43956-6FB2-F00C-4768-322E5A48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Числовые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93246D1-BB99-B60C-7EDF-05179797E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50" y="937260"/>
            <a:ext cx="8429113" cy="3476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5297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43956-6FB2-F00C-4768-322E5A48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Бинарные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5F7BF97-58DF-5E1F-B65C-295BBB32E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913" y="998670"/>
            <a:ext cx="8520600" cy="3517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7762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43956-6FB2-F00C-4768-322E5A48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50F2AD5-062E-ADD8-F3E3-EE4D8B530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698" y="1056446"/>
            <a:ext cx="8520601" cy="363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49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43956-6FB2-F00C-4768-322E5A48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Категориальные: 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кодирование</a:t>
            </a:r>
            <a:b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3C69F0-7B62-5A65-60DA-4C5B954AF3C9}"/>
              </a:ext>
            </a:extLst>
          </p:cNvPr>
          <p:cNvSpPr txBox="1"/>
          <p:nvPr/>
        </p:nvSpPr>
        <p:spPr>
          <a:xfrm>
            <a:off x="500550" y="1426624"/>
            <a:ext cx="7352532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One-</a:t>
            </a:r>
            <a:r>
              <a:rPr lang="ru-RU" sz="1600" b="1" dirty="0" err="1"/>
              <a:t>hot</a:t>
            </a:r>
            <a:r>
              <a:rPr lang="en-US" sz="1600" b="1" dirty="0"/>
              <a:t> E</a:t>
            </a:r>
            <a:r>
              <a:rPr lang="ru-RU" sz="1600" b="1" dirty="0" err="1"/>
              <a:t>ncoding</a:t>
            </a:r>
            <a:r>
              <a:rPr lang="ru-RU" sz="1600" b="1" dirty="0"/>
              <a:t>:</a:t>
            </a:r>
          </a:p>
          <a:p>
            <a:r>
              <a:rPr lang="ru-RU" sz="1600" dirty="0"/>
              <a:t>вместо признака с m значениями создать </a:t>
            </a:r>
            <a:r>
              <a:rPr lang="ru-RU" sz="1600" dirty="0" err="1"/>
              <a:t>m</a:t>
            </a:r>
            <a:r>
              <a:rPr lang="ru-RU" sz="1600" dirty="0"/>
              <a:t> бинарных признаков.</a:t>
            </a:r>
            <a:br>
              <a:rPr lang="ru-RU" sz="1600" dirty="0"/>
            </a:br>
            <a:endParaRPr lang="ru-RU" sz="1600" dirty="0"/>
          </a:p>
          <a:p>
            <a:r>
              <a:rPr lang="ru-RU" sz="1600" b="1" dirty="0"/>
              <a:t>Frequency </a:t>
            </a:r>
            <a:r>
              <a:rPr lang="ru-RU" sz="1600" b="1" dirty="0" err="1"/>
              <a:t>Encoding</a:t>
            </a:r>
            <a:r>
              <a:rPr lang="ru-RU" sz="1600" b="1" dirty="0"/>
              <a:t>:</a:t>
            </a:r>
          </a:p>
          <a:p>
            <a:r>
              <a:rPr lang="ru-RU" sz="1600" dirty="0"/>
              <a:t>как часто категория встречается в обучающих данных.</a:t>
            </a:r>
            <a:br>
              <a:rPr lang="ru-RU" sz="1600" dirty="0"/>
            </a:br>
            <a:endParaRPr lang="ru-RU" sz="1600" dirty="0"/>
          </a:p>
          <a:p>
            <a:r>
              <a:rPr lang="ru-RU" sz="1600" b="1" dirty="0" err="1"/>
              <a:t>Mean</a:t>
            </a:r>
            <a:r>
              <a:rPr lang="ru-RU" sz="1600" b="1" dirty="0"/>
              <a:t> Target </a:t>
            </a:r>
            <a:r>
              <a:rPr lang="ru-RU" sz="1600" b="1" dirty="0" err="1"/>
              <a:t>Encoding</a:t>
            </a:r>
            <a:r>
              <a:rPr lang="ru-RU" sz="1600" b="1" dirty="0"/>
              <a:t>:</a:t>
            </a:r>
          </a:p>
          <a:p>
            <a:r>
              <a:rPr lang="ru-RU" sz="1600" dirty="0"/>
              <a:t>среднее значения целевой переменной для категории.</a:t>
            </a:r>
          </a:p>
        </p:txBody>
      </p:sp>
    </p:spTree>
    <p:extLst>
      <p:ext uri="{BB962C8B-B14F-4D97-AF65-F5344CB8AC3E}">
        <p14:creationId xmlns:p14="http://schemas.microsoft.com/office/powerpoint/2010/main" val="281215806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43956-6FB2-F00C-4768-322E5A48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Порядковые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591F8F6-FC4E-55C9-6A73-CCAC58273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08" y="836641"/>
            <a:ext cx="8982409" cy="3976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0876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C43956-6FB2-F00C-4768-322E5A486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Итоги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8EBC31-1B2B-87E8-32E2-884CF210DFC0}"/>
              </a:ext>
            </a:extLst>
          </p:cNvPr>
          <p:cNvSpPr txBox="1"/>
          <p:nvPr/>
        </p:nvSpPr>
        <p:spPr>
          <a:xfrm>
            <a:off x="500550" y="1917725"/>
            <a:ext cx="8374509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Узнали, что такое машинное обучение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Заговорили на языке ML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ru-RU" sz="2000" dirty="0"/>
              <a:t>Изучили </a:t>
            </a:r>
            <a:r>
              <a:rPr lang="ru-RU" sz="2000" dirty="0" err="1"/>
              <a:t>pipeline</a:t>
            </a:r>
            <a:r>
              <a:rPr lang="ru-RU" sz="2000" dirty="0"/>
              <a:t> обучения и построения модели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/>
              <a:t>Выяснили, какие задачи решает ML и какие бывают признаки</a:t>
            </a:r>
          </a:p>
        </p:txBody>
      </p:sp>
    </p:spTree>
    <p:extLst>
      <p:ext uri="{BB962C8B-B14F-4D97-AF65-F5344CB8AC3E}">
        <p14:creationId xmlns:p14="http://schemas.microsoft.com/office/powerpoint/2010/main" val="11263571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6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4900"/>
              <a:t>Вопросы?</a:t>
            </a:r>
            <a:endParaRPr/>
          </a:p>
        </p:txBody>
      </p:sp>
      <p:pic>
        <p:nvPicPr>
          <p:cNvPr id="434" name="Google Shape;434;p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9975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7"/>
          <p:cNvSpPr txBox="1"/>
          <p:nvPr/>
        </p:nvSpPr>
        <p:spPr>
          <a:xfrm>
            <a:off x="1438025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“+”,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вопросы есть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36" name="Google Shape;436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02950" y="3370764"/>
            <a:ext cx="662535" cy="66253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67"/>
          <p:cNvSpPr txBox="1"/>
          <p:nvPr/>
        </p:nvSpPr>
        <p:spPr>
          <a:xfrm>
            <a:off x="4806700" y="3378781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Ставим “–”,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ru-RU" sz="15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 b="0" i="0" u="none" strike="noStrike" cap="non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0395396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76"/>
          <p:cNvSpPr txBox="1">
            <a:spLocks noGrp="1"/>
          </p:cNvSpPr>
          <p:nvPr>
            <p:ph type="title"/>
          </p:nvPr>
        </p:nvSpPr>
        <p:spPr>
          <a:xfrm>
            <a:off x="956224" y="396394"/>
            <a:ext cx="7730575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800" dirty="0"/>
              <a:t>Заполните, пожалуйста,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опрос о занятии</a:t>
            </a:r>
            <a:endParaRPr sz="3800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00"/>
              <a:buNone/>
            </a:pPr>
            <a:r>
              <a:rPr lang="ru-RU" sz="3800" dirty="0"/>
              <a:t>по ссылке в чате</a:t>
            </a:r>
            <a:endParaRPr sz="38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8"/>
          <p:cNvSpPr/>
          <p:nvPr/>
        </p:nvSpPr>
        <p:spPr>
          <a:xfrm>
            <a:off x="630000" y="2703050"/>
            <a:ext cx="1033800" cy="19836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48"/>
          <p:cNvSpPr txBox="1">
            <a:spLocks noGrp="1"/>
          </p:cNvSpPr>
          <p:nvPr>
            <p:ph type="subTitle" idx="2"/>
          </p:nvPr>
        </p:nvSpPr>
        <p:spPr>
          <a:xfrm>
            <a:off x="3082400" y="2304911"/>
            <a:ext cx="5856300" cy="39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Игорь Стурейко</a:t>
            </a:r>
            <a:endParaRPr dirty="0"/>
          </a:p>
        </p:txBody>
      </p:sp>
      <p:sp>
        <p:nvSpPr>
          <p:cNvPr id="12" name="Google Shape;499;p77">
            <a:extLst>
              <a:ext uri="{FF2B5EF4-FFF2-40B4-BE49-F238E27FC236}">
                <a16:creationId xmlns:a16="http://schemas.microsoft.com/office/drawing/2014/main" id="{582ECAAA-AF1D-254F-9EEA-3E6087D018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821221"/>
            <a:ext cx="8520600" cy="13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Aft>
                <a:spcPts val="0"/>
              </a:spcAft>
              <a:buSzPts val="3200"/>
              <a:buNone/>
            </a:pPr>
            <a:r>
              <a:rPr lang="ru-RU" dirty="0"/>
              <a:t>Приходите на следующие вебинары</a:t>
            </a:r>
            <a:br>
              <a:rPr lang="ru-RU" dirty="0"/>
            </a:br>
            <a:r>
              <a:rPr lang="ru-RU" sz="1800" dirty="0"/>
              <a:t>Ансамбли моделей</a:t>
            </a:r>
            <a:endParaRPr dirty="0"/>
          </a:p>
        </p:txBody>
      </p:sp>
      <p:sp>
        <p:nvSpPr>
          <p:cNvPr id="13" name="Google Shape;500;p77">
            <a:extLst>
              <a:ext uri="{FF2B5EF4-FFF2-40B4-BE49-F238E27FC236}">
                <a16:creationId xmlns:a16="http://schemas.microsoft.com/office/drawing/2014/main" id="{E0455609-6D75-8B47-AD05-D96CCF37ECC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ru-RU" dirty="0"/>
              <a:t>Спасибо за внимание!</a:t>
            </a:r>
            <a:endParaRPr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31303AF-03ED-4942-AD0B-371ABDC3B86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2156" r="295"/>
          <a:stretch/>
        </p:blipFill>
        <p:spPr>
          <a:xfrm>
            <a:off x="832654" y="2865544"/>
            <a:ext cx="1662292" cy="1657372"/>
          </a:xfrm>
          <a:prstGeom prst="ellipse">
            <a:avLst/>
          </a:prstGeom>
          <a:ln w="127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0" name="Google Shape;209;p48">
            <a:extLst>
              <a:ext uri="{FF2B5EF4-FFF2-40B4-BE49-F238E27FC236}">
                <a16:creationId xmlns:a16="http://schemas.microsoft.com/office/drawing/2014/main" id="{51D519F3-8EFB-174E-B280-1CC7F47F9420}"/>
              </a:ext>
            </a:extLst>
          </p:cNvPr>
          <p:cNvSpPr txBox="1">
            <a:spLocks/>
          </p:cNvSpPr>
          <p:nvPr/>
        </p:nvSpPr>
        <p:spPr>
          <a:xfrm>
            <a:off x="3082400" y="2701811"/>
            <a:ext cx="5938750" cy="213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>
            <a:lvl1pPr marL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 i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470025" indent="-1465263">
              <a:tabLst>
                <a:tab pos="1465263" algn="l"/>
              </a:tabLst>
            </a:pPr>
            <a:r>
              <a:rPr lang="ru-RU" sz="1150" b="1" kern="0" dirty="0"/>
              <a:t>Руководитель курсов: </a:t>
            </a:r>
            <a:r>
              <a:rPr lang="en-US" sz="1150" b="1" kern="0" dirty="0"/>
              <a:t>	Reinforcement Learning, ML Professional, ML Basic, </a:t>
            </a:r>
            <a:br>
              <a:rPr lang="en-US" sz="1150" b="1" kern="0" dirty="0"/>
            </a:br>
            <a:r>
              <a:rPr lang="en-US" sz="1150" b="1" kern="0" dirty="0" err="1"/>
              <a:t>MLOps</a:t>
            </a:r>
            <a:r>
              <a:rPr lang="en-US" sz="1150" b="1" kern="0" dirty="0"/>
              <a:t>, </a:t>
            </a:r>
            <a:r>
              <a:rPr lang="en-US" sz="1150" b="1" kern="0" dirty="0" err="1"/>
              <a:t>FinML</a:t>
            </a:r>
            <a:endParaRPr lang="en-US" sz="1150" b="1" kern="0" dirty="0"/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 err="1"/>
              <a:t>Teamlead</a:t>
            </a:r>
            <a:endParaRPr lang="en-US" sz="1150" b="1" kern="0" dirty="0"/>
          </a:p>
          <a:p>
            <a:pPr rtl="0"/>
            <a:r>
              <a:rPr lang="ru-RU" sz="1150" b="1" kern="0" dirty="0"/>
              <a:t>Физический факультет МГУ, </a:t>
            </a:r>
            <a:r>
              <a:rPr lang="en-US" sz="1150" b="1" kern="0" dirty="0"/>
              <a:t>PhD </a:t>
            </a:r>
            <a:r>
              <a:rPr lang="ru-RU" sz="1150" b="1" kern="0" dirty="0"/>
              <a:t>теоретическая физика</a:t>
            </a:r>
          </a:p>
          <a:p>
            <a:pPr rtl="0"/>
            <a:endParaRPr lang="ru-RU" sz="1150" kern="0" dirty="0"/>
          </a:p>
          <a:p>
            <a:pPr rtl="0"/>
            <a:r>
              <a:rPr lang="ru-RU" sz="1150" b="1" kern="0" dirty="0"/>
              <a:t>Опыт:</a:t>
            </a:r>
            <a:endParaRPr lang="ru-RU" sz="1150" kern="0" dirty="0"/>
          </a:p>
          <a:p>
            <a:pPr rtl="0"/>
            <a:r>
              <a:rPr lang="ru-RU" sz="1150" kern="0" dirty="0"/>
              <a:t>Более 20 лет занимался прикладной математикой и мат моделированием</a:t>
            </a:r>
          </a:p>
          <a:p>
            <a:pPr rtl="0"/>
            <a:r>
              <a:rPr lang="ru-RU" sz="1150" kern="0" dirty="0"/>
              <a:t>(</a:t>
            </a:r>
            <a:r>
              <a:rPr lang="en-US" sz="1150" kern="0" dirty="0"/>
              <a:t>Data Scientist) (Python, </a:t>
            </a:r>
            <a:r>
              <a:rPr lang="ru-RU" sz="1150" kern="0" dirty="0"/>
              <a:t>С++)</a:t>
            </a:r>
          </a:p>
          <a:p>
            <a:pPr rtl="0"/>
            <a:endParaRPr lang="ru-RU" sz="1150" kern="0" dirty="0"/>
          </a:p>
          <a:p>
            <a:pPr rtl="0"/>
            <a:endParaRPr lang="ru-RU" sz="1150" b="1" kern="0" dirty="0"/>
          </a:p>
          <a:p>
            <a:pPr rtl="0"/>
            <a:r>
              <a:rPr lang="ru-RU" sz="1150" b="1" kern="0" dirty="0"/>
              <a:t>@</a:t>
            </a:r>
            <a:r>
              <a:rPr lang="en-US" sz="1150" b="1" kern="0" dirty="0" err="1"/>
              <a:t>stureiko</a:t>
            </a:r>
            <a:r>
              <a:rPr lang="en-US" sz="1150" b="1" kern="0" dirty="0"/>
              <a:t> (TG)</a:t>
            </a:r>
          </a:p>
          <a:p>
            <a:pPr rtl="0"/>
            <a:endParaRPr lang="en-US" sz="1150" b="1" kern="0" dirty="0"/>
          </a:p>
          <a:p>
            <a:pPr rtl="0"/>
            <a:r>
              <a:rPr lang="en-US" sz="1150" b="1" kern="0" dirty="0"/>
              <a:t>LinkedIn: </a:t>
            </a:r>
            <a:r>
              <a:rPr lang="en-US" sz="1150" kern="0" dirty="0">
                <a:hlinkClick r:id="rId4"/>
              </a:rPr>
              <a:t>igor-stureiko</a:t>
            </a:r>
            <a:r>
              <a:rPr lang="en-US" sz="1150" kern="0" dirty="0"/>
              <a:t> </a:t>
            </a:r>
          </a:p>
          <a:p>
            <a:pPr rtl="0"/>
            <a:endParaRPr lang="en-US" sz="1150" kern="0" dirty="0"/>
          </a:p>
          <a:p>
            <a:pPr rtl="0"/>
            <a:r>
              <a:rPr lang="en-US" sz="1150" b="1" kern="0" dirty="0"/>
              <a:t>@</a:t>
            </a:r>
            <a:r>
              <a:rPr lang="en-US" sz="1150" b="1" kern="0" dirty="0" err="1"/>
              <a:t>rl_fintech</a:t>
            </a:r>
            <a:r>
              <a:rPr lang="en-US" sz="1150" b="1" kern="0" dirty="0"/>
              <a:t> </a:t>
            </a:r>
            <a:r>
              <a:rPr lang="en-US" sz="1150" kern="0" dirty="0"/>
              <a:t>(</a:t>
            </a:r>
            <a:r>
              <a:rPr lang="ru-RU" sz="1150" kern="0" dirty="0"/>
              <a:t>Мой канал о моделях в бизнесе)</a:t>
            </a:r>
            <a:endParaRPr lang="ru-RU" sz="1400" kern="0" dirty="0"/>
          </a:p>
        </p:txBody>
      </p:sp>
    </p:spTree>
    <p:extLst>
      <p:ext uri="{BB962C8B-B14F-4D97-AF65-F5344CB8AC3E}">
        <p14:creationId xmlns:p14="http://schemas.microsoft.com/office/powerpoint/2010/main" val="706987243"/>
      </p:ext>
    </p:extLst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1436</Words>
  <Application>Microsoft Macintosh PowerPoint</Application>
  <PresentationFormat>On-screen Show (16:9)</PresentationFormat>
  <Paragraphs>321</Paragraphs>
  <Slides>66</Slides>
  <Notes>26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5" baseType="lpstr">
      <vt:lpstr>Open Sans</vt:lpstr>
      <vt:lpstr>Times New Roman</vt:lpstr>
      <vt:lpstr>SBSansDisplay-Light</vt:lpstr>
      <vt:lpstr>Roboto</vt:lpstr>
      <vt:lpstr>Cambria Math</vt:lpstr>
      <vt:lpstr>Arial</vt:lpstr>
      <vt:lpstr>Wingdings</vt:lpstr>
      <vt:lpstr>Courier New</vt:lpstr>
      <vt:lpstr>Светлая тема</vt:lpstr>
      <vt:lpstr>ML Basic Введение в машинное обучение</vt:lpstr>
      <vt:lpstr>Проверить, идет ли запись</vt:lpstr>
      <vt:lpstr>ML Basic Введение в машинное обучение</vt:lpstr>
      <vt:lpstr>Введение в машинное обучение</vt:lpstr>
      <vt:lpstr>Маршрут вебинара</vt:lpstr>
      <vt:lpstr>Знакомство с машинным обучением</vt:lpstr>
      <vt:lpstr>PowerPoint Presentation</vt:lpstr>
      <vt:lpstr>Задача: Перевести часы в минуты</vt:lpstr>
      <vt:lpstr>Задача: Перевести часы в минуты</vt:lpstr>
      <vt:lpstr>Задача: Кошка или собака?</vt:lpstr>
      <vt:lpstr>Машинное обучение</vt:lpstr>
      <vt:lpstr>Машинное обучение</vt:lpstr>
      <vt:lpstr>Машинное обучение vs Традиционное программирование</vt:lpstr>
      <vt:lpstr>Машинное обучение vs Традиционное программирование</vt:lpstr>
      <vt:lpstr>Мы обучили нашу модель!</vt:lpstr>
      <vt:lpstr>Основные понятия ML</vt:lpstr>
      <vt:lpstr>Пример задачи: предсказание цен на квартиры</vt:lpstr>
      <vt:lpstr>Постановка задачи</vt:lpstr>
      <vt:lpstr>Постановка задачи</vt:lpstr>
      <vt:lpstr>Данные</vt:lpstr>
      <vt:lpstr>Определение: признаки</vt:lpstr>
      <vt:lpstr>Определения: модель</vt:lpstr>
      <vt:lpstr>Определения: модель</vt:lpstr>
      <vt:lpstr>Определения: параметры</vt:lpstr>
      <vt:lpstr>Определения: функция потерь</vt:lpstr>
      <vt:lpstr>Определения: MSE</vt:lpstr>
      <vt:lpstr>Определения: MSE</vt:lpstr>
      <vt:lpstr>Определения: обучение модели</vt:lpstr>
      <vt:lpstr>Определения: обучение модели</vt:lpstr>
      <vt:lpstr>Определения: обучение модели</vt:lpstr>
      <vt:lpstr>Обучение модели</vt:lpstr>
      <vt:lpstr>Обучение модели на пальцах</vt:lpstr>
      <vt:lpstr>Обучение модели на пальцах</vt:lpstr>
      <vt:lpstr>Обучение модели на пальцах</vt:lpstr>
      <vt:lpstr>Обучение модели на пальцах</vt:lpstr>
      <vt:lpstr>Обучение модели на пальцах</vt:lpstr>
      <vt:lpstr>Вопросы?</vt:lpstr>
      <vt:lpstr>ML Pipeline</vt:lpstr>
      <vt:lpstr>ML Pipeline</vt:lpstr>
      <vt:lpstr>ML Pipeline</vt:lpstr>
      <vt:lpstr>ML Pipeline</vt:lpstr>
      <vt:lpstr>ML Pipeline</vt:lpstr>
      <vt:lpstr>ML Pipeline</vt:lpstr>
      <vt:lpstr>Но и это еще не все!</vt:lpstr>
      <vt:lpstr>Но и это еще не все!</vt:lpstr>
      <vt:lpstr>Но это ещё не всё!</vt:lpstr>
      <vt:lpstr>Задачи ML</vt:lpstr>
      <vt:lpstr>Задачи ML</vt:lpstr>
      <vt:lpstr>Supervised vs Unsupervised</vt:lpstr>
      <vt:lpstr>Классификация </vt:lpstr>
      <vt:lpstr>PowerPoint Presentation</vt:lpstr>
      <vt:lpstr>Регрессия</vt:lpstr>
      <vt:lpstr>PowerPoint Presentation</vt:lpstr>
      <vt:lpstr>Кластеризация</vt:lpstr>
      <vt:lpstr>Детекция аномалий</vt:lpstr>
      <vt:lpstr>Вопросы?</vt:lpstr>
      <vt:lpstr>Типы признаков</vt:lpstr>
      <vt:lpstr>Числовые</vt:lpstr>
      <vt:lpstr>Бинарные</vt:lpstr>
      <vt:lpstr>Категориальные</vt:lpstr>
      <vt:lpstr>Категориальные: кодирование </vt:lpstr>
      <vt:lpstr>Порядковые</vt:lpstr>
      <vt:lpstr>Итоги</vt:lpstr>
      <vt:lpstr>Вопросы?</vt:lpstr>
      <vt:lpstr>Заполните, пожалуйста, опрос о занятии по ссылке в чате</vt:lpstr>
      <vt:lpstr>Приходите на следующие вебинары Ансамбли моделей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ML Basic Базовые типы и структуры данных. Управление потоком</dc:title>
  <cp:lastModifiedBy>Стурейко Игорь Олегович</cp:lastModifiedBy>
  <cp:revision>36</cp:revision>
  <dcterms:modified xsi:type="dcterms:W3CDTF">2025-10-17T07:59:00Z</dcterms:modified>
</cp:coreProperties>
</file>