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312" r:id="rId4"/>
    <p:sldId id="260" r:id="rId5"/>
    <p:sldId id="261" r:id="rId6"/>
    <p:sldId id="313" r:id="rId7"/>
    <p:sldId id="317" r:id="rId8"/>
    <p:sldId id="314" r:id="rId9"/>
    <p:sldId id="301" r:id="rId10"/>
    <p:sldId id="315" r:id="rId11"/>
    <p:sldId id="316" r:id="rId12"/>
    <p:sldId id="304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/>
    <p:restoredTop sz="97030"/>
  </p:normalViewPr>
  <p:slideViewPr>
    <p:cSldViewPr>
      <p:cViewPr varScale="1">
        <p:scale>
          <a:sx n="297" d="100"/>
          <a:sy n="297" d="100"/>
        </p:scale>
        <p:origin x="1264" y="17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69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83B6B18F-A9AB-5C05-10EE-33B6F970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>
            <a:extLst>
              <a:ext uri="{FF2B5EF4-FFF2-40B4-BE49-F238E27FC236}">
                <a16:creationId xmlns:a16="http://schemas.microsoft.com/office/drawing/2014/main" id="{34918514-56B8-5FE9-B46D-4A82C8DC3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>
            <a:extLst>
              <a:ext uri="{FF2B5EF4-FFF2-40B4-BE49-F238E27FC236}">
                <a16:creationId xmlns:a16="http://schemas.microsoft.com/office/drawing/2014/main" id="{5C87A867-70BA-F3CA-7DAD-F7C4FA50F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84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datasets/toy_dataset.html#wine-recognition-dataset" TargetMode="External"/><Relationship Id="rId13" Type="http://schemas.openxmlformats.org/officeDocument/2006/relationships/hyperlink" Target="https://scikit-learn.org/stable/datasets/real_world.html#the-labeled-faces-in-the-wild-face-recognition-dataset" TargetMode="External"/><Relationship Id="rId18" Type="http://schemas.openxmlformats.org/officeDocument/2006/relationships/hyperlink" Target="https://scikit-learn.org/stable/datasets/real_world.html#species-distribution-dataset" TargetMode="External"/><Relationship Id="rId26" Type="http://schemas.openxmlformats.org/officeDocument/2006/relationships/hyperlink" Target="https://scikit-learn.org/stable/datasets/loading_other_datasets.html#datasets-in-svmlight-libsvm-format" TargetMode="External"/><Relationship Id="rId3" Type="http://schemas.openxmlformats.org/officeDocument/2006/relationships/hyperlink" Target="https://scikit-learn.org/stable/datasets/toy_dataset.html" TargetMode="External"/><Relationship Id="rId21" Type="http://schemas.openxmlformats.org/officeDocument/2006/relationships/hyperlink" Target="https://scikit-learn.org/stable/datasets/sample_generators.html#generators-for-regression" TargetMode="External"/><Relationship Id="rId7" Type="http://schemas.openxmlformats.org/officeDocument/2006/relationships/hyperlink" Target="https://scikit-learn.org/stable/datasets/toy_dataset.html#linnerrud-dataset" TargetMode="External"/><Relationship Id="rId12" Type="http://schemas.openxmlformats.org/officeDocument/2006/relationships/hyperlink" Target="https://scikit-learn.org/stable/datasets/real_world.html#the-20-newsgroups-text-dataset" TargetMode="External"/><Relationship Id="rId17" Type="http://schemas.openxmlformats.org/officeDocument/2006/relationships/hyperlink" Target="https://scikit-learn.org/stable/datasets/real_world.html#california-housing-dataset" TargetMode="External"/><Relationship Id="rId25" Type="http://schemas.openxmlformats.org/officeDocument/2006/relationships/hyperlink" Target="https://scikit-learn.org/stable/datasets/loading_other_datasets.html#sample-images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scikit-learn.org/stable/datasets/real_world.html#kddcup-99-dataset" TargetMode="External"/><Relationship Id="rId20" Type="http://schemas.openxmlformats.org/officeDocument/2006/relationships/hyperlink" Target="https://scikit-learn.org/stable/datasets/sample_generators.html#generators-for-classification-and-clustering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scikit-learn.org/stable/datasets/toy_dataset.html#optical-recognition-of-handwritten-digits-dataset" TargetMode="External"/><Relationship Id="rId11" Type="http://schemas.openxmlformats.org/officeDocument/2006/relationships/hyperlink" Target="https://scikit-learn.org/stable/datasets/real_world.html#the-olivetti-faces-dataset" TargetMode="External"/><Relationship Id="rId24" Type="http://schemas.openxmlformats.org/officeDocument/2006/relationships/hyperlink" Target="https://scikit-learn.org/stable/datasets/loading_other_datasets.html" TargetMode="External"/><Relationship Id="rId5" Type="http://schemas.openxmlformats.org/officeDocument/2006/relationships/hyperlink" Target="https://scikit-learn.org/stable/datasets/toy_dataset.html#diabetes-dataset" TargetMode="External"/><Relationship Id="rId15" Type="http://schemas.openxmlformats.org/officeDocument/2006/relationships/hyperlink" Target="https://scikit-learn.org/stable/datasets/real_world.html#rcv1-dataset" TargetMode="External"/><Relationship Id="rId23" Type="http://schemas.openxmlformats.org/officeDocument/2006/relationships/hyperlink" Target="https://scikit-learn.org/stable/datasets/sample_generators.html#generators-for-decomposition" TargetMode="External"/><Relationship Id="rId28" Type="http://schemas.openxmlformats.org/officeDocument/2006/relationships/hyperlink" Target="https://scikit-learn.org/stable/datasets/loading_other_datasets.html#loading-from-external-datasets" TargetMode="External"/><Relationship Id="rId10" Type="http://schemas.openxmlformats.org/officeDocument/2006/relationships/hyperlink" Target="https://scikit-learn.org/stable/datasets/real_world.html" TargetMode="External"/><Relationship Id="rId19" Type="http://schemas.openxmlformats.org/officeDocument/2006/relationships/hyperlink" Target="https://scikit-learn.org/stable/datasets/sample_generators.html" TargetMode="External"/><Relationship Id="rId4" Type="http://schemas.openxmlformats.org/officeDocument/2006/relationships/hyperlink" Target="https://scikit-learn.org/stable/datasets/toy_dataset.html#iris-plants-dataset" TargetMode="External"/><Relationship Id="rId9" Type="http://schemas.openxmlformats.org/officeDocument/2006/relationships/hyperlink" Target="https://scikit-learn.org/stable/datasets/toy_dataset.html#breast-cancer-wisconsin-diagnostic-dataset" TargetMode="External"/><Relationship Id="rId14" Type="http://schemas.openxmlformats.org/officeDocument/2006/relationships/hyperlink" Target="https://scikit-learn.org/stable/datasets/real_world.html#forest-covertypes" TargetMode="External"/><Relationship Id="rId22" Type="http://schemas.openxmlformats.org/officeDocument/2006/relationships/hyperlink" Target="https://scikit-learn.org/stable/datasets/sample_generators.html#generators-for-manifold-learning" TargetMode="External"/><Relationship Id="rId27" Type="http://schemas.openxmlformats.org/officeDocument/2006/relationships/hyperlink" Target="https://scikit-learn.org/stable/datasets/loading_other_datasets.html#downloading-datasets-from-the-openml-org-repository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ru-RU" sz="3200" dirty="0"/>
              <a:t>Курсовой проект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en-US" dirty="0"/>
              <a:t>Basic</a:t>
            </a:r>
            <a:br>
              <a:rPr lang="en-US" sz="3200" dirty="0"/>
            </a:br>
            <a:r>
              <a:rPr lang="ru-RU" sz="2400" dirty="0"/>
              <a:t>Курсовой проект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  <a:endParaRPr lang="en-US" sz="1150" dirty="0"/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курсовая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выбрать тему проекта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Расписание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Пожелания и напутствие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Защита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2" descr="Шапка выпускника вектор (49 фото)">
            <a:extLst>
              <a:ext uri="{FF2B5EF4-FFF2-40B4-BE49-F238E27FC236}">
                <a16:creationId xmlns:a16="http://schemas.microsoft.com/office/drawing/2014/main" id="{567D2516-A149-814F-8420-E6895B379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44434" flipH="1">
            <a:off x="5474333" y="1600413"/>
            <a:ext cx="2853253" cy="246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Проектная работа – это просто еще одно ДЗ, просто немного большего объема;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 рамках этапа «Проектная работа» можно и нужно </a:t>
            </a:r>
            <a:r>
              <a:rPr lang="ru-RU" sz="1800" dirty="0" err="1">
                <a:solidFill>
                  <a:srgbClr val="1E1F21"/>
                </a:solidFill>
              </a:rPr>
              <a:t>досдавать</a:t>
            </a:r>
            <a:r>
              <a:rPr lang="ru-RU" sz="1800" dirty="0">
                <a:solidFill>
                  <a:srgbClr val="1E1F21"/>
                </a:solidFill>
              </a:rPr>
              <a:t> ДЗ курса;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Выполненный проект может дополнить ваше портфолио.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Проектная работа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Взять проект на работе;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Собственный домашний проект;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Взять </a:t>
            </a:r>
            <a:r>
              <a:rPr lang="ru" sz="1800" dirty="0">
                <a:solidFill>
                  <a:srgbClr val="1E1F21"/>
                </a:solidFill>
              </a:rPr>
              <a:t>интересный вам проект с </a:t>
            </a:r>
            <a:r>
              <a:rPr lang="en-US" sz="1800" dirty="0">
                <a:solidFill>
                  <a:srgbClr val="1E1F21"/>
                </a:solidFill>
                <a:hlinkClick r:id="rId3"/>
              </a:rPr>
              <a:t>https://www.kaggle.com</a:t>
            </a:r>
            <a:r>
              <a:rPr lang="en-US" sz="1800" dirty="0">
                <a:solidFill>
                  <a:srgbClr val="1E1F21"/>
                </a:solidFill>
              </a:rPr>
              <a:t>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Взять стандартный датасет </a:t>
            </a:r>
            <a:r>
              <a:rPr lang="en-US" sz="1800" dirty="0" err="1">
                <a:solidFill>
                  <a:srgbClr val="1E1F21"/>
                </a:solidFill>
              </a:rPr>
              <a:t>sklearn.datasets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выбрать тему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5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65D8D5BA-D996-4D4D-2BFE-DC88AEDD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6">
            <a:extLst>
              <a:ext uri="{FF2B5EF4-FFF2-40B4-BE49-F238E27FC236}">
                <a16:creationId xmlns:a16="http://schemas.microsoft.com/office/drawing/2014/main" id="{922EA41B-C3D0-B7F1-2B08-98CEE3A9D3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Sklearn.datasets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9A3383-F74F-7D24-A96E-C0D781D043DD}"/>
              </a:ext>
            </a:extLst>
          </p:cNvPr>
          <p:cNvSpPr txBox="1"/>
          <p:nvPr/>
        </p:nvSpPr>
        <p:spPr>
          <a:xfrm>
            <a:off x="228600" y="1123950"/>
            <a:ext cx="4152099" cy="3526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b="1" dirty="0">
                <a:hlinkClick r:id="rId3"/>
              </a:rPr>
              <a:t>8.1. Toy datasets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4"/>
              </a:rPr>
              <a:t>8.1.1. Iris plants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5"/>
              </a:rPr>
              <a:t>8.1.2. Diabetes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6"/>
              </a:rPr>
              <a:t>8.1.3. Optical recognition of handwritten digits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7"/>
              </a:rPr>
              <a:t>8.1.4. Linnerrud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8"/>
              </a:rPr>
              <a:t>8.1.5. Wine recognition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9"/>
              </a:rPr>
              <a:t>8.1.6. Breast cancer Wisconsin (diagnostic) dataset</a:t>
            </a:r>
            <a:endParaRPr lang="en-US" sz="1100" dirty="0"/>
          </a:p>
          <a:p>
            <a:pPr>
              <a:lnSpc>
                <a:spcPct val="120000"/>
              </a:lnSpc>
            </a:pPr>
            <a:endParaRPr lang="en-US" sz="1100" b="1" dirty="0">
              <a:hlinkClick r:id="rId10"/>
            </a:endParaRPr>
          </a:p>
          <a:p>
            <a:pPr>
              <a:lnSpc>
                <a:spcPct val="120000"/>
              </a:lnSpc>
            </a:pPr>
            <a:r>
              <a:rPr lang="en-US" sz="1100" b="1" dirty="0">
                <a:hlinkClick r:id="rId10"/>
              </a:rPr>
              <a:t>8.2. Real world datasets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1"/>
              </a:rPr>
              <a:t>8.2.1. The Olivetti faces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2"/>
              </a:rPr>
              <a:t>8.2.2. The 20 newsgroups text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3"/>
              </a:rPr>
              <a:t>8.2.3. The Labeled Faces in the Wild face recognition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4"/>
              </a:rPr>
              <a:t>8.2.4. Forest covertypes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5"/>
              </a:rPr>
              <a:t>8.2.5. RCV1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6"/>
              </a:rPr>
              <a:t>8.2.6. Kddcup 99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7"/>
              </a:rPr>
              <a:t>8.2.7. California Housing dataset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18"/>
              </a:rPr>
              <a:t>8.2.8. Species distribution dataset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FA5F0-C632-9948-C99C-72A8F438AEB1}"/>
              </a:ext>
            </a:extLst>
          </p:cNvPr>
          <p:cNvSpPr txBox="1"/>
          <p:nvPr/>
        </p:nvSpPr>
        <p:spPr>
          <a:xfrm>
            <a:off x="4495800" y="1131731"/>
            <a:ext cx="4055919" cy="2561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b="1" dirty="0">
                <a:hlinkClick r:id="rId19"/>
              </a:rPr>
              <a:t>8.3. Generated datasets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0"/>
              </a:rPr>
              <a:t>8.3.1. Generators for classification and clustering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1"/>
              </a:rPr>
              <a:t>8.3.2. Generators for regression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2"/>
              </a:rPr>
              <a:t>8.3.3. Generators for manifold learning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3"/>
              </a:rPr>
              <a:t>8.3.4. Generators for decomposition</a:t>
            </a:r>
            <a:endParaRPr lang="en-US" sz="1100" dirty="0"/>
          </a:p>
          <a:p>
            <a:pPr>
              <a:lnSpc>
                <a:spcPct val="120000"/>
              </a:lnSpc>
            </a:pPr>
            <a:endParaRPr lang="en-US" sz="1100" b="1" dirty="0">
              <a:hlinkClick r:id="rId24"/>
            </a:endParaRPr>
          </a:p>
          <a:p>
            <a:pPr>
              <a:lnSpc>
                <a:spcPct val="120000"/>
              </a:lnSpc>
            </a:pPr>
            <a:r>
              <a:rPr lang="en-US" sz="1100" b="1" dirty="0">
                <a:hlinkClick r:id="rId24"/>
              </a:rPr>
              <a:t>8.4. Loading other datasets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5"/>
              </a:rPr>
              <a:t>8.4.1. Sample images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6"/>
              </a:rPr>
              <a:t>8.4.2. Datasets in svmlight / libsvm format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7"/>
              </a:rPr>
              <a:t>8.4.3. Downloading datasets from the openml.org repository</a:t>
            </a:r>
            <a:endParaRPr lang="en-US" sz="1100" dirty="0"/>
          </a:p>
          <a:p>
            <a:pPr marL="136525" lvl="1">
              <a:lnSpc>
                <a:spcPct val="120000"/>
              </a:lnSpc>
            </a:pPr>
            <a:r>
              <a:rPr lang="en-US" sz="1100" dirty="0">
                <a:hlinkClick r:id="rId28"/>
              </a:rPr>
              <a:t>8.4.4. Loading from external datasets</a:t>
            </a:r>
            <a:endParaRPr lang="en-US" sz="1100" dirty="0"/>
          </a:p>
          <a:p>
            <a:pPr>
              <a:lnSpc>
                <a:spcPct val="12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6917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Предобработка и очистка данных, заполнение пропусков;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Фиче-</a:t>
            </a:r>
            <a:r>
              <a:rPr lang="ru-RU" sz="1400" b="0" dirty="0" err="1">
                <a:solidFill>
                  <a:srgbClr val="1E1F21"/>
                </a:solidFill>
              </a:rPr>
              <a:t>инжениринг</a:t>
            </a:r>
            <a:r>
              <a:rPr lang="ru-RU" sz="1400" b="0" dirty="0">
                <a:solidFill>
                  <a:srgbClr val="1E1F21"/>
                </a:solidFill>
              </a:rPr>
              <a:t>, как реализован и почему именно так;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Какая модель выбрана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r>
              <a:rPr lang="ru-RU" sz="1400" b="0" dirty="0">
                <a:solidFill>
                  <a:srgbClr val="1E1F21"/>
                </a:solidFill>
              </a:rPr>
              <a:t> Метрики обучения модели;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Метрики на тренировочной, тестовой и </a:t>
            </a:r>
            <a:r>
              <a:rPr lang="ru-RU" sz="1400" b="0" dirty="0" err="1">
                <a:solidFill>
                  <a:srgbClr val="1E1F21"/>
                </a:solidFill>
              </a:rPr>
              <a:t>валидационной</a:t>
            </a:r>
            <a:r>
              <a:rPr lang="ru-RU" sz="1400" b="0" dirty="0">
                <a:solidFill>
                  <a:srgbClr val="1E1F21"/>
                </a:solidFill>
              </a:rPr>
              <a:t> выборках;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Борьба с переобучением.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</a:t>
            </a:r>
            <a:r>
              <a:rPr lang="en-US" sz="1400" b="0" dirty="0">
                <a:solidFill>
                  <a:srgbClr val="1E1F21"/>
                </a:solidFill>
              </a:rPr>
              <a:t> Jupyter notebook</a:t>
            </a:r>
            <a:r>
              <a:rPr lang="ru-RU" sz="1400" b="0" dirty="0">
                <a:solidFill>
                  <a:srgbClr val="1E1F21"/>
                </a:solidFill>
              </a:rPr>
              <a:t>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Что должно быть в проекте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24343"/>
              </p:ext>
            </p:extLst>
          </p:nvPr>
        </p:nvGraphicFramePr>
        <p:xfrm>
          <a:off x="6125381" y="576071"/>
          <a:ext cx="2280284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1</a:t>
            </a: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sz="14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01</a:t>
            </a:r>
            <a:r>
              <a:rPr sz="1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879015" y="3343790"/>
            <a:ext cx="92193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10-11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en-US" sz="14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lang="ru-RU" sz="1400" b="1" spc="-50" dirty="0">
                <a:solidFill>
                  <a:srgbClr val="FF0000"/>
                </a:solidFill>
                <a:latin typeface="Calibri"/>
                <a:cs typeface="Calibri"/>
              </a:rPr>
              <a:t> ?</a:t>
            </a:r>
            <a:endParaRPr sz="1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264228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90" y="185728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Выбор темы и организация проектной работы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843567" y="1673883"/>
            <a:ext cx="423742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1140096" y="2377354"/>
            <a:ext cx="1830684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3CDF963-07E3-E243-AFDD-F8E006BBFE84}"/>
              </a:ext>
            </a:extLst>
          </p:cNvPr>
          <p:cNvSpPr/>
          <p:nvPr/>
        </p:nvSpPr>
        <p:spPr>
          <a:xfrm>
            <a:off x="2225090" y="3967699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Завершение курса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06BA147-412B-CD45-B8E0-B15FF3ACC879}"/>
              </a:ext>
            </a:extLst>
          </p:cNvPr>
          <p:cNvCxnSpPr>
            <a:cxnSpLocks/>
            <a:stCxn id="14" idx="2"/>
            <a:endCxn id="24" idx="1"/>
          </p:cNvCxnSpPr>
          <p:nvPr/>
        </p:nvCxnSpPr>
        <p:spPr>
          <a:xfrm rot="16200000" flipH="1">
            <a:off x="788361" y="2729089"/>
            <a:ext cx="253415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bject 22">
            <a:extLst>
              <a:ext uri="{FF2B5EF4-FFF2-40B4-BE49-F238E27FC236}">
                <a16:creationId xmlns:a16="http://schemas.microsoft.com/office/drawing/2014/main" id="{C0746AC4-D969-294E-A316-69F132917B92}"/>
              </a:ext>
            </a:extLst>
          </p:cNvPr>
          <p:cNvSpPr txBox="1"/>
          <p:nvPr/>
        </p:nvSpPr>
        <p:spPr>
          <a:xfrm>
            <a:off x="1233720" y="405168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03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EB1FE65-F60B-5DAA-96EC-0B9207CC31CE}"/>
              </a:ext>
            </a:extLst>
          </p:cNvPr>
          <p:cNvSpPr/>
          <p:nvPr/>
        </p:nvSpPr>
        <p:spPr>
          <a:xfrm>
            <a:off x="2225089" y="2560757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Консультация / Предзащита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303FC69D-ABF6-8152-A9CF-A5842C947D29}"/>
              </a:ext>
            </a:extLst>
          </p:cNvPr>
          <p:cNvCxnSpPr>
            <a:cxnSpLocks/>
            <a:stCxn id="14" idx="2"/>
            <a:endCxn id="2" idx="1"/>
          </p:cNvCxnSpPr>
          <p:nvPr/>
        </p:nvCxnSpPr>
        <p:spPr>
          <a:xfrm rot="16200000" flipH="1">
            <a:off x="1491832" y="2025619"/>
            <a:ext cx="1127213" cy="3393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bject 22">
            <a:extLst>
              <a:ext uri="{FF2B5EF4-FFF2-40B4-BE49-F238E27FC236}">
                <a16:creationId xmlns:a16="http://schemas.microsoft.com/office/drawing/2014/main" id="{FBA97C6B-CBE8-C376-4F05-CA4C60520F70}"/>
              </a:ext>
            </a:extLst>
          </p:cNvPr>
          <p:cNvSpPr txBox="1"/>
          <p:nvPr/>
        </p:nvSpPr>
        <p:spPr>
          <a:xfrm>
            <a:off x="1122183" y="2629658"/>
            <a:ext cx="7211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17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en-US" sz="1400" b="1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lang="ru-RU" sz="1400" b="1" spc="-50" dirty="0">
                <a:solidFill>
                  <a:srgbClr val="FF0000"/>
                </a:solidFill>
                <a:latin typeface="Calibri"/>
                <a:cs typeface="Calibri"/>
              </a:rPr>
              <a:t> ?</a:t>
            </a:r>
            <a:endParaRPr sz="1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Предобработка и очистка данных, заполнение пропусков;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Фиче-</a:t>
            </a:r>
            <a:r>
              <a:rPr lang="ru-RU" sz="1400" b="0" dirty="0" err="1">
                <a:solidFill>
                  <a:srgbClr val="1E1F21"/>
                </a:solidFill>
              </a:rPr>
              <a:t>инжениринг</a:t>
            </a:r>
            <a:r>
              <a:rPr lang="ru-RU" sz="1400" b="0" dirty="0">
                <a:solidFill>
                  <a:srgbClr val="1E1F21"/>
                </a:solidFill>
              </a:rPr>
              <a:t>, как реализован и почему именно так;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Какая модель выбрана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r>
              <a:rPr lang="ru-RU" sz="1400" b="0" dirty="0">
                <a:solidFill>
                  <a:srgbClr val="1E1F21"/>
                </a:solidFill>
              </a:rPr>
              <a:t> Метрики обучения модели;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Метрики на тренировочной, тестовой и </a:t>
            </a:r>
            <a:r>
              <a:rPr lang="ru-RU" sz="1400" b="0" dirty="0" err="1">
                <a:solidFill>
                  <a:srgbClr val="1E1F21"/>
                </a:solidFill>
              </a:rPr>
              <a:t>валидационной</a:t>
            </a:r>
            <a:r>
              <a:rPr lang="ru-RU" sz="1400" b="0" dirty="0">
                <a:solidFill>
                  <a:srgbClr val="1E1F21"/>
                </a:solidFill>
              </a:rPr>
              <a:t> выборках;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Борьба с переобучением.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Помните: мусор на входе – мусор на выходе, не забывайте о подготовке данных.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Сосредоточьтесь на модели и метриках.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Модель должна адекватно описывать процесс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шага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b="1" spc="-50" dirty="0">
                <a:latin typeface="Trebuchet MS"/>
                <a:cs typeface="Trebuchet MS"/>
              </a:rPr>
              <a:t>Буду рад видеть вас на защите!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Words>653</Words>
  <Application>Microsoft Macintosh PowerPoint</Application>
  <PresentationFormat>On-screen Show (16:9)</PresentationFormat>
  <Paragraphs>134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Trebuchet MS</vt:lpstr>
      <vt:lpstr>Office Theme</vt:lpstr>
      <vt:lpstr>ML Basic Курсовой проект</vt:lpstr>
      <vt:lpstr>PowerPoint Presentation</vt:lpstr>
      <vt:lpstr>ML Basic Курсовой проект</vt:lpstr>
      <vt:lpstr>Маршрут вебинара</vt:lpstr>
      <vt:lpstr>Проектная работа</vt:lpstr>
      <vt:lpstr>Как выбрать тему</vt:lpstr>
      <vt:lpstr>Sklearn.datasets</vt:lpstr>
      <vt:lpstr>Что должно быть в проекте</vt:lpstr>
      <vt:lpstr>Программа</vt:lpstr>
      <vt:lpstr>Защита проекта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18</cp:revision>
  <dcterms:created xsi:type="dcterms:W3CDTF">2024-07-23T07:20:56Z</dcterms:created>
  <dcterms:modified xsi:type="dcterms:W3CDTF">2026-01-13T11:33:32Z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