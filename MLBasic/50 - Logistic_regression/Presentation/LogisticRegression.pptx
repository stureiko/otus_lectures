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9.xml" ContentType="application/vnd.openxmlformats-officedocument.theme+xml"/>
  <Override PartName="/ppt/slideLayouts/slideLayout12.xml" ContentType="application/vnd.openxmlformats-officedocument.presentationml.slideLayout+xml"/>
  <Override PartName="/ppt/theme/theme10.xml" ContentType="application/vnd.openxmlformats-officedocument.theme+xml"/>
  <Override PartName="/ppt/slideLayouts/slideLayout13.xml" ContentType="application/vnd.openxmlformats-officedocument.presentationml.slideLayout+xml"/>
  <Override PartName="/ppt/theme/theme11.xml" ContentType="application/vnd.openxmlformats-officedocument.theme+xml"/>
  <Override PartName="/ppt/slideLayouts/slideLayout14.xml" ContentType="application/vnd.openxmlformats-officedocument.presentationml.slideLayout+xml"/>
  <Override PartName="/ppt/theme/theme12.xml" ContentType="application/vnd.openxmlformats-officedocument.theme+xml"/>
  <Override PartName="/ppt/slideLayouts/slideLayout15.xml" ContentType="application/vnd.openxmlformats-officedocument.presentationml.slideLayout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theme/theme14.xml" ContentType="application/vnd.openxmlformats-officedocument.theme+xml"/>
  <Override PartName="/ppt/slideLayouts/slideLayout17.xml" ContentType="application/vnd.openxmlformats-officedocument.presentationml.slideLayout+xml"/>
  <Override PartName="/ppt/theme/theme15.xml" ContentType="application/vnd.openxmlformats-officedocument.theme+xml"/>
  <Override PartName="/ppt/slideLayouts/slideLayout18.xml" ContentType="application/vnd.openxmlformats-officedocument.presentationml.slideLayout+xml"/>
  <Override PartName="/ppt/theme/theme16.xml" ContentType="application/vnd.openxmlformats-officedocument.theme+xml"/>
  <Override PartName="/ppt/slideLayouts/slideLayout19.xml" ContentType="application/vnd.openxmlformats-officedocument.presentationml.slideLayout+xml"/>
  <Override PartName="/ppt/theme/theme17.xml" ContentType="application/vnd.openxmlformats-officedocument.theme+xml"/>
  <Override PartName="/ppt/slideLayouts/slideLayout20.xml" ContentType="application/vnd.openxmlformats-officedocument.presentationml.slideLayout+xml"/>
  <Override PartName="/ppt/theme/theme18.xml" ContentType="application/vnd.openxmlformats-officedocument.theme+xml"/>
  <Override PartName="/ppt/slideLayouts/slideLayout21.xml" ContentType="application/vnd.openxmlformats-officedocument.presentationml.slideLayout+xml"/>
  <Override PartName="/ppt/theme/theme19.xml" ContentType="application/vnd.openxmlformats-officedocument.theme+xml"/>
  <Override PartName="/ppt/slideLayouts/slideLayout22.xml" ContentType="application/vnd.openxmlformats-officedocument.presentationml.slideLayout+xml"/>
  <Override PartName="/ppt/theme/theme20.xml" ContentType="application/vnd.openxmlformats-officedocument.theme+xml"/>
  <Override PartName="/ppt/slideLayouts/slideLayout23.xml" ContentType="application/vnd.openxmlformats-officedocument.presentationml.slideLayout+xml"/>
  <Override PartName="/ppt/theme/theme21.xml" ContentType="application/vnd.openxmlformats-officedocument.theme+xml"/>
  <Override PartName="/ppt/slideLayouts/slideLayout24.xml" ContentType="application/vnd.openxmlformats-officedocument.presentationml.slideLayout+xml"/>
  <Override PartName="/ppt/theme/theme22.xml" ContentType="application/vnd.openxmlformats-officedocument.theme+xml"/>
  <Override PartName="/ppt/theme/theme2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</p:sldMasterIdLst>
  <p:notesMasterIdLst>
    <p:notesMasterId r:id="rId52"/>
  </p:notesMasterIdLst>
  <p:sldIdLst>
    <p:sldId id="256" r:id="rId23"/>
    <p:sldId id="257" r:id="rId24"/>
    <p:sldId id="334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9" r:id="rId35"/>
    <p:sldId id="270" r:id="rId36"/>
    <p:sldId id="271" r:id="rId37"/>
    <p:sldId id="272" r:id="rId38"/>
    <p:sldId id="273" r:id="rId39"/>
    <p:sldId id="274" r:id="rId40"/>
    <p:sldId id="276" r:id="rId41"/>
    <p:sldId id="277" r:id="rId42"/>
    <p:sldId id="278" r:id="rId43"/>
    <p:sldId id="279" r:id="rId44"/>
    <p:sldId id="280" r:id="rId45"/>
    <p:sldId id="282" r:id="rId46"/>
    <p:sldId id="414" r:id="rId47"/>
    <p:sldId id="315" r:id="rId48"/>
    <p:sldId id="287" r:id="rId49"/>
    <p:sldId id="288" r:id="rId50"/>
    <p:sldId id="289" r:id="rId5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C"/>
    <a:srgbClr val="C5D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94"/>
  </p:normalViewPr>
  <p:slideViewPr>
    <p:cSldViewPr snapToGrid="0" snapToObjects="1">
      <p:cViewPr varScale="1">
        <p:scale>
          <a:sx n="156" d="100"/>
          <a:sy n="156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9" Type="http://schemas.openxmlformats.org/officeDocument/2006/relationships/slide" Target="slides/slide17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2.xml"/><Relationship Id="rId42" Type="http://schemas.openxmlformats.org/officeDocument/2006/relationships/slide" Target="slides/slide20.xml"/><Relationship Id="rId47" Type="http://schemas.openxmlformats.org/officeDocument/2006/relationships/slide" Target="slides/slide25.xml"/><Relationship Id="rId50" Type="http://schemas.openxmlformats.org/officeDocument/2006/relationships/slide" Target="slides/slide28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7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40" Type="http://schemas.openxmlformats.org/officeDocument/2006/relationships/slide" Target="slides/slide18.xml"/><Relationship Id="rId45" Type="http://schemas.openxmlformats.org/officeDocument/2006/relationships/slide" Target="slides/slide23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9.xml"/><Relationship Id="rId44" Type="http://schemas.openxmlformats.org/officeDocument/2006/relationships/slide" Target="slides/slide22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43" Type="http://schemas.openxmlformats.org/officeDocument/2006/relationships/slide" Target="slides/slide21.xml"/><Relationship Id="rId48" Type="http://schemas.openxmlformats.org/officeDocument/2006/relationships/slide" Target="slides/slide26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9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46" Type="http://schemas.openxmlformats.org/officeDocument/2006/relationships/slide" Target="slides/slide24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slide" Target="slides/slide14.xml"/><Relationship Id="rId4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49B28-5332-064F-B47E-7D035818BC1A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7758E-AB0B-6848-A2BF-ABE9CB6B3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364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87560"/>
            <a:ext cx="955440" cy="50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791E8DD-FD8E-4944-90D7-9D159E5617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2088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6620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8748" lnSpcReduction="1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947160" y="1203480"/>
            <a:ext cx="46620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8748" lnSpcReduction="1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D4F9CF6-6FFD-4FC5-9709-635F096F5C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92B251-83CF-454A-8FF0-BFC64EB59A0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06A3167-F4C9-4ECB-9BC1-76C3CA28650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95544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493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9F00895E-EA45-49C4-A7F7-23EE9BC73F3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95544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493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184658E6-BADA-4834-950F-3B88061ECD2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2735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457200" y="187560"/>
            <a:ext cx="955440" cy="50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695C572-6C54-443E-8465-46A6A10D7FD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95544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493" lnSpcReduction="2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E48977-57FE-4FAF-A1A3-4998A1B1D5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6620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8748" lnSpcReduction="1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947160" y="1203480"/>
            <a:ext cx="46620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8748" lnSpcReduction="10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C4D3F59C-3894-4BA5-B9D0-54FE6ED52AB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4EE0AF1-011B-47A2-A135-A417A9D6A6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E493C6A-53A3-4655-84F0-1EDD4AB5EFA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B576932F-33EF-4BE6-B4E9-7B91891062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3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4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6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7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8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9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0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.jpeg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2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3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0;p2"/>
          <p:cNvPicPr/>
          <p:nvPr/>
        </p:nvPicPr>
        <p:blipFill>
          <a:blip r:embed="rId3"/>
          <a:srcRect l="98" r="98"/>
          <a:stretch/>
        </p:blipFill>
        <p:spPr>
          <a:xfrm>
            <a:off x="-18000" y="-10080"/>
            <a:ext cx="9194400" cy="51818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44640" y="1769040"/>
            <a:ext cx="7379280" cy="237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5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ru-RU" sz="3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E7C07AD-C1D2-4E84-B3BE-8753F28BE9F7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9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5040A6-2B06-4BA5-8E24-1D2B74FBFD9C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500400" y="821160"/>
            <a:ext cx="8520120" cy="198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33D8C9-C85D-4583-AB40-34218903AE77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" name="Google Shape;31;p7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ru-RU" sz="4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8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rgbClr val="F3F3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120" y="122076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7018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AA6C68-0E1E-4235-AD91-5F420088A33C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24360" y="181080"/>
            <a:ext cx="8494920" cy="85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ftr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4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lang="ru-RU" sz="10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4D53B7-54B0-4F75-BE03-7970EAF0CDC7}" type="slidenum">
              <a:rPr lang="ru-RU" sz="10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375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24440" y="15789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5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75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5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75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5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5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5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ft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dt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4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lang="ru-RU" sz="10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FC291A-3C47-4504-83F4-CEAB60A8E9F9}" type="slidenum">
              <a:rPr lang="ru-RU" sz="10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30;p32"/>
          <p:cNvPicPr/>
          <p:nvPr/>
        </p:nvPicPr>
        <p:blipFill>
          <a:blip r:embed="rId4"/>
          <a:srcRect l="98" r="98"/>
          <a:stretch/>
        </p:blipFill>
        <p:spPr>
          <a:xfrm>
            <a:off x="-18000" y="-10080"/>
            <a:ext cx="9194400" cy="518184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44640" y="1769040"/>
            <a:ext cx="7379280" cy="237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5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4" name="Google Shape;169;p42"/>
          <p:cNvSpPr/>
          <p:nvPr/>
        </p:nvSpPr>
        <p:spPr>
          <a:xfrm>
            <a:off x="590400" y="1365120"/>
            <a:ext cx="7988040" cy="341208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6" name="Google Shape;173;p43"/>
          <p:cNvSpPr/>
          <p:nvPr/>
        </p:nvSpPr>
        <p:spPr>
          <a:xfrm>
            <a:off x="590400" y="1365120"/>
            <a:ext cx="7988040" cy="34120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8" name="Google Shape;178;p44"/>
          <p:cNvSpPr/>
          <p:nvPr/>
        </p:nvSpPr>
        <p:spPr>
          <a:xfrm>
            <a:off x="606240" y="2144160"/>
            <a:ext cx="7938360" cy="246420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0" name="Google Shape;182;p45"/>
          <p:cNvSpPr/>
          <p:nvPr/>
        </p:nvSpPr>
        <p:spPr>
          <a:xfrm>
            <a:off x="362160" y="1384200"/>
            <a:ext cx="4748400" cy="339300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ru-RU" sz="3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F6BD2DF-C932-49D3-A480-E3C3FE09B4E1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0400" y="142632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211C3D-EF68-4129-9815-6AD0A34B1D6A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872CB7-047D-41A2-8C4B-669590845ED9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500400" y="821160"/>
            <a:ext cx="8520120" cy="198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56BB10-3566-4CE8-9B28-F013E2D8033B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5" name="Google Shape;151;p37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ru-RU" sz="4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58;p3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rgbClr val="F3F3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120" y="122076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7018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DBF510-5A58-47B8-B878-08F0F3486DD6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C4E856-028F-4D53-9E46-F266650B1640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ppt-online.org/719481" TargetMode="External"/><Relationship Id="rId3" Type="http://schemas.openxmlformats.org/officeDocument/2006/relationships/hyperlink" Target="https://github.com/esokolov/ml-course-hse/blob/master/2021-fall/lecture-notes/lecture05-linclass.pdf" TargetMode="External"/><Relationship Id="rId7" Type="http://schemas.openxmlformats.org/officeDocument/2006/relationships/hyperlink" Target="https://habr.com/ru/company/ods/blog/328372/" TargetMode="External"/><Relationship Id="rId2" Type="http://schemas.openxmlformats.org/officeDocument/2006/relationships/hyperlink" Target="https://habr.com/ru/company/ods/blog/323890/#2-logisticheskaya-regressiya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youtu.be/9q7Am6ZMrvs?t=1021" TargetMode="External"/><Relationship Id="rId5" Type="http://schemas.openxmlformats.org/officeDocument/2006/relationships/hyperlink" Target="https://youtu.be/v6PPG8J_Egs" TargetMode="External"/><Relationship Id="rId4" Type="http://schemas.openxmlformats.org/officeDocument/2006/relationships/hyperlink" Target="https://alexanderdyakonov.wordpress.com/2017/07/28/auc-roc-&#1087;&#1083;&#1086;&#1097;&#1072;&#1076;&#1100;-&#1087;&#1086;&#1076;-&#1082;&#1088;&#1080;&#1074;&#1086;&#1081;-&#1086;&#1096;&#1080;&#1073;&#1086;&#1082;/" TargetMode="External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ubTitle"/>
          </p:nvPr>
        </p:nvSpPr>
        <p:spPr>
          <a:xfrm>
            <a:off x="944640" y="4350600"/>
            <a:ext cx="8292960" cy="48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00" b="1" strike="noStrike" spc="-1">
                <a:solidFill>
                  <a:schemeClr val="lt1"/>
                </a:solidFill>
                <a:latin typeface="Roboto"/>
                <a:ea typeface="Roboto"/>
              </a:rPr>
              <a:t>otus.ru</a:t>
            </a: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944640" y="1769040"/>
            <a:ext cx="7379280" cy="237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5600" b="1" strike="noStrike" spc="-1" dirty="0" err="1">
                <a:solidFill>
                  <a:schemeClr val="lt1"/>
                </a:solidFill>
                <a:latin typeface="Roboto"/>
                <a:ea typeface="Roboto"/>
              </a:rPr>
              <a:t>M</a:t>
            </a:r>
            <a:r>
              <a:rPr lang="en-US" sz="5600" b="1" strike="noStrike" spc="-1" dirty="0">
                <a:solidFill>
                  <a:schemeClr val="lt1"/>
                </a:solidFill>
                <a:latin typeface="Roboto"/>
                <a:ea typeface="Roboto"/>
              </a:rPr>
              <a:t>L Basic</a:t>
            </a:r>
            <a:endParaRPr lang="ru-RU" sz="56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strike="noStrike" spc="-1" dirty="0" err="1">
                <a:solidFill>
                  <a:schemeClr val="lt1"/>
                </a:solidFill>
                <a:latin typeface="Roboto"/>
                <a:ea typeface="Roboto"/>
              </a:rPr>
              <a:t>Л</a:t>
            </a:r>
            <a:r>
              <a:rPr lang="ru-RU" sz="2800" b="1" strike="noStrike" spc="-1" dirty="0" err="1">
                <a:solidFill>
                  <a:schemeClr val="lt1"/>
                </a:solidFill>
                <a:latin typeface="Roboto"/>
                <a:ea typeface="Roboto"/>
              </a:rPr>
              <a:t>огистическая</a:t>
            </a:r>
            <a:r>
              <a:rPr lang="ru-RU" sz="2800" b="1" strike="noStrike" spc="-1" dirty="0">
                <a:solidFill>
                  <a:schemeClr val="lt1"/>
                </a:solidFill>
                <a:latin typeface="Roboto"/>
                <a:ea typeface="Roboto"/>
              </a:rPr>
              <a:t> </a:t>
            </a:r>
            <a:r>
              <a:rPr lang="ru" sz="2800" b="1" strike="noStrike" spc="-1" dirty="0">
                <a:solidFill>
                  <a:schemeClr val="lt1"/>
                </a:solidFill>
                <a:latin typeface="Roboto"/>
                <a:ea typeface="Roboto"/>
              </a:rPr>
              <a:t>регрессия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635840" y="772200"/>
            <a:ext cx="7935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100" b="1" strike="noStrike" spc="-1">
                <a:solidFill>
                  <a:schemeClr val="dk1"/>
                </a:solidFill>
                <a:latin typeface="Roboto"/>
                <a:ea typeface="Roboto"/>
              </a:rPr>
              <a:t>Проверить, идет ли запись</a:t>
            </a:r>
            <a:endParaRPr lang="ru-RU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766800" y="1805040"/>
            <a:ext cx="7935120" cy="129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1" strike="noStrike" spc="-1">
                <a:solidFill>
                  <a:schemeClr val="dk1"/>
                </a:solidFill>
                <a:latin typeface="Roboto"/>
                <a:ea typeface="Roboto"/>
              </a:rPr>
              <a:t>Меня хорошо видно</a:t>
            </a:r>
            <a:endParaRPr lang="ru-RU" sz="4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1" strike="noStrike" spc="-1">
                <a:solidFill>
                  <a:schemeClr val="dk1"/>
                </a:solidFill>
                <a:latin typeface="Roboto"/>
                <a:ea typeface="Roboto"/>
              </a:rPr>
              <a:t>&amp;&amp; слышно?</a:t>
            </a:r>
            <a:endParaRPr lang="ru-RU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Google Shape;197;p47"/>
          <p:cNvPicPr/>
          <p:nvPr/>
        </p:nvPicPr>
        <p:blipFill>
          <a:blip r:embed="rId2"/>
          <a:srcRect l="98" r="98"/>
          <a:stretch/>
        </p:blipFill>
        <p:spPr>
          <a:xfrm>
            <a:off x="880920" y="1032480"/>
            <a:ext cx="641880" cy="320760"/>
          </a:xfrm>
          <a:prstGeom prst="rect">
            <a:avLst/>
          </a:prstGeom>
          <a:ln w="0">
            <a:noFill/>
          </a:ln>
        </p:spPr>
      </p:pic>
      <p:pic>
        <p:nvPicPr>
          <p:cNvPr id="86" name="Google Shape;198;p47"/>
          <p:cNvPicPr/>
          <p:nvPr/>
        </p:nvPicPr>
        <p:blipFill>
          <a:blip r:embed="rId3"/>
          <a:stretch/>
        </p:blipFill>
        <p:spPr>
          <a:xfrm>
            <a:off x="872280" y="3520080"/>
            <a:ext cx="525240" cy="525240"/>
          </a:xfrm>
          <a:prstGeom prst="rect">
            <a:avLst/>
          </a:prstGeom>
          <a:ln w="0">
            <a:noFill/>
          </a:ln>
        </p:spPr>
      </p:pic>
      <p:sp>
        <p:nvSpPr>
          <p:cNvPr id="87" name="Google Shape;199;p47"/>
          <p:cNvSpPr/>
          <p:nvPr/>
        </p:nvSpPr>
        <p:spPr>
          <a:xfrm>
            <a:off x="1514160" y="3459600"/>
            <a:ext cx="29995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chemeClr val="dk1"/>
                </a:solidFill>
                <a:latin typeface="Roboto"/>
                <a:ea typeface="Roboto"/>
              </a:rPr>
              <a:t>Ставим “+”, если все хорошо</a:t>
            </a:r>
            <a:br>
              <a:rPr sz="1500"/>
            </a:br>
            <a:r>
              <a:rPr lang="ru" sz="1500" b="0" strike="noStrike" spc="-1">
                <a:solidFill>
                  <a:schemeClr val="dk1"/>
                </a:solidFill>
                <a:latin typeface="Roboto"/>
                <a:ea typeface="Roboto"/>
              </a:rPr>
              <a:t>“-”, если есть проблемы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b="1" strike="noStrike" spc="-1" dirty="0">
                <a:solidFill>
                  <a:schemeClr val="dk1"/>
                </a:solidFill>
                <a:latin typeface="Roboto"/>
                <a:ea typeface="Roboto"/>
              </a:rPr>
              <a:t>Логистическая регрессия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DA211B5-D839-2D46-A709-5E6E9DC808C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425575" indent="-1417638"/>
            <a:r>
              <a:rPr lang="ru-RU" sz="1150" b="1" dirty="0"/>
              <a:t>Руководитель курсов</a:t>
            </a:r>
            <a:r>
              <a:rPr lang="ru-RU" sz="1150" b="1"/>
              <a:t>: </a:t>
            </a:r>
            <a:r>
              <a:rPr lang="en-US" sz="1150" b="1"/>
              <a:t>Reinforcement </a:t>
            </a:r>
            <a:r>
              <a:rPr lang="en-US" sz="1150" b="1" dirty="0"/>
              <a:t>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Правила вебинара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oogle Shape;215;p49"/>
          <p:cNvPicPr/>
          <p:nvPr/>
        </p:nvPicPr>
        <p:blipFill>
          <a:blip r:embed="rId2"/>
          <a:stretch/>
        </p:blipFill>
        <p:spPr>
          <a:xfrm>
            <a:off x="837720" y="395136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216;p49"/>
          <p:cNvPicPr/>
          <p:nvPr/>
        </p:nvPicPr>
        <p:blipFill>
          <a:blip r:embed="rId3"/>
          <a:stretch/>
        </p:blipFill>
        <p:spPr>
          <a:xfrm>
            <a:off x="837720" y="128160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8" name="Google Shape;217;p49"/>
          <p:cNvPicPr/>
          <p:nvPr/>
        </p:nvPicPr>
        <p:blipFill>
          <a:blip r:embed="rId4"/>
          <a:stretch/>
        </p:blipFill>
        <p:spPr>
          <a:xfrm>
            <a:off x="837720" y="306144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9" name="Google Shape;218;p49"/>
          <p:cNvPicPr/>
          <p:nvPr/>
        </p:nvPicPr>
        <p:blipFill>
          <a:blip r:embed="rId5"/>
          <a:stretch/>
        </p:blipFill>
        <p:spPr>
          <a:xfrm>
            <a:off x="837720" y="2171520"/>
            <a:ext cx="692280" cy="69228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219;p49"/>
          <p:cNvSpPr/>
          <p:nvPr/>
        </p:nvSpPr>
        <p:spPr>
          <a:xfrm>
            <a:off x="1654560" y="1252080"/>
            <a:ext cx="2475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Активно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участвуем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220;p49"/>
          <p:cNvSpPr/>
          <p:nvPr/>
        </p:nvSpPr>
        <p:spPr>
          <a:xfrm>
            <a:off x="1654560" y="3066480"/>
            <a:ext cx="3230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Задаем вопрос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 чат или голосом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221;p49"/>
          <p:cNvSpPr/>
          <p:nvPr/>
        </p:nvSpPr>
        <p:spPr>
          <a:xfrm>
            <a:off x="1654560" y="3975120"/>
            <a:ext cx="3230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Вопросы вижу в чате,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могу ответить не сразу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222;p49"/>
          <p:cNvSpPr/>
          <p:nvPr/>
        </p:nvSpPr>
        <p:spPr>
          <a:xfrm>
            <a:off x="1654560" y="2194560"/>
            <a:ext cx="2475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Off-topic обсуждаем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 учебной группе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Маршрут вебинара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251;p56"/>
          <p:cNvSpPr/>
          <p:nvPr/>
        </p:nvSpPr>
        <p:spPr>
          <a:xfrm>
            <a:off x="786600" y="1205640"/>
            <a:ext cx="3974040" cy="37584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3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Линейный классификатор</a:t>
            </a:r>
            <a:endParaRPr lang="ru-RU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252;p56"/>
          <p:cNvSpPr/>
          <p:nvPr/>
        </p:nvSpPr>
        <p:spPr>
          <a:xfrm>
            <a:off x="786960" y="1943280"/>
            <a:ext cx="3974040" cy="37584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300" spc="-1" dirty="0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lang="ru-RU" sz="13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огистическая регрессия</a:t>
            </a:r>
            <a:endParaRPr lang="ru-RU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253;p56"/>
          <p:cNvSpPr/>
          <p:nvPr/>
        </p:nvSpPr>
        <p:spPr>
          <a:xfrm>
            <a:off x="786960" y="2680920"/>
            <a:ext cx="3974040" cy="37584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300" spc="-1" dirty="0">
                <a:solidFill>
                  <a:schemeClr val="dk1"/>
                </a:solidFill>
                <a:latin typeface="Roboto"/>
                <a:ea typeface="Roboto"/>
              </a:rPr>
              <a:t>Функция потерь: </a:t>
            </a:r>
            <a:r>
              <a:rPr lang="en-US" sz="1300" spc="-1" dirty="0">
                <a:solidFill>
                  <a:schemeClr val="dk1"/>
                </a:solidFill>
                <a:latin typeface="Roboto"/>
                <a:ea typeface="Roboto"/>
              </a:rPr>
              <a:t>l</a:t>
            </a:r>
            <a:r>
              <a:rPr lang="en-US" sz="1300" b="0" strike="noStrike" spc="-1" dirty="0">
                <a:solidFill>
                  <a:schemeClr val="dk1"/>
                </a:solidFill>
                <a:latin typeface="Roboto"/>
                <a:ea typeface="Roboto"/>
              </a:rPr>
              <a:t>ogistic loss</a:t>
            </a:r>
            <a:endParaRPr lang="ru-RU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254;p56"/>
          <p:cNvSpPr/>
          <p:nvPr/>
        </p:nvSpPr>
        <p:spPr>
          <a:xfrm>
            <a:off x="786600" y="3418560"/>
            <a:ext cx="3974040" cy="37584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300" spc="-1" dirty="0">
                <a:solidFill>
                  <a:schemeClr val="dk1"/>
                </a:solidFill>
                <a:latin typeface="Roboto"/>
                <a:ea typeface="Roboto"/>
              </a:rPr>
              <a:t>М</a:t>
            </a:r>
            <a:r>
              <a:rPr lang="ru-RU" sz="1300" b="0" strike="noStrike" spc="-1" dirty="0">
                <a:solidFill>
                  <a:schemeClr val="dk1"/>
                </a:solidFill>
                <a:latin typeface="Roboto"/>
                <a:ea typeface="Roboto"/>
              </a:rPr>
              <a:t>етрики качества</a:t>
            </a:r>
            <a:endParaRPr lang="ru-RU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256;p56"/>
          <p:cNvSpPr/>
          <p:nvPr/>
        </p:nvSpPr>
        <p:spPr>
          <a:xfrm>
            <a:off x="786600" y="4156200"/>
            <a:ext cx="3974040" cy="37584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300" spc="-1" dirty="0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lang="ru" sz="13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рактика</a:t>
            </a:r>
            <a:endParaRPr lang="ru-RU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" name="Google Shape;257;p56"/>
          <p:cNvCxnSpPr>
            <a:stCxn id="105" idx="1"/>
            <a:endCxn id="106" idx="1"/>
          </p:cNvCxnSpPr>
          <p:nvPr/>
        </p:nvCxnSpPr>
        <p:spPr>
          <a:xfrm rot="10800000" flipH="1" flipV="1">
            <a:off x="786600" y="1393560"/>
            <a:ext cx="360" cy="737640"/>
          </a:xfrm>
          <a:prstGeom prst="curvedConnector3">
            <a:avLst>
              <a:gd name="adj1" fmla="val -63500000"/>
            </a:avLst>
          </a:prstGeom>
          <a:ln w="9525">
            <a:solidFill>
              <a:srgbClr val="000000"/>
            </a:solidFill>
            <a:prstDash val="dash"/>
            <a:round/>
          </a:ln>
        </p:spPr>
      </p:cxnSp>
      <p:cxnSp>
        <p:nvCxnSpPr>
          <p:cNvPr id="111" name="Google Shape;258;p56"/>
          <p:cNvCxnSpPr>
            <a:stCxn id="106" idx="1"/>
            <a:endCxn id="107" idx="1"/>
          </p:cNvCxnSpPr>
          <p:nvPr/>
        </p:nvCxnSpPr>
        <p:spPr>
          <a:xfrm rot="10800000" flipV="1">
            <a:off x="786960" y="2131200"/>
            <a:ext cx="12700" cy="737640"/>
          </a:xfrm>
          <a:prstGeom prst="curvedConnector3">
            <a:avLst>
              <a:gd name="adj1" fmla="val 1800000"/>
            </a:avLst>
          </a:prstGeom>
          <a:ln w="9525">
            <a:solidFill>
              <a:srgbClr val="000000"/>
            </a:solidFill>
            <a:prstDash val="dash"/>
            <a:round/>
          </a:ln>
        </p:spPr>
      </p:cxnSp>
      <p:cxnSp>
        <p:nvCxnSpPr>
          <p:cNvPr id="112" name="Google Shape;259;p56"/>
          <p:cNvCxnSpPr>
            <a:stCxn id="107" idx="1"/>
            <a:endCxn id="108" idx="1"/>
          </p:cNvCxnSpPr>
          <p:nvPr/>
        </p:nvCxnSpPr>
        <p:spPr>
          <a:xfrm rot="10800000" flipV="1">
            <a:off x="786600" y="2868840"/>
            <a:ext cx="360" cy="737640"/>
          </a:xfrm>
          <a:prstGeom prst="curvedConnector3">
            <a:avLst>
              <a:gd name="adj1" fmla="val 63600000"/>
            </a:avLst>
          </a:prstGeom>
          <a:ln w="9525">
            <a:solidFill>
              <a:srgbClr val="000000"/>
            </a:solidFill>
            <a:prstDash val="dash"/>
            <a:round/>
          </a:ln>
        </p:spPr>
      </p:cxnSp>
      <p:cxnSp>
        <p:nvCxnSpPr>
          <p:cNvPr id="113" name="Google Shape;261;p56"/>
          <p:cNvCxnSpPr>
            <a:cxnSpLocks/>
            <a:stCxn id="108" idx="1"/>
            <a:endCxn id="109" idx="1"/>
          </p:cNvCxnSpPr>
          <p:nvPr/>
        </p:nvCxnSpPr>
        <p:spPr>
          <a:xfrm rot="10800000" flipV="1">
            <a:off x="786600" y="3606480"/>
            <a:ext cx="12700" cy="737640"/>
          </a:xfrm>
          <a:prstGeom prst="curvedConnector3">
            <a:avLst>
              <a:gd name="adj1" fmla="val 1800000"/>
            </a:avLst>
          </a:prstGeom>
          <a:ln w="9525">
            <a:solidFill>
              <a:srgbClr val="000000"/>
            </a:solidFill>
            <a:prstDash val="dash"/>
            <a:round/>
          </a:ln>
        </p:spPr>
      </p:cxnSp>
      <p:pic>
        <p:nvPicPr>
          <p:cNvPr id="20" name="Picture 2" descr="What is a sigmoid function in neural networks? - Quora">
            <a:extLst>
              <a:ext uri="{FF2B5EF4-FFF2-40B4-BE49-F238E27FC236}">
                <a16:creationId xmlns:a16="http://schemas.microsoft.com/office/drawing/2014/main" id="{4D7B3639-8653-BD45-A005-91B9D90C695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59400" y="1624680"/>
            <a:ext cx="3317760" cy="2488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Цели вебинара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5" name="Google Shape;267;p57"/>
          <p:cNvGraphicFramePr/>
          <p:nvPr>
            <p:extLst>
              <p:ext uri="{D42A27DB-BD31-4B8C-83A1-F6EECF244321}">
                <p14:modId xmlns:p14="http://schemas.microsoft.com/office/powerpoint/2010/main" val="570847855"/>
              </p:ext>
            </p:extLst>
          </p:nvPr>
        </p:nvGraphicFramePr>
        <p:xfrm>
          <a:off x="952560" y="1696680"/>
          <a:ext cx="7238520" cy="908496"/>
        </p:xfrm>
        <a:graphic>
          <a:graphicData uri="http://schemas.openxmlformats.org/drawingml/2006/table">
            <a:tbl>
              <a:tblPr/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1" strike="noStrike" spc="-1">
                          <a:solidFill>
                            <a:srgbClr val="FF9900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-RU" sz="1300" b="0" strike="noStrike" spc="-1" dirty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Познакомитесь с логистической регрессией</a:t>
                      </a:r>
                      <a:endParaRPr lang="ru-RU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1" strike="noStrike" spc="-1">
                          <a:solidFill>
                            <a:srgbClr val="FF9900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-RU" sz="1300" b="0" strike="noStrike" spc="-1" dirty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Узнаете об особенностях и применении данной модели</a:t>
                      </a:r>
                      <a:endParaRPr lang="ru-RU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1" strike="noStrike" spc="-1">
                          <a:solidFill>
                            <a:srgbClr val="FF9900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-RU" sz="1300" b="0" strike="noStrike" spc="-1" dirty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Разберетесь в основных метриках качества для задачи классификации</a:t>
                      </a:r>
                      <a:endParaRPr lang="ru-RU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" name="PlaceHolder 2"/>
          <p:cNvSpPr>
            <a:spLocks noGrp="1"/>
          </p:cNvSpPr>
          <p:nvPr>
            <p:ph type="subTitle"/>
          </p:nvPr>
        </p:nvSpPr>
        <p:spPr>
          <a:xfrm>
            <a:off x="500400" y="857520"/>
            <a:ext cx="7796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ru" sz="1500" b="1" strike="noStrike" spc="-1">
                <a:solidFill>
                  <a:srgbClr val="FF9900"/>
                </a:solidFill>
                <a:latin typeface="Roboto"/>
                <a:ea typeface="Roboto"/>
              </a:rPr>
              <a:t>К концу занятия вы 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7" name="Таблица 1"/>
          <p:cNvGraphicFramePr/>
          <p:nvPr>
            <p:extLst>
              <p:ext uri="{D42A27DB-BD31-4B8C-83A1-F6EECF244321}">
                <p14:modId xmlns:p14="http://schemas.microsoft.com/office/powerpoint/2010/main" val="4179010810"/>
              </p:ext>
            </p:extLst>
          </p:nvPr>
        </p:nvGraphicFramePr>
        <p:xfrm>
          <a:off x="952560" y="2605176"/>
          <a:ext cx="7238520" cy="302832"/>
        </p:xfrm>
        <a:graphic>
          <a:graphicData uri="http://schemas.openxmlformats.org/drawingml/2006/table">
            <a:tbl>
              <a:tblPr/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1" strike="noStrike" spc="-1">
                          <a:solidFill>
                            <a:srgbClr val="FF9900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-RU" sz="1300" b="0" strike="noStrike" spc="-1" dirty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Научитесь реализовывать логистическую регрессию на практике</a:t>
                      </a:r>
                      <a:endParaRPr lang="ru-RU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Смысл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9" name="Google Shape;274;p58"/>
          <p:cNvGraphicFramePr/>
          <p:nvPr>
            <p:extLst>
              <p:ext uri="{D42A27DB-BD31-4B8C-83A1-F6EECF244321}">
                <p14:modId xmlns:p14="http://schemas.microsoft.com/office/powerpoint/2010/main" val="826689375"/>
              </p:ext>
            </p:extLst>
          </p:nvPr>
        </p:nvGraphicFramePr>
        <p:xfrm>
          <a:off x="952560" y="1544040"/>
          <a:ext cx="7238520" cy="1061340"/>
        </p:xfrm>
        <a:graphic>
          <a:graphicData uri="http://schemas.openxmlformats.org/drawingml/2006/table">
            <a:tbl>
              <a:tblPr/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1" strike="noStrike" spc="-1">
                          <a:solidFill>
                            <a:srgbClr val="FF9900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-RU" sz="1300" b="0" strike="noStrike" spc="-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Л</a:t>
                      </a:r>
                      <a:r>
                        <a:rPr lang="ru" sz="1300" b="0" strike="noStrike" spc="-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огистическая регрессия – базовая модель в задаче классификации</a:t>
                      </a:r>
                      <a:endParaRPr lang="ru-RU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1" strike="noStrike" spc="-1">
                          <a:solidFill>
                            <a:srgbClr val="FF9900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-RU" sz="1300" b="0" strike="noStrike" spc="-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М</a:t>
                      </a:r>
                      <a:r>
                        <a:rPr lang="ru" sz="1300" b="0" strike="noStrike" spc="-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етрики качества в задачах классификации используются для оценки моделей во всех сферах 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Data Science, </a:t>
                      </a:r>
                      <a:r>
                        <a:rPr lang="ru-RU" sz="1300" b="0" strike="noStrike" spc="-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от классических до задач связанных с 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LLM </a:t>
                      </a:r>
                      <a:r>
                        <a:rPr lang="ru-RU" sz="1300" b="0" strike="noStrike" spc="-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и диффузионными моделями</a:t>
                      </a:r>
                      <a:endParaRPr lang="ru-RU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500400" y="857520"/>
            <a:ext cx="7796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ru" sz="1500" b="1" strike="noStrike" spc="-1">
                <a:solidFill>
                  <a:srgbClr val="FF9900"/>
                </a:solidFill>
                <a:latin typeface="Roboto"/>
                <a:ea typeface="Roboto"/>
              </a:rPr>
              <a:t>Зачем вам это уметь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Задачи машинного обучения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object 3"/>
          <p:cNvPicPr/>
          <p:nvPr/>
        </p:nvPicPr>
        <p:blipFill>
          <a:blip r:embed="rId2"/>
          <a:stretch/>
        </p:blipFill>
        <p:spPr>
          <a:xfrm>
            <a:off x="6275880" y="1416600"/>
            <a:ext cx="1606680" cy="1388520"/>
          </a:xfrm>
          <a:prstGeom prst="rect">
            <a:avLst/>
          </a:prstGeom>
          <a:ln w="0">
            <a:noFill/>
          </a:ln>
        </p:spPr>
      </p:pic>
      <p:pic>
        <p:nvPicPr>
          <p:cNvPr id="123" name="object 4"/>
          <p:cNvPicPr/>
          <p:nvPr/>
        </p:nvPicPr>
        <p:blipFill>
          <a:blip r:embed="rId3"/>
          <a:stretch/>
        </p:blipFill>
        <p:spPr>
          <a:xfrm>
            <a:off x="1263600" y="1494360"/>
            <a:ext cx="1988640" cy="1325520"/>
          </a:xfrm>
          <a:prstGeom prst="rect">
            <a:avLst/>
          </a:prstGeom>
          <a:ln w="0">
            <a:noFill/>
          </a:ln>
        </p:spPr>
      </p:pic>
      <p:sp>
        <p:nvSpPr>
          <p:cNvPr id="124" name="object 5"/>
          <p:cNvSpPr/>
          <p:nvPr/>
        </p:nvSpPr>
        <p:spPr>
          <a:xfrm>
            <a:off x="4764240" y="3497040"/>
            <a:ext cx="136116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60" rIns="0" bIns="0" anchor="t">
            <a:spAutoFit/>
          </a:bodyPr>
          <a:lstStyle/>
          <a:p>
            <a:pPr marL="9360">
              <a:lnSpc>
                <a:spcPct val="100000"/>
              </a:lnSpc>
              <a:spcBef>
                <a:spcPts val="74"/>
              </a:spcBef>
            </a:pPr>
            <a:r>
              <a:rPr lang="ru-RU" sz="1500" b="0" strike="noStrike" spc="-15">
                <a:solidFill>
                  <a:srgbClr val="000000"/>
                </a:solidFill>
                <a:latin typeface="Microsoft Sans Serif"/>
                <a:ea typeface="Arial"/>
              </a:rPr>
              <a:t>Кластеризация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object 6"/>
          <p:cNvSpPr/>
          <p:nvPr/>
        </p:nvSpPr>
        <p:spPr>
          <a:xfrm>
            <a:off x="1309320" y="2907000"/>
            <a:ext cx="674640" cy="535320"/>
          </a:xfrm>
          <a:custGeom>
            <a:avLst/>
            <a:gdLst>
              <a:gd name="textAreaLeft" fmla="*/ 0 w 674640"/>
              <a:gd name="textAreaRight" fmla="*/ 675000 w 674640"/>
              <a:gd name="textAreaTop" fmla="*/ 0 h 535320"/>
              <a:gd name="textAreaBottom" fmla="*/ 535680 h 535320"/>
            </a:gdLst>
            <a:ahLst/>
            <a:cxnLst/>
            <a:rect l="textAreaLeft" t="textAreaTop" r="textAreaRight" b="textAreaBottom"/>
            <a:pathLst>
              <a:path w="899794" h="714375">
                <a:moveTo>
                  <a:pt x="36068" y="636905"/>
                </a:moveTo>
                <a:lnTo>
                  <a:pt x="0" y="714121"/>
                </a:lnTo>
                <a:lnTo>
                  <a:pt x="83438" y="696594"/>
                </a:lnTo>
                <a:lnTo>
                  <a:pt x="70034" y="679704"/>
                </a:lnTo>
                <a:lnTo>
                  <a:pt x="53720" y="679704"/>
                </a:lnTo>
                <a:lnTo>
                  <a:pt x="45846" y="669671"/>
                </a:lnTo>
                <a:lnTo>
                  <a:pt x="55811" y="661782"/>
                </a:lnTo>
                <a:lnTo>
                  <a:pt x="36068" y="636905"/>
                </a:lnTo>
                <a:close/>
              </a:path>
              <a:path w="899794" h="714375">
                <a:moveTo>
                  <a:pt x="55811" y="661782"/>
                </a:moveTo>
                <a:lnTo>
                  <a:pt x="45846" y="669671"/>
                </a:lnTo>
                <a:lnTo>
                  <a:pt x="53720" y="679704"/>
                </a:lnTo>
                <a:lnTo>
                  <a:pt x="63739" y="671771"/>
                </a:lnTo>
                <a:lnTo>
                  <a:pt x="55811" y="661782"/>
                </a:lnTo>
                <a:close/>
              </a:path>
              <a:path w="899794" h="714375">
                <a:moveTo>
                  <a:pt x="63739" y="671771"/>
                </a:moveTo>
                <a:lnTo>
                  <a:pt x="53720" y="679704"/>
                </a:lnTo>
                <a:lnTo>
                  <a:pt x="70034" y="679704"/>
                </a:lnTo>
                <a:lnTo>
                  <a:pt x="63739" y="671771"/>
                </a:lnTo>
                <a:close/>
              </a:path>
              <a:path w="899794" h="714375">
                <a:moveTo>
                  <a:pt x="891794" y="0"/>
                </a:moveTo>
                <a:lnTo>
                  <a:pt x="55811" y="661782"/>
                </a:lnTo>
                <a:lnTo>
                  <a:pt x="63739" y="671771"/>
                </a:lnTo>
                <a:lnTo>
                  <a:pt x="899668" y="9906"/>
                </a:lnTo>
                <a:lnTo>
                  <a:pt x="891794" y="0"/>
                </a:lnTo>
                <a:close/>
              </a:path>
            </a:pathLst>
          </a:custGeom>
          <a:solidFill>
            <a:srgbClr val="3E6D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0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6" name="object 7"/>
          <p:cNvSpPr/>
          <p:nvPr/>
        </p:nvSpPr>
        <p:spPr>
          <a:xfrm>
            <a:off x="2414880" y="2907360"/>
            <a:ext cx="555840" cy="534960"/>
          </a:xfrm>
          <a:custGeom>
            <a:avLst/>
            <a:gdLst>
              <a:gd name="textAreaLeft" fmla="*/ 0 w 555840"/>
              <a:gd name="textAreaRight" fmla="*/ 556200 w 555840"/>
              <a:gd name="textAreaTop" fmla="*/ 0 h 534960"/>
              <a:gd name="textAreaBottom" fmla="*/ 535320 h 534960"/>
            </a:gdLst>
            <a:ahLst/>
            <a:cxnLst/>
            <a:rect l="textAreaLeft" t="textAreaTop" r="textAreaRight" b="textAreaBottom"/>
            <a:pathLst>
              <a:path w="741679" h="713739">
                <a:moveTo>
                  <a:pt x="682256" y="665458"/>
                </a:moveTo>
                <a:lnTo>
                  <a:pt x="660273" y="688339"/>
                </a:lnTo>
                <a:lnTo>
                  <a:pt x="741552" y="713739"/>
                </a:lnTo>
                <a:lnTo>
                  <a:pt x="727576" y="674242"/>
                </a:lnTo>
                <a:lnTo>
                  <a:pt x="691388" y="674242"/>
                </a:lnTo>
                <a:lnTo>
                  <a:pt x="682256" y="665458"/>
                </a:lnTo>
                <a:close/>
              </a:path>
              <a:path w="741679" h="713739">
                <a:moveTo>
                  <a:pt x="691031" y="656324"/>
                </a:moveTo>
                <a:lnTo>
                  <a:pt x="682256" y="665458"/>
                </a:lnTo>
                <a:lnTo>
                  <a:pt x="691388" y="674242"/>
                </a:lnTo>
                <a:lnTo>
                  <a:pt x="700151" y="665098"/>
                </a:lnTo>
                <a:lnTo>
                  <a:pt x="691031" y="656324"/>
                </a:lnTo>
                <a:close/>
              </a:path>
              <a:path w="741679" h="713739">
                <a:moveTo>
                  <a:pt x="713105" y="633348"/>
                </a:moveTo>
                <a:lnTo>
                  <a:pt x="691031" y="656324"/>
                </a:lnTo>
                <a:lnTo>
                  <a:pt x="700151" y="665098"/>
                </a:lnTo>
                <a:lnTo>
                  <a:pt x="691388" y="674242"/>
                </a:lnTo>
                <a:lnTo>
                  <a:pt x="727576" y="674242"/>
                </a:lnTo>
                <a:lnTo>
                  <a:pt x="713105" y="633348"/>
                </a:lnTo>
                <a:close/>
              </a:path>
              <a:path w="741679" h="713739">
                <a:moveTo>
                  <a:pt x="8889" y="0"/>
                </a:moveTo>
                <a:lnTo>
                  <a:pt x="0" y="9143"/>
                </a:lnTo>
                <a:lnTo>
                  <a:pt x="682256" y="665458"/>
                </a:lnTo>
                <a:lnTo>
                  <a:pt x="691031" y="656324"/>
                </a:lnTo>
                <a:lnTo>
                  <a:pt x="8889" y="0"/>
                </a:lnTo>
                <a:close/>
              </a:path>
            </a:pathLst>
          </a:custGeom>
          <a:solidFill>
            <a:srgbClr val="3E6D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0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7" name="object 8"/>
          <p:cNvSpPr/>
          <p:nvPr/>
        </p:nvSpPr>
        <p:spPr>
          <a:xfrm>
            <a:off x="2731320" y="3493080"/>
            <a:ext cx="93600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60" rIns="0" bIns="0" anchor="t">
            <a:spAutoFit/>
          </a:bodyPr>
          <a:lstStyle/>
          <a:p>
            <a:pPr marL="9360">
              <a:lnSpc>
                <a:spcPct val="100000"/>
              </a:lnSpc>
              <a:spcBef>
                <a:spcPts val="74"/>
              </a:spcBef>
            </a:pPr>
            <a:r>
              <a:rPr lang="ru-RU" sz="1500" b="0" strike="noStrike" spc="-4">
                <a:solidFill>
                  <a:srgbClr val="000000"/>
                </a:solidFill>
                <a:latin typeface="Microsoft Sans Serif"/>
                <a:ea typeface="Arial"/>
              </a:rPr>
              <a:t>Регрессия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object 9"/>
          <p:cNvPicPr/>
          <p:nvPr/>
        </p:nvPicPr>
        <p:blipFill>
          <a:blip r:embed="rId4"/>
          <a:stretch/>
        </p:blipFill>
        <p:spPr>
          <a:xfrm>
            <a:off x="216720" y="3804480"/>
            <a:ext cx="933480" cy="820440"/>
          </a:xfrm>
          <a:prstGeom prst="rect">
            <a:avLst/>
          </a:prstGeom>
          <a:ln w="0">
            <a:noFill/>
          </a:ln>
        </p:spPr>
      </p:pic>
      <p:pic>
        <p:nvPicPr>
          <p:cNvPr id="129" name="object 10"/>
          <p:cNvPicPr/>
          <p:nvPr/>
        </p:nvPicPr>
        <p:blipFill>
          <a:blip r:embed="rId5"/>
          <a:stretch/>
        </p:blipFill>
        <p:spPr>
          <a:xfrm>
            <a:off x="1347120" y="3830760"/>
            <a:ext cx="973440" cy="867240"/>
          </a:xfrm>
          <a:prstGeom prst="rect">
            <a:avLst/>
          </a:prstGeom>
          <a:ln w="0">
            <a:noFill/>
          </a:ln>
        </p:spPr>
      </p:pic>
      <p:pic>
        <p:nvPicPr>
          <p:cNvPr id="130" name="object 11"/>
          <p:cNvPicPr/>
          <p:nvPr/>
        </p:nvPicPr>
        <p:blipFill>
          <a:blip r:embed="rId6"/>
          <a:stretch/>
        </p:blipFill>
        <p:spPr>
          <a:xfrm>
            <a:off x="2592000" y="3849120"/>
            <a:ext cx="1321920" cy="880920"/>
          </a:xfrm>
          <a:prstGeom prst="rect">
            <a:avLst/>
          </a:prstGeom>
          <a:ln w="0">
            <a:noFill/>
          </a:ln>
        </p:spPr>
      </p:pic>
      <p:sp>
        <p:nvSpPr>
          <p:cNvPr id="131" name="object 12"/>
          <p:cNvSpPr/>
          <p:nvPr/>
        </p:nvSpPr>
        <p:spPr>
          <a:xfrm>
            <a:off x="5662080" y="2937240"/>
            <a:ext cx="1185840" cy="546480"/>
          </a:xfrm>
          <a:custGeom>
            <a:avLst/>
            <a:gdLst>
              <a:gd name="textAreaLeft" fmla="*/ 0 w 1185840"/>
              <a:gd name="textAreaRight" fmla="*/ 1186200 w 1185840"/>
              <a:gd name="textAreaTop" fmla="*/ 0 h 546480"/>
              <a:gd name="textAreaBottom" fmla="*/ 546840 h 546480"/>
            </a:gdLst>
            <a:ahLst/>
            <a:cxnLst/>
            <a:rect l="textAreaLeft" t="textAreaTop" r="textAreaRight" b="textAreaBottom"/>
            <a:pathLst>
              <a:path w="1581784" h="728979">
                <a:moveTo>
                  <a:pt x="53594" y="659129"/>
                </a:moveTo>
                <a:lnTo>
                  <a:pt x="0" y="725424"/>
                </a:lnTo>
                <a:lnTo>
                  <a:pt x="85089" y="728471"/>
                </a:lnTo>
                <a:lnTo>
                  <a:pt x="74360" y="704850"/>
                </a:lnTo>
                <a:lnTo>
                  <a:pt x="60451" y="704850"/>
                </a:lnTo>
                <a:lnTo>
                  <a:pt x="55118" y="693293"/>
                </a:lnTo>
                <a:lnTo>
                  <a:pt x="66711" y="688009"/>
                </a:lnTo>
                <a:lnTo>
                  <a:pt x="53594" y="659129"/>
                </a:lnTo>
                <a:close/>
              </a:path>
              <a:path w="1581784" h="728979">
                <a:moveTo>
                  <a:pt x="66711" y="688009"/>
                </a:moveTo>
                <a:lnTo>
                  <a:pt x="55118" y="693293"/>
                </a:lnTo>
                <a:lnTo>
                  <a:pt x="60451" y="704850"/>
                </a:lnTo>
                <a:lnTo>
                  <a:pt x="71975" y="699598"/>
                </a:lnTo>
                <a:lnTo>
                  <a:pt x="66711" y="688009"/>
                </a:lnTo>
                <a:close/>
              </a:path>
              <a:path w="1581784" h="728979">
                <a:moveTo>
                  <a:pt x="71975" y="699598"/>
                </a:moveTo>
                <a:lnTo>
                  <a:pt x="60451" y="704850"/>
                </a:lnTo>
                <a:lnTo>
                  <a:pt x="74360" y="704850"/>
                </a:lnTo>
                <a:lnTo>
                  <a:pt x="71975" y="699598"/>
                </a:lnTo>
                <a:close/>
              </a:path>
              <a:path w="1581784" h="728979">
                <a:moveTo>
                  <a:pt x="1576451" y="0"/>
                </a:moveTo>
                <a:lnTo>
                  <a:pt x="66711" y="688009"/>
                </a:lnTo>
                <a:lnTo>
                  <a:pt x="71975" y="699598"/>
                </a:lnTo>
                <a:lnTo>
                  <a:pt x="1581657" y="11556"/>
                </a:lnTo>
                <a:lnTo>
                  <a:pt x="1576451" y="0"/>
                </a:lnTo>
                <a:close/>
              </a:path>
            </a:pathLst>
          </a:custGeom>
          <a:solidFill>
            <a:srgbClr val="3E6D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0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2" name="object 13"/>
          <p:cNvSpPr/>
          <p:nvPr/>
        </p:nvSpPr>
        <p:spPr>
          <a:xfrm>
            <a:off x="7044480" y="2940480"/>
            <a:ext cx="148680" cy="536760"/>
          </a:xfrm>
          <a:custGeom>
            <a:avLst/>
            <a:gdLst>
              <a:gd name="textAreaLeft" fmla="*/ 0 w 148680"/>
              <a:gd name="textAreaRight" fmla="*/ 149040 w 148680"/>
              <a:gd name="textAreaTop" fmla="*/ 0 h 536760"/>
              <a:gd name="textAreaBottom" fmla="*/ 537120 h 536760"/>
            </a:gdLst>
            <a:ahLst/>
            <a:cxnLst/>
            <a:rect l="textAreaLeft" t="textAreaTop" r="textAreaRight" b="textAreaBottom"/>
            <a:pathLst>
              <a:path w="198754" h="716279">
                <a:moveTo>
                  <a:pt x="0" y="632840"/>
                </a:moveTo>
                <a:lnTo>
                  <a:pt x="19050" y="715898"/>
                </a:lnTo>
                <a:lnTo>
                  <a:pt x="69860" y="655700"/>
                </a:lnTo>
                <a:lnTo>
                  <a:pt x="40131" y="655700"/>
                </a:lnTo>
                <a:lnTo>
                  <a:pt x="27812" y="652652"/>
                </a:lnTo>
                <a:lnTo>
                  <a:pt x="30812" y="640293"/>
                </a:lnTo>
                <a:lnTo>
                  <a:pt x="0" y="632840"/>
                </a:lnTo>
                <a:close/>
              </a:path>
              <a:path w="198754" h="716279">
                <a:moveTo>
                  <a:pt x="30812" y="640293"/>
                </a:moveTo>
                <a:lnTo>
                  <a:pt x="27812" y="652652"/>
                </a:lnTo>
                <a:lnTo>
                  <a:pt x="40131" y="655700"/>
                </a:lnTo>
                <a:lnTo>
                  <a:pt x="43146" y="643276"/>
                </a:lnTo>
                <a:lnTo>
                  <a:pt x="30812" y="640293"/>
                </a:lnTo>
                <a:close/>
              </a:path>
              <a:path w="198754" h="716279">
                <a:moveTo>
                  <a:pt x="43146" y="643276"/>
                </a:moveTo>
                <a:lnTo>
                  <a:pt x="40131" y="655700"/>
                </a:lnTo>
                <a:lnTo>
                  <a:pt x="69860" y="655700"/>
                </a:lnTo>
                <a:lnTo>
                  <a:pt x="74041" y="650747"/>
                </a:lnTo>
                <a:lnTo>
                  <a:pt x="43146" y="643276"/>
                </a:lnTo>
                <a:close/>
              </a:path>
              <a:path w="198754" h="716279">
                <a:moveTo>
                  <a:pt x="186181" y="0"/>
                </a:moveTo>
                <a:lnTo>
                  <a:pt x="30812" y="640293"/>
                </a:lnTo>
                <a:lnTo>
                  <a:pt x="43146" y="643276"/>
                </a:lnTo>
                <a:lnTo>
                  <a:pt x="198500" y="3047"/>
                </a:lnTo>
                <a:lnTo>
                  <a:pt x="186181" y="0"/>
                </a:lnTo>
                <a:close/>
              </a:path>
            </a:pathLst>
          </a:custGeom>
          <a:solidFill>
            <a:srgbClr val="3E6D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0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3" name="object 14"/>
          <p:cNvSpPr/>
          <p:nvPr/>
        </p:nvSpPr>
        <p:spPr>
          <a:xfrm>
            <a:off x="6477120" y="3497040"/>
            <a:ext cx="1164240" cy="92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60" rIns="0" bIns="0" anchor="t">
            <a:spAutoFit/>
          </a:bodyPr>
          <a:lstStyle/>
          <a:p>
            <a:pPr marL="9360" indent="97200">
              <a:lnSpc>
                <a:spcPct val="100000"/>
              </a:lnSpc>
              <a:spcBef>
                <a:spcPts val="74"/>
              </a:spcBef>
              <a:tabLst>
                <a:tab pos="0" algn="l"/>
              </a:tabLst>
            </a:pPr>
            <a:r>
              <a:rPr lang="ru-RU" sz="1500" b="0" strike="noStrike" spc="-12">
                <a:solidFill>
                  <a:srgbClr val="000000"/>
                </a:solidFill>
                <a:latin typeface="Microsoft Sans Serif"/>
                <a:ea typeface="Arial"/>
              </a:rPr>
              <a:t>Снижение </a:t>
            </a:r>
            <a:r>
              <a:rPr lang="ru-RU" sz="1500" b="0" strike="noStrike" spc="-9">
                <a:solidFill>
                  <a:srgbClr val="000000"/>
                </a:solidFill>
                <a:latin typeface="Microsoft Sans Serif"/>
                <a:ea typeface="Arial"/>
              </a:rPr>
              <a:t> </a:t>
            </a:r>
            <a:r>
              <a:rPr lang="ru-RU" sz="1500" b="0" strike="noStrike" spc="-1">
                <a:solidFill>
                  <a:srgbClr val="000000"/>
                </a:solidFill>
                <a:latin typeface="Microsoft Sans Serif"/>
                <a:ea typeface="Arial"/>
              </a:rPr>
              <a:t>р</a:t>
            </a:r>
            <a:r>
              <a:rPr lang="ru-RU" sz="1500" b="0" strike="noStrike" spc="-38">
                <a:solidFill>
                  <a:srgbClr val="000000"/>
                </a:solidFill>
                <a:latin typeface="Microsoft Sans Serif"/>
                <a:ea typeface="Arial"/>
              </a:rPr>
              <a:t>а</a:t>
            </a:r>
            <a:r>
              <a:rPr lang="ru-RU" sz="1500" b="0" strike="noStrike" spc="-26">
                <a:solidFill>
                  <a:srgbClr val="000000"/>
                </a:solidFill>
                <a:latin typeface="Microsoft Sans Serif"/>
                <a:ea typeface="Arial"/>
              </a:rPr>
              <a:t>з</a:t>
            </a:r>
            <a:r>
              <a:rPr lang="ru-RU" sz="1500" b="0" strike="noStrike" spc="-9">
                <a:solidFill>
                  <a:srgbClr val="000000"/>
                </a:solidFill>
                <a:latin typeface="Microsoft Sans Serif"/>
                <a:ea typeface="Arial"/>
              </a:rPr>
              <a:t>мернос</a:t>
            </a:r>
            <a:r>
              <a:rPr lang="ru-RU" sz="1500" b="0" strike="noStrike" spc="-15">
                <a:solidFill>
                  <a:srgbClr val="000000"/>
                </a:solidFill>
                <a:latin typeface="Microsoft Sans Serif"/>
                <a:ea typeface="Arial"/>
              </a:rPr>
              <a:t>т</a:t>
            </a:r>
            <a:r>
              <a:rPr lang="ru-RU" sz="1500" b="0" strike="noStrike" spc="-1">
                <a:solidFill>
                  <a:srgbClr val="000000"/>
                </a:solidFill>
                <a:latin typeface="Microsoft Sans Serif"/>
                <a:ea typeface="Arial"/>
              </a:rPr>
              <a:t>и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4" name="object 15"/>
          <p:cNvGrpSpPr/>
          <p:nvPr/>
        </p:nvGrpSpPr>
        <p:grpSpPr>
          <a:xfrm>
            <a:off x="6444360" y="4062240"/>
            <a:ext cx="481320" cy="497160"/>
            <a:chOff x="6444360" y="4062240"/>
            <a:chExt cx="481320" cy="497160"/>
          </a:xfrm>
        </p:grpSpPr>
        <p:sp>
          <p:nvSpPr>
            <p:cNvPr id="135" name="object 16"/>
            <p:cNvSpPr/>
            <p:nvPr/>
          </p:nvSpPr>
          <p:spPr>
            <a:xfrm>
              <a:off x="6444360" y="4182480"/>
              <a:ext cx="360720" cy="376920"/>
            </a:xfrm>
            <a:custGeom>
              <a:avLst/>
              <a:gdLst>
                <a:gd name="textAreaLeft" fmla="*/ 0 w 360720"/>
                <a:gd name="textAreaRight" fmla="*/ 361080 w 360720"/>
                <a:gd name="textAreaTop" fmla="*/ 0 h 376920"/>
                <a:gd name="textAreaBottom" fmla="*/ 377280 h 376920"/>
              </a:gdLst>
              <a:ahLst/>
              <a:cxnLst/>
              <a:rect l="textAreaLeft" t="textAreaTop" r="textAreaRight" b="textAreaBottom"/>
              <a:pathLst>
                <a:path w="481329" h="502920">
                  <a:moveTo>
                    <a:pt x="481202" y="0"/>
                  </a:moveTo>
                  <a:lnTo>
                    <a:pt x="0" y="0"/>
                  </a:lnTo>
                  <a:lnTo>
                    <a:pt x="0" y="502538"/>
                  </a:lnTo>
                  <a:lnTo>
                    <a:pt x="481202" y="502538"/>
                  </a:lnTo>
                  <a:lnTo>
                    <a:pt x="48120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05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6" name="object 17"/>
            <p:cNvSpPr/>
            <p:nvPr/>
          </p:nvSpPr>
          <p:spPr>
            <a:xfrm>
              <a:off x="6805440" y="4062240"/>
              <a:ext cx="120240" cy="496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496800"/>
                <a:gd name="textAreaBottom" fmla="*/ 497160 h 496800"/>
              </a:gdLst>
              <a:ahLst/>
              <a:cxnLst/>
              <a:rect l="textAreaLeft" t="textAreaTop" r="textAreaRight" b="textAreaBottom"/>
              <a:pathLst>
                <a:path w="160654" h="662939">
                  <a:moveTo>
                    <a:pt x="160400" y="0"/>
                  </a:moveTo>
                  <a:lnTo>
                    <a:pt x="0" y="160400"/>
                  </a:lnTo>
                  <a:lnTo>
                    <a:pt x="0" y="662939"/>
                  </a:lnTo>
                  <a:lnTo>
                    <a:pt x="160400" y="502538"/>
                  </a:lnTo>
                  <a:lnTo>
                    <a:pt x="160400" y="0"/>
                  </a:lnTo>
                  <a:close/>
                </a:path>
              </a:pathLst>
            </a:custGeom>
            <a:solidFill>
              <a:srgbClr val="CDCDC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05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7" name="object 18"/>
            <p:cNvSpPr/>
            <p:nvPr/>
          </p:nvSpPr>
          <p:spPr>
            <a:xfrm>
              <a:off x="6444360" y="4062240"/>
              <a:ext cx="480960" cy="120240"/>
            </a:xfrm>
            <a:custGeom>
              <a:avLst/>
              <a:gdLst>
                <a:gd name="textAreaLeft" fmla="*/ 0 w 480960"/>
                <a:gd name="textAreaRight" fmla="*/ 481320 w 48096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641984" h="160654">
                  <a:moveTo>
                    <a:pt x="641603" y="0"/>
                  </a:moveTo>
                  <a:lnTo>
                    <a:pt x="160400" y="0"/>
                  </a:lnTo>
                  <a:lnTo>
                    <a:pt x="0" y="160400"/>
                  </a:lnTo>
                  <a:lnTo>
                    <a:pt x="481202" y="160400"/>
                  </a:lnTo>
                  <a:lnTo>
                    <a:pt x="64160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05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8" name="object 19"/>
            <p:cNvSpPr/>
            <p:nvPr/>
          </p:nvSpPr>
          <p:spPr>
            <a:xfrm>
              <a:off x="6444360" y="4062240"/>
              <a:ext cx="480960" cy="496800"/>
            </a:xfrm>
            <a:custGeom>
              <a:avLst/>
              <a:gdLst>
                <a:gd name="textAreaLeft" fmla="*/ 0 w 480960"/>
                <a:gd name="textAreaRight" fmla="*/ 481320 w 480960"/>
                <a:gd name="textAreaTop" fmla="*/ 0 h 496800"/>
                <a:gd name="textAreaBottom" fmla="*/ 497160 h 496800"/>
              </a:gdLst>
              <a:ahLst/>
              <a:cxnLst/>
              <a:rect l="textAreaLeft" t="textAreaTop" r="textAreaRight" b="textAreaBottom"/>
              <a:pathLst>
                <a:path w="641984" h="662939">
                  <a:moveTo>
                    <a:pt x="0" y="160400"/>
                  </a:moveTo>
                  <a:lnTo>
                    <a:pt x="160400" y="0"/>
                  </a:lnTo>
                  <a:lnTo>
                    <a:pt x="641603" y="0"/>
                  </a:lnTo>
                  <a:lnTo>
                    <a:pt x="641603" y="502538"/>
                  </a:lnTo>
                  <a:lnTo>
                    <a:pt x="481202" y="662939"/>
                  </a:lnTo>
                  <a:lnTo>
                    <a:pt x="0" y="662939"/>
                  </a:lnTo>
                  <a:lnTo>
                    <a:pt x="0" y="160400"/>
                  </a:lnTo>
                  <a:close/>
                </a:path>
                <a:path w="641984" h="662939">
                  <a:moveTo>
                    <a:pt x="0" y="160400"/>
                  </a:moveTo>
                  <a:lnTo>
                    <a:pt x="481202" y="160400"/>
                  </a:lnTo>
                  <a:lnTo>
                    <a:pt x="641603" y="0"/>
                  </a:lnTo>
                </a:path>
                <a:path w="641984" h="662939">
                  <a:moveTo>
                    <a:pt x="481202" y="160400"/>
                  </a:moveTo>
                  <a:lnTo>
                    <a:pt x="481202" y="662939"/>
                  </a:lnTo>
                </a:path>
              </a:pathLst>
            </a:custGeom>
            <a:noFill/>
            <a:ln w="25908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05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139" name="object 20"/>
          <p:cNvGrpSpPr/>
          <p:nvPr/>
        </p:nvGrpSpPr>
        <p:grpSpPr>
          <a:xfrm>
            <a:off x="7314120" y="4062240"/>
            <a:ext cx="409320" cy="411120"/>
            <a:chOff x="7314120" y="4062240"/>
            <a:chExt cx="409320" cy="411120"/>
          </a:xfrm>
        </p:grpSpPr>
        <p:sp>
          <p:nvSpPr>
            <p:cNvPr id="140" name="object 21"/>
            <p:cNvSpPr/>
            <p:nvPr/>
          </p:nvSpPr>
          <p:spPr>
            <a:xfrm>
              <a:off x="7314120" y="4062240"/>
              <a:ext cx="409320" cy="411120"/>
            </a:xfrm>
            <a:custGeom>
              <a:avLst/>
              <a:gdLst>
                <a:gd name="textAreaLeft" fmla="*/ 0 w 409320"/>
                <a:gd name="textAreaRight" fmla="*/ 409680 w 409320"/>
                <a:gd name="textAreaTop" fmla="*/ 0 h 411120"/>
                <a:gd name="textAreaBottom" fmla="*/ 411480 h 411120"/>
              </a:gdLst>
              <a:ahLst/>
              <a:cxnLst/>
              <a:rect l="textAreaLeft" t="textAreaTop" r="textAreaRight" b="textAreaBottom"/>
              <a:pathLst>
                <a:path w="546100" h="548639">
                  <a:moveTo>
                    <a:pt x="545592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545592" y="548639"/>
                  </a:lnTo>
                  <a:lnTo>
                    <a:pt x="5455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05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1" name="object 22"/>
            <p:cNvSpPr/>
            <p:nvPr/>
          </p:nvSpPr>
          <p:spPr>
            <a:xfrm>
              <a:off x="7314120" y="4062240"/>
              <a:ext cx="409320" cy="411120"/>
            </a:xfrm>
            <a:custGeom>
              <a:avLst/>
              <a:gdLst>
                <a:gd name="textAreaLeft" fmla="*/ 0 w 409320"/>
                <a:gd name="textAreaRight" fmla="*/ 409680 w 409320"/>
                <a:gd name="textAreaTop" fmla="*/ 0 h 411120"/>
                <a:gd name="textAreaBottom" fmla="*/ 411480 h 411120"/>
              </a:gdLst>
              <a:ahLst/>
              <a:cxnLst/>
              <a:rect l="textAreaLeft" t="textAreaTop" r="textAreaRight" b="textAreaBottom"/>
              <a:pathLst>
                <a:path w="546100" h="548639">
                  <a:moveTo>
                    <a:pt x="0" y="548639"/>
                  </a:moveTo>
                  <a:lnTo>
                    <a:pt x="545592" y="548639"/>
                  </a:lnTo>
                  <a:lnTo>
                    <a:pt x="545592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noFill/>
            <a:ln w="25908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05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42" name="object 23"/>
          <p:cNvSpPr/>
          <p:nvPr/>
        </p:nvSpPr>
        <p:spPr>
          <a:xfrm>
            <a:off x="6995880" y="4226040"/>
            <a:ext cx="266040" cy="56880"/>
          </a:xfrm>
          <a:custGeom>
            <a:avLst/>
            <a:gdLst>
              <a:gd name="textAreaLeft" fmla="*/ 0 w 266040"/>
              <a:gd name="textAreaRight" fmla="*/ 266400 w 266040"/>
              <a:gd name="textAreaTop" fmla="*/ 0 h 56880"/>
              <a:gd name="textAreaBottom" fmla="*/ 57240 h 56880"/>
            </a:gdLst>
            <a:ahLst/>
            <a:cxnLst/>
            <a:rect l="textAreaLeft" t="textAreaTop" r="textAreaRight" b="textAreaBottom"/>
            <a:pathLst>
              <a:path w="354965" h="76200">
                <a:moveTo>
                  <a:pt x="278384" y="0"/>
                </a:moveTo>
                <a:lnTo>
                  <a:pt x="278384" y="76200"/>
                </a:lnTo>
                <a:lnTo>
                  <a:pt x="341884" y="44450"/>
                </a:lnTo>
                <a:lnTo>
                  <a:pt x="291084" y="44450"/>
                </a:lnTo>
                <a:lnTo>
                  <a:pt x="291084" y="31750"/>
                </a:lnTo>
                <a:lnTo>
                  <a:pt x="341884" y="31750"/>
                </a:lnTo>
                <a:lnTo>
                  <a:pt x="278384" y="0"/>
                </a:lnTo>
                <a:close/>
              </a:path>
              <a:path w="354965" h="76200">
                <a:moveTo>
                  <a:pt x="27838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78384" y="44450"/>
                </a:lnTo>
                <a:lnTo>
                  <a:pt x="278384" y="31750"/>
                </a:lnTo>
                <a:close/>
              </a:path>
              <a:path w="354965" h="76200">
                <a:moveTo>
                  <a:pt x="341884" y="31750"/>
                </a:moveTo>
                <a:lnTo>
                  <a:pt x="291084" y="31750"/>
                </a:lnTo>
                <a:lnTo>
                  <a:pt x="291084" y="44450"/>
                </a:lnTo>
                <a:lnTo>
                  <a:pt x="341884" y="44450"/>
                </a:lnTo>
                <a:lnTo>
                  <a:pt x="354584" y="38100"/>
                </a:lnTo>
                <a:lnTo>
                  <a:pt x="341884" y="317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0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43" name="object 24"/>
          <p:cNvSpPr/>
          <p:nvPr/>
        </p:nvSpPr>
        <p:spPr>
          <a:xfrm>
            <a:off x="641880" y="3497040"/>
            <a:ext cx="141732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60" rIns="0" bIns="0" anchor="t">
            <a:spAutoFit/>
          </a:bodyPr>
          <a:lstStyle/>
          <a:p>
            <a:pPr marL="9360">
              <a:lnSpc>
                <a:spcPct val="100000"/>
              </a:lnSpc>
              <a:spcBef>
                <a:spcPts val="74"/>
              </a:spcBef>
            </a:pPr>
            <a:r>
              <a:rPr lang="ru-RU" sz="1500" b="0" strike="noStrike" spc="-21">
                <a:solidFill>
                  <a:srgbClr val="000000"/>
                </a:solidFill>
                <a:latin typeface="Microsoft Sans Serif"/>
                <a:ea typeface="Arial"/>
              </a:rPr>
              <a:t>Классификация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object 25"/>
          <p:cNvPicPr/>
          <p:nvPr/>
        </p:nvPicPr>
        <p:blipFill>
          <a:blip r:embed="rId7"/>
          <a:stretch/>
        </p:blipFill>
        <p:spPr>
          <a:xfrm>
            <a:off x="4811760" y="3849120"/>
            <a:ext cx="1353960" cy="1132200"/>
          </a:xfrm>
          <a:prstGeom prst="rect">
            <a:avLst/>
          </a:prstGeom>
          <a:ln w="0">
            <a:noFill/>
          </a:ln>
        </p:spPr>
      </p:pic>
      <p:sp>
        <p:nvSpPr>
          <p:cNvPr id="145" name="object 26"/>
          <p:cNvSpPr/>
          <p:nvPr/>
        </p:nvSpPr>
        <p:spPr>
          <a:xfrm>
            <a:off x="8013960" y="3527640"/>
            <a:ext cx="89820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60" rIns="0" bIns="0" anchor="t">
            <a:spAutoFit/>
          </a:bodyPr>
          <a:lstStyle/>
          <a:p>
            <a:pPr marL="9360" indent="149400">
              <a:lnSpc>
                <a:spcPct val="100000"/>
              </a:lnSpc>
              <a:spcBef>
                <a:spcPts val="74"/>
              </a:spcBef>
              <a:tabLst>
                <a:tab pos="0" algn="l"/>
              </a:tabLst>
            </a:pPr>
            <a:r>
              <a:rPr lang="ru-RU" sz="1500" b="0" strike="noStrike" spc="-21">
                <a:solidFill>
                  <a:srgbClr val="000000"/>
                </a:solidFill>
                <a:latin typeface="Microsoft Sans Serif"/>
                <a:ea typeface="Arial"/>
              </a:rPr>
              <a:t>Поиск </a:t>
            </a:r>
            <a:r>
              <a:rPr lang="ru-RU" sz="1500" b="0" strike="noStrike" spc="-15">
                <a:solidFill>
                  <a:srgbClr val="000000"/>
                </a:solidFill>
                <a:latin typeface="Microsoft Sans Serif"/>
                <a:ea typeface="Arial"/>
              </a:rPr>
              <a:t> </a:t>
            </a:r>
            <a:r>
              <a:rPr lang="ru-RU" sz="1500" b="0" strike="noStrike" spc="-9">
                <a:solidFill>
                  <a:srgbClr val="000000"/>
                </a:solidFill>
                <a:latin typeface="Microsoft Sans Serif"/>
                <a:ea typeface="Arial"/>
              </a:rPr>
              <a:t>аномалий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object 27"/>
          <p:cNvPicPr/>
          <p:nvPr/>
        </p:nvPicPr>
        <p:blipFill>
          <a:blip r:embed="rId8"/>
          <a:stretch/>
        </p:blipFill>
        <p:spPr>
          <a:xfrm>
            <a:off x="7950240" y="4136040"/>
            <a:ext cx="1024920" cy="845640"/>
          </a:xfrm>
          <a:prstGeom prst="rect">
            <a:avLst/>
          </a:prstGeom>
          <a:ln w="0">
            <a:noFill/>
          </a:ln>
        </p:spPr>
      </p:pic>
      <p:sp>
        <p:nvSpPr>
          <p:cNvPr id="147" name="object 28"/>
          <p:cNvSpPr/>
          <p:nvPr/>
        </p:nvSpPr>
        <p:spPr>
          <a:xfrm>
            <a:off x="7623000" y="2898720"/>
            <a:ext cx="838800" cy="608760"/>
          </a:xfrm>
          <a:custGeom>
            <a:avLst/>
            <a:gdLst>
              <a:gd name="textAreaLeft" fmla="*/ 0 w 838800"/>
              <a:gd name="textAreaRight" fmla="*/ 839160 w 838800"/>
              <a:gd name="textAreaTop" fmla="*/ 0 h 608760"/>
              <a:gd name="textAreaBottom" fmla="*/ 609120 h 608760"/>
            </a:gdLst>
            <a:ahLst/>
            <a:cxnLst/>
            <a:rect l="textAreaLeft" t="textAreaTop" r="textAreaRight" b="textAreaBottom"/>
            <a:pathLst>
              <a:path w="1118870" h="812164">
                <a:moveTo>
                  <a:pt x="1053315" y="772322"/>
                </a:moveTo>
                <a:lnTo>
                  <a:pt x="1034669" y="798067"/>
                </a:lnTo>
                <a:lnTo>
                  <a:pt x="1118743" y="811910"/>
                </a:lnTo>
                <a:lnTo>
                  <a:pt x="1102002" y="779779"/>
                </a:lnTo>
                <a:lnTo>
                  <a:pt x="1063625" y="779779"/>
                </a:lnTo>
                <a:lnTo>
                  <a:pt x="1053315" y="772322"/>
                </a:lnTo>
                <a:close/>
              </a:path>
              <a:path w="1118870" h="812164">
                <a:moveTo>
                  <a:pt x="1060737" y="762075"/>
                </a:moveTo>
                <a:lnTo>
                  <a:pt x="1053315" y="772322"/>
                </a:lnTo>
                <a:lnTo>
                  <a:pt x="1063625" y="779779"/>
                </a:lnTo>
                <a:lnTo>
                  <a:pt x="1070990" y="769492"/>
                </a:lnTo>
                <a:lnTo>
                  <a:pt x="1060737" y="762075"/>
                </a:lnTo>
                <a:close/>
              </a:path>
              <a:path w="1118870" h="812164">
                <a:moveTo>
                  <a:pt x="1079373" y="736345"/>
                </a:moveTo>
                <a:lnTo>
                  <a:pt x="1060737" y="762075"/>
                </a:lnTo>
                <a:lnTo>
                  <a:pt x="1070990" y="769492"/>
                </a:lnTo>
                <a:lnTo>
                  <a:pt x="1063625" y="779779"/>
                </a:lnTo>
                <a:lnTo>
                  <a:pt x="1102002" y="779779"/>
                </a:lnTo>
                <a:lnTo>
                  <a:pt x="1079373" y="736345"/>
                </a:lnTo>
                <a:close/>
              </a:path>
              <a:path w="1118870" h="812164">
                <a:moveTo>
                  <a:pt x="7365" y="0"/>
                </a:moveTo>
                <a:lnTo>
                  <a:pt x="0" y="10413"/>
                </a:lnTo>
                <a:lnTo>
                  <a:pt x="1053315" y="772322"/>
                </a:lnTo>
                <a:lnTo>
                  <a:pt x="1060737" y="762075"/>
                </a:lnTo>
                <a:lnTo>
                  <a:pt x="7365" y="0"/>
                </a:lnTo>
                <a:close/>
              </a:path>
            </a:pathLst>
          </a:custGeom>
          <a:solidFill>
            <a:srgbClr val="3E6D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0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48" name="object 29"/>
          <p:cNvSpPr/>
          <p:nvPr/>
        </p:nvSpPr>
        <p:spPr>
          <a:xfrm>
            <a:off x="1626840" y="1007280"/>
            <a:ext cx="1197720" cy="55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080" rIns="0" bIns="0" anchor="t">
            <a:spAutoFit/>
          </a:bodyPr>
          <a:lstStyle/>
          <a:p>
            <a:pPr marL="9000" algn="ctr">
              <a:lnSpc>
                <a:spcPct val="100000"/>
              </a:lnSpc>
              <a:spcBef>
                <a:spcPts val="79"/>
              </a:spcBef>
            </a:pPr>
            <a:r>
              <a:rPr lang="ru-RU" sz="1500" b="0" strike="noStrike" spc="-1">
                <a:solidFill>
                  <a:srgbClr val="000000"/>
                </a:solidFill>
                <a:latin typeface="Microsoft Sans Serif"/>
                <a:ea typeface="Arial"/>
              </a:rPr>
              <a:t>C</a:t>
            </a:r>
            <a:r>
              <a:rPr lang="ru-RU" sz="1500" b="0" strike="noStrike" spc="-15">
                <a:solidFill>
                  <a:srgbClr val="000000"/>
                </a:solidFill>
                <a:latin typeface="Microsoft Sans Serif"/>
                <a:ea typeface="Arial"/>
              </a:rPr>
              <a:t> </a:t>
            </a:r>
            <a:r>
              <a:rPr lang="ru-RU" sz="1500" b="0" strike="noStrike" spc="-9">
                <a:solidFill>
                  <a:srgbClr val="000000"/>
                </a:solidFill>
                <a:latin typeface="Microsoft Sans Serif"/>
                <a:ea typeface="Arial"/>
              </a:rPr>
              <a:t>учителем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 marL="9000" algn="ctr">
              <a:lnSpc>
                <a:spcPct val="100000"/>
              </a:lnSpc>
              <a:spcBef>
                <a:spcPts val="14"/>
              </a:spcBef>
            </a:pPr>
            <a:r>
              <a:rPr lang="ru-RU" sz="1050" b="0" strike="noStrike" spc="-4">
                <a:solidFill>
                  <a:srgbClr val="51555E"/>
                </a:solidFill>
                <a:latin typeface="Microsoft Sans Serif"/>
                <a:ea typeface="Arial"/>
              </a:rPr>
              <a:t>Supervised</a:t>
            </a:r>
            <a:r>
              <a:rPr lang="ru-RU" sz="1050" b="0" strike="noStrike" spc="-35">
                <a:solidFill>
                  <a:srgbClr val="51555E"/>
                </a:solidFill>
                <a:latin typeface="Microsoft Sans Serif"/>
                <a:ea typeface="Arial"/>
              </a:rPr>
              <a:t> </a:t>
            </a:r>
            <a:r>
              <a:rPr lang="ru-RU" sz="1050" b="0" strike="noStrike" spc="-1">
                <a:solidFill>
                  <a:srgbClr val="51555E"/>
                </a:solidFill>
                <a:latin typeface="Microsoft Sans Serif"/>
                <a:ea typeface="Arial"/>
              </a:rPr>
              <a:t>learning</a:t>
            </a:r>
            <a:endParaRPr lang="ru-RU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object 30"/>
          <p:cNvSpPr/>
          <p:nvPr/>
        </p:nvSpPr>
        <p:spPr>
          <a:xfrm>
            <a:off x="6401880" y="996480"/>
            <a:ext cx="13456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080" rIns="0" bIns="0" anchor="t">
            <a:spAutoFit/>
          </a:bodyPr>
          <a:lstStyle/>
          <a:p>
            <a:pPr algn="ctr">
              <a:lnSpc>
                <a:spcPts val="1763"/>
              </a:lnSpc>
              <a:spcBef>
                <a:spcPts val="79"/>
              </a:spcBef>
            </a:pPr>
            <a:r>
              <a:rPr lang="ru-RU" sz="1500" b="0" strike="noStrike" spc="-21">
                <a:solidFill>
                  <a:srgbClr val="000000"/>
                </a:solidFill>
                <a:latin typeface="Microsoft Sans Serif"/>
                <a:ea typeface="Arial"/>
              </a:rPr>
              <a:t>Без</a:t>
            </a:r>
            <a:r>
              <a:rPr lang="ru-RU" sz="1500" b="0" strike="noStrike" spc="-35">
                <a:solidFill>
                  <a:srgbClr val="000000"/>
                </a:solidFill>
                <a:latin typeface="Microsoft Sans Serif"/>
                <a:ea typeface="Arial"/>
              </a:rPr>
              <a:t> </a:t>
            </a:r>
            <a:r>
              <a:rPr lang="ru-RU" sz="1500" b="0" strike="noStrike" spc="-4">
                <a:solidFill>
                  <a:srgbClr val="000000"/>
                </a:solidFill>
                <a:latin typeface="Microsoft Sans Serif"/>
                <a:ea typeface="Arial"/>
              </a:rPr>
              <a:t>учителя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222"/>
              </a:lnSpc>
            </a:pPr>
            <a:r>
              <a:rPr lang="ru-RU" sz="1050" b="0" strike="noStrike" spc="-4">
                <a:solidFill>
                  <a:srgbClr val="51555E"/>
                </a:solidFill>
                <a:latin typeface="Microsoft Sans Serif"/>
                <a:ea typeface="Arial"/>
              </a:rPr>
              <a:t>Unsupervised</a:t>
            </a:r>
            <a:r>
              <a:rPr lang="ru-RU" sz="1050" b="0" strike="noStrike" spc="-21">
                <a:solidFill>
                  <a:srgbClr val="51555E"/>
                </a:solidFill>
                <a:latin typeface="Microsoft Sans Serif"/>
                <a:ea typeface="Arial"/>
              </a:rPr>
              <a:t> </a:t>
            </a:r>
            <a:r>
              <a:rPr lang="ru-RU" sz="1050" b="0" strike="noStrike" spc="-4">
                <a:solidFill>
                  <a:srgbClr val="51555E"/>
                </a:solidFill>
                <a:latin typeface="Microsoft Sans Serif"/>
                <a:ea typeface="Arial"/>
              </a:rPr>
              <a:t>learning</a:t>
            </a:r>
            <a:endParaRPr lang="ru-RU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82208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900" b="1" strike="noStrike" spc="-1">
                <a:solidFill>
                  <a:schemeClr val="lt1"/>
                </a:solidFill>
                <a:latin typeface="Roboto"/>
                <a:ea typeface="Roboto"/>
              </a:rPr>
              <a:t>Линейный классификатор</a:t>
            </a:r>
            <a:endParaRPr lang="ru-RU" sz="4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Линейный классификатор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Picture 2" descr="http://3.bp.blogspot.com/-HFPsQbmRQZQ/UGNvH_t06jI/AAAAAAAAD_Y/G7XYOTVa2mM/s1600/Screen+Shot+2012-09-26+at+2.08.25+PM.png"/>
          <p:cNvPicPr/>
          <p:nvPr/>
        </p:nvPicPr>
        <p:blipFill>
          <a:blip r:embed="rId2"/>
          <a:stretch/>
        </p:blipFill>
        <p:spPr>
          <a:xfrm>
            <a:off x="692280" y="2158920"/>
            <a:ext cx="3075120" cy="2418480"/>
          </a:xfrm>
          <a:prstGeom prst="rect">
            <a:avLst/>
          </a:prstGeom>
          <a:ln w="0"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B34C46-B02C-1A41-9C6C-1A0228A09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0" y="1120567"/>
            <a:ext cx="3496982" cy="10383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Линейный классификатор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2" descr="http://3.bp.blogspot.com/-HFPsQbmRQZQ/UGNvH_t06jI/AAAAAAAAD_Y/G7XYOTVa2mM/s1600/Screen+Shot+2012-09-26+at+2.08.25+PM.png"/>
          <p:cNvPicPr/>
          <p:nvPr/>
        </p:nvPicPr>
        <p:blipFill>
          <a:blip r:embed="rId2"/>
          <a:stretch/>
        </p:blipFill>
        <p:spPr>
          <a:xfrm>
            <a:off x="692280" y="2158920"/>
            <a:ext cx="3075120" cy="241848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4"/>
          <p:cNvPicPr/>
          <p:nvPr/>
        </p:nvPicPr>
        <p:blipFill>
          <a:blip r:embed="rId3"/>
          <a:stretch/>
        </p:blipFill>
        <p:spPr>
          <a:xfrm>
            <a:off x="4076640" y="1473120"/>
            <a:ext cx="4819320" cy="271440"/>
          </a:xfrm>
          <a:prstGeom prst="rect">
            <a:avLst/>
          </a:prstGeom>
          <a:ln w="0">
            <a:noFill/>
          </a:ln>
          <a:effectLst>
            <a:outerShdw blurRad="291960" dist="139498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8" name="Picture 5"/>
          <p:cNvPicPr/>
          <p:nvPr/>
        </p:nvPicPr>
        <p:blipFill>
          <a:blip r:embed="rId4"/>
          <a:stretch/>
        </p:blipFill>
        <p:spPr>
          <a:xfrm>
            <a:off x="4076640" y="1791720"/>
            <a:ext cx="4448520" cy="931320"/>
          </a:xfrm>
          <a:prstGeom prst="rect">
            <a:avLst/>
          </a:prstGeom>
          <a:ln w="0"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82BDF6-4AC5-3E48-9C80-018A0014EC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0" y="1120567"/>
            <a:ext cx="3496982" cy="10383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Линейный классификатор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Picture 2"/>
          <p:cNvPicPr/>
          <p:nvPr/>
        </p:nvPicPr>
        <p:blipFill>
          <a:blip r:embed="rId2"/>
          <a:stretch/>
        </p:blipFill>
        <p:spPr>
          <a:xfrm>
            <a:off x="3040200" y="2137680"/>
            <a:ext cx="2590560" cy="2471400"/>
          </a:xfrm>
          <a:prstGeom prst="rect">
            <a:avLst/>
          </a:prstGeom>
          <a:ln w="0"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D0A129-472C-E746-924F-62D9E947C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564" y="1099327"/>
            <a:ext cx="3496982" cy="10383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900" b="1" strike="noStrike" spc="-1">
                <a:solidFill>
                  <a:schemeClr val="lt1"/>
                </a:solidFill>
                <a:latin typeface="Roboto"/>
                <a:ea typeface="Roboto"/>
              </a:rPr>
              <a:t>Логистическая регрессия</a:t>
            </a:r>
            <a:endParaRPr lang="ru-RU" sz="4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Логистическая регрессия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Picture 2" descr="http://3.bp.blogspot.com/-HFPsQbmRQZQ/UGNvH_t06jI/AAAAAAAAD_Y/G7XYOTVa2mM/s1600/Screen+Shot+2012-09-26+at+2.08.25+PM.png"/>
          <p:cNvPicPr/>
          <p:nvPr/>
        </p:nvPicPr>
        <p:blipFill>
          <a:blip r:embed="rId2"/>
          <a:stretch/>
        </p:blipFill>
        <p:spPr>
          <a:xfrm>
            <a:off x="692280" y="2158920"/>
            <a:ext cx="3075120" cy="241848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4"/>
          <p:cNvPicPr/>
          <p:nvPr/>
        </p:nvPicPr>
        <p:blipFill>
          <a:blip r:embed="rId3"/>
          <a:stretch/>
        </p:blipFill>
        <p:spPr>
          <a:xfrm>
            <a:off x="4076640" y="1473120"/>
            <a:ext cx="4819320" cy="271440"/>
          </a:xfrm>
          <a:prstGeom prst="rect">
            <a:avLst/>
          </a:prstGeom>
          <a:ln w="0">
            <a:noFill/>
          </a:ln>
          <a:effectLst>
            <a:outerShdw blurRad="291960" dist="139498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2" name="Picture 5"/>
          <p:cNvPicPr/>
          <p:nvPr/>
        </p:nvPicPr>
        <p:blipFill>
          <a:blip r:embed="rId4"/>
          <a:stretch/>
        </p:blipFill>
        <p:spPr>
          <a:xfrm>
            <a:off x="4076640" y="1791720"/>
            <a:ext cx="4448520" cy="931320"/>
          </a:xfrm>
          <a:prstGeom prst="rect">
            <a:avLst/>
          </a:prstGeom>
          <a:ln w="0">
            <a:noFill/>
          </a:ln>
        </p:spPr>
      </p:pic>
      <p:sp>
        <p:nvSpPr>
          <p:cNvPr id="173" name="object 4"/>
          <p:cNvSpPr/>
          <p:nvPr/>
        </p:nvSpPr>
        <p:spPr>
          <a:xfrm>
            <a:off x="4076640" y="2936160"/>
            <a:ext cx="45716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ru-RU" sz="1800" b="0" strike="noStrike" spc="-15">
                <a:solidFill>
                  <a:srgbClr val="000000"/>
                </a:solidFill>
                <a:latin typeface="Arial"/>
                <a:ea typeface="Arial"/>
              </a:rPr>
              <a:t>Формула классификатора слишком проста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713067-0496-2B4F-A31E-688C8870C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90" y="1175844"/>
            <a:ext cx="2916500" cy="8659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object 2"/>
          <p:cNvSpPr/>
          <p:nvPr/>
        </p:nvSpPr>
        <p:spPr>
          <a:xfrm>
            <a:off x="2008440" y="258840"/>
            <a:ext cx="5010840" cy="42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60" rIns="0" bIns="0" anchor="t">
            <a:spAutoFit/>
          </a:bodyPr>
          <a:lstStyle/>
          <a:p>
            <a:pPr marL="9360">
              <a:lnSpc>
                <a:spcPct val="100000"/>
              </a:lnSpc>
              <a:spcBef>
                <a:spcPts val="74"/>
              </a:spcBef>
            </a:pPr>
            <a:r>
              <a:rPr lang="ru-RU" sz="2700" b="1" strike="noStrike" spc="9">
                <a:solidFill>
                  <a:srgbClr val="FDFDFD"/>
                </a:solidFill>
                <a:latin typeface="Trebuchet MS"/>
                <a:ea typeface="Arial"/>
              </a:rPr>
              <a:t>Линейная регрессия</a:t>
            </a:r>
            <a:endParaRPr lang="ru-RU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object 3"/>
          <p:cNvSpPr/>
          <p:nvPr/>
        </p:nvSpPr>
        <p:spPr>
          <a:xfrm>
            <a:off x="1042560" y="1206360"/>
            <a:ext cx="7358040" cy="128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60" rIns="0" bIns="0" anchor="t">
            <a:spAutoFit/>
          </a:bodyPr>
          <a:lstStyle/>
          <a:p>
            <a:pPr marL="2277720" indent="-22658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ru-RU" sz="2800" b="1" strike="noStrike" spc="69">
                <a:solidFill>
                  <a:srgbClr val="000000"/>
                </a:solidFill>
                <a:latin typeface="Trebuchet MS"/>
                <a:ea typeface="Arial"/>
              </a:rPr>
              <a:t>Идея: моделировать вероятность</a:t>
            </a:r>
            <a:r>
              <a:rPr lang="en-US" sz="2800" b="1" strike="noStrike" spc="69">
                <a:solidFill>
                  <a:srgbClr val="000000"/>
                </a:solidFill>
                <a:latin typeface="Trebuchet MS"/>
                <a:ea typeface="Arial"/>
              </a:rPr>
              <a:t> </a:t>
            </a:r>
            <a:r>
              <a:rPr lang="ru-RU" sz="2800" b="1" strike="noStrike" spc="69">
                <a:solidFill>
                  <a:srgbClr val="000000"/>
                </a:solidFill>
                <a:latin typeface="Trebuchet MS"/>
                <a:ea typeface="Arial"/>
              </a:rPr>
              <a:t>принадлежности классам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object 4"/>
          <p:cNvPicPr/>
          <p:nvPr/>
        </p:nvPicPr>
        <p:blipFill>
          <a:blip r:embed="rId2"/>
          <a:stretch/>
        </p:blipFill>
        <p:spPr>
          <a:xfrm>
            <a:off x="3712320" y="2600280"/>
            <a:ext cx="1607040" cy="1607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Логистическая регрессия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object 11"/>
          <p:cNvSpPr/>
          <p:nvPr/>
        </p:nvSpPr>
        <p:spPr>
          <a:xfrm>
            <a:off x="500400" y="1193760"/>
            <a:ext cx="4604400" cy="57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6680" rIns="0" bIns="0" anchor="t">
            <a:spAutoFit/>
          </a:bodyPr>
          <a:lstStyle/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Логистическая</a:t>
            </a:r>
            <a:r>
              <a:rPr lang="ru-RU" sz="1400" b="0" strike="noStrike" spc="4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регрессия</a:t>
            </a:r>
            <a:r>
              <a:rPr lang="ru-RU" sz="1400" b="0" strike="noStrike" spc="18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предсказывает</a:t>
            </a:r>
            <a:r>
              <a:rPr lang="ru-RU" sz="1400" b="0" strike="noStrike" spc="12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вероятность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принадлежности</a:t>
            </a:r>
            <a:r>
              <a:rPr lang="ru-RU" sz="1400" b="0" strike="noStrike" spc="12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1">
                <a:solidFill>
                  <a:srgbClr val="212121"/>
                </a:solidFill>
                <a:latin typeface="Arial"/>
                <a:ea typeface="Arial"/>
              </a:rPr>
              <a:t>к</a:t>
            </a:r>
            <a:r>
              <a:rPr lang="ru-RU" sz="1400" b="0" strike="noStrike" spc="9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определенному</a:t>
            </a:r>
            <a:r>
              <a:rPr lang="ru-RU" sz="1400" b="0" strike="noStrike" spc="24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12">
                <a:solidFill>
                  <a:srgbClr val="212121"/>
                </a:solidFill>
                <a:latin typeface="Arial"/>
                <a:ea typeface="Arial"/>
              </a:rPr>
              <a:t>классу.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Рисунок 8"/>
          <p:cNvPicPr/>
          <p:nvPr/>
        </p:nvPicPr>
        <p:blipFill>
          <a:blip r:embed="rId2"/>
          <a:stretch/>
        </p:blipFill>
        <p:spPr>
          <a:xfrm>
            <a:off x="516960" y="1882080"/>
            <a:ext cx="3928680" cy="960120"/>
          </a:xfrm>
          <a:prstGeom prst="rect">
            <a:avLst/>
          </a:prstGeom>
          <a:ln w="0">
            <a:noFill/>
          </a:ln>
        </p:spPr>
      </p:pic>
      <p:sp>
        <p:nvSpPr>
          <p:cNvPr id="180" name="object 11"/>
          <p:cNvSpPr/>
          <p:nvPr/>
        </p:nvSpPr>
        <p:spPr>
          <a:xfrm>
            <a:off x="500400" y="2776320"/>
            <a:ext cx="477612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6680" rIns="0" bIns="0" anchor="t">
            <a:spAutoFit/>
          </a:bodyPr>
          <a:lstStyle/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Эту вероятность задаем как функцию </a:t>
            </a:r>
            <a:r>
              <a:rPr lang="en-US" sz="1400" b="0" strike="noStrike" spc="-7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от значения   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Логистическая регрессия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object 11"/>
          <p:cNvSpPr/>
          <p:nvPr/>
        </p:nvSpPr>
        <p:spPr>
          <a:xfrm>
            <a:off x="500400" y="1193760"/>
            <a:ext cx="4604400" cy="57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6680" rIns="0" bIns="0" anchor="t">
            <a:spAutoFit/>
          </a:bodyPr>
          <a:lstStyle/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Логистическая</a:t>
            </a:r>
            <a:r>
              <a:rPr lang="ru-RU" sz="1400" b="0" strike="noStrike" spc="4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регрессия</a:t>
            </a:r>
            <a:r>
              <a:rPr lang="ru-RU" sz="1400" b="0" strike="noStrike" spc="18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предсказывает</a:t>
            </a:r>
            <a:r>
              <a:rPr lang="ru-RU" sz="1400" b="0" strike="noStrike" spc="12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вероятность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принадлежности</a:t>
            </a:r>
            <a:r>
              <a:rPr lang="ru-RU" sz="1400" b="0" strike="noStrike" spc="12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1">
                <a:solidFill>
                  <a:srgbClr val="212121"/>
                </a:solidFill>
                <a:latin typeface="Arial"/>
                <a:ea typeface="Arial"/>
              </a:rPr>
              <a:t>к</a:t>
            </a:r>
            <a:r>
              <a:rPr lang="ru-RU" sz="1400" b="0" strike="noStrike" spc="9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определенному</a:t>
            </a:r>
            <a:r>
              <a:rPr lang="ru-RU" sz="1400" b="0" strike="noStrike" spc="24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12">
                <a:solidFill>
                  <a:srgbClr val="212121"/>
                </a:solidFill>
                <a:latin typeface="Arial"/>
                <a:ea typeface="Arial"/>
              </a:rPr>
              <a:t>классу.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Рисунок 8"/>
          <p:cNvPicPr/>
          <p:nvPr/>
        </p:nvPicPr>
        <p:blipFill>
          <a:blip r:embed="rId2"/>
          <a:stretch/>
        </p:blipFill>
        <p:spPr>
          <a:xfrm>
            <a:off x="516960" y="1882080"/>
            <a:ext cx="3928680" cy="960120"/>
          </a:xfrm>
          <a:prstGeom prst="rect">
            <a:avLst/>
          </a:prstGeom>
          <a:ln w="0">
            <a:noFill/>
          </a:ln>
        </p:spPr>
      </p:pic>
      <p:sp>
        <p:nvSpPr>
          <p:cNvPr id="184" name="object 11"/>
          <p:cNvSpPr/>
          <p:nvPr/>
        </p:nvSpPr>
        <p:spPr>
          <a:xfrm>
            <a:off x="500400" y="2776320"/>
            <a:ext cx="477612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6680" rIns="0" bIns="0" anchor="t">
            <a:spAutoFit/>
          </a:bodyPr>
          <a:lstStyle/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Эту вероятность задаем как функцию </a:t>
            </a:r>
            <a:r>
              <a:rPr lang="en-US" sz="1400" b="0" strike="noStrike" spc="-7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от значения   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object 11"/>
          <p:cNvSpPr/>
          <p:nvPr/>
        </p:nvSpPr>
        <p:spPr>
          <a:xfrm>
            <a:off x="5455080" y="1426680"/>
            <a:ext cx="356544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6680" rIns="0" bIns="0" anchor="t">
            <a:spAutoFit/>
          </a:bodyPr>
          <a:lstStyle/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В качестве </a:t>
            </a:r>
            <a:r>
              <a:rPr lang="en-US" sz="1400" b="0" strike="noStrike" spc="-7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используем сигмоиду: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Рисунок 11"/>
          <p:cNvPicPr/>
          <p:nvPr/>
        </p:nvPicPr>
        <p:blipFill>
          <a:blip r:embed="rId3"/>
          <a:stretch/>
        </p:blipFill>
        <p:spPr>
          <a:xfrm>
            <a:off x="516960" y="3128760"/>
            <a:ext cx="3928680" cy="1810800"/>
          </a:xfrm>
          <a:prstGeom prst="rect">
            <a:avLst/>
          </a:prstGeom>
          <a:ln w="0">
            <a:noFill/>
          </a:ln>
        </p:spPr>
      </p:pic>
      <p:pic>
        <p:nvPicPr>
          <p:cNvPr id="187" name="Picture 2" descr="What is a sigmoid function in neural networks? - Quora"/>
          <p:cNvPicPr/>
          <p:nvPr/>
        </p:nvPicPr>
        <p:blipFill>
          <a:blip r:embed="rId4"/>
          <a:stretch/>
        </p:blipFill>
        <p:spPr>
          <a:xfrm>
            <a:off x="5459400" y="1824840"/>
            <a:ext cx="3317760" cy="2488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Логистическая регрессия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Рисунок 8"/>
          <p:cNvPicPr/>
          <p:nvPr/>
        </p:nvPicPr>
        <p:blipFill>
          <a:blip r:embed="rId2"/>
          <a:stretch/>
        </p:blipFill>
        <p:spPr>
          <a:xfrm>
            <a:off x="500400" y="1206360"/>
            <a:ext cx="3362040" cy="821520"/>
          </a:xfrm>
          <a:prstGeom prst="rect">
            <a:avLst/>
          </a:prstGeom>
          <a:ln w="0">
            <a:noFill/>
          </a:ln>
        </p:spPr>
      </p:pic>
      <p:sp>
        <p:nvSpPr>
          <p:cNvPr id="190" name="object 11"/>
          <p:cNvSpPr/>
          <p:nvPr/>
        </p:nvSpPr>
        <p:spPr>
          <a:xfrm>
            <a:off x="5578200" y="1206360"/>
            <a:ext cx="356544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6680" rIns="0" bIns="0" anchor="t">
            <a:spAutoFit/>
          </a:bodyPr>
          <a:lstStyle/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В качестве </a:t>
            </a:r>
            <a:r>
              <a:rPr lang="en-US" sz="1400" b="0" strike="noStrike" spc="-7">
                <a:solidFill>
                  <a:srgbClr val="212121"/>
                </a:solidFill>
                <a:latin typeface="Arial"/>
                <a:ea typeface="Arial"/>
              </a:rPr>
              <a:t> </a:t>
            </a:r>
            <a:r>
              <a:rPr lang="ru-RU" sz="1400" b="0" strike="noStrike" spc="-7">
                <a:solidFill>
                  <a:srgbClr val="212121"/>
                </a:solidFill>
                <a:latin typeface="Arial"/>
                <a:ea typeface="Arial"/>
              </a:rPr>
              <a:t>используем сигмоиду: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Рисунок 11"/>
          <p:cNvPicPr/>
          <p:nvPr/>
        </p:nvPicPr>
        <p:blipFill>
          <a:blip r:embed="rId3"/>
          <a:stretch/>
        </p:blipFill>
        <p:spPr>
          <a:xfrm>
            <a:off x="500400" y="2031480"/>
            <a:ext cx="3362040" cy="1549800"/>
          </a:xfrm>
          <a:prstGeom prst="rect">
            <a:avLst/>
          </a:prstGeom>
          <a:ln w="0">
            <a:noFill/>
          </a:ln>
        </p:spPr>
      </p:pic>
      <p:pic>
        <p:nvPicPr>
          <p:cNvPr id="192" name="Picture 2" descr="What is a sigmoid function in neural networks? - Quora"/>
          <p:cNvPicPr/>
          <p:nvPr/>
        </p:nvPicPr>
        <p:blipFill>
          <a:blip r:embed="rId4"/>
          <a:stretch/>
        </p:blipFill>
        <p:spPr>
          <a:xfrm>
            <a:off x="5582160" y="1604880"/>
            <a:ext cx="3317760" cy="248832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2" descr="http://3.bp.blogspot.com/-HFPsQbmRQZQ/UGNvH_t06jI/AAAAAAAAD_Y/G7XYOTVa2mM/s1600/Screen+Shot+2012-09-26+at+2.08.25+PM.png"/>
          <p:cNvPicPr/>
          <p:nvPr/>
        </p:nvPicPr>
        <p:blipFill>
          <a:blip r:embed="rId5"/>
          <a:stretch/>
        </p:blipFill>
        <p:spPr>
          <a:xfrm>
            <a:off x="3537360" y="3115080"/>
            <a:ext cx="2068920" cy="1627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900" b="1" strike="noStrike" spc="-1">
                <a:solidFill>
                  <a:schemeClr val="lt1"/>
                </a:solidFill>
                <a:latin typeface="Roboto"/>
                <a:ea typeface="Roboto"/>
              </a:rPr>
              <a:t>L</a:t>
            </a:r>
            <a:r>
              <a:rPr lang="en-US" sz="4900" b="1" strike="noStrike" spc="-1">
                <a:solidFill>
                  <a:schemeClr val="lt1"/>
                </a:solidFill>
                <a:latin typeface="Roboto"/>
                <a:ea typeface="Roboto"/>
              </a:rPr>
              <a:t>ogistic Loss</a:t>
            </a:r>
            <a:endParaRPr lang="ru-RU" sz="4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1"/>
                </a:solidFill>
                <a:latin typeface="Roboto"/>
                <a:ea typeface="Roboto"/>
              </a:rPr>
              <a:t>Logistic Loss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Picture 2" descr="Applied python 2019 Sentiment | Kaggle"/>
          <p:cNvPicPr/>
          <p:nvPr/>
        </p:nvPicPr>
        <p:blipFill>
          <a:blip r:embed="rId2"/>
          <a:stretch/>
        </p:blipFill>
        <p:spPr>
          <a:xfrm>
            <a:off x="568440" y="1186920"/>
            <a:ext cx="4565160" cy="689400"/>
          </a:xfrm>
          <a:prstGeom prst="rect">
            <a:avLst/>
          </a:prstGeom>
          <a:ln w="0">
            <a:noFill/>
          </a:ln>
        </p:spPr>
      </p:pic>
      <p:pic>
        <p:nvPicPr>
          <p:cNvPr id="202" name="Рисунок 9"/>
          <p:cNvPicPr/>
          <p:nvPr/>
        </p:nvPicPr>
        <p:blipFill>
          <a:blip r:embed="rId3"/>
          <a:stretch/>
        </p:blipFill>
        <p:spPr>
          <a:xfrm>
            <a:off x="682920" y="1955160"/>
            <a:ext cx="4336200" cy="2628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1"/>
                </a:solidFill>
                <a:latin typeface="Roboto"/>
                <a:ea typeface="Roboto"/>
              </a:rPr>
              <a:t>Logistic Loss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Picture 2" descr="Applied python 2019 Sentiment | Kaggle"/>
          <p:cNvPicPr/>
          <p:nvPr/>
        </p:nvPicPr>
        <p:blipFill>
          <a:blip r:embed="rId2"/>
          <a:stretch/>
        </p:blipFill>
        <p:spPr>
          <a:xfrm>
            <a:off x="568440" y="1186920"/>
            <a:ext cx="4565160" cy="689400"/>
          </a:xfrm>
          <a:prstGeom prst="rect">
            <a:avLst/>
          </a:prstGeom>
          <a:ln w="0">
            <a:noFill/>
          </a:ln>
        </p:spPr>
      </p:pic>
      <p:pic>
        <p:nvPicPr>
          <p:cNvPr id="205" name="Рисунок 9"/>
          <p:cNvPicPr/>
          <p:nvPr/>
        </p:nvPicPr>
        <p:blipFill>
          <a:blip r:embed="rId3"/>
          <a:stretch/>
        </p:blipFill>
        <p:spPr>
          <a:xfrm>
            <a:off x="682920" y="1955160"/>
            <a:ext cx="4336200" cy="2628720"/>
          </a:xfrm>
          <a:prstGeom prst="rect">
            <a:avLst/>
          </a:prstGeom>
          <a:ln w="0">
            <a:noFill/>
          </a:ln>
        </p:spPr>
      </p:pic>
      <p:pic>
        <p:nvPicPr>
          <p:cNvPr id="206" name="Рисунок 4"/>
          <p:cNvPicPr/>
          <p:nvPr/>
        </p:nvPicPr>
        <p:blipFill>
          <a:blip r:embed="rId4"/>
          <a:stretch/>
        </p:blipFill>
        <p:spPr>
          <a:xfrm>
            <a:off x="5232240" y="2780640"/>
            <a:ext cx="2907713" cy="500442"/>
          </a:xfrm>
          <a:prstGeom prst="rect">
            <a:avLst/>
          </a:prstGeom>
          <a:ln w="0">
            <a:noFill/>
          </a:ln>
        </p:spPr>
      </p:pic>
      <p:sp>
        <p:nvSpPr>
          <p:cNvPr id="207" name="object 11"/>
          <p:cNvSpPr/>
          <p:nvPr/>
        </p:nvSpPr>
        <p:spPr>
          <a:xfrm>
            <a:off x="5315400" y="2409840"/>
            <a:ext cx="308592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6680" rIns="0" bIns="0" anchor="t">
            <a:spAutoFit/>
          </a:bodyPr>
          <a:lstStyle/>
          <a:p>
            <a:pPr marL="63360">
              <a:lnSpc>
                <a:spcPct val="100000"/>
              </a:lnSpc>
              <a:spcBef>
                <a:spcPts val="604"/>
              </a:spcBef>
            </a:pPr>
            <a:r>
              <a:rPr lang="ru-RU" sz="1600" b="0" strike="noStrike" spc="-7">
                <a:solidFill>
                  <a:srgbClr val="212121"/>
                </a:solidFill>
                <a:latin typeface="Arial"/>
                <a:ea typeface="Arial"/>
              </a:rPr>
              <a:t>Решаем градиентным спуском: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900" b="1" strike="noStrike" spc="-1">
                <a:solidFill>
                  <a:schemeClr val="lt1"/>
                </a:solidFill>
                <a:latin typeface="Roboto"/>
                <a:ea typeface="Roboto"/>
              </a:rPr>
              <a:t>Вопросы?</a:t>
            </a:r>
            <a:endParaRPr lang="ru-RU" sz="4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Google Shape;416;p72"/>
          <p:cNvPicPr/>
          <p:nvPr/>
        </p:nvPicPr>
        <p:blipFill>
          <a:blip r:embed="rId2"/>
          <a:stretch/>
        </p:blipFill>
        <p:spPr>
          <a:xfrm>
            <a:off x="720000" y="3370680"/>
            <a:ext cx="662040" cy="662040"/>
          </a:xfrm>
          <a:prstGeom prst="rect">
            <a:avLst/>
          </a:prstGeom>
          <a:ln w="0">
            <a:noFill/>
          </a:ln>
        </p:spPr>
      </p:pic>
      <p:sp>
        <p:nvSpPr>
          <p:cNvPr id="210" name="Google Shape;417;p72"/>
          <p:cNvSpPr/>
          <p:nvPr/>
        </p:nvSpPr>
        <p:spPr>
          <a:xfrm>
            <a:off x="1438200" y="3378960"/>
            <a:ext cx="29995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Ставим “+”,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если вопросы есть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Google Shape;418;p72"/>
          <p:cNvPicPr/>
          <p:nvPr/>
        </p:nvPicPr>
        <p:blipFill>
          <a:blip r:embed="rId3"/>
          <a:stretch/>
        </p:blipFill>
        <p:spPr>
          <a:xfrm>
            <a:off x="4102920" y="3370680"/>
            <a:ext cx="662040" cy="662040"/>
          </a:xfrm>
          <a:prstGeom prst="rect">
            <a:avLst/>
          </a:prstGeom>
          <a:ln w="0">
            <a:noFill/>
          </a:ln>
        </p:spPr>
      </p:pic>
      <p:sp>
        <p:nvSpPr>
          <p:cNvPr id="212" name="Google Shape;419;p72"/>
          <p:cNvSpPr/>
          <p:nvPr/>
        </p:nvSpPr>
        <p:spPr>
          <a:xfrm>
            <a:off x="4806720" y="3378960"/>
            <a:ext cx="29995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Ставим “–”,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если вопросов нет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900" b="1" strike="noStrike" spc="-1">
                <a:solidFill>
                  <a:schemeClr val="lt1"/>
                </a:solidFill>
                <a:latin typeface="Roboto"/>
                <a:ea typeface="Roboto"/>
              </a:rPr>
              <a:t>Метрики качества</a:t>
            </a:r>
            <a:endParaRPr lang="ru-RU" sz="4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AA1DC8-71AD-C745-9337-F83384348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421" y="1481640"/>
            <a:ext cx="2625678" cy="2006240"/>
          </a:xfrm>
          <a:prstGeom prst="rect">
            <a:avLst/>
          </a:prstGeom>
        </p:spPr>
      </p:pic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770400" y="312840"/>
            <a:ext cx="5965200" cy="868320"/>
          </a:xfrm>
          <a:prstGeom prst="rect">
            <a:avLst/>
          </a:prstGeom>
          <a:noFill/>
          <a:ln w="0">
            <a:noFill/>
          </a:ln>
        </p:spPr>
        <p:txBody>
          <a:bodyPr lIns="0" tIns="9360" rIns="0" bIns="0" anchor="t">
            <a:noAutofit/>
          </a:bodyPr>
          <a:lstStyle/>
          <a:p>
            <a:pPr marL="9360" indent="0">
              <a:lnSpc>
                <a:spcPct val="100000"/>
              </a:lnSpc>
              <a:spcBef>
                <a:spcPts val="74"/>
              </a:spcBef>
              <a:buNone/>
            </a:pPr>
            <a:r>
              <a:rPr lang="ru-RU" sz="2700" b="1" strike="noStrike" spc="-4">
                <a:solidFill>
                  <a:schemeClr val="lt1"/>
                </a:solidFill>
                <a:latin typeface="Arial"/>
                <a:ea typeface="Roboto"/>
              </a:rPr>
              <a:t>Матрица</a:t>
            </a:r>
            <a:r>
              <a:rPr lang="ru-RU" sz="2700" b="1" strike="noStrike" spc="-21">
                <a:solidFill>
                  <a:schemeClr val="lt1"/>
                </a:solidFill>
                <a:latin typeface="Arial"/>
                <a:ea typeface="Roboto"/>
              </a:rPr>
              <a:t> </a:t>
            </a:r>
            <a:r>
              <a:rPr lang="ru-RU" sz="2700" b="1" strike="noStrike" spc="-1">
                <a:solidFill>
                  <a:schemeClr val="lt1"/>
                </a:solidFill>
                <a:latin typeface="Arial"/>
                <a:ea typeface="Roboto"/>
              </a:rPr>
              <a:t>ошибок</a:t>
            </a:r>
            <a:r>
              <a:rPr lang="ru-RU" sz="2700" b="1" strike="noStrike" spc="-12">
                <a:solidFill>
                  <a:schemeClr val="lt1"/>
                </a:solidFill>
                <a:latin typeface="Arial"/>
                <a:ea typeface="Roboto"/>
              </a:rPr>
              <a:t> </a:t>
            </a:r>
            <a:r>
              <a:rPr lang="ru-RU" sz="2700" b="1" strike="noStrike" spc="-4">
                <a:solidFill>
                  <a:schemeClr val="lt1"/>
                </a:solidFill>
                <a:latin typeface="Arial"/>
                <a:ea typeface="Roboto"/>
              </a:rPr>
              <a:t>(confusion </a:t>
            </a:r>
            <a:r>
              <a:rPr lang="ru-RU" sz="2700" b="1" strike="noStrike" spc="-1">
                <a:solidFill>
                  <a:schemeClr val="lt1"/>
                </a:solidFill>
                <a:latin typeface="Arial"/>
                <a:ea typeface="Roboto"/>
              </a:rPr>
              <a:t>matrix)</a:t>
            </a:r>
            <a:endParaRPr lang="ru-RU" sz="2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object 11"/>
          <p:cNvPicPr/>
          <p:nvPr/>
        </p:nvPicPr>
        <p:blipFill>
          <a:blip r:embed="rId3"/>
          <a:stretch/>
        </p:blipFill>
        <p:spPr>
          <a:xfrm>
            <a:off x="6330960" y="988560"/>
            <a:ext cx="2433240" cy="1999800"/>
          </a:xfrm>
          <a:prstGeom prst="rect">
            <a:avLst/>
          </a:prstGeom>
          <a:ln w="0">
            <a:noFill/>
          </a:ln>
        </p:spPr>
      </p:pic>
      <p:grpSp>
        <p:nvGrpSpPr>
          <p:cNvPr id="232" name="object 12"/>
          <p:cNvGrpSpPr/>
          <p:nvPr/>
        </p:nvGrpSpPr>
        <p:grpSpPr>
          <a:xfrm>
            <a:off x="193320" y="2162880"/>
            <a:ext cx="6061680" cy="2826000"/>
            <a:chOff x="193320" y="2162880"/>
            <a:chExt cx="6061680" cy="2826000"/>
          </a:xfrm>
        </p:grpSpPr>
        <p:sp>
          <p:nvSpPr>
            <p:cNvPr id="233" name="object 13"/>
            <p:cNvSpPr/>
            <p:nvPr/>
          </p:nvSpPr>
          <p:spPr>
            <a:xfrm>
              <a:off x="5479560" y="2162880"/>
              <a:ext cx="775440" cy="383400"/>
            </a:xfrm>
            <a:custGeom>
              <a:avLst/>
              <a:gdLst>
                <a:gd name="textAreaLeft" fmla="*/ 0 w 775440"/>
                <a:gd name="textAreaRight" fmla="*/ 775800 w 775440"/>
                <a:gd name="textAreaTop" fmla="*/ 0 h 383400"/>
                <a:gd name="textAreaBottom" fmla="*/ 383760 h 383400"/>
              </a:gdLst>
              <a:ahLst/>
              <a:cxnLst/>
              <a:rect l="textAreaLeft" t="textAreaTop" r="textAreaRight" b="textAreaBottom"/>
              <a:pathLst>
                <a:path w="1034415" h="511810">
                  <a:moveTo>
                    <a:pt x="51689" y="443230"/>
                  </a:moveTo>
                  <a:lnTo>
                    <a:pt x="0" y="511048"/>
                  </a:lnTo>
                  <a:lnTo>
                    <a:pt x="85217" y="511683"/>
                  </a:lnTo>
                  <a:lnTo>
                    <a:pt x="74020" y="488823"/>
                  </a:lnTo>
                  <a:lnTo>
                    <a:pt x="59817" y="488823"/>
                  </a:lnTo>
                  <a:lnTo>
                    <a:pt x="54228" y="477393"/>
                  </a:lnTo>
                  <a:lnTo>
                    <a:pt x="65674" y="471783"/>
                  </a:lnTo>
                  <a:lnTo>
                    <a:pt x="51689" y="443230"/>
                  </a:lnTo>
                  <a:close/>
                </a:path>
                <a:path w="1034415" h="511810">
                  <a:moveTo>
                    <a:pt x="65674" y="471783"/>
                  </a:moveTo>
                  <a:lnTo>
                    <a:pt x="54228" y="477393"/>
                  </a:lnTo>
                  <a:lnTo>
                    <a:pt x="59817" y="488823"/>
                  </a:lnTo>
                  <a:lnTo>
                    <a:pt x="71270" y="483209"/>
                  </a:lnTo>
                  <a:lnTo>
                    <a:pt x="65674" y="471783"/>
                  </a:lnTo>
                  <a:close/>
                </a:path>
                <a:path w="1034415" h="511810">
                  <a:moveTo>
                    <a:pt x="71270" y="483209"/>
                  </a:moveTo>
                  <a:lnTo>
                    <a:pt x="59817" y="488823"/>
                  </a:lnTo>
                  <a:lnTo>
                    <a:pt x="74020" y="488823"/>
                  </a:lnTo>
                  <a:lnTo>
                    <a:pt x="71270" y="483209"/>
                  </a:lnTo>
                  <a:close/>
                </a:path>
                <a:path w="1034415" h="511810">
                  <a:moveTo>
                    <a:pt x="1028319" y="0"/>
                  </a:moveTo>
                  <a:lnTo>
                    <a:pt x="65674" y="471783"/>
                  </a:lnTo>
                  <a:lnTo>
                    <a:pt x="71270" y="483209"/>
                  </a:lnTo>
                  <a:lnTo>
                    <a:pt x="1033907" y="11430"/>
                  </a:lnTo>
                  <a:lnTo>
                    <a:pt x="1028319" y="0"/>
                  </a:lnTo>
                  <a:close/>
                </a:path>
              </a:pathLst>
            </a:custGeom>
            <a:solidFill>
              <a:srgbClr val="3E6D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05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pic>
          <p:nvPicPr>
            <p:cNvPr id="234" name="object 14"/>
            <p:cNvPicPr/>
            <p:nvPr/>
          </p:nvPicPr>
          <p:blipFill>
            <a:blip r:embed="rId4"/>
            <a:stretch/>
          </p:blipFill>
          <p:spPr>
            <a:xfrm>
              <a:off x="193320" y="2989080"/>
              <a:ext cx="2442240" cy="1999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5" name="object 15"/>
            <p:cNvSpPr/>
            <p:nvPr/>
          </p:nvSpPr>
          <p:spPr>
            <a:xfrm>
              <a:off x="2633760" y="3200040"/>
              <a:ext cx="1755720" cy="793080"/>
            </a:xfrm>
            <a:custGeom>
              <a:avLst/>
              <a:gdLst>
                <a:gd name="textAreaLeft" fmla="*/ 0 w 1755720"/>
                <a:gd name="textAreaRight" fmla="*/ 1756080 w 1755720"/>
                <a:gd name="textAreaTop" fmla="*/ 0 h 793080"/>
                <a:gd name="textAreaBottom" fmla="*/ 793440 h 793080"/>
              </a:gdLst>
              <a:ahLst/>
              <a:cxnLst/>
              <a:rect l="textAreaLeft" t="textAreaTop" r="textAreaRight" b="textAreaBottom"/>
              <a:pathLst>
                <a:path w="2341245" h="1057910">
                  <a:moveTo>
                    <a:pt x="2268796" y="28955"/>
                  </a:moveTo>
                  <a:lnTo>
                    <a:pt x="0" y="1045971"/>
                  </a:lnTo>
                  <a:lnTo>
                    <a:pt x="5080" y="1057528"/>
                  </a:lnTo>
                  <a:lnTo>
                    <a:pt x="2273995" y="40516"/>
                  </a:lnTo>
                  <a:lnTo>
                    <a:pt x="2268796" y="28955"/>
                  </a:lnTo>
                  <a:close/>
                </a:path>
                <a:path w="2341245" h="1057910">
                  <a:moveTo>
                    <a:pt x="2324455" y="23748"/>
                  </a:moveTo>
                  <a:lnTo>
                    <a:pt x="2280412" y="23748"/>
                  </a:lnTo>
                  <a:lnTo>
                    <a:pt x="2285619" y="35305"/>
                  </a:lnTo>
                  <a:lnTo>
                    <a:pt x="2273995" y="40516"/>
                  </a:lnTo>
                  <a:lnTo>
                    <a:pt x="2287016" y="69468"/>
                  </a:lnTo>
                  <a:lnTo>
                    <a:pt x="2324455" y="23748"/>
                  </a:lnTo>
                  <a:close/>
                </a:path>
                <a:path w="2341245" h="1057910">
                  <a:moveTo>
                    <a:pt x="2280412" y="23748"/>
                  </a:moveTo>
                  <a:lnTo>
                    <a:pt x="2268796" y="28955"/>
                  </a:lnTo>
                  <a:lnTo>
                    <a:pt x="2273995" y="40516"/>
                  </a:lnTo>
                  <a:lnTo>
                    <a:pt x="2285619" y="35305"/>
                  </a:lnTo>
                  <a:lnTo>
                    <a:pt x="2280412" y="23748"/>
                  </a:lnTo>
                  <a:close/>
                </a:path>
                <a:path w="2341245" h="1057910">
                  <a:moveTo>
                    <a:pt x="2255774" y="0"/>
                  </a:moveTo>
                  <a:lnTo>
                    <a:pt x="2268796" y="28955"/>
                  </a:lnTo>
                  <a:lnTo>
                    <a:pt x="2280412" y="23748"/>
                  </a:lnTo>
                  <a:lnTo>
                    <a:pt x="2324455" y="23748"/>
                  </a:lnTo>
                  <a:lnTo>
                    <a:pt x="2340991" y="3555"/>
                  </a:lnTo>
                  <a:lnTo>
                    <a:pt x="2255774" y="0"/>
                  </a:lnTo>
                  <a:close/>
                </a:path>
              </a:pathLst>
            </a:custGeom>
            <a:solidFill>
              <a:srgbClr val="3E6D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050" b="0" strike="noStrike" spc="-1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236" name="TextBox 15"/>
          <p:cNvSpPr/>
          <p:nvPr/>
        </p:nvSpPr>
        <p:spPr>
          <a:xfrm>
            <a:off x="373320" y="416520"/>
            <a:ext cx="4571640" cy="5679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3100" b="1" strike="noStrike" spc="-1" dirty="0">
                <a:solidFill>
                  <a:srgbClr val="000000"/>
                </a:solidFill>
                <a:latin typeface="Roboto"/>
                <a:ea typeface="Roboto"/>
              </a:rPr>
              <a:t>Метрики качества</a:t>
            </a:r>
            <a:endParaRPr lang="ru-RU" sz="3100" b="1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0242-F671-F446-9CD5-9848AF30C02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>
              <a:spcBef>
                <a:spcPct val="0"/>
              </a:spcBef>
            </a:pPr>
            <a:r>
              <a:rPr lang="ru-RU" sz="3100" b="1" spc="-1" dirty="0">
                <a:solidFill>
                  <a:schemeClr val="dk1"/>
                </a:solidFill>
                <a:latin typeface="Roboto"/>
                <a:ea typeface="Roboto"/>
              </a:rPr>
              <a:t>Метрики качества</a:t>
            </a:r>
            <a:endParaRPr lang="en-US" sz="3100" b="1" spc="-1" dirty="0">
              <a:solidFill>
                <a:schemeClr val="dk1"/>
              </a:solidFill>
              <a:latin typeface="Roboto"/>
              <a:ea typeface="Roboto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C97A77A7-292C-514B-AF47-CF7EC70722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522" y="3577949"/>
            <a:ext cx="2598559" cy="1425702"/>
          </a:xfrm>
          <a:prstGeom prst="rect">
            <a:avLst/>
          </a:prstGeom>
        </p:spPr>
      </p:pic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653399DE-394B-8049-ACCA-9C21DC3FB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13615"/>
              </p:ext>
            </p:extLst>
          </p:nvPr>
        </p:nvGraphicFramePr>
        <p:xfrm>
          <a:off x="304800" y="1178307"/>
          <a:ext cx="2465184" cy="1825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6296">
                  <a:extLst>
                    <a:ext uri="{9D8B030D-6E8A-4147-A177-3AD203B41FA5}">
                      <a16:colId xmlns:a16="http://schemas.microsoft.com/office/drawing/2014/main" val="395852037"/>
                    </a:ext>
                  </a:extLst>
                </a:gridCol>
                <a:gridCol w="616296">
                  <a:extLst>
                    <a:ext uri="{9D8B030D-6E8A-4147-A177-3AD203B41FA5}">
                      <a16:colId xmlns:a16="http://schemas.microsoft.com/office/drawing/2014/main" val="710209108"/>
                    </a:ext>
                  </a:extLst>
                </a:gridCol>
                <a:gridCol w="616296">
                  <a:extLst>
                    <a:ext uri="{9D8B030D-6E8A-4147-A177-3AD203B41FA5}">
                      <a16:colId xmlns:a16="http://schemas.microsoft.com/office/drawing/2014/main" val="3017269362"/>
                    </a:ext>
                  </a:extLst>
                </a:gridCol>
                <a:gridCol w="616296">
                  <a:extLst>
                    <a:ext uri="{9D8B030D-6E8A-4147-A177-3AD203B41FA5}">
                      <a16:colId xmlns:a16="http://schemas.microsoft.com/office/drawing/2014/main" val="3176002476"/>
                    </a:ext>
                  </a:extLst>
                </a:gridCol>
              </a:tblGrid>
              <a:tr h="4562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Actual values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92765"/>
                  </a:ext>
                </a:extLst>
              </a:tr>
              <a:tr h="456278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Predicted values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982192"/>
                  </a:ext>
                </a:extLst>
              </a:tr>
              <a:tr h="45627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222477"/>
                  </a:ext>
                </a:extLst>
              </a:tr>
              <a:tr h="45627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80987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2D147A8-2B03-4B43-9032-0A2003C58008}"/>
              </a:ext>
            </a:extLst>
          </p:cNvPr>
          <p:cNvSpPr/>
          <p:nvPr/>
        </p:nvSpPr>
        <p:spPr>
          <a:xfrm>
            <a:off x="1447800" y="2038350"/>
            <a:ext cx="1455559" cy="533400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E3B77F-703F-3547-B70E-B39DF333C8BD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>
            <a:off x="2903359" y="2305050"/>
            <a:ext cx="518612" cy="278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63F5E6-7CFC-7441-A3DF-DD928894A4E3}"/>
              </a:ext>
            </a:extLst>
          </p:cNvPr>
          <p:cNvSpPr/>
          <p:nvPr/>
        </p:nvSpPr>
        <p:spPr>
          <a:xfrm>
            <a:off x="1447800" y="2038350"/>
            <a:ext cx="762000" cy="1066800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7CD4F5E6-F6CB-3E4B-98B8-9EBAE281AC2E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>
          <a:xfrm rot="16200000" flipH="1">
            <a:off x="2483184" y="2450765"/>
            <a:ext cx="318033" cy="1626801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E7A71B6-F03D-0744-A684-020FFA087BD3}"/>
              </a:ext>
            </a:extLst>
          </p:cNvPr>
          <p:cNvSpPr/>
          <p:nvPr/>
        </p:nvSpPr>
        <p:spPr>
          <a:xfrm>
            <a:off x="3421971" y="2316684"/>
            <a:ext cx="1024413" cy="533400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F5B05F8-F719-864F-A061-D473A3AB5DF8}"/>
              </a:ext>
            </a:extLst>
          </p:cNvPr>
          <p:cNvSpPr/>
          <p:nvPr/>
        </p:nvSpPr>
        <p:spPr>
          <a:xfrm>
            <a:off x="3455601" y="3181350"/>
            <a:ext cx="1024413" cy="483666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8E3D4B-80C7-A045-9CEC-C9F6747B46E4}"/>
              </a:ext>
            </a:extLst>
          </p:cNvPr>
          <p:cNvGrpSpPr/>
          <p:nvPr/>
        </p:nvGrpSpPr>
        <p:grpSpPr>
          <a:xfrm>
            <a:off x="3505200" y="1185197"/>
            <a:ext cx="5291715" cy="3881447"/>
            <a:chOff x="3505200" y="1185197"/>
            <a:chExt cx="5291715" cy="388144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71B3F82-2EBB-0040-826F-7F8361BE743C}"/>
                </a:ext>
              </a:extLst>
            </p:cNvPr>
            <p:cNvGrpSpPr/>
            <p:nvPr/>
          </p:nvGrpSpPr>
          <p:grpSpPr>
            <a:xfrm>
              <a:off x="3505200" y="1185197"/>
              <a:ext cx="5291715" cy="3881447"/>
              <a:chOff x="3482478" y="1084351"/>
              <a:chExt cx="5291715" cy="38814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bject 4">
                    <a:extLst>
                      <a:ext uri="{FF2B5EF4-FFF2-40B4-BE49-F238E27FC236}">
                        <a16:creationId xmlns:a16="http://schemas.microsoft.com/office/drawing/2014/main" id="{F50C2602-ACA9-334D-B4A1-4254CEC8ED46}"/>
                      </a:ext>
                    </a:extLst>
                  </p:cNvPr>
                  <p:cNvSpPr txBox="1"/>
                  <p:nvPr/>
                </p:nvSpPr>
                <p:spPr>
                  <a:xfrm>
                    <a:off x="3482478" y="1084351"/>
                    <a:ext cx="5142230" cy="3881447"/>
                  </a:xfrm>
                  <a:prstGeom prst="rect">
                    <a:avLst/>
                  </a:prstGeom>
                </p:spPr>
                <p:txBody>
                  <a:bodyPr vert="horz" wrap="square" lIns="0" tIns="1333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r>
                      <a:rPr lang="ru-RU" sz="1100" b="1" spc="-5" dirty="0">
                        <a:latin typeface="Arial"/>
                        <a:cs typeface="Arial"/>
                      </a:rPr>
                      <a:t>1)</a:t>
                    </a:r>
                    <a:r>
                      <a:rPr lang="ru-RU" sz="1100" b="1" spc="-20" dirty="0">
                        <a:latin typeface="Arial"/>
                        <a:cs typeface="Arial"/>
                      </a:rPr>
                      <a:t> </a:t>
                    </a:r>
                    <a:r>
                      <a:rPr lang="ru-RU" sz="1100" b="1" spc="-5" dirty="0">
                        <a:latin typeface="Arial"/>
                        <a:cs typeface="Arial"/>
                      </a:rPr>
                      <a:t>Доля</a:t>
                    </a:r>
                    <a:r>
                      <a:rPr lang="ru-RU" sz="1100" b="1" dirty="0">
                        <a:latin typeface="Arial"/>
                        <a:cs typeface="Arial"/>
                      </a:rPr>
                      <a:t> верно</a:t>
                    </a:r>
                    <a:r>
                      <a:rPr lang="ru-RU" sz="1100" b="1" spc="-20" dirty="0">
                        <a:latin typeface="Arial"/>
                        <a:cs typeface="Arial"/>
                      </a:rPr>
                      <a:t> </a:t>
                    </a:r>
                    <a:r>
                      <a:rPr lang="ru-RU" sz="1100" b="1" spc="-5" dirty="0">
                        <a:latin typeface="Arial"/>
                        <a:cs typeface="Arial"/>
                      </a:rPr>
                      <a:t>классифицированных</a:t>
                    </a:r>
                    <a:r>
                      <a:rPr lang="ru-RU" sz="1100" b="1" spc="-40" dirty="0">
                        <a:latin typeface="Arial"/>
                        <a:cs typeface="Arial"/>
                      </a:rPr>
                      <a:t> </a:t>
                    </a:r>
                    <a:r>
                      <a:rPr lang="ru-RU" sz="1100" b="1" spc="-5" dirty="0">
                        <a:latin typeface="Arial"/>
                        <a:cs typeface="Arial"/>
                      </a:rPr>
                      <a:t>объектов</a:t>
                    </a:r>
                    <a:r>
                      <a:rPr lang="ru-RU" sz="1100" b="1" dirty="0">
                        <a:latin typeface="Arial"/>
                        <a:cs typeface="Arial"/>
                      </a:rPr>
                      <a:t> </a:t>
                    </a:r>
                    <a:r>
                      <a:rPr lang="ru-RU" sz="1100" b="1" spc="-10" dirty="0">
                        <a:latin typeface="Arial"/>
                        <a:cs typeface="Arial"/>
                      </a:rPr>
                      <a:t>(</a:t>
                    </a:r>
                    <a:r>
                      <a:rPr lang="en-US" sz="1100" b="1" spc="-10" dirty="0">
                        <a:latin typeface="Arial"/>
                        <a:cs typeface="Arial"/>
                      </a:rPr>
                      <a:t>Accuracy)</a:t>
                    </a: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endParaRPr lang="en-US" sz="1100" b="0" i="1" dirty="0">
                      <a:latin typeface="Cambria Math" panose="02040503050406030204" pitchFamily="18" charset="0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𝑆𝑐𝑐𝑢𝑟𝑎𝑐𝑦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Arial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𝑇𝑃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𝑇𝑁</m:t>
                              </m:r>
                            </m:num>
                            <m:den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𝑇𝑃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𝐹𝑃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𝑇𝑁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𝐹𝑁</m:t>
                              </m:r>
                            </m:den>
                          </m:f>
                        </m:oMath>
                      </m:oMathPara>
                    </a14:m>
                    <a:endParaRPr lang="en-US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endParaRPr lang="en-TR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r>
                      <a:rPr lang="en-TR" sz="1100" b="1" dirty="0">
                        <a:latin typeface="Arial"/>
                        <a:cs typeface="Arial"/>
                      </a:rPr>
                      <a:t>2) </a:t>
                    </a:r>
                    <a:r>
                      <a:rPr lang="ru-RU" sz="1100" b="1" dirty="0">
                        <a:latin typeface="Arial"/>
                        <a:cs typeface="Arial"/>
                      </a:rPr>
                      <a:t>Точность (</a:t>
                    </a:r>
                    <a:r>
                      <a:rPr lang="en-US" sz="1100" b="1" dirty="0">
                        <a:latin typeface="Arial"/>
                        <a:cs typeface="Arial"/>
                      </a:rPr>
                      <a:t>Precision) (</a:t>
                    </a:r>
                    <a:r>
                      <a:rPr lang="ru-RU" sz="1100" b="1" dirty="0">
                        <a:latin typeface="Arial"/>
                        <a:cs typeface="Arial"/>
                      </a:rPr>
                      <a:t>Ошибки первого рода</a:t>
                    </a:r>
                    <a:r>
                      <a:rPr lang="en-US" sz="1100" b="1" dirty="0">
                        <a:latin typeface="Arial"/>
                        <a:cs typeface="Arial"/>
                      </a:rPr>
                      <a:t>):</a:t>
                    </a: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endParaRPr lang="en-US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𝑃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Arial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𝑇𝑃</m:t>
                              </m:r>
                            </m:num>
                            <m:den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𝑇𝑃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𝐹𝑃</m:t>
                              </m:r>
                            </m:den>
                          </m:f>
                        </m:oMath>
                      </m:oMathPara>
                    </a14:m>
                    <a:endParaRPr lang="en-US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endParaRPr lang="en-TR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r>
                      <a:rPr lang="en-TR" sz="1100" b="1" dirty="0">
                        <a:latin typeface="Arial"/>
                        <a:cs typeface="Arial"/>
                      </a:rPr>
                      <a:t>3) </a:t>
                    </a:r>
                    <a:r>
                      <a:rPr lang="ru-RU" sz="1100" b="1" dirty="0">
                        <a:latin typeface="Arial"/>
                        <a:cs typeface="Arial"/>
                      </a:rPr>
                      <a:t>Полнота (</a:t>
                    </a:r>
                    <a:r>
                      <a:rPr lang="en-US" sz="1100" b="1" dirty="0">
                        <a:latin typeface="Arial"/>
                        <a:cs typeface="Arial"/>
                      </a:rPr>
                      <a:t>Recall)</a:t>
                    </a:r>
                    <a:r>
                      <a:rPr lang="ru-RU" sz="1100" b="1" dirty="0">
                        <a:latin typeface="Arial"/>
                        <a:cs typeface="Arial"/>
                      </a:rPr>
                      <a:t> (Ошибки второго рода)</a:t>
                    </a:r>
                    <a:r>
                      <a:rPr lang="en-US" sz="1100" b="1" dirty="0">
                        <a:latin typeface="Arial"/>
                        <a:cs typeface="Arial"/>
                      </a:rPr>
                      <a:t>:</a:t>
                    </a: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endParaRPr lang="en-US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𝑅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Arial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𝑇𝑃</m:t>
                              </m:r>
                            </m:num>
                            <m:den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𝑇𝑃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𝐹𝑁</m:t>
                              </m:r>
                            </m:den>
                          </m:f>
                        </m:oMath>
                      </m:oMathPara>
                    </a14:m>
                    <a:endParaRPr lang="en-US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endParaRPr lang="en-TR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r>
                      <a:rPr lang="en-TR" sz="1100" b="1" dirty="0">
                        <a:latin typeface="Arial"/>
                        <a:cs typeface="Arial"/>
                      </a:rPr>
                      <a:t>4) </a:t>
                    </a:r>
                    <a:r>
                      <a:rPr lang="en-US" sz="1100" b="1" dirty="0">
                        <a:latin typeface="Arial"/>
                        <a:cs typeface="Arial"/>
                      </a:rPr>
                      <a:t>F-</a:t>
                    </a:r>
                    <a:r>
                      <a:rPr lang="ru-RU" sz="1100" b="1" dirty="0">
                        <a:latin typeface="Arial"/>
                        <a:cs typeface="Arial"/>
                      </a:rPr>
                      <a:t>мера (</a:t>
                    </a:r>
                    <a:r>
                      <a:rPr lang="en-US" sz="1100" b="1" dirty="0">
                        <a:latin typeface="Arial"/>
                        <a:cs typeface="Arial"/>
                      </a:rPr>
                      <a:t>F-measure):</a:t>
                    </a: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endParaRPr lang="en-US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𝛽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Arial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𝑃𝑅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𝑃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𝑅</m:t>
                              </m:r>
                            </m:den>
                          </m:f>
                        </m:oMath>
                      </m:oMathPara>
                    </a14:m>
                    <a:endParaRPr lang="ru-RU" sz="1100" b="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:endParaRPr lang="ru-RU" sz="1100" dirty="0">
                      <a:latin typeface="Arial"/>
                      <a:cs typeface="Arial"/>
                    </a:endParaRPr>
                  </a:p>
                  <a:p>
                    <a:pPr marL="12700">
                      <a:lnSpc>
                        <a:spcPct val="100000"/>
                      </a:lnSpc>
                      <a:spcBef>
                        <a:spcPts val="10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Arial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ru-RU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2</m:t>
                              </m:r>
                              <m:r>
                                <a:rPr lang="ru-RU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×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𝑃𝑟𝑒𝑐𝑖𝑠𝑖𝑜𝑛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×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𝑅𝑒𝑐𝑎𝑙𝑙</m:t>
                              </m:r>
                            </m:num>
                            <m:den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𝑃𝑟𝑒𝑐𝑖𝑠𝑖𝑜𝑛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𝑅𝑒𝑐𝑎𝑙𝑙</m:t>
                              </m:r>
                            </m:den>
                          </m:f>
                        </m:oMath>
                      </m:oMathPara>
                    </a14:m>
                    <a:endParaRPr sz="1100" dirty="0">
                      <a:latin typeface="Arial"/>
                      <a:cs typeface="Arial"/>
                    </a:endParaRPr>
                  </a:p>
                </p:txBody>
              </p:sp>
            </mc:Choice>
            <mc:Fallback xmlns="">
              <p:sp>
                <p:nvSpPr>
                  <p:cNvPr id="4" name="object 4">
                    <a:extLst>
                      <a:ext uri="{FF2B5EF4-FFF2-40B4-BE49-F238E27FC236}">
                        <a16:creationId xmlns:a16="http://schemas.microsoft.com/office/drawing/2014/main" id="{F50C2602-ACA9-334D-B4A1-4254CEC8ED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2478" y="1084351"/>
                    <a:ext cx="5142230" cy="38814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478" t="-98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1058D1-C4A3-4C47-B6E7-6864151B67F8}"/>
                  </a:ext>
                </a:extLst>
              </p:cNvPr>
              <p:cNvSpPr txBox="1"/>
              <p:nvPr/>
            </p:nvSpPr>
            <p:spPr>
              <a:xfrm>
                <a:off x="4876800" y="2169584"/>
                <a:ext cx="365760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spc="-1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Показывают</a:t>
                </a:r>
                <a:r>
                  <a:rPr lang="ru-RU" sz="1100" spc="-1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4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какую</a:t>
                </a:r>
                <a:r>
                  <a:rPr lang="ru-RU" sz="1100" spc="2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долю</a:t>
                </a:r>
                <a:r>
                  <a:rPr lang="ru-RU" sz="1100" spc="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объектов,</a:t>
                </a:r>
                <a:r>
                  <a:rPr lang="ru-RU" sz="1100" spc="-2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названных </a:t>
                </a:r>
                <a:r>
                  <a:rPr lang="ru-RU" sz="1100" spc="-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классификатором</a:t>
                </a:r>
                <a:r>
                  <a:rPr lang="ru-RU" sz="1100" spc="-3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положительными </a:t>
                </a:r>
                <a:r>
                  <a:rPr lang="ru-RU" sz="110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и</a:t>
                </a:r>
                <a:r>
                  <a:rPr lang="ru-RU" sz="1100" spc="1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при</a:t>
                </a:r>
                <a:r>
                  <a:rPr lang="ru-RU" sz="1100" spc="1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этом </a:t>
                </a:r>
                <a:r>
                  <a:rPr lang="ru-RU" sz="1100" spc="-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действительно</a:t>
                </a:r>
                <a:r>
                  <a:rPr lang="ru-RU" sz="1100" spc="-3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являющимися</a:t>
                </a:r>
                <a:r>
                  <a:rPr lang="ru-RU" sz="1100" spc="25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0" dirty="0">
                    <a:solidFill>
                      <a:srgbClr val="212121"/>
                    </a:solidFill>
                    <a:latin typeface="Microsoft Sans Serif"/>
                    <a:cs typeface="Microsoft Sans Serif"/>
                  </a:rPr>
                  <a:t>положительными</a:t>
                </a:r>
                <a:endParaRPr lang="ru-RU" sz="1100" dirty="0">
                  <a:latin typeface="Microsoft Sans Serif"/>
                  <a:cs typeface="Microsoft Sans Serif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D1BFE9-4C77-5846-84B7-C90227B0D833}"/>
                  </a:ext>
                </a:extLst>
              </p:cNvPr>
              <p:cNvSpPr txBox="1"/>
              <p:nvPr/>
            </p:nvSpPr>
            <p:spPr>
              <a:xfrm>
                <a:off x="4876800" y="3046981"/>
                <a:ext cx="3897393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spc="-15" dirty="0">
                    <a:latin typeface="Microsoft Sans Serif"/>
                    <a:cs typeface="Microsoft Sans Serif"/>
                  </a:rPr>
                  <a:t>Показывает,</a:t>
                </a:r>
                <a:r>
                  <a:rPr lang="ru-RU" sz="1100" spc="-25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40" dirty="0">
                    <a:latin typeface="Microsoft Sans Serif"/>
                    <a:cs typeface="Microsoft Sans Serif"/>
                  </a:rPr>
                  <a:t>какую</a:t>
                </a:r>
                <a:r>
                  <a:rPr lang="ru-RU" sz="1100" spc="15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5" dirty="0">
                    <a:latin typeface="Microsoft Sans Serif"/>
                    <a:cs typeface="Microsoft Sans Serif"/>
                  </a:rPr>
                  <a:t>долю</a:t>
                </a:r>
                <a:r>
                  <a:rPr lang="ru-RU" sz="1100" spc="-5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5" dirty="0">
                    <a:latin typeface="Microsoft Sans Serif"/>
                    <a:cs typeface="Microsoft Sans Serif"/>
                  </a:rPr>
                  <a:t>объектов </a:t>
                </a:r>
                <a:r>
                  <a:rPr lang="ru-RU" sz="1100" spc="-10" dirty="0">
                    <a:latin typeface="Microsoft Sans Serif"/>
                    <a:cs typeface="Microsoft Sans Serif"/>
                  </a:rPr>
                  <a:t> положительного</a:t>
                </a:r>
                <a:r>
                  <a:rPr lang="ru-RU" sz="1100" spc="-35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5" dirty="0">
                    <a:latin typeface="Microsoft Sans Serif"/>
                    <a:cs typeface="Microsoft Sans Serif"/>
                  </a:rPr>
                  <a:t>класса </a:t>
                </a:r>
                <a:r>
                  <a:rPr lang="ru-RU" sz="1100" spc="-30" dirty="0">
                    <a:latin typeface="Microsoft Sans Serif"/>
                    <a:cs typeface="Microsoft Sans Serif"/>
                  </a:rPr>
                  <a:t>из</a:t>
                </a:r>
                <a:r>
                  <a:rPr lang="ru-RU" sz="1100" spc="15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5" dirty="0">
                    <a:latin typeface="Microsoft Sans Serif"/>
                    <a:cs typeface="Microsoft Sans Serif"/>
                  </a:rPr>
                  <a:t>всех</a:t>
                </a:r>
                <a:r>
                  <a:rPr lang="ru-RU" sz="1100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5" dirty="0">
                    <a:latin typeface="Microsoft Sans Serif"/>
                    <a:cs typeface="Microsoft Sans Serif"/>
                  </a:rPr>
                  <a:t>объектов </a:t>
                </a:r>
                <a:r>
                  <a:rPr lang="ru-RU" sz="1100" spc="-360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0" dirty="0">
                    <a:latin typeface="Microsoft Sans Serif"/>
                    <a:cs typeface="Microsoft Sans Serif"/>
                  </a:rPr>
                  <a:t>положительного</a:t>
                </a:r>
                <a:r>
                  <a:rPr lang="ru-RU" sz="1100" spc="-35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5" dirty="0">
                    <a:latin typeface="Microsoft Sans Serif"/>
                    <a:cs typeface="Microsoft Sans Serif"/>
                  </a:rPr>
                  <a:t>класса</a:t>
                </a:r>
                <a:r>
                  <a:rPr lang="ru-RU" sz="1100" spc="-20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dirty="0">
                    <a:latin typeface="Microsoft Sans Serif"/>
                    <a:cs typeface="Microsoft Sans Serif"/>
                  </a:rPr>
                  <a:t>нашел</a:t>
                </a:r>
                <a:r>
                  <a:rPr lang="ru-RU" sz="1100" spc="-15" dirty="0">
                    <a:latin typeface="Microsoft Sans Serif"/>
                    <a:cs typeface="Microsoft Sans Serif"/>
                  </a:rPr>
                  <a:t> </a:t>
                </a:r>
                <a:r>
                  <a:rPr lang="ru-RU" sz="1100" spc="-10" dirty="0">
                    <a:latin typeface="Microsoft Sans Serif"/>
                    <a:cs typeface="Microsoft Sans Serif"/>
                  </a:rPr>
                  <a:t>алгоритм</a:t>
                </a:r>
                <a:endParaRPr lang="ru-RU" sz="1100" dirty="0">
                  <a:latin typeface="Microsoft Sans Serif"/>
                  <a:cs typeface="Microsoft Sans Serif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2F7744-79D4-3449-ADB3-DFDD8224D59E}"/>
                  </a:ext>
                </a:extLst>
              </p:cNvPr>
              <p:cNvSpPr txBox="1"/>
              <p:nvPr/>
            </p:nvSpPr>
            <p:spPr>
              <a:xfrm>
                <a:off x="4876799" y="4059149"/>
                <a:ext cx="389739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100" spc="-15" dirty="0">
                    <a:latin typeface="Microsoft Sans Serif"/>
                    <a:cs typeface="Microsoft Sans Serif"/>
                  </a:rPr>
                  <a:t>Взвешенная оценка между Полнотой и Точностью</a:t>
                </a:r>
                <a:endParaRPr lang="ru-RU" sz="1100" dirty="0">
                  <a:latin typeface="Microsoft Sans Serif"/>
                  <a:cs typeface="Microsoft Sans Serif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63D0A4-960D-184D-97A8-54C92D372E01}"/>
                </a:ext>
              </a:extLst>
            </p:cNvPr>
            <p:cNvSpPr txBox="1"/>
            <p:nvPr/>
          </p:nvSpPr>
          <p:spPr>
            <a:xfrm>
              <a:off x="5283926" y="4681971"/>
              <a:ext cx="35129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spc="-15" dirty="0">
                  <a:latin typeface="Microsoft Sans Serif"/>
                  <a:cs typeface="Microsoft Sans Serif"/>
                </a:rPr>
                <a:t>F1 - </a:t>
              </a:r>
              <a:r>
                <a:rPr lang="ru-RU" sz="1100" spc="-15" dirty="0">
                  <a:latin typeface="Microsoft Sans Serif"/>
                  <a:cs typeface="Microsoft Sans Serif"/>
                </a:rPr>
                <a:t>мера</a:t>
              </a:r>
              <a:endParaRPr lang="ru-RU" sz="1100" dirty="0">
                <a:latin typeface="Microsoft Sans Serif"/>
                <a:cs typeface="Microsoft Sans Serif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6F574BF-CFF5-5E4C-8853-71F1423C7B76}"/>
              </a:ext>
            </a:extLst>
          </p:cNvPr>
          <p:cNvSpPr txBox="1"/>
          <p:nvPr/>
        </p:nvSpPr>
        <p:spPr>
          <a:xfrm>
            <a:off x="2282549" y="2077758"/>
            <a:ext cx="5581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/>
              <a:t>Type I error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0C8F86-F859-144E-8D87-30A3B0B86160}"/>
              </a:ext>
            </a:extLst>
          </p:cNvPr>
          <p:cNvSpPr txBox="1"/>
          <p:nvPr/>
        </p:nvSpPr>
        <p:spPr>
          <a:xfrm>
            <a:off x="1471694" y="2859393"/>
            <a:ext cx="5790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/>
              <a:t>Type II error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B2A79F5-2BDB-A24C-9C17-C1FB620C6833}"/>
              </a:ext>
            </a:extLst>
          </p:cNvPr>
          <p:cNvSpPr/>
          <p:nvPr/>
        </p:nvSpPr>
        <p:spPr>
          <a:xfrm rot="5400000">
            <a:off x="1849595" y="1592267"/>
            <a:ext cx="604363" cy="1377876"/>
          </a:xfrm>
          <a:prstGeom prst="roundRect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90E26CBD-D59B-D64D-ADCD-B4D093F52F9E}"/>
              </a:ext>
            </a:extLst>
          </p:cNvPr>
          <p:cNvCxnSpPr>
            <a:stCxn id="22" idx="0"/>
            <a:endCxn id="16" idx="1"/>
          </p:cNvCxnSpPr>
          <p:nvPr/>
        </p:nvCxnSpPr>
        <p:spPr>
          <a:xfrm>
            <a:off x="2840715" y="2281206"/>
            <a:ext cx="581256" cy="302178"/>
          </a:xfrm>
          <a:prstGeom prst="bentConnector3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995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R</a:t>
            </a:r>
            <a:r>
              <a:rPr lang="en-US" sz="3100" b="1" strike="noStrike" spc="-1">
                <a:solidFill>
                  <a:schemeClr val="dk1"/>
                </a:solidFill>
                <a:latin typeface="Roboto"/>
                <a:ea typeface="Roboto"/>
              </a:rPr>
              <a:t>OC-AUC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Рисунок 9"/>
          <p:cNvPicPr/>
          <p:nvPr/>
        </p:nvPicPr>
        <p:blipFill>
          <a:blip r:embed="rId2"/>
          <a:stretch/>
        </p:blipFill>
        <p:spPr>
          <a:xfrm>
            <a:off x="4507099" y="1168529"/>
            <a:ext cx="3499664" cy="2447365"/>
          </a:xfrm>
          <a:prstGeom prst="rect">
            <a:avLst/>
          </a:prstGeom>
          <a:ln w="0">
            <a:noFill/>
          </a:ln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E755A1C4-21EA-3A40-B1CC-813BA35D9B51}"/>
              </a:ext>
            </a:extLst>
          </p:cNvPr>
          <p:cNvSpPr/>
          <p:nvPr/>
        </p:nvSpPr>
        <p:spPr>
          <a:xfrm>
            <a:off x="4760460" y="3615894"/>
            <a:ext cx="3091320" cy="9781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95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FD30EEED-482A-0A4C-BB2F-A232738D9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558390"/>
              </p:ext>
            </p:extLst>
          </p:nvPr>
        </p:nvGraphicFramePr>
        <p:xfrm>
          <a:off x="320208" y="1078960"/>
          <a:ext cx="2895600" cy="2155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39585203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7102091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1726936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176002476"/>
                    </a:ext>
                  </a:extLst>
                </a:gridCol>
              </a:tblGrid>
              <a:tr h="5388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Actual values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92765"/>
                  </a:ext>
                </a:extLst>
              </a:tr>
              <a:tr h="538861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Predicted values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982192"/>
                  </a:ext>
                </a:extLst>
              </a:tr>
              <a:tr h="5388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222477"/>
                  </a:ext>
                </a:extLst>
              </a:tr>
              <a:tr h="5388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8098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52524E-9826-B048-8193-E7954CD5A153}"/>
                  </a:ext>
                </a:extLst>
              </p:cNvPr>
              <p:cNvSpPr txBox="1"/>
              <p:nvPr/>
            </p:nvSpPr>
            <p:spPr>
              <a:xfrm>
                <a:off x="685800" y="3397132"/>
                <a:ext cx="1887248" cy="1415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52524E-9826-B048-8193-E7954CD5A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397132"/>
                <a:ext cx="1887248" cy="1415644"/>
              </a:xfrm>
              <a:prstGeom prst="rect">
                <a:avLst/>
              </a:prstGeom>
              <a:blipFill>
                <a:blip r:embed="rId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832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900" b="1" strike="noStrike" spc="-1">
                <a:solidFill>
                  <a:schemeClr val="lt1"/>
                </a:solidFill>
                <a:latin typeface="Roboto"/>
                <a:ea typeface="Roboto"/>
              </a:rPr>
              <a:t>Вопросы?</a:t>
            </a:r>
            <a:endParaRPr lang="ru-RU" sz="4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Google Shape;416;p72"/>
          <p:cNvPicPr/>
          <p:nvPr/>
        </p:nvPicPr>
        <p:blipFill>
          <a:blip r:embed="rId2"/>
          <a:stretch/>
        </p:blipFill>
        <p:spPr>
          <a:xfrm>
            <a:off x="720000" y="3370680"/>
            <a:ext cx="662040" cy="662040"/>
          </a:xfrm>
          <a:prstGeom prst="rect">
            <a:avLst/>
          </a:prstGeom>
          <a:ln w="0">
            <a:noFill/>
          </a:ln>
        </p:spPr>
      </p:pic>
      <p:sp>
        <p:nvSpPr>
          <p:cNvPr id="268" name="Google Shape;417;p72"/>
          <p:cNvSpPr/>
          <p:nvPr/>
        </p:nvSpPr>
        <p:spPr>
          <a:xfrm>
            <a:off x="1438200" y="3378960"/>
            <a:ext cx="29995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Ставим “+”,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если вопросы есть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Google Shape;418;p72"/>
          <p:cNvPicPr/>
          <p:nvPr/>
        </p:nvPicPr>
        <p:blipFill>
          <a:blip r:embed="rId3"/>
          <a:stretch/>
        </p:blipFill>
        <p:spPr>
          <a:xfrm>
            <a:off x="4102920" y="3370680"/>
            <a:ext cx="662040" cy="662040"/>
          </a:xfrm>
          <a:prstGeom prst="rect">
            <a:avLst/>
          </a:prstGeom>
          <a:ln w="0">
            <a:noFill/>
          </a:ln>
        </p:spPr>
      </p:pic>
      <p:sp>
        <p:nvSpPr>
          <p:cNvPr id="270" name="Google Shape;419;p72"/>
          <p:cNvSpPr/>
          <p:nvPr/>
        </p:nvSpPr>
        <p:spPr>
          <a:xfrm>
            <a:off x="4806720" y="3378960"/>
            <a:ext cx="29995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Ставим “–”,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если вопросов нет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7200" b="1" strike="noStrike" spc="-1" dirty="0">
                <a:solidFill>
                  <a:schemeClr val="lt1"/>
                </a:solidFill>
                <a:latin typeface="Roboto"/>
                <a:ea typeface="Roboto"/>
              </a:rPr>
              <a:t>Практика</a:t>
            </a:r>
            <a:endParaRPr lang="ru-RU" sz="7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Список материалов для изучения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0400" y="1197720"/>
            <a:ext cx="7742160" cy="284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104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lang="ru-RU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2"/>
              </a:rPr>
              <a:t>Статья про логистическую регрессию из открытого курса машинного обучения</a:t>
            </a:r>
            <a:endParaRPr lang="ru-RU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lang="ru-RU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3"/>
              </a:rPr>
              <a:t>Хороший материал по линейным классификаторам из материалов курса ФКН</a:t>
            </a:r>
            <a:endParaRPr lang="ru-RU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lang="ru-RU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4"/>
              </a:rPr>
              <a:t>Хорошее объяснение </a:t>
            </a:r>
            <a:r>
              <a:rPr lang="en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4"/>
              </a:rPr>
              <a:t>ROC-AUC </a:t>
            </a:r>
            <a:endParaRPr lang="ru-RU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lang="ru-RU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5"/>
              </a:rPr>
              <a:t>Видео разбор </a:t>
            </a:r>
            <a:r>
              <a:rPr lang="en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5"/>
              </a:rPr>
              <a:t>roc-</a:t>
            </a:r>
            <a:r>
              <a:rPr lang="ru-RU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5"/>
              </a:rPr>
              <a:t>кривой </a:t>
            </a:r>
            <a:endParaRPr lang="ru-RU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lang="ru-RU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6"/>
              </a:rPr>
              <a:t>Видео лекция с объяснением </a:t>
            </a:r>
            <a:r>
              <a:rPr lang="en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6"/>
              </a:rPr>
              <a:t>ROC-AUC </a:t>
            </a:r>
            <a:endParaRPr lang="ru-RU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lang="ru-RU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7"/>
              </a:rPr>
              <a:t>Статья на хабр про метрики качества </a:t>
            </a:r>
            <a:endParaRPr lang="ru-RU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20000"/>
              </a:lnSpc>
              <a:buClr>
                <a:srgbClr val="000000"/>
              </a:buClr>
              <a:buFont typeface="Roboto"/>
              <a:buAutoNum type="arabicPeriod"/>
            </a:pPr>
            <a:r>
              <a:rPr lang="ru-RU" sz="1400" b="0" u="sng" strike="noStrike" spc="-1" dirty="0">
                <a:solidFill>
                  <a:srgbClr val="0097A7"/>
                </a:solidFill>
                <a:uFillTx/>
                <a:latin typeface="Roboto"/>
                <a:ea typeface="Roboto"/>
                <a:hlinkClick r:id="rId8"/>
              </a:rPr>
              <a:t>Еще одна презентация про рок-кривую</a:t>
            </a:r>
            <a:endParaRPr lang="ru-RU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B86344-C27F-9D46-A06F-9C3CE1D08E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7894" y="3325906"/>
            <a:ext cx="1446106" cy="17189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1282</TotalTime>
  <Words>560</Words>
  <Application>Microsoft Macintosh PowerPoint</Application>
  <PresentationFormat>On-screen Show (16:9)</PresentationFormat>
  <Paragraphs>159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22</vt:i4>
      </vt:variant>
      <vt:variant>
        <vt:lpstr>Slide Titles</vt:lpstr>
      </vt:variant>
      <vt:variant>
        <vt:i4>29</vt:i4>
      </vt:variant>
    </vt:vector>
  </HeadingPairs>
  <TitlesOfParts>
    <vt:vector size="60" baseType="lpstr">
      <vt:lpstr>Arial</vt:lpstr>
      <vt:lpstr>Calibri</vt:lpstr>
      <vt:lpstr>Cambria Math</vt:lpstr>
      <vt:lpstr>Microsoft Sans Serif</vt:lpstr>
      <vt:lpstr>Roboto</vt:lpstr>
      <vt:lpstr>Symbol</vt:lpstr>
      <vt:lpstr>Times New Roman</vt:lpstr>
      <vt:lpstr>Trebuchet MS</vt:lpstr>
      <vt:lpstr>Wingdings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ML Basic Логистическая регрессия</vt:lpstr>
      <vt:lpstr>Проверить, идет ли запись</vt:lpstr>
      <vt:lpstr>Логистическая регрессия</vt:lpstr>
      <vt:lpstr>Правила вебинара</vt:lpstr>
      <vt:lpstr>Маршрут вебинара</vt:lpstr>
      <vt:lpstr>Цели вебинара</vt:lpstr>
      <vt:lpstr>Смысл</vt:lpstr>
      <vt:lpstr>Задачи машинного обучения</vt:lpstr>
      <vt:lpstr>Линейный классификатор</vt:lpstr>
      <vt:lpstr>Линейный классификатор</vt:lpstr>
      <vt:lpstr>Линейный классификатор</vt:lpstr>
      <vt:lpstr>Линейный классификатор</vt:lpstr>
      <vt:lpstr>Логистическая регрессия</vt:lpstr>
      <vt:lpstr>Логистическая регрессия</vt:lpstr>
      <vt:lpstr>PowerPoint Presentation</vt:lpstr>
      <vt:lpstr>Логистическая регрессия</vt:lpstr>
      <vt:lpstr>Логистическая регрессия</vt:lpstr>
      <vt:lpstr>Логистическая регрессия</vt:lpstr>
      <vt:lpstr>Logistic Loss</vt:lpstr>
      <vt:lpstr>Logistic Loss</vt:lpstr>
      <vt:lpstr>Logistic Loss</vt:lpstr>
      <vt:lpstr>Вопросы?</vt:lpstr>
      <vt:lpstr>Метрики качества</vt:lpstr>
      <vt:lpstr>Матрица ошибок (confusion matrix)</vt:lpstr>
      <vt:lpstr>Метрики качества</vt:lpstr>
      <vt:lpstr>ROC-AUC</vt:lpstr>
      <vt:lpstr>Вопросы?</vt:lpstr>
      <vt:lpstr>Практика</vt:lpstr>
      <vt:lpstr>Список материалов для изучения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Basic Задача регрессии. Линейная регрессия.</dc:title>
  <dc:subject/>
  <dc:creator/>
  <dc:description/>
  <cp:lastModifiedBy>Стурейко Игорь Олегович</cp:lastModifiedBy>
  <cp:revision>26</cp:revision>
  <dcterms:modified xsi:type="dcterms:W3CDTF">2025-05-13T17:00:48Z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33</vt:i4>
  </property>
  <property fmtid="{D5CDD505-2E9C-101B-9397-08002B2CF9AE}" pid="3" name="PresentationFormat">
    <vt:lpwstr>Экран (16:9)</vt:lpwstr>
  </property>
  <property fmtid="{D5CDD505-2E9C-101B-9397-08002B2CF9AE}" pid="4" name="Slides">
    <vt:i4>36</vt:i4>
  </property>
</Properties>
</file>