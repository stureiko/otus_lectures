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media/image4.jpg" ContentType="image/jpe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media/image20.jpg" ContentType="image/jpeg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334" r:id="rId4"/>
    <p:sldId id="259" r:id="rId5"/>
    <p:sldId id="305" r:id="rId6"/>
    <p:sldId id="265" r:id="rId7"/>
    <p:sldId id="425" r:id="rId8"/>
    <p:sldId id="440" r:id="rId9"/>
    <p:sldId id="472" r:id="rId10"/>
    <p:sldId id="473" r:id="rId11"/>
    <p:sldId id="453" r:id="rId12"/>
    <p:sldId id="454" r:id="rId13"/>
    <p:sldId id="451" r:id="rId14"/>
    <p:sldId id="458" r:id="rId15"/>
    <p:sldId id="459" r:id="rId16"/>
    <p:sldId id="460" r:id="rId17"/>
    <p:sldId id="461" r:id="rId18"/>
    <p:sldId id="465" r:id="rId19"/>
    <p:sldId id="463" r:id="rId20"/>
    <p:sldId id="464" r:id="rId21"/>
    <p:sldId id="466" r:id="rId22"/>
    <p:sldId id="467" r:id="rId23"/>
    <p:sldId id="457" r:id="rId24"/>
    <p:sldId id="474" r:id="rId25"/>
    <p:sldId id="469" r:id="rId26"/>
    <p:sldId id="470" r:id="rId27"/>
    <p:sldId id="468" r:id="rId28"/>
    <p:sldId id="364" r:id="rId29"/>
    <p:sldId id="302" r:id="rId30"/>
    <p:sldId id="335" r:id="rId31"/>
  </p:sldIdLst>
  <p:sldSz cx="9144000" cy="5143500" type="screen16x9"/>
  <p:notesSz cx="9144000" cy="51435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99FFCC"/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/>
    <p:restoredTop sz="97030"/>
  </p:normalViewPr>
  <p:slideViewPr>
    <p:cSldViewPr>
      <p:cViewPr varScale="1">
        <p:scale>
          <a:sx n="165" d="100"/>
          <a:sy n="165" d="100"/>
        </p:scale>
        <p:origin x="872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9D4DEE-AA18-4B6A-845C-60AFD9463AA2}" type="datetimeFigureOut">
              <a:rPr lang="ru-RU" smtClean="0"/>
              <a:t>20.05.2025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75BB5-C319-4CC0-9F8F-8FE78AD35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7873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42393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15639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54854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05959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50579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2118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3575" y="388001"/>
            <a:ext cx="7996849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727549" y="1317655"/>
            <a:ext cx="2095500" cy="3205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17087" y="1115827"/>
            <a:ext cx="1866265" cy="3535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Тема вебинара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338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Разделительный слайд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9335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5863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2554" y="388000"/>
            <a:ext cx="8718890" cy="970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5799" y="1421874"/>
            <a:ext cx="8535035" cy="1917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linkedin.com/in/igor-stureik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17674" y="4414306"/>
            <a:ext cx="1649326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Roboto"/>
                <a:cs typeface="Roboto"/>
              </a:rPr>
              <a:t>otus.ru</a:t>
            </a:r>
            <a:endParaRPr sz="1800" dirty="0">
              <a:latin typeface="Roboto"/>
              <a:cs typeface="Robo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7674" y="1745501"/>
            <a:ext cx="7516726" cy="13336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555"/>
              </a:lnSpc>
              <a:spcBef>
                <a:spcPts val="100"/>
              </a:spcBef>
            </a:pPr>
            <a:r>
              <a:rPr sz="5600" spc="-35" dirty="0">
                <a:solidFill>
                  <a:srgbClr val="FFFFFF"/>
                </a:solidFill>
              </a:rPr>
              <a:t>ML</a:t>
            </a:r>
            <a:r>
              <a:rPr sz="5600" spc="-45" dirty="0">
                <a:solidFill>
                  <a:srgbClr val="FFFFFF"/>
                </a:solidFill>
              </a:rPr>
              <a:t> </a:t>
            </a:r>
            <a:r>
              <a:rPr lang="en-US" sz="5600" spc="20" dirty="0">
                <a:solidFill>
                  <a:srgbClr val="FFFFFF"/>
                </a:solidFill>
              </a:rPr>
              <a:t>Basic</a:t>
            </a:r>
            <a:endParaRPr sz="5600" dirty="0"/>
          </a:p>
          <a:p>
            <a:pPr marL="12700" marR="5080">
              <a:lnSpc>
                <a:spcPts val="3350"/>
              </a:lnSpc>
              <a:spcBef>
                <a:spcPts val="254"/>
              </a:spcBef>
            </a:pPr>
            <a:r>
              <a:rPr lang="en-US" spc="-10" dirty="0">
                <a:solidFill>
                  <a:srgbClr val="FFFFFF"/>
                </a:solidFill>
              </a:rPr>
              <a:t>Ensembles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8899" y="1009637"/>
            <a:ext cx="342772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/>
              <a:t>Проверить, </a:t>
            </a:r>
            <a:r>
              <a:rPr sz="2100" spc="-25" dirty="0"/>
              <a:t>идет</a:t>
            </a:r>
            <a:r>
              <a:rPr sz="2100" spc="-10" dirty="0"/>
              <a:t> </a:t>
            </a:r>
            <a:r>
              <a:rPr sz="2100" spc="5" dirty="0"/>
              <a:t>ли</a:t>
            </a:r>
            <a:r>
              <a:rPr sz="2100" spc="-5" dirty="0"/>
              <a:t> </a:t>
            </a:r>
            <a:r>
              <a:rPr sz="2100" spc="-20" dirty="0"/>
              <a:t>запись</a:t>
            </a:r>
            <a:endParaRPr sz="21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25" y="1032407"/>
            <a:ext cx="642317" cy="3211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2375" y="3520050"/>
            <a:ext cx="525599" cy="5255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9750" y="1810429"/>
            <a:ext cx="5484850" cy="2197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b="1" spc="10" dirty="0">
                <a:latin typeface="Roboto"/>
                <a:cs typeface="Roboto"/>
              </a:rPr>
              <a:t>Меня</a:t>
            </a:r>
            <a:r>
              <a:rPr sz="4000" b="1" spc="-40" dirty="0">
                <a:latin typeface="Roboto"/>
                <a:cs typeface="Roboto"/>
              </a:rPr>
              <a:t> </a:t>
            </a:r>
            <a:r>
              <a:rPr sz="4000" b="1" spc="-20" dirty="0">
                <a:latin typeface="Roboto"/>
                <a:cs typeface="Roboto"/>
              </a:rPr>
              <a:t>хорошо</a:t>
            </a:r>
            <a:r>
              <a:rPr sz="4000" b="1" spc="-30" dirty="0">
                <a:latin typeface="Roboto"/>
                <a:cs typeface="Roboto"/>
              </a:rPr>
              <a:t> </a:t>
            </a:r>
            <a:r>
              <a:rPr sz="4000" b="1" spc="-35" dirty="0">
                <a:latin typeface="Roboto"/>
                <a:cs typeface="Roboto"/>
              </a:rPr>
              <a:t>видно </a:t>
            </a:r>
            <a:r>
              <a:rPr sz="4000" b="1" spc="-980" dirty="0">
                <a:latin typeface="Roboto"/>
                <a:cs typeface="Roboto"/>
              </a:rPr>
              <a:t> </a:t>
            </a:r>
            <a:r>
              <a:rPr sz="4000" b="1" spc="-10" dirty="0">
                <a:latin typeface="Roboto"/>
                <a:cs typeface="Roboto"/>
              </a:rPr>
              <a:t>&amp;&amp; </a:t>
            </a:r>
            <a:r>
              <a:rPr sz="4000" b="1" dirty="0">
                <a:latin typeface="Roboto"/>
                <a:cs typeface="Roboto"/>
              </a:rPr>
              <a:t>слышно?</a:t>
            </a:r>
            <a:endParaRPr sz="4000" dirty="0">
              <a:latin typeface="Roboto"/>
              <a:cs typeface="Roboto"/>
            </a:endParaRPr>
          </a:p>
          <a:p>
            <a:pPr marL="760095" marR="1526540">
              <a:lnSpc>
                <a:spcPct val="100000"/>
              </a:lnSpc>
              <a:spcBef>
                <a:spcPts val="3900"/>
              </a:spcBef>
            </a:pPr>
            <a:r>
              <a:rPr sz="1500" spc="-10" dirty="0">
                <a:latin typeface="Roboto"/>
                <a:cs typeface="Roboto"/>
              </a:rPr>
              <a:t>Ставим </a:t>
            </a:r>
            <a:r>
              <a:rPr sz="1500" spc="-25" dirty="0">
                <a:latin typeface="Roboto"/>
                <a:cs typeface="Roboto"/>
              </a:rPr>
              <a:t>“+”, </a:t>
            </a:r>
            <a:r>
              <a:rPr sz="1500" spc="10" dirty="0">
                <a:latin typeface="Roboto"/>
                <a:cs typeface="Roboto"/>
              </a:rPr>
              <a:t>если </a:t>
            </a:r>
            <a:r>
              <a:rPr sz="1500" dirty="0">
                <a:latin typeface="Roboto"/>
                <a:cs typeface="Roboto"/>
              </a:rPr>
              <a:t>все </a:t>
            </a:r>
            <a:r>
              <a:rPr sz="1500" spc="-10" dirty="0">
                <a:latin typeface="Roboto"/>
                <a:cs typeface="Roboto"/>
              </a:rPr>
              <a:t>хорошо </a:t>
            </a:r>
            <a:r>
              <a:rPr sz="1500" spc="-360" dirty="0">
                <a:latin typeface="Roboto"/>
                <a:cs typeface="Roboto"/>
              </a:rPr>
              <a:t> </a:t>
            </a:r>
            <a:r>
              <a:rPr sz="1500" spc="-105" dirty="0">
                <a:latin typeface="Roboto"/>
                <a:cs typeface="Roboto"/>
              </a:rPr>
              <a:t>“-”</a:t>
            </a:r>
            <a:r>
              <a:rPr sz="1500" spc="-50" dirty="0">
                <a:latin typeface="Roboto"/>
                <a:cs typeface="Roboto"/>
              </a:rPr>
              <a:t>,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5" dirty="0">
                <a:latin typeface="Roboto"/>
                <a:cs typeface="Roboto"/>
              </a:rPr>
              <a:t>есл</a:t>
            </a:r>
            <a:r>
              <a:rPr sz="1500" spc="15" dirty="0">
                <a:latin typeface="Roboto"/>
                <a:cs typeface="Roboto"/>
              </a:rPr>
              <a:t>и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-15" dirty="0">
                <a:latin typeface="Roboto"/>
                <a:cs typeface="Roboto"/>
              </a:rPr>
              <a:t>ест</a:t>
            </a:r>
            <a:r>
              <a:rPr sz="1500" spc="-10" dirty="0">
                <a:latin typeface="Roboto"/>
                <a:cs typeface="Roboto"/>
              </a:rPr>
              <a:t>ь</a:t>
            </a:r>
            <a:r>
              <a:rPr sz="1500" spc="-5" dirty="0">
                <a:latin typeface="Roboto"/>
                <a:cs typeface="Roboto"/>
              </a:rPr>
              <a:t> проблемы</a:t>
            </a:r>
            <a:endParaRPr sz="15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Basic</a:t>
            </a:r>
            <a:br>
              <a:rPr lang="en-US" dirty="0"/>
            </a:br>
            <a:r>
              <a:rPr lang="en-US" sz="2400" b="1" dirty="0">
                <a:latin typeface="Roboto"/>
                <a:ea typeface="Roboto"/>
                <a:cs typeface="Roboto"/>
                <a:sym typeface="Roboto"/>
              </a:rPr>
              <a:t>Ensembles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51A60ED1-FD64-A24F-94F2-247AC02E2878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endParaRPr lang="en-US" sz="1150" b="1" kern="0" dirty="0"/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</a:t>
            </a:r>
            <a:r>
              <a:rPr lang="en-US" sz="1150" kern="0" dirty="0"/>
              <a:t>15</a:t>
            </a:r>
            <a:r>
              <a:rPr lang="ru-RU" sz="1150" kern="0" dirty="0"/>
              <a:t>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3575" y="387492"/>
            <a:ext cx="5865017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Правила</a:t>
            </a:r>
            <a:r>
              <a:rPr sz="3200" spc="-60" dirty="0"/>
              <a:t> </a:t>
            </a:r>
            <a:r>
              <a:rPr sz="3200" dirty="0"/>
              <a:t>вебинара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7650" y="3951280"/>
            <a:ext cx="692621" cy="6926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7650" y="1281613"/>
            <a:ext cx="692621" cy="6926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7650" y="3061405"/>
            <a:ext cx="692621" cy="6925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7650" y="2171509"/>
            <a:ext cx="692621" cy="69261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sz="half" idx="2"/>
          </p:nvPr>
        </p:nvSpPr>
        <p:spPr>
          <a:xfrm>
            <a:off x="1727549" y="1317655"/>
            <a:ext cx="2095500" cy="31829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48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Активно </a:t>
            </a:r>
            <a:r>
              <a:rPr dirty="0"/>
              <a:t> </a:t>
            </a:r>
            <a:r>
              <a:rPr spc="-25" dirty="0"/>
              <a:t>участ</a:t>
            </a:r>
            <a:r>
              <a:rPr spc="-30" dirty="0"/>
              <a:t>в</a:t>
            </a:r>
            <a:r>
              <a:rPr spc="-55" dirty="0"/>
              <a:t>у</a:t>
            </a:r>
            <a:r>
              <a:rPr spc="-5" dirty="0"/>
              <a:t>ем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200" dirty="0"/>
          </a:p>
          <a:p>
            <a:pPr marL="12700" marR="280670">
              <a:lnSpc>
                <a:spcPct val="100000"/>
              </a:lnSpc>
            </a:pPr>
            <a:endParaRPr lang="en-US" spc="-35" dirty="0"/>
          </a:p>
          <a:p>
            <a:pPr marL="12700" marR="280670">
              <a:lnSpc>
                <a:spcPct val="100000"/>
              </a:lnSpc>
            </a:pPr>
            <a:r>
              <a:rPr spc="-35" dirty="0"/>
              <a:t>Off-topic </a:t>
            </a:r>
            <a:r>
              <a:rPr spc="-10" dirty="0"/>
              <a:t>обсуждаем </a:t>
            </a:r>
            <a:r>
              <a:rPr spc="-360" dirty="0"/>
              <a:t> </a:t>
            </a:r>
            <a:r>
              <a:rPr dirty="0"/>
              <a:t>в</a:t>
            </a:r>
            <a:r>
              <a:rPr spc="-15" dirty="0"/>
              <a:t> </a:t>
            </a:r>
            <a:r>
              <a:rPr spc="-10" dirty="0"/>
              <a:t>учебной</a:t>
            </a:r>
            <a:r>
              <a:rPr spc="-15" dirty="0"/>
              <a:t> </a:t>
            </a:r>
            <a:r>
              <a:rPr spc="-10" dirty="0"/>
              <a:t>группе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 dirty="0"/>
          </a:p>
          <a:p>
            <a:pPr marL="12700">
              <a:lnSpc>
                <a:spcPct val="100000"/>
              </a:lnSpc>
            </a:pPr>
            <a:r>
              <a:rPr spc="-35" dirty="0"/>
              <a:t>Задаем</a:t>
            </a:r>
            <a:r>
              <a:rPr spc="-45" dirty="0"/>
              <a:t> </a:t>
            </a:r>
            <a:r>
              <a:rPr spc="-5" dirty="0"/>
              <a:t>вопрос</a:t>
            </a:r>
          </a:p>
          <a:p>
            <a:pPr marL="12700">
              <a:lnSpc>
                <a:spcPct val="100000"/>
              </a:lnSpc>
            </a:pPr>
            <a:r>
              <a:rPr dirty="0" err="1"/>
              <a:t>в</a:t>
            </a:r>
            <a:r>
              <a:rPr spc="-20" dirty="0"/>
              <a:t> </a:t>
            </a:r>
            <a:r>
              <a:rPr spc="-30" dirty="0" err="1"/>
              <a:t>чат</a:t>
            </a:r>
            <a:endParaRPr spc="-5" dirty="0"/>
          </a:p>
          <a:p>
            <a:pPr>
              <a:lnSpc>
                <a:spcPct val="100000"/>
              </a:lnSpc>
            </a:pPr>
            <a:endParaRPr sz="1700" dirty="0"/>
          </a:p>
          <a:p>
            <a:pPr marL="12700" marR="5080">
              <a:lnSpc>
                <a:spcPct val="100000"/>
              </a:lnSpc>
              <a:spcBef>
                <a:spcPts val="1515"/>
              </a:spcBef>
            </a:pPr>
            <a:r>
              <a:rPr spc="-10" dirty="0"/>
              <a:t>Вопросы </a:t>
            </a:r>
            <a:r>
              <a:rPr spc="5" dirty="0"/>
              <a:t>вижу </a:t>
            </a:r>
            <a:r>
              <a:rPr dirty="0"/>
              <a:t>в </a:t>
            </a:r>
            <a:r>
              <a:rPr spc="-35" dirty="0"/>
              <a:t>чате, </a:t>
            </a:r>
            <a:r>
              <a:rPr spc="-30" dirty="0"/>
              <a:t> </a:t>
            </a:r>
            <a:r>
              <a:rPr spc="-15" dirty="0"/>
              <a:t>могу</a:t>
            </a:r>
            <a:r>
              <a:rPr spc="-20" dirty="0"/>
              <a:t> </a:t>
            </a:r>
            <a:r>
              <a:rPr spc="-25" dirty="0"/>
              <a:t>ответить</a:t>
            </a:r>
            <a:r>
              <a:rPr spc="-20" dirty="0"/>
              <a:t> </a:t>
            </a:r>
            <a:r>
              <a:rPr spc="5" dirty="0"/>
              <a:t>не</a:t>
            </a:r>
            <a:r>
              <a:rPr spc="-15" dirty="0"/>
              <a:t> </a:t>
            </a:r>
            <a:r>
              <a:rPr spc="-30" dirty="0"/>
              <a:t>сразу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6046275" y="0"/>
            <a:ext cx="3097530" cy="5135880"/>
            <a:chOff x="6046275" y="0"/>
            <a:chExt cx="3097530" cy="5135880"/>
          </a:xfrm>
        </p:grpSpPr>
        <p:sp>
          <p:nvSpPr>
            <p:cNvPr id="10" name="object 10"/>
            <p:cNvSpPr/>
            <p:nvPr/>
          </p:nvSpPr>
          <p:spPr>
            <a:xfrm>
              <a:off x="6046275" y="0"/>
              <a:ext cx="3097530" cy="5135880"/>
            </a:xfrm>
            <a:custGeom>
              <a:avLst/>
              <a:gdLst/>
              <a:ahLst/>
              <a:cxnLst/>
              <a:rect l="l" t="t" r="r" b="b"/>
              <a:pathLst>
                <a:path w="3097529" h="5135880">
                  <a:moveTo>
                    <a:pt x="3097499" y="5135450"/>
                  </a:moveTo>
                  <a:lnTo>
                    <a:pt x="0" y="5135450"/>
                  </a:lnTo>
                  <a:lnTo>
                    <a:pt x="0" y="0"/>
                  </a:lnTo>
                  <a:lnTo>
                    <a:pt x="3097499" y="0"/>
                  </a:lnTo>
                  <a:lnTo>
                    <a:pt x="3097499" y="513545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38592" y="1912031"/>
              <a:ext cx="330301" cy="33030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38592" y="2392126"/>
              <a:ext cx="330301" cy="33030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38592" y="2872220"/>
              <a:ext cx="330301" cy="33030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38592" y="3352314"/>
              <a:ext cx="330301" cy="33030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38592" y="3832409"/>
              <a:ext cx="330301" cy="3303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438592" y="4312502"/>
              <a:ext cx="330301" cy="330302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591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Условные </a:t>
            </a:r>
            <a:r>
              <a:rPr spc="-5" dirty="0"/>
              <a:t> </a:t>
            </a:r>
            <a:r>
              <a:rPr spc="-10" dirty="0"/>
              <a:t>обозначения</a:t>
            </a:r>
          </a:p>
          <a:p>
            <a:pPr marL="497840">
              <a:lnSpc>
                <a:spcPct val="100000"/>
              </a:lnSpc>
              <a:spcBef>
                <a:spcPts val="1895"/>
              </a:spcBef>
            </a:pPr>
            <a:r>
              <a:rPr sz="1100" b="0" spc="-10" dirty="0">
                <a:latin typeface="Roboto"/>
                <a:cs typeface="Roboto"/>
              </a:rPr>
              <a:t>Индивидуально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50">
              <a:latin typeface="Roboto"/>
              <a:cs typeface="Roboto"/>
            </a:endParaRPr>
          </a:p>
          <a:p>
            <a:pPr marL="497840" marR="5080">
              <a:lnSpc>
                <a:spcPct val="100000"/>
              </a:lnSpc>
              <a:spcBef>
                <a:spcPts val="5"/>
              </a:spcBef>
            </a:pPr>
            <a:r>
              <a:rPr sz="1100" b="0" spc="-15" dirty="0">
                <a:latin typeface="Roboto"/>
                <a:cs typeface="Roboto"/>
              </a:rPr>
              <a:t>Время, необходимое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на</a:t>
            </a:r>
            <a:r>
              <a:rPr sz="1100" b="0" spc="-10" dirty="0">
                <a:latin typeface="Roboto"/>
                <a:cs typeface="Roboto"/>
              </a:rPr>
              <a:t> </a:t>
            </a:r>
            <a:r>
              <a:rPr sz="1100" b="0" spc="-15" dirty="0">
                <a:latin typeface="Roboto"/>
                <a:cs typeface="Roboto"/>
              </a:rPr>
              <a:t>активность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</a:pPr>
            <a:r>
              <a:rPr sz="1100" b="0" dirty="0">
                <a:latin typeface="Roboto"/>
                <a:cs typeface="Roboto"/>
              </a:rPr>
              <a:t>Пишем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dirty="0">
                <a:latin typeface="Roboto"/>
                <a:cs typeface="Roboto"/>
              </a:rPr>
              <a:t>в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чат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950"/>
              </a:spcBef>
            </a:pPr>
            <a:r>
              <a:rPr sz="1100" b="0" spc="-20" dirty="0">
                <a:latin typeface="Roboto"/>
                <a:cs typeface="Roboto"/>
              </a:rPr>
              <a:t>Говорим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голосом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805"/>
              </a:spcBef>
            </a:pPr>
            <a:r>
              <a:rPr sz="1100" b="0" spc="-15" dirty="0">
                <a:latin typeface="Roboto"/>
                <a:cs typeface="Roboto"/>
              </a:rPr>
              <a:t>Документ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50">
              <a:latin typeface="Roboto"/>
              <a:cs typeface="Roboto"/>
            </a:endParaRPr>
          </a:p>
          <a:p>
            <a:pPr marL="497840" marR="161925">
              <a:lnSpc>
                <a:spcPct val="100000"/>
              </a:lnSpc>
            </a:pPr>
            <a:r>
              <a:rPr sz="1100" b="0" spc="-25" dirty="0">
                <a:latin typeface="Roboto"/>
                <a:cs typeface="Roboto"/>
              </a:rPr>
              <a:t>Ответьте </a:t>
            </a:r>
            <a:r>
              <a:rPr sz="1100" b="0" spc="-5" dirty="0">
                <a:latin typeface="Roboto"/>
                <a:cs typeface="Roboto"/>
              </a:rPr>
              <a:t>себе </a:t>
            </a:r>
            <a:r>
              <a:rPr sz="1100" b="0" spc="10" dirty="0">
                <a:latin typeface="Roboto"/>
                <a:cs typeface="Roboto"/>
              </a:rPr>
              <a:t>или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задайте</a:t>
            </a:r>
            <a:r>
              <a:rPr sz="1100" b="0" spc="-2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вопрос</a:t>
            </a:r>
            <a:endParaRPr sz="11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Маршрут вебинара</a:t>
            </a:r>
            <a:endParaRPr/>
          </a:p>
        </p:txBody>
      </p:sp>
      <p:sp>
        <p:nvSpPr>
          <p:cNvPr id="236" name="Google Shape;236;p37"/>
          <p:cNvSpPr/>
          <p:nvPr/>
        </p:nvSpPr>
        <p:spPr>
          <a:xfrm>
            <a:off x="740239" y="1919753"/>
            <a:ext cx="3556275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>
              <a:buClr>
                <a:srgbClr val="000000"/>
              </a:buClr>
              <a:buSzPts val="1600"/>
            </a:pPr>
            <a:r>
              <a:rPr lang="ru-RU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Бэггинг</a:t>
            </a: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/ 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Bagging</a:t>
            </a:r>
          </a:p>
        </p:txBody>
      </p:sp>
      <p:sp>
        <p:nvSpPr>
          <p:cNvPr id="238" name="Google Shape;238;p37"/>
          <p:cNvSpPr/>
          <p:nvPr/>
        </p:nvSpPr>
        <p:spPr>
          <a:xfrm>
            <a:off x="740239" y="2743606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Случайный лес / 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Random Forest</a:t>
            </a:r>
          </a:p>
        </p:txBody>
      </p:sp>
      <p:cxnSp>
        <p:nvCxnSpPr>
          <p:cNvPr id="242" name="Google Shape;242;p37"/>
          <p:cNvCxnSpPr>
            <a:cxnSpLocks/>
            <a:stCxn id="236" idx="1"/>
            <a:endCxn id="238" idx="1"/>
          </p:cNvCxnSpPr>
          <p:nvPr/>
        </p:nvCxnSpPr>
        <p:spPr>
          <a:xfrm rot="10800000" flipV="1">
            <a:off x="740239" y="2107852"/>
            <a:ext cx="12700" cy="823853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" name="Google Shape;238;p37">
            <a:extLst>
              <a:ext uri="{FF2B5EF4-FFF2-40B4-BE49-F238E27FC236}">
                <a16:creationId xmlns:a16="http://schemas.microsoft.com/office/drawing/2014/main" id="{6F8EE228-CF1E-F70B-4105-8ECCB7307098}"/>
              </a:ext>
            </a:extLst>
          </p:cNvPr>
          <p:cNvSpPr/>
          <p:nvPr/>
        </p:nvSpPr>
        <p:spPr>
          <a:xfrm>
            <a:off x="740239" y="3567459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Стэкинг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и </a:t>
            </a:r>
            <a:r>
              <a:rPr lang="ru-RU" sz="16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Блэндинг</a:t>
            </a:r>
            <a:endParaRPr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" name="Google Shape;242;p37">
            <a:extLst>
              <a:ext uri="{FF2B5EF4-FFF2-40B4-BE49-F238E27FC236}">
                <a16:creationId xmlns:a16="http://schemas.microsoft.com/office/drawing/2014/main" id="{9084AE32-B3C1-CEFB-608C-75D2CB107D7A}"/>
              </a:ext>
            </a:extLst>
          </p:cNvPr>
          <p:cNvCxnSpPr>
            <a:cxnSpLocks/>
            <a:stCxn id="238" idx="1"/>
            <a:endCxn id="2" idx="1"/>
          </p:cNvCxnSpPr>
          <p:nvPr/>
        </p:nvCxnSpPr>
        <p:spPr>
          <a:xfrm rot="10800000" flipV="1">
            <a:off x="740239" y="2931705"/>
            <a:ext cx="12700" cy="823853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" name="Google Shape;235;p37">
            <a:extLst>
              <a:ext uri="{FF2B5EF4-FFF2-40B4-BE49-F238E27FC236}">
                <a16:creationId xmlns:a16="http://schemas.microsoft.com/office/drawing/2014/main" id="{4E855995-62AE-0E46-BFC9-81D4F9F39802}"/>
              </a:ext>
            </a:extLst>
          </p:cNvPr>
          <p:cNvSpPr/>
          <p:nvPr/>
        </p:nvSpPr>
        <p:spPr>
          <a:xfrm>
            <a:off x="746589" y="1095900"/>
            <a:ext cx="3556274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Бутстрап</a:t>
            </a: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/ 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Bootstrap</a:t>
            </a:r>
            <a:endParaRPr lang="ru-RU"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" name="Google Shape;242;p37">
            <a:extLst>
              <a:ext uri="{FF2B5EF4-FFF2-40B4-BE49-F238E27FC236}">
                <a16:creationId xmlns:a16="http://schemas.microsoft.com/office/drawing/2014/main" id="{D6911694-A420-8C4B-BC21-6354019EC62C}"/>
              </a:ext>
            </a:extLst>
          </p:cNvPr>
          <p:cNvCxnSpPr>
            <a:cxnSpLocks/>
            <a:stCxn id="13" idx="1"/>
            <a:endCxn id="236" idx="1"/>
          </p:cNvCxnSpPr>
          <p:nvPr/>
        </p:nvCxnSpPr>
        <p:spPr>
          <a:xfrm rot="10800000" flipV="1">
            <a:off x="740239" y="1283999"/>
            <a:ext cx="6350" cy="823853"/>
          </a:xfrm>
          <a:prstGeom prst="curvedConnector3">
            <a:avLst>
              <a:gd name="adj1" fmla="val 37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6" name="Google Shape;238;p37">
            <a:extLst>
              <a:ext uri="{FF2B5EF4-FFF2-40B4-BE49-F238E27FC236}">
                <a16:creationId xmlns:a16="http://schemas.microsoft.com/office/drawing/2014/main" id="{1E93F41F-C7D4-7B40-9453-630D8322B79F}"/>
              </a:ext>
            </a:extLst>
          </p:cNvPr>
          <p:cNvSpPr/>
          <p:nvPr/>
        </p:nvSpPr>
        <p:spPr>
          <a:xfrm>
            <a:off x="740238" y="4391312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Реализация</a:t>
            </a:r>
            <a:endParaRPr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" name="Google Shape;242;p37">
            <a:extLst>
              <a:ext uri="{FF2B5EF4-FFF2-40B4-BE49-F238E27FC236}">
                <a16:creationId xmlns:a16="http://schemas.microsoft.com/office/drawing/2014/main" id="{B2CB5C7A-BED0-5A48-8D67-CA874A50A0CA}"/>
              </a:ext>
            </a:extLst>
          </p:cNvPr>
          <p:cNvCxnSpPr>
            <a:cxnSpLocks/>
            <a:stCxn id="2" idx="1"/>
            <a:endCxn id="16" idx="1"/>
          </p:cNvCxnSpPr>
          <p:nvPr/>
        </p:nvCxnSpPr>
        <p:spPr>
          <a:xfrm rot="10800000" flipV="1">
            <a:off x="740239" y="3755558"/>
            <a:ext cx="1" cy="823853"/>
          </a:xfrm>
          <a:prstGeom prst="curvedConnector3">
            <a:avLst>
              <a:gd name="adj1" fmla="val 228601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74902B6E-B801-C047-8EB0-F39F8B4D7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7542" y="1095900"/>
            <a:ext cx="3716876" cy="37168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Цели занятия</a:t>
            </a:r>
            <a:endParaRPr dirty="0"/>
          </a:p>
        </p:txBody>
      </p:sp>
      <p:graphicFrame>
        <p:nvGraphicFramePr>
          <p:cNvPr id="183" name="Google Shape;183;p25"/>
          <p:cNvGraphicFramePr/>
          <p:nvPr>
            <p:extLst>
              <p:ext uri="{D42A27DB-BD31-4B8C-83A1-F6EECF244321}">
                <p14:modId xmlns:p14="http://schemas.microsoft.com/office/powerpoint/2010/main" val="4276601341"/>
              </p:ext>
            </p:extLst>
          </p:nvPr>
        </p:nvGraphicFramePr>
        <p:xfrm>
          <a:off x="1219200" y="1511273"/>
          <a:ext cx="7239000" cy="6986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chemeClr val="accent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chemeClr val="accent6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Рассмотреть методы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ансамблирования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моделей</a:t>
                      </a:r>
                      <a:endParaRPr lang="en-US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chemeClr val="accent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chemeClr val="accent6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Узнать, как строить ансамбли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5" name="Google Shape;185;p25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 rtl="0"/>
            <a:r>
              <a:rPr lang="ru" sz="1500" b="1" dirty="0">
                <a:solidFill>
                  <a:srgbClr val="FF9900"/>
                </a:solidFill>
              </a:rPr>
              <a:t>Что вы сможете</a:t>
            </a:r>
            <a:endParaRPr sz="1500" b="1" dirty="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Смысл</a:t>
            </a:r>
            <a:endParaRPr/>
          </a:p>
        </p:txBody>
      </p:sp>
      <p:graphicFrame>
        <p:nvGraphicFramePr>
          <p:cNvPr id="183" name="Google Shape;183;p25"/>
          <p:cNvGraphicFramePr/>
          <p:nvPr>
            <p:extLst>
              <p:ext uri="{D42A27DB-BD31-4B8C-83A1-F6EECF244321}">
                <p14:modId xmlns:p14="http://schemas.microsoft.com/office/powerpoint/2010/main" val="1032943374"/>
              </p:ext>
            </p:extLst>
          </p:nvPr>
        </p:nvGraphicFramePr>
        <p:xfrm>
          <a:off x="1219200" y="1511273"/>
          <a:ext cx="7239000" cy="6986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chemeClr val="accent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chemeClr val="accent6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Понимать как и когда применять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ансамблирование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моделей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chemeClr val="accent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chemeClr val="accent6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Знать особенности применения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5" name="Google Shape;185;p25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 rtl="0"/>
            <a:r>
              <a:rPr lang="ru" sz="1500" b="1" dirty="0">
                <a:solidFill>
                  <a:srgbClr val="FF9900"/>
                </a:solidFill>
              </a:rPr>
              <a:t>Зачем вам это уметь</a:t>
            </a:r>
            <a:endParaRPr sz="1500" b="1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633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-US" dirty="0"/>
              <a:t>Bagging &amp; Random forest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30018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880ED6A-50AD-F748-A6F5-488523257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Принцип Кондорсе (1784 г.)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59BFFA-EA10-D44F-A889-614CF281F46A}"/>
              </a:ext>
            </a:extLst>
          </p:cNvPr>
          <p:cNvSpPr txBox="1"/>
          <p:nvPr/>
        </p:nvSpPr>
        <p:spPr>
          <a:xfrm>
            <a:off x="609600" y="1276350"/>
            <a:ext cx="830580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Если вероятность правильного решения одним членом жюри (алгоритмом) больше или равна 0.5 то с увеличением числа членов жюри вероятность правильного ответа возрастает и стремиться к 1 по мере увеличения их количества.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Если вероятность правильного решения одним членом жюри (алгоритмом) меньше 0.5 то с увеличением числа членов жюри вероятность правильного ответа стремиться к 0 по мере увеличения их количества.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A045A54-96D2-8B42-AE1C-2754546FFD90}"/>
                  </a:ext>
                </a:extLst>
              </p:cNvPr>
              <p:cNvSpPr txBox="1"/>
              <p:nvPr/>
            </p:nvSpPr>
            <p:spPr>
              <a:xfrm>
                <a:off x="2133600" y="3773826"/>
                <a:ext cx="2444131" cy="7791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A045A54-96D2-8B42-AE1C-2754546FF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3773826"/>
                <a:ext cx="2444131" cy="779124"/>
              </a:xfrm>
              <a:prstGeom prst="rect">
                <a:avLst/>
              </a:prstGeom>
              <a:blipFill>
                <a:blip r:embed="rId2"/>
                <a:stretch>
                  <a:fillRect l="-16580" t="-111290" b="-17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B5A1603-FA86-0148-B591-439F67257ED2}"/>
                  </a:ext>
                </a:extLst>
              </p:cNvPr>
              <p:cNvSpPr txBox="1"/>
              <p:nvPr/>
            </p:nvSpPr>
            <p:spPr>
              <a:xfrm>
                <a:off x="4760850" y="3840222"/>
                <a:ext cx="236686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&gt;0.5 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→∞,⇒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B5A1603-FA86-0148-B591-439F67257E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850" y="3840222"/>
                <a:ext cx="2366866" cy="646331"/>
              </a:xfrm>
              <a:prstGeom prst="rect">
                <a:avLst/>
              </a:prstGeom>
              <a:blipFill>
                <a:blip r:embed="rId3"/>
                <a:stretch>
                  <a:fillRect l="-1596" t="-3846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8860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87B93-6AFD-4D44-BFDD-33F05F28C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Эксперимент </a:t>
            </a:r>
            <a:r>
              <a:rPr lang="ru-RU" dirty="0" err="1"/>
              <a:t>Гальтона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A2E09B-2E98-8B40-98A7-C2B72EDD2481}"/>
              </a:ext>
            </a:extLst>
          </p:cNvPr>
          <p:cNvSpPr txBox="1"/>
          <p:nvPr/>
        </p:nvSpPr>
        <p:spPr>
          <a:xfrm>
            <a:off x="490582" y="1657350"/>
            <a:ext cx="407835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На ярмарке около 800 человек пытались угадать вес быка. Бык весил 1198 фунтов.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Ни один из участников не дал точного ответа.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Среднее предсказание по всем ответам оказалось 1197 фунтов.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5CF9DA-0961-4B4E-B4FB-2DAC3C57AD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7" r="8953"/>
          <a:stretch/>
        </p:blipFill>
        <p:spPr>
          <a:xfrm>
            <a:off x="4953000" y="1200150"/>
            <a:ext cx="3505200" cy="283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490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52C96D-D565-6E4E-BF35-7CF04C59F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FD77A3E0-0E9B-C743-BF92-DF18E8ABE39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878674"/>
            <a:ext cx="7543800" cy="40061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3C11745-E226-8C4C-9988-9AB592159A6E}"/>
              </a:ext>
            </a:extLst>
          </p:cNvPr>
          <p:cNvSpPr txBox="1"/>
          <p:nvPr/>
        </p:nvSpPr>
        <p:spPr>
          <a:xfrm>
            <a:off x="2971800" y="1581150"/>
            <a:ext cx="876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Выбор с </a:t>
            </a:r>
          </a:p>
          <a:p>
            <a:pPr algn="ctr"/>
            <a:r>
              <a:rPr lang="ru-RU" sz="1200" dirty="0"/>
              <a:t>возвратом</a:t>
            </a:r>
            <a:endParaRPr lang="en-US" sz="1200" dirty="0"/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63FA5F6B-A2B9-B442-A00C-9A2B747EEEE5}"/>
              </a:ext>
            </a:extLst>
          </p:cNvPr>
          <p:cNvSpPr/>
          <p:nvPr/>
        </p:nvSpPr>
        <p:spPr>
          <a:xfrm rot="6324136">
            <a:off x="2974724" y="1822241"/>
            <a:ext cx="717211" cy="668142"/>
          </a:xfrm>
          <a:prstGeom prst="arc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3D3566D3-B8E9-E34D-8539-AB7DBBB512C8}"/>
              </a:ext>
            </a:extLst>
          </p:cNvPr>
          <p:cNvSpPr/>
          <p:nvPr/>
        </p:nvSpPr>
        <p:spPr>
          <a:xfrm rot="8480726">
            <a:off x="3101908" y="2336769"/>
            <a:ext cx="717211" cy="668142"/>
          </a:xfrm>
          <a:prstGeom prst="arc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95CE3C8D-CF06-AC49-B891-DB0344A7D35D}"/>
              </a:ext>
            </a:extLst>
          </p:cNvPr>
          <p:cNvSpPr/>
          <p:nvPr/>
        </p:nvSpPr>
        <p:spPr>
          <a:xfrm rot="10029697">
            <a:off x="3101908" y="2855767"/>
            <a:ext cx="717211" cy="668142"/>
          </a:xfrm>
          <a:prstGeom prst="arc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421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52C96D-D565-6E4E-BF35-7CF04C59F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Bagging = bootstrap aggregation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6BD53D5E-4109-754F-8E58-0AE2D9486AE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800" y="1276350"/>
            <a:ext cx="6715124" cy="3390899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46C8367-4798-324A-91CF-8E38AD085CE1}"/>
              </a:ext>
            </a:extLst>
          </p:cNvPr>
          <p:cNvSpPr/>
          <p:nvPr/>
        </p:nvSpPr>
        <p:spPr>
          <a:xfrm>
            <a:off x="914400" y="1123950"/>
            <a:ext cx="5943600" cy="3429000"/>
          </a:xfrm>
          <a:prstGeom prst="roundRect">
            <a:avLst>
              <a:gd name="adj" fmla="val 9329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EAAB63-2C17-2B4A-88DC-C17A897A76E6}"/>
              </a:ext>
            </a:extLst>
          </p:cNvPr>
          <p:cNvSpPr txBox="1"/>
          <p:nvPr/>
        </p:nvSpPr>
        <p:spPr>
          <a:xfrm>
            <a:off x="981076" y="1150641"/>
            <a:ext cx="5272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train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BC707DB-A6A1-7642-99D5-3CEF6D65E61F}"/>
              </a:ext>
            </a:extLst>
          </p:cNvPr>
          <p:cNvSpPr/>
          <p:nvPr/>
        </p:nvSpPr>
        <p:spPr>
          <a:xfrm>
            <a:off x="6948712" y="742950"/>
            <a:ext cx="1433288" cy="4069825"/>
          </a:xfrm>
          <a:prstGeom prst="roundRect">
            <a:avLst>
              <a:gd name="adj" fmla="val 9329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68D890-897A-9045-B0B5-FD9E3A083015}"/>
              </a:ext>
            </a:extLst>
          </p:cNvPr>
          <p:cNvSpPr txBox="1"/>
          <p:nvPr/>
        </p:nvSpPr>
        <p:spPr>
          <a:xfrm>
            <a:off x="7612622" y="742950"/>
            <a:ext cx="7693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inference</a:t>
            </a:r>
          </a:p>
        </p:txBody>
      </p:sp>
    </p:spTree>
    <p:extLst>
      <p:ext uri="{BB962C8B-B14F-4D97-AF65-F5344CB8AC3E}">
        <p14:creationId xmlns:p14="http://schemas.microsoft.com/office/powerpoint/2010/main" val="15306726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-US" dirty="0"/>
              <a:t>Random forest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9499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435291-7447-1446-AFCE-E3A018013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50D718-C39B-0449-8EEC-5DF9B526F6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459" y="895350"/>
            <a:ext cx="7127082" cy="407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1965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435291-7447-1446-AFCE-E3A018013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4CF027-F304-B64A-AAFC-4FED62037EBE}"/>
              </a:ext>
            </a:extLst>
          </p:cNvPr>
          <p:cNvSpPr txBox="1"/>
          <p:nvPr/>
        </p:nvSpPr>
        <p:spPr>
          <a:xfrm>
            <a:off x="500550" y="964959"/>
            <a:ext cx="4527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Bagging </a:t>
            </a:r>
            <a:r>
              <a:rPr lang="ru-RU" dirty="0"/>
              <a:t>использует </a:t>
            </a:r>
            <a:r>
              <a:rPr lang="ru-RU" b="1" dirty="0">
                <a:solidFill>
                  <a:srgbClr val="C00000"/>
                </a:solidFill>
              </a:rPr>
              <a:t>случайные </a:t>
            </a:r>
            <a:r>
              <a:rPr lang="ru-RU" b="1" dirty="0" err="1">
                <a:solidFill>
                  <a:srgbClr val="C00000"/>
                </a:solidFill>
              </a:rPr>
              <a:t>подвыборки</a:t>
            </a:r>
            <a:endParaRPr lang="ru-RU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18487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435291-7447-1446-AFCE-E3A018013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4CF027-F304-B64A-AAFC-4FED62037EBE}"/>
              </a:ext>
            </a:extLst>
          </p:cNvPr>
          <p:cNvSpPr txBox="1"/>
          <p:nvPr/>
        </p:nvSpPr>
        <p:spPr>
          <a:xfrm>
            <a:off x="500550" y="964959"/>
            <a:ext cx="4527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Bagging </a:t>
            </a:r>
            <a:r>
              <a:rPr lang="ru-RU" dirty="0"/>
              <a:t>использует </a:t>
            </a:r>
            <a:r>
              <a:rPr lang="ru-RU" b="1" dirty="0">
                <a:solidFill>
                  <a:srgbClr val="C00000"/>
                </a:solidFill>
              </a:rPr>
              <a:t>случайные </a:t>
            </a:r>
            <a:r>
              <a:rPr lang="ru-RU" b="1" dirty="0" err="1">
                <a:solidFill>
                  <a:srgbClr val="C00000"/>
                </a:solidFill>
              </a:rPr>
              <a:t>подвыборки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5F8983-AC85-6341-982B-4A3486B37E40}"/>
              </a:ext>
            </a:extLst>
          </p:cNvPr>
          <p:cNvSpPr/>
          <p:nvPr/>
        </p:nvSpPr>
        <p:spPr>
          <a:xfrm>
            <a:off x="609600" y="2190750"/>
            <a:ext cx="2209800" cy="28193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84C418-4B0F-CA46-BF9F-187555C4AF70}"/>
              </a:ext>
            </a:extLst>
          </p:cNvPr>
          <p:cNvSpPr txBox="1"/>
          <p:nvPr/>
        </p:nvSpPr>
        <p:spPr>
          <a:xfrm>
            <a:off x="1341641" y="1885631"/>
            <a:ext cx="7457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Dataset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6518D0F-4A77-B945-9362-A3F03F077D0A}"/>
              </a:ext>
            </a:extLst>
          </p:cNvPr>
          <p:cNvGrpSpPr/>
          <p:nvPr/>
        </p:nvGrpSpPr>
        <p:grpSpPr>
          <a:xfrm>
            <a:off x="4235591" y="2522524"/>
            <a:ext cx="1050518" cy="381001"/>
            <a:chOff x="4664482" y="2190749"/>
            <a:chExt cx="1050518" cy="381001"/>
          </a:xfrm>
        </p:grpSpPr>
        <p:pic>
          <p:nvPicPr>
            <p:cNvPr id="8" name="object 14">
              <a:extLst>
                <a:ext uri="{FF2B5EF4-FFF2-40B4-BE49-F238E27FC236}">
                  <a16:creationId xmlns:a16="http://schemas.microsoft.com/office/drawing/2014/main" id="{9AD6D614-F901-9D41-A3C6-4C15773BCA8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F9A5337-7050-EA4A-94B1-BDF9E78D309B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FBB4B5D-1D10-854D-B4B1-2DE4BBECCA81}"/>
              </a:ext>
            </a:extLst>
          </p:cNvPr>
          <p:cNvGrpSpPr/>
          <p:nvPr/>
        </p:nvGrpSpPr>
        <p:grpSpPr>
          <a:xfrm>
            <a:off x="4235591" y="3219448"/>
            <a:ext cx="1050518" cy="381001"/>
            <a:chOff x="4664482" y="2190749"/>
            <a:chExt cx="1050518" cy="381001"/>
          </a:xfrm>
        </p:grpSpPr>
        <p:pic>
          <p:nvPicPr>
            <p:cNvPr id="15" name="object 14">
              <a:extLst>
                <a:ext uri="{FF2B5EF4-FFF2-40B4-BE49-F238E27FC236}">
                  <a16:creationId xmlns:a16="http://schemas.microsoft.com/office/drawing/2014/main" id="{6C911185-2ACB-8A4C-83B6-D82DFEA1943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A9F3D46-BC89-A941-998D-8FAF930D9652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D87625A-CEAF-6A41-8ECC-764C3FB61040}"/>
              </a:ext>
            </a:extLst>
          </p:cNvPr>
          <p:cNvGrpSpPr/>
          <p:nvPr/>
        </p:nvGrpSpPr>
        <p:grpSpPr>
          <a:xfrm>
            <a:off x="4235591" y="3916372"/>
            <a:ext cx="1050518" cy="381001"/>
            <a:chOff x="4664482" y="2190749"/>
            <a:chExt cx="1050518" cy="381001"/>
          </a:xfrm>
        </p:grpSpPr>
        <p:pic>
          <p:nvPicPr>
            <p:cNvPr id="18" name="object 14">
              <a:extLst>
                <a:ext uri="{FF2B5EF4-FFF2-40B4-BE49-F238E27FC236}">
                  <a16:creationId xmlns:a16="http://schemas.microsoft.com/office/drawing/2014/main" id="{4207C882-D9E8-DA4A-9679-CE2ABB42C01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F678207-2559-2D45-BA38-CFC29E0E99E3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03974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435291-7447-1446-AFCE-E3A018013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4CF027-F304-B64A-AAFC-4FED62037EBE}"/>
              </a:ext>
            </a:extLst>
          </p:cNvPr>
          <p:cNvSpPr txBox="1"/>
          <p:nvPr/>
        </p:nvSpPr>
        <p:spPr>
          <a:xfrm>
            <a:off x="500550" y="964959"/>
            <a:ext cx="4527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Bagging </a:t>
            </a:r>
            <a:r>
              <a:rPr lang="ru-RU" dirty="0"/>
              <a:t>использует </a:t>
            </a:r>
            <a:r>
              <a:rPr lang="ru-RU" b="1" dirty="0">
                <a:solidFill>
                  <a:srgbClr val="C00000"/>
                </a:solidFill>
              </a:rPr>
              <a:t>случайные </a:t>
            </a:r>
            <a:r>
              <a:rPr lang="ru-RU" b="1" dirty="0" err="1">
                <a:solidFill>
                  <a:srgbClr val="C00000"/>
                </a:solidFill>
              </a:rPr>
              <a:t>подвыборки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5F8983-AC85-6341-982B-4A3486B37E40}"/>
              </a:ext>
            </a:extLst>
          </p:cNvPr>
          <p:cNvSpPr/>
          <p:nvPr/>
        </p:nvSpPr>
        <p:spPr>
          <a:xfrm>
            <a:off x="609599" y="2088449"/>
            <a:ext cx="2209800" cy="30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84C418-4B0F-CA46-BF9F-187555C4AF70}"/>
              </a:ext>
            </a:extLst>
          </p:cNvPr>
          <p:cNvSpPr txBox="1"/>
          <p:nvPr/>
        </p:nvSpPr>
        <p:spPr>
          <a:xfrm>
            <a:off x="1341641" y="1780672"/>
            <a:ext cx="7457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Dataset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6518D0F-4A77-B945-9362-A3F03F077D0A}"/>
              </a:ext>
            </a:extLst>
          </p:cNvPr>
          <p:cNvGrpSpPr/>
          <p:nvPr/>
        </p:nvGrpSpPr>
        <p:grpSpPr>
          <a:xfrm>
            <a:off x="4235591" y="2522524"/>
            <a:ext cx="1050518" cy="381001"/>
            <a:chOff x="4664482" y="2190749"/>
            <a:chExt cx="1050518" cy="381001"/>
          </a:xfrm>
        </p:grpSpPr>
        <p:pic>
          <p:nvPicPr>
            <p:cNvPr id="8" name="object 14">
              <a:extLst>
                <a:ext uri="{FF2B5EF4-FFF2-40B4-BE49-F238E27FC236}">
                  <a16:creationId xmlns:a16="http://schemas.microsoft.com/office/drawing/2014/main" id="{9AD6D614-F901-9D41-A3C6-4C15773BCA8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F9A5337-7050-EA4A-94B1-BDF9E78D309B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FBB4B5D-1D10-854D-B4B1-2DE4BBECCA81}"/>
              </a:ext>
            </a:extLst>
          </p:cNvPr>
          <p:cNvGrpSpPr/>
          <p:nvPr/>
        </p:nvGrpSpPr>
        <p:grpSpPr>
          <a:xfrm>
            <a:off x="4235591" y="3219448"/>
            <a:ext cx="1050518" cy="381001"/>
            <a:chOff x="4664482" y="2190749"/>
            <a:chExt cx="1050518" cy="381001"/>
          </a:xfrm>
        </p:grpSpPr>
        <p:pic>
          <p:nvPicPr>
            <p:cNvPr id="15" name="object 14">
              <a:extLst>
                <a:ext uri="{FF2B5EF4-FFF2-40B4-BE49-F238E27FC236}">
                  <a16:creationId xmlns:a16="http://schemas.microsoft.com/office/drawing/2014/main" id="{6C911185-2ACB-8A4C-83B6-D82DFEA1943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A9F3D46-BC89-A941-998D-8FAF930D9652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D87625A-CEAF-6A41-8ECC-764C3FB61040}"/>
              </a:ext>
            </a:extLst>
          </p:cNvPr>
          <p:cNvGrpSpPr/>
          <p:nvPr/>
        </p:nvGrpSpPr>
        <p:grpSpPr>
          <a:xfrm>
            <a:off x="4235591" y="3916372"/>
            <a:ext cx="1050518" cy="381001"/>
            <a:chOff x="4664482" y="2190749"/>
            <a:chExt cx="1050518" cy="381001"/>
          </a:xfrm>
        </p:grpSpPr>
        <p:pic>
          <p:nvPicPr>
            <p:cNvPr id="18" name="object 14">
              <a:extLst>
                <a:ext uri="{FF2B5EF4-FFF2-40B4-BE49-F238E27FC236}">
                  <a16:creationId xmlns:a16="http://schemas.microsoft.com/office/drawing/2014/main" id="{4207C882-D9E8-DA4A-9679-CE2ABB42C01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F678207-2559-2D45-BA38-CFC29E0E99E3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3</a:t>
              </a:r>
            </a:p>
          </p:txBody>
        </p:sp>
      </p:grpSp>
      <p:sp>
        <p:nvSpPr>
          <p:cNvPr id="20" name="object 27">
            <a:extLst>
              <a:ext uri="{FF2B5EF4-FFF2-40B4-BE49-F238E27FC236}">
                <a16:creationId xmlns:a16="http://schemas.microsoft.com/office/drawing/2014/main" id="{7F2412F1-EDBE-4F42-8CD8-30C4AAEB0AF8}"/>
              </a:ext>
            </a:extLst>
          </p:cNvPr>
          <p:cNvSpPr/>
          <p:nvPr/>
        </p:nvSpPr>
        <p:spPr>
          <a:xfrm>
            <a:off x="533399" y="2088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FF000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7">
            <a:extLst>
              <a:ext uri="{FF2B5EF4-FFF2-40B4-BE49-F238E27FC236}">
                <a16:creationId xmlns:a16="http://schemas.microsoft.com/office/drawing/2014/main" id="{833EC84E-DE05-EC45-8D0F-20DB5D97F2EB}"/>
              </a:ext>
            </a:extLst>
          </p:cNvPr>
          <p:cNvSpPr/>
          <p:nvPr/>
        </p:nvSpPr>
        <p:spPr>
          <a:xfrm>
            <a:off x="533399" y="2592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B05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7">
            <a:extLst>
              <a:ext uri="{FF2B5EF4-FFF2-40B4-BE49-F238E27FC236}">
                <a16:creationId xmlns:a16="http://schemas.microsoft.com/office/drawing/2014/main" id="{EBB22BED-E963-0C46-9946-5D20ABAEB20C}"/>
              </a:ext>
            </a:extLst>
          </p:cNvPr>
          <p:cNvSpPr/>
          <p:nvPr/>
        </p:nvSpPr>
        <p:spPr>
          <a:xfrm>
            <a:off x="533399" y="3096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FF000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03F0192A-0631-5C42-B00F-1CE85D950576}"/>
              </a:ext>
            </a:extLst>
          </p:cNvPr>
          <p:cNvSpPr/>
          <p:nvPr/>
        </p:nvSpPr>
        <p:spPr>
          <a:xfrm>
            <a:off x="533399" y="3600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B05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7">
            <a:extLst>
              <a:ext uri="{FF2B5EF4-FFF2-40B4-BE49-F238E27FC236}">
                <a16:creationId xmlns:a16="http://schemas.microsoft.com/office/drawing/2014/main" id="{5683F8AF-A387-7146-8567-1272D0FDA3B0}"/>
              </a:ext>
            </a:extLst>
          </p:cNvPr>
          <p:cNvSpPr/>
          <p:nvPr/>
        </p:nvSpPr>
        <p:spPr>
          <a:xfrm>
            <a:off x="533399" y="4104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70C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7">
            <a:extLst>
              <a:ext uri="{FF2B5EF4-FFF2-40B4-BE49-F238E27FC236}">
                <a16:creationId xmlns:a16="http://schemas.microsoft.com/office/drawing/2014/main" id="{4C83FAEF-20C1-E748-AD5B-986870F36EB8}"/>
              </a:ext>
            </a:extLst>
          </p:cNvPr>
          <p:cNvSpPr/>
          <p:nvPr/>
        </p:nvSpPr>
        <p:spPr>
          <a:xfrm>
            <a:off x="533399" y="4608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70C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FBC026C-C47D-9E45-8849-6D83285433E9}"/>
              </a:ext>
            </a:extLst>
          </p:cNvPr>
          <p:cNvSpPr/>
          <p:nvPr/>
        </p:nvSpPr>
        <p:spPr>
          <a:xfrm>
            <a:off x="3886200" y="2114550"/>
            <a:ext cx="4572000" cy="2514600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379EF0-BBB0-3A4D-8343-6AECD71A0CF9}"/>
              </a:ext>
            </a:extLst>
          </p:cNvPr>
          <p:cNvSpPr txBox="1"/>
          <p:nvPr/>
        </p:nvSpPr>
        <p:spPr>
          <a:xfrm>
            <a:off x="5791294" y="1783101"/>
            <a:ext cx="7618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Bagging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38E65F2-CD70-B74A-B9E5-F78B74DD784D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2895599" y="2713025"/>
            <a:ext cx="1339992" cy="633635"/>
          </a:xfrm>
          <a:prstGeom prst="straightConnector1">
            <a:avLst/>
          </a:prstGeom>
          <a:ln>
            <a:solidFill>
              <a:srgbClr val="FF000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2E24085-68A2-914C-8B3B-52758B2CF871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2895599" y="2340449"/>
            <a:ext cx="1339992" cy="372576"/>
          </a:xfrm>
          <a:prstGeom prst="straightConnector1">
            <a:avLst/>
          </a:prstGeom>
          <a:ln>
            <a:solidFill>
              <a:srgbClr val="FF000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61A9FFF-44E3-8B49-A4F8-6680E6D788FD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2895121" y="2858321"/>
            <a:ext cx="1340470" cy="551628"/>
          </a:xfrm>
          <a:prstGeom prst="straightConnector1">
            <a:avLst/>
          </a:prstGeom>
          <a:ln>
            <a:solidFill>
              <a:srgbClr val="00B05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708D7D1-57D4-CE48-8B83-50A7AC0F81B0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2895121" y="3409949"/>
            <a:ext cx="1340470" cy="440711"/>
          </a:xfrm>
          <a:prstGeom prst="straightConnector1">
            <a:avLst/>
          </a:prstGeom>
          <a:ln>
            <a:solidFill>
              <a:srgbClr val="00B05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E322C92-0C26-824A-870F-4868A670FDBD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2895121" y="4106873"/>
            <a:ext cx="1340470" cy="256752"/>
          </a:xfrm>
          <a:prstGeom prst="straightConnector1">
            <a:avLst/>
          </a:prstGeom>
          <a:ln>
            <a:solidFill>
              <a:srgbClr val="0070C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0485EFC-4E09-A743-8802-71788AF067BE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2895121" y="4106873"/>
            <a:ext cx="1340470" cy="767102"/>
          </a:xfrm>
          <a:prstGeom prst="straightConnector1">
            <a:avLst/>
          </a:prstGeom>
          <a:ln>
            <a:solidFill>
              <a:srgbClr val="0070C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85259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435291-7447-1446-AFCE-E3A018013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4CF027-F304-B64A-AAFC-4FED62037EBE}"/>
              </a:ext>
            </a:extLst>
          </p:cNvPr>
          <p:cNvSpPr txBox="1"/>
          <p:nvPr/>
        </p:nvSpPr>
        <p:spPr>
          <a:xfrm>
            <a:off x="500550" y="964959"/>
            <a:ext cx="6600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Bagging </a:t>
            </a:r>
            <a:r>
              <a:rPr lang="ru-RU" dirty="0"/>
              <a:t>использует </a:t>
            </a:r>
            <a:r>
              <a:rPr lang="ru-RU" b="1" dirty="0">
                <a:solidFill>
                  <a:srgbClr val="C00000"/>
                </a:solidFill>
              </a:rPr>
              <a:t>случайные не пересекающиеся </a:t>
            </a:r>
            <a:r>
              <a:rPr lang="ru-RU" b="1" dirty="0" err="1">
                <a:solidFill>
                  <a:srgbClr val="C00000"/>
                </a:solidFill>
              </a:rPr>
              <a:t>подвыборки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5F8983-AC85-6341-982B-4A3486B37E40}"/>
              </a:ext>
            </a:extLst>
          </p:cNvPr>
          <p:cNvSpPr/>
          <p:nvPr/>
        </p:nvSpPr>
        <p:spPr>
          <a:xfrm>
            <a:off x="609599" y="2088449"/>
            <a:ext cx="2209800" cy="30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84C418-4B0F-CA46-BF9F-187555C4AF70}"/>
              </a:ext>
            </a:extLst>
          </p:cNvPr>
          <p:cNvSpPr txBox="1"/>
          <p:nvPr/>
        </p:nvSpPr>
        <p:spPr>
          <a:xfrm>
            <a:off x="1341641" y="1780672"/>
            <a:ext cx="7457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Dataset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6518D0F-4A77-B945-9362-A3F03F077D0A}"/>
              </a:ext>
            </a:extLst>
          </p:cNvPr>
          <p:cNvGrpSpPr/>
          <p:nvPr/>
        </p:nvGrpSpPr>
        <p:grpSpPr>
          <a:xfrm>
            <a:off x="4235591" y="2522524"/>
            <a:ext cx="1050518" cy="381001"/>
            <a:chOff x="4664482" y="2190749"/>
            <a:chExt cx="1050518" cy="381001"/>
          </a:xfrm>
        </p:grpSpPr>
        <p:pic>
          <p:nvPicPr>
            <p:cNvPr id="8" name="object 14">
              <a:extLst>
                <a:ext uri="{FF2B5EF4-FFF2-40B4-BE49-F238E27FC236}">
                  <a16:creationId xmlns:a16="http://schemas.microsoft.com/office/drawing/2014/main" id="{9AD6D614-F901-9D41-A3C6-4C15773BCA8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F9A5337-7050-EA4A-94B1-BDF9E78D309B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FBB4B5D-1D10-854D-B4B1-2DE4BBECCA81}"/>
              </a:ext>
            </a:extLst>
          </p:cNvPr>
          <p:cNvGrpSpPr/>
          <p:nvPr/>
        </p:nvGrpSpPr>
        <p:grpSpPr>
          <a:xfrm>
            <a:off x="4235591" y="3219448"/>
            <a:ext cx="1050518" cy="381001"/>
            <a:chOff x="4664482" y="2190749"/>
            <a:chExt cx="1050518" cy="381001"/>
          </a:xfrm>
        </p:grpSpPr>
        <p:pic>
          <p:nvPicPr>
            <p:cNvPr id="15" name="object 14">
              <a:extLst>
                <a:ext uri="{FF2B5EF4-FFF2-40B4-BE49-F238E27FC236}">
                  <a16:creationId xmlns:a16="http://schemas.microsoft.com/office/drawing/2014/main" id="{6C911185-2ACB-8A4C-83B6-D82DFEA1943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A9F3D46-BC89-A941-998D-8FAF930D9652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D87625A-CEAF-6A41-8ECC-764C3FB61040}"/>
              </a:ext>
            </a:extLst>
          </p:cNvPr>
          <p:cNvGrpSpPr/>
          <p:nvPr/>
        </p:nvGrpSpPr>
        <p:grpSpPr>
          <a:xfrm>
            <a:off x="4235591" y="3916372"/>
            <a:ext cx="1050518" cy="381001"/>
            <a:chOff x="4664482" y="2190749"/>
            <a:chExt cx="1050518" cy="381001"/>
          </a:xfrm>
        </p:grpSpPr>
        <p:pic>
          <p:nvPicPr>
            <p:cNvPr id="18" name="object 14">
              <a:extLst>
                <a:ext uri="{FF2B5EF4-FFF2-40B4-BE49-F238E27FC236}">
                  <a16:creationId xmlns:a16="http://schemas.microsoft.com/office/drawing/2014/main" id="{4207C882-D9E8-DA4A-9679-CE2ABB42C01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F678207-2559-2D45-BA38-CFC29E0E99E3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3</a:t>
              </a:r>
            </a:p>
          </p:txBody>
        </p:sp>
      </p:grpSp>
      <p:sp>
        <p:nvSpPr>
          <p:cNvPr id="20" name="object 27">
            <a:extLst>
              <a:ext uri="{FF2B5EF4-FFF2-40B4-BE49-F238E27FC236}">
                <a16:creationId xmlns:a16="http://schemas.microsoft.com/office/drawing/2014/main" id="{7F2412F1-EDBE-4F42-8CD8-30C4AAEB0AF8}"/>
              </a:ext>
            </a:extLst>
          </p:cNvPr>
          <p:cNvSpPr/>
          <p:nvPr/>
        </p:nvSpPr>
        <p:spPr>
          <a:xfrm>
            <a:off x="533399" y="2088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FF000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7">
            <a:extLst>
              <a:ext uri="{FF2B5EF4-FFF2-40B4-BE49-F238E27FC236}">
                <a16:creationId xmlns:a16="http://schemas.microsoft.com/office/drawing/2014/main" id="{833EC84E-DE05-EC45-8D0F-20DB5D97F2EB}"/>
              </a:ext>
            </a:extLst>
          </p:cNvPr>
          <p:cNvSpPr/>
          <p:nvPr/>
        </p:nvSpPr>
        <p:spPr>
          <a:xfrm>
            <a:off x="533399" y="2592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B05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7">
            <a:extLst>
              <a:ext uri="{FF2B5EF4-FFF2-40B4-BE49-F238E27FC236}">
                <a16:creationId xmlns:a16="http://schemas.microsoft.com/office/drawing/2014/main" id="{EBB22BED-E963-0C46-9946-5D20ABAEB20C}"/>
              </a:ext>
            </a:extLst>
          </p:cNvPr>
          <p:cNvSpPr/>
          <p:nvPr/>
        </p:nvSpPr>
        <p:spPr>
          <a:xfrm>
            <a:off x="533399" y="3096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FF000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03F0192A-0631-5C42-B00F-1CE85D950576}"/>
              </a:ext>
            </a:extLst>
          </p:cNvPr>
          <p:cNvSpPr/>
          <p:nvPr/>
        </p:nvSpPr>
        <p:spPr>
          <a:xfrm>
            <a:off x="533399" y="3600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B05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7">
            <a:extLst>
              <a:ext uri="{FF2B5EF4-FFF2-40B4-BE49-F238E27FC236}">
                <a16:creationId xmlns:a16="http://schemas.microsoft.com/office/drawing/2014/main" id="{5683F8AF-A387-7146-8567-1272D0FDA3B0}"/>
              </a:ext>
            </a:extLst>
          </p:cNvPr>
          <p:cNvSpPr/>
          <p:nvPr/>
        </p:nvSpPr>
        <p:spPr>
          <a:xfrm>
            <a:off x="533399" y="4104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70C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7">
            <a:extLst>
              <a:ext uri="{FF2B5EF4-FFF2-40B4-BE49-F238E27FC236}">
                <a16:creationId xmlns:a16="http://schemas.microsoft.com/office/drawing/2014/main" id="{4C83FAEF-20C1-E748-AD5B-986870F36EB8}"/>
              </a:ext>
            </a:extLst>
          </p:cNvPr>
          <p:cNvSpPr/>
          <p:nvPr/>
        </p:nvSpPr>
        <p:spPr>
          <a:xfrm>
            <a:off x="533399" y="4608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70C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FBC026C-C47D-9E45-8849-6D83285433E9}"/>
              </a:ext>
            </a:extLst>
          </p:cNvPr>
          <p:cNvSpPr/>
          <p:nvPr/>
        </p:nvSpPr>
        <p:spPr>
          <a:xfrm>
            <a:off x="3886200" y="2114550"/>
            <a:ext cx="4572000" cy="2514600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379EF0-BBB0-3A4D-8343-6AECD71A0CF9}"/>
              </a:ext>
            </a:extLst>
          </p:cNvPr>
          <p:cNvSpPr txBox="1"/>
          <p:nvPr/>
        </p:nvSpPr>
        <p:spPr>
          <a:xfrm>
            <a:off x="5791294" y="1783101"/>
            <a:ext cx="7618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Bagging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38E65F2-CD70-B74A-B9E5-F78B74DD784D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2895599" y="2713025"/>
            <a:ext cx="1339992" cy="633635"/>
          </a:xfrm>
          <a:prstGeom prst="straightConnector1">
            <a:avLst/>
          </a:prstGeom>
          <a:ln>
            <a:solidFill>
              <a:srgbClr val="FF000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2E24085-68A2-914C-8B3B-52758B2CF871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2895599" y="2340449"/>
            <a:ext cx="1339992" cy="372576"/>
          </a:xfrm>
          <a:prstGeom prst="straightConnector1">
            <a:avLst/>
          </a:prstGeom>
          <a:ln>
            <a:solidFill>
              <a:srgbClr val="FF000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61A9FFF-44E3-8B49-A4F8-6680E6D788FD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2895121" y="2858321"/>
            <a:ext cx="1340470" cy="551628"/>
          </a:xfrm>
          <a:prstGeom prst="straightConnector1">
            <a:avLst/>
          </a:prstGeom>
          <a:ln>
            <a:solidFill>
              <a:srgbClr val="00B05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708D7D1-57D4-CE48-8B83-50A7AC0F81B0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2895121" y="3409949"/>
            <a:ext cx="1340470" cy="440711"/>
          </a:xfrm>
          <a:prstGeom prst="straightConnector1">
            <a:avLst/>
          </a:prstGeom>
          <a:ln>
            <a:solidFill>
              <a:srgbClr val="00B05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E322C92-0C26-824A-870F-4868A670FDBD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2895121" y="4106873"/>
            <a:ext cx="1340470" cy="256752"/>
          </a:xfrm>
          <a:prstGeom prst="straightConnector1">
            <a:avLst/>
          </a:prstGeom>
          <a:ln>
            <a:solidFill>
              <a:srgbClr val="0070C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0485EFC-4E09-A743-8802-71788AF067BE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2895121" y="4106873"/>
            <a:ext cx="1340470" cy="767102"/>
          </a:xfrm>
          <a:prstGeom prst="straightConnector1">
            <a:avLst/>
          </a:prstGeom>
          <a:ln>
            <a:solidFill>
              <a:srgbClr val="0070C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E5C97588-8EEF-A643-8C76-0F341FC519E2}"/>
              </a:ext>
            </a:extLst>
          </p:cNvPr>
          <p:cNvSpPr/>
          <p:nvPr/>
        </p:nvSpPr>
        <p:spPr>
          <a:xfrm>
            <a:off x="5562600" y="2522524"/>
            <a:ext cx="457200" cy="38100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D1DEBD19-72DD-8248-84A1-0ED51B049C91}"/>
              </a:ext>
            </a:extLst>
          </p:cNvPr>
          <p:cNvSpPr/>
          <p:nvPr/>
        </p:nvSpPr>
        <p:spPr>
          <a:xfrm>
            <a:off x="5569001" y="3219447"/>
            <a:ext cx="457200" cy="38100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0FC61C29-1E60-2943-848D-CDF4FC717DDA}"/>
              </a:ext>
            </a:extLst>
          </p:cNvPr>
          <p:cNvSpPr/>
          <p:nvPr/>
        </p:nvSpPr>
        <p:spPr>
          <a:xfrm>
            <a:off x="5562600" y="3916370"/>
            <a:ext cx="457200" cy="38100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1F08EE1-21EE-EE4F-A421-E78924F8F27E}"/>
              </a:ext>
            </a:extLst>
          </p:cNvPr>
          <p:cNvSpPr/>
          <p:nvPr/>
        </p:nvSpPr>
        <p:spPr>
          <a:xfrm>
            <a:off x="6477000" y="3207613"/>
            <a:ext cx="1143000" cy="423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Voting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62179679-24E8-D24D-B1FC-0E219032EB88}"/>
              </a:ext>
            </a:extLst>
          </p:cNvPr>
          <p:cNvSpPr/>
          <p:nvPr/>
        </p:nvSpPr>
        <p:spPr>
          <a:xfrm>
            <a:off x="7810410" y="3228616"/>
            <a:ext cx="457200" cy="38100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C7A4D44-5C4A-9840-9DC5-BC05B09F025B}"/>
              </a:ext>
            </a:extLst>
          </p:cNvPr>
          <p:cNvCxnSpPr>
            <a:stCxn id="8" idx="3"/>
            <a:endCxn id="42" idx="1"/>
          </p:cNvCxnSpPr>
          <p:nvPr/>
        </p:nvCxnSpPr>
        <p:spPr>
          <a:xfrm>
            <a:off x="5286109" y="2713025"/>
            <a:ext cx="2764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5C7BB7A-11F7-5442-B4EB-0B255F2E6C77}"/>
              </a:ext>
            </a:extLst>
          </p:cNvPr>
          <p:cNvCxnSpPr>
            <a:stCxn id="15" idx="3"/>
            <a:endCxn id="43" idx="1"/>
          </p:cNvCxnSpPr>
          <p:nvPr/>
        </p:nvCxnSpPr>
        <p:spPr>
          <a:xfrm flipV="1">
            <a:off x="5286109" y="3409948"/>
            <a:ext cx="28289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3071A2F-A385-FF42-BC70-A8F05AEA1968}"/>
              </a:ext>
            </a:extLst>
          </p:cNvPr>
          <p:cNvCxnSpPr>
            <a:stCxn id="18" idx="3"/>
            <a:endCxn id="44" idx="1"/>
          </p:cNvCxnSpPr>
          <p:nvPr/>
        </p:nvCxnSpPr>
        <p:spPr>
          <a:xfrm flipV="1">
            <a:off x="5286109" y="4106871"/>
            <a:ext cx="276491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693D826-056C-D941-83FA-6F9AD0B341C9}"/>
              </a:ext>
            </a:extLst>
          </p:cNvPr>
          <p:cNvCxnSpPr>
            <a:stCxn id="42" idx="3"/>
            <a:endCxn id="45" idx="1"/>
          </p:cNvCxnSpPr>
          <p:nvPr/>
        </p:nvCxnSpPr>
        <p:spPr>
          <a:xfrm>
            <a:off x="6019800" y="2713025"/>
            <a:ext cx="457200" cy="706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4709DD6-EBF8-A44D-A06C-580AA4E655B6}"/>
              </a:ext>
            </a:extLst>
          </p:cNvPr>
          <p:cNvCxnSpPr>
            <a:stCxn id="43" idx="3"/>
            <a:endCxn id="45" idx="1"/>
          </p:cNvCxnSpPr>
          <p:nvPr/>
        </p:nvCxnSpPr>
        <p:spPr>
          <a:xfrm>
            <a:off x="6026201" y="3409948"/>
            <a:ext cx="450799" cy="9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658B665-B7D5-D044-B4F0-D055FCE06720}"/>
              </a:ext>
            </a:extLst>
          </p:cNvPr>
          <p:cNvCxnSpPr>
            <a:stCxn id="44" idx="3"/>
            <a:endCxn id="45" idx="1"/>
          </p:cNvCxnSpPr>
          <p:nvPr/>
        </p:nvCxnSpPr>
        <p:spPr>
          <a:xfrm flipV="1">
            <a:off x="6019800" y="3419117"/>
            <a:ext cx="457200" cy="687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CD566EF-6B3B-B84B-A472-DB2314D21EE6}"/>
              </a:ext>
            </a:extLst>
          </p:cNvPr>
          <p:cNvCxnSpPr>
            <a:stCxn id="45" idx="3"/>
            <a:endCxn id="46" idx="1"/>
          </p:cNvCxnSpPr>
          <p:nvPr/>
        </p:nvCxnSpPr>
        <p:spPr>
          <a:xfrm>
            <a:off x="7620000" y="3419117"/>
            <a:ext cx="1904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87674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435291-7447-1446-AFCE-E3A018013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4CF027-F304-B64A-AAFC-4FED62037EBE}"/>
              </a:ext>
            </a:extLst>
          </p:cNvPr>
          <p:cNvSpPr txBox="1"/>
          <p:nvPr/>
        </p:nvSpPr>
        <p:spPr>
          <a:xfrm>
            <a:off x="500550" y="964959"/>
            <a:ext cx="66005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Bagging </a:t>
            </a:r>
            <a:r>
              <a:rPr lang="ru-RU" dirty="0"/>
              <a:t>использует </a:t>
            </a:r>
            <a:r>
              <a:rPr lang="ru-RU" b="1" dirty="0">
                <a:solidFill>
                  <a:srgbClr val="C00000"/>
                </a:solidFill>
              </a:rPr>
              <a:t>случайные не пересекающиеся </a:t>
            </a:r>
            <a:r>
              <a:rPr lang="ru-RU" b="1" dirty="0" err="1">
                <a:solidFill>
                  <a:srgbClr val="C00000"/>
                </a:solidFill>
              </a:rPr>
              <a:t>подвыборки</a:t>
            </a:r>
            <a:endParaRPr lang="en-US" b="1" dirty="0">
              <a:solidFill>
                <a:srgbClr val="C00000"/>
              </a:solidFill>
            </a:endParaRPr>
          </a:p>
          <a:p>
            <a:r>
              <a:rPr lang="ru-RU" dirty="0"/>
              <a:t>Как еще добавить случайности в </a:t>
            </a:r>
            <a:r>
              <a:rPr lang="en-US" dirty="0"/>
              <a:t>Bagging?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5F8983-AC85-6341-982B-4A3486B37E40}"/>
              </a:ext>
            </a:extLst>
          </p:cNvPr>
          <p:cNvSpPr/>
          <p:nvPr/>
        </p:nvSpPr>
        <p:spPr>
          <a:xfrm>
            <a:off x="609599" y="2088449"/>
            <a:ext cx="2209800" cy="30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84C418-4B0F-CA46-BF9F-187555C4AF70}"/>
              </a:ext>
            </a:extLst>
          </p:cNvPr>
          <p:cNvSpPr txBox="1"/>
          <p:nvPr/>
        </p:nvSpPr>
        <p:spPr>
          <a:xfrm>
            <a:off x="1341641" y="1780672"/>
            <a:ext cx="7457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Dataset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6518D0F-4A77-B945-9362-A3F03F077D0A}"/>
              </a:ext>
            </a:extLst>
          </p:cNvPr>
          <p:cNvGrpSpPr/>
          <p:nvPr/>
        </p:nvGrpSpPr>
        <p:grpSpPr>
          <a:xfrm>
            <a:off x="4235591" y="2522524"/>
            <a:ext cx="1050518" cy="381001"/>
            <a:chOff x="4664482" y="2190749"/>
            <a:chExt cx="1050518" cy="381001"/>
          </a:xfrm>
        </p:grpSpPr>
        <p:pic>
          <p:nvPicPr>
            <p:cNvPr id="8" name="object 14">
              <a:extLst>
                <a:ext uri="{FF2B5EF4-FFF2-40B4-BE49-F238E27FC236}">
                  <a16:creationId xmlns:a16="http://schemas.microsoft.com/office/drawing/2014/main" id="{9AD6D614-F901-9D41-A3C6-4C15773BCA8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F9A5337-7050-EA4A-94B1-BDF9E78D309B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FBB4B5D-1D10-854D-B4B1-2DE4BBECCA81}"/>
              </a:ext>
            </a:extLst>
          </p:cNvPr>
          <p:cNvGrpSpPr/>
          <p:nvPr/>
        </p:nvGrpSpPr>
        <p:grpSpPr>
          <a:xfrm>
            <a:off x="4235591" y="3219448"/>
            <a:ext cx="1050518" cy="381001"/>
            <a:chOff x="4664482" y="2190749"/>
            <a:chExt cx="1050518" cy="381001"/>
          </a:xfrm>
        </p:grpSpPr>
        <p:pic>
          <p:nvPicPr>
            <p:cNvPr id="15" name="object 14">
              <a:extLst>
                <a:ext uri="{FF2B5EF4-FFF2-40B4-BE49-F238E27FC236}">
                  <a16:creationId xmlns:a16="http://schemas.microsoft.com/office/drawing/2014/main" id="{6C911185-2ACB-8A4C-83B6-D82DFEA1943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A9F3D46-BC89-A941-998D-8FAF930D9652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D87625A-CEAF-6A41-8ECC-764C3FB61040}"/>
              </a:ext>
            </a:extLst>
          </p:cNvPr>
          <p:cNvGrpSpPr/>
          <p:nvPr/>
        </p:nvGrpSpPr>
        <p:grpSpPr>
          <a:xfrm>
            <a:off x="4235591" y="3916372"/>
            <a:ext cx="1050518" cy="381001"/>
            <a:chOff x="4664482" y="2190749"/>
            <a:chExt cx="1050518" cy="381001"/>
          </a:xfrm>
        </p:grpSpPr>
        <p:pic>
          <p:nvPicPr>
            <p:cNvPr id="18" name="object 14">
              <a:extLst>
                <a:ext uri="{FF2B5EF4-FFF2-40B4-BE49-F238E27FC236}">
                  <a16:creationId xmlns:a16="http://schemas.microsoft.com/office/drawing/2014/main" id="{4207C882-D9E8-DA4A-9679-CE2ABB42C01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F678207-2559-2D45-BA38-CFC29E0E99E3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3</a:t>
              </a:r>
            </a:p>
          </p:txBody>
        </p:sp>
      </p:grpSp>
      <p:sp>
        <p:nvSpPr>
          <p:cNvPr id="20" name="object 27">
            <a:extLst>
              <a:ext uri="{FF2B5EF4-FFF2-40B4-BE49-F238E27FC236}">
                <a16:creationId xmlns:a16="http://schemas.microsoft.com/office/drawing/2014/main" id="{7F2412F1-EDBE-4F42-8CD8-30C4AAEB0AF8}"/>
              </a:ext>
            </a:extLst>
          </p:cNvPr>
          <p:cNvSpPr/>
          <p:nvPr/>
        </p:nvSpPr>
        <p:spPr>
          <a:xfrm>
            <a:off x="533399" y="2088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FF000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7">
            <a:extLst>
              <a:ext uri="{FF2B5EF4-FFF2-40B4-BE49-F238E27FC236}">
                <a16:creationId xmlns:a16="http://schemas.microsoft.com/office/drawing/2014/main" id="{833EC84E-DE05-EC45-8D0F-20DB5D97F2EB}"/>
              </a:ext>
            </a:extLst>
          </p:cNvPr>
          <p:cNvSpPr/>
          <p:nvPr/>
        </p:nvSpPr>
        <p:spPr>
          <a:xfrm>
            <a:off x="533399" y="2592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B05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7">
            <a:extLst>
              <a:ext uri="{FF2B5EF4-FFF2-40B4-BE49-F238E27FC236}">
                <a16:creationId xmlns:a16="http://schemas.microsoft.com/office/drawing/2014/main" id="{EBB22BED-E963-0C46-9946-5D20ABAEB20C}"/>
              </a:ext>
            </a:extLst>
          </p:cNvPr>
          <p:cNvSpPr/>
          <p:nvPr/>
        </p:nvSpPr>
        <p:spPr>
          <a:xfrm>
            <a:off x="533399" y="3096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FF000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03F0192A-0631-5C42-B00F-1CE85D950576}"/>
              </a:ext>
            </a:extLst>
          </p:cNvPr>
          <p:cNvSpPr/>
          <p:nvPr/>
        </p:nvSpPr>
        <p:spPr>
          <a:xfrm>
            <a:off x="533399" y="3600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B05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7">
            <a:extLst>
              <a:ext uri="{FF2B5EF4-FFF2-40B4-BE49-F238E27FC236}">
                <a16:creationId xmlns:a16="http://schemas.microsoft.com/office/drawing/2014/main" id="{5683F8AF-A387-7146-8567-1272D0FDA3B0}"/>
              </a:ext>
            </a:extLst>
          </p:cNvPr>
          <p:cNvSpPr/>
          <p:nvPr/>
        </p:nvSpPr>
        <p:spPr>
          <a:xfrm>
            <a:off x="533399" y="4104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70C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7">
            <a:extLst>
              <a:ext uri="{FF2B5EF4-FFF2-40B4-BE49-F238E27FC236}">
                <a16:creationId xmlns:a16="http://schemas.microsoft.com/office/drawing/2014/main" id="{4C83FAEF-20C1-E748-AD5B-986870F36EB8}"/>
              </a:ext>
            </a:extLst>
          </p:cNvPr>
          <p:cNvSpPr/>
          <p:nvPr/>
        </p:nvSpPr>
        <p:spPr>
          <a:xfrm>
            <a:off x="533399" y="4608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70C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FBC026C-C47D-9E45-8849-6D83285433E9}"/>
              </a:ext>
            </a:extLst>
          </p:cNvPr>
          <p:cNvSpPr/>
          <p:nvPr/>
        </p:nvSpPr>
        <p:spPr>
          <a:xfrm>
            <a:off x="3886200" y="2114550"/>
            <a:ext cx="4572000" cy="2514600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379EF0-BBB0-3A4D-8343-6AECD71A0CF9}"/>
              </a:ext>
            </a:extLst>
          </p:cNvPr>
          <p:cNvSpPr txBox="1"/>
          <p:nvPr/>
        </p:nvSpPr>
        <p:spPr>
          <a:xfrm>
            <a:off x="5791294" y="1783101"/>
            <a:ext cx="7618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Bagging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38E65F2-CD70-B74A-B9E5-F78B74DD784D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2895599" y="2713025"/>
            <a:ext cx="1339992" cy="633635"/>
          </a:xfrm>
          <a:prstGeom prst="straightConnector1">
            <a:avLst/>
          </a:prstGeom>
          <a:ln>
            <a:solidFill>
              <a:srgbClr val="FF000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2E24085-68A2-914C-8B3B-52758B2CF871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2895599" y="2340449"/>
            <a:ext cx="1339992" cy="372576"/>
          </a:xfrm>
          <a:prstGeom prst="straightConnector1">
            <a:avLst/>
          </a:prstGeom>
          <a:ln>
            <a:solidFill>
              <a:srgbClr val="FF000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61A9FFF-44E3-8B49-A4F8-6680E6D788FD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2895121" y="2858321"/>
            <a:ext cx="1340470" cy="551628"/>
          </a:xfrm>
          <a:prstGeom prst="straightConnector1">
            <a:avLst/>
          </a:prstGeom>
          <a:ln>
            <a:solidFill>
              <a:srgbClr val="00B05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708D7D1-57D4-CE48-8B83-50A7AC0F81B0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2895121" y="3409949"/>
            <a:ext cx="1340470" cy="440711"/>
          </a:xfrm>
          <a:prstGeom prst="straightConnector1">
            <a:avLst/>
          </a:prstGeom>
          <a:ln>
            <a:solidFill>
              <a:srgbClr val="00B05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E322C92-0C26-824A-870F-4868A670FDBD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2895121" y="4106873"/>
            <a:ext cx="1340470" cy="256752"/>
          </a:xfrm>
          <a:prstGeom prst="straightConnector1">
            <a:avLst/>
          </a:prstGeom>
          <a:ln>
            <a:solidFill>
              <a:srgbClr val="0070C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0485EFC-4E09-A743-8802-71788AF067BE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2895121" y="4106873"/>
            <a:ext cx="1340470" cy="767102"/>
          </a:xfrm>
          <a:prstGeom prst="straightConnector1">
            <a:avLst/>
          </a:prstGeom>
          <a:ln>
            <a:solidFill>
              <a:srgbClr val="0070C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E5C97588-8EEF-A643-8C76-0F341FC519E2}"/>
              </a:ext>
            </a:extLst>
          </p:cNvPr>
          <p:cNvSpPr/>
          <p:nvPr/>
        </p:nvSpPr>
        <p:spPr>
          <a:xfrm>
            <a:off x="5562600" y="2522524"/>
            <a:ext cx="457200" cy="38100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D1DEBD19-72DD-8248-84A1-0ED51B049C91}"/>
              </a:ext>
            </a:extLst>
          </p:cNvPr>
          <p:cNvSpPr/>
          <p:nvPr/>
        </p:nvSpPr>
        <p:spPr>
          <a:xfrm>
            <a:off x="5569001" y="3219447"/>
            <a:ext cx="457200" cy="38100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0FC61C29-1E60-2943-848D-CDF4FC717DDA}"/>
              </a:ext>
            </a:extLst>
          </p:cNvPr>
          <p:cNvSpPr/>
          <p:nvPr/>
        </p:nvSpPr>
        <p:spPr>
          <a:xfrm>
            <a:off x="5562600" y="3916370"/>
            <a:ext cx="457200" cy="38100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1F08EE1-21EE-EE4F-A421-E78924F8F27E}"/>
              </a:ext>
            </a:extLst>
          </p:cNvPr>
          <p:cNvSpPr/>
          <p:nvPr/>
        </p:nvSpPr>
        <p:spPr>
          <a:xfrm>
            <a:off x="6477000" y="3207613"/>
            <a:ext cx="1143000" cy="423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Voting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62179679-24E8-D24D-B1FC-0E219032EB88}"/>
              </a:ext>
            </a:extLst>
          </p:cNvPr>
          <p:cNvSpPr/>
          <p:nvPr/>
        </p:nvSpPr>
        <p:spPr>
          <a:xfrm>
            <a:off x="7810410" y="3228616"/>
            <a:ext cx="457200" cy="38100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C7A4D44-5C4A-9840-9DC5-BC05B09F025B}"/>
              </a:ext>
            </a:extLst>
          </p:cNvPr>
          <p:cNvCxnSpPr>
            <a:stCxn id="8" idx="3"/>
            <a:endCxn id="42" idx="1"/>
          </p:cNvCxnSpPr>
          <p:nvPr/>
        </p:nvCxnSpPr>
        <p:spPr>
          <a:xfrm>
            <a:off x="5286109" y="2713025"/>
            <a:ext cx="2764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5C7BB7A-11F7-5442-B4EB-0B255F2E6C77}"/>
              </a:ext>
            </a:extLst>
          </p:cNvPr>
          <p:cNvCxnSpPr>
            <a:stCxn id="15" idx="3"/>
            <a:endCxn id="43" idx="1"/>
          </p:cNvCxnSpPr>
          <p:nvPr/>
        </p:nvCxnSpPr>
        <p:spPr>
          <a:xfrm flipV="1">
            <a:off x="5286109" y="3409948"/>
            <a:ext cx="28289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3071A2F-A385-FF42-BC70-A8F05AEA1968}"/>
              </a:ext>
            </a:extLst>
          </p:cNvPr>
          <p:cNvCxnSpPr>
            <a:stCxn id="18" idx="3"/>
            <a:endCxn id="44" idx="1"/>
          </p:cNvCxnSpPr>
          <p:nvPr/>
        </p:nvCxnSpPr>
        <p:spPr>
          <a:xfrm flipV="1">
            <a:off x="5286109" y="4106871"/>
            <a:ext cx="276491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693D826-056C-D941-83FA-6F9AD0B341C9}"/>
              </a:ext>
            </a:extLst>
          </p:cNvPr>
          <p:cNvCxnSpPr>
            <a:stCxn id="42" idx="3"/>
            <a:endCxn id="45" idx="1"/>
          </p:cNvCxnSpPr>
          <p:nvPr/>
        </p:nvCxnSpPr>
        <p:spPr>
          <a:xfrm>
            <a:off x="6019800" y="2713025"/>
            <a:ext cx="457200" cy="706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4709DD6-EBF8-A44D-A06C-580AA4E655B6}"/>
              </a:ext>
            </a:extLst>
          </p:cNvPr>
          <p:cNvCxnSpPr>
            <a:stCxn id="43" idx="3"/>
            <a:endCxn id="45" idx="1"/>
          </p:cNvCxnSpPr>
          <p:nvPr/>
        </p:nvCxnSpPr>
        <p:spPr>
          <a:xfrm>
            <a:off x="6026201" y="3409948"/>
            <a:ext cx="450799" cy="9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658B665-B7D5-D044-B4F0-D055FCE06720}"/>
              </a:ext>
            </a:extLst>
          </p:cNvPr>
          <p:cNvCxnSpPr>
            <a:stCxn id="44" idx="3"/>
            <a:endCxn id="45" idx="1"/>
          </p:cNvCxnSpPr>
          <p:nvPr/>
        </p:nvCxnSpPr>
        <p:spPr>
          <a:xfrm flipV="1">
            <a:off x="6019800" y="3419117"/>
            <a:ext cx="457200" cy="687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CD566EF-6B3B-B84B-A472-DB2314D21EE6}"/>
              </a:ext>
            </a:extLst>
          </p:cNvPr>
          <p:cNvCxnSpPr>
            <a:stCxn id="45" idx="3"/>
            <a:endCxn id="46" idx="1"/>
          </p:cNvCxnSpPr>
          <p:nvPr/>
        </p:nvCxnSpPr>
        <p:spPr>
          <a:xfrm>
            <a:off x="7620000" y="3419117"/>
            <a:ext cx="1904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90929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435291-7447-1446-AFCE-E3A018013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4CF027-F304-B64A-AAFC-4FED62037EBE}"/>
              </a:ext>
            </a:extLst>
          </p:cNvPr>
          <p:cNvSpPr txBox="1"/>
          <p:nvPr/>
        </p:nvSpPr>
        <p:spPr>
          <a:xfrm>
            <a:off x="500550" y="964959"/>
            <a:ext cx="66005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Bagging </a:t>
            </a:r>
            <a:r>
              <a:rPr lang="ru-RU" dirty="0"/>
              <a:t>использует </a:t>
            </a:r>
            <a:r>
              <a:rPr lang="ru-RU" b="1" dirty="0">
                <a:solidFill>
                  <a:srgbClr val="C00000"/>
                </a:solidFill>
              </a:rPr>
              <a:t>случайные не пересекающиеся </a:t>
            </a:r>
            <a:r>
              <a:rPr lang="ru-RU" b="1" dirty="0" err="1">
                <a:solidFill>
                  <a:srgbClr val="C00000"/>
                </a:solidFill>
              </a:rPr>
              <a:t>подвыборки</a:t>
            </a:r>
            <a:endParaRPr lang="en-US" b="1" dirty="0">
              <a:solidFill>
                <a:srgbClr val="C00000"/>
              </a:solidFill>
            </a:endParaRPr>
          </a:p>
          <a:p>
            <a:r>
              <a:rPr lang="ru-RU" dirty="0"/>
              <a:t>Как еще добавить случайности в </a:t>
            </a:r>
            <a:r>
              <a:rPr lang="en-US" dirty="0"/>
              <a:t>Bagging?</a:t>
            </a:r>
          </a:p>
          <a:p>
            <a:r>
              <a:rPr lang="ru-RU" dirty="0"/>
              <a:t>Выбирать </a:t>
            </a:r>
            <a:r>
              <a:rPr lang="ru-RU" b="1" dirty="0">
                <a:solidFill>
                  <a:srgbClr val="C00000"/>
                </a:solidFill>
              </a:rPr>
              <a:t>случайные признаки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5F8983-AC85-6341-982B-4A3486B37E40}"/>
              </a:ext>
            </a:extLst>
          </p:cNvPr>
          <p:cNvSpPr/>
          <p:nvPr/>
        </p:nvSpPr>
        <p:spPr>
          <a:xfrm>
            <a:off x="609599" y="2088449"/>
            <a:ext cx="2209800" cy="30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84C418-4B0F-CA46-BF9F-187555C4AF70}"/>
              </a:ext>
            </a:extLst>
          </p:cNvPr>
          <p:cNvSpPr txBox="1"/>
          <p:nvPr/>
        </p:nvSpPr>
        <p:spPr>
          <a:xfrm>
            <a:off x="1341641" y="1780672"/>
            <a:ext cx="7457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Dataset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6518D0F-4A77-B945-9362-A3F03F077D0A}"/>
              </a:ext>
            </a:extLst>
          </p:cNvPr>
          <p:cNvGrpSpPr/>
          <p:nvPr/>
        </p:nvGrpSpPr>
        <p:grpSpPr>
          <a:xfrm>
            <a:off x="4235591" y="2522524"/>
            <a:ext cx="1050518" cy="381001"/>
            <a:chOff x="4664482" y="2190749"/>
            <a:chExt cx="1050518" cy="381001"/>
          </a:xfrm>
        </p:grpSpPr>
        <p:pic>
          <p:nvPicPr>
            <p:cNvPr id="8" name="object 14">
              <a:extLst>
                <a:ext uri="{FF2B5EF4-FFF2-40B4-BE49-F238E27FC236}">
                  <a16:creationId xmlns:a16="http://schemas.microsoft.com/office/drawing/2014/main" id="{9AD6D614-F901-9D41-A3C6-4C15773BCA8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F9A5337-7050-EA4A-94B1-BDF9E78D309B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FBB4B5D-1D10-854D-B4B1-2DE4BBECCA81}"/>
              </a:ext>
            </a:extLst>
          </p:cNvPr>
          <p:cNvGrpSpPr/>
          <p:nvPr/>
        </p:nvGrpSpPr>
        <p:grpSpPr>
          <a:xfrm>
            <a:off x="4235591" y="3219448"/>
            <a:ext cx="1050518" cy="381001"/>
            <a:chOff x="4664482" y="2190749"/>
            <a:chExt cx="1050518" cy="381001"/>
          </a:xfrm>
        </p:grpSpPr>
        <p:pic>
          <p:nvPicPr>
            <p:cNvPr id="15" name="object 14">
              <a:extLst>
                <a:ext uri="{FF2B5EF4-FFF2-40B4-BE49-F238E27FC236}">
                  <a16:creationId xmlns:a16="http://schemas.microsoft.com/office/drawing/2014/main" id="{6C911185-2ACB-8A4C-83B6-D82DFEA1943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A9F3D46-BC89-A941-998D-8FAF930D9652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D87625A-CEAF-6A41-8ECC-764C3FB61040}"/>
              </a:ext>
            </a:extLst>
          </p:cNvPr>
          <p:cNvGrpSpPr/>
          <p:nvPr/>
        </p:nvGrpSpPr>
        <p:grpSpPr>
          <a:xfrm>
            <a:off x="4235591" y="3916372"/>
            <a:ext cx="1050518" cy="381001"/>
            <a:chOff x="4664482" y="2190749"/>
            <a:chExt cx="1050518" cy="381001"/>
          </a:xfrm>
        </p:grpSpPr>
        <p:pic>
          <p:nvPicPr>
            <p:cNvPr id="18" name="object 14">
              <a:extLst>
                <a:ext uri="{FF2B5EF4-FFF2-40B4-BE49-F238E27FC236}">
                  <a16:creationId xmlns:a16="http://schemas.microsoft.com/office/drawing/2014/main" id="{4207C882-D9E8-DA4A-9679-CE2ABB42C01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F678207-2559-2D45-BA38-CFC29E0E99E3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3</a:t>
              </a:r>
            </a:p>
          </p:txBody>
        </p:sp>
      </p:grpSp>
      <p:sp>
        <p:nvSpPr>
          <p:cNvPr id="20" name="object 27">
            <a:extLst>
              <a:ext uri="{FF2B5EF4-FFF2-40B4-BE49-F238E27FC236}">
                <a16:creationId xmlns:a16="http://schemas.microsoft.com/office/drawing/2014/main" id="{7F2412F1-EDBE-4F42-8CD8-30C4AAEB0AF8}"/>
              </a:ext>
            </a:extLst>
          </p:cNvPr>
          <p:cNvSpPr/>
          <p:nvPr/>
        </p:nvSpPr>
        <p:spPr>
          <a:xfrm>
            <a:off x="1219199" y="2088449"/>
            <a:ext cx="1676399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FF000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7">
            <a:extLst>
              <a:ext uri="{FF2B5EF4-FFF2-40B4-BE49-F238E27FC236}">
                <a16:creationId xmlns:a16="http://schemas.microsoft.com/office/drawing/2014/main" id="{833EC84E-DE05-EC45-8D0F-20DB5D97F2EB}"/>
              </a:ext>
            </a:extLst>
          </p:cNvPr>
          <p:cNvSpPr/>
          <p:nvPr/>
        </p:nvSpPr>
        <p:spPr>
          <a:xfrm>
            <a:off x="533399" y="2592449"/>
            <a:ext cx="200951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B05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7">
            <a:extLst>
              <a:ext uri="{FF2B5EF4-FFF2-40B4-BE49-F238E27FC236}">
                <a16:creationId xmlns:a16="http://schemas.microsoft.com/office/drawing/2014/main" id="{EBB22BED-E963-0C46-9946-5D20ABAEB20C}"/>
              </a:ext>
            </a:extLst>
          </p:cNvPr>
          <p:cNvSpPr/>
          <p:nvPr/>
        </p:nvSpPr>
        <p:spPr>
          <a:xfrm>
            <a:off x="1219199" y="3096449"/>
            <a:ext cx="16764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FF000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03F0192A-0631-5C42-B00F-1CE85D950576}"/>
              </a:ext>
            </a:extLst>
          </p:cNvPr>
          <p:cNvSpPr/>
          <p:nvPr/>
        </p:nvSpPr>
        <p:spPr>
          <a:xfrm>
            <a:off x="533399" y="3600449"/>
            <a:ext cx="2009509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B05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7">
            <a:extLst>
              <a:ext uri="{FF2B5EF4-FFF2-40B4-BE49-F238E27FC236}">
                <a16:creationId xmlns:a16="http://schemas.microsoft.com/office/drawing/2014/main" id="{5683F8AF-A387-7146-8567-1272D0FDA3B0}"/>
              </a:ext>
            </a:extLst>
          </p:cNvPr>
          <p:cNvSpPr/>
          <p:nvPr/>
        </p:nvSpPr>
        <p:spPr>
          <a:xfrm>
            <a:off x="913921" y="4104449"/>
            <a:ext cx="1448279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70C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7">
            <a:extLst>
              <a:ext uri="{FF2B5EF4-FFF2-40B4-BE49-F238E27FC236}">
                <a16:creationId xmlns:a16="http://schemas.microsoft.com/office/drawing/2014/main" id="{4C83FAEF-20C1-E748-AD5B-986870F36EB8}"/>
              </a:ext>
            </a:extLst>
          </p:cNvPr>
          <p:cNvSpPr/>
          <p:nvPr/>
        </p:nvSpPr>
        <p:spPr>
          <a:xfrm>
            <a:off x="913921" y="4608449"/>
            <a:ext cx="1448279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70C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FBC026C-C47D-9E45-8849-6D83285433E9}"/>
              </a:ext>
            </a:extLst>
          </p:cNvPr>
          <p:cNvSpPr/>
          <p:nvPr/>
        </p:nvSpPr>
        <p:spPr>
          <a:xfrm>
            <a:off x="3886200" y="2114550"/>
            <a:ext cx="4572000" cy="2514600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379EF0-BBB0-3A4D-8343-6AECD71A0CF9}"/>
              </a:ext>
            </a:extLst>
          </p:cNvPr>
          <p:cNvSpPr txBox="1"/>
          <p:nvPr/>
        </p:nvSpPr>
        <p:spPr>
          <a:xfrm>
            <a:off x="5791294" y="1783101"/>
            <a:ext cx="7618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Bagging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38E65F2-CD70-B74A-B9E5-F78B74DD784D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2895599" y="2713025"/>
            <a:ext cx="1339992" cy="633635"/>
          </a:xfrm>
          <a:prstGeom prst="straightConnector1">
            <a:avLst/>
          </a:prstGeom>
          <a:ln>
            <a:solidFill>
              <a:srgbClr val="FF000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2E24085-68A2-914C-8B3B-52758B2CF871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2895599" y="2340449"/>
            <a:ext cx="1339992" cy="372576"/>
          </a:xfrm>
          <a:prstGeom prst="straightConnector1">
            <a:avLst/>
          </a:prstGeom>
          <a:ln>
            <a:solidFill>
              <a:srgbClr val="FF000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61A9FFF-44E3-8B49-A4F8-6680E6D788FD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2549310" y="2876550"/>
            <a:ext cx="1686281" cy="533399"/>
          </a:xfrm>
          <a:prstGeom prst="straightConnector1">
            <a:avLst/>
          </a:prstGeom>
          <a:ln>
            <a:solidFill>
              <a:srgbClr val="00B05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708D7D1-57D4-CE48-8B83-50A7AC0F81B0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2549309" y="3409949"/>
            <a:ext cx="1686282" cy="504000"/>
          </a:xfrm>
          <a:prstGeom prst="straightConnector1">
            <a:avLst/>
          </a:prstGeom>
          <a:ln>
            <a:solidFill>
              <a:srgbClr val="00B05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E322C92-0C26-824A-870F-4868A670FDBD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2362200" y="4106873"/>
            <a:ext cx="1873391" cy="293677"/>
          </a:xfrm>
          <a:prstGeom prst="straightConnector1">
            <a:avLst/>
          </a:prstGeom>
          <a:ln>
            <a:solidFill>
              <a:srgbClr val="0070C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0485EFC-4E09-A743-8802-71788AF067BE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2362200" y="4106873"/>
            <a:ext cx="1873391" cy="750877"/>
          </a:xfrm>
          <a:prstGeom prst="straightConnector1">
            <a:avLst/>
          </a:prstGeom>
          <a:ln>
            <a:solidFill>
              <a:srgbClr val="0070C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E5C97588-8EEF-A643-8C76-0F341FC519E2}"/>
              </a:ext>
            </a:extLst>
          </p:cNvPr>
          <p:cNvSpPr/>
          <p:nvPr/>
        </p:nvSpPr>
        <p:spPr>
          <a:xfrm>
            <a:off x="5562600" y="2522524"/>
            <a:ext cx="457200" cy="38100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D1DEBD19-72DD-8248-84A1-0ED51B049C91}"/>
              </a:ext>
            </a:extLst>
          </p:cNvPr>
          <p:cNvSpPr/>
          <p:nvPr/>
        </p:nvSpPr>
        <p:spPr>
          <a:xfrm>
            <a:off x="5569001" y="3219447"/>
            <a:ext cx="457200" cy="38100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0FC61C29-1E60-2943-848D-CDF4FC717DDA}"/>
              </a:ext>
            </a:extLst>
          </p:cNvPr>
          <p:cNvSpPr/>
          <p:nvPr/>
        </p:nvSpPr>
        <p:spPr>
          <a:xfrm>
            <a:off x="5562600" y="3916370"/>
            <a:ext cx="457200" cy="38100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1F08EE1-21EE-EE4F-A421-E78924F8F27E}"/>
              </a:ext>
            </a:extLst>
          </p:cNvPr>
          <p:cNvSpPr/>
          <p:nvPr/>
        </p:nvSpPr>
        <p:spPr>
          <a:xfrm>
            <a:off x="6477000" y="3207613"/>
            <a:ext cx="1143000" cy="423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Voting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62179679-24E8-D24D-B1FC-0E219032EB88}"/>
              </a:ext>
            </a:extLst>
          </p:cNvPr>
          <p:cNvSpPr/>
          <p:nvPr/>
        </p:nvSpPr>
        <p:spPr>
          <a:xfrm>
            <a:off x="7810410" y="3228616"/>
            <a:ext cx="457200" cy="38100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C7A4D44-5C4A-9840-9DC5-BC05B09F025B}"/>
              </a:ext>
            </a:extLst>
          </p:cNvPr>
          <p:cNvCxnSpPr>
            <a:stCxn id="8" idx="3"/>
            <a:endCxn id="42" idx="1"/>
          </p:cNvCxnSpPr>
          <p:nvPr/>
        </p:nvCxnSpPr>
        <p:spPr>
          <a:xfrm>
            <a:off x="5286109" y="2713025"/>
            <a:ext cx="2764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5C7BB7A-11F7-5442-B4EB-0B255F2E6C77}"/>
              </a:ext>
            </a:extLst>
          </p:cNvPr>
          <p:cNvCxnSpPr>
            <a:stCxn id="15" idx="3"/>
            <a:endCxn id="43" idx="1"/>
          </p:cNvCxnSpPr>
          <p:nvPr/>
        </p:nvCxnSpPr>
        <p:spPr>
          <a:xfrm flipV="1">
            <a:off x="5286109" y="3409948"/>
            <a:ext cx="28289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3071A2F-A385-FF42-BC70-A8F05AEA1968}"/>
              </a:ext>
            </a:extLst>
          </p:cNvPr>
          <p:cNvCxnSpPr>
            <a:stCxn id="18" idx="3"/>
            <a:endCxn id="44" idx="1"/>
          </p:cNvCxnSpPr>
          <p:nvPr/>
        </p:nvCxnSpPr>
        <p:spPr>
          <a:xfrm flipV="1">
            <a:off x="5286109" y="4106871"/>
            <a:ext cx="276491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693D826-056C-D941-83FA-6F9AD0B341C9}"/>
              </a:ext>
            </a:extLst>
          </p:cNvPr>
          <p:cNvCxnSpPr>
            <a:stCxn id="42" idx="3"/>
            <a:endCxn id="45" idx="1"/>
          </p:cNvCxnSpPr>
          <p:nvPr/>
        </p:nvCxnSpPr>
        <p:spPr>
          <a:xfrm>
            <a:off x="6019800" y="2713025"/>
            <a:ext cx="457200" cy="706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4709DD6-EBF8-A44D-A06C-580AA4E655B6}"/>
              </a:ext>
            </a:extLst>
          </p:cNvPr>
          <p:cNvCxnSpPr>
            <a:stCxn id="43" idx="3"/>
            <a:endCxn id="45" idx="1"/>
          </p:cNvCxnSpPr>
          <p:nvPr/>
        </p:nvCxnSpPr>
        <p:spPr>
          <a:xfrm>
            <a:off x="6026201" y="3409948"/>
            <a:ext cx="450799" cy="9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658B665-B7D5-D044-B4F0-D055FCE06720}"/>
              </a:ext>
            </a:extLst>
          </p:cNvPr>
          <p:cNvCxnSpPr>
            <a:stCxn id="44" idx="3"/>
            <a:endCxn id="45" idx="1"/>
          </p:cNvCxnSpPr>
          <p:nvPr/>
        </p:nvCxnSpPr>
        <p:spPr>
          <a:xfrm flipV="1">
            <a:off x="6019800" y="3419117"/>
            <a:ext cx="457200" cy="687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CD566EF-6B3B-B84B-A472-DB2314D21EE6}"/>
              </a:ext>
            </a:extLst>
          </p:cNvPr>
          <p:cNvCxnSpPr>
            <a:stCxn id="45" idx="3"/>
            <a:endCxn id="46" idx="1"/>
          </p:cNvCxnSpPr>
          <p:nvPr/>
        </p:nvCxnSpPr>
        <p:spPr>
          <a:xfrm>
            <a:off x="7620000" y="3419117"/>
            <a:ext cx="1904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42111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435291-7447-1446-AFCE-E3A018013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4CF027-F304-B64A-AAFC-4FED62037EBE}"/>
              </a:ext>
            </a:extLst>
          </p:cNvPr>
          <p:cNvSpPr txBox="1"/>
          <p:nvPr/>
        </p:nvSpPr>
        <p:spPr>
          <a:xfrm>
            <a:off x="500550" y="964959"/>
            <a:ext cx="66005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Bagging </a:t>
            </a:r>
            <a:r>
              <a:rPr lang="ru-RU" dirty="0"/>
              <a:t>использует </a:t>
            </a:r>
            <a:r>
              <a:rPr lang="ru-RU" b="1" dirty="0">
                <a:solidFill>
                  <a:srgbClr val="C00000"/>
                </a:solidFill>
              </a:rPr>
              <a:t>случайные не пересекающиеся </a:t>
            </a:r>
            <a:r>
              <a:rPr lang="ru-RU" b="1" dirty="0" err="1">
                <a:solidFill>
                  <a:srgbClr val="C00000"/>
                </a:solidFill>
              </a:rPr>
              <a:t>подвыборки</a:t>
            </a:r>
            <a:endParaRPr lang="en-US" b="1" dirty="0">
              <a:solidFill>
                <a:srgbClr val="C00000"/>
              </a:solidFill>
            </a:endParaRPr>
          </a:p>
          <a:p>
            <a:r>
              <a:rPr lang="ru-RU" dirty="0"/>
              <a:t>Как еще добавить случайности в </a:t>
            </a:r>
            <a:r>
              <a:rPr lang="en-US" dirty="0"/>
              <a:t>Bagging?</a:t>
            </a:r>
          </a:p>
          <a:p>
            <a:r>
              <a:rPr lang="ru-RU" dirty="0"/>
              <a:t>Выбирать </a:t>
            </a:r>
            <a:r>
              <a:rPr lang="ru-RU" b="1" dirty="0">
                <a:solidFill>
                  <a:srgbClr val="C00000"/>
                </a:solidFill>
              </a:rPr>
              <a:t>случайные признаки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41" name="object 5">
            <a:extLst>
              <a:ext uri="{FF2B5EF4-FFF2-40B4-BE49-F238E27FC236}">
                <a16:creationId xmlns:a16="http://schemas.microsoft.com/office/drawing/2014/main" id="{4ABF14FA-40BB-2E45-AC37-043B350AC74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360" y="1856965"/>
            <a:ext cx="8772233" cy="321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4264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450" y="2030821"/>
            <a:ext cx="50667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5" dirty="0">
                <a:solidFill>
                  <a:srgbClr val="FFFFFF"/>
                </a:solidFill>
              </a:rPr>
              <a:t>Вопросы?</a:t>
            </a:r>
            <a:endParaRPr sz="4900" dirty="0"/>
          </a:p>
        </p:txBody>
      </p:sp>
      <p:grpSp>
        <p:nvGrpSpPr>
          <p:cNvPr id="3" name="object 3"/>
          <p:cNvGrpSpPr/>
          <p:nvPr/>
        </p:nvGrpSpPr>
        <p:grpSpPr>
          <a:xfrm>
            <a:off x="719975" y="3370764"/>
            <a:ext cx="4045585" cy="662940"/>
            <a:chOff x="719975" y="3370764"/>
            <a:chExt cx="4045585" cy="662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975" y="3370764"/>
              <a:ext cx="662534" cy="6625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2950" y="3370764"/>
              <a:ext cx="662534" cy="66253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11050" y="3444186"/>
            <a:ext cx="1724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“+”,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вопросы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есть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9725" y="3444186"/>
            <a:ext cx="1699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“–”,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Roboto"/>
                <a:cs typeface="Roboto"/>
              </a:rPr>
              <a:t>вопросов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нет</a:t>
            </a:r>
            <a:endParaRPr sz="150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41477891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-US" dirty="0"/>
              <a:t>Stacking &amp; blending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471990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09809D1-FA41-8F4B-B81D-FEF6B8282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Stacking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580A6BF-B0BE-2040-AF7A-E43C0C9F7B23}"/>
              </a:ext>
            </a:extLst>
          </p:cNvPr>
          <p:cNvSpPr/>
          <p:nvPr/>
        </p:nvSpPr>
        <p:spPr>
          <a:xfrm>
            <a:off x="1447800" y="1879572"/>
            <a:ext cx="1676400" cy="7641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1D180BA-2474-1040-9DC2-830E2D42B569}"/>
              </a:ext>
            </a:extLst>
          </p:cNvPr>
          <p:cNvSpPr/>
          <p:nvPr/>
        </p:nvSpPr>
        <p:spPr>
          <a:xfrm>
            <a:off x="1447800" y="2872298"/>
            <a:ext cx="1676400" cy="7641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37907E1-996D-7744-AE9F-B09E64ACFF23}"/>
              </a:ext>
            </a:extLst>
          </p:cNvPr>
          <p:cNvSpPr/>
          <p:nvPr/>
        </p:nvSpPr>
        <p:spPr>
          <a:xfrm>
            <a:off x="1447800" y="3865024"/>
            <a:ext cx="1676400" cy="7641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18B55E5-23F8-F44C-8E4C-2FF09D2440AF}"/>
              </a:ext>
            </a:extLst>
          </p:cNvPr>
          <p:cNvSpPr/>
          <p:nvPr/>
        </p:nvSpPr>
        <p:spPr>
          <a:xfrm>
            <a:off x="3810000" y="2872298"/>
            <a:ext cx="1676400" cy="7641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m(A, B, C)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DB52931-5F0C-6C4A-9D52-90F6D76313FC}"/>
              </a:ext>
            </a:extLst>
          </p:cNvPr>
          <p:cNvSpPr/>
          <p:nvPr/>
        </p:nvSpPr>
        <p:spPr>
          <a:xfrm>
            <a:off x="6144072" y="2872298"/>
            <a:ext cx="1676400" cy="7641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result</a:t>
            </a:r>
          </a:p>
        </p:txBody>
      </p: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6913CC14-896B-534B-9723-18131883F338}"/>
              </a:ext>
            </a:extLst>
          </p:cNvPr>
          <p:cNvCxnSpPr>
            <a:stCxn id="4" idx="3"/>
            <a:endCxn id="7" idx="1"/>
          </p:cNvCxnSpPr>
          <p:nvPr/>
        </p:nvCxnSpPr>
        <p:spPr>
          <a:xfrm>
            <a:off x="3124200" y="2261635"/>
            <a:ext cx="685800" cy="99272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44037592-314B-244C-8400-430B3ACE4829}"/>
              </a:ext>
            </a:extLst>
          </p:cNvPr>
          <p:cNvCxnSpPr>
            <a:stCxn id="6" idx="3"/>
            <a:endCxn id="7" idx="1"/>
          </p:cNvCxnSpPr>
          <p:nvPr/>
        </p:nvCxnSpPr>
        <p:spPr>
          <a:xfrm flipV="1">
            <a:off x="3124200" y="3254361"/>
            <a:ext cx="685800" cy="99272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5784F6A-FD5A-0D49-BA43-CB1A59D00C71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3124200" y="3254361"/>
            <a:ext cx="685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27E8467-B952-3B43-B40D-E992A91D901E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5486400" y="3254361"/>
            <a:ext cx="6576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241F577-79F8-214C-88AF-D022C6898C36}"/>
              </a:ext>
            </a:extLst>
          </p:cNvPr>
          <p:cNvSpPr txBox="1"/>
          <p:nvPr/>
        </p:nvSpPr>
        <p:spPr>
          <a:xfrm>
            <a:off x="609600" y="1123950"/>
            <a:ext cx="8237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Используем прогнозы других алгоритмов как признаки и на них построим модель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9455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D1C22E-A7C4-3746-928A-61B5E211A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Blending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DDDB68-8331-4D4C-99A7-5801BB37CBB9}"/>
              </a:ext>
            </a:extLst>
          </p:cNvPr>
          <p:cNvSpPr txBox="1"/>
          <p:nvPr/>
        </p:nvSpPr>
        <p:spPr>
          <a:xfrm>
            <a:off x="609600" y="1123950"/>
            <a:ext cx="4979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Blending – </a:t>
            </a:r>
            <a:r>
              <a:rPr lang="ru-RU" dirty="0"/>
              <a:t>как простейшая реализация </a:t>
            </a:r>
            <a:r>
              <a:rPr lang="en-US" dirty="0" err="1"/>
              <a:t>Stacking’a</a:t>
            </a:r>
            <a:endParaRPr lang="en-US" dirty="0"/>
          </a:p>
        </p:txBody>
      </p:sp>
      <p:pic>
        <p:nvPicPr>
          <p:cNvPr id="5" name="object 6">
            <a:extLst>
              <a:ext uri="{FF2B5EF4-FFF2-40B4-BE49-F238E27FC236}">
                <a16:creationId xmlns:a16="http://schemas.microsoft.com/office/drawing/2014/main" id="{3826670C-5B11-B549-98A7-EB904FF8F12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756" y="1733550"/>
            <a:ext cx="8044815" cy="291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9309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D1C22E-A7C4-3746-928A-61B5E211A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Blending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DDDB68-8331-4D4C-99A7-5801BB37CBB9}"/>
              </a:ext>
            </a:extLst>
          </p:cNvPr>
          <p:cNvSpPr txBox="1"/>
          <p:nvPr/>
        </p:nvSpPr>
        <p:spPr>
          <a:xfrm>
            <a:off x="505664" y="1134555"/>
            <a:ext cx="1606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Как улучшить?</a:t>
            </a:r>
            <a:endParaRPr lang="en-US" dirty="0"/>
          </a:p>
        </p:txBody>
      </p:sp>
      <p:pic>
        <p:nvPicPr>
          <p:cNvPr id="6" name="object 5">
            <a:extLst>
              <a:ext uri="{FF2B5EF4-FFF2-40B4-BE49-F238E27FC236}">
                <a16:creationId xmlns:a16="http://schemas.microsoft.com/office/drawing/2014/main" id="{19C062EC-F10D-184C-A756-1F0739A40F0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8733" y="1581150"/>
            <a:ext cx="7937548" cy="3302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727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Практика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808636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450" y="2030821"/>
            <a:ext cx="50667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5" dirty="0">
                <a:solidFill>
                  <a:srgbClr val="FFFFFF"/>
                </a:solidFill>
              </a:rPr>
              <a:t>Вопросы?</a:t>
            </a:r>
            <a:endParaRPr sz="4900" dirty="0"/>
          </a:p>
        </p:txBody>
      </p:sp>
      <p:grpSp>
        <p:nvGrpSpPr>
          <p:cNvPr id="3" name="object 3"/>
          <p:cNvGrpSpPr/>
          <p:nvPr/>
        </p:nvGrpSpPr>
        <p:grpSpPr>
          <a:xfrm>
            <a:off x="719975" y="3370764"/>
            <a:ext cx="4045585" cy="662940"/>
            <a:chOff x="719975" y="3370764"/>
            <a:chExt cx="4045585" cy="662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975" y="3370764"/>
              <a:ext cx="662534" cy="6625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2950" y="3370764"/>
              <a:ext cx="662534" cy="66253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11050" y="3444186"/>
            <a:ext cx="1724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“+”,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вопросы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есть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9725" y="3444186"/>
            <a:ext cx="1699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“–”,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Roboto"/>
                <a:cs typeface="Roboto"/>
              </a:rPr>
              <a:t>вопросов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нет</a:t>
            </a:r>
            <a:endParaRPr sz="150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7757382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6"/>
          <p:cNvSpPr txBox="1">
            <a:spLocks noGrp="1"/>
          </p:cNvSpPr>
          <p:nvPr>
            <p:ph type="title"/>
          </p:nvPr>
        </p:nvSpPr>
        <p:spPr>
          <a:xfrm>
            <a:off x="956224" y="396394"/>
            <a:ext cx="7730575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800" dirty="0"/>
              <a:t>Заполните, пожалуйста,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опрос о занятии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по ссылке в чате</a:t>
            </a:r>
            <a:endParaRPr sz="3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12" name="Google Shape;499;p77">
            <a:extLst>
              <a:ext uri="{FF2B5EF4-FFF2-40B4-BE49-F238E27FC236}">
                <a16:creationId xmlns:a16="http://schemas.microsoft.com/office/drawing/2014/main" id="{582ECAAA-AF1D-254F-9EEA-3E6087D018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821221"/>
            <a:ext cx="8520600" cy="13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Aft>
                <a:spcPts val="0"/>
              </a:spcAft>
              <a:buSzPts val="3200"/>
              <a:buNone/>
            </a:pPr>
            <a:r>
              <a:rPr lang="ru-RU" dirty="0"/>
              <a:t>Приходите на следующие вебинары</a:t>
            </a:r>
            <a:br>
              <a:rPr lang="ru-RU" dirty="0"/>
            </a:br>
            <a:r>
              <a:rPr lang="en-US" sz="1800" dirty="0"/>
              <a:t>Feature engineering &amp; advanced preprocessing</a:t>
            </a:r>
            <a:endParaRPr dirty="0"/>
          </a:p>
        </p:txBody>
      </p:sp>
      <p:sp>
        <p:nvSpPr>
          <p:cNvPr id="13" name="Google Shape;500;p77">
            <a:extLst>
              <a:ext uri="{FF2B5EF4-FFF2-40B4-BE49-F238E27FC236}">
                <a16:creationId xmlns:a16="http://schemas.microsoft.com/office/drawing/2014/main" id="{E0455609-6D75-8B47-AD05-D96CCF37ECC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ru-RU" dirty="0"/>
              <a:t>Спасибо за внимание!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1303AF-03ED-4942-AD0B-371ABDC3B86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2176B1B5-4762-3A45-9801-AF5803597A92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endParaRPr lang="en-US" sz="1150" b="1" kern="0" dirty="0"/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</a:t>
            </a:r>
            <a:r>
              <a:rPr lang="en-US" sz="1150" kern="0" dirty="0"/>
              <a:t>15</a:t>
            </a:r>
            <a:r>
              <a:rPr lang="ru-RU" sz="1150" kern="0" dirty="0"/>
              <a:t>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  <p:extLst>
      <p:ext uri="{BB962C8B-B14F-4D97-AF65-F5344CB8AC3E}">
        <p14:creationId xmlns:p14="http://schemas.microsoft.com/office/powerpoint/2010/main" val="706987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14770</TotalTime>
  <Words>631</Words>
  <Application>Microsoft Macintosh PowerPoint</Application>
  <PresentationFormat>On-screen Show (16:9)</PresentationFormat>
  <Paragraphs>185</Paragraphs>
  <Slides>30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Cambria Math</vt:lpstr>
      <vt:lpstr>roboto</vt:lpstr>
      <vt:lpstr>roboto</vt:lpstr>
      <vt:lpstr>Office Theme</vt:lpstr>
      <vt:lpstr>ML Basic Ensembles</vt:lpstr>
      <vt:lpstr>Проверить, идет ли запись</vt:lpstr>
      <vt:lpstr>ML Basic Ensembles</vt:lpstr>
      <vt:lpstr>Правила вебинара</vt:lpstr>
      <vt:lpstr>Маршрут вебинара</vt:lpstr>
      <vt:lpstr>Цели занятия</vt:lpstr>
      <vt:lpstr>Смысл</vt:lpstr>
      <vt:lpstr>Bagging &amp; Random forest</vt:lpstr>
      <vt:lpstr>Принцип Кондорсе (1784 г.)</vt:lpstr>
      <vt:lpstr>Эксперимент Гальтона</vt:lpstr>
      <vt:lpstr>Bootstrap</vt:lpstr>
      <vt:lpstr>Bagging = bootstrap aggregation</vt:lpstr>
      <vt:lpstr>Random forest</vt:lpstr>
      <vt:lpstr>Random forest</vt:lpstr>
      <vt:lpstr>Random forest</vt:lpstr>
      <vt:lpstr>Random forest</vt:lpstr>
      <vt:lpstr>Random forest</vt:lpstr>
      <vt:lpstr>Random forest</vt:lpstr>
      <vt:lpstr>Random forest</vt:lpstr>
      <vt:lpstr>Random forest</vt:lpstr>
      <vt:lpstr>Random forest</vt:lpstr>
      <vt:lpstr>Вопросы?</vt:lpstr>
      <vt:lpstr>Stacking &amp; blending</vt:lpstr>
      <vt:lpstr>Stacking</vt:lpstr>
      <vt:lpstr>Blending</vt:lpstr>
      <vt:lpstr>Blending</vt:lpstr>
      <vt:lpstr>Практика</vt:lpstr>
      <vt:lpstr>Вопросы?</vt:lpstr>
      <vt:lpstr>Заполните, пожалуйста, опрос о занятии по ссылке в чате</vt:lpstr>
      <vt:lpstr>Приходите на следующие вебинары Feature engineering &amp; advanced preprocessing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Копия 1.2 Практическое занятие - Оптимизация кода, parallelization, multiprocessing, ускорение pandas, Modin для Pandas</dc:title>
  <cp:lastModifiedBy>Стурейко Игорь Олегович</cp:lastModifiedBy>
  <cp:revision>151</cp:revision>
  <dcterms:created xsi:type="dcterms:W3CDTF">2023-10-10T14:19:39Z</dcterms:created>
  <dcterms:modified xsi:type="dcterms:W3CDTF">2025-05-20T16:57:53Z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