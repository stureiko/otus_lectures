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4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39.JPG" ContentType="image/jpeg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media/image46.jpg" ContentType="image/jpeg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media/image50.jpg" ContentType="image/jpeg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334" r:id="rId4"/>
    <p:sldId id="259" r:id="rId5"/>
    <p:sldId id="305" r:id="rId6"/>
    <p:sldId id="261" r:id="rId7"/>
    <p:sldId id="263" r:id="rId8"/>
    <p:sldId id="264" r:id="rId9"/>
    <p:sldId id="265" r:id="rId10"/>
    <p:sldId id="476" r:id="rId11"/>
    <p:sldId id="440" r:id="rId12"/>
    <p:sldId id="477" r:id="rId13"/>
    <p:sldId id="478" r:id="rId14"/>
    <p:sldId id="479" r:id="rId15"/>
    <p:sldId id="480" r:id="rId16"/>
    <p:sldId id="481" r:id="rId17"/>
    <p:sldId id="468" r:id="rId18"/>
    <p:sldId id="392" r:id="rId19"/>
    <p:sldId id="391" r:id="rId20"/>
    <p:sldId id="389" r:id="rId21"/>
    <p:sldId id="371" r:id="rId22"/>
    <p:sldId id="388" r:id="rId23"/>
    <p:sldId id="390" r:id="rId24"/>
    <p:sldId id="268" r:id="rId25"/>
    <p:sldId id="372" r:id="rId26"/>
    <p:sldId id="373" r:id="rId27"/>
    <p:sldId id="393" r:id="rId28"/>
    <p:sldId id="374" r:id="rId29"/>
    <p:sldId id="394" r:id="rId30"/>
    <p:sldId id="395" r:id="rId31"/>
    <p:sldId id="375" r:id="rId32"/>
    <p:sldId id="397" r:id="rId33"/>
    <p:sldId id="396" r:id="rId34"/>
    <p:sldId id="376" r:id="rId35"/>
    <p:sldId id="269" r:id="rId36"/>
    <p:sldId id="270" r:id="rId37"/>
    <p:sldId id="302" r:id="rId38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28"/>
    <p:restoredTop sz="97030"/>
  </p:normalViewPr>
  <p:slideViewPr>
    <p:cSldViewPr>
      <p:cViewPr varScale="1">
        <p:scale>
          <a:sx n="297" d="100"/>
          <a:sy n="297" d="100"/>
        </p:scale>
        <p:origin x="80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926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785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663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357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254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567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047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09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373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36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JP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jp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Specials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Virtual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Special</a:t>
            </a:r>
            <a:br>
              <a:rPr lang="en-US" dirty="0"/>
            </a:br>
            <a:r>
              <a:rPr lang="en-US" dirty="0"/>
              <a:t>Virtual environment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16D5E13-FDDC-224D-A970-DD681138BF8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2616457"/>
            <a:ext cx="692621" cy="6925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TR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TR" sz="1700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709480" y="3100305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uv</a:t>
            </a: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09480" y="376844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Anaconda</a:t>
            </a:r>
          </a:p>
        </p:txBody>
      </p: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09480" y="3288404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09480" y="243217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Виртуальные окружения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09480" y="2620269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38" idx="1"/>
            <a:endCxn id="36" idx="1"/>
          </p:cNvCxnSpPr>
          <p:nvPr/>
        </p:nvCxnSpPr>
        <p:spPr>
          <a:xfrm rot="10800000" flipV="1">
            <a:off x="709480" y="3956540"/>
            <a:ext cx="12700" cy="66813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235;p37">
            <a:extLst>
              <a:ext uri="{FF2B5EF4-FFF2-40B4-BE49-F238E27FC236}">
                <a16:creationId xmlns:a16="http://schemas.microsoft.com/office/drawing/2014/main" id="{4B96D085-0EF6-444F-B760-331C744CFAF6}"/>
              </a:ext>
            </a:extLst>
          </p:cNvPr>
          <p:cNvSpPr/>
          <p:nvPr/>
        </p:nvSpPr>
        <p:spPr>
          <a:xfrm>
            <a:off x="709480" y="109590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</a:p>
        </p:txBody>
      </p:sp>
      <p:sp>
        <p:nvSpPr>
          <p:cNvPr id="25" name="Google Shape;235;p37">
            <a:extLst>
              <a:ext uri="{FF2B5EF4-FFF2-40B4-BE49-F238E27FC236}">
                <a16:creationId xmlns:a16="http://schemas.microsoft.com/office/drawing/2014/main" id="{997DCA64-D31D-544D-B5A2-2A5FF11419C5}"/>
              </a:ext>
            </a:extLst>
          </p:cNvPr>
          <p:cNvSpPr/>
          <p:nvPr/>
        </p:nvSpPr>
        <p:spPr>
          <a:xfrm>
            <a:off x="709480" y="176403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 </a:t>
            </a:r>
            <a:r>
              <a:rPr lang="ru-RU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Отус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238;p37">
            <a:extLst>
              <a:ext uri="{FF2B5EF4-FFF2-40B4-BE49-F238E27FC236}">
                <a16:creationId xmlns:a16="http://schemas.microsoft.com/office/drawing/2014/main" id="{A111B34A-B3D1-3248-BDC7-18F43907C007}"/>
              </a:ext>
            </a:extLst>
          </p:cNvPr>
          <p:cNvSpPr/>
          <p:nvPr/>
        </p:nvSpPr>
        <p:spPr>
          <a:xfrm>
            <a:off x="709480" y="443657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242;p37">
            <a:extLst>
              <a:ext uri="{FF2B5EF4-FFF2-40B4-BE49-F238E27FC236}">
                <a16:creationId xmlns:a16="http://schemas.microsoft.com/office/drawing/2014/main" id="{C9220660-64D4-C448-9463-506753DCA396}"/>
              </a:ext>
            </a:extLst>
          </p:cNvPr>
          <p:cNvCxnSpPr>
            <a:cxnSpLocks/>
            <a:stCxn id="17" idx="1"/>
            <a:endCxn id="25" idx="1"/>
          </p:cNvCxnSpPr>
          <p:nvPr/>
        </p:nvCxnSpPr>
        <p:spPr>
          <a:xfrm rot="10800000" flipV="1">
            <a:off x="709480" y="1283999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8" name="Google Shape;242;p37">
            <a:extLst>
              <a:ext uri="{FF2B5EF4-FFF2-40B4-BE49-F238E27FC236}">
                <a16:creationId xmlns:a16="http://schemas.microsoft.com/office/drawing/2014/main" id="{2C467F45-AE94-B24E-97E9-068C3FDA4857}"/>
              </a:ext>
            </a:extLst>
          </p:cNvPr>
          <p:cNvCxnSpPr>
            <a:cxnSpLocks/>
            <a:stCxn id="25" idx="1"/>
            <a:endCxn id="13" idx="1"/>
          </p:cNvCxnSpPr>
          <p:nvPr/>
        </p:nvCxnSpPr>
        <p:spPr>
          <a:xfrm rot="10800000" flipV="1">
            <a:off x="709480" y="1952134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A0F7189C-B8FA-5443-B054-AD92988A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767078"/>
            <a:ext cx="1232518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(programming language) - Wikipedia">
            <a:extLst>
              <a:ext uri="{FF2B5EF4-FFF2-40B4-BE49-F238E27FC236}">
                <a16:creationId xmlns:a16="http://schemas.microsoft.com/office/drawing/2014/main" id="{E5354438-51C5-414C-95BF-62050AC1A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248" y="886998"/>
            <a:ext cx="1376466" cy="13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 err="1"/>
              <a:t>У</a:t>
            </a:r>
            <a:r>
              <a:rPr lang="ru-RU" dirty="0" err="1"/>
              <a:t>становка</a:t>
            </a:r>
            <a:r>
              <a:rPr lang="ru-RU" dirty="0"/>
              <a:t> инструментов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Виртуальные окружения</a:t>
            </a:r>
            <a:endParaRPr dirty="0"/>
          </a:p>
        </p:txBody>
      </p:sp>
      <p:pic>
        <p:nvPicPr>
          <p:cNvPr id="1026" name="Picture 2" descr="How to create a Virtual Environment in Python? | by Kiran Mohan | Medium">
            <a:extLst>
              <a:ext uri="{FF2B5EF4-FFF2-40B4-BE49-F238E27FC236}">
                <a16:creationId xmlns:a16="http://schemas.microsoft.com/office/drawing/2014/main" id="{A0C3AB94-0736-2842-BCD1-471C0B435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58315"/>
            <a:ext cx="7543800" cy="415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76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/>
              <a:t>Виртуальные окружения </a:t>
            </a:r>
            <a:r>
              <a:rPr lang="en-US" sz="2400" dirty="0"/>
              <a:t>vs </a:t>
            </a:r>
            <a:r>
              <a:rPr lang="ru-RU" sz="2400" dirty="0"/>
              <a:t>Пакетные менеджеры</a:t>
            </a:r>
            <a:endParaRPr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B062022-0817-6C4B-9CDF-17073F83C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906765"/>
              </p:ext>
            </p:extLst>
          </p:nvPr>
        </p:nvGraphicFramePr>
        <p:xfrm>
          <a:off x="609600" y="971550"/>
          <a:ext cx="82296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60873258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86485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dirty="0"/>
                        <a:t>Виртуальное окружение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Пакетный менеджер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676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Виртуальное окружение (</a:t>
                      </a:r>
                      <a:r>
                        <a:rPr lang="en-US" sz="1600" b="1" dirty="0"/>
                        <a:t>virtual environment)</a:t>
                      </a:r>
                      <a:r>
                        <a:rPr lang="en-US" sz="1600" dirty="0"/>
                        <a:t> — </a:t>
                      </a:r>
                      <a:r>
                        <a:rPr lang="ru-RU" sz="1600" dirty="0"/>
                        <a:t>это </a:t>
                      </a:r>
                      <a:r>
                        <a:rPr lang="ru-RU" sz="1600" b="1" dirty="0"/>
                        <a:t>изолированная папка</a:t>
                      </a:r>
                      <a:r>
                        <a:rPr lang="ru-RU" sz="1600" dirty="0"/>
                        <a:t>, в которой хранятся:</a:t>
                      </a:r>
                    </a:p>
                    <a:p>
                      <a:r>
                        <a:rPr lang="ru-RU" sz="1600" dirty="0"/>
                        <a:t>собственный интерпретатор </a:t>
                      </a:r>
                      <a:r>
                        <a:rPr lang="en-US" sz="1600" dirty="0"/>
                        <a:t>Python</a:t>
                      </a:r>
                      <a:r>
                        <a:rPr lang="ru-RU" sz="1600" dirty="0"/>
                        <a:t>,</a:t>
                      </a:r>
                    </a:p>
                    <a:p>
                      <a:r>
                        <a:rPr lang="ru-RU" sz="1600" dirty="0"/>
                        <a:t>собственный набор установленных библиотек,</a:t>
                      </a:r>
                    </a:p>
                    <a:p>
                      <a:r>
                        <a:rPr lang="ru-RU" sz="1600" dirty="0"/>
                        <a:t>конфигурация окружения (</a:t>
                      </a:r>
                      <a:r>
                        <a:rPr lang="en-US" sz="1600" dirty="0" err="1"/>
                        <a:t>pyvenv.cfg</a:t>
                      </a:r>
                      <a:r>
                        <a:rPr lang="en-US" sz="1600" dirty="0"/>
                        <a:t> </a:t>
                      </a:r>
                      <a:r>
                        <a:rPr lang="ru-RU" sz="1600" dirty="0"/>
                        <a:t>и каталоги </a:t>
                      </a:r>
                      <a:r>
                        <a:rPr lang="en-US" sz="1600" dirty="0"/>
                        <a:t>bin/, lib/).</a:t>
                      </a:r>
                    </a:p>
                    <a:p>
                      <a:endParaRPr lang="en-US" sz="1600" dirty="0"/>
                    </a:p>
                    <a:p>
                      <a:r>
                        <a:rPr lang="ru-RU" sz="1600" dirty="0"/>
                        <a:t>Каждое окружение — это отдельный мир, где вы можете устанавливать разные версии библиотек, не мешая другим проектам.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Пакетный менеджер (</a:t>
                      </a:r>
                      <a:r>
                        <a:rPr lang="en-US" b="1" dirty="0"/>
                        <a:t>package manager)</a:t>
                      </a:r>
                      <a:r>
                        <a:rPr lang="en-US" dirty="0"/>
                        <a:t> — </a:t>
                      </a:r>
                      <a:r>
                        <a:rPr lang="ru-RU" dirty="0"/>
                        <a:t>это </a:t>
                      </a:r>
                      <a:r>
                        <a:rPr lang="ru-RU" b="1" dirty="0"/>
                        <a:t>инструмент, который управляет установкой, обновлением и удалением библиотек</a:t>
                      </a:r>
                      <a:r>
                        <a:rPr lang="ru-RU" dirty="0"/>
                        <a:t> в </a:t>
                      </a:r>
                      <a:r>
                        <a:rPr lang="en-US" dirty="0"/>
                        <a:t>Python</a:t>
                      </a:r>
                      <a:r>
                        <a:rPr lang="ru-RU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775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«где» ставятся пакеты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«как» ставятся пакеты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903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74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Виртуальные окружения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739A1D-C88F-3B4C-9802-8D1F77D01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615976"/>
              </p:ext>
            </p:extLst>
          </p:nvPr>
        </p:nvGraphicFramePr>
        <p:xfrm>
          <a:off x="304800" y="971550"/>
          <a:ext cx="8686800" cy="353891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4786492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8982118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806281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8114896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061257781"/>
                    </a:ext>
                  </a:extLst>
                </a:gridCol>
              </a:tblGrid>
              <a:tr h="113473">
                <a:tc>
                  <a:txBody>
                    <a:bodyPr/>
                    <a:lstStyle/>
                    <a:p>
                      <a:r>
                        <a:rPr lang="ru-RU" sz="1100" b="1" dirty="0"/>
                        <a:t>Инструмент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Входит в стандартную библиотеку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Изолирует пакеты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Управляет зависимостями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Особенности / когда использовать</a:t>
                      </a:r>
                      <a:endParaRPr lang="ru-RU" sz="12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627265"/>
                  </a:ext>
                </a:extLst>
              </a:tr>
              <a:tr h="356649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venv</a:t>
                      </a:r>
                      <a:endParaRPr lang="en-US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❌ </a:t>
                      </a:r>
                      <a:r>
                        <a:rPr lang="ru-RU" sz="1100" dirty="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стандартный и самый лёгкий способ создать окружение; идеален для простых проектов</a:t>
                      </a:r>
                      <a:endParaRPr lang="en-US" sz="11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199520"/>
                  </a:ext>
                </a:extLst>
              </a:tr>
              <a:tr h="283683">
                <a:tc>
                  <a:txBody>
                    <a:bodyPr/>
                    <a:lstStyle/>
                    <a:p>
                      <a:r>
                        <a:rPr lang="en-US" sz="1100" b="1"/>
                        <a:t>virtualenv</a:t>
                      </a:r>
                      <a:endParaRPr lang="en-US" sz="110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 (устанавливается через </a:t>
                      </a:r>
                      <a:r>
                        <a:rPr lang="en-US" sz="1100"/>
                        <a:t>pip)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старше </a:t>
                      </a:r>
                      <a:r>
                        <a:rPr lang="en-US" sz="1100" dirty="0" err="1"/>
                        <a:t>venv</a:t>
                      </a:r>
                      <a:r>
                        <a:rPr lang="en-US" sz="1100" dirty="0"/>
                        <a:t>, </a:t>
                      </a:r>
                      <a:r>
                        <a:rPr lang="ru-RU" sz="1100" dirty="0"/>
                        <a:t>работает даже со старыми версиями </a:t>
                      </a:r>
                      <a:r>
                        <a:rPr lang="en-US" sz="1100" dirty="0"/>
                        <a:t>Python (&lt;3.3), </a:t>
                      </a:r>
                      <a:r>
                        <a:rPr lang="ru-RU" sz="1100" dirty="0"/>
                        <a:t>чуть быстрее и функциональнее</a:t>
                      </a:r>
                      <a:endParaRPr lang="en-US" sz="11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304678"/>
                  </a:ext>
                </a:extLst>
              </a:tr>
              <a:tr h="351767">
                <a:tc>
                  <a:txBody>
                    <a:bodyPr/>
                    <a:lstStyle/>
                    <a:p>
                      <a:r>
                        <a:rPr lang="en-US" sz="1100" b="1"/>
                        <a:t>conda</a:t>
                      </a:r>
                      <a:endParaRPr lang="en-US" sz="110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управляет не только </a:t>
                      </a:r>
                      <a:r>
                        <a:rPr lang="en-US" sz="1100" dirty="0"/>
                        <a:t>Python-</a:t>
                      </a:r>
                      <a:r>
                        <a:rPr lang="ru-RU" sz="1100" dirty="0"/>
                        <a:t>библиотеками, но и бинарными зависимостями (</a:t>
                      </a:r>
                      <a:r>
                        <a:rPr lang="en-US" sz="1100" dirty="0"/>
                        <a:t>C, CUDA </a:t>
                      </a:r>
                      <a:r>
                        <a:rPr lang="ru-RU" sz="1100" dirty="0"/>
                        <a:t>и т.д.); часто используется в науке и </a:t>
                      </a:r>
                      <a:r>
                        <a:rPr lang="en-US" sz="1100" dirty="0"/>
                        <a:t>ML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22145"/>
                  </a:ext>
                </a:extLst>
              </a:tr>
              <a:tr h="283683">
                <a:tc>
                  <a:txBody>
                    <a:bodyPr/>
                    <a:lstStyle/>
                    <a:p>
                      <a:r>
                        <a:rPr lang="en-US" sz="1100" b="1"/>
                        <a:t>pipenv</a:t>
                      </a:r>
                      <a:endParaRPr lang="en-US" sz="110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✅ </a:t>
                      </a:r>
                      <a:r>
                        <a:rPr lang="ru-RU" sz="1100" dirty="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совмещает </a:t>
                      </a:r>
                      <a:r>
                        <a:rPr lang="en-US" sz="1100" dirty="0" err="1"/>
                        <a:t>venv</a:t>
                      </a:r>
                      <a:r>
                        <a:rPr lang="en-US" sz="1100" dirty="0"/>
                        <a:t> </a:t>
                      </a:r>
                      <a:r>
                        <a:rPr lang="ru-RU" sz="1100" dirty="0"/>
                        <a:t>и </a:t>
                      </a:r>
                      <a:r>
                        <a:rPr lang="en-US" sz="1100" dirty="0"/>
                        <a:t>pip, </a:t>
                      </a:r>
                      <a:r>
                        <a:rPr lang="ru-RU" sz="1100" dirty="0"/>
                        <a:t>автоматически создаёт окружения и </a:t>
                      </a:r>
                      <a:r>
                        <a:rPr lang="en-US" sz="1100" dirty="0"/>
                        <a:t>lock-</a:t>
                      </a:r>
                      <a:r>
                        <a:rPr lang="ru-RU" sz="1100" dirty="0"/>
                        <a:t>файлы (</a:t>
                      </a:r>
                      <a:r>
                        <a:rPr lang="en-US" sz="1100" dirty="0" err="1"/>
                        <a:t>Pipfile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/>
                        <a:t>Pipfile.lock</a:t>
                      </a:r>
                      <a:r>
                        <a:rPr lang="en-US" sz="1100" dirty="0"/>
                        <a:t>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403898"/>
                  </a:ext>
                </a:extLst>
              </a:tr>
              <a:tr h="351767">
                <a:tc>
                  <a:txBody>
                    <a:bodyPr/>
                    <a:lstStyle/>
                    <a:p>
                      <a:r>
                        <a:rPr lang="en-US" sz="1100" b="1"/>
                        <a:t>poetry</a:t>
                      </a:r>
                      <a:endParaRPr lang="en-US" sz="110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✅ </a:t>
                      </a:r>
                      <a:r>
                        <a:rPr lang="ru-RU" sz="1100" dirty="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современный инструмент: управляет зависимостями, сборкой и публикацией пакетов; создаёт окружения автоматически</a:t>
                      </a:r>
                      <a:endParaRPr lang="en-US" sz="11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002366"/>
                  </a:ext>
                </a:extLst>
              </a:tr>
              <a:tr h="283683">
                <a:tc>
                  <a:txBody>
                    <a:bodyPr/>
                    <a:lstStyle/>
                    <a:p>
                      <a:r>
                        <a:rPr lang="en-US" sz="1100" b="1"/>
                        <a:t>uv</a:t>
                      </a:r>
                      <a:endParaRPr lang="en-US" sz="110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✅ </a:t>
                      </a:r>
                      <a:r>
                        <a:rPr lang="ru-RU" sz="1100" dirty="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новый сверхбыстрый инструмент от </a:t>
                      </a:r>
                      <a:r>
                        <a:rPr lang="en-US" sz="1100" dirty="0"/>
                        <a:t>Astral (</a:t>
                      </a:r>
                      <a:r>
                        <a:rPr lang="ru-RU" sz="1100" dirty="0"/>
                        <a:t>разработчиков </a:t>
                      </a:r>
                      <a:r>
                        <a:rPr lang="en-US" sz="1100" dirty="0"/>
                        <a:t>Ruff); </a:t>
                      </a:r>
                      <a:r>
                        <a:rPr lang="ru-RU" sz="1100" dirty="0"/>
                        <a:t>заменяет </a:t>
                      </a:r>
                      <a:r>
                        <a:rPr lang="en-US" sz="1100" dirty="0"/>
                        <a:t>pip, </a:t>
                      </a:r>
                      <a:r>
                        <a:rPr lang="en-US" sz="1100" dirty="0" err="1"/>
                        <a:t>venv</a:t>
                      </a:r>
                      <a:r>
                        <a:rPr lang="en-US" sz="1100" dirty="0"/>
                        <a:t> </a:t>
                      </a:r>
                      <a:r>
                        <a:rPr lang="ru-RU" sz="1100" dirty="0"/>
                        <a:t>и </a:t>
                      </a:r>
                      <a:r>
                        <a:rPr lang="en-US" sz="1100" dirty="0"/>
                        <a:t>pip-tools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28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259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Рекомендации для начинающих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739A1D-C88F-3B4C-9802-8D1F77D01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809847"/>
              </p:ext>
            </p:extLst>
          </p:nvPr>
        </p:nvGraphicFramePr>
        <p:xfrm>
          <a:off x="304800" y="1352550"/>
          <a:ext cx="8686800" cy="191991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4786492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8982118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806281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8114896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061257781"/>
                    </a:ext>
                  </a:extLst>
                </a:gridCol>
              </a:tblGrid>
              <a:tr h="113473">
                <a:tc>
                  <a:txBody>
                    <a:bodyPr/>
                    <a:lstStyle/>
                    <a:p>
                      <a:r>
                        <a:rPr lang="ru-RU" sz="1100" b="1" dirty="0"/>
                        <a:t>Инструмент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Входит в стандартную библиотеку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Изолирует пакеты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Управляет зависимостями</a:t>
                      </a:r>
                      <a:endParaRPr lang="ru-RU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Особенности / когда использовать</a:t>
                      </a:r>
                      <a:endParaRPr lang="ru-RU" sz="12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627265"/>
                  </a:ext>
                </a:extLst>
              </a:tr>
              <a:tr h="356649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venv</a:t>
                      </a:r>
                      <a:endParaRPr lang="en-US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❌ </a:t>
                      </a:r>
                      <a:r>
                        <a:rPr lang="ru-RU" sz="1100" dirty="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стандартный и самый лёгкий способ создать окружение; идеален для простых проектов</a:t>
                      </a:r>
                      <a:endParaRPr lang="en-US" sz="11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199520"/>
                  </a:ext>
                </a:extLst>
              </a:tr>
              <a:tr h="351767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conda</a:t>
                      </a:r>
                      <a:endParaRPr lang="en-US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✅ </a:t>
                      </a:r>
                      <a:r>
                        <a:rPr lang="ru-RU" sz="110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кеширует скачанные пакеты</a:t>
                      </a:r>
                      <a:br>
                        <a:rPr lang="ru-RU" sz="1100" dirty="0"/>
                      </a:br>
                      <a:r>
                        <a:rPr lang="ru-RU" sz="1100" dirty="0"/>
                        <a:t>удобно когда окружений много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Хорошо подходит для </a:t>
                      </a:r>
                      <a:r>
                        <a:rPr lang="ru-RU" sz="1100" dirty="0" err="1"/>
                        <a:t>M</a:t>
                      </a:r>
                      <a:r>
                        <a:rPr lang="en-US" sz="1100" dirty="0"/>
                        <a:t>L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22145"/>
                  </a:ext>
                </a:extLst>
              </a:tr>
              <a:tr h="283683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uv</a:t>
                      </a:r>
                      <a:endParaRPr lang="en-US" sz="11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/>
                        <a:t>❌ </a:t>
                      </a:r>
                      <a:r>
                        <a:rPr lang="ru-RU" sz="1100"/>
                        <a:t>Нет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✅ </a:t>
                      </a:r>
                      <a:r>
                        <a:rPr lang="ru-RU" sz="1100" dirty="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R" sz="1100" dirty="0"/>
                        <a:t>✅ </a:t>
                      </a:r>
                      <a:r>
                        <a:rPr lang="ru-RU" sz="1100" dirty="0"/>
                        <a:t>Да</a:t>
                      </a:r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заменяет </a:t>
                      </a:r>
                      <a:r>
                        <a:rPr lang="en-US" sz="1100" dirty="0"/>
                        <a:t>pip</a:t>
                      </a:r>
                      <a:endParaRPr lang="ru-RU" sz="11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/>
                        <a:t>работает очень быстро</a:t>
                      </a:r>
                      <a:endParaRPr lang="en-US" sz="1100" dirty="0"/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" dirty="0"/>
                    </a:p>
                  </a:txBody>
                  <a:tcPr marL="11347" marR="11347" marT="5674" marB="5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28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37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G</a:t>
            </a:r>
            <a:r>
              <a:rPr lang="en-US" dirty="0" err="1"/>
              <a:t>oogle</a:t>
            </a:r>
            <a:r>
              <a:rPr lang="en-US" dirty="0"/>
              <a:t> </a:t>
            </a:r>
            <a:r>
              <a:rPr lang="en-US" dirty="0" err="1"/>
              <a:t>colab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85965-369E-0B4C-BFAC-A2ABA132A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71550"/>
            <a:ext cx="7924800" cy="408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0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500550" y="310170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Basic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Евгений Ревняков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к.т.н. </a:t>
            </a:r>
            <a:r>
              <a:rPr lang="en-US" sz="1000" dirty="0">
                <a:solidFill>
                  <a:schemeClr val="tx1"/>
                </a:solidFill>
              </a:rPr>
              <a:t>Senior Software Engineer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527" b="652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6701" b="6701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Борис </a:t>
            </a:r>
            <a:r>
              <a:rPr lang="ru-RU" sz="1517" b="1" dirty="0" err="1">
                <a:solidFill>
                  <a:srgbClr val="FF9900"/>
                </a:solidFill>
              </a:rPr>
              <a:t>Цейтлин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ML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Глеб Карпов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4466" b="14466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4" y="1389897"/>
            <a:ext cx="2141389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Константин Алексин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Специалист по прогнозному моделированию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4503" b="4503"/>
          <a:stretch/>
        </p:blipFill>
        <p:spPr>
          <a:xfrm>
            <a:off x="789920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0689" b="10689"/>
          <a:stretch/>
        </p:blipFill>
        <p:spPr>
          <a:xfrm>
            <a:off x="749302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5853" b="15853"/>
          <a:stretch/>
        </p:blipFill>
        <p:spPr>
          <a:xfrm>
            <a:off x="789920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4" y="2772890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26080" y="3978021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5293637" y="3978021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389897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Валерий Валов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EdTech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6"/>
          <a:srcRect t="12308" b="12308"/>
          <a:stretch/>
        </p:blipFill>
        <p:spPr>
          <a:xfrm>
            <a:off x="7468371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7"/>
          <a:srcRect t="669" b="669"/>
          <a:stretch/>
        </p:blipFill>
        <p:spPr>
          <a:xfrm>
            <a:off x="7466228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315408" y="277289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Кирилл Панфилов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Блогер</a:t>
            </a:r>
            <a:r>
              <a:rPr lang="ru-RU" sz="1000" dirty="0">
                <a:solidFill>
                  <a:schemeClr val="tx1"/>
                </a:solidFill>
              </a:rPr>
              <a:t>/программист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8"/>
          <a:srcRect t="7452" b="7452"/>
          <a:stretch/>
        </p:blipFill>
        <p:spPr>
          <a:xfrm>
            <a:off x="7466228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Карта курса M</a:t>
            </a:r>
            <a:r>
              <a:rPr lang="en-US" dirty="0"/>
              <a:t>L Basic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4369451" y="862442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29189" y="1979603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974592" y="1964485"/>
            <a:ext cx="3428859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БД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4140833" y="294732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 flipV="1">
            <a:off x="3002389" y="2254135"/>
            <a:ext cx="972203" cy="1511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1765789" y="1152091"/>
            <a:ext cx="2603662" cy="82751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983922"/>
            <a:ext cx="335098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254135"/>
            <a:ext cx="292018" cy="982835"/>
          </a:xfrm>
          <a:prstGeom prst="curvedConnector3">
            <a:avLst>
              <a:gd name="adj1" fmla="val -7828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176045" y="3236970"/>
            <a:ext cx="1964789" cy="746952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32125" y="144553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712127" y="141931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2318" y="259637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282320" y="257015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2318" y="281710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282320" y="279088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65764" y="258512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45766" y="255890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5" name="Google Shape;530;p82">
            <a:extLst>
              <a:ext uri="{FF2B5EF4-FFF2-40B4-BE49-F238E27FC236}">
                <a16:creationId xmlns:a16="http://schemas.microsoft.com/office/drawing/2014/main" id="{F83CD1EB-5BF6-BC4C-B06B-F4343799D9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32125" y="164137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504E57-C94A-3C4D-A330-D4A7DEF3FED0}"/>
              </a:ext>
            </a:extLst>
          </p:cNvPr>
          <p:cNvSpPr txBox="1"/>
          <p:nvPr/>
        </p:nvSpPr>
        <p:spPr>
          <a:xfrm>
            <a:off x="6712127" y="161515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144226" y="398392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2"/>
            <a:endCxn id="50" idx="2"/>
          </p:cNvCxnSpPr>
          <p:nvPr/>
        </p:nvCxnSpPr>
        <p:spPr>
          <a:xfrm rot="5400000" flipH="1" flipV="1">
            <a:off x="4431059" y="2308206"/>
            <a:ext cx="1" cy="4510032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9220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56598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61979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1771421" y="459357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9F00384A-E8B0-D24D-9B4C-0D8D4931E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84052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FC6F23-1F7D-8047-B30E-35ED5FA579FC}"/>
              </a:ext>
            </a:extLst>
          </p:cNvPr>
          <p:cNvSpPr txBox="1"/>
          <p:nvPr/>
        </p:nvSpPr>
        <p:spPr>
          <a:xfrm>
            <a:off x="1771421" y="481430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Настройка окружения для работы</a:t>
            </a:r>
            <a:endParaRPr lang="en-US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Базовые типы и структуры данных. Управление потоком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Работа с функциями и данными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54211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Групповая менторская консультация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488550" y="3001952"/>
            <a:ext cx="305639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04809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399199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119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4369" y="34751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2321D80C-0B39-C644-9004-B1B5C3433603}"/>
              </a:ext>
            </a:extLst>
          </p:cNvPr>
          <p:cNvSpPr/>
          <p:nvPr/>
        </p:nvSpPr>
        <p:spPr>
          <a:xfrm>
            <a:off x="2226713" y="189305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291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ООП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5920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исключения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8922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продолжение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192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Модули и импорты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5017" y="1945485"/>
            <a:ext cx="9434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80007" y="2210495"/>
            <a:ext cx="147348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4996" y="2475506"/>
            <a:ext cx="200350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9986" y="2740516"/>
            <a:ext cx="25335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662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101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54012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157333" y="4570460"/>
            <a:ext cx="39600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D218481-3AD9-3342-AE7A-E8FB1778A202}"/>
              </a:ext>
            </a:extLst>
          </p:cNvPr>
          <p:cNvCxnSpPr>
            <a:cxnSpLocks/>
            <a:stCxn id="271" idx="2"/>
            <a:endCxn id="33" idx="1"/>
          </p:cNvCxnSpPr>
          <p:nvPr/>
        </p:nvCxnSpPr>
        <p:spPr>
          <a:xfrm rot="16200000" flipH="1">
            <a:off x="1813079" y="1677423"/>
            <a:ext cx="40733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со встроенными модулями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Файлы и сеть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687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348077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447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Визуализация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ru-RU" sz="1400" dirty="0" err="1">
                <a:solidFill>
                  <a:srgbClr val="1F1F1F"/>
                </a:solidFill>
                <a:latin typeface="Google Sans"/>
                <a:sym typeface="Roboto"/>
              </a:rPr>
              <a:t>датасета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 из сырых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8804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93195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8017949-1E75-194E-94F4-04C0C8C9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6352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Notched Right Arrow 29">
            <a:extLst>
              <a:ext uri="{FF2B5EF4-FFF2-40B4-BE49-F238E27FC236}">
                <a16:creationId xmlns:a16="http://schemas.microsoft.com/office/drawing/2014/main" id="{C501120B-075B-9B48-88C0-54C9E8B22C08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c: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311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065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Матрицы. Основные понятия и операции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линейной алгебры: базис, отображение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Матричные разложения. Практика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37428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Метод наименьших квадратов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488551" y="3001951"/>
            <a:ext cx="305639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otched Right Arrow 38">
            <a:extLst>
              <a:ext uri="{FF2B5EF4-FFF2-40B4-BE49-F238E27FC236}">
                <a16:creationId xmlns:a16="http://schemas.microsoft.com/office/drawing/2014/main" id="{F6177A2C-F976-114E-9D6C-603526797BB7}"/>
              </a:ext>
            </a:extLst>
          </p:cNvPr>
          <p:cNvSpPr/>
          <p:nvPr/>
        </p:nvSpPr>
        <p:spPr>
          <a:xfrm rot="5400000">
            <a:off x="8479874" y="4272531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A0D77B94-D03C-AE45-AB1A-2CDCA515397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6" y="4569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FAAEEEC-958E-2443-B10C-10D5A3E5103C}"/>
              </a:ext>
            </a:extLst>
          </p:cNvPr>
          <p:cNvSpPr txBox="1"/>
          <p:nvPr/>
        </p:nvSpPr>
        <p:spPr>
          <a:xfrm rot="20748746">
            <a:off x="7534370" y="4513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1374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27138" y="1117438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Аксиоматика теории вероятностей. Случайные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Многомерные случайные величины. ЦПТ. Практика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Основные понятия статистики. Точечные оценки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Проверка гипотез (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A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 тестирование)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33407" y="1696702"/>
            <a:ext cx="393270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8397" y="1961712"/>
            <a:ext cx="923291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303386" y="2226723"/>
            <a:ext cx="1453312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38376" y="2491733"/>
            <a:ext cx="1983333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8544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73365" y="2756744"/>
            <a:ext cx="2513354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508355" y="3021754"/>
            <a:ext cx="3043375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Введение в машинное обучение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регрессии. Линейная регрессия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классификации. Метод ближайших соседей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Выбор темы курсового проекта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173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5643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796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5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Feature engineering &amp; advanced preprocessing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578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969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81726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Логистическая регрессия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582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685AC7D5-8E46-554E-AC25-43436FD1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986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</a:t>
            </a:r>
            <a:endParaRPr dirty="0"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85206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Что получите от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en-US" sz="1200" dirty="0"/>
              <a:t>Python. </a:t>
            </a:r>
            <a:r>
              <a:rPr lang="ru-RU" sz="1200" dirty="0"/>
              <a:t>Освоите основы и научитесь использовать его в задачах </a:t>
            </a:r>
            <a:r>
              <a:rPr lang="en-US" sz="1200" dirty="0"/>
              <a:t>Machine Learning.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Математика. Вспомните ключевые разделы, чтобы понимать теоретические основы и принципы работы алгоритмов Машинного Обучения.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Классические модели </a:t>
            </a:r>
            <a:r>
              <a:rPr lang="en-US" sz="1200" dirty="0"/>
              <a:t>Machine Learning.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Познакомитесь с коллегами и возможно </a:t>
            </a:r>
            <a:r>
              <a:rPr lang="ru-RU" sz="1200" b="1" i="1" dirty="0"/>
              <a:t>создадите группу </a:t>
            </a:r>
            <a:r>
              <a:rPr lang="ru-RU" sz="1200" dirty="0"/>
              <a:t>для собственного пет-проекта</a:t>
            </a:r>
            <a:endParaRPr sz="1200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endParaRPr lang="en-US" sz="1200" b="1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За время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Git, Shell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Вспомните теорию вероятностей и математическую статистику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Попробуете решать реальные бизнес-задачи при помощи методов машинного обучения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Python-</a:t>
            </a:r>
            <a:r>
              <a:rPr lang="ru-RU" sz="1200" dirty="0"/>
              <a:t>библиотеками для </a:t>
            </a:r>
            <a:r>
              <a:rPr lang="en-US" sz="1200" dirty="0"/>
              <a:t>Machine Learning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ориентироваться в различных направлениях </a:t>
            </a:r>
            <a:r>
              <a:rPr lang="en-US" sz="1200" dirty="0"/>
              <a:t>Data Science</a:t>
            </a:r>
            <a:endParaRPr lang="en-TR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раза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15720</TotalTime>
  <Words>1560</Words>
  <Application>Microsoft Macintosh PowerPoint</Application>
  <PresentationFormat>On-screen Show (16:9)</PresentationFormat>
  <Paragraphs>361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AkayaTelivigala</vt:lpstr>
      <vt:lpstr>Arial</vt:lpstr>
      <vt:lpstr>Bradley Hand</vt:lpstr>
      <vt:lpstr>Calibri</vt:lpstr>
      <vt:lpstr>Google Sans</vt:lpstr>
      <vt:lpstr>Roboto</vt:lpstr>
      <vt:lpstr>Office Theme</vt:lpstr>
      <vt:lpstr>ML Specials Virtual environment</vt:lpstr>
      <vt:lpstr>Проверить, идет ли запись</vt:lpstr>
      <vt:lpstr>ML Special Virtual environment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Установка инструментов</vt:lpstr>
      <vt:lpstr>Виртуальные окружения</vt:lpstr>
      <vt:lpstr>Виртуальные окружения vs Пакетные менеджеры</vt:lpstr>
      <vt:lpstr>Виртуальные окружения</vt:lpstr>
      <vt:lpstr>Рекомендации для начинающих</vt:lpstr>
      <vt:lpstr>Google colab</vt:lpstr>
      <vt:lpstr>Практика</vt:lpstr>
      <vt:lpstr>Специализация Machine Learning</vt:lpstr>
      <vt:lpstr>О курсе ML Basic</vt:lpstr>
      <vt:lpstr>Команда курса</vt:lpstr>
      <vt:lpstr>Команда курса</vt:lpstr>
      <vt:lpstr>Команда курса</vt:lpstr>
      <vt:lpstr>Команда курса</vt:lpstr>
      <vt:lpstr>Карта курса ML Basic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Результат</vt:lpstr>
      <vt:lpstr>Как будем учиться?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163</cp:revision>
  <dcterms:created xsi:type="dcterms:W3CDTF">2023-10-10T14:19:39Z</dcterms:created>
  <dcterms:modified xsi:type="dcterms:W3CDTF">2025-10-28T08:25:18Z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