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5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38.JPG" ContentType="image/jpe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media/image45.jpg" ContentType="image/jpeg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media/image49.jpg" ContentType="image/jpeg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334" r:id="rId4"/>
    <p:sldId id="259" r:id="rId5"/>
    <p:sldId id="305" r:id="rId6"/>
    <p:sldId id="261" r:id="rId7"/>
    <p:sldId id="263" r:id="rId8"/>
    <p:sldId id="264" r:id="rId9"/>
    <p:sldId id="265" r:id="rId10"/>
    <p:sldId id="476" r:id="rId11"/>
    <p:sldId id="440" r:id="rId12"/>
    <p:sldId id="468" r:id="rId13"/>
    <p:sldId id="392" r:id="rId14"/>
    <p:sldId id="391" r:id="rId15"/>
    <p:sldId id="389" r:id="rId16"/>
    <p:sldId id="371" r:id="rId17"/>
    <p:sldId id="388" r:id="rId18"/>
    <p:sldId id="390" r:id="rId19"/>
    <p:sldId id="268" r:id="rId20"/>
    <p:sldId id="372" r:id="rId21"/>
    <p:sldId id="373" r:id="rId22"/>
    <p:sldId id="393" r:id="rId23"/>
    <p:sldId id="374" r:id="rId24"/>
    <p:sldId id="394" r:id="rId25"/>
    <p:sldId id="395" r:id="rId26"/>
    <p:sldId id="375" r:id="rId27"/>
    <p:sldId id="397" r:id="rId28"/>
    <p:sldId id="396" r:id="rId29"/>
    <p:sldId id="376" r:id="rId30"/>
    <p:sldId id="269" r:id="rId31"/>
    <p:sldId id="270" r:id="rId32"/>
    <p:sldId id="302" r:id="rId33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49"/>
    <p:restoredTop sz="97030"/>
  </p:normalViewPr>
  <p:slideViewPr>
    <p:cSldViewPr>
      <p:cViewPr varScale="1">
        <p:scale>
          <a:sx n="208" d="100"/>
          <a:sy n="208" d="100"/>
        </p:scale>
        <p:origin x="42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23.07.2025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563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057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078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638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613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010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567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3047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2293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409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3730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eaee39f1e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eaee39f1e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 содержании проектной работы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формате защиты, а также можно ли будет добавить проект в своей портфолио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eaee39f1e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eaee39f1e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об особенностях ДЗ, важности их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выполнения и связи с итоговым проектом, скорости проверки и критериях оценки. Если на курсе есть ментор,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рассказать о формате взаимодействия. 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36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JP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9.jp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Specials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>
                <a:solidFill>
                  <a:srgbClr val="FFFFFF"/>
                </a:solidFill>
              </a:rPr>
              <a:t>Jupyter notebook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Special</a:t>
            </a:r>
            <a:br>
              <a:rPr lang="en-US" dirty="0"/>
            </a:br>
            <a:r>
              <a:rPr lang="en-US" dirty="0"/>
              <a:t>Jupyter notebook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016D5E13-FDDC-224D-A970-DD681138BF8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2616457"/>
            <a:ext cx="692621" cy="69259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xfrm>
            <a:off x="1727549" y="1317655"/>
            <a:ext cx="2095500" cy="327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sz="195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TR" sz="195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TR" sz="1700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6" name="Google Shape;236;p37"/>
          <p:cNvSpPr/>
          <p:nvPr/>
        </p:nvSpPr>
        <p:spPr>
          <a:xfrm>
            <a:off x="709480" y="3100305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</a:t>
            </a:r>
            <a:r>
              <a:rPr lang="ru-RU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становка</a:t>
            </a: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naconda</a:t>
            </a:r>
            <a:endParaRPr lang="en-US"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09480" y="3768440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Использование 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VS Code</a:t>
            </a:r>
          </a:p>
        </p:txBody>
      </p: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09480" y="3288404"/>
            <a:ext cx="12700" cy="6681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09480" y="2432170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lang="ru-RU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09480" y="2620269"/>
            <a:ext cx="12700" cy="6681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38" idx="1"/>
            <a:endCxn id="36" idx="1"/>
          </p:cNvCxnSpPr>
          <p:nvPr/>
        </p:nvCxnSpPr>
        <p:spPr>
          <a:xfrm rot="10800000" flipV="1">
            <a:off x="709480" y="3956540"/>
            <a:ext cx="12700" cy="66813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7" name="Google Shape;235;p37">
            <a:extLst>
              <a:ext uri="{FF2B5EF4-FFF2-40B4-BE49-F238E27FC236}">
                <a16:creationId xmlns:a16="http://schemas.microsoft.com/office/drawing/2014/main" id="{4B96D085-0EF6-444F-B760-331C744CFAF6}"/>
              </a:ext>
            </a:extLst>
          </p:cNvPr>
          <p:cNvSpPr/>
          <p:nvPr/>
        </p:nvSpPr>
        <p:spPr>
          <a:xfrm>
            <a:off x="709480" y="1095900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</a:p>
        </p:txBody>
      </p:sp>
      <p:sp>
        <p:nvSpPr>
          <p:cNvPr id="25" name="Google Shape;235;p37">
            <a:extLst>
              <a:ext uri="{FF2B5EF4-FFF2-40B4-BE49-F238E27FC236}">
                <a16:creationId xmlns:a16="http://schemas.microsoft.com/office/drawing/2014/main" id="{997DCA64-D31D-544D-B5A2-2A5FF11419C5}"/>
              </a:ext>
            </a:extLst>
          </p:cNvPr>
          <p:cNvSpPr/>
          <p:nvPr/>
        </p:nvSpPr>
        <p:spPr>
          <a:xfrm>
            <a:off x="709480" y="1764035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 </a:t>
            </a:r>
            <a:r>
              <a:rPr lang="ru-RU" sz="14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Отус</a:t>
            </a:r>
            <a:endParaRPr lang="ru-RU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238;p37">
            <a:extLst>
              <a:ext uri="{FF2B5EF4-FFF2-40B4-BE49-F238E27FC236}">
                <a16:creationId xmlns:a16="http://schemas.microsoft.com/office/drawing/2014/main" id="{A111B34A-B3D1-3248-BDC7-18F43907C007}"/>
              </a:ext>
            </a:extLst>
          </p:cNvPr>
          <p:cNvSpPr/>
          <p:nvPr/>
        </p:nvSpPr>
        <p:spPr>
          <a:xfrm>
            <a:off x="709480" y="4436576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4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" name="Google Shape;242;p37">
            <a:extLst>
              <a:ext uri="{FF2B5EF4-FFF2-40B4-BE49-F238E27FC236}">
                <a16:creationId xmlns:a16="http://schemas.microsoft.com/office/drawing/2014/main" id="{C9220660-64D4-C448-9463-506753DCA396}"/>
              </a:ext>
            </a:extLst>
          </p:cNvPr>
          <p:cNvCxnSpPr>
            <a:cxnSpLocks/>
            <a:stCxn id="17" idx="1"/>
            <a:endCxn id="25" idx="1"/>
          </p:cNvCxnSpPr>
          <p:nvPr/>
        </p:nvCxnSpPr>
        <p:spPr>
          <a:xfrm rot="10800000" flipV="1">
            <a:off x="709480" y="1283999"/>
            <a:ext cx="12700" cy="6681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8" name="Google Shape;242;p37">
            <a:extLst>
              <a:ext uri="{FF2B5EF4-FFF2-40B4-BE49-F238E27FC236}">
                <a16:creationId xmlns:a16="http://schemas.microsoft.com/office/drawing/2014/main" id="{2C467F45-AE94-B24E-97E9-068C3FDA4857}"/>
              </a:ext>
            </a:extLst>
          </p:cNvPr>
          <p:cNvCxnSpPr>
            <a:cxnSpLocks/>
            <a:stCxn id="25" idx="1"/>
            <a:endCxn id="13" idx="1"/>
          </p:cNvCxnSpPr>
          <p:nvPr/>
        </p:nvCxnSpPr>
        <p:spPr>
          <a:xfrm rot="10800000" flipV="1">
            <a:off x="709480" y="1952134"/>
            <a:ext cx="12700" cy="6681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26" name="Picture 2" descr="Anaconda and Visual Studio Code Setup">
            <a:extLst>
              <a:ext uri="{FF2B5EF4-FFF2-40B4-BE49-F238E27FC236}">
                <a16:creationId xmlns:a16="http://schemas.microsoft.com/office/drawing/2014/main" id="{D082B14C-B948-0045-A769-4FCF35C16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46326"/>
            <a:ext cx="4384800" cy="246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A0F7189C-B8FA-5443-B054-AD92988AB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767078"/>
            <a:ext cx="1232518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ython (programming language) - Wikipedia">
            <a:extLst>
              <a:ext uri="{FF2B5EF4-FFF2-40B4-BE49-F238E27FC236}">
                <a16:creationId xmlns:a16="http://schemas.microsoft.com/office/drawing/2014/main" id="{E5354438-51C5-414C-95BF-62050AC1A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248" y="886998"/>
            <a:ext cx="1376466" cy="137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 err="1"/>
              <a:t>У</a:t>
            </a:r>
            <a:r>
              <a:rPr lang="ru-RU" dirty="0" err="1"/>
              <a:t>становка</a:t>
            </a:r>
            <a:r>
              <a:rPr lang="ru-RU" dirty="0"/>
              <a:t> инструментов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018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0863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BEA234-3E9C-E742-8BD0-54484070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Специализация </a:t>
            </a:r>
            <a:r>
              <a:rPr lang="en-US" dirty="0"/>
              <a:t>Machine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15DDE-BB5B-CE4A-BAB6-731330011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150118"/>
            <a:ext cx="3600000" cy="1624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ADC8DA-C12E-F44E-9F42-F3D6161A5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878" y="3088743"/>
            <a:ext cx="3600000" cy="16133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6EBD08-2F28-AA41-B3A1-F0482BB47925}"/>
              </a:ext>
            </a:extLst>
          </p:cNvPr>
          <p:cNvSpPr txBox="1"/>
          <p:nvPr/>
        </p:nvSpPr>
        <p:spPr>
          <a:xfrm>
            <a:off x="4314250" y="1215109"/>
            <a:ext cx="382668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  <a:r>
              <a:rPr lang="ru-RU" dirty="0"/>
              <a:t>для </a:t>
            </a:r>
            <a:r>
              <a:rPr lang="en-US" dirty="0"/>
              <a:t>ML </a:t>
            </a:r>
            <a:r>
              <a:rPr lang="ru-RU" dirty="0"/>
              <a:t>и работа с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Теоретический минимум для </a:t>
            </a:r>
            <a:r>
              <a:rPr lang="en-US" dirty="0"/>
              <a:t>ML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Основные методы машинного обучения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4246A-87CF-FF41-A486-7F43AB7F85D3}"/>
              </a:ext>
            </a:extLst>
          </p:cNvPr>
          <p:cNvSpPr txBox="1"/>
          <p:nvPr/>
        </p:nvSpPr>
        <p:spPr>
          <a:xfrm>
            <a:off x="500550" y="3101702"/>
            <a:ext cx="383630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с учителем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без учителя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Deep Learning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Сбор и анализ текстовых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временных рядов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Рекомендательные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042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курсе</a:t>
            </a:r>
            <a:r>
              <a:rPr lang="en-US" dirty="0"/>
              <a:t> ML Basic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090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rgbClr val="FF9900"/>
                </a:solidFill>
              </a:rPr>
              <a:t>Мария Тихонова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/>
              <a:t>Senior Data</a:t>
            </a:r>
            <a:r>
              <a:rPr lang="ru-RU" sz="1200" b="1" dirty="0"/>
              <a:t> </a:t>
            </a:r>
            <a:r>
              <a:rPr lang="en-US" sz="1200" b="1" dirty="0"/>
              <a:t>Scientist </a:t>
            </a:r>
            <a:r>
              <a:rPr lang="en-US" sz="1200" b="1" dirty="0" err="1"/>
              <a:t>SberDevices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 err="1"/>
              <a:t>МехМат</a:t>
            </a:r>
            <a:r>
              <a:rPr lang="ru-RU" sz="1200" b="1" dirty="0"/>
              <a:t> МГУ</a:t>
            </a:r>
            <a:r>
              <a:rPr lang="en-US" sz="1200" b="1" dirty="0"/>
              <a:t>, PhD Computer Science</a:t>
            </a:r>
            <a:endParaRPr lang="ru-RU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Занимается обучением больших языковых моделей, а также их оценкой. Участвовала в создании </a:t>
            </a:r>
            <a:r>
              <a:rPr lang="ru-RU" sz="1200" dirty="0" err="1"/>
              <a:t>мультиязычной</a:t>
            </a:r>
            <a:r>
              <a:rPr lang="ru-RU" sz="1200" dirty="0"/>
              <a:t> нейросети </a:t>
            </a:r>
            <a:r>
              <a:rPr lang="en-US" sz="1200" dirty="0" err="1"/>
              <a:t>mGPT</a:t>
            </a:r>
            <a:r>
              <a:rPr lang="en-US" sz="1200" dirty="0"/>
              <a:t> </a:t>
            </a:r>
            <a:r>
              <a:rPr lang="ru-RU" sz="1200" dirty="0"/>
              <a:t>на 61 язык, первого русскоязычного </a:t>
            </a:r>
            <a:r>
              <a:rPr lang="ru-RU" sz="1200" dirty="0" err="1"/>
              <a:t>бенчмарк</a:t>
            </a:r>
            <a:r>
              <a:rPr lang="ru-RU" sz="1200" dirty="0"/>
              <a:t> для русского языка, а также в проекте </a:t>
            </a:r>
            <a:r>
              <a:rPr lang="en-US" sz="1200" dirty="0" err="1"/>
              <a:t>GigaChat</a:t>
            </a:r>
            <a:r>
              <a:rPr lang="en-US" sz="1200" dirty="0"/>
              <a:t>. 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Преподает в Высшей Школе Экономики дисциплины по анализу данных, машинному обучению и </a:t>
            </a:r>
            <a:r>
              <a:rPr lang="en-US" sz="1200" dirty="0"/>
              <a:t>data science. 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1830" b="11830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222;p40">
            <a:extLst>
              <a:ext uri="{FF2B5EF4-FFF2-40B4-BE49-F238E27FC236}">
                <a16:creationId xmlns:a16="http://schemas.microsoft.com/office/drawing/2014/main" id="{E575E226-45E6-AE48-8B19-560BA1F78F51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  <p:extLst>
      <p:ext uri="{BB962C8B-B14F-4D97-AF65-F5344CB8AC3E}">
        <p14:creationId xmlns:p14="http://schemas.microsoft.com/office/powerpoint/2010/main" val="1733881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600" b="1" dirty="0">
                <a:solidFill>
                  <a:srgbClr val="FF9900"/>
                </a:solidFill>
              </a:rPr>
              <a:t>Игорь Стурейко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 err="1"/>
              <a:t>Teamlead</a:t>
            </a:r>
            <a:r>
              <a:rPr lang="ru-RU" sz="1200" b="1" dirty="0"/>
              <a:t>, главный инженер проекта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/>
              <a:t>Физический факультет МГУ</a:t>
            </a:r>
            <a:r>
              <a:rPr lang="en-US" sz="1200" b="1" dirty="0"/>
              <a:t>, PhD </a:t>
            </a:r>
            <a:r>
              <a:rPr lang="ru-RU" sz="1200" b="1" dirty="0"/>
              <a:t>теоретическая физика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15+ лет опыта в прикладной математике и математическом моделировании НИИгазэкономика ПАО Газпром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Руководил командой, решающей прикладные задачи, вывод готовых моделей в продакшн и поддержку решений у клиента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408" b="6408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C1D32E20-496A-5641-9195-7B125A28579B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377655"/>
            <a:ext cx="1991700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Евгений Ревняков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к.т.н. </a:t>
            </a:r>
            <a:r>
              <a:rPr lang="en-US" sz="1000" dirty="0">
                <a:solidFill>
                  <a:schemeClr val="tx1"/>
                </a:solidFill>
              </a:rPr>
              <a:t>Senior Software Engineer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527" b="6527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3752" b="3752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1306" b="11306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6701" b="6701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Антон </a:t>
            </a:r>
            <a:r>
              <a:rPr lang="ru-RU" sz="1517" b="1" dirty="0" err="1">
                <a:solidFill>
                  <a:srgbClr val="FF9900"/>
                </a:solidFill>
              </a:rPr>
              <a:t>Витвицкий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к.ф.-м.н. </a:t>
            </a:r>
            <a:r>
              <a:rPr lang="en-US" sz="1000" dirty="0">
                <a:solidFill>
                  <a:schemeClr val="tx1"/>
                </a:solidFill>
              </a:rPr>
              <a:t>Director of Computer Vision</a:t>
            </a: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Виталий Сидоренко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Борис </a:t>
            </a:r>
            <a:r>
              <a:rPr lang="ru-RU" sz="1517" b="1" dirty="0" err="1">
                <a:solidFill>
                  <a:srgbClr val="FF9900"/>
                </a:solidFill>
              </a:rPr>
              <a:t>Цейтлин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ML Scientist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426624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Глеб Карпов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14466" b="14466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8"/>
          <a:srcRect t="19168" b="19168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9"/>
          <a:srcRect t="9778" b="9778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10"/>
          <a:srcRect l="963" r="963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293637" y="229762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Максим Бекетов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аспирант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93636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Евгений Романов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93637" y="404142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Александр </a:t>
            </a:r>
            <a:br>
              <a:rPr lang="ru-RU" sz="1517" b="1" dirty="0">
                <a:solidFill>
                  <a:srgbClr val="FF9900"/>
                </a:solidFill>
              </a:rPr>
            </a:br>
            <a:r>
              <a:rPr lang="ru-RU" sz="1517" b="1" dirty="0">
                <a:solidFill>
                  <a:srgbClr val="FF9900"/>
                </a:solidFill>
              </a:rPr>
              <a:t>Брут-</a:t>
            </a:r>
            <a:r>
              <a:rPr lang="ru-RU" sz="1517" b="1" dirty="0" err="1">
                <a:solidFill>
                  <a:srgbClr val="FF9900"/>
                </a:solidFill>
              </a:rPr>
              <a:t>Бруляко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 инженер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81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4" y="1389897"/>
            <a:ext cx="2141389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Константин Алексин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Специалист по прогнозному моделированию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4503" b="4503"/>
          <a:stretch/>
        </p:blipFill>
        <p:spPr>
          <a:xfrm>
            <a:off x="789920" y="129188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10689" b="10689"/>
          <a:stretch/>
        </p:blipFill>
        <p:spPr>
          <a:xfrm>
            <a:off x="749302" y="267488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5853" b="15853"/>
          <a:stretch/>
        </p:blipFill>
        <p:spPr>
          <a:xfrm>
            <a:off x="789920" y="3880011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4" y="2772890"/>
            <a:ext cx="2083636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Алексей Кисляков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к.э.н., к.т.н. преподаватель/исследователь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26080" y="3978021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Вероника Иванова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5293637" y="3978021"/>
            <a:ext cx="2141388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Дмитрий </a:t>
            </a:r>
            <a:r>
              <a:rPr lang="ru-RU" sz="1517" b="1" dirty="0" err="1">
                <a:solidFill>
                  <a:srgbClr val="FF9900"/>
                </a:solidFill>
              </a:rPr>
              <a:t>Гайнуллин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389897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Валерий Валов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EdTech</a:t>
            </a: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6"/>
          <a:srcRect t="12308" b="12308"/>
          <a:stretch/>
        </p:blipFill>
        <p:spPr>
          <a:xfrm>
            <a:off x="7468371" y="129188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7"/>
          <a:srcRect t="669" b="669"/>
          <a:stretch/>
        </p:blipFill>
        <p:spPr>
          <a:xfrm>
            <a:off x="7466228" y="2674880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315408" y="277289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Кирилл Панфилов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Блогер</a:t>
            </a:r>
            <a:r>
              <a:rPr lang="ru-RU" sz="1000" dirty="0">
                <a:solidFill>
                  <a:schemeClr val="tx1"/>
                </a:solidFill>
              </a:rPr>
              <a:t>/программист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8"/>
          <a:srcRect t="7452" b="7452"/>
          <a:stretch/>
        </p:blipFill>
        <p:spPr>
          <a:xfrm>
            <a:off x="7466228" y="3880011"/>
            <a:ext cx="830100" cy="819000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8623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Карта курса M</a:t>
            </a:r>
            <a:r>
              <a:rPr lang="en-US" dirty="0"/>
              <a:t>L Basic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4369451" y="862442"/>
            <a:ext cx="3034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529189" y="1979603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3974592" y="1964485"/>
            <a:ext cx="3428859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БД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44"/>
          <p:cNvSpPr/>
          <p:nvPr/>
        </p:nvSpPr>
        <p:spPr>
          <a:xfrm>
            <a:off x="4140833" y="294732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минимум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 flipV="1">
            <a:off x="3002389" y="2254135"/>
            <a:ext cx="972203" cy="1511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1765789" y="1152091"/>
            <a:ext cx="2603662" cy="827511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500550" y="3983922"/>
            <a:ext cx="335098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машинного обучения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254135"/>
            <a:ext cx="292018" cy="982835"/>
          </a:xfrm>
          <a:prstGeom prst="curvedConnector3">
            <a:avLst>
              <a:gd name="adj1" fmla="val -78283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176045" y="3236970"/>
            <a:ext cx="1964789" cy="746952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32125" y="144553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6712127" y="141931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02318" y="2596375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282320" y="2570153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02318" y="281710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282320" y="279088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65764" y="2585125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45766" y="2558903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25" name="Google Shape;530;p82">
            <a:extLst>
              <a:ext uri="{FF2B5EF4-FFF2-40B4-BE49-F238E27FC236}">
                <a16:creationId xmlns:a16="http://schemas.microsoft.com/office/drawing/2014/main" id="{F83CD1EB-5BF6-BC4C-B06B-F4343799D9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32125" y="164137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7504E57-C94A-3C4D-A330-D4A7DEF3FED0}"/>
              </a:ext>
            </a:extLst>
          </p:cNvPr>
          <p:cNvSpPr txBox="1"/>
          <p:nvPr/>
        </p:nvSpPr>
        <p:spPr>
          <a:xfrm>
            <a:off x="6712127" y="161515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50" name="Google Shape;278;p44">
            <a:extLst>
              <a:ext uri="{FF2B5EF4-FFF2-40B4-BE49-F238E27FC236}">
                <a16:creationId xmlns:a16="http://schemas.microsoft.com/office/drawing/2014/main" id="{97C3207F-070C-984C-AB48-D6E345C22189}"/>
              </a:ext>
            </a:extLst>
          </p:cNvPr>
          <p:cNvSpPr/>
          <p:nvPr/>
        </p:nvSpPr>
        <p:spPr>
          <a:xfrm>
            <a:off x="5144226" y="3983921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B500AC69-3C3E-EF47-9E8E-5DF23250CB04}"/>
              </a:ext>
            </a:extLst>
          </p:cNvPr>
          <p:cNvCxnSpPr>
            <a:cxnSpLocks/>
            <a:stCxn id="278" idx="2"/>
            <a:endCxn id="50" idx="2"/>
          </p:cNvCxnSpPr>
          <p:nvPr/>
        </p:nvCxnSpPr>
        <p:spPr>
          <a:xfrm rot="5400000" flipH="1" flipV="1">
            <a:off x="4431059" y="2308206"/>
            <a:ext cx="1" cy="4510032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3" name="Google Shape;530;p82">
            <a:extLst>
              <a:ext uri="{FF2B5EF4-FFF2-40B4-BE49-F238E27FC236}">
                <a16:creationId xmlns:a16="http://schemas.microsoft.com/office/drawing/2014/main" id="{71E0AD10-6167-104D-86AB-51E4A2F2747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59220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FCD16D1-7338-474C-87C0-C4E822AF1808}"/>
              </a:ext>
            </a:extLst>
          </p:cNvPr>
          <p:cNvSpPr txBox="1"/>
          <p:nvPr/>
        </p:nvSpPr>
        <p:spPr>
          <a:xfrm>
            <a:off x="6469308" y="356598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5" name="Google Shape;530;p82">
            <a:extLst>
              <a:ext uri="{FF2B5EF4-FFF2-40B4-BE49-F238E27FC236}">
                <a16:creationId xmlns:a16="http://schemas.microsoft.com/office/drawing/2014/main" id="{1EACA93C-958F-BA4F-B67A-91550009AF9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591419" y="461979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26E6D77-612D-964F-B16D-A944AF51913D}"/>
              </a:ext>
            </a:extLst>
          </p:cNvPr>
          <p:cNvSpPr txBox="1"/>
          <p:nvPr/>
        </p:nvSpPr>
        <p:spPr>
          <a:xfrm>
            <a:off x="1771421" y="459357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7" name="Google Shape;530;p82">
            <a:extLst>
              <a:ext uri="{FF2B5EF4-FFF2-40B4-BE49-F238E27FC236}">
                <a16:creationId xmlns:a16="http://schemas.microsoft.com/office/drawing/2014/main" id="{9F00384A-E8B0-D24D-9B4C-0D8D4931E6E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591419" y="484052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6FC6F23-1F7D-8047-B30E-35ED5FA579FC}"/>
              </a:ext>
            </a:extLst>
          </p:cNvPr>
          <p:cNvSpPr txBox="1"/>
          <p:nvPr/>
        </p:nvSpPr>
        <p:spPr>
          <a:xfrm>
            <a:off x="1771421" y="481430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Вводная лекция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Настройка окружения для работы</a:t>
            </a:r>
            <a:endParaRPr lang="en-US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Базовые типы и структуры данных. Управление потоком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Работа с функциями и данными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Git, shell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54211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Групповая менторская консультация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488550" y="3001952"/>
            <a:ext cx="3056396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404809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4369" y="3991997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6A3C3A01-8FA9-5044-B844-67B828B9AE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353119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543060-81DC-D14A-972C-E308D4DE77DE}"/>
              </a:ext>
            </a:extLst>
          </p:cNvPr>
          <p:cNvSpPr txBox="1"/>
          <p:nvPr/>
        </p:nvSpPr>
        <p:spPr>
          <a:xfrm rot="20748746">
            <a:off x="7534369" y="347510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2321D80C-0B39-C644-9004-B1B5C3433603}"/>
              </a:ext>
            </a:extLst>
          </p:cNvPr>
          <p:cNvSpPr/>
          <p:nvPr/>
        </p:nvSpPr>
        <p:spPr>
          <a:xfrm>
            <a:off x="2226713" y="189305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Git, shell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Python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291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ООП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5920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Продвинутый ООП, исключения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8922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Продвинутый ООП, продолжение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192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Модули и импорты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5017" y="1945485"/>
            <a:ext cx="94346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80007" y="2210495"/>
            <a:ext cx="147348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4996" y="2475506"/>
            <a:ext cx="200350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9986" y="2740516"/>
            <a:ext cx="25335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2037" y="246624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71191" y="241014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754012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157333" y="4570460"/>
            <a:ext cx="39600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DD218481-3AD9-3342-AE7A-E8FB1778A202}"/>
              </a:ext>
            </a:extLst>
          </p:cNvPr>
          <p:cNvCxnSpPr>
            <a:cxnSpLocks/>
            <a:stCxn id="271" idx="2"/>
            <a:endCxn id="33" idx="1"/>
          </p:cNvCxnSpPr>
          <p:nvPr/>
        </p:nvCxnSpPr>
        <p:spPr>
          <a:xfrm rot="16200000" flipH="1">
            <a:off x="1813079" y="1677423"/>
            <a:ext cx="40733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Python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Тесты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Знакомство со встроенными модулями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Файлы и сеть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3536872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3480778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384470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816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работа с БД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NumPy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Pandas</a:t>
            </a:r>
            <a:endParaRPr lang="ru-RU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Визуализация данных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Практика: Построение </a:t>
            </a:r>
            <a:r>
              <a:rPr lang="ru-RU" sz="1400" dirty="0" err="1">
                <a:solidFill>
                  <a:srgbClr val="1F1F1F"/>
                </a:solidFill>
                <a:latin typeface="Google Sans"/>
                <a:sym typeface="Roboto"/>
              </a:rPr>
              <a:t>датасета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 из сырых данных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8804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34369" y="293195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8017949-1E75-194E-94F4-04C0C8C92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863529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0" name="Notched Right Arrow 29">
            <a:extLst>
              <a:ext uri="{FF2B5EF4-FFF2-40B4-BE49-F238E27FC236}">
                <a16:creationId xmlns:a16="http://schemas.microsoft.com/office/drawing/2014/main" id="{C501120B-075B-9B48-88C0-54C9E8B22C08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работа с БД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Бонус: Основы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SQL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Бонус: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Join, exists,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вложенные запросы,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group by, having</a:t>
            </a:r>
            <a:endParaRPr lang="ru-RU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Бону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c: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Оконные функции в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SQL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431149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065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минимум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Матрицы. Основные понятия и операции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линейной алгебры: базис, отображение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Матричные разложения. Практика в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Дифференцирование и оптимизация функций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3">
            <a:extLst>
              <a:ext uri="{FF2B5EF4-FFF2-40B4-BE49-F238E27FC236}">
                <a16:creationId xmlns:a16="http://schemas.microsoft.com/office/drawing/2014/main" id="{606A42E9-4464-834E-A997-E40E28D13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437428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06087216-5C43-B04B-9B4F-E2581FB237B5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Практика. Дифференцирование и оптимизация функций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A178BDB2-3AE5-0243-99AF-C4363604D07D}"/>
              </a:ext>
            </a:extLst>
          </p:cNvPr>
          <p:cNvSpPr/>
          <p:nvPr/>
        </p:nvSpPr>
        <p:spPr>
          <a:xfrm>
            <a:off x="2226713" y="454211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Метод наименьших квадратов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50F0E16F-A1F2-5E4A-B0FE-AE7F7FDA3F5A}"/>
              </a:ext>
            </a:extLst>
          </p:cNvPr>
          <p:cNvCxnSpPr>
            <a:stCxn id="271" idx="2"/>
            <a:endCxn id="22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E6078BC5-B1E0-814B-A959-8AE51F87A379}"/>
              </a:ext>
            </a:extLst>
          </p:cNvPr>
          <p:cNvCxnSpPr>
            <a:stCxn id="271" idx="2"/>
            <a:endCxn id="24" idx="1"/>
          </p:cNvCxnSpPr>
          <p:nvPr/>
        </p:nvCxnSpPr>
        <p:spPr>
          <a:xfrm rot="16200000" flipH="1">
            <a:off x="488551" y="3001951"/>
            <a:ext cx="305639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otched Right Arrow 38">
            <a:extLst>
              <a:ext uri="{FF2B5EF4-FFF2-40B4-BE49-F238E27FC236}">
                <a16:creationId xmlns:a16="http://schemas.microsoft.com/office/drawing/2014/main" id="{F6177A2C-F976-114E-9D6C-603526797BB7}"/>
              </a:ext>
            </a:extLst>
          </p:cNvPr>
          <p:cNvSpPr/>
          <p:nvPr/>
        </p:nvSpPr>
        <p:spPr>
          <a:xfrm rot="5400000">
            <a:off x="8479874" y="4272531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A0D77B94-D03C-AE45-AB1A-2CDCA515397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6" y="456962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FAAEEEC-958E-2443-B10C-10D5A3E5103C}"/>
              </a:ext>
            </a:extLst>
          </p:cNvPr>
          <p:cNvSpPr txBox="1"/>
          <p:nvPr/>
        </p:nvSpPr>
        <p:spPr>
          <a:xfrm rot="20748746">
            <a:off x="7534370" y="4513532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91374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27138" y="1117438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минимум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Аксиоматика теории вероятностей. Случайные величины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Многомерные случайные величины. ЦПТ. Практика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Основные понятия статистики. Точечные оценки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Проверка гипотез (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A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 тестирование)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33407" y="1696702"/>
            <a:ext cx="393270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68397" y="1961712"/>
            <a:ext cx="923291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303386" y="2226723"/>
            <a:ext cx="1453312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38376" y="2491733"/>
            <a:ext cx="1983333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3">
            <a:extLst>
              <a:ext uri="{FF2B5EF4-FFF2-40B4-BE49-F238E27FC236}">
                <a16:creationId xmlns:a16="http://schemas.microsoft.com/office/drawing/2014/main" id="{606A42E9-4464-834E-A997-E40E28D13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68544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06087216-5C43-B04B-9B4F-E2581FB237B5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Исследование зависимостей: номинальные, порядковые и количественные величины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A178BDB2-3AE5-0243-99AF-C4363604D07D}"/>
              </a:ext>
            </a:extLst>
          </p:cNvPr>
          <p:cNvSpPr/>
          <p:nvPr/>
        </p:nvSpPr>
        <p:spPr>
          <a:xfrm>
            <a:off x="2226713" y="454211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Практика. Исследование зависимостей: номинальные, порядковые и количественные величины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50F0E16F-A1F2-5E4A-B0FE-AE7F7FDA3F5A}"/>
              </a:ext>
            </a:extLst>
          </p:cNvPr>
          <p:cNvCxnSpPr>
            <a:stCxn id="271" idx="2"/>
            <a:endCxn id="22" idx="1"/>
          </p:cNvCxnSpPr>
          <p:nvPr/>
        </p:nvCxnSpPr>
        <p:spPr>
          <a:xfrm rot="16200000" flipH="1">
            <a:off x="773365" y="2756744"/>
            <a:ext cx="2513354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E6078BC5-B1E0-814B-A959-8AE51F87A379}"/>
              </a:ext>
            </a:extLst>
          </p:cNvPr>
          <p:cNvCxnSpPr>
            <a:stCxn id="271" idx="2"/>
            <a:endCxn id="24" idx="1"/>
          </p:cNvCxnSpPr>
          <p:nvPr/>
        </p:nvCxnSpPr>
        <p:spPr>
          <a:xfrm rot="16200000" flipH="1">
            <a:off x="508355" y="3021754"/>
            <a:ext cx="3043375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622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Введение в машинное обучение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Задача регрессии. Линейная регрессия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Задача классификации. Метод ближайших соседей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Выбор темы курсового проекта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9173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935643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57960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85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Деревья решений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Ансамбли моделей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Feature engineering &amp; advanced preprocessing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95785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939691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481726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Логистическая регрессия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582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Консультация по проектам и домашним заданиям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685AC7D5-8E46-554E-AC25-43436FD15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398649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Результат</a:t>
            </a:r>
            <a:endParaRPr dirty="0"/>
          </a:p>
        </p:txBody>
      </p:sp>
      <p:sp>
        <p:nvSpPr>
          <p:cNvPr id="287" name="Google Shape;287;p45"/>
          <p:cNvSpPr txBox="1">
            <a:spLocks noGrp="1"/>
          </p:cNvSpPr>
          <p:nvPr>
            <p:ph type="body" idx="1"/>
          </p:nvPr>
        </p:nvSpPr>
        <p:spPr>
          <a:xfrm>
            <a:off x="500550" y="1076131"/>
            <a:ext cx="8520600" cy="3736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r>
              <a:rPr lang="ru" sz="1200" b="1" dirty="0"/>
              <a:t>Что получите от курса</a:t>
            </a:r>
            <a:endParaRPr sz="12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en-US" sz="1200" dirty="0"/>
              <a:t>Python. </a:t>
            </a:r>
            <a:r>
              <a:rPr lang="ru-RU" sz="1200" dirty="0"/>
              <a:t>Освоите основы и научитесь использовать его в задачах </a:t>
            </a:r>
            <a:r>
              <a:rPr lang="en-US" sz="1200" dirty="0"/>
              <a:t>Machine Learning.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Математика. Вспомните ключевые разделы, чтобы понимать теоретические основы и принципы работы алгоритмов Машинного Обучения.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Классические модели </a:t>
            </a:r>
            <a:r>
              <a:rPr lang="en-US" sz="1200" dirty="0"/>
              <a:t>Machine Learning.</a:t>
            </a:r>
            <a:endParaRPr lang="ru-RU" sz="1200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Познакомитесь с коллегами и возможно </a:t>
            </a:r>
            <a:r>
              <a:rPr lang="ru-RU" sz="1200" b="1" i="1" dirty="0"/>
              <a:t>создадите группу </a:t>
            </a:r>
            <a:r>
              <a:rPr lang="ru-RU" sz="1200" dirty="0"/>
              <a:t>для собственного пет-проекта</a:t>
            </a:r>
            <a:endParaRPr sz="1200" dirty="0"/>
          </a:p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endParaRPr lang="en-US" sz="1200" b="1" dirty="0"/>
          </a:p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r>
              <a:rPr lang="ru" sz="1200" b="1" dirty="0"/>
              <a:t>За время курса</a:t>
            </a:r>
            <a:endParaRPr sz="12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работать с </a:t>
            </a:r>
            <a:r>
              <a:rPr lang="en-US" sz="1200" dirty="0"/>
              <a:t>Git, Shell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Вспомните теорию вероятностей и математическую статистику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Попробуете решать реальные бизнес-задачи при помощи методов машинного обучения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работать с </a:t>
            </a:r>
            <a:r>
              <a:rPr lang="en-US" sz="1200" dirty="0"/>
              <a:t>Python-</a:t>
            </a:r>
            <a:r>
              <a:rPr lang="ru-RU" sz="1200" dirty="0"/>
              <a:t>библиотеками для </a:t>
            </a:r>
            <a:r>
              <a:rPr lang="en-US" sz="1200" dirty="0"/>
              <a:t>Machine Learning</a:t>
            </a:r>
            <a:endParaRPr lang="ru-RU" sz="1200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ориентироваться в различных направлениях </a:t>
            </a:r>
            <a:r>
              <a:rPr lang="en-US" sz="1200" dirty="0"/>
              <a:t>Data Science</a:t>
            </a:r>
            <a:endParaRPr lang="en-TR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будем учиться?</a:t>
            </a:r>
            <a:endParaRPr/>
          </a:p>
        </p:txBody>
      </p:sp>
      <p:sp>
        <p:nvSpPr>
          <p:cNvPr id="294" name="Google Shape;294;p46"/>
          <p:cNvSpPr txBox="1"/>
          <p:nvPr/>
        </p:nvSpPr>
        <p:spPr>
          <a:xfrm>
            <a:off x="473250" y="1823599"/>
            <a:ext cx="25263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Вебинары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Два раза в неделю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20:00.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(запись и материалы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выкладывают, как правило,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 следующий день после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вебинара)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456338" y="2528549"/>
            <a:ext cx="2138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latin typeface="Roboto"/>
                <a:ea typeface="Roboto"/>
                <a:cs typeface="Roboto"/>
                <a:sym typeface="Roboto"/>
              </a:rPr>
              <a:t>~</a:t>
            </a: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1 дз в неделю.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Дедлайна нет, кроме окончания курса :)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Типовой срок проверки: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2-3 дня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330300" y="3427376"/>
            <a:ext cx="2430000" cy="118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Чат в телеграм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Задавайте вопросы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, обменивайтесь инсайтами.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0462" y="182359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25" y="111864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0;p84">
            <a:extLst>
              <a:ext uri="{FF2B5EF4-FFF2-40B4-BE49-F238E27FC236}">
                <a16:creationId xmlns:a16="http://schemas.microsoft.com/office/drawing/2014/main" id="{5562D981-7D92-094F-B4B3-4553D9575A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7625" y="271765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37FC6-7D11-294F-92A7-A14EC27D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801" y="284257"/>
            <a:ext cx="3309499" cy="1985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14821</TotalTime>
  <Words>1232</Words>
  <Application>Microsoft Macintosh PowerPoint</Application>
  <PresentationFormat>On-screen Show (16:9)</PresentationFormat>
  <Paragraphs>279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AkayaTelivigala</vt:lpstr>
      <vt:lpstr>Arial</vt:lpstr>
      <vt:lpstr>Bradley Hand</vt:lpstr>
      <vt:lpstr>Calibri</vt:lpstr>
      <vt:lpstr>Google Sans</vt:lpstr>
      <vt:lpstr>Roboto</vt:lpstr>
      <vt:lpstr>Office Theme</vt:lpstr>
      <vt:lpstr>ML Specials Jupyter notebook</vt:lpstr>
      <vt:lpstr>Проверить, идет ли запись</vt:lpstr>
      <vt:lpstr>ML Special Jupyter notebook</vt:lpstr>
      <vt:lpstr>Правила вебинара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Установка инструментов</vt:lpstr>
      <vt:lpstr>Практика</vt:lpstr>
      <vt:lpstr>Специализация Machine Learning</vt:lpstr>
      <vt:lpstr>О курсе ML Basic</vt:lpstr>
      <vt:lpstr>Команда курса</vt:lpstr>
      <vt:lpstr>Команда курса</vt:lpstr>
      <vt:lpstr>Команда курса</vt:lpstr>
      <vt:lpstr>Команда курса</vt:lpstr>
      <vt:lpstr>Карта курса ML Basic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Результат</vt:lpstr>
      <vt:lpstr>Как будем учиться?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157</cp:revision>
  <dcterms:created xsi:type="dcterms:W3CDTF">2023-10-10T14:19:39Z</dcterms:created>
  <dcterms:modified xsi:type="dcterms:W3CDTF">2025-07-23T14:46:44Z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