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3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26.jpg" ContentType="image/jpeg"/>
  <Override PartName="/ppt/media/image27.jpg" ContentType="image/jpeg"/>
  <Override PartName="/ppt/notesSlides/notesSlide8.xml" ContentType="application/vnd.openxmlformats-officedocument.presentationml.notesSlide+xml"/>
  <Override PartName="/ppt/media/image28.jpg" ContentType="image/jpeg"/>
  <Override PartName="/ppt/media/image29.jpg" ContentType="image/jpeg"/>
  <Override PartName="/ppt/media/image30.jpg" ContentType="image/jpeg"/>
  <Override PartName="/ppt/media/image31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45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media/image52.jpg" ContentType="image/jpeg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image56.jpg" ContentType="image/jpeg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334" r:id="rId4"/>
    <p:sldId id="259" r:id="rId5"/>
    <p:sldId id="305" r:id="rId6"/>
    <p:sldId id="261" r:id="rId7"/>
    <p:sldId id="263" r:id="rId8"/>
    <p:sldId id="264" r:id="rId9"/>
    <p:sldId id="265" r:id="rId10"/>
    <p:sldId id="476" r:id="rId11"/>
    <p:sldId id="262" r:id="rId12"/>
    <p:sldId id="478" r:id="rId13"/>
    <p:sldId id="479" r:id="rId14"/>
    <p:sldId id="440" r:id="rId15"/>
    <p:sldId id="480" r:id="rId16"/>
    <p:sldId id="481" r:id="rId17"/>
    <p:sldId id="468" r:id="rId18"/>
    <p:sldId id="392" r:id="rId19"/>
    <p:sldId id="391" r:id="rId20"/>
    <p:sldId id="389" r:id="rId21"/>
    <p:sldId id="371" r:id="rId22"/>
    <p:sldId id="388" r:id="rId23"/>
    <p:sldId id="390" r:id="rId24"/>
    <p:sldId id="268" r:id="rId25"/>
    <p:sldId id="372" r:id="rId26"/>
    <p:sldId id="373" r:id="rId27"/>
    <p:sldId id="393" r:id="rId28"/>
    <p:sldId id="374" r:id="rId29"/>
    <p:sldId id="394" r:id="rId30"/>
    <p:sldId id="395" r:id="rId31"/>
    <p:sldId id="375" r:id="rId32"/>
    <p:sldId id="397" r:id="rId33"/>
    <p:sldId id="396" r:id="rId34"/>
    <p:sldId id="376" r:id="rId35"/>
    <p:sldId id="269" r:id="rId36"/>
    <p:sldId id="270" r:id="rId37"/>
    <p:sldId id="302" r:id="rId38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14"/>
    <p:restoredTop sz="97030"/>
  </p:normalViewPr>
  <p:slideViewPr>
    <p:cSldViewPr>
      <p:cViewPr varScale="1">
        <p:scale>
          <a:sx n="297" d="100"/>
          <a:sy n="297" d="100"/>
        </p:scale>
        <p:origin x="122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567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0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09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373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36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CF5D1D0A-54DF-4C64-AB84-384F23997A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54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JP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jp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Specials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 err="1">
                <a:solidFill>
                  <a:srgbClr val="FFFFFF"/>
                </a:solidFill>
              </a:rPr>
              <a:t>kNN</a:t>
            </a:r>
            <a:r>
              <a:rPr lang="en-US" spc="-10" dirty="0">
                <a:solidFill>
                  <a:srgbClr val="FFFFFF"/>
                </a:solidFill>
              </a:rPr>
              <a:t> – k nearest neighbors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Special</a:t>
            </a:r>
            <a:br>
              <a:rPr lang="en-US" dirty="0"/>
            </a:br>
            <a:r>
              <a:rPr lang="en-US" dirty="0" err="1"/>
              <a:t>kNN</a:t>
            </a:r>
            <a:r>
              <a:rPr lang="en-US" dirty="0"/>
              <a:t> – k nearest neighbors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16D5E13-FDDC-224D-A970-DD681138BF8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2616457"/>
            <a:ext cx="692621" cy="6925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TR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TR" sz="1700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709480" y="3100305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 « руками»</a:t>
            </a: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09480" y="376844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</a:t>
            </a: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09480" y="3288404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09480" y="243217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kNN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09480" y="2620269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38" idx="1"/>
            <a:endCxn id="36" idx="1"/>
          </p:cNvCxnSpPr>
          <p:nvPr/>
        </p:nvCxnSpPr>
        <p:spPr>
          <a:xfrm rot="10800000" flipV="1">
            <a:off x="709480" y="3956540"/>
            <a:ext cx="12700" cy="66813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235;p37">
            <a:extLst>
              <a:ext uri="{FF2B5EF4-FFF2-40B4-BE49-F238E27FC236}">
                <a16:creationId xmlns:a16="http://schemas.microsoft.com/office/drawing/2014/main" id="{4B96D085-0EF6-444F-B760-331C744CFAF6}"/>
              </a:ext>
            </a:extLst>
          </p:cNvPr>
          <p:cNvSpPr/>
          <p:nvPr/>
        </p:nvSpPr>
        <p:spPr>
          <a:xfrm>
            <a:off x="709480" y="109590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</a:p>
        </p:txBody>
      </p:sp>
      <p:sp>
        <p:nvSpPr>
          <p:cNvPr id="25" name="Google Shape;235;p37">
            <a:extLst>
              <a:ext uri="{FF2B5EF4-FFF2-40B4-BE49-F238E27FC236}">
                <a16:creationId xmlns:a16="http://schemas.microsoft.com/office/drawing/2014/main" id="{997DCA64-D31D-544D-B5A2-2A5FF11419C5}"/>
              </a:ext>
            </a:extLst>
          </p:cNvPr>
          <p:cNvSpPr/>
          <p:nvPr/>
        </p:nvSpPr>
        <p:spPr>
          <a:xfrm>
            <a:off x="709480" y="176403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 </a:t>
            </a:r>
            <a:r>
              <a:rPr lang="ru-RU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Отус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238;p37">
            <a:extLst>
              <a:ext uri="{FF2B5EF4-FFF2-40B4-BE49-F238E27FC236}">
                <a16:creationId xmlns:a16="http://schemas.microsoft.com/office/drawing/2014/main" id="{A111B34A-B3D1-3248-BDC7-18F43907C007}"/>
              </a:ext>
            </a:extLst>
          </p:cNvPr>
          <p:cNvSpPr/>
          <p:nvPr/>
        </p:nvSpPr>
        <p:spPr>
          <a:xfrm>
            <a:off x="709480" y="443657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242;p37">
            <a:extLst>
              <a:ext uri="{FF2B5EF4-FFF2-40B4-BE49-F238E27FC236}">
                <a16:creationId xmlns:a16="http://schemas.microsoft.com/office/drawing/2014/main" id="{C9220660-64D4-C448-9463-506753DCA396}"/>
              </a:ext>
            </a:extLst>
          </p:cNvPr>
          <p:cNvCxnSpPr>
            <a:cxnSpLocks/>
            <a:stCxn id="17" idx="1"/>
            <a:endCxn id="25" idx="1"/>
          </p:cNvCxnSpPr>
          <p:nvPr/>
        </p:nvCxnSpPr>
        <p:spPr>
          <a:xfrm rot="10800000" flipV="1">
            <a:off x="709480" y="1283999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8" name="Google Shape;242;p37">
            <a:extLst>
              <a:ext uri="{FF2B5EF4-FFF2-40B4-BE49-F238E27FC236}">
                <a16:creationId xmlns:a16="http://schemas.microsoft.com/office/drawing/2014/main" id="{2C467F45-AE94-B24E-97E9-068C3FDA4857}"/>
              </a:ext>
            </a:extLst>
          </p:cNvPr>
          <p:cNvCxnSpPr>
            <a:cxnSpLocks/>
            <a:stCxn id="25" idx="1"/>
            <a:endCxn id="13" idx="1"/>
          </p:cNvCxnSpPr>
          <p:nvPr/>
        </p:nvCxnSpPr>
        <p:spPr>
          <a:xfrm rot="10800000" flipV="1">
            <a:off x="709480" y="1952134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" name="Picture 2" descr="K-Nearest Neighbor(KNN) Algorithm for Machine Learning | by Sudhanshu Gupta  | Medium">
            <a:extLst>
              <a:ext uri="{FF2B5EF4-FFF2-40B4-BE49-F238E27FC236}">
                <a16:creationId xmlns:a16="http://schemas.microsoft.com/office/drawing/2014/main" id="{9BA4C47A-1D41-344A-ACDE-B2FE52653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323" y="1352550"/>
            <a:ext cx="3517197" cy="300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600" b="1" strike="noStrike" spc="-1">
                <a:solidFill>
                  <a:schemeClr val="lt1"/>
                </a:solidFill>
                <a:latin typeface="Roboto"/>
                <a:ea typeface="Roboto"/>
              </a:rPr>
              <a:t>Задача классификации</a:t>
            </a:r>
            <a:endParaRPr lang="ru-RU" sz="4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 bwMode="auto"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defRPr/>
            </a:pPr>
            <a:r>
              <a:rPr lang="ru-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Задача классификации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134;p5"/>
          <p:cNvSpPr/>
          <p:nvPr/>
        </p:nvSpPr>
        <p:spPr bwMode="auto">
          <a:xfrm>
            <a:off x="573840" y="1071360"/>
            <a:ext cx="5946480" cy="83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algn="just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sng" strike="noStrike" spc="-1">
                <a:solidFill>
                  <a:schemeClr val="dk1"/>
                </a:solidFill>
                <a:latin typeface="Helvetica Neue"/>
                <a:ea typeface="Helvetica Neue"/>
              </a:rPr>
              <a:t>Цель</a:t>
            </a:r>
            <a:r>
              <a:rPr lang="en-US" sz="18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 – спрогнозировать метку класса из заранее определенного списка возможных вариантов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0" name="Группа 6"/>
          <p:cNvGrpSpPr/>
          <p:nvPr/>
        </p:nvGrpSpPr>
        <p:grpSpPr bwMode="auto">
          <a:xfrm>
            <a:off x="678960" y="1802160"/>
            <a:ext cx="3024360" cy="3023280"/>
            <a:chOff x="678960" y="1802160"/>
            <a:chExt cx="3024360" cy="3023280"/>
          </a:xfrm>
        </p:grpSpPr>
        <p:pic>
          <p:nvPicPr>
            <p:cNvPr id="141" name="Google Shape;132;p5"/>
            <p:cNvPicPr/>
            <p:nvPr/>
          </p:nvPicPr>
          <p:blipFill>
            <a:blip r:embed="rId2"/>
            <a:stretch/>
          </p:blipFill>
          <p:spPr bwMode="auto">
            <a:xfrm>
              <a:off x="678960" y="2315519"/>
              <a:ext cx="2959920" cy="250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2" name="Google Shape;135;p5"/>
            <p:cNvSpPr/>
            <p:nvPr/>
          </p:nvSpPr>
          <p:spPr bwMode="auto">
            <a:xfrm>
              <a:off x="678960" y="1802160"/>
              <a:ext cx="3024360" cy="7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800" b="1" strike="noStrike" spc="-1">
                  <a:solidFill>
                    <a:schemeClr val="dk1"/>
                  </a:solidFill>
                  <a:latin typeface="Arial"/>
                  <a:ea typeface="Arial"/>
                </a:rPr>
                <a:t>Бинарная классификация</a:t>
              </a:r>
              <a:endParaRPr lang="ru-R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" name="Группа 9"/>
          <p:cNvGrpSpPr/>
          <p:nvPr/>
        </p:nvGrpSpPr>
        <p:grpSpPr bwMode="auto">
          <a:xfrm>
            <a:off x="5267520" y="1791000"/>
            <a:ext cx="2858040" cy="3021480"/>
            <a:chOff x="5267520" y="1791000"/>
            <a:chExt cx="2858040" cy="3021480"/>
          </a:xfrm>
        </p:grpSpPr>
        <p:pic>
          <p:nvPicPr>
            <p:cNvPr id="144" name="Google Shape;133;p5"/>
            <p:cNvPicPr/>
            <p:nvPr/>
          </p:nvPicPr>
          <p:blipFill>
            <a:blip r:embed="rId3"/>
            <a:stretch/>
          </p:blipFill>
          <p:spPr bwMode="auto">
            <a:xfrm>
              <a:off x="5267520" y="2298960"/>
              <a:ext cx="2858040" cy="251351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5" name="Google Shape;136;p5"/>
            <p:cNvSpPr/>
            <p:nvPr/>
          </p:nvSpPr>
          <p:spPr bwMode="auto">
            <a:xfrm>
              <a:off x="5745600" y="1791000"/>
              <a:ext cx="2379960" cy="7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800" b="1" strike="noStrike" spc="-1">
                  <a:solidFill>
                    <a:schemeClr val="dk1"/>
                  </a:solidFill>
                  <a:latin typeface="Arial"/>
                  <a:ea typeface="Arial"/>
                </a:rPr>
                <a:t>Многоклассовая классификация</a:t>
              </a:r>
              <a:endParaRPr lang="ru-R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 bwMode="auto"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defRPr/>
            </a:pPr>
            <a:r>
              <a:rPr lang="ru-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Задача классификации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34;p5"/>
          <p:cNvSpPr/>
          <p:nvPr/>
        </p:nvSpPr>
        <p:spPr bwMode="auto">
          <a:xfrm>
            <a:off x="597600" y="1072800"/>
            <a:ext cx="5946480" cy="83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algn="just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sng" strike="noStrike" spc="-1">
                <a:solidFill>
                  <a:schemeClr val="dk1"/>
                </a:solidFill>
                <a:latin typeface="Helvetica Neue"/>
                <a:ea typeface="Helvetica Neue"/>
              </a:rPr>
              <a:t>Цель</a:t>
            </a:r>
            <a:r>
              <a:rPr lang="en-US" sz="18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 – спрогнозировать метку класса из заранее определенного списка возможных вариантов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145;g22a860f8144_0_2"/>
          <p:cNvSpPr/>
          <p:nvPr/>
        </p:nvSpPr>
        <p:spPr bwMode="auto">
          <a:xfrm>
            <a:off x="195480" y="1852560"/>
            <a:ext cx="4478400" cy="178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1400" b="1" strike="noStrike" spc="-1">
                <a:solidFill>
                  <a:schemeClr val="dk1"/>
                </a:solidFill>
                <a:latin typeface="Arial"/>
                <a:ea typeface="Arial"/>
              </a:rPr>
              <a:t>Бинарная классификация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Кредитный скоринг (отдаст / не отдаст)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Определение спама (спам / не спам)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Медицинский диагноз (болен / не болен)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Отток клиентов (уйдет / не уйдет)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46;g22a860f8144_0_2"/>
          <p:cNvSpPr/>
          <p:nvPr/>
        </p:nvSpPr>
        <p:spPr bwMode="auto">
          <a:xfrm>
            <a:off x="4241880" y="1919160"/>
            <a:ext cx="4808520" cy="193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1400" b="1" strike="noStrike" spc="-1">
                <a:solidFill>
                  <a:schemeClr val="dk1"/>
                </a:solidFill>
                <a:latin typeface="Arial"/>
                <a:ea typeface="Arial"/>
              </a:rPr>
              <a:t>Многоклассовая классификация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Распознавание символов (цифры, буквы)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Классификация покупателей (по частоте, по тратам)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299160" indent="-312480">
              <a:lnSpc>
                <a:spcPct val="150000"/>
              </a:lnSpc>
              <a:buClr>
                <a:srgbClr val="000000"/>
              </a:buClr>
              <a:buFont typeface="Helvetica Neue"/>
              <a:buChar char="•"/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Helvetica Neue"/>
                <a:ea typeface="Helvetica Neue"/>
              </a:rPr>
              <a:t>Стадии заболевания (начальная, легкая, средняя)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 err="1"/>
              <a:t>А</a:t>
            </a:r>
            <a:r>
              <a:rPr lang="ru-RU" dirty="0" err="1"/>
              <a:t>лгоритм</a:t>
            </a:r>
            <a:r>
              <a:rPr lang="ru-RU" dirty="0"/>
              <a:t> </a:t>
            </a:r>
            <a:r>
              <a:rPr lang="en-US" dirty="0" err="1"/>
              <a:t>kNN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 bwMode="auto"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defRPr/>
            </a:pPr>
            <a:r>
              <a:rPr lang="ru-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Алгоритм </a:t>
            </a:r>
            <a:r>
              <a:rPr lang="en-US" sz="3100" b="1" strike="noStrike" spc="-1">
                <a:solidFill>
                  <a:schemeClr val="dk1"/>
                </a:solidFill>
                <a:latin typeface="Roboto"/>
                <a:ea typeface="Roboto"/>
              </a:rPr>
              <a:t>kNN (K-Nearest Neighbors)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9" name="Google Shape;165;p9"/>
          <p:cNvGrpSpPr/>
          <p:nvPr/>
        </p:nvGrpSpPr>
        <p:grpSpPr bwMode="auto">
          <a:xfrm>
            <a:off x="2833920" y="1426680"/>
            <a:ext cx="3476160" cy="3278519"/>
            <a:chOff x="2833920" y="1426680"/>
            <a:chExt cx="3476160" cy="3278519"/>
          </a:xfrm>
        </p:grpSpPr>
        <p:pic>
          <p:nvPicPr>
            <p:cNvPr id="160" name="Google Shape;166;p9"/>
            <p:cNvPicPr/>
            <p:nvPr/>
          </p:nvPicPr>
          <p:blipFill>
            <a:blip r:embed="rId2"/>
            <a:stretch/>
          </p:blipFill>
          <p:spPr bwMode="auto">
            <a:xfrm>
              <a:off x="2892240" y="1426680"/>
              <a:ext cx="3344040" cy="3115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1" name="Google Shape;167;p9"/>
            <p:cNvPicPr/>
            <p:nvPr/>
          </p:nvPicPr>
          <p:blipFill>
            <a:blip r:embed="rId3"/>
            <a:stretch/>
          </p:blipFill>
          <p:spPr bwMode="auto">
            <a:xfrm>
              <a:off x="2877480" y="1443960"/>
              <a:ext cx="3359160" cy="3179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2" name="Google Shape;168;p9"/>
            <p:cNvPicPr/>
            <p:nvPr/>
          </p:nvPicPr>
          <p:blipFill>
            <a:blip r:embed="rId4"/>
            <a:stretch/>
          </p:blipFill>
          <p:spPr bwMode="auto">
            <a:xfrm>
              <a:off x="2892240" y="1443960"/>
              <a:ext cx="3359160" cy="3166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3" name="Google Shape;169;p9"/>
            <p:cNvPicPr/>
            <p:nvPr/>
          </p:nvPicPr>
          <p:blipFill>
            <a:blip r:embed="rId5"/>
            <a:stretch/>
          </p:blipFill>
          <p:spPr bwMode="auto">
            <a:xfrm>
              <a:off x="2833920" y="1426680"/>
              <a:ext cx="3476160" cy="3278519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 bwMode="auto"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defRPr/>
            </a:pPr>
            <a:r>
              <a:rPr lang="ru-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Алгоритм </a:t>
            </a:r>
            <a:r>
              <a:rPr lang="en-US" sz="3100" b="1" strike="noStrike" spc="-1">
                <a:solidFill>
                  <a:schemeClr val="dk1"/>
                </a:solidFill>
                <a:latin typeface="Roboto"/>
                <a:ea typeface="Roboto"/>
              </a:rPr>
              <a:t>kNN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5" name="Группа 2"/>
          <p:cNvGrpSpPr/>
          <p:nvPr/>
        </p:nvGrpSpPr>
        <p:grpSpPr bwMode="auto">
          <a:xfrm>
            <a:off x="122760" y="1103760"/>
            <a:ext cx="8863200" cy="3751560"/>
            <a:chOff x="122760" y="1103760"/>
            <a:chExt cx="8863200" cy="3751560"/>
          </a:xfrm>
        </p:grpSpPr>
        <p:grpSp>
          <p:nvGrpSpPr>
            <p:cNvPr id="166" name="Google Shape;175;p10"/>
            <p:cNvGrpSpPr/>
            <p:nvPr/>
          </p:nvGrpSpPr>
          <p:grpSpPr bwMode="auto">
            <a:xfrm>
              <a:off x="122760" y="1103760"/>
              <a:ext cx="8863200" cy="2381040"/>
              <a:chOff x="122760" y="1103760"/>
              <a:chExt cx="8863200" cy="2381040"/>
            </a:xfrm>
          </p:grpSpPr>
          <p:pic>
            <p:nvPicPr>
              <p:cNvPr id="167" name="Google Shape;176;p10"/>
              <p:cNvPicPr/>
              <p:nvPr/>
            </p:nvPicPr>
            <p:blipFill>
              <a:blip r:embed="rId2"/>
              <a:stretch/>
            </p:blipFill>
            <p:spPr bwMode="auto">
              <a:xfrm>
                <a:off x="122760" y="1103760"/>
                <a:ext cx="2430360" cy="23810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68" name="Google Shape;177;p10"/>
              <p:cNvPicPr/>
              <p:nvPr/>
            </p:nvPicPr>
            <p:blipFill>
              <a:blip r:embed="rId3"/>
              <a:stretch/>
            </p:blipFill>
            <p:spPr bwMode="auto">
              <a:xfrm>
                <a:off x="2927160" y="1103760"/>
                <a:ext cx="2724480" cy="23810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69" name="Google Shape;178;p10"/>
              <p:cNvPicPr/>
              <p:nvPr/>
            </p:nvPicPr>
            <p:blipFill>
              <a:blip r:embed="rId4"/>
              <a:stretch/>
            </p:blipFill>
            <p:spPr bwMode="auto">
              <a:xfrm>
                <a:off x="5959440" y="1103760"/>
                <a:ext cx="3026519" cy="2381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70" name="Google Shape;179;p10"/>
            <p:cNvSpPr/>
            <p:nvPr/>
          </p:nvSpPr>
          <p:spPr bwMode="auto">
            <a:xfrm>
              <a:off x="122760" y="3697920"/>
              <a:ext cx="2697840" cy="11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600" b="0" strike="noStrike" spc="-1">
                  <a:solidFill>
                    <a:srgbClr val="000000"/>
                  </a:solidFill>
                  <a:latin typeface="Helvetica Neue"/>
                  <a:ea typeface="Helvetica Neue"/>
                </a:rPr>
                <a:t>Задача - определить класс для новой точки при размеченном датасете </a:t>
              </a:r>
              <a:endParaRPr lang="ru-RU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Google Shape;180;p10"/>
            <p:cNvSpPr/>
            <p:nvPr/>
          </p:nvSpPr>
          <p:spPr bwMode="auto">
            <a:xfrm>
              <a:off x="2950560" y="3697920"/>
              <a:ext cx="2697840" cy="11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600" b="0" strike="noStrike" spc="-1">
                  <a:solidFill>
                    <a:srgbClr val="000000"/>
                  </a:solidFill>
                  <a:latin typeface="Helvetica Neue"/>
                  <a:ea typeface="Helvetica Neue"/>
                </a:rPr>
                <a:t>Рассчитаем расстояния от новой точки до всех известных в датасете </a:t>
              </a:r>
              <a:endParaRPr lang="ru-RU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Google Shape;181;p10"/>
            <p:cNvSpPr/>
            <p:nvPr/>
          </p:nvSpPr>
          <p:spPr bwMode="auto">
            <a:xfrm>
              <a:off x="6023880" y="3697920"/>
              <a:ext cx="2897280" cy="11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t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600" b="0" strike="noStrike" spc="-1">
                  <a:solidFill>
                    <a:srgbClr val="000000"/>
                  </a:solidFill>
                  <a:latin typeface="Helvetica Neue"/>
                  <a:ea typeface="Helvetica Neue"/>
                </a:rPr>
                <a:t>Выберем k ближайших и назначим новой точке наиболее популярный класс </a:t>
              </a:r>
              <a:endParaRPr lang="ru-RU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500550" y="310170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Basic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Евгений Ревняков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к.т.н. </a:t>
            </a:r>
            <a:r>
              <a:rPr lang="en-US" sz="1000" dirty="0">
                <a:solidFill>
                  <a:schemeClr val="tx1"/>
                </a:solidFill>
              </a:rPr>
              <a:t>Senior Software Engineer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527" b="652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6701" b="6701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Борис </a:t>
            </a:r>
            <a:r>
              <a:rPr lang="ru-RU" sz="1517" b="1" dirty="0" err="1">
                <a:solidFill>
                  <a:srgbClr val="FF9900"/>
                </a:solidFill>
              </a:rPr>
              <a:t>Цейтлин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ML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Глеб Карпов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4466" b="14466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4" y="1389897"/>
            <a:ext cx="2141389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Константин Алексин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Специалист по прогнозному моделированию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4503" b="4503"/>
          <a:stretch/>
        </p:blipFill>
        <p:spPr>
          <a:xfrm>
            <a:off x="789920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0689" b="10689"/>
          <a:stretch/>
        </p:blipFill>
        <p:spPr>
          <a:xfrm>
            <a:off x="749302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5853" b="15853"/>
          <a:stretch/>
        </p:blipFill>
        <p:spPr>
          <a:xfrm>
            <a:off x="789920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4" y="2772890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26080" y="3978021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5293637" y="3978021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389897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Валерий Валов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EdTech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6"/>
          <a:srcRect t="12308" b="12308"/>
          <a:stretch/>
        </p:blipFill>
        <p:spPr>
          <a:xfrm>
            <a:off x="7468371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7"/>
          <a:srcRect t="669" b="669"/>
          <a:stretch/>
        </p:blipFill>
        <p:spPr>
          <a:xfrm>
            <a:off x="7466228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315408" y="277289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Кирилл Панфилов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Блогер</a:t>
            </a:r>
            <a:r>
              <a:rPr lang="ru-RU" sz="1000" dirty="0">
                <a:solidFill>
                  <a:schemeClr val="tx1"/>
                </a:solidFill>
              </a:rPr>
              <a:t>/программист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8"/>
          <a:srcRect t="7452" b="7452"/>
          <a:stretch/>
        </p:blipFill>
        <p:spPr>
          <a:xfrm>
            <a:off x="7466228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Карта курса M</a:t>
            </a:r>
            <a:r>
              <a:rPr lang="en-US" dirty="0"/>
              <a:t>L Basic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4369451" y="862442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29189" y="1979603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974592" y="1964485"/>
            <a:ext cx="3428859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БД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4140833" y="294732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 flipV="1">
            <a:off x="3002389" y="2254135"/>
            <a:ext cx="972203" cy="1511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1765789" y="1152091"/>
            <a:ext cx="2603662" cy="82751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983922"/>
            <a:ext cx="335098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254135"/>
            <a:ext cx="292018" cy="982835"/>
          </a:xfrm>
          <a:prstGeom prst="curvedConnector3">
            <a:avLst>
              <a:gd name="adj1" fmla="val -7828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176045" y="3236970"/>
            <a:ext cx="1964789" cy="746952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32125" y="144553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712127" y="141931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2318" y="259637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282320" y="257015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2318" y="281710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282320" y="279088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65764" y="258512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45766" y="255890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5" name="Google Shape;530;p82">
            <a:extLst>
              <a:ext uri="{FF2B5EF4-FFF2-40B4-BE49-F238E27FC236}">
                <a16:creationId xmlns:a16="http://schemas.microsoft.com/office/drawing/2014/main" id="{F83CD1EB-5BF6-BC4C-B06B-F4343799D9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32125" y="164137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504E57-C94A-3C4D-A330-D4A7DEF3FED0}"/>
              </a:ext>
            </a:extLst>
          </p:cNvPr>
          <p:cNvSpPr txBox="1"/>
          <p:nvPr/>
        </p:nvSpPr>
        <p:spPr>
          <a:xfrm>
            <a:off x="6712127" y="161515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144226" y="398392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2"/>
            <a:endCxn id="50" idx="2"/>
          </p:cNvCxnSpPr>
          <p:nvPr/>
        </p:nvCxnSpPr>
        <p:spPr>
          <a:xfrm rot="5400000" flipH="1" flipV="1">
            <a:off x="4431059" y="2308206"/>
            <a:ext cx="1" cy="4510032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9220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56598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61979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1771421" y="459357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9F00384A-E8B0-D24D-9B4C-0D8D4931E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84052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FC6F23-1F7D-8047-B30E-35ED5FA579FC}"/>
              </a:ext>
            </a:extLst>
          </p:cNvPr>
          <p:cNvSpPr txBox="1"/>
          <p:nvPr/>
        </p:nvSpPr>
        <p:spPr>
          <a:xfrm>
            <a:off x="1771421" y="481430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Настройка окружения для работы</a:t>
            </a:r>
            <a:endParaRPr lang="en-US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Базовые типы и структуры данных. Управление потоком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Работа с функциями и данными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54211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Групповая менторская консультация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488550" y="3001952"/>
            <a:ext cx="305639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04809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399199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119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4369" y="34751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2321D80C-0B39-C644-9004-B1B5C3433603}"/>
              </a:ext>
            </a:extLst>
          </p:cNvPr>
          <p:cNvSpPr/>
          <p:nvPr/>
        </p:nvSpPr>
        <p:spPr>
          <a:xfrm>
            <a:off x="2226713" y="189305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291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ООП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5920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исключения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8922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продолжение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192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Модули и импорты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5017" y="1945485"/>
            <a:ext cx="9434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80007" y="2210495"/>
            <a:ext cx="147348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4996" y="2475506"/>
            <a:ext cx="200350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9986" y="2740516"/>
            <a:ext cx="25335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662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101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54012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157333" y="4570460"/>
            <a:ext cx="39600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D218481-3AD9-3342-AE7A-E8FB1778A202}"/>
              </a:ext>
            </a:extLst>
          </p:cNvPr>
          <p:cNvCxnSpPr>
            <a:cxnSpLocks/>
            <a:stCxn id="271" idx="2"/>
            <a:endCxn id="33" idx="1"/>
          </p:cNvCxnSpPr>
          <p:nvPr/>
        </p:nvCxnSpPr>
        <p:spPr>
          <a:xfrm rot="16200000" flipH="1">
            <a:off x="1813079" y="1677423"/>
            <a:ext cx="40733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со встроенными модулями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Файлы и сеть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687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348077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447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Визуализация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ru-RU" sz="1400" dirty="0" err="1">
                <a:solidFill>
                  <a:srgbClr val="1F1F1F"/>
                </a:solidFill>
                <a:latin typeface="Google Sans"/>
                <a:sym typeface="Roboto"/>
              </a:rPr>
              <a:t>датасета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 из сырых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8804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93195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8017949-1E75-194E-94F4-04C0C8C9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6352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Notched Right Arrow 29">
            <a:extLst>
              <a:ext uri="{FF2B5EF4-FFF2-40B4-BE49-F238E27FC236}">
                <a16:creationId xmlns:a16="http://schemas.microsoft.com/office/drawing/2014/main" id="{C501120B-075B-9B48-88C0-54C9E8B22C08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c: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311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065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Матрицы. Основные понятия и операции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линейной алгебры: базис, отображение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Матричные разложения. Практика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37428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Метод наименьших квадратов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488551" y="3001951"/>
            <a:ext cx="305639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otched Right Arrow 38">
            <a:extLst>
              <a:ext uri="{FF2B5EF4-FFF2-40B4-BE49-F238E27FC236}">
                <a16:creationId xmlns:a16="http://schemas.microsoft.com/office/drawing/2014/main" id="{F6177A2C-F976-114E-9D6C-603526797BB7}"/>
              </a:ext>
            </a:extLst>
          </p:cNvPr>
          <p:cNvSpPr/>
          <p:nvPr/>
        </p:nvSpPr>
        <p:spPr>
          <a:xfrm rot="5400000">
            <a:off x="8479874" y="4272531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A0D77B94-D03C-AE45-AB1A-2CDCA515397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6" y="4569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FAAEEEC-958E-2443-B10C-10D5A3E5103C}"/>
              </a:ext>
            </a:extLst>
          </p:cNvPr>
          <p:cNvSpPr txBox="1"/>
          <p:nvPr/>
        </p:nvSpPr>
        <p:spPr>
          <a:xfrm rot="20748746">
            <a:off x="7534370" y="4513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1374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27138" y="1117438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Аксиоматика теории вероятностей. Случайные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Многомерные случайные величины. ЦПТ. Практика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Основные понятия статистики. Точечные оценки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Проверка гипотез (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A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 тестирование)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33407" y="1696702"/>
            <a:ext cx="393270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8397" y="1961712"/>
            <a:ext cx="923291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303386" y="2226723"/>
            <a:ext cx="1453312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38376" y="2491733"/>
            <a:ext cx="1983333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8544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73365" y="2756744"/>
            <a:ext cx="2513354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508355" y="3021754"/>
            <a:ext cx="3043375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Введение в машинное обучение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регрессии. Линейная регрессия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классификации. Метод ближайших соседей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Выбор темы курсового проекта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173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5643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796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5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Feature engineering &amp; advanced preprocessing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578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969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81726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Логистическая регрессия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582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685AC7D5-8E46-554E-AC25-43436FD1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986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</a:t>
            </a:r>
            <a:endParaRPr dirty="0"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85206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Что получите от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en-US" sz="1200" dirty="0"/>
              <a:t>Python. </a:t>
            </a:r>
            <a:r>
              <a:rPr lang="ru-RU" sz="1200" dirty="0"/>
              <a:t>Освоите основы и научитесь использовать его в задачах </a:t>
            </a:r>
            <a:r>
              <a:rPr lang="en-US" sz="1200" dirty="0"/>
              <a:t>Machine Learning.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Математика. Вспомните ключевые разделы, чтобы понимать теоретические основы и принципы работы алгоритмов Машинного Обучения.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Классические модели </a:t>
            </a:r>
            <a:r>
              <a:rPr lang="en-US" sz="1200" dirty="0"/>
              <a:t>Machine Learning.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Познакомитесь с коллегами и возможно </a:t>
            </a:r>
            <a:r>
              <a:rPr lang="ru-RU" sz="1200" b="1" i="1" dirty="0"/>
              <a:t>создадите группу </a:t>
            </a:r>
            <a:r>
              <a:rPr lang="ru-RU" sz="1200" dirty="0"/>
              <a:t>для собственного пет-проекта</a:t>
            </a:r>
            <a:endParaRPr sz="1200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endParaRPr lang="en-US" sz="1200" b="1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За время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Git, Shell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Вспомните теорию вероятностей и математическую статистику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Попробуете решать реальные бизнес-задачи при помощи методов машинного обучения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Python-</a:t>
            </a:r>
            <a:r>
              <a:rPr lang="ru-RU" sz="1200" dirty="0"/>
              <a:t>библиотеками для </a:t>
            </a:r>
            <a:r>
              <a:rPr lang="en-US" sz="1200" dirty="0"/>
              <a:t>Machine Learning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ориентироваться в различных направлениях </a:t>
            </a:r>
            <a:r>
              <a:rPr lang="en-US" sz="1200" dirty="0"/>
              <a:t>Data Science</a:t>
            </a:r>
            <a:endParaRPr lang="en-TR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раза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15019</TotalTime>
  <Words>1369</Words>
  <Application>Microsoft Macintosh PowerPoint</Application>
  <PresentationFormat>On-screen Show (16:9)</PresentationFormat>
  <Paragraphs>300</Paragraphs>
  <Slides>37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AkayaTelivigala</vt:lpstr>
      <vt:lpstr>Arial</vt:lpstr>
      <vt:lpstr>Bradley Hand</vt:lpstr>
      <vt:lpstr>Calibri</vt:lpstr>
      <vt:lpstr>Google Sans</vt:lpstr>
      <vt:lpstr>Helvetica Neue</vt:lpstr>
      <vt:lpstr>Roboto</vt:lpstr>
      <vt:lpstr>Office Theme</vt:lpstr>
      <vt:lpstr>ML Specials kNN – k nearest neighbors</vt:lpstr>
      <vt:lpstr>Проверить, идет ли запись</vt:lpstr>
      <vt:lpstr>ML Special kNN – k nearest neighbors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Задача классификации</vt:lpstr>
      <vt:lpstr>Задача классификации</vt:lpstr>
      <vt:lpstr>Задача классификации</vt:lpstr>
      <vt:lpstr>Алгоритм kNN</vt:lpstr>
      <vt:lpstr>Алгоритм kNN (K-Nearest Neighbors)</vt:lpstr>
      <vt:lpstr>Алгоритм kNN</vt:lpstr>
      <vt:lpstr>Практика</vt:lpstr>
      <vt:lpstr>Специализация Machine Learning</vt:lpstr>
      <vt:lpstr>О курсе ML Basic</vt:lpstr>
      <vt:lpstr>Команда курса</vt:lpstr>
      <vt:lpstr>Команда курса</vt:lpstr>
      <vt:lpstr>Команда курса</vt:lpstr>
      <vt:lpstr>Команда курса</vt:lpstr>
      <vt:lpstr>Карта курса ML Basic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Результат</vt:lpstr>
      <vt:lpstr>Как будем учиться?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159</cp:revision>
  <dcterms:created xsi:type="dcterms:W3CDTF">2023-10-10T14:19:39Z</dcterms:created>
  <dcterms:modified xsi:type="dcterms:W3CDTF">2025-09-23T10:44:22Z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