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  <p:sldMasterId id="2147483692" r:id="rId2"/>
  </p:sldMasterIdLst>
  <p:notesMasterIdLst>
    <p:notesMasterId r:id="rId40"/>
  </p:notesMasterIdLst>
  <p:sldIdLst>
    <p:sldId id="256" r:id="rId3"/>
    <p:sldId id="257" r:id="rId4"/>
    <p:sldId id="259" r:id="rId5"/>
    <p:sldId id="404" r:id="rId6"/>
    <p:sldId id="489" r:id="rId7"/>
    <p:sldId id="374" r:id="rId8"/>
    <p:sldId id="263" r:id="rId9"/>
    <p:sldId id="264" r:id="rId10"/>
    <p:sldId id="311" r:id="rId11"/>
    <p:sldId id="267" r:id="rId12"/>
    <p:sldId id="344" r:id="rId13"/>
    <p:sldId id="375" r:id="rId14"/>
    <p:sldId id="372" r:id="rId15"/>
    <p:sldId id="378" r:id="rId16"/>
    <p:sldId id="393" r:id="rId17"/>
    <p:sldId id="394" r:id="rId18"/>
    <p:sldId id="395" r:id="rId19"/>
    <p:sldId id="403" r:id="rId20"/>
    <p:sldId id="339" r:id="rId21"/>
    <p:sldId id="389" r:id="rId22"/>
    <p:sldId id="390" r:id="rId23"/>
    <p:sldId id="351" r:id="rId24"/>
    <p:sldId id="352" r:id="rId25"/>
    <p:sldId id="353" r:id="rId26"/>
    <p:sldId id="354" r:id="rId27"/>
    <p:sldId id="392" r:id="rId28"/>
    <p:sldId id="377" r:id="rId29"/>
    <p:sldId id="350" r:id="rId30"/>
    <p:sldId id="379" r:id="rId31"/>
    <p:sldId id="490" r:id="rId32"/>
    <p:sldId id="278" r:id="rId33"/>
    <p:sldId id="279" r:id="rId34"/>
    <p:sldId id="281" r:id="rId35"/>
    <p:sldId id="282" r:id="rId36"/>
    <p:sldId id="345" r:id="rId37"/>
    <p:sldId id="289" r:id="rId38"/>
    <p:sldId id="337" r:id="rId39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41"/>
    </p:embeddedFont>
    <p:embeddedFont>
      <p:font typeface="Helvetica Neue" panose="02000503000000020004" pitchFamily="2" charset="0"/>
      <p:regular r:id="rId42"/>
      <p:bold r:id="rId43"/>
      <p:italic r:id="rId44"/>
      <p:boldItalic r:id="rId45"/>
    </p:embeddedFont>
    <p:embeddedFont>
      <p:font typeface="PTSerif" panose="020A0603040505020204" pitchFamily="18" charset="77"/>
      <p:bold r:id="rId46"/>
      <p:italic r:id="rId47"/>
      <p:boldItalic r:id="rId48"/>
    </p:embeddedFont>
    <p:embeddedFont>
      <p:font typeface="Roboto" panose="02000000000000000000" pitchFamily="2" charset="0"/>
      <p:regular r:id="rId49"/>
      <p:bold r:id="rId50"/>
      <p:italic r:id="rId51"/>
      <p:boldItalic r:id="rId5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23574C-9AE7-4070-A081-93A97D88BCA6}">
  <a:tblStyle styleId="{B623574C-9AE7-4070-A081-93A97D88BC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216"/>
    <p:restoredTop sz="97146"/>
  </p:normalViewPr>
  <p:slideViewPr>
    <p:cSldViewPr snapToGrid="0">
      <p:cViewPr varScale="1">
        <p:scale>
          <a:sx n="179" d="100"/>
          <a:sy n="179" d="100"/>
        </p:scale>
        <p:origin x="216" y="248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font" Target="fonts/font2.fntdata"/><Relationship Id="rId47" Type="http://schemas.openxmlformats.org/officeDocument/2006/relationships/font" Target="fonts/font7.fntdata"/><Relationship Id="rId50" Type="http://schemas.openxmlformats.org/officeDocument/2006/relationships/font" Target="fonts/font10.fntdata"/><Relationship Id="rId55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5" Type="http://schemas.openxmlformats.org/officeDocument/2006/relationships/font" Target="fonts/font5.fntdata"/><Relationship Id="rId53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font" Target="fonts/font4.fntdata"/><Relationship Id="rId52" Type="http://schemas.openxmlformats.org/officeDocument/2006/relationships/font" Target="fonts/font12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font" Target="fonts/font3.fntdata"/><Relationship Id="rId48" Type="http://schemas.openxmlformats.org/officeDocument/2006/relationships/font" Target="fonts/font8.fntdata"/><Relationship Id="rId56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font" Target="fonts/font11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6.fntdata"/><Relationship Id="rId20" Type="http://schemas.openxmlformats.org/officeDocument/2006/relationships/slide" Target="slides/slide18.xml"/><Relationship Id="rId41" Type="http://schemas.openxmlformats.org/officeDocument/2006/relationships/font" Target="fonts/font1.fntdata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5" name="Google Shape;17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005733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1098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87435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939853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025015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67424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303319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95456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644634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1331098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9420151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9630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170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41618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015690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gdf29b9fb24_0_1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2" name="Google Shape;382;gdf29b9fb24_0_1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df29b9fb24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" name="Google Shape;387;gdf29b9fb24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8a1909ca36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8a1909ca36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875811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04b8b6756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04b8b6756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5" name="Google Shape;135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41" name="Google Shape;141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3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3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3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3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151" name="Google Shape;151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3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3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3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60" name="Google Shape;160;p3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61" name="Google Shape;161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62" name="Google Shape;162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4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4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4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4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4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4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4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10" Type="http://schemas.openxmlformats.org/officeDocument/2006/relationships/image" Target="../media/image25.png"/><Relationship Id="rId4" Type="http://schemas.openxmlformats.org/officeDocument/2006/relationships/image" Target="../media/image19.png"/><Relationship Id="rId9" Type="http://schemas.openxmlformats.org/officeDocument/2006/relationships/image" Target="../media/image24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80.png"/><Relationship Id="rId4" Type="http://schemas.openxmlformats.org/officeDocument/2006/relationships/image" Target="../media/image23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2.sv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XX-syZhN4WU&amp;list=PLthfp5exSWEpvTiIPJP56JkHWZlqIbkBJ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hyperlink" Target="https://habr.com/ru/articles/349800/" TargetMode="External"/><Relationship Id="rId3" Type="http://schemas.openxmlformats.org/officeDocument/2006/relationships/hyperlink" Target="https://towardsdatascience.com/proximal-policy-optimization-ppo-explained-abed1952457b" TargetMode="External"/><Relationship Id="rId7" Type="http://schemas.openxmlformats.org/officeDocument/2006/relationships/hyperlink" Target="https://t.me/c/1530284868/2747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Relationship Id="rId6" Type="http://schemas.openxmlformats.org/officeDocument/2006/relationships/hyperlink" Target="https://github.com/aikorea/awesome-rl" TargetMode="External"/><Relationship Id="rId11" Type="http://schemas.openxmlformats.org/officeDocument/2006/relationships/hyperlink" Target="https://habr.com/ru/companies/vk/articles/343008/" TargetMode="External"/><Relationship Id="rId5" Type="http://schemas.openxmlformats.org/officeDocument/2006/relationships/hyperlink" Target="https://towardsdatascience.com/reinforcement-learning-frameworks-e349de4f645a" TargetMode="External"/><Relationship Id="rId10" Type="http://schemas.openxmlformats.org/officeDocument/2006/relationships/hyperlink" Target="https://habr.com/ru/companies/skillfactory/articles/717360/" TargetMode="External"/><Relationship Id="rId4" Type="http://schemas.openxmlformats.org/officeDocument/2006/relationships/hyperlink" Target="https://pytorch.org/rl/tutorials/coding_ppo.html" TargetMode="External"/><Relationship Id="rId9" Type="http://schemas.openxmlformats.org/officeDocument/2006/relationships/hyperlink" Target="https://habr.com/ru/articles/437020/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9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www.linkedin.com/in/igor-stureiko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3600" dirty="0"/>
              <a:t>Policy Gradient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Advanced</a:t>
            </a:r>
            <a:br>
              <a:rPr lang="en-US" dirty="0"/>
            </a:br>
            <a:r>
              <a:rPr lang="en-US" dirty="0"/>
              <a:t>Policy Gradient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30615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75B6C0B-391F-E646-B875-92F9CA29F5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0" name="Google Shape;209;p48">
            <a:extLst>
              <a:ext uri="{FF2B5EF4-FFF2-40B4-BE49-F238E27FC236}">
                <a16:creationId xmlns:a16="http://schemas.microsoft.com/office/drawing/2014/main" id="{FCC69E03-9DBF-494A-9B34-980047DF6F9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 dirty="0"/>
              <a:t>Карта курса</a:t>
            </a:r>
            <a:endParaRPr dirty="0"/>
          </a:p>
        </p:txBody>
      </p:sp>
      <p:sp>
        <p:nvSpPr>
          <p:cNvPr id="179" name="Google Shape;179;p34"/>
          <p:cNvSpPr/>
          <p:nvPr/>
        </p:nvSpPr>
        <p:spPr>
          <a:xfrm>
            <a:off x="3042000" y="76997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1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Временные ряды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0" name="Google Shape;180;p34"/>
          <p:cNvSpPr/>
          <p:nvPr/>
        </p:nvSpPr>
        <p:spPr>
          <a:xfrm>
            <a:off x="65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2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Рекомендательные системы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1" name="Google Shape;181;p34"/>
          <p:cNvSpPr/>
          <p:nvPr/>
        </p:nvSpPr>
        <p:spPr>
          <a:xfrm>
            <a:off x="524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4</a:t>
            </a:r>
            <a:r>
              <a:rPr lang="en-US" sz="1600">
                <a:solidFill>
                  <a:srgbClr val="1F1F1F"/>
                </a:solidFill>
                <a:latin typeface="Google Sans"/>
                <a:sym typeface="Roboto"/>
              </a:rPr>
              <a:t>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Обучение с подкреплением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182" name="Google Shape;182;p34"/>
          <p:cNvSpPr/>
          <p:nvPr/>
        </p:nvSpPr>
        <p:spPr>
          <a:xfrm>
            <a:off x="5244005" y="1664080"/>
            <a:ext cx="3060000" cy="579300"/>
          </a:xfrm>
          <a:prstGeom prst="roundRect">
            <a:avLst>
              <a:gd name="adj" fmla="val 16667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3. </a:t>
            </a:r>
            <a:r>
              <a:rPr lang="ru-RU" sz="1600" dirty="0">
                <a:solidFill>
                  <a:srgbClr val="1F1F1F"/>
                </a:solidFill>
                <a:latin typeface="Google Sans"/>
                <a:sym typeface="Roboto"/>
              </a:rPr>
              <a:t>Байесовские модели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3" name="Google Shape;183;p34"/>
          <p:cNvCxnSpPr>
            <a:cxnSpLocks/>
            <a:stCxn id="179" idx="1"/>
            <a:endCxn id="180" idx="0"/>
          </p:cNvCxnSpPr>
          <p:nvPr/>
        </p:nvCxnSpPr>
        <p:spPr>
          <a:xfrm rot="10800000" flipV="1">
            <a:off x="2184006" y="1059620"/>
            <a:ext cx="857995" cy="604460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5" name="Google Shape;185;p34"/>
          <p:cNvSpPr/>
          <p:nvPr/>
        </p:nvSpPr>
        <p:spPr>
          <a:xfrm>
            <a:off x="654005" y="2511737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5. Production</a:t>
            </a:r>
            <a:endParaRPr lang="ru-RU"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186" name="Google Shape;186;p34"/>
          <p:cNvCxnSpPr>
            <a:cxnSpLocks/>
            <a:stCxn id="180" idx="3"/>
            <a:endCxn id="182" idx="1"/>
          </p:cNvCxnSpPr>
          <p:nvPr/>
        </p:nvCxnSpPr>
        <p:spPr>
          <a:xfrm>
            <a:off x="3714005" y="1953730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7" name="Google Shape;187;p34"/>
          <p:cNvCxnSpPr>
            <a:cxnSpLocks/>
            <a:stCxn id="182" idx="3"/>
            <a:endCxn id="181" idx="3"/>
          </p:cNvCxnSpPr>
          <p:nvPr/>
        </p:nvCxnSpPr>
        <p:spPr>
          <a:xfrm>
            <a:off x="8304005" y="1953730"/>
            <a:ext cx="12700" cy="847657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cxnSp>
        <p:nvCxnSpPr>
          <p:cNvPr id="188" name="Google Shape;188;p34"/>
          <p:cNvCxnSpPr>
            <a:cxnSpLocks/>
            <a:stCxn id="181" idx="1"/>
            <a:endCxn id="185" idx="3"/>
          </p:cNvCxnSpPr>
          <p:nvPr/>
        </p:nvCxnSpPr>
        <p:spPr>
          <a:xfrm rot="10800000">
            <a:off x="3714005" y="2801387"/>
            <a:ext cx="1530000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</p:cxnSp>
      <p:sp>
        <p:nvSpPr>
          <p:cNvPr id="189" name="Google Shape;189;p34"/>
          <p:cNvSpPr/>
          <p:nvPr/>
        </p:nvSpPr>
        <p:spPr>
          <a:xfrm>
            <a:off x="654005" y="336581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/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/>
            <a:r>
              <a:rPr lang="en-US" sz="1600" dirty="0">
                <a:solidFill>
                  <a:srgbClr val="1F1F1F"/>
                </a:solidFill>
                <a:latin typeface="Google Sans"/>
                <a:sym typeface="Roboto"/>
              </a:rPr>
              <a:t>6. </a:t>
            </a:r>
            <a:r>
              <a:rPr lang="en-US" sz="1600" dirty="0" err="1">
                <a:solidFill>
                  <a:srgbClr val="1F1F1F"/>
                </a:solidFill>
                <a:latin typeface="Google Sans"/>
                <a:sym typeface="Roboto"/>
              </a:rPr>
              <a:t>AutoML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34" name="Google Shape;189;p34">
            <a:extLst>
              <a:ext uri="{FF2B5EF4-FFF2-40B4-BE49-F238E27FC236}">
                <a16:creationId xmlns:a16="http://schemas.microsoft.com/office/drawing/2014/main" id="{1205F190-94C2-4A4C-B9ED-91A1F73E4D34}"/>
              </a:ext>
            </a:extLst>
          </p:cNvPr>
          <p:cNvSpPr/>
          <p:nvPr/>
        </p:nvSpPr>
        <p:spPr>
          <a:xfrm>
            <a:off x="3042000" y="4234765"/>
            <a:ext cx="30600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4320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8. 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Курсовой проект</a:t>
            </a:r>
            <a:endParaRPr sz="1300" b="0" i="0" u="none" strike="noStrike" cap="none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5" name="Google Shape;188;p34">
            <a:extLst>
              <a:ext uri="{FF2B5EF4-FFF2-40B4-BE49-F238E27FC236}">
                <a16:creationId xmlns:a16="http://schemas.microsoft.com/office/drawing/2014/main" id="{EB8517B5-119A-7442-825D-C15261576413}"/>
              </a:ext>
            </a:extLst>
          </p:cNvPr>
          <p:cNvCxnSpPr>
            <a:cxnSpLocks/>
            <a:stCxn id="189" idx="1"/>
            <a:endCxn id="185" idx="1"/>
          </p:cNvCxnSpPr>
          <p:nvPr/>
        </p:nvCxnSpPr>
        <p:spPr>
          <a:xfrm rot="10800000">
            <a:off x="654005" y="2801387"/>
            <a:ext cx="12700" cy="854078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cxnSp>
        <p:nvCxnSpPr>
          <p:cNvPr id="38" name="Google Shape;188;p34">
            <a:extLst>
              <a:ext uri="{FF2B5EF4-FFF2-40B4-BE49-F238E27FC236}">
                <a16:creationId xmlns:a16="http://schemas.microsoft.com/office/drawing/2014/main" id="{F7B38074-28CA-DC44-8191-7A278B3DB050}"/>
              </a:ext>
            </a:extLst>
          </p:cNvPr>
          <p:cNvCxnSpPr>
            <a:cxnSpLocks/>
            <a:stCxn id="34" idx="0"/>
            <a:endCxn id="189" idx="3"/>
          </p:cNvCxnSpPr>
          <p:nvPr/>
        </p:nvCxnSpPr>
        <p:spPr>
          <a:xfrm rot="16200000" flipV="1">
            <a:off x="3853353" y="3516117"/>
            <a:ext cx="579300" cy="857995"/>
          </a:xfrm>
          <a:prstGeom prst="curvedConnector2">
            <a:avLst/>
          </a:prstGeom>
          <a:noFill/>
          <a:ln w="9525" cap="flat" cmpd="sng">
            <a:solidFill>
              <a:schemeClr val="dk1"/>
            </a:solidFill>
            <a:prstDash val="dash"/>
            <a:round/>
            <a:headEnd type="arrow" w="med" len="med"/>
            <a:tailEnd type="none" w="med" len="med"/>
          </a:ln>
        </p:spPr>
      </p:cxnSp>
      <p:pic>
        <p:nvPicPr>
          <p:cNvPr id="33" name="Google Shape;530;p82">
            <a:extLst>
              <a:ext uri="{FF2B5EF4-FFF2-40B4-BE49-F238E27FC236}">
                <a16:creationId xmlns:a16="http://schemas.microsoft.com/office/drawing/2014/main" id="{3D6F8E5B-8E72-9642-AA4C-A3D19C97E5E5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120894" y="1338234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0447CBAF-C51E-AF4A-9C35-3B92661ED5B4}"/>
              </a:ext>
            </a:extLst>
          </p:cNvPr>
          <p:cNvSpPr txBox="1"/>
          <p:nvPr/>
        </p:nvSpPr>
        <p:spPr>
          <a:xfrm>
            <a:off x="5367116" y="1338235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37" name="Google Shape;530;p82">
            <a:extLst>
              <a:ext uri="{FF2B5EF4-FFF2-40B4-BE49-F238E27FC236}">
                <a16:creationId xmlns:a16="http://schemas.microsoft.com/office/drawing/2014/main" id="{1A85A128-207E-674E-8856-DD7B530737C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95778" y="2238233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55E1EFF6-15B2-384F-BCB0-C1C52F4D548B}"/>
              </a:ext>
            </a:extLst>
          </p:cNvPr>
          <p:cNvSpPr txBox="1"/>
          <p:nvPr/>
        </p:nvSpPr>
        <p:spPr>
          <a:xfrm>
            <a:off x="3042000" y="2238234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0" name="Google Shape;530;p82">
            <a:extLst>
              <a:ext uri="{FF2B5EF4-FFF2-40B4-BE49-F238E27FC236}">
                <a16:creationId xmlns:a16="http://schemas.microsoft.com/office/drawing/2014/main" id="{5CFAE274-29AE-C64A-BF63-F1789CC1D217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2232180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495D51D4-1014-904E-B98B-1180866B6EA9}"/>
              </a:ext>
            </a:extLst>
          </p:cNvPr>
          <p:cNvSpPr txBox="1"/>
          <p:nvPr/>
        </p:nvSpPr>
        <p:spPr>
          <a:xfrm>
            <a:off x="7555206" y="2232181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3" name="Google Shape;530;p82">
            <a:extLst>
              <a:ext uri="{FF2B5EF4-FFF2-40B4-BE49-F238E27FC236}">
                <a16:creationId xmlns:a16="http://schemas.microsoft.com/office/drawing/2014/main" id="{6016A700-1ED8-3F49-9B85-B41B9D0E7D4E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7308984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4DB3247B-A3F0-8046-BAAC-3C02B58CC273}"/>
              </a:ext>
            </a:extLst>
          </p:cNvPr>
          <p:cNvSpPr txBox="1"/>
          <p:nvPr/>
        </p:nvSpPr>
        <p:spPr>
          <a:xfrm>
            <a:off x="7555206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5" name="Google Shape;530;p82">
            <a:extLst>
              <a:ext uri="{FF2B5EF4-FFF2-40B4-BE49-F238E27FC236}">
                <a16:creationId xmlns:a16="http://schemas.microsoft.com/office/drawing/2014/main" id="{4772A2BC-247A-A74E-9DD6-82B153D02F21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091037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D7CD912-58CB-7049-A55E-A067EF213E43}"/>
              </a:ext>
            </a:extLst>
          </p:cNvPr>
          <p:cNvSpPr txBox="1"/>
          <p:nvPr/>
        </p:nvSpPr>
        <p:spPr>
          <a:xfrm>
            <a:off x="2993635" y="3091038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47" name="Google Shape;530;p82">
            <a:extLst>
              <a:ext uri="{FF2B5EF4-FFF2-40B4-BE49-F238E27FC236}">
                <a16:creationId xmlns:a16="http://schemas.microsoft.com/office/drawing/2014/main" id="{C44CB1B9-3F0C-B640-9B91-7E329BDB5ABD}"/>
              </a:ext>
            </a:extLst>
          </p:cNvPr>
          <p:cNvPicPr preferRelativeResize="0">
            <a:picLocks noChangeAspect="1"/>
          </p:cNvPicPr>
          <p:nvPr/>
        </p:nvPicPr>
        <p:blipFill rotWithShape="1">
          <a:blip r:embed="rId3">
            <a:alphaModFix/>
            <a:duotone>
              <a:schemeClr val="accent5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2747413" y="3945115"/>
            <a:ext cx="246222" cy="246221"/>
          </a:xfrm>
          <a:prstGeom prst="rect">
            <a:avLst/>
          </a:prstGeom>
          <a:noFill/>
          <a:ln>
            <a:noFill/>
          </a:ln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6F2CEF8E-768B-2A42-AE60-B91443CA1636}"/>
              </a:ext>
            </a:extLst>
          </p:cNvPr>
          <p:cNvSpPr txBox="1"/>
          <p:nvPr/>
        </p:nvSpPr>
        <p:spPr>
          <a:xfrm>
            <a:off x="2993635" y="3945116"/>
            <a:ext cx="76495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 err="1">
                <a:latin typeface="Apple Chancery" panose="03020702040506060504" pitchFamily="66" charset="-79"/>
                <a:cs typeface="Apple Chancery" panose="03020702040506060504" pitchFamily="66" charset="-79"/>
              </a:rPr>
              <a:t>HomeTask</a:t>
            </a:r>
            <a:endParaRPr lang="en-US" sz="1000" dirty="0">
              <a:latin typeface="Apple Chancery" panose="03020702040506060504" pitchFamily="66" charset="-79"/>
              <a:cs typeface="Apple Chancery" panose="03020702040506060504" pitchFamily="66" charset="-79"/>
            </a:endParaRPr>
          </a:p>
        </p:txBody>
      </p:sp>
      <p:pic>
        <p:nvPicPr>
          <p:cNvPr id="51" name="Google Shape;225;p40">
            <a:extLst>
              <a:ext uri="{FF2B5EF4-FFF2-40B4-BE49-F238E27FC236}">
                <a16:creationId xmlns:a16="http://schemas.microsoft.com/office/drawing/2014/main" id="{144C3652-C501-1346-B7AB-83586BA2F636}"/>
              </a:ext>
            </a:extLst>
          </p:cNvPr>
          <p:cNvPicPr preferRelativeResize="0"/>
          <p:nvPr/>
        </p:nvPicPr>
        <p:blipFill>
          <a:blip r:embed="rId4"/>
          <a:srcRect l="25894" r="25894"/>
          <a:stretch/>
        </p:blipFill>
        <p:spPr>
          <a:xfrm>
            <a:off x="5391295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2" name="Google Shape;225;p40">
            <a:extLst>
              <a:ext uri="{FF2B5EF4-FFF2-40B4-BE49-F238E27FC236}">
                <a16:creationId xmlns:a16="http://schemas.microsoft.com/office/drawing/2014/main" id="{2E53F201-6B1A-E248-8C85-AE31C0183E3A}"/>
              </a:ext>
            </a:extLst>
          </p:cNvPr>
          <p:cNvPicPr preferRelativeResize="0"/>
          <p:nvPr/>
        </p:nvPicPr>
        <p:blipFill>
          <a:blip r:embed="rId5"/>
          <a:srcRect t="2849" b="2849"/>
          <a:stretch/>
        </p:blipFill>
        <p:spPr>
          <a:xfrm>
            <a:off x="785983" y="3442011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4" name="Google Shape;225;p40">
            <a:extLst>
              <a:ext uri="{FF2B5EF4-FFF2-40B4-BE49-F238E27FC236}">
                <a16:creationId xmlns:a16="http://schemas.microsoft.com/office/drawing/2014/main" id="{9503C9EF-9A4D-F741-957E-D9787DBAAD39}"/>
              </a:ext>
            </a:extLst>
          </p:cNvPr>
          <p:cNvPicPr preferRelativeResize="0"/>
          <p:nvPr/>
        </p:nvPicPr>
        <p:blipFill>
          <a:blip r:embed="rId6"/>
          <a:srcRect t="2849" b="2849"/>
          <a:stretch/>
        </p:blipFill>
        <p:spPr>
          <a:xfrm>
            <a:off x="5391295" y="1762079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6" name="Google Shape;225;p40">
            <a:extLst>
              <a:ext uri="{FF2B5EF4-FFF2-40B4-BE49-F238E27FC236}">
                <a16:creationId xmlns:a16="http://schemas.microsoft.com/office/drawing/2014/main" id="{961AE516-CE39-C146-B04E-6F9CCFC749A3}"/>
              </a:ext>
            </a:extLst>
          </p:cNvPr>
          <p:cNvPicPr preferRelativeResize="0"/>
          <p:nvPr/>
        </p:nvPicPr>
        <p:blipFill>
          <a:blip r:embed="rId7"/>
          <a:srcRect t="2849" b="2849"/>
          <a:stretch/>
        </p:blipFill>
        <p:spPr>
          <a:xfrm>
            <a:off x="813996" y="2616086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7" name="Google Shape;225;p40">
            <a:extLst>
              <a:ext uri="{FF2B5EF4-FFF2-40B4-BE49-F238E27FC236}">
                <a16:creationId xmlns:a16="http://schemas.microsoft.com/office/drawing/2014/main" id="{AF4E17D5-3459-B545-8950-6FD1DC61D95F}"/>
              </a:ext>
            </a:extLst>
          </p:cNvPr>
          <p:cNvPicPr preferRelativeResize="0"/>
          <p:nvPr/>
        </p:nvPicPr>
        <p:blipFill>
          <a:blip r:embed="rId8"/>
          <a:srcRect t="2849" b="2849"/>
          <a:stretch/>
        </p:blipFill>
        <p:spPr>
          <a:xfrm>
            <a:off x="721353" y="1753190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8" name="Google Shape;225;p40">
            <a:extLst>
              <a:ext uri="{FF2B5EF4-FFF2-40B4-BE49-F238E27FC236}">
                <a16:creationId xmlns:a16="http://schemas.microsoft.com/office/drawing/2014/main" id="{5D9B9C18-2AFF-6F45-91A9-E24FAB89A0AE}"/>
              </a:ext>
            </a:extLst>
          </p:cNvPr>
          <p:cNvPicPr preferRelativeResize="0"/>
          <p:nvPr/>
        </p:nvPicPr>
        <p:blipFill>
          <a:blip r:embed="rId9"/>
          <a:srcRect t="2849" b="2849"/>
          <a:stretch/>
        </p:blipFill>
        <p:spPr>
          <a:xfrm>
            <a:off x="3165384" y="4326414"/>
            <a:ext cx="419930" cy="396001"/>
          </a:xfrm>
          <a:prstGeom prst="ellipse">
            <a:avLst/>
          </a:prstGeom>
          <a:noFill/>
          <a:ln>
            <a:noFill/>
          </a:ln>
        </p:spPr>
      </p:pic>
      <p:pic>
        <p:nvPicPr>
          <p:cNvPr id="59" name="Google Shape;225;p40">
            <a:extLst>
              <a:ext uri="{FF2B5EF4-FFF2-40B4-BE49-F238E27FC236}">
                <a16:creationId xmlns:a16="http://schemas.microsoft.com/office/drawing/2014/main" id="{674F9C88-1D52-6442-B3F1-E2F6FDE24436}"/>
              </a:ext>
            </a:extLst>
          </p:cNvPr>
          <p:cNvPicPr preferRelativeResize="0"/>
          <p:nvPr/>
        </p:nvPicPr>
        <p:blipFill>
          <a:blip r:embed="rId10"/>
          <a:srcRect l="6697" r="6697"/>
          <a:stretch/>
        </p:blipFill>
        <p:spPr>
          <a:xfrm>
            <a:off x="3165384" y="861619"/>
            <a:ext cx="419930" cy="396001"/>
          </a:xfrm>
          <a:prstGeom prst="ellipse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22922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Маршрут вебинара</a:t>
            </a:r>
            <a:endParaRPr dirty="0"/>
          </a:p>
        </p:txBody>
      </p:sp>
      <p:sp>
        <p:nvSpPr>
          <p:cNvPr id="267" name="Google Shape;267;p52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52"/>
          <p:cNvSpPr/>
          <p:nvPr/>
        </p:nvSpPr>
        <p:spPr>
          <a:xfrm>
            <a:off x="787125" y="1754798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Постановка задачи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0" name="Google Shape;270;p52"/>
          <p:cNvSpPr/>
          <p:nvPr/>
        </p:nvSpPr>
        <p:spPr>
          <a:xfrm>
            <a:off x="787125" y="2304071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Policy Gradient theorem</a:t>
            </a:r>
            <a:endParaRPr sz="1300" dirty="0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1" name="Google Shape;271;p52"/>
          <p:cNvSpPr/>
          <p:nvPr/>
        </p:nvSpPr>
        <p:spPr>
          <a:xfrm>
            <a:off x="799825" y="340261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Улучшения алгоритма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2" name="Google Shape;272;p52"/>
          <p:cNvSpPr/>
          <p:nvPr/>
        </p:nvSpPr>
        <p:spPr>
          <a:xfrm>
            <a:off x="774940" y="285334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Алгоритм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REINFORCE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4" name="Google Shape;274;p52"/>
          <p:cNvCxnSpPr>
            <a:cxnSpLocks/>
            <a:stCxn id="267" idx="1"/>
            <a:endCxn id="269" idx="1"/>
          </p:cNvCxnSpPr>
          <p:nvPr/>
        </p:nvCxnSpPr>
        <p:spPr>
          <a:xfrm rot="10800000" flipH="1" flipV="1">
            <a:off x="786525" y="1393624"/>
            <a:ext cx="600" cy="549273"/>
          </a:xfrm>
          <a:prstGeom prst="curvedConnector3">
            <a:avLst>
              <a:gd name="adj1" fmla="val -381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5" name="Google Shape;275;p52"/>
          <p:cNvCxnSpPr>
            <a:stCxn id="269" idx="1"/>
            <a:endCxn id="270" idx="1"/>
          </p:cNvCxnSpPr>
          <p:nvPr/>
        </p:nvCxnSpPr>
        <p:spPr>
          <a:xfrm rot="10800000" flipV="1">
            <a:off x="787125" y="1942897"/>
            <a:ext cx="12700" cy="549273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6" name="Google Shape;276;p52"/>
          <p:cNvCxnSpPr>
            <a:cxnSpLocks/>
            <a:stCxn id="270" idx="1"/>
            <a:endCxn id="272" idx="1"/>
          </p:cNvCxnSpPr>
          <p:nvPr/>
        </p:nvCxnSpPr>
        <p:spPr>
          <a:xfrm rot="10800000" flipV="1">
            <a:off x="774941" y="2492170"/>
            <a:ext cx="12185" cy="549273"/>
          </a:xfrm>
          <a:prstGeom prst="curvedConnector3">
            <a:avLst>
              <a:gd name="adj1" fmla="val 1976077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sp>
        <p:nvSpPr>
          <p:cNvPr id="28" name="Google Shape;272;p52">
            <a:extLst>
              <a:ext uri="{FF2B5EF4-FFF2-40B4-BE49-F238E27FC236}">
                <a16:creationId xmlns:a16="http://schemas.microsoft.com/office/drawing/2014/main" id="{D431EAF1-5808-7F4D-8FC1-9FBBFE2350DA}"/>
              </a:ext>
            </a:extLst>
          </p:cNvPr>
          <p:cNvSpPr/>
          <p:nvPr/>
        </p:nvSpPr>
        <p:spPr>
          <a:xfrm>
            <a:off x="799825" y="395189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Группа алгоритмов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PG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" name="Google Shape;277;p52">
            <a:extLst>
              <a:ext uri="{FF2B5EF4-FFF2-40B4-BE49-F238E27FC236}">
                <a16:creationId xmlns:a16="http://schemas.microsoft.com/office/drawing/2014/main" id="{DC4A3018-ECE4-2B44-A92A-BC0573E577C3}"/>
              </a:ext>
            </a:extLst>
          </p:cNvPr>
          <p:cNvCxnSpPr>
            <a:cxnSpLocks/>
            <a:stCxn id="272" idx="1"/>
            <a:endCxn id="271" idx="1"/>
          </p:cNvCxnSpPr>
          <p:nvPr/>
        </p:nvCxnSpPr>
        <p:spPr>
          <a:xfrm rot="10800000" flipH="1" flipV="1">
            <a:off x="774939" y="3041443"/>
            <a:ext cx="24885" cy="549273"/>
          </a:xfrm>
          <a:prstGeom prst="curvedConnector3">
            <a:avLst>
              <a:gd name="adj1" fmla="val -918626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30" name="Google Shape;277;p52">
            <a:extLst>
              <a:ext uri="{FF2B5EF4-FFF2-40B4-BE49-F238E27FC236}">
                <a16:creationId xmlns:a16="http://schemas.microsoft.com/office/drawing/2014/main" id="{F7CCCBE8-639F-B943-8316-3A7DD2F0B684}"/>
              </a:ext>
            </a:extLst>
          </p:cNvPr>
          <p:cNvCxnSpPr>
            <a:cxnSpLocks/>
            <a:stCxn id="271" idx="1"/>
            <a:endCxn id="28" idx="1"/>
          </p:cNvCxnSpPr>
          <p:nvPr/>
        </p:nvCxnSpPr>
        <p:spPr>
          <a:xfrm rot="10800000" flipV="1">
            <a:off x="799825" y="3590716"/>
            <a:ext cx="12700" cy="549273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C04FD1A-DAFB-984D-AA84-699B408ECC16}"/>
              </a:ext>
            </a:extLst>
          </p:cNvPr>
          <p:cNvGrpSpPr/>
          <p:nvPr/>
        </p:nvGrpSpPr>
        <p:grpSpPr>
          <a:xfrm>
            <a:off x="5362873" y="598538"/>
            <a:ext cx="3139518" cy="4011545"/>
            <a:chOff x="5362873" y="598538"/>
            <a:chExt cx="3139518" cy="4011545"/>
          </a:xfrm>
        </p:grpSpPr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44B58BFF-5376-8241-BE03-81F21602E05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51890"/>
            <a:stretch/>
          </p:blipFill>
          <p:spPr>
            <a:xfrm>
              <a:off x="5362873" y="598538"/>
              <a:ext cx="3054665" cy="2156936"/>
            </a:xfrm>
            <a:prstGeom prst="rect">
              <a:avLst/>
            </a:prstGeom>
          </p:spPr>
        </p:pic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5DCFFC0-4300-3648-B859-55853B0256D4}"/>
                </a:ext>
              </a:extLst>
            </p:cNvPr>
            <p:cNvSpPr/>
            <p:nvPr/>
          </p:nvSpPr>
          <p:spPr>
            <a:xfrm>
              <a:off x="5389792" y="598538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AB71E481-D0AE-1B45-B217-D6E6D62651C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48078"/>
            <a:stretch/>
          </p:blipFill>
          <p:spPr>
            <a:xfrm>
              <a:off x="5917445" y="2846057"/>
              <a:ext cx="2500093" cy="1764026"/>
            </a:xfrm>
            <a:prstGeom prst="rect">
              <a:avLst/>
            </a:prstGeom>
          </p:spPr>
        </p:pic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AD1C180-95FC-2843-841A-8EDC89253312}"/>
                </a:ext>
              </a:extLst>
            </p:cNvPr>
            <p:cNvSpPr/>
            <p:nvPr/>
          </p:nvSpPr>
          <p:spPr>
            <a:xfrm>
              <a:off x="8126645" y="2828340"/>
              <a:ext cx="375746" cy="34366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Google Shape;272;p52">
            <a:extLst>
              <a:ext uri="{FF2B5EF4-FFF2-40B4-BE49-F238E27FC236}">
                <a16:creationId xmlns:a16="http://schemas.microsoft.com/office/drawing/2014/main" id="{EB638302-8148-1141-A5F7-CDDDBECF8033}"/>
              </a:ext>
            </a:extLst>
          </p:cNvPr>
          <p:cNvSpPr/>
          <p:nvPr/>
        </p:nvSpPr>
        <p:spPr>
          <a:xfrm>
            <a:off x="812525" y="4501166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Алгоритм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PPO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" name="Google Shape;277;p52">
            <a:extLst>
              <a:ext uri="{FF2B5EF4-FFF2-40B4-BE49-F238E27FC236}">
                <a16:creationId xmlns:a16="http://schemas.microsoft.com/office/drawing/2014/main" id="{3DD17CD1-DA30-5F4C-B7B6-780F8F6A150F}"/>
              </a:ext>
            </a:extLst>
          </p:cNvPr>
          <p:cNvCxnSpPr>
            <a:cxnSpLocks/>
            <a:stCxn id="28" idx="1"/>
            <a:endCxn id="23" idx="1"/>
          </p:cNvCxnSpPr>
          <p:nvPr/>
        </p:nvCxnSpPr>
        <p:spPr>
          <a:xfrm rot="10800000" flipH="1" flipV="1">
            <a:off x="799825" y="4139990"/>
            <a:ext cx="12700" cy="549276"/>
          </a:xfrm>
          <a:prstGeom prst="curvedConnector3">
            <a:avLst>
              <a:gd name="adj1" fmla="val -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2052574398"/>
              </p:ext>
            </p:extLst>
          </p:nvPr>
        </p:nvGraphicFramePr>
        <p:xfrm>
          <a:off x="952500" y="1544194"/>
          <a:ext cx="7239000" cy="1397216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Применять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RL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к задачам с непрерывным пространством действий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Policy Gradient theorem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585982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алгоритм </a:t>
                      </a:r>
                      <a:r>
                        <a:rPr lang="en-GB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пути улучшения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91" name="Google Shape;291;p54"/>
          <p:cNvGraphicFramePr/>
          <p:nvPr>
            <p:extLst>
              <p:ext uri="{D42A27DB-BD31-4B8C-83A1-F6EECF244321}">
                <p14:modId xmlns:p14="http://schemas.microsoft.com/office/powerpoint/2010/main" val="4018911976"/>
              </p:ext>
            </p:extLst>
          </p:nvPr>
        </p:nvGraphicFramePr>
        <p:xfrm>
          <a:off x="952500" y="1544194"/>
          <a:ext cx="7239000" cy="926446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Программировать задачи обучения с подкреплением для окружений большой размерности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непрерывного пространства действий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Иметь базу для перехода к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Actor-Critic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93" name="Google Shape;293;p54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уметь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Постановка задачи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4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Markov Property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87D8152-6035-4242-A2B0-D3B47DE2E5A0}"/>
                  </a:ext>
                </a:extLst>
              </p:cNvPr>
              <p:cNvSpPr txBox="1"/>
              <p:nvPr/>
            </p:nvSpPr>
            <p:spPr>
              <a:xfrm>
                <a:off x="590109" y="878674"/>
                <a:ext cx="4172722" cy="7386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RU" sz="16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87D8152-6035-4242-A2B0-D3B47DE2E5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09" y="878674"/>
                <a:ext cx="4172722" cy="738664"/>
              </a:xfrm>
              <a:prstGeom prst="rect">
                <a:avLst/>
              </a:prstGeom>
              <a:blipFill>
                <a:blip r:embed="rId3"/>
                <a:stretch>
                  <a:fillRect b="-3390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310;p57">
                <a:extLst>
                  <a:ext uri="{FF2B5EF4-FFF2-40B4-BE49-F238E27FC236}">
                    <a16:creationId xmlns:a16="http://schemas.microsoft.com/office/drawing/2014/main" id="{A5E7ADB9-6693-0344-980A-1869E5A6D26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00550" y="1695236"/>
                <a:ext cx="8520600" cy="5479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3100"/>
                  <a:buFont typeface="Roboto"/>
                  <a:buNone/>
                  <a:defRPr sz="3100" b="1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Font typeface="Roboto"/>
                  <a:buNone/>
                  <a:defRPr sz="2800" b="0" i="0" u="none" strike="noStrike" cap="none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defRPr>
                </a:lvl9pPr>
              </a:lstStyle>
              <a:p>
                <a:r>
                  <a:rPr lang="en-US" dirty="0"/>
                  <a:t>Markov Decision Process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𝑭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𝒫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ℛ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𝜸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1" name="Google Shape;310;p57">
                <a:extLst>
                  <a:ext uri="{FF2B5EF4-FFF2-40B4-BE49-F238E27FC236}">
                    <a16:creationId xmlns:a16="http://schemas.microsoft.com/office/drawing/2014/main" id="{A5E7ADB9-6693-0344-980A-1869E5A6D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550" y="1695236"/>
                <a:ext cx="8520600" cy="547950"/>
              </a:xfrm>
              <a:prstGeom prst="rect">
                <a:avLst/>
              </a:prstGeom>
              <a:blipFill>
                <a:blip r:embed="rId4"/>
                <a:stretch>
                  <a:fillRect l="-1786" t="-4545" b="-454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B1A4F26-59DB-FE47-9D15-7B4DEF0E8C2E}"/>
                  </a:ext>
                </a:extLst>
              </p:cNvPr>
              <p:cNvSpPr txBox="1"/>
              <p:nvPr/>
            </p:nvSpPr>
            <p:spPr>
              <a:xfrm>
                <a:off x="590108" y="2243186"/>
                <a:ext cx="4938821" cy="263771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 is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an infinite 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state space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𝑭</m:t>
                        </m:r>
                      </m:sub>
                    </m:sSub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is a set of final states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n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 infinite (|</a:t>
                </a:r>
                <a14:m>
                  <m:oMath xmlns:m="http://schemas.openxmlformats.org/officeDocument/2006/math">
                    <m:r>
                      <a:rPr lang="en-US" sz="16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600" b="1" i="1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|=</a:t>
                </a:r>
                <a:r>
                  <a:rPr lang="en-US" sz="1600" b="0" i="1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m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action space</a:t>
                </a:r>
              </a:p>
              <a:p>
                <a:pPr marL="285750" indent="-28575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</m:oMath>
                </a14:m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b="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unknown </a:t>
                </a:r>
                <a:r>
                  <a:rPr lang="en-US" sz="1600" b="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transition probability function</a:t>
                </a:r>
              </a:p>
              <a:p>
                <a:pPr>
                  <a:lnSpc>
                    <a:spcPct val="120000"/>
                  </a:lnSpc>
                </a:pPr>
                <a:r>
                  <a:rPr lang="en-US" sz="1600" b="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RU" sz="1600" dirty="0"/>
                  <a:t>=</a:t>
                </a:r>
                <a:r>
                  <a:rPr lang="el-G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l-G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ℙ</m:t>
                    </m:r>
                    <m:d>
                      <m:dPr>
                        <m:begChr m:val="["/>
                        <m:endChr m:val="]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′|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en-US" sz="1600" dirty="0"/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𝒫</m:t>
                        </m:r>
                      </m:e>
                      <m:sub>
                        <m:r>
                          <a:rPr lang="en-US" sz="16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  <m:r>
                          <a:rPr lang="en-US" sz="1600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sub>
                    </m:sSub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1600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–</m:t>
                    </m:r>
                  </m:oMath>
                </a14:m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is 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unknown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initial state probability function</a:t>
                </a:r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6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ℛ</m:t>
                    </m:r>
                  </m:oMath>
                </a14:m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– is </a:t>
                </a:r>
                <a:r>
                  <a:rPr lang="en-US" sz="1600" dirty="0">
                    <a:solidFill>
                      <a:srgbClr val="FF0000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rPr>
                  <a:t>an unknown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reward function</a:t>
                </a:r>
              </a:p>
              <a:p>
                <a:pPr algn="ctr">
                  <a:lnSpc>
                    <a:spcPct val="12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ℛ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⇔</m:t>
                      </m:r>
                      <m:r>
                        <a:rPr lang="el-GR" sz="16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ℙ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sz="16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34290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sz="1600" dirty="0">
                    <a:latin typeface="Symbol" pitchFamily="2" charset="2"/>
                    <a:ea typeface="Cambria Math" panose="02040503050406030204" pitchFamily="18" charset="0"/>
                  </a:rPr>
                  <a:t>g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sz="1600" dirty="0">
                    <a:latin typeface="Symbol" pitchFamily="2" charset="2"/>
                    <a:ea typeface="Cambria Math" panose="02040503050406030204" pitchFamily="18" charset="0"/>
                  </a:rPr>
                  <a:t>[0, 1] </a:t>
                </a:r>
                <a:r>
                  <a:rPr lang="en-US" sz="160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– is a discount coefficient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B1A4F26-59DB-FE47-9D15-7B4DEF0E8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108" y="2243186"/>
                <a:ext cx="4938821" cy="2637710"/>
              </a:xfrm>
              <a:prstGeom prst="rect">
                <a:avLst/>
              </a:prstGeom>
              <a:blipFill>
                <a:blip r:embed="rId5"/>
                <a:stretch>
                  <a:fillRect l="-2308" t="-1435" r="-769" b="-3828"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900" dirty="0"/>
              <a:t>Policy based methods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4657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047C45A-9953-B649-B595-7F1D42D48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based and Policy based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A424307-E660-9F41-82A6-10E00D8CBA26}"/>
              </a:ext>
            </a:extLst>
          </p:cNvPr>
          <p:cNvSpPr>
            <a:spLocks noChangeAspect="1"/>
          </p:cNvSpPr>
          <p:nvPr/>
        </p:nvSpPr>
        <p:spPr>
          <a:xfrm>
            <a:off x="1804252" y="1217969"/>
            <a:ext cx="3672000" cy="3672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BDF10F-AAC6-5746-9977-808A14B09FC1}"/>
              </a:ext>
            </a:extLst>
          </p:cNvPr>
          <p:cNvSpPr>
            <a:spLocks noChangeAspect="1"/>
          </p:cNvSpPr>
          <p:nvPr/>
        </p:nvSpPr>
        <p:spPr>
          <a:xfrm>
            <a:off x="3742493" y="1217969"/>
            <a:ext cx="3672000" cy="367200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33306E-95B0-BF4D-A274-06EFC69A7C9C}"/>
              </a:ext>
            </a:extLst>
          </p:cNvPr>
          <p:cNvSpPr txBox="1"/>
          <p:nvPr/>
        </p:nvSpPr>
        <p:spPr>
          <a:xfrm>
            <a:off x="2479313" y="2123375"/>
            <a:ext cx="122822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Value based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D387FC-B2F1-DA4E-91C7-8554E08F7AB7}"/>
              </a:ext>
            </a:extLst>
          </p:cNvPr>
          <p:cNvSpPr txBox="1"/>
          <p:nvPr/>
        </p:nvSpPr>
        <p:spPr>
          <a:xfrm>
            <a:off x="5689515" y="2123375"/>
            <a:ext cx="127791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Policy based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4BB372-1661-5E4D-9E8F-B3F607344901}"/>
              </a:ext>
            </a:extLst>
          </p:cNvPr>
          <p:cNvSpPr txBox="1"/>
          <p:nvPr/>
        </p:nvSpPr>
        <p:spPr>
          <a:xfrm>
            <a:off x="2283627" y="3303473"/>
            <a:ext cx="124560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Value function</a:t>
            </a:r>
          </a:p>
          <a:p>
            <a:pPr algn="ctr"/>
            <a:r>
              <a:rPr lang="en-US" sz="1100" dirty="0"/>
              <a:t>&amp;</a:t>
            </a:r>
          </a:p>
          <a:p>
            <a:pPr algn="ctr"/>
            <a:r>
              <a:rPr lang="en-US" sz="1100" dirty="0"/>
              <a:t>Greedy policy</a:t>
            </a:r>
          </a:p>
          <a:p>
            <a:pPr algn="ctr"/>
            <a:endParaRPr lang="ru-RU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Q-learning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DQN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7DDCBC-2693-3D44-979C-B181D22685FC}"/>
              </a:ext>
            </a:extLst>
          </p:cNvPr>
          <p:cNvSpPr txBox="1"/>
          <p:nvPr/>
        </p:nvSpPr>
        <p:spPr>
          <a:xfrm>
            <a:off x="5565531" y="3303473"/>
            <a:ext cx="134671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Learning of</a:t>
            </a:r>
          </a:p>
          <a:p>
            <a:pPr algn="ctr"/>
            <a:r>
              <a:rPr lang="en-US" sz="1100" dirty="0"/>
              <a:t>Policy</a:t>
            </a:r>
          </a:p>
          <a:p>
            <a:pPr algn="ctr"/>
            <a:endParaRPr lang="en-US" sz="1100" dirty="0"/>
          </a:p>
          <a:p>
            <a:pPr algn="ctr"/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Cross-entropy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b="1" dirty="0"/>
              <a:t>REINFORCE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3439FF-277A-A648-9BCC-5D608CD70246}"/>
              </a:ext>
            </a:extLst>
          </p:cNvPr>
          <p:cNvSpPr txBox="1"/>
          <p:nvPr/>
        </p:nvSpPr>
        <p:spPr>
          <a:xfrm>
            <a:off x="4018845" y="3303473"/>
            <a:ext cx="1245603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Value function</a:t>
            </a:r>
          </a:p>
          <a:p>
            <a:pPr algn="ctr"/>
            <a:r>
              <a:rPr lang="en-US" sz="1100" dirty="0"/>
              <a:t>&amp;</a:t>
            </a:r>
          </a:p>
          <a:p>
            <a:pPr algn="ctr"/>
            <a:r>
              <a:rPr lang="en-US" sz="1100" dirty="0"/>
              <a:t>Policy</a:t>
            </a:r>
          </a:p>
          <a:p>
            <a:pPr algn="ctr"/>
            <a:endParaRPr lang="en-US" sz="1100" dirty="0"/>
          </a:p>
          <a:p>
            <a:pPr marL="360363" indent="-168275">
              <a:buFont typeface="Arial" panose="020B0604020202020204" pitchFamily="34" charset="0"/>
              <a:buChar char="•"/>
            </a:pPr>
            <a:r>
              <a:rPr lang="en-US" sz="1100" b="1" dirty="0"/>
              <a:t>SARSA</a:t>
            </a:r>
          </a:p>
          <a:p>
            <a:pPr marL="360363" indent="-168275">
              <a:buFont typeface="Arial" panose="020B0604020202020204" pitchFamily="34" charset="0"/>
              <a:buChar char="•"/>
            </a:pPr>
            <a:r>
              <a:rPr lang="en-US" sz="1100" b="1" dirty="0"/>
              <a:t>A2C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D70BB5-DF72-8744-BD15-A121DD28F215}"/>
              </a:ext>
            </a:extLst>
          </p:cNvPr>
          <p:cNvSpPr txBox="1"/>
          <p:nvPr/>
        </p:nvSpPr>
        <p:spPr>
          <a:xfrm>
            <a:off x="4005763" y="2123375"/>
            <a:ext cx="124560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accent1">
                    <a:lumMod val="50000"/>
                  </a:schemeClr>
                </a:solidFill>
              </a:rPr>
              <a:t>Actor-Critic</a:t>
            </a:r>
          </a:p>
        </p:txBody>
      </p:sp>
    </p:spTree>
    <p:extLst>
      <p:ext uri="{BB962C8B-B14F-4D97-AF65-F5344CB8AC3E}">
        <p14:creationId xmlns:p14="http://schemas.microsoft.com/office/powerpoint/2010/main" val="35551898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7777495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712291-7ABD-834A-95A3-323BA7CC4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3B2C0E7-6CD8-1445-AE87-37F092D54C9D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D86B4B-9083-7143-BCF3-5EDCF81A9773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25942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DQN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712291-7ABD-834A-95A3-323BA7CC4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D6D5F7-B52A-834B-A19A-5A9527D71EF8}"/>
                  </a:ext>
                </a:extLst>
              </p:cNvPr>
              <p:cNvSpPr txBox="1"/>
              <p:nvPr/>
            </p:nvSpPr>
            <p:spPr>
              <a:xfrm>
                <a:off x="6618215" y="1694587"/>
                <a:ext cx="2124610" cy="24929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1200" dirty="0">
                    <a:solidFill>
                      <a:srgbClr val="C00000"/>
                    </a:solidFill>
                  </a:rPr>
                  <a:t>Медленная сходимость, большая дисперсия, плохая устойчивость</a:t>
                </a:r>
              </a:p>
              <a:p>
                <a:endParaRPr lang="ru-RU" sz="1200" dirty="0">
                  <a:solidFill>
                    <a:srgbClr val="C00000"/>
                  </a:solidFill>
                </a:endParaRPr>
              </a:p>
              <a:p>
                <a:r>
                  <a:rPr lang="ru-RU" sz="1200" dirty="0">
                    <a:solidFill>
                      <a:srgbClr val="C00000"/>
                    </a:solidFill>
                  </a:rPr>
                  <a:t>Дискретное пространство действий, плохо реагирует на «резкие» переходы</a:t>
                </a:r>
              </a:p>
              <a:p>
                <a:endParaRPr lang="ru-RU" sz="1200" dirty="0">
                  <a:solidFill>
                    <a:srgbClr val="C00000"/>
                  </a:solidFill>
                </a:endParaRPr>
              </a:p>
              <a:p>
                <a:r>
                  <a:rPr lang="ru-RU" sz="1200" dirty="0">
                    <a:solidFill>
                      <a:srgbClr val="C00000"/>
                    </a:solidFill>
                  </a:rPr>
                  <a:t>Мы всегда получаем детерминированную стратегию, в силу </a:t>
                </a:r>
                <a:br>
                  <a:rPr lang="ru-RU" sz="1200" dirty="0">
                    <a:solidFill>
                      <a:srgbClr val="C00000"/>
                    </a:solidFill>
                  </a:rPr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</m:fName>
                      <m:e>
                        <m:func>
                          <m:funcPr>
                            <m:ctrlPr>
                              <a:rPr lang="en-US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12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max</m:t>
                            </m:r>
                          </m:fName>
                          <m:e>
                            <m:r>
                              <a:rPr lang="en-US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</m:func>
                      </m:e>
                    </m:func>
                  </m:oMath>
                </a14:m>
                <a:r>
                  <a:rPr lang="en-US" sz="1200" dirty="0">
                    <a:solidFill>
                      <a:srgbClr val="C00000"/>
                    </a:solidFill>
                  </a:rPr>
                  <a:t> </a:t>
                </a:r>
                <a:r>
                  <a:rPr lang="ru-RU" sz="1200" dirty="0">
                    <a:solidFill>
                      <a:srgbClr val="C00000"/>
                    </a:solidFill>
                  </a:rPr>
                  <a:t>в формуле обновления весов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7D6D5F7-B52A-834B-A19A-5A9527D71E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8215" y="1694587"/>
                <a:ext cx="2124610" cy="2492990"/>
              </a:xfrm>
              <a:prstGeom prst="rect">
                <a:avLst/>
              </a:prstGeom>
              <a:blipFill>
                <a:blip r:embed="rId4"/>
                <a:stretch>
                  <a:fillRect r="-595" b="-1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D557A5D-043C-2047-9AAF-ADA1B20BE362}"/>
              </a:ext>
            </a:extLst>
          </p:cNvPr>
          <p:cNvSpPr txBox="1"/>
          <p:nvPr/>
        </p:nvSpPr>
        <p:spPr>
          <a:xfrm>
            <a:off x="951780" y="2275761"/>
            <a:ext cx="189141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058D40"/>
                </a:solidFill>
              </a:rPr>
              <a:t>Off-policy</a:t>
            </a:r>
          </a:p>
          <a:p>
            <a:endParaRPr lang="en-US" sz="1800" dirty="0">
              <a:solidFill>
                <a:srgbClr val="058D40"/>
              </a:solidFill>
            </a:endParaRPr>
          </a:p>
          <a:p>
            <a:r>
              <a:rPr lang="ru-RU" dirty="0">
                <a:solidFill>
                  <a:srgbClr val="058D40"/>
                </a:solidFill>
              </a:rPr>
              <a:t>Использование </a:t>
            </a:r>
            <a:br>
              <a:rPr lang="en-US" dirty="0">
                <a:solidFill>
                  <a:srgbClr val="058D40"/>
                </a:solidFill>
              </a:rPr>
            </a:br>
            <a:r>
              <a:rPr lang="en-US" dirty="0">
                <a:solidFill>
                  <a:srgbClr val="058D40"/>
                </a:solidFill>
              </a:rPr>
              <a:t>Experience replay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B2C0E7-6CD8-1445-AE87-37F092D54C9D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D86B4B-9083-7143-BCF3-5EDCF81A9773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99754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71E2E-ECE2-C040-BC1D-411C8C62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Клеточный мир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0F1251D-4A5C-854C-8222-A094A6DDD2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3731587"/>
              </p:ext>
            </p:extLst>
          </p:nvPr>
        </p:nvGraphicFramePr>
        <p:xfrm>
          <a:off x="1450357" y="1779403"/>
          <a:ext cx="6096000" cy="2252550"/>
        </p:xfrm>
        <a:graphic>
          <a:graphicData uri="http://schemas.openxmlformats.org/drawingml/2006/table">
            <a:tbl>
              <a:tblPr firstRow="1" bandRow="1">
                <a:tableStyleId>{B623574C-9AE7-4070-A081-93A97D88BCA6}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13186765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0472219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765149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7713052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00697410"/>
                    </a:ext>
                  </a:extLst>
                </a:gridCol>
              </a:tblGrid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9319201"/>
                  </a:ext>
                </a:extLst>
              </a:tr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5158280"/>
                  </a:ext>
                </a:extLst>
              </a:tr>
            </a:tbl>
          </a:graphicData>
        </a:graphic>
      </p:graphicFrame>
      <p:pic>
        <p:nvPicPr>
          <p:cNvPr id="6" name="Graphic 5" descr="Trophy with solid fill">
            <a:extLst>
              <a:ext uri="{FF2B5EF4-FFF2-40B4-BE49-F238E27FC236}">
                <a16:creationId xmlns:a16="http://schemas.microsoft.com/office/drawing/2014/main" id="{AD0BA0E8-B8E9-9645-9F7F-51AB9699F2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1157" y="3028950"/>
            <a:ext cx="914400" cy="914400"/>
          </a:xfrm>
          <a:prstGeom prst="rect">
            <a:avLst/>
          </a:prstGeom>
        </p:spPr>
      </p:pic>
      <p:pic>
        <p:nvPicPr>
          <p:cNvPr id="8" name="Graphic 7" descr="Skull with solid fill">
            <a:extLst>
              <a:ext uri="{FF2B5EF4-FFF2-40B4-BE49-F238E27FC236}">
                <a16:creationId xmlns:a16="http://schemas.microsoft.com/office/drawing/2014/main" id="{AB419F60-5E7C-3D42-82D6-71150AB08D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3990" y="3028950"/>
            <a:ext cx="914400" cy="914400"/>
          </a:xfrm>
          <a:prstGeom prst="rect">
            <a:avLst/>
          </a:prstGeom>
        </p:spPr>
      </p:pic>
      <p:pic>
        <p:nvPicPr>
          <p:cNvPr id="9" name="Graphic 8" descr="Skull with solid fill">
            <a:extLst>
              <a:ext uri="{FF2B5EF4-FFF2-40B4-BE49-F238E27FC236}">
                <a16:creationId xmlns:a16="http://schemas.microsoft.com/office/drawing/2014/main" id="{9CE06774-2B86-1941-A012-ACDDF34E5B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97643" y="302895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CF0D30-C9C9-BE4C-8300-747903D4490E}"/>
              </a:ext>
            </a:extLst>
          </p:cNvPr>
          <p:cNvSpPr txBox="1"/>
          <p:nvPr/>
        </p:nvSpPr>
        <p:spPr>
          <a:xfrm>
            <a:off x="570301" y="1163148"/>
            <a:ext cx="502413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Агент не различает серые клетки – </a:t>
            </a:r>
            <a:r>
              <a:rPr lang="en-US" dirty="0"/>
              <a:t>q-learning </a:t>
            </a:r>
            <a:r>
              <a:rPr lang="ru-RU" dirty="0"/>
              <a:t>не работает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3657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71E2E-ECE2-C040-BC1D-411C8C62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Клеточный мир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0F1251D-4A5C-854C-8222-A094A6DDD245}"/>
              </a:ext>
            </a:extLst>
          </p:cNvPr>
          <p:cNvGraphicFramePr>
            <a:graphicFrameLocks noGrp="1"/>
          </p:cNvGraphicFramePr>
          <p:nvPr/>
        </p:nvGraphicFramePr>
        <p:xfrm>
          <a:off x="1450357" y="1779403"/>
          <a:ext cx="6096000" cy="2252550"/>
        </p:xfrm>
        <a:graphic>
          <a:graphicData uri="http://schemas.openxmlformats.org/drawingml/2006/table">
            <a:tbl>
              <a:tblPr firstRow="1" bandRow="1">
                <a:tableStyleId>{B623574C-9AE7-4070-A081-93A97D88BCA6}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13186765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0472219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765149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7713052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00697410"/>
                    </a:ext>
                  </a:extLst>
                </a:gridCol>
              </a:tblGrid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9319201"/>
                  </a:ext>
                </a:extLst>
              </a:tr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5158280"/>
                  </a:ext>
                </a:extLst>
              </a:tr>
            </a:tbl>
          </a:graphicData>
        </a:graphic>
      </p:graphicFrame>
      <p:pic>
        <p:nvPicPr>
          <p:cNvPr id="6" name="Graphic 5" descr="Trophy with solid fill">
            <a:extLst>
              <a:ext uri="{FF2B5EF4-FFF2-40B4-BE49-F238E27FC236}">
                <a16:creationId xmlns:a16="http://schemas.microsoft.com/office/drawing/2014/main" id="{AD0BA0E8-B8E9-9645-9F7F-51AB9699F2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1157" y="3028950"/>
            <a:ext cx="914400" cy="914400"/>
          </a:xfrm>
          <a:prstGeom prst="rect">
            <a:avLst/>
          </a:prstGeom>
        </p:spPr>
      </p:pic>
      <p:pic>
        <p:nvPicPr>
          <p:cNvPr id="8" name="Graphic 7" descr="Skull with solid fill">
            <a:extLst>
              <a:ext uri="{FF2B5EF4-FFF2-40B4-BE49-F238E27FC236}">
                <a16:creationId xmlns:a16="http://schemas.microsoft.com/office/drawing/2014/main" id="{AB419F60-5E7C-3D42-82D6-71150AB08D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3990" y="3028950"/>
            <a:ext cx="914400" cy="914400"/>
          </a:xfrm>
          <a:prstGeom prst="rect">
            <a:avLst/>
          </a:prstGeom>
        </p:spPr>
      </p:pic>
      <p:pic>
        <p:nvPicPr>
          <p:cNvPr id="9" name="Graphic 8" descr="Skull with solid fill">
            <a:extLst>
              <a:ext uri="{FF2B5EF4-FFF2-40B4-BE49-F238E27FC236}">
                <a16:creationId xmlns:a16="http://schemas.microsoft.com/office/drawing/2014/main" id="{9CE06774-2B86-1941-A012-ACDDF34E5B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97643" y="302895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CF0D30-C9C9-BE4C-8300-747903D4490E}"/>
              </a:ext>
            </a:extLst>
          </p:cNvPr>
          <p:cNvSpPr txBox="1"/>
          <p:nvPr/>
        </p:nvSpPr>
        <p:spPr>
          <a:xfrm>
            <a:off x="570301" y="1163148"/>
            <a:ext cx="73116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Агент не различает серые клетки – </a:t>
            </a:r>
            <a:r>
              <a:rPr lang="en-US" dirty="0"/>
              <a:t>q-learning </a:t>
            </a:r>
            <a:r>
              <a:rPr lang="ru-RU" dirty="0"/>
              <a:t>не работает. Агент «застревает» в углу.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A6B722-660C-CF4F-9E9D-5D1C32BD2063}"/>
              </a:ext>
            </a:extLst>
          </p:cNvPr>
          <p:cNvCxnSpPr/>
          <p:nvPr/>
        </p:nvCxnSpPr>
        <p:spPr>
          <a:xfrm>
            <a:off x="4476376" y="1984188"/>
            <a:ext cx="0" cy="6992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7950A00-7A3C-C444-BA5D-C4E0C0165F0B}"/>
              </a:ext>
            </a:extLst>
          </p:cNvPr>
          <p:cNvCxnSpPr>
            <a:cxnSpLocks/>
          </p:cNvCxnSpPr>
          <p:nvPr/>
        </p:nvCxnSpPr>
        <p:spPr>
          <a:xfrm rot="16200000">
            <a:off x="3272116" y="1754097"/>
            <a:ext cx="0" cy="69924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B868542-2DEA-7148-A575-90C09CFEBD27}"/>
              </a:ext>
            </a:extLst>
          </p:cNvPr>
          <p:cNvCxnSpPr>
            <a:cxnSpLocks/>
          </p:cNvCxnSpPr>
          <p:nvPr/>
        </p:nvCxnSpPr>
        <p:spPr>
          <a:xfrm rot="16200000">
            <a:off x="2020047" y="1757084"/>
            <a:ext cx="0" cy="69924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F270BCA-18C5-E041-AEBC-85FDBFABE832}"/>
              </a:ext>
            </a:extLst>
          </p:cNvPr>
          <p:cNvCxnSpPr>
            <a:cxnSpLocks/>
          </p:cNvCxnSpPr>
          <p:nvPr/>
        </p:nvCxnSpPr>
        <p:spPr>
          <a:xfrm rot="16200000">
            <a:off x="5713505" y="1754097"/>
            <a:ext cx="0" cy="69924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1083E6C-4218-C943-A3EC-7E2F05F6BA65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932706" y="1754097"/>
            <a:ext cx="0" cy="699247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F3C60E2-3543-D54C-BA60-6AEA718C3A8A}"/>
              </a:ext>
            </a:extLst>
          </p:cNvPr>
          <p:cNvCxnSpPr>
            <a:cxnSpLocks/>
          </p:cNvCxnSpPr>
          <p:nvPr/>
        </p:nvCxnSpPr>
        <p:spPr>
          <a:xfrm rot="5400000" flipH="1">
            <a:off x="3272116" y="2115845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9DE6F2-5A58-B04D-B768-34AAB6AC2B4A}"/>
              </a:ext>
            </a:extLst>
          </p:cNvPr>
          <p:cNvCxnSpPr>
            <a:cxnSpLocks/>
          </p:cNvCxnSpPr>
          <p:nvPr/>
        </p:nvCxnSpPr>
        <p:spPr>
          <a:xfrm rot="16200000">
            <a:off x="2020047" y="2118832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99BE72D-7078-2849-8F46-DD613628532F}"/>
              </a:ext>
            </a:extLst>
          </p:cNvPr>
          <p:cNvCxnSpPr>
            <a:cxnSpLocks/>
          </p:cNvCxnSpPr>
          <p:nvPr/>
        </p:nvCxnSpPr>
        <p:spPr>
          <a:xfrm rot="5400000" flipH="1">
            <a:off x="5713505" y="2115845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B7949BA-48A6-0E40-B789-BD818F14D50C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932706" y="2115845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C88CC879-664A-8F4C-A84F-7A370A745F3F}"/>
              </a:ext>
            </a:extLst>
          </p:cNvPr>
          <p:cNvSpPr/>
          <p:nvPr/>
        </p:nvSpPr>
        <p:spPr>
          <a:xfrm>
            <a:off x="5363881" y="1912471"/>
            <a:ext cx="1963272" cy="358588"/>
          </a:xfrm>
          <a:prstGeom prst="ellipse">
            <a:avLst/>
          </a:prstGeom>
          <a:noFill/>
          <a:ln w="28575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865ED47-6292-AE4F-9B5B-25A2A5549184}"/>
              </a:ext>
            </a:extLst>
          </p:cNvPr>
          <p:cNvSpPr/>
          <p:nvPr/>
        </p:nvSpPr>
        <p:spPr>
          <a:xfrm>
            <a:off x="1670423" y="2286174"/>
            <a:ext cx="1963272" cy="358588"/>
          </a:xfrm>
          <a:prstGeom prst="ellipse">
            <a:avLst/>
          </a:prstGeom>
          <a:noFill/>
          <a:ln w="28575">
            <a:solidFill>
              <a:schemeClr val="accent1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11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71E2E-ECE2-C040-BC1D-411C8C62F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Клеточный мир</a:t>
            </a:r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70F1251D-4A5C-854C-8222-A094A6DDD245}"/>
              </a:ext>
            </a:extLst>
          </p:cNvPr>
          <p:cNvGraphicFramePr>
            <a:graphicFrameLocks noGrp="1"/>
          </p:cNvGraphicFramePr>
          <p:nvPr/>
        </p:nvGraphicFramePr>
        <p:xfrm>
          <a:off x="1450357" y="1779403"/>
          <a:ext cx="6096000" cy="2252550"/>
        </p:xfrm>
        <a:graphic>
          <a:graphicData uri="http://schemas.openxmlformats.org/drawingml/2006/table">
            <a:tbl>
              <a:tblPr firstRow="1" bandRow="1">
                <a:tableStyleId>{B623574C-9AE7-4070-A081-93A97D88BCA6}</a:tableStyleId>
              </a:tblPr>
              <a:tblGrid>
                <a:gridCol w="1219200">
                  <a:extLst>
                    <a:ext uri="{9D8B030D-6E8A-4147-A177-3AD203B41FA5}">
                      <a16:colId xmlns:a16="http://schemas.microsoft.com/office/drawing/2014/main" val="4131867654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04722199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337651498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771305216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1500697410"/>
                    </a:ext>
                  </a:extLst>
                </a:gridCol>
              </a:tblGrid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59319201"/>
                  </a:ext>
                </a:extLst>
              </a:tr>
              <a:tr h="1126275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65158280"/>
                  </a:ext>
                </a:extLst>
              </a:tr>
            </a:tbl>
          </a:graphicData>
        </a:graphic>
      </p:graphicFrame>
      <p:pic>
        <p:nvPicPr>
          <p:cNvPr id="6" name="Graphic 5" descr="Trophy with solid fill">
            <a:extLst>
              <a:ext uri="{FF2B5EF4-FFF2-40B4-BE49-F238E27FC236}">
                <a16:creationId xmlns:a16="http://schemas.microsoft.com/office/drawing/2014/main" id="{AD0BA0E8-B8E9-9645-9F7F-51AB9699F2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41157" y="3028950"/>
            <a:ext cx="914400" cy="914400"/>
          </a:xfrm>
          <a:prstGeom prst="rect">
            <a:avLst/>
          </a:prstGeom>
        </p:spPr>
      </p:pic>
      <p:pic>
        <p:nvPicPr>
          <p:cNvPr id="8" name="Graphic 7" descr="Skull with solid fill">
            <a:extLst>
              <a:ext uri="{FF2B5EF4-FFF2-40B4-BE49-F238E27FC236}">
                <a16:creationId xmlns:a16="http://schemas.microsoft.com/office/drawing/2014/main" id="{AB419F60-5E7C-3D42-82D6-71150AB08D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63990" y="3028950"/>
            <a:ext cx="914400" cy="914400"/>
          </a:xfrm>
          <a:prstGeom prst="rect">
            <a:avLst/>
          </a:prstGeom>
        </p:spPr>
      </p:pic>
      <p:pic>
        <p:nvPicPr>
          <p:cNvPr id="9" name="Graphic 8" descr="Skull with solid fill">
            <a:extLst>
              <a:ext uri="{FF2B5EF4-FFF2-40B4-BE49-F238E27FC236}">
                <a16:creationId xmlns:a16="http://schemas.microsoft.com/office/drawing/2014/main" id="{9CE06774-2B86-1941-A012-ACDDF34E5B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597643" y="302895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CCF0D30-C9C9-BE4C-8300-747903D4490E}"/>
              </a:ext>
            </a:extLst>
          </p:cNvPr>
          <p:cNvSpPr txBox="1"/>
          <p:nvPr/>
        </p:nvSpPr>
        <p:spPr>
          <a:xfrm>
            <a:off x="570301" y="1163148"/>
            <a:ext cx="347883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Оптимальна стохастическая стратегия.</a:t>
            </a:r>
            <a:endParaRPr lang="en-US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E5A6B722-660C-CF4F-9E9D-5D1C32BD2063}"/>
              </a:ext>
            </a:extLst>
          </p:cNvPr>
          <p:cNvCxnSpPr/>
          <p:nvPr/>
        </p:nvCxnSpPr>
        <p:spPr>
          <a:xfrm>
            <a:off x="4476376" y="1984188"/>
            <a:ext cx="0" cy="69924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9F3C60E2-3543-D54C-BA60-6AEA718C3A8A}"/>
              </a:ext>
            </a:extLst>
          </p:cNvPr>
          <p:cNvCxnSpPr>
            <a:cxnSpLocks/>
          </p:cNvCxnSpPr>
          <p:nvPr/>
        </p:nvCxnSpPr>
        <p:spPr>
          <a:xfrm rot="5400000" flipH="1">
            <a:off x="3272116" y="1978387"/>
            <a:ext cx="0" cy="699247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6C9DE6F2-5A58-B04D-B768-34AAB6AC2B4A}"/>
              </a:ext>
            </a:extLst>
          </p:cNvPr>
          <p:cNvCxnSpPr>
            <a:cxnSpLocks/>
          </p:cNvCxnSpPr>
          <p:nvPr/>
        </p:nvCxnSpPr>
        <p:spPr>
          <a:xfrm rot="16200000">
            <a:off x="2020047" y="1981374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99BE72D-7078-2849-8F46-DD613628532F}"/>
              </a:ext>
            </a:extLst>
          </p:cNvPr>
          <p:cNvCxnSpPr>
            <a:cxnSpLocks/>
          </p:cNvCxnSpPr>
          <p:nvPr/>
        </p:nvCxnSpPr>
        <p:spPr>
          <a:xfrm rot="5400000" flipH="1">
            <a:off x="5713505" y="1978387"/>
            <a:ext cx="0" cy="699247"/>
          </a:xfrm>
          <a:prstGeom prst="straightConnector1">
            <a:avLst/>
          </a:prstGeom>
          <a:ln w="28575"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B7949BA-48A6-0E40-B789-BD818F14D50C}"/>
              </a:ext>
            </a:extLst>
          </p:cNvPr>
          <p:cNvCxnSpPr>
            <a:cxnSpLocks/>
          </p:cNvCxnSpPr>
          <p:nvPr/>
        </p:nvCxnSpPr>
        <p:spPr>
          <a:xfrm rot="16200000" flipH="1" flipV="1">
            <a:off x="6932706" y="1978387"/>
            <a:ext cx="0" cy="69924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7D2ADD5-08CF-DE44-8721-6E28D8B0B134}"/>
              </a:ext>
            </a:extLst>
          </p:cNvPr>
          <p:cNvSpPr txBox="1"/>
          <p:nvPr/>
        </p:nvSpPr>
        <p:spPr>
          <a:xfrm>
            <a:off x="2988224" y="2007859"/>
            <a:ext cx="5677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50/50</a:t>
            </a:r>
            <a:endParaRPr lang="en-US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1EA475-26CC-0141-A151-8AFE0B76F215}"/>
              </a:ext>
            </a:extLst>
          </p:cNvPr>
          <p:cNvSpPr txBox="1"/>
          <p:nvPr/>
        </p:nvSpPr>
        <p:spPr>
          <a:xfrm>
            <a:off x="5429613" y="2007859"/>
            <a:ext cx="5677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/>
              <a:t>50/50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6436238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Алгоритм </a:t>
            </a:r>
            <a:r>
              <a:rPr lang="en-US" sz="4900" dirty="0"/>
              <a:t>REINFORCE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106365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8"/>
                <a:ext cx="8801144" cy="3699101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rmAutofit/>
              </a:bodyPr>
              <a:lstStyle/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Задача – максимизировать суммарную награду агента, </a:t>
                </a:r>
                <a:r>
                  <a:rPr lang="ru-RU" sz="16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т.е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максимизировать мат ожидание награды при текущей политике:</a:t>
                </a: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8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8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8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18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8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8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Алгоритм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Q-learning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(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DQN) –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искали приближение оптимальной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Q-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функции.</a:t>
                </a: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Вместо приближения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Q </a:t>
                </a: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функции – будем сразу искать оптимальную политику. </a:t>
                </a:r>
                <a:endParaRPr lang="ru-RU" sz="16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8"/>
                <a:ext cx="8801144" cy="36991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233712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E06F4F-692F-6443-AFA6-9F9409A427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Cross-entropy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1F0D9C-11BE-764F-B530-80757F51C3FE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500550" y="1003021"/>
                <a:ext cx="8520600" cy="3888097"/>
              </a:xfrm>
            </p:spPr>
            <p:txBody>
              <a:bodyPr>
                <a:normAutofit/>
              </a:bodyPr>
              <a:lstStyle/>
              <a:p>
                <a:pPr marL="133350" indent="0">
                  <a:buNone/>
                </a:pPr>
                <a:r>
                  <a:rPr lang="ru-RU" sz="1600" b="1" dirty="0"/>
                  <a:t>Оценка политики</a:t>
                </a:r>
                <a:r>
                  <a:rPr lang="en-US" sz="1600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>
                            <a:latin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sz="1600" b="1" i="1" smtClean="0">
                            <a:latin typeface="Cambria Math" panose="02040503050406030204" pitchFamily="18" charset="0"/>
                          </a:rPr>
                          <m:t>𝝅</m:t>
                        </m:r>
                      </m:sub>
                    </m:sSub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𝑮</m:t>
                    </m:r>
                    <m:r>
                      <a:rPr lang="en-US" sz="1600" b="1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600" b="1" dirty="0"/>
                  <a:t>:</a:t>
                </a:r>
                <a:endParaRPr lang="ru-RU" sz="1600" b="1" dirty="0"/>
              </a:p>
              <a:p>
                <a:pPr marL="133350" indent="0">
                  <a:buNone/>
                </a:pPr>
                <a:r>
                  <a:rPr lang="ru-RU" sz="1400" dirty="0"/>
                  <a:t>Получаем траекторию</a:t>
                </a:r>
                <a:r>
                  <a:rPr lang="en-US" sz="1400" dirty="0"/>
                  <a:t>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  <m:e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sup>
                              </m:sSup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i="1">
                                  <a:latin typeface="Cambria Math" panose="02040503050406030204" pitchFamily="18" charset="0"/>
                                </a:rPr>
                                <m:t>𝑛𝑜𝑖𝑠𝑒</m:t>
                              </m:r>
                              <m:d>
                                <m:dPr>
                                  <m:ctrlP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400" i="1">
                                      <a:latin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d>
                            </m:e>
                          </m:d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</m:sSub>
                    </m:oMath>
                  </m:oMathPara>
                </a14:m>
                <a:endParaRPr lang="ru-RU" dirty="0"/>
              </a:p>
              <a:p>
                <a:pPr marL="133350" indent="0">
                  <a:buNone/>
                </a:pPr>
                <a:r>
                  <a:rPr lang="ru-RU" sz="1800" b="1" dirty="0"/>
                  <a:t>Улучшение политики</a:t>
                </a:r>
                <a:r>
                  <a:rPr lang="en-US" sz="1800" dirty="0"/>
                  <a:t>:</a:t>
                </a:r>
              </a:p>
              <a:p>
                <a:pPr marL="133350" indent="0">
                  <a:buNone/>
                </a:pPr>
                <a:r>
                  <a:rPr lang="ru-RU" sz="1600" dirty="0"/>
                  <a:t>Выбираем «элитные» траектории и усредняем действие на них</a:t>
                </a:r>
                <a:r>
                  <a:rPr lang="en-US" sz="1600" dirty="0"/>
                  <a:t> </a:t>
                </a:r>
                <a:r>
                  <a:rPr lang="ru-RU" sz="1600" dirty="0"/>
                  <a:t>для каждого состояния и обновляем веса модели: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𝐿𝑜𝑠𝑠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sub>
                        <m:sup/>
                        <m:e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p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</m:sup>
                                  </m:sSup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𝜂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𝐿𝑜𝑠𝑠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ru-RU" dirty="0"/>
              </a:p>
              <a:p>
                <a:pPr marL="133350" indent="0">
                  <a:buNone/>
                </a:pPr>
                <a:endParaRPr lang="ru-RU" dirty="0"/>
              </a:p>
              <a:p>
                <a:pPr marL="133350" indent="0">
                  <a:buNone/>
                </a:pPr>
                <a:r>
                  <a:rPr lang="ru-RU" sz="1600" b="1" dirty="0"/>
                  <a:t>Не эффективно!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3" name="Text Placeholder 2">
                <a:extLst>
                  <a:ext uri="{FF2B5EF4-FFF2-40B4-BE49-F238E27FC236}">
                    <a16:creationId xmlns:a16="http://schemas.microsoft.com/office/drawing/2014/main" id="{B01F0D9C-11BE-764F-B530-80757F51C3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500550" y="1003021"/>
                <a:ext cx="8520600" cy="3888097"/>
              </a:xfrm>
              <a:blipFill>
                <a:blip r:embed="rId2"/>
                <a:stretch>
                  <a:fillRect b="-104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4971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01F0D9C-11BE-764F-B530-80757F51C3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003021"/>
            <a:ext cx="8165055" cy="3888097"/>
          </a:xfrm>
        </p:spPr>
        <p:txBody>
          <a:bodyPr>
            <a:normAutofit/>
          </a:bodyPr>
          <a:lstStyle/>
          <a:p>
            <a:pPr marL="133350" indent="0" algn="ctr">
              <a:buNone/>
            </a:pPr>
            <a:endParaRPr lang="ru-RU" sz="3200" dirty="0"/>
          </a:p>
          <a:p>
            <a:pPr marL="133350" indent="0" algn="ctr">
              <a:buNone/>
            </a:pPr>
            <a:r>
              <a:rPr lang="ru-RU" sz="3200" dirty="0"/>
              <a:t>Как улучшать модель на каждом шаге, </a:t>
            </a:r>
          </a:p>
          <a:p>
            <a:pPr marL="133350" indent="0" algn="ctr">
              <a:buNone/>
            </a:pPr>
            <a:r>
              <a:rPr lang="ru-RU" sz="3200" dirty="0"/>
              <a:t>а не по множеству траекторий?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601751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656142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Задача – максимизировать суммарную награду агента, 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т.е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максимизировать мат ожидание награды</a:t>
                </a:r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при какой-то политике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(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задача конечномерной оптимизации):</a:t>
                </a: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ru-RU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</m:d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p>
                            <m:sSupPr>
                              <m:ctrlPr>
                                <a:rPr lang="ru-RU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sz="1600" b="0" i="1" u="none" strike="noStrike" smtClean="0">
                          <a:solidFill>
                            <a:srgbClr val="000000"/>
                          </a:solidFill>
                          <a:effectLst/>
                          <a:latin typeface="Cambria Math" panose="02040503050406030204" pitchFamily="18" charset="0"/>
                        </a:rPr>
                        <m:t>→</m:t>
                      </m:r>
                      <m:func>
                        <m:funcPr>
                          <m:ctrlPr>
                            <a:rPr lang="en-US" sz="1600" b="0" i="1" u="none" strike="noStrike" smtClean="0">
                              <a:solidFill>
                                <a:srgbClr val="000000"/>
                              </a:solidFill>
                              <a:effectLst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600" b="0" i="1" u="none" strike="noStrike" smtClean="0">
                                  <a:solidFill>
                                    <a:srgbClr val="000000"/>
                                  </a:solidFill>
                                  <a:effectLst/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lim>
                          </m:limLow>
                        </m:fName>
                        <m:e/>
                      </m:func>
                    </m:oMath>
                  </m:oMathPara>
                </a14:m>
                <a:endParaRPr lang="en-US" sz="16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en-US" sz="1400" b="0" i="0" u="none" strike="noStrike" dirty="0">
                  <a:solidFill>
                    <a:srgbClr val="000000"/>
                  </a:solidFill>
                  <a:effectLst/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400" b="0" i="0" u="none" strike="noStrike" dirty="0">
                    <a:solidFill>
                      <a:srgbClr val="000000"/>
                    </a:solidFill>
                    <a:effectLst/>
                    <a:latin typeface="Helvetica Neue" panose="02000503000000020004" pitchFamily="2" charset="0"/>
                  </a:rPr>
                  <a:t>Поскольку политика есть отображение пространства действий на пространство состояний то можем представить эту награду в виде суммы всех наград по текущей политике, а в случае непрерывного пространства состояний – интегралом:</a:t>
                </a:r>
              </a:p>
              <a:p>
                <a:pPr marL="133350" indent="0" algn="ctr">
                  <a:buNone/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e>
                    </m:d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supHide m:val="on"/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,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sup>
                    </m:sSup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(∙)</m:t>
                    </m:r>
                  </m:oMath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p>
                            <m:sSupPr>
                              <m:ctrlPr>
                                <a:rPr lang="ru-RU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ru-RU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limLoc m:val="undOvr"/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</m:oMath>
                  </m:oMathPara>
                </a14:m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656142"/>
              </a:xfrm>
              <a:prstGeom prst="rect">
                <a:avLst/>
              </a:prstGeom>
              <a:blipFill>
                <a:blip r:embed="rId3"/>
                <a:stretch>
                  <a:fillRect b="-328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91A1222-B103-0045-94A3-C8C34E006067}"/>
              </a:ext>
            </a:extLst>
          </p:cNvPr>
          <p:cNvSpPr/>
          <p:nvPr/>
        </p:nvSpPr>
        <p:spPr>
          <a:xfrm>
            <a:off x="4449262" y="3939898"/>
            <a:ext cx="1478996" cy="859168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3888430-EB82-9C49-8369-01100F6D7A11}"/>
              </a:ext>
            </a:extLst>
          </p:cNvPr>
          <p:cNvSpPr txBox="1"/>
          <p:nvPr/>
        </p:nvSpPr>
        <p:spPr>
          <a:xfrm>
            <a:off x="6214598" y="4215593"/>
            <a:ext cx="293221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Как вычислить этот интеграл?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81840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877580"/>
                <a:ext cx="8801144" cy="403195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ru-RU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sSup>
                            <m:sSupPr>
                              <m:ctrlPr>
                                <a:rPr lang="ru-RU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ru-RU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limLoc m:val="undOvr"/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</m:oMath>
                  </m:oMathPara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Приблизим политику </a:t>
                </a:r>
                <a:r>
                  <a:rPr lang="ru-RU" sz="1400" dirty="0" err="1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нейросетью</a:t>
                </a: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. Обновляем веса: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4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nary>
                        <m:naryPr>
                          <m:limLoc m:val="undOvr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  <m:r>
                        <a:rPr lang="en-US" sz="14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</m:oMath>
                  </m:oMathPara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:r>
                  <a:rPr lang="ru-RU" sz="1400" dirty="0">
                    <a:solidFill>
                      <a:srgbClr val="C00000"/>
                    </a:solidFill>
                    <a:latin typeface="Helvetica Neue" panose="02000503000000020004" pitchFamily="2" charset="0"/>
                  </a:rPr>
                  <a:t>Внимание!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400" b="0" i="0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sz="14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b>
                        </m:sSub>
                        <m: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  <m:d>
                      <m:dPr>
                        <m:ctrlP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ru-RU" sz="1400" dirty="0">
                    <a:solidFill>
                      <a:srgbClr val="C00000"/>
                    </a:solidFill>
                    <a:latin typeface="Helvetica Neue" panose="02000503000000020004" pitchFamily="2" charset="0"/>
                  </a:rPr>
                  <a:t> не является функцией плотности распределения вероятностей!</a:t>
                </a:r>
              </a:p>
              <a:p>
                <a:pPr marL="133350" indent="0" algn="ctr">
                  <a:buNone/>
                </a:pPr>
                <a14:m>
                  <m:oMath xmlns:m="http://schemas.openxmlformats.org/officeDocument/2006/math">
                    <m:r>
                      <a:rPr lang="ru-RU" sz="140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Не можем воспользоваться методами семплирования для стохастического интеграла.</a:t>
                </a: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1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</m:d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d>
                            <m:dPr>
                              <m:ctrlP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</m:d>
                        </m:num>
                        <m:den>
                          <m:r>
                            <a:rPr lang="en-US" sz="1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𝛿</m:t>
                          </m:r>
                        </m:den>
                      </m:f>
                    </m:oMath>
                  </m:oMathPara>
                </a14:m>
                <a:endParaRPr lang="ru-RU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 algn="ctr">
                  <a:buNone/>
                </a:pPr>
                <a:r>
                  <a:rPr lang="ru-RU" sz="14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Метод конечных приращений. В явном виде - просто, быстро, не эффективно, почти не работает!</a:t>
                </a:r>
                <a:endParaRPr lang="en-US" sz="14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877580"/>
                <a:ext cx="8801144" cy="4031950"/>
              </a:xfrm>
              <a:prstGeom prst="rect">
                <a:avLst/>
              </a:prstGeom>
              <a:blipFill>
                <a:blip r:embed="rId3"/>
                <a:stretch>
                  <a:fillRect t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A3F17ABF-DA77-EB4B-BA63-16DE08A69C58}"/>
              </a:ext>
            </a:extLst>
          </p:cNvPr>
          <p:cNvSpPr/>
          <p:nvPr/>
        </p:nvSpPr>
        <p:spPr>
          <a:xfrm>
            <a:off x="4903393" y="2160193"/>
            <a:ext cx="1730610" cy="834620"/>
          </a:xfrm>
          <a:prstGeom prst="roundRect">
            <a:avLst/>
          </a:prstGeom>
          <a:noFill/>
          <a:ln>
            <a:solidFill>
              <a:srgbClr val="C00000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60F6FD-3712-BB45-8CE1-AB06B8543AE8}"/>
              </a:ext>
            </a:extLst>
          </p:cNvPr>
          <p:cNvSpPr txBox="1"/>
          <p:nvPr/>
        </p:nvSpPr>
        <p:spPr>
          <a:xfrm>
            <a:off x="6862300" y="2310140"/>
            <a:ext cx="15840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solidFill>
                  <a:srgbClr val="C00000"/>
                </a:solidFill>
              </a:rPr>
              <a:t>Как вычислить </a:t>
            </a:r>
          </a:p>
          <a:p>
            <a:r>
              <a:rPr lang="ru-RU" b="1" dirty="0">
                <a:solidFill>
                  <a:srgbClr val="C00000"/>
                </a:solidFill>
              </a:rPr>
              <a:t>этот интеграл?</a:t>
            </a:r>
            <a:endParaRPr lang="en-US" b="1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1870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3200" dirty="0">
                <a:solidFill>
                  <a:srgbClr val="000000"/>
                </a:solidFill>
                <a:latin typeface="Helvetica Neue" panose="02000503000000020004" pitchFamily="2" charset="0"/>
              </a:rPr>
              <a:t>Policy gradient theorem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71428" y="1026444"/>
                <a:ext cx="8801144" cy="3478172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Градиент политики можно приблизить выражением:</a:t>
                </a:r>
                <a:endParaRPr lang="en-US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  <m:r>
                        <a:rPr lang="ru-RU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f>
                            <m:fPr>
                              <m:ctrlPr>
                                <a:rPr lang="en-US" sz="160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60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num>
                            <m:den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den>
                          </m:f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  <m:r>
                        <a:rPr lang="ru-RU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func>
                            <m:func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sSup>
                                <m:sSup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6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</m:d>
                            </m:e>
                          </m:func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nary>
                      <m:r>
                        <a:rPr lang="ru-RU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US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:endParaRPr lang="ru-RU" sz="160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eqArr>
                            <m:eqArr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sSup>
                                    <m:sSupPr>
                                      <m:ctrlP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p>
                                      <m:r>
                                        <a:rPr lang="en-US" sz="1600" b="0" i="1" smtClean="0">
                                          <a:solidFill>
                                            <a:srgbClr val="0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𝜂</m:t>
                                      </m:r>
                                    </m:sup>
                                  </m:sSup>
                                </m:sub>
                              </m:sSub>
                            </m:e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~ </m:t>
                              </m:r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</m:e>
                          </m:eqAr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sSup>
                                <m:sSup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p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𝜂</m:t>
                                  </m:r>
                                </m:sup>
                              </m:sSup>
                            </m:sub>
                          </m:s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 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𝐽</m:t>
                      </m:r>
                      <m:sSup>
                        <m:sSup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e>
                          </m:d>
                        </m:e>
                        <m:sup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где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nary>
                      <m:naryPr>
                        <m:chr m:val="∑"/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ℙ</m:t>
                        </m:r>
                        <m:d>
                          <m:d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</m:d>
                      </m:e>
                    </m:nary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.</a:t>
                </a:r>
              </a:p>
              <a:p>
                <a:pPr marL="133350" indent="0">
                  <a:buNone/>
                </a:pPr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Оценка методом Монте-Карло: 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sSup>
                            <m:sSup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6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r>
                        <a:rPr lang="ru-RU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ru-RU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ru-RU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ru-RU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ru-RU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71428" y="1026444"/>
                <a:ext cx="8801144" cy="3478172"/>
              </a:xfrm>
              <a:prstGeom prst="rect">
                <a:avLst/>
              </a:prstGeom>
              <a:blipFill>
                <a:blip r:embed="rId3"/>
                <a:stretch>
                  <a:fillRect t="-9091" b="-5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507E803C-825D-F244-838B-8C3E04FB61B0}"/>
              </a:ext>
            </a:extLst>
          </p:cNvPr>
          <p:cNvSpPr/>
          <p:nvPr/>
        </p:nvSpPr>
        <p:spPr>
          <a:xfrm>
            <a:off x="4572000" y="2718977"/>
            <a:ext cx="2852201" cy="42995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D0CEE0-D36D-B544-9ED5-8D3A97BE128B}"/>
              </a:ext>
            </a:extLst>
          </p:cNvPr>
          <p:cNvSpPr txBox="1"/>
          <p:nvPr/>
        </p:nvSpPr>
        <p:spPr>
          <a:xfrm>
            <a:off x="4515469" y="3241795"/>
            <a:ext cx="3892412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000" dirty="0">
                <a:hlinkClick r:id="rId4"/>
              </a:rPr>
              <a:t>*Доказательство приведено в курсе Панова (МФТИ), лекция 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5849177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 - 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алгоритм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Задаем начальное приближение политики</a:t>
                </a:r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Запускаем обучение. Для каждого эпизода:</a:t>
                </a:r>
              </a:p>
              <a:p>
                <a:pPr lvl="1"/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Действуя по текущей политике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p>
                    </m:sSup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получаем траекторию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𝜏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b>
                        </m:sSub>
                      </m:e>
                    </m:d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, награды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,…, </m:t>
                    </m:r>
                    <m:sSub>
                      <m:sSub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и определяем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sz="16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16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,…, </m:t>
                        </m:r>
                        <m:sSub>
                          <m:sSubPr>
                            <m:ctrlP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  <m:r>
                              <a:rPr lang="en-US" sz="16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:</a:t>
                </a:r>
              </a:p>
              <a:p>
                <a:pPr marL="60325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G</m:t>
                          </m:r>
                        </m:e>
                        <m: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ru-RU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p>
                            <m:sSupPr>
                              <m:ctrlPr>
                                <a:rPr lang="ru-RU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6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16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lvl="1"/>
                <a:r>
                  <a:rPr lang="ru-RU" sz="16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Следуя по траектории обновляем веса модели на каждом шаге по правилу:</a:t>
                </a:r>
              </a:p>
              <a:p>
                <a:pPr marL="603250" lvl="1" indent="0">
                  <a:buNone/>
                </a:pPr>
                <a:endParaRPr lang="en-US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60325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func>
                        <m:func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32459"/>
                <a:ext cx="8801144" cy="3422940"/>
              </a:xfrm>
              <a:prstGeom prst="rect">
                <a:avLst/>
              </a:prstGeom>
              <a:blipFill>
                <a:blip r:embed="rId3"/>
                <a:stretch>
                  <a:fillRect b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489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7777495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712291-7ABD-834A-95A3-323BA7CC4C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3B2C0E7-6CD8-1445-AE87-37F092D54C9D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8D86B4B-9083-7143-BCF3-5EDCF81A9773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808256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REINFORCE – </a:t>
            </a:r>
            <a:r>
              <a:rPr lang="ru-RU" dirty="0">
                <a:solidFill>
                  <a:srgbClr val="058D40"/>
                </a:solidFill>
                <a:latin typeface="Helvetica Neue" panose="02000503000000020004" pitchFamily="2" charset="0"/>
              </a:rPr>
              <a:t>достоинства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и </a:t>
            </a:r>
            <a:r>
              <a:rPr lang="ru-RU" dirty="0">
                <a:solidFill>
                  <a:srgbClr val="C00000"/>
                </a:solidFill>
                <a:latin typeface="Helvetica Neue" panose="02000503000000020004" pitchFamily="2" charset="0"/>
              </a:rPr>
              <a:t>недостатки</a:t>
            </a:r>
            <a:endParaRPr dirty="0">
              <a:solidFill>
                <a:srgbClr val="C00000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E7F2FE1-3E2C-5C4B-AF56-86F7BE6643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43193" y="1259260"/>
            <a:ext cx="3496698" cy="311022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70CC0C1-A9FE-EB41-A092-234D3AB7B14E}"/>
              </a:ext>
            </a:extLst>
          </p:cNvPr>
          <p:cNvSpPr/>
          <p:nvPr/>
        </p:nvSpPr>
        <p:spPr>
          <a:xfrm>
            <a:off x="2843193" y="3540999"/>
            <a:ext cx="1188759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058D40"/>
                </a:solidFill>
              </a:rPr>
              <a:t>Advantages</a:t>
            </a:r>
            <a:endParaRPr lang="en-RU" dirty="0">
              <a:solidFill>
                <a:srgbClr val="058D40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8A7CD40-723E-444D-BE52-EB87F5B42DE8}"/>
              </a:ext>
            </a:extLst>
          </p:cNvPr>
          <p:cNvSpPr/>
          <p:nvPr/>
        </p:nvSpPr>
        <p:spPr>
          <a:xfrm>
            <a:off x="4928721" y="3010905"/>
            <a:ext cx="1411170" cy="331393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rgbClr val="C00000"/>
                </a:solidFill>
              </a:rPr>
              <a:t>Disadvantages</a:t>
            </a:r>
            <a:endParaRPr lang="en-RU" dirty="0">
              <a:solidFill>
                <a:srgbClr val="C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713310-70E5-8E4C-856E-67239DC65324}"/>
              </a:ext>
            </a:extLst>
          </p:cNvPr>
          <p:cNvSpPr txBox="1"/>
          <p:nvPr/>
        </p:nvSpPr>
        <p:spPr>
          <a:xfrm>
            <a:off x="362078" y="2107235"/>
            <a:ext cx="278615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dirty="0">
                <a:solidFill>
                  <a:srgbClr val="058D40"/>
                </a:solidFill>
              </a:rPr>
              <a:t>Непрерывное пространство действий</a:t>
            </a:r>
          </a:p>
          <a:p>
            <a:endParaRPr lang="ru-RU" sz="1800" dirty="0">
              <a:solidFill>
                <a:srgbClr val="058D40"/>
              </a:solidFill>
            </a:endParaRPr>
          </a:p>
          <a:p>
            <a:r>
              <a:rPr lang="ru-RU" sz="1800" dirty="0">
                <a:solidFill>
                  <a:srgbClr val="058D40"/>
                </a:solidFill>
              </a:rPr>
              <a:t>Обучаем сразу политику</a:t>
            </a:r>
            <a:endParaRPr lang="en-RU" sz="1800" dirty="0">
              <a:solidFill>
                <a:srgbClr val="058D4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AFAB04-6711-1D4A-8216-7D228241E22C}"/>
              </a:ext>
            </a:extLst>
          </p:cNvPr>
          <p:cNvSpPr txBox="1"/>
          <p:nvPr/>
        </p:nvSpPr>
        <p:spPr>
          <a:xfrm>
            <a:off x="6585466" y="1676348"/>
            <a:ext cx="1891413" cy="2369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>
                <a:solidFill>
                  <a:srgbClr val="C00000"/>
                </a:solidFill>
              </a:rPr>
              <a:t>On-policy</a:t>
            </a:r>
          </a:p>
          <a:p>
            <a:endParaRPr lang="en-US" sz="1800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rgbClr val="C00000"/>
                </a:solidFill>
              </a:rPr>
              <a:t>Не можем использовать </a:t>
            </a:r>
            <a:br>
              <a:rPr lang="en-US" dirty="0">
                <a:solidFill>
                  <a:srgbClr val="C00000"/>
                </a:solidFill>
              </a:rPr>
            </a:br>
            <a:r>
              <a:rPr lang="en-US" dirty="0">
                <a:solidFill>
                  <a:srgbClr val="C00000"/>
                </a:solidFill>
              </a:rPr>
              <a:t>Experience replay</a:t>
            </a:r>
            <a:endParaRPr lang="ru-RU" dirty="0">
              <a:solidFill>
                <a:srgbClr val="C00000"/>
              </a:solidFill>
            </a:endParaRPr>
          </a:p>
          <a:p>
            <a:endParaRPr lang="ru-RU" dirty="0">
              <a:solidFill>
                <a:srgbClr val="C00000"/>
              </a:solidFill>
            </a:endParaRPr>
          </a:p>
          <a:p>
            <a:r>
              <a:rPr lang="ru-RU" dirty="0">
                <a:solidFill>
                  <a:srgbClr val="C00000"/>
                </a:solidFill>
              </a:rPr>
              <a:t>Не устойчив;</a:t>
            </a:r>
          </a:p>
          <a:p>
            <a:r>
              <a:rPr lang="ru-RU" dirty="0">
                <a:solidFill>
                  <a:srgbClr val="C00000"/>
                </a:solidFill>
              </a:rPr>
              <a:t>Сходится к локальному минимуму</a:t>
            </a:r>
            <a:endParaRPr lang="en-US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31843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Advantage REINFORCE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786454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200" dirty="0"/>
                  <a:t>В силу стохастичности стратегии в одном и том же состоянии в разных эпизодах могут выбираться разные действия. Это может запутать обучение, потому что один пример требует увеличить вероятность выбора некоторого действия, а другой – уменьшить ее. </a:t>
                </a:r>
                <a:endParaRPr lang="en-US" sz="1400" dirty="0"/>
              </a:p>
              <a:p>
                <a:pPr marL="133350" indent="0">
                  <a:buNone/>
                </a:pPr>
                <a:r>
                  <a:rPr lang="ru-RU" sz="1200" dirty="0"/>
                  <a:t>Функция</a:t>
                </a:r>
                <a:r>
                  <a:rPr lang="en-US" sz="1200" dirty="0"/>
                  <a:t> </a:t>
                </a:r>
                <a:r>
                  <a:rPr lang="ru-RU" sz="1200" dirty="0"/>
                  <a:t>преимущества (</a:t>
                </a:r>
                <a:r>
                  <a:rPr lang="en-US" sz="1200" dirty="0"/>
                  <a:t>advantage function):</a:t>
                </a:r>
                <a:endParaRPr lang="ru-RU" sz="1200" dirty="0"/>
              </a:p>
              <a:p>
                <a:pPr marL="133350" indent="0">
                  <a:buNone/>
                </a:pPr>
                <a:endParaRPr lang="ru-RU" sz="1600" dirty="0">
                  <a:latin typeface="PTSerif" panose="020A0603040505020204" pitchFamily="18" charset="77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ru-RU" sz="1600" b="0" i="1" dirty="0"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ru-RU" sz="12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𝔼</m:t>
                      </m:r>
                      <m:d>
                        <m:dPr>
                          <m:begChr m:val="["/>
                          <m:endChr m:val="]"/>
                          <m:ctrlP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2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12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1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en-US" sz="12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ru-RU" sz="1400" dirty="0"/>
              </a:p>
              <a:p>
                <a:pPr marL="133350" indent="0">
                  <a:buNone/>
                </a:pPr>
                <a:endParaRPr lang="ru-RU" sz="1200" dirty="0"/>
              </a:p>
              <a:p>
                <a:pPr marL="133350" indent="0">
                  <a:buNone/>
                </a:pPr>
                <a:r>
                  <a:rPr lang="ru-RU" sz="1200" dirty="0"/>
                  <a:t>Тогда обновление весов модели производится по формуле:</a:t>
                </a:r>
              </a:p>
              <a:p>
                <a:pPr marL="133350" indent="0">
                  <a:buNone/>
                </a:pPr>
                <a:endParaRPr lang="ru-RU" sz="16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𝜂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−</m:t>
                      </m:r>
                      <m:r>
                        <a:rPr lang="en-US" sz="1600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𝜂</m:t>
                          </m:r>
                        </m:sub>
                      </m:sSub>
                      <m:func>
                        <m:funcPr>
                          <m:ctrlPr>
                            <a:rPr lang="en-US" sz="16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p>
                            <m:sSup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600" b="0" i="1" smtClean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sSub>
                            <m:sSubPr>
                              <m:ctrlP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n-US" sz="1600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func>
                    </m:oMath>
                  </m:oMathPara>
                </a14:m>
                <a:endParaRPr lang="en-US" sz="16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:endParaRPr lang="ru-RU" sz="1400" dirty="0"/>
              </a:p>
              <a:p>
                <a:pPr marL="133350" indent="0">
                  <a:buNone/>
                </a:pPr>
                <a:r>
                  <a:rPr lang="ru-RU" sz="1200" dirty="0"/>
                  <a:t>Введение преимущества позволяет откалибровать вознаграждения относительно среднего действия в данном состоянии</a:t>
                </a:r>
                <a:r>
                  <a:rPr lang="ru-RU" sz="1400" dirty="0">
                    <a:effectLst/>
                    <a:latin typeface="PTSerif" panose="020A0603040505020204" pitchFamily="18" charset="77"/>
                  </a:rPr>
                  <a:t>. </a:t>
                </a:r>
                <a:endParaRPr lang="ru-RU" sz="1200" dirty="0"/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786454"/>
              </a:xfrm>
              <a:prstGeom prst="rect">
                <a:avLst/>
              </a:prstGeom>
              <a:blipFill>
                <a:blip r:embed="rId3"/>
                <a:stretch>
                  <a:fillRect b="-46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 1">
            <a:extLst>
              <a:ext uri="{FF2B5EF4-FFF2-40B4-BE49-F238E27FC236}">
                <a16:creationId xmlns:a16="http://schemas.microsoft.com/office/drawing/2014/main" id="{0D4A945E-AAF5-204B-A475-27B5E2E52D9C}"/>
              </a:ext>
            </a:extLst>
          </p:cNvPr>
          <p:cNvSpPr/>
          <p:nvPr/>
        </p:nvSpPr>
        <p:spPr>
          <a:xfrm>
            <a:off x="3094426" y="3716877"/>
            <a:ext cx="2743200" cy="43600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1B2BA7-6165-D644-BED5-E119720E35F5}"/>
              </a:ext>
            </a:extLst>
          </p:cNvPr>
          <p:cNvSpPr/>
          <p:nvPr/>
        </p:nvSpPr>
        <p:spPr>
          <a:xfrm>
            <a:off x="3703521" y="2341308"/>
            <a:ext cx="1525010" cy="354378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68481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Дальнейшие улучшения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965426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133350" indent="0">
                  <a:buNone/>
                </a:pPr>
                <a:r>
                  <a:rPr lang="ru-RU" sz="1400" dirty="0"/>
                  <a:t>Обновление весов модели:</a:t>
                </a:r>
              </a:p>
              <a:p>
                <a:pPr marL="133350" indent="0">
                  <a:buNone/>
                </a:pPr>
                <a:endParaRPr lang="ru-RU" sz="9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REINFORCE</a:t>
                </a:r>
              </a:p>
              <a:p>
                <a:pPr marL="133350" indent="0">
                  <a:buNone/>
                </a:pPr>
                <a:endParaRPr lang="en-US" sz="1000" b="0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Advantage REINFORCE 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	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Actor-Critic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b="0" i="1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func>
                      <m:func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ln</m:t>
                        </m:r>
                      </m:fName>
                      <m:e>
                        <m:sSup>
                          <m:sSup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sup>
                        </m:sSup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+1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sSub>
                              <m:sSubPr>
                                <m:ctrlP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sz="1800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e>
                    </m:func>
                  </m:oMath>
                </a14:m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	</a:t>
                </a:r>
                <a:r>
                  <a:rPr lang="ru-RU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- </a:t>
                </a:r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Advantage Actor-Critic</a:t>
                </a:r>
              </a:p>
              <a:p>
                <a:pPr marL="133350" indent="0">
                  <a:buNone/>
                </a:pPr>
                <a:endParaRPr lang="en-US" sz="1000" dirty="0">
                  <a:solidFill>
                    <a:srgbClr val="000000"/>
                  </a:solidFill>
                  <a:latin typeface="Helvetica Neue" panose="02000503000000020004" pitchFamily="2" charset="0"/>
                </a:endParaRPr>
              </a:p>
              <a:p>
                <a:pPr marL="133350" indent="0">
                  <a:buNone/>
                </a:pPr>
                <a14:m>
                  <m:oMath xmlns:m="http://schemas.openxmlformats.org/officeDocument/2006/math"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sz="180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sSub>
                      <m:sSubPr>
                        <m:ctrlP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b="0" i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𝜂</m:t>
                        </m:r>
                      </m:sub>
                    </m:sSub>
                    <m:d>
                      <m:dPr>
                        <m:ctrlPr>
                          <a:rPr lang="en-US" sz="1800" i="1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sz="18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den>
                        </m:f>
                        <m:nary>
                          <m:naryPr>
                            <m:chr m:val="∑"/>
                            <m:ctrlPr>
                              <a:rPr lang="en-US" sz="180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en-US" sz="1800" b="0" i="1" smtClean="0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sup>
                            </m:sSup>
                            <m:d>
                              <m:dPr>
                                <m:ctrlPr>
                                  <a:rPr lang="en-US" sz="1800" b="0" i="1" smtClean="0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sSup>
                                  <m:sSup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p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𝜂</m:t>
                                    </m:r>
                                  </m:sup>
                                </m:sSup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sz="1800" i="1">
                                        <a:solidFill>
                                          <a:srgbClr val="0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sz="1800" i="1">
                                    <a:solidFill>
                                      <a:srgbClr val="00000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nary>
                      </m:e>
                    </m:d>
                  </m:oMath>
                </a14:m>
                <a:r>
                  <a:rPr lang="en-US" sz="1800" dirty="0">
                    <a:solidFill>
                      <a:srgbClr val="000000"/>
                    </a:solidFill>
                    <a:latin typeface="Helvetica Neue" panose="02000503000000020004" pitchFamily="2" charset="0"/>
                  </a:rPr>
                  <a:t> - DDPG (Deep deterministic Policy Gradient)</a:t>
                </a:r>
              </a:p>
            </p:txBody>
          </p:sp>
        </mc:Choice>
        <mc:Fallback xmlns="">
          <p:sp>
            <p:nvSpPr>
              <p:cNvPr id="7" name="Google Shape;311;p57">
                <a:extLst>
                  <a:ext uri="{FF2B5EF4-FFF2-40B4-BE49-F238E27FC236}">
                    <a16:creationId xmlns:a16="http://schemas.microsoft.com/office/drawing/2014/main" id="{8A36D44E-7C6A-5342-A463-32C67AE5582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122850" y="1026322"/>
                <a:ext cx="8801144" cy="3965426"/>
              </a:xfrm>
              <a:prstGeom prst="rect">
                <a:avLst/>
              </a:prstGeom>
              <a:blipFill>
                <a:blip r:embed="rId3"/>
                <a:stretch>
                  <a:fillRect b="-60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B2A31A4C-AA56-F149-A010-DA85625DA460}"/>
              </a:ext>
            </a:extLst>
          </p:cNvPr>
          <p:cNvSpPr/>
          <p:nvPr/>
        </p:nvSpPr>
        <p:spPr>
          <a:xfrm>
            <a:off x="2827979" y="1666839"/>
            <a:ext cx="30278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B394F1-8561-8843-B4FF-F39D91888612}"/>
              </a:ext>
            </a:extLst>
          </p:cNvPr>
          <p:cNvSpPr/>
          <p:nvPr/>
        </p:nvSpPr>
        <p:spPr>
          <a:xfrm>
            <a:off x="2827978" y="2288803"/>
            <a:ext cx="30278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2C789F-FD5A-644A-9CAE-3B5CCB5DEA1F}"/>
              </a:ext>
            </a:extLst>
          </p:cNvPr>
          <p:cNvSpPr/>
          <p:nvPr/>
        </p:nvSpPr>
        <p:spPr>
          <a:xfrm>
            <a:off x="2827978" y="2912800"/>
            <a:ext cx="926511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D4855B3-C7C7-DF4D-8301-473543C4AD65}"/>
              </a:ext>
            </a:extLst>
          </p:cNvPr>
          <p:cNvSpPr/>
          <p:nvPr/>
        </p:nvSpPr>
        <p:spPr>
          <a:xfrm>
            <a:off x="2827978" y="3508264"/>
            <a:ext cx="2706866" cy="35728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DC245B-823D-AB40-976B-2B6BCD082B7F}"/>
              </a:ext>
            </a:extLst>
          </p:cNvPr>
          <p:cNvSpPr/>
          <p:nvPr/>
        </p:nvSpPr>
        <p:spPr>
          <a:xfrm>
            <a:off x="1648138" y="4170460"/>
            <a:ext cx="2300131" cy="49237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110076F-3D95-EF49-B27F-84F16A6E3F79}"/>
              </a:ext>
            </a:extLst>
          </p:cNvPr>
          <p:cNvSpPr/>
          <p:nvPr/>
        </p:nvSpPr>
        <p:spPr>
          <a:xfrm>
            <a:off x="1883299" y="2912800"/>
            <a:ext cx="92651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B92B092-6846-EE47-ABDC-A433F497F24E}"/>
              </a:ext>
            </a:extLst>
          </p:cNvPr>
          <p:cNvSpPr/>
          <p:nvPr/>
        </p:nvSpPr>
        <p:spPr>
          <a:xfrm>
            <a:off x="1883299" y="3508264"/>
            <a:ext cx="92651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C7D73D-F582-314E-9C10-F4C90A2E5012}"/>
              </a:ext>
            </a:extLst>
          </p:cNvPr>
          <p:cNvSpPr/>
          <p:nvPr/>
        </p:nvSpPr>
        <p:spPr>
          <a:xfrm>
            <a:off x="3021758" y="4250006"/>
            <a:ext cx="732731" cy="35728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91132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EA1CD1D-A55C-3441-961B-9A977658FD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Обзор алгоритмов </a:t>
            </a:r>
            <a:r>
              <a:rPr lang="en-US" dirty="0"/>
              <a:t>RL</a:t>
            </a:r>
            <a:endParaRPr lang="en-TR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2B23CBB6-9E3B-5D4A-ABE9-B9AA7A6458FA}"/>
              </a:ext>
            </a:extLst>
          </p:cNvPr>
          <p:cNvSpPr/>
          <p:nvPr/>
        </p:nvSpPr>
        <p:spPr>
          <a:xfrm>
            <a:off x="4035020" y="1091429"/>
            <a:ext cx="1073960" cy="438214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RL Algorithms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7ACE2439-344B-844B-9867-EB4C6A5132A8}"/>
              </a:ext>
            </a:extLst>
          </p:cNvPr>
          <p:cNvSpPr/>
          <p:nvPr/>
        </p:nvSpPr>
        <p:spPr>
          <a:xfrm>
            <a:off x="1872452" y="1091429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Model-free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AAED1F50-6B5D-2347-9EE4-2CD4BAABD013}"/>
              </a:ext>
            </a:extLst>
          </p:cNvPr>
          <p:cNvSpPr/>
          <p:nvPr/>
        </p:nvSpPr>
        <p:spPr>
          <a:xfrm>
            <a:off x="6197589" y="1091429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Model-based</a:t>
            </a:r>
          </a:p>
        </p:txBody>
      </p:sp>
      <p:cxnSp>
        <p:nvCxnSpPr>
          <p:cNvPr id="9" name="Elbow Connector 8">
            <a:extLst>
              <a:ext uri="{FF2B5EF4-FFF2-40B4-BE49-F238E27FC236}">
                <a16:creationId xmlns:a16="http://schemas.microsoft.com/office/drawing/2014/main" id="{2C5F1E56-FF27-B04C-83E6-4B92D82FAD0C}"/>
              </a:ext>
            </a:extLst>
          </p:cNvPr>
          <p:cNvCxnSpPr>
            <a:cxnSpLocks/>
            <a:stCxn id="5" idx="1"/>
            <a:endCxn id="6" idx="3"/>
          </p:cNvCxnSpPr>
          <p:nvPr/>
        </p:nvCxnSpPr>
        <p:spPr>
          <a:xfrm flipH="1">
            <a:off x="2946412" y="1310536"/>
            <a:ext cx="108860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Elbow Connector 8">
            <a:extLst>
              <a:ext uri="{FF2B5EF4-FFF2-40B4-BE49-F238E27FC236}">
                <a16:creationId xmlns:a16="http://schemas.microsoft.com/office/drawing/2014/main" id="{6A120926-8349-524F-BD9A-68375F46F4EB}"/>
              </a:ext>
            </a:extLst>
          </p:cNvPr>
          <p:cNvCxnSpPr>
            <a:cxnSpLocks/>
            <a:stCxn id="5" idx="3"/>
            <a:endCxn id="7" idx="1"/>
          </p:cNvCxnSpPr>
          <p:nvPr/>
        </p:nvCxnSpPr>
        <p:spPr>
          <a:xfrm>
            <a:off x="5108980" y="1310536"/>
            <a:ext cx="1088609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EF20AD9-97B3-6F43-B41A-BADC332B23D1}"/>
              </a:ext>
            </a:extLst>
          </p:cNvPr>
          <p:cNvSpPr/>
          <p:nvPr/>
        </p:nvSpPr>
        <p:spPr>
          <a:xfrm>
            <a:off x="1200458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Policy Optimization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A2D8CAF-78EF-454A-B4BE-AB77D861A731}"/>
              </a:ext>
            </a:extLst>
          </p:cNvPr>
          <p:cNvSpPr/>
          <p:nvPr/>
        </p:nvSpPr>
        <p:spPr>
          <a:xfrm>
            <a:off x="2438721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Q-Learning</a:t>
            </a:r>
          </a:p>
        </p:txBody>
      </p:sp>
      <p:cxnSp>
        <p:nvCxnSpPr>
          <p:cNvPr id="15" name="Elbow Connector 8">
            <a:extLst>
              <a:ext uri="{FF2B5EF4-FFF2-40B4-BE49-F238E27FC236}">
                <a16:creationId xmlns:a16="http://schemas.microsoft.com/office/drawing/2014/main" id="{7E9E6EFB-EB94-4440-B564-66C2386C179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5400000">
            <a:off x="1960245" y="1306836"/>
            <a:ext cx="226380" cy="671994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8">
            <a:extLst>
              <a:ext uri="{FF2B5EF4-FFF2-40B4-BE49-F238E27FC236}">
                <a16:creationId xmlns:a16="http://schemas.microsoft.com/office/drawing/2014/main" id="{83736521-F6E9-BF45-B905-73B89A805F21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2579376" y="1359698"/>
            <a:ext cx="226380" cy="566269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5151AB6-889C-6B4A-B2B6-41CCAAF9496A}"/>
              </a:ext>
            </a:extLst>
          </p:cNvPr>
          <p:cNvSpPr/>
          <p:nvPr/>
        </p:nvSpPr>
        <p:spPr>
          <a:xfrm>
            <a:off x="5555996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Learn Model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BF6A4774-8494-3A47-9649-62287262141F}"/>
              </a:ext>
            </a:extLst>
          </p:cNvPr>
          <p:cNvSpPr/>
          <p:nvPr/>
        </p:nvSpPr>
        <p:spPr>
          <a:xfrm>
            <a:off x="6794537" y="1756023"/>
            <a:ext cx="1073960" cy="438214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1000" dirty="0">
                <a:solidFill>
                  <a:schemeClr val="tx1"/>
                </a:solidFill>
              </a:rPr>
              <a:t>Given Model</a:t>
            </a:r>
          </a:p>
        </p:txBody>
      </p:sp>
      <p:cxnSp>
        <p:nvCxnSpPr>
          <p:cNvPr id="29" name="Elbow Connector 8">
            <a:extLst>
              <a:ext uri="{FF2B5EF4-FFF2-40B4-BE49-F238E27FC236}">
                <a16:creationId xmlns:a16="http://schemas.microsoft.com/office/drawing/2014/main" id="{83BF5E0B-D9E2-A44C-A3C3-1EC7E7EF82B3}"/>
              </a:ext>
            </a:extLst>
          </p:cNvPr>
          <p:cNvCxnSpPr>
            <a:cxnSpLocks/>
            <a:stCxn id="7" idx="2"/>
            <a:endCxn id="22" idx="0"/>
          </p:cNvCxnSpPr>
          <p:nvPr/>
        </p:nvCxnSpPr>
        <p:spPr>
          <a:xfrm rot="16200000" flipH="1">
            <a:off x="6919853" y="1344359"/>
            <a:ext cx="226380" cy="59694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8">
            <a:extLst>
              <a:ext uri="{FF2B5EF4-FFF2-40B4-BE49-F238E27FC236}">
                <a16:creationId xmlns:a16="http://schemas.microsoft.com/office/drawing/2014/main" id="{BE91FF24-2607-0F45-A2CB-E20F82CC51BA}"/>
              </a:ext>
            </a:extLst>
          </p:cNvPr>
          <p:cNvCxnSpPr>
            <a:cxnSpLocks/>
            <a:stCxn id="7" idx="2"/>
            <a:endCxn id="21" idx="0"/>
          </p:cNvCxnSpPr>
          <p:nvPr/>
        </p:nvCxnSpPr>
        <p:spPr>
          <a:xfrm rot="5400000">
            <a:off x="6300583" y="1322037"/>
            <a:ext cx="226380" cy="641593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FC80BF1-067B-C54B-ABF2-06C43862B832}"/>
              </a:ext>
            </a:extLst>
          </p:cNvPr>
          <p:cNvSpPr/>
          <p:nvPr/>
        </p:nvSpPr>
        <p:spPr>
          <a:xfrm>
            <a:off x="1963814" y="273248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A2C / A3C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52C766A-5AD8-FB4D-9B63-93A31BAA6E8E}"/>
              </a:ext>
            </a:extLst>
          </p:cNvPr>
          <p:cNvSpPr/>
          <p:nvPr/>
        </p:nvSpPr>
        <p:spPr>
          <a:xfrm>
            <a:off x="547297" y="3260880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TPRO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D991E71-A838-5D49-ACE8-E69497F662F4}"/>
              </a:ext>
            </a:extLst>
          </p:cNvPr>
          <p:cNvSpPr/>
          <p:nvPr/>
        </p:nvSpPr>
        <p:spPr>
          <a:xfrm>
            <a:off x="547297" y="361035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PPO</a:t>
            </a: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F247219A-A6CB-3744-9730-7766985B2E8B}"/>
              </a:ext>
            </a:extLst>
          </p:cNvPr>
          <p:cNvSpPr/>
          <p:nvPr/>
        </p:nvSpPr>
        <p:spPr>
          <a:xfrm>
            <a:off x="547297" y="2543969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Policy Gradient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26CE7CE8-E53F-914A-B91F-A39CAA5B306B}"/>
              </a:ext>
            </a:extLst>
          </p:cNvPr>
          <p:cNvSpPr/>
          <p:nvPr/>
        </p:nvSpPr>
        <p:spPr>
          <a:xfrm>
            <a:off x="1966738" y="311968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TD3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7CA36081-543C-9D46-B5F7-B390ED9ACD31}"/>
              </a:ext>
            </a:extLst>
          </p:cNvPr>
          <p:cNvSpPr/>
          <p:nvPr/>
        </p:nvSpPr>
        <p:spPr>
          <a:xfrm>
            <a:off x="1966738" y="3468493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SAC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4F35B5B-7159-AD4D-B4A8-147B6E7A311E}"/>
              </a:ext>
            </a:extLst>
          </p:cNvPr>
          <p:cNvSpPr/>
          <p:nvPr/>
        </p:nvSpPr>
        <p:spPr>
          <a:xfrm>
            <a:off x="3264137" y="256906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DQN</a:t>
            </a:r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7A9BB0D-89C5-5744-AC9F-3DDD6F10096F}"/>
              </a:ext>
            </a:extLst>
          </p:cNvPr>
          <p:cNvSpPr/>
          <p:nvPr/>
        </p:nvSpPr>
        <p:spPr>
          <a:xfrm>
            <a:off x="3264137" y="2914463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C51</a:t>
            </a:r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DB6F9911-FE1A-6943-9379-56F7C463169F}"/>
              </a:ext>
            </a:extLst>
          </p:cNvPr>
          <p:cNvSpPr/>
          <p:nvPr/>
        </p:nvSpPr>
        <p:spPr>
          <a:xfrm>
            <a:off x="3264137" y="3267445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QR-DQN</a:t>
            </a: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71F9E737-35EA-A749-A181-C6027FDC30F1}"/>
              </a:ext>
            </a:extLst>
          </p:cNvPr>
          <p:cNvSpPr/>
          <p:nvPr/>
        </p:nvSpPr>
        <p:spPr>
          <a:xfrm>
            <a:off x="3264137" y="3610354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HER</a:t>
            </a:r>
          </a:p>
        </p:txBody>
      </p:sp>
      <p:cxnSp>
        <p:nvCxnSpPr>
          <p:cNvPr id="47" name="Elbow Connector 46">
            <a:extLst>
              <a:ext uri="{FF2B5EF4-FFF2-40B4-BE49-F238E27FC236}">
                <a16:creationId xmlns:a16="http://schemas.microsoft.com/office/drawing/2014/main" id="{06D0CAAB-142B-AA43-9ADA-3673608C55C5}"/>
              </a:ext>
            </a:extLst>
          </p:cNvPr>
          <p:cNvCxnSpPr>
            <a:cxnSpLocks/>
            <a:stCxn id="13" idx="2"/>
            <a:endCxn id="39" idx="3"/>
          </p:cNvCxnSpPr>
          <p:nvPr/>
        </p:nvCxnSpPr>
        <p:spPr>
          <a:xfrm rot="5400000">
            <a:off x="1351540" y="2299931"/>
            <a:ext cx="491593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Elbow Connector 48">
            <a:extLst>
              <a:ext uri="{FF2B5EF4-FFF2-40B4-BE49-F238E27FC236}">
                <a16:creationId xmlns:a16="http://schemas.microsoft.com/office/drawing/2014/main" id="{A6A1883F-97C0-8E42-B68C-4D8A3E690044}"/>
              </a:ext>
            </a:extLst>
          </p:cNvPr>
          <p:cNvCxnSpPr>
            <a:cxnSpLocks/>
            <a:stCxn id="13" idx="2"/>
            <a:endCxn id="36" idx="1"/>
          </p:cNvCxnSpPr>
          <p:nvPr/>
        </p:nvCxnSpPr>
        <p:spPr>
          <a:xfrm rot="16200000" flipH="1">
            <a:off x="1510570" y="2421105"/>
            <a:ext cx="680112" cy="22637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Elbow Connector 51">
            <a:extLst>
              <a:ext uri="{FF2B5EF4-FFF2-40B4-BE49-F238E27FC236}">
                <a16:creationId xmlns:a16="http://schemas.microsoft.com/office/drawing/2014/main" id="{61ADBE9E-8E72-E643-90AD-D36F51ECA0E9}"/>
              </a:ext>
            </a:extLst>
          </p:cNvPr>
          <p:cNvCxnSpPr>
            <a:cxnSpLocks/>
            <a:stCxn id="13" idx="2"/>
            <a:endCxn id="37" idx="3"/>
          </p:cNvCxnSpPr>
          <p:nvPr/>
        </p:nvCxnSpPr>
        <p:spPr>
          <a:xfrm rot="5400000">
            <a:off x="993084" y="2658387"/>
            <a:ext cx="1208504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Elbow Connector 55">
            <a:extLst>
              <a:ext uri="{FF2B5EF4-FFF2-40B4-BE49-F238E27FC236}">
                <a16:creationId xmlns:a16="http://schemas.microsoft.com/office/drawing/2014/main" id="{1C4CD73A-5DEA-9A44-A23D-425D3C792981}"/>
              </a:ext>
            </a:extLst>
          </p:cNvPr>
          <p:cNvCxnSpPr>
            <a:cxnSpLocks/>
            <a:stCxn id="13" idx="2"/>
            <a:endCxn id="38" idx="3"/>
          </p:cNvCxnSpPr>
          <p:nvPr/>
        </p:nvCxnSpPr>
        <p:spPr>
          <a:xfrm rot="5400000">
            <a:off x="818347" y="2833124"/>
            <a:ext cx="1557978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78EA0B56-8CD3-8A43-8E4D-1B73B5ADD86E}"/>
              </a:ext>
            </a:extLst>
          </p:cNvPr>
          <p:cNvSpPr/>
          <p:nvPr/>
        </p:nvSpPr>
        <p:spPr>
          <a:xfrm>
            <a:off x="5023201" y="2562521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World Models</a:t>
            </a:r>
          </a:p>
        </p:txBody>
      </p:sp>
      <p:sp>
        <p:nvSpPr>
          <p:cNvPr id="59" name="Rounded Rectangle 58">
            <a:extLst>
              <a:ext uri="{FF2B5EF4-FFF2-40B4-BE49-F238E27FC236}">
                <a16:creationId xmlns:a16="http://schemas.microsoft.com/office/drawing/2014/main" id="{D0B021F0-1C53-454E-B7F2-400671DE037D}"/>
              </a:ext>
            </a:extLst>
          </p:cNvPr>
          <p:cNvSpPr/>
          <p:nvPr/>
        </p:nvSpPr>
        <p:spPr>
          <a:xfrm>
            <a:off x="5023201" y="29079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I2A</a:t>
            </a:r>
          </a:p>
        </p:txBody>
      </p:sp>
      <p:sp>
        <p:nvSpPr>
          <p:cNvPr id="60" name="Rounded Rectangle 59">
            <a:extLst>
              <a:ext uri="{FF2B5EF4-FFF2-40B4-BE49-F238E27FC236}">
                <a16:creationId xmlns:a16="http://schemas.microsoft.com/office/drawing/2014/main" id="{5E539C7B-77B2-514D-8EE8-DACC1367D040}"/>
              </a:ext>
            </a:extLst>
          </p:cNvPr>
          <p:cNvSpPr/>
          <p:nvPr/>
        </p:nvSpPr>
        <p:spPr>
          <a:xfrm>
            <a:off x="5023201" y="326089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MBMF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24D89253-0737-1B41-8BE9-C055A1FB2521}"/>
              </a:ext>
            </a:extLst>
          </p:cNvPr>
          <p:cNvSpPr/>
          <p:nvPr/>
        </p:nvSpPr>
        <p:spPr>
          <a:xfrm>
            <a:off x="5023201" y="3603807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MBVE</a:t>
            </a:r>
          </a:p>
        </p:txBody>
      </p:sp>
      <p:sp>
        <p:nvSpPr>
          <p:cNvPr id="62" name="Rounded Rectangle 61">
            <a:extLst>
              <a:ext uri="{FF2B5EF4-FFF2-40B4-BE49-F238E27FC236}">
                <a16:creationId xmlns:a16="http://schemas.microsoft.com/office/drawing/2014/main" id="{C333A2A8-E82E-A442-AE62-1DC94F2F7E23}"/>
              </a:ext>
            </a:extLst>
          </p:cNvPr>
          <p:cNvSpPr/>
          <p:nvPr/>
        </p:nvSpPr>
        <p:spPr>
          <a:xfrm>
            <a:off x="5023201" y="39467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AlphaZero</a:t>
            </a: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33849C13-F259-064B-B81E-295633ACDDAB}"/>
              </a:ext>
            </a:extLst>
          </p:cNvPr>
          <p:cNvSpPr/>
          <p:nvPr/>
        </p:nvSpPr>
        <p:spPr>
          <a:xfrm>
            <a:off x="7478109" y="2562521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DP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F2183135-8593-214F-AE8A-D685C1294183}"/>
              </a:ext>
            </a:extLst>
          </p:cNvPr>
          <p:cNvSpPr/>
          <p:nvPr/>
        </p:nvSpPr>
        <p:spPr>
          <a:xfrm>
            <a:off x="7478109" y="29079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LQR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069916BB-614D-7444-9740-3673C511EE40}"/>
              </a:ext>
            </a:extLst>
          </p:cNvPr>
          <p:cNvSpPr/>
          <p:nvPr/>
        </p:nvSpPr>
        <p:spPr>
          <a:xfrm>
            <a:off x="7478109" y="3260898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MPC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994D8146-1C40-0349-9294-E0624C4BEF02}"/>
              </a:ext>
            </a:extLst>
          </p:cNvPr>
          <p:cNvSpPr/>
          <p:nvPr/>
        </p:nvSpPr>
        <p:spPr>
          <a:xfrm>
            <a:off x="7478109" y="3603807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MCTS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08A0C1BB-EBA9-0748-AEBE-FEB5BBDC159E}"/>
              </a:ext>
            </a:extLst>
          </p:cNvPr>
          <p:cNvSpPr/>
          <p:nvPr/>
        </p:nvSpPr>
        <p:spPr>
          <a:xfrm>
            <a:off x="7478109" y="3956367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BOMB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CAB5BB0F-9229-BA42-A4B4-42F9904EEA29}"/>
              </a:ext>
            </a:extLst>
          </p:cNvPr>
          <p:cNvSpPr/>
          <p:nvPr/>
        </p:nvSpPr>
        <p:spPr>
          <a:xfrm>
            <a:off x="5023201" y="4289625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CEPO</a:t>
            </a:r>
            <a:endParaRPr lang="en-TR" sz="800" dirty="0">
              <a:solidFill>
                <a:schemeClr val="tx1"/>
              </a:solidFill>
            </a:endParaRPr>
          </a:p>
        </p:txBody>
      </p:sp>
      <p:cxnSp>
        <p:nvCxnSpPr>
          <p:cNvPr id="84" name="Elbow Connector 83">
            <a:extLst>
              <a:ext uri="{FF2B5EF4-FFF2-40B4-BE49-F238E27FC236}">
                <a16:creationId xmlns:a16="http://schemas.microsoft.com/office/drawing/2014/main" id="{0437038C-EAEA-1B4D-9A94-56932C245774}"/>
              </a:ext>
            </a:extLst>
          </p:cNvPr>
          <p:cNvCxnSpPr>
            <a:stCxn id="21" idx="2"/>
            <a:endCxn id="58" idx="3"/>
          </p:cNvCxnSpPr>
          <p:nvPr/>
        </p:nvCxnSpPr>
        <p:spPr>
          <a:xfrm rot="5400000">
            <a:off x="5757985" y="2369390"/>
            <a:ext cx="510145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Elbow Connector 85">
            <a:extLst>
              <a:ext uri="{FF2B5EF4-FFF2-40B4-BE49-F238E27FC236}">
                <a16:creationId xmlns:a16="http://schemas.microsoft.com/office/drawing/2014/main" id="{ADD641D8-DBDB-D240-A539-4320862A5E00}"/>
              </a:ext>
            </a:extLst>
          </p:cNvPr>
          <p:cNvCxnSpPr>
            <a:stCxn id="21" idx="2"/>
            <a:endCxn id="59" idx="3"/>
          </p:cNvCxnSpPr>
          <p:nvPr/>
        </p:nvCxnSpPr>
        <p:spPr>
          <a:xfrm rot="5400000">
            <a:off x="5585287" y="2542088"/>
            <a:ext cx="855540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Elbow Connector 87">
            <a:extLst>
              <a:ext uri="{FF2B5EF4-FFF2-40B4-BE49-F238E27FC236}">
                <a16:creationId xmlns:a16="http://schemas.microsoft.com/office/drawing/2014/main" id="{9AB7F081-AC94-8245-8273-F800A7968C86}"/>
              </a:ext>
            </a:extLst>
          </p:cNvPr>
          <p:cNvCxnSpPr>
            <a:stCxn id="21" idx="2"/>
            <a:endCxn id="60" idx="3"/>
          </p:cNvCxnSpPr>
          <p:nvPr/>
        </p:nvCxnSpPr>
        <p:spPr>
          <a:xfrm rot="5400000">
            <a:off x="5408796" y="2718579"/>
            <a:ext cx="1208522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Elbow Connector 89">
            <a:extLst>
              <a:ext uri="{FF2B5EF4-FFF2-40B4-BE49-F238E27FC236}">
                <a16:creationId xmlns:a16="http://schemas.microsoft.com/office/drawing/2014/main" id="{E216C1AC-B4A7-2146-A502-3205AE3858AE}"/>
              </a:ext>
            </a:extLst>
          </p:cNvPr>
          <p:cNvCxnSpPr>
            <a:stCxn id="21" idx="2"/>
            <a:endCxn id="61" idx="3"/>
          </p:cNvCxnSpPr>
          <p:nvPr/>
        </p:nvCxnSpPr>
        <p:spPr>
          <a:xfrm rot="5400000">
            <a:off x="5237342" y="2890033"/>
            <a:ext cx="1551431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Elbow Connector 91">
            <a:extLst>
              <a:ext uri="{FF2B5EF4-FFF2-40B4-BE49-F238E27FC236}">
                <a16:creationId xmlns:a16="http://schemas.microsoft.com/office/drawing/2014/main" id="{4B049A20-52AE-D947-A284-B3A9802CDEC7}"/>
              </a:ext>
            </a:extLst>
          </p:cNvPr>
          <p:cNvCxnSpPr>
            <a:stCxn id="21" idx="2"/>
            <a:endCxn id="62" idx="3"/>
          </p:cNvCxnSpPr>
          <p:nvPr/>
        </p:nvCxnSpPr>
        <p:spPr>
          <a:xfrm rot="5400000">
            <a:off x="5065887" y="3061488"/>
            <a:ext cx="1894340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Elbow Connector 93">
            <a:extLst>
              <a:ext uri="{FF2B5EF4-FFF2-40B4-BE49-F238E27FC236}">
                <a16:creationId xmlns:a16="http://schemas.microsoft.com/office/drawing/2014/main" id="{21957C7C-B107-6645-921D-265BD4C355FD}"/>
              </a:ext>
            </a:extLst>
          </p:cNvPr>
          <p:cNvCxnSpPr>
            <a:stCxn id="21" idx="2"/>
            <a:endCxn id="82" idx="3"/>
          </p:cNvCxnSpPr>
          <p:nvPr/>
        </p:nvCxnSpPr>
        <p:spPr>
          <a:xfrm rot="5400000">
            <a:off x="4894433" y="3232942"/>
            <a:ext cx="2237249" cy="159839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Elbow Connector 97">
            <a:extLst>
              <a:ext uri="{FF2B5EF4-FFF2-40B4-BE49-F238E27FC236}">
                <a16:creationId xmlns:a16="http://schemas.microsoft.com/office/drawing/2014/main" id="{36D87B16-6B00-EF47-8335-9772CBB41760}"/>
              </a:ext>
            </a:extLst>
          </p:cNvPr>
          <p:cNvCxnSpPr>
            <a:stCxn id="13" idx="2"/>
            <a:endCxn id="40" idx="1"/>
          </p:cNvCxnSpPr>
          <p:nvPr/>
        </p:nvCxnSpPr>
        <p:spPr>
          <a:xfrm rot="16200000" flipH="1">
            <a:off x="1318434" y="2613241"/>
            <a:ext cx="1067308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Elbow Connector 99">
            <a:extLst>
              <a:ext uri="{FF2B5EF4-FFF2-40B4-BE49-F238E27FC236}">
                <a16:creationId xmlns:a16="http://schemas.microsoft.com/office/drawing/2014/main" id="{53FEC617-80D5-BB43-A533-560D272D8A96}"/>
              </a:ext>
            </a:extLst>
          </p:cNvPr>
          <p:cNvCxnSpPr>
            <a:stCxn id="13" idx="2"/>
            <a:endCxn id="41" idx="1"/>
          </p:cNvCxnSpPr>
          <p:nvPr/>
        </p:nvCxnSpPr>
        <p:spPr>
          <a:xfrm rot="16200000" flipH="1">
            <a:off x="1144030" y="2787645"/>
            <a:ext cx="1416117" cy="22930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101">
            <a:extLst>
              <a:ext uri="{FF2B5EF4-FFF2-40B4-BE49-F238E27FC236}">
                <a16:creationId xmlns:a16="http://schemas.microsoft.com/office/drawing/2014/main" id="{DB068682-EC9B-1240-808B-8A639F70CFE7}"/>
              </a:ext>
            </a:extLst>
          </p:cNvPr>
          <p:cNvCxnSpPr>
            <a:stCxn id="14" idx="2"/>
            <a:endCxn id="42" idx="1"/>
          </p:cNvCxnSpPr>
          <p:nvPr/>
        </p:nvCxnSpPr>
        <p:spPr>
          <a:xfrm rot="16200000" flipH="1">
            <a:off x="2861573" y="2308365"/>
            <a:ext cx="516692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Elbow Connector 103">
            <a:extLst>
              <a:ext uri="{FF2B5EF4-FFF2-40B4-BE49-F238E27FC236}">
                <a16:creationId xmlns:a16="http://schemas.microsoft.com/office/drawing/2014/main" id="{4C7A7035-07BA-6E4F-84D4-C9E5321AB50F}"/>
              </a:ext>
            </a:extLst>
          </p:cNvPr>
          <p:cNvCxnSpPr>
            <a:stCxn id="14" idx="2"/>
            <a:endCxn id="43" idx="1"/>
          </p:cNvCxnSpPr>
          <p:nvPr/>
        </p:nvCxnSpPr>
        <p:spPr>
          <a:xfrm rot="16200000" flipH="1">
            <a:off x="2688876" y="2481062"/>
            <a:ext cx="862087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Elbow Connector 105">
            <a:extLst>
              <a:ext uri="{FF2B5EF4-FFF2-40B4-BE49-F238E27FC236}">
                <a16:creationId xmlns:a16="http://schemas.microsoft.com/office/drawing/2014/main" id="{FAB7955E-6C36-C845-B987-C3FEAFE1E1A9}"/>
              </a:ext>
            </a:extLst>
          </p:cNvPr>
          <p:cNvCxnSpPr>
            <a:stCxn id="14" idx="2"/>
            <a:endCxn id="44" idx="1"/>
          </p:cNvCxnSpPr>
          <p:nvPr/>
        </p:nvCxnSpPr>
        <p:spPr>
          <a:xfrm rot="16200000" flipH="1">
            <a:off x="2512385" y="2657553"/>
            <a:ext cx="1215069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Elbow Connector 107">
            <a:extLst>
              <a:ext uri="{FF2B5EF4-FFF2-40B4-BE49-F238E27FC236}">
                <a16:creationId xmlns:a16="http://schemas.microsoft.com/office/drawing/2014/main" id="{77EDEF00-1D52-C447-B334-0C89BEA91237}"/>
              </a:ext>
            </a:extLst>
          </p:cNvPr>
          <p:cNvCxnSpPr>
            <a:stCxn id="14" idx="2"/>
            <a:endCxn id="45" idx="1"/>
          </p:cNvCxnSpPr>
          <p:nvPr/>
        </p:nvCxnSpPr>
        <p:spPr>
          <a:xfrm rot="16200000" flipH="1">
            <a:off x="2340930" y="2829008"/>
            <a:ext cx="1557978" cy="28843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Elbow Connector 109">
            <a:extLst>
              <a:ext uri="{FF2B5EF4-FFF2-40B4-BE49-F238E27FC236}">
                <a16:creationId xmlns:a16="http://schemas.microsoft.com/office/drawing/2014/main" id="{805A84CF-D2C2-DA4E-8958-F1EFB103700A}"/>
              </a:ext>
            </a:extLst>
          </p:cNvPr>
          <p:cNvCxnSpPr>
            <a:stCxn id="22" idx="2"/>
            <a:endCxn id="76" idx="1"/>
          </p:cNvCxnSpPr>
          <p:nvPr/>
        </p:nvCxnSpPr>
        <p:spPr>
          <a:xfrm rot="16200000" flipH="1">
            <a:off x="7149741" y="2376013"/>
            <a:ext cx="510145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Elbow Connector 111">
            <a:extLst>
              <a:ext uri="{FF2B5EF4-FFF2-40B4-BE49-F238E27FC236}">
                <a16:creationId xmlns:a16="http://schemas.microsoft.com/office/drawing/2014/main" id="{EBA6ED20-DAF5-0F4C-81BD-AD396B65F3DB}"/>
              </a:ext>
            </a:extLst>
          </p:cNvPr>
          <p:cNvCxnSpPr>
            <a:stCxn id="22" idx="2"/>
            <a:endCxn id="77" idx="1"/>
          </p:cNvCxnSpPr>
          <p:nvPr/>
        </p:nvCxnSpPr>
        <p:spPr>
          <a:xfrm rot="16200000" flipH="1">
            <a:off x="6977043" y="2548711"/>
            <a:ext cx="855540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Elbow Connector 113">
            <a:extLst>
              <a:ext uri="{FF2B5EF4-FFF2-40B4-BE49-F238E27FC236}">
                <a16:creationId xmlns:a16="http://schemas.microsoft.com/office/drawing/2014/main" id="{A5E02B76-CA79-934E-88A2-904B105FAE21}"/>
              </a:ext>
            </a:extLst>
          </p:cNvPr>
          <p:cNvCxnSpPr>
            <a:stCxn id="22" idx="2"/>
            <a:endCxn id="78" idx="1"/>
          </p:cNvCxnSpPr>
          <p:nvPr/>
        </p:nvCxnSpPr>
        <p:spPr>
          <a:xfrm rot="16200000" flipH="1">
            <a:off x="6800552" y="2725202"/>
            <a:ext cx="1208522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8B21BCF5-DBEE-5140-A62B-E70BF9A5514A}"/>
              </a:ext>
            </a:extLst>
          </p:cNvPr>
          <p:cNvCxnSpPr>
            <a:stCxn id="22" idx="2"/>
            <a:endCxn id="79" idx="1"/>
          </p:cNvCxnSpPr>
          <p:nvPr/>
        </p:nvCxnSpPr>
        <p:spPr>
          <a:xfrm rot="16200000" flipH="1">
            <a:off x="6629098" y="2896656"/>
            <a:ext cx="1551431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Elbow Connector 119">
            <a:extLst>
              <a:ext uri="{FF2B5EF4-FFF2-40B4-BE49-F238E27FC236}">
                <a16:creationId xmlns:a16="http://schemas.microsoft.com/office/drawing/2014/main" id="{807CA63F-0703-C941-BA41-7C2D54DA9204}"/>
              </a:ext>
            </a:extLst>
          </p:cNvPr>
          <p:cNvCxnSpPr>
            <a:stCxn id="22" idx="2"/>
            <a:endCxn id="81" idx="1"/>
          </p:cNvCxnSpPr>
          <p:nvPr/>
        </p:nvCxnSpPr>
        <p:spPr>
          <a:xfrm rot="16200000" flipH="1">
            <a:off x="6452818" y="3072936"/>
            <a:ext cx="1903991" cy="146592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Rounded Rectangle 120">
            <a:extLst>
              <a:ext uri="{FF2B5EF4-FFF2-40B4-BE49-F238E27FC236}">
                <a16:creationId xmlns:a16="http://schemas.microsoft.com/office/drawing/2014/main" id="{58561D39-0AD1-4D42-8E0D-409789498946}"/>
              </a:ext>
            </a:extLst>
          </p:cNvPr>
          <p:cNvSpPr/>
          <p:nvPr/>
        </p:nvSpPr>
        <p:spPr>
          <a:xfrm>
            <a:off x="547297" y="39467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CMA-ES</a:t>
            </a:r>
            <a:endParaRPr lang="en-TR" sz="800" dirty="0">
              <a:solidFill>
                <a:schemeClr val="tx1"/>
              </a:solidFill>
            </a:endParaRPr>
          </a:p>
        </p:txBody>
      </p:sp>
      <p:sp>
        <p:nvSpPr>
          <p:cNvPr id="122" name="Rounded Rectangle 121">
            <a:extLst>
              <a:ext uri="{FF2B5EF4-FFF2-40B4-BE49-F238E27FC236}">
                <a16:creationId xmlns:a16="http://schemas.microsoft.com/office/drawing/2014/main" id="{1277E37A-6238-FB47-8AED-03256CD4A946}"/>
              </a:ext>
            </a:extLst>
          </p:cNvPr>
          <p:cNvSpPr/>
          <p:nvPr/>
        </p:nvSpPr>
        <p:spPr>
          <a:xfrm>
            <a:off x="1954463" y="3817302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ACKTR</a:t>
            </a:r>
            <a:endParaRPr lang="en-TR" sz="800" dirty="0">
              <a:solidFill>
                <a:schemeClr val="tx1"/>
              </a:solidFill>
            </a:endParaRPr>
          </a:p>
        </p:txBody>
      </p:sp>
      <p:cxnSp>
        <p:nvCxnSpPr>
          <p:cNvPr id="124" name="Elbow Connector 123">
            <a:extLst>
              <a:ext uri="{FF2B5EF4-FFF2-40B4-BE49-F238E27FC236}">
                <a16:creationId xmlns:a16="http://schemas.microsoft.com/office/drawing/2014/main" id="{BF24DBD3-1262-F443-AC37-CAE0FC96FBC9}"/>
              </a:ext>
            </a:extLst>
          </p:cNvPr>
          <p:cNvCxnSpPr>
            <a:stCxn id="13" idx="2"/>
            <a:endCxn id="121" idx="3"/>
          </p:cNvCxnSpPr>
          <p:nvPr/>
        </p:nvCxnSpPr>
        <p:spPr>
          <a:xfrm rot="5400000">
            <a:off x="650166" y="3001305"/>
            <a:ext cx="1894340" cy="28020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Elbow Connector 125">
            <a:extLst>
              <a:ext uri="{FF2B5EF4-FFF2-40B4-BE49-F238E27FC236}">
                <a16:creationId xmlns:a16="http://schemas.microsoft.com/office/drawing/2014/main" id="{FA2D3BA2-0FEB-2843-996E-8D051A0ECC19}"/>
              </a:ext>
            </a:extLst>
          </p:cNvPr>
          <p:cNvCxnSpPr>
            <a:stCxn id="13" idx="2"/>
            <a:endCxn id="122" idx="1"/>
          </p:cNvCxnSpPr>
          <p:nvPr/>
        </p:nvCxnSpPr>
        <p:spPr>
          <a:xfrm rot="16200000" flipH="1">
            <a:off x="963487" y="2968187"/>
            <a:ext cx="1764926" cy="217025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30DB0D4C-E87B-504B-9AAA-E8458329ED6C}"/>
              </a:ext>
            </a:extLst>
          </p:cNvPr>
          <p:cNvSpPr/>
          <p:nvPr/>
        </p:nvSpPr>
        <p:spPr>
          <a:xfrm>
            <a:off x="551412" y="2907916"/>
            <a:ext cx="909936" cy="283722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TR" sz="800" dirty="0">
                <a:solidFill>
                  <a:schemeClr val="tx1"/>
                </a:solidFill>
              </a:rPr>
              <a:t>DDPG</a:t>
            </a:r>
          </a:p>
        </p:txBody>
      </p:sp>
      <p:cxnSp>
        <p:nvCxnSpPr>
          <p:cNvPr id="65" name="Elbow Connector 64">
            <a:extLst>
              <a:ext uri="{FF2B5EF4-FFF2-40B4-BE49-F238E27FC236}">
                <a16:creationId xmlns:a16="http://schemas.microsoft.com/office/drawing/2014/main" id="{11602F14-E8B5-DC44-9D94-9FF467D75361}"/>
              </a:ext>
            </a:extLst>
          </p:cNvPr>
          <p:cNvCxnSpPr>
            <a:cxnSpLocks/>
            <a:stCxn id="13" idx="2"/>
            <a:endCxn id="64" idx="3"/>
          </p:cNvCxnSpPr>
          <p:nvPr/>
        </p:nvCxnSpPr>
        <p:spPr>
          <a:xfrm rot="5400000">
            <a:off x="1171623" y="2483962"/>
            <a:ext cx="855540" cy="276090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466847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68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Практика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6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Практика</a:t>
            </a:r>
            <a:endParaRPr dirty="0"/>
          </a:p>
        </p:txBody>
      </p:sp>
      <p:graphicFrame>
        <p:nvGraphicFramePr>
          <p:cNvPr id="390" name="Google Shape;390;p69"/>
          <p:cNvGraphicFramePr/>
          <p:nvPr>
            <p:extLst>
              <p:ext uri="{D42A27DB-BD31-4B8C-83A1-F6EECF244321}">
                <p14:modId xmlns:p14="http://schemas.microsoft.com/office/powerpoint/2010/main" val="4193384391"/>
              </p:ext>
            </p:extLst>
          </p:nvPr>
        </p:nvGraphicFramePr>
        <p:xfrm>
          <a:off x="952500" y="1372744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алгоритм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Advantage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n-GB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288829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500550" y="1197863"/>
            <a:ext cx="7742400" cy="284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1150">
              <a:buSzPts val="1300"/>
              <a:buFont typeface="Roboto"/>
              <a:buAutoNum type="arabicPeriod"/>
            </a:pPr>
            <a:r>
              <a:rPr lang="en-US" sz="1300" dirty="0">
                <a:hlinkClick r:id="rId3"/>
              </a:rPr>
              <a:t>PPO algorithm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en-US" sz="1300" dirty="0">
                <a:hlinkClick r:id="rId4"/>
              </a:rPr>
              <a:t>PPO from scratch with PyTorch</a:t>
            </a:r>
            <a:endParaRPr lang="ru-RU" sz="1300" dirty="0">
              <a:hlinkClick r:id="rId5"/>
            </a:endParaRPr>
          </a:p>
          <a:p>
            <a:pPr indent="-311150">
              <a:buSzPts val="1300"/>
              <a:buFont typeface="Roboto"/>
              <a:buAutoNum type="arabicPeriod"/>
            </a:pPr>
            <a:r>
              <a:rPr lang="en-GB" sz="1300" dirty="0">
                <a:hlinkClick r:id="rId5"/>
              </a:rPr>
              <a:t>Reinforcement Learning frameworks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6"/>
              </a:rPr>
              <a:t>Список ресурсов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 err="1">
                <a:hlinkClick r:id="rId7"/>
              </a:rPr>
              <a:t>Лю</a:t>
            </a:r>
            <a:r>
              <a:rPr lang="ru-RU" sz="1300" dirty="0">
                <a:hlinkClick r:id="rId7"/>
              </a:rPr>
              <a:t> Ю. (Х.) Обучение с подкреплением на </a:t>
            </a:r>
            <a:r>
              <a:rPr lang="en-GB" sz="1300" dirty="0" err="1">
                <a:hlinkClick r:id="rId7"/>
              </a:rPr>
              <a:t>PyTorch</a:t>
            </a:r>
            <a:r>
              <a:rPr lang="en-GB" sz="1300" dirty="0">
                <a:hlinkClick r:id="rId7"/>
              </a:rPr>
              <a:t>: </a:t>
            </a:r>
            <a:r>
              <a:rPr lang="ru-RU" sz="1300" dirty="0">
                <a:hlinkClick r:id="rId7"/>
              </a:rPr>
              <a:t>сборник рецептов / пер. с англ. А. А. </a:t>
            </a:r>
            <a:r>
              <a:rPr lang="ru-RU" sz="1300" dirty="0" err="1">
                <a:hlinkClick r:id="rId7"/>
              </a:rPr>
              <a:t>Слинкина</a:t>
            </a:r>
            <a:r>
              <a:rPr lang="ru-RU" sz="1300" dirty="0">
                <a:hlinkClick r:id="rId7"/>
              </a:rPr>
              <a:t>. – М.: ДМК Пресс, 2020. – 282 с. 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8"/>
              </a:rPr>
              <a:t>Недостатки/неудачи обучения с подкреплением</a:t>
            </a:r>
            <a:endParaRPr lang="en-US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9"/>
              </a:rPr>
              <a:t>Обзор алгоритмов и их недостатков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dirty="0">
                <a:hlinkClick r:id="rId10"/>
              </a:rPr>
              <a:t>Особенности основных алгоритмов</a:t>
            </a:r>
            <a:endParaRPr lang="ru-RU" sz="1300" dirty="0"/>
          </a:p>
          <a:p>
            <a:pPr indent="-311150">
              <a:buSzPts val="1300"/>
              <a:buFont typeface="Roboto"/>
              <a:buAutoNum type="arabicPeriod"/>
            </a:pPr>
            <a:r>
              <a:rPr lang="ru-RU" sz="1300" b="0" i="0" u="none" strike="noStrike" dirty="0">
                <a:solidFill>
                  <a:srgbClr val="333333"/>
                </a:solidFill>
                <a:effectLst/>
                <a:latin typeface=""/>
                <a:hlinkClick r:id="rId11"/>
              </a:rPr>
              <a:t>Эволюционные стратегии в </a:t>
            </a:r>
            <a:r>
              <a:rPr lang="en-US" sz="1300" b="0" i="0" u="none" strike="noStrike" dirty="0">
                <a:solidFill>
                  <a:srgbClr val="333333"/>
                </a:solidFill>
                <a:effectLst/>
                <a:latin typeface=""/>
                <a:hlinkClick r:id="rId11"/>
              </a:rPr>
              <a:t>RL</a:t>
            </a:r>
            <a:endParaRPr lang="ru-RU" sz="1300" b="0" i="0" u="none" strike="noStrike" dirty="0">
              <a:solidFill>
                <a:srgbClr val="333333"/>
              </a:solidFill>
              <a:effectLst/>
              <a:latin typeface="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415" name="Google Shape;415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72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7" name="Google Shape;41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72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119438088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Задачи с непрерывным пространством действий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Алгоритм </a:t>
                      </a:r>
                      <a:r>
                        <a:rPr lang="en-GB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Пути улучшения </a:t>
                      </a:r>
                      <a:r>
                        <a:rPr lang="en-US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REINFORCE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80893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9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0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7223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</a:t>
            </a:r>
            <a:r>
              <a:rPr lang="ru" dirty="0"/>
              <a:t>ледующие вебинары</a:t>
            </a:r>
            <a:endParaRPr dirty="0"/>
          </a:p>
        </p:txBody>
      </p:sp>
      <p:sp>
        <p:nvSpPr>
          <p:cNvPr id="481" name="Google Shape;481;p80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внимание!</a:t>
            </a:r>
            <a:endParaRPr/>
          </a:p>
        </p:txBody>
      </p:sp>
      <p:sp>
        <p:nvSpPr>
          <p:cNvPr id="482" name="Google Shape;482;p80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AEC2E5-09F0-AC4E-AED3-1C0F260DE54D}"/>
              </a:ext>
            </a:extLst>
          </p:cNvPr>
          <p:cNvSpPr txBox="1"/>
          <p:nvPr/>
        </p:nvSpPr>
        <p:spPr>
          <a:xfrm>
            <a:off x="500550" y="1575703"/>
            <a:ext cx="19367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Actor-Critic </a:t>
            </a:r>
            <a:r>
              <a:rPr lang="ru-RU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алгоритм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4652E98-0825-2C4A-8FA1-9407F8F7694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12156" r="295"/>
          <a:stretch/>
        </p:blipFill>
        <p:spPr>
          <a:xfrm>
            <a:off x="832654" y="2865544"/>
            <a:ext cx="1662292" cy="1657372"/>
          </a:xfrm>
          <a:prstGeom prst="ellipse">
            <a:avLst/>
          </a:prstGeom>
          <a:ln w="127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sp>
        <p:nvSpPr>
          <p:cNvPr id="11" name="Google Shape;208;p48">
            <a:extLst>
              <a:ext uri="{FF2B5EF4-FFF2-40B4-BE49-F238E27FC236}">
                <a16:creationId xmlns:a16="http://schemas.microsoft.com/office/drawing/2014/main" id="{B075EC21-A607-1842-83EE-2B09124BD804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3082400" y="2306150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12" name="Google Shape;209;p48">
            <a:extLst>
              <a:ext uri="{FF2B5EF4-FFF2-40B4-BE49-F238E27FC236}">
                <a16:creationId xmlns:a16="http://schemas.microsoft.com/office/drawing/2014/main" id="{CD8DE5D9-CE90-A844-95F9-D833678009A9}"/>
              </a:ext>
            </a:extLst>
          </p:cNvPr>
          <p:cNvSpPr txBox="1">
            <a:spLocks/>
          </p:cNvSpPr>
          <p:nvPr/>
        </p:nvSpPr>
        <p:spPr>
          <a:xfrm>
            <a:off x="3082400" y="2701811"/>
            <a:ext cx="5938750" cy="21336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lvl1pPr marL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 i="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45720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91440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37160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182880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28600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74320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20040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65760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470025" indent="-1465263">
              <a:tabLst>
                <a:tab pos="1465263" algn="l"/>
              </a:tabLst>
            </a:pPr>
            <a:r>
              <a:rPr lang="ru-RU" sz="1150" b="1" kern="0" dirty="0"/>
              <a:t>Руководитель курсов: </a:t>
            </a:r>
            <a:r>
              <a:rPr lang="en-US" sz="1150" b="1" kern="0" dirty="0"/>
              <a:t>	Reinforcement Learning, ML Professional, ML Basic, </a:t>
            </a:r>
            <a:br>
              <a:rPr lang="en-US" sz="1150" b="1" kern="0" dirty="0"/>
            </a:br>
            <a:r>
              <a:rPr lang="en-US" sz="1150" b="1" kern="0" dirty="0" err="1"/>
              <a:t>MLOps</a:t>
            </a:r>
            <a:r>
              <a:rPr lang="en-US" sz="1150" b="1" kern="0" dirty="0"/>
              <a:t>, </a:t>
            </a:r>
            <a:r>
              <a:rPr lang="en-US" sz="1150" b="1" kern="0" dirty="0" err="1"/>
              <a:t>FinML</a:t>
            </a:r>
            <a:endParaRPr lang="en-US" sz="1150" b="1" kern="0" dirty="0"/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 err="1"/>
              <a:t>Teamlead</a:t>
            </a:r>
            <a:r>
              <a:rPr lang="en-US" sz="1150" b="1" kern="0" dirty="0"/>
              <a:t>, </a:t>
            </a:r>
            <a:r>
              <a:rPr lang="ru-RU" sz="1150" b="1" kern="0" dirty="0"/>
              <a:t>главный инженер проекта, </a:t>
            </a:r>
          </a:p>
          <a:p>
            <a:pPr rtl="0"/>
            <a:r>
              <a:rPr lang="ru-RU" sz="1150" b="1" kern="0" dirty="0"/>
              <a:t>Физический факультет МГУ, </a:t>
            </a:r>
            <a:r>
              <a:rPr lang="en-US" sz="1150" b="1" kern="0" dirty="0"/>
              <a:t>PhD </a:t>
            </a:r>
            <a:r>
              <a:rPr lang="ru-RU" sz="1150" b="1" kern="0" dirty="0"/>
              <a:t>теоретическая физика</a:t>
            </a:r>
          </a:p>
          <a:p>
            <a:pPr rtl="0"/>
            <a:endParaRPr lang="ru-RU" sz="1150" kern="0" dirty="0"/>
          </a:p>
          <a:p>
            <a:pPr rtl="0"/>
            <a:r>
              <a:rPr lang="ru-RU" sz="1150" b="1" kern="0" dirty="0"/>
              <a:t>Опыт:</a:t>
            </a:r>
            <a:endParaRPr lang="ru-RU" sz="1150" kern="0" dirty="0"/>
          </a:p>
          <a:p>
            <a:pPr rtl="0"/>
            <a:r>
              <a:rPr lang="ru-RU" sz="1150" kern="0" dirty="0"/>
              <a:t>Более 15 лет занимался прикладной математикой и мат моделированием</a:t>
            </a:r>
          </a:p>
          <a:p>
            <a:pPr rtl="0"/>
            <a:r>
              <a:rPr lang="ru-RU" sz="1150" kern="0" dirty="0"/>
              <a:t>(</a:t>
            </a:r>
            <a:r>
              <a:rPr lang="en-US" sz="1150" kern="0" dirty="0"/>
              <a:t>Data Scientist) (Python, </a:t>
            </a:r>
            <a:r>
              <a:rPr lang="ru-RU" sz="1150" kern="0" dirty="0"/>
              <a:t>С++) в НИИ ПАО Газпром</a:t>
            </a:r>
          </a:p>
          <a:p>
            <a:pPr rtl="0"/>
            <a:endParaRPr lang="ru-RU" sz="1150" kern="0" dirty="0"/>
          </a:p>
          <a:p>
            <a:pPr rtl="0"/>
            <a:endParaRPr lang="ru-RU" sz="1150" b="1" kern="0" dirty="0"/>
          </a:p>
          <a:p>
            <a:pPr rtl="0"/>
            <a:r>
              <a:rPr lang="ru-RU" sz="1150" b="1" kern="0" dirty="0"/>
              <a:t>@</a:t>
            </a:r>
            <a:r>
              <a:rPr lang="en-US" sz="1150" b="1" kern="0" dirty="0" err="1"/>
              <a:t>stureiko</a:t>
            </a:r>
            <a:r>
              <a:rPr lang="en-US" sz="1150" b="1" kern="0" dirty="0"/>
              <a:t> (TG)</a:t>
            </a:r>
          </a:p>
          <a:p>
            <a:pPr rtl="0"/>
            <a:endParaRPr lang="en-US" sz="1150" b="1" kern="0" dirty="0"/>
          </a:p>
          <a:p>
            <a:pPr rtl="0"/>
            <a:r>
              <a:rPr lang="en-US" sz="1150" b="1" kern="0" dirty="0"/>
              <a:t>LinkedIn: </a:t>
            </a:r>
            <a:r>
              <a:rPr lang="en-US" sz="1150" kern="0" dirty="0">
                <a:hlinkClick r:id="rId4"/>
              </a:rPr>
              <a:t>igor-stureiko</a:t>
            </a:r>
            <a:r>
              <a:rPr lang="en-US" sz="1150" kern="0" dirty="0"/>
              <a:t> </a:t>
            </a:r>
          </a:p>
          <a:p>
            <a:pPr rtl="0"/>
            <a:endParaRPr lang="en-US" sz="1150" kern="0" dirty="0"/>
          </a:p>
          <a:p>
            <a:pPr rtl="0"/>
            <a:r>
              <a:rPr lang="en-US" sz="1150" b="1" kern="0" dirty="0"/>
              <a:t>@</a:t>
            </a:r>
            <a:r>
              <a:rPr lang="en-US" sz="1150" b="1" kern="0" dirty="0" err="1"/>
              <a:t>rl_fintech</a:t>
            </a:r>
            <a:r>
              <a:rPr lang="en-US" sz="1150" b="1" kern="0" dirty="0"/>
              <a:t> </a:t>
            </a:r>
            <a:r>
              <a:rPr lang="en-US" sz="1150" kern="0" dirty="0"/>
              <a:t>(</a:t>
            </a:r>
            <a:r>
              <a:rPr lang="ru-RU" sz="1150" kern="0" dirty="0"/>
              <a:t>Мой канал о моделях в бизнесе)</a:t>
            </a:r>
            <a:endParaRPr lang="ru-RU" sz="1400" kern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8776</TotalTime>
  <Words>1349</Words>
  <Application>Microsoft Macintosh PowerPoint</Application>
  <PresentationFormat>On-screen Show (16:9)</PresentationFormat>
  <Paragraphs>322</Paragraphs>
  <Slides>37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37</vt:i4>
      </vt:variant>
    </vt:vector>
  </HeadingPairs>
  <TitlesOfParts>
    <vt:vector size="48" baseType="lpstr">
      <vt:lpstr>Arial</vt:lpstr>
      <vt:lpstr>PTSerif</vt:lpstr>
      <vt:lpstr>Courier New</vt:lpstr>
      <vt:lpstr>Apple Chancery</vt:lpstr>
      <vt:lpstr>Symbol</vt:lpstr>
      <vt:lpstr>Google Sans</vt:lpstr>
      <vt:lpstr>Roboto</vt:lpstr>
      <vt:lpstr>Helvetica Neue</vt:lpstr>
      <vt:lpstr>Cambria Math</vt:lpstr>
      <vt:lpstr>Светлая тема</vt:lpstr>
      <vt:lpstr>Светлая тема</vt:lpstr>
      <vt:lpstr>ML Advanced Policy Gradient</vt:lpstr>
      <vt:lpstr>Проверить, идет ли запись</vt:lpstr>
      <vt:lpstr>Правила вебинара</vt:lpstr>
      <vt:lpstr>ML Advanced Policy Gradient</vt:lpstr>
      <vt:lpstr>Карта курса</vt:lpstr>
      <vt:lpstr>Маршрут вебинара</vt:lpstr>
      <vt:lpstr>Цели вебинара</vt:lpstr>
      <vt:lpstr>Смысл</vt:lpstr>
      <vt:lpstr>Постановка задачи</vt:lpstr>
      <vt:lpstr>Markov Property</vt:lpstr>
      <vt:lpstr>Policy based methods</vt:lpstr>
      <vt:lpstr>Value based and Policy based</vt:lpstr>
      <vt:lpstr>достоинства и недостатки</vt:lpstr>
      <vt:lpstr>DQN – достоинства и недостатки</vt:lpstr>
      <vt:lpstr>Клеточный мир</vt:lpstr>
      <vt:lpstr>Клеточный мир</vt:lpstr>
      <vt:lpstr>Клеточный мир</vt:lpstr>
      <vt:lpstr>Алгоритм REINFORCE</vt:lpstr>
      <vt:lpstr>REINFORCE</vt:lpstr>
      <vt:lpstr>Deep Cross-entropy</vt:lpstr>
      <vt:lpstr>PowerPoint Presentation</vt:lpstr>
      <vt:lpstr>REINFORCE</vt:lpstr>
      <vt:lpstr>REINFORCE</vt:lpstr>
      <vt:lpstr>Policy gradient theorem</vt:lpstr>
      <vt:lpstr>REINFORCE - алгоритм</vt:lpstr>
      <vt:lpstr>достоинства и недостатки</vt:lpstr>
      <vt:lpstr>REINFORCE – достоинства и недостатки</vt:lpstr>
      <vt:lpstr>Advantage REINFORCE</vt:lpstr>
      <vt:lpstr>Дальнейшие улучшения</vt:lpstr>
      <vt:lpstr>Обзор алгоритмов RL</vt:lpstr>
      <vt:lpstr>Практика</vt:lpstr>
      <vt:lpstr>Практика</vt:lpstr>
      <vt:lpstr>Список материалов для изучения</vt:lpstr>
      <vt:lpstr>Вопросы?</vt:lpstr>
      <vt:lpstr>Цели вебинара</vt:lpstr>
      <vt:lpstr>Заполните, пожалуйста, опрос о занятии по ссылке в чате</vt:lpstr>
      <vt:lpstr>Cледующие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курса название темы вебинара </dc:title>
  <cp:lastModifiedBy>Стурейко Игорь Олегович</cp:lastModifiedBy>
  <cp:revision>91</cp:revision>
  <dcterms:modified xsi:type="dcterms:W3CDTF">2025-01-17T16:52:13Z</dcterms:modified>
</cp:coreProperties>
</file>