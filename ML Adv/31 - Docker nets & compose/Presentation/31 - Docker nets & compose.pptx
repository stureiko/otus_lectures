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33"/>
  </p:notesMasterIdLst>
  <p:sldIdLst>
    <p:sldId id="256" r:id="rId2"/>
    <p:sldId id="257" r:id="rId3"/>
    <p:sldId id="404" r:id="rId4"/>
    <p:sldId id="259" r:id="rId5"/>
    <p:sldId id="406" r:id="rId6"/>
    <p:sldId id="489" r:id="rId7"/>
    <p:sldId id="405" r:id="rId8"/>
    <p:sldId id="371" r:id="rId9"/>
    <p:sldId id="372" r:id="rId10"/>
    <p:sldId id="262" r:id="rId11"/>
    <p:sldId id="373" r:id="rId12"/>
    <p:sldId id="492" r:id="rId13"/>
    <p:sldId id="493" r:id="rId14"/>
    <p:sldId id="494" r:id="rId15"/>
    <p:sldId id="495" r:id="rId16"/>
    <p:sldId id="500" r:id="rId17"/>
    <p:sldId id="490" r:id="rId18"/>
    <p:sldId id="496" r:id="rId19"/>
    <p:sldId id="283" r:id="rId20"/>
    <p:sldId id="384" r:id="rId21"/>
    <p:sldId id="491" r:id="rId22"/>
    <p:sldId id="396" r:id="rId23"/>
    <p:sldId id="398" r:id="rId24"/>
    <p:sldId id="401" r:id="rId25"/>
    <p:sldId id="402" r:id="rId26"/>
    <p:sldId id="408" r:id="rId27"/>
    <p:sldId id="395" r:id="rId28"/>
    <p:sldId id="285" r:id="rId29"/>
    <p:sldId id="286" r:id="rId30"/>
    <p:sldId id="287" r:id="rId31"/>
    <p:sldId id="288" r:id="rId3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008F00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78"/>
    <p:restoredTop sz="94688"/>
  </p:normalViewPr>
  <p:slideViewPr>
    <p:cSldViewPr snapToGrid="0">
      <p:cViewPr varScale="1">
        <p:scale>
          <a:sx n="197" d="100"/>
          <a:sy n="197" d="100"/>
        </p:scale>
        <p:origin x="800" y="192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281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944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28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883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082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223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553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82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fastapi_net:5002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729380/" TargetMode="External"/><Relationship Id="rId3" Type="http://schemas.openxmlformats.org/officeDocument/2006/relationships/hyperlink" Target="https://habr.com/ru/companies/ruvds/articles/438796/" TargetMode="External"/><Relationship Id="rId7" Type="http://schemas.openxmlformats.org/officeDocument/2006/relationships/hyperlink" Target="https://habr.com/ru/articles/548910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companies/first/articles/702168/" TargetMode="External"/><Relationship Id="rId11" Type="http://schemas.openxmlformats.org/officeDocument/2006/relationships/hyperlink" Target="https://habr.com/ru/articles/346306/" TargetMode="External"/><Relationship Id="rId5" Type="http://schemas.openxmlformats.org/officeDocument/2006/relationships/hyperlink" Target="https://habr.com/ru/companies/evrone/articles/716630/" TargetMode="External"/><Relationship Id="rId10" Type="http://schemas.openxmlformats.org/officeDocument/2006/relationships/hyperlink" Target="https://habr.com/ru/companies/otus/articles/731854/" TargetMode="External"/><Relationship Id="rId4" Type="http://schemas.openxmlformats.org/officeDocument/2006/relationships/hyperlink" Target="https://habr.com/ru/companies/flant/articles/336654/" TargetMode="External"/><Relationship Id="rId9" Type="http://schemas.openxmlformats.org/officeDocument/2006/relationships/hyperlink" Target="https://habr.com/ru/companies/ruvds/articles/450312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376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 err="1"/>
              <a:t>Docker</a:t>
            </a:r>
            <a:r>
              <a:rPr lang="en-US" sz="3200" dirty="0"/>
              <a:t> nets &amp; Docker compose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sz="2400" dirty="0"/>
              <a:t>Docker nets &amp; Docker compose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4F95B4A6-F84C-CE46-A1DF-BE41CF4B8DEE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Docker networking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Виды сетей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Взаимодействие контейнеров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Compose</a:t>
            </a: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Сборка </a:t>
            </a:r>
            <a:r>
              <a:rPr lang="ru-RU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микросервисной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архитектуры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6539A90-06AC-8946-A29E-7B33C459CCF6}"/>
              </a:ext>
            </a:extLst>
          </p:cNvPr>
          <p:cNvGrpSpPr/>
          <p:nvPr/>
        </p:nvGrpSpPr>
        <p:grpSpPr>
          <a:xfrm>
            <a:off x="5775022" y="1104087"/>
            <a:ext cx="2278070" cy="1839989"/>
            <a:chOff x="4481794" y="1270785"/>
            <a:chExt cx="2278070" cy="18399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8E64C8-88A3-974F-8842-CB97BB5E50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6980"/>
            <a:stretch/>
          </p:blipFill>
          <p:spPr>
            <a:xfrm>
              <a:off x="4760850" y="1270785"/>
              <a:ext cx="1719958" cy="94953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B4E7A0-9F4B-E347-B662-17623C7C1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020"/>
            <a:stretch/>
          </p:blipFill>
          <p:spPr>
            <a:xfrm>
              <a:off x="4481794" y="2161242"/>
              <a:ext cx="2278070" cy="94953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FAB09C8-95A1-984B-B06A-2EF5FEF35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0" y="3036559"/>
            <a:ext cx="3324896" cy="159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778955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Production Code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618879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Структура</a:t>
            </a:r>
            <a:r>
              <a:rPr lang="ru-RU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, применение, деплой</a:t>
            </a:r>
            <a:endParaRPr lang="en-US"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038841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Сети 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3458803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докера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82584" y="1607918"/>
            <a:ext cx="26832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62622" y="2027880"/>
            <a:ext cx="1108250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52641" y="2237861"/>
            <a:ext cx="1528212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42659" y="2447844"/>
            <a:ext cx="1948174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86564"/>
              </p:ext>
            </p:extLst>
          </p:nvPr>
        </p:nvGraphicFramePr>
        <p:xfrm>
          <a:off x="5408535" y="569514"/>
          <a:ext cx="2174137" cy="30480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198917"/>
            <a:ext cx="5355965" cy="346179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3878765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4" name="Google Shape;271;p44">
            <a:extLst>
              <a:ext uri="{FF2B5EF4-FFF2-40B4-BE49-F238E27FC236}">
                <a16:creationId xmlns:a16="http://schemas.microsoft.com/office/drawing/2014/main" id="{4E0B5DCB-279A-7F41-B861-7BF2E1F68BEC}"/>
              </a:ext>
            </a:extLst>
          </p:cNvPr>
          <p:cNvSpPr/>
          <p:nvPr/>
        </p:nvSpPr>
        <p:spPr>
          <a:xfrm>
            <a:off x="2226707" y="4298727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45" name="Google Shape;271;p44">
            <a:extLst>
              <a:ext uri="{FF2B5EF4-FFF2-40B4-BE49-F238E27FC236}">
                <a16:creationId xmlns:a16="http://schemas.microsoft.com/office/drawing/2014/main" id="{B6748F82-91DC-7B4F-BB13-12E921897F5E}"/>
              </a:ext>
            </a:extLst>
          </p:cNvPr>
          <p:cNvSpPr/>
          <p:nvPr/>
        </p:nvSpPr>
        <p:spPr>
          <a:xfrm>
            <a:off x="2226709" y="4718689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672603" y="1817900"/>
            <a:ext cx="68828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832677" y="2657825"/>
            <a:ext cx="2368136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FE6FD82-B247-0645-9D21-5D83F936AF05}"/>
              </a:ext>
            </a:extLst>
          </p:cNvPr>
          <p:cNvCxnSpPr>
            <a:cxnSpLocks/>
            <a:stCxn id="271" idx="2"/>
            <a:endCxn id="44" idx="1"/>
          </p:cNvCxnSpPr>
          <p:nvPr/>
        </p:nvCxnSpPr>
        <p:spPr>
          <a:xfrm rot="16200000" flipH="1">
            <a:off x="622696" y="2867806"/>
            <a:ext cx="2788098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199535-5C34-5244-ADBA-415626F393F7}"/>
              </a:ext>
            </a:extLst>
          </p:cNvPr>
          <p:cNvCxnSpPr>
            <a:cxnSpLocks/>
            <a:stCxn id="271" idx="2"/>
            <a:endCxn id="45" idx="1"/>
          </p:cNvCxnSpPr>
          <p:nvPr/>
        </p:nvCxnSpPr>
        <p:spPr>
          <a:xfrm rot="16200000" flipH="1">
            <a:off x="412716" y="3077786"/>
            <a:ext cx="3208060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F9BB969-2441-DF42-B3EC-1E4856CE5CA5}"/>
              </a:ext>
            </a:extLst>
          </p:cNvPr>
          <p:cNvGrpSpPr/>
          <p:nvPr/>
        </p:nvGrpSpPr>
        <p:grpSpPr>
          <a:xfrm>
            <a:off x="500550" y="1104419"/>
            <a:ext cx="2612467" cy="579300"/>
            <a:chOff x="500550" y="1104419"/>
            <a:chExt cx="2612467" cy="579300"/>
          </a:xfrm>
        </p:grpSpPr>
        <p:sp>
          <p:nvSpPr>
            <p:cNvPr id="271" name="Google Shape;271;p44"/>
            <p:cNvSpPr/>
            <p:nvPr/>
          </p:nvSpPr>
          <p:spPr>
            <a:xfrm>
              <a:off x="500550" y="1104419"/>
              <a:ext cx="2612467" cy="5793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txBody>
            <a:bodyPr spcFirstLastPara="1" wrap="square" lIns="162000" tIns="91425" rIns="162000" bIns="91425" anchor="ctr" anchorCtr="0">
              <a:noAutofit/>
            </a:bodyPr>
            <a:lstStyle/>
            <a:p>
              <a:pPr marL="444500"/>
              <a:r>
                <a:rPr lang="en-US" sz="1600" dirty="0">
                  <a:solidFill>
                    <a:srgbClr val="1F1F1F"/>
                  </a:solidFill>
                  <a:latin typeface="Google Sans"/>
                  <a:sym typeface="Roboto"/>
                </a:rPr>
                <a:t>Production</a:t>
              </a:r>
              <a:endParaRPr sz="1600" dirty="0">
                <a:solidFill>
                  <a:srgbClr val="1F1F1F"/>
                </a:solidFill>
                <a:latin typeface="Google Sans"/>
                <a:sym typeface="Roboto"/>
              </a:endParaRPr>
            </a:p>
          </p:txBody>
        </p:sp>
        <p:pic>
          <p:nvPicPr>
            <p:cNvPr id="21" name="Google Shape;225;p40">
              <a:extLst>
                <a:ext uri="{FF2B5EF4-FFF2-40B4-BE49-F238E27FC236}">
                  <a16:creationId xmlns:a16="http://schemas.microsoft.com/office/drawing/2014/main" id="{B958DEED-2BE4-6A49-8586-4343A146FA28}"/>
                </a:ext>
              </a:extLst>
            </p:cNvPr>
            <p:cNvPicPr preferRelativeResize="0"/>
            <p:nvPr/>
          </p:nvPicPr>
          <p:blipFill>
            <a:blip r:embed="rId3"/>
            <a:srcRect t="2849" b="2849"/>
            <a:stretch/>
          </p:blipFill>
          <p:spPr>
            <a:xfrm>
              <a:off x="625928" y="1206788"/>
              <a:ext cx="419930" cy="396001"/>
            </a:xfrm>
            <a:prstGeom prst="ellipse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237923"/>
              </p:ext>
            </p:extLst>
          </p:nvPr>
        </p:nvGraphicFramePr>
        <p:xfrm>
          <a:off x="846750" y="1649963"/>
          <a:ext cx="7239000" cy="13822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как осуществляется сетевая изоляция контейнеров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управлять сетями в </a:t>
                      </a:r>
                      <a:r>
                        <a:rPr lang="en-US" sz="1300" dirty="0">
                          <a:sym typeface="Roboto"/>
                        </a:rPr>
                        <a:t>docker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Поймете что такое </a:t>
                      </a:r>
                      <a:r>
                        <a:rPr lang="en-US" sz="1300" dirty="0">
                          <a:sym typeface="Roboto"/>
                        </a:rPr>
                        <a:t>docker compose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26675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Научитесь собирать несложные архитектуры с помощью </a:t>
                      </a:r>
                      <a:r>
                        <a:rPr lang="en-US" sz="1300" dirty="0">
                          <a:sym typeface="Roboto"/>
                        </a:rPr>
                        <a:t>docker compose</a:t>
                      </a:r>
                      <a:endParaRPr lang="ru-RU" sz="13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9564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292456133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Изолирование контейнеров в сетевых сегментах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Подготовка кода к развертыванию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Сборка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микросервисных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архитектур для локального тестирования решений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741087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 err="1"/>
              <a:t>Docker</a:t>
            </a:r>
            <a:r>
              <a:rPr lang="ru-RU" sz="4900" dirty="0"/>
              <a:t> </a:t>
            </a:r>
            <a:r>
              <a:rPr lang="en-US" sz="4900" dirty="0"/>
              <a:t>networks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заставить контейнеры общаться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1F39C-7C27-7646-8E2F-E61378D4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306" y="1078933"/>
            <a:ext cx="5953388" cy="388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networks driver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92BEE-D090-7E4F-93B3-3BCAD1465AF2}"/>
              </a:ext>
            </a:extLst>
          </p:cNvPr>
          <p:cNvSpPr txBox="1"/>
          <p:nvPr/>
        </p:nvSpPr>
        <p:spPr>
          <a:xfrm>
            <a:off x="629056" y="1426624"/>
            <a:ext cx="7691335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None – </a:t>
            </a:r>
            <a:r>
              <a:rPr lang="ru-RU" dirty="0"/>
              <a:t>контейнер полностью изолирован от сети. Работает только </a:t>
            </a:r>
            <a:r>
              <a:rPr lang="en-US" dirty="0"/>
              <a:t>loopback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Host – </a:t>
            </a:r>
            <a:r>
              <a:rPr lang="ru-RU" dirty="0"/>
              <a:t>контейнер подключен к сетевому интерфейсу хоста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Brige</a:t>
            </a:r>
            <a:r>
              <a:rPr lang="ru-RU" dirty="0"/>
              <a:t> – контейнер подключен через промежуточный сетевой интерфейс. Возможно разделение сети на сегменты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76031-941F-FD47-9EE2-EEDAD8596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79"/>
          <a:stretch/>
        </p:blipFill>
        <p:spPr>
          <a:xfrm>
            <a:off x="1369033" y="3046171"/>
            <a:ext cx="6159500" cy="14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38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- driver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92BEE-D090-7E4F-93B3-3BCAD1465AF2}"/>
              </a:ext>
            </a:extLst>
          </p:cNvPr>
          <p:cNvSpPr txBox="1"/>
          <p:nvPr/>
        </p:nvSpPr>
        <p:spPr>
          <a:xfrm>
            <a:off x="629056" y="1426624"/>
            <a:ext cx="7691335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none – </a:t>
            </a:r>
            <a:r>
              <a:rPr lang="ru-RU" dirty="0"/>
              <a:t>контейнер полностью изолирован от сети. Работает только </a:t>
            </a:r>
            <a:r>
              <a:rPr lang="en-US" dirty="0"/>
              <a:t>loopback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Для</a:t>
            </a:r>
            <a:r>
              <a:rPr lang="en-US" dirty="0"/>
              <a:t> </a:t>
            </a:r>
            <a:r>
              <a:rPr lang="ru-RU" dirty="0"/>
              <a:t>контейнера создается</a:t>
            </a:r>
            <a:r>
              <a:rPr lang="en-US" dirty="0"/>
              <a:t> </a:t>
            </a:r>
            <a:r>
              <a:rPr lang="ru-RU" dirty="0"/>
              <a:t>свой </a:t>
            </a:r>
            <a:r>
              <a:rPr lang="en-US" dirty="0"/>
              <a:t>network namespace 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У контейнера есть</a:t>
            </a:r>
            <a:r>
              <a:rPr lang="en-US" dirty="0"/>
              <a:t> </a:t>
            </a:r>
            <a:r>
              <a:rPr lang="ru-RU" dirty="0"/>
              <a:t>только </a:t>
            </a:r>
            <a:r>
              <a:rPr lang="en-US" dirty="0"/>
              <a:t>loopback </a:t>
            </a:r>
            <a:r>
              <a:rPr lang="ru-RU" dirty="0"/>
              <a:t>интерфейс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Сеть</a:t>
            </a:r>
            <a:r>
              <a:rPr lang="en-US" dirty="0"/>
              <a:t> </a:t>
            </a:r>
            <a:r>
              <a:rPr lang="ru-RU" dirty="0"/>
              <a:t>контейнера полностью</a:t>
            </a:r>
            <a:r>
              <a:rPr lang="en-US" dirty="0"/>
              <a:t> </a:t>
            </a:r>
            <a:r>
              <a:rPr lang="ru-RU" dirty="0"/>
              <a:t>изолирована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246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- driver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92BEE-D090-7E4F-93B3-3BCAD1465AF2}"/>
              </a:ext>
            </a:extLst>
          </p:cNvPr>
          <p:cNvSpPr txBox="1"/>
          <p:nvPr/>
        </p:nvSpPr>
        <p:spPr>
          <a:xfrm>
            <a:off x="622571" y="1686939"/>
            <a:ext cx="7691335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default bridge </a:t>
            </a:r>
            <a:r>
              <a:rPr lang="ru-RU" dirty="0"/>
              <a:t>и </a:t>
            </a:r>
            <a:r>
              <a:rPr lang="en-US" dirty="0"/>
              <a:t>user define bridge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ru-RU" b="1" dirty="0"/>
              <a:t>Особенности </a:t>
            </a:r>
            <a:r>
              <a:rPr lang="en-US" b="1" dirty="0"/>
              <a:t>default bridge network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Назначается</a:t>
            </a:r>
            <a:r>
              <a:rPr lang="en-US" dirty="0"/>
              <a:t> </a:t>
            </a:r>
            <a:r>
              <a:rPr lang="ru-RU" dirty="0"/>
              <a:t>по умолчанию</a:t>
            </a:r>
            <a:r>
              <a:rPr lang="en-US" dirty="0"/>
              <a:t> </a:t>
            </a:r>
            <a:r>
              <a:rPr lang="ru-RU" dirty="0"/>
              <a:t>для</a:t>
            </a:r>
            <a:r>
              <a:rPr lang="en-US" dirty="0"/>
              <a:t> </a:t>
            </a:r>
            <a:r>
              <a:rPr lang="ru-RU" dirty="0"/>
              <a:t>контейнеров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Нельзя</a:t>
            </a:r>
            <a:r>
              <a:rPr lang="en-US" dirty="0"/>
              <a:t> </a:t>
            </a:r>
            <a:r>
              <a:rPr lang="ru-RU" dirty="0"/>
              <a:t>вручную</a:t>
            </a:r>
            <a:r>
              <a:rPr lang="en-US" dirty="0"/>
              <a:t> </a:t>
            </a:r>
            <a:r>
              <a:rPr lang="ru-RU" dirty="0"/>
              <a:t>назначать</a:t>
            </a:r>
            <a:r>
              <a:rPr lang="en-US" dirty="0"/>
              <a:t> IP-</a:t>
            </a:r>
            <a:r>
              <a:rPr lang="ru-RU" dirty="0"/>
              <a:t>адреса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Нет </a:t>
            </a:r>
            <a:r>
              <a:rPr lang="en-US" dirty="0"/>
              <a:t>Service Discovery</a:t>
            </a:r>
          </a:p>
        </p:txBody>
      </p:sp>
    </p:spTree>
    <p:extLst>
      <p:ext uri="{BB962C8B-B14F-4D97-AF65-F5344CB8AC3E}">
        <p14:creationId xmlns:p14="http://schemas.microsoft.com/office/powerpoint/2010/main" val="2956819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- driver</a:t>
            </a:r>
          </a:p>
        </p:txBody>
      </p:sp>
      <p:sp>
        <p:nvSpPr>
          <p:cNvPr id="6" name="Google Shape;340;p61">
            <a:extLst>
              <a:ext uri="{FF2B5EF4-FFF2-40B4-BE49-F238E27FC236}">
                <a16:creationId xmlns:a16="http://schemas.microsoft.com/office/drawing/2014/main" id="{68F83ED5-F730-1F45-9860-0905BD6B87BC}"/>
              </a:ext>
            </a:extLst>
          </p:cNvPr>
          <p:cNvSpPr txBox="1">
            <a:spLocks/>
          </p:cNvSpPr>
          <p:nvPr/>
        </p:nvSpPr>
        <p:spPr>
          <a:xfrm>
            <a:off x="500550" y="1135246"/>
            <a:ext cx="8226300" cy="1296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network create –d bridge my-net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new network</a:t>
            </a:r>
          </a:p>
          <a:p>
            <a:pPr>
              <a:buClr>
                <a:schemeClr val="dk1"/>
              </a:buClr>
              <a:buSzPct val="100000"/>
            </a:pPr>
            <a:endParaRPr lang="ru-RU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C1 alpine	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default network</a:t>
            </a: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C2 --network my-net alpine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network my-net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C3 --network my-net alpine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network my-net</a:t>
            </a:r>
          </a:p>
          <a:p>
            <a:pPr>
              <a:buClr>
                <a:schemeClr val="dk1"/>
              </a:buClr>
              <a:buSzPct val="100000"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B0AA2-87A2-AC47-AFC5-098313060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2684107"/>
            <a:ext cx="3346307" cy="2303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5E3D4A-776B-0549-A1D2-33E69FE31D2B}"/>
              </a:ext>
            </a:extLst>
          </p:cNvPr>
          <p:cNvSpPr txBox="1"/>
          <p:nvPr/>
        </p:nvSpPr>
        <p:spPr>
          <a:xfrm>
            <a:off x="4176408" y="2684107"/>
            <a:ext cx="4550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Контейнеры С2 и С3 видят друг друга, </a:t>
            </a:r>
            <a:br>
              <a:rPr lang="ru-RU" dirty="0"/>
            </a:br>
            <a:r>
              <a:rPr lang="ru-RU" dirty="0"/>
              <a:t>но не видят С1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839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</a:t>
            </a:r>
            <a:r>
              <a:rPr lang="ru-RU" dirty="0"/>
              <a:t> –</a:t>
            </a:r>
            <a:r>
              <a:rPr lang="en-US" dirty="0"/>
              <a:t>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F602F-6B9A-4E4F-818E-D676C793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59" y="1200699"/>
            <a:ext cx="5073991" cy="3702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FB1ADC-34AE-4140-960F-DC1BC4D87D42}"/>
              </a:ext>
            </a:extLst>
          </p:cNvPr>
          <p:cNvSpPr txBox="1"/>
          <p:nvPr/>
        </p:nvSpPr>
        <p:spPr>
          <a:xfrm>
            <a:off x="590145" y="1426624"/>
            <a:ext cx="3281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Контейнер находится внутри хоста – у всех один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ru-RU" dirty="0"/>
              <a:t>адрес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Только один контейнер на каждом порту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Проблемы с безопасностью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1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 err="1"/>
              <a:t>Docker</a:t>
            </a:r>
            <a:r>
              <a:rPr lang="ru-RU" sz="4900" dirty="0"/>
              <a:t> </a:t>
            </a:r>
            <a:r>
              <a:rPr lang="en-US" sz="4900" dirty="0"/>
              <a:t>compose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596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Микросервисная</a:t>
            </a:r>
            <a:r>
              <a:rPr lang="ru-RU" dirty="0"/>
              <a:t> архитектура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92BEE-D090-7E4F-93B3-3BCAD1465AF2}"/>
              </a:ext>
            </a:extLst>
          </p:cNvPr>
          <p:cNvSpPr txBox="1"/>
          <p:nvPr/>
        </p:nvSpPr>
        <p:spPr>
          <a:xfrm>
            <a:off x="622571" y="1686939"/>
            <a:ext cx="7691335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Проблемы</a:t>
            </a:r>
            <a:br>
              <a:rPr lang="ru-RU" b="1" dirty="0"/>
            </a:br>
            <a:endParaRPr lang="ru-RU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Одно приложение состоит из нескольких контейнеров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Один контейнер зависит от другого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Порядок запуска имеет значение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docker build/run/create ... (</a:t>
            </a:r>
            <a:r>
              <a:rPr lang="ru-RU" dirty="0"/>
              <a:t>много и нигде не хранится</a:t>
            </a:r>
            <a:r>
              <a:rPr lang="en-US" dirty="0"/>
              <a:t>)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Различные окружения в зависимости от параметров запуска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49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99717-70E2-B247-9C42-40A592F0D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4" y="52025"/>
            <a:ext cx="3488987" cy="1674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92F185-373E-8449-932A-CF8FE6F29825}"/>
              </a:ext>
            </a:extLst>
          </p:cNvPr>
          <p:cNvSpPr txBox="1"/>
          <p:nvPr/>
        </p:nvSpPr>
        <p:spPr>
          <a:xfrm>
            <a:off x="293742" y="1896680"/>
            <a:ext cx="855651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/>
              <a:t>Необходимо управлять </a:t>
            </a:r>
            <a:r>
              <a:rPr lang="ru-RU" sz="1600" dirty="0" err="1"/>
              <a:t>микросервисами</a:t>
            </a:r>
            <a:r>
              <a:rPr lang="ru-RU" sz="1600" dirty="0"/>
              <a:t> в контейнерах и взаимодействиями между ними: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Декларативное описание </a:t>
            </a:r>
            <a:r>
              <a:rPr lang="en-US" sz="1600" dirty="0"/>
              <a:t>Docker </a:t>
            </a:r>
            <a:r>
              <a:rPr lang="ru-RU" sz="1600" dirty="0"/>
              <a:t>инфраструктуры</a:t>
            </a:r>
            <a:r>
              <a:rPr lang="en-US" sz="1600" dirty="0"/>
              <a:t> </a:t>
            </a:r>
            <a:r>
              <a:rPr lang="ru-RU" sz="1600" dirty="0"/>
              <a:t>в </a:t>
            </a:r>
            <a:r>
              <a:rPr lang="en-US" sz="1600" dirty="0"/>
              <a:t>YAML-</a:t>
            </a:r>
            <a:r>
              <a:rPr lang="ru-RU" sz="1600" dirty="0"/>
              <a:t>формате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Dockerfile</a:t>
            </a:r>
            <a:r>
              <a:rPr lang="en-US" sz="1600" dirty="0"/>
              <a:t> – </a:t>
            </a:r>
            <a:r>
              <a:rPr lang="ru-RU" sz="1600" dirty="0"/>
              <a:t>конфигурация</a:t>
            </a:r>
            <a:r>
              <a:rPr lang="en-US" sz="1600" dirty="0"/>
              <a:t> </a:t>
            </a:r>
            <a:r>
              <a:rPr lang="ru-RU" sz="1600" dirty="0"/>
              <a:t>сборки окружения</a:t>
            </a:r>
            <a:r>
              <a:rPr lang="en-US" sz="1600" dirty="0"/>
              <a:t> </a:t>
            </a:r>
            <a:r>
              <a:rPr lang="ru-RU" sz="1600" dirty="0"/>
              <a:t>и приложений в нем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docker-</a:t>
            </a:r>
            <a:r>
              <a:rPr lang="en-US" sz="1600" dirty="0" err="1"/>
              <a:t>compose.yml</a:t>
            </a:r>
            <a:r>
              <a:rPr lang="en-US" sz="1600" dirty="0"/>
              <a:t> - </a:t>
            </a:r>
            <a:r>
              <a:rPr lang="ru-RU" sz="1600" dirty="0"/>
              <a:t>конфигурация</a:t>
            </a:r>
            <a:r>
              <a:rPr lang="en-US" sz="1600" dirty="0"/>
              <a:t> </a:t>
            </a:r>
            <a:r>
              <a:rPr lang="ru-RU" sz="1600" dirty="0"/>
              <a:t>проекта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Один </a:t>
            </a:r>
            <a:r>
              <a:rPr lang="en-US" sz="1600" dirty="0"/>
              <a:t>docker-</a:t>
            </a:r>
            <a:r>
              <a:rPr lang="en-US" sz="1600" dirty="0" err="1"/>
              <a:t>compose.yml</a:t>
            </a:r>
            <a:r>
              <a:rPr lang="en-US" sz="1600" dirty="0"/>
              <a:t> </a:t>
            </a:r>
            <a:r>
              <a:rPr lang="ru-RU" sz="1600" dirty="0"/>
              <a:t>на все окружения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737C2-26E2-DA46-9264-40304D4AC36C}"/>
              </a:ext>
            </a:extLst>
          </p:cNvPr>
          <p:cNvSpPr txBox="1"/>
          <p:nvPr/>
        </p:nvSpPr>
        <p:spPr>
          <a:xfrm>
            <a:off x="3774331" y="651187"/>
            <a:ext cx="4222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Управление </a:t>
            </a:r>
            <a:r>
              <a:rPr lang="ru-RU" sz="1800" b="1" dirty="0" err="1"/>
              <a:t>многоконтейнерными</a:t>
            </a:r>
            <a:r>
              <a:rPr lang="ru-RU" sz="1800" b="1" dirty="0"/>
              <a:t> </a:t>
            </a:r>
          </a:p>
          <a:p>
            <a:r>
              <a:rPr lang="ru-RU" sz="1800" b="1" dirty="0"/>
              <a:t>приложениями</a:t>
            </a:r>
            <a:endParaRPr lang="en-US" sz="18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Сборка архитектуры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1763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7222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2D875-6739-E441-A4EF-8C6D1923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064519"/>
            <a:ext cx="8520600" cy="33388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Создать сеть</a:t>
            </a:r>
          </a:p>
          <a:p>
            <a:pPr>
              <a:lnSpc>
                <a:spcPct val="150000"/>
              </a:lnSpc>
            </a:pPr>
            <a:r>
              <a:rPr lang="ru-RU" dirty="0"/>
              <a:t>Развернуть контейнеры в своей сети</a:t>
            </a:r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 err="1"/>
              <a:t>FastAPI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изолированном сегменте с доступом через </a:t>
            </a:r>
            <a:r>
              <a:rPr lang="en-US" dirty="0" err="1"/>
              <a:t>nginx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несколько ядер модели и </a:t>
            </a:r>
            <a:r>
              <a:rPr lang="ru-RU" dirty="0" err="1"/>
              <a:t>балансировщик</a:t>
            </a:r>
            <a:r>
              <a:rPr lang="en-US" dirty="0"/>
              <a:t> </a:t>
            </a:r>
            <a:r>
              <a:rPr lang="ru-RU" dirty="0"/>
              <a:t>нагрузки </a:t>
            </a:r>
            <a:r>
              <a:rPr lang="en-US" dirty="0" err="1"/>
              <a:t>nginx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конфигурацию БД с помощью </a:t>
            </a:r>
            <a:r>
              <a:rPr lang="en-US" dirty="0"/>
              <a:t>docker compose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41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Создать сеть и проверить взаимодействие</a:t>
            </a:r>
            <a:endParaRPr dirty="0"/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505646FE-4534-D246-8BC3-6BC583EE67E5}"/>
              </a:ext>
            </a:extLst>
          </p:cNvPr>
          <p:cNvSpPr txBox="1">
            <a:spLocks/>
          </p:cNvSpPr>
          <p:nvPr/>
        </p:nvSpPr>
        <p:spPr>
          <a:xfrm>
            <a:off x="500550" y="1135246"/>
            <a:ext cx="8226300" cy="3540516"/>
          </a:xfrm>
          <a:prstGeom prst="rect">
            <a:avLst/>
          </a:prstGeom>
          <a:solidFill>
            <a:srgbClr val="FBFBFB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network create –d bridge my-net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new network</a:t>
            </a:r>
          </a:p>
          <a:p>
            <a:pPr>
              <a:buClr>
                <a:schemeClr val="dk1"/>
              </a:buClr>
              <a:buSzPct val="100000"/>
            </a:pPr>
            <a:endParaRPr lang="ru-RU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C1 alpine		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default network</a:t>
            </a: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–d -it --name C2 --network my-net alpine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network my-net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run –d -it --name C3 --network my-net alpine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network my-net</a:t>
            </a: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C1# ping C2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ping: bad address 'C1’</a:t>
            </a:r>
          </a:p>
          <a:p>
            <a:pPr>
              <a:buClr>
                <a:schemeClr val="dk1"/>
              </a:buClr>
              <a:buSzPct val="100000"/>
            </a:pP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C2# ping C3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PING C2 (172.18.0.2): 56 data bytes</a:t>
            </a:r>
          </a:p>
          <a:p>
            <a:pPr>
              <a:buClr>
                <a:schemeClr val="dk1"/>
              </a:buClr>
              <a:buSzPct val="100000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 bytes from 172.18.0.2: seq=0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ttl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=64 time=1.006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503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r>
              <a:rPr lang="ru-RU" sz="1400" dirty="0">
                <a:solidFill>
                  <a:srgbClr val="008F00"/>
                </a:solidFill>
              </a:rPr>
              <a:t> нагрузки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- 5002:5002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 портов для модели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24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user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служебный </a:t>
            </a:r>
            <a:r>
              <a:rPr lang="en-US" sz="1400" dirty="0">
                <a:solidFill>
                  <a:srgbClr val="008F00"/>
                </a:solidFill>
              </a:rPr>
              <a:t>user </a:t>
            </a:r>
            <a:r>
              <a:rPr lang="ru-RU" sz="1400" dirty="0">
                <a:solidFill>
                  <a:srgbClr val="008F00"/>
                </a:solidFill>
              </a:rPr>
              <a:t>по умолчанию, на </a:t>
            </a:r>
            <a:r>
              <a:rPr lang="ru-RU" sz="1400" dirty="0" err="1">
                <a:solidFill>
                  <a:srgbClr val="008F00"/>
                </a:solidFill>
              </a:rPr>
              <a:t>проде</a:t>
            </a:r>
            <a:r>
              <a:rPr lang="ru-RU" sz="1400" dirty="0">
                <a:solidFill>
                  <a:srgbClr val="008F00"/>
                </a:solidFill>
              </a:rPr>
              <a:t> настроить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events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worker_connections</a:t>
            </a:r>
            <a:r>
              <a:rPr lang="en-US" sz="1400" dirty="0">
                <a:solidFill>
                  <a:schemeClr val="tx1"/>
                </a:solidFill>
              </a:rPr>
              <a:t>   1000;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Максимум соединений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http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server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listen 4000;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4000 </a:t>
            </a:r>
            <a:r>
              <a:rPr lang="ru-RU" sz="1400" b="1" dirty="0">
                <a:solidFill>
                  <a:srgbClr val="008F00"/>
                </a:solidFill>
              </a:rPr>
              <a:t>внутри контейнера</a:t>
            </a:r>
            <a:endParaRPr lang="en-US" sz="14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location /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    </a:t>
            </a:r>
            <a:r>
              <a:rPr lang="en-US" sz="1400" dirty="0" err="1">
                <a:solidFill>
                  <a:schemeClr val="tx1"/>
                </a:solidFill>
              </a:rPr>
              <a:t>proxy_pass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hlinkClick r:id="rId3"/>
              </a:rPr>
              <a:t>http://fastapi_net:5002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Пробрасываем запрос на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</a:rPr>
              <a:t>						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nginx.conf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5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Не указывать внутренний порт, он будет назначен автоматически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deploy: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replicas: 3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Запустить 3 копии,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будет на них распределять нагрузку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/>
              <a:t>Docker</a:t>
            </a:r>
            <a:r>
              <a:rPr lang="ru-RU" sz="1800" b="1" dirty="0"/>
              <a:t> 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Основы </a:t>
            </a:r>
            <a:r>
              <a:rPr lang="en-US" sz="1400" dirty="0"/>
              <a:t>docker: </a:t>
            </a:r>
            <a:r>
              <a:rPr lang="en-US" sz="1400" dirty="0">
                <a:hlinkClick r:id="rId3"/>
              </a:rPr>
              <a:t>https://habr.com/ru/companies/ruvds/articles/438796/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Основные команды </a:t>
            </a:r>
            <a:r>
              <a:rPr lang="en-US" sz="1400" dirty="0"/>
              <a:t>docker: </a:t>
            </a:r>
            <a:r>
              <a:rPr lang="en-US" sz="1400" dirty="0">
                <a:hlinkClick r:id="rId4"/>
              </a:rPr>
              <a:t>https://habr.com/ru/companies/flant/articles/336654/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</a:t>
            </a:r>
            <a:r>
              <a:rPr lang="ru-RU" sz="1400" dirty="0"/>
              <a:t>на </a:t>
            </a:r>
            <a:r>
              <a:rPr lang="en-US" sz="1400" dirty="0"/>
              <a:t>mac m1: </a:t>
            </a:r>
            <a:r>
              <a:rPr lang="en-US" sz="1400" dirty="0">
                <a:hlinkClick r:id="rId5"/>
              </a:rPr>
              <a:t>https://habr.com/ru/companies/evrone/articles/716630/</a:t>
            </a:r>
            <a:r>
              <a:rPr lang="en-US" sz="1400" dirty="0"/>
              <a:t> </a:t>
            </a:r>
            <a:endParaRPr lang="ru-RU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Оптимизация сборки </a:t>
            </a:r>
            <a:r>
              <a:rPr lang="en-US" sz="1800" b="1" dirty="0" err="1"/>
              <a:t>dockerfile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https://habr.com/ru/companies/first/articles/702168/</a:t>
            </a:r>
            <a:r>
              <a:rPr lang="en-US" sz="1400" dirty="0"/>
              <a:t> 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Развертывание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Развертывание </a:t>
            </a:r>
            <a:r>
              <a:rPr lang="en-US" sz="1400" dirty="0"/>
              <a:t>ML </a:t>
            </a:r>
            <a:r>
              <a:rPr lang="ru-RU" sz="1400" dirty="0"/>
              <a:t>модели в </a:t>
            </a:r>
            <a:r>
              <a:rPr lang="en-US" sz="1400" dirty="0"/>
              <a:t>Docker</a:t>
            </a:r>
            <a:r>
              <a:rPr lang="ru-RU" sz="1400" dirty="0"/>
              <a:t>: </a:t>
            </a:r>
            <a:r>
              <a:rPr lang="en-US" sz="1400" dirty="0">
                <a:hlinkClick r:id="rId7"/>
              </a:rPr>
              <a:t>https://habr.com/ru/articles/548910/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8"/>
              </a:rPr>
              <a:t>https://habr.com/ru/articles/729380/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311150">
              <a:lnSpc>
                <a:spcPct val="100000"/>
              </a:lnSpc>
              <a:buSzPts val="1300"/>
              <a:buFont typeface="Roboto"/>
              <a:buAutoNum type="arabicPeriod"/>
            </a:pPr>
            <a:r>
              <a:rPr lang="en-US" sz="1800" b="1" dirty="0"/>
              <a:t>Docker Compose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Руководство по </a:t>
            </a:r>
            <a:r>
              <a:rPr lang="en-US" sz="1400" dirty="0"/>
              <a:t>Docker Compose </a:t>
            </a:r>
            <a:r>
              <a:rPr lang="ru-RU" sz="1400" dirty="0"/>
              <a:t>для начинающих</a:t>
            </a:r>
            <a:r>
              <a:rPr lang="en-US" sz="1400" dirty="0"/>
              <a:t>: </a:t>
            </a:r>
            <a:r>
              <a:rPr lang="en-US" sz="1400" dirty="0">
                <a:hlinkClick r:id="rId9"/>
              </a:rPr>
              <a:t>https://habr.com/ru/companies/ruvds/articles/450312/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Compose: </a:t>
            </a:r>
            <a:r>
              <a:rPr lang="en-US" sz="1400" dirty="0">
                <a:hlinkClick r:id="rId10"/>
              </a:rPr>
              <a:t>https://habr.com/ru/companies/otus/articles/731854/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11"/>
              </a:rPr>
              <a:t>https://habr.com/ru/articles/346306/</a:t>
            </a:r>
            <a:r>
              <a:rPr lang="en-US" sz="1400" dirty="0"/>
              <a:t> </a:t>
            </a:r>
            <a:endParaRPr lang="ru-RU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Рефлексия</a:t>
            </a:r>
            <a:endParaRPr/>
          </a:p>
        </p:txBody>
      </p:sp>
      <p:pic>
        <p:nvPicPr>
          <p:cNvPr id="372" name="Google Shape;37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60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60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dirty="0" err="1"/>
              <a:t>Деплой</a:t>
            </a:r>
            <a:r>
              <a:rPr lang="ru-RU" dirty="0"/>
              <a:t> </a:t>
            </a:r>
            <a:r>
              <a:rPr lang="en-US" dirty="0"/>
              <a:t>docker</a:t>
            </a:r>
            <a:r>
              <a:rPr lang="ru-RU" dirty="0"/>
              <a:t> образа в </a:t>
            </a:r>
            <a:r>
              <a:rPr lang="en-US" dirty="0"/>
              <a:t>Yandex Cloud</a:t>
            </a:r>
            <a:endParaRPr lang="ru-RU" dirty="0"/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61D8227D-BF3B-A844-B067-82EA3249A836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3350</TotalTime>
  <Words>1414</Words>
  <Application>Microsoft Macintosh PowerPoint</Application>
  <PresentationFormat>On-screen Show (16:9)</PresentationFormat>
  <Paragraphs>270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Google Sans</vt:lpstr>
      <vt:lpstr>Roboto</vt:lpstr>
      <vt:lpstr>Arial</vt:lpstr>
      <vt:lpstr>Courier New</vt:lpstr>
      <vt:lpstr>Apple Chancery</vt:lpstr>
      <vt:lpstr>Светлая тема</vt:lpstr>
      <vt:lpstr>ML Advanced Docker nets &amp; Docker compose</vt:lpstr>
      <vt:lpstr>Проверить, идет ли запись</vt:lpstr>
      <vt:lpstr>ML Advanced Docker nets &amp; Docker compose</vt:lpstr>
      <vt:lpstr>Правила вебинара</vt:lpstr>
      <vt:lpstr>Маршрут вебинара</vt:lpstr>
      <vt:lpstr>Карта курса</vt:lpstr>
      <vt:lpstr>Программа курса</vt:lpstr>
      <vt:lpstr>Цели вебинара</vt:lpstr>
      <vt:lpstr>Смысл</vt:lpstr>
      <vt:lpstr>Docker networks</vt:lpstr>
      <vt:lpstr>Как заставить контейнеры общаться</vt:lpstr>
      <vt:lpstr>Docker networks driver</vt:lpstr>
      <vt:lpstr>null - driver</vt:lpstr>
      <vt:lpstr>bridge - driver</vt:lpstr>
      <vt:lpstr>bridge - driver</vt:lpstr>
      <vt:lpstr>host – driver</vt:lpstr>
      <vt:lpstr>Docker compose</vt:lpstr>
      <vt:lpstr>Микросервисная архитектура</vt:lpstr>
      <vt:lpstr>PowerPoint Presentation</vt:lpstr>
      <vt:lpstr>Сборка архитектуры</vt:lpstr>
      <vt:lpstr>Практика</vt:lpstr>
      <vt:lpstr>Практика</vt:lpstr>
      <vt:lpstr>Создать сеть и проверить взаимодействие</vt:lpstr>
      <vt:lpstr>Развернуть ML модель в Docker Compose</vt:lpstr>
      <vt:lpstr>Развернуть ML модель в Docker Compose</vt:lpstr>
      <vt:lpstr>Развернуть ML модель в Docker Compose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70</cp:revision>
  <dcterms:modified xsi:type="dcterms:W3CDTF">2025-10-24T10:04:21Z</dcterms:modified>
</cp:coreProperties>
</file>