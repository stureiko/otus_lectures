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5" r:id="rId1"/>
  </p:sldMasterIdLst>
  <p:notesMasterIdLst>
    <p:notesMasterId r:id="rId33"/>
  </p:notesMasterIdLst>
  <p:sldIdLst>
    <p:sldId id="256" r:id="rId2"/>
    <p:sldId id="257" r:id="rId3"/>
    <p:sldId id="404" r:id="rId4"/>
    <p:sldId id="259" r:id="rId5"/>
    <p:sldId id="406" r:id="rId6"/>
    <p:sldId id="489" r:id="rId7"/>
    <p:sldId id="405" r:id="rId8"/>
    <p:sldId id="371" r:id="rId9"/>
    <p:sldId id="372" r:id="rId10"/>
    <p:sldId id="262" r:id="rId11"/>
    <p:sldId id="373" r:id="rId12"/>
    <p:sldId id="492" r:id="rId13"/>
    <p:sldId id="493" r:id="rId14"/>
    <p:sldId id="494" r:id="rId15"/>
    <p:sldId id="495" r:id="rId16"/>
    <p:sldId id="500" r:id="rId17"/>
    <p:sldId id="490" r:id="rId18"/>
    <p:sldId id="496" r:id="rId19"/>
    <p:sldId id="283" r:id="rId20"/>
    <p:sldId id="384" r:id="rId21"/>
    <p:sldId id="491" r:id="rId22"/>
    <p:sldId id="396" r:id="rId23"/>
    <p:sldId id="398" r:id="rId24"/>
    <p:sldId id="401" r:id="rId25"/>
    <p:sldId id="402" r:id="rId26"/>
    <p:sldId id="408" r:id="rId27"/>
    <p:sldId id="395" r:id="rId28"/>
    <p:sldId id="285" r:id="rId29"/>
    <p:sldId id="286" r:id="rId30"/>
    <p:sldId id="287" r:id="rId31"/>
    <p:sldId id="288" r:id="rId32"/>
  </p:sldIdLst>
  <p:sldSz cx="9144000" cy="5143500" type="screen16x9"/>
  <p:notesSz cx="6858000" cy="9144000"/>
  <p:embeddedFontLst>
    <p:embeddedFont>
      <p:font typeface="Roboto" panose="02000000000000000000" pitchFamily="2" charset="0"/>
      <p:regular r:id="rId34"/>
      <p:bold r:id="rId35"/>
      <p:italic r:id="rId36"/>
      <p:boldItalic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1002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BFB"/>
    <a:srgbClr val="008F00"/>
    <a:srgbClr val="EEEEEE"/>
    <a:srgbClr val="0B88ED"/>
    <a:srgbClr val="E5F3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777"/>
    <p:restoredTop sz="94694"/>
  </p:normalViewPr>
  <p:slideViewPr>
    <p:cSldViewPr snapToGrid="0">
      <p:cViewPr varScale="1">
        <p:scale>
          <a:sx n="156" d="100"/>
          <a:sy n="156" d="100"/>
        </p:scale>
        <p:origin x="888" y="168"/>
      </p:cViewPr>
      <p:guideLst>
        <p:guide pos="5533"/>
        <p:guide pos="1002"/>
        <p:guide orient="horz" pos="1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3" name="Google Shape;12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9" name="Google Shape;12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8" name="Google Shape;14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05733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46910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32811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99441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0283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78835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40821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62237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35536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df6222e6a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df6222e6a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4" name="Google Shape;364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9" name="Google Shape;369;p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8" name="Google Shape;378;p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3" name="Google Shape;38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8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29" name="Google Shape;29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5/15/25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468253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5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78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://www.linkedin.com/in/igor-stureiko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fastapi_net:5002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hyperlink" Target="https://habr.com/ru/articles/729380/" TargetMode="External"/><Relationship Id="rId3" Type="http://schemas.openxmlformats.org/officeDocument/2006/relationships/hyperlink" Target="https://habr.com/ru/companies/ruvds/articles/438796/" TargetMode="External"/><Relationship Id="rId7" Type="http://schemas.openxmlformats.org/officeDocument/2006/relationships/hyperlink" Target="https://habr.com/ru/articles/548910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habr.com/ru/companies/first/articles/702168/" TargetMode="External"/><Relationship Id="rId11" Type="http://schemas.openxmlformats.org/officeDocument/2006/relationships/hyperlink" Target="https://habr.com/ru/articles/346306/" TargetMode="External"/><Relationship Id="rId5" Type="http://schemas.openxmlformats.org/officeDocument/2006/relationships/hyperlink" Target="https://habr.com/ru/companies/evrone/articles/716630/" TargetMode="External"/><Relationship Id="rId10" Type="http://schemas.openxmlformats.org/officeDocument/2006/relationships/hyperlink" Target="https://habr.com/ru/companies/otus/articles/731854/" TargetMode="External"/><Relationship Id="rId4" Type="http://schemas.openxmlformats.org/officeDocument/2006/relationships/hyperlink" Target="https://habr.com/ru/companies/flant/articles/336654/" TargetMode="External"/><Relationship Id="rId9" Type="http://schemas.openxmlformats.org/officeDocument/2006/relationships/hyperlink" Target="https://habr.com/ru/companies/ruvds/articles/450312/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://www.linkedin.com/in/igor-stureik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0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ru-RU"/>
              <a:t>otus.ru</a:t>
            </a:r>
            <a:endParaRPr/>
          </a:p>
        </p:txBody>
      </p:sp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8037600" cy="23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dirty="0"/>
              <a:t>ML Advanced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200" dirty="0" err="1"/>
              <a:t>Docker</a:t>
            </a:r>
            <a:r>
              <a:rPr lang="en-US" sz="3200" dirty="0"/>
              <a:t> nets &amp; Docker compose</a:t>
            </a:r>
            <a:endParaRPr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1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ru-RU" sz="2100"/>
              <a:t>Проверить, идет ли запись</a:t>
            </a:r>
            <a:endParaRPr sz="2100"/>
          </a:p>
        </p:txBody>
      </p:sp>
      <p:sp>
        <p:nvSpPr>
          <p:cNvPr id="132" name="Google Shape;132;p31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000"/>
              <a:t>Меня хорошо видно</a:t>
            </a:r>
            <a:endParaRPr sz="40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ru-RU" sz="4000"/>
              <a:t>&amp;&amp; слышно?</a:t>
            </a:r>
            <a:endParaRPr sz="4000"/>
          </a:p>
        </p:txBody>
      </p:sp>
      <p:pic>
        <p:nvPicPr>
          <p:cNvPr id="133" name="Google Shape;133;p31"/>
          <p:cNvPicPr preferRelativeResize="0"/>
          <p:nvPr/>
        </p:nvPicPr>
        <p:blipFill rotWithShape="1">
          <a:blip r:embed="rId3">
            <a:alphaModFix/>
          </a:blip>
          <a:srcRect l="99" r="98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72375" y="3520050"/>
            <a:ext cx="525600" cy="5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1"/>
          <p:cNvSpPr txBox="1"/>
          <p:nvPr/>
        </p:nvSpPr>
        <p:spPr>
          <a:xfrm>
            <a:off x="1514225" y="34596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Ставим “+”, если все хорошо</a:t>
            </a:r>
            <a:b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“-”, если есть проблемы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Advanced</a:t>
            </a:r>
            <a:br>
              <a:rPr lang="en-US" dirty="0"/>
            </a:br>
            <a:r>
              <a:rPr lang="en-US" sz="2400" dirty="0"/>
              <a:t>Docker nets &amp; Docker compose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2215E3-7B5E-BC4F-9DA6-F65D728D82F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4F95B4A6-F84C-CE46-A1DF-BE41CF4B8DEE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4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 b="1"/>
              <a:t>Правила вебинара</a:t>
            </a:r>
            <a:endParaRPr sz="3200" b="1"/>
          </a:p>
        </p:txBody>
      </p:sp>
      <p:pic>
        <p:nvPicPr>
          <p:cNvPr id="151" name="Google Shape;151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3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3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37650" y="2171509"/>
            <a:ext cx="692621" cy="69262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3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" name="Google Shape;156;p33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 чат или голосом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" name="Google Shape;157;p33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" name="Google Shape;158;p33"/>
          <p:cNvSpPr txBox="1"/>
          <p:nvPr/>
        </p:nvSpPr>
        <p:spPr>
          <a:xfrm>
            <a:off x="1654525" y="204930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 учебной группе 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" name="Google Shape;159;p33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33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1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1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1" name="Google Shape;161;p3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33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3" name="Google Shape;163;p33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33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5" name="Google Shape;165;p33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33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7" name="Google Shape;167;p33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3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9" name="Google Shape;169;p33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33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1" name="Google Shape;171;p33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3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187" name="Google Shape;187;p36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Знакомство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36"/>
          <p:cNvSpPr/>
          <p:nvPr/>
        </p:nvSpPr>
        <p:spPr>
          <a:xfrm>
            <a:off x="787125" y="1785042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Docker networking</a:t>
            </a:r>
            <a:endParaRPr lang="en-US" sz="1300" b="0" i="0" u="none" strike="noStrike" cap="none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787125" y="236455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Виды сетей</a:t>
            </a:r>
            <a:endParaRPr lang="en-US" sz="1300" b="0" i="0" u="none" strike="noStrike" cap="none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36"/>
          <p:cNvSpPr/>
          <p:nvPr/>
        </p:nvSpPr>
        <p:spPr>
          <a:xfrm>
            <a:off x="786525" y="2944076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Взаимодействие контейнеров</a:t>
            </a:r>
            <a:endParaRPr sz="1300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86525" y="3523593"/>
            <a:ext cx="3384900" cy="376201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Docker Compose</a:t>
            </a:r>
          </a:p>
        </p:txBody>
      </p:sp>
      <p:sp>
        <p:nvSpPr>
          <p:cNvPr id="192" name="Google Shape;192;p36"/>
          <p:cNvSpPr/>
          <p:nvPr/>
        </p:nvSpPr>
        <p:spPr>
          <a:xfrm>
            <a:off x="786525" y="410311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Сборка </a:t>
            </a:r>
            <a:r>
              <a:rPr lang="ru-RU" sz="13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микросервисной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архитектуры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3" name="Google Shape;193;p36"/>
          <p:cNvCxnSpPr>
            <a:stCxn id="187" idx="1"/>
            <a:endCxn id="188" idx="1"/>
          </p:cNvCxnSpPr>
          <p:nvPr/>
        </p:nvCxnSpPr>
        <p:spPr>
          <a:xfrm rot="10800000" flipH="1" flipV="1">
            <a:off x="786525" y="1393624"/>
            <a:ext cx="600" cy="579517"/>
          </a:xfrm>
          <a:prstGeom prst="curvedConnector3">
            <a:avLst>
              <a:gd name="adj1" fmla="val -381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4" name="Google Shape;194;p36"/>
          <p:cNvCxnSpPr>
            <a:stCxn id="188" idx="1"/>
            <a:endCxn id="189" idx="1"/>
          </p:cNvCxnSpPr>
          <p:nvPr/>
        </p:nvCxnSpPr>
        <p:spPr>
          <a:xfrm rot="10800000" flipV="1">
            <a:off x="787125" y="1973141"/>
            <a:ext cx="12700" cy="579517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5" name="Google Shape;195;p36"/>
          <p:cNvCxnSpPr>
            <a:cxnSpLocks/>
            <a:stCxn id="189" idx="1"/>
            <a:endCxn id="190" idx="1"/>
          </p:cNvCxnSpPr>
          <p:nvPr/>
        </p:nvCxnSpPr>
        <p:spPr>
          <a:xfrm rot="10800000" flipV="1">
            <a:off x="786525" y="2552658"/>
            <a:ext cx="600" cy="579517"/>
          </a:xfrm>
          <a:prstGeom prst="curvedConnector3">
            <a:avLst>
              <a:gd name="adj1" fmla="val 382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6" name="Google Shape;196;p36"/>
          <p:cNvCxnSpPr>
            <a:cxnSpLocks/>
            <a:stCxn id="190" idx="1"/>
            <a:endCxn id="191" idx="1"/>
          </p:cNvCxnSpPr>
          <p:nvPr/>
        </p:nvCxnSpPr>
        <p:spPr>
          <a:xfrm rot="10800000" flipV="1">
            <a:off x="786525" y="3132176"/>
            <a:ext cx="12700" cy="579518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7" name="Google Shape;197;p36"/>
          <p:cNvCxnSpPr>
            <a:cxnSpLocks/>
            <a:stCxn id="191" idx="1"/>
            <a:endCxn id="192" idx="1"/>
          </p:cNvCxnSpPr>
          <p:nvPr/>
        </p:nvCxnSpPr>
        <p:spPr>
          <a:xfrm rot="10800000" flipV="1">
            <a:off x="786525" y="3711693"/>
            <a:ext cx="12700" cy="579519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56539A90-06AC-8946-A29E-7B33C459CCF6}"/>
              </a:ext>
            </a:extLst>
          </p:cNvPr>
          <p:cNvGrpSpPr/>
          <p:nvPr/>
        </p:nvGrpSpPr>
        <p:grpSpPr>
          <a:xfrm>
            <a:off x="5775022" y="1104087"/>
            <a:ext cx="2278070" cy="1839989"/>
            <a:chOff x="4481794" y="1270785"/>
            <a:chExt cx="2278070" cy="183998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C8E64C8-88A3-974F-8842-CB97BB5E50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r="56980"/>
            <a:stretch/>
          </p:blipFill>
          <p:spPr>
            <a:xfrm>
              <a:off x="4760850" y="1270785"/>
              <a:ext cx="1719958" cy="94953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8BB4E7A0-9F4B-E347-B662-17623C7C144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3020"/>
            <a:stretch/>
          </p:blipFill>
          <p:spPr>
            <a:xfrm>
              <a:off x="4481794" y="2161242"/>
              <a:ext cx="2278070" cy="949532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FAB09C8-95A1-984B-B06A-2EF5FEF351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4040" y="3036559"/>
            <a:ext cx="3324896" cy="15959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dirty="0"/>
              <a:t>Карта курса</a:t>
            </a:r>
            <a:endParaRPr dirty="0"/>
          </a:p>
        </p:txBody>
      </p:sp>
      <p:sp>
        <p:nvSpPr>
          <p:cNvPr id="179" name="Google Shape;179;p34"/>
          <p:cNvSpPr/>
          <p:nvPr/>
        </p:nvSpPr>
        <p:spPr>
          <a:xfrm>
            <a:off x="3042000" y="76997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627063" indent="-225425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1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Временные ряды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0" name="Google Shape;180;p34"/>
          <p:cNvSpPr/>
          <p:nvPr/>
        </p:nvSpPr>
        <p:spPr>
          <a:xfrm>
            <a:off x="65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627063" indent="-225425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2.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Рекомендательные системы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1" name="Google Shape;181;p34"/>
          <p:cNvSpPr/>
          <p:nvPr/>
        </p:nvSpPr>
        <p:spPr>
          <a:xfrm>
            <a:off x="524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666750" indent="-220663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4.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Обучение с подкреплением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2" name="Google Shape;182;p34"/>
          <p:cNvSpPr/>
          <p:nvPr/>
        </p:nvSpPr>
        <p:spPr>
          <a:xfrm>
            <a:off x="524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3.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Байесовские модели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3" name="Google Shape;183;p34"/>
          <p:cNvCxnSpPr>
            <a:cxnSpLocks/>
            <a:stCxn id="179" idx="1"/>
            <a:endCxn id="180" idx="0"/>
          </p:cNvCxnSpPr>
          <p:nvPr/>
        </p:nvCxnSpPr>
        <p:spPr>
          <a:xfrm rot="10800000" flipV="1">
            <a:off x="2184006" y="1059620"/>
            <a:ext cx="857995" cy="604460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5" name="Google Shape;185;p34"/>
          <p:cNvSpPr/>
          <p:nvPr/>
        </p:nvSpPr>
        <p:spPr>
          <a:xfrm>
            <a:off x="65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5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Production</a:t>
            </a:r>
            <a:endParaRPr lang="ru-RU"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6" name="Google Shape;186;p34"/>
          <p:cNvCxnSpPr>
            <a:cxnSpLocks/>
            <a:stCxn id="180" idx="3"/>
            <a:endCxn id="182" idx="1"/>
          </p:cNvCxnSpPr>
          <p:nvPr/>
        </p:nvCxnSpPr>
        <p:spPr>
          <a:xfrm>
            <a:off x="3714005" y="1953730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7" name="Google Shape;187;p34"/>
          <p:cNvCxnSpPr>
            <a:cxnSpLocks/>
            <a:stCxn id="182" idx="3"/>
            <a:endCxn id="181" idx="3"/>
          </p:cNvCxnSpPr>
          <p:nvPr/>
        </p:nvCxnSpPr>
        <p:spPr>
          <a:xfrm>
            <a:off x="8304005" y="1953730"/>
            <a:ext cx="12700" cy="847657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8" name="Google Shape;188;p34"/>
          <p:cNvCxnSpPr>
            <a:cxnSpLocks/>
            <a:stCxn id="181" idx="1"/>
            <a:endCxn id="185" idx="3"/>
          </p:cNvCxnSpPr>
          <p:nvPr/>
        </p:nvCxnSpPr>
        <p:spPr>
          <a:xfrm rot="10800000">
            <a:off x="3714005" y="2801387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9" name="Google Shape;189;p34"/>
          <p:cNvSpPr/>
          <p:nvPr/>
        </p:nvSpPr>
        <p:spPr>
          <a:xfrm>
            <a:off x="654005" y="336581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6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en-US" sz="1600" dirty="0" err="1">
                <a:solidFill>
                  <a:srgbClr val="1F1F1F"/>
                </a:solidFill>
                <a:latin typeface="Google Sans"/>
                <a:sym typeface="Roboto"/>
              </a:rPr>
              <a:t>AutoML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34" name="Google Shape;189;p34">
            <a:extLst>
              <a:ext uri="{FF2B5EF4-FFF2-40B4-BE49-F238E27FC236}">
                <a16:creationId xmlns:a16="http://schemas.microsoft.com/office/drawing/2014/main" id="{1205F190-94C2-4A4C-B9ED-91A1F73E4D34}"/>
              </a:ext>
            </a:extLst>
          </p:cNvPr>
          <p:cNvSpPr/>
          <p:nvPr/>
        </p:nvSpPr>
        <p:spPr>
          <a:xfrm>
            <a:off x="3042000" y="423476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Курсовой проект</a:t>
            </a:r>
            <a:endParaRPr sz="13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" name="Google Shape;188;p34">
            <a:extLst>
              <a:ext uri="{FF2B5EF4-FFF2-40B4-BE49-F238E27FC236}">
                <a16:creationId xmlns:a16="http://schemas.microsoft.com/office/drawing/2014/main" id="{EB8517B5-119A-7442-825D-C15261576413}"/>
              </a:ext>
            </a:extLst>
          </p:cNvPr>
          <p:cNvCxnSpPr>
            <a:cxnSpLocks/>
            <a:stCxn id="189" idx="1"/>
            <a:endCxn id="185" idx="1"/>
          </p:cNvCxnSpPr>
          <p:nvPr/>
        </p:nvCxnSpPr>
        <p:spPr>
          <a:xfrm rot="10800000">
            <a:off x="654005" y="2801387"/>
            <a:ext cx="12700" cy="854078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cxnSp>
        <p:nvCxnSpPr>
          <p:cNvPr id="38" name="Google Shape;188;p34">
            <a:extLst>
              <a:ext uri="{FF2B5EF4-FFF2-40B4-BE49-F238E27FC236}">
                <a16:creationId xmlns:a16="http://schemas.microsoft.com/office/drawing/2014/main" id="{F7B38074-28CA-DC44-8191-7A278B3DB050}"/>
              </a:ext>
            </a:extLst>
          </p:cNvPr>
          <p:cNvCxnSpPr>
            <a:cxnSpLocks/>
            <a:stCxn id="34" idx="0"/>
            <a:endCxn id="189" idx="3"/>
          </p:cNvCxnSpPr>
          <p:nvPr/>
        </p:nvCxnSpPr>
        <p:spPr>
          <a:xfrm rot="16200000" flipV="1">
            <a:off x="3853353" y="3516117"/>
            <a:ext cx="579300" cy="857995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3D6F8E5B-8E72-9642-AA4C-A3D19C97E5E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120894" y="1338234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447CBAF-C51E-AF4A-9C35-3B92661ED5B4}"/>
              </a:ext>
            </a:extLst>
          </p:cNvPr>
          <p:cNvSpPr txBox="1"/>
          <p:nvPr/>
        </p:nvSpPr>
        <p:spPr>
          <a:xfrm>
            <a:off x="5367116" y="1338235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1A85A128-207E-674E-8856-DD7B530737C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95778" y="2238233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5E1EFF6-15B2-384F-BCB0-C1C52F4D548B}"/>
              </a:ext>
            </a:extLst>
          </p:cNvPr>
          <p:cNvSpPr txBox="1"/>
          <p:nvPr/>
        </p:nvSpPr>
        <p:spPr>
          <a:xfrm>
            <a:off x="3042000" y="2238234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0" name="Google Shape;530;p82">
            <a:extLst>
              <a:ext uri="{FF2B5EF4-FFF2-40B4-BE49-F238E27FC236}">
                <a16:creationId xmlns:a16="http://schemas.microsoft.com/office/drawing/2014/main" id="{5CFAE274-29AE-C64A-BF63-F1789CC1D217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2232180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495D51D4-1014-904E-B98B-1180866B6EA9}"/>
              </a:ext>
            </a:extLst>
          </p:cNvPr>
          <p:cNvSpPr txBox="1"/>
          <p:nvPr/>
        </p:nvSpPr>
        <p:spPr>
          <a:xfrm>
            <a:off x="7555206" y="2232181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3" name="Google Shape;530;p82">
            <a:extLst>
              <a:ext uri="{FF2B5EF4-FFF2-40B4-BE49-F238E27FC236}">
                <a16:creationId xmlns:a16="http://schemas.microsoft.com/office/drawing/2014/main" id="{6016A700-1ED8-3F49-9B85-B41B9D0E7D4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DB3247B-A3F0-8046-BAAC-3C02B58CC273}"/>
              </a:ext>
            </a:extLst>
          </p:cNvPr>
          <p:cNvSpPr txBox="1"/>
          <p:nvPr/>
        </p:nvSpPr>
        <p:spPr>
          <a:xfrm>
            <a:off x="7555206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5" name="Google Shape;530;p82">
            <a:extLst>
              <a:ext uri="{FF2B5EF4-FFF2-40B4-BE49-F238E27FC236}">
                <a16:creationId xmlns:a16="http://schemas.microsoft.com/office/drawing/2014/main" id="{4772A2BC-247A-A74E-9DD6-82B153D02F2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D7CD912-58CB-7049-A55E-A067EF213E43}"/>
              </a:ext>
            </a:extLst>
          </p:cNvPr>
          <p:cNvSpPr txBox="1"/>
          <p:nvPr/>
        </p:nvSpPr>
        <p:spPr>
          <a:xfrm>
            <a:off x="2993635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7" name="Google Shape;530;p82">
            <a:extLst>
              <a:ext uri="{FF2B5EF4-FFF2-40B4-BE49-F238E27FC236}">
                <a16:creationId xmlns:a16="http://schemas.microsoft.com/office/drawing/2014/main" id="{C44CB1B9-3F0C-B640-9B91-7E329BDB5AB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945115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6F2CEF8E-768B-2A42-AE60-B91443CA1636}"/>
              </a:ext>
            </a:extLst>
          </p:cNvPr>
          <p:cNvSpPr txBox="1"/>
          <p:nvPr/>
        </p:nvSpPr>
        <p:spPr>
          <a:xfrm>
            <a:off x="2993635" y="3945116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51" name="Google Shape;225;p40">
            <a:extLst>
              <a:ext uri="{FF2B5EF4-FFF2-40B4-BE49-F238E27FC236}">
                <a16:creationId xmlns:a16="http://schemas.microsoft.com/office/drawing/2014/main" id="{144C3652-C501-1346-B7AB-83586BA2F636}"/>
              </a:ext>
            </a:extLst>
          </p:cNvPr>
          <p:cNvPicPr preferRelativeResize="0"/>
          <p:nvPr/>
        </p:nvPicPr>
        <p:blipFill>
          <a:blip r:embed="rId4">
            <a:duotone>
              <a:schemeClr val="bg2">
                <a:shade val="45000"/>
                <a:satMod val="135000"/>
              </a:schemeClr>
              <a:prstClr val="white"/>
            </a:duotone>
          </a:blip>
          <a:srcRect l="25894" r="25894"/>
          <a:stretch/>
        </p:blipFill>
        <p:spPr>
          <a:xfrm>
            <a:off x="5391295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2" name="Google Shape;225;p40">
            <a:extLst>
              <a:ext uri="{FF2B5EF4-FFF2-40B4-BE49-F238E27FC236}">
                <a16:creationId xmlns:a16="http://schemas.microsoft.com/office/drawing/2014/main" id="{2E53F201-6B1A-E248-8C85-AE31C0183E3A}"/>
              </a:ext>
            </a:extLst>
          </p:cNvPr>
          <p:cNvPicPr preferRelativeResize="0"/>
          <p:nvPr/>
        </p:nvPicPr>
        <p:blipFill>
          <a:blip r:embed="rId5"/>
          <a:srcRect t="2849" b="2849"/>
          <a:stretch/>
        </p:blipFill>
        <p:spPr>
          <a:xfrm>
            <a:off x="785983" y="3442011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4" name="Google Shape;225;p40">
            <a:extLst>
              <a:ext uri="{FF2B5EF4-FFF2-40B4-BE49-F238E27FC236}">
                <a16:creationId xmlns:a16="http://schemas.microsoft.com/office/drawing/2014/main" id="{9503C9EF-9A4D-F741-957E-D9787DBAAD39}"/>
              </a:ext>
            </a:extLst>
          </p:cNvPr>
          <p:cNvPicPr preferRelativeResize="0"/>
          <p:nvPr/>
        </p:nvPicPr>
        <p:blipFill>
          <a:blip r:embed="rId6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2849" b="2849"/>
          <a:stretch/>
        </p:blipFill>
        <p:spPr>
          <a:xfrm>
            <a:off x="5391295" y="176207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6" name="Google Shape;225;p40">
            <a:extLst>
              <a:ext uri="{FF2B5EF4-FFF2-40B4-BE49-F238E27FC236}">
                <a16:creationId xmlns:a16="http://schemas.microsoft.com/office/drawing/2014/main" id="{961AE516-CE39-C146-B04E-6F9CCFC749A3}"/>
              </a:ext>
            </a:extLst>
          </p:cNvPr>
          <p:cNvPicPr preferRelativeResize="0"/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2849" b="2849"/>
          <a:stretch/>
        </p:blipFill>
        <p:spPr>
          <a:xfrm>
            <a:off x="813996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7" name="Google Shape;225;p40">
            <a:extLst>
              <a:ext uri="{FF2B5EF4-FFF2-40B4-BE49-F238E27FC236}">
                <a16:creationId xmlns:a16="http://schemas.microsoft.com/office/drawing/2014/main" id="{AF4E17D5-3459-B545-8950-6FD1DC61D95F}"/>
              </a:ext>
            </a:extLst>
          </p:cNvPr>
          <p:cNvPicPr preferRelativeResize="0"/>
          <p:nvPr/>
        </p:nvPicPr>
        <p:blipFill>
          <a:blip r:embed="rId8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2849" b="2849"/>
          <a:stretch/>
        </p:blipFill>
        <p:spPr>
          <a:xfrm>
            <a:off x="721353" y="1753190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8" name="Google Shape;225;p40">
            <a:extLst>
              <a:ext uri="{FF2B5EF4-FFF2-40B4-BE49-F238E27FC236}">
                <a16:creationId xmlns:a16="http://schemas.microsoft.com/office/drawing/2014/main" id="{5D9B9C18-2AFF-6F45-91A9-E24FAB89A0AE}"/>
              </a:ext>
            </a:extLst>
          </p:cNvPr>
          <p:cNvPicPr preferRelativeResize="0"/>
          <p:nvPr/>
        </p:nvPicPr>
        <p:blipFill>
          <a:blip r:embed="rId9"/>
          <a:srcRect t="2849" b="2849"/>
          <a:stretch/>
        </p:blipFill>
        <p:spPr>
          <a:xfrm>
            <a:off x="3165384" y="4326414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9" name="Google Shape;225;p40">
            <a:extLst>
              <a:ext uri="{FF2B5EF4-FFF2-40B4-BE49-F238E27FC236}">
                <a16:creationId xmlns:a16="http://schemas.microsoft.com/office/drawing/2014/main" id="{674F9C88-1D52-6442-B3F1-E2F6FDE24436}"/>
              </a:ext>
            </a:extLst>
          </p:cNvPr>
          <p:cNvPicPr preferRelativeResize="0"/>
          <p:nvPr/>
        </p:nvPicPr>
        <p:blipFill>
          <a:blip r:embed="rId10">
            <a:duotone>
              <a:schemeClr val="bg2">
                <a:shade val="45000"/>
                <a:satMod val="135000"/>
              </a:schemeClr>
              <a:prstClr val="white"/>
            </a:duotone>
          </a:blip>
          <a:srcRect l="6697" r="6697"/>
          <a:stretch/>
        </p:blipFill>
        <p:spPr>
          <a:xfrm>
            <a:off x="3165384" y="861619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22922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Production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1" y="1778955"/>
            <a:ext cx="5355965" cy="346179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Production Code</a:t>
            </a:r>
            <a:endParaRPr dirty="0">
              <a:solidFill>
                <a:schemeClr val="bg2">
                  <a:lumMod val="75000"/>
                </a:schemeClr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1" y="2618879"/>
            <a:ext cx="5355965" cy="346179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Docker: </a:t>
            </a: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Структура</a:t>
            </a:r>
            <a:r>
              <a:rPr lang="ru-RU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, применение, деплой</a:t>
            </a:r>
            <a:endParaRPr lang="en-US" dirty="0">
              <a:solidFill>
                <a:schemeClr val="bg2">
                  <a:lumMod val="75000"/>
                </a:schemeClr>
              </a:solidFill>
              <a:latin typeface="Google Sans"/>
              <a:sym typeface="Roboto"/>
            </a:endParaRP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1" y="3038841"/>
            <a:ext cx="5355965" cy="34617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22479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Сети </a:t>
            </a:r>
            <a:r>
              <a:rPr lang="ru-RU">
                <a:solidFill>
                  <a:srgbClr val="1F1F1F"/>
                </a:solidFill>
                <a:latin typeface="Google Sans"/>
                <a:sym typeface="Roboto"/>
              </a:rPr>
              <a:t>и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Docker compose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08" y="3458803"/>
            <a:ext cx="5355965" cy="34617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Практика: </a:t>
            </a:r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деплой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 докера в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Yandex Cloud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82584" y="1607918"/>
            <a:ext cx="268326" cy="41992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cxnSpLocks/>
            <a:stCxn id="271" idx="2"/>
            <a:endCxn id="13" idx="1"/>
          </p:cNvCxnSpPr>
          <p:nvPr/>
        </p:nvCxnSpPr>
        <p:spPr>
          <a:xfrm rot="16200000" flipH="1">
            <a:off x="1462622" y="2027880"/>
            <a:ext cx="1108250" cy="41992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cxnSpLocks/>
            <a:stCxn id="271" idx="2"/>
            <a:endCxn id="15" idx="1"/>
          </p:cNvCxnSpPr>
          <p:nvPr/>
        </p:nvCxnSpPr>
        <p:spPr>
          <a:xfrm rot="16200000" flipH="1">
            <a:off x="1252641" y="2237861"/>
            <a:ext cx="1528212" cy="41992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cxnSpLocks/>
            <a:stCxn id="271" idx="2"/>
            <a:endCxn id="16" idx="1"/>
          </p:cNvCxnSpPr>
          <p:nvPr/>
        </p:nvCxnSpPr>
        <p:spPr>
          <a:xfrm rot="16200000" flipH="1">
            <a:off x="1042659" y="2447844"/>
            <a:ext cx="1948174" cy="41992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3">
            <a:extLst>
              <a:ext uri="{FF2B5EF4-FFF2-40B4-BE49-F238E27FC236}">
                <a16:creationId xmlns:a16="http://schemas.microsoft.com/office/drawing/2014/main" id="{7207DC4F-0418-0E43-AEA2-26001954E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0786564"/>
              </p:ext>
            </p:extLst>
          </p:nvPr>
        </p:nvGraphicFramePr>
        <p:xfrm>
          <a:off x="5408535" y="569514"/>
          <a:ext cx="2174137" cy="304800"/>
        </p:xfrm>
        <a:graphic>
          <a:graphicData uri="http://schemas.openxmlformats.org/drawingml/2006/table">
            <a:tbl>
              <a:tblPr firstRow="1" bandRow="1"/>
              <a:tblGrid>
                <a:gridCol w="310591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10591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10591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10591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10591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10591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  <a:gridCol w="310591">
                  <a:extLst>
                    <a:ext uri="{9D8B030D-6E8A-4147-A177-3AD203B41FA5}">
                      <a16:colId xmlns:a16="http://schemas.microsoft.com/office/drawing/2014/main" val="1731136109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1</a:t>
                      </a:r>
                      <a:endParaRPr lang="en-US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2</a:t>
                      </a:r>
                      <a:endParaRPr lang="en-US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3</a:t>
                      </a:r>
                      <a:endParaRPr lang="en-US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4</a:t>
                      </a:r>
                      <a:endParaRPr lang="en-US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5</a:t>
                      </a:r>
                      <a:endParaRPr lang="en-US" dirty="0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6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7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30" name="Google Shape;271;p44">
            <a:extLst>
              <a:ext uri="{FF2B5EF4-FFF2-40B4-BE49-F238E27FC236}">
                <a16:creationId xmlns:a16="http://schemas.microsoft.com/office/drawing/2014/main" id="{08FD08F2-1068-D646-BB6A-4E2FA57711C4}"/>
              </a:ext>
            </a:extLst>
          </p:cNvPr>
          <p:cNvSpPr/>
          <p:nvPr/>
        </p:nvSpPr>
        <p:spPr>
          <a:xfrm>
            <a:off x="2226710" y="2198917"/>
            <a:ext cx="5355965" cy="346179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REST-</a:t>
            </a: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архитектура: 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Flask API</a:t>
            </a:r>
            <a:endParaRPr dirty="0">
              <a:solidFill>
                <a:schemeClr val="bg2">
                  <a:lumMod val="75000"/>
                </a:schemeClr>
              </a:solidFill>
              <a:latin typeface="Google Sans"/>
              <a:sym typeface="Roboto"/>
            </a:endParaRPr>
          </a:p>
        </p:txBody>
      </p:sp>
      <p:sp>
        <p:nvSpPr>
          <p:cNvPr id="40" name="Google Shape;271;p44">
            <a:extLst>
              <a:ext uri="{FF2B5EF4-FFF2-40B4-BE49-F238E27FC236}">
                <a16:creationId xmlns:a16="http://schemas.microsoft.com/office/drawing/2014/main" id="{7C685F24-2BCB-0043-92A5-40F891054D42}"/>
              </a:ext>
            </a:extLst>
          </p:cNvPr>
          <p:cNvSpPr/>
          <p:nvPr/>
        </p:nvSpPr>
        <p:spPr>
          <a:xfrm>
            <a:off x="2226707" y="3878765"/>
            <a:ext cx="5355965" cy="34617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Колоночные БД и объектные хранилища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44" name="Google Shape;271;p44">
            <a:extLst>
              <a:ext uri="{FF2B5EF4-FFF2-40B4-BE49-F238E27FC236}">
                <a16:creationId xmlns:a16="http://schemas.microsoft.com/office/drawing/2014/main" id="{4E0B5DCB-279A-7F41-B861-7BF2E1F68BEC}"/>
              </a:ext>
            </a:extLst>
          </p:cNvPr>
          <p:cNvSpPr/>
          <p:nvPr/>
        </p:nvSpPr>
        <p:spPr>
          <a:xfrm>
            <a:off x="2226707" y="4298727"/>
            <a:ext cx="5355965" cy="34617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Версионирование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 данных.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DVC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45" name="Google Shape;271;p44">
            <a:extLst>
              <a:ext uri="{FF2B5EF4-FFF2-40B4-BE49-F238E27FC236}">
                <a16:creationId xmlns:a16="http://schemas.microsoft.com/office/drawing/2014/main" id="{B6748F82-91DC-7B4F-BB13-12E921897F5E}"/>
              </a:ext>
            </a:extLst>
          </p:cNvPr>
          <p:cNvSpPr/>
          <p:nvPr/>
        </p:nvSpPr>
        <p:spPr>
          <a:xfrm>
            <a:off x="2226709" y="4718689"/>
            <a:ext cx="5355965" cy="34617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Воспроизводимость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 и </a:t>
            </a:r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версионирование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en-US" dirty="0" err="1">
                <a:solidFill>
                  <a:srgbClr val="1F1F1F"/>
                </a:solidFill>
                <a:latin typeface="Google Sans"/>
                <a:sym typeface="Roboto"/>
              </a:rPr>
              <a:t>MLFlow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469DF4E1-0786-9D40-81E6-F6CF1BAF549D}"/>
              </a:ext>
            </a:extLst>
          </p:cNvPr>
          <p:cNvCxnSpPr>
            <a:cxnSpLocks/>
            <a:stCxn id="271" idx="2"/>
            <a:endCxn id="30" idx="1"/>
          </p:cNvCxnSpPr>
          <p:nvPr/>
        </p:nvCxnSpPr>
        <p:spPr>
          <a:xfrm rot="16200000" flipH="1">
            <a:off x="1672603" y="1817900"/>
            <a:ext cx="688288" cy="41992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1720B309-E949-B149-93B7-94DB9E36D602}"/>
              </a:ext>
            </a:extLst>
          </p:cNvPr>
          <p:cNvCxnSpPr>
            <a:cxnSpLocks/>
            <a:stCxn id="271" idx="2"/>
            <a:endCxn id="40" idx="1"/>
          </p:cNvCxnSpPr>
          <p:nvPr/>
        </p:nvCxnSpPr>
        <p:spPr>
          <a:xfrm rot="16200000" flipH="1">
            <a:off x="832677" y="2657825"/>
            <a:ext cx="2368136" cy="4199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7FE6FD82-B247-0645-9D21-5D83F936AF05}"/>
              </a:ext>
            </a:extLst>
          </p:cNvPr>
          <p:cNvCxnSpPr>
            <a:cxnSpLocks/>
            <a:stCxn id="271" idx="2"/>
            <a:endCxn id="44" idx="1"/>
          </p:cNvCxnSpPr>
          <p:nvPr/>
        </p:nvCxnSpPr>
        <p:spPr>
          <a:xfrm rot="16200000" flipH="1">
            <a:off x="622696" y="2867806"/>
            <a:ext cx="2788098" cy="4199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62">
            <a:extLst>
              <a:ext uri="{FF2B5EF4-FFF2-40B4-BE49-F238E27FC236}">
                <a16:creationId xmlns:a16="http://schemas.microsoft.com/office/drawing/2014/main" id="{F2199535-5C34-5244-ADBA-415626F393F7}"/>
              </a:ext>
            </a:extLst>
          </p:cNvPr>
          <p:cNvCxnSpPr>
            <a:cxnSpLocks/>
            <a:stCxn id="271" idx="2"/>
            <a:endCxn id="45" idx="1"/>
          </p:cNvCxnSpPr>
          <p:nvPr/>
        </p:nvCxnSpPr>
        <p:spPr>
          <a:xfrm rot="16200000" flipH="1">
            <a:off x="412716" y="3077786"/>
            <a:ext cx="3208060" cy="41992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6060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sp>
        <p:nvSpPr>
          <p:cNvPr id="204" name="Google Shape;204;p37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 dirty="0">
                <a:solidFill>
                  <a:srgbClr val="FF9900"/>
                </a:solidFill>
              </a:rPr>
              <a:t>К концу занятия вы сможете</a:t>
            </a:r>
            <a:endParaRPr sz="1500" b="1" dirty="0">
              <a:solidFill>
                <a:srgbClr val="FF9900"/>
              </a:solidFill>
            </a:endParaRPr>
          </a:p>
        </p:txBody>
      </p:sp>
      <p:graphicFrame>
        <p:nvGraphicFramePr>
          <p:cNvPr id="5" name="Google Shape;210;p38">
            <a:extLst>
              <a:ext uri="{FF2B5EF4-FFF2-40B4-BE49-F238E27FC236}">
                <a16:creationId xmlns:a16="http://schemas.microsoft.com/office/drawing/2014/main" id="{B0C8E344-6310-094A-A544-66E8083E1A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92237923"/>
              </p:ext>
            </p:extLst>
          </p:nvPr>
        </p:nvGraphicFramePr>
        <p:xfrm>
          <a:off x="846750" y="1649963"/>
          <a:ext cx="7239000" cy="138222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sym typeface="Roboto"/>
                        </a:rPr>
                        <a:t>Поймете как осуществляется сетевая изоляция контейнеров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sym typeface="Roboto"/>
                        </a:rPr>
                        <a:t>Научитесь управлять сетями в </a:t>
                      </a:r>
                      <a:r>
                        <a:rPr lang="en-US" sz="1300" dirty="0">
                          <a:sym typeface="Roboto"/>
                        </a:rPr>
                        <a:t>docker</a:t>
                      </a:r>
                      <a:endParaRPr lang="ru-RU" sz="1300" dirty="0"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sym typeface="Roboto"/>
                        </a:rPr>
                        <a:t>Поймете что такое </a:t>
                      </a:r>
                      <a:r>
                        <a:rPr lang="en-US" sz="1300" dirty="0">
                          <a:sym typeface="Roboto"/>
                        </a:rPr>
                        <a:t>docker compose</a:t>
                      </a:r>
                      <a:endParaRPr lang="ru-RU" sz="1300" dirty="0"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82667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sym typeface="Roboto"/>
                        </a:rPr>
                        <a:t>Научитесь собирать несложные архитектуры с помощью </a:t>
                      </a:r>
                      <a:r>
                        <a:rPr lang="en-US" sz="1300" dirty="0">
                          <a:sym typeface="Roboto"/>
                        </a:rPr>
                        <a:t>docker compose</a:t>
                      </a:r>
                      <a:endParaRPr lang="ru-RU" sz="1300" dirty="0"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895642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Смысл</a:t>
            </a:r>
            <a:endParaRPr dirty="0"/>
          </a:p>
        </p:txBody>
      </p:sp>
      <p:graphicFrame>
        <p:nvGraphicFramePr>
          <p:cNvPr id="210" name="Google Shape;210;p38"/>
          <p:cNvGraphicFramePr/>
          <p:nvPr>
            <p:extLst>
              <p:ext uri="{D42A27DB-BD31-4B8C-83A1-F6EECF244321}">
                <p14:modId xmlns:p14="http://schemas.microsoft.com/office/powerpoint/2010/main" val="292456133"/>
              </p:ext>
            </p:extLst>
          </p:nvPr>
        </p:nvGraphicFramePr>
        <p:xfrm>
          <a:off x="952500" y="1544194"/>
          <a:ext cx="7239000" cy="1047912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Изолирование контейнеров в сетевых сегментах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Подготовка кода к развертыванию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Сборка </a:t>
                      </a:r>
                      <a:r>
                        <a:rPr lang="ru-RU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микросервисных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архитектур для локального тестирования решений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3741087"/>
                  </a:ext>
                </a:extLst>
              </a:tr>
            </a:tbl>
          </a:graphicData>
        </a:graphic>
      </p:graphicFrame>
      <p:sp>
        <p:nvSpPr>
          <p:cNvPr id="211" name="Google Shape;211;p38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Зачем вам это знать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4900" dirty="0" err="1"/>
              <a:t>Docker</a:t>
            </a:r>
            <a:r>
              <a:rPr lang="ru-RU" sz="4900" dirty="0"/>
              <a:t> </a:t>
            </a:r>
            <a:r>
              <a:rPr lang="en-US" sz="4900" dirty="0"/>
              <a:t>networks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BD232-874C-644B-880E-B7B67B47D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заставить контейнеры общаться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11F39C-7C27-7646-8E2F-E61378D46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5306" y="1078933"/>
            <a:ext cx="5953388" cy="3882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4068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BD232-874C-644B-880E-B7B67B47D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networks driver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92BEE-D090-7E4F-93B3-3BCAD1465AF2}"/>
              </a:ext>
            </a:extLst>
          </p:cNvPr>
          <p:cNvSpPr txBox="1"/>
          <p:nvPr/>
        </p:nvSpPr>
        <p:spPr>
          <a:xfrm>
            <a:off x="629056" y="1426624"/>
            <a:ext cx="7691335" cy="1345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None – </a:t>
            </a:r>
            <a:r>
              <a:rPr lang="ru-RU" dirty="0"/>
              <a:t>контейнер полностью изолирован от сети. Работает только </a:t>
            </a:r>
            <a:r>
              <a:rPr lang="en-US" dirty="0"/>
              <a:t>loopback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Host – </a:t>
            </a:r>
            <a:r>
              <a:rPr lang="ru-RU" dirty="0"/>
              <a:t>контейнер подключен к сетевому интерфейсу хоста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Brige</a:t>
            </a:r>
            <a:r>
              <a:rPr lang="ru-RU" dirty="0"/>
              <a:t> – контейнер подключен через промежуточный сетевой интерфейс. Возможно разделение сети на сегменты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676031-941F-FD47-9EE2-EEDAD859616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379"/>
          <a:stretch/>
        </p:blipFill>
        <p:spPr>
          <a:xfrm>
            <a:off x="1369033" y="3046171"/>
            <a:ext cx="6159500" cy="1483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5383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BD232-874C-644B-880E-B7B67B47D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null - driver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92BEE-D090-7E4F-93B3-3BCAD1465AF2}"/>
              </a:ext>
            </a:extLst>
          </p:cNvPr>
          <p:cNvSpPr txBox="1"/>
          <p:nvPr/>
        </p:nvSpPr>
        <p:spPr>
          <a:xfrm>
            <a:off x="629056" y="1426624"/>
            <a:ext cx="7691335" cy="1345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none – </a:t>
            </a:r>
            <a:r>
              <a:rPr lang="ru-RU" dirty="0"/>
              <a:t>контейнер полностью изолирован от сети. Работает только </a:t>
            </a:r>
            <a:r>
              <a:rPr lang="en-US" dirty="0"/>
              <a:t>loopback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Для</a:t>
            </a:r>
            <a:r>
              <a:rPr lang="en-US" dirty="0"/>
              <a:t> </a:t>
            </a:r>
            <a:r>
              <a:rPr lang="ru-RU" dirty="0"/>
              <a:t>контейнера создается</a:t>
            </a:r>
            <a:r>
              <a:rPr lang="en-US" dirty="0"/>
              <a:t> </a:t>
            </a:r>
            <a:r>
              <a:rPr lang="ru-RU" dirty="0"/>
              <a:t>свой </a:t>
            </a:r>
            <a:r>
              <a:rPr lang="en-US" dirty="0"/>
              <a:t>network namespace 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У контейнера есть</a:t>
            </a:r>
            <a:r>
              <a:rPr lang="en-US" dirty="0"/>
              <a:t> </a:t>
            </a:r>
            <a:r>
              <a:rPr lang="ru-RU" dirty="0"/>
              <a:t>только </a:t>
            </a:r>
            <a:r>
              <a:rPr lang="en-US" dirty="0"/>
              <a:t>loopback </a:t>
            </a:r>
            <a:r>
              <a:rPr lang="ru-RU" dirty="0"/>
              <a:t>интерфейс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Сеть</a:t>
            </a:r>
            <a:r>
              <a:rPr lang="en-US" dirty="0"/>
              <a:t> </a:t>
            </a:r>
            <a:r>
              <a:rPr lang="ru-RU" dirty="0"/>
              <a:t>контейнера полностью</a:t>
            </a:r>
            <a:r>
              <a:rPr lang="en-US" dirty="0"/>
              <a:t> </a:t>
            </a:r>
            <a:r>
              <a:rPr lang="ru-RU" dirty="0"/>
              <a:t>изолирована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82466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BD232-874C-644B-880E-B7B67B47D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bridge - driver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92BEE-D090-7E4F-93B3-3BCAD1465AF2}"/>
              </a:ext>
            </a:extLst>
          </p:cNvPr>
          <p:cNvSpPr txBox="1"/>
          <p:nvPr/>
        </p:nvSpPr>
        <p:spPr>
          <a:xfrm>
            <a:off x="622571" y="1686939"/>
            <a:ext cx="7691335" cy="1991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default bridge </a:t>
            </a:r>
            <a:r>
              <a:rPr lang="ru-RU" dirty="0"/>
              <a:t>и </a:t>
            </a:r>
            <a:r>
              <a:rPr lang="en-US" dirty="0"/>
              <a:t>user define bridge</a:t>
            </a:r>
          </a:p>
          <a:p>
            <a:pPr>
              <a:lnSpc>
                <a:spcPct val="150000"/>
              </a:lnSpc>
            </a:pPr>
            <a:endParaRPr lang="en-US" b="1" dirty="0"/>
          </a:p>
          <a:p>
            <a:pPr>
              <a:lnSpc>
                <a:spcPct val="150000"/>
              </a:lnSpc>
            </a:pPr>
            <a:r>
              <a:rPr lang="ru-RU" b="1" dirty="0"/>
              <a:t>Особенности </a:t>
            </a:r>
            <a:r>
              <a:rPr lang="en-US" b="1" dirty="0"/>
              <a:t>default bridge network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Назначается</a:t>
            </a:r>
            <a:r>
              <a:rPr lang="en-US" dirty="0"/>
              <a:t> </a:t>
            </a:r>
            <a:r>
              <a:rPr lang="ru-RU" dirty="0"/>
              <a:t>по умолчанию</a:t>
            </a:r>
            <a:r>
              <a:rPr lang="en-US" dirty="0"/>
              <a:t> </a:t>
            </a:r>
            <a:r>
              <a:rPr lang="ru-RU" dirty="0"/>
              <a:t>для</a:t>
            </a:r>
            <a:r>
              <a:rPr lang="en-US" dirty="0"/>
              <a:t> </a:t>
            </a:r>
            <a:r>
              <a:rPr lang="ru-RU" dirty="0"/>
              <a:t>контейнеров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Нельзя</a:t>
            </a:r>
            <a:r>
              <a:rPr lang="en-US" dirty="0"/>
              <a:t> </a:t>
            </a:r>
            <a:r>
              <a:rPr lang="ru-RU" dirty="0"/>
              <a:t>вручную</a:t>
            </a:r>
            <a:r>
              <a:rPr lang="en-US" dirty="0"/>
              <a:t> </a:t>
            </a:r>
            <a:r>
              <a:rPr lang="ru-RU" dirty="0"/>
              <a:t>назначать</a:t>
            </a:r>
            <a:r>
              <a:rPr lang="en-US" dirty="0"/>
              <a:t> IP-</a:t>
            </a:r>
            <a:r>
              <a:rPr lang="ru-RU" dirty="0"/>
              <a:t>адреса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Нет </a:t>
            </a:r>
            <a:r>
              <a:rPr lang="en-US" dirty="0"/>
              <a:t>Service Discovery</a:t>
            </a:r>
          </a:p>
        </p:txBody>
      </p:sp>
    </p:spTree>
    <p:extLst>
      <p:ext uri="{BB962C8B-B14F-4D97-AF65-F5344CB8AC3E}">
        <p14:creationId xmlns:p14="http://schemas.microsoft.com/office/powerpoint/2010/main" val="2956819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BD232-874C-644B-880E-B7B67B47D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bridge - driver</a:t>
            </a:r>
          </a:p>
        </p:txBody>
      </p:sp>
      <p:sp>
        <p:nvSpPr>
          <p:cNvPr id="6" name="Google Shape;340;p61">
            <a:extLst>
              <a:ext uri="{FF2B5EF4-FFF2-40B4-BE49-F238E27FC236}">
                <a16:creationId xmlns:a16="http://schemas.microsoft.com/office/drawing/2014/main" id="{68F83ED5-F730-1F45-9860-0905BD6B87BC}"/>
              </a:ext>
            </a:extLst>
          </p:cNvPr>
          <p:cNvSpPr txBox="1">
            <a:spLocks/>
          </p:cNvSpPr>
          <p:nvPr/>
        </p:nvSpPr>
        <p:spPr>
          <a:xfrm>
            <a:off x="500550" y="1135246"/>
            <a:ext cx="8226300" cy="129666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 network create –d bridge my-net		</a:t>
            </a:r>
            <a:r>
              <a:rPr lang="en-US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create new network</a:t>
            </a:r>
          </a:p>
          <a:p>
            <a:pPr>
              <a:buClr>
                <a:schemeClr val="dk1"/>
              </a:buClr>
              <a:buSzPct val="100000"/>
            </a:pPr>
            <a:endParaRPr lang="ru-RU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 run -d --name C1 alpine			</a:t>
            </a:r>
            <a:r>
              <a:rPr lang="en-US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default network</a:t>
            </a:r>
          </a:p>
          <a:p>
            <a:pPr>
              <a:buClr>
                <a:schemeClr val="dk1"/>
              </a:buClr>
              <a:buSzPct val="100000"/>
            </a:pPr>
            <a:endParaRPr lang="en-US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Clr>
                <a:schemeClr val="dk1"/>
              </a:buClr>
              <a:buSzPct val="100000"/>
            </a:pPr>
            <a:endParaRPr lang="en-US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 run -d --name C2 --network my-net alpine	</a:t>
            </a:r>
            <a:r>
              <a:rPr lang="en-US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network my-net</a:t>
            </a:r>
          </a:p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 run -d --name C3 --network my-net alpine	</a:t>
            </a:r>
            <a:r>
              <a:rPr lang="en-US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network my-net</a:t>
            </a:r>
          </a:p>
          <a:p>
            <a:pPr>
              <a:buClr>
                <a:schemeClr val="dk1"/>
              </a:buClr>
              <a:buSzPct val="100000"/>
            </a:pPr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5B0AA2-87A2-AC47-AFC5-098313060B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50" y="2684107"/>
            <a:ext cx="3346307" cy="230385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F5E3D4A-776B-0549-A1D2-33E69FE31D2B}"/>
              </a:ext>
            </a:extLst>
          </p:cNvPr>
          <p:cNvSpPr txBox="1"/>
          <p:nvPr/>
        </p:nvSpPr>
        <p:spPr>
          <a:xfrm>
            <a:off x="4176408" y="2684107"/>
            <a:ext cx="45504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Контейнеры С2 и С3 видят друг друга, </a:t>
            </a:r>
            <a:br>
              <a:rPr lang="ru-RU" dirty="0"/>
            </a:br>
            <a:r>
              <a:rPr lang="ru-RU" dirty="0"/>
              <a:t>но не видят С1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18397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BD232-874C-644B-880E-B7B67B47D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</a:t>
            </a:r>
            <a:r>
              <a:rPr lang="ru-RU" dirty="0"/>
              <a:t> –</a:t>
            </a:r>
            <a:r>
              <a:rPr lang="en-US" dirty="0"/>
              <a:t> driver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0F602F-6B9A-4E4F-818E-D676C7939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159" y="1200699"/>
            <a:ext cx="5073991" cy="370285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2FB1ADC-34AE-4140-960F-DC1BC4D87D42}"/>
              </a:ext>
            </a:extLst>
          </p:cNvPr>
          <p:cNvSpPr txBox="1"/>
          <p:nvPr/>
        </p:nvSpPr>
        <p:spPr>
          <a:xfrm>
            <a:off x="590145" y="1426624"/>
            <a:ext cx="32814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/>
              <a:t>Контейнер находится внутри хоста – у всех один </a:t>
            </a:r>
            <a:r>
              <a:rPr lang="en-US" dirty="0" err="1"/>
              <a:t>ip</a:t>
            </a:r>
            <a:r>
              <a:rPr lang="en-US" dirty="0"/>
              <a:t> </a:t>
            </a:r>
            <a:r>
              <a:rPr lang="ru-RU" dirty="0"/>
              <a:t>адрес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/>
              <a:t>Только один контейнер на каждом порту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/>
              <a:t>Проблемы с безопасностью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76122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4900" dirty="0" err="1"/>
              <a:t>Docker</a:t>
            </a:r>
            <a:r>
              <a:rPr lang="ru-RU" sz="4900" dirty="0"/>
              <a:t> </a:t>
            </a:r>
            <a:r>
              <a:rPr lang="en-US" sz="4900" dirty="0"/>
              <a:t>compose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959648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BD232-874C-644B-880E-B7B67B47D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Микросервисная</a:t>
            </a:r>
            <a:r>
              <a:rPr lang="ru-RU" dirty="0"/>
              <a:t> архитектура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92BEE-D090-7E4F-93B3-3BCAD1465AF2}"/>
              </a:ext>
            </a:extLst>
          </p:cNvPr>
          <p:cNvSpPr txBox="1"/>
          <p:nvPr/>
        </p:nvSpPr>
        <p:spPr>
          <a:xfrm>
            <a:off x="622571" y="1686939"/>
            <a:ext cx="7691335" cy="2314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/>
              <a:t>Проблемы</a:t>
            </a:r>
            <a:br>
              <a:rPr lang="ru-RU" b="1" dirty="0"/>
            </a:br>
            <a:endParaRPr lang="ru-RU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Одно приложение состоит из нескольких контейнеров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Один контейнер зависит от другого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Порядок запуска имеет значение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docker build/run/create ... (</a:t>
            </a:r>
            <a:r>
              <a:rPr lang="ru-RU" dirty="0"/>
              <a:t>много и нигде не хранится</a:t>
            </a:r>
            <a:r>
              <a:rPr lang="en-US" dirty="0"/>
              <a:t>)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Различные окружения в зависимости от параметров запуска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46494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999717-70E2-B247-9C42-40A592F0DC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344" y="52025"/>
            <a:ext cx="3488987" cy="16747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92F185-373E-8449-932A-CF8FE6F29825}"/>
              </a:ext>
            </a:extLst>
          </p:cNvPr>
          <p:cNvSpPr txBox="1"/>
          <p:nvPr/>
        </p:nvSpPr>
        <p:spPr>
          <a:xfrm>
            <a:off x="293742" y="1896680"/>
            <a:ext cx="8556516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dirty="0"/>
              <a:t>Необходимо управлять </a:t>
            </a:r>
            <a:r>
              <a:rPr lang="ru-RU" sz="1600" dirty="0" err="1"/>
              <a:t>микросервисами</a:t>
            </a:r>
            <a:r>
              <a:rPr lang="ru-RU" sz="1600" dirty="0"/>
              <a:t> в контейнерах и взаимодействиями между ними: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dirty="0"/>
              <a:t>Декларативное описание </a:t>
            </a:r>
            <a:r>
              <a:rPr lang="en-US" sz="1600" dirty="0"/>
              <a:t>Docker </a:t>
            </a:r>
            <a:r>
              <a:rPr lang="ru-RU" sz="1600" dirty="0"/>
              <a:t>инфраструктуры</a:t>
            </a:r>
            <a:r>
              <a:rPr lang="en-US" sz="1600" dirty="0"/>
              <a:t> </a:t>
            </a:r>
            <a:r>
              <a:rPr lang="ru-RU" sz="1600" dirty="0"/>
              <a:t>в </a:t>
            </a:r>
            <a:r>
              <a:rPr lang="en-US" sz="1600" dirty="0"/>
              <a:t>YAML-</a:t>
            </a:r>
            <a:r>
              <a:rPr lang="ru-RU" sz="1600" dirty="0"/>
              <a:t>формате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 err="1"/>
              <a:t>Dockerfile</a:t>
            </a:r>
            <a:r>
              <a:rPr lang="en-US" sz="1600" dirty="0"/>
              <a:t> – </a:t>
            </a:r>
            <a:r>
              <a:rPr lang="ru-RU" sz="1600" dirty="0"/>
              <a:t>конфигурация</a:t>
            </a:r>
            <a:r>
              <a:rPr lang="en-US" sz="1600" dirty="0"/>
              <a:t> </a:t>
            </a:r>
            <a:r>
              <a:rPr lang="ru-RU" sz="1600" dirty="0"/>
              <a:t>сборки окружения</a:t>
            </a:r>
            <a:r>
              <a:rPr lang="en-US" sz="1600" dirty="0"/>
              <a:t> </a:t>
            </a:r>
            <a:r>
              <a:rPr lang="ru-RU" sz="1600" dirty="0"/>
              <a:t>и приложений в нем 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/>
              <a:t>docker-</a:t>
            </a:r>
            <a:r>
              <a:rPr lang="en-US" sz="1600" dirty="0" err="1"/>
              <a:t>compose.yml</a:t>
            </a:r>
            <a:r>
              <a:rPr lang="en-US" sz="1600" dirty="0"/>
              <a:t> - </a:t>
            </a:r>
            <a:r>
              <a:rPr lang="ru-RU" sz="1600" dirty="0"/>
              <a:t>конфигурация</a:t>
            </a:r>
            <a:r>
              <a:rPr lang="en-US" sz="1600" dirty="0"/>
              <a:t> </a:t>
            </a:r>
            <a:r>
              <a:rPr lang="ru-RU" sz="1600" dirty="0"/>
              <a:t>проекта</a:t>
            </a:r>
            <a:endParaRPr lang="en-US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dirty="0"/>
              <a:t>Один </a:t>
            </a:r>
            <a:r>
              <a:rPr lang="en-US" sz="1600" dirty="0"/>
              <a:t>docker-</a:t>
            </a:r>
            <a:r>
              <a:rPr lang="en-US" sz="1600" dirty="0" err="1"/>
              <a:t>compose.yml</a:t>
            </a:r>
            <a:r>
              <a:rPr lang="en-US" sz="1600" dirty="0"/>
              <a:t> </a:t>
            </a:r>
            <a:r>
              <a:rPr lang="ru-RU" sz="1600" dirty="0"/>
              <a:t>на все окружения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0737C2-26E2-DA46-9264-40304D4AC36C}"/>
              </a:ext>
            </a:extLst>
          </p:cNvPr>
          <p:cNvSpPr txBox="1"/>
          <p:nvPr/>
        </p:nvSpPr>
        <p:spPr>
          <a:xfrm>
            <a:off x="3774331" y="651187"/>
            <a:ext cx="42226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/>
              <a:t>Управление </a:t>
            </a:r>
            <a:r>
              <a:rPr lang="ru-RU" sz="1800" b="1" dirty="0" err="1"/>
              <a:t>многоконтейнерными</a:t>
            </a:r>
            <a:r>
              <a:rPr lang="ru-RU" sz="1800" b="1" dirty="0"/>
              <a:t> </a:t>
            </a:r>
          </a:p>
          <a:p>
            <a:r>
              <a:rPr lang="ru-RU" sz="1800" b="1" dirty="0"/>
              <a:t>приложениями</a:t>
            </a:r>
            <a:endParaRPr lang="en-US" sz="1800" b="1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4900" dirty="0"/>
              <a:t>Сборка архитектуры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217638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4900" dirty="0"/>
              <a:t>Практика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572229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428FB05-33AB-E84B-9565-602B3DEFD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Практика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D82D875-6739-E441-A4EF-8C6D192316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4350" y="1064519"/>
            <a:ext cx="8520600" cy="333886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ru-RU" dirty="0"/>
              <a:t>Создать сеть</a:t>
            </a:r>
          </a:p>
          <a:p>
            <a:pPr>
              <a:lnSpc>
                <a:spcPct val="150000"/>
              </a:lnSpc>
            </a:pPr>
            <a:r>
              <a:rPr lang="ru-RU" dirty="0"/>
              <a:t>Развернуть контейнеры в своей сети</a:t>
            </a:r>
          </a:p>
          <a:p>
            <a:pPr>
              <a:lnSpc>
                <a:spcPct val="150000"/>
              </a:lnSpc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</a:t>
            </a:r>
            <a:r>
              <a:rPr lang="ru-RU" dirty="0"/>
              <a:t>с использованием </a:t>
            </a:r>
            <a:r>
              <a:rPr lang="en-US" dirty="0" err="1"/>
              <a:t>FastAPI</a:t>
            </a:r>
            <a:endParaRPr lang="ru-RU" dirty="0"/>
          </a:p>
          <a:p>
            <a:pPr>
              <a:lnSpc>
                <a:spcPct val="150000"/>
              </a:lnSpc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изолированном сегменте с доступом через </a:t>
            </a:r>
            <a:r>
              <a:rPr lang="en-US" dirty="0" err="1"/>
              <a:t>nginx</a:t>
            </a:r>
            <a:endParaRPr lang="ru-RU" dirty="0"/>
          </a:p>
          <a:p>
            <a:pPr>
              <a:lnSpc>
                <a:spcPct val="150000"/>
              </a:lnSpc>
            </a:pPr>
            <a:r>
              <a:rPr lang="ru-RU" dirty="0"/>
              <a:t>Развернуть несколько ядер модели и </a:t>
            </a:r>
            <a:r>
              <a:rPr lang="ru-RU" dirty="0" err="1"/>
              <a:t>балансировщик</a:t>
            </a:r>
            <a:r>
              <a:rPr lang="en-US" dirty="0"/>
              <a:t> </a:t>
            </a:r>
            <a:r>
              <a:rPr lang="ru-RU" dirty="0"/>
              <a:t>нагрузки </a:t>
            </a:r>
            <a:r>
              <a:rPr lang="en-US" dirty="0" err="1"/>
              <a:t>nginx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ru-RU" dirty="0"/>
              <a:t>Развернуть конфигурацию БД с помощью </a:t>
            </a:r>
            <a:r>
              <a:rPr lang="en-US" dirty="0"/>
              <a:t>docker compose</a:t>
            </a:r>
          </a:p>
          <a:p>
            <a:pPr>
              <a:lnSpc>
                <a:spcPct val="15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2417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Создать сеть и проверить взаимодействие</a:t>
            </a:r>
            <a:endParaRPr dirty="0"/>
          </a:p>
        </p:txBody>
      </p:sp>
      <p:sp>
        <p:nvSpPr>
          <p:cNvPr id="7" name="Google Shape;340;p61">
            <a:extLst>
              <a:ext uri="{FF2B5EF4-FFF2-40B4-BE49-F238E27FC236}">
                <a16:creationId xmlns:a16="http://schemas.microsoft.com/office/drawing/2014/main" id="{505646FE-4534-D246-8BC3-6BC583EE67E5}"/>
              </a:ext>
            </a:extLst>
          </p:cNvPr>
          <p:cNvSpPr txBox="1">
            <a:spLocks/>
          </p:cNvSpPr>
          <p:nvPr/>
        </p:nvSpPr>
        <p:spPr>
          <a:xfrm>
            <a:off x="500550" y="1135246"/>
            <a:ext cx="8226300" cy="3540516"/>
          </a:xfrm>
          <a:prstGeom prst="rect">
            <a:avLst/>
          </a:prstGeom>
          <a:solidFill>
            <a:srgbClr val="FBFBFB"/>
          </a:solidFill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 network create –d bridge my-net		</a:t>
            </a:r>
            <a:r>
              <a:rPr lang="en-US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create new network</a:t>
            </a:r>
          </a:p>
          <a:p>
            <a:pPr>
              <a:buClr>
                <a:schemeClr val="dk1"/>
              </a:buClr>
              <a:buSzPct val="100000"/>
            </a:pPr>
            <a:endParaRPr lang="ru-RU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 run -d --name C1 alpine			</a:t>
            </a:r>
            <a:r>
              <a:rPr lang="en-US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default network</a:t>
            </a:r>
          </a:p>
          <a:p>
            <a:pPr>
              <a:buClr>
                <a:schemeClr val="dk1"/>
              </a:buClr>
              <a:buSzPct val="100000"/>
            </a:pPr>
            <a:endParaRPr lang="en-US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Clr>
                <a:schemeClr val="dk1"/>
              </a:buClr>
              <a:buSzPct val="100000"/>
            </a:pPr>
            <a:endParaRPr lang="en-US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 run –d -it --name C2 --network my-net alpine	</a:t>
            </a:r>
            <a:r>
              <a:rPr lang="en-US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network my-net</a:t>
            </a:r>
          </a:p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 run –d -it --name C3 --network my-net alpine	</a:t>
            </a:r>
            <a:r>
              <a:rPr lang="en-US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network my-net</a:t>
            </a:r>
          </a:p>
          <a:p>
            <a:pPr>
              <a:buClr>
                <a:schemeClr val="dk1"/>
              </a:buClr>
              <a:buSzPct val="100000"/>
            </a:pPr>
            <a:endParaRPr lang="en-US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Clr>
                <a:schemeClr val="dk1"/>
              </a:buClr>
              <a:buSzPct val="100000"/>
            </a:pPr>
            <a:endParaRPr lang="en-US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C1# ping C2</a:t>
            </a:r>
          </a:p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ping: bad address 'C1’</a:t>
            </a:r>
          </a:p>
          <a:p>
            <a:pPr>
              <a:buClr>
                <a:schemeClr val="dk1"/>
              </a:buClr>
              <a:buSzPct val="100000"/>
            </a:pPr>
            <a:endParaRPr lang="en-US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C2# ping C3</a:t>
            </a:r>
          </a:p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PING C2 (172.18.0.2): 56 data bytes</a:t>
            </a:r>
          </a:p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64 bytes from 172.18.0.2: seq=0 </a:t>
            </a: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ttl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=64 time=1.006 </a:t>
            </a: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endParaRPr lang="en-US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15030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00549" y="1209926"/>
            <a:ext cx="8437729" cy="371227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Compose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583420" y="1290146"/>
            <a:ext cx="8437730" cy="35736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version: '2.4’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Обязательная секция</a:t>
            </a:r>
            <a:endParaRPr lang="en-US" sz="1400" dirty="0">
              <a:solidFill>
                <a:srgbClr val="008F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services: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Обязательная секция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r>
              <a:rPr lang="ru-RU" sz="1400" dirty="0">
                <a:solidFill>
                  <a:srgbClr val="008F00"/>
                </a:solidFill>
              </a:rPr>
              <a:t>запустим в качестве </a:t>
            </a:r>
            <a:r>
              <a:rPr lang="ru-RU" sz="1400" dirty="0" err="1">
                <a:solidFill>
                  <a:srgbClr val="008F00"/>
                </a:solidFill>
              </a:rPr>
              <a:t>балансировщика</a:t>
            </a:r>
            <a:r>
              <a:rPr lang="ru-RU" sz="1400" dirty="0">
                <a:solidFill>
                  <a:srgbClr val="008F00"/>
                </a:solidFill>
              </a:rPr>
              <a:t> нагрузки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image: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volumes: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./</a:t>
            </a:r>
            <a:r>
              <a:rPr lang="en-US" sz="1400" dirty="0" err="1">
                <a:solidFill>
                  <a:schemeClr val="tx1"/>
                </a:solidFill>
              </a:rPr>
              <a:t>nginx.conf</a:t>
            </a:r>
            <a:r>
              <a:rPr lang="en-US" sz="1400" dirty="0">
                <a:solidFill>
                  <a:schemeClr val="tx1"/>
                </a:solidFill>
              </a:rPr>
              <a:t>:/</a:t>
            </a:r>
            <a:r>
              <a:rPr lang="en-US" sz="1400" dirty="0" err="1">
                <a:solidFill>
                  <a:schemeClr val="tx1"/>
                </a:solidFill>
              </a:rPr>
              <a:t>etc</a:t>
            </a:r>
            <a:r>
              <a:rPr lang="en-US" sz="1400" dirty="0">
                <a:solidFill>
                  <a:schemeClr val="tx1"/>
                </a:solidFill>
              </a:rPr>
              <a:t>/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/</a:t>
            </a:r>
            <a:r>
              <a:rPr lang="en-US" sz="1400" dirty="0" err="1">
                <a:solidFill>
                  <a:schemeClr val="tx1"/>
                </a:solidFill>
              </a:rPr>
              <a:t>nginx.conf:ro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Пробросим </a:t>
            </a:r>
            <a:r>
              <a:rPr lang="ru-RU" sz="1400" dirty="0" err="1">
                <a:solidFill>
                  <a:srgbClr val="008F00"/>
                </a:solidFill>
              </a:rPr>
              <a:t>конфиг</a:t>
            </a:r>
            <a:r>
              <a:rPr lang="ru-RU" sz="1400" dirty="0">
                <a:solidFill>
                  <a:srgbClr val="008F00"/>
                </a:solidFill>
              </a:rPr>
              <a:t>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 err="1">
                <a:solidFill>
                  <a:schemeClr val="tx1"/>
                </a:solidFill>
              </a:rPr>
              <a:t>depends_on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ports: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- 8080:4000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Слушаем порт 8080 и пробрасываем его внутрь контейнера на 4000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ML </a:t>
            </a:r>
            <a:r>
              <a:rPr lang="ru-RU" sz="1400" dirty="0">
                <a:solidFill>
                  <a:srgbClr val="008F00"/>
                </a:solidFill>
              </a:rPr>
              <a:t>Модель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image: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ports: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- 5002:5002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Проброс портов для модели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F461C8-3BDB-AD4C-8767-FD9378A70A54}"/>
              </a:ext>
            </a:extLst>
          </p:cNvPr>
          <p:cNvSpPr txBox="1"/>
          <p:nvPr/>
        </p:nvSpPr>
        <p:spPr>
          <a:xfrm>
            <a:off x="500550" y="982369"/>
            <a:ext cx="18662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docker-</a:t>
            </a:r>
            <a:r>
              <a:rPr lang="en-US" dirty="0" err="1"/>
              <a:t>compose.yml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00240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00549" y="1209926"/>
            <a:ext cx="8437729" cy="371227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Compose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583420" y="1290146"/>
            <a:ext cx="8437730" cy="35736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user 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;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служебный </a:t>
            </a:r>
            <a:r>
              <a:rPr lang="en-US" sz="1400" dirty="0">
                <a:solidFill>
                  <a:srgbClr val="008F00"/>
                </a:solidFill>
              </a:rPr>
              <a:t>user </a:t>
            </a:r>
            <a:r>
              <a:rPr lang="ru-RU" sz="1400" dirty="0">
                <a:solidFill>
                  <a:srgbClr val="008F00"/>
                </a:solidFill>
              </a:rPr>
              <a:t>по умолчанию, на </a:t>
            </a:r>
            <a:r>
              <a:rPr lang="ru-RU" sz="1400" dirty="0" err="1">
                <a:solidFill>
                  <a:srgbClr val="008F00"/>
                </a:solidFill>
              </a:rPr>
              <a:t>проде</a:t>
            </a:r>
            <a:r>
              <a:rPr lang="ru-RU" sz="1400" dirty="0">
                <a:solidFill>
                  <a:srgbClr val="008F00"/>
                </a:solidFill>
              </a:rPr>
              <a:t> настроить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events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 err="1">
                <a:solidFill>
                  <a:schemeClr val="tx1"/>
                </a:solidFill>
              </a:rPr>
              <a:t>worker_connections</a:t>
            </a:r>
            <a:r>
              <a:rPr lang="en-US" sz="1400" dirty="0">
                <a:solidFill>
                  <a:schemeClr val="tx1"/>
                </a:solidFill>
              </a:rPr>
              <a:t>   1000;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Максимум соединений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http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server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    listen 4000;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Слушаем порт 4000 </a:t>
            </a:r>
            <a:r>
              <a:rPr lang="ru-RU" sz="1400" b="1" dirty="0">
                <a:solidFill>
                  <a:srgbClr val="008F00"/>
                </a:solidFill>
              </a:rPr>
              <a:t>внутри контейнера</a:t>
            </a:r>
            <a:endParaRPr lang="en-US" sz="1400" b="1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    location /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        </a:t>
            </a:r>
            <a:r>
              <a:rPr lang="en-US" sz="1400" dirty="0" err="1">
                <a:solidFill>
                  <a:schemeClr val="tx1"/>
                </a:solidFill>
              </a:rPr>
              <a:t>proxy_pass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  <a:hlinkClick r:id="rId3"/>
              </a:rPr>
              <a:t>http://fastapi_net:5002</a:t>
            </a:r>
            <a:r>
              <a:rPr lang="en-US" sz="1400" dirty="0">
                <a:solidFill>
                  <a:schemeClr val="tx1"/>
                </a:solidFill>
              </a:rPr>
              <a:t>;</a:t>
            </a:r>
            <a:r>
              <a:rPr lang="ru-RU" sz="1400" dirty="0">
                <a:solidFill>
                  <a:schemeClr val="tx1"/>
                </a:solidFill>
              </a:rPr>
              <a:t> 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Пробрасываем запрос на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-RU" sz="1400" dirty="0">
                <a:solidFill>
                  <a:schemeClr val="tx1"/>
                </a:solidFill>
              </a:rPr>
              <a:t>						</a:t>
            </a:r>
            <a:r>
              <a:rPr lang="ru-RU" sz="1400" dirty="0">
                <a:solidFill>
                  <a:srgbClr val="008F00"/>
                </a:solidFill>
              </a:rPr>
              <a:t> </a:t>
            </a:r>
            <a:r>
              <a:rPr lang="en-US" sz="1400" dirty="0">
                <a:solidFill>
                  <a:srgbClr val="008F00"/>
                </a:solidFill>
              </a:rPr>
              <a:t># ML </a:t>
            </a:r>
            <a:r>
              <a:rPr lang="ru-RU" sz="1400" dirty="0">
                <a:solidFill>
                  <a:srgbClr val="008F00"/>
                </a:solidFill>
              </a:rPr>
              <a:t>Модель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    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F461C8-3BDB-AD4C-8767-FD9378A70A54}"/>
              </a:ext>
            </a:extLst>
          </p:cNvPr>
          <p:cNvSpPr txBox="1"/>
          <p:nvPr/>
        </p:nvSpPr>
        <p:spPr>
          <a:xfrm>
            <a:off x="500550" y="982369"/>
            <a:ext cx="10005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nginx.conf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55659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00549" y="1209926"/>
            <a:ext cx="8437729" cy="371227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Compose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583420" y="1290146"/>
            <a:ext cx="8437730" cy="35736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version: '2.4’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Обязательная секция</a:t>
            </a:r>
            <a:endParaRPr lang="en-US" sz="1400" dirty="0">
              <a:solidFill>
                <a:srgbClr val="008F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services: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Обязательная секция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r>
              <a:rPr lang="ru-RU" sz="1400" dirty="0">
                <a:solidFill>
                  <a:srgbClr val="008F00"/>
                </a:solidFill>
              </a:rPr>
              <a:t>запустим в качестве </a:t>
            </a:r>
            <a:r>
              <a:rPr lang="ru-RU" sz="1400" dirty="0" err="1">
                <a:solidFill>
                  <a:srgbClr val="008F00"/>
                </a:solidFill>
              </a:rPr>
              <a:t>балансировщика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image: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volumes: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./</a:t>
            </a:r>
            <a:r>
              <a:rPr lang="en-US" sz="1400" dirty="0" err="1">
                <a:solidFill>
                  <a:schemeClr val="tx1"/>
                </a:solidFill>
              </a:rPr>
              <a:t>nginx.conf</a:t>
            </a:r>
            <a:r>
              <a:rPr lang="en-US" sz="1400" dirty="0">
                <a:solidFill>
                  <a:schemeClr val="tx1"/>
                </a:solidFill>
              </a:rPr>
              <a:t>:/</a:t>
            </a:r>
            <a:r>
              <a:rPr lang="en-US" sz="1400" dirty="0" err="1">
                <a:solidFill>
                  <a:schemeClr val="tx1"/>
                </a:solidFill>
              </a:rPr>
              <a:t>etc</a:t>
            </a:r>
            <a:r>
              <a:rPr lang="en-US" sz="1400" dirty="0">
                <a:solidFill>
                  <a:schemeClr val="tx1"/>
                </a:solidFill>
              </a:rPr>
              <a:t>/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/</a:t>
            </a:r>
            <a:r>
              <a:rPr lang="en-US" sz="1400" dirty="0" err="1">
                <a:solidFill>
                  <a:schemeClr val="tx1"/>
                </a:solidFill>
              </a:rPr>
              <a:t>nginx.conf:ro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Пробросим </a:t>
            </a:r>
            <a:r>
              <a:rPr lang="ru-RU" sz="1400" dirty="0" err="1">
                <a:solidFill>
                  <a:srgbClr val="008F00"/>
                </a:solidFill>
              </a:rPr>
              <a:t>конфиг</a:t>
            </a:r>
            <a:r>
              <a:rPr lang="ru-RU" sz="1400" dirty="0">
                <a:solidFill>
                  <a:srgbClr val="008F00"/>
                </a:solidFill>
              </a:rPr>
              <a:t>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 err="1">
                <a:solidFill>
                  <a:schemeClr val="tx1"/>
                </a:solidFill>
              </a:rPr>
              <a:t>depends_on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ports: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- 8080:4000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Слушаем порт 8080 и пробрасываем его внутрь контейнера на 4000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ML </a:t>
            </a:r>
            <a:r>
              <a:rPr lang="ru-RU" sz="1400" dirty="0">
                <a:solidFill>
                  <a:srgbClr val="008F00"/>
                </a:solidFill>
              </a:rPr>
              <a:t>Модель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image: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ports: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- 5002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Не указывать внутренний порт, он будет назначен автоматически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deploy: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replicas: 3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Запустить 3 копии,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r>
              <a:rPr lang="ru-RU" sz="1400" dirty="0">
                <a:solidFill>
                  <a:srgbClr val="008F00"/>
                </a:solidFill>
              </a:rPr>
              <a:t>будет на них распределять нагрузку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F461C8-3BDB-AD4C-8767-FD9378A70A54}"/>
              </a:ext>
            </a:extLst>
          </p:cNvPr>
          <p:cNvSpPr txBox="1"/>
          <p:nvPr/>
        </p:nvSpPr>
        <p:spPr>
          <a:xfrm>
            <a:off x="500550" y="982369"/>
            <a:ext cx="18662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docker-</a:t>
            </a:r>
            <a:r>
              <a:rPr lang="en-US" dirty="0" err="1"/>
              <a:t>compose.yml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37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Список материалов для изучения</a:t>
            </a:r>
            <a:endParaRPr dirty="0"/>
          </a:p>
        </p:txBody>
      </p:sp>
      <p:sp>
        <p:nvSpPr>
          <p:cNvPr id="408" name="Google Shape;408;p71"/>
          <p:cNvSpPr txBox="1">
            <a:spLocks noGrp="1"/>
          </p:cNvSpPr>
          <p:nvPr>
            <p:ph type="body" idx="4294967295"/>
          </p:nvPr>
        </p:nvSpPr>
        <p:spPr>
          <a:xfrm>
            <a:off x="381000" y="895350"/>
            <a:ext cx="8610600" cy="39684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r>
              <a:rPr lang="en-US" sz="1800" b="1" dirty="0"/>
              <a:t>Docker</a:t>
            </a:r>
            <a:r>
              <a:rPr lang="ru-RU" sz="1800" b="1" dirty="0"/>
              <a:t> </a:t>
            </a:r>
            <a:endParaRPr lang="en-US" sz="1800" b="1" dirty="0"/>
          </a:p>
          <a:p>
            <a:pPr marL="914400" lvl="1" indent="-311150" algn="l" rtl="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Основы </a:t>
            </a:r>
            <a:r>
              <a:rPr lang="en-US" sz="1400" dirty="0"/>
              <a:t>docker: </a:t>
            </a:r>
            <a:r>
              <a:rPr lang="en-US" sz="1400" dirty="0">
                <a:hlinkClick r:id="rId3"/>
              </a:rPr>
              <a:t>https://habr.com/ru/companies/ruvds/articles/438796/</a:t>
            </a:r>
            <a:r>
              <a:rPr lang="en-US" sz="1400" dirty="0"/>
              <a:t> </a:t>
            </a:r>
          </a:p>
          <a:p>
            <a:pPr marL="914400" lvl="1" indent="-311150" algn="l" rtl="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Основные команды </a:t>
            </a:r>
            <a:r>
              <a:rPr lang="en-US" sz="1400" dirty="0"/>
              <a:t>docker: </a:t>
            </a:r>
            <a:r>
              <a:rPr lang="en-US" sz="1400" dirty="0">
                <a:hlinkClick r:id="rId4"/>
              </a:rPr>
              <a:t>https://habr.com/ru/companies/flant/articles/336654/</a:t>
            </a:r>
            <a:r>
              <a:rPr lang="en-US" sz="1400" dirty="0"/>
              <a:t> </a:t>
            </a:r>
          </a:p>
          <a:p>
            <a:pPr marL="914400" lvl="1" indent="-311150" algn="l" rtl="0">
              <a:buSzPts val="1300"/>
              <a:buFont typeface="Arial" panose="020B0604020202020204" pitchFamily="34" charset="0"/>
              <a:buChar char="•"/>
            </a:pPr>
            <a:r>
              <a:rPr lang="en-US" sz="1400" dirty="0"/>
              <a:t>Docker </a:t>
            </a:r>
            <a:r>
              <a:rPr lang="ru-RU" sz="1400" dirty="0"/>
              <a:t>на </a:t>
            </a:r>
            <a:r>
              <a:rPr lang="en-US" sz="1400" dirty="0"/>
              <a:t>mac m1: </a:t>
            </a:r>
            <a:r>
              <a:rPr lang="en-US" sz="1400" dirty="0">
                <a:hlinkClick r:id="rId5"/>
              </a:rPr>
              <a:t>https://habr.com/ru/companies/evrone/articles/716630/</a:t>
            </a:r>
            <a:r>
              <a:rPr lang="en-US" sz="1400" dirty="0"/>
              <a:t> </a:t>
            </a:r>
            <a:endParaRPr lang="ru-RU" sz="1400" dirty="0"/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endParaRPr lang="en-US" sz="1300" dirty="0"/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r>
              <a:rPr lang="ru-RU" sz="1800" b="1" dirty="0"/>
              <a:t>Оптимизация сборки </a:t>
            </a:r>
            <a:r>
              <a:rPr lang="en-US" sz="1800" b="1" dirty="0" err="1"/>
              <a:t>dockerfile</a:t>
            </a:r>
            <a:endParaRPr lang="en-US" sz="1800" b="1" dirty="0"/>
          </a:p>
          <a:p>
            <a:pPr marL="914400" lvl="1" indent="-311150" algn="l" rtl="0">
              <a:buSzPts val="1300"/>
              <a:buFont typeface="Arial" panose="020B0604020202020204" pitchFamily="34" charset="0"/>
              <a:buChar char="•"/>
            </a:pPr>
            <a:r>
              <a:rPr lang="en-US" sz="1400" dirty="0">
                <a:hlinkClick r:id="rId6"/>
              </a:rPr>
              <a:t>https://habr.com/ru/companies/first/articles/702168/</a:t>
            </a:r>
            <a:r>
              <a:rPr lang="en-US" sz="1400" dirty="0"/>
              <a:t>  </a:t>
            </a:r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endParaRPr lang="en-US" sz="1900" b="1" dirty="0"/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r>
              <a:rPr lang="ru-RU" sz="1800" b="1" dirty="0"/>
              <a:t>Развертывание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Развертывание </a:t>
            </a:r>
            <a:r>
              <a:rPr lang="en-US" sz="1400" dirty="0"/>
              <a:t>ML </a:t>
            </a:r>
            <a:r>
              <a:rPr lang="ru-RU" sz="1400" dirty="0"/>
              <a:t>модели в </a:t>
            </a:r>
            <a:r>
              <a:rPr lang="en-US" sz="1400" dirty="0"/>
              <a:t>Docker</a:t>
            </a:r>
            <a:r>
              <a:rPr lang="ru-RU" sz="1400" dirty="0"/>
              <a:t>: </a:t>
            </a:r>
            <a:r>
              <a:rPr lang="en-US" sz="1400" dirty="0">
                <a:hlinkClick r:id="rId7"/>
              </a:rPr>
              <a:t>https://habr.com/ru/articles/548910/</a:t>
            </a:r>
            <a:r>
              <a:rPr lang="ru-RU" sz="1400" dirty="0"/>
              <a:t> </a:t>
            </a:r>
            <a:endParaRPr lang="en-US" sz="1400" dirty="0"/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Простой </a:t>
            </a:r>
            <a:r>
              <a:rPr lang="en-US" sz="1400" dirty="0"/>
              <a:t>ML </a:t>
            </a:r>
            <a:r>
              <a:rPr lang="ru-RU" sz="1400" dirty="0"/>
              <a:t>веб-сервис на </a:t>
            </a:r>
            <a:r>
              <a:rPr lang="en-US" sz="1400" dirty="0" err="1"/>
              <a:t>FastAPI</a:t>
            </a:r>
            <a:r>
              <a:rPr lang="ru-RU" sz="1400" dirty="0"/>
              <a:t>: </a:t>
            </a:r>
            <a:r>
              <a:rPr lang="en-US" sz="1400" dirty="0">
                <a:hlinkClick r:id="rId8"/>
              </a:rPr>
              <a:t>https://habr.com/ru/articles/729380/</a:t>
            </a:r>
            <a:r>
              <a:rPr lang="ru-RU" sz="1400" dirty="0"/>
              <a:t> </a:t>
            </a:r>
            <a:endParaRPr lang="en-US" sz="1400" dirty="0"/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endParaRPr lang="en-US" sz="1300" dirty="0"/>
          </a:p>
          <a:p>
            <a:pPr indent="-311150">
              <a:lnSpc>
                <a:spcPct val="100000"/>
              </a:lnSpc>
              <a:buSzPts val="1300"/>
              <a:buFont typeface="Roboto"/>
              <a:buAutoNum type="arabicPeriod"/>
            </a:pPr>
            <a:r>
              <a:rPr lang="en-US" sz="1800" b="1" dirty="0"/>
              <a:t>Docker Compose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Руководство по </a:t>
            </a:r>
            <a:r>
              <a:rPr lang="en-US" sz="1400" dirty="0"/>
              <a:t>Docker Compose </a:t>
            </a:r>
            <a:r>
              <a:rPr lang="ru-RU" sz="1400" dirty="0"/>
              <a:t>для начинающих</a:t>
            </a:r>
            <a:r>
              <a:rPr lang="en-US" sz="1400" dirty="0"/>
              <a:t>: </a:t>
            </a:r>
            <a:r>
              <a:rPr lang="en-US" sz="1400" dirty="0">
                <a:hlinkClick r:id="rId9"/>
              </a:rPr>
              <a:t>https://habr.com/ru/companies/ruvds/articles/450312/</a:t>
            </a:r>
            <a:r>
              <a:rPr lang="en-US" sz="1400" dirty="0"/>
              <a:t> 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en-US" sz="1400" dirty="0"/>
              <a:t>Docker Compose: </a:t>
            </a:r>
            <a:r>
              <a:rPr lang="en-US" sz="1400" dirty="0">
                <a:hlinkClick r:id="rId10"/>
              </a:rPr>
              <a:t>https://habr.com/ru/companies/otus/articles/731854/</a:t>
            </a:r>
            <a:r>
              <a:rPr lang="en-US" sz="1400" dirty="0"/>
              <a:t> 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488950" indent="-342900">
              <a:buSzPts val="1300"/>
              <a:buFont typeface="+mj-lt"/>
              <a:buAutoNum type="arabicPeriod"/>
            </a:pPr>
            <a:r>
              <a:rPr lang="en-US" b="1" dirty="0"/>
              <a:t>Flask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Учебник по </a:t>
            </a:r>
            <a:r>
              <a:rPr lang="en-US" sz="1400" dirty="0"/>
              <a:t>Flask: </a:t>
            </a:r>
            <a:r>
              <a:rPr lang="en-US" sz="1400" dirty="0">
                <a:hlinkClick r:id="rId11"/>
              </a:rPr>
              <a:t>https://habr.com/ru/articles/346306/</a:t>
            </a:r>
            <a:r>
              <a:rPr lang="en-US" sz="1400" dirty="0"/>
              <a:t> </a:t>
            </a:r>
            <a:endParaRPr lang="ru-RU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9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/>
              <a:t>Рефлексия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6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/>
              <a:t>Рефлексия</a:t>
            </a:r>
            <a:endParaRPr/>
          </a:p>
        </p:txBody>
      </p:sp>
      <p:pic>
        <p:nvPicPr>
          <p:cNvPr id="372" name="Google Shape;372;p6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114" y="2019850"/>
            <a:ext cx="828522" cy="828504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60"/>
          <p:cNvSpPr txBox="1"/>
          <p:nvPr/>
        </p:nvSpPr>
        <p:spPr>
          <a:xfrm>
            <a:off x="1700240" y="2364004"/>
            <a:ext cx="46722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впечатлениями уходите с вебинара?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4" name="Google Shape;374;p60"/>
          <p:cNvSpPr txBox="1"/>
          <p:nvPr/>
        </p:nvSpPr>
        <p:spPr>
          <a:xfrm>
            <a:off x="1700240" y="3414189"/>
            <a:ext cx="4996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 будете применять на практике то,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узнали на вебинаре?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75" name="Google Shape;375;p6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1950" y="3330152"/>
            <a:ext cx="845250" cy="845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61"/>
          <p:cNvSpPr txBox="1">
            <a:spLocks noGrp="1"/>
          </p:cNvSpPr>
          <p:nvPr>
            <p:ph type="title"/>
          </p:nvPr>
        </p:nvSpPr>
        <p:spPr>
          <a:xfrm>
            <a:off x="956225" y="396394"/>
            <a:ext cx="7559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800"/>
              <a:t>Заполните, пожалуйста,</a:t>
            </a:r>
            <a:endParaRPr sz="38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3800"/>
              <a:t>опрос о занятии</a:t>
            </a:r>
            <a:endParaRPr sz="38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3800"/>
              <a:t>по ссылке в чате</a:t>
            </a:r>
            <a:endParaRPr sz="38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62"/>
          <p:cNvSpPr txBox="1">
            <a:spLocks noGrp="1"/>
          </p:cNvSpPr>
          <p:nvPr>
            <p:ph type="title"/>
          </p:nvPr>
        </p:nvSpPr>
        <p:spPr>
          <a:xfrm>
            <a:off x="500550" y="821221"/>
            <a:ext cx="8520600" cy="136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ru-RU" dirty="0"/>
              <a:t>Приходите на следующие вебинары</a:t>
            </a:r>
            <a:endParaRPr dirty="0"/>
          </a:p>
        </p:txBody>
      </p:sp>
      <p:sp>
        <p:nvSpPr>
          <p:cNvPr id="386" name="Google Shape;386;p62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ru-RU" dirty="0"/>
              <a:t>Спасибо за внимание!</a:t>
            </a:r>
            <a:endParaRPr dirty="0"/>
          </a:p>
        </p:txBody>
      </p:sp>
      <p:sp>
        <p:nvSpPr>
          <p:cNvPr id="387" name="Google Shape;387;p62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8" name="Google Shape;388;p62"/>
          <p:cNvPicPr preferRelativeResize="0"/>
          <p:nvPr/>
        </p:nvPicPr>
        <p:blipFill>
          <a:blip r:embed="rId3"/>
          <a:srcRect t="6397" b="6397"/>
          <a:stretch/>
        </p:blipFill>
        <p:spPr>
          <a:xfrm>
            <a:off x="1069674" y="2950614"/>
            <a:ext cx="1508400" cy="14886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2" name="Google Shape;208;p48">
            <a:extLst>
              <a:ext uri="{FF2B5EF4-FFF2-40B4-BE49-F238E27FC236}">
                <a16:creationId xmlns:a16="http://schemas.microsoft.com/office/drawing/2014/main" id="{3AD9921B-818B-2E49-87DE-01818F089A24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14" name="Google Shape;208;p48">
            <a:extLst>
              <a:ext uri="{FF2B5EF4-FFF2-40B4-BE49-F238E27FC236}">
                <a16:creationId xmlns:a16="http://schemas.microsoft.com/office/drawing/2014/main" id="{A2C5D46D-0E08-6F4B-84D8-3C201E1F3D28}"/>
              </a:ext>
            </a:extLst>
          </p:cNvPr>
          <p:cNvSpPr txBox="1">
            <a:spLocks/>
          </p:cNvSpPr>
          <p:nvPr/>
        </p:nvSpPr>
        <p:spPr>
          <a:xfrm>
            <a:off x="500550" y="1454436"/>
            <a:ext cx="5856300" cy="3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None/>
              <a:defRPr sz="15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/>
            <a:r>
              <a:rPr lang="en-US" dirty="0"/>
              <a:t>03.09 - </a:t>
            </a:r>
            <a:r>
              <a:rPr lang="ru-RU" dirty="0" err="1"/>
              <a:t>деплой</a:t>
            </a:r>
            <a:r>
              <a:rPr lang="ru-RU" dirty="0"/>
              <a:t> </a:t>
            </a:r>
            <a:r>
              <a:rPr lang="en-US" dirty="0"/>
              <a:t>docker</a:t>
            </a:r>
            <a:r>
              <a:rPr lang="ru-RU" dirty="0"/>
              <a:t> образа в </a:t>
            </a:r>
            <a:r>
              <a:rPr lang="en-US" dirty="0"/>
              <a:t>Yandex Cloud</a:t>
            </a:r>
            <a:endParaRPr lang="ru-RU" dirty="0"/>
          </a:p>
        </p:txBody>
      </p:sp>
      <p:sp>
        <p:nvSpPr>
          <p:cNvPr id="9" name="Google Shape;209;p48">
            <a:extLst>
              <a:ext uri="{FF2B5EF4-FFF2-40B4-BE49-F238E27FC236}">
                <a16:creationId xmlns:a16="http://schemas.microsoft.com/office/drawing/2014/main" id="{61D8227D-BF3B-A844-B067-82EA3249A836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4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3348</TotalTime>
  <Words>1416</Words>
  <Application>Microsoft Macintosh PowerPoint</Application>
  <PresentationFormat>On-screen Show (16:9)</PresentationFormat>
  <Paragraphs>270</Paragraphs>
  <Slides>31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Apple Chancery</vt:lpstr>
      <vt:lpstr>Arial</vt:lpstr>
      <vt:lpstr>Google Sans</vt:lpstr>
      <vt:lpstr>Roboto</vt:lpstr>
      <vt:lpstr>Courier New</vt:lpstr>
      <vt:lpstr>Светлая тема</vt:lpstr>
      <vt:lpstr>ML Advanced Docker nets &amp; Docker compose</vt:lpstr>
      <vt:lpstr>Проверить, идет ли запись</vt:lpstr>
      <vt:lpstr>ML Advanced Docker nets &amp; Docker compose</vt:lpstr>
      <vt:lpstr>Правила вебинара</vt:lpstr>
      <vt:lpstr>Маршрут вебинара</vt:lpstr>
      <vt:lpstr>Карта курса</vt:lpstr>
      <vt:lpstr>Программа курса</vt:lpstr>
      <vt:lpstr>Цели вебинара</vt:lpstr>
      <vt:lpstr>Смысл</vt:lpstr>
      <vt:lpstr>Docker networks</vt:lpstr>
      <vt:lpstr>Как заставить контейнеры общаться</vt:lpstr>
      <vt:lpstr>Docker networks driver</vt:lpstr>
      <vt:lpstr>null - driver</vt:lpstr>
      <vt:lpstr>bridge - driver</vt:lpstr>
      <vt:lpstr>bridge - driver</vt:lpstr>
      <vt:lpstr>host – driver</vt:lpstr>
      <vt:lpstr>Docker compose</vt:lpstr>
      <vt:lpstr>Микросервисная архитектура</vt:lpstr>
      <vt:lpstr>PowerPoint Presentation</vt:lpstr>
      <vt:lpstr>Сборка архитектуры</vt:lpstr>
      <vt:lpstr>Практика</vt:lpstr>
      <vt:lpstr>Практика</vt:lpstr>
      <vt:lpstr>Создать сеть и проверить взаимодействие</vt:lpstr>
      <vt:lpstr>Развернуть ML модель в Docker Compose</vt:lpstr>
      <vt:lpstr>Развернуть ML модель в Docker Compose</vt:lpstr>
      <vt:lpstr>Развернуть ML модель в Docker Compose</vt:lpstr>
      <vt:lpstr>Список материалов для изучения</vt:lpstr>
      <vt:lpstr>Рефлексия</vt:lpstr>
      <vt:lpstr>Рефлексия</vt:lpstr>
      <vt:lpstr>Заполните, пожалуйста, опрос о занятии по ссылке в чате</vt:lpstr>
      <vt:lpstr>Приходите на следующие вебинары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Advanced Docker: Структура, применение, деплой</dc:title>
  <cp:lastModifiedBy>Стурейко Игорь Олегович</cp:lastModifiedBy>
  <cp:revision>67</cp:revision>
  <dcterms:modified xsi:type="dcterms:W3CDTF">2025-05-15T17:01:21Z</dcterms:modified>
</cp:coreProperties>
</file>