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67"/>
  </p:notesMasterIdLst>
  <p:sldIdLst>
    <p:sldId id="256" r:id="rId2"/>
    <p:sldId id="257" r:id="rId3"/>
    <p:sldId id="383" r:id="rId4"/>
    <p:sldId id="259" r:id="rId5"/>
    <p:sldId id="472" r:id="rId6"/>
    <p:sldId id="407" r:id="rId7"/>
    <p:sldId id="263" r:id="rId8"/>
    <p:sldId id="264" r:id="rId9"/>
    <p:sldId id="408" r:id="rId10"/>
    <p:sldId id="313" r:id="rId11"/>
    <p:sldId id="262" r:id="rId12"/>
    <p:sldId id="373" r:id="rId13"/>
    <p:sldId id="377" r:id="rId14"/>
    <p:sldId id="378" r:id="rId15"/>
    <p:sldId id="380" r:id="rId16"/>
    <p:sldId id="379" r:id="rId17"/>
    <p:sldId id="381" r:id="rId18"/>
    <p:sldId id="382" r:id="rId19"/>
    <p:sldId id="374" r:id="rId20"/>
    <p:sldId id="473" r:id="rId21"/>
    <p:sldId id="375" r:id="rId22"/>
    <p:sldId id="270" r:id="rId23"/>
    <p:sldId id="271" r:id="rId24"/>
    <p:sldId id="272" r:id="rId25"/>
    <p:sldId id="474" r:id="rId26"/>
    <p:sldId id="386" r:id="rId27"/>
    <p:sldId id="279" r:id="rId28"/>
    <p:sldId id="387" r:id="rId29"/>
    <p:sldId id="278" r:id="rId30"/>
    <p:sldId id="281" r:id="rId31"/>
    <p:sldId id="283" r:id="rId32"/>
    <p:sldId id="384" r:id="rId33"/>
    <p:sldId id="385" r:id="rId34"/>
    <p:sldId id="475" r:id="rId35"/>
    <p:sldId id="476" r:id="rId36"/>
    <p:sldId id="390" r:id="rId37"/>
    <p:sldId id="477" r:id="rId38"/>
    <p:sldId id="393" r:id="rId39"/>
    <p:sldId id="394" r:id="rId40"/>
    <p:sldId id="284" r:id="rId41"/>
    <p:sldId id="376" r:id="rId42"/>
    <p:sldId id="396" r:id="rId43"/>
    <p:sldId id="399" r:id="rId44"/>
    <p:sldId id="400" r:id="rId45"/>
    <p:sldId id="398" r:id="rId46"/>
    <p:sldId id="478" r:id="rId47"/>
    <p:sldId id="403" r:id="rId48"/>
    <p:sldId id="401" r:id="rId49"/>
    <p:sldId id="402" r:id="rId50"/>
    <p:sldId id="479" r:id="rId51"/>
    <p:sldId id="395" r:id="rId52"/>
    <p:sldId id="391" r:id="rId53"/>
    <p:sldId id="389" r:id="rId54"/>
    <p:sldId id="388" r:id="rId55"/>
    <p:sldId id="462" r:id="rId56"/>
    <p:sldId id="463" r:id="rId57"/>
    <p:sldId id="464" r:id="rId58"/>
    <p:sldId id="465" r:id="rId59"/>
    <p:sldId id="466" r:id="rId60"/>
    <p:sldId id="467" r:id="rId61"/>
    <p:sldId id="468" r:id="rId62"/>
    <p:sldId id="469" r:id="rId63"/>
    <p:sldId id="470" r:id="rId64"/>
    <p:sldId id="471" r:id="rId65"/>
    <p:sldId id="302" r:id="rId6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8"/>
      <p:bold r:id="rId69"/>
      <p:italic r:id="rId70"/>
      <p:boldItalic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12"/>
    <p:restoredTop sz="94681"/>
  </p:normalViewPr>
  <p:slideViewPr>
    <p:cSldViewPr snapToGrid="0">
      <p:cViewPr varScale="1">
        <p:scale>
          <a:sx n="280" d="100"/>
          <a:sy n="280" d="100"/>
        </p:scale>
        <p:origin x="1672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3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31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9441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6989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3107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8835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3136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6125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40821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2237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5536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03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8929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0641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1380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55832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4532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5509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932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47740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6110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260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740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7" r:id="rId13"/>
    <p:sldLayoutId id="2147483678" r:id="rId14"/>
    <p:sldLayoutId id="214748367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fastapi_net:5002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729380/" TargetMode="External"/><Relationship Id="rId3" Type="http://schemas.openxmlformats.org/officeDocument/2006/relationships/hyperlink" Target="https://habr.com/ru/companies/ruvds/articles/438796/" TargetMode="External"/><Relationship Id="rId7" Type="http://schemas.openxmlformats.org/officeDocument/2006/relationships/hyperlink" Target="https://habr.com/ru/articles/548910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abr.com/ru/companies/first/articles/702168/" TargetMode="External"/><Relationship Id="rId11" Type="http://schemas.openxmlformats.org/officeDocument/2006/relationships/hyperlink" Target="https://habr.com/ru/articles/346306/" TargetMode="External"/><Relationship Id="rId5" Type="http://schemas.openxmlformats.org/officeDocument/2006/relationships/hyperlink" Target="https://habr.com/ru/companies/evrone/articles/716630/" TargetMode="External"/><Relationship Id="rId10" Type="http://schemas.openxmlformats.org/officeDocument/2006/relationships/hyperlink" Target="https://habr.com/ru/companies/otus/articles/731854/" TargetMode="External"/><Relationship Id="rId4" Type="http://schemas.openxmlformats.org/officeDocument/2006/relationships/hyperlink" Target="https://habr.com/ru/companies/flant/articles/336654/" TargetMode="External"/><Relationship Id="rId9" Type="http://schemas.openxmlformats.org/officeDocument/2006/relationships/hyperlink" Target="https://habr.com/ru/companies/ruvds/articles/450312/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JP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dirty="0"/>
              <a:t>Основы </a:t>
            </a:r>
            <a:r>
              <a:rPr lang="en-US" sz="2400" dirty="0"/>
              <a:t>Docker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ru-RU" sz="2400" dirty="0"/>
              <a:t>Основы </a:t>
            </a:r>
            <a:r>
              <a:rPr lang="en-US" sz="2400" dirty="0"/>
              <a:t>Docker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9D74D6E-4B24-7043-95C1-5ECC1C800B2C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626905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2631918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Механизмы </a:t>
            </a:r>
            <a:r>
              <a:rPr lang="ru-RU" sz="1300" dirty="0" err="1">
                <a:latin typeface="Roboto"/>
                <a:ea typeface="Roboto"/>
                <a:cs typeface="Roboto"/>
                <a:sym typeface="Roboto"/>
              </a:rPr>
              <a:t>контейниризации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Запуск контейнера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Сборка контейнера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 Compose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6539A90-06AC-8946-A29E-7B33C459CCF6}"/>
              </a:ext>
            </a:extLst>
          </p:cNvPr>
          <p:cNvGrpSpPr/>
          <p:nvPr/>
        </p:nvGrpSpPr>
        <p:grpSpPr>
          <a:xfrm>
            <a:off x="5775022" y="1104087"/>
            <a:ext cx="2278070" cy="1839989"/>
            <a:chOff x="4481794" y="1270785"/>
            <a:chExt cx="2278070" cy="18399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C8E64C8-88A3-974F-8842-CB97BB5E50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6980"/>
            <a:stretch/>
          </p:blipFill>
          <p:spPr>
            <a:xfrm>
              <a:off x="4760850" y="1270785"/>
              <a:ext cx="1719958" cy="94953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B4E7A0-9F4B-E347-B662-17623C7C1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3020"/>
            <a:stretch/>
          </p:blipFill>
          <p:spPr>
            <a:xfrm>
              <a:off x="4481794" y="2161242"/>
              <a:ext cx="2278070" cy="94953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FAB09C8-95A1-984B-B06A-2EF5FEF35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40" y="3036559"/>
            <a:ext cx="3324896" cy="1595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Docker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vs containerization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C84F0-90B0-3246-B787-1D5AE763E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818"/>
            <a:ext cx="9144000" cy="335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6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AFC7-8250-6142-8E2B-EE957420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Механизмы контейнеризации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F096E-984E-304A-93B5-06724E038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713" y="1095785"/>
            <a:ext cx="2191155" cy="1515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0C477A-51AF-8F42-B1C9-52911B47C24E}"/>
              </a:ext>
            </a:extLst>
          </p:cNvPr>
          <p:cNvSpPr txBox="1"/>
          <p:nvPr/>
        </p:nvSpPr>
        <p:spPr>
          <a:xfrm>
            <a:off x="622570" y="1699795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chroot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AB943-3A93-2A47-9AB8-9EDD7F5FF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444" y="1005448"/>
            <a:ext cx="2579001" cy="1388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145C1-7225-0845-8FE6-115BD595B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70" y="3233482"/>
            <a:ext cx="2717260" cy="1838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6BBCBA-4CF4-3F4F-B7AC-498D54151D5F}"/>
              </a:ext>
            </a:extLst>
          </p:cNvPr>
          <p:cNvSpPr txBox="1"/>
          <p:nvPr/>
        </p:nvSpPr>
        <p:spPr>
          <a:xfrm>
            <a:off x="1163508" y="2920866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systemd-nspawn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380D70-9945-C148-9B59-4488E26C2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289" y="1142367"/>
            <a:ext cx="1622178" cy="1320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569CFD-DFAD-7043-80EE-4B74DAB8F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2712" y="2363146"/>
            <a:ext cx="3371575" cy="278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72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67FE-39E2-D44F-A19D-46490D9A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3B9E5-1CF3-6F4A-9DE0-2561B317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754" y="752732"/>
            <a:ext cx="4060044" cy="40600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F6465A-E9FA-6D46-93AD-722049EB5888}"/>
              </a:ext>
            </a:extLst>
          </p:cNvPr>
          <p:cNvSpPr txBox="1"/>
          <p:nvPr/>
        </p:nvSpPr>
        <p:spPr>
          <a:xfrm>
            <a:off x="447472" y="1628592"/>
            <a:ext cx="37678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</a:rPr>
              <a:t>Chroot – </a:t>
            </a:r>
            <a:r>
              <a:rPr lang="ru-RU" sz="1800" dirty="0">
                <a:effectLst/>
                <a:latin typeface="Roboto" panose="02000000000000000000" pitchFamily="2" charset="0"/>
              </a:rPr>
              <a:t>от англ. 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change root </a:t>
            </a:r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смена корневого каталога</a:t>
            </a:r>
          </a:p>
          <a:p>
            <a:r>
              <a:rPr lang="ru-RU" sz="1800" dirty="0">
                <a:effectLst/>
                <a:latin typeface="Roboto" panose="02000000000000000000" pitchFamily="2" charset="0"/>
              </a:rPr>
              <a:t> </a:t>
            </a:r>
            <a:endParaRPr lang="ru-RU" dirty="0"/>
          </a:p>
          <a:p>
            <a:r>
              <a:rPr lang="ru-RU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latin typeface="Roboto" panose="02000000000000000000" pitchFamily="2" charset="0"/>
              </a:rPr>
              <a:t>э</a:t>
            </a:r>
            <a:r>
              <a:rPr lang="ru-RU" sz="1800" dirty="0">
                <a:effectLst/>
                <a:latin typeface="Roboto" panose="02000000000000000000" pitchFamily="2" charset="0"/>
              </a:rPr>
              <a:t>то утилита в </a:t>
            </a:r>
            <a:r>
              <a:rPr lang="en-US" sz="1800" dirty="0">
                <a:effectLst/>
                <a:latin typeface="Roboto" panose="02000000000000000000" pitchFamily="2" charset="0"/>
              </a:rPr>
              <a:t>Unix-</a:t>
            </a:r>
            <a:r>
              <a:rPr lang="ru-RU" sz="1800" dirty="0">
                <a:effectLst/>
                <a:latin typeface="Roboto" panose="02000000000000000000" pitchFamily="2" charset="0"/>
              </a:rPr>
              <a:t>подобн</a:t>
            </a:r>
            <a:r>
              <a:rPr lang="ru-RU" sz="1800" dirty="0">
                <a:latin typeface="Roboto" panose="02000000000000000000" pitchFamily="2" charset="0"/>
              </a:rPr>
              <a:t>ы</a:t>
            </a:r>
            <a:r>
              <a:rPr lang="ru-RU" sz="1800" dirty="0">
                <a:effectLst/>
                <a:latin typeface="Roboto" panose="02000000000000000000" pitchFamily="2" charset="0"/>
              </a:rPr>
              <a:t>х системах, которая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позволяет изменить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корневой каталог процесса на другой каталог в файловой системе.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1073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CE87-CD9F-714D-823C-0FF280E1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systemd-nspawn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123F9-A001-7948-830E-F34C0A435A95}"/>
              </a:ext>
            </a:extLst>
          </p:cNvPr>
          <p:cNvSpPr txBox="1"/>
          <p:nvPr/>
        </p:nvSpPr>
        <p:spPr>
          <a:xfrm>
            <a:off x="500550" y="1718553"/>
            <a:ext cx="423357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Roboto" panose="02000000000000000000" pitchFamily="2" charset="0"/>
              </a:rPr>
              <a:t>systemd-nspawn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endParaRPr lang="en-US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ru-RU" sz="1800" dirty="0">
                <a:effectLst/>
                <a:latin typeface="Roboto" panose="02000000000000000000" pitchFamily="2" charset="0"/>
              </a:rPr>
              <a:t>это утилита виртуализации на уровне операционной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входящая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 состав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инициализации </a:t>
            </a:r>
            <a:r>
              <a:rPr lang="en-US" sz="1800" dirty="0" err="1">
                <a:effectLst/>
                <a:latin typeface="Roboto" panose="02000000000000000000" pitchFamily="2" charset="0"/>
              </a:rPr>
              <a:t>systemd</a:t>
            </a:r>
            <a:r>
              <a:rPr lang="en-US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 </a:t>
            </a:r>
            <a:r>
              <a:rPr lang="en-US" sz="1800" dirty="0">
                <a:effectLst/>
                <a:latin typeface="Roboto" panose="02000000000000000000" pitchFamily="2" charset="0"/>
              </a:rPr>
              <a:t>Linux. </a:t>
            </a:r>
            <a:endParaRPr lang="ru-RU" sz="1800" dirty="0">
              <a:effectLst/>
              <a:latin typeface="Roboto" panose="02000000000000000000" pitchFamily="2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800" b="1" dirty="0" err="1">
                <a:effectLst/>
                <a:latin typeface="Roboto" panose="02000000000000000000" pitchFamily="2" charset="0"/>
              </a:rPr>
              <a:t>systemd-nspawn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похож на команду </a:t>
            </a:r>
            <a:r>
              <a:rPr lang="en-US" sz="1800" i="1" dirty="0">
                <a:effectLst/>
                <a:latin typeface="Roboto" panose="02000000000000000000" pitchFamily="2" charset="0"/>
              </a:rPr>
              <a:t>chroot</a:t>
            </a:r>
            <a:r>
              <a:rPr lang="en-US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но обеспечивает лучшую изоляцию конте</a:t>
            </a:r>
            <a:r>
              <a:rPr lang="ru-RU" sz="1800" dirty="0">
                <a:latin typeface="Roboto" panose="02000000000000000000" pitchFamily="2" charset="0"/>
              </a:rPr>
              <a:t>й</a:t>
            </a:r>
            <a:r>
              <a:rPr lang="ru-RU" sz="1800" dirty="0">
                <a:effectLst/>
                <a:latin typeface="Roboto" panose="02000000000000000000" pitchFamily="2" charset="0"/>
              </a:rPr>
              <a:t>нера от хост системы</a:t>
            </a:r>
            <a:endParaRPr lang="ru-RU" dirty="0">
              <a:effectLst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1A320-59CD-714C-A35F-3D4591921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811" y="1579780"/>
            <a:ext cx="4383339" cy="296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51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876-B228-1444-88EA-92473422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LXC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9B5F2-C8F4-1B46-9152-0C7766404A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49" t="10152" r="42616" b="8146"/>
          <a:stretch/>
        </p:blipFill>
        <p:spPr>
          <a:xfrm>
            <a:off x="1442795" y="421532"/>
            <a:ext cx="541647" cy="472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98FA65-DC8E-874F-AEBC-8D7BA15108EC}"/>
              </a:ext>
            </a:extLst>
          </p:cNvPr>
          <p:cNvSpPr txBox="1"/>
          <p:nvPr/>
        </p:nvSpPr>
        <p:spPr>
          <a:xfrm>
            <a:off x="551234" y="1586865"/>
            <a:ext cx="359923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Roboto" panose="02000000000000000000" pitchFamily="2" charset="0"/>
              </a:rPr>
              <a:t>от англ. 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Linux Containers</a:t>
            </a:r>
            <a:r>
              <a:rPr lang="en-US" sz="1800" dirty="0">
                <a:effectLst/>
                <a:latin typeface="Roboto" panose="02000000000000000000" pitchFamily="2" charset="0"/>
              </a:rPr>
              <a:t> – </a:t>
            </a:r>
            <a:endParaRPr lang="ru-RU" sz="1800" dirty="0">
              <a:effectLst/>
              <a:latin typeface="Roboto" panose="02000000000000000000" pitchFamily="2" charset="0"/>
            </a:endParaRPr>
          </a:p>
          <a:p>
            <a:endParaRPr lang="en-US" dirty="0"/>
          </a:p>
          <a:p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технология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виртуализации на уровне операционной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для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изоляции процессов и ресурсов между различными приложениями и сервисами. 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59D054-5175-BE44-9E35-2D073D8621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837" t="7727" r="4114" b="2513"/>
          <a:stretch/>
        </p:blipFill>
        <p:spPr>
          <a:xfrm>
            <a:off x="4831404" y="421531"/>
            <a:ext cx="3936460" cy="456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01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126C46-A300-6143-BEA7-4184EAB8E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3" y="0"/>
            <a:ext cx="4715078" cy="1315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BB5BB4-3C47-3B4C-996D-763398AF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752" y="994755"/>
            <a:ext cx="4961091" cy="3895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050502-BC52-BD48-87D8-58E9BC55FBA1}"/>
              </a:ext>
            </a:extLst>
          </p:cNvPr>
          <p:cNvSpPr txBox="1"/>
          <p:nvPr/>
        </p:nvSpPr>
        <p:spPr>
          <a:xfrm>
            <a:off x="557719" y="1979518"/>
            <a:ext cx="2678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Roboto" panose="02000000000000000000" pitchFamily="2" charset="0"/>
              </a:rPr>
              <a:t>podman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endParaRPr lang="ru-RU" sz="1800" b="1" dirty="0">
              <a:effectLst/>
              <a:latin typeface="Roboto" panose="02000000000000000000" pitchFamily="2" charset="0"/>
            </a:endParaRPr>
          </a:p>
          <a:p>
            <a:endParaRPr lang="en-US" dirty="0"/>
          </a:p>
          <a:p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это утилита для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управления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контейнерами </a:t>
            </a:r>
            <a:br>
              <a:rPr lang="en-US" sz="1800" dirty="0">
                <a:effectLst/>
                <a:latin typeface="Roboto" panose="02000000000000000000" pitchFamily="2" charset="0"/>
              </a:rPr>
            </a:br>
            <a:r>
              <a:rPr lang="ru-RU" sz="1800" b="1" i="1" dirty="0">
                <a:effectLst/>
                <a:latin typeface="Roboto" panose="02000000000000000000" pitchFamily="2" charset="0"/>
              </a:rPr>
              <a:t>на базе </a:t>
            </a:r>
            <a:r>
              <a:rPr lang="en-US" sz="1800" b="1" i="1" dirty="0">
                <a:effectLst/>
                <a:latin typeface="Roboto" panose="02000000000000000000" pitchFamily="2" charset="0"/>
              </a:rPr>
              <a:t>Linux</a:t>
            </a:r>
            <a:r>
              <a:rPr lang="en-US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которая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является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альтернативой </a:t>
            </a:r>
            <a:r>
              <a:rPr lang="en-US" sz="1800" dirty="0">
                <a:effectLst/>
                <a:latin typeface="Roboto" panose="02000000000000000000" pitchFamily="2" charset="0"/>
              </a:rPr>
              <a:t>Docker.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709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A2B05-3E77-624B-83E1-87ED35DFC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6" y="128323"/>
            <a:ext cx="3391711" cy="805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D6A556-7999-684B-B20C-8C0103FF5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06" y="1120437"/>
            <a:ext cx="3454400" cy="3175000"/>
          </a:xfrm>
          <a:prstGeom prst="rect">
            <a:avLst/>
          </a:prstGeom>
        </p:spPr>
      </p:pic>
      <p:pic>
        <p:nvPicPr>
          <p:cNvPr id="6" name="Google Shape;245;p40">
            <a:extLst>
              <a:ext uri="{FF2B5EF4-FFF2-40B4-BE49-F238E27FC236}">
                <a16:creationId xmlns:a16="http://schemas.microsoft.com/office/drawing/2014/main" id="{778E4B63-E93A-5B4E-AA45-CDB1E2F8B2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2136" y="1738008"/>
            <a:ext cx="5025958" cy="244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743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BB36FD-8933-EA4F-8648-6AF881E90D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57"/>
          <a:stretch/>
        </p:blipFill>
        <p:spPr>
          <a:xfrm>
            <a:off x="0" y="0"/>
            <a:ext cx="9170490" cy="5143500"/>
          </a:xfrm>
          <a:prstGeom prst="rect">
            <a:avLst/>
          </a:prstGeom>
        </p:spPr>
      </p:pic>
      <p:sp>
        <p:nvSpPr>
          <p:cNvPr id="4" name="Google Shape;209;p38">
            <a:extLst>
              <a:ext uri="{FF2B5EF4-FFF2-40B4-BE49-F238E27FC236}">
                <a16:creationId xmlns:a16="http://schemas.microsoft.com/office/drawing/2014/main" id="{031FF106-1400-6740-80DE-B4549C27D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Deployment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18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</a:t>
            </a:r>
            <a:endParaRPr/>
          </a:p>
        </p:txBody>
      </p:sp>
      <p:sp>
        <p:nvSpPr>
          <p:cNvPr id="233" name="Google Shape;233;p38"/>
          <p:cNvSpPr txBox="1"/>
          <p:nvPr/>
        </p:nvSpPr>
        <p:spPr>
          <a:xfrm>
            <a:off x="500550" y="1426624"/>
            <a:ext cx="6997530" cy="3288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40132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Абстракция от </a:t>
            </a:r>
            <a:r>
              <a:rPr lang="ru-RU" sz="22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host</a:t>
            </a: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-системы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Легковесные изолированные окружения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Общие слои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образов и</a:t>
            </a: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файловой системы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Компоновка и предсказуемость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Простое управления зависимостями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Дистрибуцию и тиражируемость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Стандартизация описания окружения, сборки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DDA54-EBBA-8348-B165-AF9DA099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616" y="339913"/>
            <a:ext cx="1892834" cy="15642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6BB8-A721-B14F-A3A6-CBAF857E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Unionfs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CEF88-892F-784A-B9A1-77B3AAE0E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9" y="1900777"/>
            <a:ext cx="5918200" cy="1816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FA5CB7-32DF-5C41-BFAF-FB634386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25" y="1900777"/>
            <a:ext cx="2421466" cy="18161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61A723CE-A302-844F-82AA-3BB56E917E76}"/>
              </a:ext>
            </a:extLst>
          </p:cNvPr>
          <p:cNvSpPr/>
          <p:nvPr/>
        </p:nvSpPr>
        <p:spPr>
          <a:xfrm>
            <a:off x="6105909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AFA577-CE75-914F-830F-632001A079B9}"/>
              </a:ext>
            </a:extLst>
          </p:cNvPr>
          <p:cNvSpPr/>
          <p:nvPr/>
        </p:nvSpPr>
        <p:spPr>
          <a:xfrm>
            <a:off x="3780817" y="2571750"/>
            <a:ext cx="473413" cy="337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118B2-05DE-6444-A3C5-E868C072F600}"/>
              </a:ext>
            </a:extLst>
          </p:cNvPr>
          <p:cNvSpPr/>
          <p:nvPr/>
        </p:nvSpPr>
        <p:spPr>
          <a:xfrm>
            <a:off x="1698916" y="2565449"/>
            <a:ext cx="473413" cy="337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EAD1A59-18D4-D64E-8E2F-E38ED99ED8D1}"/>
              </a:ext>
            </a:extLst>
          </p:cNvPr>
          <p:cNvSpPr/>
          <p:nvPr/>
        </p:nvSpPr>
        <p:spPr>
          <a:xfrm>
            <a:off x="3933666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16F702A-752A-2A40-99E2-924CA6631C85}"/>
              </a:ext>
            </a:extLst>
          </p:cNvPr>
          <p:cNvSpPr/>
          <p:nvPr/>
        </p:nvSpPr>
        <p:spPr>
          <a:xfrm>
            <a:off x="1827221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5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</a:t>
            </a:r>
            <a:r>
              <a:rPr lang="en-US" sz="3200" dirty="0"/>
              <a:t>image -&gt; Docker container</a:t>
            </a:r>
            <a:endParaRPr dirty="0"/>
          </a:p>
        </p:txBody>
      </p:sp>
      <p:pic>
        <p:nvPicPr>
          <p:cNvPr id="269" name="Google Shape;26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601" y="1135380"/>
            <a:ext cx="6944797" cy="3601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 unionfs</a:t>
            </a:r>
            <a:endParaRPr/>
          </a:p>
        </p:txBody>
      </p:sp>
      <p:pic>
        <p:nvPicPr>
          <p:cNvPr id="275" name="Google Shape;27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252" y="1063464"/>
            <a:ext cx="7583496" cy="360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</a:t>
            </a:r>
            <a:r>
              <a:rPr lang="ru-RU" sz="3200" dirty="0" err="1"/>
              <a:t>unionfs</a:t>
            </a:r>
            <a:r>
              <a:rPr lang="ru-RU" sz="3200" dirty="0"/>
              <a:t> - пример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F82EEB-78D6-9A44-AB4C-531FF258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945856"/>
            <a:ext cx="4147942" cy="4035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F13DD4-8BB6-AC4C-959B-5334AD2F0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307" y="945856"/>
            <a:ext cx="3684081" cy="674043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9ACCFC8-205B-174F-BE97-4BF99330F254}"/>
              </a:ext>
            </a:extLst>
          </p:cNvPr>
          <p:cNvSpPr/>
          <p:nvPr/>
        </p:nvSpPr>
        <p:spPr>
          <a:xfrm>
            <a:off x="4648492" y="1159457"/>
            <a:ext cx="649840" cy="460442"/>
          </a:xfrm>
          <a:custGeom>
            <a:avLst/>
            <a:gdLst>
              <a:gd name="connsiteX0" fmla="*/ 0 w 642026"/>
              <a:gd name="connsiteY0" fmla="*/ 460442 h 460442"/>
              <a:gd name="connsiteX1" fmla="*/ 6486 w 642026"/>
              <a:gd name="connsiteY1" fmla="*/ 0 h 460442"/>
              <a:gd name="connsiteX2" fmla="*/ 642026 w 642026"/>
              <a:gd name="connsiteY2" fmla="*/ 6485 h 460442"/>
              <a:gd name="connsiteX3" fmla="*/ 642026 w 642026"/>
              <a:gd name="connsiteY3" fmla="*/ 201038 h 460442"/>
              <a:gd name="connsiteX4" fmla="*/ 0 w 642026"/>
              <a:gd name="connsiteY4" fmla="*/ 460442 h 46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2026" h="460442">
                <a:moveTo>
                  <a:pt x="0" y="460442"/>
                </a:moveTo>
                <a:lnTo>
                  <a:pt x="6486" y="0"/>
                </a:lnTo>
                <a:lnTo>
                  <a:pt x="642026" y="6485"/>
                </a:lnTo>
                <a:lnTo>
                  <a:pt x="642026" y="201038"/>
                </a:lnTo>
                <a:lnTo>
                  <a:pt x="0" y="46044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C5AD5CB-11F1-AE42-BB72-C2C53A0A4757}"/>
              </a:ext>
            </a:extLst>
          </p:cNvPr>
          <p:cNvSpPr/>
          <p:nvPr/>
        </p:nvSpPr>
        <p:spPr>
          <a:xfrm>
            <a:off x="4647828" y="1371600"/>
            <a:ext cx="649840" cy="3584575"/>
          </a:xfrm>
          <a:custGeom>
            <a:avLst/>
            <a:gdLst>
              <a:gd name="connsiteX0" fmla="*/ 0 w 648511"/>
              <a:gd name="connsiteY0" fmla="*/ 259405 h 3579779"/>
              <a:gd name="connsiteX1" fmla="*/ 648511 w 648511"/>
              <a:gd name="connsiteY1" fmla="*/ 0 h 3579779"/>
              <a:gd name="connsiteX2" fmla="*/ 648511 w 648511"/>
              <a:gd name="connsiteY2" fmla="*/ 201039 h 3579779"/>
              <a:gd name="connsiteX3" fmla="*/ 0 w 648511"/>
              <a:gd name="connsiteY3" fmla="*/ 3579779 h 3579779"/>
              <a:gd name="connsiteX4" fmla="*/ 0 w 648511"/>
              <a:gd name="connsiteY4" fmla="*/ 259405 h 357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511" h="3579779">
                <a:moveTo>
                  <a:pt x="0" y="259405"/>
                </a:moveTo>
                <a:lnTo>
                  <a:pt x="648511" y="0"/>
                </a:lnTo>
                <a:lnTo>
                  <a:pt x="648511" y="201039"/>
                </a:lnTo>
                <a:lnTo>
                  <a:pt x="0" y="3579779"/>
                </a:lnTo>
                <a:lnTo>
                  <a:pt x="0" y="259405"/>
                </a:lnTo>
                <a:close/>
              </a:path>
            </a:pathLst>
          </a:custGeom>
          <a:solidFill>
            <a:srgbClr val="E5F3FD"/>
          </a:solidFill>
          <a:ln w="6350">
            <a:solidFill>
              <a:srgbClr val="0B88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E1384FDB-DE68-0644-B3B1-BAF7AC4620C2}"/>
              </a:ext>
            </a:extLst>
          </p:cNvPr>
          <p:cNvSpPr/>
          <p:nvPr/>
        </p:nvSpPr>
        <p:spPr>
          <a:xfrm>
            <a:off x="505048" y="1630265"/>
            <a:ext cx="4143443" cy="3351106"/>
          </a:xfrm>
          <a:custGeom>
            <a:avLst/>
            <a:gdLst>
              <a:gd name="connsiteX0" fmla="*/ 4146697 w 4152013"/>
              <a:gd name="connsiteY0" fmla="*/ 0 h 3354572"/>
              <a:gd name="connsiteX1" fmla="*/ 5316 w 4152013"/>
              <a:gd name="connsiteY1" fmla="*/ 21265 h 3354572"/>
              <a:gd name="connsiteX2" fmla="*/ 0 w 4152013"/>
              <a:gd name="connsiteY2" fmla="*/ 3354572 h 3354572"/>
              <a:gd name="connsiteX3" fmla="*/ 4152013 w 4152013"/>
              <a:gd name="connsiteY3" fmla="*/ 3338623 h 3354572"/>
              <a:gd name="connsiteX4" fmla="*/ 4146697 w 4152013"/>
              <a:gd name="connsiteY4" fmla="*/ 0 h 3354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013" h="3354572">
                <a:moveTo>
                  <a:pt x="4146697" y="0"/>
                </a:moveTo>
                <a:lnTo>
                  <a:pt x="5316" y="21265"/>
                </a:lnTo>
                <a:lnTo>
                  <a:pt x="0" y="3354572"/>
                </a:lnTo>
                <a:lnTo>
                  <a:pt x="4152013" y="3338623"/>
                </a:lnTo>
                <a:lnTo>
                  <a:pt x="4146697" y="0"/>
                </a:lnTo>
                <a:close/>
              </a:path>
            </a:pathLst>
          </a:custGeom>
          <a:noFill/>
          <a:ln w="6350">
            <a:solidFill>
              <a:srgbClr val="0B88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32A5-3672-274A-A362-A9D55920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data volumes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FB817-282D-8B4A-84AA-8395CF33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373" y="330724"/>
            <a:ext cx="2275077" cy="1419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D181DA-8D45-8A46-A1A9-CB9E65C8BF67}"/>
              </a:ext>
            </a:extLst>
          </p:cNvPr>
          <p:cNvSpPr txBox="1"/>
          <p:nvPr/>
        </p:nvSpPr>
        <p:spPr>
          <a:xfrm>
            <a:off x="500549" y="1176211"/>
            <a:ext cx="5356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Roboto" panose="02000000000000000000" pitchFamily="2" charset="0"/>
              </a:rPr>
              <a:t>Позволяют отделить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жизненный цикл данных, которые он в себе хранит, от жизни самого контейнера, который эти данные создал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88931-1B66-8B4F-B3CB-224CA43C6855}"/>
              </a:ext>
            </a:extLst>
          </p:cNvPr>
          <p:cNvSpPr txBox="1"/>
          <p:nvPr/>
        </p:nvSpPr>
        <p:spPr>
          <a:xfrm>
            <a:off x="500549" y="1999730"/>
            <a:ext cx="81916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Типы </a:t>
            </a:r>
            <a:r>
              <a:rPr lang="en-US" b="1" dirty="0"/>
              <a:t>volumes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Volumes - </a:t>
            </a:r>
            <a:r>
              <a:rPr lang="ru-RU" dirty="0"/>
              <a:t>тома управляемые </a:t>
            </a:r>
            <a:r>
              <a:rPr lang="en-US" dirty="0"/>
              <a:t>Docker'</a:t>
            </a:r>
            <a:r>
              <a:rPr lang="ru-RU" dirty="0"/>
              <a:t>ом. Другие процессы</a:t>
            </a:r>
            <a:r>
              <a:rPr lang="en-US" dirty="0"/>
              <a:t> </a:t>
            </a:r>
            <a:r>
              <a:rPr lang="ru-RU" dirty="0"/>
              <a:t>не должны</a:t>
            </a:r>
            <a:r>
              <a:rPr lang="en-US" dirty="0"/>
              <a:t> </a:t>
            </a:r>
            <a:r>
              <a:rPr lang="ru-RU" dirty="0"/>
              <a:t>иметь</a:t>
            </a:r>
            <a:r>
              <a:rPr lang="en-US" dirty="0"/>
              <a:t> </a:t>
            </a:r>
            <a:r>
              <a:rPr lang="ru-RU" dirty="0"/>
              <a:t>к ним доступ;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Bind mount - </a:t>
            </a:r>
            <a:r>
              <a:rPr lang="ru-RU" dirty="0"/>
              <a:t>директории в файловой системе. Любой процесс может получить</a:t>
            </a:r>
            <a:r>
              <a:rPr lang="en-US" dirty="0"/>
              <a:t> </a:t>
            </a:r>
            <a:r>
              <a:rPr lang="ru-RU" dirty="0"/>
              <a:t>к ним доступ;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tmpfs</a:t>
            </a:r>
            <a:r>
              <a:rPr lang="en-US" dirty="0"/>
              <a:t> - </a:t>
            </a:r>
            <a:r>
              <a:rPr lang="ru-RU" dirty="0"/>
              <a:t>тома расположенные в памяти хоста. Никогда не записываются</a:t>
            </a:r>
            <a:r>
              <a:rPr lang="en-US" dirty="0"/>
              <a:t> </a:t>
            </a:r>
            <a:r>
              <a:rPr lang="ru-RU" dirty="0"/>
              <a:t>на диск.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F4648-9C56-304A-A5FD-6170525B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019" y="3096282"/>
            <a:ext cx="4614747" cy="19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53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32A5-3672-274A-A362-A9D55920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data volumes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85262C-0B41-CD4F-8657-4C7268B35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6" y="1426624"/>
            <a:ext cx="6757481" cy="33899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BFB817-282D-8B4A-84AA-8395CF332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373" y="330724"/>
            <a:ext cx="2275077" cy="141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11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 сеть Bridge network</a:t>
            </a:r>
            <a:endParaRPr/>
          </a:p>
        </p:txBody>
      </p:sp>
      <p:sp>
        <p:nvSpPr>
          <p:cNvPr id="328" name="Google Shape;328;p53"/>
          <p:cNvSpPr txBox="1"/>
          <p:nvPr/>
        </p:nvSpPr>
        <p:spPr>
          <a:xfrm>
            <a:off x="311700" y="1445980"/>
            <a:ext cx="8142900" cy="13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508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нужно отделить контейнер или группу контейнеров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5080" lvl="0" indent="-285750" algn="l" rtl="0">
              <a:lnSpc>
                <a:spcPct val="100699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Контейнер может быть подключен к нескольким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Bridge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сетям (без рестарта)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2011045" lvl="0" indent="-285750" algn="l" rtl="0">
              <a:lnSpc>
                <a:spcPct val="1006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Работает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Discovery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2011045" lvl="0" indent="-285750" algn="l" rtl="0">
              <a:lnSpc>
                <a:spcPct val="1006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Произвольные диапазоны IP-адресов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Google Shape;334;p54">
            <a:extLst>
              <a:ext uri="{FF2B5EF4-FFF2-40B4-BE49-F238E27FC236}">
                <a16:creationId xmlns:a16="http://schemas.microsoft.com/office/drawing/2014/main" id="{F4932ED1-CB98-1B4B-92B9-CE75D16FFA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7540" y="2360580"/>
            <a:ext cx="3624760" cy="23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3">
            <a:extLst>
              <a:ext uri="{FF2B5EF4-FFF2-40B4-BE49-F238E27FC236}">
                <a16:creationId xmlns:a16="http://schemas.microsoft.com/office/drawing/2014/main" id="{0D431A44-647C-1C4D-95C3-7F852AC72F14}"/>
              </a:ext>
            </a:extLst>
          </p:cNvPr>
          <p:cNvSpPr txBox="1">
            <a:spLocks/>
          </p:cNvSpPr>
          <p:nvPr/>
        </p:nvSpPr>
        <p:spPr>
          <a:xfrm>
            <a:off x="500550" y="2866417"/>
            <a:ext cx="4706989" cy="1731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create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attach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my_container_name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inspect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A39B-462B-8A4F-B353-676585F8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port mapping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92002-1F03-3A41-B2A3-B7F092B6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974273"/>
            <a:ext cx="4564008" cy="2574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13F86-4620-B94F-AB61-7A07765691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6" r="10188"/>
          <a:stretch/>
        </p:blipFill>
        <p:spPr>
          <a:xfrm>
            <a:off x="5395975" y="1426624"/>
            <a:ext cx="3625175" cy="3266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B85C4-C561-5548-A2AA-3A6A9DAE968B}"/>
              </a:ext>
            </a:extLst>
          </p:cNvPr>
          <p:cNvSpPr txBox="1"/>
          <p:nvPr/>
        </p:nvSpPr>
        <p:spPr>
          <a:xfrm>
            <a:off x="966281" y="1392671"/>
            <a:ext cx="3116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run –p 8080:80 –p 6603:3306</a:t>
            </a:r>
          </a:p>
        </p:txBody>
      </p:sp>
    </p:spTree>
    <p:extLst>
      <p:ext uri="{BB962C8B-B14F-4D97-AF65-F5344CB8AC3E}">
        <p14:creationId xmlns:p14="http://schemas.microsoft.com/office/powerpoint/2010/main" val="3983657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en-US" sz="3200" dirty="0"/>
              <a:t> hub</a:t>
            </a:r>
            <a:endParaRPr dirty="0"/>
          </a:p>
        </p:txBody>
      </p:sp>
      <p:sp>
        <p:nvSpPr>
          <p:cNvPr id="321" name="Google Shape;321;p52"/>
          <p:cNvSpPr txBox="1"/>
          <p:nvPr/>
        </p:nvSpPr>
        <p:spPr>
          <a:xfrm>
            <a:off x="500550" y="1426624"/>
            <a:ext cx="595884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Так называемый приватный “репозиторий” для хранения image.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 hub, Private registry, Docker Store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2" name="Google Shape;322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968" y="3167815"/>
            <a:ext cx="8839182" cy="135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основные команды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75217-2AAF-7D44-A361-6CFC26D37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7467"/>
            <a:ext cx="9144000" cy="333159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999717-70E2-B247-9C42-40A592F0D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44" y="52025"/>
            <a:ext cx="3488987" cy="1674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92F185-373E-8449-932A-CF8FE6F29825}"/>
              </a:ext>
            </a:extLst>
          </p:cNvPr>
          <p:cNvSpPr txBox="1"/>
          <p:nvPr/>
        </p:nvSpPr>
        <p:spPr>
          <a:xfrm>
            <a:off x="293742" y="1896680"/>
            <a:ext cx="855651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/>
              <a:t>Необходимо управлять </a:t>
            </a:r>
            <a:r>
              <a:rPr lang="ru-RU" sz="1600" dirty="0" err="1"/>
              <a:t>микросервисами</a:t>
            </a:r>
            <a:r>
              <a:rPr lang="ru-RU" sz="1600" dirty="0"/>
              <a:t> в контейнерах и взаимодействиями между ними: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Декларативное описание </a:t>
            </a:r>
            <a:r>
              <a:rPr lang="en-US" sz="1600" dirty="0"/>
              <a:t>Docker </a:t>
            </a:r>
            <a:r>
              <a:rPr lang="ru-RU" sz="1600" dirty="0"/>
              <a:t>инфраструктуры</a:t>
            </a:r>
            <a:r>
              <a:rPr lang="en-US" sz="1600" dirty="0"/>
              <a:t> </a:t>
            </a:r>
            <a:r>
              <a:rPr lang="ru-RU" sz="1600" dirty="0"/>
              <a:t>в </a:t>
            </a:r>
            <a:r>
              <a:rPr lang="en-US" sz="1600" dirty="0"/>
              <a:t>YAML-</a:t>
            </a:r>
            <a:r>
              <a:rPr lang="ru-RU" sz="1600" dirty="0"/>
              <a:t>формате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Dockerfile</a:t>
            </a:r>
            <a:r>
              <a:rPr lang="en-US" sz="1600" dirty="0"/>
              <a:t> – </a:t>
            </a:r>
            <a:r>
              <a:rPr lang="ru-RU" sz="1600" dirty="0"/>
              <a:t>конфигурация</a:t>
            </a:r>
            <a:r>
              <a:rPr lang="en-US" sz="1600" dirty="0"/>
              <a:t> </a:t>
            </a:r>
            <a:r>
              <a:rPr lang="ru-RU" sz="1600" dirty="0"/>
              <a:t>сборки окружения</a:t>
            </a:r>
            <a:r>
              <a:rPr lang="en-US" sz="1600" dirty="0"/>
              <a:t> </a:t>
            </a:r>
            <a:r>
              <a:rPr lang="ru-RU" sz="1600" dirty="0"/>
              <a:t>и приложений в нем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docker-</a:t>
            </a:r>
            <a:r>
              <a:rPr lang="en-US" sz="1600" dirty="0" err="1"/>
              <a:t>compose.yml</a:t>
            </a:r>
            <a:r>
              <a:rPr lang="en-US" sz="1600" dirty="0"/>
              <a:t> - </a:t>
            </a:r>
            <a:r>
              <a:rPr lang="ru-RU" sz="1600" dirty="0"/>
              <a:t>конфигурация</a:t>
            </a:r>
            <a:r>
              <a:rPr lang="en-US" sz="1600" dirty="0"/>
              <a:t> </a:t>
            </a:r>
            <a:r>
              <a:rPr lang="ru-RU" sz="1600" dirty="0"/>
              <a:t>проекта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Один </a:t>
            </a:r>
            <a:r>
              <a:rPr lang="en-US" sz="1600" dirty="0"/>
              <a:t>docker-</a:t>
            </a:r>
            <a:r>
              <a:rPr lang="en-US" sz="1600" dirty="0" err="1"/>
              <a:t>compose.yml</a:t>
            </a:r>
            <a:r>
              <a:rPr lang="en-US" sz="1600" dirty="0"/>
              <a:t> </a:t>
            </a:r>
            <a:r>
              <a:rPr lang="ru-RU" sz="1600" dirty="0"/>
              <a:t>на все окружения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737C2-26E2-DA46-9264-40304D4AC36C}"/>
              </a:ext>
            </a:extLst>
          </p:cNvPr>
          <p:cNvSpPr txBox="1"/>
          <p:nvPr/>
        </p:nvSpPr>
        <p:spPr>
          <a:xfrm>
            <a:off x="3774331" y="651187"/>
            <a:ext cx="3926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/>
              <a:t>Управление </a:t>
            </a:r>
            <a:r>
              <a:rPr lang="ru-RU" sz="1800" dirty="0" err="1"/>
              <a:t>многоконтейнерными</a:t>
            </a:r>
            <a:r>
              <a:rPr lang="ru-RU" sz="1800" dirty="0"/>
              <a:t> </a:t>
            </a:r>
          </a:p>
          <a:p>
            <a:r>
              <a:rPr lang="ru-RU" sz="1800" dirty="0"/>
              <a:t>приложениями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7CFC9E-CC75-E94C-A321-6E8E04B17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865550"/>
            <a:ext cx="4723590" cy="101545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Сборка образа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1763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ED4208-3E5D-FA45-8214-CE261787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A400F-297B-424F-A8D9-6882E5C55D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376" b="13119"/>
          <a:stretch/>
        </p:blipFill>
        <p:spPr>
          <a:xfrm>
            <a:off x="3702996" y="155643"/>
            <a:ext cx="5146736" cy="1193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387B8D-A71B-1B4E-8C7B-B50EB6D15712}"/>
              </a:ext>
            </a:extLst>
          </p:cNvPr>
          <p:cNvSpPr txBox="1"/>
          <p:nvPr/>
        </p:nvSpPr>
        <p:spPr>
          <a:xfrm>
            <a:off x="300048" y="1601705"/>
            <a:ext cx="412928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Текстов</a:t>
            </a:r>
            <a:r>
              <a:rPr lang="ru-RU" sz="2000" dirty="0">
                <a:latin typeface="Roboto" panose="02000000000000000000" pitchFamily="2" charset="0"/>
              </a:rPr>
              <a:t>ый</a:t>
            </a:r>
            <a:r>
              <a:rPr lang="ru-RU" sz="2000" dirty="0">
                <a:effectLst/>
                <a:latin typeface="Roboto" panose="02000000000000000000" pitchFamily="2" charset="0"/>
              </a:rPr>
              <a:t> файл с </a:t>
            </a:r>
            <a:r>
              <a:rPr lang="en-US" sz="2000" dirty="0">
                <a:effectLst/>
                <a:latin typeface="Roboto" panose="02000000000000000000" pitchFamily="2" charset="0"/>
              </a:rPr>
              <a:t>build </a:t>
            </a:r>
            <a:r>
              <a:rPr lang="ru-RU" sz="2000" dirty="0">
                <a:effectLst/>
                <a:latin typeface="Roboto" panose="02000000000000000000" pitchFamily="2" charset="0"/>
              </a:rPr>
              <a:t>инструкциями </a:t>
            </a:r>
            <a:endParaRPr lang="ru-RU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Инструкции декларативно описывают </a:t>
            </a:r>
            <a:r>
              <a:rPr lang="en-US" sz="2000" dirty="0">
                <a:effectLst/>
                <a:latin typeface="Roboto" panose="02000000000000000000" pitchFamily="2" charset="0"/>
              </a:rPr>
              <a:t>image </a:t>
            </a:r>
            <a:endParaRPr lang="en-US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каждая</a:t>
            </a:r>
            <a:r>
              <a:rPr lang="en-TR" sz="2000" dirty="0">
                <a:effectLst/>
                <a:latin typeface="Roboto" panose="02000000000000000000" pitchFamily="2" charset="0"/>
              </a:rPr>
              <a:t> </a:t>
            </a:r>
            <a:r>
              <a:rPr lang="ru-RU" sz="2000" dirty="0">
                <a:effectLst/>
                <a:latin typeface="Roboto" panose="02000000000000000000" pitchFamily="2" charset="0"/>
              </a:rPr>
              <a:t>инструкция</a:t>
            </a:r>
            <a:r>
              <a:rPr lang="en-TR" sz="2000" dirty="0">
                <a:effectLst/>
                <a:latin typeface="Roboto" panose="02000000000000000000" pitchFamily="2" charset="0"/>
              </a:rPr>
              <a:t> – </a:t>
            </a:r>
            <a:r>
              <a:rPr lang="ru-RU" sz="2000" dirty="0">
                <a:effectLst/>
                <a:latin typeface="Roboto" panose="02000000000000000000" pitchFamily="2" charset="0"/>
              </a:rPr>
              <a:t>промежуточный </a:t>
            </a:r>
            <a:r>
              <a:rPr lang="en-US" sz="2000" dirty="0">
                <a:effectLst/>
                <a:latin typeface="Roboto" panose="02000000000000000000" pitchFamily="2" charset="0"/>
              </a:rPr>
              <a:t>image </a:t>
            </a:r>
            <a:endParaRPr lang="en-US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сам </a:t>
            </a:r>
            <a:r>
              <a:rPr lang="en-US" sz="2000" dirty="0">
                <a:effectLst/>
                <a:latin typeface="Roboto" panose="02000000000000000000" pitchFamily="2" charset="0"/>
              </a:rPr>
              <a:t>build </a:t>
            </a:r>
            <a:r>
              <a:rPr lang="ru-RU" sz="2000" dirty="0">
                <a:effectLst/>
                <a:latin typeface="Roboto" panose="02000000000000000000" pitchFamily="2" charset="0"/>
              </a:rPr>
              <a:t>делает </a:t>
            </a:r>
            <a:r>
              <a:rPr lang="en-US" sz="2000" dirty="0">
                <a:effectLst/>
                <a:latin typeface="Roboto" panose="02000000000000000000" pitchFamily="2" charset="0"/>
              </a:rPr>
              <a:t>docker daemon </a:t>
            </a:r>
            <a:endParaRPr lang="en-US" sz="1600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973DC0-B57F-B149-A772-964F73588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28" y="2010383"/>
            <a:ext cx="4392933" cy="25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76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77800" y="1566607"/>
            <a:ext cx="7988400" cy="731152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Пишем </a:t>
            </a:r>
            <a:r>
              <a:rPr lang="en-US" dirty="0" err="1"/>
              <a:t>dockerfile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647700" y="1614402"/>
            <a:ext cx="8226300" cy="616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solidFill>
                  <a:srgbClr val="0645AD"/>
                </a:solidFill>
              </a:rPr>
              <a:t>#!/bin/bash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solidFill>
                  <a:srgbClr val="019836"/>
                </a:solidFill>
              </a:rPr>
              <a:t>echo</a:t>
            </a:r>
            <a:r>
              <a:rPr lang="en-US" dirty="0"/>
              <a:t> </a:t>
            </a:r>
            <a:r>
              <a:rPr lang="en-US" dirty="0">
                <a:solidFill>
                  <a:srgbClr val="A61C00"/>
                </a:solidFill>
              </a:rPr>
              <a:t>“Hello</a:t>
            </a:r>
            <a:r>
              <a:rPr lang="ru-RU" dirty="0">
                <a:solidFill>
                  <a:srgbClr val="A61C00"/>
                </a:solidFill>
              </a:rPr>
              <a:t> </a:t>
            </a:r>
            <a:r>
              <a:rPr lang="en-US" dirty="0">
                <a:solidFill>
                  <a:srgbClr val="A61C00"/>
                </a:solidFill>
              </a:rPr>
              <a:t>declarative world!”</a:t>
            </a:r>
            <a:endParaRPr dirty="0">
              <a:solidFill>
                <a:srgbClr val="A61C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9E14D-4EA6-044D-A5C4-17433E4C1CD5}"/>
              </a:ext>
            </a:extLst>
          </p:cNvPr>
          <p:cNvSpPr txBox="1"/>
          <p:nvPr/>
        </p:nvSpPr>
        <p:spPr>
          <a:xfrm>
            <a:off x="577800" y="1201858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script.sh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9983B-FCB5-BA4A-8FB1-89F1080E6F59}"/>
              </a:ext>
            </a:extLst>
          </p:cNvPr>
          <p:cNvSpPr txBox="1"/>
          <p:nvPr/>
        </p:nvSpPr>
        <p:spPr>
          <a:xfrm>
            <a:off x="577799" y="2380769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7" name="Google Shape;45;p11">
            <a:extLst>
              <a:ext uri="{FF2B5EF4-FFF2-40B4-BE49-F238E27FC236}">
                <a16:creationId xmlns:a16="http://schemas.microsoft.com/office/drawing/2014/main" id="{3D7BE9E8-92A4-9A4B-BD3C-CD76BF3BA189}"/>
              </a:ext>
            </a:extLst>
          </p:cNvPr>
          <p:cNvSpPr/>
          <p:nvPr/>
        </p:nvSpPr>
        <p:spPr>
          <a:xfrm>
            <a:off x="577800" y="2772192"/>
            <a:ext cx="7988400" cy="1169449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19C69A4A-F725-1E4C-93AC-2980B5E96433}"/>
              </a:ext>
            </a:extLst>
          </p:cNvPr>
          <p:cNvSpPr txBox="1">
            <a:spLocks/>
          </p:cNvSpPr>
          <p:nvPr/>
        </p:nvSpPr>
        <p:spPr>
          <a:xfrm>
            <a:off x="647700" y="2819988"/>
            <a:ext cx="7633781" cy="1169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  <a:defRPr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FROM ubuntu:16.04</a:t>
            </a:r>
          </a:p>
          <a:p>
            <a:pPr marL="0" indent="0">
              <a:buSzPct val="1000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LABEL maintainer="nikita@express42.com" LABEL version="1.0"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LABEL description="Simple docker image \ with your script"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COPY ./</a:t>
            </a:r>
            <a:r>
              <a:rPr lang="en-US" dirty="0" err="1">
                <a:solidFill>
                  <a:schemeClr val="tx1"/>
                </a:solidFill>
              </a:rPr>
              <a:t>script.sh</a:t>
            </a:r>
            <a:r>
              <a:rPr lang="en-US" dirty="0">
                <a:solidFill>
                  <a:schemeClr val="tx1"/>
                </a:solidFill>
              </a:rPr>
              <a:t> 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331A-89F0-E246-9C88-F32EDC94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Собираем </a:t>
            </a:r>
            <a:r>
              <a:rPr lang="en-US" dirty="0"/>
              <a:t>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A1417-8A72-B943-B17F-A45DFF8F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967440"/>
            <a:ext cx="5569726" cy="398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65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7A73-0947-C942-B942-386758D8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F050B-D062-854B-97EB-E167611D4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75" y="1289337"/>
            <a:ext cx="8643450" cy="33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35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1A28-64BB-BF42-824F-D052405C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Запускаем наш контейнер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0B7DA-E765-644A-811A-57921099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74800"/>
            <a:ext cx="70485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53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Пишем </a:t>
            </a:r>
            <a:r>
              <a:rPr lang="en-US" dirty="0" err="1"/>
              <a:t>dockerfile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323F5B-2824-084F-B024-D6E27CB67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07" y="1426624"/>
            <a:ext cx="4300831" cy="2478121"/>
          </a:xfrm>
          <a:prstGeom prst="rect">
            <a:avLst/>
          </a:prstGeom>
        </p:spPr>
      </p:pic>
      <p:sp>
        <p:nvSpPr>
          <p:cNvPr id="11" name="Notched Right Arrow 10">
            <a:extLst>
              <a:ext uri="{FF2B5EF4-FFF2-40B4-BE49-F238E27FC236}">
                <a16:creationId xmlns:a16="http://schemas.microsoft.com/office/drawing/2014/main" id="{B54DBB09-6465-FB4A-AED6-C60CD213D0A0}"/>
              </a:ext>
            </a:extLst>
          </p:cNvPr>
          <p:cNvSpPr/>
          <p:nvPr/>
        </p:nvSpPr>
        <p:spPr>
          <a:xfrm>
            <a:off x="4760850" y="2470826"/>
            <a:ext cx="661481" cy="484632"/>
          </a:xfrm>
          <a:custGeom>
            <a:avLst/>
            <a:gdLst>
              <a:gd name="connsiteX0" fmla="*/ 0 w 661481"/>
              <a:gd name="connsiteY0" fmla="*/ 121158 h 484632"/>
              <a:gd name="connsiteX1" fmla="*/ 419165 w 661481"/>
              <a:gd name="connsiteY1" fmla="*/ 121158 h 484632"/>
              <a:gd name="connsiteX2" fmla="*/ 419165 w 661481"/>
              <a:gd name="connsiteY2" fmla="*/ 0 h 484632"/>
              <a:gd name="connsiteX3" fmla="*/ 661481 w 661481"/>
              <a:gd name="connsiteY3" fmla="*/ 242316 h 484632"/>
              <a:gd name="connsiteX4" fmla="*/ 419165 w 661481"/>
              <a:gd name="connsiteY4" fmla="*/ 484632 h 484632"/>
              <a:gd name="connsiteX5" fmla="*/ 419165 w 661481"/>
              <a:gd name="connsiteY5" fmla="*/ 363474 h 484632"/>
              <a:gd name="connsiteX6" fmla="*/ 0 w 661481"/>
              <a:gd name="connsiteY6" fmla="*/ 363474 h 484632"/>
              <a:gd name="connsiteX7" fmla="*/ 121158 w 661481"/>
              <a:gd name="connsiteY7" fmla="*/ 242316 h 484632"/>
              <a:gd name="connsiteX8" fmla="*/ 0 w 661481"/>
              <a:gd name="connsiteY8" fmla="*/ 121158 h 4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1481" h="484632" extrusionOk="0">
                <a:moveTo>
                  <a:pt x="0" y="121158"/>
                </a:moveTo>
                <a:cubicBezTo>
                  <a:pt x="185616" y="120389"/>
                  <a:pt x="255830" y="108830"/>
                  <a:pt x="419165" y="121158"/>
                </a:cubicBezTo>
                <a:cubicBezTo>
                  <a:pt x="420996" y="75069"/>
                  <a:pt x="411446" y="15125"/>
                  <a:pt x="419165" y="0"/>
                </a:cubicBezTo>
                <a:cubicBezTo>
                  <a:pt x="472752" y="62695"/>
                  <a:pt x="555939" y="117289"/>
                  <a:pt x="661481" y="242316"/>
                </a:cubicBezTo>
                <a:cubicBezTo>
                  <a:pt x="582346" y="338830"/>
                  <a:pt x="524732" y="393339"/>
                  <a:pt x="419165" y="484632"/>
                </a:cubicBezTo>
                <a:cubicBezTo>
                  <a:pt x="413131" y="471836"/>
                  <a:pt x="420275" y="415788"/>
                  <a:pt x="419165" y="363474"/>
                </a:cubicBezTo>
                <a:cubicBezTo>
                  <a:pt x="363370" y="355869"/>
                  <a:pt x="116454" y="358825"/>
                  <a:pt x="0" y="363474"/>
                </a:cubicBezTo>
                <a:cubicBezTo>
                  <a:pt x="46077" y="325778"/>
                  <a:pt x="71842" y="297775"/>
                  <a:pt x="121158" y="242316"/>
                </a:cubicBezTo>
                <a:cubicBezTo>
                  <a:pt x="84186" y="204178"/>
                  <a:pt x="44160" y="174799"/>
                  <a:pt x="0" y="12115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notched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0C339E-0233-1542-9DC7-B62455DF0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243" y="2167996"/>
            <a:ext cx="3300106" cy="995376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3BC0CFAD-6CC6-AA40-BC21-1DE0BCFB3F60}"/>
              </a:ext>
            </a:extLst>
          </p:cNvPr>
          <p:cNvSpPr/>
          <p:nvPr/>
        </p:nvSpPr>
        <p:spPr>
          <a:xfrm>
            <a:off x="181583" y="3482502"/>
            <a:ext cx="2509736" cy="551234"/>
          </a:xfrm>
          <a:custGeom>
            <a:avLst/>
            <a:gdLst>
              <a:gd name="connsiteX0" fmla="*/ 778213 w 2509736"/>
              <a:gd name="connsiteY0" fmla="*/ 64851 h 639846"/>
              <a:gd name="connsiteX1" fmla="*/ 486383 w 2509736"/>
              <a:gd name="connsiteY1" fmla="*/ 77821 h 639846"/>
              <a:gd name="connsiteX2" fmla="*/ 434502 w 2509736"/>
              <a:gd name="connsiteY2" fmla="*/ 84307 h 639846"/>
              <a:gd name="connsiteX3" fmla="*/ 304800 w 2509736"/>
              <a:gd name="connsiteY3" fmla="*/ 97277 h 639846"/>
              <a:gd name="connsiteX4" fmla="*/ 220494 w 2509736"/>
              <a:gd name="connsiteY4" fmla="*/ 110247 h 639846"/>
              <a:gd name="connsiteX5" fmla="*/ 201038 w 2509736"/>
              <a:gd name="connsiteY5" fmla="*/ 116732 h 639846"/>
              <a:gd name="connsiteX6" fmla="*/ 162128 w 2509736"/>
              <a:gd name="connsiteY6" fmla="*/ 123217 h 639846"/>
              <a:gd name="connsiteX7" fmla="*/ 136187 w 2509736"/>
              <a:gd name="connsiteY7" fmla="*/ 129702 h 639846"/>
              <a:gd name="connsiteX8" fmla="*/ 97277 w 2509736"/>
              <a:gd name="connsiteY8" fmla="*/ 142672 h 639846"/>
              <a:gd name="connsiteX9" fmla="*/ 77821 w 2509736"/>
              <a:gd name="connsiteY9" fmla="*/ 155643 h 639846"/>
              <a:gd name="connsiteX10" fmla="*/ 58366 w 2509736"/>
              <a:gd name="connsiteY10" fmla="*/ 162128 h 639846"/>
              <a:gd name="connsiteX11" fmla="*/ 25940 w 2509736"/>
              <a:gd name="connsiteY11" fmla="*/ 188068 h 639846"/>
              <a:gd name="connsiteX12" fmla="*/ 0 w 2509736"/>
              <a:gd name="connsiteY12" fmla="*/ 226979 h 639846"/>
              <a:gd name="connsiteX13" fmla="*/ 19455 w 2509736"/>
              <a:gd name="connsiteY13" fmla="*/ 304800 h 639846"/>
              <a:gd name="connsiteX14" fmla="*/ 25940 w 2509736"/>
              <a:gd name="connsiteY14" fmla="*/ 324255 h 639846"/>
              <a:gd name="connsiteX15" fmla="*/ 38911 w 2509736"/>
              <a:gd name="connsiteY15" fmla="*/ 337226 h 639846"/>
              <a:gd name="connsiteX16" fmla="*/ 77821 w 2509736"/>
              <a:gd name="connsiteY16" fmla="*/ 389107 h 639846"/>
              <a:gd name="connsiteX17" fmla="*/ 90791 w 2509736"/>
              <a:gd name="connsiteY17" fmla="*/ 408562 h 639846"/>
              <a:gd name="connsiteX18" fmla="*/ 142672 w 2509736"/>
              <a:gd name="connsiteY18" fmla="*/ 453958 h 639846"/>
              <a:gd name="connsiteX19" fmla="*/ 162128 w 2509736"/>
              <a:gd name="connsiteY19" fmla="*/ 466928 h 639846"/>
              <a:gd name="connsiteX20" fmla="*/ 188068 w 2509736"/>
              <a:gd name="connsiteY20" fmla="*/ 486383 h 639846"/>
              <a:gd name="connsiteX21" fmla="*/ 214008 w 2509736"/>
              <a:gd name="connsiteY21" fmla="*/ 499353 h 639846"/>
              <a:gd name="connsiteX22" fmla="*/ 226979 w 2509736"/>
              <a:gd name="connsiteY22" fmla="*/ 512324 h 639846"/>
              <a:gd name="connsiteX23" fmla="*/ 259404 w 2509736"/>
              <a:gd name="connsiteY23" fmla="*/ 525294 h 639846"/>
              <a:gd name="connsiteX24" fmla="*/ 304800 w 2509736"/>
              <a:gd name="connsiteY24" fmla="*/ 551234 h 639846"/>
              <a:gd name="connsiteX25" fmla="*/ 337226 w 2509736"/>
              <a:gd name="connsiteY25" fmla="*/ 557719 h 639846"/>
              <a:gd name="connsiteX26" fmla="*/ 395591 w 2509736"/>
              <a:gd name="connsiteY26" fmla="*/ 577175 h 639846"/>
              <a:gd name="connsiteX27" fmla="*/ 415047 w 2509736"/>
              <a:gd name="connsiteY27" fmla="*/ 583660 h 639846"/>
              <a:gd name="connsiteX28" fmla="*/ 453957 w 2509736"/>
              <a:gd name="connsiteY28" fmla="*/ 590145 h 639846"/>
              <a:gd name="connsiteX29" fmla="*/ 473413 w 2509736"/>
              <a:gd name="connsiteY29" fmla="*/ 596630 h 639846"/>
              <a:gd name="connsiteX30" fmla="*/ 531779 w 2509736"/>
              <a:gd name="connsiteY30" fmla="*/ 603115 h 639846"/>
              <a:gd name="connsiteX31" fmla="*/ 564204 w 2509736"/>
              <a:gd name="connsiteY31" fmla="*/ 609600 h 639846"/>
              <a:gd name="connsiteX32" fmla="*/ 642026 w 2509736"/>
              <a:gd name="connsiteY32" fmla="*/ 616085 h 639846"/>
              <a:gd name="connsiteX33" fmla="*/ 1420238 w 2509736"/>
              <a:gd name="connsiteY33" fmla="*/ 616085 h 639846"/>
              <a:gd name="connsiteX34" fmla="*/ 1439694 w 2509736"/>
              <a:gd name="connsiteY34" fmla="*/ 609600 h 639846"/>
              <a:gd name="connsiteX35" fmla="*/ 1478604 w 2509736"/>
              <a:gd name="connsiteY35" fmla="*/ 603115 h 639846"/>
              <a:gd name="connsiteX36" fmla="*/ 1504545 w 2509736"/>
              <a:gd name="connsiteY36" fmla="*/ 596630 h 639846"/>
              <a:gd name="connsiteX37" fmla="*/ 1524000 w 2509736"/>
              <a:gd name="connsiteY37" fmla="*/ 590145 h 639846"/>
              <a:gd name="connsiteX38" fmla="*/ 1608306 w 2509736"/>
              <a:gd name="connsiteY38" fmla="*/ 577175 h 639846"/>
              <a:gd name="connsiteX39" fmla="*/ 1660187 w 2509736"/>
              <a:gd name="connsiteY39" fmla="*/ 564204 h 639846"/>
              <a:gd name="connsiteX40" fmla="*/ 1679643 w 2509736"/>
              <a:gd name="connsiteY40" fmla="*/ 557719 h 639846"/>
              <a:gd name="connsiteX41" fmla="*/ 1712068 w 2509736"/>
              <a:gd name="connsiteY41" fmla="*/ 551234 h 639846"/>
              <a:gd name="connsiteX42" fmla="*/ 1770434 w 2509736"/>
              <a:gd name="connsiteY42" fmla="*/ 538264 h 639846"/>
              <a:gd name="connsiteX43" fmla="*/ 1815830 w 2509736"/>
              <a:gd name="connsiteY43" fmla="*/ 531779 h 639846"/>
              <a:gd name="connsiteX44" fmla="*/ 1835285 w 2509736"/>
              <a:gd name="connsiteY44" fmla="*/ 525294 h 639846"/>
              <a:gd name="connsiteX45" fmla="*/ 1913106 w 2509736"/>
              <a:gd name="connsiteY45" fmla="*/ 512324 h 639846"/>
              <a:gd name="connsiteX46" fmla="*/ 1952017 w 2509736"/>
              <a:gd name="connsiteY46" fmla="*/ 505838 h 639846"/>
              <a:gd name="connsiteX47" fmla="*/ 1990928 w 2509736"/>
              <a:gd name="connsiteY47" fmla="*/ 499353 h 639846"/>
              <a:gd name="connsiteX48" fmla="*/ 2075234 w 2509736"/>
              <a:gd name="connsiteY48" fmla="*/ 486383 h 639846"/>
              <a:gd name="connsiteX49" fmla="*/ 2146570 w 2509736"/>
              <a:gd name="connsiteY49" fmla="*/ 473413 h 639846"/>
              <a:gd name="connsiteX50" fmla="*/ 2211421 w 2509736"/>
              <a:gd name="connsiteY50" fmla="*/ 460443 h 639846"/>
              <a:gd name="connsiteX51" fmla="*/ 2263302 w 2509736"/>
              <a:gd name="connsiteY51" fmla="*/ 447472 h 639846"/>
              <a:gd name="connsiteX52" fmla="*/ 2295728 w 2509736"/>
              <a:gd name="connsiteY52" fmla="*/ 440987 h 639846"/>
              <a:gd name="connsiteX53" fmla="*/ 2328153 w 2509736"/>
              <a:gd name="connsiteY53" fmla="*/ 428017 h 639846"/>
              <a:gd name="connsiteX54" fmla="*/ 2367064 w 2509736"/>
              <a:gd name="connsiteY54" fmla="*/ 415047 h 639846"/>
              <a:gd name="connsiteX55" fmla="*/ 2386519 w 2509736"/>
              <a:gd name="connsiteY55" fmla="*/ 408562 h 639846"/>
              <a:gd name="connsiteX56" fmla="*/ 2412460 w 2509736"/>
              <a:gd name="connsiteY56" fmla="*/ 395592 h 639846"/>
              <a:gd name="connsiteX57" fmla="*/ 2490281 w 2509736"/>
              <a:gd name="connsiteY57" fmla="*/ 317770 h 639846"/>
              <a:gd name="connsiteX58" fmla="*/ 2503251 w 2509736"/>
              <a:gd name="connsiteY58" fmla="*/ 298315 h 639846"/>
              <a:gd name="connsiteX59" fmla="*/ 2509736 w 2509736"/>
              <a:gd name="connsiteY59" fmla="*/ 278860 h 639846"/>
              <a:gd name="connsiteX60" fmla="*/ 2503251 w 2509736"/>
              <a:gd name="connsiteY60" fmla="*/ 214009 h 639846"/>
              <a:gd name="connsiteX61" fmla="*/ 2490281 w 2509736"/>
              <a:gd name="connsiteY61" fmla="*/ 201038 h 639846"/>
              <a:gd name="connsiteX62" fmla="*/ 2444885 w 2509736"/>
              <a:gd name="connsiteY62" fmla="*/ 149158 h 639846"/>
              <a:gd name="connsiteX63" fmla="*/ 2431915 w 2509736"/>
              <a:gd name="connsiteY63" fmla="*/ 136187 h 639846"/>
              <a:gd name="connsiteX64" fmla="*/ 2405974 w 2509736"/>
              <a:gd name="connsiteY64" fmla="*/ 123217 h 639846"/>
              <a:gd name="connsiteX65" fmla="*/ 2367064 w 2509736"/>
              <a:gd name="connsiteY65" fmla="*/ 97277 h 639846"/>
              <a:gd name="connsiteX66" fmla="*/ 2321668 w 2509736"/>
              <a:gd name="connsiteY66" fmla="*/ 77821 h 639846"/>
              <a:gd name="connsiteX67" fmla="*/ 2295728 w 2509736"/>
              <a:gd name="connsiteY67" fmla="*/ 64851 h 639846"/>
              <a:gd name="connsiteX68" fmla="*/ 2256817 w 2509736"/>
              <a:gd name="connsiteY68" fmla="*/ 51881 h 639846"/>
              <a:gd name="connsiteX69" fmla="*/ 2237362 w 2509736"/>
              <a:gd name="connsiteY69" fmla="*/ 45396 h 639846"/>
              <a:gd name="connsiteX70" fmla="*/ 2217906 w 2509736"/>
              <a:gd name="connsiteY70" fmla="*/ 38911 h 639846"/>
              <a:gd name="connsiteX71" fmla="*/ 2198451 w 2509736"/>
              <a:gd name="connsiteY71" fmla="*/ 32426 h 639846"/>
              <a:gd name="connsiteX72" fmla="*/ 2172511 w 2509736"/>
              <a:gd name="connsiteY72" fmla="*/ 25941 h 639846"/>
              <a:gd name="connsiteX73" fmla="*/ 2153055 w 2509736"/>
              <a:gd name="connsiteY73" fmla="*/ 19455 h 639846"/>
              <a:gd name="connsiteX74" fmla="*/ 2120630 w 2509736"/>
              <a:gd name="connsiteY74" fmla="*/ 12970 h 639846"/>
              <a:gd name="connsiteX75" fmla="*/ 2010383 w 2509736"/>
              <a:gd name="connsiteY75" fmla="*/ 0 h 639846"/>
              <a:gd name="connsiteX76" fmla="*/ 1601821 w 2509736"/>
              <a:gd name="connsiteY76" fmla="*/ 6485 h 639846"/>
              <a:gd name="connsiteX77" fmla="*/ 1511030 w 2509736"/>
              <a:gd name="connsiteY77" fmla="*/ 12970 h 639846"/>
              <a:gd name="connsiteX78" fmla="*/ 1264596 w 2509736"/>
              <a:gd name="connsiteY78" fmla="*/ 25941 h 639846"/>
              <a:gd name="connsiteX79" fmla="*/ 246434 w 2509736"/>
              <a:gd name="connsiteY79" fmla="*/ 38911 h 63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509736" h="639846">
                <a:moveTo>
                  <a:pt x="778213" y="64851"/>
                </a:moveTo>
                <a:cubicBezTo>
                  <a:pt x="634814" y="82776"/>
                  <a:pt x="799415" y="63908"/>
                  <a:pt x="486383" y="77821"/>
                </a:cubicBezTo>
                <a:cubicBezTo>
                  <a:pt x="468972" y="78595"/>
                  <a:pt x="451831" y="82450"/>
                  <a:pt x="434502" y="84307"/>
                </a:cubicBezTo>
                <a:cubicBezTo>
                  <a:pt x="391300" y="88936"/>
                  <a:pt x="347813" y="91132"/>
                  <a:pt x="304800" y="97277"/>
                </a:cubicBezTo>
                <a:cubicBezTo>
                  <a:pt x="290317" y="99346"/>
                  <a:pt x="236693" y="106647"/>
                  <a:pt x="220494" y="110247"/>
                </a:cubicBezTo>
                <a:cubicBezTo>
                  <a:pt x="213821" y="111730"/>
                  <a:pt x="207711" y="115249"/>
                  <a:pt x="201038" y="116732"/>
                </a:cubicBezTo>
                <a:cubicBezTo>
                  <a:pt x="188202" y="119584"/>
                  <a:pt x="175022" y="120638"/>
                  <a:pt x="162128" y="123217"/>
                </a:cubicBezTo>
                <a:cubicBezTo>
                  <a:pt x="153388" y="124965"/>
                  <a:pt x="144724" y="127141"/>
                  <a:pt x="136187" y="129702"/>
                </a:cubicBezTo>
                <a:cubicBezTo>
                  <a:pt x="123092" y="133630"/>
                  <a:pt x="97277" y="142672"/>
                  <a:pt x="97277" y="142672"/>
                </a:cubicBezTo>
                <a:cubicBezTo>
                  <a:pt x="90792" y="146996"/>
                  <a:pt x="84793" y="152157"/>
                  <a:pt x="77821" y="155643"/>
                </a:cubicBezTo>
                <a:cubicBezTo>
                  <a:pt x="71707" y="158700"/>
                  <a:pt x="64480" y="159071"/>
                  <a:pt x="58366" y="162128"/>
                </a:cubicBezTo>
                <a:cubicBezTo>
                  <a:pt x="48158" y="167232"/>
                  <a:pt x="33177" y="178419"/>
                  <a:pt x="25940" y="188068"/>
                </a:cubicBezTo>
                <a:cubicBezTo>
                  <a:pt x="16587" y="200539"/>
                  <a:pt x="0" y="226979"/>
                  <a:pt x="0" y="226979"/>
                </a:cubicBezTo>
                <a:cubicBezTo>
                  <a:pt x="8733" y="279374"/>
                  <a:pt x="2327" y="253416"/>
                  <a:pt x="19455" y="304800"/>
                </a:cubicBezTo>
                <a:cubicBezTo>
                  <a:pt x="21617" y="311285"/>
                  <a:pt x="21106" y="319421"/>
                  <a:pt x="25940" y="324255"/>
                </a:cubicBezTo>
                <a:lnTo>
                  <a:pt x="38911" y="337226"/>
                </a:lnTo>
                <a:cubicBezTo>
                  <a:pt x="55783" y="387843"/>
                  <a:pt x="28144" y="314591"/>
                  <a:pt x="77821" y="389107"/>
                </a:cubicBezTo>
                <a:cubicBezTo>
                  <a:pt x="82144" y="395592"/>
                  <a:pt x="85801" y="402575"/>
                  <a:pt x="90791" y="408562"/>
                </a:cubicBezTo>
                <a:cubicBezTo>
                  <a:pt x="104119" y="424555"/>
                  <a:pt x="127105" y="442283"/>
                  <a:pt x="142672" y="453958"/>
                </a:cubicBezTo>
                <a:cubicBezTo>
                  <a:pt x="148907" y="458635"/>
                  <a:pt x="155785" y="462398"/>
                  <a:pt x="162128" y="466928"/>
                </a:cubicBezTo>
                <a:cubicBezTo>
                  <a:pt x="170923" y="473210"/>
                  <a:pt x="178903" y="480655"/>
                  <a:pt x="188068" y="486383"/>
                </a:cubicBezTo>
                <a:cubicBezTo>
                  <a:pt x="196266" y="491507"/>
                  <a:pt x="205964" y="493991"/>
                  <a:pt x="214008" y="499353"/>
                </a:cubicBezTo>
                <a:cubicBezTo>
                  <a:pt x="219096" y="502745"/>
                  <a:pt x="221670" y="509290"/>
                  <a:pt x="226979" y="512324"/>
                </a:cubicBezTo>
                <a:cubicBezTo>
                  <a:pt x="237086" y="518100"/>
                  <a:pt x="248992" y="520088"/>
                  <a:pt x="259404" y="525294"/>
                </a:cubicBezTo>
                <a:cubicBezTo>
                  <a:pt x="287864" y="539524"/>
                  <a:pt x="270698" y="539867"/>
                  <a:pt x="304800" y="551234"/>
                </a:cubicBezTo>
                <a:cubicBezTo>
                  <a:pt x="315257" y="554720"/>
                  <a:pt x="326592" y="554819"/>
                  <a:pt x="337226" y="557719"/>
                </a:cubicBezTo>
                <a:cubicBezTo>
                  <a:pt x="337275" y="557732"/>
                  <a:pt x="385839" y="573924"/>
                  <a:pt x="395591" y="577175"/>
                </a:cubicBezTo>
                <a:cubicBezTo>
                  <a:pt x="402076" y="579337"/>
                  <a:pt x="408304" y="582536"/>
                  <a:pt x="415047" y="583660"/>
                </a:cubicBezTo>
                <a:cubicBezTo>
                  <a:pt x="428017" y="585822"/>
                  <a:pt x="441121" y="587293"/>
                  <a:pt x="453957" y="590145"/>
                </a:cubicBezTo>
                <a:cubicBezTo>
                  <a:pt x="460630" y="591628"/>
                  <a:pt x="466670" y="595506"/>
                  <a:pt x="473413" y="596630"/>
                </a:cubicBezTo>
                <a:cubicBezTo>
                  <a:pt x="492722" y="599848"/>
                  <a:pt x="512401" y="600347"/>
                  <a:pt x="531779" y="603115"/>
                </a:cubicBezTo>
                <a:cubicBezTo>
                  <a:pt x="542691" y="604674"/>
                  <a:pt x="553257" y="608312"/>
                  <a:pt x="564204" y="609600"/>
                </a:cubicBezTo>
                <a:cubicBezTo>
                  <a:pt x="590056" y="612641"/>
                  <a:pt x="616085" y="613923"/>
                  <a:pt x="642026" y="616085"/>
                </a:cubicBezTo>
                <a:cubicBezTo>
                  <a:pt x="922208" y="662782"/>
                  <a:pt x="701864" y="628365"/>
                  <a:pt x="1420238" y="616085"/>
                </a:cubicBezTo>
                <a:cubicBezTo>
                  <a:pt x="1427073" y="615968"/>
                  <a:pt x="1433021" y="611083"/>
                  <a:pt x="1439694" y="609600"/>
                </a:cubicBezTo>
                <a:cubicBezTo>
                  <a:pt x="1452530" y="606748"/>
                  <a:pt x="1465710" y="605694"/>
                  <a:pt x="1478604" y="603115"/>
                </a:cubicBezTo>
                <a:cubicBezTo>
                  <a:pt x="1487344" y="601367"/>
                  <a:pt x="1495975" y="599079"/>
                  <a:pt x="1504545" y="596630"/>
                </a:cubicBezTo>
                <a:cubicBezTo>
                  <a:pt x="1511118" y="594752"/>
                  <a:pt x="1517274" y="591368"/>
                  <a:pt x="1524000" y="590145"/>
                </a:cubicBezTo>
                <a:cubicBezTo>
                  <a:pt x="1610500" y="574418"/>
                  <a:pt x="1543814" y="592058"/>
                  <a:pt x="1608306" y="577175"/>
                </a:cubicBezTo>
                <a:cubicBezTo>
                  <a:pt x="1625675" y="573167"/>
                  <a:pt x="1643276" y="569841"/>
                  <a:pt x="1660187" y="564204"/>
                </a:cubicBezTo>
                <a:cubicBezTo>
                  <a:pt x="1666672" y="562042"/>
                  <a:pt x="1673011" y="559377"/>
                  <a:pt x="1679643" y="557719"/>
                </a:cubicBezTo>
                <a:cubicBezTo>
                  <a:pt x="1690336" y="555046"/>
                  <a:pt x="1701308" y="553625"/>
                  <a:pt x="1712068" y="551234"/>
                </a:cubicBezTo>
                <a:cubicBezTo>
                  <a:pt x="1747048" y="543461"/>
                  <a:pt x="1731313" y="544784"/>
                  <a:pt x="1770434" y="538264"/>
                </a:cubicBezTo>
                <a:cubicBezTo>
                  <a:pt x="1785512" y="535751"/>
                  <a:pt x="1800698" y="533941"/>
                  <a:pt x="1815830" y="531779"/>
                </a:cubicBezTo>
                <a:cubicBezTo>
                  <a:pt x="1822315" y="529617"/>
                  <a:pt x="1828582" y="526635"/>
                  <a:pt x="1835285" y="525294"/>
                </a:cubicBezTo>
                <a:cubicBezTo>
                  <a:pt x="1861072" y="520137"/>
                  <a:pt x="1887166" y="516648"/>
                  <a:pt x="1913106" y="512324"/>
                </a:cubicBezTo>
                <a:lnTo>
                  <a:pt x="1952017" y="505838"/>
                </a:lnTo>
                <a:cubicBezTo>
                  <a:pt x="1964987" y="503676"/>
                  <a:pt x="1977911" y="501213"/>
                  <a:pt x="1990928" y="499353"/>
                </a:cubicBezTo>
                <a:cubicBezTo>
                  <a:pt x="2012728" y="496239"/>
                  <a:pt x="2052742" y="490881"/>
                  <a:pt x="2075234" y="486383"/>
                </a:cubicBezTo>
                <a:cubicBezTo>
                  <a:pt x="2151678" y="471094"/>
                  <a:pt x="2031167" y="489899"/>
                  <a:pt x="2146570" y="473413"/>
                </a:cubicBezTo>
                <a:cubicBezTo>
                  <a:pt x="2190528" y="458761"/>
                  <a:pt x="2136896" y="475349"/>
                  <a:pt x="2211421" y="460443"/>
                </a:cubicBezTo>
                <a:cubicBezTo>
                  <a:pt x="2228901" y="456947"/>
                  <a:pt x="2245822" y="450968"/>
                  <a:pt x="2263302" y="447472"/>
                </a:cubicBezTo>
                <a:lnTo>
                  <a:pt x="2295728" y="440987"/>
                </a:lnTo>
                <a:cubicBezTo>
                  <a:pt x="2306536" y="436664"/>
                  <a:pt x="2317213" y="431995"/>
                  <a:pt x="2328153" y="428017"/>
                </a:cubicBezTo>
                <a:cubicBezTo>
                  <a:pt x="2341002" y="423345"/>
                  <a:pt x="2354094" y="419370"/>
                  <a:pt x="2367064" y="415047"/>
                </a:cubicBezTo>
                <a:cubicBezTo>
                  <a:pt x="2373549" y="412885"/>
                  <a:pt x="2380405" y="411619"/>
                  <a:pt x="2386519" y="408562"/>
                </a:cubicBezTo>
                <a:cubicBezTo>
                  <a:pt x="2395166" y="404239"/>
                  <a:pt x="2404066" y="400389"/>
                  <a:pt x="2412460" y="395592"/>
                </a:cubicBezTo>
                <a:cubicBezTo>
                  <a:pt x="2444921" y="377043"/>
                  <a:pt x="2468898" y="347708"/>
                  <a:pt x="2490281" y="317770"/>
                </a:cubicBezTo>
                <a:cubicBezTo>
                  <a:pt x="2494811" y="311428"/>
                  <a:pt x="2499765" y="305286"/>
                  <a:pt x="2503251" y="298315"/>
                </a:cubicBezTo>
                <a:cubicBezTo>
                  <a:pt x="2506308" y="292201"/>
                  <a:pt x="2507574" y="285345"/>
                  <a:pt x="2509736" y="278860"/>
                </a:cubicBezTo>
                <a:cubicBezTo>
                  <a:pt x="2507574" y="257243"/>
                  <a:pt x="2508520" y="235085"/>
                  <a:pt x="2503251" y="214009"/>
                </a:cubicBezTo>
                <a:cubicBezTo>
                  <a:pt x="2501768" y="208077"/>
                  <a:pt x="2494101" y="205813"/>
                  <a:pt x="2490281" y="201038"/>
                </a:cubicBezTo>
                <a:cubicBezTo>
                  <a:pt x="2447387" y="147419"/>
                  <a:pt x="2524879" y="229152"/>
                  <a:pt x="2444885" y="149158"/>
                </a:cubicBezTo>
                <a:cubicBezTo>
                  <a:pt x="2440561" y="144834"/>
                  <a:pt x="2437384" y="138921"/>
                  <a:pt x="2431915" y="136187"/>
                </a:cubicBezTo>
                <a:cubicBezTo>
                  <a:pt x="2423268" y="131864"/>
                  <a:pt x="2414264" y="128191"/>
                  <a:pt x="2405974" y="123217"/>
                </a:cubicBezTo>
                <a:cubicBezTo>
                  <a:pt x="2392607" y="115197"/>
                  <a:pt x="2381006" y="104248"/>
                  <a:pt x="2367064" y="97277"/>
                </a:cubicBezTo>
                <a:cubicBezTo>
                  <a:pt x="2281015" y="54254"/>
                  <a:pt x="2388473" y="106453"/>
                  <a:pt x="2321668" y="77821"/>
                </a:cubicBezTo>
                <a:cubicBezTo>
                  <a:pt x="2312782" y="74013"/>
                  <a:pt x="2304704" y="68441"/>
                  <a:pt x="2295728" y="64851"/>
                </a:cubicBezTo>
                <a:cubicBezTo>
                  <a:pt x="2283034" y="59773"/>
                  <a:pt x="2269787" y="56204"/>
                  <a:pt x="2256817" y="51881"/>
                </a:cubicBezTo>
                <a:lnTo>
                  <a:pt x="2237362" y="45396"/>
                </a:lnTo>
                <a:lnTo>
                  <a:pt x="2217906" y="38911"/>
                </a:lnTo>
                <a:cubicBezTo>
                  <a:pt x="2211421" y="36749"/>
                  <a:pt x="2205083" y="34084"/>
                  <a:pt x="2198451" y="32426"/>
                </a:cubicBezTo>
                <a:cubicBezTo>
                  <a:pt x="2189804" y="30264"/>
                  <a:pt x="2181081" y="28390"/>
                  <a:pt x="2172511" y="25941"/>
                </a:cubicBezTo>
                <a:cubicBezTo>
                  <a:pt x="2165938" y="24063"/>
                  <a:pt x="2159687" y="21113"/>
                  <a:pt x="2153055" y="19455"/>
                </a:cubicBezTo>
                <a:cubicBezTo>
                  <a:pt x="2142362" y="16782"/>
                  <a:pt x="2131502" y="14782"/>
                  <a:pt x="2120630" y="12970"/>
                </a:cubicBezTo>
                <a:cubicBezTo>
                  <a:pt x="2077622" y="5802"/>
                  <a:pt x="2056483" y="4610"/>
                  <a:pt x="2010383" y="0"/>
                </a:cubicBezTo>
                <a:lnTo>
                  <a:pt x="1601821" y="6485"/>
                </a:lnTo>
                <a:cubicBezTo>
                  <a:pt x="1571490" y="7273"/>
                  <a:pt x="1541308" y="11017"/>
                  <a:pt x="1511030" y="12970"/>
                </a:cubicBezTo>
                <a:cubicBezTo>
                  <a:pt x="1464452" y="15975"/>
                  <a:pt x="1302940" y="25295"/>
                  <a:pt x="1264596" y="25941"/>
                </a:cubicBezTo>
                <a:lnTo>
                  <a:pt x="246434" y="38911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84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9864-F696-4B49-B294-33416930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Выполнить скрипт сразу после запуска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910F8-AF22-CC49-9286-DA7FD9D0E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6" y="1047336"/>
            <a:ext cx="5259396" cy="3048827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CC7DC5B1-2959-4145-A5EF-71EB38C73BA4}"/>
              </a:ext>
            </a:extLst>
          </p:cNvPr>
          <p:cNvSpPr/>
          <p:nvPr/>
        </p:nvSpPr>
        <p:spPr>
          <a:xfrm>
            <a:off x="0" y="3664084"/>
            <a:ext cx="2509736" cy="551234"/>
          </a:xfrm>
          <a:custGeom>
            <a:avLst/>
            <a:gdLst>
              <a:gd name="connsiteX0" fmla="*/ 778213 w 2509736"/>
              <a:gd name="connsiteY0" fmla="*/ 64851 h 639846"/>
              <a:gd name="connsiteX1" fmla="*/ 486383 w 2509736"/>
              <a:gd name="connsiteY1" fmla="*/ 77821 h 639846"/>
              <a:gd name="connsiteX2" fmla="*/ 434502 w 2509736"/>
              <a:gd name="connsiteY2" fmla="*/ 84307 h 639846"/>
              <a:gd name="connsiteX3" fmla="*/ 304800 w 2509736"/>
              <a:gd name="connsiteY3" fmla="*/ 97277 h 639846"/>
              <a:gd name="connsiteX4" fmla="*/ 220494 w 2509736"/>
              <a:gd name="connsiteY4" fmla="*/ 110247 h 639846"/>
              <a:gd name="connsiteX5" fmla="*/ 201038 w 2509736"/>
              <a:gd name="connsiteY5" fmla="*/ 116732 h 639846"/>
              <a:gd name="connsiteX6" fmla="*/ 162128 w 2509736"/>
              <a:gd name="connsiteY6" fmla="*/ 123217 h 639846"/>
              <a:gd name="connsiteX7" fmla="*/ 136187 w 2509736"/>
              <a:gd name="connsiteY7" fmla="*/ 129702 h 639846"/>
              <a:gd name="connsiteX8" fmla="*/ 97277 w 2509736"/>
              <a:gd name="connsiteY8" fmla="*/ 142672 h 639846"/>
              <a:gd name="connsiteX9" fmla="*/ 77821 w 2509736"/>
              <a:gd name="connsiteY9" fmla="*/ 155643 h 639846"/>
              <a:gd name="connsiteX10" fmla="*/ 58366 w 2509736"/>
              <a:gd name="connsiteY10" fmla="*/ 162128 h 639846"/>
              <a:gd name="connsiteX11" fmla="*/ 25940 w 2509736"/>
              <a:gd name="connsiteY11" fmla="*/ 188068 h 639846"/>
              <a:gd name="connsiteX12" fmla="*/ 0 w 2509736"/>
              <a:gd name="connsiteY12" fmla="*/ 226979 h 639846"/>
              <a:gd name="connsiteX13" fmla="*/ 19455 w 2509736"/>
              <a:gd name="connsiteY13" fmla="*/ 304800 h 639846"/>
              <a:gd name="connsiteX14" fmla="*/ 25940 w 2509736"/>
              <a:gd name="connsiteY14" fmla="*/ 324255 h 639846"/>
              <a:gd name="connsiteX15" fmla="*/ 38911 w 2509736"/>
              <a:gd name="connsiteY15" fmla="*/ 337226 h 639846"/>
              <a:gd name="connsiteX16" fmla="*/ 77821 w 2509736"/>
              <a:gd name="connsiteY16" fmla="*/ 389107 h 639846"/>
              <a:gd name="connsiteX17" fmla="*/ 90791 w 2509736"/>
              <a:gd name="connsiteY17" fmla="*/ 408562 h 639846"/>
              <a:gd name="connsiteX18" fmla="*/ 142672 w 2509736"/>
              <a:gd name="connsiteY18" fmla="*/ 453958 h 639846"/>
              <a:gd name="connsiteX19" fmla="*/ 162128 w 2509736"/>
              <a:gd name="connsiteY19" fmla="*/ 466928 h 639846"/>
              <a:gd name="connsiteX20" fmla="*/ 188068 w 2509736"/>
              <a:gd name="connsiteY20" fmla="*/ 486383 h 639846"/>
              <a:gd name="connsiteX21" fmla="*/ 214008 w 2509736"/>
              <a:gd name="connsiteY21" fmla="*/ 499353 h 639846"/>
              <a:gd name="connsiteX22" fmla="*/ 226979 w 2509736"/>
              <a:gd name="connsiteY22" fmla="*/ 512324 h 639846"/>
              <a:gd name="connsiteX23" fmla="*/ 259404 w 2509736"/>
              <a:gd name="connsiteY23" fmla="*/ 525294 h 639846"/>
              <a:gd name="connsiteX24" fmla="*/ 304800 w 2509736"/>
              <a:gd name="connsiteY24" fmla="*/ 551234 h 639846"/>
              <a:gd name="connsiteX25" fmla="*/ 337226 w 2509736"/>
              <a:gd name="connsiteY25" fmla="*/ 557719 h 639846"/>
              <a:gd name="connsiteX26" fmla="*/ 395591 w 2509736"/>
              <a:gd name="connsiteY26" fmla="*/ 577175 h 639846"/>
              <a:gd name="connsiteX27" fmla="*/ 415047 w 2509736"/>
              <a:gd name="connsiteY27" fmla="*/ 583660 h 639846"/>
              <a:gd name="connsiteX28" fmla="*/ 453957 w 2509736"/>
              <a:gd name="connsiteY28" fmla="*/ 590145 h 639846"/>
              <a:gd name="connsiteX29" fmla="*/ 473413 w 2509736"/>
              <a:gd name="connsiteY29" fmla="*/ 596630 h 639846"/>
              <a:gd name="connsiteX30" fmla="*/ 531779 w 2509736"/>
              <a:gd name="connsiteY30" fmla="*/ 603115 h 639846"/>
              <a:gd name="connsiteX31" fmla="*/ 564204 w 2509736"/>
              <a:gd name="connsiteY31" fmla="*/ 609600 h 639846"/>
              <a:gd name="connsiteX32" fmla="*/ 642026 w 2509736"/>
              <a:gd name="connsiteY32" fmla="*/ 616085 h 639846"/>
              <a:gd name="connsiteX33" fmla="*/ 1420238 w 2509736"/>
              <a:gd name="connsiteY33" fmla="*/ 616085 h 639846"/>
              <a:gd name="connsiteX34" fmla="*/ 1439694 w 2509736"/>
              <a:gd name="connsiteY34" fmla="*/ 609600 h 639846"/>
              <a:gd name="connsiteX35" fmla="*/ 1478604 w 2509736"/>
              <a:gd name="connsiteY35" fmla="*/ 603115 h 639846"/>
              <a:gd name="connsiteX36" fmla="*/ 1504545 w 2509736"/>
              <a:gd name="connsiteY36" fmla="*/ 596630 h 639846"/>
              <a:gd name="connsiteX37" fmla="*/ 1524000 w 2509736"/>
              <a:gd name="connsiteY37" fmla="*/ 590145 h 639846"/>
              <a:gd name="connsiteX38" fmla="*/ 1608306 w 2509736"/>
              <a:gd name="connsiteY38" fmla="*/ 577175 h 639846"/>
              <a:gd name="connsiteX39" fmla="*/ 1660187 w 2509736"/>
              <a:gd name="connsiteY39" fmla="*/ 564204 h 639846"/>
              <a:gd name="connsiteX40" fmla="*/ 1679643 w 2509736"/>
              <a:gd name="connsiteY40" fmla="*/ 557719 h 639846"/>
              <a:gd name="connsiteX41" fmla="*/ 1712068 w 2509736"/>
              <a:gd name="connsiteY41" fmla="*/ 551234 h 639846"/>
              <a:gd name="connsiteX42" fmla="*/ 1770434 w 2509736"/>
              <a:gd name="connsiteY42" fmla="*/ 538264 h 639846"/>
              <a:gd name="connsiteX43" fmla="*/ 1815830 w 2509736"/>
              <a:gd name="connsiteY43" fmla="*/ 531779 h 639846"/>
              <a:gd name="connsiteX44" fmla="*/ 1835285 w 2509736"/>
              <a:gd name="connsiteY44" fmla="*/ 525294 h 639846"/>
              <a:gd name="connsiteX45" fmla="*/ 1913106 w 2509736"/>
              <a:gd name="connsiteY45" fmla="*/ 512324 h 639846"/>
              <a:gd name="connsiteX46" fmla="*/ 1952017 w 2509736"/>
              <a:gd name="connsiteY46" fmla="*/ 505838 h 639846"/>
              <a:gd name="connsiteX47" fmla="*/ 1990928 w 2509736"/>
              <a:gd name="connsiteY47" fmla="*/ 499353 h 639846"/>
              <a:gd name="connsiteX48" fmla="*/ 2075234 w 2509736"/>
              <a:gd name="connsiteY48" fmla="*/ 486383 h 639846"/>
              <a:gd name="connsiteX49" fmla="*/ 2146570 w 2509736"/>
              <a:gd name="connsiteY49" fmla="*/ 473413 h 639846"/>
              <a:gd name="connsiteX50" fmla="*/ 2211421 w 2509736"/>
              <a:gd name="connsiteY50" fmla="*/ 460443 h 639846"/>
              <a:gd name="connsiteX51" fmla="*/ 2263302 w 2509736"/>
              <a:gd name="connsiteY51" fmla="*/ 447472 h 639846"/>
              <a:gd name="connsiteX52" fmla="*/ 2295728 w 2509736"/>
              <a:gd name="connsiteY52" fmla="*/ 440987 h 639846"/>
              <a:gd name="connsiteX53" fmla="*/ 2328153 w 2509736"/>
              <a:gd name="connsiteY53" fmla="*/ 428017 h 639846"/>
              <a:gd name="connsiteX54" fmla="*/ 2367064 w 2509736"/>
              <a:gd name="connsiteY54" fmla="*/ 415047 h 639846"/>
              <a:gd name="connsiteX55" fmla="*/ 2386519 w 2509736"/>
              <a:gd name="connsiteY55" fmla="*/ 408562 h 639846"/>
              <a:gd name="connsiteX56" fmla="*/ 2412460 w 2509736"/>
              <a:gd name="connsiteY56" fmla="*/ 395592 h 639846"/>
              <a:gd name="connsiteX57" fmla="*/ 2490281 w 2509736"/>
              <a:gd name="connsiteY57" fmla="*/ 317770 h 639846"/>
              <a:gd name="connsiteX58" fmla="*/ 2503251 w 2509736"/>
              <a:gd name="connsiteY58" fmla="*/ 298315 h 639846"/>
              <a:gd name="connsiteX59" fmla="*/ 2509736 w 2509736"/>
              <a:gd name="connsiteY59" fmla="*/ 278860 h 639846"/>
              <a:gd name="connsiteX60" fmla="*/ 2503251 w 2509736"/>
              <a:gd name="connsiteY60" fmla="*/ 214009 h 639846"/>
              <a:gd name="connsiteX61" fmla="*/ 2490281 w 2509736"/>
              <a:gd name="connsiteY61" fmla="*/ 201038 h 639846"/>
              <a:gd name="connsiteX62" fmla="*/ 2444885 w 2509736"/>
              <a:gd name="connsiteY62" fmla="*/ 149158 h 639846"/>
              <a:gd name="connsiteX63" fmla="*/ 2431915 w 2509736"/>
              <a:gd name="connsiteY63" fmla="*/ 136187 h 639846"/>
              <a:gd name="connsiteX64" fmla="*/ 2405974 w 2509736"/>
              <a:gd name="connsiteY64" fmla="*/ 123217 h 639846"/>
              <a:gd name="connsiteX65" fmla="*/ 2367064 w 2509736"/>
              <a:gd name="connsiteY65" fmla="*/ 97277 h 639846"/>
              <a:gd name="connsiteX66" fmla="*/ 2321668 w 2509736"/>
              <a:gd name="connsiteY66" fmla="*/ 77821 h 639846"/>
              <a:gd name="connsiteX67" fmla="*/ 2295728 w 2509736"/>
              <a:gd name="connsiteY67" fmla="*/ 64851 h 639846"/>
              <a:gd name="connsiteX68" fmla="*/ 2256817 w 2509736"/>
              <a:gd name="connsiteY68" fmla="*/ 51881 h 639846"/>
              <a:gd name="connsiteX69" fmla="*/ 2237362 w 2509736"/>
              <a:gd name="connsiteY69" fmla="*/ 45396 h 639846"/>
              <a:gd name="connsiteX70" fmla="*/ 2217906 w 2509736"/>
              <a:gd name="connsiteY70" fmla="*/ 38911 h 639846"/>
              <a:gd name="connsiteX71" fmla="*/ 2198451 w 2509736"/>
              <a:gd name="connsiteY71" fmla="*/ 32426 h 639846"/>
              <a:gd name="connsiteX72" fmla="*/ 2172511 w 2509736"/>
              <a:gd name="connsiteY72" fmla="*/ 25941 h 639846"/>
              <a:gd name="connsiteX73" fmla="*/ 2153055 w 2509736"/>
              <a:gd name="connsiteY73" fmla="*/ 19455 h 639846"/>
              <a:gd name="connsiteX74" fmla="*/ 2120630 w 2509736"/>
              <a:gd name="connsiteY74" fmla="*/ 12970 h 639846"/>
              <a:gd name="connsiteX75" fmla="*/ 2010383 w 2509736"/>
              <a:gd name="connsiteY75" fmla="*/ 0 h 639846"/>
              <a:gd name="connsiteX76" fmla="*/ 1601821 w 2509736"/>
              <a:gd name="connsiteY76" fmla="*/ 6485 h 639846"/>
              <a:gd name="connsiteX77" fmla="*/ 1511030 w 2509736"/>
              <a:gd name="connsiteY77" fmla="*/ 12970 h 639846"/>
              <a:gd name="connsiteX78" fmla="*/ 1264596 w 2509736"/>
              <a:gd name="connsiteY78" fmla="*/ 25941 h 639846"/>
              <a:gd name="connsiteX79" fmla="*/ 246434 w 2509736"/>
              <a:gd name="connsiteY79" fmla="*/ 38911 h 63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509736" h="639846">
                <a:moveTo>
                  <a:pt x="778213" y="64851"/>
                </a:moveTo>
                <a:cubicBezTo>
                  <a:pt x="634814" y="82776"/>
                  <a:pt x="799415" y="63908"/>
                  <a:pt x="486383" y="77821"/>
                </a:cubicBezTo>
                <a:cubicBezTo>
                  <a:pt x="468972" y="78595"/>
                  <a:pt x="451831" y="82450"/>
                  <a:pt x="434502" y="84307"/>
                </a:cubicBezTo>
                <a:cubicBezTo>
                  <a:pt x="391300" y="88936"/>
                  <a:pt x="347813" y="91132"/>
                  <a:pt x="304800" y="97277"/>
                </a:cubicBezTo>
                <a:cubicBezTo>
                  <a:pt x="290317" y="99346"/>
                  <a:pt x="236693" y="106647"/>
                  <a:pt x="220494" y="110247"/>
                </a:cubicBezTo>
                <a:cubicBezTo>
                  <a:pt x="213821" y="111730"/>
                  <a:pt x="207711" y="115249"/>
                  <a:pt x="201038" y="116732"/>
                </a:cubicBezTo>
                <a:cubicBezTo>
                  <a:pt x="188202" y="119584"/>
                  <a:pt x="175022" y="120638"/>
                  <a:pt x="162128" y="123217"/>
                </a:cubicBezTo>
                <a:cubicBezTo>
                  <a:pt x="153388" y="124965"/>
                  <a:pt x="144724" y="127141"/>
                  <a:pt x="136187" y="129702"/>
                </a:cubicBezTo>
                <a:cubicBezTo>
                  <a:pt x="123092" y="133630"/>
                  <a:pt x="97277" y="142672"/>
                  <a:pt x="97277" y="142672"/>
                </a:cubicBezTo>
                <a:cubicBezTo>
                  <a:pt x="90792" y="146996"/>
                  <a:pt x="84793" y="152157"/>
                  <a:pt x="77821" y="155643"/>
                </a:cubicBezTo>
                <a:cubicBezTo>
                  <a:pt x="71707" y="158700"/>
                  <a:pt x="64480" y="159071"/>
                  <a:pt x="58366" y="162128"/>
                </a:cubicBezTo>
                <a:cubicBezTo>
                  <a:pt x="48158" y="167232"/>
                  <a:pt x="33177" y="178419"/>
                  <a:pt x="25940" y="188068"/>
                </a:cubicBezTo>
                <a:cubicBezTo>
                  <a:pt x="16587" y="200539"/>
                  <a:pt x="0" y="226979"/>
                  <a:pt x="0" y="226979"/>
                </a:cubicBezTo>
                <a:cubicBezTo>
                  <a:pt x="8733" y="279374"/>
                  <a:pt x="2327" y="253416"/>
                  <a:pt x="19455" y="304800"/>
                </a:cubicBezTo>
                <a:cubicBezTo>
                  <a:pt x="21617" y="311285"/>
                  <a:pt x="21106" y="319421"/>
                  <a:pt x="25940" y="324255"/>
                </a:cubicBezTo>
                <a:lnTo>
                  <a:pt x="38911" y="337226"/>
                </a:lnTo>
                <a:cubicBezTo>
                  <a:pt x="55783" y="387843"/>
                  <a:pt x="28144" y="314591"/>
                  <a:pt x="77821" y="389107"/>
                </a:cubicBezTo>
                <a:cubicBezTo>
                  <a:pt x="82144" y="395592"/>
                  <a:pt x="85801" y="402575"/>
                  <a:pt x="90791" y="408562"/>
                </a:cubicBezTo>
                <a:cubicBezTo>
                  <a:pt x="104119" y="424555"/>
                  <a:pt x="127105" y="442283"/>
                  <a:pt x="142672" y="453958"/>
                </a:cubicBezTo>
                <a:cubicBezTo>
                  <a:pt x="148907" y="458635"/>
                  <a:pt x="155785" y="462398"/>
                  <a:pt x="162128" y="466928"/>
                </a:cubicBezTo>
                <a:cubicBezTo>
                  <a:pt x="170923" y="473210"/>
                  <a:pt x="178903" y="480655"/>
                  <a:pt x="188068" y="486383"/>
                </a:cubicBezTo>
                <a:cubicBezTo>
                  <a:pt x="196266" y="491507"/>
                  <a:pt x="205964" y="493991"/>
                  <a:pt x="214008" y="499353"/>
                </a:cubicBezTo>
                <a:cubicBezTo>
                  <a:pt x="219096" y="502745"/>
                  <a:pt x="221670" y="509290"/>
                  <a:pt x="226979" y="512324"/>
                </a:cubicBezTo>
                <a:cubicBezTo>
                  <a:pt x="237086" y="518100"/>
                  <a:pt x="248992" y="520088"/>
                  <a:pt x="259404" y="525294"/>
                </a:cubicBezTo>
                <a:cubicBezTo>
                  <a:pt x="287864" y="539524"/>
                  <a:pt x="270698" y="539867"/>
                  <a:pt x="304800" y="551234"/>
                </a:cubicBezTo>
                <a:cubicBezTo>
                  <a:pt x="315257" y="554720"/>
                  <a:pt x="326592" y="554819"/>
                  <a:pt x="337226" y="557719"/>
                </a:cubicBezTo>
                <a:cubicBezTo>
                  <a:pt x="337275" y="557732"/>
                  <a:pt x="385839" y="573924"/>
                  <a:pt x="395591" y="577175"/>
                </a:cubicBezTo>
                <a:cubicBezTo>
                  <a:pt x="402076" y="579337"/>
                  <a:pt x="408304" y="582536"/>
                  <a:pt x="415047" y="583660"/>
                </a:cubicBezTo>
                <a:cubicBezTo>
                  <a:pt x="428017" y="585822"/>
                  <a:pt x="441121" y="587293"/>
                  <a:pt x="453957" y="590145"/>
                </a:cubicBezTo>
                <a:cubicBezTo>
                  <a:pt x="460630" y="591628"/>
                  <a:pt x="466670" y="595506"/>
                  <a:pt x="473413" y="596630"/>
                </a:cubicBezTo>
                <a:cubicBezTo>
                  <a:pt x="492722" y="599848"/>
                  <a:pt x="512401" y="600347"/>
                  <a:pt x="531779" y="603115"/>
                </a:cubicBezTo>
                <a:cubicBezTo>
                  <a:pt x="542691" y="604674"/>
                  <a:pt x="553257" y="608312"/>
                  <a:pt x="564204" y="609600"/>
                </a:cubicBezTo>
                <a:cubicBezTo>
                  <a:pt x="590056" y="612641"/>
                  <a:pt x="616085" y="613923"/>
                  <a:pt x="642026" y="616085"/>
                </a:cubicBezTo>
                <a:cubicBezTo>
                  <a:pt x="922208" y="662782"/>
                  <a:pt x="701864" y="628365"/>
                  <a:pt x="1420238" y="616085"/>
                </a:cubicBezTo>
                <a:cubicBezTo>
                  <a:pt x="1427073" y="615968"/>
                  <a:pt x="1433021" y="611083"/>
                  <a:pt x="1439694" y="609600"/>
                </a:cubicBezTo>
                <a:cubicBezTo>
                  <a:pt x="1452530" y="606748"/>
                  <a:pt x="1465710" y="605694"/>
                  <a:pt x="1478604" y="603115"/>
                </a:cubicBezTo>
                <a:cubicBezTo>
                  <a:pt x="1487344" y="601367"/>
                  <a:pt x="1495975" y="599079"/>
                  <a:pt x="1504545" y="596630"/>
                </a:cubicBezTo>
                <a:cubicBezTo>
                  <a:pt x="1511118" y="594752"/>
                  <a:pt x="1517274" y="591368"/>
                  <a:pt x="1524000" y="590145"/>
                </a:cubicBezTo>
                <a:cubicBezTo>
                  <a:pt x="1610500" y="574418"/>
                  <a:pt x="1543814" y="592058"/>
                  <a:pt x="1608306" y="577175"/>
                </a:cubicBezTo>
                <a:cubicBezTo>
                  <a:pt x="1625675" y="573167"/>
                  <a:pt x="1643276" y="569841"/>
                  <a:pt x="1660187" y="564204"/>
                </a:cubicBezTo>
                <a:cubicBezTo>
                  <a:pt x="1666672" y="562042"/>
                  <a:pt x="1673011" y="559377"/>
                  <a:pt x="1679643" y="557719"/>
                </a:cubicBezTo>
                <a:cubicBezTo>
                  <a:pt x="1690336" y="555046"/>
                  <a:pt x="1701308" y="553625"/>
                  <a:pt x="1712068" y="551234"/>
                </a:cubicBezTo>
                <a:cubicBezTo>
                  <a:pt x="1747048" y="543461"/>
                  <a:pt x="1731313" y="544784"/>
                  <a:pt x="1770434" y="538264"/>
                </a:cubicBezTo>
                <a:cubicBezTo>
                  <a:pt x="1785512" y="535751"/>
                  <a:pt x="1800698" y="533941"/>
                  <a:pt x="1815830" y="531779"/>
                </a:cubicBezTo>
                <a:cubicBezTo>
                  <a:pt x="1822315" y="529617"/>
                  <a:pt x="1828582" y="526635"/>
                  <a:pt x="1835285" y="525294"/>
                </a:cubicBezTo>
                <a:cubicBezTo>
                  <a:pt x="1861072" y="520137"/>
                  <a:pt x="1887166" y="516648"/>
                  <a:pt x="1913106" y="512324"/>
                </a:cubicBezTo>
                <a:lnTo>
                  <a:pt x="1952017" y="505838"/>
                </a:lnTo>
                <a:cubicBezTo>
                  <a:pt x="1964987" y="503676"/>
                  <a:pt x="1977911" y="501213"/>
                  <a:pt x="1990928" y="499353"/>
                </a:cubicBezTo>
                <a:cubicBezTo>
                  <a:pt x="2012728" y="496239"/>
                  <a:pt x="2052742" y="490881"/>
                  <a:pt x="2075234" y="486383"/>
                </a:cubicBezTo>
                <a:cubicBezTo>
                  <a:pt x="2151678" y="471094"/>
                  <a:pt x="2031167" y="489899"/>
                  <a:pt x="2146570" y="473413"/>
                </a:cubicBezTo>
                <a:cubicBezTo>
                  <a:pt x="2190528" y="458761"/>
                  <a:pt x="2136896" y="475349"/>
                  <a:pt x="2211421" y="460443"/>
                </a:cubicBezTo>
                <a:cubicBezTo>
                  <a:pt x="2228901" y="456947"/>
                  <a:pt x="2245822" y="450968"/>
                  <a:pt x="2263302" y="447472"/>
                </a:cubicBezTo>
                <a:lnTo>
                  <a:pt x="2295728" y="440987"/>
                </a:lnTo>
                <a:cubicBezTo>
                  <a:pt x="2306536" y="436664"/>
                  <a:pt x="2317213" y="431995"/>
                  <a:pt x="2328153" y="428017"/>
                </a:cubicBezTo>
                <a:cubicBezTo>
                  <a:pt x="2341002" y="423345"/>
                  <a:pt x="2354094" y="419370"/>
                  <a:pt x="2367064" y="415047"/>
                </a:cubicBezTo>
                <a:cubicBezTo>
                  <a:pt x="2373549" y="412885"/>
                  <a:pt x="2380405" y="411619"/>
                  <a:pt x="2386519" y="408562"/>
                </a:cubicBezTo>
                <a:cubicBezTo>
                  <a:pt x="2395166" y="404239"/>
                  <a:pt x="2404066" y="400389"/>
                  <a:pt x="2412460" y="395592"/>
                </a:cubicBezTo>
                <a:cubicBezTo>
                  <a:pt x="2444921" y="377043"/>
                  <a:pt x="2468898" y="347708"/>
                  <a:pt x="2490281" y="317770"/>
                </a:cubicBezTo>
                <a:cubicBezTo>
                  <a:pt x="2494811" y="311428"/>
                  <a:pt x="2499765" y="305286"/>
                  <a:pt x="2503251" y="298315"/>
                </a:cubicBezTo>
                <a:cubicBezTo>
                  <a:pt x="2506308" y="292201"/>
                  <a:pt x="2507574" y="285345"/>
                  <a:pt x="2509736" y="278860"/>
                </a:cubicBezTo>
                <a:cubicBezTo>
                  <a:pt x="2507574" y="257243"/>
                  <a:pt x="2508520" y="235085"/>
                  <a:pt x="2503251" y="214009"/>
                </a:cubicBezTo>
                <a:cubicBezTo>
                  <a:pt x="2501768" y="208077"/>
                  <a:pt x="2494101" y="205813"/>
                  <a:pt x="2490281" y="201038"/>
                </a:cubicBezTo>
                <a:cubicBezTo>
                  <a:pt x="2447387" y="147419"/>
                  <a:pt x="2524879" y="229152"/>
                  <a:pt x="2444885" y="149158"/>
                </a:cubicBezTo>
                <a:cubicBezTo>
                  <a:pt x="2440561" y="144834"/>
                  <a:pt x="2437384" y="138921"/>
                  <a:pt x="2431915" y="136187"/>
                </a:cubicBezTo>
                <a:cubicBezTo>
                  <a:pt x="2423268" y="131864"/>
                  <a:pt x="2414264" y="128191"/>
                  <a:pt x="2405974" y="123217"/>
                </a:cubicBezTo>
                <a:cubicBezTo>
                  <a:pt x="2392607" y="115197"/>
                  <a:pt x="2381006" y="104248"/>
                  <a:pt x="2367064" y="97277"/>
                </a:cubicBezTo>
                <a:cubicBezTo>
                  <a:pt x="2281015" y="54254"/>
                  <a:pt x="2388473" y="106453"/>
                  <a:pt x="2321668" y="77821"/>
                </a:cubicBezTo>
                <a:cubicBezTo>
                  <a:pt x="2312782" y="74013"/>
                  <a:pt x="2304704" y="68441"/>
                  <a:pt x="2295728" y="64851"/>
                </a:cubicBezTo>
                <a:cubicBezTo>
                  <a:pt x="2283034" y="59773"/>
                  <a:pt x="2269787" y="56204"/>
                  <a:pt x="2256817" y="51881"/>
                </a:cubicBezTo>
                <a:lnTo>
                  <a:pt x="2237362" y="45396"/>
                </a:lnTo>
                <a:lnTo>
                  <a:pt x="2217906" y="38911"/>
                </a:lnTo>
                <a:cubicBezTo>
                  <a:pt x="2211421" y="36749"/>
                  <a:pt x="2205083" y="34084"/>
                  <a:pt x="2198451" y="32426"/>
                </a:cubicBezTo>
                <a:cubicBezTo>
                  <a:pt x="2189804" y="30264"/>
                  <a:pt x="2181081" y="28390"/>
                  <a:pt x="2172511" y="25941"/>
                </a:cubicBezTo>
                <a:cubicBezTo>
                  <a:pt x="2165938" y="24063"/>
                  <a:pt x="2159687" y="21113"/>
                  <a:pt x="2153055" y="19455"/>
                </a:cubicBezTo>
                <a:cubicBezTo>
                  <a:pt x="2142362" y="16782"/>
                  <a:pt x="2131502" y="14782"/>
                  <a:pt x="2120630" y="12970"/>
                </a:cubicBezTo>
                <a:cubicBezTo>
                  <a:pt x="2077622" y="5802"/>
                  <a:pt x="2056483" y="4610"/>
                  <a:pt x="2010383" y="0"/>
                </a:cubicBezTo>
                <a:lnTo>
                  <a:pt x="1601821" y="6485"/>
                </a:lnTo>
                <a:cubicBezTo>
                  <a:pt x="1571490" y="7273"/>
                  <a:pt x="1541308" y="11017"/>
                  <a:pt x="1511030" y="12970"/>
                </a:cubicBezTo>
                <a:cubicBezTo>
                  <a:pt x="1464452" y="15975"/>
                  <a:pt x="1302940" y="25295"/>
                  <a:pt x="1264596" y="25941"/>
                </a:cubicBezTo>
                <a:lnTo>
                  <a:pt x="246434" y="38911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D7F53-E901-BB48-921B-6E21494C9049}"/>
              </a:ext>
            </a:extLst>
          </p:cNvPr>
          <p:cNvSpPr/>
          <p:nvPr/>
        </p:nvSpPr>
        <p:spPr>
          <a:xfrm>
            <a:off x="3287949" y="3391711"/>
            <a:ext cx="2775625" cy="823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64CCEC-FA92-7646-902B-5498737F43FF}"/>
              </a:ext>
            </a:extLst>
          </p:cNvPr>
          <p:cNvGrpSpPr/>
          <p:nvPr/>
        </p:nvGrpSpPr>
        <p:grpSpPr>
          <a:xfrm>
            <a:off x="3612571" y="3716877"/>
            <a:ext cx="5408579" cy="620876"/>
            <a:chOff x="3612571" y="3159941"/>
            <a:chExt cx="5408579" cy="6208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5504B2-6079-E640-B072-6E2ED7BE20E1}"/>
                </a:ext>
              </a:extLst>
            </p:cNvPr>
            <p:cNvSpPr/>
            <p:nvPr/>
          </p:nvSpPr>
          <p:spPr>
            <a:xfrm>
              <a:off x="5719865" y="3444439"/>
              <a:ext cx="914400" cy="298315"/>
            </a:xfrm>
            <a:prstGeom prst="rect">
              <a:avLst/>
            </a:prstGeom>
            <a:solidFill>
              <a:srgbClr val="EEEEEE"/>
            </a:solidFill>
            <a:ln>
              <a:solidFill>
                <a:srgbClr val="EEEE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FBF20E8-D839-F54A-9A79-182ADF880E83}"/>
                </a:ext>
              </a:extLst>
            </p:cNvPr>
            <p:cNvGrpSpPr/>
            <p:nvPr/>
          </p:nvGrpSpPr>
          <p:grpSpPr>
            <a:xfrm>
              <a:off x="3612571" y="3159941"/>
              <a:ext cx="5408579" cy="620876"/>
              <a:chOff x="3612571" y="3159941"/>
              <a:chExt cx="5408579" cy="62087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00879DD-C422-AD40-95F4-FD90D56146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33683"/>
              <a:stretch/>
            </p:blipFill>
            <p:spPr>
              <a:xfrm>
                <a:off x="3612571" y="3159941"/>
                <a:ext cx="5408579" cy="620876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FF3E6AA-3F3B-DE40-AF07-37E890B923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814" t="65394" r="59538" b="346"/>
              <a:stretch/>
            </p:blipFill>
            <p:spPr>
              <a:xfrm>
                <a:off x="5719865" y="3457895"/>
                <a:ext cx="2090319" cy="320748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8D5B99-9868-924D-8F0D-743658E1BA72}"/>
              </a:ext>
            </a:extLst>
          </p:cNvPr>
          <p:cNvSpPr txBox="1"/>
          <p:nvPr/>
        </p:nvSpPr>
        <p:spPr>
          <a:xfrm>
            <a:off x="220126" y="4511037"/>
            <a:ext cx="4831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</a:t>
            </a:r>
            <a:r>
              <a:rPr lang="en-US" dirty="0" err="1"/>
              <a:t>Dockerfile</a:t>
            </a:r>
            <a:r>
              <a:rPr lang="en-US" dirty="0"/>
              <a:t> </a:t>
            </a:r>
            <a:r>
              <a:rPr lang="ru-RU" dirty="0"/>
              <a:t>может быть </a:t>
            </a:r>
            <a:r>
              <a:rPr lang="ru-RU" b="1" dirty="0"/>
              <a:t>только одна </a:t>
            </a:r>
            <a:r>
              <a:rPr lang="ru-RU" dirty="0"/>
              <a:t>инструкция </a:t>
            </a:r>
            <a:r>
              <a:rPr lang="en-US" dirty="0"/>
              <a:t>CMD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701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58" name="Google Shape;358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8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0" name="Google Shape;360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58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7003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2D875-6739-E441-A4EF-8C6D19231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064519"/>
            <a:ext cx="8520600" cy="33388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Запустить простой контейнер</a:t>
            </a:r>
          </a:p>
          <a:p>
            <a:pPr>
              <a:lnSpc>
                <a:spcPct val="150000"/>
              </a:lnSpc>
            </a:pPr>
            <a:r>
              <a:rPr lang="ru-RU" dirty="0"/>
              <a:t>Подключиться к контейнеру</a:t>
            </a:r>
          </a:p>
          <a:p>
            <a:pPr>
              <a:lnSpc>
                <a:spcPct val="150000"/>
              </a:lnSpc>
            </a:pPr>
            <a:r>
              <a:rPr lang="ru-RU" dirty="0"/>
              <a:t>Запустить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ru-RU" dirty="0"/>
              <a:t>в контейнере и подключиться к нему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</a:t>
            </a:r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 err="1"/>
              <a:t>FastAPI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несколько ядер модели и </a:t>
            </a:r>
            <a:r>
              <a:rPr lang="ru-RU" dirty="0" err="1"/>
              <a:t>балансировщик</a:t>
            </a:r>
            <a:r>
              <a:rPr lang="ru-RU" dirty="0"/>
              <a:t> </a:t>
            </a:r>
            <a:r>
              <a:rPr lang="en-US" dirty="0" err="1"/>
              <a:t>nginx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41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– </a:t>
            </a:r>
            <a:r>
              <a:rPr lang="ru-RU" dirty="0"/>
              <a:t>простой контейнер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7C9E1-9C8D-EC43-B225-942953056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189763"/>
            <a:ext cx="8520600" cy="840075"/>
          </a:xfrm>
        </p:spPr>
        <p:txBody>
          <a:bodyPr>
            <a:normAutofit/>
          </a:bodyPr>
          <a:lstStyle/>
          <a:p>
            <a:r>
              <a:rPr lang="ru-RU" sz="1400" dirty="0"/>
              <a:t>Запустить простой контейнер</a:t>
            </a:r>
          </a:p>
          <a:p>
            <a:r>
              <a:rPr lang="ru-RU" sz="1400" dirty="0"/>
              <a:t>Подключиться к контейнеру</a:t>
            </a:r>
          </a:p>
          <a:p>
            <a:r>
              <a:rPr lang="ru-RU" sz="1400" dirty="0"/>
              <a:t>Посмотреть лог</a:t>
            </a:r>
            <a:endParaRPr lang="en-US" sz="1400" dirty="0"/>
          </a:p>
        </p:txBody>
      </p:sp>
      <p:sp>
        <p:nvSpPr>
          <p:cNvPr id="7" name="Google Shape;45;p11">
            <a:extLst>
              <a:ext uri="{FF2B5EF4-FFF2-40B4-BE49-F238E27FC236}">
                <a16:creationId xmlns:a16="http://schemas.microsoft.com/office/drawing/2014/main" id="{93FD6223-C4AD-C645-AA2A-8E9B2F8A0746}"/>
              </a:ext>
            </a:extLst>
          </p:cNvPr>
          <p:cNvSpPr/>
          <p:nvPr/>
        </p:nvSpPr>
        <p:spPr>
          <a:xfrm>
            <a:off x="417150" y="1964987"/>
            <a:ext cx="7988400" cy="2871636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4CC678BF-6E76-5241-8F90-6E440CB94648}"/>
              </a:ext>
            </a:extLst>
          </p:cNvPr>
          <p:cNvSpPr txBox="1">
            <a:spLocks/>
          </p:cNvSpPr>
          <p:nvPr/>
        </p:nvSpPr>
        <p:spPr>
          <a:xfrm>
            <a:off x="500550" y="1964988"/>
            <a:ext cx="8226300" cy="296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скачаем образ и запустим контейнер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pull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okteto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/hello-world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web-test -p 80:8000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okteto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/hello-world</a:t>
            </a:r>
          </a:p>
          <a:p>
            <a:pPr marL="0" indent="0">
              <a:buSzPct val="100000"/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подключимся к контейнеру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curl localhost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выполнить запрос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curl -I localhost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выполнить запрос, получить только заголовки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exec -it web-test /bin/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откроем новую сессию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 контейнере</a:t>
            </a:r>
          </a:p>
          <a:p>
            <a:pPr marL="0" indent="0">
              <a:buSzPct val="100000"/>
              <a:buFont typeface="Arial"/>
              <a:buNone/>
            </a:pP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посмотрим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web-test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покажет текущие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завершит подключение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-f web-test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покажет текущие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оставит подключение открытым</a:t>
            </a:r>
          </a:p>
        </p:txBody>
      </p:sp>
    </p:spTree>
    <p:extLst>
      <p:ext uri="{BB962C8B-B14F-4D97-AF65-F5344CB8AC3E}">
        <p14:creationId xmlns:p14="http://schemas.microsoft.com/office/powerpoint/2010/main" val="3225062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–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ru-RU" dirty="0"/>
              <a:t>в контейнере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7C9E1-9C8D-EC43-B225-942953056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865" y="878674"/>
            <a:ext cx="8520600" cy="976066"/>
          </a:xfrm>
        </p:spPr>
        <p:txBody>
          <a:bodyPr/>
          <a:lstStyle/>
          <a:p>
            <a:r>
              <a:rPr lang="ru-RU" dirty="0"/>
              <a:t>Запустить контейнер с </a:t>
            </a:r>
            <a:r>
              <a:rPr lang="en-US" dirty="0"/>
              <a:t>Jupyter notebook </a:t>
            </a:r>
            <a:r>
              <a:rPr lang="ru-RU" dirty="0"/>
              <a:t>и пробросить его порт 8888 наружу</a:t>
            </a:r>
          </a:p>
          <a:p>
            <a:r>
              <a:rPr lang="ru-RU" dirty="0"/>
              <a:t>Подключиться и выполнить код на исполнение</a:t>
            </a:r>
          </a:p>
          <a:p>
            <a:r>
              <a:rPr lang="ru-RU" dirty="0"/>
              <a:t>Подключиться и посмотреть лог</a:t>
            </a:r>
          </a:p>
          <a:p>
            <a:endParaRPr lang="en-US" dirty="0"/>
          </a:p>
        </p:txBody>
      </p:sp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39824ABA-5C64-DF47-B38E-3B0429EB074C}"/>
              </a:ext>
            </a:extLst>
          </p:cNvPr>
          <p:cNvSpPr/>
          <p:nvPr/>
        </p:nvSpPr>
        <p:spPr>
          <a:xfrm>
            <a:off x="417150" y="1964987"/>
            <a:ext cx="7988400" cy="2871636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40;p61">
            <a:extLst>
              <a:ext uri="{FF2B5EF4-FFF2-40B4-BE49-F238E27FC236}">
                <a16:creationId xmlns:a16="http://schemas.microsoft.com/office/drawing/2014/main" id="{56AA946A-D3E6-8B45-BD5E-B5E9112CAA03}"/>
              </a:ext>
            </a:extLst>
          </p:cNvPr>
          <p:cNvSpPr txBox="1">
            <a:spLocks/>
          </p:cNvSpPr>
          <p:nvPr/>
        </p:nvSpPr>
        <p:spPr>
          <a:xfrm>
            <a:off x="500550" y="1964988"/>
            <a:ext cx="8226300" cy="296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скачаем образ и запустим контейнер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pull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внимание 5.67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Gb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ds-notebook -p 9000:8888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подключимся к контейнеру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через браузер 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localhost:9000</a:t>
            </a:r>
            <a:endParaRPr lang="en-US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посмотрим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 оставим подключение открытым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-f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75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1426623"/>
            <a:ext cx="7988400" cy="3489087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458850" y="1426623"/>
            <a:ext cx="8226300" cy="3547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b="1" u="sng" dirty="0" err="1">
                <a:solidFill>
                  <a:schemeClr val="tx1"/>
                </a:solidFill>
              </a:rPr>
              <a:t>fastapi.Dockerfile</a:t>
            </a:r>
            <a:endParaRPr lang="en-US" sz="1400" b="1" u="sng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b="1" u="sng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FROM python:3.7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RUN python -m pip install </a:t>
            </a:r>
            <a:r>
              <a:rPr lang="en-US" sz="1400" dirty="0" err="1">
                <a:solidFill>
                  <a:schemeClr val="tx1"/>
                </a:solidFill>
              </a:rPr>
              <a:t>fastapi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uvicorn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netifaces</a:t>
            </a: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WORKDIR /app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ADD </a:t>
            </a:r>
            <a:r>
              <a:rPr lang="en-US" sz="1400" dirty="0" err="1">
                <a:solidFill>
                  <a:schemeClr val="tx1"/>
                </a:solidFill>
              </a:rPr>
              <a:t>dummy_fast_api.py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dummy_fast_api.py</a:t>
            </a: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EXPOSE 5002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CMD ["</a:t>
            </a:r>
            <a:r>
              <a:rPr lang="en-US" sz="1400" dirty="0" err="1">
                <a:solidFill>
                  <a:schemeClr val="tx1"/>
                </a:solidFill>
              </a:rPr>
              <a:t>uvicorn</a:t>
            </a:r>
            <a:r>
              <a:rPr lang="en-US" sz="1400" dirty="0">
                <a:solidFill>
                  <a:schemeClr val="tx1"/>
                </a:solidFill>
              </a:rPr>
              <a:t>", "</a:t>
            </a:r>
            <a:r>
              <a:rPr lang="en-US" sz="1400" dirty="0" err="1">
                <a:solidFill>
                  <a:schemeClr val="tx1"/>
                </a:solidFill>
              </a:rPr>
              <a:t>dummy_fast_api:app</a:t>
            </a:r>
            <a:r>
              <a:rPr lang="en-US" sz="1400" dirty="0">
                <a:solidFill>
                  <a:schemeClr val="tx1"/>
                </a:solidFill>
              </a:rPr>
              <a:t>", "--host", "0.0.0.0", "--port", "5002", "--reload"]</a:t>
            </a: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15030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2338334"/>
            <a:ext cx="7988400" cy="189644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70450" y="2386129"/>
            <a:ext cx="8226300" cy="1848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flask.Dockerfile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5001:5001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9761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2338334"/>
            <a:ext cx="7988400" cy="189644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70450" y="2386129"/>
            <a:ext cx="8226300" cy="1848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flask.Dockerfile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5001:5001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B3A08C-5610-FD47-B657-F760DE7F19C0}"/>
              </a:ext>
            </a:extLst>
          </p:cNvPr>
          <p:cNvSpPr/>
          <p:nvPr/>
        </p:nvSpPr>
        <p:spPr>
          <a:xfrm>
            <a:off x="6147882" y="2386129"/>
            <a:ext cx="233464" cy="395982"/>
          </a:xfrm>
          <a:custGeom>
            <a:avLst/>
            <a:gdLst>
              <a:gd name="connsiteX0" fmla="*/ 0 w 233464"/>
              <a:gd name="connsiteY0" fmla="*/ 197991 h 395982"/>
              <a:gd name="connsiteX1" fmla="*/ 116732 w 233464"/>
              <a:gd name="connsiteY1" fmla="*/ 0 h 395982"/>
              <a:gd name="connsiteX2" fmla="*/ 233464 w 233464"/>
              <a:gd name="connsiteY2" fmla="*/ 197991 h 395982"/>
              <a:gd name="connsiteX3" fmla="*/ 116732 w 233464"/>
              <a:gd name="connsiteY3" fmla="*/ 395982 h 395982"/>
              <a:gd name="connsiteX4" fmla="*/ 0 w 233464"/>
              <a:gd name="connsiteY4" fmla="*/ 197991 h 395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64" h="395982" extrusionOk="0">
                <a:moveTo>
                  <a:pt x="0" y="197991"/>
                </a:moveTo>
                <a:cubicBezTo>
                  <a:pt x="-12739" y="80786"/>
                  <a:pt x="47464" y="1801"/>
                  <a:pt x="116732" y="0"/>
                </a:cubicBezTo>
                <a:cubicBezTo>
                  <a:pt x="199670" y="3888"/>
                  <a:pt x="221821" y="89014"/>
                  <a:pt x="233464" y="197991"/>
                </a:cubicBezTo>
                <a:cubicBezTo>
                  <a:pt x="224941" y="315661"/>
                  <a:pt x="180853" y="397903"/>
                  <a:pt x="116732" y="395982"/>
                </a:cubicBezTo>
                <a:cubicBezTo>
                  <a:pt x="37673" y="387999"/>
                  <a:pt x="20648" y="317204"/>
                  <a:pt x="0" y="197991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3374F-44D3-364B-8BB9-6DE07E7EDFF2}"/>
              </a:ext>
            </a:extLst>
          </p:cNvPr>
          <p:cNvSpPr txBox="1"/>
          <p:nvPr/>
        </p:nvSpPr>
        <p:spPr>
          <a:xfrm>
            <a:off x="5651317" y="1596972"/>
            <a:ext cx="3369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Точка в конце - контекст исполнения, </a:t>
            </a:r>
            <a:br>
              <a:rPr lang="ru-RU" dirty="0"/>
            </a:br>
            <a:r>
              <a:rPr lang="ru-RU" dirty="0"/>
              <a:t>не забывайте про него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4269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version: '2.4’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rgbClr val="008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services: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запустим в качестве </a:t>
            </a:r>
            <a:r>
              <a:rPr lang="ru-RU" sz="1400" dirty="0" err="1">
                <a:solidFill>
                  <a:srgbClr val="008F00"/>
                </a:solidFill>
              </a:rPr>
              <a:t>балансировщика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volumes: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./</a:t>
            </a:r>
            <a:r>
              <a:rPr lang="en-US" sz="1400" dirty="0" err="1">
                <a:solidFill>
                  <a:schemeClr val="tx1"/>
                </a:solidFill>
              </a:rPr>
              <a:t>nginx.conf</a:t>
            </a:r>
            <a:r>
              <a:rPr lang="en-US" sz="1400" dirty="0">
                <a:solidFill>
                  <a:schemeClr val="tx1"/>
                </a:solidFill>
              </a:rPr>
              <a:t>:/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nginx.conf:ro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Пробросим </a:t>
            </a:r>
            <a:r>
              <a:rPr lang="ru-RU" sz="1400" dirty="0" err="1">
                <a:solidFill>
                  <a:srgbClr val="008F00"/>
                </a:solidFill>
              </a:rPr>
              <a:t>конфиг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depends_on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- 8080:4000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8080 и пробрасываем его внутрь контейнера на 4000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- 5002:5002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 портов для модели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240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user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служебный </a:t>
            </a:r>
            <a:r>
              <a:rPr lang="en-US" sz="1400" dirty="0">
                <a:solidFill>
                  <a:srgbClr val="008F00"/>
                </a:solidFill>
              </a:rPr>
              <a:t>user </a:t>
            </a:r>
            <a:r>
              <a:rPr lang="ru-RU" sz="1400" dirty="0">
                <a:solidFill>
                  <a:srgbClr val="008F00"/>
                </a:solidFill>
              </a:rPr>
              <a:t>по умолчанию, на </a:t>
            </a:r>
            <a:r>
              <a:rPr lang="ru-RU" sz="1400" dirty="0" err="1">
                <a:solidFill>
                  <a:srgbClr val="008F00"/>
                </a:solidFill>
              </a:rPr>
              <a:t>проде</a:t>
            </a:r>
            <a:r>
              <a:rPr lang="ru-RU" sz="1400" dirty="0">
                <a:solidFill>
                  <a:srgbClr val="008F00"/>
                </a:solidFill>
              </a:rPr>
              <a:t> настроить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events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worker_connections</a:t>
            </a:r>
            <a:r>
              <a:rPr lang="en-US" sz="1400" dirty="0">
                <a:solidFill>
                  <a:schemeClr val="tx1"/>
                </a:solidFill>
              </a:rPr>
              <a:t>   1000;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Максимум соединений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http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server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listen 4000;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4000 </a:t>
            </a:r>
            <a:r>
              <a:rPr lang="ru-RU" sz="1400" b="1" dirty="0">
                <a:solidFill>
                  <a:srgbClr val="008F00"/>
                </a:solidFill>
              </a:rPr>
              <a:t>внутри контейнера</a:t>
            </a:r>
            <a:endParaRPr lang="en-US" sz="1400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location /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    </a:t>
            </a:r>
            <a:r>
              <a:rPr lang="en-US" sz="1400" dirty="0" err="1">
                <a:solidFill>
                  <a:schemeClr val="tx1"/>
                </a:solidFill>
              </a:rPr>
              <a:t>proxy_pass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  <a:hlinkClick r:id="rId3"/>
              </a:rPr>
              <a:t>http://fastapi_net:5002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Пробрасываем запрос на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1400" dirty="0">
                <a:solidFill>
                  <a:schemeClr val="tx1"/>
                </a:solidFill>
              </a:rPr>
              <a:t>						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>
                <a:solidFill>
                  <a:srgbClr val="008F00"/>
                </a:solidFill>
              </a:rPr>
              <a:t>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nginx.conf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659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version: '2.4’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rgbClr val="008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services: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запустим в качестве </a:t>
            </a:r>
            <a:r>
              <a:rPr lang="ru-RU" sz="1400" dirty="0" err="1">
                <a:solidFill>
                  <a:srgbClr val="008F00"/>
                </a:solidFill>
              </a:rPr>
              <a:t>балансировщика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volumes: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./</a:t>
            </a:r>
            <a:r>
              <a:rPr lang="en-US" sz="1400" dirty="0" err="1">
                <a:solidFill>
                  <a:schemeClr val="tx1"/>
                </a:solidFill>
              </a:rPr>
              <a:t>nginx.conf</a:t>
            </a:r>
            <a:r>
              <a:rPr lang="en-US" sz="1400" dirty="0">
                <a:solidFill>
                  <a:schemeClr val="tx1"/>
                </a:solidFill>
              </a:rPr>
              <a:t>:/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nginx.conf:ro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Пробросим </a:t>
            </a:r>
            <a:r>
              <a:rPr lang="ru-RU" sz="1400" dirty="0" err="1">
                <a:solidFill>
                  <a:srgbClr val="008F00"/>
                </a:solidFill>
              </a:rPr>
              <a:t>конфиг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depends_on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- 8080:4000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8080 и пробрасываем его внутрь контейнера на 4000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- 5002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Не указывать внутренний порт, он будет назначен автоматически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deploy: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replicas: 3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Запустить 3 копии,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будет на них распределять нагрузку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7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800" b="1" dirty="0"/>
              <a:t>Docker</a:t>
            </a:r>
            <a:r>
              <a:rPr lang="ru-RU" sz="1800" b="1" dirty="0"/>
              <a:t> 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Основы </a:t>
            </a:r>
            <a:r>
              <a:rPr lang="en-US" sz="1400" dirty="0"/>
              <a:t>docker: </a:t>
            </a:r>
            <a:r>
              <a:rPr lang="en-US" sz="1400" dirty="0">
                <a:hlinkClick r:id="rId3"/>
              </a:rPr>
              <a:t>https://habr.com/ru/companies/ruvds/articles/438796/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Основные команды </a:t>
            </a:r>
            <a:r>
              <a:rPr lang="en-US" sz="1400" dirty="0"/>
              <a:t>docker: </a:t>
            </a:r>
            <a:r>
              <a:rPr lang="en-US" sz="1400" dirty="0">
                <a:hlinkClick r:id="rId4"/>
              </a:rPr>
              <a:t>https://habr.com/ru/companies/flant/articles/336654/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</a:t>
            </a:r>
            <a:r>
              <a:rPr lang="ru-RU" sz="1400" dirty="0"/>
              <a:t>на </a:t>
            </a:r>
            <a:r>
              <a:rPr lang="en-US" sz="1400" dirty="0"/>
              <a:t>mac m1: </a:t>
            </a:r>
            <a:r>
              <a:rPr lang="en-US" sz="1400" dirty="0">
                <a:hlinkClick r:id="rId5"/>
              </a:rPr>
              <a:t>https://habr.com/ru/companies/evrone/articles/716630/</a:t>
            </a:r>
            <a:r>
              <a:rPr lang="en-US" sz="1400" dirty="0"/>
              <a:t> </a:t>
            </a:r>
            <a:endParaRPr lang="ru-RU" sz="14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800" b="1" dirty="0"/>
              <a:t>Оптимизация сборки </a:t>
            </a:r>
            <a:r>
              <a:rPr lang="en-US" sz="1800" b="1" dirty="0" err="1"/>
              <a:t>dockerfile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https://habr.com/ru/companies/first/articles/702168/</a:t>
            </a:r>
            <a:r>
              <a:rPr lang="en-US" sz="1400" dirty="0"/>
              <a:t> 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800" b="1" dirty="0"/>
              <a:t>Развертывание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Развертывание </a:t>
            </a:r>
            <a:r>
              <a:rPr lang="en-US" sz="1400" dirty="0"/>
              <a:t>ML </a:t>
            </a:r>
            <a:r>
              <a:rPr lang="ru-RU" sz="1400" dirty="0"/>
              <a:t>модели в </a:t>
            </a:r>
            <a:r>
              <a:rPr lang="en-US" sz="1400" dirty="0"/>
              <a:t>Docker</a:t>
            </a:r>
            <a:r>
              <a:rPr lang="ru-RU" sz="1400" dirty="0"/>
              <a:t>: </a:t>
            </a:r>
            <a:r>
              <a:rPr lang="en-US" sz="1400" dirty="0">
                <a:hlinkClick r:id="rId7"/>
              </a:rPr>
              <a:t>https://habr.com/ru/articles/548910/</a:t>
            </a:r>
            <a:r>
              <a:rPr lang="ru-RU" sz="1400" dirty="0"/>
              <a:t> 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 err="1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8"/>
              </a:rPr>
              <a:t>https://habr.com/ru/articles/729380/</a:t>
            </a:r>
            <a:r>
              <a:rPr lang="ru-RU" sz="1400" dirty="0"/>
              <a:t> 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311150">
              <a:lnSpc>
                <a:spcPct val="100000"/>
              </a:lnSpc>
              <a:buSzPts val="1300"/>
              <a:buFont typeface="Roboto"/>
              <a:buAutoNum type="arabicPeriod"/>
            </a:pPr>
            <a:r>
              <a:rPr lang="en-US" sz="1800" b="1" dirty="0"/>
              <a:t>Docker Compose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Руководство по </a:t>
            </a:r>
            <a:r>
              <a:rPr lang="en-US" sz="1400" dirty="0"/>
              <a:t>Docker Compose </a:t>
            </a:r>
            <a:r>
              <a:rPr lang="ru-RU" sz="1400" dirty="0"/>
              <a:t>для начинающих</a:t>
            </a:r>
            <a:r>
              <a:rPr lang="en-US" sz="1400" dirty="0"/>
              <a:t>: </a:t>
            </a:r>
            <a:r>
              <a:rPr lang="en-US" sz="1400" dirty="0">
                <a:hlinkClick r:id="rId9"/>
              </a:rPr>
              <a:t>https://habr.com/ru/companies/ruvds/articles/450312/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Compose: </a:t>
            </a:r>
            <a:r>
              <a:rPr lang="en-US" sz="1400" dirty="0">
                <a:hlinkClick r:id="rId10"/>
              </a:rPr>
              <a:t>https://habr.com/ru/companies/otus/articles/731854/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en-US" b="1" dirty="0"/>
              <a:t>Flask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Учебник по </a:t>
            </a:r>
            <a:r>
              <a:rPr lang="en-US" sz="1400" dirty="0"/>
              <a:t>Flask: </a:t>
            </a:r>
            <a:r>
              <a:rPr lang="en-US" sz="1400" dirty="0">
                <a:hlinkClick r:id="rId11"/>
              </a:rPr>
              <a:t>https://habr.com/ru/articles/346306/</a:t>
            </a:r>
            <a:r>
              <a:rPr lang="en-US" sz="1400" dirty="0"/>
              <a:t> </a:t>
            </a:r>
            <a:endParaRPr lang="ru-RU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Advanced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Андрей Канашов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2897" b="12897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15240" b="15240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10689" b="10689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 err="1">
                <a:solidFill>
                  <a:srgbClr val="FF9900"/>
                </a:solidFill>
              </a:rPr>
              <a:t>Раиль</a:t>
            </a:r>
            <a:r>
              <a:rPr lang="ru-RU" sz="1517" b="1" dirty="0">
                <a:solidFill>
                  <a:srgbClr val="FF9900"/>
                </a:solidFill>
              </a:rPr>
              <a:t> Сулейманов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225991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01700" y="1426624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7452" b="7452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19168" b="19168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15853" b="15853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01700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Максим Бекетов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аспирант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01700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01700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Карта курса</a:t>
            </a:r>
            <a:endParaRPr/>
          </a:p>
        </p:txBody>
      </p:sp>
      <p:sp>
        <p:nvSpPr>
          <p:cNvPr id="180" name="Google Shape;180;p34"/>
          <p:cNvSpPr/>
          <p:nvPr/>
        </p:nvSpPr>
        <p:spPr>
          <a:xfrm>
            <a:off x="864398" y="1010127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 Временные ряды</a:t>
            </a:r>
            <a:endParaRPr sz="160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33073" y="1004729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Рекомендательные системы. Задача ранжирования</a:t>
            </a:r>
            <a:endParaRPr sz="11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4"/>
          <p:cNvSpPr/>
          <p:nvPr/>
        </p:nvSpPr>
        <p:spPr>
          <a:xfrm>
            <a:off x="5233073" y="2200026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Bayesian Learning, PyMC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34"/>
          <p:cNvCxnSpPr>
            <a:cxnSpLocks/>
            <a:stCxn id="182" idx="3"/>
            <a:endCxn id="185" idx="3"/>
          </p:cNvCxnSpPr>
          <p:nvPr/>
        </p:nvCxnSpPr>
        <p:spPr>
          <a:xfrm>
            <a:off x="7706273" y="1294379"/>
            <a:ext cx="12700" cy="119529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9" name="Google Shape;189;p34"/>
          <p:cNvSpPr/>
          <p:nvPr/>
        </p:nvSpPr>
        <p:spPr>
          <a:xfrm>
            <a:off x="559148" y="2200027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189;p34">
            <a:extLst>
              <a:ext uri="{FF2B5EF4-FFF2-40B4-BE49-F238E27FC236}">
                <a16:creationId xmlns:a16="http://schemas.microsoft.com/office/drawing/2014/main" id="{52C99CEE-600A-4040-873A-1F7CC7ABFF8F}"/>
              </a:ext>
            </a:extLst>
          </p:cNvPr>
          <p:cNvSpPr/>
          <p:nvPr/>
        </p:nvSpPr>
        <p:spPr>
          <a:xfrm>
            <a:off x="5245773" y="3387942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Production.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AutoML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2540680" y="4306530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DDED3985-BAB4-0E41-BA6F-D51BB5619D60}"/>
              </a:ext>
            </a:extLst>
          </p:cNvPr>
          <p:cNvCxnSpPr>
            <a:cxnSpLocks/>
            <a:stCxn id="32" idx="2"/>
            <a:endCxn id="34" idx="3"/>
          </p:cNvCxnSpPr>
          <p:nvPr/>
        </p:nvCxnSpPr>
        <p:spPr>
          <a:xfrm rot="5400000">
            <a:off x="5738908" y="3852715"/>
            <a:ext cx="628938" cy="8579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2" name="Google Shape;189;p34">
            <a:extLst>
              <a:ext uri="{FF2B5EF4-FFF2-40B4-BE49-F238E27FC236}">
                <a16:creationId xmlns:a16="http://schemas.microsoft.com/office/drawing/2014/main" id="{9DE87CF5-AF69-9946-AFEC-6723012172F4}"/>
              </a:ext>
            </a:extLst>
          </p:cNvPr>
          <p:cNvSpPr/>
          <p:nvPr/>
        </p:nvSpPr>
        <p:spPr>
          <a:xfrm>
            <a:off x="559148" y="3398103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Production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188;p34">
            <a:extLst>
              <a:ext uri="{FF2B5EF4-FFF2-40B4-BE49-F238E27FC236}">
                <a16:creationId xmlns:a16="http://schemas.microsoft.com/office/drawing/2014/main" id="{A0C0363E-4CA0-7443-AAAF-C97A10D0457B}"/>
              </a:ext>
            </a:extLst>
          </p:cNvPr>
          <p:cNvCxnSpPr>
            <a:cxnSpLocks/>
            <a:stCxn id="189" idx="1"/>
            <a:endCxn id="72" idx="1"/>
          </p:cNvCxnSpPr>
          <p:nvPr/>
        </p:nvCxnSpPr>
        <p:spPr>
          <a:xfrm rot="10800000" flipV="1">
            <a:off x="559148" y="2489677"/>
            <a:ext cx="12700" cy="119807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15B8538-B2A4-0049-B063-25A5CDB7CFD5}"/>
              </a:ext>
            </a:extLst>
          </p:cNvPr>
          <p:cNvCxnSpPr>
            <a:stCxn id="72" idx="3"/>
            <a:endCxn id="32" idx="1"/>
          </p:cNvCxnSpPr>
          <p:nvPr/>
        </p:nvCxnSpPr>
        <p:spPr>
          <a:xfrm flipV="1">
            <a:off x="3032348" y="3677592"/>
            <a:ext cx="2213425" cy="10161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C0E4AD7-9AF3-F142-81B3-8A7E9494B948}"/>
              </a:ext>
            </a:extLst>
          </p:cNvPr>
          <p:cNvCxnSpPr>
            <a:stCxn id="180" idx="3"/>
            <a:endCxn id="182" idx="1"/>
          </p:cNvCxnSpPr>
          <p:nvPr/>
        </p:nvCxnSpPr>
        <p:spPr>
          <a:xfrm flipV="1">
            <a:off x="3337598" y="1294379"/>
            <a:ext cx="1895475" cy="5398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7FB34B9-C21F-934C-AD35-DB722170A156}"/>
              </a:ext>
            </a:extLst>
          </p:cNvPr>
          <p:cNvCxnSpPr>
            <a:stCxn id="189" idx="3"/>
            <a:endCxn id="185" idx="1"/>
          </p:cNvCxnSpPr>
          <p:nvPr/>
        </p:nvCxnSpPr>
        <p:spPr>
          <a:xfrm flipV="1">
            <a:off x="3032348" y="2489676"/>
            <a:ext cx="2200725" cy="1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96" name="Google Shape;530;p82">
            <a:extLst>
              <a:ext uri="{FF2B5EF4-FFF2-40B4-BE49-F238E27FC236}">
                <a16:creationId xmlns:a16="http://schemas.microsoft.com/office/drawing/2014/main" id="{ED78EFB3-9678-5C4A-BBDC-D01454CC586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432680" y="1658124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335E48B7-9DA9-8940-B01F-6CB5FD1C9075}"/>
              </a:ext>
            </a:extLst>
          </p:cNvPr>
          <p:cNvSpPr txBox="1"/>
          <p:nvPr/>
        </p:nvSpPr>
        <p:spPr>
          <a:xfrm>
            <a:off x="2613902" y="1652824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98" name="Google Shape;530;p82">
            <a:extLst>
              <a:ext uri="{FF2B5EF4-FFF2-40B4-BE49-F238E27FC236}">
                <a16:creationId xmlns:a16="http://schemas.microsoft.com/office/drawing/2014/main" id="{9F05EBAE-8BBC-AD48-B136-58C00A4CC2F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1706" y="1624003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C24DA8B1-4702-A54B-B8C9-AF7D6D0AD127}"/>
              </a:ext>
            </a:extLst>
          </p:cNvPr>
          <p:cNvSpPr txBox="1"/>
          <p:nvPr/>
        </p:nvSpPr>
        <p:spPr>
          <a:xfrm>
            <a:off x="6932928" y="1618703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0" name="Google Shape;530;p82">
            <a:extLst>
              <a:ext uri="{FF2B5EF4-FFF2-40B4-BE49-F238E27FC236}">
                <a16:creationId xmlns:a16="http://schemas.microsoft.com/office/drawing/2014/main" id="{2243C9B3-4E4D-7A42-896E-C84DC67F651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1706" y="2804306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206DBDDF-AEB4-6548-AB19-7D45B589D408}"/>
              </a:ext>
            </a:extLst>
          </p:cNvPr>
          <p:cNvSpPr txBox="1"/>
          <p:nvPr/>
        </p:nvSpPr>
        <p:spPr>
          <a:xfrm>
            <a:off x="6932928" y="2799006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2" name="Google Shape;530;p82">
            <a:extLst>
              <a:ext uri="{FF2B5EF4-FFF2-40B4-BE49-F238E27FC236}">
                <a16:creationId xmlns:a16="http://schemas.microsoft.com/office/drawing/2014/main" id="{A0C07019-1329-0C42-86E3-FFD97BF80AD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4408" y="3020588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99BB09C2-9CF4-9744-A537-0C82619E708C}"/>
              </a:ext>
            </a:extLst>
          </p:cNvPr>
          <p:cNvSpPr txBox="1"/>
          <p:nvPr/>
        </p:nvSpPr>
        <p:spPr>
          <a:xfrm>
            <a:off x="6935630" y="3015288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4" name="Google Shape;530;p82">
            <a:extLst>
              <a:ext uri="{FF2B5EF4-FFF2-40B4-BE49-F238E27FC236}">
                <a16:creationId xmlns:a16="http://schemas.microsoft.com/office/drawing/2014/main" id="{A5BA5607-D6ED-3D4E-86AC-0EEDCFF5822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790599" y="2800143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6D4D9418-FEBF-124B-9603-E011363BEBE4}"/>
              </a:ext>
            </a:extLst>
          </p:cNvPr>
          <p:cNvSpPr txBox="1"/>
          <p:nvPr/>
        </p:nvSpPr>
        <p:spPr>
          <a:xfrm>
            <a:off x="5971821" y="2794843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6" name="Google Shape;530;p82">
            <a:extLst>
              <a:ext uri="{FF2B5EF4-FFF2-40B4-BE49-F238E27FC236}">
                <a16:creationId xmlns:a16="http://schemas.microsoft.com/office/drawing/2014/main" id="{A17A1390-803A-4A47-8B18-B7CA39747A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35991" y="2809584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55B228BF-E842-804E-B04C-B89F12D42D24}"/>
              </a:ext>
            </a:extLst>
          </p:cNvPr>
          <p:cNvSpPr txBox="1"/>
          <p:nvPr/>
        </p:nvSpPr>
        <p:spPr>
          <a:xfrm>
            <a:off x="2317213" y="2804284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8" name="Google Shape;530;p82">
            <a:extLst>
              <a:ext uri="{FF2B5EF4-FFF2-40B4-BE49-F238E27FC236}">
                <a16:creationId xmlns:a16="http://schemas.microsoft.com/office/drawing/2014/main" id="{53C92AC3-2964-9A48-A521-BD96C3C2696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8243" y="4005805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7B6A2C75-7FB5-8347-9288-526B5140221F}"/>
              </a:ext>
            </a:extLst>
          </p:cNvPr>
          <p:cNvSpPr txBox="1"/>
          <p:nvPr/>
        </p:nvSpPr>
        <p:spPr>
          <a:xfrm>
            <a:off x="2269465" y="4000505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10" name="Google Shape;530;p82">
            <a:extLst>
              <a:ext uri="{FF2B5EF4-FFF2-40B4-BE49-F238E27FC236}">
                <a16:creationId xmlns:a16="http://schemas.microsoft.com/office/drawing/2014/main" id="{42F05C65-62C6-A24B-9C41-F7CF4B7E740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5452" y="4000505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F845C069-5659-FF4E-BA16-30621765B264}"/>
              </a:ext>
            </a:extLst>
          </p:cNvPr>
          <p:cNvSpPr txBox="1"/>
          <p:nvPr/>
        </p:nvSpPr>
        <p:spPr>
          <a:xfrm>
            <a:off x="6936674" y="3995205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32625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Извлечение признаков.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Fourier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Wavelet transformation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545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Кластеризация временных рядов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0105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Сегментация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6256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Прогнозирование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2408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аномалий во временных рядах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61880" y="1928622"/>
            <a:ext cx="909736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54322" y="2236180"/>
            <a:ext cx="15248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946764" y="2543738"/>
            <a:ext cx="213996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639206" y="2851296"/>
            <a:ext cx="275508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1841" y="304657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9737" y="2990477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системы. Задача ранжирования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 на практике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5864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Проблема холодного старта. Метод поиска ближайших соседей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369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SVD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ALS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515257"/>
            <a:ext cx="5355965" cy="5432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 по рекомендательным системам. 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Двухуровневая модель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2408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Обзор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нейросетевых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66171" y="1996103"/>
            <a:ext cx="87292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377018" y="2285256"/>
            <a:ext cx="145123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51055" y="2611219"/>
            <a:ext cx="210315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725092" y="2937182"/>
            <a:ext cx="2755084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0839" y="362487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8735" y="356878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315586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Bayesian Learning,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PyMC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09980"/>
            <a:ext cx="5355965" cy="533826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Вероятностное моделирование, апостериорные оценки,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сэмплирование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2" y="227479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Markov Chain Monte-Carlo (MCMC), Metropolis–Hastings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270178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Байесовское А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B-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28767"/>
            <a:ext cx="5355965" cy="54324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Generalized linear model (GLM) -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байесовские регрессии, вывод апостериорных оценок коэффициентов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0" y="37029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GLM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70161" y="1620341"/>
            <a:ext cx="29317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22211" y="1868292"/>
            <a:ext cx="78907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8717" y="2081785"/>
            <a:ext cx="1216061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58414" y="2332088"/>
            <a:ext cx="171666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08110" y="2582393"/>
            <a:ext cx="2217275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931D4BC3-3746-EE4C-9DA6-B506EF6DFAC2}"/>
              </a:ext>
            </a:extLst>
          </p:cNvPr>
          <p:cNvSpPr/>
          <p:nvPr/>
        </p:nvSpPr>
        <p:spPr>
          <a:xfrm>
            <a:off x="2226710" y="41299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логит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-регрессии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EA9DA8AF-1038-3B48-B6C4-98775A94955A}"/>
              </a:ext>
            </a:extLst>
          </p:cNvPr>
          <p:cNvSpPr/>
          <p:nvPr/>
        </p:nvSpPr>
        <p:spPr>
          <a:xfrm>
            <a:off x="2226709" y="455696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Байесовская сеть доверия: практическое занятие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6247" y="4172464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54143" y="411637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29" name="Google Shape;530;p82">
            <a:extLst>
              <a:ext uri="{FF2B5EF4-FFF2-40B4-BE49-F238E27FC236}">
                <a16:creationId xmlns:a16="http://schemas.microsoft.com/office/drawing/2014/main" id="{69B94714-B9DC-344C-9FA2-2EC653ECB87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31203" y="2314153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365AF79-434E-5142-9324-5EAF53808C49}"/>
              </a:ext>
            </a:extLst>
          </p:cNvPr>
          <p:cNvSpPr txBox="1"/>
          <p:nvPr/>
        </p:nvSpPr>
        <p:spPr>
          <a:xfrm rot="20748746">
            <a:off x="7559099" y="2258059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451A5D45-FFF1-1346-BCDA-A840205B8A4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6247" y="181018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1C690F8-A6BF-484C-AF24-FA419EACCAB9}"/>
              </a:ext>
            </a:extLst>
          </p:cNvPr>
          <p:cNvSpPr txBox="1"/>
          <p:nvPr/>
        </p:nvSpPr>
        <p:spPr>
          <a:xfrm rot="20748746">
            <a:off x="7554143" y="17540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7409801B-DBD1-7F4D-B55F-63536DCDD155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694616" y="2795887"/>
            <a:ext cx="2644262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CBA31B2-3F1A-0F45-B543-86E6E06B8F16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481123" y="3009379"/>
            <a:ext cx="3071247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3881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обучение с подкреплением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3426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Multi-armed bandits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для оптимизации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AB-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тестирования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6871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Multi-armed bandits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ecommerce: search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оптимизация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639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Markov Decision Process, Value function, Bellman equation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430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Value iteration, Policy iteration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728361" y="1933913"/>
            <a:ext cx="74854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501900" y="2160375"/>
            <a:ext cx="1201468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263537" y="2398737"/>
            <a:ext cx="167819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023953" y="2638321"/>
            <a:ext cx="215736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0839" y="362487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8735" y="356878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232CF850-3D55-AB4B-AE51-41DB1671FDEE}"/>
              </a:ext>
            </a:extLst>
          </p:cNvPr>
          <p:cNvSpPr/>
          <p:nvPr/>
        </p:nvSpPr>
        <p:spPr>
          <a:xfrm>
            <a:off x="2209333" y="4093563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966"/>
              </a:gs>
              <a:gs pos="100000">
                <a:schemeClr val="bg1"/>
              </a:gs>
              <a:gs pos="98000">
                <a:schemeClr val="bg1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6" name="Notched Right Arrow 25">
            <a:extLst>
              <a:ext uri="{FF2B5EF4-FFF2-40B4-BE49-F238E27FC236}">
                <a16:creationId xmlns:a16="http://schemas.microsoft.com/office/drawing/2014/main" id="{D17D4DA2-A61A-DE4F-8FDD-98F99736AFEA}"/>
              </a:ext>
            </a:extLst>
          </p:cNvPr>
          <p:cNvSpPr/>
          <p:nvPr/>
        </p:nvSpPr>
        <p:spPr>
          <a:xfrm rot="5400000">
            <a:off x="4346039" y="454620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FCDF12A-C782-7648-9129-C62C143DC90D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790022" y="2872252"/>
            <a:ext cx="2607844" cy="23077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5815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FD966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3426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Monte Carlo Methods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6871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Temporal Difference (TD)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Q-learning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639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SARSA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Практическое занятие: финансовый кейс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TD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Q-learning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430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728361" y="1933913"/>
            <a:ext cx="74854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501900" y="2160375"/>
            <a:ext cx="1201468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263537" y="2398737"/>
            <a:ext cx="167819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023953" y="2638321"/>
            <a:ext cx="215736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98904" y="319686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726800" y="3140768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412224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A7FAB4BA-15B5-A94A-843A-767A7A274D86}"/>
              </a:ext>
            </a:extLst>
          </p:cNvPr>
          <p:cNvSpPr/>
          <p:nvPr/>
        </p:nvSpPr>
        <p:spPr>
          <a:xfrm>
            <a:off x="2226712" y="460736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784370" y="2877905"/>
            <a:ext cx="2636529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561158" y="3139813"/>
            <a:ext cx="308295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597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175436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Production Code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20729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268401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Docker: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Структура, применение,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1631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Сети 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968310" y="1693964"/>
            <a:ext cx="26864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741849" y="1920426"/>
            <a:ext cx="721571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503485" y="2158789"/>
            <a:ext cx="1198298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263902" y="2398372"/>
            <a:ext cx="16774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7324" y="271696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5220" y="266087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36423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докера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1024318" y="2637957"/>
            <a:ext cx="215663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809370" y="2891600"/>
            <a:ext cx="2569148" cy="2307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95A985CA-E3AF-E84B-BBF7-4BE1E806CD0A}"/>
              </a:ext>
            </a:extLst>
          </p:cNvPr>
          <p:cNvSpPr/>
          <p:nvPr/>
        </p:nvSpPr>
        <p:spPr>
          <a:xfrm>
            <a:off x="2209333" y="4093563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966"/>
              </a:gs>
              <a:gs pos="100000">
                <a:schemeClr val="bg1"/>
              </a:gs>
              <a:gs pos="98000">
                <a:schemeClr val="bg1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6" name="Notched Right Arrow 25">
            <a:extLst>
              <a:ext uri="{FF2B5EF4-FFF2-40B4-BE49-F238E27FC236}">
                <a16:creationId xmlns:a16="http://schemas.microsoft.com/office/drawing/2014/main" id="{FB011618-DC95-0440-AB8D-218770C05B45}"/>
              </a:ext>
            </a:extLst>
          </p:cNvPr>
          <p:cNvSpPr/>
          <p:nvPr/>
        </p:nvSpPr>
        <p:spPr>
          <a:xfrm rot="5400000">
            <a:off x="4346039" y="454620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485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4" y="253504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0086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4" y="34823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577970" y="2084305"/>
            <a:ext cx="1049330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341152" y="2321122"/>
            <a:ext cx="15229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04335" y="2557940"/>
            <a:ext cx="1996601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7" name="Google Shape;271;p44">
            <a:extLst>
              <a:ext uri="{FF2B5EF4-FFF2-40B4-BE49-F238E27FC236}">
                <a16:creationId xmlns:a16="http://schemas.microsoft.com/office/drawing/2014/main" id="{F957FD09-497D-0A49-852B-E7ACD6302527}"/>
              </a:ext>
            </a:extLst>
          </p:cNvPr>
          <p:cNvSpPr/>
          <p:nvPr/>
        </p:nvSpPr>
        <p:spPr>
          <a:xfrm>
            <a:off x="2226714" y="2061414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FD966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571B264-FFEC-D849-95A4-F56A7C9C6CCE}"/>
              </a:ext>
            </a:extLst>
          </p:cNvPr>
          <p:cNvCxnSpPr>
            <a:cxnSpLocks/>
            <a:stCxn id="271" idx="2"/>
            <a:endCxn id="27" idx="1"/>
          </p:cNvCxnSpPr>
          <p:nvPr/>
        </p:nvCxnSpPr>
        <p:spPr>
          <a:xfrm rot="16200000" flipH="1">
            <a:off x="1814788" y="1847487"/>
            <a:ext cx="575695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5985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.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175436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Оптимизация кода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20729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Advanced Data Preprocessing. Categorical Encodings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268401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Featuretools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 - Automatic Feature Engineering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1631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H2O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TPOT - Automatic Model Selection and Pipeline Building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968310" y="1693964"/>
            <a:ext cx="26864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741849" y="1920426"/>
            <a:ext cx="721571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503485" y="2158789"/>
            <a:ext cx="1198298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263902" y="2398372"/>
            <a:ext cx="16774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7324" y="320334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5220" y="314725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36423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нечетких дублей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 - HNSW, LSH (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MinHash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)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1024318" y="2637957"/>
            <a:ext cx="215663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755337" y="2945632"/>
            <a:ext cx="2694592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94881D0A-D263-C248-B97F-E77BB18232CC}"/>
              </a:ext>
            </a:extLst>
          </p:cNvPr>
          <p:cNvSpPr/>
          <p:nvPr/>
        </p:nvSpPr>
        <p:spPr>
          <a:xfrm>
            <a:off x="2226712" y="4132312"/>
            <a:ext cx="5355965" cy="56938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Построение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end-to-end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пайплайнов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сериализация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646577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08052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Проектная работа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1928400" y="20614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проекта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1928399" y="251433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 проектных работ №1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1928401" y="2991063"/>
            <a:ext cx="3319282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 проектных работ №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1928401" y="3470230"/>
            <a:ext cx="3319282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46758" y="1777771"/>
            <a:ext cx="575695" cy="3875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20297" y="2004233"/>
            <a:ext cx="1028617" cy="38758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981934" y="2242596"/>
            <a:ext cx="1505344" cy="387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742351" y="2482179"/>
            <a:ext cx="1984511" cy="387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46943F46-D4EA-E643-8D76-66C78ECED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4995191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2397</Words>
  <Application>Microsoft Macintosh PowerPoint</Application>
  <PresentationFormat>On-screen Show (16:9)</PresentationFormat>
  <Paragraphs>436</Paragraphs>
  <Slides>65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Roboto</vt:lpstr>
      <vt:lpstr>Arial</vt:lpstr>
      <vt:lpstr>Courier New</vt:lpstr>
      <vt:lpstr>Google Sans</vt:lpstr>
      <vt:lpstr>Apple Chancery</vt:lpstr>
      <vt:lpstr>Светлая тема</vt:lpstr>
      <vt:lpstr>ML Advanced Основы Docker</vt:lpstr>
      <vt:lpstr>Проверить, идет ли запись</vt:lpstr>
      <vt:lpstr>ML Advanced Основы Docker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Docker</vt:lpstr>
      <vt:lpstr>Virtualization vs containerization</vt:lpstr>
      <vt:lpstr>Механизмы контейнеризации</vt:lpstr>
      <vt:lpstr>chroot</vt:lpstr>
      <vt:lpstr>systemd-nspawn</vt:lpstr>
      <vt:lpstr>LXC</vt:lpstr>
      <vt:lpstr>PowerPoint Presentation</vt:lpstr>
      <vt:lpstr>PowerPoint Presentation</vt:lpstr>
      <vt:lpstr>Deployment</vt:lpstr>
      <vt:lpstr>Docker</vt:lpstr>
      <vt:lpstr>Unionfs</vt:lpstr>
      <vt:lpstr>Docker image -&gt; Docker container</vt:lpstr>
      <vt:lpstr>Docker unionfs</vt:lpstr>
      <vt:lpstr>Docker unionfs - пример</vt:lpstr>
      <vt:lpstr>Docker data volumes</vt:lpstr>
      <vt:lpstr>Docker data volumes</vt:lpstr>
      <vt:lpstr>Docker сеть Bridge network</vt:lpstr>
      <vt:lpstr>Docker port mapping</vt:lpstr>
      <vt:lpstr>Docker hub</vt:lpstr>
      <vt:lpstr>Docker основные команды</vt:lpstr>
      <vt:lpstr>PowerPoint Presentation</vt:lpstr>
      <vt:lpstr>Сборка образа</vt:lpstr>
      <vt:lpstr>Dockerfile</vt:lpstr>
      <vt:lpstr>Пишем dockerfile</vt:lpstr>
      <vt:lpstr>Собираем image</vt:lpstr>
      <vt:lpstr>Docker images</vt:lpstr>
      <vt:lpstr>Запускаем наш контейнер</vt:lpstr>
      <vt:lpstr>Пишем dockerfile</vt:lpstr>
      <vt:lpstr>Выполнить скрипт сразу после запуска</vt:lpstr>
      <vt:lpstr>Вопросы?</vt:lpstr>
      <vt:lpstr>Практика</vt:lpstr>
      <vt:lpstr>Практика</vt:lpstr>
      <vt:lpstr>Практика – простой контейнер</vt:lpstr>
      <vt:lpstr>Практика – jupyter notebook в контейнере </vt:lpstr>
      <vt:lpstr>Развернуть ML модель в Docker с использованием Flask и FastAPI</vt:lpstr>
      <vt:lpstr>Развернуть ML модель в Docker с использованием Flask и FastAPI</vt:lpstr>
      <vt:lpstr>Развернуть ML модель в Docker с использованием Flask и FastAPI</vt:lpstr>
      <vt:lpstr>Развернуть ML модель в Docker Compose</vt:lpstr>
      <vt:lpstr>Развернуть ML модель в Docker Compose</vt:lpstr>
      <vt:lpstr>Развернуть ML модель в Docker Compose</vt:lpstr>
      <vt:lpstr>Список материалов для изучения</vt:lpstr>
      <vt:lpstr>О курсе ML Advanced</vt:lpstr>
      <vt:lpstr>Команда курса</vt:lpstr>
      <vt:lpstr>Команда курса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Production Code проекта на примере задачи классификации/регрессии, Virtual environments, dependency management, pypi/gemfur</dc:title>
  <cp:lastModifiedBy>Стурейко Игорь Олегович</cp:lastModifiedBy>
  <cp:revision>32</cp:revision>
  <dcterms:modified xsi:type="dcterms:W3CDTF">2025-02-19T09:15:09Z</dcterms:modified>
</cp:coreProperties>
</file>