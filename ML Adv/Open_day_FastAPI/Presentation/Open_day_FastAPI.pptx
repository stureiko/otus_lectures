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47"/>
  </p:notesMasterIdLst>
  <p:sldIdLst>
    <p:sldId id="256" r:id="rId2"/>
    <p:sldId id="257" r:id="rId3"/>
    <p:sldId id="383" r:id="rId4"/>
    <p:sldId id="259" r:id="rId5"/>
    <p:sldId id="384" r:id="rId6"/>
    <p:sldId id="407" r:id="rId7"/>
    <p:sldId id="263" r:id="rId8"/>
    <p:sldId id="264" r:id="rId9"/>
    <p:sldId id="408" r:id="rId10"/>
    <p:sldId id="313" r:id="rId11"/>
    <p:sldId id="385" r:id="rId12"/>
    <p:sldId id="389" r:id="rId13"/>
    <p:sldId id="388" r:id="rId14"/>
    <p:sldId id="266" r:id="rId15"/>
    <p:sldId id="403" r:id="rId16"/>
    <p:sldId id="402" r:id="rId17"/>
    <p:sldId id="404" r:id="rId18"/>
    <p:sldId id="405" r:id="rId19"/>
    <p:sldId id="267" r:id="rId20"/>
    <p:sldId id="268" r:id="rId21"/>
    <p:sldId id="269" r:id="rId22"/>
    <p:sldId id="270" r:id="rId23"/>
    <p:sldId id="271" r:id="rId24"/>
    <p:sldId id="275" r:id="rId25"/>
    <p:sldId id="277" r:id="rId26"/>
    <p:sldId id="278" r:id="rId27"/>
    <p:sldId id="397" r:id="rId28"/>
    <p:sldId id="281" r:id="rId29"/>
    <p:sldId id="282" r:id="rId30"/>
    <p:sldId id="409" r:id="rId31"/>
    <p:sldId id="410" r:id="rId32"/>
    <p:sldId id="300" r:id="rId33"/>
    <p:sldId id="406" r:id="rId34"/>
    <p:sldId id="391" r:id="rId35"/>
    <p:sldId id="462" r:id="rId36"/>
    <p:sldId id="463" r:id="rId37"/>
    <p:sldId id="464" r:id="rId38"/>
    <p:sldId id="465" r:id="rId39"/>
    <p:sldId id="466" r:id="rId40"/>
    <p:sldId id="467" r:id="rId41"/>
    <p:sldId id="468" r:id="rId42"/>
    <p:sldId id="469" r:id="rId43"/>
    <p:sldId id="470" r:id="rId44"/>
    <p:sldId id="471" r:id="rId45"/>
    <p:sldId id="302" r:id="rId46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8"/>
      <p:bold r:id="rId49"/>
      <p:italic r:id="rId50"/>
      <p:boldItalic r:id="rId51"/>
    </p:embeddedFont>
    <p:embeddedFont>
      <p:font typeface="Lucida Sans" panose="020B0602030504020204" pitchFamily="34" charset="77"/>
      <p:regular r:id="rId52"/>
      <p:bold r:id="rId53"/>
      <p:italic r:id="rId54"/>
      <p:boldItalic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  <p:embeddedFont>
      <p:font typeface="SimSun" panose="02010600030101010101" pitchFamily="2" charset="-122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/>
    <p:restoredTop sz="94694"/>
  </p:normalViewPr>
  <p:slideViewPr>
    <p:cSldViewPr snapToGrid="0">
      <p:cViewPr varScale="1">
        <p:scale>
          <a:sx n="156" d="100"/>
          <a:sy n="156" d="100"/>
        </p:scale>
        <p:origin x="1032" y="16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890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94271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31850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03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8929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0641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1380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5832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4532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5509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932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7740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6110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60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JP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flask.palletsprojects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djangoproject.com/" TargetMode="External"/><Relationship Id="rId4" Type="http://schemas.openxmlformats.org/officeDocument/2006/relationships/hyperlink" Target="http://fastapi.tiangolo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curl.se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postman.com/" TargetMode="External"/><Relationship Id="rId4" Type="http://schemas.openxmlformats.org/officeDocument/2006/relationships/hyperlink" Target="http://insomnia.rest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ru/deployment/manually/" TargetMode="External"/><Relationship Id="rId3" Type="http://schemas.openxmlformats.org/officeDocument/2006/relationships/hyperlink" Target="https://habr.com/ru/articles/346306/" TargetMode="External"/><Relationship Id="rId7" Type="http://schemas.openxmlformats.org/officeDocument/2006/relationships/hyperlink" Target="https://habr.com/ru/articles/426957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wagger.io/tools/open-source/" TargetMode="External"/><Relationship Id="rId5" Type="http://schemas.openxmlformats.org/officeDocument/2006/relationships/hyperlink" Target="https://habr.com/ru/articles/488468/" TargetMode="External"/><Relationship Id="rId10" Type="http://schemas.openxmlformats.org/officeDocument/2006/relationships/hyperlink" Target="https://insomnia.rest/" TargetMode="External"/><Relationship Id="rId4" Type="http://schemas.openxmlformats.org/officeDocument/2006/relationships/hyperlink" Target="https://habr.com/ru/articles/729380/" TargetMode="External"/><Relationship Id="rId9" Type="http://schemas.openxmlformats.org/officeDocument/2006/relationships/hyperlink" Target="https://www.postman.com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Advanced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Развертывания моделей машинного обучения - создание 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API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ML Advanced</a:t>
            </a:r>
            <a:br>
              <a:rPr lang="en-US" dirty="0"/>
            </a:br>
            <a:r>
              <a:rPr lang="ru-RU" sz="2400" dirty="0"/>
              <a:t>Развертывания моделей машинного обучения - создание </a:t>
            </a:r>
            <a:r>
              <a:rPr lang="en-US" sz="2400" dirty="0"/>
              <a:t>API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9D74D6E-4B24-7043-95C1-5ECC1C800B2C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626905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2631918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87125" y="1785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3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Model-as-a-Service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87125" y="23645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Понятие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1300" b="0" i="0" u="none" strike="noStrike" cap="none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>
            <a:off x="786525" y="294407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FlaskAPI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5" y="3523593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FastAPI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5" y="1393624"/>
            <a:ext cx="600" cy="579517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stCxn id="188" idx="1"/>
            <a:endCxn id="189" idx="1"/>
          </p:cNvCxnSpPr>
          <p:nvPr/>
        </p:nvCxnSpPr>
        <p:spPr>
          <a:xfrm rot="10800000" flipV="1">
            <a:off x="787125" y="1973141"/>
            <a:ext cx="12700" cy="57951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2552658"/>
            <a:ext cx="600" cy="579517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3132176"/>
            <a:ext cx="12700" cy="57951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36"/>
          <p:cNvCxnSpPr>
            <a:cxnSpLocks/>
            <a:stCxn id="191" idx="1"/>
            <a:endCxn id="192" idx="1"/>
          </p:cNvCxnSpPr>
          <p:nvPr/>
        </p:nvCxnSpPr>
        <p:spPr>
          <a:xfrm rot="10800000" flipV="1">
            <a:off x="786525" y="3711693"/>
            <a:ext cx="12700" cy="57951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9C3565-F2E8-AD49-A78E-94F0F801E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98" y="3320276"/>
            <a:ext cx="3588850" cy="1295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8E23B6-B809-0A4E-8726-011E255D1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348" y="1107741"/>
            <a:ext cx="3597928" cy="2024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 dirty="0">
                <a:solidFill>
                  <a:srgbClr val="FF9900"/>
                </a:solidFill>
              </a:rPr>
              <a:t>Андрей Канашов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2897" b="12897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15240" b="15240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0689" b="10689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225991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01700" y="142662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7452" b="7452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2" name="Google Shape;225;p40">
            <a:extLst>
              <a:ext uri="{FF2B5EF4-FFF2-40B4-BE49-F238E27FC236}">
                <a16:creationId xmlns:a16="http://schemas.microsoft.com/office/drawing/2014/main" id="{9DF24FA0-9B4C-5E48-A3C0-049DEFEC1931}"/>
              </a:ext>
            </a:extLst>
          </p:cNvPr>
          <p:cNvPicPr preferRelativeResize="0"/>
          <p:nvPr/>
        </p:nvPicPr>
        <p:blipFill>
          <a:blip r:embed="rId8"/>
          <a:srcRect t="19168" b="19168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9"/>
          <a:srcRect t="15853" b="15853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10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" name="Google Shape;222;p40">
            <a:extLst>
              <a:ext uri="{FF2B5EF4-FFF2-40B4-BE49-F238E27FC236}">
                <a16:creationId xmlns:a16="http://schemas.microsoft.com/office/drawing/2014/main" id="{859CA201-40D4-3143-85D9-C80355AB324D}"/>
              </a:ext>
            </a:extLst>
          </p:cNvPr>
          <p:cNvSpPr txBox="1">
            <a:spLocks/>
          </p:cNvSpPr>
          <p:nvPr/>
        </p:nvSpPr>
        <p:spPr>
          <a:xfrm>
            <a:off x="5201700" y="2297620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Максим Бекетов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аспирант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01700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01700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REST API</a:t>
            </a:r>
            <a:endParaRPr lang="en-US" sz="4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7E2076-A536-1D4B-9A55-A34941F4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зачем вообще нам это нужно?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08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9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121" y="1923752"/>
            <a:ext cx="8627757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EFCFB45-1493-4241-B895-4822047704BD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3073794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678D4-52E7-4846-AB02-5D2B7E76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как услуга (</a:t>
            </a:r>
            <a:r>
              <a:rPr lang="en-US" dirty="0"/>
              <a:t>Model-as-a-Service)</a:t>
            </a:r>
          </a:p>
        </p:txBody>
      </p:sp>
      <p:pic>
        <p:nvPicPr>
          <p:cNvPr id="5" name="Google Shape;253;p39">
            <a:extLst>
              <a:ext uri="{FF2B5EF4-FFF2-40B4-BE49-F238E27FC236}">
                <a16:creationId xmlns:a16="http://schemas.microsoft.com/office/drawing/2014/main" id="{524ECFCF-8CA8-1E44-A86A-56323803AA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5262"/>
          <a:stretch/>
        </p:blipFill>
        <p:spPr>
          <a:xfrm>
            <a:off x="5025957" y="1923752"/>
            <a:ext cx="3859921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FE56C3-CE15-8645-A41F-009E3A7B82DD}"/>
              </a:ext>
            </a:extLst>
          </p:cNvPr>
          <p:cNvSpPr txBox="1"/>
          <p:nvPr/>
        </p:nvSpPr>
        <p:spPr>
          <a:xfrm>
            <a:off x="8125838" y="1457610"/>
            <a:ext cx="691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radley Hand" pitchFamily="2" charset="77"/>
              </a:rPr>
              <a:t>docker</a:t>
            </a:r>
          </a:p>
        </p:txBody>
      </p:sp>
      <p:pic>
        <p:nvPicPr>
          <p:cNvPr id="7" name="Google Shape;253;p39">
            <a:extLst>
              <a:ext uri="{FF2B5EF4-FFF2-40B4-BE49-F238E27FC236}">
                <a16:creationId xmlns:a16="http://schemas.microsoft.com/office/drawing/2014/main" id="{20934D0F-ED24-384C-9CF9-476B70467D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-165" t="-2721" r="66852" b="2721"/>
          <a:stretch/>
        </p:blipFill>
        <p:spPr>
          <a:xfrm>
            <a:off x="258122" y="1923752"/>
            <a:ext cx="2874185" cy="12959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996D210D-BB3B-3A41-AD0E-8FDEEDA3CC95}"/>
              </a:ext>
            </a:extLst>
          </p:cNvPr>
          <p:cNvSpPr/>
          <p:nvPr/>
        </p:nvSpPr>
        <p:spPr>
          <a:xfrm>
            <a:off x="3249038" y="2123849"/>
            <a:ext cx="1660188" cy="1095899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NGINX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EFA462-80C5-914F-906E-7E24B181D21A}"/>
              </a:ext>
            </a:extLst>
          </p:cNvPr>
          <p:cNvSpPr/>
          <p:nvPr/>
        </p:nvSpPr>
        <p:spPr>
          <a:xfrm>
            <a:off x="6582383" y="1796374"/>
            <a:ext cx="2438767" cy="1621277"/>
          </a:xfrm>
          <a:custGeom>
            <a:avLst/>
            <a:gdLst>
              <a:gd name="connsiteX0" fmla="*/ 0 w 2438767"/>
              <a:gd name="connsiteY0" fmla="*/ 270218 h 1621277"/>
              <a:gd name="connsiteX1" fmla="*/ 270218 w 2438767"/>
              <a:gd name="connsiteY1" fmla="*/ 0 h 1621277"/>
              <a:gd name="connsiteX2" fmla="*/ 782767 w 2438767"/>
              <a:gd name="connsiteY2" fmla="*/ 0 h 1621277"/>
              <a:gd name="connsiteX3" fmla="*/ 1238367 w 2438767"/>
              <a:gd name="connsiteY3" fmla="*/ 0 h 1621277"/>
              <a:gd name="connsiteX4" fmla="*/ 1674983 w 2438767"/>
              <a:gd name="connsiteY4" fmla="*/ 0 h 1621277"/>
              <a:gd name="connsiteX5" fmla="*/ 2168549 w 2438767"/>
              <a:gd name="connsiteY5" fmla="*/ 0 h 1621277"/>
              <a:gd name="connsiteX6" fmla="*/ 2438767 w 2438767"/>
              <a:gd name="connsiteY6" fmla="*/ 270218 h 1621277"/>
              <a:gd name="connsiteX7" fmla="*/ 2438767 w 2438767"/>
              <a:gd name="connsiteY7" fmla="*/ 810639 h 1621277"/>
              <a:gd name="connsiteX8" fmla="*/ 2438767 w 2438767"/>
              <a:gd name="connsiteY8" fmla="*/ 1351059 h 1621277"/>
              <a:gd name="connsiteX9" fmla="*/ 2168549 w 2438767"/>
              <a:gd name="connsiteY9" fmla="*/ 1621277 h 1621277"/>
              <a:gd name="connsiteX10" fmla="*/ 1693966 w 2438767"/>
              <a:gd name="connsiteY10" fmla="*/ 1621277 h 1621277"/>
              <a:gd name="connsiteX11" fmla="*/ 1238367 w 2438767"/>
              <a:gd name="connsiteY11" fmla="*/ 1621277 h 1621277"/>
              <a:gd name="connsiteX12" fmla="*/ 725817 w 2438767"/>
              <a:gd name="connsiteY12" fmla="*/ 1621277 h 1621277"/>
              <a:gd name="connsiteX13" fmla="*/ 270218 w 2438767"/>
              <a:gd name="connsiteY13" fmla="*/ 1621277 h 1621277"/>
              <a:gd name="connsiteX14" fmla="*/ 0 w 2438767"/>
              <a:gd name="connsiteY14" fmla="*/ 1351059 h 1621277"/>
              <a:gd name="connsiteX15" fmla="*/ 0 w 2438767"/>
              <a:gd name="connsiteY15" fmla="*/ 799830 h 1621277"/>
              <a:gd name="connsiteX16" fmla="*/ 0 w 2438767"/>
              <a:gd name="connsiteY16" fmla="*/ 270218 h 1621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38767" h="1621277" extrusionOk="0">
                <a:moveTo>
                  <a:pt x="0" y="270218"/>
                </a:moveTo>
                <a:cubicBezTo>
                  <a:pt x="-10116" y="114741"/>
                  <a:pt x="108255" y="4776"/>
                  <a:pt x="270218" y="0"/>
                </a:cubicBezTo>
                <a:cubicBezTo>
                  <a:pt x="448210" y="-25464"/>
                  <a:pt x="573577" y="30901"/>
                  <a:pt x="782767" y="0"/>
                </a:cubicBezTo>
                <a:cubicBezTo>
                  <a:pt x="991957" y="-30901"/>
                  <a:pt x="1088310" y="47852"/>
                  <a:pt x="1238367" y="0"/>
                </a:cubicBezTo>
                <a:cubicBezTo>
                  <a:pt x="1388424" y="-47852"/>
                  <a:pt x="1536638" y="42131"/>
                  <a:pt x="1674983" y="0"/>
                </a:cubicBezTo>
                <a:cubicBezTo>
                  <a:pt x="1813328" y="-42131"/>
                  <a:pt x="1967581" y="15528"/>
                  <a:pt x="2168549" y="0"/>
                </a:cubicBezTo>
                <a:cubicBezTo>
                  <a:pt x="2333116" y="-31549"/>
                  <a:pt x="2412217" y="116915"/>
                  <a:pt x="2438767" y="270218"/>
                </a:cubicBezTo>
                <a:cubicBezTo>
                  <a:pt x="2484876" y="403703"/>
                  <a:pt x="2415982" y="691508"/>
                  <a:pt x="2438767" y="810639"/>
                </a:cubicBezTo>
                <a:cubicBezTo>
                  <a:pt x="2461552" y="929770"/>
                  <a:pt x="2434262" y="1118156"/>
                  <a:pt x="2438767" y="1351059"/>
                </a:cubicBezTo>
                <a:cubicBezTo>
                  <a:pt x="2457246" y="1504739"/>
                  <a:pt x="2291303" y="1616994"/>
                  <a:pt x="2168549" y="1621277"/>
                </a:cubicBezTo>
                <a:cubicBezTo>
                  <a:pt x="1954124" y="1629082"/>
                  <a:pt x="1916492" y="1614407"/>
                  <a:pt x="1693966" y="1621277"/>
                </a:cubicBezTo>
                <a:cubicBezTo>
                  <a:pt x="1471440" y="1628147"/>
                  <a:pt x="1438463" y="1589649"/>
                  <a:pt x="1238367" y="1621277"/>
                </a:cubicBezTo>
                <a:cubicBezTo>
                  <a:pt x="1038271" y="1652905"/>
                  <a:pt x="955975" y="1607373"/>
                  <a:pt x="725817" y="1621277"/>
                </a:cubicBezTo>
                <a:cubicBezTo>
                  <a:pt x="495659" y="1635181"/>
                  <a:pt x="476789" y="1577772"/>
                  <a:pt x="270218" y="1621277"/>
                </a:cubicBezTo>
                <a:cubicBezTo>
                  <a:pt x="116070" y="1622083"/>
                  <a:pt x="-14914" y="1490005"/>
                  <a:pt x="0" y="1351059"/>
                </a:cubicBezTo>
                <a:cubicBezTo>
                  <a:pt x="-8480" y="1138554"/>
                  <a:pt x="59177" y="1071468"/>
                  <a:pt x="0" y="799830"/>
                </a:cubicBezTo>
                <a:cubicBezTo>
                  <a:pt x="-59177" y="528192"/>
                  <a:pt x="58131" y="515729"/>
                  <a:pt x="0" y="270218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58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>
            <a:spLocks noGrp="1"/>
          </p:cNvSpPr>
          <p:nvPr>
            <p:ph type="title"/>
          </p:nvPr>
        </p:nvSpPr>
        <p:spPr>
          <a:xfrm>
            <a:off x="365658" y="343980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264" name="Google Shape;264;p41"/>
          <p:cNvSpPr txBox="1"/>
          <p:nvPr/>
        </p:nvSpPr>
        <p:spPr>
          <a:xfrm>
            <a:off x="365659" y="1362506"/>
            <a:ext cx="6469644" cy="1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presentational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tate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ru-RU" sz="20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ransfer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«передача состояния представления») —  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архитектурный стиль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взаимодействия  компонентов распределённого приложения</a:t>
            </a:r>
            <a:endParaRPr lang="en-US"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700" marR="5080" lvl="0" indent="0" algn="l" rtl="0">
              <a:lnSpc>
                <a:spcPct val="12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000" dirty="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ru-RU" sz="2000" dirty="0">
                <a:latin typeface="Helvetica Neue"/>
                <a:ea typeface="Helvetica Neue"/>
                <a:cs typeface="Helvetica Neue"/>
                <a:sym typeface="Helvetica Neue"/>
              </a:rPr>
              <a:t>набор правил)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365658" y="3888847"/>
            <a:ext cx="6991984" cy="516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marR="5080" lvl="0" indent="0" algn="l" rtl="0">
              <a:lnSpc>
                <a:spcPct val="1495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</a:t>
            </a:r>
            <a:r>
              <a:rPr lang="ru-RU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службы, не нарушающие  ограничений REST</a:t>
            </a:r>
            <a:endParaRPr sz="20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2979" y="902452"/>
            <a:ext cx="2563280" cy="2247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>
            <a:off x="5209742" y="3228502"/>
            <a:ext cx="3934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1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https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://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www.ics.uci.edu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/~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fielding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  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pubs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dissertation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ru-RU" sz="1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rest_arch_style.htm</a:t>
            </a:r>
            <a:endParaRPr sz="1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pic>
        <p:nvPicPr>
          <p:cNvPr id="273" name="Google Shape;2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478" y="1114647"/>
            <a:ext cx="7241044" cy="29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ED2DBD-97D9-6A4D-A914-4CAA96C4618A}"/>
              </a:ext>
            </a:extLst>
          </p:cNvPr>
          <p:cNvSpPr txBox="1"/>
          <p:nvPr/>
        </p:nvSpPr>
        <p:spPr>
          <a:xfrm>
            <a:off x="3424136" y="2516221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xml</a:t>
            </a:r>
          </a:p>
          <a:p>
            <a:pPr algn="ctr"/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Ресурс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500550" y="1426624"/>
            <a:ext cx="8520600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Всё сущее является ресурсом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Каждый ресурс должен иметь уникальный URL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/api/posts/12345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69900" marR="0" lvl="1" indent="-216534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0" i="1" u="none" strike="noStrike" cap="non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/api/posts/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коллекция ресурсов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sp>
        <p:nvSpPr>
          <p:cNvPr id="285" name="Google Shape;285;p44"/>
          <p:cNvSpPr txBox="1"/>
          <p:nvPr/>
        </p:nvSpPr>
        <p:spPr>
          <a:xfrm>
            <a:off x="500550" y="1426624"/>
            <a:ext cx="6858000" cy="246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получить состояние ресурса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создать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обновить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4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244"/>
              <a:buFont typeface="Lucida Sans"/>
              <a:buChar char="●"/>
            </a:pPr>
            <a:r>
              <a:rPr lang="ru-RU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ru-RU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удалить ресурс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Семантика HTTP методов</a:t>
            </a:r>
            <a:endParaRPr/>
          </a:p>
        </p:txBody>
      </p:sp>
      <p:pic>
        <p:nvPicPr>
          <p:cNvPr id="291" name="Google Shape;29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951" y="1127760"/>
            <a:ext cx="7292098" cy="328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Преимущества</a:t>
            </a:r>
            <a:endParaRPr/>
          </a:p>
        </p:txBody>
      </p:sp>
      <p:sp>
        <p:nvSpPr>
          <p:cNvPr id="319" name="Google Shape;319;p49"/>
          <p:cNvSpPr txBox="1"/>
          <p:nvPr/>
        </p:nvSpPr>
        <p:spPr>
          <a:xfrm>
            <a:off x="500550" y="1105475"/>
            <a:ext cx="77031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marR="3618865" lvl="0" indent="-342900" algn="l" rtl="0">
              <a:lnSpc>
                <a:spcPct val="122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Надёжность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Производительнос</a:t>
            </a:r>
            <a:r>
              <a:rPr lang="ru-RU" sz="2400">
                <a:latin typeface="Helvetica Neue"/>
                <a:ea typeface="Helvetica Neue"/>
                <a:cs typeface="Helvetica Neue"/>
                <a:sym typeface="Helvetica Neue"/>
              </a:rPr>
              <a:t>т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ь</a:t>
            </a:r>
            <a:endParaRPr/>
          </a:p>
          <a:p>
            <a:pPr marL="355600" marR="3618865" lvl="0" indent="-342900" algn="l" rtl="0">
              <a:lnSpc>
                <a:spcPct val="1229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Масштабируемость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Прозрачность системы взаимодействия</a:t>
            </a:r>
            <a:endParaRPr/>
          </a:p>
          <a:p>
            <a:pPr marL="355600" marR="5080" lvl="0" indent="-342900" algn="l" rtl="0">
              <a:lnSpc>
                <a:spcPct val="1229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Простота интерфейсов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Портативность компонентов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Легкость внесения изменений</a:t>
            </a:r>
            <a:endParaRPr/>
          </a:p>
          <a:p>
            <a:pPr marL="355600" marR="1400810" lvl="0" indent="-34290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Способность эволюционировать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Фреймворки</a:t>
            </a:r>
            <a:endParaRPr/>
          </a:p>
        </p:txBody>
      </p:sp>
      <p:sp>
        <p:nvSpPr>
          <p:cNvPr id="331" name="Google Shape;331;p51"/>
          <p:cNvSpPr txBox="1"/>
          <p:nvPr/>
        </p:nvSpPr>
        <p:spPr>
          <a:xfrm>
            <a:off x="500550" y="1121824"/>
            <a:ext cx="5082540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Flask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flask.palletsprojects.com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FastAPI (</a:t>
            </a:r>
            <a:r>
              <a:rPr lang="ru-RU" sz="2400" b="0" i="0" u="sng" strike="noStrike" cap="none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fastapi.tiangolo.com</a:t>
            </a:r>
            <a:r>
              <a:rPr lang="ru-RU" sz="2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Django (</a:t>
            </a:r>
            <a:r>
              <a:rPr lang="ru-RU" sz="2400" b="0" i="0" u="sng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www.djangoproject.com</a:t>
            </a:r>
            <a:r>
              <a:rPr lang="ru-RU" sz="2400" b="0" i="0" u="none" strike="noStrike" cap="none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>
                <a:latin typeface="Arial"/>
                <a:ea typeface="Arial"/>
                <a:cs typeface="Arial"/>
                <a:sym typeface="Arial"/>
              </a:rPr>
              <a:t>Клиенты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500550" y="1121824"/>
            <a:ext cx="5082540" cy="157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54000" marR="0" lvl="0" indent="-216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cURL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curl.se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5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Insomnia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insomnia.rest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54000" marR="0" lvl="0" indent="-216535" algn="l" rtl="0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Lucida Sans"/>
              <a:buChar char="●"/>
            </a:pPr>
            <a:r>
              <a:rPr lang="ru-RU" sz="2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Postman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ru-RU" sz="2400" b="0" i="0" u="sng" strike="noStrike" cap="none" dirty="0">
                <a:solidFill>
                  <a:srgbClr val="18B5ED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www.postman.com</a:t>
            </a:r>
            <a:r>
              <a:rPr lang="ru-RU" sz="2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sz="5400" b="1" dirty="0">
                <a:latin typeface="Roboto"/>
                <a:ea typeface="Roboto"/>
                <a:cs typeface="Roboto"/>
                <a:sym typeface="Roboto"/>
              </a:rPr>
              <a:t>API</a:t>
            </a:r>
            <a:endParaRPr lang="en-US" sz="4900" dirty="0"/>
          </a:p>
        </p:txBody>
      </p:sp>
    </p:spTree>
    <p:extLst>
      <p:ext uri="{BB962C8B-B14F-4D97-AF65-F5344CB8AC3E}">
        <p14:creationId xmlns:p14="http://schemas.microsoft.com/office/powerpoint/2010/main" val="1512078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>
                <a:latin typeface="Arial"/>
                <a:cs typeface="Arial"/>
                <a:sym typeface="Arial"/>
              </a:rPr>
              <a:t>Фреймворки</a:t>
            </a:r>
            <a:endParaRPr dirty="0"/>
          </a:p>
        </p:txBody>
      </p:sp>
      <p:pic>
        <p:nvPicPr>
          <p:cNvPr id="357" name="Google Shape;35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9881" y="1937174"/>
            <a:ext cx="3243088" cy="1269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FDE9D-3AB7-E345-BA61-98EB96991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23" y="1830041"/>
            <a:ext cx="4116646" cy="14834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 модели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79D2F-EA46-F641-83AF-2615A537E241}"/>
              </a:ext>
            </a:extLst>
          </p:cNvPr>
          <p:cNvSpPr txBox="1"/>
          <p:nvPr/>
        </p:nvSpPr>
        <p:spPr>
          <a:xfrm>
            <a:off x="500550" y="1485089"/>
            <a:ext cx="34099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Примитивная тестовая модель</a:t>
            </a:r>
          </a:p>
          <a:p>
            <a:endParaRPr lang="ru-RU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fit() -&gt; bool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predict() -&gt; 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7F16B-6DDB-9642-B4A7-CC289BEEA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940" y="1057072"/>
            <a:ext cx="5070059" cy="38832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Flask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79D2F-EA46-F641-83AF-2615A537E241}"/>
              </a:ext>
            </a:extLst>
          </p:cNvPr>
          <p:cNvSpPr txBox="1"/>
          <p:nvPr/>
        </p:nvSpPr>
        <p:spPr>
          <a:xfrm>
            <a:off x="500550" y="1485089"/>
            <a:ext cx="4071451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приложения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модели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пути обработки запросов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Запускаем приложение как веб сервер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gunicorn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dummy_flask_api:app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--bind 5001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5782C-F29C-F644-A014-3E9AAEDC2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069" y="0"/>
            <a:ext cx="43099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6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Пример </a:t>
            </a: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Fas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tAPI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79D2F-EA46-F641-83AF-2615A537E241}"/>
              </a:ext>
            </a:extLst>
          </p:cNvPr>
          <p:cNvSpPr txBox="1"/>
          <p:nvPr/>
        </p:nvSpPr>
        <p:spPr>
          <a:xfrm>
            <a:off x="500550" y="1485089"/>
            <a:ext cx="4071451" cy="2327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приложения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объект модели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Создаем пути обработки запросов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Запускаем приложение как веб сервер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dummy_fast_api:app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--port: 5002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--reload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1AF392-F138-2140-9014-7172F30DD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0" r="7711"/>
          <a:stretch/>
        </p:blipFill>
        <p:spPr>
          <a:xfrm>
            <a:off x="4280170" y="0"/>
            <a:ext cx="48638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8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indent="-342900">
              <a:buSzPts val="1300"/>
              <a:buFont typeface="+mj-lt"/>
              <a:buAutoNum type="arabicPeriod"/>
            </a:pPr>
            <a:r>
              <a:rPr lang="en-US" sz="1800" b="1" dirty="0"/>
              <a:t>Flask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Учебник по </a:t>
            </a:r>
            <a:r>
              <a:rPr lang="en-US" sz="1400" dirty="0"/>
              <a:t>Flask: </a:t>
            </a:r>
            <a:r>
              <a:rPr lang="en-US" sz="1400" dirty="0">
                <a:hlinkClick r:id="rId3"/>
              </a:rPr>
              <a:t>https://habr.com/ru/articles/346306/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en-US" sz="1800" b="1" dirty="0" err="1"/>
              <a:t>FastAPI</a:t>
            </a:r>
            <a:endParaRPr lang="ru-RU" sz="1800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Простой </a:t>
            </a:r>
            <a:r>
              <a:rPr lang="en-US" sz="1400" dirty="0"/>
              <a:t>ML </a:t>
            </a:r>
            <a:r>
              <a:rPr lang="ru-RU" sz="1400" dirty="0"/>
              <a:t>веб-сервис на </a:t>
            </a:r>
            <a:r>
              <a:rPr lang="en-US" sz="1400" dirty="0" err="1"/>
              <a:t>FastAPI</a:t>
            </a:r>
            <a:r>
              <a:rPr lang="ru-RU" sz="1400" dirty="0"/>
              <a:t>: </a:t>
            </a:r>
            <a:r>
              <a:rPr lang="en-US" sz="1400" dirty="0">
                <a:hlinkClick r:id="rId4"/>
              </a:rPr>
              <a:t>https://habr.com/ru/articles/729380/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/>
              <a:t>Знакомство с </a:t>
            </a:r>
            <a:r>
              <a:rPr lang="en-US" sz="1400" dirty="0" err="1"/>
              <a:t>FastAPI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https://habr.com/ru/articles/488468/</a:t>
            </a:r>
            <a:r>
              <a:rPr lang="en-US" sz="1400" dirty="0"/>
              <a:t> </a:t>
            </a:r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488950" indent="-342900">
              <a:buSzPts val="1300"/>
              <a:buFont typeface="+mj-lt"/>
              <a:buAutoNum type="arabicPeriod"/>
            </a:pPr>
            <a:r>
              <a:rPr lang="ru-RU" b="1" dirty="0"/>
              <a:t>Ресурсы</a:t>
            </a:r>
            <a:r>
              <a:rPr lang="en-US" b="1" dirty="0"/>
              <a:t> </a:t>
            </a:r>
            <a:r>
              <a:rPr lang="ru-RU" b="1" dirty="0"/>
              <a:t>для тестирования </a:t>
            </a:r>
            <a:r>
              <a:rPr lang="en-US" b="1" dirty="0"/>
              <a:t>API</a:t>
            </a:r>
            <a:endParaRPr lang="ru-RU" b="1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Swagger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WSGI </a:t>
            </a:r>
            <a:r>
              <a:rPr lang="ru-RU" sz="1400" dirty="0">
                <a:hlinkClick r:id="rId7"/>
              </a:rPr>
              <a:t>Серверы</a:t>
            </a:r>
            <a:endParaRPr lang="ru-RU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ru-RU" sz="1400" dirty="0">
                <a:hlinkClick r:id="rId8"/>
              </a:rPr>
              <a:t>Запуск через </a:t>
            </a:r>
            <a:r>
              <a:rPr lang="en-US" sz="1400" dirty="0">
                <a:hlinkClick r:id="rId8"/>
              </a:rPr>
              <a:t>uvicorn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9"/>
              </a:rPr>
              <a:t>Postman</a:t>
            </a:r>
            <a:endParaRPr lang="en-US" sz="1400" dirty="0"/>
          </a:p>
          <a:p>
            <a:pPr lvl="1" indent="-31115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10"/>
              </a:rPr>
              <a:t>Insomnia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Advanced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Карта курса</a:t>
            </a:r>
            <a:endParaRPr/>
          </a:p>
        </p:txBody>
      </p:sp>
      <p:sp>
        <p:nvSpPr>
          <p:cNvPr id="180" name="Google Shape;180;p34"/>
          <p:cNvSpPr/>
          <p:nvPr/>
        </p:nvSpPr>
        <p:spPr>
          <a:xfrm>
            <a:off x="864398" y="10101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 Временные ряды</a:t>
            </a:r>
            <a:endParaRPr sz="160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33073" y="1004729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системы. Задача ранжирования</a:t>
            </a:r>
            <a:endParaRPr sz="11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4"/>
          <p:cNvSpPr/>
          <p:nvPr/>
        </p:nvSpPr>
        <p:spPr>
          <a:xfrm>
            <a:off x="5233073" y="2200026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Bayesian Learning, PyMC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34"/>
          <p:cNvCxnSpPr>
            <a:cxnSpLocks/>
            <a:stCxn id="182" idx="3"/>
            <a:endCxn id="185" idx="3"/>
          </p:cNvCxnSpPr>
          <p:nvPr/>
        </p:nvCxnSpPr>
        <p:spPr>
          <a:xfrm>
            <a:off x="7706273" y="1294379"/>
            <a:ext cx="12700" cy="11952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9" name="Google Shape;189;p34"/>
          <p:cNvSpPr/>
          <p:nvPr/>
        </p:nvSpPr>
        <p:spPr>
          <a:xfrm>
            <a:off x="559148" y="22000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245773" y="3387942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Production.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2540680" y="4306530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DDED3985-BAB4-0E41-BA6F-D51BB5619D60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5738908" y="3852715"/>
            <a:ext cx="628938" cy="8579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2" name="Google Shape;189;p34">
            <a:extLst>
              <a:ext uri="{FF2B5EF4-FFF2-40B4-BE49-F238E27FC236}">
                <a16:creationId xmlns:a16="http://schemas.microsoft.com/office/drawing/2014/main" id="{9DE87CF5-AF69-9946-AFEC-6723012172F4}"/>
              </a:ext>
            </a:extLst>
          </p:cNvPr>
          <p:cNvSpPr/>
          <p:nvPr/>
        </p:nvSpPr>
        <p:spPr>
          <a:xfrm>
            <a:off x="559148" y="33981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188;p34">
            <a:extLst>
              <a:ext uri="{FF2B5EF4-FFF2-40B4-BE49-F238E27FC236}">
                <a16:creationId xmlns:a16="http://schemas.microsoft.com/office/drawing/2014/main" id="{A0C0363E-4CA0-7443-AAAF-C97A10D0457B}"/>
              </a:ext>
            </a:extLst>
          </p:cNvPr>
          <p:cNvCxnSpPr>
            <a:cxnSpLocks/>
            <a:stCxn id="189" idx="1"/>
            <a:endCxn id="72" idx="1"/>
          </p:cNvCxnSpPr>
          <p:nvPr/>
        </p:nvCxnSpPr>
        <p:spPr>
          <a:xfrm rot="10800000" flipV="1">
            <a:off x="559148" y="2489677"/>
            <a:ext cx="12700" cy="119807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5B8538-B2A4-0049-B063-25A5CDB7CFD5}"/>
              </a:ext>
            </a:extLst>
          </p:cNvPr>
          <p:cNvCxnSpPr>
            <a:stCxn id="72" idx="3"/>
            <a:endCxn id="32" idx="1"/>
          </p:cNvCxnSpPr>
          <p:nvPr/>
        </p:nvCxnSpPr>
        <p:spPr>
          <a:xfrm flipV="1">
            <a:off x="3032348" y="3677592"/>
            <a:ext cx="2213425" cy="1016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0E4AD7-9AF3-F142-81B3-8A7E9494B948}"/>
              </a:ext>
            </a:extLst>
          </p:cNvPr>
          <p:cNvCxnSpPr>
            <a:stCxn id="180" idx="3"/>
            <a:endCxn id="182" idx="1"/>
          </p:cNvCxnSpPr>
          <p:nvPr/>
        </p:nvCxnSpPr>
        <p:spPr>
          <a:xfrm flipV="1">
            <a:off x="3337598" y="1294379"/>
            <a:ext cx="1895475" cy="5398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7FB34B9-C21F-934C-AD35-DB722170A156}"/>
              </a:ext>
            </a:extLst>
          </p:cNvPr>
          <p:cNvCxnSpPr>
            <a:stCxn id="189" idx="3"/>
            <a:endCxn id="185" idx="1"/>
          </p:cNvCxnSpPr>
          <p:nvPr/>
        </p:nvCxnSpPr>
        <p:spPr>
          <a:xfrm flipV="1">
            <a:off x="3032348" y="2489676"/>
            <a:ext cx="2200725" cy="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96" name="Google Shape;530;p82">
            <a:extLst>
              <a:ext uri="{FF2B5EF4-FFF2-40B4-BE49-F238E27FC236}">
                <a16:creationId xmlns:a16="http://schemas.microsoft.com/office/drawing/2014/main" id="{ED78EFB3-9678-5C4A-BBDC-D01454CC586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432680" y="165812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35E48B7-9DA9-8940-B01F-6CB5FD1C9075}"/>
              </a:ext>
            </a:extLst>
          </p:cNvPr>
          <p:cNvSpPr txBox="1"/>
          <p:nvPr/>
        </p:nvSpPr>
        <p:spPr>
          <a:xfrm>
            <a:off x="2613902" y="165282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98" name="Google Shape;530;p82">
            <a:extLst>
              <a:ext uri="{FF2B5EF4-FFF2-40B4-BE49-F238E27FC236}">
                <a16:creationId xmlns:a16="http://schemas.microsoft.com/office/drawing/2014/main" id="{9F05EBAE-8BBC-AD48-B136-58C00A4CC2F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162400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24DA8B1-4702-A54B-B8C9-AF7D6D0AD127}"/>
              </a:ext>
            </a:extLst>
          </p:cNvPr>
          <p:cNvSpPr txBox="1"/>
          <p:nvPr/>
        </p:nvSpPr>
        <p:spPr>
          <a:xfrm>
            <a:off x="6932928" y="161870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0" name="Google Shape;530;p82">
            <a:extLst>
              <a:ext uri="{FF2B5EF4-FFF2-40B4-BE49-F238E27FC236}">
                <a16:creationId xmlns:a16="http://schemas.microsoft.com/office/drawing/2014/main" id="{2243C9B3-4E4D-7A42-896E-C84DC67F651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2804306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06DBDDF-AEB4-6548-AB19-7D45B589D408}"/>
              </a:ext>
            </a:extLst>
          </p:cNvPr>
          <p:cNvSpPr txBox="1"/>
          <p:nvPr/>
        </p:nvSpPr>
        <p:spPr>
          <a:xfrm>
            <a:off x="6932928" y="2799006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2" name="Google Shape;530;p82">
            <a:extLst>
              <a:ext uri="{FF2B5EF4-FFF2-40B4-BE49-F238E27FC236}">
                <a16:creationId xmlns:a16="http://schemas.microsoft.com/office/drawing/2014/main" id="{A0C07019-1329-0C42-86E3-FFD97BF80AD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4408" y="3020588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9BB09C2-9CF4-9744-A537-0C82619E708C}"/>
              </a:ext>
            </a:extLst>
          </p:cNvPr>
          <p:cNvSpPr txBox="1"/>
          <p:nvPr/>
        </p:nvSpPr>
        <p:spPr>
          <a:xfrm>
            <a:off x="6935630" y="3015288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4" name="Google Shape;530;p82">
            <a:extLst>
              <a:ext uri="{FF2B5EF4-FFF2-40B4-BE49-F238E27FC236}">
                <a16:creationId xmlns:a16="http://schemas.microsoft.com/office/drawing/2014/main" id="{A5BA5607-D6ED-3D4E-86AC-0EEDCFF5822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90599" y="280014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6D4D9418-FEBF-124B-9603-E011363BEBE4}"/>
              </a:ext>
            </a:extLst>
          </p:cNvPr>
          <p:cNvSpPr txBox="1"/>
          <p:nvPr/>
        </p:nvSpPr>
        <p:spPr>
          <a:xfrm>
            <a:off x="5971821" y="279484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6" name="Google Shape;530;p82">
            <a:extLst>
              <a:ext uri="{FF2B5EF4-FFF2-40B4-BE49-F238E27FC236}">
                <a16:creationId xmlns:a16="http://schemas.microsoft.com/office/drawing/2014/main" id="{A17A1390-803A-4A47-8B18-B7CA39747A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35991" y="280958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55B228BF-E842-804E-B04C-B89F12D42D24}"/>
              </a:ext>
            </a:extLst>
          </p:cNvPr>
          <p:cNvSpPr txBox="1"/>
          <p:nvPr/>
        </p:nvSpPr>
        <p:spPr>
          <a:xfrm>
            <a:off x="2317213" y="280428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8" name="Google Shape;530;p82">
            <a:extLst>
              <a:ext uri="{FF2B5EF4-FFF2-40B4-BE49-F238E27FC236}">
                <a16:creationId xmlns:a16="http://schemas.microsoft.com/office/drawing/2014/main" id="{53C92AC3-2964-9A48-A521-BD96C3C2696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8243" y="40058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7B6A2C75-7FB5-8347-9288-526B5140221F}"/>
              </a:ext>
            </a:extLst>
          </p:cNvPr>
          <p:cNvSpPr txBox="1"/>
          <p:nvPr/>
        </p:nvSpPr>
        <p:spPr>
          <a:xfrm>
            <a:off x="2269465" y="40005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10" name="Google Shape;530;p82">
            <a:extLst>
              <a:ext uri="{FF2B5EF4-FFF2-40B4-BE49-F238E27FC236}">
                <a16:creationId xmlns:a16="http://schemas.microsoft.com/office/drawing/2014/main" id="{42F05C65-62C6-A24B-9C41-F7CF4B7E740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5452" y="40005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845C069-5659-FF4E-BA16-30621765B264}"/>
              </a:ext>
            </a:extLst>
          </p:cNvPr>
          <p:cNvSpPr txBox="1"/>
          <p:nvPr/>
        </p:nvSpPr>
        <p:spPr>
          <a:xfrm>
            <a:off x="6936674" y="39952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3262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Fourier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Wavelet transformation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545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105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Сегментация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6256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Прогнозирование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во временных рядах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1880" y="1928622"/>
            <a:ext cx="90973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54322" y="2236180"/>
            <a:ext cx="15248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764" y="2543738"/>
            <a:ext cx="21399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639206" y="2851296"/>
            <a:ext cx="275508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1841" y="304657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9737" y="2990477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системы. Задача ранжирования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 на практике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5864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Проблема холодного старта. Метод поиска ближайших соседей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369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SVD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ALS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515257"/>
            <a:ext cx="5355965" cy="5432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 по рекомендательным системам.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Двухуровневая 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Обзор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нейросетевых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66171" y="1996103"/>
            <a:ext cx="87292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77018" y="2285256"/>
            <a:ext cx="145123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51055" y="2611219"/>
            <a:ext cx="210315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25092" y="2937182"/>
            <a:ext cx="2755084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31558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Bayesian Learning,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PyMC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09980"/>
            <a:ext cx="5355965" cy="533826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Вероятностное моделирование, апостериорные оценки,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сэмплирование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2" y="227479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Chain Monte-Carlo (MCMC), Metropolis–Hastings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270178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Байесовское А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28767"/>
            <a:ext cx="5355965" cy="5432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Generalized linear model (GLM) -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байесовские регрессии, вывод апостериорных оценок коэффициентов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0" y="37029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GLM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70161" y="1620341"/>
            <a:ext cx="2931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22211" y="1868292"/>
            <a:ext cx="78907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8717" y="2081785"/>
            <a:ext cx="1216061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8414" y="2332088"/>
            <a:ext cx="17166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08110" y="2582393"/>
            <a:ext cx="2217275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31D4BC3-3746-EE4C-9DA6-B506EF6DFAC2}"/>
              </a:ext>
            </a:extLst>
          </p:cNvPr>
          <p:cNvSpPr/>
          <p:nvPr/>
        </p:nvSpPr>
        <p:spPr>
          <a:xfrm>
            <a:off x="2226710" y="41299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логит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-регрессии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EA9DA8AF-1038-3B48-B6C4-98775A94955A}"/>
              </a:ext>
            </a:extLst>
          </p:cNvPr>
          <p:cNvSpPr/>
          <p:nvPr/>
        </p:nvSpPr>
        <p:spPr>
          <a:xfrm>
            <a:off x="2226709" y="455696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Байесовская сеть доверия: практическое занятие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417246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54143" y="411637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29" name="Google Shape;530;p82">
            <a:extLst>
              <a:ext uri="{FF2B5EF4-FFF2-40B4-BE49-F238E27FC236}">
                <a16:creationId xmlns:a16="http://schemas.microsoft.com/office/drawing/2014/main" id="{69B94714-B9DC-344C-9FA2-2EC653ECB87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31203" y="231415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365AF79-434E-5142-9324-5EAF53808C49}"/>
              </a:ext>
            </a:extLst>
          </p:cNvPr>
          <p:cNvSpPr txBox="1"/>
          <p:nvPr/>
        </p:nvSpPr>
        <p:spPr>
          <a:xfrm rot="20748746">
            <a:off x="7559099" y="2258059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451A5D45-FFF1-1346-BCDA-A840205B8A4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181018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C690F8-A6BF-484C-AF24-FA419EACCAB9}"/>
              </a:ext>
            </a:extLst>
          </p:cNvPr>
          <p:cNvSpPr txBox="1"/>
          <p:nvPr/>
        </p:nvSpPr>
        <p:spPr>
          <a:xfrm rot="20748746">
            <a:off x="7554143" y="17540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7409801B-DBD1-7F4D-B55F-63536DCDD155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694616" y="2795887"/>
            <a:ext cx="2644262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CBA31B2-3F1A-0F45-B543-86E6E06B8F16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481123" y="3009379"/>
            <a:ext cx="3071247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88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оптимизации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ecommerce: search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Decision Process, Value function, Bellman equation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Value iteration, Policy iteration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232CF850-3D55-AB4B-AE51-41DB1671FDEE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D17D4DA2-A61A-DE4F-8FDD-98F99736AFEA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FCDF12A-C782-7648-9129-C62C143DC90D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790022" y="2872252"/>
            <a:ext cx="2607844" cy="2307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581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Monte Carlo Methods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Temporal Difference (TD)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SARSA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Практическое занятие: финансовый кейс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98904" y="319686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726800" y="3140768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412224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A7FAB4BA-15B5-A94A-843A-767A7A274D86}"/>
              </a:ext>
            </a:extLst>
          </p:cNvPr>
          <p:cNvSpPr/>
          <p:nvPr/>
        </p:nvSpPr>
        <p:spPr>
          <a:xfrm>
            <a:off x="2226712" y="460736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784370" y="2877905"/>
            <a:ext cx="2636529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561158" y="3139813"/>
            <a:ext cx="308295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9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Production Code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271696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266087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809370" y="2891600"/>
            <a:ext cx="2569148" cy="2307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5A985CA-E3AF-E84B-BBF7-4BE1E806CD0A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FB011618-DC95-0440-AB8D-218770C05B45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48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4" y="253504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086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4" y="34823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77970" y="2084305"/>
            <a:ext cx="1049330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41152" y="2321122"/>
            <a:ext cx="15229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04335" y="2557940"/>
            <a:ext cx="1996601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7" name="Google Shape;271;p44">
            <a:extLst>
              <a:ext uri="{FF2B5EF4-FFF2-40B4-BE49-F238E27FC236}">
                <a16:creationId xmlns:a16="http://schemas.microsoft.com/office/drawing/2014/main" id="{F957FD09-497D-0A49-852B-E7ACD6302527}"/>
              </a:ext>
            </a:extLst>
          </p:cNvPr>
          <p:cNvSpPr/>
          <p:nvPr/>
        </p:nvSpPr>
        <p:spPr>
          <a:xfrm>
            <a:off x="2226714" y="2061414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571B264-FFEC-D849-95A4-F56A7C9C6CCE}"/>
              </a:ext>
            </a:extLst>
          </p:cNvPr>
          <p:cNvCxnSpPr>
            <a:cxnSpLocks/>
            <a:stCxn id="271" idx="2"/>
            <a:endCxn id="27" idx="1"/>
          </p:cNvCxnSpPr>
          <p:nvPr/>
        </p:nvCxnSpPr>
        <p:spPr>
          <a:xfrm rot="16200000" flipH="1">
            <a:off x="1814788" y="1847487"/>
            <a:ext cx="575695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598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.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 кода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Advanced Data Preprocessing. Categorical Encodings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Featuretools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Automatic Feature Engineering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H2O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TPOT - Automatic Model Selection and Pipeline Building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320334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314725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нечетких дублей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HNSW, LSH (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MinHash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)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55337" y="2945632"/>
            <a:ext cx="2694592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94881D0A-D263-C248-B97F-E77BB18232CC}"/>
              </a:ext>
            </a:extLst>
          </p:cNvPr>
          <p:cNvSpPr/>
          <p:nvPr/>
        </p:nvSpPr>
        <p:spPr>
          <a:xfrm>
            <a:off x="2226712" y="4132312"/>
            <a:ext cx="5355965" cy="56938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64657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08052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Проектная работа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1928400" y="20614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проекта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1928399" y="251433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1928401" y="2991063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1928401" y="3470230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46758" y="1777771"/>
            <a:ext cx="575695" cy="3875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20297" y="2004233"/>
            <a:ext cx="1028617" cy="3875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981934" y="2242596"/>
            <a:ext cx="1505344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42351" y="2482179"/>
            <a:ext cx="1984511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46943F46-D4EA-E643-8D76-66C78ECE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99519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1279</Words>
  <Application>Microsoft Macintosh PowerPoint</Application>
  <PresentationFormat>On-screen Show (16:9)</PresentationFormat>
  <Paragraphs>285</Paragraphs>
  <Slides>45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Helvetica Neue</vt:lpstr>
      <vt:lpstr>Courier New</vt:lpstr>
      <vt:lpstr>Google Sans</vt:lpstr>
      <vt:lpstr>Apple Chancery</vt:lpstr>
      <vt:lpstr>Bradley Hand</vt:lpstr>
      <vt:lpstr>Georgia</vt:lpstr>
      <vt:lpstr>SimSun</vt:lpstr>
      <vt:lpstr>Roboto</vt:lpstr>
      <vt:lpstr>Lucida Sans</vt:lpstr>
      <vt:lpstr>Светлая тема</vt:lpstr>
      <vt:lpstr>ML Advanced Развертывания моделей машинного обучения - создание API</vt:lpstr>
      <vt:lpstr>Проверить, идет ли запись</vt:lpstr>
      <vt:lpstr>ML Advanced Развертывания моделей машинного обучения - создание API</vt:lpstr>
      <vt:lpstr>Правила вебинара</vt:lpstr>
      <vt:lpstr>Маршрут вебинара</vt:lpstr>
      <vt:lpstr>Расскажите о себе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Знакомство</vt:lpstr>
      <vt:lpstr>Команда курса</vt:lpstr>
      <vt:lpstr>Команда курса</vt:lpstr>
      <vt:lpstr>REST API</vt:lpstr>
      <vt:lpstr>А зачем вообще нам это нужно?</vt:lpstr>
      <vt:lpstr>Модель как услуга (Model-as-a-Service)</vt:lpstr>
      <vt:lpstr>Модель как услуга (Model-as-a-Service)</vt:lpstr>
      <vt:lpstr>Модель как услуга (Model-as-a-Service)</vt:lpstr>
      <vt:lpstr>REST API</vt:lpstr>
      <vt:lpstr>REST API</vt:lpstr>
      <vt:lpstr>Ресурс</vt:lpstr>
      <vt:lpstr>Семантика HTTP методов</vt:lpstr>
      <vt:lpstr>Семантика HTTP методов</vt:lpstr>
      <vt:lpstr>Преимущества</vt:lpstr>
      <vt:lpstr>Фреймворки</vt:lpstr>
      <vt:lpstr>Клиенты</vt:lpstr>
      <vt:lpstr>API</vt:lpstr>
      <vt:lpstr>Фреймворки</vt:lpstr>
      <vt:lpstr>Пример модели</vt:lpstr>
      <vt:lpstr>Пример Flask</vt:lpstr>
      <vt:lpstr>Пример FastAPI</vt:lpstr>
      <vt:lpstr>Практика</vt:lpstr>
      <vt:lpstr>Список материалов для изучения</vt:lpstr>
      <vt:lpstr>О курсе ML Advanced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Production Code проекта на примере задачи классификации/регрессии, Virtual environments, dependency management, pypi/gemfur</dc:title>
  <cp:lastModifiedBy>Стурейко Игорь Олегович</cp:lastModifiedBy>
  <cp:revision>31</cp:revision>
  <dcterms:modified xsi:type="dcterms:W3CDTF">2025-02-05T17:03:14Z</dcterms:modified>
</cp:coreProperties>
</file>