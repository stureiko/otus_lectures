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42"/>
  </p:notesMasterIdLst>
  <p:sldIdLst>
    <p:sldId id="256" r:id="rId3"/>
    <p:sldId id="379" r:id="rId4"/>
    <p:sldId id="380" r:id="rId5"/>
    <p:sldId id="349" r:id="rId6"/>
    <p:sldId id="489" r:id="rId7"/>
    <p:sldId id="262" r:id="rId8"/>
    <p:sldId id="263" r:id="rId9"/>
    <p:sldId id="264" r:id="rId10"/>
    <p:sldId id="348" r:id="rId11"/>
    <p:sldId id="344" r:id="rId12"/>
    <p:sldId id="343" r:id="rId13"/>
    <p:sldId id="372" r:id="rId14"/>
    <p:sldId id="354" r:id="rId15"/>
    <p:sldId id="373" r:id="rId16"/>
    <p:sldId id="350" r:id="rId17"/>
    <p:sldId id="362" r:id="rId18"/>
    <p:sldId id="374" r:id="rId19"/>
    <p:sldId id="366" r:id="rId20"/>
    <p:sldId id="355" r:id="rId21"/>
    <p:sldId id="363" r:id="rId22"/>
    <p:sldId id="376" r:id="rId23"/>
    <p:sldId id="367" r:id="rId24"/>
    <p:sldId id="356" r:id="rId25"/>
    <p:sldId id="377" r:id="rId26"/>
    <p:sldId id="368" r:id="rId27"/>
    <p:sldId id="359" r:id="rId28"/>
    <p:sldId id="360" r:id="rId29"/>
    <p:sldId id="361" r:id="rId30"/>
    <p:sldId id="378" r:id="rId31"/>
    <p:sldId id="278" r:id="rId32"/>
    <p:sldId id="279" r:id="rId33"/>
    <p:sldId id="280" r:id="rId34"/>
    <p:sldId id="281" r:id="rId35"/>
    <p:sldId id="282" r:id="rId36"/>
    <p:sldId id="283" r:id="rId37"/>
    <p:sldId id="365" r:id="rId38"/>
    <p:sldId id="287" r:id="rId39"/>
    <p:sldId id="289" r:id="rId40"/>
    <p:sldId id="337" r:id="rId4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3"/>
    </p:embeddedFont>
    <p:embeddedFont>
      <p:font typeface="Helvetica Neue" panose="02000503000000020004" pitchFamily="2" charset="0"/>
      <p:regular r:id="rId44"/>
      <p:bold r:id="rId45"/>
      <p:italic r:id="rId46"/>
      <p:bold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8D40"/>
    <a:srgbClr val="FF0000"/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38"/>
    <p:restoredTop sz="97146"/>
  </p:normalViewPr>
  <p:slideViewPr>
    <p:cSldViewPr snapToGrid="0">
      <p:cViewPr varScale="1">
        <p:scale>
          <a:sx n="208" d="100"/>
          <a:sy n="208" d="100"/>
        </p:scale>
        <p:origin x="216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6.xml"/><Relationship Id="rId51" Type="http://schemas.openxmlformats.org/officeDocument/2006/relationships/font" Target="fonts/font9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7053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743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1366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9398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2015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70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4161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165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65919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30221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12838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2725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33203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5604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99610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43463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7337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98412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69158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2259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df6222e6a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df6222e6a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50068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509.02971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ikorea/awesome-rl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t.me/c/1530284868/2747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Actor-Critic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dirty="0"/>
              <a:t>Deep Q Network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5B6C0B-391F-E646-B875-92F9CA29F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FCC69E03-9DBF-494A-9B34-980047DF6F9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/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52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Возьмем лучшее от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DQN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A2C </a:t>
            </a: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A3C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STIXMathJax_Normal-italic"/>
                <a:ea typeface="Roboto"/>
                <a:cs typeface="Roboto"/>
                <a:sym typeface="Roboto"/>
              </a:rPr>
              <a:t>А если еще улучшить - </a:t>
            </a:r>
            <a:r>
              <a:rPr lang="en-US" dirty="0">
                <a:latin typeface="STIXMathJax_Normal-italic"/>
                <a:ea typeface="Roboto"/>
                <a:cs typeface="Roboto"/>
                <a:sym typeface="Roboto"/>
              </a:rPr>
              <a:t>DDPG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Дальнейший путь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улучшения специфичных задач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52"/>
          <p:cNvCxnSpPr>
            <a:stCxn id="267" idx="1"/>
            <a:endCxn id="26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4" name="Google Shape;274;p52"/>
          <p:cNvCxnSpPr>
            <a:stCxn id="268" idx="1"/>
            <a:endCxn id="269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name="adj1" fmla="val 397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stCxn id="270" idx="1"/>
            <a:endCxn id="271" idx="1"/>
          </p:cNvCxnSpPr>
          <p:nvPr/>
        </p:nvCxnSpPr>
        <p:spPr>
          <a:xfrm>
            <a:off x="786525" y="3137164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pic>
        <p:nvPicPr>
          <p:cNvPr id="1026" name="Picture 2" descr="ac">
            <a:extLst>
              <a:ext uri="{FF2B5EF4-FFF2-40B4-BE49-F238E27FC236}">
                <a16:creationId xmlns:a16="http://schemas.microsoft.com/office/drawing/2014/main" id="{F9C9C331-4BD7-3B49-A4B9-B3E1A68C6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0748" y="1028555"/>
            <a:ext cx="4776843" cy="2686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1309291409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Собрать лучшие части от алгоритмов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алгоритм А2С и А3С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алгоритма до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DDPG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3307940028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базу для перехода к задачам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мультиагентного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обучения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базу для перехода к задачам частично-наблюдаемых процессов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649523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Algorithms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37754D-06AD-304D-9055-81474C19CB62}"/>
              </a:ext>
            </a:extLst>
          </p:cNvPr>
          <p:cNvGrpSpPr/>
          <p:nvPr/>
        </p:nvGrpSpPr>
        <p:grpSpPr>
          <a:xfrm>
            <a:off x="1100181" y="1068918"/>
            <a:ext cx="7321337" cy="3675024"/>
            <a:chOff x="1100181" y="1068918"/>
            <a:chExt cx="7321337" cy="36750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7AC6D5-07DF-4C46-8ABA-991007203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0181" y="1068918"/>
              <a:ext cx="7321337" cy="3675024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37F8C51-F572-1C4C-99AA-40E22EBBA3F7}"/>
                </a:ext>
              </a:extLst>
            </p:cNvPr>
            <p:cNvSpPr/>
            <p:nvPr/>
          </p:nvSpPr>
          <p:spPr>
            <a:xfrm>
              <a:off x="2864919" y="3447922"/>
              <a:ext cx="859167" cy="288436"/>
            </a:xfrm>
            <a:prstGeom prst="roundRect">
              <a:avLst/>
            </a:prstGeom>
            <a:solidFill>
              <a:srgbClr val="FF0000">
                <a:alpha val="18039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FC48BEE-5DF9-D046-BC60-07E98966091D}"/>
                </a:ext>
              </a:extLst>
            </p:cNvPr>
            <p:cNvSpPr/>
            <p:nvPr/>
          </p:nvSpPr>
          <p:spPr>
            <a:xfrm>
              <a:off x="1336822" y="3662717"/>
              <a:ext cx="859167" cy="288436"/>
            </a:xfrm>
            <a:prstGeom prst="roundRect">
              <a:avLst/>
            </a:prstGeom>
            <a:solidFill>
              <a:srgbClr val="FF0000">
                <a:alpha val="18039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</p:spTree>
    <p:extLst>
      <p:ext uri="{BB962C8B-B14F-4D97-AF65-F5344CB8AC3E}">
        <p14:creationId xmlns:p14="http://schemas.microsoft.com/office/powerpoint/2010/main" val="3717948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Actor-Critic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657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079273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Loss: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func>
                                <m:func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 b="0" i="0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sz="16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6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6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≈−2</m:t>
                      </m:r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600" b="0" i="1" u="none" strike="noStrike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 ←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𝐿𝑜𝑠𝑠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051E6E68-4317-2841-BFA7-5EE1361731D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079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909EFE9-8AF8-534F-AFCA-B36C86C8D18F}"/>
              </a:ext>
            </a:extLst>
          </p:cNvPr>
          <p:cNvSpPr/>
          <p:nvPr/>
        </p:nvSpPr>
        <p:spPr>
          <a:xfrm>
            <a:off x="3970751" y="1076820"/>
            <a:ext cx="3288082" cy="565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1765A9-AAE0-3141-9C7B-B21DF4F1C30F}"/>
              </a:ext>
            </a:extLst>
          </p:cNvPr>
          <p:cNvSpPr/>
          <p:nvPr/>
        </p:nvSpPr>
        <p:spPr>
          <a:xfrm>
            <a:off x="4473326" y="3596231"/>
            <a:ext cx="951705" cy="337530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82712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12291-7ABD-834A-95A3-323BA7CC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D6D5F7-B52A-834B-A19A-5A9527D71EF8}"/>
              </a:ext>
            </a:extLst>
          </p:cNvPr>
          <p:cNvSpPr txBox="1"/>
          <p:nvPr/>
        </p:nvSpPr>
        <p:spPr>
          <a:xfrm>
            <a:off x="6618215" y="1694587"/>
            <a:ext cx="21246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</a:rPr>
              <a:t>Дискретное пространство действий</a:t>
            </a:r>
          </a:p>
          <a:p>
            <a:endParaRPr lang="ru-RU" sz="1800" dirty="0">
              <a:solidFill>
                <a:srgbClr val="C00000"/>
              </a:solidFill>
            </a:endParaRPr>
          </a:p>
          <a:p>
            <a:r>
              <a:rPr lang="ru-RU" sz="1800" dirty="0">
                <a:solidFill>
                  <a:srgbClr val="C00000"/>
                </a:solidFill>
              </a:rPr>
              <a:t>Сложно обучать </a:t>
            </a:r>
            <a:br>
              <a:rPr lang="ru-RU" sz="1800" dirty="0">
                <a:solidFill>
                  <a:srgbClr val="C00000"/>
                </a:solidFill>
              </a:rPr>
            </a:br>
            <a:r>
              <a:rPr lang="en-US" sz="1800" dirty="0">
                <a:solidFill>
                  <a:srgbClr val="C00000"/>
                </a:solidFill>
              </a:rPr>
              <a:t>Q-</a:t>
            </a:r>
            <a:r>
              <a:rPr lang="ru-RU" sz="1800" dirty="0">
                <a:solidFill>
                  <a:srgbClr val="C00000"/>
                </a:solidFill>
              </a:rPr>
              <a:t>функцию</a:t>
            </a:r>
            <a:endParaRPr lang="en-RU" sz="18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57A5D-043C-2047-9AAF-ADA1B20BE362}"/>
              </a:ext>
            </a:extLst>
          </p:cNvPr>
          <p:cNvSpPr txBox="1"/>
          <p:nvPr/>
        </p:nvSpPr>
        <p:spPr>
          <a:xfrm>
            <a:off x="951780" y="2275761"/>
            <a:ext cx="1891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58D40"/>
                </a:solidFill>
              </a:rPr>
              <a:t>Off-policy</a:t>
            </a:r>
          </a:p>
          <a:p>
            <a:endParaRPr lang="en-US" sz="1800" dirty="0">
              <a:solidFill>
                <a:srgbClr val="058D40"/>
              </a:solidFill>
            </a:endParaRPr>
          </a:p>
          <a:p>
            <a:r>
              <a:rPr lang="ru-RU" dirty="0">
                <a:solidFill>
                  <a:srgbClr val="058D40"/>
                </a:solidFill>
              </a:rPr>
              <a:t>Использование </a:t>
            </a:r>
            <a:br>
              <a:rPr lang="en-US" dirty="0">
                <a:solidFill>
                  <a:srgbClr val="058D40"/>
                </a:solidFill>
              </a:rPr>
            </a:br>
            <a:r>
              <a:rPr lang="en-US" dirty="0">
                <a:solidFill>
                  <a:srgbClr val="058D40"/>
                </a:solidFill>
              </a:rPr>
              <a:t>Experience replay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B2C0E7-6CD8-1445-AE87-37F092D54C9D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D86B4B-9083-7143-BCF3-5EDCF81A9773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594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-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алгоритм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Задаем начальное приближение политики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Запускаем обучение. Для каждого эпизода:</a:t>
                </a: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Действуя по текущей политике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получаем траекторию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награды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и определяем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ru-RU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ru-RU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Следуя по траектории обновляем веса модели по правилу:</a:t>
                </a:r>
              </a:p>
              <a:p>
                <a:pPr marL="603250" lvl="1" indent="0">
                  <a:buNone/>
                </a:pP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func>
                        <m:func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  <a:blipFill>
                <a:blip r:embed="rId3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7CB0B14A-99BE-E84C-AF7A-0DC79D0E341A}"/>
              </a:ext>
            </a:extLst>
          </p:cNvPr>
          <p:cNvSpPr/>
          <p:nvPr/>
        </p:nvSpPr>
        <p:spPr>
          <a:xfrm>
            <a:off x="4369482" y="3872392"/>
            <a:ext cx="1123055" cy="374352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6489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713310-70E5-8E4C-856E-67239DC65324}"/>
              </a:ext>
            </a:extLst>
          </p:cNvPr>
          <p:cNvSpPr txBox="1"/>
          <p:nvPr/>
        </p:nvSpPr>
        <p:spPr>
          <a:xfrm>
            <a:off x="362078" y="2107235"/>
            <a:ext cx="27861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058D40"/>
                </a:solidFill>
              </a:rPr>
              <a:t>Непрерывное пространство действий</a:t>
            </a:r>
          </a:p>
          <a:p>
            <a:endParaRPr lang="ru-RU" sz="1800" dirty="0">
              <a:solidFill>
                <a:srgbClr val="058D40"/>
              </a:solidFill>
            </a:endParaRPr>
          </a:p>
          <a:p>
            <a:r>
              <a:rPr lang="ru-RU" sz="1800" dirty="0">
                <a:solidFill>
                  <a:srgbClr val="058D40"/>
                </a:solidFill>
              </a:rPr>
              <a:t>Обучаем сразу политику</a:t>
            </a:r>
            <a:endParaRPr lang="en-RU" sz="1800" dirty="0">
              <a:solidFill>
                <a:srgbClr val="058D4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585466" y="1676348"/>
            <a:ext cx="189141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On-policy</a:t>
            </a: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можем использовать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Experience replay</a:t>
            </a:r>
            <a:endParaRPr lang="ru-RU" dirty="0">
              <a:solidFill>
                <a:srgbClr val="C00000"/>
              </a:solidFill>
            </a:endParaRPr>
          </a:p>
          <a:p>
            <a:endParaRPr lang="ru-RU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устойчив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184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Actor-Critic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63317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nary>
                        </m:e>
                      </m:d>
                      <m:r>
                        <a:rPr lang="en-US" sz="14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d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4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Политику приближаем по алгоритму 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REINFORCE </a:t>
                </a:r>
              </a:p>
              <a:p>
                <a:r>
                  <a:rPr lang="en-US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Q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-функцию обновляем по 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DQN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633177"/>
              </a:xfrm>
              <a:prstGeom prst="rect">
                <a:avLst/>
              </a:prstGeom>
              <a:blipFill>
                <a:blip r:embed="rId3"/>
                <a:stretch>
                  <a:fillRect t="-13240" b="-170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C7988FF-40E2-F54A-89FC-DEDA81D5CA37}"/>
              </a:ext>
            </a:extLst>
          </p:cNvPr>
          <p:cNvSpPr/>
          <p:nvPr/>
        </p:nvSpPr>
        <p:spPr>
          <a:xfrm>
            <a:off x="4516767" y="3716877"/>
            <a:ext cx="742565" cy="34980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69DAEF-403F-3B4A-98F1-8F59FFF6F4B9}"/>
              </a:ext>
            </a:extLst>
          </p:cNvPr>
          <p:cNvSpPr txBox="1"/>
          <p:nvPr/>
        </p:nvSpPr>
        <p:spPr>
          <a:xfrm>
            <a:off x="2811292" y="4222736"/>
            <a:ext cx="13612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</a:t>
            </a:r>
            <a:r>
              <a:rPr lang="en-RU" dirty="0"/>
              <a:t>ctor</a:t>
            </a:r>
          </a:p>
          <a:p>
            <a:pPr algn="ctr"/>
            <a:r>
              <a:rPr lang="en-RU" dirty="0"/>
              <a:t>(REINFORCE)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EAA9AE3D-BD8F-2245-8802-89679BD3753C}"/>
              </a:ext>
            </a:extLst>
          </p:cNvPr>
          <p:cNvCxnSpPr>
            <a:cxnSpLocks/>
            <a:stCxn id="3" idx="3"/>
            <a:endCxn id="2" idx="2"/>
          </p:cNvCxnSpPr>
          <p:nvPr/>
        </p:nvCxnSpPr>
        <p:spPr>
          <a:xfrm flipV="1">
            <a:off x="4172562" y="4066682"/>
            <a:ext cx="715488" cy="41766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FC6C9FC-C700-A449-9E55-19ACF6828FCB}"/>
              </a:ext>
            </a:extLst>
          </p:cNvPr>
          <p:cNvSpPr/>
          <p:nvPr/>
        </p:nvSpPr>
        <p:spPr>
          <a:xfrm>
            <a:off x="5277744" y="3716876"/>
            <a:ext cx="785524" cy="34980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5D214C-23EE-F649-AC48-72671663E8C2}"/>
              </a:ext>
            </a:extLst>
          </p:cNvPr>
          <p:cNvSpPr txBox="1"/>
          <p:nvPr/>
        </p:nvSpPr>
        <p:spPr>
          <a:xfrm>
            <a:off x="6554804" y="4136279"/>
            <a:ext cx="702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critic</a:t>
            </a:r>
            <a:endParaRPr lang="en-RU" dirty="0"/>
          </a:p>
          <a:p>
            <a:pPr algn="ctr"/>
            <a:r>
              <a:rPr lang="en-RU" dirty="0"/>
              <a:t>(DQN)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68251831-F1D3-F34B-A14C-FEA0B139F19D}"/>
              </a:ext>
            </a:extLst>
          </p:cNvPr>
          <p:cNvCxnSpPr>
            <a:cxnSpLocks/>
            <a:stCxn id="13" idx="1"/>
            <a:endCxn id="12" idx="2"/>
          </p:cNvCxnSpPr>
          <p:nvPr/>
        </p:nvCxnSpPr>
        <p:spPr>
          <a:xfrm rot="10800000">
            <a:off x="5670506" y="4066681"/>
            <a:ext cx="884298" cy="33120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684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Actor-Critic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алгоритм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989138"/>
                <a:ext cx="8801144" cy="363317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342900" indent="-342900">
                  <a:lnSpc>
                    <a:spcPct val="100000"/>
                  </a:lnSpc>
                  <a:buAutoNum type="arabicPeriod"/>
                </a:pPr>
                <a:r>
                  <a:rPr lang="ru-RU" sz="1300" dirty="0"/>
                  <a:t>Инициализируем случайным образом сети </a:t>
                </a:r>
                <a:r>
                  <a:rPr lang="en-US" sz="1300" dirty="0"/>
                  <a:t>actor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r>
                  <a:rPr lang="en-US" sz="1300" dirty="0"/>
                  <a:t> </a:t>
                </a:r>
                <a:r>
                  <a:rPr lang="ru-RU" sz="1300" dirty="0"/>
                  <a:t>и </a:t>
                </a:r>
                <a:r>
                  <a:rPr lang="en-US" sz="1300" dirty="0"/>
                  <a:t>critic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  <m:d>
                      <m:d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p>
                        </m:sSup>
                      </m:e>
                    </m:d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весами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r>
                  <a:rPr lang="ru-RU" sz="1300" dirty="0"/>
                  <a:t> и целевые сети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</a:t>
                </a:r>
                <a:r>
                  <a:rPr lang="en-US" sz="13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3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RU" sz="13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endParaRPr lang="en-RU" sz="1300" dirty="0"/>
              </a:p>
              <a:p>
                <a:pPr marL="342900" indent="-342900">
                  <a:lnSpc>
                    <a:spcPct val="100000"/>
                  </a:lnSpc>
                  <a:buAutoNum type="arabicPeriod"/>
                </a:pPr>
                <a:r>
                  <a:rPr lang="ru-RU" sz="1300" dirty="0"/>
                  <a:t>Устанавливаем число эпизодов обучения </a:t>
                </a:r>
                <a:r>
                  <a:rPr lang="ru-RU" sz="1300" i="1" dirty="0"/>
                  <a:t>М</a:t>
                </a:r>
                <a:r>
                  <a:rPr lang="ru-RU" sz="1300" dirty="0"/>
                  <a:t> и для каждого эпизода выполняем:</a:t>
                </a:r>
                <a:endParaRPr lang="en-US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Действуем текущей политикой и получаем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RU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Находясь в состоянии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300" dirty="0"/>
                  <a:t> в соответствии с текущей политикой выбираем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3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30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d>
                      <m:d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e>
                    </m:d>
                  </m:oMath>
                </a14:m>
                <a:endParaRPr lang="ru-RU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Выполняем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300" dirty="0"/>
                  <a:t>, получаем награду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 переходим в следующее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3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Имея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3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 </a:t>
                </a:r>
                <a:r>
                  <a:rPr lang="ru-RU" sz="1300" dirty="0"/>
                  <a:t>в соответствии с политикой выбираем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3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Вычисляем </a:t>
                </a:r>
                <a:r>
                  <a:rPr lang="en-US" sz="1300" dirty="0"/>
                  <a:t>Loss </a:t>
                </a:r>
                <a:r>
                  <a:rPr lang="ru-RU" sz="1300" dirty="0"/>
                  <a:t>для обновления весов:</a:t>
                </a:r>
              </a:p>
              <a:p>
                <a:pPr marL="2312988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300" dirty="0"/>
              </a:p>
              <a:p>
                <a:pPr marL="2312988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e>
                      </m:d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3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3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3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p>
                          </m:sSup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Обновляем веса</a:t>
                </a:r>
                <a:r>
                  <a:rPr lang="en-US" sz="1300" dirty="0"/>
                  <a:t>:</a:t>
                </a:r>
                <a:r>
                  <a:rPr lang="en-RU" sz="13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30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30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30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3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p>
                        </m:sSup>
                      </m:sub>
                    </m:sSub>
                    <m:r>
                      <a:rPr lang="en-US" sz="1300">
                        <a:latin typeface="Cambria Math" panose="02040503050406030204" pitchFamily="18" charset="0"/>
                      </a:rPr>
                      <m:t>𝐿𝑜𝑠𝑠</m:t>
                    </m:r>
                    <m:r>
                      <a:rPr lang="en-US" sz="130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3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dirty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300" dirty="0">
                        <a:latin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1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300" dirty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3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 dirty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sub>
                    </m:sSub>
                    <m:r>
                      <a:rPr lang="en-US" sz="1300" dirty="0">
                        <a:latin typeface="Cambria Math" panose="02040503050406030204" pitchFamily="18" charset="0"/>
                      </a:rPr>
                      <m:t>𝐿𝑜𝑠𝑠</m:t>
                    </m:r>
                    <m:r>
                      <a:rPr lang="en-US" sz="1300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3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dirty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1300" dirty="0"/>
                  <a:t> </a:t>
                </a:r>
                <a:endParaRPr lang="en-US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Обновляем целевые сети</a:t>
                </a:r>
                <a:br>
                  <a:rPr lang="ru-RU" sz="130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br>
                  <a:rPr lang="en-US" sz="13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endParaRPr lang="en-RU" sz="1300" dirty="0"/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989138"/>
                <a:ext cx="8801144" cy="3633177"/>
              </a:xfrm>
              <a:prstGeom prst="rect">
                <a:avLst/>
              </a:prstGeom>
              <a:blipFill>
                <a:blip r:embed="rId3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095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Actor-Critic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/>
              <p:nvPr/>
            </p:nvSpPr>
            <p:spPr>
              <a:xfrm>
                <a:off x="278792" y="2118066"/>
                <a:ext cx="2786159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800" dirty="0">
                    <a:solidFill>
                      <a:srgbClr val="058D40"/>
                    </a:solidFill>
                  </a:rPr>
                  <a:t>Непрерывное пространство действий</a:t>
                </a:r>
              </a:p>
              <a:p>
                <a:endParaRPr lang="ru-RU" sz="1800" dirty="0">
                  <a:solidFill>
                    <a:srgbClr val="058D40"/>
                  </a:solidFill>
                </a:endParaRPr>
              </a:p>
              <a:p>
                <a:r>
                  <a:rPr lang="ru-RU" sz="1800" dirty="0">
                    <a:solidFill>
                      <a:srgbClr val="058D40"/>
                    </a:solidFill>
                  </a:rPr>
                  <a:t>Стабильнее обучение за счет использования двух ветвей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800" dirty="0">
                    <a:solidFill>
                      <a:srgbClr val="058D40"/>
                    </a:solidFill>
                  </a:rPr>
                  <a:t> </a:t>
                </a:r>
                <a:r>
                  <a:rPr lang="ru-RU" sz="1800" dirty="0">
                    <a:solidFill>
                      <a:srgbClr val="058D40"/>
                    </a:solidFill>
                  </a:rPr>
                  <a:t>и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RU" sz="1800" dirty="0">
                  <a:solidFill>
                    <a:srgbClr val="058D4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92" y="2118066"/>
                <a:ext cx="2786159" cy="2031325"/>
              </a:xfrm>
              <a:prstGeom prst="rect">
                <a:avLst/>
              </a:prstGeom>
              <a:blipFill>
                <a:blip r:embed="rId4"/>
                <a:stretch>
                  <a:fillRect l="-2273" t="-1242" b="-3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585466" y="1676348"/>
            <a:ext cx="18914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On-policy</a:t>
            </a: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можем использовать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Experience replay</a:t>
            </a:r>
          </a:p>
          <a:p>
            <a:endParaRPr lang="en-US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Сложно обучать </a:t>
            </a:r>
            <a:br>
              <a:rPr lang="ru-RU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Q-</a:t>
            </a:r>
            <a:r>
              <a:rPr lang="ru-RU" dirty="0">
                <a:solidFill>
                  <a:srgbClr val="C00000"/>
                </a:solidFill>
              </a:rPr>
              <a:t>функцию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3652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А2С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80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Advantage Actor-Critic (A2C)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484309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Введем функцию преимущества (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advantage):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sz="140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 →     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nary>
                          <m:d>
                            <m:dPr>
                              <m:ctrlP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484309"/>
              </a:xfrm>
              <a:prstGeom prst="rect">
                <a:avLst/>
              </a:prstGeom>
              <a:blipFill>
                <a:blip r:embed="rId3"/>
                <a:stretch>
                  <a:fillRect t="-13768" b="-1666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DE4EAD5-A3B6-204A-8B74-997D59481989}"/>
              </a:ext>
            </a:extLst>
          </p:cNvPr>
          <p:cNvSpPr/>
          <p:nvPr/>
        </p:nvSpPr>
        <p:spPr>
          <a:xfrm>
            <a:off x="3841706" y="3568009"/>
            <a:ext cx="742565" cy="349805"/>
          </a:xfrm>
          <a:prstGeom prst="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0294E0-21A5-0945-9275-C487B9E56AA1}"/>
              </a:ext>
            </a:extLst>
          </p:cNvPr>
          <p:cNvSpPr txBox="1"/>
          <p:nvPr/>
        </p:nvSpPr>
        <p:spPr>
          <a:xfrm>
            <a:off x="3028374" y="4329987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</a:t>
            </a:r>
            <a:r>
              <a:rPr lang="en-RU" dirty="0"/>
              <a:t>ctor</a:t>
            </a:r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0758779C-330D-5345-AA66-A5E1E09A9F86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3631424" y="3917814"/>
            <a:ext cx="581565" cy="56606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C59D0AE-2EEE-B64A-BF76-CDCB2FEAFEBA}"/>
              </a:ext>
            </a:extLst>
          </p:cNvPr>
          <p:cNvSpPr/>
          <p:nvPr/>
        </p:nvSpPr>
        <p:spPr>
          <a:xfrm>
            <a:off x="4602683" y="3568008"/>
            <a:ext cx="2086552" cy="34980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2EF295-261B-9041-AD65-A0D97D65F45C}"/>
              </a:ext>
            </a:extLst>
          </p:cNvPr>
          <p:cNvSpPr txBox="1"/>
          <p:nvPr/>
        </p:nvSpPr>
        <p:spPr>
          <a:xfrm>
            <a:off x="6222435" y="4206318"/>
            <a:ext cx="1499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Advantage Critic</a:t>
            </a:r>
            <a:endParaRPr lang="en-RU" dirty="0"/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24C630C1-0BD1-F94B-976A-7DE742A8050E}"/>
              </a:ext>
            </a:extLst>
          </p:cNvPr>
          <p:cNvCxnSpPr>
            <a:cxnSpLocks/>
            <a:stCxn id="9" idx="1"/>
            <a:endCxn id="8" idx="2"/>
          </p:cNvCxnSpPr>
          <p:nvPr/>
        </p:nvCxnSpPr>
        <p:spPr>
          <a:xfrm rot="10800000">
            <a:off x="5645959" y="3917813"/>
            <a:ext cx="576476" cy="4423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089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Advantage Actor-Critic (A2C)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алгоритм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50272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342900" indent="-342900">
                  <a:lnSpc>
                    <a:spcPct val="100000"/>
                  </a:lnSpc>
                  <a:buAutoNum type="arabicPeriod"/>
                </a:pPr>
                <a:r>
                  <a:rPr lang="ru-RU" sz="1300" dirty="0"/>
                  <a:t>Инициализируем случайным образом сети </a:t>
                </a:r>
                <a:r>
                  <a:rPr lang="en-US" sz="1300" dirty="0"/>
                  <a:t>actor </a:t>
                </a:r>
                <a14:m>
                  <m:oMath xmlns:m="http://schemas.openxmlformats.org/officeDocument/2006/math">
                    <m:r>
                      <a:rPr lang="en-US" sz="130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300" dirty="0"/>
                  <a:t> </a:t>
                </a:r>
                <a:r>
                  <a:rPr lang="ru-RU" sz="1300" dirty="0"/>
                  <a:t>и </a:t>
                </a:r>
                <a:r>
                  <a:rPr lang="en-US" sz="1300" dirty="0"/>
                  <a:t>critic </a:t>
                </a:r>
                <a14:m>
                  <m:oMath xmlns:m="http://schemas.openxmlformats.org/officeDocument/2006/math"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30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e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p>
                        </m:sSup>
                      </m:e>
                    </m:d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весами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r>
                  <a:rPr lang="ru-RU" sz="1300" dirty="0"/>
                  <a:t> и целевые сети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</a:t>
                </a:r>
                <a:r>
                  <a:rPr lang="en-US" sz="13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3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</m:oMath>
                </a14:m>
                <a:r>
                  <a:rPr lang="en-RU" sz="13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i="1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endParaRPr lang="en-RU" sz="1300" dirty="0"/>
              </a:p>
              <a:p>
                <a:pPr marL="342900" indent="-342900">
                  <a:lnSpc>
                    <a:spcPct val="100000"/>
                  </a:lnSpc>
                  <a:buAutoNum type="arabicPeriod"/>
                </a:pPr>
                <a:r>
                  <a:rPr lang="ru-RU" sz="1300" dirty="0"/>
                  <a:t>Устанавливаем число эпизодов обучения </a:t>
                </a:r>
                <a:r>
                  <a:rPr lang="ru-RU" sz="1300" i="1" dirty="0"/>
                  <a:t>М</a:t>
                </a:r>
                <a:r>
                  <a:rPr lang="ru-RU" sz="1300" dirty="0"/>
                  <a:t> и для каждого эпизода выполняем:</a:t>
                </a:r>
                <a:endParaRPr lang="en-US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Действуем текущей политикой и получаем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RU" sz="1300" dirty="0"/>
              </a:p>
              <a:p>
                <a:pPr marL="668338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Проходим по всем возможным действиям от 1 до </a:t>
                </a:r>
                <a:r>
                  <a:rPr lang="en-US" sz="1300" i="1" dirty="0"/>
                  <a:t>T</a:t>
                </a:r>
                <a:r>
                  <a:rPr lang="ru-RU" sz="1300" dirty="0"/>
                  <a:t>:</a:t>
                </a:r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Выбираем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00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e>
                    </m:d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в соответствии с текущей политикой</a:t>
                </a:r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Выполняем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300" dirty="0"/>
                  <a:t>, получаем награду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RU" sz="1300" dirty="0"/>
                  <a:t> </a:t>
                </a:r>
                <a:r>
                  <a:rPr lang="ru-RU" sz="1300" dirty="0"/>
                  <a:t>и переходим в следующее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1300" dirty="0"/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Обновляем политику используя текущее приближение для </a:t>
                </a:r>
                <a:r>
                  <a:rPr lang="en-US" sz="1300" dirty="0"/>
                  <a:t>V</a:t>
                </a:r>
              </a:p>
              <a:p>
                <a:pPr marL="642937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e>
                          <m:sSup>
                            <m:sSupPr>
                              <m:ctrlPr>
                                <a:rPr lang="en-US" sz="1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300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3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300" dirty="0"/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Вычисляем </a:t>
                </a:r>
                <a:r>
                  <a:rPr lang="ru-RU" sz="1300" dirty="0" err="1"/>
                  <a:t>таргеты</a:t>
                </a:r>
                <a:r>
                  <a:rPr lang="ru-RU" sz="13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3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3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p>
                      <m:sSupPr>
                        <m:ctrlP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sz="1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12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p>
                        </m:sSup>
                      </m:e>
                    </m:d>
                    <m:r>
                      <a:rPr lang="en-US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2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12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p>
                        </m:sSup>
                      </m:e>
                    </m:d>
                  </m:oMath>
                </a14:m>
                <a:endParaRPr lang="en-US" sz="12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Обновляем </a:t>
                </a:r>
                <a:r>
                  <a:rPr lang="en-US" sz="1300" dirty="0"/>
                  <a:t>V </a:t>
                </a:r>
                <a:r>
                  <a:rPr lang="ru-RU" sz="1300" dirty="0"/>
                  <a:t>функцию на базе полученных </a:t>
                </a:r>
                <a:r>
                  <a:rPr lang="ru-RU" sz="1300" dirty="0" err="1"/>
                  <a:t>таргетов</a:t>
                </a:r>
                <a:r>
                  <a:rPr lang="ru-RU" sz="1300" dirty="0"/>
                  <a:t> </a:t>
                </a:r>
                <a14:m>
                  <m:oMath xmlns:m="http://schemas.openxmlformats.org/officeDocument/2006/math"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3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3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3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3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3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3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en-US" sz="1300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  <m:sup>
                        <m:r>
                          <a:rPr lang="en-US" sz="13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RU" sz="13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3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p>
                        </m:sSup>
                      </m:sub>
                    </m:sSub>
                  </m:oMath>
                </a14:m>
                <a:endParaRPr lang="en-US" sz="1300" dirty="0"/>
              </a:p>
              <a:p>
                <a:pPr marL="981075" indent="-338138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1300" dirty="0"/>
                  <a:t>Обновляем целевые сети</a:t>
                </a:r>
                <a:br>
                  <a:rPr lang="ru-RU" sz="130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br>
                  <a:rPr lang="en-US" sz="13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3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3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endParaRPr lang="en-RU" sz="1300" dirty="0"/>
              </a:p>
              <a:p>
                <a:pPr marL="133350" indent="0">
                  <a:buNone/>
                </a:pPr>
                <a:endParaRPr lang="en-US" sz="13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502720"/>
              </a:xfrm>
              <a:prstGeom prst="rect">
                <a:avLst/>
              </a:prstGeom>
              <a:blipFill>
                <a:blip r:embed="rId3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101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A2C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/>
              <p:nvPr/>
            </p:nvSpPr>
            <p:spPr>
              <a:xfrm>
                <a:off x="278792" y="2118066"/>
                <a:ext cx="2786159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800" dirty="0">
                    <a:solidFill>
                      <a:srgbClr val="058D40"/>
                    </a:solidFill>
                  </a:rPr>
                  <a:t>Непрерывное пространство действий</a:t>
                </a:r>
              </a:p>
              <a:p>
                <a:endParaRPr lang="ru-RU" sz="1800" dirty="0">
                  <a:solidFill>
                    <a:srgbClr val="058D40"/>
                  </a:solidFill>
                </a:endParaRPr>
              </a:p>
              <a:p>
                <a:r>
                  <a:rPr lang="ru-RU" sz="1800" dirty="0">
                    <a:solidFill>
                      <a:srgbClr val="058D40"/>
                    </a:solidFill>
                  </a:rPr>
                  <a:t>Стабильнее обучение за счет использования двух ветвей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800" dirty="0">
                    <a:solidFill>
                      <a:srgbClr val="058D40"/>
                    </a:solidFill>
                  </a:rPr>
                  <a:t> </a:t>
                </a:r>
                <a:r>
                  <a:rPr lang="ru-RU" sz="1800" dirty="0">
                    <a:solidFill>
                      <a:srgbClr val="058D40"/>
                    </a:solidFill>
                  </a:rPr>
                  <a:t>и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RU" sz="1800" dirty="0">
                  <a:solidFill>
                    <a:srgbClr val="058D4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92" y="2118066"/>
                <a:ext cx="2786159" cy="2031325"/>
              </a:xfrm>
              <a:prstGeom prst="rect">
                <a:avLst/>
              </a:prstGeom>
              <a:blipFill>
                <a:blip r:embed="rId4"/>
                <a:stretch>
                  <a:fillRect l="-2273" t="-1242" b="-3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585466" y="1676348"/>
            <a:ext cx="189141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On-policy</a:t>
            </a: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можем использовать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Experience replay</a:t>
            </a:r>
          </a:p>
        </p:txBody>
      </p:sp>
    </p:spTree>
    <p:extLst>
      <p:ext uri="{BB962C8B-B14F-4D97-AF65-F5344CB8AC3E}">
        <p14:creationId xmlns:p14="http://schemas.microsoft.com/office/powerpoint/2010/main" val="32515860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А</a:t>
            </a:r>
            <a:r>
              <a:rPr lang="en-US" sz="4900" dirty="0"/>
              <a:t>3</a:t>
            </a:r>
            <a:r>
              <a:rPr lang="ru-RU" sz="4900" dirty="0"/>
              <a:t>С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9568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Asynchronous Advantage Actor-Critic (A3C)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6A7316-8887-4B42-890A-B2755A529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675" y="859784"/>
            <a:ext cx="6006649" cy="395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07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A3C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/>
              <p:nvPr/>
            </p:nvSpPr>
            <p:spPr>
              <a:xfrm>
                <a:off x="278792" y="1676348"/>
                <a:ext cx="278615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800" dirty="0">
                    <a:solidFill>
                      <a:srgbClr val="058D40"/>
                    </a:solidFill>
                  </a:rPr>
                  <a:t>Непрерывное пространство действий</a:t>
                </a:r>
                <a:endParaRPr lang="en-US" sz="1800" dirty="0">
                  <a:solidFill>
                    <a:srgbClr val="058D40"/>
                  </a:solidFill>
                </a:endParaRPr>
              </a:p>
              <a:p>
                <a:endParaRPr lang="en-US" sz="1800" dirty="0">
                  <a:solidFill>
                    <a:srgbClr val="058D40"/>
                  </a:solidFill>
                </a:endParaRPr>
              </a:p>
              <a:p>
                <a:r>
                  <a:rPr lang="en-US" sz="1800" dirty="0">
                    <a:solidFill>
                      <a:srgbClr val="058D40"/>
                    </a:solidFill>
                  </a:rPr>
                  <a:t>Off-policy</a:t>
                </a:r>
                <a:endParaRPr lang="ru-RU" sz="1800" dirty="0">
                  <a:solidFill>
                    <a:srgbClr val="058D40"/>
                  </a:solidFill>
                </a:endParaRPr>
              </a:p>
              <a:p>
                <a:endParaRPr lang="ru-RU" sz="1800" dirty="0">
                  <a:solidFill>
                    <a:srgbClr val="058D40"/>
                  </a:solidFill>
                </a:endParaRPr>
              </a:p>
              <a:p>
                <a:r>
                  <a:rPr lang="ru-RU" sz="1800" dirty="0">
                    <a:solidFill>
                      <a:srgbClr val="058D40"/>
                    </a:solidFill>
                  </a:rPr>
                  <a:t>Стабильнее обучение за счет использования двух ветвей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800" dirty="0">
                    <a:solidFill>
                      <a:srgbClr val="058D40"/>
                    </a:solidFill>
                  </a:rPr>
                  <a:t> </a:t>
                </a:r>
                <a:r>
                  <a:rPr lang="ru-RU" sz="1800" dirty="0">
                    <a:solidFill>
                      <a:srgbClr val="058D40"/>
                    </a:solidFill>
                  </a:rPr>
                  <a:t>и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rgbClr val="058D4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RU" sz="1800" dirty="0">
                  <a:solidFill>
                    <a:srgbClr val="058D4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92" y="1676348"/>
                <a:ext cx="2786159" cy="2585323"/>
              </a:xfrm>
              <a:prstGeom prst="rect">
                <a:avLst/>
              </a:prstGeom>
              <a:blipFill>
                <a:blip r:embed="rId4"/>
                <a:stretch>
                  <a:fillRect l="-2273" t="-980" b="-24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392035" y="1837480"/>
            <a:ext cx="23978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</a:rPr>
              <a:t>Многопроцессорная обработка</a:t>
            </a:r>
            <a:endParaRPr lang="en-US" sz="1800" dirty="0">
              <a:solidFill>
                <a:srgbClr val="C00000"/>
              </a:solidFill>
            </a:endParaRP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sz="1800" dirty="0">
                <a:solidFill>
                  <a:srgbClr val="C00000"/>
                </a:solidFill>
              </a:rPr>
              <a:t>Нельзя использовать </a:t>
            </a:r>
            <a:r>
              <a:rPr lang="en-US" sz="1800" dirty="0">
                <a:solidFill>
                  <a:srgbClr val="C00000"/>
                </a:solidFill>
              </a:rPr>
              <a:t>Experience replay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6702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DDPG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5386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DDPD – Deep Deterministic Policy Gradient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0935DC-781F-DD4F-A5AE-222C8D4A6119}"/>
              </a:ext>
            </a:extLst>
          </p:cNvPr>
          <p:cNvSpPr txBox="1"/>
          <p:nvPr/>
        </p:nvSpPr>
        <p:spPr>
          <a:xfrm>
            <a:off x="115057" y="1232922"/>
            <a:ext cx="890609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Deep Deterministic Policy Gradient (DDPG) - </a:t>
            </a:r>
            <a:r>
              <a:rPr lang="ru-RU" dirty="0"/>
              <a:t>это алгоритм, который одновременно обучает </a:t>
            </a:r>
            <a:r>
              <a:rPr lang="en-GB" dirty="0"/>
              <a:t>Q-</a:t>
            </a:r>
            <a:r>
              <a:rPr lang="ru-RU" dirty="0"/>
              <a:t>функцию и политику. Он использует данные вне политики и уравнение Беллмана для изучения </a:t>
            </a:r>
            <a:r>
              <a:rPr lang="en-GB" dirty="0"/>
              <a:t>Q-</a:t>
            </a:r>
            <a:r>
              <a:rPr lang="ru-RU" dirty="0"/>
              <a:t>функции и использует </a:t>
            </a:r>
            <a:r>
              <a:rPr lang="en-GB" dirty="0"/>
              <a:t>Q-</a:t>
            </a:r>
            <a:r>
              <a:rPr lang="ru-RU" dirty="0"/>
              <a:t>функцию для изучения политики.</a:t>
            </a:r>
            <a:endParaRPr lang="en-US" dirty="0"/>
          </a:p>
          <a:p>
            <a:r>
              <a:rPr lang="en-GB" b="0" i="1" u="none" strike="noStrike" dirty="0">
                <a:solidFill>
                  <a:srgbClr val="242424"/>
                </a:solidFill>
                <a:effectLst/>
                <a:latin typeface="source-serif-pro"/>
                <a:hlinkClick r:id="rId3"/>
              </a:rPr>
              <a:t>“Continuous Control With Deep Reinforcement Learning”</a:t>
            </a:r>
            <a:r>
              <a:rPr lang="en-GB" b="0" i="0" u="none" strike="noStrike" dirty="0">
                <a:solidFill>
                  <a:srgbClr val="242424"/>
                </a:solidFill>
                <a:effectLst/>
                <a:latin typeface="source-serif-pro"/>
                <a:hlinkClick r:id="rId3"/>
              </a:rPr>
              <a:t> (Lillicrap et al, 2015)</a:t>
            </a:r>
            <a:endParaRPr lang="en-GB" b="0" i="0" u="none" strike="noStrike" dirty="0">
              <a:solidFill>
                <a:srgbClr val="242424"/>
              </a:solidFill>
              <a:effectLst/>
              <a:latin typeface="source-serif-pro"/>
            </a:endParaRPr>
          </a:p>
          <a:p>
            <a:endParaRPr lang="en-GB" dirty="0">
              <a:solidFill>
                <a:srgbClr val="242424"/>
              </a:solidFill>
              <a:latin typeface="source-serif-pro"/>
            </a:endParaRPr>
          </a:p>
          <a:p>
            <a:r>
              <a:rPr lang="en-GB" dirty="0"/>
              <a:t>Q-</a:t>
            </a:r>
            <a:r>
              <a:rPr lang="ru-RU" dirty="0"/>
              <a:t>функция оценивает ожидаемое суммарное вознаграждение за выполнение определенного действия в данном состоянии, а сеть политики производит действия, максимизирующие </a:t>
            </a:r>
            <a:r>
              <a:rPr lang="en-GB" dirty="0"/>
              <a:t>Q-</a:t>
            </a:r>
            <a:r>
              <a:rPr lang="ru-RU" dirty="0"/>
              <a:t>значение.</a:t>
            </a:r>
            <a:endParaRPr lang="en-GB" dirty="0"/>
          </a:p>
          <a:p>
            <a:endParaRPr lang="en-GB" dirty="0">
              <a:solidFill>
                <a:srgbClr val="242424"/>
              </a:solidFill>
              <a:latin typeface="source-serif-pro"/>
            </a:endParaRP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 Experience replay buffer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 Actor &amp; Critic network updates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 Target network updates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 Exploration</a:t>
            </a:r>
          </a:p>
          <a:p>
            <a:endParaRPr lang="en-GB" b="0" i="0" u="none" strike="noStrike" dirty="0">
              <a:solidFill>
                <a:srgbClr val="242424"/>
              </a:solidFill>
              <a:effectLst/>
              <a:latin typeface="source-serif-pr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Deterministic Policy Gradient</a:t>
            </a:r>
            <a:r>
              <a:rPr lang="ru-RU" dirty="0"/>
              <a:t> </a:t>
            </a:r>
            <a:r>
              <a:rPr lang="en-US" dirty="0"/>
              <a:t>Theorem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311;p57">
                <a:extLst>
                  <a:ext uri="{FF2B5EF4-FFF2-40B4-BE49-F238E27FC236}">
                    <a16:creationId xmlns:a16="http://schemas.microsoft.com/office/drawing/2014/main" id="{4F390D4B-928B-6548-A1C5-268947086F8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7817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Policy Gradient Theorem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eqArr>
                            <m:eqArr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𝜂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~ </m:t>
                              </m:r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e>
                          </m:eqAr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Будем искать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оптимальную детерминированную политику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d>
                        <m:dPr>
                          <m:ctrlPr>
                            <a:rPr 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𝜂</m:t>
                                      </m:r>
                                    </m:sup>
                                  </m:s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где </a:t>
                </a:r>
                <a:r>
                  <a:rPr lang="en-US" sz="16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– размер </a:t>
                </a:r>
                <a:r>
                  <a:rPr lang="ru-RU" sz="16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батча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 </a:t>
                </a: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Для аппроксимации функции </a:t>
                </a:r>
                <a:r>
                  <a:rPr lang="en-US" sz="1600" i="1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Q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используем уравнение Беллмана.</a:t>
                </a:r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4" name="Google Shape;311;p57">
                <a:extLst>
                  <a:ext uri="{FF2B5EF4-FFF2-40B4-BE49-F238E27FC236}">
                    <a16:creationId xmlns:a16="http://schemas.microsoft.com/office/drawing/2014/main" id="{4F390D4B-928B-6548-A1C5-268947086F8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78172"/>
              </a:xfrm>
              <a:prstGeom prst="rect">
                <a:avLst/>
              </a:prstGeom>
              <a:blipFill>
                <a:blip r:embed="rId3"/>
                <a:stretch>
                  <a:fillRect b="-15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3674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DDPD – Deep Deterministic Policy Gradient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0935DC-781F-DD4F-A5AE-222C8D4A6119}"/>
                  </a:ext>
                </a:extLst>
              </p:cNvPr>
              <p:cNvSpPr txBox="1"/>
              <p:nvPr/>
            </p:nvSpPr>
            <p:spPr>
              <a:xfrm>
                <a:off x="115057" y="878674"/>
                <a:ext cx="8906093" cy="40237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ru-RU" sz="1200" dirty="0"/>
                  <a:t>Инициализируем случайным образом сети </a:t>
                </a:r>
                <a:r>
                  <a:rPr lang="en-US" sz="1200" dirty="0"/>
                  <a:t>actor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</a:t>
                </a:r>
                <a:r>
                  <a:rPr lang="ru-RU" sz="1200" dirty="0"/>
                  <a:t>и </a:t>
                </a:r>
                <a:r>
                  <a:rPr lang="en-US" sz="1200" dirty="0"/>
                  <a:t>critic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p>
                        </m:sSup>
                      </m:e>
                    </m:d>
                  </m:oMath>
                </a14:m>
                <a:r>
                  <a:rPr lang="en-RU" sz="1200" dirty="0"/>
                  <a:t> </a:t>
                </a:r>
                <a:r>
                  <a:rPr lang="ru-RU" sz="1200" dirty="0"/>
                  <a:t>весами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en-RU" sz="1200" dirty="0"/>
                  <a:t> </a:t>
                </a:r>
                <a:r>
                  <a:rPr lang="ru-RU" sz="1200" dirty="0"/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r>
                  <a:rPr lang="ru-RU" sz="1200" dirty="0"/>
                  <a:t> и целевые сети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200" dirty="0"/>
                  <a:t> </a:t>
                </a:r>
                <a:r>
                  <a:rPr lang="ru-RU" sz="1200" dirty="0"/>
                  <a:t>и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RU" sz="12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en-RU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</m:oMath>
                </a14:m>
                <a:endParaRPr lang="en-RU" sz="1200" dirty="0"/>
              </a:p>
              <a:p>
                <a:pPr marL="342900" indent="-342900">
                  <a:buAutoNum type="arabicPeriod"/>
                </a:pPr>
                <a:r>
                  <a:rPr lang="ru-RU" sz="1200" dirty="0"/>
                  <a:t>Инициализируем </a:t>
                </a:r>
                <a:r>
                  <a:rPr lang="en-RU" sz="1200" i="1" dirty="0"/>
                  <a:t>Replay Buffer</a:t>
                </a:r>
                <a:r>
                  <a:rPr lang="en-US" sz="1200" i="1" dirty="0"/>
                  <a:t> - R</a:t>
                </a:r>
                <a:endParaRPr lang="en-RU" sz="1200" i="1" dirty="0"/>
              </a:p>
              <a:p>
                <a:pPr marL="342900" indent="-342900">
                  <a:buAutoNum type="arabicPeriod"/>
                </a:pPr>
                <a:r>
                  <a:rPr lang="en-RU" sz="1200" dirty="0"/>
                  <a:t> </a:t>
                </a:r>
                <a:r>
                  <a:rPr lang="ru-RU" sz="1200" dirty="0"/>
                  <a:t>Устанавливаем число эпизодов обучения </a:t>
                </a:r>
                <a:r>
                  <a:rPr lang="ru-RU" sz="1200" i="1" dirty="0"/>
                  <a:t>М</a:t>
                </a:r>
                <a:r>
                  <a:rPr lang="ru-RU" sz="1200" dirty="0"/>
                  <a:t> и для каждого эпизода выполняем:</a:t>
                </a:r>
                <a:endParaRPr lang="en-US" sz="1200" dirty="0"/>
              </a:p>
              <a:p>
                <a:pPr marL="668338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Инициализируем случайный процесс (шум) для исследования пространства действий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r>
                  <a:rPr lang="ru-RU" sz="1200" dirty="0"/>
                  <a:t> (Орнштейна-Уленбека)</a:t>
                </a:r>
              </a:p>
              <a:p>
                <a:pPr marL="668338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Действуем текущей политикой и получаем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RU" sz="1200" dirty="0"/>
              </a:p>
              <a:p>
                <a:pPr marL="668338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Проходим по всем возможным действиям от 1 до </a:t>
                </a:r>
                <a:r>
                  <a:rPr lang="en-US" sz="1200" i="1" dirty="0"/>
                  <a:t>T</a:t>
                </a:r>
                <a:r>
                  <a:rPr lang="ru-RU" sz="1200" dirty="0"/>
                  <a:t>:</a:t>
                </a:r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Выбираем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𝒩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RU" sz="1200" dirty="0"/>
                  <a:t> </a:t>
                </a:r>
                <a:r>
                  <a:rPr lang="ru-RU" sz="1200" dirty="0"/>
                  <a:t>в соответствии с текущей политикой и шумом (разведка)</a:t>
                </a:r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Выполняем действие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1200" dirty="0"/>
                  <a:t>, получаем награду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RU" sz="1200" dirty="0"/>
                  <a:t> </a:t>
                </a:r>
                <a:r>
                  <a:rPr lang="ru-RU" sz="1200" dirty="0"/>
                  <a:t>и переходим в следующее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Помещаем в память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Получаем из памяти случайный </a:t>
                </a:r>
                <a:r>
                  <a:rPr lang="ru-RU" sz="1200" dirty="0" err="1"/>
                  <a:t>минибатч</a:t>
                </a:r>
                <a:r>
                  <a:rPr lang="ru-RU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∈[1,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</m:sSub>
                  </m:oMath>
                </a14:m>
                <a:endParaRPr lang="en-GB" sz="1200" dirty="0">
                  <a:solidFill>
                    <a:srgbClr val="242424"/>
                  </a:solidFill>
                  <a:latin typeface="source-serif-pro"/>
                </a:endParaRPr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Получаем </a:t>
                </a:r>
                <a:r>
                  <a:rPr lang="ru-RU" sz="1200" dirty="0" err="1"/>
                  <a:t>таргеты</a:t>
                </a:r>
                <a:r>
                  <a:rPr lang="ru-RU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𝛾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)|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Обновляем критика используя </a:t>
                </a:r>
                <a:r>
                  <a:rPr lang="ru-RU" sz="1200" dirty="0" err="1"/>
                  <a:t>лосс</a:t>
                </a:r>
                <a:r>
                  <a:rPr lang="ru-RU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e>
                                    <m:sSup>
                                      <m:sSup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RU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sup>
                        </m:sSup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Обновляем </a:t>
                </a:r>
                <a:r>
                  <a:rPr lang="ru-RU" sz="1200" dirty="0" err="1"/>
                  <a:t>актора</a:t>
                </a:r>
                <a:r>
                  <a:rPr lang="ru-RU" sz="1200" dirty="0"/>
                  <a:t> используя </a:t>
                </a:r>
                <a:r>
                  <a:rPr lang="en-RU" sz="1200" dirty="0"/>
                  <a:t>policy gradient: </a:t>
                </a:r>
                <a:br>
                  <a:rPr lang="en-RU" sz="12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≈ </m:t>
                    </m:r>
                    <m:f>
                      <m:f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sup>
                            </m:sSup>
                          </m:e>
                        </m:d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RU" sz="120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eqArr>
                              <m:eqArr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d>
                                  <m:d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eqArr>
                          </m:sub>
                        </m:s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d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RU" sz="120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sup>
                        </m:sSup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ru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Обновляем целевые сети</a:t>
                </a:r>
                <a:br>
                  <a:rPr lang="ru-RU" sz="120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br>
                  <a:rPr lang="en-US" sz="1200" b="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𝜏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p>
                    </m:sSup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endParaRPr lang="en-RU" sz="1200" dirty="0"/>
              </a:p>
              <a:p>
                <a:pPr marL="981075" indent="-338138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Уменьшаем шум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0935DC-781F-DD4F-A5AE-222C8D4A6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57" y="878674"/>
                <a:ext cx="8906093" cy="4023794"/>
              </a:xfrm>
              <a:prstGeom prst="rect">
                <a:avLst/>
              </a:prstGeom>
              <a:blipFill>
                <a:blip r:embed="rId3"/>
                <a:stretch>
                  <a:fillRect b="-31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05202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DDPG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/>
              <p:nvPr/>
            </p:nvSpPr>
            <p:spPr>
              <a:xfrm>
                <a:off x="278792" y="1119457"/>
                <a:ext cx="2786159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800" dirty="0">
                    <a:solidFill>
                      <a:srgbClr val="058D40"/>
                    </a:solidFill>
                  </a:rPr>
                  <a:t>Непрерывное пространство действий</a:t>
                </a:r>
                <a:endParaRPr lang="en-US" sz="1800" dirty="0">
                  <a:solidFill>
                    <a:srgbClr val="058D40"/>
                  </a:solidFill>
                </a:endParaRPr>
              </a:p>
              <a:p>
                <a:endParaRPr lang="en-US" sz="1800" dirty="0">
                  <a:solidFill>
                    <a:srgbClr val="058D40"/>
                  </a:solidFill>
                </a:endParaRPr>
              </a:p>
              <a:p>
                <a:r>
                  <a:rPr lang="en-US" sz="1800" dirty="0">
                    <a:solidFill>
                      <a:srgbClr val="058D40"/>
                    </a:solidFill>
                  </a:rPr>
                  <a:t>Off-policy</a:t>
                </a:r>
              </a:p>
              <a:p>
                <a:r>
                  <a:rPr lang="en-US" sz="1800" dirty="0">
                    <a:solidFill>
                      <a:srgbClr val="058D40"/>
                    </a:solidFill>
                  </a:rPr>
                  <a:t>Experience replay</a:t>
                </a:r>
                <a:endParaRPr lang="ru-RU" sz="1800" dirty="0">
                  <a:solidFill>
                    <a:srgbClr val="058D40"/>
                  </a:solidFill>
                </a:endParaRPr>
              </a:p>
              <a:p>
                <a:endParaRPr lang="ru-RU" sz="1800" dirty="0">
                  <a:solidFill>
                    <a:srgbClr val="058D40"/>
                  </a:solidFill>
                </a:endParaRPr>
              </a:p>
              <a:p>
                <a:r>
                  <a:rPr lang="ru-RU" sz="1800" dirty="0">
                    <a:solidFill>
                      <a:srgbClr val="058D40"/>
                    </a:solidFill>
                  </a:rPr>
                  <a:t>Стабильнее обучение за счет использования </a:t>
                </a:r>
                <a:r>
                  <a:rPr lang="en-US" sz="1800" dirty="0">
                    <a:solidFill>
                      <a:srgbClr val="058D40"/>
                    </a:solidFill>
                  </a:rPr>
                  <a:t> </a:t>
                </a:r>
                <a:br>
                  <a:rPr lang="ru-RU" sz="1800" dirty="0">
                    <a:solidFill>
                      <a:srgbClr val="058D40"/>
                    </a:solidFill>
                  </a:rPr>
                </a:br>
                <a:r>
                  <a:rPr lang="ru-RU" sz="1800" dirty="0">
                    <a:solidFill>
                      <a:srgbClr val="058D40"/>
                    </a:solidFill>
                  </a:rPr>
                  <a:t>суперпозиции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58D4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rgbClr val="058D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rgbClr val="058D4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rgbClr val="058D4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1800" i="1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800" i="1">
                              <a:solidFill>
                                <a:srgbClr val="058D4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1800" b="0" dirty="0">
                  <a:solidFill>
                    <a:srgbClr val="058D40"/>
                  </a:solidFill>
                </a:endParaRPr>
              </a:p>
              <a:p>
                <a:endParaRPr lang="en-RU" sz="1800" dirty="0">
                  <a:solidFill>
                    <a:srgbClr val="058D40"/>
                  </a:solidFill>
                </a:endParaRPr>
              </a:p>
              <a:p>
                <a:r>
                  <a:rPr lang="ru-RU" sz="1800" dirty="0">
                    <a:solidFill>
                      <a:srgbClr val="058D40"/>
                    </a:solidFill>
                  </a:rPr>
                  <a:t>Реализация проще чем </a:t>
                </a:r>
                <a:r>
                  <a:rPr lang="en-US" sz="1800" dirty="0">
                    <a:solidFill>
                      <a:srgbClr val="058D40"/>
                    </a:solidFill>
                  </a:rPr>
                  <a:t>A3C</a:t>
                </a:r>
                <a:endParaRPr lang="en-RU" sz="1800" dirty="0">
                  <a:solidFill>
                    <a:srgbClr val="058D4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8713310-70E5-8E4C-856E-67239DC65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92" y="1119457"/>
                <a:ext cx="2786159" cy="3693319"/>
              </a:xfrm>
              <a:prstGeom prst="rect">
                <a:avLst/>
              </a:prstGeom>
              <a:blipFill>
                <a:blip r:embed="rId4"/>
                <a:stretch>
                  <a:fillRect l="-2273" t="-1031" r="-455" b="-171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392035" y="1837480"/>
            <a:ext cx="23978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</a:rPr>
              <a:t>Работает </a:t>
            </a:r>
            <a:r>
              <a:rPr lang="ru-RU" sz="1800" b="1" dirty="0">
                <a:solidFill>
                  <a:srgbClr val="C00000"/>
                </a:solidFill>
              </a:rPr>
              <a:t>только</a:t>
            </a:r>
            <a:r>
              <a:rPr lang="ru-RU" sz="1800" dirty="0">
                <a:solidFill>
                  <a:srgbClr val="C00000"/>
                </a:solidFill>
              </a:rPr>
              <a:t> с непрерывным пространством действий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35425B-2F57-5E44-879F-DCF9AAEFC640}"/>
              </a:ext>
            </a:extLst>
          </p:cNvPr>
          <p:cNvSpPr/>
          <p:nvPr/>
        </p:nvSpPr>
        <p:spPr>
          <a:xfrm>
            <a:off x="4890292" y="2967986"/>
            <a:ext cx="144959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7551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3658001691"/>
              </p:ext>
            </p:extLst>
          </p:nvPr>
        </p:nvGraphicFramePr>
        <p:xfrm>
          <a:off x="952500" y="137274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А2С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А3С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88829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DDPG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975144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7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Домашнее задание</a:t>
            </a:r>
            <a:endParaRPr dirty="0"/>
          </a:p>
        </p:txBody>
      </p:sp>
      <p:graphicFrame>
        <p:nvGraphicFramePr>
          <p:cNvPr id="399" name="Google Shape;399;p70"/>
          <p:cNvGraphicFramePr/>
          <p:nvPr>
            <p:extLst>
              <p:ext uri="{D42A27DB-BD31-4B8C-83A1-F6EECF244321}">
                <p14:modId xmlns:p14="http://schemas.microsoft.com/office/powerpoint/2010/main" val="2588235875"/>
              </p:ext>
            </p:extLst>
          </p:nvPr>
        </p:nvGraphicFramePr>
        <p:xfrm>
          <a:off x="952500" y="1372744"/>
          <a:ext cx="7239000" cy="335270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/>
                        <a:t>Преобразовать алгоритмы к ООП виду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401" name="Google Shape;401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4016231"/>
            <a:ext cx="457256" cy="457238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70"/>
          <p:cNvSpPr txBox="1"/>
          <p:nvPr/>
        </p:nvSpPr>
        <p:spPr>
          <a:xfrm>
            <a:off x="1435050" y="4037106"/>
            <a:ext cx="5559000" cy="463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Сроки выполнения:</a:t>
            </a:r>
            <a:r>
              <a:rPr lang="en-US" sz="1300" b="1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1 </a:t>
            </a:r>
            <a:r>
              <a:rPr lang="ru-RU" sz="1300" b="1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неделя.</a:t>
            </a:r>
            <a:endParaRPr sz="1000" b="1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3"/>
              </a:rPr>
              <a:t>Список ресурсов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 err="1">
                <a:hlinkClick r:id="rId4"/>
              </a:rPr>
              <a:t>Лю</a:t>
            </a:r>
            <a:r>
              <a:rPr lang="ru-RU" sz="1300" dirty="0">
                <a:hlinkClick r:id="rId4"/>
              </a:rPr>
              <a:t> Ю. (Х.) Обучение с подкреплением на </a:t>
            </a:r>
            <a:r>
              <a:rPr lang="en-GB" sz="1300" dirty="0" err="1">
                <a:hlinkClick r:id="rId4"/>
              </a:rPr>
              <a:t>PyTorch</a:t>
            </a:r>
            <a:r>
              <a:rPr lang="en-GB" sz="1300" dirty="0">
                <a:hlinkClick r:id="rId4"/>
              </a:rPr>
              <a:t>: </a:t>
            </a:r>
            <a:r>
              <a:rPr lang="ru-RU" sz="1300" dirty="0">
                <a:hlinkClick r:id="rId4"/>
              </a:rPr>
              <a:t>сборник рецептов / пер. с англ. А. А. </a:t>
            </a:r>
            <a:r>
              <a:rPr lang="ru-RU" sz="1300" dirty="0" err="1">
                <a:hlinkClick r:id="rId4"/>
              </a:rPr>
              <a:t>Слинкина</a:t>
            </a:r>
            <a:r>
              <a:rPr lang="ru-RU" sz="1300" dirty="0">
                <a:hlinkClick r:id="rId4"/>
              </a:rPr>
              <a:t>. – М.: ДМК Пресс, 2020. – 282 с. 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endParaRPr lang="en-GB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7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3412918959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Собрать лучшие части от алгоритмов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DQN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алгоритм А2С и А3С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алгоритма до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DDPG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18150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451" name="Google Shape;451;p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77"/>
          <p:cNvSpPr txBox="1"/>
          <p:nvPr/>
        </p:nvSpPr>
        <p:spPr>
          <a:xfrm>
            <a:off x="1700240" y="2226352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77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4" name="Google Shape;454;p7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0"/>
          <p:cNvSpPr txBox="1">
            <a:spLocks noGrp="1"/>
          </p:cNvSpPr>
          <p:nvPr>
            <p:ph type="subTitle" idx="2"/>
          </p:nvPr>
        </p:nvSpPr>
        <p:spPr>
          <a:xfrm>
            <a:off x="3135425" y="2978825"/>
            <a:ext cx="38646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2741EC5-82A6-3B43-8FD1-EB7604F3534B}"/>
              </a:ext>
            </a:extLst>
          </p:cNvPr>
          <p:cNvSpPr/>
          <p:nvPr/>
        </p:nvSpPr>
        <p:spPr>
          <a:xfrm>
            <a:off x="827107" y="2871470"/>
            <a:ext cx="1673385" cy="164676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" name="Google Shape;209;p48">
            <a:extLst>
              <a:ext uri="{FF2B5EF4-FFF2-40B4-BE49-F238E27FC236}">
                <a16:creationId xmlns:a16="http://schemas.microsoft.com/office/drawing/2014/main" id="{56B94854-2C27-FF48-B003-2FA0682B9C4D}"/>
              </a:ext>
            </a:extLst>
          </p:cNvPr>
          <p:cNvSpPr txBox="1">
            <a:spLocks/>
          </p:cNvSpPr>
          <p:nvPr/>
        </p:nvSpPr>
        <p:spPr>
          <a:xfrm>
            <a:off x="3135425" y="3272525"/>
            <a:ext cx="5095500" cy="15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en-US" sz="1150" b="1" dirty="0" err="1"/>
              <a:t>Teamlead</a:t>
            </a:r>
            <a:r>
              <a:rPr lang="en-US" sz="1150" b="1" dirty="0"/>
              <a:t>, </a:t>
            </a:r>
            <a:r>
              <a:rPr lang="ru-RU" sz="1150" b="1" dirty="0"/>
              <a:t>главный инженер проекта</a:t>
            </a:r>
          </a:p>
          <a:p>
            <a:pPr marL="0" indent="0"/>
            <a:endParaRPr lang="ru-RU" sz="1150" dirty="0"/>
          </a:p>
          <a:p>
            <a:pPr marL="0" indent="0"/>
            <a:r>
              <a:rPr lang="ru-RU" sz="1150" b="1" dirty="0"/>
              <a:t>Опыт:</a:t>
            </a:r>
            <a:endParaRPr lang="ru-RU" sz="1150" dirty="0"/>
          </a:p>
          <a:p>
            <a:pPr marL="0" indent="0"/>
            <a:r>
              <a:rPr lang="ru-RU" sz="1150" dirty="0"/>
              <a:t>Более 15 лет занимался прикладной математикой и мат моделированием</a:t>
            </a:r>
          </a:p>
          <a:p>
            <a:pPr marL="0" indent="0"/>
            <a:r>
              <a:rPr lang="ru-RU" sz="1150" dirty="0"/>
              <a:t>(</a:t>
            </a:r>
            <a:r>
              <a:rPr lang="en-US" sz="1150" dirty="0"/>
              <a:t>Data Scientist) (Python, </a:t>
            </a:r>
            <a:r>
              <a:rPr lang="ru-RU" sz="1150" dirty="0"/>
              <a:t>С++)</a:t>
            </a:r>
            <a:endParaRPr lang="en-US" sz="1150" dirty="0"/>
          </a:p>
          <a:p>
            <a:pPr marL="0" indent="0"/>
            <a:endParaRPr lang="ru-RU" sz="1150" dirty="0"/>
          </a:p>
          <a:p>
            <a:pPr marL="0" indent="0"/>
            <a:r>
              <a:rPr lang="ru-RU" sz="1150" dirty="0"/>
              <a:t>Анализ временных рядов, эволюционное развитие сложных систем</a:t>
            </a:r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</a:p>
          <a:p>
            <a:pPr marL="0" indent="0"/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14991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</a:rPr>
              <a:t>Production code</a:t>
            </a:r>
            <a:endParaRPr lang="ru-RU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10338</TotalTime>
  <Words>1522</Words>
  <Application>Microsoft Macintosh PowerPoint</Application>
  <PresentationFormat>On-screen Show (16:9)</PresentationFormat>
  <Paragraphs>295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0" baseType="lpstr">
      <vt:lpstr>Cambria Math</vt:lpstr>
      <vt:lpstr>source-serif-pro</vt:lpstr>
      <vt:lpstr>Arial</vt:lpstr>
      <vt:lpstr>Helvetica Neue</vt:lpstr>
      <vt:lpstr>STIXMathJax_Normal-italic</vt:lpstr>
      <vt:lpstr>Google Sans</vt:lpstr>
      <vt:lpstr>Roboto</vt:lpstr>
      <vt:lpstr>Courier New</vt:lpstr>
      <vt:lpstr>Apple Chancery</vt:lpstr>
      <vt:lpstr>Светлая тема</vt:lpstr>
      <vt:lpstr>Светлая тема</vt:lpstr>
      <vt:lpstr>ML Advanced Actor-Critic</vt:lpstr>
      <vt:lpstr>Проверить, идет ли запись</vt:lpstr>
      <vt:lpstr>Правила вебинара</vt:lpstr>
      <vt:lpstr>ML Advanced Deep Q Network </vt:lpstr>
      <vt:lpstr>Карта курса</vt:lpstr>
      <vt:lpstr>Маршрут вебинара</vt:lpstr>
      <vt:lpstr>Цели вебинара</vt:lpstr>
      <vt:lpstr>Смысл</vt:lpstr>
      <vt:lpstr>Algorithms</vt:lpstr>
      <vt:lpstr>Алгоритм Actor-Critic</vt:lpstr>
      <vt:lpstr>DQN</vt:lpstr>
      <vt:lpstr>DQN – достоинства и недостатки</vt:lpstr>
      <vt:lpstr>REINFORCE - алгоритм</vt:lpstr>
      <vt:lpstr>REINFORCE – достоинства и недостатки</vt:lpstr>
      <vt:lpstr>Actor-Critic</vt:lpstr>
      <vt:lpstr>Actor-Critic алгоритм</vt:lpstr>
      <vt:lpstr>Actor-Critic – достоинства и недостатки</vt:lpstr>
      <vt:lpstr>Алгоритм А2С</vt:lpstr>
      <vt:lpstr>Advantage Actor-Critic (A2C)</vt:lpstr>
      <vt:lpstr>Advantage Actor-Critic (A2C) алгоритм</vt:lpstr>
      <vt:lpstr>A2C – достоинства и недостатки</vt:lpstr>
      <vt:lpstr>Алгоритм А3С</vt:lpstr>
      <vt:lpstr>Asynchronous Advantage Actor-Critic (A3C)</vt:lpstr>
      <vt:lpstr>A3C – достоинства и недостатки</vt:lpstr>
      <vt:lpstr>Алгоритм DDPG</vt:lpstr>
      <vt:lpstr>DDPD – Deep Deterministic Policy Gradient</vt:lpstr>
      <vt:lpstr>Deterministic Policy Gradient Theorem</vt:lpstr>
      <vt:lpstr>DDPD – Deep Deterministic Policy Gradient</vt:lpstr>
      <vt:lpstr>DDPG – достоинства и недостатки</vt:lpstr>
      <vt:lpstr>Практика</vt:lpstr>
      <vt:lpstr>Практика</vt:lpstr>
      <vt:lpstr>Домашнее задание</vt:lpstr>
      <vt:lpstr>Список материалов для изучения</vt:lpstr>
      <vt:lpstr>Вопросы?</vt:lpstr>
      <vt:lpstr>Рефлексия</vt:lpstr>
      <vt:lpstr>Цели вебинара</vt:lpstr>
      <vt:lpstr>Рефлексия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77</cp:revision>
  <dcterms:modified xsi:type="dcterms:W3CDTF">2025-06-24T15:21:33Z</dcterms:modified>
</cp:coreProperties>
</file>