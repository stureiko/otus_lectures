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media/image31.jpg" ContentType="image/png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  <p:sldMasterId id="2147483692" r:id="rId2"/>
  </p:sldMasterIdLst>
  <p:notesMasterIdLst>
    <p:notesMasterId r:id="rId48"/>
  </p:notesMasterIdLst>
  <p:sldIdLst>
    <p:sldId id="256" r:id="rId3"/>
    <p:sldId id="379" r:id="rId4"/>
    <p:sldId id="380" r:id="rId5"/>
    <p:sldId id="349" r:id="rId6"/>
    <p:sldId id="489" r:id="rId7"/>
    <p:sldId id="262" r:id="rId8"/>
    <p:sldId id="263" r:id="rId9"/>
    <p:sldId id="264" r:id="rId10"/>
    <p:sldId id="348" r:id="rId11"/>
    <p:sldId id="344" r:id="rId12"/>
    <p:sldId id="343" r:id="rId13"/>
    <p:sldId id="372" r:id="rId14"/>
    <p:sldId id="354" r:id="rId15"/>
    <p:sldId id="373" r:id="rId16"/>
    <p:sldId id="350" r:id="rId17"/>
    <p:sldId id="362" r:id="rId18"/>
    <p:sldId id="374" r:id="rId19"/>
    <p:sldId id="366" r:id="rId20"/>
    <p:sldId id="355" r:id="rId21"/>
    <p:sldId id="363" r:id="rId22"/>
    <p:sldId id="376" r:id="rId23"/>
    <p:sldId id="367" r:id="rId24"/>
    <p:sldId id="356" r:id="rId25"/>
    <p:sldId id="377" r:id="rId26"/>
    <p:sldId id="368" r:id="rId27"/>
    <p:sldId id="359" r:id="rId28"/>
    <p:sldId id="360" r:id="rId29"/>
    <p:sldId id="361" r:id="rId30"/>
    <p:sldId id="378" r:id="rId31"/>
    <p:sldId id="385" r:id="rId32"/>
    <p:sldId id="383" r:id="rId33"/>
    <p:sldId id="396" r:id="rId34"/>
    <p:sldId id="406" r:id="rId35"/>
    <p:sldId id="397" r:id="rId36"/>
    <p:sldId id="399" r:id="rId37"/>
    <p:sldId id="407" r:id="rId38"/>
    <p:sldId id="391" r:id="rId39"/>
    <p:sldId id="401" r:id="rId40"/>
    <p:sldId id="402" r:id="rId41"/>
    <p:sldId id="278" r:id="rId42"/>
    <p:sldId id="279" r:id="rId43"/>
    <p:sldId id="281" r:id="rId44"/>
    <p:sldId id="282" r:id="rId45"/>
    <p:sldId id="289" r:id="rId46"/>
    <p:sldId id="337" r:id="rId47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49"/>
    </p:embeddedFont>
    <p:embeddedFont>
      <p:font typeface="Helvetica Neue" panose="02000503000000020004" pitchFamily="2" charset="0"/>
      <p:regular r:id="rId50"/>
      <p:bold r:id="rId51"/>
      <p:italic r:id="rId52"/>
      <p:boldItalic r:id="rId53"/>
    </p:embeddedFont>
    <p:embeddedFont>
      <p:font typeface="Roboto" panose="02000000000000000000" pitchFamily="2" charset="0"/>
      <p:regular r:id="rId54"/>
      <p:bold r:id="rId55"/>
      <p:italic r:id="rId56"/>
      <p:boldItalic r:id="rId5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1002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8D40"/>
    <a:srgbClr val="FF0000"/>
    <a:srgbClr val="D9E7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623574C-9AE7-4070-A081-93A97D88BCA6}">
  <a:tblStyle styleId="{B623574C-9AE7-4070-A081-93A97D88BC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77"/>
    <p:restoredTop sz="97146"/>
  </p:normalViewPr>
  <p:slideViewPr>
    <p:cSldViewPr snapToGrid="0">
      <p:cViewPr varScale="1">
        <p:scale>
          <a:sx n="297" d="100"/>
          <a:sy n="297" d="100"/>
        </p:scale>
        <p:origin x="1032" y="184"/>
      </p:cViewPr>
      <p:guideLst>
        <p:guide pos="5533"/>
        <p:guide pos="1002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font" Target="fonts/font5.fntdata"/><Relationship Id="rId58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tableStyles" Target="tableStyle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8.fntdata"/><Relationship Id="rId8" Type="http://schemas.openxmlformats.org/officeDocument/2006/relationships/slide" Target="slides/slide6.xml"/><Relationship Id="rId51" Type="http://schemas.openxmlformats.org/officeDocument/2006/relationships/font" Target="fonts/font3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1.fntdata"/><Relationship Id="rId57" Type="http://schemas.openxmlformats.org/officeDocument/2006/relationships/font" Target="fonts/font9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font" Target="fonts/font4.fntdata"/><Relationship Id="rId6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de823bec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de823bec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05733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70530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87435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1366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93985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42015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170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41618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41656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65919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30221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12838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22725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33203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25604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99610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43463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973372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98412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69158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122590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01386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591449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779576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78440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725598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106226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887287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339721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df29b9fb24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df29b9fb24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df29b9fb24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df29b9fb24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df6222e6a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df6222e6a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8a1909ca36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8a1909ca36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e04b8b6756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e04b8b6756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e04b8b6756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e04b8b6756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2" name="Google Shape;132;p3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5" name="Google Shape;135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141" name="Google Shape;141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44" name="Google Shape;144;p3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3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3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8" name="Google Shape;148;p3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51" name="Google Shape;151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3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6" name="Google Shape;156;p3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3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60" name="Google Shape;160;p3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161" name="Google Shape;161;p3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162" name="Google Shape;162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4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4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4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4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4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8" name="Google Shape;178;p4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4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4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4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4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7" name="Google Shape;127;p3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8" name="Google Shape;128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6" r:id="rId10"/>
    <p:sldLayoutId id="2147483687" r:id="rId11"/>
    <p:sldLayoutId id="2147483688" r:id="rId12"/>
    <p:sldLayoutId id="2147483689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://www.linkedin.com/in/igor-stureiko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509.02971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jp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ikorea/awesome-rl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t.me/c/1530284868/2747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4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igor-stureiko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6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otus.ru</a:t>
            </a:r>
            <a:endParaRPr dirty="0"/>
          </a:p>
        </p:txBody>
      </p:sp>
      <p:sp>
        <p:nvSpPr>
          <p:cNvPr id="190" name="Google Shape;190;p46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Advanced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dirty="0"/>
              <a:t>Actor-Critic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7"/>
          <p:cNvSpPr txBox="1">
            <a:spLocks noGrp="1"/>
          </p:cNvSpPr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/>
              <a:t>Проверить, идет ли запись</a:t>
            </a:r>
            <a:endParaRPr sz="2100"/>
          </a:p>
        </p:txBody>
      </p:sp>
      <p:sp>
        <p:nvSpPr>
          <p:cNvPr id="196" name="Google Shape;196;p47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/>
              <a:t>Меня хорошо видно</a:t>
            </a:r>
            <a:endParaRPr sz="4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/>
              <a:t>&amp;&amp; слышно?</a:t>
            </a:r>
            <a:endParaRPr sz="4000"/>
          </a:p>
        </p:txBody>
      </p:sp>
      <p:pic>
        <p:nvPicPr>
          <p:cNvPr id="197" name="Google Shape;197;p47"/>
          <p:cNvPicPr preferRelativeResize="0"/>
          <p:nvPr/>
        </p:nvPicPr>
        <p:blipFill rotWithShape="1">
          <a:blip r:embed="rId3">
            <a:alphaModFix/>
          </a:blip>
          <a:srcRect l="99" r="99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2375" y="3520050"/>
            <a:ext cx="525600" cy="5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47"/>
          <p:cNvSpPr txBox="1"/>
          <p:nvPr/>
        </p:nvSpPr>
        <p:spPr>
          <a:xfrm>
            <a:off x="1514225" y="3459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Ставим “+”, если все хорошо</a:t>
            </a:r>
            <a:b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“-”, если есть проблемы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1"/>
              <a:t>Правила вебинара</a:t>
            </a:r>
            <a:endParaRPr sz="3200" b="1"/>
          </a:p>
        </p:txBody>
      </p:sp>
      <p:pic>
        <p:nvPicPr>
          <p:cNvPr id="215" name="Google Shape;215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9512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281613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4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3061406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49"/>
          <p:cNvSpPr txBox="1"/>
          <p:nvPr/>
        </p:nvSpPr>
        <p:spPr>
          <a:xfrm>
            <a:off x="1654525" y="12522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49"/>
          <p:cNvSpPr txBox="1"/>
          <p:nvPr/>
        </p:nvSpPr>
        <p:spPr>
          <a:xfrm>
            <a:off x="1654525" y="306641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в чат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49"/>
          <p:cNvSpPr txBox="1"/>
          <p:nvPr/>
        </p:nvSpPr>
        <p:spPr>
          <a:xfrm>
            <a:off x="1654525" y="39750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49"/>
          <p:cNvSpPr txBox="1"/>
          <p:nvPr/>
        </p:nvSpPr>
        <p:spPr>
          <a:xfrm>
            <a:off x="1654525" y="2049300"/>
            <a:ext cx="24753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Off-topic обсуждаем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в учебной группе 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" name="Google Shape;222;p49"/>
          <p:cNvSpPr/>
          <p:nvPr/>
        </p:nvSpPr>
        <p:spPr>
          <a:xfrm>
            <a:off x="6046275" y="-8050"/>
            <a:ext cx="30975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49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4" name="Google Shape;224;p4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19120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49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6" name="Google Shape;226;p4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392126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49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8" name="Google Shape;228;p4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2872220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49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0" name="Google Shape;230;p4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593" y="3352314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9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2" name="Google Shape;232;p4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593" y="38324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49"/>
          <p:cNvSpPr txBox="1"/>
          <p:nvPr/>
        </p:nvSpPr>
        <p:spPr>
          <a:xfrm>
            <a:off x="6829363" y="38275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4" name="Google Shape;234;p49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593" y="43125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9"/>
          <p:cNvSpPr txBox="1"/>
          <p:nvPr/>
        </p:nvSpPr>
        <p:spPr>
          <a:xfrm>
            <a:off x="6829363" y="42230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7" name="Google Shape;237;p49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37650" y="2171500"/>
            <a:ext cx="692625" cy="6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Advanced</a:t>
            </a:r>
            <a:br>
              <a:rPr lang="en-US" dirty="0"/>
            </a:br>
            <a:r>
              <a:rPr lang="en-US" dirty="0"/>
              <a:t>Actor-Critic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6150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5B6C0B-391F-E646-B875-92F9CA29F5A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FCC69E03-9DBF-494A-9B34-980047DF6F99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</a:t>
            </a:r>
            <a:r>
              <a:rPr lang="en-US" sz="1150" kern="0" dirty="0"/>
              <a:t>20</a:t>
            </a:r>
            <a:r>
              <a:rPr lang="ru-RU" sz="1150" kern="0" dirty="0"/>
              <a:t>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dirty="0"/>
              <a:t>Карта курса</a:t>
            </a:r>
            <a:endParaRPr dirty="0"/>
          </a:p>
        </p:txBody>
      </p:sp>
      <p:sp>
        <p:nvSpPr>
          <p:cNvPr id="179" name="Google Shape;179;p34"/>
          <p:cNvSpPr/>
          <p:nvPr/>
        </p:nvSpPr>
        <p:spPr>
          <a:xfrm>
            <a:off x="3042000" y="769970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1</a:t>
            </a:r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Временные ряды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0" name="Google Shape;180;p34"/>
          <p:cNvSpPr/>
          <p:nvPr/>
        </p:nvSpPr>
        <p:spPr>
          <a:xfrm>
            <a:off x="654005" y="1664080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2</a:t>
            </a:r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Рекомендательные системы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1" name="Google Shape;181;p34"/>
          <p:cNvSpPr/>
          <p:nvPr/>
        </p:nvSpPr>
        <p:spPr>
          <a:xfrm>
            <a:off x="5244005" y="2511737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4</a:t>
            </a:r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Обучение с подкреплением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2" name="Google Shape;182;p34"/>
          <p:cNvSpPr/>
          <p:nvPr/>
        </p:nvSpPr>
        <p:spPr>
          <a:xfrm>
            <a:off x="5244005" y="1664080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3.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Байесовские модели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183" name="Google Shape;183;p34"/>
          <p:cNvCxnSpPr>
            <a:cxnSpLocks/>
            <a:stCxn id="179" idx="1"/>
            <a:endCxn id="180" idx="0"/>
          </p:cNvCxnSpPr>
          <p:nvPr/>
        </p:nvCxnSpPr>
        <p:spPr>
          <a:xfrm rot="10800000" flipV="1">
            <a:off x="2184006" y="1059620"/>
            <a:ext cx="857995" cy="604460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185" name="Google Shape;185;p34"/>
          <p:cNvSpPr/>
          <p:nvPr/>
        </p:nvSpPr>
        <p:spPr>
          <a:xfrm>
            <a:off x="654005" y="2511737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5. Production</a:t>
            </a:r>
            <a:endParaRPr lang="ru-RU"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186" name="Google Shape;186;p34"/>
          <p:cNvCxnSpPr>
            <a:cxnSpLocks/>
            <a:stCxn id="180" idx="3"/>
            <a:endCxn id="182" idx="1"/>
          </p:cNvCxnSpPr>
          <p:nvPr/>
        </p:nvCxnSpPr>
        <p:spPr>
          <a:xfrm>
            <a:off x="3714005" y="1953730"/>
            <a:ext cx="1530000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187" name="Google Shape;187;p34"/>
          <p:cNvCxnSpPr>
            <a:cxnSpLocks/>
            <a:stCxn id="182" idx="3"/>
            <a:endCxn id="181" idx="3"/>
          </p:cNvCxnSpPr>
          <p:nvPr/>
        </p:nvCxnSpPr>
        <p:spPr>
          <a:xfrm>
            <a:off x="8304005" y="1953730"/>
            <a:ext cx="12700" cy="847657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188" name="Google Shape;188;p34"/>
          <p:cNvCxnSpPr>
            <a:cxnSpLocks/>
            <a:stCxn id="181" idx="1"/>
            <a:endCxn id="185" idx="3"/>
          </p:cNvCxnSpPr>
          <p:nvPr/>
        </p:nvCxnSpPr>
        <p:spPr>
          <a:xfrm rot="10800000">
            <a:off x="3714005" y="2801387"/>
            <a:ext cx="1530000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189" name="Google Shape;189;p34"/>
          <p:cNvSpPr/>
          <p:nvPr/>
        </p:nvSpPr>
        <p:spPr>
          <a:xfrm>
            <a:off x="654005" y="3365815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6. </a:t>
            </a:r>
            <a:r>
              <a:rPr lang="en-US" sz="1600" dirty="0" err="1">
                <a:solidFill>
                  <a:srgbClr val="1F1F1F"/>
                </a:solidFill>
                <a:latin typeface="Google Sans"/>
                <a:sym typeface="Roboto"/>
              </a:rPr>
              <a:t>AutoML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34" name="Google Shape;189;p34">
            <a:extLst>
              <a:ext uri="{FF2B5EF4-FFF2-40B4-BE49-F238E27FC236}">
                <a16:creationId xmlns:a16="http://schemas.microsoft.com/office/drawing/2014/main" id="{1205F190-94C2-4A4C-B9ED-91A1F73E4D34}"/>
              </a:ext>
            </a:extLst>
          </p:cNvPr>
          <p:cNvSpPr/>
          <p:nvPr/>
        </p:nvSpPr>
        <p:spPr>
          <a:xfrm>
            <a:off x="3042000" y="4234765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8. </a:t>
            </a: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Курсовой проект</a:t>
            </a:r>
            <a:endParaRPr sz="13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" name="Google Shape;188;p34">
            <a:extLst>
              <a:ext uri="{FF2B5EF4-FFF2-40B4-BE49-F238E27FC236}">
                <a16:creationId xmlns:a16="http://schemas.microsoft.com/office/drawing/2014/main" id="{EB8517B5-119A-7442-825D-C15261576413}"/>
              </a:ext>
            </a:extLst>
          </p:cNvPr>
          <p:cNvCxnSpPr>
            <a:cxnSpLocks/>
            <a:stCxn id="189" idx="1"/>
            <a:endCxn id="185" idx="1"/>
          </p:cNvCxnSpPr>
          <p:nvPr/>
        </p:nvCxnSpPr>
        <p:spPr>
          <a:xfrm rot="10800000">
            <a:off x="654005" y="2801387"/>
            <a:ext cx="12700" cy="854078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</p:cxnSp>
      <p:cxnSp>
        <p:nvCxnSpPr>
          <p:cNvPr id="38" name="Google Shape;188;p34">
            <a:extLst>
              <a:ext uri="{FF2B5EF4-FFF2-40B4-BE49-F238E27FC236}">
                <a16:creationId xmlns:a16="http://schemas.microsoft.com/office/drawing/2014/main" id="{F7B38074-28CA-DC44-8191-7A278B3DB050}"/>
              </a:ext>
            </a:extLst>
          </p:cNvPr>
          <p:cNvCxnSpPr>
            <a:cxnSpLocks/>
            <a:stCxn id="34" idx="0"/>
            <a:endCxn id="189" idx="3"/>
          </p:cNvCxnSpPr>
          <p:nvPr/>
        </p:nvCxnSpPr>
        <p:spPr>
          <a:xfrm rot="16200000" flipV="1">
            <a:off x="3853353" y="3516117"/>
            <a:ext cx="579300" cy="857995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3D6F8E5B-8E72-9642-AA4C-A3D19C97E5E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120894" y="1338234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447CBAF-C51E-AF4A-9C35-3B92661ED5B4}"/>
              </a:ext>
            </a:extLst>
          </p:cNvPr>
          <p:cNvSpPr txBox="1"/>
          <p:nvPr/>
        </p:nvSpPr>
        <p:spPr>
          <a:xfrm>
            <a:off x="5367116" y="1338235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37" name="Google Shape;530;p82">
            <a:extLst>
              <a:ext uri="{FF2B5EF4-FFF2-40B4-BE49-F238E27FC236}">
                <a16:creationId xmlns:a16="http://schemas.microsoft.com/office/drawing/2014/main" id="{1A85A128-207E-674E-8856-DD7B530737C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95778" y="2238233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55E1EFF6-15B2-384F-BCB0-C1C52F4D548B}"/>
              </a:ext>
            </a:extLst>
          </p:cNvPr>
          <p:cNvSpPr txBox="1"/>
          <p:nvPr/>
        </p:nvSpPr>
        <p:spPr>
          <a:xfrm>
            <a:off x="3042000" y="2238234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0" name="Google Shape;530;p82">
            <a:extLst>
              <a:ext uri="{FF2B5EF4-FFF2-40B4-BE49-F238E27FC236}">
                <a16:creationId xmlns:a16="http://schemas.microsoft.com/office/drawing/2014/main" id="{5CFAE274-29AE-C64A-BF63-F1789CC1D217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08984" y="2232180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495D51D4-1014-904E-B98B-1180866B6EA9}"/>
              </a:ext>
            </a:extLst>
          </p:cNvPr>
          <p:cNvSpPr txBox="1"/>
          <p:nvPr/>
        </p:nvSpPr>
        <p:spPr>
          <a:xfrm>
            <a:off x="7555206" y="2232181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3" name="Google Shape;530;p82">
            <a:extLst>
              <a:ext uri="{FF2B5EF4-FFF2-40B4-BE49-F238E27FC236}">
                <a16:creationId xmlns:a16="http://schemas.microsoft.com/office/drawing/2014/main" id="{6016A700-1ED8-3F49-9B85-B41B9D0E7D4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08984" y="3091037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DB3247B-A3F0-8046-BAAC-3C02B58CC273}"/>
              </a:ext>
            </a:extLst>
          </p:cNvPr>
          <p:cNvSpPr txBox="1"/>
          <p:nvPr/>
        </p:nvSpPr>
        <p:spPr>
          <a:xfrm>
            <a:off x="7555206" y="3091038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5" name="Google Shape;530;p82">
            <a:extLst>
              <a:ext uri="{FF2B5EF4-FFF2-40B4-BE49-F238E27FC236}">
                <a16:creationId xmlns:a16="http://schemas.microsoft.com/office/drawing/2014/main" id="{4772A2BC-247A-A74E-9DD6-82B153D02F2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47413" y="3091037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1D7CD912-58CB-7049-A55E-A067EF213E43}"/>
              </a:ext>
            </a:extLst>
          </p:cNvPr>
          <p:cNvSpPr txBox="1"/>
          <p:nvPr/>
        </p:nvSpPr>
        <p:spPr>
          <a:xfrm>
            <a:off x="2993635" y="3091038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7" name="Google Shape;530;p82">
            <a:extLst>
              <a:ext uri="{FF2B5EF4-FFF2-40B4-BE49-F238E27FC236}">
                <a16:creationId xmlns:a16="http://schemas.microsoft.com/office/drawing/2014/main" id="{C44CB1B9-3F0C-B640-9B91-7E329BDB5AB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47413" y="3945115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6F2CEF8E-768B-2A42-AE60-B91443CA1636}"/>
              </a:ext>
            </a:extLst>
          </p:cNvPr>
          <p:cNvSpPr txBox="1"/>
          <p:nvPr/>
        </p:nvSpPr>
        <p:spPr>
          <a:xfrm>
            <a:off x="2993635" y="3945116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51" name="Google Shape;225;p40">
            <a:extLst>
              <a:ext uri="{FF2B5EF4-FFF2-40B4-BE49-F238E27FC236}">
                <a16:creationId xmlns:a16="http://schemas.microsoft.com/office/drawing/2014/main" id="{144C3652-C501-1346-B7AB-83586BA2F636}"/>
              </a:ext>
            </a:extLst>
          </p:cNvPr>
          <p:cNvPicPr preferRelativeResize="0"/>
          <p:nvPr/>
        </p:nvPicPr>
        <p:blipFill>
          <a:blip r:embed="rId4"/>
          <a:srcRect l="25894" r="25894"/>
          <a:stretch/>
        </p:blipFill>
        <p:spPr>
          <a:xfrm>
            <a:off x="5391295" y="2616086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2" name="Google Shape;225;p40">
            <a:extLst>
              <a:ext uri="{FF2B5EF4-FFF2-40B4-BE49-F238E27FC236}">
                <a16:creationId xmlns:a16="http://schemas.microsoft.com/office/drawing/2014/main" id="{2E53F201-6B1A-E248-8C85-AE31C0183E3A}"/>
              </a:ext>
            </a:extLst>
          </p:cNvPr>
          <p:cNvPicPr preferRelativeResize="0"/>
          <p:nvPr/>
        </p:nvPicPr>
        <p:blipFill>
          <a:blip r:embed="rId5"/>
          <a:srcRect t="2849" b="2849"/>
          <a:stretch/>
        </p:blipFill>
        <p:spPr>
          <a:xfrm>
            <a:off x="785983" y="3442011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4" name="Google Shape;225;p40">
            <a:extLst>
              <a:ext uri="{FF2B5EF4-FFF2-40B4-BE49-F238E27FC236}">
                <a16:creationId xmlns:a16="http://schemas.microsoft.com/office/drawing/2014/main" id="{9503C9EF-9A4D-F741-957E-D9787DBAAD39}"/>
              </a:ext>
            </a:extLst>
          </p:cNvPr>
          <p:cNvPicPr preferRelativeResize="0"/>
          <p:nvPr/>
        </p:nvPicPr>
        <p:blipFill>
          <a:blip r:embed="rId6"/>
          <a:srcRect t="2849" b="2849"/>
          <a:stretch/>
        </p:blipFill>
        <p:spPr>
          <a:xfrm>
            <a:off x="5391295" y="1762079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6" name="Google Shape;225;p40">
            <a:extLst>
              <a:ext uri="{FF2B5EF4-FFF2-40B4-BE49-F238E27FC236}">
                <a16:creationId xmlns:a16="http://schemas.microsoft.com/office/drawing/2014/main" id="{961AE516-CE39-C146-B04E-6F9CCFC749A3}"/>
              </a:ext>
            </a:extLst>
          </p:cNvPr>
          <p:cNvPicPr preferRelativeResize="0"/>
          <p:nvPr/>
        </p:nvPicPr>
        <p:blipFill>
          <a:blip r:embed="rId7"/>
          <a:srcRect t="2849" b="2849"/>
          <a:stretch/>
        </p:blipFill>
        <p:spPr>
          <a:xfrm>
            <a:off x="813996" y="2616086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7" name="Google Shape;225;p40">
            <a:extLst>
              <a:ext uri="{FF2B5EF4-FFF2-40B4-BE49-F238E27FC236}">
                <a16:creationId xmlns:a16="http://schemas.microsoft.com/office/drawing/2014/main" id="{AF4E17D5-3459-B545-8950-6FD1DC61D95F}"/>
              </a:ext>
            </a:extLst>
          </p:cNvPr>
          <p:cNvPicPr preferRelativeResize="0"/>
          <p:nvPr/>
        </p:nvPicPr>
        <p:blipFill>
          <a:blip r:embed="rId8"/>
          <a:srcRect t="2849" b="2849"/>
          <a:stretch/>
        </p:blipFill>
        <p:spPr>
          <a:xfrm>
            <a:off x="721353" y="1753190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8" name="Google Shape;225;p40">
            <a:extLst>
              <a:ext uri="{FF2B5EF4-FFF2-40B4-BE49-F238E27FC236}">
                <a16:creationId xmlns:a16="http://schemas.microsoft.com/office/drawing/2014/main" id="{5D9B9C18-2AFF-6F45-91A9-E24FAB89A0AE}"/>
              </a:ext>
            </a:extLst>
          </p:cNvPr>
          <p:cNvPicPr preferRelativeResize="0"/>
          <p:nvPr/>
        </p:nvPicPr>
        <p:blipFill>
          <a:blip r:embed="rId9"/>
          <a:srcRect t="2849" b="2849"/>
          <a:stretch/>
        </p:blipFill>
        <p:spPr>
          <a:xfrm>
            <a:off x="3165384" y="4326414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9" name="Google Shape;225;p40">
            <a:extLst>
              <a:ext uri="{FF2B5EF4-FFF2-40B4-BE49-F238E27FC236}">
                <a16:creationId xmlns:a16="http://schemas.microsoft.com/office/drawing/2014/main" id="{674F9C88-1D52-6442-B3F1-E2F6FDE24436}"/>
              </a:ext>
            </a:extLst>
          </p:cNvPr>
          <p:cNvPicPr preferRelativeResize="0"/>
          <p:nvPr/>
        </p:nvPicPr>
        <p:blipFill>
          <a:blip r:embed="rId10"/>
          <a:srcRect l="6697" r="6697"/>
          <a:stretch/>
        </p:blipFill>
        <p:spPr>
          <a:xfrm>
            <a:off x="3165384" y="861619"/>
            <a:ext cx="419930" cy="396001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2922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Маршрут вебинара</a:t>
            </a:r>
            <a:endParaRPr dirty="0"/>
          </a:p>
        </p:txBody>
      </p:sp>
      <p:sp>
        <p:nvSpPr>
          <p:cNvPr id="267" name="Google Shape;267;p52"/>
          <p:cNvSpPr/>
          <p:nvPr/>
        </p:nvSpPr>
        <p:spPr>
          <a:xfrm>
            <a:off x="786525" y="120552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Знакомство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p52"/>
          <p:cNvSpPr/>
          <p:nvPr/>
        </p:nvSpPr>
        <p:spPr>
          <a:xfrm>
            <a:off x="787125" y="1795027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Возьмем лучшее от 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DQN </a:t>
            </a: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 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REINFORCE</a:t>
            </a: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52"/>
          <p:cNvSpPr/>
          <p:nvPr/>
        </p:nvSpPr>
        <p:spPr>
          <a:xfrm>
            <a:off x="787125" y="2372042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A2C </a:t>
            </a: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A3C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52"/>
          <p:cNvSpPr/>
          <p:nvPr/>
        </p:nvSpPr>
        <p:spPr>
          <a:xfrm>
            <a:off x="786525" y="2949064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STIXMathJax_Normal-italic"/>
                <a:ea typeface="Roboto"/>
                <a:cs typeface="Roboto"/>
                <a:sym typeface="Roboto"/>
              </a:rPr>
              <a:t>А если еще улучшить - </a:t>
            </a:r>
            <a:r>
              <a:rPr lang="en-US" dirty="0">
                <a:latin typeface="STIXMathJax_Normal-italic"/>
                <a:ea typeface="Roboto"/>
                <a:cs typeface="Roboto"/>
                <a:sym typeface="Roboto"/>
              </a:rPr>
              <a:t>DDPG</a:t>
            </a:r>
            <a:endParaRPr sz="1300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52"/>
          <p:cNvSpPr/>
          <p:nvPr/>
        </p:nvSpPr>
        <p:spPr>
          <a:xfrm>
            <a:off x="786525" y="3526100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Дальнейший путь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улучшения специфичных задач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3" name="Google Shape;273;p52"/>
          <p:cNvCxnSpPr>
            <a:stCxn id="267" idx="1"/>
            <a:endCxn id="268" idx="1"/>
          </p:cNvCxnSpPr>
          <p:nvPr/>
        </p:nvCxnSpPr>
        <p:spPr>
          <a:xfrm>
            <a:off x="786525" y="1393625"/>
            <a:ext cx="600" cy="589500"/>
          </a:xfrm>
          <a:prstGeom prst="curvedConnector3">
            <a:avLst>
              <a:gd name="adj1" fmla="val -396875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274" name="Google Shape;274;p52"/>
          <p:cNvCxnSpPr>
            <a:stCxn id="268" idx="1"/>
            <a:endCxn id="269" idx="1"/>
          </p:cNvCxnSpPr>
          <p:nvPr/>
        </p:nvCxnSpPr>
        <p:spPr>
          <a:xfrm>
            <a:off x="787125" y="1983127"/>
            <a:ext cx="600" cy="576900"/>
          </a:xfrm>
          <a:prstGeom prst="curvedConnector3">
            <a:avLst>
              <a:gd name="adj1" fmla="val -396875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275" name="Google Shape;275;p52"/>
          <p:cNvCxnSpPr>
            <a:stCxn id="269" idx="1"/>
            <a:endCxn id="270" idx="1"/>
          </p:cNvCxnSpPr>
          <p:nvPr/>
        </p:nvCxnSpPr>
        <p:spPr>
          <a:xfrm flipH="1">
            <a:off x="786525" y="2560142"/>
            <a:ext cx="600" cy="576900"/>
          </a:xfrm>
          <a:prstGeom prst="curvedConnector3">
            <a:avLst>
              <a:gd name="adj1" fmla="val 397875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276" name="Google Shape;276;p52"/>
          <p:cNvCxnSpPr>
            <a:stCxn id="270" idx="1"/>
            <a:endCxn id="271" idx="1"/>
          </p:cNvCxnSpPr>
          <p:nvPr/>
        </p:nvCxnSpPr>
        <p:spPr>
          <a:xfrm>
            <a:off x="786525" y="3137164"/>
            <a:ext cx="600" cy="576900"/>
          </a:xfrm>
          <a:prstGeom prst="curvedConnector3">
            <a:avLst>
              <a:gd name="adj1" fmla="val -396875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pic>
        <p:nvPicPr>
          <p:cNvPr id="1026" name="Picture 2" descr="ac">
            <a:extLst>
              <a:ext uri="{FF2B5EF4-FFF2-40B4-BE49-F238E27FC236}">
                <a16:creationId xmlns:a16="http://schemas.microsoft.com/office/drawing/2014/main" id="{F9C9C331-4BD7-3B49-A4B9-B3E1A68C6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0748" y="1028555"/>
            <a:ext cx="4776843" cy="2686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graphicFrame>
        <p:nvGraphicFramePr>
          <p:cNvPr id="283" name="Google Shape;283;p53"/>
          <p:cNvGraphicFramePr/>
          <p:nvPr>
            <p:extLst>
              <p:ext uri="{D42A27DB-BD31-4B8C-83A1-F6EECF244321}">
                <p14:modId xmlns:p14="http://schemas.microsoft.com/office/powerpoint/2010/main" val="1309291409"/>
              </p:ext>
            </p:extLst>
          </p:nvPr>
        </p:nvGraphicFramePr>
        <p:xfrm>
          <a:off x="952500" y="1544194"/>
          <a:ext cx="7239000" cy="1047912"/>
        </p:xfrm>
        <a:graphic>
          <a:graphicData uri="http://schemas.openxmlformats.org/drawingml/2006/table">
            <a:tbl>
              <a:tblPr>
                <a:noFill/>
                <a:tableStyleId>{B623574C-9AE7-4070-A081-93A97D88BCA6}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Собрать лучшие части от алгоритмов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DQN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REINFORCE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алгоритм А2С и А3С</a:t>
                      </a:r>
                      <a:endParaRPr lang="en-GB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пути улучшения алгоритма до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DDPG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5" name="Google Shape;285;p53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К концу занятия вы сможете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graphicFrame>
        <p:nvGraphicFramePr>
          <p:cNvPr id="291" name="Google Shape;291;p54"/>
          <p:cNvGraphicFramePr/>
          <p:nvPr>
            <p:extLst>
              <p:ext uri="{D42A27DB-BD31-4B8C-83A1-F6EECF244321}">
                <p14:modId xmlns:p14="http://schemas.microsoft.com/office/powerpoint/2010/main" val="3307940028"/>
              </p:ext>
            </p:extLst>
          </p:nvPr>
        </p:nvGraphicFramePr>
        <p:xfrm>
          <a:off x="952500" y="1544194"/>
          <a:ext cx="7239000" cy="698608"/>
        </p:xfrm>
        <a:graphic>
          <a:graphicData uri="http://schemas.openxmlformats.org/drawingml/2006/table">
            <a:tbl>
              <a:tblPr>
                <a:noFill/>
                <a:tableStyleId>{B623574C-9AE7-4070-A081-93A97D88BCA6}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Иметь базу для перехода к задачам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мультиагентного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обучения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Иметь базу для перехода к задачам частично-наблюдаемых процессов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7649523"/>
                  </a:ext>
                </a:extLst>
              </a:tr>
            </a:tbl>
          </a:graphicData>
        </a:graphic>
      </p:graphicFrame>
      <p:sp>
        <p:nvSpPr>
          <p:cNvPr id="293" name="Google Shape;293;p54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Зачем вам это уметь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Algorithms</a:t>
            </a:r>
            <a:endParaRPr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D37754D-06AD-304D-9055-81474C19CB62}"/>
              </a:ext>
            </a:extLst>
          </p:cNvPr>
          <p:cNvGrpSpPr/>
          <p:nvPr/>
        </p:nvGrpSpPr>
        <p:grpSpPr>
          <a:xfrm>
            <a:off x="1100181" y="1068918"/>
            <a:ext cx="7321337" cy="3675024"/>
            <a:chOff x="1100181" y="1068918"/>
            <a:chExt cx="7321337" cy="367502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17AC6D5-07DF-4C46-8ABA-991007203C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0181" y="1068918"/>
              <a:ext cx="7321337" cy="3675024"/>
            </a:xfrm>
            <a:prstGeom prst="rect">
              <a:avLst/>
            </a:prstGeom>
          </p:spPr>
        </p:pic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D37F8C51-F572-1C4C-99AA-40E22EBBA3F7}"/>
                </a:ext>
              </a:extLst>
            </p:cNvPr>
            <p:cNvSpPr/>
            <p:nvPr/>
          </p:nvSpPr>
          <p:spPr>
            <a:xfrm>
              <a:off x="2864919" y="3447922"/>
              <a:ext cx="859167" cy="288436"/>
            </a:xfrm>
            <a:prstGeom prst="roundRect">
              <a:avLst/>
            </a:prstGeom>
            <a:solidFill>
              <a:srgbClr val="FF0000">
                <a:alpha val="18039"/>
              </a:srgb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/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6FC48BEE-5DF9-D046-BC60-07E98966091D}"/>
                </a:ext>
              </a:extLst>
            </p:cNvPr>
            <p:cNvSpPr/>
            <p:nvPr/>
          </p:nvSpPr>
          <p:spPr>
            <a:xfrm>
              <a:off x="1336822" y="3662717"/>
              <a:ext cx="859167" cy="288436"/>
            </a:xfrm>
            <a:prstGeom prst="roundRect">
              <a:avLst/>
            </a:prstGeom>
            <a:solidFill>
              <a:srgbClr val="FF0000">
                <a:alpha val="18039"/>
              </a:srgb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/>
            </a:p>
          </p:txBody>
        </p:sp>
      </p:grpSp>
    </p:spTree>
    <p:extLst>
      <p:ext uri="{BB962C8B-B14F-4D97-AF65-F5344CB8AC3E}">
        <p14:creationId xmlns:p14="http://schemas.microsoft.com/office/powerpoint/2010/main" val="3717948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900" dirty="0"/>
              <a:t>Алгоритм </a:t>
            </a:r>
            <a:r>
              <a:rPr lang="en-US" sz="4900" dirty="0"/>
              <a:t>Actor-Critic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4657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DQN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311;p57">
                <a:extLst>
                  <a:ext uri="{FF2B5EF4-FFF2-40B4-BE49-F238E27FC236}">
                    <a16:creationId xmlns:a16="http://schemas.microsoft.com/office/drawing/2014/main" id="{051E6E68-4317-2841-BFA7-5EE1361731DB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3079273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16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func>
                            <m:func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b="0" i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sSup>
                                    <m:sSupPr>
                                      <m:ctrlP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lim>
                              </m:limLow>
                            </m:fName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sz="160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16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</m:func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Loss:</a:t>
                </a: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𝐿𝑜𝑠𝑠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func>
                                <m:func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600" b="0" i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sSup>
                                        <m:sSupPr>
                                          <m:ctrlP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p>
                                          <m: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lim>
                                  </m:limLow>
                                </m:fName>
                                <m:e>
                                  <m:sSup>
                                    <m:sSupPr>
                                      <m:ctrlP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p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p>
                                        <m:sSupPr>
                                          <m:ctrlP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p>
                                          <m: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func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60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16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𝐿𝑜𝑠𝑠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≈−2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func>
                            <m:func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sSup>
                                    <m:sSup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lim>
                              </m:limLow>
                            </m:fName>
                            <m:e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sSub>
                        <m:sSubPr>
                          <m:ctrlPr>
                            <a:rPr lang="en-US" sz="1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sSup>
                        <m:sSup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p>
                      </m:sSup>
                      <m:d>
                        <m:d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endParaRPr lang="en-US" sz="1600" b="0" i="1" u="none" strike="noStrike" dirty="0">
                  <a:solidFill>
                    <a:srgbClr val="000000"/>
                  </a:solidFill>
                  <a:effectLst/>
                  <a:latin typeface="Cambria Math" panose="02040503050406030204" pitchFamily="18" charset="0"/>
                </a:endParaRP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6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 ←</m:t>
                      </m:r>
                      <m:r>
                        <a:rPr lang="en-US" sz="16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16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</m:t>
                      </m:r>
                      <m:r>
                        <a:rPr lang="en-US" sz="16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sz="16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16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6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𝐿𝑜𝑠𝑠</m:t>
                      </m:r>
                      <m:r>
                        <a:rPr lang="en-US" sz="16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16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16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</p:txBody>
          </p:sp>
        </mc:Choice>
        <mc:Fallback xmlns="">
          <p:sp>
            <p:nvSpPr>
              <p:cNvPr id="6" name="Google Shape;311;p57">
                <a:extLst>
                  <a:ext uri="{FF2B5EF4-FFF2-40B4-BE49-F238E27FC236}">
                    <a16:creationId xmlns:a16="http://schemas.microsoft.com/office/drawing/2014/main" id="{051E6E68-4317-2841-BFA7-5EE1361731DB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30792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2909EFE9-8AF8-534F-AFCA-B36C86C8D18F}"/>
              </a:ext>
            </a:extLst>
          </p:cNvPr>
          <p:cNvSpPr/>
          <p:nvPr/>
        </p:nvSpPr>
        <p:spPr>
          <a:xfrm>
            <a:off x="3970751" y="1076820"/>
            <a:ext cx="3288082" cy="5650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1765A9-AAE0-3141-9C7B-B21DF4F1C30F}"/>
              </a:ext>
            </a:extLst>
          </p:cNvPr>
          <p:cNvSpPr/>
          <p:nvPr/>
        </p:nvSpPr>
        <p:spPr>
          <a:xfrm>
            <a:off x="4473326" y="3596231"/>
            <a:ext cx="951705" cy="337530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982712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DQN – </a:t>
            </a:r>
            <a:r>
              <a:rPr lang="ru-RU" dirty="0">
                <a:solidFill>
                  <a:srgbClr val="058D40"/>
                </a:solidFill>
                <a:latin typeface="Helvetica Neue" panose="02000503000000020004" pitchFamily="2" charset="0"/>
              </a:rPr>
              <a:t>достоинства</a:t>
            </a:r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 и </a:t>
            </a:r>
            <a:r>
              <a:rPr lang="ru-RU" dirty="0">
                <a:solidFill>
                  <a:srgbClr val="C00000"/>
                </a:solidFill>
                <a:latin typeface="Helvetica Neue" panose="02000503000000020004" pitchFamily="2" charset="0"/>
              </a:rPr>
              <a:t>недостатки</a:t>
            </a:r>
            <a:endParaRPr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712291-7ABD-834A-95A3-323BA7CC4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193" y="1259260"/>
            <a:ext cx="3496698" cy="31102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7D6D5F7-B52A-834B-A19A-5A9527D71EF8}"/>
              </a:ext>
            </a:extLst>
          </p:cNvPr>
          <p:cNvSpPr txBox="1"/>
          <p:nvPr/>
        </p:nvSpPr>
        <p:spPr>
          <a:xfrm>
            <a:off x="6618215" y="1694587"/>
            <a:ext cx="21246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rgbClr val="C00000"/>
                </a:solidFill>
              </a:rPr>
              <a:t>Дискретное пространство действий</a:t>
            </a:r>
          </a:p>
          <a:p>
            <a:endParaRPr lang="ru-RU" sz="1800" dirty="0">
              <a:solidFill>
                <a:srgbClr val="C00000"/>
              </a:solidFill>
            </a:endParaRPr>
          </a:p>
          <a:p>
            <a:r>
              <a:rPr lang="ru-RU" sz="1800" dirty="0">
                <a:solidFill>
                  <a:srgbClr val="C00000"/>
                </a:solidFill>
              </a:rPr>
              <a:t>Сложно обучать </a:t>
            </a:r>
            <a:br>
              <a:rPr lang="ru-RU" sz="1800" dirty="0">
                <a:solidFill>
                  <a:srgbClr val="C00000"/>
                </a:solidFill>
              </a:rPr>
            </a:br>
            <a:r>
              <a:rPr lang="en-US" sz="1800" dirty="0">
                <a:solidFill>
                  <a:srgbClr val="C00000"/>
                </a:solidFill>
              </a:rPr>
              <a:t>Q-</a:t>
            </a:r>
            <a:r>
              <a:rPr lang="ru-RU" sz="1800" dirty="0">
                <a:solidFill>
                  <a:srgbClr val="C00000"/>
                </a:solidFill>
              </a:rPr>
              <a:t>функцию</a:t>
            </a:r>
            <a:endParaRPr lang="en-RU" sz="1800" dirty="0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557A5D-043C-2047-9AAF-ADA1B20BE362}"/>
              </a:ext>
            </a:extLst>
          </p:cNvPr>
          <p:cNvSpPr txBox="1"/>
          <p:nvPr/>
        </p:nvSpPr>
        <p:spPr>
          <a:xfrm>
            <a:off x="951780" y="2275761"/>
            <a:ext cx="189141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58D40"/>
                </a:solidFill>
              </a:rPr>
              <a:t>Off-policy</a:t>
            </a:r>
          </a:p>
          <a:p>
            <a:endParaRPr lang="en-US" sz="1800" dirty="0">
              <a:solidFill>
                <a:srgbClr val="058D40"/>
              </a:solidFill>
            </a:endParaRPr>
          </a:p>
          <a:p>
            <a:r>
              <a:rPr lang="ru-RU" dirty="0">
                <a:solidFill>
                  <a:srgbClr val="058D40"/>
                </a:solidFill>
              </a:rPr>
              <a:t>Использование </a:t>
            </a:r>
            <a:br>
              <a:rPr lang="en-US" dirty="0">
                <a:solidFill>
                  <a:srgbClr val="058D40"/>
                </a:solidFill>
              </a:rPr>
            </a:br>
            <a:r>
              <a:rPr lang="en-US" dirty="0">
                <a:solidFill>
                  <a:srgbClr val="058D40"/>
                </a:solidFill>
              </a:rPr>
              <a:t>Experience replay</a:t>
            </a:r>
            <a:endParaRPr lang="en-RU" dirty="0">
              <a:solidFill>
                <a:srgbClr val="058D4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B2C0E7-6CD8-1445-AE87-37F092D54C9D}"/>
              </a:ext>
            </a:extLst>
          </p:cNvPr>
          <p:cNvSpPr/>
          <p:nvPr/>
        </p:nvSpPr>
        <p:spPr>
          <a:xfrm>
            <a:off x="2843193" y="3540999"/>
            <a:ext cx="1188759" cy="3313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58D40"/>
                </a:solidFill>
              </a:rPr>
              <a:t>Advantages</a:t>
            </a:r>
            <a:endParaRPr lang="en-RU" dirty="0">
              <a:solidFill>
                <a:srgbClr val="058D4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D86B4B-9083-7143-BCF3-5EDCF81A9773}"/>
              </a:ext>
            </a:extLst>
          </p:cNvPr>
          <p:cNvSpPr/>
          <p:nvPr/>
        </p:nvSpPr>
        <p:spPr>
          <a:xfrm>
            <a:off x="4928721" y="3010905"/>
            <a:ext cx="1411170" cy="3313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Disadvantages</a:t>
            </a:r>
            <a:endParaRPr lang="en-RU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594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REINFORCE - </a:t>
            </a:r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алгоритм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342294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Задаем начальное приближение политики</a:t>
                </a: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sup>
                    </m:sSup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Запускаем обучение. Для каждого эпизода:</a:t>
                </a:r>
              </a:p>
              <a:p>
                <a:pPr lvl="1"/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Действуя по текущей политике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получаем траекторию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, награды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и определяем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:</a:t>
                </a:r>
              </a:p>
              <a:p>
                <a:pPr marL="60325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lvl="1"/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Следуя по траектории обновляем веса модели по правилу:</a:t>
                </a:r>
              </a:p>
              <a:p>
                <a:pPr marL="603250" lvl="1" indent="0">
                  <a:buNone/>
                </a:pPr>
                <a:endParaRPr lang="en-US" sz="1600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60325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sub>
                      </m:sSub>
                      <m:func>
                        <m:func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</p:txBody>
          </p:sp>
        </mc:Choice>
        <mc:Fallback xmlns="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3422940"/>
              </a:xfrm>
              <a:prstGeom prst="rect">
                <a:avLst/>
              </a:prstGeom>
              <a:blipFill>
                <a:blip r:embed="rId3"/>
                <a:stretch>
                  <a:fillRect b="-111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7CB0B14A-99BE-E84C-AF7A-0DC79D0E341A}"/>
              </a:ext>
            </a:extLst>
          </p:cNvPr>
          <p:cNvSpPr/>
          <p:nvPr/>
        </p:nvSpPr>
        <p:spPr>
          <a:xfrm>
            <a:off x="3923764" y="3872392"/>
            <a:ext cx="1568774" cy="374352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64894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REINFORCE – </a:t>
            </a:r>
            <a:r>
              <a:rPr lang="ru-RU" dirty="0">
                <a:solidFill>
                  <a:srgbClr val="058D40"/>
                </a:solidFill>
                <a:latin typeface="Helvetica Neue" panose="02000503000000020004" pitchFamily="2" charset="0"/>
              </a:rPr>
              <a:t>достоинства</a:t>
            </a:r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 и </a:t>
            </a:r>
            <a:r>
              <a:rPr lang="ru-RU" dirty="0">
                <a:solidFill>
                  <a:srgbClr val="C00000"/>
                </a:solidFill>
                <a:latin typeface="Helvetica Neue" panose="02000503000000020004" pitchFamily="2" charset="0"/>
              </a:rPr>
              <a:t>недостатки</a:t>
            </a:r>
            <a:endParaRPr dirty="0">
              <a:solidFill>
                <a:srgbClr val="C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7F2FE1-3E2C-5C4B-AF56-86F7BE664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193" y="1259260"/>
            <a:ext cx="3496698" cy="311022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70CC0C1-A9FE-EB41-A092-234D3AB7B14E}"/>
              </a:ext>
            </a:extLst>
          </p:cNvPr>
          <p:cNvSpPr/>
          <p:nvPr/>
        </p:nvSpPr>
        <p:spPr>
          <a:xfrm>
            <a:off x="2843193" y="3540999"/>
            <a:ext cx="1188759" cy="3313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58D40"/>
                </a:solidFill>
              </a:rPr>
              <a:t>Advantages</a:t>
            </a:r>
            <a:endParaRPr lang="en-RU" dirty="0">
              <a:solidFill>
                <a:srgbClr val="058D4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A7CD40-723E-444D-BE52-EB87F5B42DE8}"/>
              </a:ext>
            </a:extLst>
          </p:cNvPr>
          <p:cNvSpPr/>
          <p:nvPr/>
        </p:nvSpPr>
        <p:spPr>
          <a:xfrm>
            <a:off x="4928721" y="3010905"/>
            <a:ext cx="1411170" cy="3313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Disadvantages</a:t>
            </a:r>
            <a:endParaRPr lang="en-RU" dirty="0">
              <a:solidFill>
                <a:srgbClr val="C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713310-70E5-8E4C-856E-67239DC65324}"/>
              </a:ext>
            </a:extLst>
          </p:cNvPr>
          <p:cNvSpPr txBox="1"/>
          <p:nvPr/>
        </p:nvSpPr>
        <p:spPr>
          <a:xfrm>
            <a:off x="362078" y="2107235"/>
            <a:ext cx="27861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rgbClr val="058D40"/>
                </a:solidFill>
              </a:rPr>
              <a:t>Непрерывное пространство действий</a:t>
            </a:r>
          </a:p>
          <a:p>
            <a:endParaRPr lang="ru-RU" sz="1800" dirty="0">
              <a:solidFill>
                <a:srgbClr val="058D40"/>
              </a:solidFill>
            </a:endParaRPr>
          </a:p>
          <a:p>
            <a:r>
              <a:rPr lang="ru-RU" sz="1800" dirty="0">
                <a:solidFill>
                  <a:srgbClr val="058D40"/>
                </a:solidFill>
              </a:rPr>
              <a:t>Обучаем сразу политику</a:t>
            </a:r>
            <a:endParaRPr lang="en-RU" sz="1800" dirty="0">
              <a:solidFill>
                <a:srgbClr val="058D4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AFAB04-6711-1D4A-8216-7D228241E22C}"/>
              </a:ext>
            </a:extLst>
          </p:cNvPr>
          <p:cNvSpPr txBox="1"/>
          <p:nvPr/>
        </p:nvSpPr>
        <p:spPr>
          <a:xfrm>
            <a:off x="6585466" y="1676348"/>
            <a:ext cx="1891413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</a:rPr>
              <a:t>On-policy</a:t>
            </a:r>
          </a:p>
          <a:p>
            <a:endParaRPr lang="en-US" sz="1800" dirty="0">
              <a:solidFill>
                <a:srgbClr val="C00000"/>
              </a:solidFill>
            </a:endParaRPr>
          </a:p>
          <a:p>
            <a:r>
              <a:rPr lang="ru-RU" dirty="0">
                <a:solidFill>
                  <a:srgbClr val="C00000"/>
                </a:solidFill>
              </a:rPr>
              <a:t>Не можем использовать 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Experience replay</a:t>
            </a:r>
            <a:endParaRPr lang="ru-RU" dirty="0">
              <a:solidFill>
                <a:srgbClr val="C00000"/>
              </a:solidFill>
            </a:endParaRPr>
          </a:p>
          <a:p>
            <a:endParaRPr lang="ru-RU" dirty="0">
              <a:solidFill>
                <a:srgbClr val="C00000"/>
              </a:solidFill>
            </a:endParaRPr>
          </a:p>
          <a:p>
            <a:r>
              <a:rPr lang="ru-RU" dirty="0">
                <a:solidFill>
                  <a:srgbClr val="C00000"/>
                </a:solidFill>
              </a:rPr>
              <a:t>Не устойчив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3184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Actor-Critic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2850" y="1026322"/>
                <a:ext cx="8801144" cy="3633177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nary>
                        </m:e>
                      </m:d>
                      <m:r>
                        <a:rPr lang="en-US" sz="14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d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400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nary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ru-RU" sz="14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endParaRPr lang="en-US" sz="14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Политику приближаем по алгоритму </a:t>
                </a:r>
                <a:r>
                  <a:rPr lang="en-US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REINFORCE </a:t>
                </a:r>
              </a:p>
              <a:p>
                <a:r>
                  <a:rPr lang="en-US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Q</a:t>
                </a: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-функцию обновляем по </a:t>
                </a:r>
                <a:r>
                  <a:rPr lang="en-US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DQN</a:t>
                </a: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nary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ru-RU" sz="14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</p:txBody>
          </p:sp>
        </mc:Choice>
        <mc:Fallback xmlns="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2850" y="1026322"/>
                <a:ext cx="8801144" cy="3633177"/>
              </a:xfrm>
              <a:prstGeom prst="rect">
                <a:avLst/>
              </a:prstGeom>
              <a:blipFill>
                <a:blip r:embed="rId3"/>
                <a:stretch>
                  <a:fillRect t="-13240" b="-17073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DC7988FF-40E2-F54A-89FC-DEDA81D5CA37}"/>
              </a:ext>
            </a:extLst>
          </p:cNvPr>
          <p:cNvSpPr/>
          <p:nvPr/>
        </p:nvSpPr>
        <p:spPr>
          <a:xfrm>
            <a:off x="4125532" y="3716877"/>
            <a:ext cx="1133801" cy="34980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69DAEF-403F-3B4A-98F1-8F59FFF6F4B9}"/>
              </a:ext>
            </a:extLst>
          </p:cNvPr>
          <p:cNvSpPr txBox="1"/>
          <p:nvPr/>
        </p:nvSpPr>
        <p:spPr>
          <a:xfrm>
            <a:off x="2811292" y="4222736"/>
            <a:ext cx="1361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a</a:t>
            </a:r>
            <a:r>
              <a:rPr lang="en-RU" dirty="0"/>
              <a:t>ctor</a:t>
            </a:r>
          </a:p>
          <a:p>
            <a:pPr algn="ctr"/>
            <a:r>
              <a:rPr lang="en-RU" dirty="0"/>
              <a:t>(REINFORCE)</a:t>
            </a:r>
          </a:p>
        </p:txBody>
      </p:sp>
      <p:cxnSp>
        <p:nvCxnSpPr>
          <p:cNvPr id="5" name="Curved Connector 4">
            <a:extLst>
              <a:ext uri="{FF2B5EF4-FFF2-40B4-BE49-F238E27FC236}">
                <a16:creationId xmlns:a16="http://schemas.microsoft.com/office/drawing/2014/main" id="{EAA9AE3D-BD8F-2245-8802-89679BD3753C}"/>
              </a:ext>
            </a:extLst>
          </p:cNvPr>
          <p:cNvCxnSpPr>
            <a:cxnSpLocks/>
            <a:stCxn id="3" idx="3"/>
            <a:endCxn id="2" idx="2"/>
          </p:cNvCxnSpPr>
          <p:nvPr/>
        </p:nvCxnSpPr>
        <p:spPr>
          <a:xfrm flipV="1">
            <a:off x="4172562" y="4066682"/>
            <a:ext cx="519871" cy="41766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FC6C9FC-C700-A449-9E55-19ACF6828FCB}"/>
              </a:ext>
            </a:extLst>
          </p:cNvPr>
          <p:cNvSpPr/>
          <p:nvPr/>
        </p:nvSpPr>
        <p:spPr>
          <a:xfrm>
            <a:off x="5277744" y="3716876"/>
            <a:ext cx="785524" cy="349805"/>
          </a:xfrm>
          <a:prstGeom prst="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5D214C-23EE-F649-AC48-72671663E8C2}"/>
              </a:ext>
            </a:extLst>
          </p:cNvPr>
          <p:cNvSpPr txBox="1"/>
          <p:nvPr/>
        </p:nvSpPr>
        <p:spPr>
          <a:xfrm>
            <a:off x="6554804" y="4136279"/>
            <a:ext cx="7024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critic</a:t>
            </a:r>
            <a:endParaRPr lang="en-RU" dirty="0"/>
          </a:p>
          <a:p>
            <a:pPr algn="ctr"/>
            <a:r>
              <a:rPr lang="en-RU" dirty="0"/>
              <a:t>(DQN)</a:t>
            </a:r>
          </a:p>
        </p:txBody>
      </p: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68251831-F1D3-F34B-A14C-FEA0B139F19D}"/>
              </a:ext>
            </a:extLst>
          </p:cNvPr>
          <p:cNvCxnSpPr>
            <a:cxnSpLocks/>
            <a:stCxn id="13" idx="1"/>
            <a:endCxn id="12" idx="2"/>
          </p:cNvCxnSpPr>
          <p:nvPr/>
        </p:nvCxnSpPr>
        <p:spPr>
          <a:xfrm rot="10800000">
            <a:off x="5670506" y="4066681"/>
            <a:ext cx="884298" cy="33120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76848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Actor-Critic </a:t>
            </a:r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алгоритм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2850" y="989138"/>
                <a:ext cx="8801144" cy="3633177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342900" indent="-342900">
                  <a:lnSpc>
                    <a:spcPct val="100000"/>
                  </a:lnSpc>
                  <a:buAutoNum type="arabicPeriod"/>
                </a:pPr>
                <a:r>
                  <a:rPr lang="ru-RU" sz="1300" dirty="0"/>
                  <a:t>Инициализируем случайным образом сети </a:t>
                </a:r>
                <a:r>
                  <a:rPr lang="en-US" sz="1300" dirty="0"/>
                  <a:t>actor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3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sup>
                    </m:sSup>
                    <m:r>
                      <a:rPr lang="en-US" sz="13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3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3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3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3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1300" i="1">
                        <a:latin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𝜇</m:t>
                        </m:r>
                      </m:sup>
                    </m:sSup>
                  </m:oMath>
                </a14:m>
                <a:r>
                  <a:rPr lang="en-US" sz="1300" dirty="0"/>
                  <a:t> </a:t>
                </a:r>
                <a:r>
                  <a:rPr lang="ru-RU" sz="1300" dirty="0"/>
                  <a:t>и </a:t>
                </a:r>
                <a:r>
                  <a:rPr lang="en-US" sz="1300" dirty="0"/>
                  <a:t>critic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3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p>
                    </m:sSup>
                    <m:d>
                      <m:dPr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sSup>
                          <m:sSupPr>
                            <m:ctrlPr>
                              <a:rPr lang="en-US" sz="13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3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13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p>
                        </m:sSup>
                      </m:e>
                    </m:d>
                  </m:oMath>
                </a14:m>
                <a:r>
                  <a:rPr lang="en-RU" sz="1300" dirty="0"/>
                  <a:t> </a:t>
                </a:r>
                <a:r>
                  <a:rPr lang="ru-RU" sz="1300" dirty="0"/>
                  <a:t>весами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𝜃</m:t>
                        </m:r>
                      </m:sup>
                    </m:sSup>
                  </m:oMath>
                </a14:m>
                <a:r>
                  <a:rPr lang="en-RU" sz="1300" dirty="0"/>
                  <a:t> </a:t>
                </a:r>
                <a:r>
                  <a:rPr lang="ru-RU" sz="1300" dirty="0"/>
                  <a:t>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𝜇</m:t>
                        </m:r>
                      </m:sup>
                    </m:sSup>
                  </m:oMath>
                </a14:m>
                <a:r>
                  <a:rPr lang="ru-RU" sz="1300" dirty="0"/>
                  <a:t> и целевые сети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RU" sz="1300" dirty="0"/>
                  <a:t> </a:t>
                </a:r>
                <a:r>
                  <a:rPr lang="ru-RU" sz="1300" dirty="0"/>
                  <a:t>и</a:t>
                </a:r>
                <a:r>
                  <a:rPr lang="en-US" sz="13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RU" sz="1300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sSup>
                          <m:sSupPr>
                            <m:ctrlPr>
                              <a:rPr lang="en-US" sz="13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3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sz="13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p>
                    <m:r>
                      <a:rPr lang="en-US" sz="1300" i="1">
                        <a:latin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p>
                  </m:oMath>
                </a14:m>
                <a:r>
                  <a:rPr lang="en-RU" sz="13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sSup>
                          <m:sSupPr>
                            <m:ctrlPr>
                              <a:rPr lang="en-US" sz="13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3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p>
                            <m:r>
                              <a:rPr lang="en-US" sz="13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p>
                    <m:r>
                      <a:rPr lang="en-US" sz="1300" i="1">
                        <a:latin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𝜇</m:t>
                        </m:r>
                      </m:sup>
                    </m:sSup>
                  </m:oMath>
                </a14:m>
                <a:endParaRPr lang="en-RU" sz="1300" dirty="0"/>
              </a:p>
              <a:p>
                <a:pPr marL="342900" indent="-342900">
                  <a:lnSpc>
                    <a:spcPct val="100000"/>
                  </a:lnSpc>
                  <a:buAutoNum type="arabicPeriod"/>
                </a:pPr>
                <a:r>
                  <a:rPr lang="ru-RU" sz="1300" dirty="0"/>
                  <a:t>Устанавливаем число эпизодов обучения </a:t>
                </a:r>
                <a:r>
                  <a:rPr lang="ru-RU" sz="1300" i="1" dirty="0"/>
                  <a:t>М</a:t>
                </a:r>
                <a:r>
                  <a:rPr lang="ru-RU" sz="1300" dirty="0"/>
                  <a:t> и для каждого эпизода выполняем:</a:t>
                </a:r>
                <a:endParaRPr lang="en-US" sz="1300" dirty="0"/>
              </a:p>
              <a:p>
                <a:pPr marL="668338" indent="-338138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ru-RU" sz="1300" dirty="0"/>
                  <a:t>Действуем текущей политикой и получаем состояние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RU" sz="1300" dirty="0"/>
              </a:p>
              <a:p>
                <a:pPr marL="668338" indent="-338138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ru-RU" sz="1300" dirty="0"/>
                  <a:t>Находясь в состоянии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30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1300" dirty="0"/>
                  <a:t> в соответствии с текущей политикой выбираем действие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30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3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sz="1300">
                            <a:latin typeface="Cambria Math" panose="02040503050406030204" pitchFamily="18" charset="0"/>
                          </a:rPr>
                          <m:t>𝜇</m:t>
                        </m:r>
                      </m:sup>
                    </m:sSup>
                    <m:d>
                      <m:dPr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3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0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30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p>
                          <m:sSupPr>
                            <m:ctrlPr>
                              <a:rPr lang="en-US" sz="13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30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130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sup>
                        </m:sSup>
                      </m:e>
                    </m:d>
                  </m:oMath>
                </a14:m>
                <a:endParaRPr lang="ru-RU" sz="1300" dirty="0"/>
              </a:p>
              <a:p>
                <a:pPr marL="668338" indent="-338138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ru-RU" sz="1300" dirty="0"/>
                  <a:t>Выполняем действие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30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1300" dirty="0"/>
                  <a:t>, получаем награду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30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RU" sz="1300" dirty="0"/>
                  <a:t> </a:t>
                </a:r>
                <a:r>
                  <a:rPr lang="ru-RU" sz="1300" dirty="0"/>
                  <a:t>и переходим в следующее состояние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30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30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ru-RU" sz="1300" dirty="0"/>
              </a:p>
              <a:p>
                <a:pPr marL="668338" indent="-338138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ru-RU" sz="1300" dirty="0"/>
                  <a:t>Имея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30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30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1300" dirty="0"/>
                  <a:t> </a:t>
                </a:r>
                <a:r>
                  <a:rPr lang="ru-RU" sz="1300" dirty="0"/>
                  <a:t>в соответствии с политикой выбираем действие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30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30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sz="1300" dirty="0"/>
              </a:p>
              <a:p>
                <a:pPr marL="668338" indent="-338138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ru-RU" sz="1300" dirty="0"/>
                  <a:t>Вычисляем </a:t>
                </a:r>
                <a:r>
                  <a:rPr lang="en-US" sz="1300" dirty="0"/>
                  <a:t>Loss </a:t>
                </a:r>
                <a:r>
                  <a:rPr lang="ru-RU" sz="1300" dirty="0"/>
                  <a:t>для обновления весов:</a:t>
                </a:r>
              </a:p>
              <a:p>
                <a:pPr marL="2312988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300" b="0" i="1" smtClean="0">
                          <a:latin typeface="Cambria Math" panose="02040503050406030204" pitchFamily="18" charset="0"/>
                        </a:rPr>
                        <m:t>𝐿𝑜𝑠𝑠</m:t>
                      </m:r>
                      <m:d>
                        <m:dPr>
                          <m:ctrlPr>
                            <a:rPr lang="en-US" sz="13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3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3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sz="13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sup>
                          </m:sSup>
                        </m:e>
                      </m:d>
                      <m:r>
                        <a:rPr lang="en-US" sz="13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3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3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3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3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3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3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sSup>
                                <m:sSupPr>
                                  <m:ctrlPr>
                                    <a:rPr lang="en-US" sz="13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300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p>
                                  <m:r>
                                    <a:rPr lang="en-US" sz="13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13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3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3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13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1300" b="0" i="1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sz="1300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sz="13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3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13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1300" b="0" i="1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3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13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300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p>
                                  <m:r>
                                    <a:rPr lang="en-US" sz="13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13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3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3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13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1300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sz="13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3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13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13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300" dirty="0"/>
              </a:p>
              <a:p>
                <a:pPr marL="2312988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300" b="0" i="1" smtClean="0">
                          <a:latin typeface="Cambria Math" panose="02040503050406030204" pitchFamily="18" charset="0"/>
                        </a:rPr>
                        <m:t>𝐿𝑜𝑠𝑠</m:t>
                      </m:r>
                      <m:d>
                        <m:dPr>
                          <m:ctrlPr>
                            <a:rPr lang="en-US" sz="13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3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3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sz="13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p>
                          </m:sSup>
                        </m:e>
                      </m:d>
                      <m:r>
                        <a:rPr lang="en-US" sz="13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3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3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p>
                            <m:sSupPr>
                              <m:ctrlPr>
                                <a:rPr lang="en-US" sz="13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3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13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3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3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sz="13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3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13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13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13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13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sz="13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3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sz="13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p>
                          </m:sSup>
                          <m:r>
                            <a:rPr lang="en-US" sz="13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3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3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3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3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3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3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1300" dirty="0"/>
              </a:p>
              <a:p>
                <a:pPr marL="668338" indent="-338138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ru-RU" sz="1300" dirty="0"/>
                  <a:t>Обновляем веса</a:t>
                </a:r>
                <a:r>
                  <a:rPr lang="en-US" sz="1300" dirty="0"/>
                  <a:t>:</a:t>
                </a:r>
                <a:r>
                  <a:rPr lang="en-RU" sz="13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300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p>
                    <m:r>
                      <a:rPr lang="en-US" sz="1300">
                        <a:latin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300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p>
                    <m:r>
                      <a:rPr lang="en-US" sz="130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1300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30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sSup>
                          <m:sSupPr>
                            <m:ctrlPr>
                              <a:rPr lang="en-US" sz="13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30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130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p>
                        </m:sSup>
                      </m:sub>
                    </m:sSub>
                    <m:r>
                      <a:rPr lang="en-US" sz="1300">
                        <a:latin typeface="Cambria Math" panose="02040503050406030204" pitchFamily="18" charset="0"/>
                      </a:rPr>
                      <m:t>𝐿𝑜𝑠𝑠</m:t>
                    </m:r>
                    <m:r>
                      <a:rPr lang="en-US" sz="130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300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p>
                    <m:r>
                      <a:rPr lang="en-US" sz="13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3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3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300" dirty="0">
                            <a:latin typeface="Cambria Math" panose="02040503050406030204" pitchFamily="18" charset="0"/>
                          </a:rPr>
                          <m:t>𝜇</m:t>
                        </m:r>
                      </m:sup>
                    </m:sSup>
                    <m:r>
                      <a:rPr lang="en-US" sz="1300" dirty="0">
                        <a:latin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en-US" sz="13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300" dirty="0">
                            <a:latin typeface="Cambria Math" panose="02040503050406030204" pitchFamily="18" charset="0"/>
                          </a:rPr>
                          <m:t>𝜇</m:t>
                        </m:r>
                      </m:sup>
                    </m:sSup>
                    <m:r>
                      <a:rPr lang="en-US" sz="1300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300" dirty="0">
                        <a:latin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en-US" sz="13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300" dirty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sSup>
                          <m:sSupPr>
                            <m:ctrlPr>
                              <a:rPr lang="en-US" sz="13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300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1300" dirty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sup>
                        </m:sSup>
                      </m:sub>
                    </m:sSub>
                    <m:r>
                      <a:rPr lang="en-US" sz="1300" dirty="0">
                        <a:latin typeface="Cambria Math" panose="02040503050406030204" pitchFamily="18" charset="0"/>
                      </a:rPr>
                      <m:t>𝐿𝑜𝑠𝑠</m:t>
                    </m:r>
                    <m:r>
                      <a:rPr lang="en-US" sz="1300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13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300" dirty="0">
                            <a:latin typeface="Cambria Math" panose="02040503050406030204" pitchFamily="18" charset="0"/>
                          </a:rPr>
                          <m:t>𝜇</m:t>
                        </m:r>
                      </m:sup>
                    </m:sSup>
                    <m:r>
                      <a:rPr lang="en-US" sz="1300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1300" dirty="0"/>
                  <a:t> </a:t>
                </a:r>
                <a:endParaRPr lang="en-US" sz="1300" dirty="0"/>
              </a:p>
              <a:p>
                <a:pPr marL="668338" indent="-338138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ru-RU" sz="1300" dirty="0"/>
                  <a:t>Обновляем целевые сети</a:t>
                </a:r>
                <a:br>
                  <a:rPr lang="ru-RU" sz="1300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sz="13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sSup>
                          <m:sSupPr>
                            <m:ctrlPr>
                              <a:rPr lang="en-US" sz="13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3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sz="13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p>
                    <m:r>
                      <a:rPr lang="en-US" sz="1300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300" b="0" i="1" smtClean="0">
                        <a:latin typeface="Cambria Math" panose="02040503050406030204" pitchFamily="18" charset="0"/>
                      </a:rPr>
                      <m:t>𝜏</m:t>
                    </m:r>
                    <m:sSup>
                      <m:sSupPr>
                        <m:ctrlPr>
                          <a:rPr lang="en-US" sz="13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p>
                    <m:r>
                      <a:rPr lang="en-US" sz="13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13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sSup>
                      <m:sSupPr>
                        <m:ctrlPr>
                          <a:rPr lang="en-US" sz="13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sSup>
                          <m:sSupPr>
                            <m:ctrlPr>
                              <a:rPr lang="en-US" sz="13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3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sz="13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p>
                  </m:oMath>
                </a14:m>
                <a:br>
                  <a:rPr lang="en-US" sz="13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sz="13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sSup>
                          <m:sSupPr>
                            <m:ctrlPr>
                              <a:rPr lang="en-US" sz="13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3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p>
                            <m:r>
                              <a:rPr lang="en-US" sz="13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p>
                    <m:r>
                      <a:rPr lang="en-US" sz="1300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300" b="0" i="1" smtClean="0">
                        <a:latin typeface="Cambria Math" panose="02040503050406030204" pitchFamily="18" charset="0"/>
                      </a:rPr>
                      <m:t>𝜏</m:t>
                    </m:r>
                    <m:sSup>
                      <m:sSupPr>
                        <m:ctrlPr>
                          <a:rPr lang="en-US" sz="13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sup>
                    </m:sSup>
                    <m:r>
                      <a:rPr lang="en-US" sz="13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13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sSup>
                      <m:sSupPr>
                        <m:ctrlPr>
                          <a:rPr lang="en-US" sz="13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sSup>
                          <m:sSupPr>
                            <m:ctrlPr>
                              <a:rPr lang="en-US" sz="13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3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p>
                            <m:r>
                              <a:rPr lang="en-US" sz="13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p>
                  </m:oMath>
                </a14:m>
                <a:endParaRPr lang="en-RU" sz="1300" dirty="0"/>
              </a:p>
            </p:txBody>
          </p:sp>
        </mc:Choice>
        <mc:Fallback xmlns="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2850" y="989138"/>
                <a:ext cx="8801144" cy="3633177"/>
              </a:xfrm>
              <a:prstGeom prst="rect">
                <a:avLst/>
              </a:prstGeom>
              <a:blipFill>
                <a:blip r:embed="rId3"/>
                <a:stretch>
                  <a:fillRect l="-288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2095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Actor-Critic – </a:t>
            </a:r>
            <a:r>
              <a:rPr lang="ru-RU" dirty="0">
                <a:solidFill>
                  <a:srgbClr val="058D40"/>
                </a:solidFill>
                <a:latin typeface="Helvetica Neue" panose="02000503000000020004" pitchFamily="2" charset="0"/>
              </a:rPr>
              <a:t>достоинства</a:t>
            </a:r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 и </a:t>
            </a:r>
            <a:r>
              <a:rPr lang="ru-RU" dirty="0">
                <a:solidFill>
                  <a:srgbClr val="C00000"/>
                </a:solidFill>
                <a:latin typeface="Helvetica Neue" panose="02000503000000020004" pitchFamily="2" charset="0"/>
              </a:rPr>
              <a:t>недостатки</a:t>
            </a:r>
            <a:endParaRPr dirty="0">
              <a:solidFill>
                <a:srgbClr val="C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7F2FE1-3E2C-5C4B-AF56-86F7BE664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193" y="1259260"/>
            <a:ext cx="3496698" cy="311022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70CC0C1-A9FE-EB41-A092-234D3AB7B14E}"/>
              </a:ext>
            </a:extLst>
          </p:cNvPr>
          <p:cNvSpPr/>
          <p:nvPr/>
        </p:nvSpPr>
        <p:spPr>
          <a:xfrm>
            <a:off x="2843193" y="3540999"/>
            <a:ext cx="1188759" cy="3313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58D40"/>
                </a:solidFill>
              </a:rPr>
              <a:t>Advantages</a:t>
            </a:r>
            <a:endParaRPr lang="en-RU" dirty="0">
              <a:solidFill>
                <a:srgbClr val="058D4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A7CD40-723E-444D-BE52-EB87F5B42DE8}"/>
              </a:ext>
            </a:extLst>
          </p:cNvPr>
          <p:cNvSpPr/>
          <p:nvPr/>
        </p:nvSpPr>
        <p:spPr>
          <a:xfrm>
            <a:off x="4928721" y="3010905"/>
            <a:ext cx="1411170" cy="3313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Disadvantages</a:t>
            </a:r>
            <a:endParaRPr lang="en-RU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8713310-70E5-8E4C-856E-67239DC65324}"/>
                  </a:ext>
                </a:extLst>
              </p:cNvPr>
              <p:cNvSpPr txBox="1"/>
              <p:nvPr/>
            </p:nvSpPr>
            <p:spPr>
              <a:xfrm>
                <a:off x="278792" y="2118066"/>
                <a:ext cx="2786159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800" dirty="0">
                    <a:solidFill>
                      <a:srgbClr val="058D40"/>
                    </a:solidFill>
                  </a:rPr>
                  <a:t>Непрерывное пространство действий</a:t>
                </a:r>
              </a:p>
              <a:p>
                <a:endParaRPr lang="ru-RU" sz="1800" dirty="0">
                  <a:solidFill>
                    <a:srgbClr val="058D40"/>
                  </a:solidFill>
                </a:endParaRPr>
              </a:p>
              <a:p>
                <a:r>
                  <a:rPr lang="ru-RU" sz="1800" dirty="0">
                    <a:solidFill>
                      <a:srgbClr val="058D40"/>
                    </a:solidFill>
                  </a:rPr>
                  <a:t>Стабильнее обучение за счет использования двух ветвей</a:t>
                </a:r>
              </a:p>
              <a:p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RU" sz="1800" dirty="0">
                    <a:solidFill>
                      <a:srgbClr val="058D40"/>
                    </a:solidFill>
                  </a:rPr>
                  <a:t> </a:t>
                </a:r>
                <a:r>
                  <a:rPr lang="ru-RU" sz="1800" dirty="0">
                    <a:solidFill>
                      <a:srgbClr val="058D40"/>
                    </a:solidFill>
                  </a:rPr>
                  <a:t>и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RU" sz="1800" dirty="0">
                  <a:solidFill>
                    <a:srgbClr val="058D4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8713310-70E5-8E4C-856E-67239DC653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92" y="2118066"/>
                <a:ext cx="2786159" cy="2031325"/>
              </a:xfrm>
              <a:prstGeom prst="rect">
                <a:avLst/>
              </a:prstGeom>
              <a:blipFill>
                <a:blip r:embed="rId4"/>
                <a:stretch>
                  <a:fillRect l="-2273" t="-1242" b="-372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05AFAB04-6711-1D4A-8216-7D228241E22C}"/>
              </a:ext>
            </a:extLst>
          </p:cNvPr>
          <p:cNvSpPr txBox="1"/>
          <p:nvPr/>
        </p:nvSpPr>
        <p:spPr>
          <a:xfrm>
            <a:off x="6585466" y="1676348"/>
            <a:ext cx="189141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</a:rPr>
              <a:t>On-policy</a:t>
            </a:r>
          </a:p>
          <a:p>
            <a:endParaRPr lang="en-US" sz="1800" dirty="0">
              <a:solidFill>
                <a:srgbClr val="C00000"/>
              </a:solidFill>
            </a:endParaRPr>
          </a:p>
          <a:p>
            <a:r>
              <a:rPr lang="ru-RU" dirty="0">
                <a:solidFill>
                  <a:srgbClr val="C00000"/>
                </a:solidFill>
              </a:rPr>
              <a:t>Не можем использовать 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Experience replay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ru-RU" dirty="0">
                <a:solidFill>
                  <a:srgbClr val="C00000"/>
                </a:solidFill>
              </a:rPr>
              <a:t>Сложно обучать </a:t>
            </a:r>
            <a:br>
              <a:rPr lang="ru-RU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Q-</a:t>
            </a:r>
            <a:r>
              <a:rPr lang="ru-RU" dirty="0">
                <a:solidFill>
                  <a:srgbClr val="C00000"/>
                </a:solidFill>
              </a:rPr>
              <a:t>функцию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6524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900" dirty="0"/>
              <a:t>Алгоритм А2С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58095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Advantage Actor-Critic (A2C)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2850" y="1026322"/>
                <a:ext cx="8801144" cy="3484309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nary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ru-RU" sz="14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endParaRPr lang="en-US" sz="14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Введем функцию преимущества (</a:t>
                </a:r>
                <a:r>
                  <a:rPr lang="en-US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advantage):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sz="1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sz="14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endParaRPr lang="en-US" sz="14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  →     </m:t>
                      </m:r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4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endParaRPr lang="en-US" sz="14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nary>
                          <m:d>
                            <m:dPr>
                              <m:ctrlPr>
                                <a:rPr lang="en-US" sz="1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d>
                                <m:dPr>
                                  <m:ctrlP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4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</p:txBody>
          </p:sp>
        </mc:Choice>
        <mc:Fallback xmlns="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2850" y="1026322"/>
                <a:ext cx="8801144" cy="3484309"/>
              </a:xfrm>
              <a:prstGeom prst="rect">
                <a:avLst/>
              </a:prstGeom>
              <a:blipFill>
                <a:blip r:embed="rId3"/>
                <a:stretch>
                  <a:fillRect t="-13768" b="-1666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7DE4EAD5-A3B6-204A-8B74-997D59481989}"/>
              </a:ext>
            </a:extLst>
          </p:cNvPr>
          <p:cNvSpPr/>
          <p:nvPr/>
        </p:nvSpPr>
        <p:spPr>
          <a:xfrm>
            <a:off x="3438660" y="3568009"/>
            <a:ext cx="1145612" cy="34980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0294E0-21A5-0945-9275-C487B9E56AA1}"/>
              </a:ext>
            </a:extLst>
          </p:cNvPr>
          <p:cNvSpPr txBox="1"/>
          <p:nvPr/>
        </p:nvSpPr>
        <p:spPr>
          <a:xfrm>
            <a:off x="3028374" y="4329987"/>
            <a:ext cx="6030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A</a:t>
            </a:r>
            <a:r>
              <a:rPr lang="en-RU" dirty="0"/>
              <a:t>ctor</a:t>
            </a:r>
          </a:p>
        </p:txBody>
      </p:sp>
      <p:cxnSp>
        <p:nvCxnSpPr>
          <p:cNvPr id="6" name="Curved Connector 5">
            <a:extLst>
              <a:ext uri="{FF2B5EF4-FFF2-40B4-BE49-F238E27FC236}">
                <a16:creationId xmlns:a16="http://schemas.microsoft.com/office/drawing/2014/main" id="{0758779C-330D-5345-AA66-A5E1E09A9F86}"/>
              </a:ext>
            </a:extLst>
          </p:cNvPr>
          <p:cNvCxnSpPr>
            <a:cxnSpLocks/>
            <a:stCxn id="5" idx="3"/>
            <a:endCxn id="4" idx="2"/>
          </p:cNvCxnSpPr>
          <p:nvPr/>
        </p:nvCxnSpPr>
        <p:spPr>
          <a:xfrm flipV="1">
            <a:off x="3631424" y="3917814"/>
            <a:ext cx="380042" cy="56606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4C59D0AE-2EEE-B64A-BF76-CDCB2FEAFEBA}"/>
              </a:ext>
            </a:extLst>
          </p:cNvPr>
          <p:cNvSpPr/>
          <p:nvPr/>
        </p:nvSpPr>
        <p:spPr>
          <a:xfrm>
            <a:off x="4602683" y="3568008"/>
            <a:ext cx="2086552" cy="349805"/>
          </a:xfrm>
          <a:prstGeom prst="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2EF295-261B-9041-AD65-A0D97D65F45C}"/>
              </a:ext>
            </a:extLst>
          </p:cNvPr>
          <p:cNvSpPr txBox="1"/>
          <p:nvPr/>
        </p:nvSpPr>
        <p:spPr>
          <a:xfrm>
            <a:off x="6222435" y="4206318"/>
            <a:ext cx="14991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Advantage Critic</a:t>
            </a:r>
            <a:endParaRPr lang="en-RU" dirty="0"/>
          </a:p>
        </p:txBody>
      </p: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24C630C1-0BD1-F94B-976A-7DE742A8050E}"/>
              </a:ext>
            </a:extLst>
          </p:cNvPr>
          <p:cNvCxnSpPr>
            <a:cxnSpLocks/>
            <a:stCxn id="9" idx="1"/>
            <a:endCxn id="8" idx="2"/>
          </p:cNvCxnSpPr>
          <p:nvPr/>
        </p:nvCxnSpPr>
        <p:spPr>
          <a:xfrm rot="10800000">
            <a:off x="5645959" y="3917813"/>
            <a:ext cx="576476" cy="44239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80893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Advantage Actor-Critic (A2C) </a:t>
            </a:r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алгоритм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2850" y="1026322"/>
                <a:ext cx="8801144" cy="350272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342900" indent="-342900">
                  <a:lnSpc>
                    <a:spcPct val="100000"/>
                  </a:lnSpc>
                  <a:buAutoNum type="arabicPeriod"/>
                </a:pPr>
                <a:r>
                  <a:rPr lang="ru-RU" sz="1300" dirty="0"/>
                  <a:t>Инициализируем случайным образом сети </a:t>
                </a:r>
                <a:r>
                  <a:rPr lang="en-US" sz="1300" dirty="0"/>
                  <a:t>actor </a:t>
                </a:r>
                <a14:m>
                  <m:oMath xmlns:m="http://schemas.openxmlformats.org/officeDocument/2006/math">
                    <m:r>
                      <a:rPr lang="en-US" sz="130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3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3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300" i="1">
                        <a:latin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𝜇</m:t>
                        </m:r>
                      </m:sup>
                    </m:sSup>
                    <m:r>
                      <a:rPr lang="en-US" sz="13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300" dirty="0"/>
                  <a:t> </a:t>
                </a:r>
                <a:r>
                  <a:rPr lang="ru-RU" sz="1300" dirty="0"/>
                  <a:t>и </a:t>
                </a:r>
                <a:r>
                  <a:rPr lang="en-US" sz="1300" dirty="0"/>
                  <a:t>critic </a:t>
                </a:r>
                <a14:m>
                  <m:oMath xmlns:m="http://schemas.openxmlformats.org/officeDocument/2006/math">
                    <m:r>
                      <a:rPr lang="en-US" sz="13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30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e>
                        <m:sSup>
                          <m:sSupPr>
                            <m:ctrlPr>
                              <a:rPr lang="en-US" sz="13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3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13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p>
                        </m:sSup>
                      </m:e>
                    </m:d>
                  </m:oMath>
                </a14:m>
                <a:r>
                  <a:rPr lang="en-RU" sz="1300" dirty="0"/>
                  <a:t> </a:t>
                </a:r>
                <a:r>
                  <a:rPr lang="ru-RU" sz="1300" dirty="0"/>
                  <a:t>весами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𝜃</m:t>
                        </m:r>
                      </m:sup>
                    </m:sSup>
                  </m:oMath>
                </a14:m>
                <a:r>
                  <a:rPr lang="en-RU" sz="1300" dirty="0"/>
                  <a:t> </a:t>
                </a:r>
                <a:r>
                  <a:rPr lang="ru-RU" sz="1300" dirty="0"/>
                  <a:t>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𝜇</m:t>
                        </m:r>
                      </m:sup>
                    </m:sSup>
                  </m:oMath>
                </a14:m>
                <a:r>
                  <a:rPr lang="ru-RU" sz="1300" dirty="0"/>
                  <a:t> и целевые сети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RU" sz="1300" dirty="0"/>
                  <a:t> </a:t>
                </a:r>
                <a:r>
                  <a:rPr lang="ru-RU" sz="1300" dirty="0"/>
                  <a:t>и</a:t>
                </a:r>
                <a:r>
                  <a:rPr lang="en-US" sz="13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RU" sz="1300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sSup>
                          <m:sSupPr>
                            <m:ctrlPr>
                              <a:rPr lang="en-US" sz="13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3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sz="13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p>
                    <m:r>
                      <a:rPr lang="en-US" sz="1300" i="1">
                        <a:latin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p>
                  </m:oMath>
                </a14:m>
                <a:r>
                  <a:rPr lang="en-RU" sz="13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sSup>
                          <m:sSupPr>
                            <m:ctrlPr>
                              <a:rPr lang="en-US" sz="13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3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p>
                            <m:r>
                              <a:rPr lang="en-US" sz="13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p>
                    <m:r>
                      <a:rPr lang="en-US" sz="1300" i="1">
                        <a:latin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𝜇</m:t>
                        </m:r>
                      </m:sup>
                    </m:sSup>
                  </m:oMath>
                </a14:m>
                <a:endParaRPr lang="en-RU" sz="1300" dirty="0"/>
              </a:p>
              <a:p>
                <a:pPr marL="342900" indent="-342900">
                  <a:lnSpc>
                    <a:spcPct val="100000"/>
                  </a:lnSpc>
                  <a:buAutoNum type="arabicPeriod"/>
                </a:pPr>
                <a:r>
                  <a:rPr lang="ru-RU" sz="1300" dirty="0"/>
                  <a:t>Устанавливаем число эпизодов обучения </a:t>
                </a:r>
                <a:r>
                  <a:rPr lang="ru-RU" sz="1300" i="1" dirty="0"/>
                  <a:t>М</a:t>
                </a:r>
                <a:r>
                  <a:rPr lang="ru-RU" sz="1300" dirty="0"/>
                  <a:t> и для каждого эпизода выполняем:</a:t>
                </a:r>
                <a:endParaRPr lang="en-US" sz="1300" dirty="0"/>
              </a:p>
              <a:p>
                <a:pPr marL="668338" indent="-338138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ru-RU" sz="1300" dirty="0"/>
                  <a:t>Действуем текущей политикой и получаем состояние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RU" sz="1300" dirty="0"/>
              </a:p>
              <a:p>
                <a:pPr marL="668338" indent="-338138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ru-RU" sz="1300" dirty="0"/>
                  <a:t>Проходим по всем возможным действиям от 1 до </a:t>
                </a:r>
                <a:r>
                  <a:rPr lang="en-US" sz="1300" i="1" dirty="0"/>
                  <a:t>T</a:t>
                </a:r>
                <a:r>
                  <a:rPr lang="ru-RU" sz="1300" dirty="0"/>
                  <a:t>:</a:t>
                </a:r>
              </a:p>
              <a:p>
                <a:pPr marL="981075" indent="-338138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ru-RU" sz="1300" dirty="0"/>
                  <a:t>Выбираем действие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3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300" i="1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3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3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p>
                          <m:sSupPr>
                            <m:ctrlPr>
                              <a:rPr lang="en-US" sz="13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3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13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sup>
                        </m:sSup>
                      </m:e>
                    </m:d>
                  </m:oMath>
                </a14:m>
                <a:r>
                  <a:rPr lang="en-RU" sz="1300" dirty="0"/>
                  <a:t> </a:t>
                </a:r>
                <a:r>
                  <a:rPr lang="ru-RU" sz="1300" dirty="0"/>
                  <a:t>в соответствии с текущей политикой</a:t>
                </a:r>
              </a:p>
              <a:p>
                <a:pPr marL="981075" indent="-338138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ru-RU" sz="1300" dirty="0"/>
                  <a:t>Выполняем действие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1300" dirty="0"/>
                  <a:t>, получаем награду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RU" sz="1300" dirty="0"/>
                  <a:t> </a:t>
                </a:r>
                <a:r>
                  <a:rPr lang="ru-RU" sz="1300" dirty="0"/>
                  <a:t>и переходим в следующее состояние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ru-RU" sz="1300" dirty="0"/>
              </a:p>
              <a:p>
                <a:pPr marL="981075" indent="-338138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ru-RU" sz="1300" dirty="0"/>
                  <a:t>Обновляем политику используя текущее приближение для </a:t>
                </a:r>
                <a:r>
                  <a:rPr lang="en-US" sz="1300" dirty="0"/>
                  <a:t>V</a:t>
                </a:r>
              </a:p>
              <a:p>
                <a:pPr marL="642937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300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13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3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3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13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1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3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e>
                          <m:sSup>
                            <m:sSupPr>
                              <m:ctrlPr>
                                <a:rPr lang="en-US" sz="13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3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sz="13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sz="13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3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13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300" b="0" i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sz="1300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3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13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sz="13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3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3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3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3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300" dirty="0"/>
              </a:p>
              <a:p>
                <a:pPr marL="981075" indent="-338138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ru-RU" sz="1300" dirty="0"/>
                  <a:t>Вычисляем </a:t>
                </a:r>
                <a:r>
                  <a:rPr lang="ru-RU" sz="1300" dirty="0" err="1"/>
                  <a:t>таргеты</a:t>
                </a:r>
                <a:r>
                  <a:rPr lang="ru-RU" sz="13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3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3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sSup>
                      <m:sSupPr>
                        <m:ctrlPr>
                          <a:rPr lang="en-US" sz="1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1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1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sz="1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sSup>
                              <m:sSupPr>
                                <m:ctrlPr>
                                  <a:rPr lang="en-US" sz="12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2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p>
                                <m:r>
                                  <a:rPr lang="en-US" sz="12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p>
                        </m:sSup>
                      </m:e>
                    </m:d>
                    <m:r>
                      <a:rPr lang="en-US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1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sz="1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sSup>
                              <m:sSupPr>
                                <m:ctrlPr>
                                  <a:rPr lang="en-US" sz="12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2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p>
                                <m:r>
                                  <a:rPr lang="en-US" sz="12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p>
                        </m:sSup>
                      </m:e>
                    </m:d>
                  </m:oMath>
                </a14:m>
                <a:endParaRPr lang="en-US" sz="12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981075" indent="-338138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ru-RU" sz="1300" dirty="0"/>
                  <a:t>Обновляем </a:t>
                </a:r>
                <a:r>
                  <a:rPr lang="en-US" sz="1300" dirty="0"/>
                  <a:t>V </a:t>
                </a:r>
                <a:r>
                  <a:rPr lang="ru-RU" sz="1300" dirty="0"/>
                  <a:t>функцию на базе полученных </a:t>
                </a:r>
                <a:r>
                  <a:rPr lang="ru-RU" sz="1300" dirty="0" err="1"/>
                  <a:t>таргетов</a:t>
                </a:r>
                <a:r>
                  <a:rPr lang="ru-RU" sz="1300" dirty="0"/>
                  <a:t> </a:t>
                </a:r>
                <a14:m>
                  <m:oMath xmlns:m="http://schemas.openxmlformats.org/officeDocument/2006/math">
                    <m:r>
                      <a:rPr lang="en-US" sz="13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3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3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3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3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3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3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  <m:d>
                              <m:dPr>
                                <m:ctrlPr>
                                  <a:rPr lang="en-US" sz="13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  <m:e>
                                <m:sSup>
                                  <m:sSupPr>
                                    <m:ctrlP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p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  <m:sup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RU" sz="13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3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p>
                    <m:r>
                      <a:rPr lang="en-US" sz="1300" b="0" i="1" smtClean="0">
                        <a:latin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en-US" sz="13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p>
                    <m:r>
                      <a:rPr lang="en-US" sz="1300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1300" b="0" i="1" smtClean="0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1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3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sSup>
                          <m:sSupPr>
                            <m:ctrlPr>
                              <a:rPr lang="en-US" sz="13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3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13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p>
                        </m:sSup>
                      </m:sub>
                    </m:sSub>
                  </m:oMath>
                </a14:m>
                <a:endParaRPr lang="en-US" sz="1300" dirty="0"/>
              </a:p>
              <a:p>
                <a:pPr marL="981075" indent="-338138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ru-RU" sz="1300" dirty="0"/>
                  <a:t>Обновляем целевые сети</a:t>
                </a:r>
                <a:br>
                  <a:rPr lang="ru-RU" sz="1300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sz="13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sSup>
                          <m:sSupPr>
                            <m:ctrlPr>
                              <a:rPr lang="en-US" sz="13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3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sz="13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p>
                    <m:r>
                      <a:rPr lang="en-US" sz="1300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300" b="0" i="1" smtClean="0">
                        <a:latin typeface="Cambria Math" panose="02040503050406030204" pitchFamily="18" charset="0"/>
                      </a:rPr>
                      <m:t>𝜏</m:t>
                    </m:r>
                    <m:sSup>
                      <m:sSupPr>
                        <m:ctrlPr>
                          <a:rPr lang="en-US" sz="13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p>
                    <m:r>
                      <a:rPr lang="en-US" sz="13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13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sSup>
                      <m:sSupPr>
                        <m:ctrlPr>
                          <a:rPr lang="en-US" sz="13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sSup>
                          <m:sSupPr>
                            <m:ctrlPr>
                              <a:rPr lang="en-US" sz="13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3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sz="13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p>
                  </m:oMath>
                </a14:m>
                <a:br>
                  <a:rPr lang="en-US" sz="13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sz="13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sSup>
                          <m:sSupPr>
                            <m:ctrlPr>
                              <a:rPr lang="en-US" sz="13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3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p>
                            <m:r>
                              <a:rPr lang="en-US" sz="13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p>
                    <m:r>
                      <a:rPr lang="en-US" sz="1300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300" b="0" i="1" smtClean="0">
                        <a:latin typeface="Cambria Math" panose="02040503050406030204" pitchFamily="18" charset="0"/>
                      </a:rPr>
                      <m:t>𝜏</m:t>
                    </m:r>
                    <m:sSup>
                      <m:sSupPr>
                        <m:ctrlPr>
                          <a:rPr lang="en-US" sz="13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sup>
                    </m:sSup>
                    <m:r>
                      <a:rPr lang="en-US" sz="13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13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sSup>
                      <m:sSupPr>
                        <m:ctrlPr>
                          <a:rPr lang="en-US" sz="13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sSup>
                          <m:sSupPr>
                            <m:ctrlPr>
                              <a:rPr lang="en-US" sz="13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3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p>
                            <m:r>
                              <a:rPr lang="en-US" sz="13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p>
                  </m:oMath>
                </a14:m>
                <a:endParaRPr lang="en-RU" sz="1300" dirty="0"/>
              </a:p>
              <a:p>
                <a:pPr marL="133350" indent="0">
                  <a:buNone/>
                </a:pPr>
                <a:endParaRPr lang="en-US" sz="13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</p:txBody>
          </p:sp>
        </mc:Choice>
        <mc:Fallback xmlns="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2850" y="1026322"/>
                <a:ext cx="8801144" cy="3502720"/>
              </a:xfrm>
              <a:prstGeom prst="rect">
                <a:avLst/>
              </a:prstGeom>
              <a:blipFill>
                <a:blip r:embed="rId3"/>
                <a:stretch>
                  <a:fillRect l="-288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1015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A2C – </a:t>
            </a:r>
            <a:r>
              <a:rPr lang="ru-RU" dirty="0">
                <a:solidFill>
                  <a:srgbClr val="058D40"/>
                </a:solidFill>
                <a:latin typeface="Helvetica Neue" panose="02000503000000020004" pitchFamily="2" charset="0"/>
              </a:rPr>
              <a:t>достоинства</a:t>
            </a:r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 и </a:t>
            </a:r>
            <a:r>
              <a:rPr lang="ru-RU" dirty="0">
                <a:solidFill>
                  <a:srgbClr val="C00000"/>
                </a:solidFill>
                <a:latin typeface="Helvetica Neue" panose="02000503000000020004" pitchFamily="2" charset="0"/>
              </a:rPr>
              <a:t>недостатки</a:t>
            </a:r>
            <a:endParaRPr dirty="0">
              <a:solidFill>
                <a:srgbClr val="C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7F2FE1-3E2C-5C4B-AF56-86F7BE664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193" y="1259260"/>
            <a:ext cx="3496698" cy="311022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70CC0C1-A9FE-EB41-A092-234D3AB7B14E}"/>
              </a:ext>
            </a:extLst>
          </p:cNvPr>
          <p:cNvSpPr/>
          <p:nvPr/>
        </p:nvSpPr>
        <p:spPr>
          <a:xfrm>
            <a:off x="2843193" y="3540999"/>
            <a:ext cx="1188759" cy="3313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58D40"/>
                </a:solidFill>
              </a:rPr>
              <a:t>Advantages</a:t>
            </a:r>
            <a:endParaRPr lang="en-RU" dirty="0">
              <a:solidFill>
                <a:srgbClr val="058D4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A7CD40-723E-444D-BE52-EB87F5B42DE8}"/>
              </a:ext>
            </a:extLst>
          </p:cNvPr>
          <p:cNvSpPr/>
          <p:nvPr/>
        </p:nvSpPr>
        <p:spPr>
          <a:xfrm>
            <a:off x="4928721" y="3010905"/>
            <a:ext cx="1411170" cy="3313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Disadvantages</a:t>
            </a:r>
            <a:endParaRPr lang="en-RU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8713310-70E5-8E4C-856E-67239DC65324}"/>
                  </a:ext>
                </a:extLst>
              </p:cNvPr>
              <p:cNvSpPr txBox="1"/>
              <p:nvPr/>
            </p:nvSpPr>
            <p:spPr>
              <a:xfrm>
                <a:off x="278792" y="2118066"/>
                <a:ext cx="2786159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800" dirty="0">
                    <a:solidFill>
                      <a:srgbClr val="058D40"/>
                    </a:solidFill>
                  </a:rPr>
                  <a:t>Непрерывное пространство действий</a:t>
                </a:r>
              </a:p>
              <a:p>
                <a:endParaRPr lang="ru-RU" sz="1800" dirty="0">
                  <a:solidFill>
                    <a:srgbClr val="058D40"/>
                  </a:solidFill>
                </a:endParaRPr>
              </a:p>
              <a:p>
                <a:r>
                  <a:rPr lang="ru-RU" sz="1800" dirty="0">
                    <a:solidFill>
                      <a:srgbClr val="058D40"/>
                    </a:solidFill>
                  </a:rPr>
                  <a:t>Стабильнее обучение за счет использования двух ветвей</a:t>
                </a:r>
              </a:p>
              <a:p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RU" sz="1800" dirty="0">
                    <a:solidFill>
                      <a:srgbClr val="058D40"/>
                    </a:solidFill>
                  </a:rPr>
                  <a:t> </a:t>
                </a:r>
                <a:r>
                  <a:rPr lang="ru-RU" sz="1800" dirty="0">
                    <a:solidFill>
                      <a:srgbClr val="058D40"/>
                    </a:solidFill>
                  </a:rPr>
                  <a:t>и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RU" sz="1800" dirty="0">
                  <a:solidFill>
                    <a:srgbClr val="058D4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8713310-70E5-8E4C-856E-67239DC653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92" y="2118066"/>
                <a:ext cx="2786159" cy="2031325"/>
              </a:xfrm>
              <a:prstGeom prst="rect">
                <a:avLst/>
              </a:prstGeom>
              <a:blipFill>
                <a:blip r:embed="rId4"/>
                <a:stretch>
                  <a:fillRect l="-2273" t="-1242" b="-372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05AFAB04-6711-1D4A-8216-7D228241E22C}"/>
              </a:ext>
            </a:extLst>
          </p:cNvPr>
          <p:cNvSpPr txBox="1"/>
          <p:nvPr/>
        </p:nvSpPr>
        <p:spPr>
          <a:xfrm>
            <a:off x="6585466" y="1676348"/>
            <a:ext cx="189141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</a:rPr>
              <a:t>On-policy</a:t>
            </a:r>
          </a:p>
          <a:p>
            <a:endParaRPr lang="en-US" sz="1800" dirty="0">
              <a:solidFill>
                <a:srgbClr val="C00000"/>
              </a:solidFill>
            </a:endParaRPr>
          </a:p>
          <a:p>
            <a:r>
              <a:rPr lang="ru-RU" dirty="0">
                <a:solidFill>
                  <a:srgbClr val="C00000"/>
                </a:solidFill>
              </a:rPr>
              <a:t>Не можем использовать 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Experience replay</a:t>
            </a:r>
          </a:p>
        </p:txBody>
      </p:sp>
    </p:spTree>
    <p:extLst>
      <p:ext uri="{BB962C8B-B14F-4D97-AF65-F5344CB8AC3E}">
        <p14:creationId xmlns:p14="http://schemas.microsoft.com/office/powerpoint/2010/main" val="32515860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900" dirty="0"/>
              <a:t>Алгоритм А</a:t>
            </a:r>
            <a:r>
              <a:rPr lang="en-US" sz="4900" dirty="0"/>
              <a:t>3</a:t>
            </a:r>
            <a:r>
              <a:rPr lang="ru-RU" sz="4900" dirty="0"/>
              <a:t>С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695688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Asynchronous Advantage Actor-Critic (A3C)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6A7316-8887-4B42-890A-B2755A529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675" y="859784"/>
            <a:ext cx="6006649" cy="3952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9078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A3C – </a:t>
            </a:r>
            <a:r>
              <a:rPr lang="ru-RU" dirty="0">
                <a:solidFill>
                  <a:srgbClr val="058D40"/>
                </a:solidFill>
                <a:latin typeface="Helvetica Neue" panose="02000503000000020004" pitchFamily="2" charset="0"/>
              </a:rPr>
              <a:t>достоинства</a:t>
            </a:r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 и </a:t>
            </a:r>
            <a:r>
              <a:rPr lang="ru-RU" dirty="0">
                <a:solidFill>
                  <a:srgbClr val="C00000"/>
                </a:solidFill>
                <a:latin typeface="Helvetica Neue" panose="02000503000000020004" pitchFamily="2" charset="0"/>
              </a:rPr>
              <a:t>недостатки</a:t>
            </a:r>
            <a:endParaRPr dirty="0">
              <a:solidFill>
                <a:srgbClr val="C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7F2FE1-3E2C-5C4B-AF56-86F7BE664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193" y="1259260"/>
            <a:ext cx="3496698" cy="311022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70CC0C1-A9FE-EB41-A092-234D3AB7B14E}"/>
              </a:ext>
            </a:extLst>
          </p:cNvPr>
          <p:cNvSpPr/>
          <p:nvPr/>
        </p:nvSpPr>
        <p:spPr>
          <a:xfrm>
            <a:off x="2843193" y="3540999"/>
            <a:ext cx="1188759" cy="3313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58D40"/>
                </a:solidFill>
              </a:rPr>
              <a:t>Advantages</a:t>
            </a:r>
            <a:endParaRPr lang="en-RU" dirty="0">
              <a:solidFill>
                <a:srgbClr val="058D4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A7CD40-723E-444D-BE52-EB87F5B42DE8}"/>
              </a:ext>
            </a:extLst>
          </p:cNvPr>
          <p:cNvSpPr/>
          <p:nvPr/>
        </p:nvSpPr>
        <p:spPr>
          <a:xfrm>
            <a:off x="4928721" y="3010905"/>
            <a:ext cx="1411170" cy="3313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Disadvantages</a:t>
            </a:r>
            <a:endParaRPr lang="en-RU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8713310-70E5-8E4C-856E-67239DC65324}"/>
                  </a:ext>
                </a:extLst>
              </p:cNvPr>
              <p:cNvSpPr txBox="1"/>
              <p:nvPr/>
            </p:nvSpPr>
            <p:spPr>
              <a:xfrm>
                <a:off x="278792" y="1676348"/>
                <a:ext cx="2786159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800" dirty="0">
                    <a:solidFill>
                      <a:srgbClr val="058D40"/>
                    </a:solidFill>
                  </a:rPr>
                  <a:t>Непрерывное пространство действий</a:t>
                </a:r>
                <a:endParaRPr lang="en-US" sz="1800" dirty="0">
                  <a:solidFill>
                    <a:srgbClr val="058D40"/>
                  </a:solidFill>
                </a:endParaRPr>
              </a:p>
              <a:p>
                <a:endParaRPr lang="en-US" sz="1800" dirty="0">
                  <a:solidFill>
                    <a:srgbClr val="058D40"/>
                  </a:solidFill>
                </a:endParaRPr>
              </a:p>
              <a:p>
                <a:r>
                  <a:rPr lang="en-US" sz="1800" dirty="0">
                    <a:solidFill>
                      <a:srgbClr val="058D40"/>
                    </a:solidFill>
                  </a:rPr>
                  <a:t>Off-policy</a:t>
                </a:r>
                <a:endParaRPr lang="ru-RU" sz="1800" dirty="0">
                  <a:solidFill>
                    <a:srgbClr val="058D40"/>
                  </a:solidFill>
                </a:endParaRPr>
              </a:p>
              <a:p>
                <a:endParaRPr lang="ru-RU" sz="1800" dirty="0">
                  <a:solidFill>
                    <a:srgbClr val="058D40"/>
                  </a:solidFill>
                </a:endParaRPr>
              </a:p>
              <a:p>
                <a:r>
                  <a:rPr lang="ru-RU" sz="1800" dirty="0">
                    <a:solidFill>
                      <a:srgbClr val="058D40"/>
                    </a:solidFill>
                  </a:rPr>
                  <a:t>Стабильнее обучение за счет использования двух ветвей</a:t>
                </a:r>
              </a:p>
              <a:p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RU" sz="1800" dirty="0">
                    <a:solidFill>
                      <a:srgbClr val="058D40"/>
                    </a:solidFill>
                  </a:rPr>
                  <a:t> </a:t>
                </a:r>
                <a:r>
                  <a:rPr lang="ru-RU" sz="1800" dirty="0">
                    <a:solidFill>
                      <a:srgbClr val="058D40"/>
                    </a:solidFill>
                  </a:rPr>
                  <a:t>и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800" b="0" i="1" smtClean="0">
                        <a:solidFill>
                          <a:srgbClr val="058D4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RU" sz="1800" dirty="0">
                  <a:solidFill>
                    <a:srgbClr val="058D4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8713310-70E5-8E4C-856E-67239DC653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92" y="1676348"/>
                <a:ext cx="2786159" cy="2585323"/>
              </a:xfrm>
              <a:prstGeom prst="rect">
                <a:avLst/>
              </a:prstGeom>
              <a:blipFill>
                <a:blip r:embed="rId4"/>
                <a:stretch>
                  <a:fillRect l="-2273" t="-980" b="-245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05AFAB04-6711-1D4A-8216-7D228241E22C}"/>
              </a:ext>
            </a:extLst>
          </p:cNvPr>
          <p:cNvSpPr txBox="1"/>
          <p:nvPr/>
        </p:nvSpPr>
        <p:spPr>
          <a:xfrm>
            <a:off x="6392035" y="1837480"/>
            <a:ext cx="23978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rgbClr val="C00000"/>
                </a:solidFill>
              </a:rPr>
              <a:t>Многопроцессорная обработка</a:t>
            </a:r>
            <a:endParaRPr lang="en-US" sz="1800" dirty="0">
              <a:solidFill>
                <a:srgbClr val="C00000"/>
              </a:solidFill>
            </a:endParaRPr>
          </a:p>
          <a:p>
            <a:endParaRPr lang="en-US" sz="1800" dirty="0">
              <a:solidFill>
                <a:srgbClr val="C00000"/>
              </a:solidFill>
            </a:endParaRPr>
          </a:p>
          <a:p>
            <a:r>
              <a:rPr lang="ru-RU" sz="1800" dirty="0">
                <a:solidFill>
                  <a:srgbClr val="C00000"/>
                </a:solidFill>
              </a:rPr>
              <a:t>Нельзя использовать </a:t>
            </a:r>
            <a:r>
              <a:rPr lang="en-US" sz="1800" dirty="0">
                <a:solidFill>
                  <a:srgbClr val="C00000"/>
                </a:solidFill>
              </a:rPr>
              <a:t>Experience replay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67020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900" dirty="0"/>
              <a:t>Алгоритм </a:t>
            </a:r>
            <a:r>
              <a:rPr lang="en-US" sz="4900" dirty="0"/>
              <a:t>DDPG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953867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547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DDPD – Deep Deterministic Policy Gradient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0935DC-781F-DD4F-A5AE-222C8D4A6119}"/>
              </a:ext>
            </a:extLst>
          </p:cNvPr>
          <p:cNvSpPr txBox="1"/>
          <p:nvPr/>
        </p:nvSpPr>
        <p:spPr>
          <a:xfrm>
            <a:off x="115057" y="1232922"/>
            <a:ext cx="890609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Deep Deterministic Policy Gradient (DDPG) - </a:t>
            </a:r>
            <a:r>
              <a:rPr lang="ru-RU" dirty="0"/>
              <a:t>это алгоритм, который одновременно обучает </a:t>
            </a:r>
            <a:r>
              <a:rPr lang="en-GB" dirty="0"/>
              <a:t>Q-</a:t>
            </a:r>
            <a:r>
              <a:rPr lang="ru-RU" dirty="0"/>
              <a:t>функцию и политику. Он использует данные вне политики и уравнение Беллмана для изучения </a:t>
            </a:r>
            <a:r>
              <a:rPr lang="en-GB" dirty="0"/>
              <a:t>Q-</a:t>
            </a:r>
            <a:r>
              <a:rPr lang="ru-RU" dirty="0"/>
              <a:t>функции и использует </a:t>
            </a:r>
            <a:r>
              <a:rPr lang="en-GB" dirty="0"/>
              <a:t>Q-</a:t>
            </a:r>
            <a:r>
              <a:rPr lang="ru-RU" dirty="0"/>
              <a:t>функцию для изучения политики.</a:t>
            </a:r>
            <a:endParaRPr lang="en-US" dirty="0"/>
          </a:p>
          <a:p>
            <a:r>
              <a:rPr lang="en-GB" b="0" i="1" u="none" strike="noStrike" dirty="0">
                <a:solidFill>
                  <a:srgbClr val="242424"/>
                </a:solidFill>
                <a:effectLst/>
                <a:latin typeface="source-serif-pro"/>
                <a:hlinkClick r:id="rId3"/>
              </a:rPr>
              <a:t>“Continuous Control With Deep Reinforcement Learning”</a:t>
            </a:r>
            <a:r>
              <a:rPr lang="en-GB" b="0" i="0" u="none" strike="noStrike" dirty="0">
                <a:solidFill>
                  <a:srgbClr val="242424"/>
                </a:solidFill>
                <a:effectLst/>
                <a:latin typeface="source-serif-pro"/>
                <a:hlinkClick r:id="rId3"/>
              </a:rPr>
              <a:t> (Lillicrap et al, 2015)</a:t>
            </a:r>
            <a:endParaRPr lang="en-GB" b="0" i="0" u="none" strike="noStrike" dirty="0">
              <a:solidFill>
                <a:srgbClr val="242424"/>
              </a:solidFill>
              <a:effectLst/>
              <a:latin typeface="source-serif-pro"/>
            </a:endParaRPr>
          </a:p>
          <a:p>
            <a:endParaRPr lang="en-GB" dirty="0">
              <a:solidFill>
                <a:srgbClr val="242424"/>
              </a:solidFill>
              <a:latin typeface="source-serif-pro"/>
            </a:endParaRPr>
          </a:p>
          <a:p>
            <a:r>
              <a:rPr lang="en-GB" dirty="0"/>
              <a:t>Q-</a:t>
            </a:r>
            <a:r>
              <a:rPr lang="ru-RU" dirty="0"/>
              <a:t>функция оценивает ожидаемое суммарное вознаграждение за выполнение определенного действия в данном состоянии, а сеть политики производит действия, максимизирующие </a:t>
            </a:r>
            <a:r>
              <a:rPr lang="en-GB" dirty="0"/>
              <a:t>Q-</a:t>
            </a:r>
            <a:r>
              <a:rPr lang="ru-RU" dirty="0"/>
              <a:t>значение.</a:t>
            </a:r>
            <a:endParaRPr lang="en-GB" dirty="0"/>
          </a:p>
          <a:p>
            <a:endParaRPr lang="en-GB" dirty="0">
              <a:solidFill>
                <a:srgbClr val="242424"/>
              </a:solidFill>
              <a:latin typeface="source-serif-pro"/>
            </a:endParaRP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 Experience replay buffer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 Actor &amp; Critic network updates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 Target network updates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 Exploration</a:t>
            </a:r>
          </a:p>
          <a:p>
            <a:endParaRPr lang="en-GB" b="0" i="0" u="none" strike="noStrike" dirty="0">
              <a:solidFill>
                <a:srgbClr val="242424"/>
              </a:solidFill>
              <a:effectLst/>
              <a:latin typeface="source-serif-pr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547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Deterministic Policy Gradient</a:t>
            </a:r>
            <a:r>
              <a:rPr lang="ru-RU" dirty="0"/>
              <a:t> </a:t>
            </a:r>
            <a:r>
              <a:rPr lang="en-US" dirty="0"/>
              <a:t>Theorem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311;p57">
                <a:extLst>
                  <a:ext uri="{FF2B5EF4-FFF2-40B4-BE49-F238E27FC236}">
                    <a16:creationId xmlns:a16="http://schemas.microsoft.com/office/drawing/2014/main" id="{4F390D4B-928B-6548-A1C5-268947086F82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3478172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33350" indent="0">
                  <a:buNone/>
                </a:pP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Policy Gradient Theorem</a:t>
                </a: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:</a:t>
                </a:r>
                <a:endParaRPr lang="en-US" sz="1600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eqArr>
                            <m:eqArr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~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p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𝜂</m:t>
                                      </m:r>
                                    </m:sup>
                                  </m:sSup>
                                </m:sub>
                              </m:sSub>
                            </m:e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~ </m:t>
                              </m:r>
                              <m:sSup>
                                <m:sSup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𝜂</m:t>
                                  </m:r>
                                </m:sup>
                              </m:sSup>
                            </m:e>
                          </m:eqAr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sup>
                              </m:sSup>
                            </m:sub>
                          </m:sSub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 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sup>
                      </m:sSup>
                      <m:d>
                        <m:d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sup>
                          </m:sSup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endParaRPr lang="ru-RU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Будем искать</a:t>
                </a: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оптимальную детерминированную политику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sup>
                    </m:sSup>
                    <m:d>
                      <m:dPr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:</a:t>
                </a:r>
                <a:endParaRPr lang="ru-RU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endParaRPr lang="en-US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𝜂</m:t>
                                  </m:r>
                                </m:sup>
                              </m:sSup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sup>
                          </m:sSup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 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sub>
                      </m:sSub>
                      <m:d>
                        <m:dPr>
                          <m:ctrlPr>
                            <a:rPr lang="en-US" sz="1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6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sz="16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p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p>
                                    <m:sSup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p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sup>
                                  </m:s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ru-RU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где </a:t>
                </a:r>
                <a:r>
                  <a:rPr lang="en-US" sz="1600" i="1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</a:t>
                </a: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– размер </a:t>
                </a:r>
                <a:r>
                  <a:rPr lang="ru-RU" sz="1600" dirty="0" err="1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батча</a:t>
                </a: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. </a:t>
                </a:r>
              </a:p>
              <a:p>
                <a:pPr marL="133350" indent="0">
                  <a:buNone/>
                </a:pP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Для аппроксимации функции </a:t>
                </a:r>
                <a:r>
                  <a:rPr lang="en-US" sz="1600" i="1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используем уравнение Беллмана.</a:t>
                </a:r>
                <a:endParaRPr lang="en-US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</p:txBody>
          </p:sp>
        </mc:Choice>
        <mc:Fallback xmlns="">
          <p:sp>
            <p:nvSpPr>
              <p:cNvPr id="4" name="Google Shape;311;p57">
                <a:extLst>
                  <a:ext uri="{FF2B5EF4-FFF2-40B4-BE49-F238E27FC236}">
                    <a16:creationId xmlns:a16="http://schemas.microsoft.com/office/drawing/2014/main" id="{4F390D4B-928B-6548-A1C5-268947086F82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3478172"/>
              </a:xfrm>
              <a:prstGeom prst="rect">
                <a:avLst/>
              </a:prstGeom>
              <a:blipFill>
                <a:blip r:embed="rId3"/>
                <a:stretch>
                  <a:fillRect b="-15273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36740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547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DDPD – Deep Deterministic Policy Gradient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F0935DC-781F-DD4F-A5AE-222C8D4A6119}"/>
                  </a:ext>
                </a:extLst>
              </p:cNvPr>
              <p:cNvSpPr txBox="1"/>
              <p:nvPr/>
            </p:nvSpPr>
            <p:spPr>
              <a:xfrm>
                <a:off x="115057" y="878674"/>
                <a:ext cx="8906093" cy="40237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ru-RU" sz="1200" dirty="0"/>
                  <a:t>Инициализируем случайным образом сети </a:t>
                </a:r>
                <a:r>
                  <a:rPr lang="en-US" sz="1200" dirty="0"/>
                  <a:t>actor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sup>
                    </m:s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 </a:t>
                </a:r>
                <a:r>
                  <a:rPr lang="ru-RU" sz="1200" dirty="0"/>
                  <a:t>и </a:t>
                </a:r>
                <a:r>
                  <a:rPr lang="en-US" sz="1200" dirty="0"/>
                  <a:t>critic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p>
                        </m:sSup>
                      </m:e>
                    </m:d>
                  </m:oMath>
                </a14:m>
                <a:r>
                  <a:rPr lang="en-RU" sz="1200" dirty="0"/>
                  <a:t> </a:t>
                </a:r>
                <a:r>
                  <a:rPr lang="ru-RU" sz="1200" dirty="0"/>
                  <a:t>весами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p>
                    </m:sSup>
                  </m:oMath>
                </a14:m>
                <a:r>
                  <a:rPr lang="en-RU" sz="1200" dirty="0"/>
                  <a:t> </a:t>
                </a:r>
                <a:r>
                  <a:rPr lang="ru-RU" sz="1200" dirty="0"/>
                  <a:t>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sup>
                    </m:sSup>
                  </m:oMath>
                </a14:m>
                <a:r>
                  <a:rPr lang="ru-RU" sz="1200" dirty="0"/>
                  <a:t> и целевые сети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RU" sz="1200" dirty="0"/>
                  <a:t> </a:t>
                </a:r>
                <a:r>
                  <a:rPr lang="ru-RU" sz="1200" dirty="0"/>
                  <a:t>и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RU" sz="1200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p>
                  </m:oMath>
                </a14:m>
                <a:r>
                  <a:rPr lang="en-RU" sz="12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sup>
                    </m:sSup>
                  </m:oMath>
                </a14:m>
                <a:endParaRPr lang="en-RU" sz="1200" dirty="0"/>
              </a:p>
              <a:p>
                <a:pPr marL="342900" indent="-342900">
                  <a:buAutoNum type="arabicPeriod"/>
                </a:pPr>
                <a:r>
                  <a:rPr lang="ru-RU" sz="1200" dirty="0"/>
                  <a:t>Инициализируем </a:t>
                </a:r>
                <a:r>
                  <a:rPr lang="en-RU" sz="1200" i="1" dirty="0"/>
                  <a:t>Replay Buffer</a:t>
                </a:r>
                <a:r>
                  <a:rPr lang="en-US" sz="1200" i="1" dirty="0"/>
                  <a:t> - R</a:t>
                </a:r>
                <a:endParaRPr lang="en-RU" sz="1200" i="1" dirty="0"/>
              </a:p>
              <a:p>
                <a:pPr marL="342900" indent="-342900">
                  <a:buAutoNum type="arabicPeriod"/>
                </a:pPr>
                <a:r>
                  <a:rPr lang="en-RU" sz="1200" dirty="0"/>
                  <a:t> </a:t>
                </a:r>
                <a:r>
                  <a:rPr lang="ru-RU" sz="1200" dirty="0"/>
                  <a:t>Устанавливаем число эпизодов обучения </a:t>
                </a:r>
                <a:r>
                  <a:rPr lang="ru-RU" sz="1200" i="1" dirty="0"/>
                  <a:t>М</a:t>
                </a:r>
                <a:r>
                  <a:rPr lang="ru-RU" sz="1200" dirty="0"/>
                  <a:t> и для каждого эпизода выполняем:</a:t>
                </a:r>
                <a:endParaRPr lang="en-US" sz="1200" dirty="0"/>
              </a:p>
              <a:p>
                <a:pPr marL="668338" indent="-338138">
                  <a:buFont typeface="Arial" panose="020B0604020202020204" pitchFamily="34" charset="0"/>
                  <a:buChar char="•"/>
                </a:pPr>
                <a:r>
                  <a:rPr lang="ru-RU" sz="1200" dirty="0"/>
                  <a:t>Инициализируем случайный процесс (шум) для исследования пространства действий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𝒩</m:t>
                    </m:r>
                  </m:oMath>
                </a14:m>
                <a:r>
                  <a:rPr lang="ru-RU" sz="1200" dirty="0"/>
                  <a:t> (Орнштейна-Уленбека)</a:t>
                </a:r>
              </a:p>
              <a:p>
                <a:pPr marL="668338" indent="-338138">
                  <a:buFont typeface="Arial" panose="020B0604020202020204" pitchFamily="34" charset="0"/>
                  <a:buChar char="•"/>
                </a:pPr>
                <a:r>
                  <a:rPr lang="ru-RU" sz="1200" dirty="0"/>
                  <a:t>Действуем текущей политикой и получаем состояние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RU" sz="1200" dirty="0"/>
              </a:p>
              <a:p>
                <a:pPr marL="668338" indent="-338138">
                  <a:buFont typeface="Arial" panose="020B0604020202020204" pitchFamily="34" charset="0"/>
                  <a:buChar char="•"/>
                </a:pPr>
                <a:r>
                  <a:rPr lang="ru-RU" sz="1200" dirty="0"/>
                  <a:t>Проходим по всем возможным действиям от 1 до </a:t>
                </a:r>
                <a:r>
                  <a:rPr lang="en-US" sz="1200" i="1" dirty="0"/>
                  <a:t>T</a:t>
                </a:r>
                <a:r>
                  <a:rPr lang="ru-RU" sz="1200" dirty="0"/>
                  <a:t>:</a:t>
                </a:r>
              </a:p>
              <a:p>
                <a:pPr marL="981075" indent="-338138">
                  <a:buFont typeface="Arial" panose="020B0604020202020204" pitchFamily="34" charset="0"/>
                  <a:buChar char="•"/>
                </a:pPr>
                <a:r>
                  <a:rPr lang="ru-RU" sz="1200" dirty="0"/>
                  <a:t>Выбираем действие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sup>
                        </m:sSup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𝒩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RU" sz="1200" dirty="0"/>
                  <a:t> </a:t>
                </a:r>
                <a:r>
                  <a:rPr lang="ru-RU" sz="1200" dirty="0"/>
                  <a:t>в соответствии с текущей политикой и шумом (разведка)</a:t>
                </a:r>
              </a:p>
              <a:p>
                <a:pPr marL="981075" indent="-338138">
                  <a:buFont typeface="Arial" panose="020B0604020202020204" pitchFamily="34" charset="0"/>
                  <a:buChar char="•"/>
                </a:pPr>
                <a:r>
                  <a:rPr lang="ru-RU" sz="1200" dirty="0"/>
                  <a:t>Выполняем действие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1200" dirty="0"/>
                  <a:t>, получаем награду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RU" sz="1200" dirty="0"/>
                  <a:t> </a:t>
                </a:r>
                <a:r>
                  <a:rPr lang="ru-RU" sz="1200" dirty="0"/>
                  <a:t>и переходим в следующее состояние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RU" sz="1200" dirty="0"/>
              </a:p>
              <a:p>
                <a:pPr marL="981075" indent="-338138">
                  <a:buFont typeface="Arial" panose="020B0604020202020204" pitchFamily="34" charset="0"/>
                  <a:buChar char="•"/>
                </a:pPr>
                <a:r>
                  <a:rPr lang="ru-RU" sz="1200" dirty="0"/>
                  <a:t>Помещаем в память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RU" sz="1200" dirty="0"/>
              </a:p>
              <a:p>
                <a:pPr marL="981075" indent="-338138">
                  <a:buFont typeface="Arial" panose="020B0604020202020204" pitchFamily="34" charset="0"/>
                  <a:buChar char="•"/>
                </a:pPr>
                <a:r>
                  <a:rPr lang="ru-RU" sz="1200" dirty="0"/>
                  <a:t>Получаем из памяти случайный </a:t>
                </a:r>
                <a:r>
                  <a:rPr lang="ru-RU" sz="1200" dirty="0" err="1"/>
                  <a:t>минибатч</a:t>
                </a:r>
                <a:r>
                  <a:rPr lang="ru-RU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∈[1, 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sub>
                    </m:sSub>
                  </m:oMath>
                </a14:m>
                <a:endParaRPr lang="en-GB" sz="1200" dirty="0">
                  <a:solidFill>
                    <a:srgbClr val="242424"/>
                  </a:solidFill>
                  <a:latin typeface="source-serif-pro"/>
                </a:endParaRPr>
              </a:p>
              <a:p>
                <a:pPr marL="981075" indent="-338138">
                  <a:buFont typeface="Arial" panose="020B0604020202020204" pitchFamily="34" charset="0"/>
                  <a:buChar char="•"/>
                </a:pPr>
                <a:r>
                  <a:rPr lang="ru-RU" sz="1200" dirty="0"/>
                  <a:t>Получаем </a:t>
                </a:r>
                <a:r>
                  <a:rPr lang="ru-RU" sz="1200" dirty="0" err="1"/>
                  <a:t>таргеты</a:t>
                </a:r>
                <a:r>
                  <a:rPr lang="ru-RU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𝛾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)|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RU" sz="1200" dirty="0"/>
              </a:p>
              <a:p>
                <a:pPr marL="981075" indent="-338138">
                  <a:buFont typeface="Arial" panose="020B0604020202020204" pitchFamily="34" charset="0"/>
                  <a:buChar char="•"/>
                </a:pPr>
                <a:r>
                  <a:rPr lang="ru-RU" sz="1200" dirty="0"/>
                  <a:t>Обновляем критика используя </a:t>
                </a:r>
                <a:r>
                  <a:rPr lang="ru-RU" sz="1200" dirty="0" err="1"/>
                  <a:t>лосс</a:t>
                </a:r>
                <a:r>
                  <a:rPr lang="ru-RU" sz="1200" dirty="0"/>
                  <a:t>: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d>
                                  <m:d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  <m:e>
                                    <m:sSup>
                                      <m:sSup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p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RU" sz="12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p>
                        </m:sSup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RU" sz="1200" dirty="0"/>
              </a:p>
              <a:p>
                <a:pPr marL="981075" indent="-338138">
                  <a:buFont typeface="Arial" panose="020B0604020202020204" pitchFamily="34" charset="0"/>
                  <a:buChar char="•"/>
                </a:pPr>
                <a:r>
                  <a:rPr lang="ru-RU" sz="1200" dirty="0"/>
                  <a:t>Обновляем </a:t>
                </a:r>
                <a:r>
                  <a:rPr lang="ru-RU" sz="1200" dirty="0" err="1"/>
                  <a:t>актора</a:t>
                </a:r>
                <a:r>
                  <a:rPr lang="ru-RU" sz="1200" dirty="0"/>
                  <a:t> используя </a:t>
                </a:r>
                <a:r>
                  <a:rPr lang="en-RU" sz="1200" dirty="0"/>
                  <a:t>policy gradient: </a:t>
                </a:r>
                <a:br>
                  <a:rPr lang="en-RU" sz="12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sup>
                        </m:sSup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 ≈ </m:t>
                    </m:r>
                    <m:f>
                      <m:fPr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</m:sup>
                            </m:sSup>
                          </m:e>
                        </m:d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RU" sz="1200"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</m:d>
                          </m:e>
                          <m:sub>
                            <m:eqArr>
                              <m:eqArr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  <m:d>
                                  <m:d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eqArr>
                          </m:sub>
                        </m:sSub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sup>
                            </m:sSup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d>
                          <m:d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sup>
                            </m:sSup>
                          </m:e>
                        </m:d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RU" sz="1200"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</m:d>
                          </m:e>
                          <m:sub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</m:e>
                    </m:nary>
                  </m:oMath>
                </a14:m>
                <a:r>
                  <a:rPr lang="en-US" sz="12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sup>
                    </m:s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sup>
                    </m:s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sup>
                        </m:sSup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endParaRPr lang="ru-RU" sz="1200" dirty="0"/>
              </a:p>
              <a:p>
                <a:pPr marL="981075" indent="-338138">
                  <a:buFont typeface="Arial" panose="020B0604020202020204" pitchFamily="34" charset="0"/>
                  <a:buChar char="•"/>
                </a:pPr>
                <a:r>
                  <a:rPr lang="ru-RU" sz="1200" dirty="0"/>
                  <a:t>Обновляем целевые сети</a:t>
                </a:r>
                <a:br>
                  <a:rPr lang="ru-RU" sz="1200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𝜏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p>
                  </m:oMath>
                </a14:m>
                <a:br>
                  <a:rPr lang="en-US" sz="1200" b="0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𝜏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sup>
                    </m:s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p>
                  </m:oMath>
                </a14:m>
                <a:endParaRPr lang="en-RU" sz="1200" dirty="0"/>
              </a:p>
              <a:p>
                <a:pPr marL="981075" indent="-338138">
                  <a:buFont typeface="Arial" panose="020B0604020202020204" pitchFamily="34" charset="0"/>
                  <a:buChar char="•"/>
                </a:pPr>
                <a:r>
                  <a:rPr lang="ru-RU" sz="1200" dirty="0"/>
                  <a:t>Уменьшаем шум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𝒩</m:t>
                    </m:r>
                  </m:oMath>
                </a14:m>
                <a:endParaRPr lang="en-RU" sz="12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F0935DC-781F-DD4F-A5AE-222C8D4A6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57" y="878674"/>
                <a:ext cx="8906093" cy="4023794"/>
              </a:xfrm>
              <a:prstGeom prst="rect">
                <a:avLst/>
              </a:prstGeom>
              <a:blipFill>
                <a:blip r:embed="rId3"/>
                <a:stretch>
                  <a:fillRect b="-315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05202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DDPG – </a:t>
            </a:r>
            <a:r>
              <a:rPr lang="ru-RU" dirty="0">
                <a:solidFill>
                  <a:srgbClr val="058D40"/>
                </a:solidFill>
                <a:latin typeface="Helvetica Neue" panose="02000503000000020004" pitchFamily="2" charset="0"/>
              </a:rPr>
              <a:t>достоинства</a:t>
            </a:r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 и </a:t>
            </a:r>
            <a:r>
              <a:rPr lang="ru-RU" dirty="0">
                <a:solidFill>
                  <a:srgbClr val="C00000"/>
                </a:solidFill>
                <a:latin typeface="Helvetica Neue" panose="02000503000000020004" pitchFamily="2" charset="0"/>
              </a:rPr>
              <a:t>недостатки</a:t>
            </a:r>
            <a:endParaRPr dirty="0">
              <a:solidFill>
                <a:srgbClr val="C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7F2FE1-3E2C-5C4B-AF56-86F7BE664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193" y="1259260"/>
            <a:ext cx="3496698" cy="311022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70CC0C1-A9FE-EB41-A092-234D3AB7B14E}"/>
              </a:ext>
            </a:extLst>
          </p:cNvPr>
          <p:cNvSpPr/>
          <p:nvPr/>
        </p:nvSpPr>
        <p:spPr>
          <a:xfrm>
            <a:off x="2843193" y="3540999"/>
            <a:ext cx="1188759" cy="3313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58D40"/>
                </a:solidFill>
              </a:rPr>
              <a:t>Advantages</a:t>
            </a:r>
            <a:endParaRPr lang="en-RU" dirty="0">
              <a:solidFill>
                <a:srgbClr val="058D4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8713310-70E5-8E4C-856E-67239DC65324}"/>
                  </a:ext>
                </a:extLst>
              </p:cNvPr>
              <p:cNvSpPr txBox="1"/>
              <p:nvPr/>
            </p:nvSpPr>
            <p:spPr>
              <a:xfrm>
                <a:off x="278792" y="1119457"/>
                <a:ext cx="2786159" cy="369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800" dirty="0">
                    <a:solidFill>
                      <a:srgbClr val="058D40"/>
                    </a:solidFill>
                  </a:rPr>
                  <a:t>Непрерывное пространство действий</a:t>
                </a:r>
                <a:endParaRPr lang="en-US" sz="1800" dirty="0">
                  <a:solidFill>
                    <a:srgbClr val="058D40"/>
                  </a:solidFill>
                </a:endParaRPr>
              </a:p>
              <a:p>
                <a:endParaRPr lang="en-US" sz="1800" dirty="0">
                  <a:solidFill>
                    <a:srgbClr val="058D40"/>
                  </a:solidFill>
                </a:endParaRPr>
              </a:p>
              <a:p>
                <a:r>
                  <a:rPr lang="en-US" sz="1800" dirty="0">
                    <a:solidFill>
                      <a:srgbClr val="058D40"/>
                    </a:solidFill>
                  </a:rPr>
                  <a:t>Off-policy</a:t>
                </a:r>
              </a:p>
              <a:p>
                <a:r>
                  <a:rPr lang="en-US" sz="1800" dirty="0">
                    <a:solidFill>
                      <a:srgbClr val="058D40"/>
                    </a:solidFill>
                  </a:rPr>
                  <a:t>Experience replay</a:t>
                </a:r>
                <a:endParaRPr lang="ru-RU" sz="1800" dirty="0">
                  <a:solidFill>
                    <a:srgbClr val="058D40"/>
                  </a:solidFill>
                </a:endParaRPr>
              </a:p>
              <a:p>
                <a:endParaRPr lang="ru-RU" sz="1800" dirty="0">
                  <a:solidFill>
                    <a:srgbClr val="058D40"/>
                  </a:solidFill>
                </a:endParaRPr>
              </a:p>
              <a:p>
                <a:r>
                  <a:rPr lang="ru-RU" sz="1800" dirty="0">
                    <a:solidFill>
                      <a:srgbClr val="058D40"/>
                    </a:solidFill>
                  </a:rPr>
                  <a:t>Стабильнее обучение за счет использования </a:t>
                </a:r>
                <a:r>
                  <a:rPr lang="en-US" sz="1800" dirty="0">
                    <a:solidFill>
                      <a:srgbClr val="058D40"/>
                    </a:solidFill>
                  </a:rPr>
                  <a:t> </a:t>
                </a:r>
                <a:br>
                  <a:rPr lang="ru-RU" sz="1800" dirty="0">
                    <a:solidFill>
                      <a:srgbClr val="058D40"/>
                    </a:solidFill>
                  </a:rPr>
                </a:br>
                <a:r>
                  <a:rPr lang="ru-RU" sz="1800" dirty="0">
                    <a:solidFill>
                      <a:srgbClr val="058D40"/>
                    </a:solidFill>
                  </a:rPr>
                  <a:t>суперпозиции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058D4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rgbClr val="058D4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058D4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800" i="1">
                              <a:solidFill>
                                <a:srgbClr val="058D4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solidFill>
                                    <a:srgbClr val="058D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solidFill>
                                    <a:srgbClr val="058D4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1800" b="0" i="1" smtClean="0">
                                  <a:solidFill>
                                    <a:srgbClr val="058D4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1800" i="1">
                              <a:solidFill>
                                <a:srgbClr val="058D4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i="1">
                              <a:solidFill>
                                <a:srgbClr val="058D4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800" i="1">
                              <a:solidFill>
                                <a:srgbClr val="058D4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1800" b="0" dirty="0">
                  <a:solidFill>
                    <a:srgbClr val="058D40"/>
                  </a:solidFill>
                </a:endParaRPr>
              </a:p>
              <a:p>
                <a:endParaRPr lang="en-RU" sz="1800" dirty="0">
                  <a:solidFill>
                    <a:srgbClr val="058D40"/>
                  </a:solidFill>
                </a:endParaRPr>
              </a:p>
              <a:p>
                <a:r>
                  <a:rPr lang="ru-RU" sz="1800" dirty="0">
                    <a:solidFill>
                      <a:srgbClr val="058D40"/>
                    </a:solidFill>
                  </a:rPr>
                  <a:t>Реализация проще чем </a:t>
                </a:r>
                <a:r>
                  <a:rPr lang="en-US" sz="1800" dirty="0">
                    <a:solidFill>
                      <a:srgbClr val="058D40"/>
                    </a:solidFill>
                  </a:rPr>
                  <a:t>A3C</a:t>
                </a:r>
                <a:endParaRPr lang="en-RU" sz="1800" dirty="0">
                  <a:solidFill>
                    <a:srgbClr val="058D4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8713310-70E5-8E4C-856E-67239DC653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92" y="1119457"/>
                <a:ext cx="2786159" cy="3693319"/>
              </a:xfrm>
              <a:prstGeom prst="rect">
                <a:avLst/>
              </a:prstGeom>
              <a:blipFill>
                <a:blip r:embed="rId4"/>
                <a:stretch>
                  <a:fillRect l="-2273" t="-1031" r="-455" b="-1718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05AFAB04-6711-1D4A-8216-7D228241E22C}"/>
              </a:ext>
            </a:extLst>
          </p:cNvPr>
          <p:cNvSpPr txBox="1"/>
          <p:nvPr/>
        </p:nvSpPr>
        <p:spPr>
          <a:xfrm>
            <a:off x="6392035" y="1837480"/>
            <a:ext cx="23978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rgbClr val="C00000"/>
                </a:solidFill>
              </a:rPr>
              <a:t>Работает </a:t>
            </a:r>
            <a:r>
              <a:rPr lang="ru-RU" sz="1800" b="1" dirty="0">
                <a:solidFill>
                  <a:srgbClr val="C00000"/>
                </a:solidFill>
              </a:rPr>
              <a:t>только</a:t>
            </a:r>
            <a:r>
              <a:rPr lang="ru-RU" sz="1800" dirty="0">
                <a:solidFill>
                  <a:srgbClr val="C00000"/>
                </a:solidFill>
              </a:rPr>
              <a:t> с непрерывным пространством действий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35425B-2F57-5E44-879F-DCF9AAEFC640}"/>
              </a:ext>
            </a:extLst>
          </p:cNvPr>
          <p:cNvSpPr/>
          <p:nvPr/>
        </p:nvSpPr>
        <p:spPr>
          <a:xfrm>
            <a:off x="4890292" y="2967986"/>
            <a:ext cx="1449599" cy="3313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Disadvantages</a:t>
            </a:r>
            <a:endParaRPr lang="en-RU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87551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900" dirty="0"/>
              <a:t>Алгоритм </a:t>
            </a:r>
            <a:r>
              <a:rPr lang="en-US" sz="4900" dirty="0"/>
              <a:t>PPO</a:t>
            </a:r>
            <a:br>
              <a:rPr lang="en-US" sz="4900" dirty="0"/>
            </a:br>
            <a:br>
              <a:rPr lang="en-US" sz="2000" dirty="0"/>
            </a:br>
            <a:r>
              <a:rPr lang="en-US" sz="2800" dirty="0"/>
              <a:t>PG -&gt; NPG -&gt; TRPO -&gt; PPO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124084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Policy Gradient (PG)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311;p57">
                <a:extLst>
                  <a:ext uri="{FF2B5EF4-FFF2-40B4-BE49-F238E27FC236}">
                    <a16:creationId xmlns:a16="http://schemas.microsoft.com/office/drawing/2014/main" id="{2FD43597-8D13-8541-96F3-D70F99E09164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342294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4763" lvl="1" indent="0">
                  <a:buNone/>
                </a:pPr>
                <a:r>
                  <a:rPr lang="ru-RU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Политика </a:t>
                </a:r>
                <a14:m>
                  <m:oMath xmlns:m="http://schemas.openxmlformats.org/officeDocument/2006/math">
                    <m:r>
                      <a:rPr lang="en-US" sz="16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l-GR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 - </a:t>
                </a:r>
                <a:r>
                  <a:rPr lang="ru-RU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это просто функция, которая возвращает действие </a:t>
                </a:r>
                <a14:m>
                  <m:oMath xmlns:m="http://schemas.openxmlformats.org/officeDocument/2006/math">
                    <m:r>
                      <a:rPr lang="en-US" sz="16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 </a:t>
                </a:r>
                <a:r>
                  <a:rPr lang="ru-RU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при заданном состоянии</a:t>
                </a:r>
                <a:r>
                  <a:rPr lang="en-US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GB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. </a:t>
                </a:r>
                <a:r>
                  <a:rPr lang="ru-RU" sz="1600" dirty="0">
                    <a:solidFill>
                      <a:srgbClr val="000000"/>
                    </a:solidFill>
                    <a:latin typeface="-webkit-standard"/>
                  </a:rPr>
                  <a:t>Ф</a:t>
                </a:r>
                <a:r>
                  <a:rPr lang="ru-RU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ункция</a:t>
                </a:r>
                <a:r>
                  <a:rPr lang="en-US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 </a:t>
                </a:r>
                <a:r>
                  <a:rPr lang="ru-RU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приближающая</a:t>
                </a:r>
                <a:r>
                  <a:rPr lang="en-US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ru-RU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 определяется набором весов </a:t>
                </a:r>
                <a14:m>
                  <m:oMath xmlns:m="http://schemas.openxmlformats.org/officeDocument/2006/math">
                    <m:r>
                      <a:rPr lang="en-US" sz="16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l-GR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. </a:t>
                </a:r>
                <a:endParaRPr lang="ru-RU" sz="1600" b="0" i="0" u="none" strike="noStrike" dirty="0">
                  <a:solidFill>
                    <a:srgbClr val="000000"/>
                  </a:solidFill>
                  <a:effectLst/>
                  <a:latin typeface="-webkit-standard"/>
                </a:endParaRPr>
              </a:p>
              <a:p>
                <a:pPr marL="4763" lvl="1" indent="0">
                  <a:buNone/>
                </a:pPr>
                <a:r>
                  <a:rPr lang="ru-RU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Изменяя эти веса и наблюдая разницу в наградах мы обновляем</a:t>
                </a:r>
                <a:r>
                  <a:rPr lang="en-US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ru-RU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 в том направлении, которое дает большую награду. Этот механизм лежит в основе </a:t>
                </a:r>
                <a:r>
                  <a:rPr lang="ru-RU" sz="1600" dirty="0">
                    <a:solidFill>
                      <a:srgbClr val="000000"/>
                    </a:solidFill>
                    <a:latin typeface="-webkit-standard"/>
                  </a:rPr>
                  <a:t>всех методов градиента </a:t>
                </a:r>
                <a:r>
                  <a:rPr lang="ru-RU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политики.</a:t>
                </a:r>
                <a:endParaRPr lang="en-US" sz="1800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603250" lvl="1" indent="0">
                  <a:buNone/>
                </a:pPr>
                <a:endParaRPr lang="en-US" sz="1600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4763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sub>
                      </m:sSub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  <m:sup/>
                        <m:e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18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4763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</p:txBody>
          </p:sp>
        </mc:Choice>
        <mc:Fallback xmlns="">
          <p:sp>
            <p:nvSpPr>
              <p:cNvPr id="6" name="Google Shape;311;p57">
                <a:extLst>
                  <a:ext uri="{FF2B5EF4-FFF2-40B4-BE49-F238E27FC236}">
                    <a16:creationId xmlns:a16="http://schemas.microsoft.com/office/drawing/2014/main" id="{2FD43597-8D13-8541-96F3-D70F99E09164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3422940"/>
              </a:xfrm>
              <a:prstGeom prst="rect">
                <a:avLst/>
              </a:prstGeom>
              <a:blipFill>
                <a:blip r:embed="rId3"/>
                <a:stretch>
                  <a:fillRect l="-288" b="-1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78976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Policy Gradient (PG)</a:t>
            </a:r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 - проблемы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311;p57">
                <a:extLst>
                  <a:ext uri="{FF2B5EF4-FFF2-40B4-BE49-F238E27FC236}">
                    <a16:creationId xmlns:a16="http://schemas.microsoft.com/office/drawing/2014/main" id="{2FD43597-8D13-8541-96F3-D70F99E09164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1661646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4763" lvl="1" indent="0">
                  <a:buNone/>
                </a:pP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Хотя у нас есть вознаграждение и направление обновления, мы не знаем, на какую величину обновлять политику. Выбор правильной скорости обучения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представляет собой </a:t>
                </a:r>
                <a:r>
                  <a:rPr lang="ru-RU" sz="1600" dirty="0" err="1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гиперпараметр</a:t>
                </a: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задачи.</a:t>
                </a:r>
              </a:p>
              <a:p>
                <a:pPr marL="4763" lvl="1" indent="0">
                  <a:buNone/>
                </a:pP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Мы можем вычислить только евклидово расстояние для обновления.</a:t>
                </a:r>
              </a:p>
              <a:p>
                <a:pPr marL="4763" lvl="1" indent="0" algn="ctr">
                  <a:spcBef>
                    <a:spcPts val="0"/>
                  </a:spcBef>
                  <a:buNone/>
                </a:pPr>
                <a:endParaRPr lang="ru-RU" sz="8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4763" lvl="1" indent="0" algn="ctr">
                  <a:buNone/>
                </a:pP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Пример – одинаковое евклидово расстояние между моделями, но изменения в политике – разные.</a:t>
                </a:r>
                <a:endParaRPr lang="ru-RU" sz="1100" dirty="0">
                  <a:solidFill>
                    <a:srgbClr val="000000"/>
                  </a:solidFill>
                  <a:latin typeface="-webkit-standard"/>
                </a:endParaRPr>
              </a:p>
            </p:txBody>
          </p:sp>
        </mc:Choice>
        <mc:Fallback xmlns="">
          <p:sp>
            <p:nvSpPr>
              <p:cNvPr id="6" name="Google Shape;311;p57">
                <a:extLst>
                  <a:ext uri="{FF2B5EF4-FFF2-40B4-BE49-F238E27FC236}">
                    <a16:creationId xmlns:a16="http://schemas.microsoft.com/office/drawing/2014/main" id="{2FD43597-8D13-8541-96F3-D70F99E09164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1661646"/>
              </a:xfrm>
              <a:prstGeom prst="rect">
                <a:avLst/>
              </a:prstGeom>
              <a:blipFill>
                <a:blip r:embed="rId3"/>
                <a:stretch>
                  <a:fillRect l="-288" b="-1212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BD2B8A4-CF3D-914A-98F1-EFFE0C050D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1102" y="2964130"/>
            <a:ext cx="6124639" cy="2074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0892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8E383-4D7A-9149-BBB4-62451D064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Шаг изменения политики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892202-B106-3245-9D62-2828D0D48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8665" y="1127273"/>
            <a:ext cx="2222500" cy="3429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AA42A9-4F30-EC4F-9D71-6CB64FCE4FF9}"/>
              </a:ext>
            </a:extLst>
          </p:cNvPr>
          <p:cNvSpPr txBox="1"/>
          <p:nvPr/>
        </p:nvSpPr>
        <p:spPr>
          <a:xfrm>
            <a:off x="500550" y="1515818"/>
            <a:ext cx="444926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Движение на одинаковую величину по горизонтали может привести к кардинальному изменению.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Если рельеф воспринимать как функцию политики, то необходимо оценивать насколько изменится политика, </a:t>
            </a:r>
            <a:r>
              <a:rPr lang="ru-RU" dirty="0" err="1"/>
              <a:t>т.е</a:t>
            </a:r>
            <a:r>
              <a:rPr lang="ru-RU" dirty="0"/>
              <a:t> фактически вычислять все возможные изменения политики и после этого делать шаг.</a:t>
            </a:r>
          </a:p>
          <a:p>
            <a:endParaRPr lang="ru-RU" dirty="0"/>
          </a:p>
          <a:p>
            <a:r>
              <a:rPr lang="ru-RU" dirty="0"/>
              <a:t>Фактически нам нужно двигаться следуя за максимумом функции политики. Это достигается методами оптимизации второго порядка.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4587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Natural Policy Gradient (NPG)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68909FF-C7FA-1947-ADD3-510F0E76F4F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33203" y="920536"/>
                <a:ext cx="8787947" cy="3946035"/>
              </a:xfrm>
            </p:spPr>
            <p:txBody>
              <a:bodyPr>
                <a:normAutofit/>
              </a:bodyPr>
              <a:lstStyle/>
              <a:p>
                <a:pPr marL="133350" indent="0">
                  <a:buNone/>
                </a:pPr>
                <a:r>
                  <a:rPr lang="en-RU"/>
                  <a:t>KL-</a:t>
                </a:r>
                <a:r>
                  <a:rPr lang="ru-RU" dirty="0"/>
                  <a:t>расстояние</a:t>
                </a:r>
                <a:r>
                  <a:rPr lang="en-US" dirty="0"/>
                  <a:t> (</a:t>
                </a:r>
                <a:r>
                  <a:rPr lang="ru-RU" dirty="0" err="1"/>
                  <a:t>Куллбека-Лейбнера</a:t>
                </a:r>
                <a:r>
                  <a:rPr lang="en-US" dirty="0"/>
                  <a:t>)</a:t>
                </a:r>
                <a:r>
                  <a:rPr lang="ru-RU" dirty="0"/>
                  <a:t>:</a:t>
                </a: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b="0" i="0" smtClean="0"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RU" dirty="0"/>
              </a:p>
              <a:p>
                <a:pPr marL="133350" indent="0">
                  <a:buNone/>
                </a:pPr>
                <a:endParaRPr lang="ru-RU" dirty="0"/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𝒟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𝐾𝐿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d>
                                    <m:dPr>
                                      <m:begChr m:val="|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RU" dirty="0"/>
              </a:p>
              <a:p>
                <a:pPr marL="133350" indent="0">
                  <a:buNone/>
                </a:pPr>
                <a:endParaRPr lang="ru-RU" dirty="0"/>
              </a:p>
              <a:p>
                <a:pPr marL="133350" indent="0">
                  <a:buNone/>
                </a:pPr>
                <a:r>
                  <a:rPr lang="ru-RU" dirty="0"/>
                  <a:t>С учетом этого ограничения мы можем гарантировать, что изменяем параметры таким образом, что политика изменится не слишком сильно. </a:t>
                </a:r>
              </a:p>
              <a:p>
                <a:pPr marL="133350" indent="0">
                  <a:buNone/>
                </a:pPr>
                <a:endParaRPr lang="ru-RU" dirty="0"/>
              </a:p>
              <a:p>
                <a:pPr marL="133350" indent="0">
                  <a:buNone/>
                </a:pPr>
                <a:r>
                  <a:rPr lang="ru-RU" b="1" i="1" dirty="0"/>
                  <a:t>Вычисление </a:t>
                </a:r>
                <a:r>
                  <a:rPr lang="en-GB" b="1" i="1" dirty="0"/>
                  <a:t>KL-</a:t>
                </a:r>
                <a:r>
                  <a:rPr lang="ru-RU" b="1" i="1" dirty="0"/>
                  <a:t> расстояния требует оценки всех пар "состояние - действие", поэтому для работы с реалистичными задачами </a:t>
                </a:r>
                <a:r>
                  <a:rPr lang="en-GB" b="1" i="1" dirty="0"/>
                  <a:t>RL </a:t>
                </a:r>
                <a:r>
                  <a:rPr lang="ru-RU" b="1" i="1" dirty="0"/>
                  <a:t>необходимы упрощения.</a:t>
                </a:r>
                <a:endParaRPr lang="en-RU" b="1" i="1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68909FF-C7FA-1947-ADD3-510F0E76F4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33203" y="920536"/>
                <a:ext cx="8787947" cy="3946035"/>
              </a:xfrm>
              <a:blipFill>
                <a:blip r:embed="rId3"/>
                <a:stretch>
                  <a:fillRect t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84452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Natural Policy Gradient (NPG)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68909FF-C7FA-1947-ADD3-510F0E76F4F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33203" y="1494027"/>
                <a:ext cx="8787947" cy="2760258"/>
              </a:xfrm>
            </p:spPr>
            <p:txBody>
              <a:bodyPr>
                <a:normAutofit/>
              </a:bodyPr>
              <a:lstStyle/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den>
                          </m:f>
                        </m:e>
                      </m:ra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𝐹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RU" sz="1800" dirty="0"/>
              </a:p>
              <a:p>
                <a:pPr marL="133350" indent="0">
                  <a:buNone/>
                </a:pPr>
                <a:endParaRPr lang="en-RU" dirty="0"/>
              </a:p>
              <a:p>
                <a:r>
                  <a:rPr lang="ru-RU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Градиент "корректируется" обратной матрицей Фишера, учитывающей чувствительность политики к локальным изменениям. Матрица Фишера учитывает Риманову кривизну.</a:t>
                </a:r>
              </a:p>
              <a:p>
                <a:r>
                  <a:rPr lang="ru-RU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Размер скорости обучения имеет динамическое выражение, которое адаптируется к градиентам и обеспечивая изменение политики на величину </a:t>
                </a:r>
                <a14:m>
                  <m:oMath xmlns:m="http://schemas.openxmlformats.org/officeDocument/2006/math">
                    <m:r>
                      <a:rPr lang="en-US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l-GR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 </a:t>
                </a:r>
                <a:r>
                  <a:rPr lang="ru-RU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независимо от параметризации. </a:t>
                </a:r>
                <a:endParaRPr lang="en-RU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68909FF-C7FA-1947-ADD3-510F0E76F4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33203" y="1494027"/>
                <a:ext cx="8787947" cy="276025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94764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ED3FE-223E-9243-93D5-21DA67AAE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Trust Region Policy Optimization (TRPO)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57FBD8-5AE3-3F4C-8D1D-F856061582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681" r="17351"/>
          <a:stretch/>
        </p:blipFill>
        <p:spPr>
          <a:xfrm>
            <a:off x="5265470" y="1426624"/>
            <a:ext cx="2761612" cy="30876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4C34ED-6733-E744-AF1C-CAD6BA386BC3}"/>
              </a:ext>
            </a:extLst>
          </p:cNvPr>
          <p:cNvSpPr txBox="1"/>
          <p:nvPr/>
        </p:nvSpPr>
        <p:spPr>
          <a:xfrm>
            <a:off x="500550" y="1614008"/>
            <a:ext cx="4666731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 каждом шаге мы оцениваем область «незначительного» изменения политики и для каждой области вычисляем оптимальное изменение политики.</a:t>
            </a:r>
          </a:p>
          <a:p>
            <a:endParaRPr lang="ru-RU" dirty="0"/>
          </a:p>
          <a:p>
            <a:r>
              <a:rPr lang="ru-RU" dirty="0"/>
              <a:t>Для вычисления области «незначительного» изменения политики нам все равно нужно вычислить расстояние </a:t>
            </a:r>
            <a:r>
              <a:rPr lang="ru-RU" dirty="0" err="1"/>
              <a:t>Куллбека-Лейбнера</a:t>
            </a:r>
            <a:r>
              <a:rPr lang="ru-RU" dirty="0"/>
              <a:t>, т.е. вычислять матрицу Фишера.</a:t>
            </a:r>
          </a:p>
          <a:p>
            <a:endParaRPr lang="ru-RU" dirty="0"/>
          </a:p>
          <a:p>
            <a:r>
              <a:rPr lang="ru-RU" b="1" dirty="0"/>
              <a:t>НО нам уже не нужно вычислять обратную к ней!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04347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Trust Region Policy Optimization (TRPO)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68909FF-C7FA-1947-ADD3-510F0E76F4F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marL="133350" indent="0">
                  <a:buNone/>
                </a:pPr>
                <a:r>
                  <a:rPr lang="ru-RU" dirty="0"/>
                  <a:t>Введем суррогатное преимущество:</a:t>
                </a:r>
                <a:endParaRPr lang="en-US" dirty="0"/>
              </a:p>
              <a:p>
                <a:pPr marL="133350" indent="0">
                  <a:buNone/>
                </a:pPr>
                <a:endParaRPr lang="en-US" dirty="0"/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den>
                          </m:f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RU" dirty="0"/>
              </a:p>
              <a:p>
                <a:pPr marL="133350" indent="0">
                  <a:buNone/>
                </a:pPr>
                <a:endParaRPr lang="en-US" dirty="0"/>
              </a:p>
              <a:p>
                <a:pPr marL="133350" indent="0">
                  <a:buNone/>
                </a:pPr>
                <a:r>
                  <a:rPr lang="ru-RU" dirty="0"/>
                  <a:t>Ограничим ошибку аппроксимации суррогатного преимущества с помощью наихудшего </a:t>
                </a:r>
                <a:r>
                  <a:rPr lang="en-GB" dirty="0"/>
                  <a:t>KL-</a:t>
                </a:r>
                <a:r>
                  <a:rPr lang="ru-RU" dirty="0"/>
                  <a:t>расстояния между политиками до и после обновления:</a:t>
                </a:r>
                <a:endParaRPr lang="en-US" dirty="0"/>
              </a:p>
              <a:p>
                <a:pPr marL="133350" indent="0">
                  <a:buNone/>
                </a:pPr>
                <a:endParaRPr lang="en-RU" dirty="0"/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ℒ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𝒟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𝐾𝐿</m:t>
                                  </m:r>
                                </m:sub>
                                <m:sup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max</m:t>
                                      </m:r>
                                    </m:fNam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func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||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RU" dirty="0"/>
                                <m:t> 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RU" dirty="0"/>
              </a:p>
              <a:p>
                <a:pPr marL="133350" indent="0">
                  <a:buNone/>
                </a:pPr>
                <a:endParaRPr lang="en-RU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68909FF-C7FA-1947-ADD3-510F0E76F4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94007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Trust Region Policy Optimization (TRPO)</a:t>
            </a:r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 - проблемы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8909FF-C7FA-1947-ADD3-510F0E76F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0550" y="1426468"/>
            <a:ext cx="8520600" cy="3335775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GB" dirty="0"/>
              <a:t>TRPO </a:t>
            </a:r>
            <a:r>
              <a:rPr lang="ru-RU" dirty="0"/>
              <a:t>все равно не справляется с большими матрицами Фишера, даже если их не нужно инвертировать. </a:t>
            </a:r>
          </a:p>
          <a:p>
            <a:pPr>
              <a:spcAft>
                <a:spcPts val="1200"/>
              </a:spcAft>
            </a:pPr>
            <a:r>
              <a:rPr lang="ru-RU" dirty="0"/>
              <a:t>Оптимизация второго порядка выполняется медленно - практическая реализация </a:t>
            </a:r>
            <a:r>
              <a:rPr lang="en-GB" dirty="0"/>
              <a:t>TRPO </a:t>
            </a:r>
            <a:r>
              <a:rPr lang="ru-RU" dirty="0"/>
              <a:t>основана на ограничениях и требует вычисления матрицы Фишера. </a:t>
            </a:r>
          </a:p>
          <a:p>
            <a:pPr>
              <a:spcAft>
                <a:spcPts val="1200"/>
              </a:spcAft>
            </a:pPr>
            <a:r>
              <a:rPr lang="ru-RU" dirty="0"/>
              <a:t>Мы не можем воспользоваться преимуществами стохастических градиентных оптимизаторов (первого порядка), таких как </a:t>
            </a:r>
            <a:r>
              <a:rPr lang="en-GB" dirty="0"/>
              <a:t>ADAM.</a:t>
            </a:r>
          </a:p>
          <a:p>
            <a:pPr>
              <a:spcAft>
                <a:spcPts val="1200"/>
              </a:spcAft>
            </a:pPr>
            <a:r>
              <a:rPr lang="en-GB" dirty="0"/>
              <a:t>TRPO </a:t>
            </a:r>
            <a:r>
              <a:rPr lang="ru-RU" dirty="0"/>
              <a:t>достаточно трудно объяснить, реализовать и отладить. Когда обучение не дает желаемых результатов, бывает сложно определить в чем проблема.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0723376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Proximal Policy Optimization (PPO) 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68909FF-C7FA-1947-ADD3-510F0E76F4F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00550" y="969632"/>
                <a:ext cx="8520600" cy="3873237"/>
              </a:xfrm>
            </p:spPr>
            <p:txBody>
              <a:bodyPr>
                <a:normAutofit fontScale="85000" lnSpcReduction="10000"/>
              </a:bodyPr>
              <a:lstStyle/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ℒ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𝒟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𝐾𝐿</m:t>
                                  </m:r>
                                </m:sub>
                                <m:sup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max</m:t>
                                      </m:r>
                                    </m:fNam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func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||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RU" dirty="0"/>
                                <m:t> 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ru-RU" dirty="0"/>
              </a:p>
              <a:p>
                <a:pPr marL="133350" indent="0">
                  <a:buNone/>
                </a:pPr>
                <a:endParaRPr lang="ru-RU" dirty="0"/>
              </a:p>
              <a:p>
                <a:pPr marL="133350" indent="0">
                  <a:buNone/>
                </a:pPr>
                <a:r>
                  <a:rPr lang="ru-RU" dirty="0"/>
                  <a:t>Не будем вычислять теоретическое значение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. </a:t>
                </a:r>
                <a:r>
                  <a:rPr lang="ru-RU" dirty="0"/>
                  <a:t>Зададим "целевое расхождение”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ru-RU" dirty="0"/>
                  <a:t>, такое, чтобы наши обновления находились где-то в окрестности этого расхождения. </a:t>
                </a:r>
                <a:endParaRPr lang="en-US" dirty="0"/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||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dirty="0"/>
              </a:p>
              <a:p>
                <a:pPr marL="133350" indent="0">
                  <a:buNone/>
                </a:pPr>
                <a:r>
                  <a:rPr lang="ru-RU" dirty="0"/>
                  <a:t>Целевое расхождение должно быть достаточно большим, чтобы существенно изменить политику, но достаточно малым, чтобы обновления были стабильными.</a:t>
                </a:r>
              </a:p>
              <a:p>
                <a:pPr marL="133350" indent="0">
                  <a:buNone/>
                </a:pPr>
                <a:endParaRPr lang="en-US" dirty="0"/>
              </a:p>
              <a:p>
                <a:pPr marL="133350" indent="0">
                  <a:buNone/>
                </a:pPr>
                <a:r>
                  <a:rPr lang="ru-RU" dirty="0"/>
                  <a:t>После каждого обновления политики </a:t>
                </a:r>
                <a:r>
                  <a:rPr lang="en-GB" dirty="0"/>
                  <a:t>PPO </a:t>
                </a:r>
                <a:r>
                  <a:rPr lang="ru-RU" dirty="0"/>
                  <a:t>проверяет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ru-RU" dirty="0"/>
                  <a:t>. Если реализованное расхождение превышает целевое расхождение более чем на 1,5, то на следующей итерации мы устанавливаем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l-GR" dirty="0"/>
                  <a:t>. </a:t>
                </a:r>
                <a:r>
                  <a:rPr lang="ru-RU" dirty="0"/>
                  <a:t>В обратном случае, если обновления слишком малы, мы уменьшаем вдвое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l-GR" i="1" dirty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ru-RU" dirty="0"/>
                  <a:t>.</a:t>
                </a:r>
                <a:endParaRPr lang="en-US" dirty="0"/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  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||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→2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68909FF-C7FA-1947-ADD3-510F0E76F4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00550" y="969632"/>
                <a:ext cx="8520600" cy="3873237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36867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Практика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Практика</a:t>
            </a:r>
            <a:endParaRPr dirty="0"/>
          </a:p>
        </p:txBody>
      </p:sp>
      <p:graphicFrame>
        <p:nvGraphicFramePr>
          <p:cNvPr id="390" name="Google Shape;390;p69"/>
          <p:cNvGraphicFramePr/>
          <p:nvPr>
            <p:extLst>
              <p:ext uri="{D42A27DB-BD31-4B8C-83A1-F6EECF244321}">
                <p14:modId xmlns:p14="http://schemas.microsoft.com/office/powerpoint/2010/main" val="1938376452"/>
              </p:ext>
            </p:extLst>
          </p:nvPr>
        </p:nvGraphicFramePr>
        <p:xfrm>
          <a:off x="952500" y="1372744"/>
          <a:ext cx="7239000" cy="1047912"/>
        </p:xfrm>
        <a:graphic>
          <a:graphicData uri="http://schemas.openxmlformats.org/drawingml/2006/table">
            <a:tbl>
              <a:tblPr>
                <a:noFill/>
                <a:tableStyleId>{B623574C-9AE7-4070-A081-93A97D88BCA6}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Реализовать алгоритм А2С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Познакомиться с вызовом алгоритма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DDPG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из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S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tableBaseline</a:t>
                      </a:r>
                      <a:endParaRPr lang="en-GB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288829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Познакомиться с вызовом алгоритма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PPO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из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S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tableBaseline</a:t>
                      </a:r>
                      <a:endParaRPr lang="en-GB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975144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Список материалов для изучения</a:t>
            </a:r>
            <a:endParaRPr dirty="0"/>
          </a:p>
        </p:txBody>
      </p:sp>
      <p:sp>
        <p:nvSpPr>
          <p:cNvPr id="408" name="Google Shape;408;p71"/>
          <p:cNvSpPr txBox="1">
            <a:spLocks noGrp="1"/>
          </p:cNvSpPr>
          <p:nvPr>
            <p:ph type="body" idx="4294967295"/>
          </p:nvPr>
        </p:nvSpPr>
        <p:spPr>
          <a:xfrm>
            <a:off x="500550" y="1197863"/>
            <a:ext cx="7742400" cy="28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indent="-311150">
              <a:buSzPts val="1300"/>
              <a:buFont typeface="Roboto"/>
              <a:buAutoNum type="arabicPeriod"/>
            </a:pPr>
            <a:r>
              <a:rPr lang="ru-RU" sz="1300" dirty="0">
                <a:hlinkClick r:id="rId3"/>
              </a:rPr>
              <a:t>Список ресурсов</a:t>
            </a:r>
            <a:endParaRPr lang="en-US" sz="1300" dirty="0"/>
          </a:p>
          <a:p>
            <a:pPr indent="-311150">
              <a:buSzPts val="1300"/>
              <a:buFont typeface="Roboto"/>
              <a:buAutoNum type="arabicPeriod"/>
            </a:pPr>
            <a:r>
              <a:rPr lang="ru-RU" sz="1300" dirty="0" err="1">
                <a:hlinkClick r:id="rId4"/>
              </a:rPr>
              <a:t>Лю</a:t>
            </a:r>
            <a:r>
              <a:rPr lang="ru-RU" sz="1300" dirty="0">
                <a:hlinkClick r:id="rId4"/>
              </a:rPr>
              <a:t> Ю. (Х.) Обучение с подкреплением на </a:t>
            </a:r>
            <a:r>
              <a:rPr lang="en-GB" sz="1300" dirty="0" err="1">
                <a:hlinkClick r:id="rId4"/>
              </a:rPr>
              <a:t>PyTorch</a:t>
            </a:r>
            <a:r>
              <a:rPr lang="en-GB" sz="1300" dirty="0">
                <a:hlinkClick r:id="rId4"/>
              </a:rPr>
              <a:t>: </a:t>
            </a:r>
            <a:r>
              <a:rPr lang="ru-RU" sz="1300" dirty="0">
                <a:hlinkClick r:id="rId4"/>
              </a:rPr>
              <a:t>сборник рецептов / пер. с англ. А. А. </a:t>
            </a:r>
            <a:r>
              <a:rPr lang="ru-RU" sz="1300" dirty="0" err="1">
                <a:hlinkClick r:id="rId4"/>
              </a:rPr>
              <a:t>Слинкина</a:t>
            </a:r>
            <a:r>
              <a:rPr lang="ru-RU" sz="1300" dirty="0">
                <a:hlinkClick r:id="rId4"/>
              </a:rPr>
              <a:t>. – М.: ДМК Пресс, 2020. – 282 с. </a:t>
            </a:r>
            <a:endParaRPr lang="ru-RU" sz="1300" dirty="0"/>
          </a:p>
          <a:p>
            <a:pPr indent="-311150">
              <a:buSzPts val="1300"/>
              <a:buFont typeface="Roboto"/>
              <a:buAutoNum type="arabicPeriod"/>
            </a:pPr>
            <a:endParaRPr lang="ru-RU" sz="1300" dirty="0"/>
          </a:p>
          <a:p>
            <a:pPr indent="-311150">
              <a:buSzPts val="1300"/>
              <a:buFont typeface="Roboto"/>
              <a:buAutoNum type="arabicPeriod"/>
            </a:pPr>
            <a:endParaRPr lang="en-GB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7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900"/>
              <a:t>Вопросы?</a:t>
            </a:r>
            <a:endParaRPr/>
          </a:p>
        </p:txBody>
      </p:sp>
      <p:pic>
        <p:nvPicPr>
          <p:cNvPr id="415" name="Google Shape;415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975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72"/>
          <p:cNvSpPr txBox="1"/>
          <p:nvPr/>
        </p:nvSpPr>
        <p:spPr>
          <a:xfrm>
            <a:off x="1438025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17" name="Google Shape;417;p7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2950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72"/>
          <p:cNvSpPr txBox="1"/>
          <p:nvPr/>
        </p:nvSpPr>
        <p:spPr>
          <a:xfrm>
            <a:off x="4806700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79"/>
          <p:cNvSpPr txBox="1">
            <a:spLocks noGrp="1"/>
          </p:cNvSpPr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800"/>
              <a:t>Заполните, пожалуйста,</a:t>
            </a:r>
            <a:endParaRPr sz="3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/>
              <a:t>опрос о занятии</a:t>
            </a:r>
            <a:endParaRPr sz="3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/>
              <a:t>по ссылке в чате</a:t>
            </a:r>
            <a:endParaRPr sz="38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80"/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7223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</a:t>
            </a:r>
            <a:r>
              <a:rPr lang="ru" dirty="0"/>
              <a:t>ледующие вебинары</a:t>
            </a:r>
            <a:endParaRPr dirty="0"/>
          </a:p>
        </p:txBody>
      </p:sp>
      <p:sp>
        <p:nvSpPr>
          <p:cNvPr id="481" name="Google Shape;481;p80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внимание!</a:t>
            </a:r>
            <a:endParaRPr/>
          </a:p>
        </p:txBody>
      </p:sp>
      <p:sp>
        <p:nvSpPr>
          <p:cNvPr id="482" name="Google Shape;482;p80"/>
          <p:cNvSpPr/>
          <p:nvPr/>
        </p:nvSpPr>
        <p:spPr>
          <a:xfrm>
            <a:off x="630000" y="2716325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80"/>
          <p:cNvSpPr txBox="1">
            <a:spLocks noGrp="1"/>
          </p:cNvSpPr>
          <p:nvPr>
            <p:ph type="subTitle" idx="2"/>
          </p:nvPr>
        </p:nvSpPr>
        <p:spPr>
          <a:xfrm>
            <a:off x="3082400" y="2128925"/>
            <a:ext cx="38646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AEC2E5-09F0-AC4E-AED3-1C0F260DE54D}"/>
              </a:ext>
            </a:extLst>
          </p:cNvPr>
          <p:cNvSpPr txBox="1"/>
          <p:nvPr/>
        </p:nvSpPr>
        <p:spPr>
          <a:xfrm>
            <a:off x="500550" y="1575703"/>
            <a:ext cx="14991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</a:rPr>
              <a:t>Production code</a:t>
            </a:r>
            <a:endParaRPr lang="ru-RU" b="0" i="0" u="none" strike="noStrike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7A960049-31C7-B34C-AD71-0E4EDF458B7A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</a:t>
            </a:r>
            <a:r>
              <a:rPr lang="en-US" sz="1150" kern="0" dirty="0"/>
              <a:t>20</a:t>
            </a:r>
            <a:r>
              <a:rPr lang="ru-RU" sz="1150" kern="0" dirty="0"/>
              <a:t>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3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547C830-9BDE-8E45-BBE1-922F6904E8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10344</TotalTime>
  <Words>2150</Words>
  <Application>Microsoft Macintosh PowerPoint</Application>
  <PresentationFormat>On-screen Show (16:9)</PresentationFormat>
  <Paragraphs>342</Paragraphs>
  <Slides>45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45</vt:i4>
      </vt:variant>
    </vt:vector>
  </HeadingPairs>
  <TitlesOfParts>
    <vt:vector size="57" baseType="lpstr">
      <vt:lpstr>Apple Chancery</vt:lpstr>
      <vt:lpstr>Google Sans</vt:lpstr>
      <vt:lpstr>source-serif-pro</vt:lpstr>
      <vt:lpstr>Helvetica Neue</vt:lpstr>
      <vt:lpstr>STIXMathJax_Normal-italic</vt:lpstr>
      <vt:lpstr>Roboto</vt:lpstr>
      <vt:lpstr>Cambria Math</vt:lpstr>
      <vt:lpstr>Arial</vt:lpstr>
      <vt:lpstr>-webkit-standard</vt:lpstr>
      <vt:lpstr>Courier New</vt:lpstr>
      <vt:lpstr>Светлая тема</vt:lpstr>
      <vt:lpstr>Светлая тема</vt:lpstr>
      <vt:lpstr>ML Advanced Actor-Critic</vt:lpstr>
      <vt:lpstr>Проверить, идет ли запись</vt:lpstr>
      <vt:lpstr>Правила вебинара</vt:lpstr>
      <vt:lpstr>ML Advanced Actor-Critic </vt:lpstr>
      <vt:lpstr>Карта курса</vt:lpstr>
      <vt:lpstr>Маршрут вебинара</vt:lpstr>
      <vt:lpstr>Цели вебинара</vt:lpstr>
      <vt:lpstr>Смысл</vt:lpstr>
      <vt:lpstr>Algorithms</vt:lpstr>
      <vt:lpstr>Алгоритм Actor-Critic</vt:lpstr>
      <vt:lpstr>DQN</vt:lpstr>
      <vt:lpstr>DQN – достоинства и недостатки</vt:lpstr>
      <vt:lpstr>REINFORCE - алгоритм</vt:lpstr>
      <vt:lpstr>REINFORCE – достоинства и недостатки</vt:lpstr>
      <vt:lpstr>Actor-Critic</vt:lpstr>
      <vt:lpstr>Actor-Critic алгоритм</vt:lpstr>
      <vt:lpstr>Actor-Critic – достоинства и недостатки</vt:lpstr>
      <vt:lpstr>Алгоритм А2С</vt:lpstr>
      <vt:lpstr>Advantage Actor-Critic (A2C)</vt:lpstr>
      <vt:lpstr>Advantage Actor-Critic (A2C) алгоритм</vt:lpstr>
      <vt:lpstr>A2C – достоинства и недостатки</vt:lpstr>
      <vt:lpstr>Алгоритм А3С</vt:lpstr>
      <vt:lpstr>Asynchronous Advantage Actor-Critic (A3C)</vt:lpstr>
      <vt:lpstr>A3C – достоинства и недостатки</vt:lpstr>
      <vt:lpstr>Алгоритм DDPG</vt:lpstr>
      <vt:lpstr>DDPD – Deep Deterministic Policy Gradient</vt:lpstr>
      <vt:lpstr>Deterministic Policy Gradient Theorem</vt:lpstr>
      <vt:lpstr>DDPD – Deep Deterministic Policy Gradient</vt:lpstr>
      <vt:lpstr>DDPG – достоинства и недостатки</vt:lpstr>
      <vt:lpstr>Алгоритм PPO  PG -&gt; NPG -&gt; TRPO -&gt; PPO</vt:lpstr>
      <vt:lpstr>Policy Gradient (PG)</vt:lpstr>
      <vt:lpstr>Policy Gradient (PG) - проблемы</vt:lpstr>
      <vt:lpstr>Шаг изменения политики</vt:lpstr>
      <vt:lpstr>Natural Policy Gradient (NPG)</vt:lpstr>
      <vt:lpstr>Natural Policy Gradient (NPG)</vt:lpstr>
      <vt:lpstr>Trust Region Policy Optimization (TRPO)</vt:lpstr>
      <vt:lpstr>Trust Region Policy Optimization (TRPO)</vt:lpstr>
      <vt:lpstr>Trust Region Policy Optimization (TRPO) - проблемы</vt:lpstr>
      <vt:lpstr>Proximal Policy Optimization (PPO) </vt:lpstr>
      <vt:lpstr>Практика</vt:lpstr>
      <vt:lpstr>Практика</vt:lpstr>
      <vt:lpstr>Список материалов для изучения</vt:lpstr>
      <vt:lpstr>Вопросы?</vt:lpstr>
      <vt:lpstr>Заполните, пожалуйста, опрос о занятии по ссылке в чате</vt:lpstr>
      <vt:lpstr>Cледующие вебинары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курса название темы вебинара </dc:title>
  <cp:lastModifiedBy>Стурейко Игорь Олегович</cp:lastModifiedBy>
  <cp:revision>78</cp:revision>
  <dcterms:modified xsi:type="dcterms:W3CDTF">2025-10-10T09:32:57Z</dcterms:modified>
</cp:coreProperties>
</file>