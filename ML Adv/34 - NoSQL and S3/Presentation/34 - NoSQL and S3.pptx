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35"/>
  </p:notesMasterIdLst>
  <p:sldIdLst>
    <p:sldId id="256" r:id="rId2"/>
    <p:sldId id="257" r:id="rId3"/>
    <p:sldId id="404" r:id="rId4"/>
    <p:sldId id="259" r:id="rId5"/>
    <p:sldId id="406" r:id="rId6"/>
    <p:sldId id="489" r:id="rId7"/>
    <p:sldId id="405" r:id="rId8"/>
    <p:sldId id="371" r:id="rId9"/>
    <p:sldId id="372" r:id="rId10"/>
    <p:sldId id="262" r:id="rId11"/>
    <p:sldId id="488" r:id="rId12"/>
    <p:sldId id="492" r:id="rId13"/>
    <p:sldId id="493" r:id="rId14"/>
    <p:sldId id="501" r:id="rId15"/>
    <p:sldId id="502" r:id="rId16"/>
    <p:sldId id="491" r:id="rId17"/>
    <p:sldId id="509" r:id="rId18"/>
    <p:sldId id="505" r:id="rId19"/>
    <p:sldId id="507" r:id="rId20"/>
    <p:sldId id="508" r:id="rId21"/>
    <p:sldId id="504" r:id="rId22"/>
    <p:sldId id="506" r:id="rId23"/>
    <p:sldId id="510" r:id="rId24"/>
    <p:sldId id="511" r:id="rId25"/>
    <p:sldId id="512" r:id="rId26"/>
    <p:sldId id="513" r:id="rId27"/>
    <p:sldId id="503" r:id="rId28"/>
    <p:sldId id="396" r:id="rId29"/>
    <p:sldId id="395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B"/>
    <a:srgbClr val="008F00"/>
    <a:srgbClr val="EEEEEE"/>
    <a:srgbClr val="0B88ED"/>
    <a:srgbClr val="E5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07"/>
    <p:restoredTop sz="94694"/>
  </p:normalViewPr>
  <p:slideViewPr>
    <p:cSldViewPr snapToGrid="0">
      <p:cViewPr varScale="1">
        <p:scale>
          <a:sx n="156" d="100"/>
          <a:sy n="156" d="100"/>
        </p:scale>
        <p:origin x="1048" y="168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28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763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9223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895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82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7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g"/><Relationship Id="rId7" Type="http://schemas.openxmlformats.org/officeDocument/2006/relationships/image" Target="../media/image33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rts.min.io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andex.cloud/ru/docs/storage/tools/boto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ongodb.github.io/helm-charts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companies/veeam/articles/517392/" TargetMode="External"/><Relationship Id="rId13" Type="http://schemas.openxmlformats.org/officeDocument/2006/relationships/hyperlink" Target="https://clickhouse.com/docs/en/intro" TargetMode="External"/><Relationship Id="rId3" Type="http://schemas.openxmlformats.org/officeDocument/2006/relationships/hyperlink" Target="https://habr.com/ru/companies/ruvds/articles/438796/" TargetMode="External"/><Relationship Id="rId7" Type="http://schemas.openxmlformats.org/officeDocument/2006/relationships/hyperlink" Target="https://habr.com/ru/companies/otus/articles/731854/" TargetMode="External"/><Relationship Id="rId12" Type="http://schemas.openxmlformats.org/officeDocument/2006/relationships/hyperlink" Target="https://habr.com/ru/companies/amvera/articles/757534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abr.com/ru/companies/ruvds/articles/450312/" TargetMode="External"/><Relationship Id="rId11" Type="http://schemas.openxmlformats.org/officeDocument/2006/relationships/hyperlink" Target="https://habr.com/ru/articles/835236/" TargetMode="External"/><Relationship Id="rId5" Type="http://schemas.openxmlformats.org/officeDocument/2006/relationships/hyperlink" Target="https://habr.com/ru/companies/evrone/articles/716630/" TargetMode="External"/><Relationship Id="rId10" Type="http://schemas.openxmlformats.org/officeDocument/2006/relationships/hyperlink" Target="https://habr.com/ru/companies/otus/articles/768342/" TargetMode="External"/><Relationship Id="rId4" Type="http://schemas.openxmlformats.org/officeDocument/2006/relationships/hyperlink" Target="https://habr.com/ru/companies/flant/articles/336654/" TargetMode="External"/><Relationship Id="rId9" Type="http://schemas.openxmlformats.org/officeDocument/2006/relationships/hyperlink" Target="https://min.io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80376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/>
              <a:t>Колоночные БД и объектные хранилища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ru-RU" sz="2400" dirty="0"/>
              <a:t>Колоночные БД и объектные хранилища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4F95B4A6-F84C-CE46-A1DF-BE41CF4B8DEE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04930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Объектные хранилища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MinIO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NoSQL BD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MongoDB</a:t>
            </a: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ClickHouse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146" name="Picture 2" descr="Minio">
            <a:extLst>
              <a:ext uri="{FF2B5EF4-FFF2-40B4-BE49-F238E27FC236}">
                <a16:creationId xmlns:a16="http://schemas.microsoft.com/office/drawing/2014/main" id="{C1DD6A5F-8A4B-594A-98C8-37C7E524A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057" y="719955"/>
            <a:ext cx="1530185" cy="156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002A0B80-85BD-544B-AC04-56DDB1FAA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666" y="1840995"/>
            <a:ext cx="2249550" cy="14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at Is MongoDB? - GTech">
            <a:extLst>
              <a:ext uri="{FF2B5EF4-FFF2-40B4-BE49-F238E27FC236}">
                <a16:creationId xmlns:a16="http://schemas.microsoft.com/office/drawing/2014/main" id="{C2DC4216-26ED-6E40-961C-16DC4DB85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008" y="3361166"/>
            <a:ext cx="2969848" cy="136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1" y="1778955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Production Code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1" y="2618879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Docker: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Структура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, применение, деплой</a:t>
            </a:r>
            <a:endParaRPr lang="en-US"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3038841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Сети и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08" y="3458803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Практика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: деплой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 докера 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82584" y="1607918"/>
            <a:ext cx="268326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62622" y="2027880"/>
            <a:ext cx="1108250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52641" y="2237861"/>
            <a:ext cx="1528212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42659" y="2447844"/>
            <a:ext cx="1948174" cy="4199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86564"/>
              </p:ext>
            </p:extLst>
          </p:nvPr>
        </p:nvGraphicFramePr>
        <p:xfrm>
          <a:off x="5408535" y="569514"/>
          <a:ext cx="2174137" cy="304800"/>
        </p:xfrm>
        <a:graphic>
          <a:graphicData uri="http://schemas.openxmlformats.org/drawingml/2006/table">
            <a:tbl>
              <a:tblPr firstRow="1" bandRow="1"/>
              <a:tblGrid>
                <a:gridCol w="31059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Google Shape;271;p44">
            <a:extLst>
              <a:ext uri="{FF2B5EF4-FFF2-40B4-BE49-F238E27FC236}">
                <a16:creationId xmlns:a16="http://schemas.microsoft.com/office/drawing/2014/main" id="{08FD08F2-1068-D646-BB6A-4E2FA57711C4}"/>
              </a:ext>
            </a:extLst>
          </p:cNvPr>
          <p:cNvSpPr/>
          <p:nvPr/>
        </p:nvSpPr>
        <p:spPr>
          <a:xfrm>
            <a:off x="2226710" y="2198917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7C685F24-2BCB-0043-92A5-40F891054D42}"/>
              </a:ext>
            </a:extLst>
          </p:cNvPr>
          <p:cNvSpPr/>
          <p:nvPr/>
        </p:nvSpPr>
        <p:spPr>
          <a:xfrm>
            <a:off x="2226707" y="3878765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4" name="Google Shape;271;p44">
            <a:extLst>
              <a:ext uri="{FF2B5EF4-FFF2-40B4-BE49-F238E27FC236}">
                <a16:creationId xmlns:a16="http://schemas.microsoft.com/office/drawing/2014/main" id="{4E0B5DCB-279A-7F41-B861-7BF2E1F68BEC}"/>
              </a:ext>
            </a:extLst>
          </p:cNvPr>
          <p:cNvSpPr/>
          <p:nvPr/>
        </p:nvSpPr>
        <p:spPr>
          <a:xfrm>
            <a:off x="2226707" y="4298727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5" name="Google Shape;271;p44">
            <a:extLst>
              <a:ext uri="{FF2B5EF4-FFF2-40B4-BE49-F238E27FC236}">
                <a16:creationId xmlns:a16="http://schemas.microsoft.com/office/drawing/2014/main" id="{B6748F82-91DC-7B4F-BB13-12E921897F5E}"/>
              </a:ext>
            </a:extLst>
          </p:cNvPr>
          <p:cNvSpPr/>
          <p:nvPr/>
        </p:nvSpPr>
        <p:spPr>
          <a:xfrm>
            <a:off x="2226709" y="4718689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469DF4E1-0786-9D40-81E6-F6CF1BAF549D}"/>
              </a:ext>
            </a:extLst>
          </p:cNvPr>
          <p:cNvCxnSpPr>
            <a:cxnSpLocks/>
            <a:stCxn id="271" idx="2"/>
            <a:endCxn id="30" idx="1"/>
          </p:cNvCxnSpPr>
          <p:nvPr/>
        </p:nvCxnSpPr>
        <p:spPr>
          <a:xfrm rot="16200000" flipH="1">
            <a:off x="1672603" y="1817900"/>
            <a:ext cx="688288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1720B309-E949-B149-93B7-94DB9E36D602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832677" y="2657825"/>
            <a:ext cx="2368136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FE6FD82-B247-0645-9D21-5D83F936AF05}"/>
              </a:ext>
            </a:extLst>
          </p:cNvPr>
          <p:cNvCxnSpPr>
            <a:cxnSpLocks/>
            <a:stCxn id="271" idx="2"/>
            <a:endCxn id="44" idx="1"/>
          </p:cNvCxnSpPr>
          <p:nvPr/>
        </p:nvCxnSpPr>
        <p:spPr>
          <a:xfrm rot="16200000" flipH="1">
            <a:off x="622696" y="2867806"/>
            <a:ext cx="2788098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199535-5C34-5244-ADBA-415626F393F7}"/>
              </a:ext>
            </a:extLst>
          </p:cNvPr>
          <p:cNvCxnSpPr>
            <a:cxnSpLocks/>
            <a:stCxn id="271" idx="2"/>
            <a:endCxn id="45" idx="1"/>
          </p:cNvCxnSpPr>
          <p:nvPr/>
        </p:nvCxnSpPr>
        <p:spPr>
          <a:xfrm rot="16200000" flipH="1">
            <a:off x="412716" y="3077786"/>
            <a:ext cx="3208060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8225498"/>
              </p:ext>
            </p:extLst>
          </p:nvPr>
        </p:nvGraphicFramePr>
        <p:xfrm>
          <a:off x="846750" y="1649963"/>
          <a:ext cx="7239000" cy="195562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Поймете что такое объектное хранилище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Научитесь читать/записывать файлы в объектное хранилище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Поймете что такое </a:t>
                      </a:r>
                      <a:r>
                        <a:rPr lang="en-US" sz="1300" dirty="0">
                          <a:sym typeface="Roboto"/>
                        </a:rPr>
                        <a:t>NoSQL </a:t>
                      </a:r>
                      <a:r>
                        <a:rPr lang="ru-RU" sz="1300" dirty="0">
                          <a:sym typeface="Roboto"/>
                        </a:rPr>
                        <a:t>и колоночные БД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26675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Научитесь поднимать в контейнере и подключаться к таким БД как </a:t>
                      </a:r>
                      <a:r>
                        <a:rPr lang="en-US" sz="1300" dirty="0">
                          <a:sym typeface="Roboto"/>
                        </a:rPr>
                        <a:t>MongoDB </a:t>
                      </a:r>
                      <a:r>
                        <a:rPr lang="ru-RU" sz="1300" dirty="0">
                          <a:sym typeface="Roboto"/>
                        </a:rPr>
                        <a:t>и </a:t>
                      </a:r>
                      <a:r>
                        <a:rPr lang="en-US" sz="1300" dirty="0">
                          <a:sym typeface="Roboto"/>
                        </a:rPr>
                        <a:t>ClickHouse</a:t>
                      </a:r>
                      <a:endParaRPr lang="ru-RU" sz="13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05376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Научитесь читать/записывать данные в такие БД как </a:t>
                      </a:r>
                      <a:r>
                        <a:rPr lang="en-US" sz="1300" dirty="0">
                          <a:sym typeface="Roboto"/>
                        </a:rPr>
                        <a:t>MongoDB </a:t>
                      </a:r>
                      <a:r>
                        <a:rPr lang="ru-RU" sz="1300" dirty="0">
                          <a:sym typeface="Roboto"/>
                        </a:rPr>
                        <a:t>и </a:t>
                      </a:r>
                      <a:r>
                        <a:rPr lang="en-US" sz="1300" dirty="0">
                          <a:sym typeface="Roboto"/>
                        </a:rPr>
                        <a:t>ClickHouse</a:t>
                      </a:r>
                      <a:endParaRPr lang="ru-RU" sz="13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9564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Смысл</a:t>
            </a:r>
            <a:endParaRPr dirty="0"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3231069821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с облачными хранилищами данных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Разворачивать собственные решения на базе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с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NoSQL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решениями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741087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900" dirty="0"/>
              <a:t>S3 – </a:t>
            </a:r>
            <a:br>
              <a:rPr lang="en-US" sz="4900" dirty="0"/>
            </a:br>
            <a:r>
              <a:rPr lang="en-US" sz="4900" dirty="0"/>
              <a:t>Simple Storage Service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Объектное хранилище</a:t>
            </a:r>
            <a:endParaRPr lang="en-US" dirty="0"/>
          </a:p>
        </p:txBody>
      </p:sp>
      <p:sp>
        <p:nvSpPr>
          <p:cNvPr id="8" name="Google Shape;189;p18">
            <a:extLst>
              <a:ext uri="{FF2B5EF4-FFF2-40B4-BE49-F238E27FC236}">
                <a16:creationId xmlns:a16="http://schemas.microsoft.com/office/drawing/2014/main" id="{970DABE8-2208-454C-A778-3349D36980E8}"/>
              </a:ext>
            </a:extLst>
          </p:cNvPr>
          <p:cNvSpPr/>
          <p:nvPr/>
        </p:nvSpPr>
        <p:spPr>
          <a:xfrm>
            <a:off x="850116" y="1160701"/>
            <a:ext cx="2554565" cy="217264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0;p18">
            <a:extLst>
              <a:ext uri="{FF2B5EF4-FFF2-40B4-BE49-F238E27FC236}">
                <a16:creationId xmlns:a16="http://schemas.microsoft.com/office/drawing/2014/main" id="{DAA78618-8A62-3449-81E5-428815D4A509}"/>
              </a:ext>
            </a:extLst>
          </p:cNvPr>
          <p:cNvSpPr txBox="1"/>
          <p:nvPr/>
        </p:nvSpPr>
        <p:spPr>
          <a:xfrm>
            <a:off x="4572000" y="1263580"/>
            <a:ext cx="4316095" cy="182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Object storage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можем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получить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Масштабируемость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Безопасность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Отказоустойчивость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жизненным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циклом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5080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Разные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уровни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разной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цене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91;p18">
            <a:extLst>
              <a:ext uri="{FF2B5EF4-FFF2-40B4-BE49-F238E27FC236}">
                <a16:creationId xmlns:a16="http://schemas.microsoft.com/office/drawing/2014/main" id="{DFF225DF-20AB-4641-B6AF-F2CC39F3E33A}"/>
              </a:ext>
            </a:extLst>
          </p:cNvPr>
          <p:cNvSpPr/>
          <p:nvPr/>
        </p:nvSpPr>
        <p:spPr>
          <a:xfrm>
            <a:off x="2645954" y="3621901"/>
            <a:ext cx="1517453" cy="649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92;p18">
            <a:extLst>
              <a:ext uri="{FF2B5EF4-FFF2-40B4-BE49-F238E27FC236}">
                <a16:creationId xmlns:a16="http://schemas.microsoft.com/office/drawing/2014/main" id="{1192036C-A5DB-4146-8D0C-099F731D7D28}"/>
              </a:ext>
            </a:extLst>
          </p:cNvPr>
          <p:cNvSpPr/>
          <p:nvPr/>
        </p:nvSpPr>
        <p:spPr>
          <a:xfrm>
            <a:off x="484364" y="3543505"/>
            <a:ext cx="2161590" cy="8060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Minio API Authorization">
            <a:extLst>
              <a:ext uri="{FF2B5EF4-FFF2-40B4-BE49-F238E27FC236}">
                <a16:creationId xmlns:a16="http://schemas.microsoft.com/office/drawing/2014/main" id="{701BEF43-1D07-1F44-B647-C9AED0858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971" y="4412330"/>
            <a:ext cx="649257" cy="64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05675E-9827-1D4B-9456-9AF57063B0F2}"/>
              </a:ext>
            </a:extLst>
          </p:cNvPr>
          <p:cNvSpPr txBox="1"/>
          <p:nvPr/>
        </p:nvSpPr>
        <p:spPr>
          <a:xfrm>
            <a:off x="6315240" y="3791650"/>
            <a:ext cx="1944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Облачные решения</a:t>
            </a:r>
            <a:endParaRPr lang="en-US" b="1" dirty="0"/>
          </a:p>
        </p:txBody>
      </p:sp>
      <p:pic>
        <p:nvPicPr>
          <p:cNvPr id="2052" name="Picture 4" descr="What the heck is HPE up to with its cloud? | ZDNET">
            <a:extLst>
              <a:ext uri="{FF2B5EF4-FFF2-40B4-BE49-F238E27FC236}">
                <a16:creationId xmlns:a16="http://schemas.microsoft.com/office/drawing/2014/main" id="{7B97B3B7-35A6-DE4F-BD64-F91D87E29C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4" t="19779" r="5987" b="20779"/>
          <a:stretch/>
        </p:blipFill>
        <p:spPr bwMode="auto">
          <a:xfrm>
            <a:off x="693129" y="4440270"/>
            <a:ext cx="1417480" cy="55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urce Scality S3 Server ...">
            <a:extLst>
              <a:ext uri="{FF2B5EF4-FFF2-40B4-BE49-F238E27FC236}">
                <a16:creationId xmlns:a16="http://schemas.microsoft.com/office/drawing/2014/main" id="{022B81E4-1D56-BF48-B616-F8A356864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852" y="4465085"/>
            <a:ext cx="1119207" cy="58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BE401C-7D09-3B49-B790-AA63335C1F97}"/>
              </a:ext>
            </a:extLst>
          </p:cNvPr>
          <p:cNvSpPr txBox="1"/>
          <p:nvPr/>
        </p:nvSpPr>
        <p:spPr>
          <a:xfrm>
            <a:off x="6315240" y="4411340"/>
            <a:ext cx="2188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Self-managed</a:t>
            </a:r>
            <a:r>
              <a:rPr lang="ru-RU" b="1" dirty="0"/>
              <a:t> решения</a:t>
            </a: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4F53AE-A9F8-D540-A3E9-5D16282944DE}"/>
              </a:ext>
            </a:extLst>
          </p:cNvPr>
          <p:cNvGrpSpPr/>
          <p:nvPr/>
        </p:nvGrpSpPr>
        <p:grpSpPr>
          <a:xfrm>
            <a:off x="4286655" y="3681447"/>
            <a:ext cx="1596912" cy="530161"/>
            <a:chOff x="4599087" y="3463048"/>
            <a:chExt cx="1596912" cy="530161"/>
          </a:xfrm>
        </p:grpSpPr>
        <p:pic>
          <p:nvPicPr>
            <p:cNvPr id="2056" name="Picture 8" descr="Yandex Cloud - APK Download for Android ...">
              <a:extLst>
                <a:ext uri="{FF2B5EF4-FFF2-40B4-BE49-F238E27FC236}">
                  <a16:creationId xmlns:a16="http://schemas.microsoft.com/office/drawing/2014/main" id="{60E529B6-22D9-E742-A9AA-FC58A42438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27" t="34570" r="15405" b="30691"/>
            <a:stretch/>
          </p:blipFill>
          <p:spPr bwMode="auto">
            <a:xfrm>
              <a:off x="4695463" y="3463048"/>
              <a:ext cx="1238410" cy="307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Yandex Object Storage">
              <a:extLst>
                <a:ext uri="{FF2B5EF4-FFF2-40B4-BE49-F238E27FC236}">
                  <a16:creationId xmlns:a16="http://schemas.microsoft.com/office/drawing/2014/main" id="{8F7196B1-AF93-D94F-9D24-317A029184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3204" y="3685432"/>
              <a:ext cx="307777" cy="307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0CB76A-320C-6A4F-AA8F-06E7D7D69737}"/>
                </a:ext>
              </a:extLst>
            </p:cNvPr>
            <p:cNvSpPr txBox="1"/>
            <p:nvPr/>
          </p:nvSpPr>
          <p:spPr>
            <a:xfrm>
              <a:off x="4599087" y="3656976"/>
              <a:ext cx="15969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      storage</a:t>
              </a:r>
            </a:p>
          </p:txBody>
        </p:sp>
      </p:grpSp>
      <p:pic>
        <p:nvPicPr>
          <p:cNvPr id="2064" name="Picture 16" descr="Ceph - retinadata">
            <a:extLst>
              <a:ext uri="{FF2B5EF4-FFF2-40B4-BE49-F238E27FC236}">
                <a16:creationId xmlns:a16="http://schemas.microsoft.com/office/drawing/2014/main" id="{96D03353-A094-7D42-9E88-CC3E7E9A8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70"/>
          <a:stretch/>
        </p:blipFill>
        <p:spPr bwMode="auto">
          <a:xfrm>
            <a:off x="2583047" y="4411340"/>
            <a:ext cx="587947" cy="63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F47CB3-DE08-294F-AA26-4E60028B4C59}"/>
              </a:ext>
            </a:extLst>
          </p:cNvPr>
          <p:cNvCxnSpPr>
            <a:cxnSpLocks/>
          </p:cNvCxnSpPr>
          <p:nvPr/>
        </p:nvCxnSpPr>
        <p:spPr>
          <a:xfrm>
            <a:off x="356681" y="4411340"/>
            <a:ext cx="559664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391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Self-managed </a:t>
            </a:r>
            <a:r>
              <a:rPr lang="ru-RU" dirty="0"/>
              <a:t>решение</a:t>
            </a:r>
            <a:r>
              <a:rPr lang="en-US" dirty="0"/>
              <a:t> - </a:t>
            </a:r>
            <a:r>
              <a:rPr lang="en-US" dirty="0" err="1"/>
              <a:t>minio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35188B-A803-404B-BD77-F5F4E2D53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902" y="907914"/>
            <a:ext cx="4816097" cy="4235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404033-5291-9241-9BAF-A0191ACE98B1}"/>
              </a:ext>
            </a:extLst>
          </p:cNvPr>
          <p:cNvSpPr txBox="1"/>
          <p:nvPr/>
        </p:nvSpPr>
        <p:spPr>
          <a:xfrm>
            <a:off x="500550" y="1095884"/>
            <a:ext cx="37045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Локально развернуть из образа </a:t>
            </a:r>
            <a:r>
              <a:rPr lang="en-US" u="sng" dirty="0"/>
              <a:t>Docker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-docker-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compose.yml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up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endParaRPr lang="en-US" dirty="0"/>
          </a:p>
          <a:p>
            <a:r>
              <a:rPr lang="ru-RU" u="sng" dirty="0"/>
              <a:t>Развернуть в </a:t>
            </a:r>
            <a:r>
              <a:rPr lang="en-US" u="sng" dirty="0"/>
              <a:t>K8s </a:t>
            </a:r>
            <a:r>
              <a:rPr lang="ru-RU" u="sng" dirty="0"/>
              <a:t>кластере: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helm repo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https://charts.min.io/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helm install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--namespace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--set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rootUser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rootuser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rootPassword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=rootpass123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--generate-name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minio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2CC43-3C1A-4546-B0E7-38FB10C7EB9C}"/>
              </a:ext>
            </a:extLst>
          </p:cNvPr>
          <p:cNvSpPr txBox="1"/>
          <p:nvPr/>
        </p:nvSpPr>
        <p:spPr>
          <a:xfrm>
            <a:off x="7430069" y="878674"/>
            <a:ext cx="17139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minio</a:t>
            </a:r>
            <a:r>
              <a:rPr lang="en-US" sz="1000" dirty="0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-docker-</a:t>
            </a:r>
            <a:r>
              <a:rPr lang="en-US" sz="1000" dirty="0" err="1">
                <a:solidFill>
                  <a:schemeClr val="bg1"/>
                </a:solidFill>
                <a:latin typeface="+mn-lt"/>
                <a:cs typeface="Courier New" panose="02070309020205020404" pitchFamily="49" charset="0"/>
              </a:rPr>
              <a:t>compose.yml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0538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9" y="330724"/>
            <a:ext cx="8520600" cy="1095900"/>
          </a:xfrm>
        </p:spPr>
        <p:txBody>
          <a:bodyPr/>
          <a:lstStyle/>
          <a:p>
            <a:r>
              <a:rPr lang="en-US" dirty="0"/>
              <a:t>Cloud </a:t>
            </a:r>
            <a:r>
              <a:rPr lang="ru-RU" dirty="0"/>
              <a:t>решение</a:t>
            </a:r>
            <a:br>
              <a:rPr lang="en-US" dirty="0"/>
            </a:br>
            <a:r>
              <a:rPr lang="en-US" dirty="0"/>
              <a:t>Yandex Object Storage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99A7BC-3BFC-5943-B20C-A1EFD1687D26}"/>
              </a:ext>
            </a:extLst>
          </p:cNvPr>
          <p:cNvGrpSpPr/>
          <p:nvPr/>
        </p:nvGrpSpPr>
        <p:grpSpPr>
          <a:xfrm>
            <a:off x="4831404" y="-1991"/>
            <a:ext cx="4312596" cy="5145491"/>
            <a:chOff x="4831404" y="-1991"/>
            <a:chExt cx="4312596" cy="51454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96294DA-D804-1546-9355-70554F96FC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9638"/>
            <a:stretch/>
          </p:blipFill>
          <p:spPr>
            <a:xfrm>
              <a:off x="4831404" y="-1991"/>
              <a:ext cx="4312596" cy="5145491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A4B0DDE-9536-8C40-8BE3-00BEFF77D21D}"/>
                </a:ext>
              </a:extLst>
            </p:cNvPr>
            <p:cNvSpPr/>
            <p:nvPr/>
          </p:nvSpPr>
          <p:spPr>
            <a:xfrm>
              <a:off x="7055796" y="1121923"/>
              <a:ext cx="1472119" cy="304701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409EF4E-E2EA-4049-99FA-04B22FED2A5C}"/>
              </a:ext>
            </a:extLst>
          </p:cNvPr>
          <p:cNvSpPr txBox="1"/>
          <p:nvPr/>
        </p:nvSpPr>
        <p:spPr>
          <a:xfrm>
            <a:off x="296770" y="1754311"/>
            <a:ext cx="44117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Манипулировать объектами через </a:t>
            </a:r>
            <a:r>
              <a:rPr lang="en-US" dirty="0"/>
              <a:t>web </a:t>
            </a:r>
            <a:r>
              <a:rPr lang="ru-RU" dirty="0"/>
              <a:t>интерфейс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7E005-DC2A-AD44-9383-93EB6EEB8030}"/>
              </a:ext>
            </a:extLst>
          </p:cNvPr>
          <p:cNvSpPr txBox="1"/>
          <p:nvPr/>
        </p:nvSpPr>
        <p:spPr>
          <a:xfrm>
            <a:off x="296769" y="3664248"/>
            <a:ext cx="40927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Манипулировать объектами через </a:t>
            </a:r>
            <a:r>
              <a:rPr lang="en-US" dirty="0"/>
              <a:t>CLI </a:t>
            </a:r>
            <a:r>
              <a:rPr lang="ru-RU" dirty="0"/>
              <a:t>утилиту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storage buckets list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0D0140-098C-E14B-A9CA-CF11EEE89C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24"/>
          <a:stretch/>
        </p:blipFill>
        <p:spPr>
          <a:xfrm>
            <a:off x="32426" y="4402912"/>
            <a:ext cx="4773038" cy="60306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913943B-6B6C-DA4C-9EFD-599F4F1DD755}"/>
              </a:ext>
            </a:extLst>
          </p:cNvPr>
          <p:cNvGrpSpPr/>
          <p:nvPr/>
        </p:nvGrpSpPr>
        <p:grpSpPr>
          <a:xfrm>
            <a:off x="32426" y="2081719"/>
            <a:ext cx="4857344" cy="1410483"/>
            <a:chOff x="32426" y="2081719"/>
            <a:chExt cx="4857344" cy="14104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C54C560-D716-D74C-82FE-0AFCA4476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26" y="2139908"/>
              <a:ext cx="4773038" cy="1352294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68A5782-5C60-934C-974F-8C144738AB4C}"/>
                </a:ext>
              </a:extLst>
            </p:cNvPr>
            <p:cNvSpPr/>
            <p:nvPr/>
          </p:nvSpPr>
          <p:spPr>
            <a:xfrm>
              <a:off x="4202349" y="2081719"/>
              <a:ext cx="687421" cy="27886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8246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Cloud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9EF4E-E2EA-4049-99FA-04B22FED2A5C}"/>
              </a:ext>
            </a:extLst>
          </p:cNvPr>
          <p:cNvSpPr txBox="1"/>
          <p:nvPr/>
        </p:nvSpPr>
        <p:spPr>
          <a:xfrm>
            <a:off x="296769" y="1248545"/>
            <a:ext cx="86656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Манипулировать объектами через код</a:t>
            </a:r>
          </a:p>
          <a:p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Перейдите в директорию </a:t>
            </a:r>
          </a:p>
          <a:p>
            <a:r>
              <a:rPr lang="ru-RU" dirty="0"/>
              <a:t>~/.</a:t>
            </a:r>
            <a:r>
              <a:rPr lang="en-US" dirty="0" err="1"/>
              <a:t>aws</a:t>
            </a:r>
            <a:r>
              <a:rPr lang="en-US" dirty="0"/>
              <a:t>/ (</a:t>
            </a:r>
            <a:r>
              <a:rPr lang="ru-RU" dirty="0"/>
              <a:t>для </a:t>
            </a:r>
            <a:r>
              <a:rPr lang="en-US" dirty="0"/>
              <a:t>macOS </a:t>
            </a:r>
            <a:r>
              <a:rPr lang="ru-RU" dirty="0"/>
              <a:t>и </a:t>
            </a:r>
            <a:r>
              <a:rPr lang="en-US" dirty="0"/>
              <a:t>Linux) </a:t>
            </a:r>
            <a:r>
              <a:rPr lang="ru-RU" dirty="0"/>
              <a:t>или </a:t>
            </a:r>
            <a:r>
              <a:rPr lang="en-US" dirty="0"/>
              <a:t>C:\Users\&lt;</a:t>
            </a:r>
            <a:r>
              <a:rPr lang="ru-RU" dirty="0" err="1"/>
              <a:t>имя_пользователя</a:t>
            </a:r>
            <a:r>
              <a:rPr lang="ru-RU" dirty="0"/>
              <a:t>&gt;\.</a:t>
            </a:r>
            <a:r>
              <a:rPr lang="en-US" dirty="0" err="1"/>
              <a:t>aws</a:t>
            </a:r>
            <a:r>
              <a:rPr lang="en-US" dirty="0"/>
              <a:t>\ (</a:t>
            </a:r>
            <a:r>
              <a:rPr lang="ru-RU" dirty="0"/>
              <a:t>для </a:t>
            </a:r>
            <a:r>
              <a:rPr lang="en-US" dirty="0"/>
              <a:t>Windows).</a:t>
            </a:r>
          </a:p>
          <a:p>
            <a:r>
              <a:rPr lang="ru-RU" dirty="0"/>
              <a:t>Создайте файл </a:t>
            </a:r>
            <a:r>
              <a:rPr lang="en-US" dirty="0"/>
              <a:t>credentials </a:t>
            </a:r>
            <a:r>
              <a:rPr lang="ru-RU" dirty="0"/>
              <a:t>с </a:t>
            </a:r>
            <a:r>
              <a:rPr lang="ru-RU" dirty="0" err="1"/>
              <a:t>аутентификационными</a:t>
            </a:r>
            <a:r>
              <a:rPr lang="ru-RU" dirty="0"/>
              <a:t> данными для </a:t>
            </a:r>
            <a:r>
              <a:rPr lang="en-US" dirty="0"/>
              <a:t>Object Storage </a:t>
            </a:r>
            <a:r>
              <a:rPr lang="ru-RU" dirty="0"/>
              <a:t>и </a:t>
            </a:r>
          </a:p>
          <a:p>
            <a:r>
              <a:rPr lang="ru-RU" dirty="0"/>
              <a:t>скопируйте в него следующую информацию:</a:t>
            </a:r>
          </a:p>
          <a:p>
            <a:endParaRPr lang="ru-RU" dirty="0"/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default]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aws_access_key_id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идентификатор_статического_ключа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aws_secret_access_key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секретный_ключ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dirty="0"/>
          </a:p>
          <a:p>
            <a:r>
              <a:rPr lang="ru-RU" dirty="0"/>
              <a:t>2. Создайте файл </a:t>
            </a:r>
            <a:r>
              <a:rPr lang="en-US" dirty="0"/>
              <a:t>config </a:t>
            </a:r>
            <a:r>
              <a:rPr lang="ru-RU" dirty="0"/>
              <a:t>с параметрами региона по умолчанию и скопируйте в него </a:t>
            </a:r>
            <a:br>
              <a:rPr lang="ru-RU" dirty="0"/>
            </a:br>
            <a:r>
              <a:rPr lang="ru-RU" dirty="0"/>
              <a:t>следующую информацию:</a:t>
            </a:r>
          </a:p>
          <a:p>
            <a:endParaRPr lang="ru-RU" dirty="0"/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default]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region=ru-central1</a:t>
            </a:r>
          </a:p>
        </p:txBody>
      </p:sp>
    </p:spTree>
    <p:extLst>
      <p:ext uri="{BB962C8B-B14F-4D97-AF65-F5344CB8AC3E}">
        <p14:creationId xmlns:p14="http://schemas.microsoft.com/office/powerpoint/2010/main" val="239755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Cloud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9EF4E-E2EA-4049-99FA-04B22FED2A5C}"/>
              </a:ext>
            </a:extLst>
          </p:cNvPr>
          <p:cNvSpPr txBox="1"/>
          <p:nvPr/>
        </p:nvSpPr>
        <p:spPr>
          <a:xfrm>
            <a:off x="580417" y="1094657"/>
            <a:ext cx="8665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Манипулировать объектами через код</a:t>
            </a:r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1168C-9178-1945-AF43-1A5D2D74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439" y="1617877"/>
            <a:ext cx="6705600" cy="284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D2D05E-8D66-9745-BD1D-BD801AF37AFD}"/>
              </a:ext>
            </a:extLst>
          </p:cNvPr>
          <p:cNvSpPr txBox="1"/>
          <p:nvPr/>
        </p:nvSpPr>
        <p:spPr>
          <a:xfrm>
            <a:off x="1115439" y="463837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https://yandex.cloud/ru/docs/storage/tools/boto</a:t>
            </a:r>
            <a:r>
              <a:rPr lang="ru-RU" sz="1000" dirty="0"/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07734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900" dirty="0"/>
              <a:t>NoSQL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7222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900" dirty="0"/>
              <a:t>MongoDB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8610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52DAF3-D5A8-DC41-9BFF-4A6BA9CD1695}"/>
              </a:ext>
            </a:extLst>
          </p:cNvPr>
          <p:cNvSpPr txBox="1"/>
          <p:nvPr/>
        </p:nvSpPr>
        <p:spPr>
          <a:xfrm>
            <a:off x="500550" y="1213129"/>
            <a:ext cx="8520600" cy="3930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Адаптирована для </a:t>
            </a:r>
            <a:r>
              <a:rPr lang="en-US" dirty="0"/>
              <a:t>OLTP </a:t>
            </a:r>
            <a:r>
              <a:rPr lang="ru-RU" dirty="0"/>
              <a:t>задач – запись/хранение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Работа с </a:t>
            </a:r>
            <a:r>
              <a:rPr lang="en-US" dirty="0"/>
              <a:t>JSON </a:t>
            </a:r>
            <a:r>
              <a:rPr lang="ru-RU" dirty="0"/>
              <a:t>как с типом документа.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JSON</a:t>
            </a:r>
            <a:r>
              <a:rPr lang="ru-RU" dirty="0"/>
              <a:t>ы</a:t>
            </a:r>
            <a:r>
              <a:rPr lang="en-US" dirty="0"/>
              <a:t> </a:t>
            </a:r>
            <a:r>
              <a:rPr lang="ru-RU" dirty="0"/>
              <a:t>можно собирать в коллекции (в некотором роде аналог таблиц, но не совсем)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JSON</a:t>
            </a:r>
            <a:r>
              <a:rPr lang="ru-RU" dirty="0"/>
              <a:t>ы произвольной структуры и вложенности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Отсутствие схемы – нет требований по определенной структуре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Разные </a:t>
            </a:r>
            <a:r>
              <a:rPr lang="en-US" dirty="0"/>
              <a:t>JSON</a:t>
            </a:r>
            <a:r>
              <a:rPr lang="ru-RU" dirty="0"/>
              <a:t>ы можно «свалить» в одну коллекцию. НО делать так не рекомендуется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Нет внешних ключей, хранимых процедур и триггеров.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JOIN </a:t>
            </a:r>
            <a:r>
              <a:rPr lang="ru-RU" dirty="0"/>
              <a:t>поддерживается, но не приветствуется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Можно создавать индексы для полей </a:t>
            </a:r>
            <a:r>
              <a:rPr lang="en-US" dirty="0"/>
              <a:t>JSON-</a:t>
            </a:r>
            <a:r>
              <a:rPr lang="ru-RU" dirty="0"/>
              <a:t>документа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Просто разворачивается репликация и </a:t>
            </a:r>
            <a:r>
              <a:rPr lang="ru-RU" dirty="0" err="1"/>
              <a:t>шардирование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MongoDB </a:t>
            </a:r>
            <a:r>
              <a:rPr lang="ru-RU" dirty="0"/>
              <a:t>требует много памяти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333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- </a:t>
            </a:r>
            <a:r>
              <a:rPr lang="ru-RU" dirty="0"/>
              <a:t>локально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40BC25-6479-F740-A542-809D2E2F9F14}"/>
              </a:ext>
            </a:extLst>
          </p:cNvPr>
          <p:cNvGrpSpPr/>
          <p:nvPr/>
        </p:nvGrpSpPr>
        <p:grpSpPr>
          <a:xfrm>
            <a:off x="500550" y="1826734"/>
            <a:ext cx="6350000" cy="1409700"/>
            <a:chOff x="500550" y="1257300"/>
            <a:chExt cx="6350000" cy="1409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55D552-2F50-0442-9E04-228A118E5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550" y="1257300"/>
              <a:ext cx="6350000" cy="14097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45F039-A5B0-B449-9BDC-480FF8CE5AAE}"/>
                </a:ext>
              </a:extLst>
            </p:cNvPr>
            <p:cNvSpPr txBox="1"/>
            <p:nvPr/>
          </p:nvSpPr>
          <p:spPr>
            <a:xfrm>
              <a:off x="4912199" y="1257300"/>
              <a:ext cx="19383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mongodb</a:t>
              </a:r>
              <a:r>
                <a:rPr lang="en-US" sz="1000" dirty="0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-docker-</a:t>
              </a:r>
              <a:r>
                <a:rPr lang="en-US" sz="1000" dirty="0" err="1">
                  <a:solidFill>
                    <a:schemeClr val="bg1"/>
                  </a:solidFill>
                  <a:latin typeface="+mn-lt"/>
                  <a:cs typeface="Courier New" panose="02070309020205020404" pitchFamily="49" charset="0"/>
                </a:rPr>
                <a:t>compose.yml</a:t>
              </a:r>
              <a:endParaRPr lang="en-US" sz="10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D3B98A8-9157-4744-A68C-E75457E2F74E}"/>
              </a:ext>
            </a:extLst>
          </p:cNvPr>
          <p:cNvSpPr txBox="1"/>
          <p:nvPr/>
        </p:nvSpPr>
        <p:spPr>
          <a:xfrm>
            <a:off x="408562" y="986820"/>
            <a:ext cx="67899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Развернуть локально в </a:t>
            </a:r>
            <a:r>
              <a:rPr lang="en-US" u="sng" dirty="0"/>
              <a:t>Docker </a:t>
            </a:r>
            <a:r>
              <a:rPr lang="ru-RU" u="sng" dirty="0"/>
              <a:t>образе</a:t>
            </a:r>
          </a:p>
          <a:p>
            <a:endParaRPr lang="ru-RU" u="sng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 -f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-docker-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compose.yml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up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861C21-D43F-A54A-9568-3E602778178E}"/>
              </a:ext>
            </a:extLst>
          </p:cNvPr>
          <p:cNvSpPr txBox="1"/>
          <p:nvPr/>
        </p:nvSpPr>
        <p:spPr>
          <a:xfrm>
            <a:off x="500550" y="3605765"/>
            <a:ext cx="67899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Развернуть в </a:t>
            </a:r>
            <a:r>
              <a:rPr lang="en-US" u="sng" dirty="0"/>
              <a:t>K8s </a:t>
            </a:r>
            <a:r>
              <a:rPr lang="ru-RU" u="sng" dirty="0"/>
              <a:t>кластере</a:t>
            </a:r>
          </a:p>
          <a:p>
            <a:endParaRPr lang="ru-RU" u="sng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helm repo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https://mongodb.github.io/helm-charts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helm install atlas-operator --namespace=atlas-operator --create-namespace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-atlas-operator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123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FCBB3-9048-1543-B9C8-640CAF7FC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29" y="1217444"/>
            <a:ext cx="47371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28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900" dirty="0"/>
              <a:t>ClickHouse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829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MPP </a:t>
            </a:r>
            <a:r>
              <a:rPr lang="en-US" dirty="0" err="1"/>
              <a:t>arhitecture</a:t>
            </a:r>
            <a:endParaRPr lang="en-US" dirty="0"/>
          </a:p>
        </p:txBody>
      </p:sp>
      <p:pic>
        <p:nvPicPr>
          <p:cNvPr id="1026" name="Picture 2" descr="Database Architectures Compared - DZone">
            <a:extLst>
              <a:ext uri="{FF2B5EF4-FFF2-40B4-BE49-F238E27FC236}">
                <a16:creationId xmlns:a16="http://schemas.microsoft.com/office/drawing/2014/main" id="{0C2C7088-12EA-AF4C-92AF-E827538D4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755" y="1206229"/>
            <a:ext cx="4003097" cy="323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743058-11E7-9D40-9AB5-6DB7F9A0AB2B}"/>
              </a:ext>
            </a:extLst>
          </p:cNvPr>
          <p:cNvSpPr txBox="1"/>
          <p:nvPr/>
        </p:nvSpPr>
        <p:spPr>
          <a:xfrm>
            <a:off x="500550" y="1536536"/>
            <a:ext cx="400309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MPP – Massive Parallel Processing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Выделение необходимой мощности нескольким параллельным узлам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DB MPP – </a:t>
            </a:r>
            <a:r>
              <a:rPr lang="ru-RU" dirty="0"/>
              <a:t>БД оптимизированная для параллельной обработки множества операций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Адаптирована для </a:t>
            </a:r>
            <a:r>
              <a:rPr lang="en-US" dirty="0"/>
              <a:t>OLAP </a:t>
            </a:r>
            <a:r>
              <a:rPr lang="ru-RU" dirty="0"/>
              <a:t>задач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Хорошо масштабируется горизонтально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576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ClickHouse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43058-11E7-9D40-9AB5-6DB7F9A0AB2B}"/>
              </a:ext>
            </a:extLst>
          </p:cNvPr>
          <p:cNvSpPr txBox="1"/>
          <p:nvPr/>
        </p:nvSpPr>
        <p:spPr>
          <a:xfrm>
            <a:off x="500550" y="1536536"/>
            <a:ext cx="51674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Column Oriented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MPP, shared nothing, distributed</a:t>
            </a:r>
            <a:endParaRPr lang="ru-RU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Аналитическая СУБД, адаптированная для аналитических запросов на основе постоянно пополняемых данных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Можно развернуть локально</a:t>
            </a:r>
            <a:r>
              <a:rPr lang="en-US" dirty="0"/>
              <a:t>, Docker, K8s</a:t>
            </a:r>
            <a:endParaRPr lang="ru-RU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Open source (Apache 2.0)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FDE7AC-2D8D-F24B-B26D-B8DB23CE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790" y="1342781"/>
            <a:ext cx="411480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29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ClickHouse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43058-11E7-9D40-9AB5-6DB7F9A0AB2B}"/>
              </a:ext>
            </a:extLst>
          </p:cNvPr>
          <p:cNvSpPr txBox="1"/>
          <p:nvPr/>
        </p:nvSpPr>
        <p:spPr>
          <a:xfrm>
            <a:off x="500550" y="1536536"/>
            <a:ext cx="516743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Переваривает огромные объемы без дополнительной настройки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Эффективная компрессия данных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Репликация и </a:t>
            </a:r>
            <a:r>
              <a:rPr lang="ru-RU" dirty="0" err="1"/>
              <a:t>шардирование</a:t>
            </a:r>
            <a:endParaRPr lang="ru-RU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Множество встроенных типов данных, включая </a:t>
            </a:r>
            <a:r>
              <a:rPr lang="ru-RU" dirty="0" err="1"/>
              <a:t>геоданные</a:t>
            </a:r>
            <a:endParaRPr lang="ru-RU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/>
              <a:t>Интеграция с </a:t>
            </a:r>
            <a:r>
              <a:rPr lang="en-US" dirty="0"/>
              <a:t>SQL </a:t>
            </a:r>
            <a:r>
              <a:rPr lang="ru-RU" dirty="0"/>
              <a:t>решениями </a:t>
            </a:r>
            <a:br>
              <a:rPr lang="en-US" dirty="0"/>
            </a:br>
            <a:r>
              <a:rPr lang="ru-RU" dirty="0"/>
              <a:t>(</a:t>
            </a:r>
            <a:r>
              <a:rPr lang="en-US" dirty="0"/>
              <a:t>PostgreSQL, MySQL, RabbitMQ, Kafka)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1" dirty="0"/>
              <a:t>Собственный </a:t>
            </a:r>
            <a:r>
              <a:rPr lang="en-US" b="1" dirty="0"/>
              <a:t>SQL </a:t>
            </a:r>
            <a:r>
              <a:rPr lang="ru-RU" b="1" dirty="0"/>
              <a:t>диалект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1" dirty="0"/>
              <a:t>Нужно быть осторожным с </a:t>
            </a:r>
            <a:r>
              <a:rPr lang="en-US" b="1" dirty="0"/>
              <a:t>JOIN</a:t>
            </a:r>
            <a:endParaRPr lang="ru-RU" b="1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b="1" dirty="0"/>
              <a:t>Не любит большого количества маленьких вставок</a:t>
            </a:r>
            <a:endParaRPr lang="en-US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FDE7AC-2D8D-F24B-B26D-B8DB23CE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790" y="1342781"/>
            <a:ext cx="411480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575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ClickHouse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50A40-6CDB-8346-BB2E-126FBED8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750" y="993032"/>
            <a:ext cx="4597400" cy="3390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F6D5C4-330A-374D-9773-0B53209209B6}"/>
              </a:ext>
            </a:extLst>
          </p:cNvPr>
          <p:cNvSpPr txBox="1"/>
          <p:nvPr/>
        </p:nvSpPr>
        <p:spPr>
          <a:xfrm>
            <a:off x="500550" y="993032"/>
            <a:ext cx="35019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Развернуть локально в </a:t>
            </a:r>
            <a:r>
              <a:rPr lang="en-US" u="sng" dirty="0"/>
              <a:t>Docker </a:t>
            </a:r>
            <a:r>
              <a:rPr lang="ru-RU" u="sng" dirty="0"/>
              <a:t>образе</a:t>
            </a:r>
          </a:p>
          <a:p>
            <a:endParaRPr lang="ru-RU" u="sng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 -f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-docker-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compose.yml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up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u="sng" dirty="0"/>
              <a:t>Развернуть в </a:t>
            </a:r>
            <a:r>
              <a:rPr lang="en-US" u="sng" dirty="0"/>
              <a:t>K8s </a:t>
            </a:r>
            <a:r>
              <a:rPr lang="ru-RU" u="sng" dirty="0"/>
              <a:t>кластере: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helm repo add </a:t>
            </a:r>
            <a:r>
              <a:rPr lang="en-US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 https://</a:t>
            </a:r>
            <a:r>
              <a:rPr lang="en-US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docs.altinity.com</a:t>
            </a:r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-operator/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helm install </a:t>
            </a:r>
            <a:r>
              <a:rPr lang="en-US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 </a:t>
            </a:r>
            <a:r>
              <a:rPr lang="en-US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-operator/</a:t>
            </a:r>
            <a:r>
              <a:rPr lang="en-US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altinity</a:t>
            </a:r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b="0" i="0" u="none" strike="noStrike" dirty="0" err="1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clickhouse</a:t>
            </a:r>
            <a:r>
              <a:rPr lang="en-US" b="0" i="0" u="none" strike="noStrike" dirty="0">
                <a:solidFill>
                  <a:srgbClr val="24242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-operator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12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474A3B-9765-334E-924A-F3B821A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ClickHouse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9BA91C-5399-D742-8F6C-C362D237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668564"/>
            <a:ext cx="74549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5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7132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2D875-6739-E441-A4EF-8C6D19231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064519"/>
            <a:ext cx="8520600" cy="33388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S3 </a:t>
            </a:r>
            <a:r>
              <a:rPr lang="en-US" dirty="0" err="1"/>
              <a:t>Minio</a:t>
            </a:r>
            <a:r>
              <a:rPr lang="en-US" dirty="0"/>
              <a:t> </a:t>
            </a:r>
            <a:r>
              <a:rPr lang="ru-RU" dirty="0"/>
              <a:t>локально</a:t>
            </a:r>
          </a:p>
          <a:p>
            <a:pPr>
              <a:lnSpc>
                <a:spcPct val="150000"/>
              </a:lnSpc>
            </a:pPr>
            <a:r>
              <a:rPr lang="ru-RU" dirty="0"/>
              <a:t>Подключиться к </a:t>
            </a:r>
            <a:r>
              <a:rPr lang="en-US" dirty="0"/>
              <a:t>S3 </a:t>
            </a:r>
            <a:r>
              <a:rPr lang="ru-RU" dirty="0"/>
              <a:t>хранилищу (</a:t>
            </a:r>
            <a:r>
              <a:rPr lang="en-US" dirty="0" err="1"/>
              <a:t>minio</a:t>
            </a:r>
            <a:r>
              <a:rPr lang="en-US" dirty="0"/>
              <a:t>)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Подключиться к </a:t>
            </a:r>
            <a:r>
              <a:rPr lang="en-US" dirty="0"/>
              <a:t>S3 </a:t>
            </a:r>
            <a:r>
              <a:rPr lang="ru-RU" dirty="0"/>
              <a:t>хранилищу </a:t>
            </a:r>
            <a:r>
              <a:rPr lang="en-US" dirty="0"/>
              <a:t>Yandex Cloud</a:t>
            </a:r>
          </a:p>
          <a:p>
            <a:pPr>
              <a:lnSpc>
                <a:spcPct val="150000"/>
              </a:lnSpc>
            </a:pPr>
            <a:r>
              <a:rPr lang="ru-RU" dirty="0"/>
              <a:t>Развернуть</a:t>
            </a:r>
            <a:r>
              <a:rPr lang="en-US" dirty="0"/>
              <a:t> MongoDB </a:t>
            </a:r>
            <a:r>
              <a:rPr lang="ru-RU" dirty="0"/>
              <a:t>локально</a:t>
            </a:r>
          </a:p>
          <a:p>
            <a:pPr>
              <a:lnSpc>
                <a:spcPct val="150000"/>
              </a:lnSpc>
            </a:pPr>
            <a:r>
              <a:rPr lang="ru-RU" dirty="0"/>
              <a:t>Подключиться к серверу </a:t>
            </a:r>
            <a:r>
              <a:rPr lang="en-US" dirty="0"/>
              <a:t>MongoDB</a:t>
            </a:r>
            <a:r>
              <a:rPr lang="ru-RU" dirty="0"/>
              <a:t> и выполнить запросы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ClickHouse</a:t>
            </a:r>
            <a:r>
              <a:rPr lang="ru-RU" dirty="0"/>
              <a:t> локально</a:t>
            </a:r>
          </a:p>
          <a:p>
            <a:pPr>
              <a:lnSpc>
                <a:spcPct val="150000"/>
              </a:lnSpc>
            </a:pPr>
            <a:r>
              <a:rPr lang="ru-RU" dirty="0"/>
              <a:t>Подключиться к серверу </a:t>
            </a:r>
            <a:r>
              <a:rPr lang="en-US" dirty="0"/>
              <a:t>ClickHouse</a:t>
            </a:r>
            <a:r>
              <a:rPr lang="ru-RU" dirty="0"/>
              <a:t> и выполнить запросы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41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800" b="1" dirty="0"/>
              <a:t>Docker</a:t>
            </a:r>
            <a:r>
              <a:rPr lang="ru-RU" sz="1800" b="1" dirty="0"/>
              <a:t> 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Основы </a:t>
            </a:r>
            <a:r>
              <a:rPr lang="en-US" sz="1400" dirty="0"/>
              <a:t>docker: </a:t>
            </a:r>
            <a:r>
              <a:rPr lang="en-US" sz="1400" dirty="0">
                <a:hlinkClick r:id="rId3"/>
              </a:rPr>
              <a:t>https://habr.com/ru/companies/ruvds/articles/438796/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Основные команды </a:t>
            </a:r>
            <a:r>
              <a:rPr lang="en-US" sz="1400" dirty="0"/>
              <a:t>docker: </a:t>
            </a:r>
            <a:r>
              <a:rPr lang="en-US" sz="1400" dirty="0">
                <a:hlinkClick r:id="rId4"/>
              </a:rPr>
              <a:t>https://habr.com/ru/companies/flant/articles/336654/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</a:t>
            </a:r>
            <a:r>
              <a:rPr lang="ru-RU" sz="1400" dirty="0"/>
              <a:t>на </a:t>
            </a:r>
            <a:r>
              <a:rPr lang="en-US" sz="1400" dirty="0"/>
              <a:t>mac m1: </a:t>
            </a:r>
            <a:r>
              <a:rPr lang="en-US" sz="1400" dirty="0">
                <a:hlinkClick r:id="rId5"/>
              </a:rPr>
              <a:t>https://habr.com/ru/companies/evrone/articles/716630/</a:t>
            </a:r>
            <a:r>
              <a:rPr lang="en-US" sz="1400" dirty="0"/>
              <a:t> </a:t>
            </a:r>
            <a:endParaRPr lang="en-US" sz="1300" dirty="0"/>
          </a:p>
          <a:p>
            <a:pPr marL="603250" lvl="1" indent="0">
              <a:buSzPts val="1300"/>
              <a:buNone/>
            </a:pPr>
            <a:endParaRPr lang="en-US" sz="1300" dirty="0"/>
          </a:p>
          <a:p>
            <a:pPr indent="-311150">
              <a:lnSpc>
                <a:spcPct val="100000"/>
              </a:lnSpc>
              <a:buSzPts val="1300"/>
              <a:buFont typeface="Roboto"/>
              <a:buAutoNum type="arabicPeriod"/>
            </a:pPr>
            <a:r>
              <a:rPr lang="en-US" sz="1800" b="1" dirty="0"/>
              <a:t>Docker Compose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Руководство по </a:t>
            </a:r>
            <a:r>
              <a:rPr lang="en-US" sz="1400" dirty="0"/>
              <a:t>Docker Compose </a:t>
            </a:r>
            <a:r>
              <a:rPr lang="ru-RU" sz="1400" dirty="0"/>
              <a:t>для начинающих</a:t>
            </a:r>
            <a:r>
              <a:rPr lang="en-US" sz="1400" dirty="0"/>
              <a:t>: </a:t>
            </a:r>
            <a:r>
              <a:rPr lang="en-US" sz="1400" dirty="0">
                <a:hlinkClick r:id="rId6"/>
              </a:rPr>
              <a:t>https://habr.com/ru/companies/ruvds/articles/450312/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Compose: </a:t>
            </a:r>
            <a:r>
              <a:rPr lang="en-US" sz="1400" dirty="0">
                <a:hlinkClick r:id="rId7"/>
              </a:rPr>
              <a:t>https://habr.com/ru/companies/otus/articles/731854/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en-US" b="1" dirty="0" err="1"/>
              <a:t>Minio</a:t>
            </a:r>
            <a:endParaRPr lang="en-US" b="1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 err="1">
                <a:hlinkClick r:id="rId8"/>
              </a:rPr>
              <a:t>MinIo</a:t>
            </a:r>
            <a:r>
              <a:rPr lang="en-US" sz="1400" dirty="0">
                <a:hlinkClick r:id="rId8"/>
              </a:rPr>
              <a:t> </a:t>
            </a:r>
            <a:r>
              <a:rPr lang="ru-RU" sz="1400" dirty="0">
                <a:hlinkClick r:id="rId8"/>
              </a:rPr>
              <a:t>для самых маленьких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 err="1">
                <a:hlinkClick r:id="rId9"/>
              </a:rPr>
              <a:t>MinIO</a:t>
            </a:r>
            <a:endParaRPr lang="ru-RU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488950" lvl="1" indent="-342900">
              <a:buSzPts val="1300"/>
              <a:buFont typeface="+mj-lt"/>
              <a:buAutoNum type="arabicPeriod" startAt="4"/>
            </a:pPr>
            <a:r>
              <a:rPr lang="en-US" sz="1700" b="1" dirty="0"/>
              <a:t>MongoDB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>
                <a:hlinkClick r:id="rId10"/>
              </a:rPr>
              <a:t>82 вопроса по </a:t>
            </a:r>
            <a:r>
              <a:rPr lang="en-US" sz="1400" dirty="0">
                <a:hlinkClick r:id="rId10"/>
              </a:rPr>
              <a:t>MongoDB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>
                <a:hlinkClick r:id="rId11"/>
              </a:rPr>
              <a:t>Работа с </a:t>
            </a:r>
            <a:r>
              <a:rPr lang="en-US" sz="1400" dirty="0">
                <a:hlinkClick r:id="rId11"/>
              </a:rPr>
              <a:t>MongoDB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12"/>
              </a:rPr>
              <a:t>MongoDB vs PostgreSQL</a:t>
            </a:r>
            <a:endParaRPr lang="ru-RU" sz="1400" dirty="0"/>
          </a:p>
          <a:p>
            <a:pPr marL="488950" lvl="1" indent="-342900">
              <a:buSzPts val="1300"/>
              <a:buFont typeface="+mj-lt"/>
              <a:buAutoNum type="arabicPeriod" startAt="4"/>
            </a:pPr>
            <a:endParaRPr lang="en-US" sz="1400" dirty="0"/>
          </a:p>
          <a:p>
            <a:pPr marL="488950" lvl="1" indent="-342900">
              <a:buSzPts val="1300"/>
              <a:buFont typeface="+mj-lt"/>
              <a:buAutoNum type="arabicPeriod" startAt="5"/>
            </a:pPr>
            <a:r>
              <a:rPr lang="en-US" sz="1700" b="1" dirty="0"/>
              <a:t>ClickHouse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Руководство (первые шаги) </a:t>
            </a:r>
            <a:r>
              <a:rPr lang="en-US" sz="1400" dirty="0">
                <a:hlinkClick r:id="rId13"/>
              </a:rPr>
              <a:t>https://clickhouse.com/docs/en/intro</a:t>
            </a:r>
            <a:r>
              <a:rPr lang="ru-RU" sz="1400" dirty="0"/>
              <a:t> </a:t>
            </a:r>
            <a:r>
              <a:rPr lang="en-US" sz="1400" dirty="0"/>
              <a:t> </a:t>
            </a:r>
            <a:endParaRPr lang="ru-RU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Рефлексия</a:t>
            </a:r>
            <a:endParaRPr/>
          </a:p>
        </p:txBody>
      </p:sp>
      <p:pic>
        <p:nvPicPr>
          <p:cNvPr id="372" name="Google Shape;37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60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60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386" name="Google Shape;386;p6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387" name="Google Shape;387;p62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/>
          <a:srcRect t="6397" b="6397"/>
          <a:stretch/>
        </p:blipFill>
        <p:spPr>
          <a:xfrm>
            <a:off x="1069674" y="2950614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3AD9921B-818B-2E49-87DE-01818F089A2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4" name="Google Shape;208;p48">
            <a:extLst>
              <a:ext uri="{FF2B5EF4-FFF2-40B4-BE49-F238E27FC236}">
                <a16:creationId xmlns:a16="http://schemas.microsoft.com/office/drawing/2014/main" id="{A2C5D46D-0E08-6F4B-84D8-3C201E1F3D28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ru-RU" dirty="0" err="1"/>
              <a:t>Версионирование</a:t>
            </a:r>
            <a:r>
              <a:rPr lang="ru-RU" dirty="0"/>
              <a:t> данных. </a:t>
            </a:r>
            <a:r>
              <a:rPr lang="en-US" dirty="0"/>
              <a:t>DVC</a:t>
            </a:r>
            <a:endParaRPr lang="ru-RU" dirty="0"/>
          </a:p>
        </p:txBody>
      </p:sp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61D8227D-BF3B-A844-B067-82EA3249A836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4171</TotalTime>
  <Words>1182</Words>
  <Application>Microsoft Macintosh PowerPoint</Application>
  <PresentationFormat>On-screen Show (16:9)</PresentationFormat>
  <Paragraphs>269</Paragraphs>
  <Slides>33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Courier New</vt:lpstr>
      <vt:lpstr>Apple Chancery</vt:lpstr>
      <vt:lpstr>Google Sans</vt:lpstr>
      <vt:lpstr>Calibri</vt:lpstr>
      <vt:lpstr>Roboto</vt:lpstr>
      <vt:lpstr>Arial</vt:lpstr>
      <vt:lpstr>Светлая тема</vt:lpstr>
      <vt:lpstr>ML Advanced Колоночные БД и объектные хранилища</vt:lpstr>
      <vt:lpstr>Проверить, идет ли запись</vt:lpstr>
      <vt:lpstr>ML Advanced Колоночные БД и объектные хранилища</vt:lpstr>
      <vt:lpstr>Правила вебинара</vt:lpstr>
      <vt:lpstr>Маршрут вебинара</vt:lpstr>
      <vt:lpstr>Карта курса</vt:lpstr>
      <vt:lpstr>Программа курса</vt:lpstr>
      <vt:lpstr>Цели вебинара</vt:lpstr>
      <vt:lpstr>Смысл</vt:lpstr>
      <vt:lpstr>S3 –  Simple Storage Service </vt:lpstr>
      <vt:lpstr>Объектное хранилище</vt:lpstr>
      <vt:lpstr>Self-managed решение - minio</vt:lpstr>
      <vt:lpstr>Cloud решение Yandex Object Storage</vt:lpstr>
      <vt:lpstr>Yandex Cloud </vt:lpstr>
      <vt:lpstr>Yandex Cloud </vt:lpstr>
      <vt:lpstr>NoSQL</vt:lpstr>
      <vt:lpstr>MongoDB</vt:lpstr>
      <vt:lpstr>MongoDB</vt:lpstr>
      <vt:lpstr>MongoDB - локально</vt:lpstr>
      <vt:lpstr>MongoDB</vt:lpstr>
      <vt:lpstr>ClickHouse</vt:lpstr>
      <vt:lpstr>MPP arhitecture</vt:lpstr>
      <vt:lpstr>ClickHouse</vt:lpstr>
      <vt:lpstr>ClickHouse</vt:lpstr>
      <vt:lpstr>ClickHouse</vt:lpstr>
      <vt:lpstr>ClickHouse</vt:lpstr>
      <vt:lpstr>Практика</vt:lpstr>
      <vt:lpstr>Практика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Docker: Структура, применение, деплой</dc:title>
  <cp:lastModifiedBy>Стурейко Игорь Олегович</cp:lastModifiedBy>
  <cp:revision>89</cp:revision>
  <dcterms:modified xsi:type="dcterms:W3CDTF">2025-07-15T09:38:37Z</dcterms:modified>
</cp:coreProperties>
</file>