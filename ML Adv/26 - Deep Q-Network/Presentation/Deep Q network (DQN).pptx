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9"/>
  </p:notesMasterIdLst>
  <p:sldIdLst>
    <p:sldId id="256" r:id="rId3"/>
    <p:sldId id="257" r:id="rId4"/>
    <p:sldId id="259" r:id="rId5"/>
    <p:sldId id="349" r:id="rId6"/>
    <p:sldId id="489" r:id="rId7"/>
    <p:sldId id="262" r:id="rId8"/>
    <p:sldId id="263" r:id="rId9"/>
    <p:sldId id="264" r:id="rId10"/>
    <p:sldId id="266" r:id="rId11"/>
    <p:sldId id="330" r:id="rId12"/>
    <p:sldId id="490" r:id="rId13"/>
    <p:sldId id="388" r:id="rId14"/>
    <p:sldId id="311" r:id="rId15"/>
    <p:sldId id="267" r:id="rId16"/>
    <p:sldId id="338" r:id="rId17"/>
    <p:sldId id="333" r:id="rId18"/>
    <p:sldId id="343" r:id="rId19"/>
    <p:sldId id="344" r:id="rId20"/>
    <p:sldId id="339" r:id="rId21"/>
    <p:sldId id="340" r:id="rId22"/>
    <p:sldId id="335" r:id="rId23"/>
    <p:sldId id="341" r:id="rId24"/>
    <p:sldId id="342" r:id="rId25"/>
    <p:sldId id="346" r:id="rId26"/>
    <p:sldId id="377" r:id="rId27"/>
    <p:sldId id="374" r:id="rId28"/>
    <p:sldId id="378" r:id="rId29"/>
    <p:sldId id="379" r:id="rId30"/>
    <p:sldId id="380" r:id="rId31"/>
    <p:sldId id="278" r:id="rId32"/>
    <p:sldId id="279" r:id="rId33"/>
    <p:sldId id="281" r:id="rId34"/>
    <p:sldId id="282" r:id="rId35"/>
    <p:sldId id="345" r:id="rId36"/>
    <p:sldId id="289" r:id="rId37"/>
    <p:sldId id="337" r:id="rId3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Helvetica Neue" panose="02000503000000020004" pitchFamily="2" charset="0"/>
      <p:regular r:id="rId41"/>
      <p:bold r:id="rId42"/>
      <p:italic r:id="rId43"/>
      <p:boldItalic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12"/>
    <p:restoredTop sz="97146"/>
  </p:normalViewPr>
  <p:slideViewPr>
    <p:cSldViewPr snapToGrid="0">
      <p:cViewPr varScale="1">
        <p:scale>
          <a:sx n="206" d="100"/>
          <a:sy n="206" d="100"/>
        </p:scale>
        <p:origin x="184" y="20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56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01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797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657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36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36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33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319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88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226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530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976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10.10044" TargetMode="External"/><Relationship Id="rId2" Type="http://schemas.openxmlformats.org/officeDocument/2006/relationships/hyperlink" Target="https://arxiv.org/pdf/1707.06887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rxiv.org/abs/1707.01495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arxiv.org/pdf/1707.06887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arxiv.org/abs/1710.10044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arxiv.org/abs/1707.01495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710.10044" TargetMode="External"/><Relationship Id="rId3" Type="http://schemas.openxmlformats.org/officeDocument/2006/relationships/hyperlink" Target="https://pytorch.org/tutorials/intermediate/mario_rl_tutorial.html" TargetMode="External"/><Relationship Id="rId7" Type="http://schemas.openxmlformats.org/officeDocument/2006/relationships/hyperlink" Target="https://arxiv.org/pdf/1707.06887.pd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towardsdatascience.com/deep-q-network-dqn-i-bce08bdf2af" TargetMode="External"/><Relationship Id="rId5" Type="http://schemas.openxmlformats.org/officeDocument/2006/relationships/hyperlink" Target="https://towardsdatascience.com/double-deep-q-networks-905dd8325412" TargetMode="External"/><Relationship Id="rId4" Type="http://schemas.openxmlformats.org/officeDocument/2006/relationships/hyperlink" Target="https://www.mlq.ai/guide-to-deep-reinforcement-learning/" TargetMode="External"/><Relationship Id="rId9" Type="http://schemas.openxmlformats.org/officeDocument/2006/relationships/hyperlink" Target="https://arxiv.org/abs/1707.01495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Deep Q Network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dirty="0"/>
              <a:t>Deep Q Network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CC69E03-9DBF-494A-9B34-980047DF6F9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/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8339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46232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Алгоритм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DQN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71913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Улучшения алгоритма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309073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Double DQN +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ReplayBuffer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5"/>
            <a:ext cx="600" cy="628402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2022027"/>
            <a:ext cx="12700" cy="628402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650429"/>
            <a:ext cx="12185" cy="628402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86525" y="434753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Общий обзор алгоритмов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3278831"/>
            <a:ext cx="24885" cy="628402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86525" y="3907233"/>
            <a:ext cx="13300" cy="628404"/>
          </a:xfrm>
          <a:prstGeom prst="curvedConnector3">
            <a:avLst>
              <a:gd name="adj1" fmla="val 181879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76384436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приближение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q-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нейросетями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Q-Network (DQN)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233454189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непрерывных сред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реальным задачам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Применение классического </a:t>
            </a:r>
            <a:r>
              <a:rPr lang="en-US" sz="4900" dirty="0"/>
              <a:t>RL</a:t>
            </a:r>
            <a:br>
              <a:rPr lang="en-US" sz="4900" dirty="0"/>
            </a:br>
            <a:r>
              <a:rPr lang="ru-RU" sz="4900" dirty="0"/>
              <a:t>в непрерывной среде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/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Discrete(2)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Box(</a:t>
                      </a:r>
                    </a:p>
                    <a:p>
                      <a:r>
                        <a:rPr lang="en-US" dirty="0">
                          <a:effectLst/>
                        </a:rPr>
                        <a:t>[-4.8000002e+00 -3.4028235e+38 -4.1887903e-01 -3.4028235e+38], [4.8000002e+00 3.4028235e+38 4.1887903e-01 3.4028235e+38], </a:t>
                      </a:r>
                    </a:p>
                    <a:p>
                      <a:r>
                        <a:rPr lang="en-US" dirty="0">
                          <a:effectLst/>
                        </a:rPr>
                        <a:t>(4,), </a:t>
                      </a:r>
                    </a:p>
                    <a:p>
                      <a:r>
                        <a:rPr lang="en-US" dirty="0">
                          <a:effectLst/>
                        </a:rPr>
                        <a:t>float32)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E440A9-8F18-D44E-A9D6-30E7873B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18" y="2462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26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SARSA and Q-learning</a:t>
            </a:r>
            <a:endParaRPr dirty="0"/>
          </a:p>
        </p:txBody>
      </p:sp>
      <p:sp>
        <p:nvSpPr>
          <p:cNvPr id="7" name="Google Shape;311;p57">
            <a:extLst>
              <a:ext uri="{FF2B5EF4-FFF2-40B4-BE49-F238E27FC236}">
                <a16:creationId xmlns:a16="http://schemas.microsoft.com/office/drawing/2014/main" id="{8A36D44E-7C6A-5342-A463-32C67AE55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238" y="1192019"/>
            <a:ext cx="8801144" cy="37236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Устанавливаем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𝑄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𝑎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)=0,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𝐾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&gt;0,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=1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Для каждого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𝑘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∈1,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𝐾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:</a:t>
            </a:r>
          </a:p>
          <a:p>
            <a:pPr marL="590550" lvl="1" indent="0">
              <a:buNone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двигаясь по текущей траектории из </a:t>
            </a:r>
            <a: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состояния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действуя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𝐴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в силу политики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(⋅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Variants"/>
              </a:rPr>
              <a:t>|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и обновляя политику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−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𝑔𝑟𝑒𝑒𝑑𝑦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𝑄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получаем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𝑅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и переходим в состояние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 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действием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𝐴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∼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(⋅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Variants"/>
              </a:rPr>
              <a:t>|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STIXMathJax_Main"/>
            </a:endParaRPr>
          </a:p>
          <a:p>
            <a:pPr marL="457200" lvl="1" indent="-323850">
              <a:buSzPts val="1500"/>
              <a:buFont typeface="Roboto"/>
              <a:buChar char="●"/>
            </a:pPr>
            <a:r>
              <a:rPr lang="ru-RU" sz="1600" dirty="0">
                <a:solidFill>
                  <a:srgbClr val="000000"/>
                </a:solidFill>
                <a:latin typeface="Helvetica Neue" panose="02000503000000020004" pitchFamily="2" charset="0"/>
              </a:rPr>
              <a:t>Обновляем 𝑄: </a:t>
            </a:r>
          </a:p>
          <a:p>
            <a:endParaRPr lang="en-US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endParaRPr lang="en-US" sz="1600" dirty="0">
              <a:solidFill>
                <a:srgbClr val="000000"/>
              </a:solidFill>
              <a:latin typeface="Helvetica Neue" panose="02000503000000020004" pitchFamily="2" charset="0"/>
            </a:endParaRPr>
          </a:p>
          <a:p>
            <a:endParaRPr lang="en-US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endParaRPr lang="ru-RU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Обновляем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=1/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𝑘</a:t>
            </a:r>
            <a:endParaRPr lang="ru-RU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E15B193F-62F1-F44B-85D9-383DC45B3E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7647" y="3219418"/>
              <a:ext cx="8086406" cy="994918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043203">
                      <a:extLst>
                        <a:ext uri="{9D8B030D-6E8A-4147-A177-3AD203B41FA5}">
                          <a16:colId xmlns:a16="http://schemas.microsoft.com/office/drawing/2014/main" val="1307011111"/>
                        </a:ext>
                      </a:extLst>
                    </a:gridCol>
                    <a:gridCol w="4043203">
                      <a:extLst>
                        <a:ext uri="{9D8B030D-6E8A-4147-A177-3AD203B41FA5}">
                          <a16:colId xmlns:a16="http://schemas.microsoft.com/office/drawing/2014/main" val="30655878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Q-learning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SARSA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69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1400" b="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51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E15B193F-62F1-F44B-85D9-383DC45B3E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226221"/>
                  </p:ext>
                </p:extLst>
              </p:nvPr>
            </p:nvGraphicFramePr>
            <p:xfrm>
              <a:off x="717647" y="3219418"/>
              <a:ext cx="8086406" cy="994918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043203">
                      <a:extLst>
                        <a:ext uri="{9D8B030D-6E8A-4147-A177-3AD203B41FA5}">
                          <a16:colId xmlns:a16="http://schemas.microsoft.com/office/drawing/2014/main" val="1307011111"/>
                        </a:ext>
                      </a:extLst>
                    </a:gridCol>
                    <a:gridCol w="4043203">
                      <a:extLst>
                        <a:ext uri="{9D8B030D-6E8A-4147-A177-3AD203B41FA5}">
                          <a16:colId xmlns:a16="http://schemas.microsoft.com/office/drawing/2014/main" val="30655878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Q-learning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SARSA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69220"/>
                      </a:ext>
                    </a:extLst>
                  </a:tr>
                  <a:tr h="624078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313" t="-60000" r="-100313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100313" t="-60000" r="-313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51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8772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дискретизация среды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0550" y="1128558"/>
                <a:ext cx="8373832" cy="25883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Разделим пространство состояний на дискретные интервалы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Тогда размер 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q-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таблицы в памяти (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Mb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) будет следующий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число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_интервалов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число_измерений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ru-RU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число_действий×32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10 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=0.6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20.000</a:t>
                </a:r>
                <a:r>
                  <a:rPr lang="ru-RU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q-table</a:t>
                </a: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20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=9.77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320.000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</a:p>
              <a:p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50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=381,74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, </a:t>
                </a:r>
                <a:r>
                  <a:rPr lang="en-TR" dirty="0"/>
                  <a:t>12.500.000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100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=6.1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, </a:t>
                </a:r>
                <a:r>
                  <a:rPr lang="en-TR" dirty="0"/>
                  <a:t>200.000.000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128558"/>
                <a:ext cx="8373832" cy="2588319"/>
              </a:xfrm>
              <a:prstGeom prst="rect">
                <a:avLst/>
              </a:prstGeom>
              <a:blipFill>
                <a:blip r:embed="rId3"/>
                <a:stretch>
                  <a:fillRect b="-25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3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Постановка задачи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Markov Property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/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100"/>
                  <a:buFont typeface="Roboto"/>
                  <a:buNone/>
                  <a:defRPr sz="3100" b="1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n-US" dirty="0"/>
                  <a:t>Markov Decision Process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blipFill>
                <a:blip r:embed="rId4"/>
                <a:stretch>
                  <a:fillRect l="-1786" t="-4545" b="-4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/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 infinite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 set of final states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infinite/finite 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(|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|=</a:t>
                </a:r>
                <a:r>
                  <a:rPr lang="en-US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action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transition probability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/>
                  <a:t>=</a:t>
                </a:r>
                <a:r>
                  <a:rPr lang="el-G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state probability function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reward function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⇔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[0, 1]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a discount coefficient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blipFill>
                <a:blip r:embed="rId5"/>
                <a:stretch>
                  <a:fillRect l="-2308" t="-1435" r="-769" b="-3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Уравнение Беллмана для 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STIXMathJax_Normal-italic"/>
                  </a:rPr>
                  <a:t>𝑞</a:t>
                </a:r>
                <a:r>
                  <a:rPr lang="ru-RU" sz="1800" baseline="-25000" dirty="0">
                    <a:solidFill>
                      <a:srgbClr val="000000"/>
                    </a:solidFill>
                    <a:latin typeface="STIXMathJax_Normal-italic"/>
                  </a:rPr>
                  <a:t>*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</a:t>
                </a:r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sSub>
                        <m:sSub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latin typeface="Söhne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Пространство большой размерности? 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Экран игры 210х160 с 8-битной графикой и 3 действиями дает нам пространство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160*210*8*3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= 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806400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сопоставимо с числом атомов во вселенной, точнее говоря много больше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  <a:sym typeface="Wingdings" pitchFamily="2" charset="2"/>
                  </a:rPr>
                  <a:t>😱</a:t>
                </a:r>
                <a:endParaRPr lang="en-US" sz="1600" baseline="30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  <a:blipFill>
                <a:blip r:embed="rId3"/>
                <a:stretch>
                  <a:fillRect t="-6376" b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50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59E22-D405-3746-8366-A60CC80B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1222"/>
            <a:ext cx="4660173" cy="3920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/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Будем приближать функцию </a:t>
                </a:r>
                <a:r>
                  <a:rPr lang="en-US" dirty="0"/>
                  <a:t>Q </a:t>
                </a:r>
                <a:r>
                  <a:rPr lang="ru-RU" dirty="0" err="1"/>
                  <a:t>нейросетью</a:t>
                </a:r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Поскольку нам необходимо получить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/>
                  <a:t> то второй подход предпочтительнее.</a:t>
                </a:r>
                <a:endParaRPr lang="en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blipFill>
                <a:blip r:embed="rId4"/>
                <a:stretch>
                  <a:fillRect l="-392" t="-862" b="-25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4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Loss: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≈−2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09EFE9-8AF8-534F-AFCA-B36C86C8D18F}"/>
              </a:ext>
            </a:extLst>
          </p:cNvPr>
          <p:cNvSpPr/>
          <p:nvPr/>
        </p:nvSpPr>
        <p:spPr>
          <a:xfrm>
            <a:off x="3970751" y="1426624"/>
            <a:ext cx="3288082" cy="56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2712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DQN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Deep Q-learning Network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Инициализируем </a:t>
                </a:r>
                <a:r>
                  <a:rPr lang="ru-RU" sz="2000" b="0" i="0" u="none" strike="noStrike" dirty="0" err="1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нейросеть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,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 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Normal-italic"/>
                  </a:rPr>
                  <a:t>𝜀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=1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</a:t>
                </a: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Получаем данные.</a:t>
                </a:r>
                <a:b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</a:b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Из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действуем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(∙|</m:t>
                    </m:r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-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жадная политика,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и переходим в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 Сохраняем набор в память: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</a:t>
                </a: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Получаем из памяти выборку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          </a:t>
                </a:r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3450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371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Deep Q-learning Network</a:t>
            </a:r>
            <a:endParaRPr dirty="0"/>
          </a:p>
        </p:txBody>
      </p:sp>
      <p:sp>
        <p:nvSpPr>
          <p:cNvPr id="7" name="Google Shape;311;p57">
            <a:extLst>
              <a:ext uri="{FF2B5EF4-FFF2-40B4-BE49-F238E27FC236}">
                <a16:creationId xmlns:a16="http://schemas.microsoft.com/office/drawing/2014/main" id="{8A36D44E-7C6A-5342-A463-32C67AE55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850" y="1032459"/>
            <a:ext cx="8801144" cy="35211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3350" indent="0" algn="ctr">
              <a:buNone/>
            </a:pPr>
            <a:r>
              <a:rPr lang="ru-RU" sz="2400" b="0" i="0" u="none" strike="noStrike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Такой подход работает плохо.</a:t>
            </a:r>
          </a:p>
          <a:p>
            <a:pPr marL="133350" indent="0" algn="ctr">
              <a:buNone/>
            </a:pPr>
            <a:endParaRPr lang="ru-RU" sz="2400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marL="590550" indent="-45720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Соседние состояния отличаются незначительно – сильно коррелированные данные для обучения.</a:t>
            </a:r>
          </a:p>
          <a:p>
            <a:pPr marL="590550" indent="-45720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Значение </a:t>
            </a:r>
            <a:r>
              <a:rPr lang="ru-RU" sz="1800" dirty="0" err="1">
                <a:solidFill>
                  <a:schemeClr val="tx1"/>
                </a:solidFill>
                <a:latin typeface="Helvetica Neue" panose="02000503000000020004" pitchFamily="2" charset="0"/>
              </a:rPr>
              <a:t>таргета</a:t>
            </a:r>
            <a:r>
              <a:rPr lang="ru-RU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 и значение </a:t>
            </a:r>
            <a:r>
              <a:rPr lang="en-US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Q</a:t>
            </a:r>
            <a:r>
              <a:rPr lang="ru-RU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-функции в </a:t>
            </a:r>
            <a:r>
              <a:rPr lang="ru-RU" sz="1800" dirty="0" err="1">
                <a:solidFill>
                  <a:schemeClr val="tx1"/>
                </a:solidFill>
                <a:latin typeface="Helvetica Neue" panose="02000503000000020004" pitchFamily="2" charset="0"/>
              </a:rPr>
              <a:t>лоссе</a:t>
            </a:r>
            <a:r>
              <a:rPr lang="ru-RU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 предсказывает одна и та же сеть. В ней стоит </a:t>
            </a:r>
            <a:r>
              <a:rPr lang="en-US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max – </a:t>
            </a:r>
            <a:r>
              <a:rPr lang="ru-RU" sz="1800" dirty="0">
                <a:solidFill>
                  <a:schemeClr val="tx1"/>
                </a:solidFill>
                <a:latin typeface="Helvetica Neue" panose="02000503000000020004" pitchFamily="2" charset="0"/>
              </a:rPr>
              <a:t>предсказания слишком оптимистичны.</a:t>
            </a:r>
            <a:endParaRPr lang="ru-RU" sz="2000" b="0" i="0" u="none" strike="noStrike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88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Улучшение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en-US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Experience Replay Buffer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6072059" cy="263119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Наполняем 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Buffer:</a:t>
                </a: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</a:rPr>
                  <a:t>Набираем данные и складываем их в </a:t>
                </a:r>
                <a:r>
                  <a:rPr lang="en-US" sz="1400" dirty="0">
                    <a:solidFill>
                      <a:srgbClr val="000000"/>
                    </a:solidFill>
                  </a:rPr>
                  <a:t>Buffer</a:t>
                </a:r>
                <a:r>
                  <a:rPr lang="ru-RU" sz="1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ru-RU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Получаем из памяти выборку (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минибатч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u-RU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ru-RU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не последовательных, а именно случайно взятых эпизодов и учим на них.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          </a:t>
                </a:r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6072059" cy="2631197"/>
              </a:xfrm>
              <a:prstGeom prst="rect">
                <a:avLst/>
              </a:prstGeom>
              <a:blipFill>
                <a:blip r:embed="rId3"/>
                <a:stretch>
                  <a:fillRect b="-103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F16D612-7204-CD49-A698-C8AEEFF7C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743" y="1426624"/>
            <a:ext cx="1819633" cy="275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13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Улучшение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en-US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Fixed target network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1199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Вводим две сети. </a:t>
                </a:r>
              </a:p>
              <a:p>
                <a:pPr lvl="1"/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Одна используется для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вычисления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таргетов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Вторая контролирует величину изменений.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Фиксируем сеть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и вычисляем по ней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на другой сети: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параметры фиксированной сети по обучаемой сети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lvl="2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 периодичностью в несколько десятков эпизодов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(</a:t>
                </a:r>
                <a:r>
                  <a:rPr lang="en-US" sz="1400" i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Hard target network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)</a:t>
                </a:r>
              </a:p>
              <a:p>
                <a:pPr lvl="2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Берем взвешенное обновление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𝜏𝜃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(</a:t>
                </a:r>
                <a:r>
                  <a:rPr lang="en-US" sz="1400" b="0" i="1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Soft target network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119919"/>
              </a:xfrm>
              <a:prstGeom prst="rect">
                <a:avLst/>
              </a:prstGeom>
              <a:blipFill>
                <a:blip r:embed="rId3"/>
                <a:stretch>
                  <a:fillRect b="-58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131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</a:t>
            </a:r>
            <a:endParaRPr lang="en-US" b="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E0EE1-4156-6F48-98C0-1A5E7E2F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4790"/>
            <a:ext cx="9144000" cy="333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78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Double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&amp;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dueling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3A2F54-4526-264D-A485-70F694320863}"/>
                  </a:ext>
                </a:extLst>
              </p:cNvPr>
              <p:cNvSpPr txBox="1"/>
              <p:nvPr/>
            </p:nvSpPr>
            <p:spPr>
              <a:xfrm>
                <a:off x="500550" y="3173489"/>
                <a:ext cx="3982615" cy="156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RU" sz="1800" dirty="0"/>
                  <a:t> </a:t>
                </a:r>
              </a:p>
              <a:p>
                <a:endParaRPr lang="en-RU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/>
                  <a:t> </a:t>
                </a:r>
              </a:p>
              <a:p>
                <a:endParaRPr lang="en-RU" sz="1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𝜏𝜃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8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3A2F54-4526-264D-A485-70F69432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3173489"/>
                <a:ext cx="3982615" cy="15676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408D77-D7C5-C14E-87B8-1E587DEBDD4E}"/>
              </a:ext>
            </a:extLst>
          </p:cNvPr>
          <p:cNvSpPr txBox="1"/>
          <p:nvPr/>
        </p:nvSpPr>
        <p:spPr>
          <a:xfrm>
            <a:off x="500550" y="1118847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Обновляем </a:t>
            </a:r>
            <a:r>
              <a:rPr lang="ru-RU" dirty="0" err="1"/>
              <a:t>таргеты</a:t>
            </a:r>
            <a:r>
              <a:rPr lang="ru-RU" dirty="0"/>
              <a:t>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7AF179E2-F235-5B4A-B72F-62B79AFCA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375746"/>
                  </p:ext>
                </p:extLst>
              </p:nvPr>
            </p:nvGraphicFramePr>
            <p:xfrm>
              <a:off x="500550" y="1689207"/>
              <a:ext cx="8410248" cy="1163765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205124">
                      <a:extLst>
                        <a:ext uri="{9D8B030D-6E8A-4147-A177-3AD203B41FA5}">
                          <a16:colId xmlns:a16="http://schemas.microsoft.com/office/drawing/2014/main" val="2160358528"/>
                        </a:ext>
                      </a:extLst>
                    </a:gridCol>
                    <a:gridCol w="4205124">
                      <a:extLst>
                        <a:ext uri="{9D8B030D-6E8A-4147-A177-3AD203B41FA5}">
                          <a16:colId xmlns:a16="http://schemas.microsoft.com/office/drawing/2014/main" val="10642374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Double DQN</a:t>
                          </a:r>
                        </a:p>
                        <a:p>
                          <a:pPr algn="l"/>
                          <a:r>
                            <a:rPr lang="en-US" dirty="0"/>
                            <a:t>3 </a:t>
                          </a:r>
                          <a:r>
                            <a:rPr lang="ru-RU" dirty="0"/>
                            <a:t>сети: обучающаяся, предсказание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dirty="0"/>
                            <a:t> </a:t>
                          </a:r>
                          <a:br>
                            <a:rPr lang="ru-RU" dirty="0"/>
                          </a:br>
                          <a:r>
                            <a:rPr lang="ru-RU" dirty="0"/>
                            <a:t>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Dueling DQN</a:t>
                          </a:r>
                          <a:endParaRPr lang="ru-RU" dirty="0"/>
                        </a:p>
                        <a:p>
                          <a:pPr algn="l"/>
                          <a:r>
                            <a:rPr lang="en-US" dirty="0"/>
                            <a:t>3</a:t>
                          </a:r>
                          <a:r>
                            <a:rPr lang="ru-RU" dirty="0"/>
                            <a:t> сети: 2 обучающиеся (худшее предсказание) 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481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latin typeface="Cambria Math" panose="02040503050406030204" pitchFamily="18" charset="0"/>
                                          </a:rPr>
                                          <m:t>arg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limLow>
                                              <m:limLow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limLow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>
                                                    <a:latin typeface="Cambria Math" panose="02040503050406030204" pitchFamily="18" charset="0"/>
                                                  </a:rPr>
                                                  <m:t>max</m:t>
                                                </m:r>
                                              </m:e>
                                              <m:lim>
                                                <m:sSup>
                                                  <m:sSup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𝑎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lim>
                                            </m:limLow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𝑄</m:t>
                                                </m:r>
                                              </m:e>
                                              <m:sup>
                                                <m:sSup>
                                                  <m:sSup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sup>
                                            </m:sSup>
                                          </m:e>
                                        </m:func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max</m:t>
                                              </m:r>
                                            </m:e>
                                            <m:lim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lim>
                                          </m:limLow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sSup>
                                                <m:sSupPr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p>
                                          </m:sSubSup>
                                        </m:e>
                                      </m:func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ru-RU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func>
                                        <m:func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max</m:t>
                                              </m:r>
                                            </m:e>
                                            <m:lim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lim>
                                          </m:limLow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sSup>
                                                <m:sSup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p>
                                          </m:sSubSup>
                                        </m:e>
                                      </m:func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r>
                            <a:rPr lang="en-US" sz="140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4728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7AF179E2-F235-5B4A-B72F-62B79AFCA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375746"/>
                  </p:ext>
                </p:extLst>
              </p:nvPr>
            </p:nvGraphicFramePr>
            <p:xfrm>
              <a:off x="500550" y="1689207"/>
              <a:ext cx="8410248" cy="1163765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205124">
                      <a:extLst>
                        <a:ext uri="{9D8B030D-6E8A-4147-A177-3AD203B41FA5}">
                          <a16:colId xmlns:a16="http://schemas.microsoft.com/office/drawing/2014/main" val="2160358528"/>
                        </a:ext>
                      </a:extLst>
                    </a:gridCol>
                    <a:gridCol w="4205124">
                      <a:extLst>
                        <a:ext uri="{9D8B030D-6E8A-4147-A177-3AD203B41FA5}">
                          <a16:colId xmlns:a16="http://schemas.microsoft.com/office/drawing/2014/main" val="1064237482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301" t="-1724" r="-100000" b="-6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Dueling DQN</a:t>
                          </a:r>
                          <a:endParaRPr lang="ru-RU" dirty="0"/>
                        </a:p>
                        <a:p>
                          <a:pPr algn="l"/>
                          <a:r>
                            <a:rPr lang="en-US" dirty="0"/>
                            <a:t>3</a:t>
                          </a:r>
                          <a:r>
                            <a:rPr lang="ru-RU" dirty="0"/>
                            <a:t> сети: 2 обучающиеся (худшее предсказание) 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481484"/>
                      </a:ext>
                    </a:extLst>
                  </a:tr>
                  <a:tr h="432245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301" t="-173529" r="-100000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100604" t="-173529" r="-302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4728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0105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+mn-lt"/>
              </a:rPr>
              <a:t>С51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</a:rPr>
              <a:t>А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лгоритм, который способен оценивать неопределенность в оценках ценности действий, представляет собой расширение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learning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, которое учитывает вероятностное распределение оценок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https://arxiv.org/pdf/1707.06887.pdf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ru-RU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dirty="0">
              <a:solidFill>
                <a:schemeClr val="tx1"/>
              </a:solidFill>
              <a:latin typeface="Söhne"/>
            </a:endParaRP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QR-DQN</a:t>
            </a:r>
            <a:endParaRPr lang="ru-RU" b="1" i="0" u="none" strike="noStrike" dirty="0">
              <a:solidFill>
                <a:schemeClr val="tx1"/>
              </a:solidFill>
              <a:effectLst/>
              <a:latin typeface="Söhne"/>
            </a:endParaRPr>
          </a:p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(Quantile Regression Deep Q-Network)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расширяет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DQN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C51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чтобы лучше оценивать неопределенность в оценках 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Q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 Вместо того, чтобы оценивать средние значения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 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он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оценивает квантили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  <a:hlinkClick r:id="rId3"/>
              </a:rPr>
              <a:t>https://arxiv.org/abs/1710.10044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</a:p>
          <a:p>
            <a:endParaRPr lang="en-US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b="1" dirty="0">
                <a:solidFill>
                  <a:schemeClr val="tx1"/>
                </a:solidFill>
                <a:latin typeface="+mn-lt"/>
              </a:rPr>
              <a:t>HER</a:t>
            </a:r>
            <a:endParaRPr lang="en-US" b="1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(Hindsight Experience Replay)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разработан для задач, где агенту не всегда удается достичь поставленных целей. Он предназначен для решения проблемы отсутствия положительного обратной связи в ранних стадиях обучения и повышения эффективности обучения в условиях неудачных попыток.</a:t>
            </a:r>
          </a:p>
          <a:p>
            <a:r>
              <a:rPr lang="en-US" dirty="0">
                <a:solidFill>
                  <a:schemeClr val="tx1"/>
                </a:solidFill>
                <a:hlinkClick r:id="rId4"/>
              </a:rPr>
              <a:t>https://arxiv.org/abs/1707.01495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</a:t>
            </a:r>
            <a:endParaRPr lang="en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042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С51</a:t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А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лгоритм, который способен оценивать неопределенность в оценках ценности действий, представляет собой расширение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learning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, которое учитывает вероятностное распределение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средних оценок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https://arxiv.org/pdf/1707.06887.pdf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ru-RU" b="0" i="0" u="none" strike="noStrike" dirty="0"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F12F43-4233-D34C-8B45-6E688EB31EEC}"/>
              </a:ext>
            </a:extLst>
          </p:cNvPr>
          <p:cNvGrpSpPr/>
          <p:nvPr/>
        </p:nvGrpSpPr>
        <p:grpSpPr>
          <a:xfrm>
            <a:off x="4041140" y="2509577"/>
            <a:ext cx="4974884" cy="2030139"/>
            <a:chOff x="1560928" y="2090244"/>
            <a:chExt cx="6022144" cy="21369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486396-771C-9147-9EC6-87D49F452F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3329"/>
            <a:stretch/>
          </p:blipFill>
          <p:spPr>
            <a:xfrm>
              <a:off x="1560928" y="2090244"/>
              <a:ext cx="6022144" cy="12482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4BAC80-56D3-1E46-AAD8-D82006387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6773"/>
            <a:stretch/>
          </p:blipFill>
          <p:spPr>
            <a:xfrm>
              <a:off x="1560928" y="3338482"/>
              <a:ext cx="6022144" cy="88867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66AC91E-1A7C-F143-9514-65117599A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" y="2571750"/>
            <a:ext cx="3844290" cy="19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03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QR-DQN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(Quantile Regression Deep Q-Network)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расширяет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C51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чтобы лучше оценивать неопределенность в оценках 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Q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 Вместо того, чтобы оценивать средние значения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 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он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оценивает квантили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  <a:hlinkClick r:id="rId2"/>
              </a:rPr>
              <a:t>https://arxiv.org/abs/1710.10044</a:t>
            </a:r>
            <a:endParaRPr lang="en-US" b="0" i="0" u="none" strike="noStrike" dirty="0">
              <a:solidFill>
                <a:schemeClr val="tx1"/>
              </a:solidFill>
              <a:effectLst/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9A1A5-A29F-FF4E-9D0F-021C85176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42" y="2353178"/>
            <a:ext cx="4506369" cy="1988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89E5F-C9F5-E240-9FD4-B5DFEE404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557" y="3530243"/>
            <a:ext cx="3600001" cy="1613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487DA-BAF8-0D44-9B52-4054723B9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872" y="1681761"/>
            <a:ext cx="3489044" cy="18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00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(Hindsight Experience Replay)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разработан для задач, где агенту не всегда удается достичь поставленных целей. Он предназначен для решения проблемы отсутствия положительного обратной связи в ранних стадиях обучения и повышения эффективности обучения в условиях неудачных попыток.</a:t>
            </a:r>
          </a:p>
          <a:p>
            <a:r>
              <a:rPr lang="en-US" dirty="0">
                <a:solidFill>
                  <a:schemeClr val="tx1"/>
                </a:solidFill>
                <a:hlinkClick r:id="rId2"/>
              </a:rPr>
              <a:t>https://arxiv.org/abs/1707.01495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</a:t>
            </a:r>
            <a:endParaRPr lang="en-TR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DE07D-E096-D945-8A6D-FDFF42DE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897204"/>
            <a:ext cx="3949896" cy="3210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275DD7-5B9C-AF46-8728-DC3B33337547}"/>
              </a:ext>
            </a:extLst>
          </p:cNvPr>
          <p:cNvSpPr/>
          <p:nvPr/>
        </p:nvSpPr>
        <p:spPr>
          <a:xfrm>
            <a:off x="705746" y="3528726"/>
            <a:ext cx="3700558" cy="9941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0A0AC-694B-C342-B2EC-F4E9C65B865E}"/>
              </a:ext>
            </a:extLst>
          </p:cNvPr>
          <p:cNvSpPr txBox="1"/>
          <p:nvPr/>
        </p:nvSpPr>
        <p:spPr>
          <a:xfrm>
            <a:off x="4572000" y="1862154"/>
            <a:ext cx="44001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Задается промежуточная цель, вполне достижимая и за ее достижение назначается награда.</a:t>
            </a:r>
          </a:p>
          <a:p>
            <a:r>
              <a:rPr lang="ru-RU" dirty="0"/>
              <a:t>Тем самым обеспечивая алгоритму «направление» движения к глобальной цели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79294E-06CD-A449-B5C6-0FB09A3FC1C3}"/>
              </a:ext>
            </a:extLst>
          </p:cNvPr>
          <p:cNvCxnSpPr/>
          <p:nvPr/>
        </p:nvCxnSpPr>
        <p:spPr>
          <a:xfrm>
            <a:off x="4572000" y="1897204"/>
            <a:ext cx="0" cy="11467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54E378-DC40-D043-A140-A8E95D9577EF}"/>
              </a:ext>
            </a:extLst>
          </p:cNvPr>
          <p:cNvCxnSpPr/>
          <p:nvPr/>
        </p:nvCxnSpPr>
        <p:spPr>
          <a:xfrm>
            <a:off x="4572000" y="3037842"/>
            <a:ext cx="4056499" cy="1220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249DD-9848-A24F-810F-EACA1F36CE42}"/>
              </a:ext>
            </a:extLst>
          </p:cNvPr>
          <p:cNvCxnSpPr>
            <a:endCxn id="5" idx="3"/>
          </p:cNvCxnSpPr>
          <p:nvPr/>
        </p:nvCxnSpPr>
        <p:spPr>
          <a:xfrm flipH="1">
            <a:off x="4450446" y="3043909"/>
            <a:ext cx="121554" cy="4583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DE66D3D-6EAD-D840-867D-D88BD0C8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42" y="3194444"/>
            <a:ext cx="4187649" cy="170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28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4" name="Google Shape;283;p53">
            <a:extLst>
              <a:ext uri="{FF2B5EF4-FFF2-40B4-BE49-F238E27FC236}">
                <a16:creationId xmlns:a16="http://schemas.microsoft.com/office/drawing/2014/main" id="{936422AA-148B-024E-A4BD-7D9102DA5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337713"/>
              </p:ext>
            </p:extLst>
          </p:nvPr>
        </p:nvGraphicFramePr>
        <p:xfrm>
          <a:off x="952500" y="1495472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примере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CartPole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Сравнить результат с работой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framework’a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StableBaseLine3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3"/>
              </a:rPr>
              <a:t>https://pytorch.org/tutorials/intermediate/mario_rl_tutorial.html</a:t>
            </a:r>
            <a:r>
              <a:rPr lang="en-GB" sz="1300" dirty="0"/>
              <a:t> – </a:t>
            </a:r>
            <a:r>
              <a:rPr lang="ru-RU" sz="1300" dirty="0"/>
              <a:t>реализация для экранной игры. Учить долго и тяжело, но в качестве примера для будущих задач вполне неплохо.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4"/>
              </a:rPr>
              <a:t>https://www.mlq.ai/guide-to-deep-reinforcement-learning/</a:t>
            </a:r>
            <a:r>
              <a:rPr lang="en-GB" sz="1300" dirty="0"/>
              <a:t> - </a:t>
            </a:r>
            <a:r>
              <a:rPr lang="ru-RU" sz="1300" dirty="0"/>
              <a:t>обзор алгоритмов </a:t>
            </a:r>
            <a:r>
              <a:rPr lang="en-US" sz="1300" dirty="0"/>
              <a:t>RL.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5"/>
              </a:rPr>
              <a:t>https://towardsdatascience.com/double-deep-q-networks-905dd8325412</a:t>
            </a:r>
            <a:r>
              <a:rPr lang="en-GB" sz="1300" dirty="0"/>
              <a:t> - DDQN.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6"/>
              </a:rPr>
              <a:t>https://towardsdatascience.com/deep-q-network-dqn-i-bce08bdf2af</a:t>
            </a:r>
            <a:r>
              <a:rPr lang="en-GB" sz="1300" dirty="0"/>
              <a:t> – </a:t>
            </a:r>
            <a:r>
              <a:rPr lang="ru-RU" sz="1300" dirty="0"/>
              <a:t>Хорошее объяснение на пальцах, но не рабочие примеры </a:t>
            </a:r>
            <a:r>
              <a:rPr lang="ru-RU" sz="1300" dirty="0">
                <a:sym typeface="Wingdings" pitchFamily="2" charset="2"/>
              </a:rPr>
              <a:t> </a:t>
            </a:r>
            <a:endParaRPr lang="en-US" sz="1300" dirty="0">
              <a:sym typeface="Wingdings" pitchFamily="2" charset="2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 dirty="0">
                <a:sym typeface="Wingdings" pitchFamily="2" charset="2"/>
              </a:rPr>
              <a:t>C51 - </a:t>
            </a:r>
            <a:r>
              <a:rPr lang="en-US" sz="1300" dirty="0">
                <a:sym typeface="Wingdings" pitchFamily="2" charset="2"/>
                <a:hlinkClick r:id="rId7"/>
              </a:rPr>
              <a:t>https://arxiv.org/pdf/1707.06887.pdf </a:t>
            </a:r>
            <a:endParaRPr lang="en-US" sz="1300" dirty="0">
              <a:sym typeface="Wingdings" pitchFamily="2" charset="2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/>
              <a:t>QR-DQN -  </a:t>
            </a:r>
            <a:r>
              <a:rPr lang="en-GB" sz="1300" dirty="0">
                <a:hlinkClick r:id="rId8"/>
              </a:rPr>
              <a:t>https://arxiv.org/abs/1710.10044</a:t>
            </a:r>
            <a:r>
              <a:rPr lang="en-GB" sz="1300" dirty="0"/>
              <a:t> 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/>
              <a:t>HER - </a:t>
            </a:r>
            <a:r>
              <a:rPr lang="en-GB" sz="1300" dirty="0">
                <a:hlinkClick r:id="rId9"/>
              </a:rPr>
              <a:t>https://arxiv.org/abs/1707.01495</a:t>
            </a:r>
            <a:r>
              <a:rPr lang="en-GB" sz="1300" dirty="0"/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3030273496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проблему большой размерности для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q-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приближение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-функции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нейросетями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3068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Deep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Policy Gradient (PG)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алгоритм</a:t>
            </a:r>
          </a:p>
        </p:txBody>
      </p:sp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474B44E9-AFFA-114E-9F73-EE4EED93E5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77839C67-3608-CE47-AE5E-5755947502A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024DCA-E77E-3B42-8BD6-76118D8AD4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7206</TotalTime>
  <Words>1694</Words>
  <Application>Microsoft Macintosh PowerPoint</Application>
  <PresentationFormat>On-screen Show (16:9)</PresentationFormat>
  <Paragraphs>288</Paragraphs>
  <Slides>36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Arial</vt:lpstr>
      <vt:lpstr>Courier New</vt:lpstr>
      <vt:lpstr>STIXMathJax_Main</vt:lpstr>
      <vt:lpstr>Söhne</vt:lpstr>
      <vt:lpstr>STIXMathJax_Normal-italic</vt:lpstr>
      <vt:lpstr>Google Sans</vt:lpstr>
      <vt:lpstr>Helvetica Neue</vt:lpstr>
      <vt:lpstr>STIXMathJax_Variants</vt:lpstr>
      <vt:lpstr>Symbol</vt:lpstr>
      <vt:lpstr>Roboto</vt:lpstr>
      <vt:lpstr>Apple Chancery</vt:lpstr>
      <vt:lpstr>Cambria Math</vt:lpstr>
      <vt:lpstr>Светлая тема</vt:lpstr>
      <vt:lpstr>Светлая тема</vt:lpstr>
      <vt:lpstr>ML Advanced Deep Q Network</vt:lpstr>
      <vt:lpstr>Проверить, идет ли запись</vt:lpstr>
      <vt:lpstr>Правила вебинара</vt:lpstr>
      <vt:lpstr>ML Advanced Deep Q Network </vt:lpstr>
      <vt:lpstr>Карта курса</vt:lpstr>
      <vt:lpstr>Маршрут вебинара</vt:lpstr>
      <vt:lpstr>Цели вебинара</vt:lpstr>
      <vt:lpstr>Смысл</vt:lpstr>
      <vt:lpstr>Применение классического RL в непрерывной среде</vt:lpstr>
      <vt:lpstr>CartPole</vt:lpstr>
      <vt:lpstr>SARSA and Q-learning</vt:lpstr>
      <vt:lpstr>CartPole дискретизация среды</vt:lpstr>
      <vt:lpstr>Постановка задачи</vt:lpstr>
      <vt:lpstr>Markov Property</vt:lpstr>
      <vt:lpstr>Q-learning</vt:lpstr>
      <vt:lpstr>Q-learning update for NN</vt:lpstr>
      <vt:lpstr>Q-learning update for NN</vt:lpstr>
      <vt:lpstr>Алгоритм DQN</vt:lpstr>
      <vt:lpstr>Deep Q-learning Network</vt:lpstr>
      <vt:lpstr>Deep Q-learning Network</vt:lpstr>
      <vt:lpstr>Улучшение DQN – Experience Replay Buffer</vt:lpstr>
      <vt:lpstr>Улучшение DQN – Fixed target network</vt:lpstr>
      <vt:lpstr>DQN</vt:lpstr>
      <vt:lpstr>Double &amp; dueling DQN</vt:lpstr>
      <vt:lpstr>Обзор алгоритмов RL</vt:lpstr>
      <vt:lpstr>Улучшения</vt:lpstr>
      <vt:lpstr>С51 </vt:lpstr>
      <vt:lpstr>QR-DQN  </vt:lpstr>
      <vt:lpstr>HER  </vt:lpstr>
      <vt:lpstr>Практика</vt:lpstr>
      <vt:lpstr>Практика</vt:lpstr>
      <vt:lpstr>Список материалов для изучения</vt:lpstr>
      <vt:lpstr>Вопросы?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61</cp:revision>
  <dcterms:modified xsi:type="dcterms:W3CDTF">2025-01-15T14:50:14Z</dcterms:modified>
</cp:coreProperties>
</file>