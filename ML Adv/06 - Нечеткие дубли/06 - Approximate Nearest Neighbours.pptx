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5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7.jpg" ContentType="image/jpeg"/>
  <Override PartName="/ppt/media/image31.jpg" ContentType="image/jpeg"/>
  <Override PartName="/ppt/media/image37.jpg" ContentType="image/jpeg"/>
  <Override PartName="/ppt/media/image40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334" r:id="rId4"/>
    <p:sldId id="259" r:id="rId5"/>
    <p:sldId id="489" r:id="rId6"/>
    <p:sldId id="371" r:id="rId7"/>
    <p:sldId id="372" r:id="rId8"/>
    <p:sldId id="305" r:id="rId9"/>
    <p:sldId id="338" r:id="rId10"/>
    <p:sldId id="339" r:id="rId11"/>
    <p:sldId id="341" r:id="rId12"/>
    <p:sldId id="373" r:id="rId13"/>
    <p:sldId id="344" r:id="rId14"/>
    <p:sldId id="345" r:id="rId15"/>
    <p:sldId id="374" r:id="rId16"/>
    <p:sldId id="349" r:id="rId17"/>
    <p:sldId id="375" r:id="rId18"/>
    <p:sldId id="272" r:id="rId19"/>
    <p:sldId id="342" r:id="rId20"/>
    <p:sldId id="369" r:id="rId21"/>
    <p:sldId id="366" r:id="rId22"/>
    <p:sldId id="343" r:id="rId23"/>
    <p:sldId id="376" r:id="rId24"/>
    <p:sldId id="304" r:id="rId25"/>
    <p:sldId id="300" r:id="rId26"/>
    <p:sldId id="281" r:id="rId27"/>
    <p:sldId id="364" r:id="rId28"/>
    <p:sldId id="302" r:id="rId29"/>
    <p:sldId id="335" r:id="rId30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2"/>
    <p:restoredTop sz="94694"/>
  </p:normalViewPr>
  <p:slideViewPr>
    <p:cSldViewPr>
      <p:cViewPr varScale="1">
        <p:scale>
          <a:sx n="156" d="100"/>
          <a:sy n="156" d="100"/>
        </p:scale>
        <p:origin x="85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habr.com/ru/articles/309252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hyperlink" Target="http://ann-benchmarks.com/" TargetMode="Externa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avito/articles/488658/" TargetMode="External"/><Relationship Id="rId2" Type="http://schemas.openxmlformats.org/officeDocument/2006/relationships/hyperlink" Target="https://habr.com/ru/companies/okkamgroup/articles/509204/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facebookresearch/faiss/wiki/Guidelines-to-choose-an-index" TargetMode="External"/><Relationship Id="rId4" Type="http://schemas.openxmlformats.org/officeDocument/2006/relationships/hyperlink" Target="https://mccormickml.com/2017/10/13/product-quantizer-tutorial-part-1/#exhaustive-search-with-approximate-distances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potify/annoy" TargetMode="External"/><Relationship Id="rId13" Type="http://schemas.openxmlformats.org/officeDocument/2006/relationships/hyperlink" Target="https://medium.com/analytics-vidhya/scann-faster-vector-similarity-search-69af769ad474" TargetMode="External"/><Relationship Id="rId3" Type="http://schemas.openxmlformats.org/officeDocument/2006/relationships/hyperlink" Target="https://newtechaudit.ru/postroenie-diagrammy-voronogo-v-python-dlya-zadach-vizualizaczii/" TargetMode="External"/><Relationship Id="rId7" Type="http://schemas.openxmlformats.org/officeDocument/2006/relationships/hyperlink" Target="https://erikbern.com/2015/10/01/nearest-neighbors-and-vector-models-part-2-how-to-search-in-high-dimensional-spaces.html" TargetMode="External"/><Relationship Id="rId12" Type="http://schemas.openxmlformats.org/officeDocument/2006/relationships/hyperlink" Target="https://medium.com/@DataPlayer/scalable-approximate-nearest-neighbour-search-using-googles-scann-and-facebook-s-faiss-3e84df25ba" TargetMode="External"/><Relationship Id="rId17" Type="http://schemas.openxmlformats.org/officeDocument/2006/relationships/hyperlink" Target="https://github.com/facebookresearch/faiss/wiki/Guidelines-to-choose-an-index" TargetMode="External"/><Relationship Id="rId2" Type="http://schemas.openxmlformats.org/officeDocument/2006/relationships/notesSlide" Target="../notesSlides/notesSlide8.xml"/><Relationship Id="rId16" Type="http://schemas.openxmlformats.org/officeDocument/2006/relationships/hyperlink" Target="https://mccormickml.com/2017/10/13/product-quantizer-tutorial-part-1/#exhaustive-search-with-approximate-distances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erikbern.com/2015/09/24/nearest-neighbor-methods-vector-models-part-1" TargetMode="External"/><Relationship Id="rId11" Type="http://schemas.openxmlformats.org/officeDocument/2006/relationships/hyperlink" Target="https://medium.com/@kumon/similarity-search-scann-and-4-bit-pq-ab98766b32bd" TargetMode="External"/><Relationship Id="rId5" Type="http://schemas.openxmlformats.org/officeDocument/2006/relationships/hyperlink" Target="https://medium.com/gsi-technology/ann-benchmarks-a-data-scientists-journey-to-billion-scale-performance-db191f043a27" TargetMode="External"/><Relationship Id="rId15" Type="http://schemas.openxmlformats.org/officeDocument/2006/relationships/hyperlink" Target="https://habr.com/ru/companies/avito/articles/488658/" TargetMode="External"/><Relationship Id="rId10" Type="http://schemas.openxmlformats.org/officeDocument/2006/relationships/hyperlink" Target="https://scikit-learn.org/stable/auto_examples/neighbors/approximate_nearest_neighbors.html" TargetMode="External"/><Relationship Id="rId4" Type="http://schemas.openxmlformats.org/officeDocument/2006/relationships/hyperlink" Target="https://medium.com/gsi-technology/how-to-benchmark-ann-algorithms-a9f1cef6be08" TargetMode="External"/><Relationship Id="rId9" Type="http://schemas.openxmlformats.org/officeDocument/2006/relationships/hyperlink" Target="https://sds-aau.github.io/M3Port19/portfolio/ann/" TargetMode="External"/><Relationship Id="rId14" Type="http://schemas.openxmlformats.org/officeDocument/2006/relationships/hyperlink" Target="https://habr.com/ru/companies/okkamgroup/articles/509204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sz="5600" spc="20" dirty="0">
                <a:solidFill>
                  <a:srgbClr val="FFFFFF"/>
                </a:solidFill>
              </a:rPr>
              <a:t>Advanced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Поиск нечетких дублей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Поиск нечетких дублей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FC9D64F-4C9E-9745-AC7F-49018470CA32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/>
              <a:t>в</a:t>
            </a:r>
            <a:r>
              <a:rPr spc="-20" dirty="0"/>
              <a:t> </a:t>
            </a:r>
            <a:r>
              <a:rPr spc="-30" dirty="0"/>
              <a:t>чат</a:t>
            </a:r>
            <a:r>
              <a:rPr spc="-20" dirty="0"/>
              <a:t> </a:t>
            </a:r>
            <a:r>
              <a:rPr spc="15" dirty="0"/>
              <a:t>или</a:t>
            </a:r>
            <a:r>
              <a:rPr spc="-20" dirty="0"/>
              <a:t> </a:t>
            </a:r>
            <a:r>
              <a:rPr spc="-5" dirty="0"/>
              <a:t>голосом</a:t>
            </a:r>
          </a:p>
          <a:p>
            <a:pPr>
              <a:lnSpc>
                <a:spcPct val="100000"/>
              </a:lnSpc>
            </a:pPr>
            <a:endParaRPr sz="170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66750" indent="-220663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178596"/>
              </p:ext>
            </p:extLst>
          </p:nvPr>
        </p:nvGraphicFramePr>
        <p:xfrm>
          <a:off x="846750" y="1649963"/>
          <a:ext cx="7239000" cy="7031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Рассмотреть методы быстрого, но нечеткого поиска ближайших соседей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sym typeface="Roboto"/>
                        </a:rPr>
                        <a:t>Применить рассмотренные методы для выделения нечетких дублей из набора объектов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4210169466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Алгоритмы приблизительного поиска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Задачи нежесткого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матчинга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9" y="1415498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</a:p>
        </p:txBody>
      </p:sp>
      <p:sp>
        <p:nvSpPr>
          <p:cNvPr id="236" name="Google Shape;236;p37"/>
          <p:cNvSpPr/>
          <p:nvPr/>
        </p:nvSpPr>
        <p:spPr>
          <a:xfrm>
            <a:off x="763805" y="2585728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Диаграмма Вороного</a:t>
            </a:r>
          </a:p>
        </p:txBody>
      </p:sp>
      <p:sp>
        <p:nvSpPr>
          <p:cNvPr id="238" name="Google Shape;238;p37"/>
          <p:cNvSpPr/>
          <p:nvPr/>
        </p:nvSpPr>
        <p:spPr>
          <a:xfrm>
            <a:off x="763207" y="3162742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Faiss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H="1" flipV="1">
            <a:off x="740238" y="1603597"/>
            <a:ext cx="11347" cy="585115"/>
          </a:xfrm>
          <a:prstGeom prst="curvedConnector3">
            <a:avLst>
              <a:gd name="adj1" fmla="val -2014629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63207" y="2773828"/>
            <a:ext cx="598" cy="577014"/>
          </a:xfrm>
          <a:prstGeom prst="curvedConnector3">
            <a:avLst>
              <a:gd name="adj1" fmla="val 38327425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63207" y="3739756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SCANN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63207" y="3350842"/>
            <a:ext cx="12700" cy="577014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51586" y="2000613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Метрики и методы</a:t>
            </a: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H="1" flipV="1">
            <a:off x="751585" y="2188712"/>
            <a:ext cx="12219" cy="585115"/>
          </a:xfrm>
          <a:prstGeom prst="curvedConnector3">
            <a:avLst>
              <a:gd name="adj1" fmla="val -187085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76584F8-FF6B-E04F-BCBF-E16DF9ACE7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514" y="1119148"/>
            <a:ext cx="4834786" cy="3263480"/>
          </a:xfrm>
          <a:prstGeom prst="rect">
            <a:avLst/>
          </a:prstGeom>
          <a:ln>
            <a:noFill/>
          </a:ln>
          <a:effectLst>
            <a:outerShdw blurRad="50800" dist="50800" dir="6892208" sx="1000" sy="1000" algn="ctr" rotWithShape="0">
              <a:srgbClr val="000000">
                <a:alpha val="0"/>
              </a:srgbClr>
            </a:outerShdw>
            <a:reflection endPos="0" dist="50800" dir="5400000" sy="-100000" algn="bl" rotWithShape="0"/>
            <a:softEdge rad="269352"/>
          </a:effectLst>
        </p:spPr>
      </p:pic>
      <p:sp>
        <p:nvSpPr>
          <p:cNvPr id="14" name="Google Shape;238;p37">
            <a:extLst>
              <a:ext uri="{FF2B5EF4-FFF2-40B4-BE49-F238E27FC236}">
                <a16:creationId xmlns:a16="http://schemas.microsoft.com/office/drawing/2014/main" id="{320836DF-149E-A345-BFC3-EB5E96264948}"/>
              </a:ext>
            </a:extLst>
          </p:cNvPr>
          <p:cNvSpPr/>
          <p:nvPr/>
        </p:nvSpPr>
        <p:spPr>
          <a:xfrm>
            <a:off x="752794" y="4316770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Annoy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" name="Google Shape;242;p37">
            <a:extLst>
              <a:ext uri="{FF2B5EF4-FFF2-40B4-BE49-F238E27FC236}">
                <a16:creationId xmlns:a16="http://schemas.microsoft.com/office/drawing/2014/main" id="{DE912331-9A4E-4847-BD91-9FA3A087740D}"/>
              </a:ext>
            </a:extLst>
          </p:cNvPr>
          <p:cNvCxnSpPr>
            <a:cxnSpLocks/>
            <a:stCxn id="2" idx="1"/>
            <a:endCxn id="14" idx="1"/>
          </p:cNvCxnSpPr>
          <p:nvPr/>
        </p:nvCxnSpPr>
        <p:spPr>
          <a:xfrm rot="10800000" flipV="1">
            <a:off x="752795" y="3927856"/>
            <a:ext cx="10413" cy="577014"/>
          </a:xfrm>
          <a:prstGeom prst="curvedConnector3">
            <a:avLst>
              <a:gd name="adj1" fmla="val 2295333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E2BAF-721A-E6C6-DE1F-7D1B72D32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Нечеткие Дубликаты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018506-1F2D-164D-94AF-AF464FB095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9" b="12382"/>
          <a:stretch/>
        </p:blipFill>
        <p:spPr>
          <a:xfrm>
            <a:off x="457200" y="1276350"/>
            <a:ext cx="84074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20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8E83F-DF36-2F65-6665-66105C2D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поиска нечетких дублей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1553B60-65EA-0CF7-6C13-4127B432C4C9}"/>
              </a:ext>
            </a:extLst>
          </p:cNvPr>
          <p:cNvSpPr txBox="1"/>
          <p:nvPr/>
        </p:nvSpPr>
        <p:spPr>
          <a:xfrm>
            <a:off x="304800" y="1123950"/>
            <a:ext cx="4191000" cy="3720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0209" indent="-398145">
              <a:lnSpc>
                <a:spcPct val="100000"/>
              </a:lnSpc>
              <a:spcAft>
                <a:spcPts val="600"/>
              </a:spcAft>
              <a:buAutoNum type="arabicPeriod"/>
              <a:tabLst>
                <a:tab pos="410209" algn="l"/>
                <a:tab pos="410845" algn="l"/>
              </a:tabLst>
            </a:pPr>
            <a:r>
              <a:rPr spc="-65" dirty="0">
                <a:cs typeface="Microsoft Sans Serif"/>
              </a:rPr>
              <a:t>Shazam</a:t>
            </a:r>
            <a:r>
              <a:rPr spc="-20" dirty="0">
                <a:cs typeface="Microsoft Sans Serif"/>
              </a:rPr>
              <a:t> </a:t>
            </a:r>
            <a:r>
              <a:rPr spc="-10" dirty="0">
                <a:cs typeface="Microsoft Sans Serif"/>
              </a:rPr>
              <a:t>-</a:t>
            </a:r>
            <a:r>
              <a:rPr spc="30" dirty="0">
                <a:cs typeface="Microsoft Sans Serif"/>
              </a:rPr>
              <a:t> </a:t>
            </a:r>
            <a:r>
              <a:rPr spc="-30" dirty="0">
                <a:cs typeface="Microsoft Sans Serif"/>
              </a:rPr>
              <a:t>поиск</a:t>
            </a:r>
            <a:r>
              <a:rPr spc="10" dirty="0">
                <a:cs typeface="Microsoft Sans Serif"/>
              </a:rPr>
              <a:t> </a:t>
            </a:r>
            <a:r>
              <a:rPr spc="-30" dirty="0">
                <a:cs typeface="Microsoft Sans Serif"/>
              </a:rPr>
              <a:t>музыкального</a:t>
            </a:r>
            <a:r>
              <a:rPr spc="65"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трека</a:t>
            </a:r>
            <a:r>
              <a:rPr spc="10"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по</a:t>
            </a:r>
            <a:r>
              <a:rPr spc="30" dirty="0">
                <a:cs typeface="Microsoft Sans Serif"/>
              </a:rPr>
              <a:t> </a:t>
            </a:r>
            <a:r>
              <a:rPr spc="-30" dirty="0">
                <a:cs typeface="Microsoft Sans Serif"/>
              </a:rPr>
              <a:t>зашумленному</a:t>
            </a:r>
            <a:r>
              <a:rPr spc="55"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фрагменту.</a:t>
            </a:r>
            <a:r>
              <a:rPr dirty="0">
                <a:cs typeface="Microsoft Sans Serif"/>
              </a:rPr>
              <a:t> </a:t>
            </a:r>
          </a:p>
          <a:p>
            <a:pPr marL="410209" indent="-398145">
              <a:lnSpc>
                <a:spcPct val="100000"/>
              </a:lnSpc>
              <a:spcAft>
                <a:spcPts val="600"/>
              </a:spcAft>
              <a:buAutoNum type="arabicPeriod"/>
              <a:tabLst>
                <a:tab pos="410209" algn="l"/>
                <a:tab pos="410845" algn="l"/>
              </a:tabLst>
            </a:pPr>
            <a:r>
              <a:rPr spc="-30" dirty="0">
                <a:cs typeface="Microsoft Sans Serif"/>
              </a:rPr>
              <a:t>Поиск</a:t>
            </a:r>
            <a:r>
              <a:rPr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дублирующихся</a:t>
            </a:r>
            <a:r>
              <a:rPr spc="70" dirty="0">
                <a:cs typeface="Microsoft Sans Serif"/>
              </a:rPr>
              <a:t> </a:t>
            </a:r>
            <a:r>
              <a:rPr spc="-15" dirty="0">
                <a:cs typeface="Microsoft Sans Serif"/>
              </a:rPr>
              <a:t>постов</a:t>
            </a:r>
            <a:r>
              <a:rPr spc="15" dirty="0">
                <a:cs typeface="Microsoft Sans Serif"/>
              </a:rPr>
              <a:t> “перезаливок”</a:t>
            </a:r>
            <a:r>
              <a:rPr spc="45" dirty="0">
                <a:cs typeface="Microsoft Sans Serif"/>
              </a:rPr>
              <a:t> </a:t>
            </a:r>
            <a:r>
              <a:rPr spc="-5" dirty="0">
                <a:cs typeface="Microsoft Sans Serif"/>
              </a:rPr>
              <a:t>в</a:t>
            </a:r>
            <a:r>
              <a:rPr spc="40" dirty="0">
                <a:cs typeface="Microsoft Sans Serif"/>
              </a:rPr>
              <a:t> </a:t>
            </a:r>
            <a:r>
              <a:rPr spc="-35" dirty="0">
                <a:cs typeface="Microsoft Sans Serif"/>
              </a:rPr>
              <a:t>UGC</a:t>
            </a:r>
            <a:r>
              <a:rPr spc="10" dirty="0">
                <a:cs typeface="Microsoft Sans Serif"/>
              </a:rPr>
              <a:t> </a:t>
            </a:r>
            <a:r>
              <a:rPr spc="-5" dirty="0">
                <a:cs typeface="Microsoft Sans Serif"/>
              </a:rPr>
              <a:t>сервисах.</a:t>
            </a:r>
            <a:r>
              <a:rPr dirty="0">
                <a:cs typeface="Microsoft Sans Serif"/>
              </a:rPr>
              <a:t> </a:t>
            </a:r>
          </a:p>
          <a:p>
            <a:pPr marL="410209" indent="-398145">
              <a:lnSpc>
                <a:spcPct val="100000"/>
              </a:lnSpc>
              <a:spcAft>
                <a:spcPts val="600"/>
              </a:spcAft>
              <a:buAutoNum type="arabicPeriod"/>
              <a:tabLst>
                <a:tab pos="410209" algn="l"/>
                <a:tab pos="410845" algn="l"/>
              </a:tabLst>
            </a:pPr>
            <a:r>
              <a:rPr spc="-55" dirty="0">
                <a:cs typeface="Microsoft Sans Serif"/>
              </a:rPr>
              <a:t>Детекция</a:t>
            </a:r>
            <a:r>
              <a:rPr spc="45" dirty="0">
                <a:cs typeface="Microsoft Sans Serif"/>
              </a:rPr>
              <a:t> </a:t>
            </a:r>
            <a:r>
              <a:rPr spc="-10" dirty="0">
                <a:cs typeface="Microsoft Sans Serif"/>
              </a:rPr>
              <a:t>нарушения</a:t>
            </a:r>
            <a:r>
              <a:rPr spc="-35" dirty="0">
                <a:cs typeface="Microsoft Sans Serif"/>
              </a:rPr>
              <a:t> </a:t>
            </a:r>
            <a:r>
              <a:rPr spc="-25" dirty="0">
                <a:cs typeface="Microsoft Sans Serif"/>
              </a:rPr>
              <a:t>авторских</a:t>
            </a:r>
            <a:r>
              <a:rPr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прав.</a:t>
            </a:r>
            <a:r>
              <a:rPr dirty="0">
                <a:cs typeface="Microsoft Sans Serif"/>
              </a:rPr>
              <a:t> </a:t>
            </a:r>
          </a:p>
          <a:p>
            <a:pPr marL="410209" indent="-398145">
              <a:lnSpc>
                <a:spcPct val="100000"/>
              </a:lnSpc>
              <a:spcAft>
                <a:spcPts val="600"/>
              </a:spcAft>
              <a:buAutoNum type="arabicPeriod"/>
              <a:tabLst>
                <a:tab pos="410209" algn="l"/>
                <a:tab pos="410845" algn="l"/>
              </a:tabLst>
            </a:pPr>
            <a:r>
              <a:rPr spc="-30" dirty="0">
                <a:cs typeface="Microsoft Sans Serif"/>
              </a:rPr>
              <a:t>Удаление</a:t>
            </a:r>
            <a:r>
              <a:rPr spc="90" dirty="0">
                <a:cs typeface="Microsoft Sans Serif"/>
              </a:rPr>
              <a:t> </a:t>
            </a:r>
            <a:r>
              <a:rPr spc="-30" dirty="0">
                <a:cs typeface="Microsoft Sans Serif"/>
              </a:rPr>
              <a:t>дубликатов</a:t>
            </a:r>
            <a:r>
              <a:rPr spc="90" dirty="0">
                <a:cs typeface="Microsoft Sans Serif"/>
              </a:rPr>
              <a:t> </a:t>
            </a:r>
            <a:r>
              <a:rPr spc="-40" dirty="0">
                <a:cs typeface="Microsoft Sans Serif"/>
              </a:rPr>
              <a:t>из</a:t>
            </a:r>
            <a:r>
              <a:rPr spc="45" dirty="0">
                <a:cs typeface="Microsoft Sans Serif"/>
              </a:rPr>
              <a:t> </a:t>
            </a:r>
            <a:r>
              <a:rPr spc="-30" dirty="0">
                <a:cs typeface="Microsoft Sans Serif"/>
              </a:rPr>
              <a:t>датасета,</a:t>
            </a:r>
            <a:r>
              <a:rPr spc="80"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чтобы</a:t>
            </a:r>
            <a:r>
              <a:rPr spc="40"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поднять</a:t>
            </a:r>
            <a:r>
              <a:rPr spc="15" dirty="0">
                <a:cs typeface="Microsoft Sans Serif"/>
              </a:rPr>
              <a:t> </a:t>
            </a:r>
            <a:r>
              <a:rPr spc="-30" dirty="0">
                <a:cs typeface="Microsoft Sans Serif"/>
              </a:rPr>
              <a:t>качество</a:t>
            </a:r>
            <a:r>
              <a:rPr spc="30" dirty="0">
                <a:cs typeface="Microsoft Sans Serif"/>
              </a:rPr>
              <a:t> </a:t>
            </a:r>
            <a:r>
              <a:rPr spc="-10" dirty="0">
                <a:cs typeface="Microsoft Sans Serif"/>
              </a:rPr>
              <a:t>и</a:t>
            </a:r>
            <a:r>
              <a:rPr spc="40" dirty="0">
                <a:cs typeface="Microsoft Sans Serif"/>
              </a:rPr>
              <a:t> </a:t>
            </a:r>
            <a:r>
              <a:rPr spc="-15" dirty="0">
                <a:cs typeface="Microsoft Sans Serif"/>
              </a:rPr>
              <a:t>скорость</a:t>
            </a:r>
            <a:r>
              <a:rPr spc="5"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тренировки.</a:t>
            </a:r>
            <a:r>
              <a:rPr dirty="0">
                <a:cs typeface="Microsoft Sans Serif"/>
              </a:rPr>
              <a:t> </a:t>
            </a:r>
          </a:p>
          <a:p>
            <a:pPr marL="410209" indent="-398145">
              <a:lnSpc>
                <a:spcPct val="100000"/>
              </a:lnSpc>
              <a:spcAft>
                <a:spcPts val="600"/>
              </a:spcAft>
              <a:buAutoNum type="arabicPeriod"/>
              <a:tabLst>
                <a:tab pos="410209" algn="l"/>
                <a:tab pos="410845" algn="l"/>
              </a:tabLst>
            </a:pPr>
            <a:r>
              <a:rPr spc="-30" dirty="0">
                <a:cs typeface="Microsoft Sans Serif"/>
              </a:rPr>
              <a:t>Распознавание</a:t>
            </a:r>
            <a:r>
              <a:rPr spc="10" dirty="0">
                <a:cs typeface="Microsoft Sans Serif"/>
              </a:rPr>
              <a:t> </a:t>
            </a:r>
            <a:r>
              <a:rPr spc="-10" dirty="0">
                <a:cs typeface="Microsoft Sans Serif"/>
              </a:rPr>
              <a:t>лиц.</a:t>
            </a:r>
            <a:r>
              <a:rPr dirty="0">
                <a:cs typeface="Microsoft Sans Serif"/>
              </a:rPr>
              <a:t> </a:t>
            </a:r>
          </a:p>
          <a:p>
            <a:pPr marL="410209" indent="-398145">
              <a:lnSpc>
                <a:spcPct val="100000"/>
              </a:lnSpc>
              <a:spcAft>
                <a:spcPts val="600"/>
              </a:spcAft>
              <a:buAutoNum type="arabicPeriod"/>
              <a:tabLst>
                <a:tab pos="410209" algn="l"/>
                <a:tab pos="410845" algn="l"/>
              </a:tabLst>
            </a:pPr>
            <a:r>
              <a:rPr spc="-30" dirty="0">
                <a:cs typeface="Microsoft Sans Serif"/>
              </a:rPr>
              <a:t>Наука:</a:t>
            </a:r>
            <a:r>
              <a:rPr spc="45"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написание</a:t>
            </a:r>
            <a:r>
              <a:rPr spc="65"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статей</a:t>
            </a:r>
            <a:r>
              <a:rPr spc="40" dirty="0">
                <a:cs typeface="Microsoft Sans Serif"/>
              </a:rPr>
              <a:t> </a:t>
            </a:r>
            <a:r>
              <a:rPr spc="-5" dirty="0">
                <a:cs typeface="Microsoft Sans Serif"/>
              </a:rPr>
              <a:t>о</a:t>
            </a:r>
            <a:r>
              <a:rPr spc="25" dirty="0">
                <a:cs typeface="Microsoft Sans Serif"/>
              </a:rPr>
              <a:t> </a:t>
            </a:r>
            <a:r>
              <a:rPr spc="-30" dirty="0">
                <a:cs typeface="Microsoft Sans Serif"/>
              </a:rPr>
              <a:t>том,</a:t>
            </a:r>
            <a:r>
              <a:rPr spc="50" dirty="0">
                <a:cs typeface="Microsoft Sans Serif"/>
              </a:rPr>
              <a:t> </a:t>
            </a:r>
            <a:r>
              <a:rPr spc="-20" dirty="0">
                <a:cs typeface="Microsoft Sans Serif"/>
              </a:rPr>
              <a:t>что</a:t>
            </a:r>
            <a:r>
              <a:rPr spc="30" dirty="0">
                <a:cs typeface="Microsoft Sans Serif"/>
              </a:rPr>
              <a:t> </a:t>
            </a:r>
            <a:r>
              <a:rPr spc="-5" dirty="0">
                <a:cs typeface="Microsoft Sans Serif"/>
              </a:rPr>
              <a:t>вы</a:t>
            </a:r>
            <a:r>
              <a:rPr spc="30" dirty="0">
                <a:cs typeface="Microsoft Sans Serif"/>
              </a:rPr>
              <a:t> </a:t>
            </a:r>
            <a:r>
              <a:rPr spc="-10" dirty="0">
                <a:cs typeface="Microsoft Sans Serif"/>
              </a:rPr>
              <a:t>нашли</a:t>
            </a:r>
            <a:r>
              <a:rPr spc="25" dirty="0">
                <a:cs typeface="Microsoft Sans Serif"/>
              </a:rPr>
              <a:t> </a:t>
            </a:r>
            <a:r>
              <a:rPr spc="-30" dirty="0">
                <a:cs typeface="Microsoft Sans Serif"/>
              </a:rPr>
              <a:t>дубликаты</a:t>
            </a:r>
            <a:r>
              <a:rPr spc="90" dirty="0">
                <a:cs typeface="Microsoft Sans Serif"/>
              </a:rPr>
              <a:t> </a:t>
            </a:r>
            <a:r>
              <a:rPr spc="-5" dirty="0">
                <a:cs typeface="Microsoft Sans Serif"/>
              </a:rPr>
              <a:t>в</a:t>
            </a:r>
            <a:r>
              <a:rPr spc="40" dirty="0">
                <a:cs typeface="Microsoft Sans Serif"/>
              </a:rPr>
              <a:t> </a:t>
            </a:r>
            <a:r>
              <a:rPr spc="-30" dirty="0">
                <a:cs typeface="Microsoft Sans Serif"/>
              </a:rPr>
              <a:t>популярном</a:t>
            </a:r>
            <a:r>
              <a:rPr spc="65" dirty="0">
                <a:cs typeface="Microsoft Sans Serif"/>
              </a:rPr>
              <a:t> </a:t>
            </a:r>
            <a:r>
              <a:rPr spc="-30" dirty="0">
                <a:cs typeface="Microsoft Sans Serif"/>
              </a:rPr>
              <a:t>датасете.</a:t>
            </a:r>
            <a:r>
              <a:rPr dirty="0">
                <a:cs typeface="Microsoft Sans Serif"/>
              </a:rPr>
              <a:t>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D8D3DC7-359F-4547-88F7-9157D8D9A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7407" y="1057274"/>
            <a:ext cx="4386181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26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8E83F-DF36-2F65-6665-66105C2D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Сходство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1553B60-65EA-0CF7-6C13-4127B432C4C9}"/>
              </a:ext>
            </a:extLst>
          </p:cNvPr>
          <p:cNvSpPr txBox="1"/>
          <p:nvPr/>
        </p:nvSpPr>
        <p:spPr>
          <a:xfrm>
            <a:off x="304800" y="1123950"/>
            <a:ext cx="5181600" cy="1397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4">
              <a:lnSpc>
                <a:spcPct val="100000"/>
              </a:lnSpc>
              <a:tabLst>
                <a:tab pos="410209" algn="l"/>
                <a:tab pos="410845" algn="l"/>
              </a:tabLst>
            </a:pPr>
            <a:r>
              <a:rPr lang="en-T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Виды сходства: </a:t>
            </a: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10209" indent="-39814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10209" algn="l"/>
                <a:tab pos="410845" algn="l"/>
              </a:tabLst>
            </a:pPr>
            <a:r>
              <a:rPr lang="en-T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текстовое,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10209" indent="-39814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10209" algn="l"/>
                <a:tab pos="410845" algn="l"/>
              </a:tabLst>
            </a:pPr>
            <a:r>
              <a:rPr lang="en-T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числовое,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10209" indent="-39814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10209" algn="l"/>
                <a:tab pos="410845" algn="l"/>
              </a:tabLst>
            </a:pPr>
            <a:r>
              <a:rPr lang="en-T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визуальное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410209" indent="-398145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10209" algn="l"/>
                <a:tab pos="410845" algn="l"/>
              </a:tabLst>
            </a:pPr>
            <a:r>
              <a:rPr lang="ru-RU" spc="-65" dirty="0">
                <a:latin typeface="Calibri" panose="020F0502020204030204" pitchFamily="34" charset="0"/>
                <a:cs typeface="Times New Roman" panose="02020603050405020304" pitchFamily="18" charset="0"/>
              </a:rPr>
              <a:t>семантическое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BD6D7-9436-5F41-A521-15762501FD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63"/>
          <a:stretch/>
        </p:blipFill>
        <p:spPr>
          <a:xfrm>
            <a:off x="2209800" y="1721922"/>
            <a:ext cx="2850797" cy="1699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F665A-57B8-8A4B-851D-0085D5A4EC02}"/>
              </a:ext>
            </a:extLst>
          </p:cNvPr>
          <p:cNvSpPr txBox="1"/>
          <p:nvPr/>
        </p:nvSpPr>
        <p:spPr>
          <a:xfrm>
            <a:off x="228600" y="3716876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u="none" strike="noStrike" dirty="0">
                <a:effectLst/>
                <a:latin typeface="Söhne"/>
              </a:rPr>
              <a:t>Сходство</a:t>
            </a:r>
            <a:r>
              <a:rPr lang="ru-RU" b="0" i="0" u="none" strike="noStrike" dirty="0">
                <a:effectLst/>
                <a:latin typeface="Söhne"/>
              </a:rPr>
              <a:t> - это мера степени схожести, близости или схожести между двумя объектами, явлениями или явлениями. Сходство есть числовая мера, которая определяет, насколько два объекта близки друг к другу на основе определенной </a:t>
            </a:r>
            <a:r>
              <a:rPr lang="ru-RU" b="1" i="0" u="none" strike="noStrike" dirty="0">
                <a:effectLst/>
                <a:latin typeface="Söhne"/>
              </a:rPr>
              <a:t>метрики</a:t>
            </a:r>
            <a:r>
              <a:rPr lang="ru-RU" b="0" i="0" u="none" strike="noStrike" dirty="0">
                <a:effectLst/>
                <a:latin typeface="Söhne"/>
              </a:rPr>
              <a:t>.</a:t>
            </a:r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BC0C33-0A9D-5F46-89A5-F6A3D5D21A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7" t="8009" r="6357" b="3896"/>
          <a:stretch/>
        </p:blipFill>
        <p:spPr>
          <a:xfrm>
            <a:off x="4279227" y="197103"/>
            <a:ext cx="2875818" cy="19000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E9D40F-8A60-D442-B4C7-9783A82BE2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91" t="14361" r="14546" b="14361"/>
          <a:stretch/>
        </p:blipFill>
        <p:spPr>
          <a:xfrm>
            <a:off x="6408931" y="1838514"/>
            <a:ext cx="2534055" cy="16925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827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AB02-67E0-324C-A535-B60B9E23A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сходства</a:t>
            </a:r>
            <a:endParaRPr lang="en-T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47E72-CD71-4946-8193-907FAA2C6EA4}"/>
              </a:ext>
            </a:extLst>
          </p:cNvPr>
          <p:cNvSpPr txBox="1"/>
          <p:nvPr/>
        </p:nvSpPr>
        <p:spPr>
          <a:xfrm>
            <a:off x="155276" y="971550"/>
            <a:ext cx="4111924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Евклидово расстояние (</a:t>
            </a:r>
            <a:r>
              <a:rPr lang="en-US" sz="1400" b="1" dirty="0"/>
              <a:t>Euclidean Distance)</a:t>
            </a:r>
          </a:p>
          <a:p>
            <a:r>
              <a:rPr lang="ru-RU" sz="1050" dirty="0"/>
              <a:t>геометрическое расстояние между двумя точками в </a:t>
            </a:r>
            <a:r>
              <a:rPr lang="en-US" sz="1050" dirty="0"/>
              <a:t>n-</a:t>
            </a:r>
            <a:r>
              <a:rPr lang="ru-RU" sz="1050" dirty="0"/>
              <a:t>мерном пространстве.</a:t>
            </a:r>
            <a:endParaRPr lang="ru-RU" sz="1400" dirty="0"/>
          </a:p>
          <a:p>
            <a:r>
              <a:rPr lang="ru-RU" sz="1400" b="1" dirty="0"/>
              <a:t>Манхэттенское расстояние (</a:t>
            </a:r>
            <a:r>
              <a:rPr lang="en-US" sz="1400" b="1" dirty="0"/>
              <a:t>Manhattan Distance) </a:t>
            </a:r>
            <a:endParaRPr lang="ru-RU" sz="1400" b="1" dirty="0"/>
          </a:p>
          <a:p>
            <a:r>
              <a:rPr lang="ru-RU" sz="1000" dirty="0"/>
              <a:t>сумма абсолютных различий между координатами двух точек</a:t>
            </a:r>
          </a:p>
          <a:p>
            <a:r>
              <a:rPr lang="ru-RU" sz="1400" b="1" dirty="0"/>
              <a:t>Косинусное сходство (</a:t>
            </a:r>
            <a:r>
              <a:rPr lang="en-US" sz="1400" b="1" dirty="0"/>
              <a:t>Cosine Similarity)</a:t>
            </a:r>
          </a:p>
          <a:p>
            <a:r>
              <a:rPr lang="ru-RU" sz="1000" dirty="0"/>
              <a:t>угол между векторами в </a:t>
            </a:r>
            <a:r>
              <a:rPr lang="en-US" sz="1000" dirty="0"/>
              <a:t>n-</a:t>
            </a:r>
            <a:r>
              <a:rPr lang="ru-RU" sz="1000" dirty="0"/>
              <a:t>мерном пространстве</a:t>
            </a:r>
          </a:p>
          <a:p>
            <a:r>
              <a:rPr lang="ru-RU" sz="1400" b="1" dirty="0"/>
              <a:t>Корреляция Пирсона (</a:t>
            </a:r>
            <a:r>
              <a:rPr lang="en-US" sz="1400" b="1" dirty="0"/>
              <a:t>Pearson Correlation)</a:t>
            </a:r>
          </a:p>
          <a:p>
            <a:r>
              <a:rPr lang="ru-RU" sz="1000" dirty="0"/>
              <a:t>линейная зависимость между переменными</a:t>
            </a:r>
          </a:p>
          <a:p>
            <a:r>
              <a:rPr lang="ru-RU" sz="1400" b="1" dirty="0" err="1"/>
              <a:t>Жаккардово</a:t>
            </a:r>
            <a:r>
              <a:rPr lang="ru-RU" sz="1400" b="1" dirty="0"/>
              <a:t> сходство (</a:t>
            </a:r>
            <a:r>
              <a:rPr lang="en-US" sz="1400" b="1" dirty="0"/>
              <a:t>Jaccard Similarity)</a:t>
            </a:r>
          </a:p>
          <a:p>
            <a:r>
              <a:rPr lang="ru-RU" sz="1000" dirty="0"/>
              <a:t>мера пересечения множеств.</a:t>
            </a:r>
          </a:p>
          <a:p>
            <a:r>
              <a:rPr lang="ru-RU" sz="1400" b="1" dirty="0"/>
              <a:t>Расстояние Левенштейна (</a:t>
            </a:r>
            <a:r>
              <a:rPr lang="en-US" sz="1400" b="1" dirty="0" err="1"/>
              <a:t>Levenshtein</a:t>
            </a:r>
            <a:r>
              <a:rPr lang="en-US" sz="1400" b="1" dirty="0"/>
              <a:t> Distance)</a:t>
            </a:r>
            <a:r>
              <a:rPr lang="en-US" sz="1400" dirty="0"/>
              <a:t> </a:t>
            </a:r>
            <a:r>
              <a:rPr lang="ru-RU" sz="1000" dirty="0"/>
              <a:t>различия между строками путем подсчета минимального количества операций</a:t>
            </a:r>
          </a:p>
          <a:p>
            <a:r>
              <a:rPr lang="ru-RU" sz="1400" b="1" dirty="0"/>
              <a:t>Расстояние Хэмминга (</a:t>
            </a:r>
            <a:r>
              <a:rPr lang="en-US" sz="1400" b="1" dirty="0"/>
              <a:t>Hamming Distance)</a:t>
            </a:r>
          </a:p>
          <a:p>
            <a:r>
              <a:rPr lang="ru-RU" sz="1000" dirty="0"/>
              <a:t>различия между строками фиксированной длины путем подсчета несовпадающих символов.</a:t>
            </a:r>
            <a:endParaRPr lang="ru-RU" sz="1400" dirty="0"/>
          </a:p>
          <a:p>
            <a:r>
              <a:rPr lang="ru-RU" sz="1400" b="1" dirty="0"/>
              <a:t>Расстояние </a:t>
            </a:r>
            <a:r>
              <a:rPr lang="ru-RU" sz="1400" b="1" dirty="0" err="1"/>
              <a:t>Махаланобиса</a:t>
            </a:r>
            <a:r>
              <a:rPr lang="ru-RU" sz="1400" b="1" dirty="0"/>
              <a:t> (</a:t>
            </a:r>
            <a:r>
              <a:rPr lang="en-US" sz="1400" b="1" dirty="0" err="1"/>
              <a:t>Mahalanobis</a:t>
            </a:r>
            <a:r>
              <a:rPr lang="en-US" sz="1400" b="1" dirty="0"/>
              <a:t> Distance)</a:t>
            </a:r>
          </a:p>
          <a:p>
            <a:r>
              <a:rPr lang="ru-RU" sz="1000" dirty="0"/>
              <a:t>ковариация между признаками</a:t>
            </a:r>
          </a:p>
          <a:p>
            <a:r>
              <a:rPr lang="ru-RU" sz="1400" b="1" dirty="0"/>
              <a:t>Метрика </a:t>
            </a:r>
            <a:r>
              <a:rPr lang="ru-RU" sz="1400" b="1" dirty="0" err="1"/>
              <a:t>Минковского</a:t>
            </a:r>
            <a:r>
              <a:rPr lang="ru-RU" sz="1400" b="1" dirty="0"/>
              <a:t> (</a:t>
            </a:r>
            <a:r>
              <a:rPr lang="en-US" sz="1400" b="1" dirty="0" err="1"/>
              <a:t>Minkowski</a:t>
            </a:r>
            <a:r>
              <a:rPr lang="en-US" sz="1400" b="1" dirty="0"/>
              <a:t> Metric)</a:t>
            </a:r>
          </a:p>
          <a:p>
            <a:r>
              <a:rPr lang="ru-RU" sz="1000" dirty="0"/>
              <a:t>обобщенное расстояние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F80EA-63C5-8744-8410-009DBE42835B}"/>
              </a:ext>
            </a:extLst>
          </p:cNvPr>
          <p:cNvSpPr txBox="1"/>
          <p:nvPr/>
        </p:nvSpPr>
        <p:spPr>
          <a:xfrm>
            <a:off x="4447162" y="971550"/>
            <a:ext cx="46015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Корреляция касательной (</a:t>
            </a:r>
            <a:r>
              <a:rPr lang="en-US" sz="1400" b="1" dirty="0" err="1"/>
              <a:t>Tanimoto</a:t>
            </a:r>
            <a:r>
              <a:rPr lang="en-US" sz="1400" b="1" dirty="0"/>
              <a:t> Coefficient)</a:t>
            </a:r>
          </a:p>
          <a:p>
            <a:r>
              <a:rPr lang="ru-RU" sz="1000" dirty="0"/>
              <a:t>сравнение между двумя бинарными векторами.</a:t>
            </a:r>
          </a:p>
          <a:p>
            <a:r>
              <a:rPr lang="ru-RU" sz="1400" b="1" dirty="0"/>
              <a:t>Среднеквадратичное отклонение (</a:t>
            </a:r>
            <a:r>
              <a:rPr lang="en-US" sz="1400" b="1" dirty="0"/>
              <a:t>MSE) </a:t>
            </a:r>
            <a:endParaRPr lang="ru-RU" sz="1400" b="1" dirty="0"/>
          </a:p>
          <a:p>
            <a:r>
              <a:rPr lang="ru-RU" sz="1000" dirty="0"/>
              <a:t>разницу между пикселями двух изображений.</a:t>
            </a:r>
          </a:p>
          <a:p>
            <a:r>
              <a:rPr lang="ru-RU" sz="1400" b="1" dirty="0"/>
              <a:t>Структурный сходство (</a:t>
            </a:r>
            <a:r>
              <a:rPr lang="en-US" sz="1400" b="1" dirty="0"/>
              <a:t>Structural Similarity Index, SSIM) </a:t>
            </a:r>
            <a:endParaRPr lang="ru-RU" sz="1400" b="1" dirty="0"/>
          </a:p>
          <a:p>
            <a:r>
              <a:rPr lang="ru-RU" sz="1000" dirty="0"/>
              <a:t>сходство в структуре, контрасте и яркости между двумя изображениями.</a:t>
            </a:r>
          </a:p>
          <a:p>
            <a:r>
              <a:rPr lang="ru-RU" sz="1400" b="1" dirty="0"/>
              <a:t>Гистограммы цветов (</a:t>
            </a:r>
            <a:r>
              <a:rPr lang="en-US" sz="1400" b="1" dirty="0"/>
              <a:t>Color Histograms) </a:t>
            </a:r>
            <a:endParaRPr lang="ru-RU" sz="1400" b="1" dirty="0"/>
          </a:p>
          <a:p>
            <a:r>
              <a:rPr lang="ru-RU" sz="1000" dirty="0"/>
              <a:t>гистограммы цветовых каналов. </a:t>
            </a:r>
          </a:p>
          <a:p>
            <a:r>
              <a:rPr lang="ru-RU" sz="1400" b="1" dirty="0"/>
              <a:t>Гистограммы текстур (</a:t>
            </a:r>
            <a:r>
              <a:rPr lang="en-US" sz="1400" b="1" dirty="0"/>
              <a:t>Texture Histograms) </a:t>
            </a:r>
            <a:endParaRPr lang="ru-RU" sz="1400" b="1" dirty="0"/>
          </a:p>
          <a:p>
            <a:r>
              <a:rPr lang="ru-RU" sz="1000" dirty="0"/>
              <a:t>текстурные характеристики изображения.</a:t>
            </a:r>
          </a:p>
          <a:p>
            <a:r>
              <a:rPr lang="ru-RU" sz="1400" b="1" dirty="0"/>
              <a:t>Фреймовое сходство (</a:t>
            </a:r>
            <a:r>
              <a:rPr lang="en-US" sz="1400" b="1" dirty="0"/>
              <a:t>Frame Difference) </a:t>
            </a:r>
            <a:endParaRPr lang="ru-RU" sz="1400" b="1" dirty="0"/>
          </a:p>
          <a:p>
            <a:r>
              <a:rPr lang="ru-RU" sz="1000" dirty="0"/>
              <a:t>видеообработка для измерения сходства между кадрами видео.</a:t>
            </a:r>
          </a:p>
          <a:p>
            <a:r>
              <a:rPr lang="en-US" sz="1400" b="1" dirty="0"/>
              <a:t>Wavelet-</a:t>
            </a:r>
            <a:r>
              <a:rPr lang="ru-RU" sz="1400" b="1" dirty="0"/>
              <a:t>преобразование (</a:t>
            </a:r>
            <a:r>
              <a:rPr lang="en-US" sz="1400" b="1" dirty="0"/>
              <a:t>Wavelet Transform)</a:t>
            </a:r>
          </a:p>
          <a:p>
            <a:r>
              <a:rPr lang="ru-RU" sz="1000" dirty="0"/>
              <a:t>высокочастотные и низкочастотные составляющие изображений.</a:t>
            </a:r>
          </a:p>
          <a:p>
            <a:r>
              <a:rPr lang="ru-RU" sz="1400" b="1" dirty="0"/>
              <a:t>Сравнение дескрипторов (</a:t>
            </a:r>
            <a:r>
              <a:rPr lang="en-US" sz="1400" b="1" dirty="0"/>
              <a:t>Feature Descriptors)</a:t>
            </a:r>
          </a:p>
          <a:p>
            <a:r>
              <a:rPr lang="ru-RU" sz="1000" dirty="0"/>
              <a:t>такие как </a:t>
            </a:r>
            <a:r>
              <a:rPr lang="en-US" sz="1000" dirty="0"/>
              <a:t>SIFT, SURF, </a:t>
            </a:r>
            <a:r>
              <a:rPr lang="ru-RU" sz="1000" dirty="0"/>
              <a:t>и </a:t>
            </a:r>
            <a:r>
              <a:rPr lang="en-US" sz="1000" dirty="0"/>
              <a:t>ORB, </a:t>
            </a:r>
            <a:r>
              <a:rPr lang="ru-RU" sz="1000" dirty="0"/>
              <a:t>для извлечения и сравнения ключевых точек и их описаний.</a:t>
            </a:r>
          </a:p>
          <a:p>
            <a:r>
              <a:rPr lang="ru-RU" sz="1400" b="1" dirty="0"/>
              <a:t>Методы сиамских сетей</a:t>
            </a:r>
          </a:p>
          <a:p>
            <a:r>
              <a:rPr lang="ru-RU" sz="1000" dirty="0"/>
              <a:t>Оценивают векторное представление объектов</a:t>
            </a:r>
          </a:p>
          <a:p>
            <a:r>
              <a:rPr lang="ru-RU" sz="1400" b="1" dirty="0"/>
              <a:t>Структурные метрики (</a:t>
            </a:r>
            <a:r>
              <a:rPr lang="en-US" sz="1400" b="1" dirty="0"/>
              <a:t>Structural Metrics)</a:t>
            </a:r>
          </a:p>
          <a:p>
            <a:r>
              <a:rPr lang="ru-RU" sz="1000" dirty="0"/>
              <a:t>структурные характеристики изображений, такие как сетка дескрипторов и глубокие связи.</a:t>
            </a:r>
          </a:p>
        </p:txBody>
      </p:sp>
    </p:spTree>
    <p:extLst>
      <p:ext uri="{BB962C8B-B14F-4D97-AF65-F5344CB8AC3E}">
        <p14:creationId xmlns:p14="http://schemas.microsoft.com/office/powerpoint/2010/main" val="3199682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E339A-D705-3275-6CAB-4458E85F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Наивное решение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854CFF-8E06-17C6-E002-60571E576354}"/>
                  </a:ext>
                </a:extLst>
              </p:cNvPr>
              <p:cNvSpPr txBox="1"/>
              <p:nvPr/>
            </p:nvSpPr>
            <p:spPr>
              <a:xfrm>
                <a:off x="500550" y="1123950"/>
                <a:ext cx="5138250" cy="18312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dirty="0"/>
                  <a:t>Наивный алгоритм поиска нечетких дубликатов: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ru-RU" dirty="0"/>
                  <a:t>Для каждой пары x1, x2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ru-RU" dirty="0"/>
                  <a:t>Вычисляем</a:t>
                </a:r>
                <a:r>
                  <a:rPr lang="en-US" dirty="0"/>
                  <a:t> </a:t>
                </a:r>
                <a:r>
                  <a:rPr lang="ru-RU" dirty="0"/>
                  <a:t>сходство: d(x1, x2)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ru-RU" dirty="0"/>
                  <a:t>Проверяем: d(x1, x2) &lt; t </a:t>
                </a:r>
              </a:p>
              <a:p>
                <a:r>
                  <a:rPr lang="ru-RU" dirty="0"/>
                  <a:t> </a:t>
                </a:r>
              </a:p>
              <a:p>
                <a:r>
                  <a:rPr lang="ru-RU" dirty="0"/>
                  <a:t>Сложность задачи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854CFF-8E06-17C6-E002-60571E576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123950"/>
                <a:ext cx="5138250" cy="1831271"/>
              </a:xfrm>
              <a:prstGeom prst="rect">
                <a:avLst/>
              </a:prstGeom>
              <a:blipFill>
                <a:blip r:embed="rId2"/>
                <a:stretch>
                  <a:fillRect l="-985" t="-1379" b="-4828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object 4">
            <a:extLst>
              <a:ext uri="{FF2B5EF4-FFF2-40B4-BE49-F238E27FC236}">
                <a16:creationId xmlns:a16="http://schemas.microsoft.com/office/drawing/2014/main" id="{0AA55C01-A745-49FE-130F-6714981645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0" y="1733550"/>
            <a:ext cx="3487430" cy="301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20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4FC0B-294B-2761-8A59-7E97ED316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491050" cy="1095900"/>
          </a:xfrm>
        </p:spPr>
        <p:txBody>
          <a:bodyPr/>
          <a:lstStyle/>
          <a:p>
            <a:r>
              <a:rPr lang="en-US" dirty="0"/>
              <a:t>Approximate Nearest Neighbor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C73296-0F43-9549-8DEE-9102DB5D1214}"/>
              </a:ext>
            </a:extLst>
          </p:cNvPr>
          <p:cNvSpPr txBox="1"/>
          <p:nvPr/>
        </p:nvSpPr>
        <p:spPr>
          <a:xfrm>
            <a:off x="500550" y="1263791"/>
            <a:ext cx="8414850" cy="3548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765">
              <a:lnSpc>
                <a:spcPct val="114000"/>
              </a:lnSpc>
            </a:pPr>
            <a:r>
              <a:rPr lang="ru-RU" sz="1600" spc="-20" dirty="0">
                <a:cs typeface="Microsoft Sans Serif"/>
              </a:rPr>
              <a:t>Принцип:</a:t>
            </a:r>
            <a:r>
              <a:rPr lang="ru-RU" sz="1600" spc="8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найдем</a:t>
            </a:r>
            <a:r>
              <a:rPr lang="ru-RU" sz="1600" spc="25" dirty="0">
                <a:cs typeface="Microsoft Sans Serif"/>
              </a:rPr>
              <a:t> </a:t>
            </a:r>
            <a:r>
              <a:rPr lang="ru-RU" sz="1600" i="1" spc="-65" dirty="0">
                <a:cs typeface="Microsoft Sans Serif"/>
              </a:rPr>
              <a:t>K</a:t>
            </a:r>
            <a:r>
              <a:rPr lang="ru-RU" sz="1600" spc="20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наиболее</a:t>
            </a:r>
            <a:r>
              <a:rPr lang="ru-RU" sz="1600" spc="45" dirty="0">
                <a:cs typeface="Microsoft Sans Serif"/>
              </a:rPr>
              <a:t> </a:t>
            </a:r>
            <a:r>
              <a:rPr lang="ru-RU" sz="1600" i="1" spc="-30" dirty="0">
                <a:cs typeface="Arial"/>
              </a:rPr>
              <a:t>вероятных</a:t>
            </a:r>
            <a:r>
              <a:rPr lang="ru-RU" sz="1600" i="1" spc="15" dirty="0">
                <a:cs typeface="Arial"/>
              </a:rPr>
              <a:t> </a:t>
            </a:r>
            <a:r>
              <a:rPr lang="ru-RU" sz="1600" spc="-30" dirty="0">
                <a:cs typeface="Microsoft Sans Serif"/>
              </a:rPr>
              <a:t>ближайших</a:t>
            </a:r>
            <a:r>
              <a:rPr lang="ru-RU" sz="1600" spc="9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соседей.</a:t>
            </a:r>
            <a:r>
              <a:rPr lang="ru-RU" sz="1600" spc="20" dirty="0">
                <a:cs typeface="Microsoft Sans Serif"/>
              </a:rPr>
              <a:t> </a:t>
            </a:r>
            <a:r>
              <a:rPr lang="ru-RU" sz="1600" dirty="0">
                <a:cs typeface="Microsoft Sans Serif"/>
              </a:rPr>
              <a:t> </a:t>
            </a:r>
          </a:p>
          <a:p>
            <a:pPr marL="24765">
              <a:lnSpc>
                <a:spcPct val="114000"/>
              </a:lnSpc>
              <a:spcAft>
                <a:spcPts val="600"/>
              </a:spcAft>
            </a:pPr>
            <a:r>
              <a:rPr lang="ru-RU" sz="1600" spc="-10" dirty="0">
                <a:cs typeface="Microsoft Sans Serif"/>
              </a:rPr>
              <a:t>Сильный</a:t>
            </a:r>
            <a:r>
              <a:rPr lang="ru-RU" sz="1600" spc="10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выигрыш</a:t>
            </a:r>
            <a:r>
              <a:rPr lang="ru-RU" sz="1600" spc="6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по</a:t>
            </a:r>
            <a:r>
              <a:rPr lang="ru-RU" sz="1600" spc="2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скорости</a:t>
            </a:r>
            <a:r>
              <a:rPr lang="ru-RU" sz="1600" spc="-5" dirty="0">
                <a:cs typeface="Microsoft Sans Serif"/>
              </a:rPr>
              <a:t> </a:t>
            </a:r>
            <a:r>
              <a:rPr lang="ru-RU" sz="1600" spc="-35" dirty="0">
                <a:cs typeface="Microsoft Sans Serif"/>
              </a:rPr>
              <a:t>за</a:t>
            </a:r>
            <a:r>
              <a:rPr lang="ru-RU" sz="1600" spc="5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счет</a:t>
            </a:r>
            <a:r>
              <a:rPr lang="ru-RU" sz="1600" spc="5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потери</a:t>
            </a:r>
            <a:r>
              <a:rPr lang="ru-RU" sz="1600" spc="60" dirty="0">
                <a:cs typeface="Microsoft Sans Serif"/>
              </a:rPr>
              <a:t> </a:t>
            </a:r>
            <a:r>
              <a:rPr lang="ru-RU" sz="1600" spc="-5" dirty="0">
                <a:cs typeface="Microsoft Sans Serif"/>
              </a:rPr>
              <a:t>в</a:t>
            </a:r>
            <a:r>
              <a:rPr lang="ru-RU" sz="1600" spc="20" dirty="0">
                <a:cs typeface="Microsoft Sans Serif"/>
              </a:rPr>
              <a:t> </a:t>
            </a:r>
            <a:r>
              <a:rPr lang="ru-RU" sz="1600" spc="-45" dirty="0" err="1">
                <a:cs typeface="Microsoft Sans Serif"/>
              </a:rPr>
              <a:t>Recall</a:t>
            </a:r>
            <a:r>
              <a:rPr lang="ru-RU" sz="1600" spc="-45" dirty="0">
                <a:cs typeface="Microsoft Sans Serif"/>
              </a:rPr>
              <a:t>.</a:t>
            </a:r>
            <a:r>
              <a:rPr lang="ru-RU" sz="1600" dirty="0">
                <a:cs typeface="Microsoft Sans Serif"/>
              </a:rPr>
              <a:t> </a:t>
            </a:r>
          </a:p>
          <a:p>
            <a:pPr marL="24765">
              <a:lnSpc>
                <a:spcPct val="114000"/>
              </a:lnSpc>
            </a:pPr>
            <a:r>
              <a:rPr lang="ru-RU" sz="1600" spc="55" dirty="0">
                <a:cs typeface="Microsoft Sans Serif"/>
              </a:rPr>
              <a:t>ANN</a:t>
            </a:r>
            <a:r>
              <a:rPr lang="ru-RU" sz="1600" spc="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алгоритм</a:t>
            </a:r>
            <a:r>
              <a:rPr lang="ru-RU" sz="1600" spc="10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поиска</a:t>
            </a:r>
            <a:r>
              <a:rPr lang="ru-RU" sz="1600" spc="40" dirty="0">
                <a:cs typeface="Microsoft Sans Serif"/>
              </a:rPr>
              <a:t> </a:t>
            </a:r>
            <a:r>
              <a:rPr lang="ru-RU" sz="1600" spc="-45" dirty="0">
                <a:cs typeface="Microsoft Sans Serif"/>
              </a:rPr>
              <a:t>нечетких</a:t>
            </a:r>
            <a:r>
              <a:rPr lang="ru-RU" sz="1600" spc="25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дубликатов</a:t>
            </a:r>
            <a:r>
              <a:rPr lang="ru-RU" sz="1600" dirty="0">
                <a:cs typeface="Microsoft Sans Serif"/>
              </a:rPr>
              <a:t> </a:t>
            </a:r>
          </a:p>
          <a:p>
            <a:pPr marL="481965" indent="-398780">
              <a:lnSpc>
                <a:spcPct val="114000"/>
              </a:lnSpc>
              <a:buAutoNum type="arabicPeriod"/>
              <a:tabLst>
                <a:tab pos="481965" algn="l"/>
                <a:tab pos="482600" algn="l"/>
              </a:tabLst>
            </a:pPr>
            <a:r>
              <a:rPr lang="ru-RU" sz="1600" spc="-55" dirty="0">
                <a:cs typeface="Microsoft Sans Serif"/>
              </a:rPr>
              <a:t>Для</a:t>
            </a:r>
            <a:r>
              <a:rPr lang="ru-RU" sz="1600" spc="-20" dirty="0">
                <a:cs typeface="Microsoft Sans Serif"/>
              </a:rPr>
              <a:t> </a:t>
            </a:r>
            <a:r>
              <a:rPr lang="ru-RU" sz="1600" spc="-40" dirty="0">
                <a:cs typeface="Microsoft Sans Serif"/>
              </a:rPr>
              <a:t>каждого</a:t>
            </a:r>
            <a:r>
              <a:rPr lang="ru-RU" sz="1600" spc="10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элемента</a:t>
            </a:r>
            <a:r>
              <a:rPr lang="ru-RU" sz="1600" spc="-35" dirty="0">
                <a:cs typeface="Microsoft Sans Serif"/>
              </a:rPr>
              <a:t> </a:t>
            </a:r>
            <a:r>
              <a:rPr lang="ru-RU" sz="1600" spc="-15" dirty="0">
                <a:cs typeface="Microsoft Sans Serif"/>
              </a:rPr>
              <a:t>x1</a:t>
            </a:r>
            <a:r>
              <a:rPr lang="ru-RU" sz="1600" dirty="0">
                <a:cs typeface="Microsoft Sans Serif"/>
              </a:rPr>
              <a:t> </a:t>
            </a:r>
          </a:p>
          <a:p>
            <a:pPr marL="481965" indent="-398780">
              <a:lnSpc>
                <a:spcPct val="114000"/>
              </a:lnSpc>
              <a:buAutoNum type="arabicPeriod"/>
              <a:tabLst>
                <a:tab pos="481965" algn="l"/>
                <a:tab pos="482600" algn="l"/>
              </a:tabLst>
            </a:pPr>
            <a:r>
              <a:rPr lang="ru-RU" sz="1600" spc="-30" dirty="0">
                <a:cs typeface="Microsoft Sans Serif"/>
              </a:rPr>
              <a:t>Находим</a:t>
            </a:r>
            <a:r>
              <a:rPr lang="ru-RU" sz="1600" spc="45" dirty="0">
                <a:cs typeface="Microsoft Sans Serif"/>
              </a:rPr>
              <a:t> </a:t>
            </a:r>
            <a:r>
              <a:rPr lang="ru-RU" sz="1600" spc="-65" dirty="0">
                <a:cs typeface="Microsoft Sans Serif"/>
              </a:rPr>
              <a:t>K</a:t>
            </a:r>
            <a:r>
              <a:rPr lang="ru-RU" sz="1600" spc="20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ближайших</a:t>
            </a:r>
            <a:r>
              <a:rPr lang="ru-RU" sz="1600" spc="100" dirty="0">
                <a:cs typeface="Microsoft Sans Serif"/>
              </a:rPr>
              <a:t> </a:t>
            </a:r>
            <a:r>
              <a:rPr lang="ru-RU" sz="1600" spc="-15" dirty="0">
                <a:cs typeface="Microsoft Sans Serif"/>
              </a:rPr>
              <a:t>соседей</a:t>
            </a:r>
            <a:r>
              <a:rPr lang="ru-RU" sz="1600" spc="3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[x2,</a:t>
            </a:r>
            <a:r>
              <a:rPr lang="ru-RU" sz="1600" spc="20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x3,</a:t>
            </a:r>
            <a:r>
              <a:rPr lang="ru-RU" sz="1600" spc="2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x4,</a:t>
            </a:r>
            <a:r>
              <a:rPr lang="ru-RU" sz="1600" spc="3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x5,</a:t>
            </a:r>
            <a:r>
              <a:rPr lang="ru-RU" sz="1600" spc="25" dirty="0">
                <a:cs typeface="Microsoft Sans Serif"/>
              </a:rPr>
              <a:t> </a:t>
            </a:r>
            <a:r>
              <a:rPr lang="ru-RU" sz="1600" spc="170" dirty="0">
                <a:cs typeface="Microsoft Sans Serif"/>
              </a:rPr>
              <a:t>…,</a:t>
            </a:r>
            <a:r>
              <a:rPr lang="ru-RU" sz="1600" spc="375" dirty="0">
                <a:cs typeface="Microsoft Sans Serif"/>
              </a:rPr>
              <a:t> </a:t>
            </a:r>
            <a:r>
              <a:rPr lang="ru-RU" sz="1600" spc="-30" dirty="0" err="1">
                <a:cs typeface="Microsoft Sans Serif"/>
              </a:rPr>
              <a:t>xK</a:t>
            </a:r>
            <a:r>
              <a:rPr lang="ru-RU" sz="1600" spc="-30" dirty="0">
                <a:cs typeface="Microsoft Sans Serif"/>
              </a:rPr>
              <a:t>],</a:t>
            </a:r>
            <a:r>
              <a:rPr lang="ru-RU" sz="1600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вычисляем</a:t>
            </a:r>
            <a:r>
              <a:rPr lang="ru-RU" sz="1600" spc="60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d(x1,</a:t>
            </a:r>
            <a:r>
              <a:rPr lang="ru-RU" sz="1600" spc="10" dirty="0">
                <a:cs typeface="Microsoft Sans Serif"/>
              </a:rPr>
              <a:t> </a:t>
            </a:r>
            <a:r>
              <a:rPr lang="ru-RU" sz="1600" spc="-55" dirty="0" err="1">
                <a:cs typeface="Microsoft Sans Serif"/>
              </a:rPr>
              <a:t>xi</a:t>
            </a:r>
            <a:r>
              <a:rPr lang="ru-RU" sz="1600" spc="-55" dirty="0">
                <a:cs typeface="Microsoft Sans Serif"/>
              </a:rPr>
              <a:t>)</a:t>
            </a:r>
            <a:r>
              <a:rPr lang="ru-RU" sz="1600" dirty="0">
                <a:cs typeface="Microsoft Sans Serif"/>
              </a:rPr>
              <a:t> </a:t>
            </a:r>
          </a:p>
          <a:p>
            <a:pPr marL="481965" indent="-398780">
              <a:lnSpc>
                <a:spcPct val="114000"/>
              </a:lnSpc>
              <a:spcAft>
                <a:spcPts val="1200"/>
              </a:spcAft>
              <a:buAutoNum type="arabicPeriod"/>
              <a:tabLst>
                <a:tab pos="481965" algn="l"/>
                <a:tab pos="482600" algn="l"/>
              </a:tabLst>
            </a:pPr>
            <a:r>
              <a:rPr lang="ru-RU" sz="1600" spc="-20" dirty="0">
                <a:cs typeface="Microsoft Sans Serif"/>
              </a:rPr>
              <a:t>Проверяем:</a:t>
            </a:r>
            <a:r>
              <a:rPr lang="ru-RU" sz="1600" spc="-40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d(x1,</a:t>
            </a:r>
            <a:r>
              <a:rPr lang="ru-RU" sz="1600" dirty="0">
                <a:cs typeface="Microsoft Sans Serif"/>
              </a:rPr>
              <a:t> </a:t>
            </a:r>
            <a:r>
              <a:rPr lang="ru-RU" sz="1600" spc="-55" dirty="0" err="1">
                <a:cs typeface="Microsoft Sans Serif"/>
              </a:rPr>
              <a:t>xi</a:t>
            </a:r>
            <a:r>
              <a:rPr lang="ru-RU" sz="1600" spc="-55" dirty="0">
                <a:cs typeface="Microsoft Sans Serif"/>
              </a:rPr>
              <a:t>)</a:t>
            </a:r>
            <a:r>
              <a:rPr lang="ru-RU" sz="1600" spc="10" dirty="0">
                <a:cs typeface="Microsoft Sans Serif"/>
              </a:rPr>
              <a:t> </a:t>
            </a:r>
            <a:r>
              <a:rPr lang="ru-RU" sz="1600" spc="130" dirty="0">
                <a:cs typeface="Microsoft Sans Serif"/>
              </a:rPr>
              <a:t>&lt;</a:t>
            </a:r>
            <a:r>
              <a:rPr lang="ru-RU" sz="1600" dirty="0">
                <a:cs typeface="Microsoft Sans Serif"/>
              </a:rPr>
              <a:t> </a:t>
            </a:r>
            <a:r>
              <a:rPr lang="ru-RU" sz="1600" spc="75" dirty="0">
                <a:cs typeface="Microsoft Sans Serif"/>
              </a:rPr>
              <a:t>t</a:t>
            </a:r>
            <a:r>
              <a:rPr lang="ru-RU" sz="1600" dirty="0">
                <a:cs typeface="Microsoft Sans Serif"/>
              </a:rPr>
              <a:t> </a:t>
            </a:r>
          </a:p>
          <a:p>
            <a:pPr marL="24765" marR="3863975">
              <a:lnSpc>
                <a:spcPct val="114000"/>
              </a:lnSpc>
              <a:spcBef>
                <a:spcPts val="5"/>
              </a:spcBef>
            </a:pPr>
            <a:r>
              <a:rPr lang="ru-RU" sz="1600" dirty="0"/>
              <a:t>Сложность на построение индекса: O(N)</a:t>
            </a:r>
          </a:p>
          <a:p>
            <a:pPr marL="24765" marR="3863975">
              <a:lnSpc>
                <a:spcPct val="114000"/>
              </a:lnSpc>
              <a:spcAft>
                <a:spcPts val="1200"/>
              </a:spcAft>
            </a:pPr>
            <a:r>
              <a:rPr lang="ru-RU" sz="1600" dirty="0"/>
              <a:t>Сложность на поиск одного дубликата: O(n&lt;&lt; N)  </a:t>
            </a:r>
          </a:p>
          <a:p>
            <a:pPr marL="24765" marR="3863975">
              <a:lnSpc>
                <a:spcPct val="114000"/>
              </a:lnSpc>
              <a:spcBef>
                <a:spcPts val="5"/>
              </a:spcBef>
            </a:pPr>
            <a:r>
              <a:rPr lang="ru-RU" sz="1600" spc="-20" dirty="0">
                <a:cs typeface="Microsoft Sans Serif"/>
              </a:rPr>
              <a:t>Новая</a:t>
            </a:r>
            <a:r>
              <a:rPr lang="ru-RU" sz="1600" spc="-50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проблема:</a:t>
            </a:r>
            <a:r>
              <a:rPr lang="ru-RU" sz="1600" dirty="0">
                <a:cs typeface="Microsoft Sans Serif"/>
              </a:rPr>
              <a:t> </a:t>
            </a:r>
          </a:p>
          <a:p>
            <a:pPr marL="481965" indent="-351155">
              <a:lnSpc>
                <a:spcPct val="114000"/>
              </a:lnSpc>
              <a:buChar char="●"/>
              <a:tabLst>
                <a:tab pos="481965" algn="l"/>
                <a:tab pos="482600" algn="l"/>
              </a:tabLst>
            </a:pPr>
            <a:r>
              <a:rPr lang="ru-RU" sz="1600" spc="-55" dirty="0" err="1">
                <a:cs typeface="Microsoft Sans Serif"/>
              </a:rPr>
              <a:t>False</a:t>
            </a:r>
            <a:r>
              <a:rPr lang="ru-RU" sz="1600" spc="20" dirty="0">
                <a:cs typeface="Microsoft Sans Serif"/>
              </a:rPr>
              <a:t> </a:t>
            </a:r>
            <a:r>
              <a:rPr lang="ru-RU" sz="1600" spc="-20" dirty="0" err="1">
                <a:cs typeface="Microsoft Sans Serif"/>
              </a:rPr>
              <a:t>Positive</a:t>
            </a:r>
            <a:r>
              <a:rPr lang="ru-RU" sz="1600" spc="-20" dirty="0">
                <a:cs typeface="Microsoft Sans Serif"/>
              </a:rPr>
              <a:t>:</a:t>
            </a:r>
            <a:r>
              <a:rPr lang="ru-RU" sz="1600" spc="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элемент</a:t>
            </a:r>
            <a:r>
              <a:rPr lang="ru-RU" sz="1600" spc="20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не</a:t>
            </a:r>
            <a:r>
              <a:rPr lang="ru-RU" sz="1600" spc="50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дубликат,</a:t>
            </a:r>
            <a:r>
              <a:rPr lang="ru-RU" sz="1600" spc="80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распознан</a:t>
            </a:r>
            <a:r>
              <a:rPr lang="ru-RU" sz="1600" spc="70" dirty="0">
                <a:cs typeface="Microsoft Sans Serif"/>
              </a:rPr>
              <a:t> </a:t>
            </a:r>
            <a:r>
              <a:rPr lang="ru-RU" sz="1600" spc="-65" dirty="0">
                <a:cs typeface="Microsoft Sans Serif"/>
              </a:rPr>
              <a:t>как</a:t>
            </a:r>
            <a:r>
              <a:rPr lang="ru-RU" sz="1600" spc="35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дубликат</a:t>
            </a:r>
            <a:r>
              <a:rPr lang="ru-RU" sz="1600" dirty="0">
                <a:cs typeface="Microsoft Sans Serif"/>
              </a:rPr>
              <a:t> </a:t>
            </a:r>
          </a:p>
          <a:p>
            <a:pPr marL="481965" indent="-351155">
              <a:lnSpc>
                <a:spcPct val="114000"/>
              </a:lnSpc>
              <a:buChar char="●"/>
              <a:tabLst>
                <a:tab pos="481965" algn="l"/>
                <a:tab pos="482600" algn="l"/>
              </a:tabLst>
            </a:pPr>
            <a:r>
              <a:rPr lang="ru-RU" sz="1600" spc="-55" dirty="0" err="1">
                <a:cs typeface="Microsoft Sans Serif"/>
              </a:rPr>
              <a:t>False</a:t>
            </a:r>
            <a:r>
              <a:rPr lang="ru-RU" sz="1600" spc="10" dirty="0">
                <a:cs typeface="Microsoft Sans Serif"/>
              </a:rPr>
              <a:t> </a:t>
            </a:r>
            <a:r>
              <a:rPr lang="ru-RU" sz="1600" spc="15" dirty="0" err="1">
                <a:cs typeface="Microsoft Sans Serif"/>
              </a:rPr>
              <a:t>Negative</a:t>
            </a:r>
            <a:r>
              <a:rPr lang="ru-RU" sz="1600" spc="15" dirty="0">
                <a:cs typeface="Microsoft Sans Serif"/>
              </a:rPr>
              <a:t>:</a:t>
            </a:r>
            <a:r>
              <a:rPr lang="ru-RU" sz="1600" spc="10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элемент</a:t>
            </a:r>
            <a:r>
              <a:rPr lang="ru-RU" sz="1600" spc="10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дубликат,</a:t>
            </a:r>
            <a:r>
              <a:rPr lang="ru-RU" sz="1600" spc="7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не</a:t>
            </a:r>
            <a:r>
              <a:rPr lang="ru-RU" sz="1600" spc="35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попал</a:t>
            </a:r>
            <a:r>
              <a:rPr lang="ru-RU" sz="1600" spc="40" dirty="0">
                <a:cs typeface="Microsoft Sans Serif"/>
              </a:rPr>
              <a:t> </a:t>
            </a:r>
            <a:r>
              <a:rPr lang="ru-RU" sz="1600" spc="-5" dirty="0">
                <a:cs typeface="Microsoft Sans Serif"/>
              </a:rPr>
              <a:t>в</a:t>
            </a:r>
            <a:r>
              <a:rPr lang="ru-RU" sz="1600" spc="10" dirty="0">
                <a:cs typeface="Microsoft Sans Serif"/>
              </a:rPr>
              <a:t> </a:t>
            </a:r>
            <a:r>
              <a:rPr lang="ru-RU" sz="1600" spc="-65" dirty="0">
                <a:cs typeface="Microsoft Sans Serif"/>
              </a:rPr>
              <a:t>K</a:t>
            </a:r>
            <a:r>
              <a:rPr lang="ru-RU" sz="1600" spc="30" dirty="0">
                <a:cs typeface="Microsoft Sans Serif"/>
              </a:rPr>
              <a:t> </a:t>
            </a:r>
            <a:r>
              <a:rPr lang="ru-RU" sz="1600" spc="-30" dirty="0">
                <a:cs typeface="Microsoft Sans Serif"/>
              </a:rPr>
              <a:t>ближайших</a:t>
            </a:r>
            <a:r>
              <a:rPr lang="ru-RU" sz="1600" spc="90" dirty="0">
                <a:cs typeface="Microsoft Sans Serif"/>
              </a:rPr>
              <a:t> </a:t>
            </a:r>
            <a:r>
              <a:rPr lang="ru-RU" sz="1600" spc="-20" dirty="0">
                <a:cs typeface="Microsoft Sans Serif"/>
              </a:rPr>
              <a:t>соседей</a:t>
            </a:r>
            <a:r>
              <a:rPr lang="ru-RU" sz="1600" dirty="0">
                <a:cs typeface="Microsoft Sans Serif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9024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29E1C-E1C0-6B4D-9475-D8AB0D8A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поиска нечетких дублей</a:t>
            </a:r>
            <a:endParaRPr lang="en-T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8C4D3-3ED0-324A-B368-1F3BF6F553EA}"/>
              </a:ext>
            </a:extLst>
          </p:cNvPr>
          <p:cNvSpPr txBox="1"/>
          <p:nvPr/>
        </p:nvSpPr>
        <p:spPr>
          <a:xfrm>
            <a:off x="7568080" y="4413617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T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граф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ы</a:t>
            </a:r>
            <a:endParaRPr lang="en-T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E84064-9231-3F42-B382-AB84313066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4" t="3077" r="4820" b="13077"/>
          <a:stretch/>
        </p:blipFill>
        <p:spPr>
          <a:xfrm>
            <a:off x="487580" y="1123950"/>
            <a:ext cx="1773643" cy="1006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9238A6-F1DE-9E49-8D11-5EA5C6FED0FC}"/>
              </a:ext>
            </a:extLst>
          </p:cNvPr>
          <p:cNvSpPr txBox="1"/>
          <p:nvPr/>
        </p:nvSpPr>
        <p:spPr>
          <a:xfrm>
            <a:off x="487580" y="2204043"/>
            <a:ext cx="192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метрик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en-T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сходства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84211B-AA0F-464C-8E92-BEF4372B3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19" y="2893042"/>
            <a:ext cx="2540000" cy="1384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C0DD99-DF4E-5F47-9D73-293D2BECD2DA}"/>
              </a:ext>
            </a:extLst>
          </p:cNvPr>
          <p:cNvSpPr txBox="1"/>
          <p:nvPr/>
        </p:nvSpPr>
        <p:spPr>
          <a:xfrm>
            <a:off x="225655" y="4247674"/>
            <a:ext cx="277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векторны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</a:t>
            </a:r>
            <a:r>
              <a:rPr lang="en-T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представлени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я</a:t>
            </a:r>
            <a:endParaRPr lang="en-T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71469D5-C0AE-9F48-9943-C053AFE92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272" y="2876550"/>
            <a:ext cx="1643208" cy="16432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682CAF-CC0E-CE4A-88DF-C1BE58F11C3F}"/>
              </a:ext>
            </a:extLst>
          </p:cNvPr>
          <p:cNvSpPr txBox="1"/>
          <p:nvPr/>
        </p:nvSpPr>
        <p:spPr>
          <a:xfrm>
            <a:off x="4003201" y="4633488"/>
            <a:ext cx="3164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Индексирование по деревьям</a:t>
            </a:r>
            <a:endParaRPr lang="en-TR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F55198A-45FF-074B-89AC-3500F43F45D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9" t="44000" r="18019"/>
          <a:stretch/>
        </p:blipFill>
        <p:spPr>
          <a:xfrm>
            <a:off x="4172814" y="3071387"/>
            <a:ext cx="2869311" cy="1422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62638E-89B5-A748-BD97-2DB2FE57ED26}"/>
              </a:ext>
            </a:extLst>
          </p:cNvPr>
          <p:cNvSpPr txBox="1"/>
          <p:nvPr/>
        </p:nvSpPr>
        <p:spPr>
          <a:xfrm>
            <a:off x="2691556" y="2868392"/>
            <a:ext cx="1634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кластеризаци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я</a:t>
            </a:r>
            <a:endParaRPr lang="en-T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02396F5-FFE8-7140-8EDE-072F21C9B7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499" y="998520"/>
            <a:ext cx="2010921" cy="19564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849EB33-480C-EB43-BFE0-DB6617067E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601" y="1089187"/>
            <a:ext cx="2819400" cy="11811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6293793-3189-FB44-A50C-752920E66CEF}"/>
              </a:ext>
            </a:extLst>
          </p:cNvPr>
          <p:cNvSpPr txBox="1"/>
          <p:nvPr/>
        </p:nvSpPr>
        <p:spPr>
          <a:xfrm>
            <a:off x="5056801" y="2252539"/>
            <a:ext cx="3644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Индексирование по хеш-функциям</a:t>
            </a:r>
          </a:p>
        </p:txBody>
      </p:sp>
    </p:spTree>
    <p:extLst>
      <p:ext uri="{BB962C8B-B14F-4D97-AF65-F5344CB8AC3E}">
        <p14:creationId xmlns:p14="http://schemas.microsoft.com/office/powerpoint/2010/main" val="1438546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843416-D74C-C0A5-850E-4D969AB3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Вороного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E77921-7150-4570-4803-61A7F65D630F}"/>
                  </a:ext>
                </a:extLst>
              </p:cNvPr>
              <p:cNvSpPr txBox="1"/>
              <p:nvPr/>
            </p:nvSpPr>
            <p:spPr>
              <a:xfrm>
                <a:off x="122850" y="971550"/>
                <a:ext cx="4648200" cy="36009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10209" indent="-398145">
                  <a:lnSpc>
                    <a:spcPct val="100000"/>
                  </a:lnSpc>
                  <a:spcAft>
                    <a:spcPts val="1200"/>
                  </a:spcAft>
                  <a:buAutoNum type="arabicPeriod"/>
                  <a:tabLst>
                    <a:tab pos="410209" algn="l"/>
                    <a:tab pos="410845" algn="l"/>
                  </a:tabLst>
                </a:pPr>
                <a:r>
                  <a:rPr lang="ru-RU" sz="1800" spc="-30" dirty="0">
                    <a:cs typeface="Microsoft Sans Serif"/>
                  </a:rPr>
                  <a:t>Алгоритм построения диаграммы Вороного «в лоб». Сложность:</a:t>
                </a:r>
                <a14:m>
                  <m:oMath xmlns:m="http://schemas.openxmlformats.org/officeDocument/2006/math"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𝑂</m:t>
                    </m:r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(</m:t>
                    </m:r>
                    <m:sSup>
                      <m:sSupPr>
                        <m:ctrlP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</m:ctrlPr>
                      </m:sSupPr>
                      <m:e>
                        <m: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  <m:t>𝑛</m:t>
                        </m:r>
                      </m:e>
                      <m:sup>
                        <m: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  <m:t>4</m:t>
                        </m:r>
                      </m:sup>
                    </m:sSup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)</m:t>
                    </m:r>
                  </m:oMath>
                </a14:m>
                <a:r>
                  <a:rPr lang="en-US" sz="1800" spc="-30" dirty="0">
                    <a:cs typeface="Microsoft Sans Serif"/>
                  </a:rPr>
                  <a:t>;</a:t>
                </a:r>
              </a:p>
              <a:p>
                <a:pPr marL="410209" indent="-398145">
                  <a:lnSpc>
                    <a:spcPct val="100000"/>
                  </a:lnSpc>
                  <a:spcAft>
                    <a:spcPts val="1200"/>
                  </a:spcAft>
                  <a:buAutoNum type="arabicPeriod"/>
                  <a:tabLst>
                    <a:tab pos="410209" algn="l"/>
                    <a:tab pos="410845" algn="l"/>
                  </a:tabLst>
                </a:pPr>
                <a:r>
                  <a:rPr lang="ru-RU" sz="1800" spc="-30" dirty="0">
                    <a:cs typeface="Microsoft Sans Serif"/>
                  </a:rPr>
                  <a:t>Алгоритм построения диаграммы Вороного путём пересечения полуплоскостей. Сложность:</a:t>
                </a:r>
                <a:r>
                  <a:rPr lang="en-US" sz="1800" spc="-30" dirty="0">
                    <a:cs typeface="Microsoft Sans Serif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𝑂</m:t>
                    </m:r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(</m:t>
                    </m:r>
                    <m:sSup>
                      <m:sSupPr>
                        <m:ctrlP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</m:ctrlPr>
                      </m:sSupPr>
                      <m:e>
                        <m: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  <m:t>𝑛</m:t>
                        </m:r>
                      </m:e>
                      <m:sup>
                        <m: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pc="-30" smtClean="0">
                            <a:latin typeface="Cambria Math" panose="02040503050406030204" pitchFamily="18" charset="0"/>
                            <a:cs typeface="Microsoft Sans Serif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1800" b="0" i="1" spc="-30" smtClean="0">
                                <a:latin typeface="Cambria Math" panose="02040503050406030204" pitchFamily="18" charset="0"/>
                                <a:cs typeface="Microsoft Sans Serif"/>
                              </a:rPr>
                            </m:ctrlPr>
                          </m:dPr>
                          <m:e>
                            <m:r>
                              <a:rPr lang="en-US" sz="1800" b="0" i="1" spc="-30" smtClean="0">
                                <a:latin typeface="Cambria Math" panose="02040503050406030204" pitchFamily="18" charset="0"/>
                                <a:cs typeface="Microsoft Sans Serif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)</m:t>
                    </m:r>
                  </m:oMath>
                </a14:m>
                <a:r>
                  <a:rPr lang="en-US" sz="1800" spc="-30" dirty="0">
                    <a:cs typeface="Microsoft Sans Serif"/>
                  </a:rPr>
                  <a:t>;</a:t>
                </a:r>
              </a:p>
              <a:p>
                <a:pPr marL="410209" indent="-398145">
                  <a:lnSpc>
                    <a:spcPct val="100000"/>
                  </a:lnSpc>
                  <a:spcAft>
                    <a:spcPts val="1200"/>
                  </a:spcAft>
                  <a:buAutoNum type="arabicPeriod"/>
                  <a:tabLst>
                    <a:tab pos="410209" algn="l"/>
                    <a:tab pos="410845" algn="l"/>
                  </a:tabLst>
                </a:pPr>
                <a:r>
                  <a:rPr lang="ru-RU" sz="1800" spc="-30" dirty="0">
                    <a:cs typeface="Microsoft Sans Serif"/>
                  </a:rPr>
                  <a:t>Алгоритм </a:t>
                </a:r>
                <a:r>
                  <a:rPr lang="ru-RU" sz="1800" spc="-30" dirty="0" err="1">
                    <a:cs typeface="Microsoft Sans Serif"/>
                  </a:rPr>
                  <a:t>Форчуна</a:t>
                </a:r>
                <a:r>
                  <a:rPr lang="ru-RU" sz="1800" spc="-30" dirty="0">
                    <a:cs typeface="Microsoft Sans Serif"/>
                  </a:rPr>
                  <a:t> построения диаграммы Вороного на плоскости. Сложность:</a:t>
                </a:r>
                <a14:m>
                  <m:oMath xmlns:m="http://schemas.openxmlformats.org/officeDocument/2006/math"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𝑂</m:t>
                    </m:r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(</m:t>
                    </m:r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𝑛</m:t>
                    </m:r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log</m:t>
                    </m:r>
                    <m:d>
                      <m:dPr>
                        <m:ctrlP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</m:ctrlPr>
                      </m:dPr>
                      <m:e>
                        <m: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  <m:t>𝑛</m:t>
                        </m:r>
                      </m:e>
                    </m:d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)</m:t>
                    </m:r>
                  </m:oMath>
                </a14:m>
                <a:r>
                  <a:rPr lang="en-US" sz="1800" spc="-30" dirty="0">
                    <a:cs typeface="Microsoft Sans Serif"/>
                  </a:rPr>
                  <a:t>;</a:t>
                </a:r>
              </a:p>
              <a:p>
                <a:pPr marL="410209" indent="-398145">
                  <a:lnSpc>
                    <a:spcPct val="100000"/>
                  </a:lnSpc>
                  <a:spcAft>
                    <a:spcPts val="1200"/>
                  </a:spcAft>
                  <a:buAutoNum type="arabicPeriod"/>
                  <a:tabLst>
                    <a:tab pos="410209" algn="l"/>
                    <a:tab pos="410845" algn="l"/>
                  </a:tabLst>
                </a:pPr>
                <a:r>
                  <a:rPr lang="ru-RU" sz="1800" spc="-30" dirty="0">
                    <a:cs typeface="Microsoft Sans Serif"/>
                  </a:rPr>
                  <a:t>Рекурсивный алгоритм построения диаграммы Вороного. Сложность: </a:t>
                </a:r>
                <a14:m>
                  <m:oMath xmlns:m="http://schemas.openxmlformats.org/officeDocument/2006/math"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𝑂</m:t>
                    </m:r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(</m:t>
                    </m:r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𝑛</m:t>
                    </m:r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log</m:t>
                    </m:r>
                    <m:d>
                      <m:dPr>
                        <m:ctrlP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</m:ctrlPr>
                      </m:dPr>
                      <m:e>
                        <m:r>
                          <a:rPr lang="en-US" sz="1800" b="0" i="1" spc="-30" smtClean="0">
                            <a:latin typeface="Cambria Math" panose="02040503050406030204" pitchFamily="18" charset="0"/>
                            <a:cs typeface="Microsoft Sans Serif"/>
                          </a:rPr>
                          <m:t>𝑛</m:t>
                        </m:r>
                      </m:e>
                    </m:d>
                    <m:r>
                      <a:rPr lang="en-US" sz="1800" b="0" i="1" spc="-30" smtClean="0">
                        <a:latin typeface="Cambria Math" panose="02040503050406030204" pitchFamily="18" charset="0"/>
                        <a:cs typeface="Microsoft Sans Serif"/>
                      </a:rPr>
                      <m:t>)</m:t>
                    </m:r>
                  </m:oMath>
                </a14:m>
                <a:r>
                  <a:rPr lang="en-US" sz="1800" dirty="0">
                    <a:cs typeface="Microsoft Sans Serif"/>
                  </a:rPr>
                  <a:t>.</a:t>
                </a:r>
                <a:endParaRPr lang="ru-RU" sz="1800" dirty="0">
                  <a:cs typeface="Microsoft Sans Serif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E77921-7150-4570-4803-61A7F65D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50" y="971550"/>
                <a:ext cx="4648200" cy="3600986"/>
              </a:xfrm>
              <a:prstGeom prst="rect">
                <a:avLst/>
              </a:prstGeom>
              <a:blipFill>
                <a:blip r:embed="rId2"/>
                <a:stretch>
                  <a:fillRect l="-817" t="-704" b="-2113"/>
                </a:stretch>
              </a:blipFill>
            </p:spPr>
            <p:txBody>
              <a:bodyPr/>
              <a:lstStyle/>
              <a:p>
                <a:r>
                  <a:rPr lang="en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533E6AC-A222-AF44-8CE8-BD340A3CE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878674"/>
            <a:ext cx="3886200" cy="3886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5839A3-534F-C44A-A0B1-9E8EE384A793}"/>
              </a:ext>
            </a:extLst>
          </p:cNvPr>
          <p:cNvSpPr txBox="1"/>
          <p:nvPr/>
        </p:nvSpPr>
        <p:spPr>
          <a:xfrm>
            <a:off x="345332" y="4628110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hlinkClick r:id="rId4"/>
              </a:rPr>
              <a:t>Описание реализации алгоритмов</a:t>
            </a:r>
            <a:endParaRPr lang="en-TR" i="1" dirty="0"/>
          </a:p>
        </p:txBody>
      </p:sp>
    </p:spTree>
    <p:extLst>
      <p:ext uri="{BB962C8B-B14F-4D97-AF65-F5344CB8AC3E}">
        <p14:creationId xmlns:p14="http://schemas.microsoft.com/office/powerpoint/2010/main" val="1820158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DA20-38E4-F642-9985-38EA186C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Квантилизация</a:t>
            </a:r>
            <a:endParaRPr lang="en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51509-DAA7-584E-9409-5E92B5B87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54926"/>
            <a:ext cx="3594100" cy="171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2509D0-C1FF-6043-9317-8C2B2D878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76" b="40000"/>
          <a:stretch/>
        </p:blipFill>
        <p:spPr>
          <a:xfrm>
            <a:off x="2590800" y="971550"/>
            <a:ext cx="1822315" cy="182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61BFFC-5F51-794E-A266-1C322CB89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186" y="3151551"/>
            <a:ext cx="4587286" cy="173060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E3A65B6-2D8E-2C43-A49E-3C112208D6D5}"/>
              </a:ext>
            </a:extLst>
          </p:cNvPr>
          <p:cNvGrpSpPr/>
          <p:nvPr/>
        </p:nvGrpSpPr>
        <p:grpSpPr>
          <a:xfrm>
            <a:off x="4778829" y="1113238"/>
            <a:ext cx="3194834" cy="1545424"/>
            <a:chOff x="4495800" y="1254926"/>
            <a:chExt cx="3194834" cy="154542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AA13FB6-73D1-2445-B9DB-83DA48009A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476" t="55272"/>
            <a:stretch/>
          </p:blipFill>
          <p:spPr>
            <a:xfrm>
              <a:off x="4678113" y="1437051"/>
              <a:ext cx="3012521" cy="136329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24F704-94D6-CB46-869E-D506E3301D6C}"/>
                </a:ext>
              </a:extLst>
            </p:cNvPr>
            <p:cNvSpPr/>
            <p:nvPr/>
          </p:nvSpPr>
          <p:spPr>
            <a:xfrm>
              <a:off x="4495800" y="1254926"/>
              <a:ext cx="1600200" cy="631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6CF5E0-058D-6D44-B31B-AABFF47D4D3D}"/>
              </a:ext>
            </a:extLst>
          </p:cNvPr>
          <p:cNvCxnSpPr>
            <a:cxnSpLocks/>
          </p:cNvCxnSpPr>
          <p:nvPr/>
        </p:nvCxnSpPr>
        <p:spPr>
          <a:xfrm>
            <a:off x="4625104" y="2112176"/>
            <a:ext cx="229330" cy="0"/>
          </a:xfrm>
          <a:prstGeom prst="straightConnector1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067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Алгоритмы</a:t>
            </a:r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271B4B-4867-E1EA-09A5-8E6CB60BF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30724"/>
            <a:ext cx="9296400" cy="1095900"/>
          </a:xfrm>
        </p:spPr>
        <p:txBody>
          <a:bodyPr/>
          <a:lstStyle/>
          <a:p>
            <a:r>
              <a:rPr lang="ru-RU" sz="2800" dirty="0"/>
              <a:t>Посмотреть кто сейчас самый</a:t>
            </a:r>
            <a:r>
              <a:rPr lang="en-US" sz="2800" dirty="0"/>
              <a:t> </a:t>
            </a:r>
            <a:r>
              <a:rPr lang="ru-RU" sz="2800" dirty="0"/>
              <a:t>самый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1653795-59FE-1E82-B3A1-17132A00A86E}"/>
              </a:ext>
            </a:extLst>
          </p:cNvPr>
          <p:cNvSpPr txBox="1"/>
          <p:nvPr/>
        </p:nvSpPr>
        <p:spPr>
          <a:xfrm>
            <a:off x="5081587" y="1113155"/>
            <a:ext cx="22574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2"/>
              </a:rPr>
              <a:t>http://ann-benchmarks.com/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21CF10A-D523-E4A5-0BCB-775FC48F709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1400" y="1352550"/>
            <a:ext cx="5257800" cy="34182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BDDA71-0F29-9843-ADB4-BCA1CC246EEB}"/>
              </a:ext>
            </a:extLst>
          </p:cNvPr>
          <p:cNvSpPr txBox="1"/>
          <p:nvPr/>
        </p:nvSpPr>
        <p:spPr>
          <a:xfrm>
            <a:off x="762000" y="1885950"/>
            <a:ext cx="2521972" cy="2204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Faiss</a:t>
            </a:r>
            <a:r>
              <a:rPr lang="ru-RU" sz="2400" dirty="0"/>
              <a:t> (</a:t>
            </a:r>
            <a:r>
              <a:rPr lang="en-US" sz="2400" dirty="0" err="1"/>
              <a:t>facebook</a:t>
            </a:r>
            <a:r>
              <a:rPr lang="en-US" sz="2400" dirty="0"/>
              <a:t>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Scann</a:t>
            </a:r>
            <a:r>
              <a:rPr lang="en-US" sz="2400" dirty="0"/>
              <a:t> (google)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Annoy (</a:t>
            </a:r>
            <a:r>
              <a:rPr lang="en-US" sz="2400" dirty="0" err="1"/>
              <a:t>spotify</a:t>
            </a:r>
            <a:r>
              <a:rPr lang="en-US" sz="2400" dirty="0"/>
              <a:t>)</a:t>
            </a:r>
            <a:endParaRPr lang="en-TR" sz="2400" dirty="0"/>
          </a:p>
        </p:txBody>
      </p:sp>
    </p:spTree>
    <p:extLst>
      <p:ext uri="{BB962C8B-B14F-4D97-AF65-F5344CB8AC3E}">
        <p14:creationId xmlns:p14="http://schemas.microsoft.com/office/powerpoint/2010/main" val="1104885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0F336-15AE-17E6-F33E-8CBB36E6E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30724"/>
            <a:ext cx="9634050" cy="1095900"/>
          </a:xfrm>
        </p:spPr>
        <p:txBody>
          <a:bodyPr/>
          <a:lstStyle/>
          <a:p>
            <a:r>
              <a:rPr lang="en-US" sz="3000" dirty="0"/>
              <a:t>FAISS = Facebook AI Research Similarity Search</a:t>
            </a:r>
            <a:endParaRPr lang="ru-RU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97863B-43B3-9940-902D-56F0873D14EF}"/>
              </a:ext>
            </a:extLst>
          </p:cNvPr>
          <p:cNvSpPr txBox="1"/>
          <p:nvPr/>
        </p:nvSpPr>
        <p:spPr>
          <a:xfrm>
            <a:off x="295390" y="1096449"/>
            <a:ext cx="465761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Основная идея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Набор данных «векторизуется»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Индекс </a:t>
            </a:r>
            <a:r>
              <a:rPr lang="ru-RU" dirty="0" err="1"/>
              <a:t>квантилизуется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Выбирается метрика сходства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 индексу происходит поиск </a:t>
            </a:r>
            <a:r>
              <a:rPr lang="en-US" dirty="0"/>
              <a:t>k </a:t>
            </a:r>
            <a:r>
              <a:rPr lang="ru-RU" dirty="0"/>
              <a:t>соседей</a:t>
            </a:r>
          </a:p>
          <a:p>
            <a:r>
              <a:rPr lang="ru-RU" sz="1400" dirty="0"/>
              <a:t>Поскольку индекс </a:t>
            </a:r>
            <a:r>
              <a:rPr lang="ru-RU" sz="1400" dirty="0" err="1"/>
              <a:t>квантилизирован</a:t>
            </a:r>
            <a:r>
              <a:rPr lang="ru-RU" sz="1400" dirty="0"/>
              <a:t> то будут найдены «приблизительные» соседи</a:t>
            </a:r>
            <a:endParaRPr lang="en-TR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1E565-E18E-7D42-A70B-ED962E9AC90F}"/>
              </a:ext>
            </a:extLst>
          </p:cNvPr>
          <p:cNvSpPr txBox="1"/>
          <p:nvPr/>
        </p:nvSpPr>
        <p:spPr>
          <a:xfrm>
            <a:off x="4791190" y="1096449"/>
            <a:ext cx="4191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Гиперпараметры</a:t>
            </a: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Выбор метрики схожести для индекса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Метод построения «приближенного» индекса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Метод </a:t>
            </a:r>
            <a:r>
              <a:rPr lang="ru-RU" dirty="0" err="1"/>
              <a:t>квантилизации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3B1B1-234D-D04C-8729-86711DE7A014}"/>
              </a:ext>
            </a:extLst>
          </p:cNvPr>
          <p:cNvSpPr txBox="1"/>
          <p:nvPr/>
        </p:nvSpPr>
        <p:spPr>
          <a:xfrm>
            <a:off x="152400" y="3004664"/>
            <a:ext cx="780373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Примеры применения </a:t>
            </a:r>
            <a:r>
              <a:rPr lang="en-US" sz="1600" dirty="0" err="1"/>
              <a:t>faiss</a:t>
            </a:r>
            <a:r>
              <a:rPr lang="en-US" sz="1600" dirty="0"/>
              <a:t>:</a:t>
            </a:r>
          </a:p>
          <a:p>
            <a:r>
              <a:rPr lang="en-US" sz="1200" dirty="0">
                <a:hlinkClick r:id="rId2"/>
              </a:rPr>
              <a:t>https://habr.com/ru/companies/okkamgroup/articles/509204/</a:t>
            </a:r>
            <a:r>
              <a:rPr lang="en-US" sz="1200" dirty="0"/>
              <a:t> </a:t>
            </a:r>
          </a:p>
          <a:p>
            <a:r>
              <a:rPr lang="en-US" sz="1200" dirty="0">
                <a:hlinkClick r:id="rId3"/>
              </a:rPr>
              <a:t>https://habr.com/ru/companies/avito/articles/488658/</a:t>
            </a:r>
            <a:r>
              <a:rPr lang="en-US" sz="1200" dirty="0"/>
              <a:t> </a:t>
            </a:r>
          </a:p>
          <a:p>
            <a:endParaRPr lang="ru-RU" sz="1600" dirty="0"/>
          </a:p>
          <a:p>
            <a:r>
              <a:rPr lang="ru-RU" sz="1600" dirty="0" err="1"/>
              <a:t>Квантилизация</a:t>
            </a:r>
            <a:r>
              <a:rPr lang="ru-RU" sz="1600" dirty="0"/>
              <a:t> индекса</a:t>
            </a:r>
          </a:p>
          <a:p>
            <a:r>
              <a:rPr lang="en-US" sz="1200" dirty="0">
                <a:hlinkClick r:id="rId4"/>
              </a:rPr>
              <a:t>https://mccormickml.com/2017/10/13/product-quantizer-tutorial-part-1/#exhaustive-search-with-approximate-distances</a:t>
            </a:r>
            <a:r>
              <a:rPr lang="ru-RU" sz="1200" dirty="0"/>
              <a:t> </a:t>
            </a:r>
          </a:p>
          <a:p>
            <a:endParaRPr lang="ru-RU" sz="1600" dirty="0"/>
          </a:p>
          <a:p>
            <a:r>
              <a:rPr lang="ru-RU" sz="1600" dirty="0" err="1"/>
              <a:t>Гайд</a:t>
            </a:r>
            <a:r>
              <a:rPr lang="ru-RU" sz="1600" dirty="0"/>
              <a:t> по выбору индекса</a:t>
            </a:r>
          </a:p>
          <a:p>
            <a:r>
              <a:rPr lang="en-US" sz="1200" dirty="0">
                <a:hlinkClick r:id="rId5"/>
              </a:rPr>
              <a:t>https://github.com/facebookresearch/faiss/wiki/Guidelines-to-choose-an-index</a:t>
            </a:r>
            <a:r>
              <a:rPr lang="ru-RU" sz="1200" dirty="0"/>
              <a:t> </a:t>
            </a:r>
            <a:endParaRPr lang="en-TR" sz="1200" dirty="0"/>
          </a:p>
        </p:txBody>
      </p:sp>
    </p:spTree>
    <p:extLst>
      <p:ext uri="{BB962C8B-B14F-4D97-AF65-F5344CB8AC3E}">
        <p14:creationId xmlns:p14="http://schemas.microsoft.com/office/powerpoint/2010/main" val="48128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73D6C-CAE6-EB1B-D63E-26B03EC2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5DF3F-6307-C544-AC16-9CC6FDCB1B7C}"/>
              </a:ext>
            </a:extLst>
          </p:cNvPr>
          <p:cNvSpPr txBox="1"/>
          <p:nvPr/>
        </p:nvSpPr>
        <p:spPr>
          <a:xfrm>
            <a:off x="562159" y="845323"/>
            <a:ext cx="311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Анизотропная </a:t>
            </a:r>
            <a:r>
              <a:rPr lang="ru-RU" dirty="0" err="1"/>
              <a:t>квантилизация</a:t>
            </a:r>
            <a:endParaRPr lang="en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1A722-8AC2-D342-9924-6A6816691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59" y="1200150"/>
            <a:ext cx="6141044" cy="21309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0721AF-CEFB-9E4A-A279-E651A442CF41}"/>
              </a:ext>
            </a:extLst>
          </p:cNvPr>
          <p:cNvSpPr txBox="1"/>
          <p:nvPr/>
        </p:nvSpPr>
        <p:spPr>
          <a:xfrm>
            <a:off x="562159" y="3638550"/>
            <a:ext cx="835324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Количество создаваемых листьев является квадратным корнем от количества данных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600" dirty="0"/>
              <a:t>Размер выборки обучения всегда должен быть больше, чем количество созданных листьев/кластеров</a:t>
            </a:r>
            <a:endParaRPr lang="en-TR" sz="1600" dirty="0"/>
          </a:p>
        </p:txBody>
      </p:sp>
    </p:spTree>
    <p:extLst>
      <p:ext uri="{BB962C8B-B14F-4D97-AF65-F5344CB8AC3E}">
        <p14:creationId xmlns:p14="http://schemas.microsoft.com/office/powerpoint/2010/main" val="1297401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73D6C-CAE6-EB1B-D63E-26B03EC2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Annoy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0F887-A7E1-224F-876A-BD1F89F98338}"/>
              </a:ext>
            </a:extLst>
          </p:cNvPr>
          <p:cNvSpPr txBox="1"/>
          <p:nvPr/>
        </p:nvSpPr>
        <p:spPr>
          <a:xfrm>
            <a:off x="228600" y="1047750"/>
            <a:ext cx="8825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0" i="0" u="none" strike="noStrike" dirty="0">
                <a:solidFill>
                  <a:srgbClr val="383F45"/>
                </a:solidFill>
                <a:effectLst/>
                <a:latin typeface="roboto" panose="02000000000000000000" pitchFamily="2" charset="0"/>
              </a:rPr>
              <a:t>Чтобы вычислить ближайших соседей, </a:t>
            </a:r>
            <a:r>
              <a:rPr lang="en-US" sz="1600" b="0" i="0" u="none" strike="noStrike" dirty="0">
                <a:solidFill>
                  <a:srgbClr val="383F45"/>
                </a:solidFill>
                <a:effectLst/>
                <a:latin typeface="roboto" panose="02000000000000000000" pitchFamily="2" charset="0"/>
              </a:rPr>
              <a:t>annoy</a:t>
            </a:r>
            <a:r>
              <a:rPr lang="ru-RU" sz="1600" b="0" i="0" u="none" strike="noStrike" dirty="0">
                <a:solidFill>
                  <a:srgbClr val="383F45"/>
                </a:solidFill>
                <a:effectLst/>
                <a:latin typeface="roboto" panose="02000000000000000000" pitchFamily="2" charset="0"/>
              </a:rPr>
              <a:t> разделяет набор точек пополам и делает это рекурсивно, пока каждый набор не будет иметь </a:t>
            </a:r>
            <a:r>
              <a:rPr lang="en-US" sz="1600" b="0" i="1" u="none" strike="noStrike" dirty="0">
                <a:solidFill>
                  <a:srgbClr val="383F45"/>
                </a:solidFill>
                <a:effectLst/>
                <a:latin typeface="roboto" panose="02000000000000000000" pitchFamily="2" charset="0"/>
              </a:rPr>
              <a:t>k </a:t>
            </a:r>
            <a:r>
              <a:rPr lang="ru-RU" sz="1600" b="0" i="0" u="none" strike="noStrike" dirty="0">
                <a:solidFill>
                  <a:srgbClr val="383F45"/>
                </a:solidFill>
                <a:effectLst/>
                <a:latin typeface="roboto" panose="02000000000000000000" pitchFamily="2" charset="0"/>
              </a:rPr>
              <a:t>элементов. Обычно </a:t>
            </a:r>
            <a:r>
              <a:rPr lang="en-US" sz="1600" b="0" i="1" u="none" strike="noStrike" dirty="0">
                <a:solidFill>
                  <a:srgbClr val="383F45"/>
                </a:solidFill>
                <a:effectLst/>
                <a:latin typeface="roboto" panose="02000000000000000000" pitchFamily="2" charset="0"/>
              </a:rPr>
              <a:t>k </a:t>
            </a:r>
            <a:r>
              <a:rPr lang="ru-RU" sz="1600" b="0" i="0" u="none" strike="noStrike" dirty="0">
                <a:solidFill>
                  <a:srgbClr val="383F45"/>
                </a:solidFill>
                <a:effectLst/>
                <a:latin typeface="roboto" panose="02000000000000000000" pitchFamily="2" charset="0"/>
              </a:rPr>
              <a:t>около 100</a:t>
            </a:r>
            <a:r>
              <a:rPr lang="en-US" sz="1600" b="0" i="0" u="none" strike="noStrike" dirty="0">
                <a:solidFill>
                  <a:srgbClr val="383F45"/>
                </a:solidFill>
                <a:effectLst/>
                <a:latin typeface="roboto" panose="02000000000000000000" pitchFamily="2" charset="0"/>
              </a:rPr>
              <a:t>.</a:t>
            </a:r>
            <a:endParaRPr lang="en-TR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8EF45-C96F-5D43-94FE-48EA838EF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69" y="1755645"/>
            <a:ext cx="7935259" cy="2000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652000-143D-704D-A35C-5C41C84BAD31}"/>
              </a:ext>
            </a:extLst>
          </p:cNvPr>
          <p:cNvSpPr txBox="1"/>
          <p:nvPr/>
        </p:nvSpPr>
        <p:spPr>
          <a:xfrm>
            <a:off x="76199" y="3962526"/>
            <a:ext cx="88254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Annoy </a:t>
            </a:r>
            <a:r>
              <a:rPr lang="ru-RU" sz="1400" dirty="0"/>
              <a:t>может использовать статические файлы в качестве индексов. В частности, это означает, что вы можете передавать индекс между процессами. </a:t>
            </a:r>
          </a:p>
          <a:p>
            <a:r>
              <a:rPr lang="en-US" sz="1400" dirty="0"/>
              <a:t>Annoy </a:t>
            </a:r>
            <a:r>
              <a:rPr lang="ru-RU" sz="1400" dirty="0"/>
              <a:t>также отделяет создание индексов от их загрузки, поэтому вы можете передавать индексы в виде файлов.</a:t>
            </a:r>
            <a:endParaRPr lang="en-TR" sz="1400" dirty="0"/>
          </a:p>
        </p:txBody>
      </p:sp>
    </p:spTree>
    <p:extLst>
      <p:ext uri="{BB962C8B-B14F-4D97-AF65-F5344CB8AC3E}">
        <p14:creationId xmlns:p14="http://schemas.microsoft.com/office/powerpoint/2010/main" val="4210902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6763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621602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/>
              <a:t>Диаграмма Вороного</a:t>
            </a:r>
            <a:r>
              <a:rPr lang="ru-RU" sz="1700" b="1" dirty="0"/>
              <a:t> </a:t>
            </a:r>
            <a:endParaRPr lang="en-US" sz="17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3"/>
              </a:rPr>
              <a:t>https://newtechaudit.ru/postroenie-diagrammy-voronogo-v-python-dlya-zadach-vizualizaczii/</a:t>
            </a:r>
            <a:r>
              <a:rPr lang="ru-RU" sz="1300" dirty="0"/>
              <a:t>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900" b="1" dirty="0"/>
              <a:t>ANN Algorithms benchmarks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4"/>
              </a:rPr>
              <a:t>https://medium.com/gsi-technology/how-to-benchmark-ann-algorithms-a9f1cef6be08</a:t>
            </a:r>
            <a:r>
              <a:rPr lang="en-US" sz="13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5"/>
              </a:rPr>
              <a:t>https://medium.com/gsi-technology/ann-benchmarks-a-data-scientists-journey-to-billion-scale-performance-db191f043a27</a:t>
            </a:r>
            <a:r>
              <a:rPr lang="en-US" sz="1300" dirty="0"/>
              <a:t>  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900" b="1" dirty="0"/>
              <a:t>Annoy</a:t>
            </a:r>
            <a:endParaRPr lang="ru-RU" sz="19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6"/>
              </a:rPr>
              <a:t>https://erikbern.com/2015/09/24/nearest-neighbor-methods-vector-models-part-1</a:t>
            </a:r>
            <a:r>
              <a:rPr lang="ru-RU" sz="1300" dirty="0"/>
              <a:t> </a:t>
            </a:r>
            <a:r>
              <a:rPr lang="en-US" sz="1300" dirty="0"/>
              <a:t>  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7"/>
              </a:rPr>
              <a:t>https://</a:t>
            </a:r>
            <a:r>
              <a:rPr lang="en-US" sz="1300" dirty="0" err="1">
                <a:hlinkClick r:id="rId7"/>
              </a:rPr>
              <a:t>erikbern.com</a:t>
            </a:r>
            <a:r>
              <a:rPr lang="en-US" sz="1300" dirty="0">
                <a:hlinkClick r:id="rId7"/>
              </a:rPr>
              <a:t>/2015/10/01/nearest-neighbors-and-vector-models-part-2-how-to-search-in-high</a:t>
            </a:r>
            <a:r>
              <a:rPr lang="ru-RU" sz="1300" dirty="0">
                <a:hlinkClick r:id="rId7"/>
              </a:rPr>
              <a:t>-</a:t>
            </a:r>
            <a:r>
              <a:rPr lang="en-US" sz="1300" dirty="0">
                <a:hlinkClick r:id="rId7"/>
              </a:rPr>
              <a:t>dimensional-spaces.html</a:t>
            </a:r>
            <a:r>
              <a:rPr lang="ru-RU" sz="1300" dirty="0"/>
              <a:t>  </a:t>
            </a:r>
            <a:endParaRPr lang="en-US" sz="1300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8"/>
              </a:rPr>
              <a:t>https://github.com/spotify/annoy</a:t>
            </a:r>
            <a:r>
              <a:rPr lang="ru-RU" sz="1300" dirty="0"/>
              <a:t> </a:t>
            </a:r>
            <a:endParaRPr lang="en-US" sz="1300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9"/>
              </a:rPr>
              <a:t>https://sds-aau.github.io/M3Port19/portfolio/ann/</a:t>
            </a:r>
            <a:r>
              <a:rPr lang="en-US" sz="1300" dirty="0"/>
              <a:t>  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900" b="1" dirty="0" err="1"/>
              <a:t>ScaNN</a:t>
            </a:r>
            <a:endParaRPr lang="en-US" sz="19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2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10"/>
              </a:rPr>
              <a:t>https://scikit-learn.org/stable/auto_examples/neighbors/approximate_nearest_neighbors.html</a:t>
            </a:r>
            <a:r>
              <a:rPr lang="en-US" sz="1200" dirty="0">
                <a:latin typeface="Microsoft Sans Serif"/>
                <a:cs typeface="Microsoft Sans Serif"/>
              </a:rPr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Sans Serif"/>
                <a:cs typeface="Microsoft Sans Serif"/>
                <a:hlinkClick r:id="rId11"/>
              </a:rPr>
              <a:t>https://medium.com/@kumon/similarity-search-scann-and-4-bit-pq-ab98766b32bd</a:t>
            </a:r>
            <a:r>
              <a:rPr lang="en-US" sz="1200" dirty="0">
                <a:latin typeface="Microsoft Sans Serif"/>
                <a:cs typeface="Microsoft Sans Serif"/>
              </a:rPr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Sans Serif"/>
                <a:cs typeface="Microsoft Sans Serif"/>
                <a:hlinkClick r:id="rId12"/>
              </a:rPr>
              <a:t>https://medium.com/@DataPlayer/scalable-approximate-nearest-neighbour-search-using-googles-scann-and-facebook-s-faiss-3e84df25ba</a:t>
            </a:r>
            <a:r>
              <a:rPr lang="en-US" sz="1200" dirty="0">
                <a:latin typeface="Microsoft Sans Serif"/>
                <a:cs typeface="Microsoft Sans Serif"/>
              </a:rPr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200" dirty="0">
                <a:latin typeface="Microsoft Sans Serif"/>
                <a:cs typeface="Microsoft Sans Serif"/>
                <a:hlinkClick r:id="rId13"/>
              </a:rPr>
              <a:t>https://medium.com/analytics-vidhya/scann-faster-vector-similarity-search-69af769ad474</a:t>
            </a:r>
            <a:r>
              <a:rPr lang="en-US" sz="1200" dirty="0">
                <a:latin typeface="Microsoft Sans Serif"/>
                <a:cs typeface="Microsoft Sans Serif"/>
              </a:rPr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endParaRPr lang="en-US" sz="1200" dirty="0">
              <a:latin typeface="Microsoft Sans Serif"/>
              <a:cs typeface="Microsoft Sans Serif"/>
            </a:endParaRP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900" b="1" dirty="0" err="1"/>
              <a:t>Faiss</a:t>
            </a:r>
            <a:endParaRPr lang="en-US" sz="19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14"/>
              </a:rPr>
              <a:t>https://habr.com/ru/companies/okkamgroup/articles/509204/</a:t>
            </a:r>
            <a:r>
              <a:rPr lang="en-US" sz="1300" dirty="0"/>
              <a:t> 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15"/>
              </a:rPr>
              <a:t>https://habr.com/ru/companies/avito/articles/488658/</a:t>
            </a:r>
            <a:r>
              <a:rPr lang="en-US" sz="1300" dirty="0"/>
              <a:t> 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16"/>
              </a:rPr>
              <a:t>https://mccormickml.com/2017/10/13/product-quantizer-tutorial-part-1/#exhaustive-search-with-approximate-distances</a:t>
            </a:r>
            <a:r>
              <a:rPr lang="en-US" sz="1300" dirty="0"/>
              <a:t> 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17"/>
              </a:rPr>
              <a:t>https://github.com/facebookresearch/faiss/wiki/Guidelines-to-choose-an-index</a:t>
            </a:r>
            <a:r>
              <a:rPr lang="en-US" sz="13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endParaRPr lang="ru-RU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GB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800" dirty="0"/>
              <a:t>Построение </a:t>
            </a:r>
            <a:r>
              <a:rPr lang="en-US" sz="1800" dirty="0"/>
              <a:t>end-to-end </a:t>
            </a:r>
            <a:r>
              <a:rPr lang="ru-RU" sz="1800" dirty="0" err="1"/>
              <a:t>пайплайнов</a:t>
            </a:r>
            <a:r>
              <a:rPr lang="ru-RU" sz="1800" dirty="0"/>
              <a:t> и </a:t>
            </a:r>
            <a:r>
              <a:rPr lang="ru-RU" sz="1800" dirty="0" err="1"/>
              <a:t>сериализация</a:t>
            </a:r>
            <a:r>
              <a:rPr lang="ru-RU" sz="1800" dirty="0"/>
              <a:t> моделей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38D10BF5-ABA9-244A-A922-A6667FF32DA1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6406</TotalTime>
  <Words>1396</Words>
  <Application>Microsoft Macintosh PowerPoint</Application>
  <PresentationFormat>On-screen Show (16:9)</PresentationFormat>
  <Paragraphs>262</Paragraphs>
  <Slides>29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Apple Chancery</vt:lpstr>
      <vt:lpstr>Arial</vt:lpstr>
      <vt:lpstr>Calibri</vt:lpstr>
      <vt:lpstr>Cambria Math</vt:lpstr>
      <vt:lpstr>Google Sans</vt:lpstr>
      <vt:lpstr>Microsoft Sans Serif</vt:lpstr>
      <vt:lpstr>Roboto</vt:lpstr>
      <vt:lpstr>Roboto</vt:lpstr>
      <vt:lpstr>Söhne</vt:lpstr>
      <vt:lpstr>Office Theme</vt:lpstr>
      <vt:lpstr>ML Advanced Поиск нечетких дублей</vt:lpstr>
      <vt:lpstr>Проверить, идет ли запись</vt:lpstr>
      <vt:lpstr>ML Advanced Поиск нечетких дублей</vt:lpstr>
      <vt:lpstr>Правила вебинара</vt:lpstr>
      <vt:lpstr>Карта курса</vt:lpstr>
      <vt:lpstr>Цели вебинара</vt:lpstr>
      <vt:lpstr>Смысл</vt:lpstr>
      <vt:lpstr>Маршрут вебинара</vt:lpstr>
      <vt:lpstr>Нечеткие Дубликаты</vt:lpstr>
      <vt:lpstr>Задачи поиска нечетких дублей</vt:lpstr>
      <vt:lpstr>Сходство</vt:lpstr>
      <vt:lpstr>Метрики сходства</vt:lpstr>
      <vt:lpstr>Наивное решение</vt:lpstr>
      <vt:lpstr>Approximate Nearest Neighbor</vt:lpstr>
      <vt:lpstr>Методы поиска нечетких дублей</vt:lpstr>
      <vt:lpstr>Диаграмма Вороного</vt:lpstr>
      <vt:lpstr>Квантилизация</vt:lpstr>
      <vt:lpstr>Вопросы?</vt:lpstr>
      <vt:lpstr>Алгоритмы</vt:lpstr>
      <vt:lpstr>Посмотреть кто сейчас самый самый</vt:lpstr>
      <vt:lpstr>FAISS = Facebook AI Research Similarity Search</vt:lpstr>
      <vt:lpstr>SCANN</vt:lpstr>
      <vt:lpstr>Annoy</vt:lpstr>
      <vt:lpstr>Вопросы?</vt:lpstr>
      <vt:lpstr>Практика</vt:lpstr>
      <vt:lpstr>Список материалов для изучения</vt:lpstr>
      <vt:lpstr>Вопросы?</vt:lpstr>
      <vt:lpstr>Заполните, пожалуйста, опрос о занятии по ссылке в чате</vt:lpstr>
      <vt:lpstr>Приходите на следующие вебинары Построение end-to-end пайплайнов и сериализация моделей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75</cp:revision>
  <dcterms:created xsi:type="dcterms:W3CDTF">2023-10-10T14:19:39Z</dcterms:created>
  <dcterms:modified xsi:type="dcterms:W3CDTF">2025-12-02T18:24:26Z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