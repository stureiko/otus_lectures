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17"/>
  </p:notesMasterIdLst>
  <p:sldIdLst>
    <p:sldId id="256" r:id="rId3"/>
    <p:sldId id="257" r:id="rId4"/>
    <p:sldId id="259" r:id="rId5"/>
    <p:sldId id="349" r:id="rId6"/>
    <p:sldId id="489" r:id="rId7"/>
    <p:sldId id="262" r:id="rId8"/>
    <p:sldId id="263" r:id="rId9"/>
    <p:sldId id="264" r:id="rId10"/>
    <p:sldId id="278" r:id="rId11"/>
    <p:sldId id="279" r:id="rId12"/>
    <p:sldId id="281" r:id="rId13"/>
    <p:sldId id="282" r:id="rId14"/>
    <p:sldId id="289" r:id="rId15"/>
    <p:sldId id="337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94"/>
    <p:restoredTop sz="97146"/>
  </p:normalViewPr>
  <p:slideViewPr>
    <p:cSldViewPr snapToGrid="0">
      <p:cViewPr varScale="1">
        <p:scale>
          <a:sx n="297" d="100"/>
          <a:sy n="297" d="100"/>
        </p:scale>
        <p:origin x="1200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6" r:id="rId10"/>
    <p:sldLayoutId id="2147483687" r:id="rId11"/>
    <p:sldLayoutId id="2147483688" r:id="rId12"/>
    <p:sldLayoutId id="214748368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710.10044" TargetMode="External"/><Relationship Id="rId3" Type="http://schemas.openxmlformats.org/officeDocument/2006/relationships/hyperlink" Target="https://pytorch.org/tutorials/intermediate/mario_rl_tutorial.html" TargetMode="External"/><Relationship Id="rId7" Type="http://schemas.openxmlformats.org/officeDocument/2006/relationships/hyperlink" Target="https://arxiv.org/pdf/1707.06887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towardsdatascience.com/deep-q-network-dqn-i-bce08bdf2af" TargetMode="External"/><Relationship Id="rId5" Type="http://schemas.openxmlformats.org/officeDocument/2006/relationships/hyperlink" Target="https://towardsdatascience.com/double-deep-q-networks-905dd8325412" TargetMode="External"/><Relationship Id="rId4" Type="http://schemas.openxmlformats.org/officeDocument/2006/relationships/hyperlink" Target="https://www.mlq.ai/guide-to-deep-reinforcement-learning/" TargetMode="External"/><Relationship Id="rId9" Type="http://schemas.openxmlformats.org/officeDocument/2006/relationships/hyperlink" Target="https://arxiv.org/abs/1707.01495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SARSA, Q-learning</a:t>
            </a:r>
            <a:br>
              <a:rPr lang="en-US" sz="3600" dirty="0"/>
            </a:br>
            <a:r>
              <a:rPr lang="en-US" sz="3600" dirty="0"/>
              <a:t>practice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en-US" dirty="0"/>
              <a:t>SARSA, Q-learning - practice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B6C0B-391F-E646-B875-92F9CA29F5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CC69E03-9DBF-494A-9B34-980047DF6F9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/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2214978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SARSA/Q-learning – Gym </a:t>
            </a: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FrosenLake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2"/>
          <p:cNvSpPr/>
          <p:nvPr/>
        </p:nvSpPr>
        <p:spPr>
          <a:xfrm>
            <a:off x="787125" y="322443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SARSA/Q-learning – Gym Taxi</a:t>
            </a:r>
          </a:p>
        </p:txBody>
      </p:sp>
      <p:sp>
        <p:nvSpPr>
          <p:cNvPr id="272" name="Google Shape;272;p52"/>
          <p:cNvSpPr/>
          <p:nvPr/>
        </p:nvSpPr>
        <p:spPr>
          <a:xfrm>
            <a:off x="774941" y="423388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Q-learning simple dummy trading bot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52"/>
          <p:cNvCxnSpPr>
            <a:cxnSpLocks/>
            <a:stCxn id="267" idx="1"/>
            <a:endCxn id="269" idx="1"/>
          </p:cNvCxnSpPr>
          <p:nvPr/>
        </p:nvCxnSpPr>
        <p:spPr>
          <a:xfrm rot="10800000" flipH="1" flipV="1">
            <a:off x="786525" y="1393624"/>
            <a:ext cx="600" cy="1009453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rot="10800000" flipV="1">
            <a:off x="787125" y="2403077"/>
            <a:ext cx="12700" cy="100945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cxnSpLocks/>
            <a:stCxn id="270" idx="1"/>
            <a:endCxn id="272" idx="1"/>
          </p:cNvCxnSpPr>
          <p:nvPr/>
        </p:nvCxnSpPr>
        <p:spPr>
          <a:xfrm rot="10800000" flipV="1">
            <a:off x="774941" y="3412531"/>
            <a:ext cx="12184" cy="1009452"/>
          </a:xfrm>
          <a:prstGeom prst="curvedConnector3">
            <a:avLst>
              <a:gd name="adj1" fmla="val 1976231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04FD1A-DAFB-984D-AA84-699B408ECC16}"/>
              </a:ext>
            </a:extLst>
          </p:cNvPr>
          <p:cNvGrpSpPr/>
          <p:nvPr/>
        </p:nvGrpSpPr>
        <p:grpSpPr>
          <a:xfrm>
            <a:off x="5362873" y="598538"/>
            <a:ext cx="3139518" cy="4011545"/>
            <a:chOff x="5362873" y="598538"/>
            <a:chExt cx="3139518" cy="401154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4B58BFF-5376-8241-BE03-81F21602E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62873" y="598538"/>
              <a:ext cx="3054665" cy="2156936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5DCFFC0-4300-3648-B859-55853B0256D4}"/>
                </a:ext>
              </a:extLst>
            </p:cNvPr>
            <p:cNvSpPr/>
            <p:nvPr/>
          </p:nvSpPr>
          <p:spPr>
            <a:xfrm>
              <a:off x="5389792" y="598538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B71E481-D0AE-1B45-B217-D6E6D6265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078"/>
            <a:stretch/>
          </p:blipFill>
          <p:spPr>
            <a:xfrm>
              <a:off x="5917445" y="2846057"/>
              <a:ext cx="2500093" cy="1764026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AD1C180-95FC-2843-841A-8EDC89253312}"/>
                </a:ext>
              </a:extLst>
            </p:cNvPr>
            <p:cNvSpPr/>
            <p:nvPr/>
          </p:nvSpPr>
          <p:spPr>
            <a:xfrm>
              <a:off x="8126645" y="2828340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2373907802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Написать реализацию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ARSA/Q-learning </a:t>
                      </a:r>
                      <a:r>
                        <a:rPr lang="ru-RU" sz="1300" noProof="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</a:t>
                      </a:r>
                      <a:r>
                        <a:rPr lang="en-US" sz="1300" noProof="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Gym Frozen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Lake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Написать реализацию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ARSA/Q-learning </a:t>
                      </a:r>
                      <a:r>
                        <a:rPr lang="ru-RU" sz="1300" noProof="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</a:t>
                      </a:r>
                      <a:r>
                        <a:rPr lang="en-US" sz="1300" noProof="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Gym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Taxi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Написать реализацию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Q-learning </a:t>
                      </a:r>
                      <a:r>
                        <a:rPr lang="ru-RU" sz="1300" noProof="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простого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торгового робота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1439232576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Программировать задачи обучения с подкреплением для дискретных сред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Иметь базу для перехода к реальным задачам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4" name="Google Shape;283;p53">
            <a:extLst>
              <a:ext uri="{FF2B5EF4-FFF2-40B4-BE49-F238E27FC236}">
                <a16:creationId xmlns:a16="http://schemas.microsoft.com/office/drawing/2014/main" id="{936422AA-148B-024E-A4BD-7D9102DA58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3413226"/>
              </p:ext>
            </p:extLst>
          </p:nvPr>
        </p:nvGraphicFramePr>
        <p:xfrm>
          <a:off x="952500" y="1495472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ARSA/Q-learning </a:t>
                      </a:r>
                      <a:r>
                        <a:rPr lang="en-US" sz="1300" noProof="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н</a:t>
                      </a:r>
                      <a:r>
                        <a:rPr lang="ru-RU" sz="1300" noProof="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 примере </a:t>
                      </a:r>
                      <a:r>
                        <a:rPr lang="en-US" sz="1300" noProof="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Gym Frozen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Lake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ARSA/Q-learning </a:t>
                      </a:r>
                      <a:r>
                        <a:rPr lang="en-US" sz="1300" noProof="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н</a:t>
                      </a:r>
                      <a:r>
                        <a:rPr lang="ru-RU" sz="1300" noProof="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 примере </a:t>
                      </a:r>
                      <a:r>
                        <a:rPr lang="en-US" sz="1300" noProof="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Gym </a:t>
                      </a:r>
                      <a:r>
                        <a:rPr lang="ru-RU" sz="1300" noProof="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r>
                        <a:rPr lang="en-US" sz="1300" noProof="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axi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Q-learning </a:t>
                      </a:r>
                      <a:r>
                        <a:rPr lang="ru-RU" sz="1300" noProof="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простого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торгового робота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1023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материалов для изучения</a:t>
            </a:r>
            <a:endParaRPr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3"/>
              </a:rPr>
              <a:t>https://pytorch.org/tutorials/intermediate/mario_rl_tutorial.html</a:t>
            </a:r>
            <a:r>
              <a:rPr lang="en-GB" sz="1300" dirty="0"/>
              <a:t> – </a:t>
            </a:r>
            <a:r>
              <a:rPr lang="ru-RU" sz="1300" dirty="0"/>
              <a:t>реализация для экранной игры. Учить долго и тяжело, но в качестве примера для будущих задач вполне неплохо.</a:t>
            </a:r>
            <a:endParaRPr lang="en-GB"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4"/>
              </a:rPr>
              <a:t>https://www.mlq.ai/guide-to-deep-reinforcement-learning/</a:t>
            </a:r>
            <a:r>
              <a:rPr lang="en-GB" sz="1300" dirty="0"/>
              <a:t> - </a:t>
            </a:r>
            <a:r>
              <a:rPr lang="ru-RU" sz="1300" dirty="0"/>
              <a:t>обзор алгоритмов </a:t>
            </a:r>
            <a:r>
              <a:rPr lang="en-US" sz="1300" dirty="0"/>
              <a:t>RL.</a:t>
            </a:r>
            <a:endParaRPr lang="en-GB"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5"/>
              </a:rPr>
              <a:t>https://towardsdatascience.com/double-deep-q-networks-905dd8325412</a:t>
            </a:r>
            <a:r>
              <a:rPr lang="en-GB" sz="1300" dirty="0"/>
              <a:t> - DDQN.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>
                <a:hlinkClick r:id="rId6"/>
              </a:rPr>
              <a:t>https://towardsdatascience.com/deep-q-network-dqn-i-bce08bdf2af</a:t>
            </a:r>
            <a:r>
              <a:rPr lang="en-GB" sz="1300" dirty="0"/>
              <a:t> – </a:t>
            </a:r>
            <a:r>
              <a:rPr lang="ru-RU" sz="1300" dirty="0"/>
              <a:t>Хорошее объяснение на пальцах, но не рабочие примеры </a:t>
            </a:r>
            <a:r>
              <a:rPr lang="ru-RU" sz="1300" dirty="0">
                <a:sym typeface="Wingdings" pitchFamily="2" charset="2"/>
              </a:rPr>
              <a:t> </a:t>
            </a:r>
            <a:endParaRPr lang="en-US" sz="1300" dirty="0">
              <a:sym typeface="Wingdings" pitchFamily="2" charset="2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sz="1300" dirty="0">
                <a:sym typeface="Wingdings" pitchFamily="2" charset="2"/>
              </a:rPr>
              <a:t>C51 - </a:t>
            </a:r>
            <a:r>
              <a:rPr lang="en-US" sz="1300" dirty="0">
                <a:sym typeface="Wingdings" pitchFamily="2" charset="2"/>
                <a:hlinkClick r:id="rId7"/>
              </a:rPr>
              <a:t>https://arxiv.org/pdf/1707.06887.pdf </a:t>
            </a:r>
            <a:endParaRPr lang="en-US" sz="1300" dirty="0">
              <a:sym typeface="Wingdings" pitchFamily="2" charset="2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/>
              <a:t>QR-DQN -  </a:t>
            </a:r>
            <a:r>
              <a:rPr lang="en-GB" sz="1300" dirty="0">
                <a:hlinkClick r:id="rId8"/>
              </a:rPr>
              <a:t>https://arxiv.org/abs/1710.10044</a:t>
            </a:r>
            <a:r>
              <a:rPr lang="en-GB" sz="1300" dirty="0"/>
              <a:t> 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300" dirty="0"/>
              <a:t>HER - </a:t>
            </a:r>
            <a:r>
              <a:rPr lang="en-GB" sz="1300" dirty="0">
                <a:hlinkClick r:id="rId9"/>
              </a:rPr>
              <a:t>https://arxiv.org/abs/1707.01495</a:t>
            </a:r>
            <a:r>
              <a:rPr lang="en-GB" sz="1300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2274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</a:rPr>
              <a:t>Deep </a:t>
            </a:r>
            <a:r>
              <a:rPr lang="ru-RU" dirty="0" err="1">
                <a:latin typeface="Roboto" panose="02000000000000000000" pitchFamily="2" charset="0"/>
              </a:rPr>
              <a:t>Q</a:t>
            </a:r>
            <a:r>
              <a:rPr lang="en-US" dirty="0">
                <a:latin typeface="Roboto" panose="02000000000000000000" pitchFamily="2" charset="0"/>
              </a:rPr>
              <a:t>-network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алгоритм</a:t>
            </a:r>
          </a:p>
        </p:txBody>
      </p:sp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474B44E9-AFFA-114E-9F73-EE4EED93E53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77839C67-3608-CE47-AE5E-5755947502A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024DCA-E77E-3B42-8BD6-76118D8AD4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7223</TotalTime>
  <Words>536</Words>
  <Application>Microsoft Macintosh PowerPoint</Application>
  <PresentationFormat>On-screen Show (16:9)</PresentationFormat>
  <Paragraphs>120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Google Sans</vt:lpstr>
      <vt:lpstr>Roboto</vt:lpstr>
      <vt:lpstr>Arial</vt:lpstr>
      <vt:lpstr>Courier New</vt:lpstr>
      <vt:lpstr>Apple Chancery</vt:lpstr>
      <vt:lpstr>Светлая тема</vt:lpstr>
      <vt:lpstr>Светлая тема</vt:lpstr>
      <vt:lpstr>ML Advanced SARSA, Q-learning practice</vt:lpstr>
      <vt:lpstr>Проверить, идет ли запись</vt:lpstr>
      <vt:lpstr>Правила вебинара</vt:lpstr>
      <vt:lpstr>ML Advanced SARSA, Q-learning - practice</vt:lpstr>
      <vt:lpstr>Карта курса</vt:lpstr>
      <vt:lpstr>Маршрут вебинара</vt:lpstr>
      <vt:lpstr>Цели вебинара</vt:lpstr>
      <vt:lpstr>Смысл</vt:lpstr>
      <vt:lpstr>Практика</vt:lpstr>
      <vt:lpstr>Практика</vt:lpstr>
      <vt:lpstr>Список материалов для изучения</vt:lpstr>
      <vt:lpstr>Вопросы?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65</cp:revision>
  <dcterms:modified xsi:type="dcterms:W3CDTF">2025-10-01T12:57:46Z</dcterms:modified>
</cp:coreProperties>
</file>