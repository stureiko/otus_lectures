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image27.jpg" ContentType="image/jpg"/>
  <Override PartName="/ppt/media/image28.jpg" ContentType="image/jp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31"/>
  </p:notesMasterIdLst>
  <p:sldIdLst>
    <p:sldId id="256" r:id="rId2"/>
    <p:sldId id="257" r:id="rId3"/>
    <p:sldId id="404" r:id="rId4"/>
    <p:sldId id="259" r:id="rId5"/>
    <p:sldId id="260" r:id="rId6"/>
    <p:sldId id="489" r:id="rId7"/>
    <p:sldId id="405" r:id="rId8"/>
    <p:sldId id="371" r:id="rId9"/>
    <p:sldId id="372" r:id="rId10"/>
    <p:sldId id="268" r:id="rId11"/>
    <p:sldId id="279" r:id="rId12"/>
    <p:sldId id="269" r:id="rId13"/>
    <p:sldId id="270" r:id="rId14"/>
    <p:sldId id="315" r:id="rId15"/>
    <p:sldId id="335" r:id="rId16"/>
    <p:sldId id="320" r:id="rId17"/>
    <p:sldId id="319" r:id="rId18"/>
    <p:sldId id="318" r:id="rId19"/>
    <p:sldId id="323" r:id="rId20"/>
    <p:sldId id="324" r:id="rId21"/>
    <p:sldId id="326" r:id="rId22"/>
    <p:sldId id="325" r:id="rId23"/>
    <p:sldId id="327" r:id="rId24"/>
    <p:sldId id="328" r:id="rId25"/>
    <p:sldId id="336" r:id="rId26"/>
    <p:sldId id="337" r:id="rId27"/>
    <p:sldId id="395" r:id="rId28"/>
    <p:sldId id="287" r:id="rId29"/>
    <p:sldId id="288" r:id="rId3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2"/>
      <p:bold r:id="rId33"/>
      <p:italic r:id="rId34"/>
      <p:boldItalic r:id="rId35"/>
    </p:embeddedFont>
    <p:embeddedFont>
      <p:font typeface="Roboto Light" panose="020F0302020204030204" pitchFamily="34" charset="0"/>
      <p:regular r:id="rId36"/>
      <p:italic r:id="rId37"/>
    </p:embeddedFont>
    <p:embeddedFont>
      <p:font typeface="Roboto Medium" panose="020F0502020204030204" pitchFamily="34" charset="0"/>
      <p:regular r:id="rId38"/>
      <p:italic r:id="rId39"/>
    </p:embeddedFont>
    <p:embeddedFont>
      <p:font typeface="Trebuchet MS" panose="020B0703020202090204" pitchFamily="34" charset="0"/>
      <p:regular r:id="rId40"/>
      <p:bold r:id="rId41"/>
      <p: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F00"/>
    <a:srgbClr val="FBFBFB"/>
    <a:srgbClr val="EEEEEE"/>
    <a:srgbClr val="0B88ED"/>
    <a:srgbClr val="E5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41"/>
    <p:restoredTop sz="94694"/>
  </p:normalViewPr>
  <p:slideViewPr>
    <p:cSldViewPr snapToGrid="0">
      <p:cViewPr varScale="1">
        <p:scale>
          <a:sx n="156" d="100"/>
          <a:sy n="156" d="100"/>
        </p:scale>
        <p:origin x="1064" y="168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961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86984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425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560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954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853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96544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897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84723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4760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57212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6886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7046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7797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594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76" r:id="rId11"/>
    <p:sldLayoutId id="214748367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5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5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svg"/><Relationship Id="rId11" Type="http://schemas.openxmlformats.org/officeDocument/2006/relationships/image" Target="../media/image54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Relationship Id="rId14" Type="http://schemas.openxmlformats.org/officeDocument/2006/relationships/image" Target="../media/image5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mlflow.org/docs/latest/getting-started/index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yandex.cloud/ru/docs/datasphere/tutorials/mlflow-datasphere" TargetMode="External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companies/digdes/articles/673324/" TargetMode="External"/><Relationship Id="rId3" Type="http://schemas.openxmlformats.org/officeDocument/2006/relationships/hyperlink" Target="https://mlflow.org/docs/latest/getting-started/index.html" TargetMode="External"/><Relationship Id="rId7" Type="http://schemas.openxmlformats.org/officeDocument/2006/relationships/hyperlink" Target="https://medium.com/@amir_masoud/setup-collaborative-mlflow-with-postgresql-as-tracking-server-and-minio-as-artifact-store-using-45c76a9d9814" TargetMode="External"/><Relationship Id="rId12" Type="http://schemas.openxmlformats.org/officeDocument/2006/relationships/hyperlink" Target="https://www.comet.com/site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habr.com/ru/articles/774840/" TargetMode="External"/><Relationship Id="rId11" Type="http://schemas.openxmlformats.org/officeDocument/2006/relationships/hyperlink" Target="https://www.verta.ai/" TargetMode="External"/><Relationship Id="rId5" Type="http://schemas.openxmlformats.org/officeDocument/2006/relationships/hyperlink" Target="https://habr.com/ru/companies/ods/articles/828458/" TargetMode="External"/><Relationship Id="rId10" Type="http://schemas.openxmlformats.org/officeDocument/2006/relationships/hyperlink" Target="https://neptune.ai/" TargetMode="External"/><Relationship Id="rId4" Type="http://schemas.openxmlformats.org/officeDocument/2006/relationships/hyperlink" Target="https://medium.com/walmartglobaltech/model-and-data-versioning-an-introduction-to-mlflow-and-dvc-260347cd0f6e" TargetMode="External"/><Relationship Id="rId9" Type="http://schemas.openxmlformats.org/officeDocument/2006/relationships/hyperlink" Target="https://wandb.ai/site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80376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Advanced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 err="1"/>
              <a:t>MLFlow</a:t>
            </a:r>
            <a:r>
              <a:rPr lang="en-US" sz="3200" dirty="0"/>
              <a:t> – </a:t>
            </a:r>
            <a:r>
              <a:rPr lang="ru-RU" sz="3200" dirty="0" err="1"/>
              <a:t>логирование</a:t>
            </a:r>
            <a:r>
              <a:rPr lang="ru-RU" sz="3200" dirty="0"/>
              <a:t> экспериментов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en-US" sz="2400" dirty="0" err="1"/>
              <a:t>MLFlow</a:t>
            </a:r>
            <a:r>
              <a:rPr lang="en-US" sz="2400" dirty="0"/>
              <a:t> – </a:t>
            </a:r>
            <a:r>
              <a:rPr lang="ru-RU" sz="2400" dirty="0" err="1"/>
              <a:t>логирование</a:t>
            </a:r>
            <a:r>
              <a:rPr lang="ru-RU" sz="2400" dirty="0"/>
              <a:t> экспериментов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4F95B4A6-F84C-CE46-A1DF-BE41CF4B8DEE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650" y="2171509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1654525" y="204930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20290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ru-RU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Воспроизводимость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288465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MLFlow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424815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BE39A353-0113-CB40-A790-4710AD049C32}"/>
              </a:ext>
            </a:extLst>
          </p:cNvPr>
          <p:cNvSpPr/>
          <p:nvPr/>
        </p:nvSpPr>
        <p:spPr>
          <a:xfrm>
            <a:off x="680150" y="356640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Сущности 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MLFlow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65DD0-A781-DB4E-9EBC-58BB5FCFF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10536"/>
            <a:ext cx="4268889" cy="34995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66750" indent="-220663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1" y="1778955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Production Code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1" y="2618879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Docker: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Структура</a:t>
            </a:r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, применение, деплой</a:t>
            </a:r>
            <a:endParaRPr lang="en-US"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1" y="3038841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Сети и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Docker compose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08" y="3458803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Практика</a:t>
            </a:r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: деплой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 докера </a:t>
            </a:r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Yandex Cloud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82584" y="1607918"/>
            <a:ext cx="268326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462622" y="2027880"/>
            <a:ext cx="1108250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52641" y="2237861"/>
            <a:ext cx="1528212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042659" y="2447844"/>
            <a:ext cx="1948174" cy="4199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86564"/>
              </p:ext>
            </p:extLst>
          </p:nvPr>
        </p:nvGraphicFramePr>
        <p:xfrm>
          <a:off x="5408535" y="569514"/>
          <a:ext cx="2174137" cy="304800"/>
        </p:xfrm>
        <a:graphic>
          <a:graphicData uri="http://schemas.openxmlformats.org/drawingml/2006/table">
            <a:tbl>
              <a:tblPr firstRow="1" bandRow="1"/>
              <a:tblGrid>
                <a:gridCol w="310591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73113610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0" name="Google Shape;271;p44">
            <a:extLst>
              <a:ext uri="{FF2B5EF4-FFF2-40B4-BE49-F238E27FC236}">
                <a16:creationId xmlns:a16="http://schemas.microsoft.com/office/drawing/2014/main" id="{08FD08F2-1068-D646-BB6A-4E2FA57711C4}"/>
              </a:ext>
            </a:extLst>
          </p:cNvPr>
          <p:cNvSpPr/>
          <p:nvPr/>
        </p:nvSpPr>
        <p:spPr>
          <a:xfrm>
            <a:off x="2226710" y="2198917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REST-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архитектура: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Flask API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40" name="Google Shape;271;p44">
            <a:extLst>
              <a:ext uri="{FF2B5EF4-FFF2-40B4-BE49-F238E27FC236}">
                <a16:creationId xmlns:a16="http://schemas.microsoft.com/office/drawing/2014/main" id="{7C685F24-2BCB-0043-92A5-40F891054D42}"/>
              </a:ext>
            </a:extLst>
          </p:cNvPr>
          <p:cNvSpPr/>
          <p:nvPr/>
        </p:nvSpPr>
        <p:spPr>
          <a:xfrm>
            <a:off x="2226707" y="3878765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Колоночные БД и объектные хранилища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44" name="Google Shape;271;p44">
            <a:extLst>
              <a:ext uri="{FF2B5EF4-FFF2-40B4-BE49-F238E27FC236}">
                <a16:creationId xmlns:a16="http://schemas.microsoft.com/office/drawing/2014/main" id="{4E0B5DCB-279A-7F41-B861-7BF2E1F68BEC}"/>
              </a:ext>
            </a:extLst>
          </p:cNvPr>
          <p:cNvSpPr/>
          <p:nvPr/>
        </p:nvSpPr>
        <p:spPr>
          <a:xfrm>
            <a:off x="2226707" y="4298727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Версионирование данных.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DVC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45" name="Google Shape;271;p44">
            <a:extLst>
              <a:ext uri="{FF2B5EF4-FFF2-40B4-BE49-F238E27FC236}">
                <a16:creationId xmlns:a16="http://schemas.microsoft.com/office/drawing/2014/main" id="{B6748F82-91DC-7B4F-BB13-12E921897F5E}"/>
              </a:ext>
            </a:extLst>
          </p:cNvPr>
          <p:cNvSpPr/>
          <p:nvPr/>
        </p:nvSpPr>
        <p:spPr>
          <a:xfrm>
            <a:off x="2226709" y="4718689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Воспроизводимость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</a:t>
            </a:r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и версионирование.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MLFlow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469DF4E1-0786-9D40-81E6-F6CF1BAF549D}"/>
              </a:ext>
            </a:extLst>
          </p:cNvPr>
          <p:cNvCxnSpPr>
            <a:cxnSpLocks/>
            <a:stCxn id="271" idx="2"/>
            <a:endCxn id="30" idx="1"/>
          </p:cNvCxnSpPr>
          <p:nvPr/>
        </p:nvCxnSpPr>
        <p:spPr>
          <a:xfrm rot="16200000" flipH="1">
            <a:off x="1672603" y="1817900"/>
            <a:ext cx="688288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1720B309-E949-B149-93B7-94DB9E36D602}"/>
              </a:ext>
            </a:extLst>
          </p:cNvPr>
          <p:cNvCxnSpPr>
            <a:cxnSpLocks/>
            <a:stCxn id="271" idx="2"/>
            <a:endCxn id="40" idx="1"/>
          </p:cNvCxnSpPr>
          <p:nvPr/>
        </p:nvCxnSpPr>
        <p:spPr>
          <a:xfrm rot="16200000" flipH="1">
            <a:off x="832677" y="2657825"/>
            <a:ext cx="2368136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7FE6FD82-B247-0645-9D21-5D83F936AF05}"/>
              </a:ext>
            </a:extLst>
          </p:cNvPr>
          <p:cNvCxnSpPr>
            <a:cxnSpLocks/>
            <a:stCxn id="271" idx="2"/>
            <a:endCxn id="44" idx="1"/>
          </p:cNvCxnSpPr>
          <p:nvPr/>
        </p:nvCxnSpPr>
        <p:spPr>
          <a:xfrm rot="16200000" flipH="1">
            <a:off x="622696" y="2867806"/>
            <a:ext cx="2788098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F2199535-5C34-5244-ADBA-415626F393F7}"/>
              </a:ext>
            </a:extLst>
          </p:cNvPr>
          <p:cNvCxnSpPr>
            <a:cxnSpLocks/>
            <a:stCxn id="271" idx="2"/>
            <a:endCxn id="45" idx="1"/>
          </p:cNvCxnSpPr>
          <p:nvPr/>
        </p:nvCxnSpPr>
        <p:spPr>
          <a:xfrm rot="16200000" flipH="1">
            <a:off x="412716" y="3077786"/>
            <a:ext cx="3208060" cy="4199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3293515"/>
              </p:ext>
            </p:extLst>
          </p:nvPr>
        </p:nvGraphicFramePr>
        <p:xfrm>
          <a:off x="846750" y="1649963"/>
          <a:ext cx="7239000" cy="103667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Вспомним еще раз про </a:t>
                      </a:r>
                      <a:r>
                        <a:rPr lang="ru-RU" sz="1300" dirty="0" err="1">
                          <a:sym typeface="Roboto"/>
                        </a:rPr>
                        <a:t>воспроизводимость</a:t>
                      </a:r>
                      <a:endParaRPr lang="ru-RU" sz="1300" dirty="0"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Поймете что такое </a:t>
                      </a:r>
                      <a:r>
                        <a:rPr lang="en-US" sz="1300" dirty="0" err="1">
                          <a:sym typeface="Roboto"/>
                        </a:rPr>
                        <a:t>MLFlow</a:t>
                      </a:r>
                      <a:r>
                        <a:rPr lang="en-US" sz="1300" dirty="0">
                          <a:sym typeface="Roboto"/>
                        </a:rPr>
                        <a:t> </a:t>
                      </a:r>
                      <a:r>
                        <a:rPr lang="ru-RU" sz="1300" dirty="0">
                          <a:sym typeface="Roboto"/>
                        </a:rPr>
                        <a:t>и зачем это нужно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Научитесь фиксировать и сравнивать результаты экспериментов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2667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Смысл</a:t>
            </a:r>
            <a:endParaRPr dirty="0"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959276263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Контролировать и сравнивать результаты экспериментов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Выбрать лучшую модель среди многих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1569211"/>
            <a:ext cx="665353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spc="-95" dirty="0">
                <a:solidFill>
                  <a:srgbClr val="FFFFFF"/>
                </a:solidFill>
              </a:rPr>
              <a:t>Версионирование</a:t>
            </a:r>
            <a:r>
              <a:rPr sz="5400" spc="-290" dirty="0">
                <a:solidFill>
                  <a:srgbClr val="FFFFFF"/>
                </a:solidFill>
              </a:rPr>
              <a:t> </a:t>
            </a:r>
            <a:r>
              <a:rPr sz="5400" spc="-50" dirty="0">
                <a:solidFill>
                  <a:srgbClr val="FFFFFF"/>
                </a:solidFill>
              </a:rPr>
              <a:t>и </a:t>
            </a:r>
            <a:r>
              <a:rPr sz="5400" spc="-10" dirty="0">
                <a:solidFill>
                  <a:srgbClr val="FFFFFF"/>
                </a:solidFill>
              </a:rPr>
              <a:t>воспроизводимость</a:t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44" name="Google Shape;444;p84"/>
          <p:cNvGraphicFramePr/>
          <p:nvPr/>
        </p:nvGraphicFramePr>
        <p:xfrm>
          <a:off x="952500" y="1544194"/>
          <a:ext cx="7239000" cy="1142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MLFlow –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система управления жизненным циклом 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ML-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проектов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Помогает навести порядок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и автоматизировать задачи (в том числе регулярное переобучение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ваших моделей)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Роботы надежнее людей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все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что можно автоматизировать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нужно автоматизировать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 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MLOps –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это инструменты + навыки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.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Причем навыки важнее инструментов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. 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Воспроизводимость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994563"/>
            <a:ext cx="568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 мы разрабатываем модели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834635-9714-255E-3D18-CC9ECF81B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9692"/>
            <a:ext cx="7772400" cy="34895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тут не так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A9530B-B7FA-3C20-D892-70EA51AE7030}"/>
              </a:ext>
            </a:extLst>
          </p:cNvPr>
          <p:cNvSpPr txBox="1"/>
          <p:nvPr/>
        </p:nvSpPr>
        <p:spPr>
          <a:xfrm>
            <a:off x="1090867" y="1241086"/>
            <a:ext cx="336025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Много ручного труда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Долго и унизительно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контекст утрачивается очень быстро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93BC2-6FDF-F833-FCEA-07867A1CC605}"/>
              </a:ext>
            </a:extLst>
          </p:cNvPr>
          <p:cNvSpPr txBox="1"/>
          <p:nvPr/>
        </p:nvSpPr>
        <p:spPr>
          <a:xfrm>
            <a:off x="5061799" y="1240982"/>
            <a:ext cx="336025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Локальные эксперименты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Разные окружения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бардак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179EF-0677-7728-1D02-3A2646035764}"/>
              </a:ext>
            </a:extLst>
          </p:cNvPr>
          <p:cNvSpPr txBox="1"/>
          <p:nvPr/>
        </p:nvSpPr>
        <p:spPr>
          <a:xfrm>
            <a:off x="1090867" y="2125273"/>
            <a:ext cx="336025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Ничего не версионируется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Ни данные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ни результаты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ни модели (веса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иногда даже код)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1A889-5AD2-A2D1-C6F3-B19B0BC3D611}"/>
              </a:ext>
            </a:extLst>
          </p:cNvPr>
          <p:cNvSpPr txBox="1"/>
          <p:nvPr/>
        </p:nvSpPr>
        <p:spPr>
          <a:xfrm>
            <a:off x="5061798" y="2125273"/>
            <a:ext cx="364236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между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ML 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и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ML</a:t>
            </a:r>
            <a:endParaRPr lang="ru-RU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Нет нормальной коммуникации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обмен результатами в почте/</a:t>
            </a:r>
            <a:r>
              <a:rPr lang="ru-RU" sz="1400" i="1" dirty="0" err="1">
                <a:latin typeface="Roboto Light" panose="02000000000000000000" pitchFamily="2" charset="0"/>
                <a:ea typeface="Roboto Light" panose="02000000000000000000" pitchFamily="2" charset="0"/>
              </a:rPr>
              <a:t>чатиках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(бардак)</a:t>
            </a:r>
            <a:r>
              <a:rPr lang="en-US" sz="1400" i="1" dirty="0">
                <a:latin typeface="Roboto" panose="02000000000000000000" pitchFamily="2" charset="0"/>
                <a:ea typeface="Roboto" panose="02000000000000000000" pitchFamily="2" charset="0"/>
              </a:rPr>
              <a:t>;</a:t>
            </a:r>
            <a:endParaRPr lang="en-RU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F8901-BDC0-5905-5724-C692960015E1}"/>
              </a:ext>
            </a:extLst>
          </p:cNvPr>
          <p:cNvSpPr txBox="1"/>
          <p:nvPr/>
        </p:nvSpPr>
        <p:spPr>
          <a:xfrm>
            <a:off x="1090867" y="3095435"/>
            <a:ext cx="336025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между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ML 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и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Ops</a:t>
            </a:r>
            <a:endParaRPr lang="ru-RU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Разные стеки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трудности перевода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425D1-CACA-4929-3634-FA46DE2BACA1}"/>
              </a:ext>
            </a:extLst>
          </p:cNvPr>
          <p:cNvSpPr txBox="1"/>
          <p:nvPr/>
        </p:nvSpPr>
        <p:spPr>
          <a:xfrm>
            <a:off x="5061799" y="3095435"/>
            <a:ext cx="364236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в тестировании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Модель и инфраструктура тестируются отдельно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5155E-5341-4EE7-7015-0DD059406EEA}"/>
              </a:ext>
            </a:extLst>
          </p:cNvPr>
          <p:cNvSpPr txBox="1"/>
          <p:nvPr/>
        </p:nvSpPr>
        <p:spPr>
          <a:xfrm>
            <a:off x="1090866" y="3849488"/>
            <a:ext cx="364236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в мониторинге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Инфраструктура </a:t>
            </a:r>
            <a:r>
              <a:rPr lang="ru-RU" sz="1400" i="1" dirty="0" err="1">
                <a:latin typeface="Roboto Light" panose="02000000000000000000" pitchFamily="2" charset="0"/>
                <a:ea typeface="Roboto Light" panose="02000000000000000000" pitchFamily="2" charset="0"/>
              </a:rPr>
              <a:t>мониторится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(возможно)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но если деградировала модель – у нас беда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33F1E89-E7E5-8378-E108-E4DF7A099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225" y="3162414"/>
            <a:ext cx="360000" cy="36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2749FF9-87E7-52B3-2BDC-9EEA293337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6225" y="2203311"/>
            <a:ext cx="360000" cy="360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A3E08EA-D974-2BD9-00DD-3EC0A2E413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6225" y="1327232"/>
            <a:ext cx="360000" cy="360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69BF087-78B5-4F91-3FDC-288EE2382F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992" y="3947910"/>
            <a:ext cx="360000" cy="360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0ADC22D-350C-EC1C-7FD8-3AF3CC6F61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2992" y="3162414"/>
            <a:ext cx="360000" cy="360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8F420D0-E626-B8A6-7DEC-28AC000B72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2992" y="2203311"/>
            <a:ext cx="360000" cy="36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FBD95C53-6FC0-7F89-CDBD-6111EF77209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2992" y="1323179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9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Зачем нам воспроизводимость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1F218-9FC5-4B9F-E9E7-EF81F420186D}"/>
              </a:ext>
            </a:extLst>
          </p:cNvPr>
          <p:cNvSpPr txBox="1"/>
          <p:nvPr/>
        </p:nvSpPr>
        <p:spPr>
          <a:xfrm>
            <a:off x="736853" y="1619271"/>
            <a:ext cx="2260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</a:rPr>
              <a:t>В исследованиях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259A5A-534D-E381-A724-266A43D18EC4}"/>
              </a:ext>
            </a:extLst>
          </p:cNvPr>
          <p:cNvSpPr txBox="1"/>
          <p:nvPr/>
        </p:nvSpPr>
        <p:spPr>
          <a:xfrm>
            <a:off x="736853" y="2071264"/>
            <a:ext cx="36399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Исследование – это коллаборация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Один в поле не воин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 Если вы не можете повторить то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что сделал коллега (</a:t>
            </a:r>
            <a:r>
              <a:rPr lang="ru-RU" sz="16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или узнать</a:t>
            </a:r>
            <a:r>
              <a:rPr lang="en-US" sz="16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i="1" dirty="0">
                <a:latin typeface="Roboto Light" panose="02000000000000000000" pitchFamily="2" charset="0"/>
                <a:ea typeface="Roboto Light" panose="02000000000000000000" pitchFamily="2" charset="0"/>
              </a:rPr>
              <a:t>чего он не сделал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)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прогресса не будет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99B5D0-420F-AC26-225D-B5EE72CB44AC}"/>
              </a:ext>
            </a:extLst>
          </p:cNvPr>
          <p:cNvSpPr txBox="1"/>
          <p:nvPr/>
        </p:nvSpPr>
        <p:spPr>
          <a:xfrm>
            <a:off x="4824258" y="1619271"/>
            <a:ext cx="1382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</a:rPr>
              <a:t>В бизнесе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53B84-F5DB-0F73-4CC0-548E3D819927}"/>
              </a:ext>
            </a:extLst>
          </p:cNvPr>
          <p:cNvSpPr txBox="1"/>
          <p:nvPr/>
        </p:nvSpPr>
        <p:spPr>
          <a:xfrm>
            <a:off x="4824258" y="2071264"/>
            <a:ext cx="36399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Никто не будет инвестировать в то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что работает по счастливой случайности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Бизнесу нужны надежные и предсказуемые системы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ошибки в которых можно исправить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Время – деньги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endParaRPr lang="en-US" sz="16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2609C-01FE-0275-D43D-475A83F04D06}"/>
              </a:ext>
            </a:extLst>
          </p:cNvPr>
          <p:cNvSpPr txBox="1"/>
          <p:nvPr/>
        </p:nvSpPr>
        <p:spPr>
          <a:xfrm>
            <a:off x="763531" y="4417890"/>
            <a:ext cx="40607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latin typeface="Roboto Light" panose="02000000000000000000" pitchFamily="2" charset="0"/>
                <a:ea typeface="Roboto Light" panose="02000000000000000000" pitchFamily="2" charset="0"/>
              </a:rPr>
              <a:t>Воспроизводимость – основа автоматизации</a:t>
            </a:r>
            <a:r>
              <a:rPr lang="en-US" i="1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54879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Drift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0825BE-E1FD-97B0-5E6F-83F4CD215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4957"/>
            <a:ext cx="7772400" cy="319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80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Concept Drift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62D8DE-CA65-ADA9-D311-5889709F6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31" y="1424723"/>
            <a:ext cx="7214937" cy="338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89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Регулярное переобучение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3EC85-CF81-A31D-439F-54895657A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23" y="1029391"/>
            <a:ext cx="6687553" cy="397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214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4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MLFlow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7084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это</a:t>
            </a:r>
            <a:r>
              <a:rPr lang="en-US" dirty="0"/>
              <a:t>/</a:t>
            </a:r>
            <a:r>
              <a:rPr lang="ru-RU" dirty="0"/>
              <a:t>из чего состоит</a:t>
            </a:r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98BCEA4-6AC6-D827-676A-59DC009E4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376" y="1088192"/>
            <a:ext cx="497840" cy="497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645187-8F4C-B845-8483-AD623F09FB6B}"/>
              </a:ext>
            </a:extLst>
          </p:cNvPr>
          <p:cNvSpPr txBox="1"/>
          <p:nvPr/>
        </p:nvSpPr>
        <p:spPr>
          <a:xfrm>
            <a:off x="1395663" y="1075502"/>
            <a:ext cx="6352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MLFlow – 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это 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open-source 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платформа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 предназначенная для управления жизненным циклом 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ml-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моделей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endParaRPr lang="en-RU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23C8A-FE13-FE72-33E5-DCBAB274F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887538"/>
            <a:ext cx="7772400" cy="2119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A60FC1-6E51-6853-3DFC-372A6C00D7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0803" y="4416417"/>
            <a:ext cx="1430087" cy="436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B88293-38B2-3498-6E75-B88015E88C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958" y="4416417"/>
            <a:ext cx="1307409" cy="2588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15AC7A-64D7-B428-2443-FC475C0F52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2326" y="4437033"/>
            <a:ext cx="1763817" cy="247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20CEEA-D477-6628-9F56-13AB3022C8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7578" y="4419867"/>
            <a:ext cx="2306053" cy="2644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9AEF6E-092B-DCA9-83DE-2F8DD7F541A3}"/>
              </a:ext>
            </a:extLst>
          </p:cNvPr>
          <p:cNvCxnSpPr/>
          <p:nvPr/>
        </p:nvCxnSpPr>
        <p:spPr>
          <a:xfrm>
            <a:off x="771376" y="4236720"/>
            <a:ext cx="7686824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91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Сценарии использования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10D51-08CA-70A1-128D-A48C3D962C8C}"/>
              </a:ext>
            </a:extLst>
          </p:cNvPr>
          <p:cNvSpPr txBox="1"/>
          <p:nvPr/>
        </p:nvSpPr>
        <p:spPr>
          <a:xfrm>
            <a:off x="1090867" y="1535726"/>
            <a:ext cx="336025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Трекинг экспериментов</a:t>
            </a:r>
          </a:p>
          <a:p>
            <a:pPr>
              <a:spcBef>
                <a:spcPts val="600"/>
              </a:spcBef>
            </a:pP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Храните гиперпараметры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метрики и результаты каждого эксперимента в одном месте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;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сравнивайте результаты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Medium" panose="02000000000000000000" pitchFamily="2" charset="0"/>
                <a:ea typeface="Roboto Medium" panose="02000000000000000000" pitchFamily="2" charset="0"/>
              </a:rPr>
              <a:t>улучшайте модели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сохраняйте их в формате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MLFlow Model.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A0A24-DE91-377D-1B9F-0DE03CB3F281}"/>
              </a:ext>
            </a:extLst>
          </p:cNvPr>
          <p:cNvSpPr txBox="1"/>
          <p:nvPr/>
        </p:nvSpPr>
        <p:spPr>
          <a:xfrm>
            <a:off x="5061799" y="1535622"/>
            <a:ext cx="3360250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Мониторинг модели</a:t>
            </a:r>
          </a:p>
          <a:p>
            <a:pPr>
              <a:spcBef>
                <a:spcPts val="600"/>
              </a:spcBef>
            </a:pP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Вы всегда знаете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какая модель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 какое окружение на проде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: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тестируйте модель в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“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боевом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режиме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”,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не трогая прод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В случае деградации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– переобучайте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  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9D245-7E60-6F3D-F728-4F8990B65A91}"/>
              </a:ext>
            </a:extLst>
          </p:cNvPr>
          <p:cNvSpPr txBox="1"/>
          <p:nvPr/>
        </p:nvSpPr>
        <p:spPr>
          <a:xfrm>
            <a:off x="1090867" y="3478317"/>
            <a:ext cx="3360250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Выбор и внедрение модели</a:t>
            </a:r>
          </a:p>
          <a:p>
            <a:pPr>
              <a:spcBef>
                <a:spcPts val="600"/>
              </a:spcBef>
            </a:pP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Выбирайте лучшую модель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регистрируйте в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MLFlow Model Registry,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тестируйте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внедряйте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отслеживайте состояние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обучайте и переобучайте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8593B4-35E6-8FE5-6044-43D7A5963A3B}"/>
              </a:ext>
            </a:extLst>
          </p:cNvPr>
          <p:cNvSpPr txBox="1"/>
          <p:nvPr/>
        </p:nvSpPr>
        <p:spPr>
          <a:xfrm>
            <a:off x="5061799" y="3478317"/>
            <a:ext cx="3543722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Коллаборация</a:t>
            </a:r>
          </a:p>
          <a:p>
            <a:pPr>
              <a:spcBef>
                <a:spcPts val="600"/>
              </a:spcBef>
            </a:pP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MLFlow –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площадка для взаимодействия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: ML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обмениваются результатами экспериментов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ML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Ops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обмениваются знаниями/артефактами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5CE320D-7934-980D-5671-EB91FB67F6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850" y="3556355"/>
            <a:ext cx="360000" cy="36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809B190-0698-C6FB-3B71-2FCF2CE3D1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0850" y="1617819"/>
            <a:ext cx="360000" cy="360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48EF84C-35A8-5A17-18D6-3CB281DA3F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992" y="3556355"/>
            <a:ext cx="360000" cy="360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2AE8A679-428B-D44D-6A4C-59E9FA87A5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992" y="1617819"/>
            <a:ext cx="360000" cy="36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4D294EDA-FA82-CDC3-6AF2-B1EE98F1E3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5734" y="1083675"/>
            <a:ext cx="468000" cy="468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D3471DA-791E-4B90-12C7-4031A163D97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96301" y="1083675"/>
            <a:ext cx="468000" cy="468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B22DDB79-6A60-9BB9-FF0E-639A8A15F3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10893" y="3010317"/>
            <a:ext cx="468000" cy="468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E11E4925-DF01-7226-2B30-8B17BCF3A8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27987" y="3010317"/>
            <a:ext cx="468000" cy="468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FBF7A777-5950-E40C-3E71-10A7BCA090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5734" y="3010317"/>
            <a:ext cx="468000" cy="468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C2C8940-B408-1F2F-D973-B873F3C3AE6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62828" y="3010317"/>
            <a:ext cx="4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75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MLFlow Tracking</a:t>
            </a:r>
            <a:endParaRPr dirty="0"/>
          </a:p>
        </p:txBody>
      </p:sp>
      <p:pic>
        <p:nvPicPr>
          <p:cNvPr id="1026" name="Picture 2" descr="The basics of MLflow tracking.">
            <a:extLst>
              <a:ext uri="{FF2B5EF4-FFF2-40B4-BE49-F238E27FC236}">
                <a16:creationId xmlns:a16="http://schemas.microsoft.com/office/drawing/2014/main" id="{FC7FC2AB-26C2-DE73-A7F4-20BAE8698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81" y="1454916"/>
            <a:ext cx="7895237" cy="299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22C005-778B-7B8C-BBCD-C2BDC5BD42D8}"/>
              </a:ext>
            </a:extLst>
          </p:cNvPr>
          <p:cNvSpPr txBox="1"/>
          <p:nvPr/>
        </p:nvSpPr>
        <p:spPr>
          <a:xfrm>
            <a:off x="624381" y="4747107"/>
            <a:ext cx="27158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Источник</a:t>
            </a:r>
            <a:r>
              <a:rPr lang="en-US" sz="1100" i="1" dirty="0">
                <a:latin typeface="Roboto Light" panose="02000000000000000000" pitchFamily="2" charset="0"/>
                <a:ea typeface="Roboto Light" panose="02000000000000000000" pitchFamily="2" charset="0"/>
              </a:rPr>
              <a:t>: </a:t>
            </a:r>
            <a:r>
              <a:rPr lang="ru-RU" sz="1100" i="1" dirty="0">
                <a:latin typeface="Roboto Light" panose="02000000000000000000" pitchFamily="2" charset="0"/>
                <a:ea typeface="Roboto Light" panose="02000000000000000000" pitchFamily="2" charset="0"/>
                <a:hlinkClick r:id="rId4"/>
              </a:rPr>
              <a:t>официальная документация</a:t>
            </a:r>
            <a:endParaRPr lang="en-RU" sz="11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599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MLFlow</a:t>
            </a:r>
            <a:r>
              <a:rPr lang="ru-RU" dirty="0"/>
              <a:t> </a:t>
            </a:r>
            <a:r>
              <a:rPr lang="en-US" dirty="0"/>
              <a:t>Model Registry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88569C-A933-2858-0539-5104C4D01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39508"/>
            <a:ext cx="7772400" cy="317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66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CB2CB11-4D91-8977-204D-203328999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550" y="887992"/>
            <a:ext cx="6930600" cy="3924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684602-A0D1-404B-5189-0A55F84FD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39992"/>
            <a:ext cx="2034273" cy="64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02F023-7C25-8846-AB12-F98B9CDE8CB9}"/>
              </a:ext>
            </a:extLst>
          </p:cNvPr>
          <p:cNvSpPr txBox="1"/>
          <p:nvPr/>
        </p:nvSpPr>
        <p:spPr>
          <a:xfrm>
            <a:off x="6959610" y="230062"/>
            <a:ext cx="1925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Bradley Hand" pitchFamily="2" charset="77"/>
              </a:rPr>
              <a:t>Рабочий вариант!</a:t>
            </a:r>
            <a:endParaRPr lang="en-US" sz="1600" dirty="0">
              <a:latin typeface="Bradley Hand" pitchFamily="2" charset="77"/>
            </a:endParaRPr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3901C34D-E756-8148-B25B-512676642414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6629400" y="399338"/>
            <a:ext cx="330210" cy="488653"/>
          </a:xfrm>
          <a:prstGeom prst="curvedConnector2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00E92BD-2C45-1247-9878-B8B82C712498}"/>
              </a:ext>
            </a:extLst>
          </p:cNvPr>
          <p:cNvSpPr txBox="1"/>
          <p:nvPr/>
        </p:nvSpPr>
        <p:spPr>
          <a:xfrm>
            <a:off x="5510799" y="4832219"/>
            <a:ext cx="363320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900" dirty="0">
                <a:hlinkClick r:id="rId5"/>
              </a:rPr>
              <a:t>https://yandex.cloud/ru/docs/datasphere/tutorials/mlflow-datasphere</a:t>
            </a:r>
            <a:r>
              <a:rPr lang="en-US" sz="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6048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4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164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Практика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44" name="Google Shape;444;p84"/>
          <p:cNvGraphicFramePr/>
          <p:nvPr/>
        </p:nvGraphicFramePr>
        <p:xfrm>
          <a:off x="952500" y="1544194"/>
          <a:ext cx="7239000" cy="10058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Как установить </a:t>
                      </a:r>
                      <a:r>
                        <a:rPr lang="en-US" sz="11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MLFlow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Как запустить сервер трекинга экспериментов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Как зафиксировать результаты эксперимента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170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8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1288" lvl="1" indent="0" algn="l" rtl="0">
              <a:buSzPts val="1300"/>
              <a:buNone/>
            </a:pPr>
            <a:r>
              <a:rPr lang="en-US" sz="1400" b="1" u="sng" dirty="0"/>
              <a:t>MLFlow</a:t>
            </a:r>
            <a:endParaRPr lang="ru-RU" sz="1400" b="1" u="sng" dirty="0">
              <a:hlinkClick r:id="rId3"/>
            </a:endParaRPr>
          </a:p>
          <a:p>
            <a:pPr marL="446088" lvl="1" indent="-30480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en-US" sz="1200" dirty="0">
                <a:hlinkClick r:id="rId3"/>
              </a:rPr>
              <a:t>MLFlow</a:t>
            </a:r>
            <a:r>
              <a:rPr lang="ru-RU" sz="1200" dirty="0">
                <a:hlinkClick r:id="rId3"/>
              </a:rPr>
              <a:t> </a:t>
            </a:r>
            <a:r>
              <a:rPr lang="en-US" sz="1200" dirty="0">
                <a:hlinkClick r:id="rId3"/>
              </a:rPr>
              <a:t>getting start</a:t>
            </a:r>
            <a:endParaRPr lang="en-US" sz="1200" dirty="0"/>
          </a:p>
          <a:p>
            <a:pPr marL="446088" lvl="1" indent="-30480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en-US" sz="1200" dirty="0">
                <a:hlinkClick r:id="rId4"/>
              </a:rPr>
              <a:t>Model and Data Versioning</a:t>
            </a:r>
            <a:endParaRPr lang="en-US" sz="1200" dirty="0"/>
          </a:p>
          <a:p>
            <a:pPr marL="446088" lvl="1" indent="-30480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ru-RU" sz="1200" dirty="0">
                <a:hlinkClick r:id="rId5"/>
              </a:rPr>
              <a:t>Введение в </a:t>
            </a:r>
            <a:r>
              <a:rPr lang="en-US" sz="1200" dirty="0" err="1">
                <a:hlinkClick r:id="rId5"/>
              </a:rPr>
              <a:t>MLflow</a:t>
            </a:r>
            <a:endParaRPr lang="en-US" sz="1200" dirty="0"/>
          </a:p>
          <a:p>
            <a:pPr marL="446088" lvl="1" indent="-30480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ru-RU" sz="1200" dirty="0">
                <a:hlinkClick r:id="rId6"/>
              </a:rPr>
              <a:t>Поднять удаленный сервер </a:t>
            </a:r>
            <a:r>
              <a:rPr lang="en-US" sz="1200" dirty="0" err="1">
                <a:hlinkClick r:id="rId6"/>
              </a:rPr>
              <a:t>MLflow</a:t>
            </a:r>
            <a:r>
              <a:rPr lang="en-US" sz="1200" dirty="0">
                <a:hlinkClick r:id="rId6"/>
              </a:rPr>
              <a:t> Tracking </a:t>
            </a:r>
            <a:r>
              <a:rPr lang="ru-RU" sz="1200" dirty="0">
                <a:hlinkClick r:id="rId6"/>
              </a:rPr>
              <a:t>для команды</a:t>
            </a:r>
            <a:endParaRPr lang="en-US" sz="1200" dirty="0"/>
          </a:p>
          <a:p>
            <a:pPr marL="446088" lvl="1" indent="-30480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en-US" sz="1200" dirty="0">
                <a:hlinkClick r:id="rId7"/>
              </a:rPr>
              <a:t>Setup collaborative MLflow with PostgreSQL as Tracking Server and MinIO as Artifact Store using docker containers</a:t>
            </a:r>
            <a:endParaRPr lang="en-US" sz="1200" dirty="0"/>
          </a:p>
          <a:p>
            <a:pPr marL="446088" lvl="1" indent="-30480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ru-RU" sz="1200" dirty="0" err="1">
                <a:hlinkClick r:id="rId8"/>
              </a:rPr>
              <a:t>Воспроизводимость</a:t>
            </a:r>
            <a:r>
              <a:rPr lang="ru-RU" sz="1200" dirty="0">
                <a:hlinkClick r:id="rId8"/>
              </a:rPr>
              <a:t> </a:t>
            </a:r>
            <a:r>
              <a:rPr lang="en-US" sz="1200" dirty="0">
                <a:hlinkClick r:id="rId8"/>
              </a:rPr>
              <a:t>ML </a:t>
            </a:r>
            <a:r>
              <a:rPr lang="ru-RU" sz="1200" dirty="0">
                <a:hlinkClick r:id="rId8"/>
              </a:rPr>
              <a:t>экспериментов с помощью </a:t>
            </a:r>
            <a:r>
              <a:rPr lang="en-US" sz="1200" dirty="0">
                <a:hlinkClick r:id="rId8"/>
              </a:rPr>
              <a:t>MLflow project</a:t>
            </a:r>
            <a:endParaRPr lang="en-US" sz="1200" dirty="0"/>
          </a:p>
          <a:p>
            <a:pPr marL="141288" lvl="1" indent="0" algn="l" rtl="0">
              <a:buSzPts val="1300"/>
              <a:buNone/>
            </a:pPr>
            <a:endParaRPr lang="ru-RU" sz="1800" b="1" u="sng" dirty="0"/>
          </a:p>
          <a:p>
            <a:pPr marL="141288" lvl="1" indent="0" algn="l" rtl="0">
              <a:buSzPts val="1300"/>
              <a:buNone/>
            </a:pPr>
            <a:r>
              <a:rPr lang="ru-RU" sz="1400" b="1" u="sng" dirty="0"/>
              <a:t>Альтернативы</a:t>
            </a:r>
            <a:endParaRPr lang="en-US" sz="1400" b="1" u="sng" dirty="0"/>
          </a:p>
          <a:p>
            <a:pPr marL="446088" lvl="1" indent="-30480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en-US" sz="1200" dirty="0">
                <a:hlinkClick r:id="rId9"/>
              </a:rPr>
              <a:t>Weights&amp;Biases</a:t>
            </a:r>
            <a:endParaRPr lang="en-US" sz="1200" dirty="0">
              <a:hlinkClick r:id="rId10"/>
            </a:endParaRPr>
          </a:p>
          <a:p>
            <a:pPr marL="446088" lvl="1" indent="-30480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en-US" sz="1200" dirty="0">
                <a:hlinkClick r:id="rId10"/>
              </a:rPr>
              <a:t>Neptune.ai</a:t>
            </a:r>
            <a:endParaRPr lang="en-US" sz="1200" dirty="0"/>
          </a:p>
          <a:p>
            <a:pPr marL="446088" lvl="1" indent="-30480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en-US" sz="1200" dirty="0">
                <a:hlinkClick r:id="rId11"/>
              </a:rPr>
              <a:t>Verta</a:t>
            </a:r>
            <a:endParaRPr lang="en-US" sz="1200" dirty="0"/>
          </a:p>
          <a:p>
            <a:pPr marL="446088" lvl="1" indent="-304800" algn="l" rtl="0">
              <a:lnSpc>
                <a:spcPct val="150000"/>
              </a:lnSpc>
              <a:buSzPts val="1300"/>
              <a:buFont typeface="Arial" panose="020B0604020202020204" pitchFamily="34" charset="0"/>
              <a:buChar char="•"/>
            </a:pPr>
            <a:r>
              <a:rPr lang="en-US" sz="1200" dirty="0">
                <a:hlinkClick r:id="rId12"/>
              </a:rPr>
              <a:t>Comet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2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endParaRPr dirty="0"/>
          </a:p>
        </p:txBody>
      </p:sp>
      <p:sp>
        <p:nvSpPr>
          <p:cNvPr id="386" name="Google Shape;386;p62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sp>
        <p:nvSpPr>
          <p:cNvPr id="387" name="Google Shape;387;p62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62"/>
          <p:cNvPicPr preferRelativeResize="0"/>
          <p:nvPr/>
        </p:nvPicPr>
        <p:blipFill>
          <a:blip r:embed="rId3"/>
          <a:srcRect t="6397" b="6397"/>
          <a:stretch/>
        </p:blipFill>
        <p:spPr>
          <a:xfrm>
            <a:off x="1069674" y="2950614"/>
            <a:ext cx="1508400" cy="14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3AD9921B-818B-2E49-87DE-01818F089A2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4" name="Google Shape;208;p48">
            <a:extLst>
              <a:ext uri="{FF2B5EF4-FFF2-40B4-BE49-F238E27FC236}">
                <a16:creationId xmlns:a16="http://schemas.microsoft.com/office/drawing/2014/main" id="{A2C5D46D-0E08-6F4B-84D8-3C201E1F3D28}"/>
              </a:ext>
            </a:extLst>
          </p:cNvPr>
          <p:cNvSpPr txBox="1">
            <a:spLocks/>
          </p:cNvSpPr>
          <p:nvPr/>
        </p:nvSpPr>
        <p:spPr>
          <a:xfrm>
            <a:off x="500550" y="1454436"/>
            <a:ext cx="5856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dirty="0"/>
              <a:t>19.11 - </a:t>
            </a:r>
            <a:r>
              <a:rPr lang="ru-RU" dirty="0"/>
              <a:t>Оптимизация кода</a:t>
            </a:r>
          </a:p>
        </p:txBody>
      </p:sp>
      <p:sp>
        <p:nvSpPr>
          <p:cNvPr id="9" name="Google Shape;209;p48">
            <a:extLst>
              <a:ext uri="{FF2B5EF4-FFF2-40B4-BE49-F238E27FC236}">
                <a16:creationId xmlns:a16="http://schemas.microsoft.com/office/drawing/2014/main" id="{61D8227D-BF3B-A844-B067-82EA3249A836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4661</TotalTime>
  <Words>888</Words>
  <Application>Microsoft Macintosh PowerPoint</Application>
  <PresentationFormat>On-screen Show (16:9)</PresentationFormat>
  <Paragraphs>190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Courier New</vt:lpstr>
      <vt:lpstr>Apple Chancery</vt:lpstr>
      <vt:lpstr>Roboto Light</vt:lpstr>
      <vt:lpstr>Roboto</vt:lpstr>
      <vt:lpstr>Bradley Hand</vt:lpstr>
      <vt:lpstr>Trebuchet MS</vt:lpstr>
      <vt:lpstr>Google Sans</vt:lpstr>
      <vt:lpstr>Roboto Medium</vt:lpstr>
      <vt:lpstr>Arial</vt:lpstr>
      <vt:lpstr>Светлая тема</vt:lpstr>
      <vt:lpstr>ML Advanced MLFlow – логирование экспериментов</vt:lpstr>
      <vt:lpstr>Проверить, идет ли запись</vt:lpstr>
      <vt:lpstr>ML Advanced MLFlow – логирование экспериментов</vt:lpstr>
      <vt:lpstr>Правила вебинара</vt:lpstr>
      <vt:lpstr>Маршрут вебинара</vt:lpstr>
      <vt:lpstr>Карта курса</vt:lpstr>
      <vt:lpstr>Программа курса</vt:lpstr>
      <vt:lpstr>Цели вебинара</vt:lpstr>
      <vt:lpstr>Смысл</vt:lpstr>
      <vt:lpstr>Версионирование и воспроизводимость</vt:lpstr>
      <vt:lpstr>Ключевые тезисы  </vt:lpstr>
      <vt:lpstr>Воспроизводимость</vt:lpstr>
      <vt:lpstr>Как мы разрабатываем модели</vt:lpstr>
      <vt:lpstr>Что тут не так</vt:lpstr>
      <vt:lpstr>Зачем нам воспроизводимость</vt:lpstr>
      <vt:lpstr>Data Drift</vt:lpstr>
      <vt:lpstr>Concept Drift</vt:lpstr>
      <vt:lpstr>Регулярное переобучение</vt:lpstr>
      <vt:lpstr>MLFlow</vt:lpstr>
      <vt:lpstr>Что это/из чего состоит</vt:lpstr>
      <vt:lpstr>Сценарии использования</vt:lpstr>
      <vt:lpstr>MLFlow Tracking</vt:lpstr>
      <vt:lpstr>MLFlow Model Registry</vt:lpstr>
      <vt:lpstr>PowerPoint Presentation</vt:lpstr>
      <vt:lpstr>Практика</vt:lpstr>
      <vt:lpstr>Практика </vt:lpstr>
      <vt:lpstr>Список материалов для изучения</vt:lpstr>
      <vt:lpstr>Заполните, пожалуйста, опрос о занятии по ссылке в чате</vt:lpstr>
      <vt:lpstr>Приходите на следующие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Docker: Структура, применение, деплой</dc:title>
  <cp:lastModifiedBy>Стурейко Игорь Олегович</cp:lastModifiedBy>
  <cp:revision>108</cp:revision>
  <dcterms:modified xsi:type="dcterms:W3CDTF">2024-11-07T16:29:37Z</dcterms:modified>
</cp:coreProperties>
</file>