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6" r:id="rId2"/>
    <p:sldMasterId id="2147483707" r:id="rId3"/>
  </p:sldMasterIdLst>
  <p:notesMasterIdLst>
    <p:notesMasterId r:id="rId33"/>
  </p:notesMasterIdLst>
  <p:sldIdLst>
    <p:sldId id="257" r:id="rId4"/>
    <p:sldId id="258" r:id="rId5"/>
    <p:sldId id="334" r:id="rId6"/>
    <p:sldId id="489" r:id="rId7"/>
    <p:sldId id="269" r:id="rId8"/>
    <p:sldId id="270" r:id="rId9"/>
    <p:sldId id="271" r:id="rId10"/>
    <p:sldId id="272" r:id="rId11"/>
    <p:sldId id="313" r:id="rId12"/>
    <p:sldId id="314" r:id="rId13"/>
    <p:sldId id="273" r:id="rId14"/>
    <p:sldId id="318" r:id="rId15"/>
    <p:sldId id="317" r:id="rId16"/>
    <p:sldId id="275" r:id="rId17"/>
    <p:sldId id="320" r:id="rId18"/>
    <p:sldId id="321" r:id="rId19"/>
    <p:sldId id="322" r:id="rId20"/>
    <p:sldId id="324" r:id="rId21"/>
    <p:sldId id="325" r:id="rId22"/>
    <p:sldId id="326" r:id="rId23"/>
    <p:sldId id="490" r:id="rId24"/>
    <p:sldId id="491" r:id="rId25"/>
    <p:sldId id="492" r:id="rId26"/>
    <p:sldId id="493" r:id="rId27"/>
    <p:sldId id="332" r:id="rId28"/>
    <p:sldId id="333" r:id="rId29"/>
    <p:sldId id="278" r:id="rId30"/>
    <p:sldId id="281" r:id="rId31"/>
    <p:sldId id="287" r:id="rId3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75"/>
    <p:restoredTop sz="97146"/>
  </p:normalViewPr>
  <p:slideViewPr>
    <p:cSldViewPr snapToGrid="0">
      <p:cViewPr varScale="1">
        <p:scale>
          <a:sx n="297" d="100"/>
          <a:sy n="297" d="100"/>
        </p:scale>
        <p:origin x="1112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font" Target="fonts/font1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2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8a1700b9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8a1700b9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605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618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8a1700b9f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8a1700b9f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016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534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21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0151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648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715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613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1167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5058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0630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083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f29b9fb2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df29b9fb2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773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e3a707456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e3a707456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571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7" name="Google Shape;13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3" name="Google Shape;14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3" name="Google Shape;15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8.jp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70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Machine Learning Advanced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Pipelines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Поиск нечетких дублей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FC9D64F-4C9E-9745-AC7F-49018470CA32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Построение 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пайплайнов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388" name="Google Shape;388;p75"/>
          <p:cNvSpPr txBox="1">
            <a:spLocks noGrp="1"/>
          </p:cNvSpPr>
          <p:nvPr>
            <p:ph type="subTitle" idx="4294967295"/>
          </p:nvPr>
        </p:nvSpPr>
        <p:spPr>
          <a:xfrm>
            <a:off x="544450" y="840919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7700"/>
                </a:solidFill>
              </a:rPr>
              <a:t>После занятия вы сможете</a:t>
            </a:r>
            <a:endParaRPr sz="1500" b="1" dirty="0">
              <a:solidFill>
                <a:srgbClr val="FF7700"/>
              </a:solidFill>
            </a:endParaRPr>
          </a:p>
        </p:txBody>
      </p:sp>
      <p:graphicFrame>
        <p:nvGraphicFramePr>
          <p:cNvPr id="389" name="Google Shape;389;p75"/>
          <p:cNvGraphicFramePr/>
          <p:nvPr>
            <p:extLst>
              <p:ext uri="{D42A27DB-BD31-4B8C-83A1-F6EECF244321}">
                <p14:modId xmlns:p14="http://schemas.microsoft.com/office/powerpoint/2010/main" val="409644927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Знать, что такое пайплайны и для чего они нужны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Понимать, когда следует их использовать и когда нет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Построить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end-to-end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для несложной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DS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91" name="Google Shape;391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ru-RU" dirty="0" err="1"/>
              <a:t>пайплайны</a:t>
            </a:r>
            <a:r>
              <a:rPr lang="ru-RU" dirty="0"/>
              <a:t> и зачем они нужны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Pipeline</a:t>
            </a:r>
            <a:endParaRPr dirty="0"/>
          </a:p>
        </p:txBody>
      </p:sp>
      <p:sp>
        <p:nvSpPr>
          <p:cNvPr id="402" name="Google Shape;402;p77"/>
          <p:cNvSpPr txBox="1">
            <a:spLocks noGrp="1"/>
          </p:cNvSpPr>
          <p:nvPr>
            <p:ph type="body" idx="1"/>
          </p:nvPr>
        </p:nvSpPr>
        <p:spPr>
          <a:xfrm>
            <a:off x="305997" y="2451369"/>
            <a:ext cx="8715153" cy="20622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15000"/>
              </a:lnSpc>
            </a:pPr>
            <a:r>
              <a:rPr lang="ru-RU" sz="1600" dirty="0"/>
              <a:t>Объединить несколько действий в один объект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Убрать дублирование кода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Работать с </a:t>
            </a:r>
            <a:r>
              <a:rPr lang="ru-RU" sz="1600" dirty="0" err="1"/>
              <a:t>пайплайном</a:t>
            </a:r>
            <a:r>
              <a:rPr lang="ru-RU" sz="1600" dirty="0"/>
              <a:t> как объектом </a:t>
            </a:r>
            <a:r>
              <a:rPr lang="en-US" sz="1600" dirty="0" err="1"/>
              <a:t>sklearn</a:t>
            </a:r>
            <a:r>
              <a:rPr lang="en-US" sz="1600" dirty="0"/>
              <a:t> </a:t>
            </a:r>
            <a:r>
              <a:rPr lang="ru-RU" sz="1600" dirty="0"/>
              <a:t>вызывая стандартные функции </a:t>
            </a:r>
            <a:br>
              <a:rPr lang="ru-RU" sz="1600" dirty="0"/>
            </a:br>
            <a:r>
              <a:rPr lang="en-US" sz="1600" dirty="0"/>
              <a:t>.fit </a:t>
            </a:r>
            <a:r>
              <a:rPr lang="ru-RU" sz="1600" dirty="0"/>
              <a:t>и </a:t>
            </a:r>
            <a:r>
              <a:rPr lang="en-US" sz="1600" dirty="0"/>
              <a:t>.predict</a:t>
            </a:r>
          </a:p>
          <a:p>
            <a:pPr marL="285750" indent="-285750">
              <a:lnSpc>
                <a:spcPct val="115000"/>
              </a:lnSpc>
            </a:pPr>
            <a:r>
              <a:rPr lang="ru-RU" sz="1600" dirty="0"/>
              <a:t>Сохранить пайплайн в виде целого объекта для дальнейшего </a:t>
            </a:r>
            <a:r>
              <a:rPr lang="ru-RU" sz="1600" dirty="0" err="1"/>
              <a:t>переиспользования</a:t>
            </a: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BD66A-F3F3-5647-8179-0B4849FFA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67" y="1072656"/>
            <a:ext cx="5849566" cy="1043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Pipeline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9BACD1-61D6-6B4B-9383-CFE000742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82" y="958491"/>
            <a:ext cx="4968001" cy="35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3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Когда применять </a:t>
            </a:r>
            <a:r>
              <a:rPr lang="ru-RU" dirty="0" err="1"/>
              <a:t>пайплайны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169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Применение пайплайна</a:t>
            </a:r>
            <a:endParaRPr dirty="0"/>
          </a:p>
        </p:txBody>
      </p:sp>
      <p:graphicFrame>
        <p:nvGraphicFramePr>
          <p:cNvPr id="409" name="Google Shape;409;p78"/>
          <p:cNvGraphicFramePr/>
          <p:nvPr>
            <p:extLst>
              <p:ext uri="{D42A27DB-BD31-4B8C-83A1-F6EECF244321}">
                <p14:modId xmlns:p14="http://schemas.microsoft.com/office/powerpoint/2010/main" val="3855558731"/>
              </p:ext>
            </p:extLst>
          </p:nvPr>
        </p:nvGraphicFramePr>
        <p:xfrm>
          <a:off x="598250" y="1127746"/>
          <a:ext cx="7689850" cy="1365831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3850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9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dirty="0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 sz="1800" b="1" dirty="0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1" dirty="0">
                          <a:solidFill>
                            <a:srgbClr val="4A86E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</a:t>
                      </a:r>
                      <a:endParaRPr sz="1800" b="1" dirty="0">
                        <a:solidFill>
                          <a:srgbClr val="4A86E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EDA </a:t>
                      </a:r>
                      <a:r>
                        <a:rPr lang="ru-RU" dirty="0"/>
                        <a:t>завершен и модель готова для фиксации и тюнинга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Roboto"/>
                        <a:buNone/>
                      </a:pPr>
                      <a:r>
                        <a:rPr lang="ru-RU" dirty="0"/>
                        <a:t>Стадия </a:t>
                      </a:r>
                      <a:r>
                        <a:rPr lang="en-US" dirty="0"/>
                        <a:t>EDA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Roboto"/>
                          <a:cs typeface="Arial"/>
                          <a:sym typeface="Roboto"/>
                        </a:rPr>
                        <a:t>Модель готова для передачи в продакшн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Roboto"/>
                        <a:cs typeface="Arial"/>
                        <a:sym typeface="Roboto"/>
                      </a:endParaRPr>
                    </a:p>
                  </a:txBody>
                  <a:tcPr marL="72000" marR="72000" marT="72000" marB="72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Нет понимания итоговой структуры модели</a:t>
                      </a:r>
                      <a:endParaRPr dirty="0"/>
                    </a:p>
                  </a:txBody>
                  <a:tcPr marL="72000" marR="72000" marT="72000" marB="72000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69AF60A-D6E6-3A47-8B67-1F98EC0D8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720" y="2624895"/>
            <a:ext cx="2372745" cy="22835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03734-1BD4-CC47-87EE-35D361BF41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5" r="55316" b="29324"/>
          <a:stretch/>
        </p:blipFill>
        <p:spPr>
          <a:xfrm>
            <a:off x="1258110" y="2676413"/>
            <a:ext cx="2372745" cy="2199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>
                <a:latin typeface="Roboto"/>
                <a:ea typeface="Roboto"/>
                <a:cs typeface="Roboto"/>
                <a:sym typeface="Roboto"/>
              </a:rPr>
              <a:t>DS </a:t>
            </a: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задач</a:t>
            </a:r>
            <a:r>
              <a:rPr lang="ru-RU" sz="4800" dirty="0"/>
              <a:t>а – традиционный путь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8748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25EF-9856-7F4E-9509-377BE5EE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Предсказание уровня счастья</a:t>
            </a:r>
            <a:endParaRPr lang="en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D1538-8668-0C4F-A9E8-D5250014F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простую задачу регрессии – предсказание численного значения по совокупности признаков</a:t>
            </a:r>
          </a:p>
          <a:p>
            <a:r>
              <a:rPr lang="ru-RU" dirty="0"/>
              <a:t>Признаки могут быть разных типов</a:t>
            </a:r>
          </a:p>
          <a:p>
            <a:r>
              <a:rPr lang="ru-RU" dirty="0"/>
              <a:t>В признаках есть пропуски и выбросы</a:t>
            </a:r>
          </a:p>
          <a:p>
            <a:r>
              <a:rPr lang="ru-RU" dirty="0"/>
              <a:t>Модель должна быть готова для переобучения на вновь поступивших данных</a:t>
            </a:r>
          </a:p>
          <a:p>
            <a:r>
              <a:rPr lang="ru-RU" dirty="0"/>
              <a:t>Модель </a:t>
            </a:r>
            <a:r>
              <a:rPr lang="ru-RU"/>
              <a:t>должна быть </a:t>
            </a:r>
            <a:r>
              <a:rPr lang="ru-RU" dirty="0"/>
              <a:t>готова к кросс-</a:t>
            </a:r>
            <a:r>
              <a:rPr lang="ru-RU" dirty="0" err="1"/>
              <a:t>валидации</a:t>
            </a:r>
            <a:endParaRPr lang="ru-RU" dirty="0"/>
          </a:p>
          <a:p>
            <a:r>
              <a:rPr lang="ru-RU" dirty="0"/>
              <a:t>Модель должна быть сохранена как единый объект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2487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Загрузим данные и посмотрим на признаки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6174632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file_path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'https://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raw.githubusercontent.com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/a-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milenkin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Datasetes_for_Piplines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/main/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responses.csv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’</a:t>
            </a:r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read_csv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file_path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interesting_features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"Happiness in life"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"Age"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"Height"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"Gender"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"Weight"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"Left - right handed"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"Village - town"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"Getting up"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"God"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"Health"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"Borrowed stuff"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"Self-criticism"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"Elections"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"Smoking"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"Alcohol"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,</a:t>
            </a:r>
            <a:b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"Number of friends"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"Spending on healthy eating"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"Music"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"Movies"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"Friends versus money"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"Changing the past"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"Happiness in life"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0974C-8797-A14B-8069-86D4B7B68DF9}"/>
              </a:ext>
            </a:extLst>
          </p:cNvPr>
          <p:cNvSpPr/>
          <p:nvPr/>
        </p:nvSpPr>
        <p:spPr>
          <a:xfrm>
            <a:off x="706877" y="1470130"/>
            <a:ext cx="6115455" cy="8839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FBD4C-FC62-A14F-AF16-45D7DA3B6FEE}"/>
              </a:ext>
            </a:extLst>
          </p:cNvPr>
          <p:cNvSpPr txBox="1"/>
          <p:nvPr/>
        </p:nvSpPr>
        <p:spPr>
          <a:xfrm>
            <a:off x="6945549" y="1758223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Загружаем данные</a:t>
            </a:r>
            <a:endParaRPr lang="en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F21E37-DA23-6648-9E5E-E5D3724D135F}"/>
              </a:ext>
            </a:extLst>
          </p:cNvPr>
          <p:cNvSpPr/>
          <p:nvPr/>
        </p:nvSpPr>
        <p:spPr>
          <a:xfrm>
            <a:off x="706877" y="2354094"/>
            <a:ext cx="6115455" cy="17834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04AB5-448B-4649-906E-45E6F6173698}"/>
              </a:ext>
            </a:extLst>
          </p:cNvPr>
          <p:cNvSpPr txBox="1"/>
          <p:nvPr/>
        </p:nvSpPr>
        <p:spPr>
          <a:xfrm>
            <a:off x="6945549" y="2984186"/>
            <a:ext cx="2075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Отбираем признаки для моделирования</a:t>
            </a:r>
            <a:endParaRPr lang="en-T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</a:t>
            </a:r>
            <a:r>
              <a:rPr lang="ru" dirty="0"/>
              <a:t>осмотрим какие признаки есть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Численные признаки</a:t>
            </a:r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'Age'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'Height'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'Weight’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12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Бинарные признаки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'Gender'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'Left - right handed'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'Village - town'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'Smoking'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"Alcohol"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ru-RU" sz="12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Категориальные признаки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categorical_features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</a:t>
            </a: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9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627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Преобразуем признаки для модели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1"/>
          </p:nvPr>
        </p:nvSpPr>
        <p:spPr>
          <a:xfrm>
            <a:off x="647700" y="1470130"/>
            <a:ext cx="7932096" cy="32964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Нормировка для численных признаков</a:t>
            </a:r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scaler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StandardScaler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data_train_scaled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scaler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fit_transform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ru-RU" sz="1200" b="0" dirty="0">
              <a:solidFill>
                <a:srgbClr val="008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кодирование для категориальных признаков</a:t>
            </a:r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OneHotEncoder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sparse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handle_unknown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'ignore'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fit_transform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to_dummies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endParaRPr lang="ru-RU" sz="1200" b="0" dirty="0">
              <a:solidFill>
                <a:srgbClr val="001080"/>
              </a:solidFill>
              <a:effectLst/>
              <a:latin typeface="Menlo" panose="020B0609030804020204" pitchFamily="49" charset="0"/>
            </a:endParaRPr>
          </a:p>
          <a:p>
            <a:endParaRPr lang="ru-RU" sz="12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ru-RU" sz="12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объединение признаков после предобработки</a:t>
            </a:r>
            <a:endParaRPr lang="ru-RU" sz="12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concat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data_train_scaled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numerical_features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ru-RU" sz="120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pd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DataFrame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data_train_ohe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ohe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.get_feature_names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())], </a:t>
            </a:r>
            <a:endParaRPr lang="ru-RU" sz="1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20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862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Создадим модель</a:t>
            </a:r>
            <a:endParaRPr dirty="0"/>
          </a:p>
        </p:txBody>
      </p:sp>
      <p:sp>
        <p:nvSpPr>
          <p:cNvPr id="422" name="Google Shape;422;p80"/>
          <p:cNvSpPr txBox="1">
            <a:spLocks noGrp="1"/>
          </p:cNvSpPr>
          <p:nvPr>
            <p:ph type="subTitle" idx="4294967295"/>
          </p:nvPr>
        </p:nvSpPr>
        <p:spPr>
          <a:xfrm>
            <a:off x="605632" y="1310536"/>
            <a:ext cx="4744582" cy="2638894"/>
          </a:xfrm>
          <a:prstGeom prst="rect">
            <a:avLst/>
          </a:prstGeom>
          <a:solidFill>
            <a:srgbClr val="FCFCFC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0650" indent="0"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LogisticRegression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fit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ru-RU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target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preds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predict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data_train_tramsformed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463675" algn="l"/>
                <a:tab pos="2130425" algn="l"/>
                <a:tab pos="2752725" algn="l"/>
                <a:tab pos="3465513" algn="l"/>
                <a:tab pos="4087813" algn="l"/>
              </a:tabLst>
            </a:pP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precision recall f1-score support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0.52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0.07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0.12</a:t>
            </a:r>
            <a:r>
              <a:rPr lang="ru-RU" sz="1050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259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0.97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0.67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374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0.00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107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accuracy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	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macro avg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0.26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 </a:t>
            </a:r>
            <a:endParaRPr lang="ru-RU" sz="1050" b="0" i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1728788" algn="l"/>
                <a:tab pos="2397125" algn="l"/>
                <a:tab pos="3063875" algn="l"/>
                <a:tab pos="3732213" algn="l"/>
              </a:tabLst>
            </a:pP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weighted avg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0.44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0.51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0.38 </a:t>
            </a:r>
            <a:r>
              <a:rPr lang="ru-RU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740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2BB89-34BB-D64F-8344-F05F411B41F9}"/>
              </a:ext>
            </a:extLst>
          </p:cNvPr>
          <p:cNvSpPr txBox="1"/>
          <p:nvPr/>
        </p:nvSpPr>
        <p:spPr>
          <a:xfrm>
            <a:off x="771728" y="4156953"/>
            <a:ext cx="7109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валидации</a:t>
            </a:r>
            <a:r>
              <a:rPr lang="ru-RU" dirty="0"/>
              <a:t> необходимо проделать все эти шаги на тестовой выборке еще раз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336915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25EF-9856-7F4E-9509-377BE5EE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endParaRPr lang="en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D1538-8668-0C4F-A9E8-D5250014F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8520600" cy="1770688"/>
          </a:xfrm>
        </p:spPr>
        <p:txBody>
          <a:bodyPr/>
          <a:lstStyle/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Дублируем код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Сложно ма</a:t>
            </a:r>
            <a:r>
              <a:rPr lang="ru-RU" dirty="0">
                <a:solidFill>
                  <a:srgbClr val="000000"/>
                </a:solidFill>
                <a:latin typeface="Menlo" panose="020B0609030804020204" pitchFamily="49" charset="0"/>
              </a:rPr>
              <a:t>с</a:t>
            </a:r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штабировать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Сложно поддерживать свой код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Много времени</a:t>
            </a:r>
          </a:p>
        </p:txBody>
      </p:sp>
      <p:pic>
        <p:nvPicPr>
          <p:cNvPr id="4" name="Google Shape;767;p112">
            <a:extLst>
              <a:ext uri="{FF2B5EF4-FFF2-40B4-BE49-F238E27FC236}">
                <a16:creationId xmlns:a16="http://schemas.microsoft.com/office/drawing/2014/main" id="{90040795-B9CF-ED43-A982-2740A75255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83268" y="330736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AF6A7-A136-AA41-974C-98576328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309" y="1290281"/>
            <a:ext cx="2748776" cy="32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42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dirty="0">
                <a:latin typeface="Roboto"/>
                <a:ea typeface="Roboto"/>
                <a:cs typeface="Roboto"/>
                <a:sym typeface="Roboto"/>
              </a:rPr>
              <a:t>DS </a:t>
            </a: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задач</a:t>
            </a:r>
            <a:r>
              <a:rPr lang="ru-RU" sz="4800" dirty="0"/>
              <a:t>а – формируем пайплайн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05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Предобработка </a:t>
            </a:r>
            <a:r>
              <a:rPr lang="ru" dirty="0"/>
              <a:t>признаков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1AA9C-3D04-1E40-A218-6BBF650EC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20" y="1546181"/>
            <a:ext cx="62103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3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П</a:t>
            </a:r>
            <a:r>
              <a:rPr lang="ru-RU" dirty="0" err="1"/>
              <a:t>остроение</a:t>
            </a:r>
            <a:r>
              <a:rPr lang="ru-RU" dirty="0"/>
              <a:t> </a:t>
            </a:r>
            <a:r>
              <a:rPr lang="ru-RU" dirty="0" err="1"/>
              <a:t>фичей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D471D8-519E-D24C-953F-A620DAD2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765300"/>
            <a:ext cx="62484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7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Объединение в пайплайн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FEED8-6E29-584B-A02F-16D65D4F4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57" y="1030310"/>
            <a:ext cx="4700789" cy="411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33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Добавление ансамбля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84E2EB-2648-3E40-843E-DB3C13A7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71687"/>
            <a:ext cx="6940586" cy="407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39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Объединим все вместе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FFD05-0DA9-C647-86D5-66F778502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4734"/>
            <a:ext cx="9144000" cy="293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98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dirty="0">
                <a:latin typeface="Roboto"/>
                <a:ea typeface="Roboto"/>
                <a:cs typeface="Roboto"/>
                <a:sym typeface="Roboto"/>
              </a:rPr>
              <a:t>Сохранение модели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2190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Сохранение/загрузка сложной модели</a:t>
            </a:r>
            <a:endParaRPr dirty="0"/>
          </a:p>
        </p:txBody>
      </p:sp>
      <p:sp>
        <p:nvSpPr>
          <p:cNvPr id="4" name="Google Shape;422;p80">
            <a:extLst>
              <a:ext uri="{FF2B5EF4-FFF2-40B4-BE49-F238E27FC236}">
                <a16:creationId xmlns:a16="http://schemas.microsoft.com/office/drawing/2014/main" id="{41314840-B531-8E41-80D2-75C6FBF8BE9D}"/>
              </a:ext>
            </a:extLst>
          </p:cNvPr>
          <p:cNvSpPr txBox="1">
            <a:spLocks/>
          </p:cNvSpPr>
          <p:nvPr/>
        </p:nvSpPr>
        <p:spPr>
          <a:xfrm>
            <a:off x="168246" y="1559465"/>
            <a:ext cx="7931150" cy="29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0650" indent="0">
              <a:buNone/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Для </a:t>
            </a:r>
            <a:r>
              <a:rPr lang="ru-RU" sz="1050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сериализации</a:t>
            </a: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моделей</a:t>
            </a:r>
            <a:endParaRPr lang="ru-RU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endParaRPr lang="en-US" sz="105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120650" indent="0">
              <a:buNone/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Сохранение модели</a:t>
            </a: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open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owesome_pipeline.pkl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wb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dump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stacking_classifier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  <a:tabLst>
                <a:tab pos="439738" algn="l"/>
              </a:tabLst>
            </a:pPr>
            <a:endParaRPr lang="ru-RU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Загрузка модели</a:t>
            </a:r>
            <a:endParaRPr lang="en-US" sz="10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120650" indent="0">
              <a:buNone/>
              <a:tabLst>
                <a:tab pos="439738" algn="l"/>
              </a:tabLst>
            </a:pP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open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owesome_pipeline.pkl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rb</a:t>
            </a:r>
            <a:r>
              <a:rPr lang="en-US" sz="105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sz="1050" b="0" dirty="0">
                <a:solidFill>
                  <a:srgbClr val="AF00DB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marL="120650" indent="0">
              <a:buNone/>
              <a:tabLst>
                <a:tab pos="439738" algn="l"/>
              </a:tabLst>
            </a:pPr>
            <a:r>
              <a:rPr lang="ru-RU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pipeline_from_saved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pickle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sz="105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120650" indent="0">
              <a:buNone/>
            </a:pPr>
            <a:endParaRPr lang="en-US" sz="105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A5CB0-2534-8940-B1A5-C0730FE3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34" y="1742464"/>
            <a:ext cx="3135752" cy="20905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AF94CB-3989-544C-8182-150B06E18D5B}"/>
              </a:ext>
            </a:extLst>
          </p:cNvPr>
          <p:cNvSpPr/>
          <p:nvPr/>
        </p:nvSpPr>
        <p:spPr>
          <a:xfrm>
            <a:off x="4909226" y="1559465"/>
            <a:ext cx="778212" cy="528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74523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3132373396"/>
              </p:ext>
            </p:extLst>
          </p:nvPr>
        </p:nvGraphicFramePr>
        <p:xfrm>
          <a:off x="952500" y="1544194"/>
          <a:ext cx="7239000" cy="1275750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помогает строить сложные модели быстрее и единообразным образом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следует применять на стадии перехода от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finetuning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Пайплайн помогает стабилизировать модель и подготовить ее к переходу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503" name="Google Shape;503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9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9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909</Words>
  <Application>Microsoft Macintosh PowerPoint</Application>
  <PresentationFormat>On-screen Show (16:9)</PresentationFormat>
  <Paragraphs>152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Menlo</vt:lpstr>
      <vt:lpstr>Arial</vt:lpstr>
      <vt:lpstr>Courier New</vt:lpstr>
      <vt:lpstr>Apple Chancery</vt:lpstr>
      <vt:lpstr>Google Sans</vt:lpstr>
      <vt:lpstr>Roboto</vt:lpstr>
      <vt:lpstr>Светлая тема</vt:lpstr>
      <vt:lpstr>Светлая тема</vt:lpstr>
      <vt:lpstr>Светлая тема</vt:lpstr>
      <vt:lpstr>Machine Learning Advanced Pipelines </vt:lpstr>
      <vt:lpstr>PowerPoint Presentation</vt:lpstr>
      <vt:lpstr>ML Advanced Поиск нечетких дублей</vt:lpstr>
      <vt:lpstr>Карта курса</vt:lpstr>
      <vt:lpstr>Построение пайплайнов</vt:lpstr>
      <vt:lpstr>Цели вебинара</vt:lpstr>
      <vt:lpstr>Что такое пайплайны и зачем они нужны</vt:lpstr>
      <vt:lpstr>Pipeline</vt:lpstr>
      <vt:lpstr>Pipeline</vt:lpstr>
      <vt:lpstr>Когда применять пайплайны</vt:lpstr>
      <vt:lpstr>Применение пайплайна</vt:lpstr>
      <vt:lpstr>DS задача – традиционный путь</vt:lpstr>
      <vt:lpstr>Предсказание уровня счастья</vt:lpstr>
      <vt:lpstr>Загрузим данные и посмотрим на признаки</vt:lpstr>
      <vt:lpstr>Посмотрим какие признаки есть</vt:lpstr>
      <vt:lpstr>Преобразуем признаки для модели</vt:lpstr>
      <vt:lpstr>Создадим модель</vt:lpstr>
      <vt:lpstr>Недостатки </vt:lpstr>
      <vt:lpstr>DS задача – формируем пайплайн</vt:lpstr>
      <vt:lpstr>Предобработка признаков</vt:lpstr>
      <vt:lpstr>Построение фичей</vt:lpstr>
      <vt:lpstr>Объединение в пайплайн</vt:lpstr>
      <vt:lpstr>Добавление ансамбля</vt:lpstr>
      <vt:lpstr>Объединим все вместе</vt:lpstr>
      <vt:lpstr>Сохранение модели</vt:lpstr>
      <vt:lpstr>Сохранение/загрузка сложной модели</vt:lpstr>
      <vt:lpstr>Практика</vt:lpstr>
      <vt:lpstr>Ключевые тезисы  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26</cp:revision>
  <dcterms:modified xsi:type="dcterms:W3CDTF">2025-12-05T11:36:28Z</dcterms:modified>
</cp:coreProperties>
</file>