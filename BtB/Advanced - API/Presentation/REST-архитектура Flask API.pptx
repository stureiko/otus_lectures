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48"/>
  </p:notesMasterIdLst>
  <p:sldIdLst>
    <p:sldId id="256" r:id="rId3"/>
    <p:sldId id="257" r:id="rId4"/>
    <p:sldId id="383" r:id="rId5"/>
    <p:sldId id="412" r:id="rId6"/>
    <p:sldId id="413" r:id="rId7"/>
    <p:sldId id="261" r:id="rId8"/>
    <p:sldId id="262" r:id="rId9"/>
    <p:sldId id="266" r:id="rId10"/>
    <p:sldId id="403" r:id="rId11"/>
    <p:sldId id="402" r:id="rId12"/>
    <p:sldId id="404" r:id="rId13"/>
    <p:sldId id="267" r:id="rId14"/>
    <p:sldId id="275" r:id="rId15"/>
    <p:sldId id="268" r:id="rId16"/>
    <p:sldId id="269" r:id="rId17"/>
    <p:sldId id="270" r:id="rId18"/>
    <p:sldId id="271" r:id="rId19"/>
    <p:sldId id="277" r:id="rId20"/>
    <p:sldId id="278" r:id="rId21"/>
    <p:sldId id="396" r:id="rId22"/>
    <p:sldId id="397" r:id="rId23"/>
    <p:sldId id="281" r:id="rId24"/>
    <p:sldId id="282" r:id="rId25"/>
    <p:sldId id="283" r:id="rId26"/>
    <p:sldId id="284" r:id="rId27"/>
    <p:sldId id="290" r:id="rId28"/>
    <p:sldId id="291" r:id="rId29"/>
    <p:sldId id="400" r:id="rId30"/>
    <p:sldId id="294" r:id="rId31"/>
    <p:sldId id="276" r:id="rId32"/>
    <p:sldId id="295" r:id="rId33"/>
    <p:sldId id="415" r:id="rId34"/>
    <p:sldId id="414" r:id="rId35"/>
    <p:sldId id="416" r:id="rId36"/>
    <p:sldId id="417" r:id="rId37"/>
    <p:sldId id="418" r:id="rId38"/>
    <p:sldId id="298" r:id="rId39"/>
    <p:sldId id="419" r:id="rId40"/>
    <p:sldId id="420" r:id="rId41"/>
    <p:sldId id="398" r:id="rId42"/>
    <p:sldId id="300" r:id="rId43"/>
    <p:sldId id="406" r:id="rId44"/>
    <p:sldId id="401" r:id="rId45"/>
    <p:sldId id="302" r:id="rId46"/>
    <p:sldId id="337" r:id="rId4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9"/>
      <p:bold r:id="rId50"/>
      <p:italic r:id="rId51"/>
      <p:boldItalic r:id="rId52"/>
    </p:embeddedFont>
    <p:embeddedFont>
      <p:font typeface="Lucida Sans" panose="020B0602030504020204" pitchFamily="34" charset="77"/>
      <p:regular r:id="rId53"/>
      <p:bold r:id="rId54"/>
      <p:italic r:id="rId55"/>
      <p:boldItalic r:id="rId56"/>
    </p:embeddedFont>
    <p:embeddedFont>
      <p:font typeface="Roboto" panose="02000000000000000000" pitchFamily="2" charset="0"/>
      <p:regular r:id="rId57"/>
      <p:bold r:id="rId58"/>
      <p:italic r:id="rId59"/>
      <p:boldItalic r:id="rId60"/>
    </p:embeddedFont>
    <p:embeddedFont>
      <p:font typeface="SimSun" panose="02010600030101010101" pitchFamily="2" charset="-122"/>
      <p:regular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3"/>
    <p:restoredTop sz="94719"/>
  </p:normalViewPr>
  <p:slideViewPr>
    <p:cSldViewPr snapToGrid="0">
      <p:cViewPr varScale="1">
        <p:scale>
          <a:sx n="196" d="100"/>
          <a:sy n="196" d="100"/>
        </p:scale>
        <p:origin x="712" y="17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3.xml"/><Relationship Id="rId61" Type="http://schemas.openxmlformats.org/officeDocument/2006/relationships/font" Target="fonts/font1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791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890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685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2465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3676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5913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8856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600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910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8" r:id="rId13"/>
    <p:sldLayoutId id="214748367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flask.palletsproject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jangoproject.com/" TargetMode="External"/><Relationship Id="rId4" Type="http://schemas.openxmlformats.org/officeDocument/2006/relationships/hyperlink" Target="http://fastapi.tiangolo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curl.s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bruno.com/" TargetMode="External"/><Relationship Id="rId5" Type="http://schemas.openxmlformats.org/officeDocument/2006/relationships/hyperlink" Target="http://www.postman.com/" TargetMode="External"/><Relationship Id="rId4" Type="http://schemas.openxmlformats.org/officeDocument/2006/relationships/hyperlink" Target="http://insomnia.res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wagger.io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ru/deployment/manually/" TargetMode="External"/><Relationship Id="rId3" Type="http://schemas.openxmlformats.org/officeDocument/2006/relationships/hyperlink" Target="https://habr.com/ru/articles/346306/" TargetMode="External"/><Relationship Id="rId7" Type="http://schemas.openxmlformats.org/officeDocument/2006/relationships/hyperlink" Target="https://habr.com/ru/articles/426957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wagger.io/tools/open-source/" TargetMode="External"/><Relationship Id="rId5" Type="http://schemas.openxmlformats.org/officeDocument/2006/relationships/hyperlink" Target="https://habr.com/ru/articles/488468/" TargetMode="External"/><Relationship Id="rId10" Type="http://schemas.openxmlformats.org/officeDocument/2006/relationships/hyperlink" Target="https://insomnia.rest/" TargetMode="External"/><Relationship Id="rId4" Type="http://schemas.openxmlformats.org/officeDocument/2006/relationships/hyperlink" Target="https://habr.com/ru/articles/729380/" TargetMode="External"/><Relationship Id="rId9" Type="http://schemas.openxmlformats.org/officeDocument/2006/relationships/hyperlink" Target="https://www.postman.com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sz="2400" dirty="0"/>
              <a:t>REST API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139DD426-170C-4247-BC43-2D1481CFDB0D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Понятие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FastAPI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Pydantic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9C3565-F2E8-AD49-A78E-94F0F801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325507"/>
            <a:ext cx="3588850" cy="1295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E8C7BC-64AB-084C-B21D-199DA1120A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7" b="20598"/>
          <a:stretch/>
        </p:blipFill>
        <p:spPr>
          <a:xfrm>
            <a:off x="4540323" y="2731512"/>
            <a:ext cx="4480827" cy="1371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400296256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что такое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API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API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м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одели с помощью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astAPI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Провалидировать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параметры запроса до передачи в модель с помощью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Pydantic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авторизацию доступа с помощью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OAuth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574219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56088210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Публиковать модели в виде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сервиса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Проверять параметры запроса до передачи в модель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авторизованный доступ к модели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0642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7E2076-A536-1D4B-9A55-A34941F4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 вообще нам это нужно?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8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9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FCFB45-1493-4241-B895-4822047704BD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3073794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365658" y="343980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264" name="Google Shape;264;p41"/>
          <p:cNvSpPr txBox="1"/>
          <p:nvPr/>
        </p:nvSpPr>
        <p:spPr>
          <a:xfrm>
            <a:off x="365659" y="1362506"/>
            <a:ext cx="6469644" cy="1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presentational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tate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ransfer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«передача состояния представления») —  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архитектурный стиль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взаимодействия  компонентов распределённого приложения</a:t>
            </a:r>
            <a:endParaRPr lang="en-US"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000" dirty="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dirty="0">
                <a:latin typeface="Helvetica Neue"/>
                <a:ea typeface="Helvetica Neue"/>
                <a:cs typeface="Helvetica Neue"/>
                <a:sym typeface="Helvetica Neue"/>
              </a:rPr>
              <a:t>набор правил)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365658" y="3888847"/>
            <a:ext cx="6991984" cy="51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5080" lvl="0" indent="0" algn="l" rtl="0">
              <a:lnSpc>
                <a:spcPct val="14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службы, не нарушающие  ограничений REST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2979" y="902452"/>
            <a:ext cx="2563280" cy="224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>
            <a:off x="5209742" y="3228502"/>
            <a:ext cx="3934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https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://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www.ics.uci.edu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/~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fielding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  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pubs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dissertation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rest_arch_style.htm</a:t>
            </a:r>
            <a:endParaRPr sz="1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Преимущества</a:t>
            </a:r>
            <a:endParaRPr/>
          </a:p>
        </p:txBody>
      </p:sp>
      <p:sp>
        <p:nvSpPr>
          <p:cNvPr id="319" name="Google Shape;319;p49"/>
          <p:cNvSpPr txBox="1"/>
          <p:nvPr/>
        </p:nvSpPr>
        <p:spPr>
          <a:xfrm>
            <a:off x="500550" y="1105475"/>
            <a:ext cx="77031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3618865" lvl="0" indent="-342900" algn="l" rtl="0">
              <a:lnSpc>
                <a:spcPct val="12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Надёжность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Производительнос</a:t>
            </a:r>
            <a:r>
              <a:rPr lang="ru-RU" sz="2400">
                <a:latin typeface="Helvetica Neue"/>
                <a:ea typeface="Helvetica Neue"/>
                <a:cs typeface="Helvetica Neue"/>
                <a:sym typeface="Helvetica Neue"/>
              </a:rPr>
              <a:t>т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Масштабируемость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Прозрачность системы взаимодействия</a:t>
            </a:r>
            <a:endParaRPr/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Простота интерфейсов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Портативность компонентов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Легкость внесения изменений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Способность эволюционировать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78" y="1114647"/>
            <a:ext cx="7241044" cy="29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D2DBD-97D9-6A4D-A914-4CAA96C4618A}"/>
              </a:ext>
            </a:extLst>
          </p:cNvPr>
          <p:cNvSpPr txBox="1"/>
          <p:nvPr/>
        </p:nvSpPr>
        <p:spPr>
          <a:xfrm>
            <a:off x="3424136" y="251622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xml</a:t>
            </a:r>
          </a:p>
          <a:p>
            <a:pPr algn="ctr"/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Ресурс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500550" y="1426624"/>
            <a:ext cx="8520600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Всё сущее является ресурсом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Каждый ресурс должен иметь уникальный URL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/api/posts/12345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коллекция ресурсов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00550" y="1426624"/>
            <a:ext cx="6858000" cy="246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получить состояние ресурса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создать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обновить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удалить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951" y="1127760"/>
            <a:ext cx="7292098" cy="328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Фреймворки</a:t>
            </a:r>
            <a:endParaRPr/>
          </a:p>
        </p:txBody>
      </p:sp>
      <p:sp>
        <p:nvSpPr>
          <p:cNvPr id="331" name="Google Shape;331;p51"/>
          <p:cNvSpPr txBox="1"/>
          <p:nvPr/>
        </p:nvSpPr>
        <p:spPr>
          <a:xfrm>
            <a:off x="500550" y="1121824"/>
            <a:ext cx="5082540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Flask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flask.palletsprojects.com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fastapi.tiangolo.com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Django (</a:t>
            </a:r>
            <a:r>
              <a:rPr lang="ru-RU" sz="2400" b="0" i="0" u="sng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www.djangoproject.com</a:t>
            </a: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Клиенты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500550" y="1121824"/>
            <a:ext cx="5082540" cy="212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cURL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curl.se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Insomnia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insomnia.rest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www.postman.com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en-US"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Bruno (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www.bruno.com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32979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FAST API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1512078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 err="1">
                <a:latin typeface="Arial"/>
                <a:ea typeface="Arial"/>
                <a:cs typeface="Arial"/>
                <a:sym typeface="Arial"/>
              </a:rPr>
              <a:t>Fas</a:t>
            </a:r>
            <a:r>
              <a:rPr lang="en-US" b="1" dirty="0" err="1">
                <a:latin typeface="Arial"/>
                <a:ea typeface="Arial"/>
                <a:cs typeface="Arial"/>
                <a:sym typeface="Arial"/>
              </a:rPr>
              <a:t>tAPI</a:t>
            </a:r>
            <a:endParaRPr dirty="0"/>
          </a:p>
        </p:txBody>
      </p:sp>
      <p:sp>
        <p:nvSpPr>
          <p:cNvPr id="358" name="Google Shape;358;p55"/>
          <p:cNvSpPr txBox="1"/>
          <p:nvPr/>
        </p:nvSpPr>
        <p:spPr>
          <a:xfrm>
            <a:off x="500550" y="1426624"/>
            <a:ext cx="6057905" cy="18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Микрофреймворк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Модульный дизайн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Зависимости: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Jinja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— </a:t>
            </a: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шаблонизатор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объект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web 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приложения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Регистрация функций</a:t>
            </a:r>
            <a:endParaRPr/>
          </a:p>
        </p:txBody>
      </p:sp>
      <p:sp>
        <p:nvSpPr>
          <p:cNvPr id="371" name="Google Shape;371;p57"/>
          <p:cNvSpPr txBox="1"/>
          <p:nvPr/>
        </p:nvSpPr>
        <p:spPr>
          <a:xfrm>
            <a:off x="500550" y="1426624"/>
            <a:ext cx="4572000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Аргументы: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URL</a:t>
            </a:r>
            <a:endParaRPr/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Имя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Функция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Динамические маршруты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Переадресация (redirect)</a:t>
            </a:r>
            <a:endParaRPr/>
          </a:p>
        </p:txBody>
      </p:sp>
      <p:pic>
        <p:nvPicPr>
          <p:cNvPr id="416" name="Google Shape;416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337" y="1816065"/>
            <a:ext cx="5471325" cy="151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Обработка ошибок (abort)</a:t>
            </a:r>
            <a:endParaRPr/>
          </a:p>
        </p:txBody>
      </p:sp>
      <p:pic>
        <p:nvPicPr>
          <p:cNvPr id="422" name="Google Shape;422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4604" y="1390244"/>
            <a:ext cx="6034792" cy="236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912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b="1"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sz="4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 err="1">
                <a:latin typeface="Arial"/>
                <a:ea typeface="Arial"/>
                <a:cs typeface="Arial"/>
                <a:sym typeface="Arial"/>
              </a:rPr>
              <a:t>OpenAPI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1" dirty="0" err="1">
                <a:latin typeface="Arial"/>
                <a:ea typeface="Arial"/>
                <a:cs typeface="Arial"/>
                <a:sym typeface="Arial"/>
              </a:rPr>
              <a:t>Specification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ru-RU" b="1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Swagger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325" name="Google Shape;325;p50"/>
          <p:cNvSpPr txBox="1"/>
          <p:nvPr/>
        </p:nvSpPr>
        <p:spPr>
          <a:xfrm>
            <a:off x="500550" y="1129444"/>
            <a:ext cx="7980510" cy="336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Формат описания API: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30480" lvl="0" indent="-216535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Конечные точки (/users) и операции над ними (GET /users,  POST /users)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Параметры операций, ввод и вывод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Методы аутентификации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Контактная информация, лицензия, условия, использования и т.п.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81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Описывается на JSON или YAML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OpenAPI</a:t>
            </a:r>
            <a:endParaRPr/>
          </a:p>
        </p:txBody>
      </p:sp>
      <p:pic>
        <p:nvPicPr>
          <p:cNvPr id="448" name="Google Shape;448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356" y="1062565"/>
            <a:ext cx="7716318" cy="374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Pydantic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2107361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какие они бывают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9A157-92D0-B745-A3D0-84937C3F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3600986"/>
          </a:xfrm>
        </p:spPr>
        <p:txBody>
          <a:bodyPr>
            <a:normAutofit fontScale="92500" lnSpcReduction="10000"/>
          </a:bodyPr>
          <a:lstStyle/>
          <a:p>
            <a:pPr marL="120650" indent="0">
              <a:buNone/>
            </a:pPr>
            <a:r>
              <a:rPr lang="ru-RU" dirty="0"/>
              <a:t>Параметры пути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http://localhost:8080/items/1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pPr marL="120650" indent="0">
              <a:buNone/>
            </a:pPr>
            <a:r>
              <a:rPr lang="ru-RU" dirty="0"/>
              <a:t>Параметры запроса</a:t>
            </a:r>
            <a:endParaRPr lang="en-US" dirty="0"/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test?text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=moo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/>
          </a:p>
          <a:p>
            <a:endParaRPr lang="ru-RU" dirty="0"/>
          </a:p>
          <a:p>
            <a:pPr marL="120650" indent="0">
              <a:buNone/>
            </a:pPr>
            <a:r>
              <a:rPr lang="ru-RU" dirty="0"/>
              <a:t>Параметры тела запроса</a:t>
            </a:r>
            <a:endParaRPr lang="en-US" dirty="0"/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http://localhost:8080/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”msg”: ”test text”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”: 10</a:t>
            </a:r>
          </a:p>
          <a:p>
            <a:pPr marL="1206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B077D2-08F7-6E42-A55B-3BE2815BBEDD}"/>
              </a:ext>
            </a:extLst>
          </p:cNvPr>
          <p:cNvSpPr/>
          <p:nvPr/>
        </p:nvSpPr>
        <p:spPr>
          <a:xfrm>
            <a:off x="3955915" y="1664238"/>
            <a:ext cx="324254" cy="35019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9DA409-923E-0C4E-9063-DB2FF07C93E4}"/>
              </a:ext>
            </a:extLst>
          </p:cNvPr>
          <p:cNvSpPr/>
          <p:nvPr/>
        </p:nvSpPr>
        <p:spPr>
          <a:xfrm>
            <a:off x="3759740" y="2470826"/>
            <a:ext cx="1227307" cy="35019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0E4552-F95E-A446-AE5E-1CEB3CACE6E4}"/>
              </a:ext>
            </a:extLst>
          </p:cNvPr>
          <p:cNvSpPr/>
          <p:nvPr/>
        </p:nvSpPr>
        <p:spPr>
          <a:xfrm>
            <a:off x="474722" y="3867150"/>
            <a:ext cx="2573278" cy="1155710"/>
          </a:xfrm>
          <a:prstGeom prst="roundRect">
            <a:avLst>
              <a:gd name="adj" fmla="val 110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2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типа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855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значения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886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запроса – </a:t>
            </a:r>
            <a:r>
              <a:rPr lang="en-US" dirty="0" err="1"/>
              <a:t>в</a:t>
            </a:r>
            <a:r>
              <a:rPr lang="ru-RU" dirty="0" err="1"/>
              <a:t>алидация</a:t>
            </a:r>
            <a:r>
              <a:rPr lang="ru-RU" dirty="0"/>
              <a:t> сложной структуры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12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Работа с приложением</a:t>
            </a:r>
            <a:endParaRPr/>
          </a:p>
        </p:txBody>
      </p:sp>
      <p:pic>
        <p:nvPicPr>
          <p:cNvPr id="466" name="Google Shape;466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224" y="899013"/>
            <a:ext cx="7707552" cy="400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Авторизация доступа</a:t>
            </a:r>
            <a:endParaRPr sz="4900" dirty="0"/>
          </a:p>
        </p:txBody>
      </p:sp>
    </p:spTree>
    <p:extLst>
      <p:ext uri="{BB962C8B-B14F-4D97-AF65-F5344CB8AC3E}">
        <p14:creationId xmlns:p14="http://schemas.microsoft.com/office/powerpoint/2010/main" val="2948524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F9C-B649-EF45-B97D-51814BE4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</a:t>
            </a:r>
            <a:r>
              <a:rPr lang="en-US" dirty="0"/>
              <a:t>Auth</a:t>
            </a:r>
          </a:p>
        </p:txBody>
      </p:sp>
    </p:spTree>
    <p:extLst>
      <p:ext uri="{BB962C8B-B14F-4D97-AF65-F5344CB8AC3E}">
        <p14:creationId xmlns:p14="http://schemas.microsoft.com/office/powerpoint/2010/main" val="2753983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343" name="Google Shape;34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3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3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62322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indent="-342900">
              <a:buSzPts val="1300"/>
              <a:buFont typeface="+mj-lt"/>
              <a:buAutoNum type="arabicPeriod"/>
            </a:pPr>
            <a:r>
              <a:rPr lang="en-US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3"/>
              </a:rPr>
              <a:t>https://habr.com/ru/articles/346306/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 err="1"/>
              <a:t>FastAPI</a:t>
            </a:r>
            <a:endParaRPr lang="ru-RU" sz="1800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4"/>
              </a:rPr>
              <a:t>https://habr.com/ru/articles/729380/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Знакомство с </a:t>
            </a:r>
            <a:r>
              <a:rPr lang="en-US" sz="1400" dirty="0" err="1"/>
              <a:t>FastAPI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https://habr.com/ru/articles/488468/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ru-RU" b="1" dirty="0"/>
              <a:t>Ресурсы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Swagger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WSGI </a:t>
            </a:r>
            <a:r>
              <a:rPr lang="ru-RU" sz="1400" dirty="0">
                <a:hlinkClick r:id="rId7"/>
              </a:rPr>
              <a:t>Серверы</a:t>
            </a:r>
            <a:endParaRPr lang="ru-RU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8"/>
              </a:rPr>
              <a:t>Запуск через </a:t>
            </a:r>
            <a:r>
              <a:rPr lang="en-US" sz="1400" dirty="0">
                <a:hlinkClick r:id="rId8"/>
              </a:rPr>
              <a:t>uvicorn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Postman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Insomnia</a:t>
            </a:r>
            <a:endParaRPr lang="en-US" sz="1400" dirty="0"/>
          </a:p>
          <a:p>
            <a:pPr marL="431800" indent="-285750">
              <a:buSzPts val="1300"/>
            </a:pPr>
            <a:endParaRPr lang="ru-RU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9659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215846" y="2254895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4091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22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.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1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0 –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Docker: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Структура, применение,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деплой</a:t>
            </a:r>
            <a:endParaRPr lang="en-US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AAAED-BD95-9343-9792-F6E2FA7AEA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911E539-E965-6144-803E-A2C1E62B8927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796</Words>
  <Application>Microsoft Macintosh PowerPoint</Application>
  <PresentationFormat>On-screen Show (16:9)</PresentationFormat>
  <Paragraphs>207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Helvetica Neue</vt:lpstr>
      <vt:lpstr>Lucida Sans</vt:lpstr>
      <vt:lpstr>Arial</vt:lpstr>
      <vt:lpstr>Google Sans</vt:lpstr>
      <vt:lpstr>Courier New</vt:lpstr>
      <vt:lpstr>Bradley Hand</vt:lpstr>
      <vt:lpstr>Roboto</vt:lpstr>
      <vt:lpstr>Georgia</vt:lpstr>
      <vt:lpstr>SimSun</vt:lpstr>
      <vt:lpstr>Светлая тема</vt:lpstr>
      <vt:lpstr>Светлая тема</vt:lpstr>
      <vt:lpstr>ML Advanced REST API</vt:lpstr>
      <vt:lpstr>Проверить, идет ли запись</vt:lpstr>
      <vt:lpstr>ML Advanced REST API</vt:lpstr>
      <vt:lpstr>Правила вебинара</vt:lpstr>
      <vt:lpstr>Маршрут вебинара</vt:lpstr>
      <vt:lpstr>Цели вебинара</vt:lpstr>
      <vt:lpstr>Смысл</vt:lpstr>
      <vt:lpstr>REST API</vt:lpstr>
      <vt:lpstr>А зачем вообще нам это нужно?</vt:lpstr>
      <vt:lpstr>Модель как услуга (Model-as-a-Service)</vt:lpstr>
      <vt:lpstr>Модель как услуга (Model-as-a-Service)</vt:lpstr>
      <vt:lpstr>REST API</vt:lpstr>
      <vt:lpstr>Преимущества</vt:lpstr>
      <vt:lpstr>REST API</vt:lpstr>
      <vt:lpstr>Ресурс</vt:lpstr>
      <vt:lpstr>Семантика HTTP методов</vt:lpstr>
      <vt:lpstr>Семантика HTTP методов</vt:lpstr>
      <vt:lpstr>Фреймворки</vt:lpstr>
      <vt:lpstr>Клиенты</vt:lpstr>
      <vt:lpstr>Вопросы?</vt:lpstr>
      <vt:lpstr>FAST API</vt:lpstr>
      <vt:lpstr>FastAPI</vt:lpstr>
      <vt:lpstr>Пример – объект web приложения</vt:lpstr>
      <vt:lpstr>Регистрация функций</vt:lpstr>
      <vt:lpstr>Динамические маршруты</vt:lpstr>
      <vt:lpstr>Переадресация (redirect)</vt:lpstr>
      <vt:lpstr>Обработка ошибок (abort)</vt:lpstr>
      <vt:lpstr>Вопросы?</vt:lpstr>
      <vt:lpstr>Model-as-a-Service</vt:lpstr>
      <vt:lpstr>OpenAPI Specification (Swagger)</vt:lpstr>
      <vt:lpstr>OpenAPI</vt:lpstr>
      <vt:lpstr>Pydantic</vt:lpstr>
      <vt:lpstr>Параметры запроса – какие они бывают</vt:lpstr>
      <vt:lpstr>Параметры запроса – валидация типа</vt:lpstr>
      <vt:lpstr>Параметры запроса – валидация значения</vt:lpstr>
      <vt:lpstr>Параметры запроса – валидация сложной структуры</vt:lpstr>
      <vt:lpstr>Работа с приложением</vt:lpstr>
      <vt:lpstr>Авторизация доступа</vt:lpstr>
      <vt:lpstr>OAuth</vt:lpstr>
      <vt:lpstr>Вопросы?</vt:lpstr>
      <vt:lpstr>Практика</vt:lpstr>
      <vt:lpstr>Список материалов для изучения</vt:lpstr>
      <vt:lpstr>Рефлексия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37</cp:revision>
  <dcterms:modified xsi:type="dcterms:W3CDTF">2025-08-24T12:50:53Z</dcterms:modified>
</cp:coreProperties>
</file>