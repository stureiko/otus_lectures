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47"/>
  </p:notesMasterIdLst>
  <p:sldIdLst>
    <p:sldId id="256" r:id="rId3"/>
    <p:sldId id="257" r:id="rId4"/>
    <p:sldId id="383" r:id="rId5"/>
    <p:sldId id="412" r:id="rId6"/>
    <p:sldId id="413" r:id="rId7"/>
    <p:sldId id="261" r:id="rId8"/>
    <p:sldId id="262" r:id="rId9"/>
    <p:sldId id="266" r:id="rId10"/>
    <p:sldId id="403" r:id="rId11"/>
    <p:sldId id="402" r:id="rId12"/>
    <p:sldId id="404" r:id="rId13"/>
    <p:sldId id="267" r:id="rId14"/>
    <p:sldId id="275" r:id="rId15"/>
    <p:sldId id="268" r:id="rId16"/>
    <p:sldId id="269" r:id="rId17"/>
    <p:sldId id="270" r:id="rId18"/>
    <p:sldId id="271" r:id="rId19"/>
    <p:sldId id="277" r:id="rId20"/>
    <p:sldId id="278" r:id="rId21"/>
    <p:sldId id="396" r:id="rId22"/>
    <p:sldId id="397" r:id="rId23"/>
    <p:sldId id="281" r:id="rId24"/>
    <p:sldId id="282" r:id="rId25"/>
    <p:sldId id="283" r:id="rId26"/>
    <p:sldId id="284" r:id="rId27"/>
    <p:sldId id="290" r:id="rId28"/>
    <p:sldId id="291" r:id="rId29"/>
    <p:sldId id="421" r:id="rId30"/>
    <p:sldId id="400" r:id="rId31"/>
    <p:sldId id="294" r:id="rId32"/>
    <p:sldId id="415" r:id="rId33"/>
    <p:sldId id="414" r:id="rId34"/>
    <p:sldId id="416" r:id="rId35"/>
    <p:sldId id="417" r:id="rId36"/>
    <p:sldId id="418" r:id="rId37"/>
    <p:sldId id="298" r:id="rId38"/>
    <p:sldId id="419" r:id="rId39"/>
    <p:sldId id="420" r:id="rId40"/>
    <p:sldId id="398" r:id="rId41"/>
    <p:sldId id="300" r:id="rId42"/>
    <p:sldId id="406" r:id="rId43"/>
    <p:sldId id="401" r:id="rId44"/>
    <p:sldId id="302" r:id="rId45"/>
    <p:sldId id="337" r:id="rId46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48"/>
      <p:bold r:id="rId49"/>
      <p:italic r:id="rId50"/>
      <p:boldItalic r:id="rId51"/>
    </p:embeddedFont>
    <p:embeddedFont>
      <p:font typeface="Lucida Sans" panose="020B0602030504020204" pitchFamily="34" charset="77"/>
      <p:regular r:id="rId52"/>
      <p:bold r:id="rId53"/>
      <p:italic r:id="rId54"/>
      <p:boldItalic r:id="rId55"/>
    </p:embeddedFont>
    <p:embeddedFont>
      <p:font typeface="Roboto" panose="02000000000000000000" pitchFamily="2" charset="0"/>
      <p:regular r:id="rId56"/>
      <p:bold r:id="rId57"/>
      <p:italic r:id="rId58"/>
      <p:boldItalic r:id="rId59"/>
    </p:embeddedFont>
    <p:embeddedFont>
      <p:font typeface="SimSun" panose="02010600030101010101" pitchFamily="2" charset="-122"/>
      <p:regular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49"/>
    <p:restoredTop sz="94719"/>
  </p:normalViewPr>
  <p:slideViewPr>
    <p:cSldViewPr snapToGrid="0">
      <p:cViewPr varScale="1">
        <p:scale>
          <a:sx n="196" d="100"/>
          <a:sy n="196" d="100"/>
        </p:scale>
        <p:origin x="744" y="176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2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7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791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890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25174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685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2465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3676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5913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18856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4600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910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8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8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8" r:id="rId13"/>
    <p:sldLayoutId id="214748367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68" r:id="rId6"/>
    <p:sldLayoutId id="2147483669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flask.palletsprojects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djangoproject.com/" TargetMode="External"/><Relationship Id="rId4" Type="http://schemas.openxmlformats.org/officeDocument/2006/relationships/hyperlink" Target="http://fastapi.tiangolo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curl.se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bruno.com/" TargetMode="External"/><Relationship Id="rId5" Type="http://schemas.openxmlformats.org/officeDocument/2006/relationships/hyperlink" Target="http://www.postman.com/" TargetMode="External"/><Relationship Id="rId4" Type="http://schemas.openxmlformats.org/officeDocument/2006/relationships/hyperlink" Target="http://insomnia.rest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fastapi.tiangolo.com/ru/deployment/manually/" TargetMode="External"/><Relationship Id="rId3" Type="http://schemas.openxmlformats.org/officeDocument/2006/relationships/hyperlink" Target="https://habr.com/ru/articles/346306/" TargetMode="External"/><Relationship Id="rId7" Type="http://schemas.openxmlformats.org/officeDocument/2006/relationships/hyperlink" Target="https://habr.com/ru/articles/426957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wagger.io/tools/open-source/" TargetMode="External"/><Relationship Id="rId5" Type="http://schemas.openxmlformats.org/officeDocument/2006/relationships/hyperlink" Target="https://habr.com/ru/articles/488468/" TargetMode="External"/><Relationship Id="rId10" Type="http://schemas.openxmlformats.org/officeDocument/2006/relationships/hyperlink" Target="https://insomnia.rest/" TargetMode="External"/><Relationship Id="rId4" Type="http://schemas.openxmlformats.org/officeDocument/2006/relationships/hyperlink" Target="https://habr.com/ru/articles/729380/" TargetMode="External"/><Relationship Id="rId9" Type="http://schemas.openxmlformats.org/officeDocument/2006/relationships/hyperlink" Target="https://www.postman.com/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Advanced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sz="2400" dirty="0"/>
              <a:t>REST API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139DD426-170C-4247-BC43-2D1481CFDB0D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/>
              <a:t>Более </a:t>
            </a:r>
            <a:r>
              <a:rPr lang="ru-RU" sz="1150"/>
              <a:t>20</a:t>
            </a:r>
            <a:r>
              <a:rPr lang="ru-RU" sz="1150" kern="0"/>
              <a:t> </a:t>
            </a:r>
            <a:r>
              <a:rPr lang="ru-RU" sz="1150" kern="0" dirty="0"/>
              <a:t>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626905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2631918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Model-as-a-Service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Понятие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FastAPI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Pydantic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59C3565-F2E8-AD49-A78E-94F0F801E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325507"/>
            <a:ext cx="3588850" cy="12952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E8C7BC-64AB-084C-B21D-199DA1120A0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7" b="20598"/>
          <a:stretch/>
        </p:blipFill>
        <p:spPr>
          <a:xfrm>
            <a:off x="4540323" y="2731512"/>
            <a:ext cx="4480827" cy="1371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1400296256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что такое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 API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Написать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API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м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одели с помощью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astAPI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Провалидировать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параметры запроса до передачи в модель с помощью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Pydantic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Организовать авторизацию доступа с помощью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OAuth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574219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56088210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Публиковать модели в виде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сервиса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Проверять параметры запроса до передачи в модель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Организовать авторизованный доступ к модели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06420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4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7E2076-A536-1D4B-9A55-A34941F4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зачем вообще нам это нужно?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084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121" y="1923752"/>
            <a:ext cx="8627757" cy="12959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39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121" y="1923752"/>
            <a:ext cx="8627757" cy="12959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FCFB45-1493-4241-B895-4822047704BD}"/>
              </a:ext>
            </a:extLst>
          </p:cNvPr>
          <p:cNvSpPr/>
          <p:nvPr/>
        </p:nvSpPr>
        <p:spPr>
          <a:xfrm>
            <a:off x="6582383" y="1796374"/>
            <a:ext cx="2438767" cy="1621277"/>
          </a:xfrm>
          <a:custGeom>
            <a:avLst/>
            <a:gdLst>
              <a:gd name="connsiteX0" fmla="*/ 0 w 2438767"/>
              <a:gd name="connsiteY0" fmla="*/ 270218 h 1621277"/>
              <a:gd name="connsiteX1" fmla="*/ 270218 w 2438767"/>
              <a:gd name="connsiteY1" fmla="*/ 0 h 1621277"/>
              <a:gd name="connsiteX2" fmla="*/ 782767 w 2438767"/>
              <a:gd name="connsiteY2" fmla="*/ 0 h 1621277"/>
              <a:gd name="connsiteX3" fmla="*/ 1238367 w 2438767"/>
              <a:gd name="connsiteY3" fmla="*/ 0 h 1621277"/>
              <a:gd name="connsiteX4" fmla="*/ 1674983 w 2438767"/>
              <a:gd name="connsiteY4" fmla="*/ 0 h 1621277"/>
              <a:gd name="connsiteX5" fmla="*/ 2168549 w 2438767"/>
              <a:gd name="connsiteY5" fmla="*/ 0 h 1621277"/>
              <a:gd name="connsiteX6" fmla="*/ 2438767 w 2438767"/>
              <a:gd name="connsiteY6" fmla="*/ 270218 h 1621277"/>
              <a:gd name="connsiteX7" fmla="*/ 2438767 w 2438767"/>
              <a:gd name="connsiteY7" fmla="*/ 810639 h 1621277"/>
              <a:gd name="connsiteX8" fmla="*/ 2438767 w 2438767"/>
              <a:gd name="connsiteY8" fmla="*/ 1351059 h 1621277"/>
              <a:gd name="connsiteX9" fmla="*/ 2168549 w 2438767"/>
              <a:gd name="connsiteY9" fmla="*/ 1621277 h 1621277"/>
              <a:gd name="connsiteX10" fmla="*/ 1693966 w 2438767"/>
              <a:gd name="connsiteY10" fmla="*/ 1621277 h 1621277"/>
              <a:gd name="connsiteX11" fmla="*/ 1238367 w 2438767"/>
              <a:gd name="connsiteY11" fmla="*/ 1621277 h 1621277"/>
              <a:gd name="connsiteX12" fmla="*/ 725817 w 2438767"/>
              <a:gd name="connsiteY12" fmla="*/ 1621277 h 1621277"/>
              <a:gd name="connsiteX13" fmla="*/ 270218 w 2438767"/>
              <a:gd name="connsiteY13" fmla="*/ 1621277 h 1621277"/>
              <a:gd name="connsiteX14" fmla="*/ 0 w 2438767"/>
              <a:gd name="connsiteY14" fmla="*/ 1351059 h 1621277"/>
              <a:gd name="connsiteX15" fmla="*/ 0 w 2438767"/>
              <a:gd name="connsiteY15" fmla="*/ 799830 h 1621277"/>
              <a:gd name="connsiteX16" fmla="*/ 0 w 2438767"/>
              <a:gd name="connsiteY16" fmla="*/ 270218 h 162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38767" h="1621277" extrusionOk="0">
                <a:moveTo>
                  <a:pt x="0" y="270218"/>
                </a:moveTo>
                <a:cubicBezTo>
                  <a:pt x="-10116" y="114741"/>
                  <a:pt x="108255" y="4776"/>
                  <a:pt x="270218" y="0"/>
                </a:cubicBezTo>
                <a:cubicBezTo>
                  <a:pt x="448210" y="-25464"/>
                  <a:pt x="573577" y="30901"/>
                  <a:pt x="782767" y="0"/>
                </a:cubicBezTo>
                <a:cubicBezTo>
                  <a:pt x="991957" y="-30901"/>
                  <a:pt x="1088310" y="47852"/>
                  <a:pt x="1238367" y="0"/>
                </a:cubicBezTo>
                <a:cubicBezTo>
                  <a:pt x="1388424" y="-47852"/>
                  <a:pt x="1536638" y="42131"/>
                  <a:pt x="1674983" y="0"/>
                </a:cubicBezTo>
                <a:cubicBezTo>
                  <a:pt x="1813328" y="-42131"/>
                  <a:pt x="1967581" y="15528"/>
                  <a:pt x="2168549" y="0"/>
                </a:cubicBezTo>
                <a:cubicBezTo>
                  <a:pt x="2333116" y="-31549"/>
                  <a:pt x="2412217" y="116915"/>
                  <a:pt x="2438767" y="270218"/>
                </a:cubicBezTo>
                <a:cubicBezTo>
                  <a:pt x="2484876" y="403703"/>
                  <a:pt x="2415982" y="691508"/>
                  <a:pt x="2438767" y="810639"/>
                </a:cubicBezTo>
                <a:cubicBezTo>
                  <a:pt x="2461552" y="929770"/>
                  <a:pt x="2434262" y="1118156"/>
                  <a:pt x="2438767" y="1351059"/>
                </a:cubicBezTo>
                <a:cubicBezTo>
                  <a:pt x="2457246" y="1504739"/>
                  <a:pt x="2291303" y="1616994"/>
                  <a:pt x="2168549" y="1621277"/>
                </a:cubicBezTo>
                <a:cubicBezTo>
                  <a:pt x="1954124" y="1629082"/>
                  <a:pt x="1916492" y="1614407"/>
                  <a:pt x="1693966" y="1621277"/>
                </a:cubicBezTo>
                <a:cubicBezTo>
                  <a:pt x="1471440" y="1628147"/>
                  <a:pt x="1438463" y="1589649"/>
                  <a:pt x="1238367" y="1621277"/>
                </a:cubicBezTo>
                <a:cubicBezTo>
                  <a:pt x="1038271" y="1652905"/>
                  <a:pt x="955975" y="1607373"/>
                  <a:pt x="725817" y="1621277"/>
                </a:cubicBezTo>
                <a:cubicBezTo>
                  <a:pt x="495659" y="1635181"/>
                  <a:pt x="476789" y="1577772"/>
                  <a:pt x="270218" y="1621277"/>
                </a:cubicBezTo>
                <a:cubicBezTo>
                  <a:pt x="116070" y="1622083"/>
                  <a:pt x="-14914" y="1490005"/>
                  <a:pt x="0" y="1351059"/>
                </a:cubicBezTo>
                <a:cubicBezTo>
                  <a:pt x="-8480" y="1138554"/>
                  <a:pt x="59177" y="1071468"/>
                  <a:pt x="0" y="799830"/>
                </a:cubicBezTo>
                <a:cubicBezTo>
                  <a:pt x="-59177" y="528192"/>
                  <a:pt x="58131" y="515729"/>
                  <a:pt x="0" y="270218"/>
                </a:cubicBezTo>
                <a:close/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E56C3-CE15-8645-A41F-009E3A7B82DD}"/>
              </a:ext>
            </a:extLst>
          </p:cNvPr>
          <p:cNvSpPr txBox="1"/>
          <p:nvPr/>
        </p:nvSpPr>
        <p:spPr>
          <a:xfrm>
            <a:off x="8125838" y="1457610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radley Hand" pitchFamily="2" charset="77"/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3073794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>
            <a:spLocks noGrp="1"/>
          </p:cNvSpPr>
          <p:nvPr>
            <p:ph type="title"/>
          </p:nvPr>
        </p:nvSpPr>
        <p:spPr>
          <a:xfrm>
            <a:off x="365658" y="343980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sp>
        <p:nvSpPr>
          <p:cNvPr id="264" name="Google Shape;264;p41"/>
          <p:cNvSpPr txBox="1"/>
          <p:nvPr/>
        </p:nvSpPr>
        <p:spPr>
          <a:xfrm>
            <a:off x="365659" y="1362506"/>
            <a:ext cx="6469644" cy="188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presentational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tate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ransfer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marR="5080" lvl="0" indent="0" algn="l" rtl="0">
              <a:lnSpc>
                <a:spcPct val="12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«передача состояния представления») —  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архитектурный стиль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взаимодействия  компонентов распределённого приложения</a:t>
            </a:r>
            <a:endParaRPr lang="en-US"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marR="5080" lvl="0" indent="0" algn="l" rtl="0">
              <a:lnSpc>
                <a:spcPct val="12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000" dirty="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ru-RU" sz="2000" dirty="0">
                <a:latin typeface="Helvetica Neue"/>
                <a:ea typeface="Helvetica Neue"/>
                <a:cs typeface="Helvetica Neue"/>
                <a:sym typeface="Helvetica Neue"/>
              </a:rPr>
              <a:t>набор правил)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41"/>
          <p:cNvSpPr txBox="1"/>
          <p:nvPr/>
        </p:nvSpPr>
        <p:spPr>
          <a:xfrm>
            <a:off x="365658" y="3888847"/>
            <a:ext cx="6991984" cy="51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marR="5080" lvl="0" indent="0" algn="l" rtl="0">
              <a:lnSpc>
                <a:spcPct val="14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RESTful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службы, не нарушающие  ограничений REST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6" name="Google Shape;26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2979" y="902452"/>
            <a:ext cx="2563280" cy="224716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 txBox="1"/>
          <p:nvPr/>
        </p:nvSpPr>
        <p:spPr>
          <a:xfrm>
            <a:off x="5209742" y="3228502"/>
            <a:ext cx="39342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https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://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www.ics.uci.edu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/~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fielding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  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pubs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dissertation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rest_arch_style.htm</a:t>
            </a:r>
            <a:endParaRPr sz="15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Преимущества</a:t>
            </a:r>
            <a:endParaRPr/>
          </a:p>
        </p:txBody>
      </p:sp>
      <p:sp>
        <p:nvSpPr>
          <p:cNvPr id="319" name="Google Shape;319;p49"/>
          <p:cNvSpPr txBox="1"/>
          <p:nvPr/>
        </p:nvSpPr>
        <p:spPr>
          <a:xfrm>
            <a:off x="500550" y="1105475"/>
            <a:ext cx="7703100" cy="3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3618865" lvl="0" indent="-342900" algn="l" rtl="0">
              <a:lnSpc>
                <a:spcPct val="122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Надёжность</a:t>
            </a:r>
            <a:endParaRPr/>
          </a:p>
          <a:p>
            <a:pPr marL="355600" marR="3618865" lvl="0" indent="-342900" algn="l" rtl="0">
              <a:lnSpc>
                <a:spcPct val="1229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Производительнос</a:t>
            </a:r>
            <a:r>
              <a:rPr lang="ru-RU" sz="2400">
                <a:latin typeface="Helvetica Neue"/>
                <a:ea typeface="Helvetica Neue"/>
                <a:cs typeface="Helvetica Neue"/>
                <a:sym typeface="Helvetica Neue"/>
              </a:rPr>
              <a:t>т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ь</a:t>
            </a:r>
            <a:endParaRPr/>
          </a:p>
          <a:p>
            <a:pPr marL="355600" marR="3618865" lvl="0" indent="-342900" algn="l" rtl="0">
              <a:lnSpc>
                <a:spcPct val="1229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Масштабируемость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5600" marR="5080" lvl="0" indent="-342900" algn="l" rtl="0">
              <a:lnSpc>
                <a:spcPct val="1229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Прозрачность системы взаимодействия</a:t>
            </a:r>
            <a:endParaRPr/>
          </a:p>
          <a:p>
            <a:pPr marL="355600" marR="5080" lvl="0" indent="-342900" algn="l" rtl="0">
              <a:lnSpc>
                <a:spcPct val="1229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Простота интерфейсов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Портативность компонентов</a:t>
            </a:r>
            <a:endParaRPr/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Легкость внесения изменений</a:t>
            </a:r>
            <a:endParaRPr/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Способность эволюционировать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pic>
        <p:nvPicPr>
          <p:cNvPr id="273" name="Google Shape;27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478" y="1114647"/>
            <a:ext cx="7241044" cy="29142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ED2DBD-97D9-6A4D-A914-4CAA96C4618A}"/>
              </a:ext>
            </a:extLst>
          </p:cNvPr>
          <p:cNvSpPr txBox="1"/>
          <p:nvPr/>
        </p:nvSpPr>
        <p:spPr>
          <a:xfrm>
            <a:off x="3424136" y="2516221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xml</a:t>
            </a:r>
          </a:p>
          <a:p>
            <a:pPr algn="ctr"/>
            <a:r>
              <a:rPr lang="en-US" dirty="0"/>
              <a:t>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Ресурс</a:t>
            </a:r>
            <a:endParaRPr/>
          </a:p>
        </p:txBody>
      </p:sp>
      <p:sp>
        <p:nvSpPr>
          <p:cNvPr id="279" name="Google Shape;279;p43"/>
          <p:cNvSpPr txBox="1"/>
          <p:nvPr/>
        </p:nvSpPr>
        <p:spPr>
          <a:xfrm>
            <a:off x="500550" y="1426624"/>
            <a:ext cx="8520600" cy="20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Всё сущее является ресурсом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Каждый ресурс должен иметь уникальный URL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4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1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/api/posts/12345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4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1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/api/posts/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коллекция ресурсов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Семантика HTTP методов</a:t>
            </a:r>
            <a:endParaRPr/>
          </a:p>
        </p:txBody>
      </p:sp>
      <p:sp>
        <p:nvSpPr>
          <p:cNvPr id="285" name="Google Shape;285;p44"/>
          <p:cNvSpPr txBox="1"/>
          <p:nvPr/>
        </p:nvSpPr>
        <p:spPr>
          <a:xfrm>
            <a:off x="500550" y="1426624"/>
            <a:ext cx="6858000" cy="246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получить состояние ресурса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создать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689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обновить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DELETE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удалить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Семантика HTTP методов</a:t>
            </a:r>
            <a:endParaRPr/>
          </a:p>
        </p:txBody>
      </p:sp>
      <p:pic>
        <p:nvPicPr>
          <p:cNvPr id="291" name="Google Shape;29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951" y="1127760"/>
            <a:ext cx="7292098" cy="328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Фреймворки</a:t>
            </a:r>
            <a:endParaRPr/>
          </a:p>
        </p:txBody>
      </p:sp>
      <p:sp>
        <p:nvSpPr>
          <p:cNvPr id="331" name="Google Shape;331;p51"/>
          <p:cNvSpPr txBox="1"/>
          <p:nvPr/>
        </p:nvSpPr>
        <p:spPr>
          <a:xfrm>
            <a:off x="500550" y="1121824"/>
            <a:ext cx="5082540" cy="157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Flask (</a:t>
            </a:r>
            <a:r>
              <a:rPr lang="ru-RU" sz="2400" b="0" i="0" u="sng" strike="noStrike" cap="none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flask.palletsprojects.com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FastAPI (</a:t>
            </a:r>
            <a:r>
              <a:rPr lang="ru-RU" sz="2400" b="0" i="0" u="sng" strike="noStrike" cap="none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fastapi.tiangolo.com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Django (</a:t>
            </a:r>
            <a:r>
              <a:rPr lang="ru-RU" sz="2400" b="0" i="0" u="sng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www.djangoproject.com</a:t>
            </a:r>
            <a:r>
              <a:rPr lang="ru-RU" sz="24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Клиенты</a:t>
            </a:r>
            <a:endParaRPr/>
          </a:p>
        </p:txBody>
      </p:sp>
      <p:sp>
        <p:nvSpPr>
          <p:cNvPr id="337" name="Google Shape;337;p52"/>
          <p:cNvSpPr txBox="1"/>
          <p:nvPr/>
        </p:nvSpPr>
        <p:spPr>
          <a:xfrm>
            <a:off x="500550" y="1121824"/>
            <a:ext cx="5082540" cy="212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cURL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curl.se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Insomnia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insomnia.rest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Postman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www.postman.com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lang="en-US"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Bruno (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  <a:hlinkClick r:id="rId6"/>
              </a:rPr>
              <a:t>www.bruno.com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 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343" name="Google Shape;34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3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3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32979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FAST API</a:t>
            </a:r>
            <a:endParaRPr lang="en-US" sz="4900" dirty="0"/>
          </a:p>
        </p:txBody>
      </p:sp>
    </p:spTree>
    <p:extLst>
      <p:ext uri="{BB962C8B-B14F-4D97-AF65-F5344CB8AC3E}">
        <p14:creationId xmlns:p14="http://schemas.microsoft.com/office/powerpoint/2010/main" val="1512078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 err="1">
                <a:latin typeface="Arial"/>
                <a:ea typeface="Arial"/>
                <a:cs typeface="Arial"/>
                <a:sym typeface="Arial"/>
              </a:rPr>
              <a:t>Fas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tAPI</a:t>
            </a:r>
            <a:endParaRPr dirty="0"/>
          </a:p>
        </p:txBody>
      </p:sp>
      <p:sp>
        <p:nvSpPr>
          <p:cNvPr id="358" name="Google Shape;358;p55"/>
          <p:cNvSpPr txBox="1"/>
          <p:nvPr/>
        </p:nvSpPr>
        <p:spPr>
          <a:xfrm>
            <a:off x="500550" y="1666573"/>
            <a:ext cx="605790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Микрофреймворк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Модульный дизайн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Зависимости: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5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Jinja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— </a:t>
            </a: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шаблонизатор</a:t>
            </a:r>
            <a:endParaRPr lang="ru-RU"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5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n-US" sz="2400" dirty="0" err="1">
                <a:latin typeface="Helvetica Neue"/>
                <a:ea typeface="Helvetica Neue"/>
                <a:cs typeface="Helvetica Neue"/>
                <a:sym typeface="Helvetica Neue"/>
              </a:rPr>
              <a:t>ydantic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lang="en-US" sz="2400" dirty="0" err="1">
                <a:latin typeface="Helvetica Neue"/>
                <a:ea typeface="Helvetica Neue"/>
                <a:cs typeface="Helvetica Neue"/>
                <a:sym typeface="Helvetica Neue"/>
              </a:rPr>
              <a:t>в</a:t>
            </a:r>
            <a:r>
              <a:rPr lang="ru-RU" sz="2400" dirty="0" err="1">
                <a:latin typeface="Helvetica Neue"/>
                <a:ea typeface="Helvetica Neue"/>
                <a:cs typeface="Helvetica Neue"/>
                <a:sym typeface="Helvetica Neue"/>
              </a:rPr>
              <a:t>алидатор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Пример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объект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web </a:t>
            </a: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92FBAF-68EE-D548-B1C6-DDC3A7DB442E}"/>
              </a:ext>
            </a:extLst>
          </p:cNvPr>
          <p:cNvSpPr txBox="1"/>
          <p:nvPr/>
        </p:nvSpPr>
        <p:spPr>
          <a:xfrm>
            <a:off x="654996" y="1322962"/>
            <a:ext cx="770114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FastAPI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tabLst>
                <a:tab pos="349250" algn="l"/>
              </a:tabLst>
            </a:pPr>
            <a:r>
              <a:rPr lang="en-US" dirty="0">
                <a:solidFill>
                  <a:srgbClr val="9CDCFE"/>
                </a:solidFill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ru-R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Моя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ML-</a:t>
            </a:r>
            <a:r>
              <a:rPr lang="ru-R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модель"</a:t>
            </a:r>
            <a:r>
              <a:rPr lang="ru-R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description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"API </a:t>
            </a:r>
            <a:r>
              <a:rPr lang="ru-R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для </a:t>
            </a:r>
            <a:r>
              <a:rPr lang="ru-R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инференса</a:t>
            </a:r>
            <a:r>
              <a:rPr lang="ru-R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модели машинного обучения"</a:t>
            </a:r>
            <a:r>
              <a:rPr lang="ru-R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version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"1.0.0"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docs_url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"/docs"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			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Swagger UI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redoc_url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redoc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			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ReDoc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UI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openapi_url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openapi.json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		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Схема </a:t>
            </a:r>
            <a:r>
              <a:rPr lang="en-US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OpenAPI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default_response_class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ORJSONResponse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	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Быстрая </a:t>
            </a:r>
            <a:r>
              <a:rPr lang="ru-RU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сериализация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JSON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dependencies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Depends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get_current_user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)], 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Глобальные зависимости</a:t>
            </a:r>
            <a:endParaRPr lang="ru-R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root_path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api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/v1"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			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если 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API 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за 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reverse proxy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swagger_ui_parameters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		"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syntaxHighlight.theme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"obsidian"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		"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displayRequestDuration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		"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defaultModelsExpandDepth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Регистрация функций</a:t>
            </a:r>
            <a:endParaRPr/>
          </a:p>
        </p:txBody>
      </p:sp>
      <p:sp>
        <p:nvSpPr>
          <p:cNvPr id="371" name="Google Shape;371;p57"/>
          <p:cNvSpPr txBox="1"/>
          <p:nvPr/>
        </p:nvSpPr>
        <p:spPr>
          <a:xfrm>
            <a:off x="500550" y="1426624"/>
            <a:ext cx="4572000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Аргументы: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URL</a:t>
            </a:r>
            <a:endParaRPr/>
          </a:p>
          <a:p>
            <a:pPr marL="254000" marR="0" lvl="0" indent="-2165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Имя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Функция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Динамические маршруты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3709E-914D-0D48-A34F-16276BB66AAF}"/>
              </a:ext>
            </a:extLst>
          </p:cNvPr>
          <p:cNvSpPr txBox="1"/>
          <p:nvPr/>
        </p:nvSpPr>
        <p:spPr>
          <a:xfrm>
            <a:off x="500550" y="1640732"/>
            <a:ext cx="84229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.get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"/items/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item_id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r>
              <a:rPr lang="ru-RU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async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read_item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item_id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tabLst>
                <a:tab pos="349250" algn="l"/>
              </a:tabLst>
            </a:pPr>
            <a:r>
              <a:rPr lang="ru-R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item_id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item_id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  <a:endParaRPr lang="ru-R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endParaRPr lang="ru-RU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endParaRPr lang="ru-RU" b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ru-RU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Динамический маршрут – это передача параметров пути для их дальнейшей обработки в функции-</a:t>
            </a:r>
            <a:r>
              <a:rPr lang="ru-RU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обработкике</a:t>
            </a:r>
            <a:endParaRPr lang="en-US" b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Переадресация (redirect)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AEA226-2582-864C-A0B0-5DB68B4A7B8F}"/>
              </a:ext>
            </a:extLst>
          </p:cNvPr>
          <p:cNvSpPr txBox="1"/>
          <p:nvPr/>
        </p:nvSpPr>
        <p:spPr>
          <a:xfrm>
            <a:off x="500550" y="1115339"/>
            <a:ext cx="7625806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.get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"/start"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async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start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request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Request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user_agent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request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headers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"user-agent"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lower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if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"mobile"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user_agent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		# </a:t>
            </a:r>
            <a:r>
              <a:rPr lang="ru-RU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Редиректим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на мобильную версию</a:t>
            </a:r>
            <a:endParaRPr lang="ru-R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	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RedirectResponse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"/mobile"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else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tabLst>
                <a:tab pos="349250" algn="l"/>
              </a:tabLst>
            </a:pP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		# </a:t>
            </a:r>
            <a:r>
              <a:rPr lang="ru-RU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Редиректим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на </a:t>
            </a:r>
            <a:r>
              <a:rPr lang="ru-RU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десктопную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версию</a:t>
            </a:r>
            <a:endParaRPr lang="ru-R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2"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	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RedirectResponse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"/desktop"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.get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"/mobile"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async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mobile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JSONResponse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content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"message"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"Welcome, mobile user!"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})</a:t>
            </a:r>
          </a:p>
          <a:p>
            <a:pPr>
              <a:tabLst>
                <a:tab pos="349250" algn="l"/>
              </a:tabLst>
            </a:pPr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.get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"/desktop"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async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desktop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JSONResponse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content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"message"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"Welcome, desktop user!"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Обработка ошибок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DBDA1-0494-5D47-8E18-CA981255BD47}"/>
              </a:ext>
            </a:extLst>
          </p:cNvPr>
          <p:cNvSpPr txBox="1"/>
          <p:nvPr/>
        </p:nvSpPr>
        <p:spPr>
          <a:xfrm>
            <a:off x="500550" y="1316477"/>
            <a:ext cx="873348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  <a:tabLst>
                <a:tab pos="349250" algn="l"/>
              </a:tabLst>
            </a:pPr>
            <a:r>
              <a:rPr lang="ru-RU" sz="1600" b="1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Простой </a:t>
            </a:r>
            <a:r>
              <a:rPr lang="ru-RU" sz="1600" b="1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H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TTPException</a:t>
            </a:r>
            <a:endParaRPr lang="en-US" sz="1600" b="1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endParaRPr lang="en-US" b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.get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"/items/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item_id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read_item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item_id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if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item_id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	raise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HTTPException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status_code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400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detail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"Item ID must be positive"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item_id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item_id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Обработка ошибок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93284-A85C-DD41-9E2A-3D036C3D3489}"/>
              </a:ext>
            </a:extLst>
          </p:cNvPr>
          <p:cNvSpPr txBox="1"/>
          <p:nvPr/>
        </p:nvSpPr>
        <p:spPr>
          <a:xfrm>
            <a:off x="500550" y="1273346"/>
            <a:ext cx="834715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2. </a:t>
            </a:r>
            <a:r>
              <a:rPr lang="en-US" sz="1600" b="1" dirty="0" err="1"/>
              <a:t>Г</a:t>
            </a:r>
            <a:r>
              <a:rPr lang="ru-RU" sz="1600" b="1" dirty="0" err="1"/>
              <a:t>лобальный</a:t>
            </a:r>
            <a:r>
              <a:rPr lang="ru-RU" sz="1600" b="1" dirty="0"/>
              <a:t> @</a:t>
            </a:r>
            <a:r>
              <a:rPr lang="en-US" sz="1600" b="1" dirty="0" err="1"/>
              <a:t>app.exception_handler</a:t>
            </a:r>
            <a:endParaRPr lang="en-US" sz="1600" b="1" dirty="0"/>
          </a:p>
          <a:p>
            <a:endParaRPr lang="en-US" b="0" dirty="0">
              <a:solidFill>
                <a:srgbClr val="569CD6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MyCustomError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Exception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	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name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  <a:tab pos="704850" algn="l"/>
              </a:tabLst>
            </a:pPr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.exception_handler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MyCustomError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async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my_custom_exception_handler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request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Request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exc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MyCustomError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JSONResponse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status_code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418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content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"message"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"Oops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!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exc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did something wrong..."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},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)</a:t>
            </a:r>
          </a:p>
          <a:p>
            <a:pPr>
              <a:tabLst>
                <a:tab pos="349250" algn="l"/>
                <a:tab pos="704850" algn="l"/>
              </a:tabLst>
            </a:pPr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.get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"/fail"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fail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raise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MyCustomError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"FastAPI"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7550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343" name="Google Shape;34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3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3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912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b="1">
                <a:latin typeface="Roboto"/>
                <a:ea typeface="Roboto"/>
                <a:cs typeface="Roboto"/>
                <a:sym typeface="Roboto"/>
              </a:rPr>
              <a:t>Model-as-a-Service</a:t>
            </a:r>
            <a:endParaRPr sz="4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Pydantic</a:t>
            </a:r>
            <a:endParaRPr sz="4900" dirty="0"/>
          </a:p>
        </p:txBody>
      </p:sp>
    </p:spTree>
    <p:extLst>
      <p:ext uri="{BB962C8B-B14F-4D97-AF65-F5344CB8AC3E}">
        <p14:creationId xmlns:p14="http://schemas.microsoft.com/office/powerpoint/2010/main" val="2107361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запроса – какие они бывают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9A157-92D0-B745-A3D0-84937C3F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3600986"/>
          </a:xfrm>
        </p:spPr>
        <p:txBody>
          <a:bodyPr>
            <a:normAutofit fontScale="92500" lnSpcReduction="10000"/>
          </a:bodyPr>
          <a:lstStyle/>
          <a:p>
            <a:pPr marL="120650" indent="0">
              <a:buNone/>
            </a:pPr>
            <a:r>
              <a:rPr lang="ru-RU" dirty="0"/>
              <a:t>Параметры пути</a:t>
            </a: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http://localhost:8080/items/1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  <a:p>
            <a:pPr marL="120650" indent="0">
              <a:buNone/>
            </a:pPr>
            <a:r>
              <a:rPr lang="ru-RU" dirty="0"/>
              <a:t>Параметры запроса</a:t>
            </a:r>
            <a:endParaRPr lang="en-US" dirty="0"/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test?text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=moo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  <a:p>
            <a:endParaRPr lang="ru-RU" dirty="0"/>
          </a:p>
          <a:p>
            <a:pPr marL="120650" indent="0">
              <a:buNone/>
            </a:pPr>
            <a:r>
              <a:rPr lang="ru-RU" dirty="0"/>
              <a:t>Параметры тела запроса</a:t>
            </a:r>
            <a:endParaRPr lang="en-US" dirty="0"/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”msg”: ”test text”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”: 10</a:t>
            </a: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B077D2-08F7-6E42-A55B-3BE2815BBEDD}"/>
              </a:ext>
            </a:extLst>
          </p:cNvPr>
          <p:cNvSpPr/>
          <p:nvPr/>
        </p:nvSpPr>
        <p:spPr>
          <a:xfrm>
            <a:off x="3955915" y="1664238"/>
            <a:ext cx="324254" cy="35019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9DA409-923E-0C4E-9063-DB2FF07C93E4}"/>
              </a:ext>
            </a:extLst>
          </p:cNvPr>
          <p:cNvSpPr/>
          <p:nvPr/>
        </p:nvSpPr>
        <p:spPr>
          <a:xfrm>
            <a:off x="3759740" y="2470826"/>
            <a:ext cx="1227307" cy="35019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0E4552-F95E-A446-AE5E-1CEB3CACE6E4}"/>
              </a:ext>
            </a:extLst>
          </p:cNvPr>
          <p:cNvSpPr/>
          <p:nvPr/>
        </p:nvSpPr>
        <p:spPr>
          <a:xfrm>
            <a:off x="474721" y="3867150"/>
            <a:ext cx="2709465" cy="1155710"/>
          </a:xfrm>
          <a:prstGeom prst="roundRect">
            <a:avLst>
              <a:gd name="adj" fmla="val 1105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22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запроса – </a:t>
            </a:r>
            <a:r>
              <a:rPr lang="en-US" dirty="0" err="1"/>
              <a:t>в</a:t>
            </a:r>
            <a:r>
              <a:rPr lang="ru-RU" dirty="0" err="1"/>
              <a:t>алидация</a:t>
            </a:r>
            <a:r>
              <a:rPr lang="ru-RU" dirty="0"/>
              <a:t> типа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AADE4-7648-7043-ADA9-EF671ECA819A}"/>
              </a:ext>
            </a:extLst>
          </p:cNvPr>
          <p:cNvSpPr txBox="1"/>
          <p:nvPr/>
        </p:nvSpPr>
        <p:spPr>
          <a:xfrm>
            <a:off x="680936" y="1348902"/>
            <a:ext cx="652133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fastapi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Path</a:t>
            </a:r>
            <a:endParaRPr lang="en-US" b="0" dirty="0">
              <a:solidFill>
                <a:srgbClr val="C586C0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typing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Annotated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endParaRPr lang="ru-RU" dirty="0"/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.get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"/square"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square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(...,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description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ru-R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Целое число"</a:t>
            </a:r>
            <a:r>
              <a:rPr lang="ru-R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)):</a:t>
            </a:r>
          </a:p>
          <a:p>
            <a:pPr>
              <a:tabLst>
                <a:tab pos="349250" algn="l"/>
              </a:tabLst>
            </a:pPr>
            <a:r>
              <a:rPr lang="ru-R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"x"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x_squared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x: Annotated[int, Query(...)] </a:t>
            </a:r>
            <a:r>
              <a:rPr lang="ru-RU" dirty="0"/>
              <a:t>говорит </a:t>
            </a:r>
            <a:r>
              <a:rPr lang="en-US" dirty="0"/>
              <a:t>FastAPI:</a:t>
            </a:r>
          </a:p>
          <a:p>
            <a:pPr marL="492125" indent="-317500">
              <a:buFont typeface="Arial" panose="020B0604020202020204" pitchFamily="34" charset="0"/>
              <a:buChar char="•"/>
            </a:pPr>
            <a:r>
              <a:rPr lang="ru-RU" dirty="0" err="1"/>
              <a:t>Q</a:t>
            </a:r>
            <a:r>
              <a:rPr lang="en-US" dirty="0" err="1"/>
              <a:t>uery</a:t>
            </a:r>
            <a:r>
              <a:rPr lang="en-US" dirty="0"/>
              <a:t> – </a:t>
            </a:r>
            <a:r>
              <a:rPr lang="ru-RU" dirty="0"/>
              <a:t>проверяем параметры запроса</a:t>
            </a:r>
          </a:p>
          <a:p>
            <a:pPr marL="492125" indent="-317500">
              <a:buFont typeface="Arial" panose="020B0604020202020204" pitchFamily="34" charset="0"/>
              <a:buChar char="•"/>
            </a:pPr>
            <a:r>
              <a:rPr lang="ru-RU" dirty="0"/>
              <a:t>Ожидать тип </a:t>
            </a:r>
            <a:r>
              <a:rPr lang="en-US" dirty="0"/>
              <a:t>int</a:t>
            </a:r>
            <a:endParaRPr lang="ru-RU" dirty="0"/>
          </a:p>
          <a:p>
            <a:pPr marL="492125" indent="-317500">
              <a:buFont typeface="Arial" panose="020B0604020202020204" pitchFamily="34" charset="0"/>
              <a:buChar char="•"/>
            </a:pPr>
            <a:r>
              <a:rPr lang="ru-RU" dirty="0" err="1"/>
              <a:t>Q</a:t>
            </a:r>
            <a:r>
              <a:rPr lang="en-US" dirty="0" err="1"/>
              <a:t>uery</a:t>
            </a:r>
            <a:r>
              <a:rPr lang="en-US" dirty="0"/>
              <a:t>(… - </a:t>
            </a:r>
            <a:r>
              <a:rPr lang="ru-RU" dirty="0"/>
              <a:t>параметр обязательный</a:t>
            </a:r>
            <a:endParaRPr lang="en-US" dirty="0"/>
          </a:p>
          <a:p>
            <a:pPr marL="492125" indent="-317500">
              <a:buFont typeface="Arial" panose="020B0604020202020204" pitchFamily="34" charset="0"/>
              <a:buChar char="•"/>
            </a:pPr>
            <a:r>
              <a:rPr lang="ru-RU" dirty="0"/>
              <a:t>Использовать метаданные для </a:t>
            </a:r>
            <a:r>
              <a:rPr lang="en-US" dirty="0"/>
              <a:t>Swagger (description)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855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запроса – </a:t>
            </a:r>
            <a:r>
              <a:rPr lang="en-US" dirty="0" err="1"/>
              <a:t>в</a:t>
            </a:r>
            <a:r>
              <a:rPr lang="ru-RU" dirty="0" err="1"/>
              <a:t>алидация</a:t>
            </a:r>
            <a:r>
              <a:rPr lang="ru-RU" dirty="0"/>
              <a:t> значения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00E9A-8EF0-BF43-ADC4-003BB999B2AF}"/>
              </a:ext>
            </a:extLst>
          </p:cNvPr>
          <p:cNvSpPr txBox="1"/>
          <p:nvPr/>
        </p:nvSpPr>
        <p:spPr>
          <a:xfrm>
            <a:off x="500550" y="1433010"/>
            <a:ext cx="748794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fastapi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Path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typing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Annotated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endParaRPr lang="en-US" b="0" dirty="0">
              <a:solidFill>
                <a:srgbClr val="DCDCAA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.get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items_validated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request_id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async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read_item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request_id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Annotated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ge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)]):</a:t>
            </a:r>
          </a:p>
          <a:p>
            <a:pPr>
              <a:tabLst>
                <a:tab pos="349250" algn="l"/>
              </a:tabLst>
            </a:pPr>
            <a:r>
              <a:rPr lang="ru-R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request_id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request_id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tabLst>
                <a:tab pos="349250" algn="l"/>
              </a:tabLst>
            </a:pPr>
            <a:endParaRPr lang="ru-RU" dirty="0"/>
          </a:p>
          <a:p>
            <a:r>
              <a:rPr lang="en-US" dirty="0" err="1"/>
              <a:t>request_id</a:t>
            </a:r>
            <a:r>
              <a:rPr lang="en-US" dirty="0"/>
              <a:t>: Annotated[int, </a:t>
            </a:r>
            <a:r>
              <a:rPr lang="ru-RU" dirty="0" err="1"/>
              <a:t>P</a:t>
            </a:r>
            <a:r>
              <a:rPr lang="en-US" dirty="0" err="1"/>
              <a:t>ath</a:t>
            </a:r>
            <a:r>
              <a:rPr lang="en-US" dirty="0"/>
              <a:t>(...)] </a:t>
            </a:r>
            <a:r>
              <a:rPr lang="ru-RU" dirty="0"/>
              <a:t>говорит </a:t>
            </a:r>
            <a:r>
              <a:rPr lang="en-US" dirty="0"/>
              <a:t>FastAPI:</a:t>
            </a:r>
          </a:p>
          <a:p>
            <a:pPr marL="492125" indent="-317500">
              <a:buFont typeface="Arial" panose="020B0604020202020204" pitchFamily="34" charset="0"/>
              <a:buChar char="•"/>
            </a:pPr>
            <a:r>
              <a:rPr lang="en-US" dirty="0"/>
              <a:t>Path – </a:t>
            </a:r>
            <a:r>
              <a:rPr lang="ru-RU" dirty="0"/>
              <a:t>проверяем параметры </a:t>
            </a:r>
            <a:r>
              <a:rPr lang="en-US" dirty="0" err="1"/>
              <a:t>п</a:t>
            </a:r>
            <a:r>
              <a:rPr lang="ru-RU" dirty="0" err="1"/>
              <a:t>ути</a:t>
            </a:r>
            <a:endParaRPr lang="ru-RU" dirty="0"/>
          </a:p>
          <a:p>
            <a:pPr marL="492125" indent="-317500">
              <a:buFont typeface="Arial" panose="020B0604020202020204" pitchFamily="34" charset="0"/>
              <a:buChar char="•"/>
            </a:pPr>
            <a:r>
              <a:rPr lang="ru-RU" dirty="0"/>
              <a:t>Ожидать тип </a:t>
            </a:r>
            <a:r>
              <a:rPr lang="en-US" dirty="0"/>
              <a:t>int</a:t>
            </a:r>
            <a:endParaRPr lang="ru-RU" dirty="0"/>
          </a:p>
          <a:p>
            <a:pPr marL="492125" indent="-317500">
              <a:buFont typeface="Arial" panose="020B0604020202020204" pitchFamily="34" charset="0"/>
              <a:buChar char="•"/>
            </a:pPr>
            <a:r>
              <a:rPr lang="en-US" dirty="0"/>
              <a:t>Path(int – </a:t>
            </a:r>
            <a:r>
              <a:rPr lang="en-US" dirty="0" err="1"/>
              <a:t>н</a:t>
            </a:r>
            <a:r>
              <a:rPr lang="ru-RU" dirty="0" err="1"/>
              <a:t>ет</a:t>
            </a:r>
            <a:r>
              <a:rPr lang="ru-RU" dirty="0"/>
              <a:t> значения по умолчанию, параметр обязательный</a:t>
            </a:r>
            <a:endParaRPr lang="en-US" dirty="0"/>
          </a:p>
          <a:p>
            <a:pPr marL="492125" indent="-317500">
              <a:buFont typeface="Arial" panose="020B0604020202020204" pitchFamily="34" charset="0"/>
              <a:buChar char="•"/>
            </a:pPr>
            <a:r>
              <a:rPr lang="en-US" dirty="0" err="1"/>
              <a:t>ge</a:t>
            </a:r>
            <a:r>
              <a:rPr lang="en-US" dirty="0"/>
              <a:t> - ”great then”, </a:t>
            </a:r>
            <a:r>
              <a:rPr lang="en-US" dirty="0" err="1"/>
              <a:t>lt</a:t>
            </a:r>
            <a:r>
              <a:rPr lang="en-US" dirty="0"/>
              <a:t> – “less then” – </a:t>
            </a:r>
            <a:r>
              <a:rPr lang="en-US" dirty="0" err="1"/>
              <a:t>к</a:t>
            </a:r>
            <a:r>
              <a:rPr lang="ru-RU" dirty="0" err="1"/>
              <a:t>онтроль</a:t>
            </a:r>
            <a:r>
              <a:rPr lang="ru-RU" dirty="0"/>
              <a:t> значений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886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запроса – </a:t>
            </a:r>
            <a:r>
              <a:rPr lang="en-US" dirty="0" err="1"/>
              <a:t>в</a:t>
            </a:r>
            <a:r>
              <a:rPr lang="ru-RU" dirty="0" err="1"/>
              <a:t>алидация</a:t>
            </a:r>
            <a:r>
              <a:rPr lang="ru-RU" dirty="0"/>
              <a:t> сложной структуры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69693-5ED0-264D-A7FF-16F7CB68037A}"/>
              </a:ext>
            </a:extLst>
          </p:cNvPr>
          <p:cNvSpPr txBox="1"/>
          <p:nvPr/>
        </p:nvSpPr>
        <p:spPr>
          <a:xfrm>
            <a:off x="500549" y="1543455"/>
            <a:ext cx="725563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pydantic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BaseModel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  <a:tab pos="704850" algn="l"/>
              </a:tabLst>
            </a:pPr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Item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BaseModel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tabLst>
                <a:tab pos="349250" algn="l"/>
              </a:tabLst>
            </a:pPr>
            <a:r>
              <a:rPr lang="ru-R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		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Обязательный параметр</a:t>
            </a:r>
            <a:endParaRPr lang="ru-R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</a:tabLst>
            </a:pPr>
            <a:r>
              <a:rPr lang="ru-R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description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Не обязательный параметр</a:t>
            </a:r>
            <a:endParaRPr lang="ru-R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  <a:tab pos="704850" algn="l"/>
              </a:tabLst>
            </a:pPr>
            <a:r>
              <a:rPr lang="ru-R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price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float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  <a:tab pos="704850" algn="l"/>
              </a:tabLst>
            </a:pPr>
            <a:r>
              <a:rPr lang="ru-R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tax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tabLst>
                <a:tab pos="349250" algn="l"/>
                <a:tab pos="704850" algn="l"/>
              </a:tabLst>
            </a:pPr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app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.post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"/items/"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async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create_item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ru-R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item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Item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ru-R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tabLst>
                <a:tab pos="349250" algn="l"/>
                <a:tab pos="704850" algn="l"/>
              </a:tabLst>
            </a:pPr>
            <a:r>
              <a:rPr lang="ru-R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"item"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item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6012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Работа с приложением</a:t>
            </a:r>
            <a:endParaRPr/>
          </a:p>
        </p:txBody>
      </p:sp>
      <p:pic>
        <p:nvPicPr>
          <p:cNvPr id="466" name="Google Shape;466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224" y="899013"/>
            <a:ext cx="7707552" cy="4005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/>
              <a:t>Авторизация доступа</a:t>
            </a:r>
            <a:endParaRPr sz="4900" dirty="0"/>
          </a:p>
        </p:txBody>
      </p:sp>
    </p:spTree>
    <p:extLst>
      <p:ext uri="{BB962C8B-B14F-4D97-AF65-F5344CB8AC3E}">
        <p14:creationId xmlns:p14="http://schemas.microsoft.com/office/powerpoint/2010/main" val="2948524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O</a:t>
            </a:r>
            <a:r>
              <a:rPr lang="en-US" dirty="0"/>
              <a:t>Auth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88B68-669F-A54C-A5B7-267CC23A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923"/>
            <a:ext cx="4874774" cy="32498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CF7CC3-047C-B44A-BF23-196A8ECB3A22}"/>
              </a:ext>
            </a:extLst>
          </p:cNvPr>
          <p:cNvSpPr txBox="1"/>
          <p:nvPr/>
        </p:nvSpPr>
        <p:spPr>
          <a:xfrm>
            <a:off x="4572000" y="425624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1. Authorization Request</a:t>
            </a:r>
            <a:endParaRPr lang="en-US" sz="1200" dirty="0"/>
          </a:p>
          <a:p>
            <a:r>
              <a:rPr lang="ru-RU" sz="1200" dirty="0"/>
              <a:t>Клиент перенаправляет пользователя на сервер авторизации с запросом:</a:t>
            </a:r>
          </a:p>
          <a:p>
            <a:r>
              <a:rPr lang="ru-RU" sz="1200" dirty="0"/>
              <a:t>→ </a:t>
            </a:r>
            <a:r>
              <a:rPr lang="ru-RU" sz="1200" i="1" dirty="0"/>
              <a:t>“Разрешите мне доступ от имени пользователя?”</a:t>
            </a:r>
            <a:endParaRPr lang="ru-RU" sz="1200" dirty="0"/>
          </a:p>
          <a:p>
            <a:br>
              <a:rPr lang="ru-RU" sz="1200" dirty="0"/>
            </a:br>
            <a:r>
              <a:rPr lang="ru-RU" sz="1200" b="1" dirty="0"/>
              <a:t>2. </a:t>
            </a:r>
            <a:r>
              <a:rPr lang="en-US" sz="1200" b="1" dirty="0"/>
              <a:t>User </a:t>
            </a:r>
            <a:r>
              <a:rPr lang="ru-RU" sz="1200" b="1" dirty="0"/>
              <a:t>авторизуется</a:t>
            </a:r>
          </a:p>
          <a:p>
            <a:r>
              <a:rPr lang="ru-RU" sz="1200" dirty="0"/>
              <a:t>Пользователь входит в свою учётную запись (если нужно) и соглашается предоставить доступ.</a:t>
            </a:r>
          </a:p>
          <a:p>
            <a:br>
              <a:rPr lang="ru-RU" sz="1200" dirty="0"/>
            </a:br>
            <a:r>
              <a:rPr lang="ru-RU" sz="1200" b="1" dirty="0"/>
              <a:t>3. </a:t>
            </a:r>
            <a:r>
              <a:rPr lang="en-US" sz="1200" b="1" dirty="0"/>
              <a:t>Authorization Code → Client</a:t>
            </a:r>
          </a:p>
          <a:p>
            <a:r>
              <a:rPr lang="ru-RU" sz="1200" dirty="0"/>
              <a:t>После согласия пользователь </a:t>
            </a:r>
            <a:r>
              <a:rPr lang="ru-RU" sz="1200" b="1" dirty="0"/>
              <a:t>возвращается</a:t>
            </a:r>
            <a:r>
              <a:rPr lang="ru-RU" sz="1200" dirty="0"/>
              <a:t> в клиентское приложение через </a:t>
            </a:r>
            <a:r>
              <a:rPr lang="en-US" sz="1200" dirty="0" err="1"/>
              <a:t>redirect_uri</a:t>
            </a:r>
            <a:r>
              <a:rPr lang="en-US" sz="1200" dirty="0"/>
              <a:t> </a:t>
            </a:r>
            <a:r>
              <a:rPr lang="ru-RU" sz="1200" dirty="0"/>
              <a:t>с </a:t>
            </a:r>
            <a:r>
              <a:rPr lang="en-US" sz="1200" b="1" dirty="0"/>
              <a:t>authorization code</a:t>
            </a:r>
            <a:r>
              <a:rPr lang="en-US" sz="1200" dirty="0"/>
              <a:t>.</a:t>
            </a:r>
          </a:p>
          <a:p>
            <a:r>
              <a:rPr lang="ru-RU" sz="1200" dirty="0"/>
              <a:t>Этот код — временный и короткоживущий (например, 5 минут). </a:t>
            </a:r>
            <a:br>
              <a:rPr lang="ru-RU" sz="1200" dirty="0"/>
            </a:br>
            <a:endParaRPr lang="ru-RU" sz="1200" dirty="0"/>
          </a:p>
          <a:p>
            <a:r>
              <a:rPr lang="ru-RU" sz="1200" b="1" dirty="0"/>
              <a:t>4. </a:t>
            </a:r>
            <a:r>
              <a:rPr lang="en-US" sz="1200" b="1" dirty="0"/>
              <a:t>Client → Access Token Request</a:t>
            </a:r>
          </a:p>
          <a:p>
            <a:r>
              <a:rPr lang="ru-RU" sz="1200" dirty="0"/>
              <a:t>Клиент (сервер) отправляет полученный код на </a:t>
            </a:r>
            <a:r>
              <a:rPr lang="en-US" sz="1200" b="1" dirty="0"/>
              <a:t>Authorization Server</a:t>
            </a:r>
            <a:r>
              <a:rPr lang="en-US" sz="1200" dirty="0"/>
              <a:t> + </a:t>
            </a:r>
            <a:r>
              <a:rPr lang="ru-RU" sz="1200" dirty="0"/>
              <a:t>свой </a:t>
            </a:r>
            <a:r>
              <a:rPr lang="en-US" sz="1200" dirty="0" err="1"/>
              <a:t>client_secret</a:t>
            </a:r>
            <a:r>
              <a:rPr lang="en-US" sz="1200" dirty="0"/>
              <a:t>, </a:t>
            </a:r>
            <a:r>
              <a:rPr lang="ru-RU" sz="1200" dirty="0"/>
              <a:t>чтобы обменять его на </a:t>
            </a:r>
            <a:r>
              <a:rPr lang="en-US" sz="1200" b="1" dirty="0"/>
              <a:t>access token</a:t>
            </a:r>
            <a:r>
              <a:rPr lang="en-US" sz="1200" dirty="0"/>
              <a:t>.</a:t>
            </a:r>
          </a:p>
          <a:p>
            <a:br>
              <a:rPr lang="en-US" sz="1200" dirty="0"/>
            </a:br>
            <a:r>
              <a:rPr lang="en-US" sz="1200" b="1" dirty="0"/>
              <a:t>5. Access Token ← Authorization Server</a:t>
            </a:r>
          </a:p>
          <a:p>
            <a:r>
              <a:rPr lang="ru-RU" sz="1200" dirty="0"/>
              <a:t>Сервер авторизации возвращает </a:t>
            </a:r>
            <a:r>
              <a:rPr lang="en-US" sz="1200" b="1" dirty="0"/>
              <a:t>access token</a:t>
            </a:r>
            <a:r>
              <a:rPr lang="en-US" sz="1200" dirty="0"/>
              <a:t> — </a:t>
            </a:r>
            <a:r>
              <a:rPr lang="ru-RU" sz="1200" dirty="0"/>
              <a:t>теперь клиент может использовать его для доступа к защищённым ресурсам от имени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27539833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343" name="Google Shape;34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3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3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623223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8950" indent="-342900">
              <a:buSzPts val="1300"/>
              <a:buFont typeface="+mj-lt"/>
              <a:buAutoNum type="arabicPeriod"/>
            </a:pPr>
            <a:r>
              <a:rPr lang="en-US" b="1" dirty="0"/>
              <a:t>Flask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Учебник по </a:t>
            </a:r>
            <a:r>
              <a:rPr lang="en-US" sz="1400" dirty="0"/>
              <a:t>Flask: </a:t>
            </a:r>
            <a:r>
              <a:rPr lang="en-US" sz="1400" dirty="0">
                <a:hlinkClick r:id="rId3"/>
              </a:rPr>
              <a:t>https://habr.com/ru/articles/346306/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800" b="1" dirty="0" err="1"/>
              <a:t>FastAPI</a:t>
            </a:r>
            <a:endParaRPr lang="ru-RU" sz="1800" b="1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Простой </a:t>
            </a:r>
            <a:r>
              <a:rPr lang="en-US" sz="1400" dirty="0"/>
              <a:t>ML </a:t>
            </a:r>
            <a:r>
              <a:rPr lang="ru-RU" sz="1400" dirty="0"/>
              <a:t>веб-сервис на </a:t>
            </a:r>
            <a:r>
              <a:rPr lang="en-US" sz="1400" dirty="0" err="1"/>
              <a:t>FastAPI</a:t>
            </a:r>
            <a:r>
              <a:rPr lang="ru-RU" sz="1400" dirty="0"/>
              <a:t>: </a:t>
            </a:r>
            <a:r>
              <a:rPr lang="en-US" sz="1400" dirty="0">
                <a:hlinkClick r:id="rId4"/>
              </a:rPr>
              <a:t>https://habr.com/ru/articles/729380/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Знакомство с </a:t>
            </a:r>
            <a:r>
              <a:rPr lang="en-US" sz="1400" dirty="0" err="1"/>
              <a:t>FastAPI</a:t>
            </a:r>
            <a:r>
              <a:rPr lang="en-US" sz="1400" dirty="0"/>
              <a:t> </a:t>
            </a:r>
            <a:r>
              <a:rPr lang="en-US" sz="1400" dirty="0">
                <a:hlinkClick r:id="rId5"/>
              </a:rPr>
              <a:t>https://habr.com/ru/articles/488468/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ru-RU" b="1" dirty="0"/>
              <a:t>Ресурсы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Swagger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7"/>
              </a:rPr>
              <a:t>WSGI </a:t>
            </a:r>
            <a:r>
              <a:rPr lang="ru-RU" sz="1400" dirty="0">
                <a:hlinkClick r:id="rId7"/>
              </a:rPr>
              <a:t>Серверы</a:t>
            </a:r>
            <a:endParaRPr lang="ru-RU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>
                <a:hlinkClick r:id="rId8"/>
              </a:rPr>
              <a:t>Запуск через </a:t>
            </a:r>
            <a:r>
              <a:rPr lang="en-US" sz="1400" dirty="0">
                <a:hlinkClick r:id="rId8"/>
              </a:rPr>
              <a:t>uvicorn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9"/>
              </a:rPr>
              <a:t>Postman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10"/>
              </a:rPr>
              <a:t>Insomnia</a:t>
            </a:r>
            <a:endParaRPr lang="en-US" sz="1400" dirty="0"/>
          </a:p>
          <a:p>
            <a:pPr marL="431800" indent="-285750">
              <a:buSzPts val="1300"/>
            </a:pPr>
            <a:endParaRPr lang="ru-RU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/>
              <a:t>Рефлексия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96594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215846" y="2254895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4091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</a:rPr>
              <a:t>22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.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1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0 –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Docker: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Структура, применение,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деплой</a:t>
            </a:r>
            <a:endParaRPr lang="en-US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0AAAED-BD95-9343-9792-F6E2FA7AEA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911E539-E965-6144-803E-A2C1E62B8927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ru-RU" sz="115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1645</Words>
  <Application>Microsoft Macintosh PowerPoint</Application>
  <PresentationFormat>On-screen Show (16:9)</PresentationFormat>
  <Paragraphs>308</Paragraphs>
  <Slides>44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Roboto</vt:lpstr>
      <vt:lpstr>Lucida Sans</vt:lpstr>
      <vt:lpstr>Arial</vt:lpstr>
      <vt:lpstr>Courier New</vt:lpstr>
      <vt:lpstr>Helvetica Neue</vt:lpstr>
      <vt:lpstr>SimSun</vt:lpstr>
      <vt:lpstr>Google Sans</vt:lpstr>
      <vt:lpstr>Menlo</vt:lpstr>
      <vt:lpstr>Georgia</vt:lpstr>
      <vt:lpstr>Bradley Hand</vt:lpstr>
      <vt:lpstr>Светлая тема</vt:lpstr>
      <vt:lpstr>Светлая тема</vt:lpstr>
      <vt:lpstr>ML Advanced REST API</vt:lpstr>
      <vt:lpstr>Проверить, идет ли запись</vt:lpstr>
      <vt:lpstr>ML Advanced REST API</vt:lpstr>
      <vt:lpstr>Правила вебинара</vt:lpstr>
      <vt:lpstr>Маршрут вебинара</vt:lpstr>
      <vt:lpstr>Цели вебинара</vt:lpstr>
      <vt:lpstr>Смысл</vt:lpstr>
      <vt:lpstr>REST API</vt:lpstr>
      <vt:lpstr>А зачем вообще нам это нужно?</vt:lpstr>
      <vt:lpstr>Модель как услуга (Model-as-a-Service)</vt:lpstr>
      <vt:lpstr>Модель как услуга (Model-as-a-Service)</vt:lpstr>
      <vt:lpstr>REST API</vt:lpstr>
      <vt:lpstr>Преимущества</vt:lpstr>
      <vt:lpstr>REST API</vt:lpstr>
      <vt:lpstr>Ресурс</vt:lpstr>
      <vt:lpstr>Семантика HTTP методов</vt:lpstr>
      <vt:lpstr>Семантика HTTP методов</vt:lpstr>
      <vt:lpstr>Фреймворки</vt:lpstr>
      <vt:lpstr>Клиенты</vt:lpstr>
      <vt:lpstr>Вопросы?</vt:lpstr>
      <vt:lpstr>FAST API</vt:lpstr>
      <vt:lpstr>FastAPI</vt:lpstr>
      <vt:lpstr>Пример – объект web приложения</vt:lpstr>
      <vt:lpstr>Регистрация функций</vt:lpstr>
      <vt:lpstr>Динамические маршруты</vt:lpstr>
      <vt:lpstr>Переадресация (redirect)</vt:lpstr>
      <vt:lpstr>Обработка ошибок</vt:lpstr>
      <vt:lpstr>Обработка ошибок</vt:lpstr>
      <vt:lpstr>Вопросы?</vt:lpstr>
      <vt:lpstr>Model-as-a-Service</vt:lpstr>
      <vt:lpstr>Pydantic</vt:lpstr>
      <vt:lpstr>Параметры запроса – какие они бывают</vt:lpstr>
      <vt:lpstr>Параметры запроса – валидация типа</vt:lpstr>
      <vt:lpstr>Параметры запроса – валидация значения</vt:lpstr>
      <vt:lpstr>Параметры запроса – валидация сложной структуры</vt:lpstr>
      <vt:lpstr>Работа с приложением</vt:lpstr>
      <vt:lpstr>Авторизация доступа</vt:lpstr>
      <vt:lpstr>OAuth</vt:lpstr>
      <vt:lpstr>Вопросы?</vt:lpstr>
      <vt:lpstr>Практика</vt:lpstr>
      <vt:lpstr>Список материалов для изучения</vt:lpstr>
      <vt:lpstr>Рефлексия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Production Code проекта на примере задачи классификации/регрессии, Virtual environments, dependency management, pypi/gemfur</dc:title>
  <cp:lastModifiedBy>Стурейко Игорь Олегович</cp:lastModifiedBy>
  <cp:revision>39</cp:revision>
  <dcterms:modified xsi:type="dcterms:W3CDTF">2025-09-11T07:47:30Z</dcterms:modified>
</cp:coreProperties>
</file>