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5"/>
  </p:notesMasterIdLst>
  <p:sldIdLst>
    <p:sldId id="374" r:id="rId2"/>
    <p:sldId id="359" r:id="rId3"/>
    <p:sldId id="309" r:id="rId4"/>
    <p:sldId id="370" r:id="rId5"/>
    <p:sldId id="318" r:id="rId6"/>
    <p:sldId id="313" r:id="rId7"/>
    <p:sldId id="371" r:id="rId8"/>
    <p:sldId id="372" r:id="rId9"/>
    <p:sldId id="319" r:id="rId10"/>
    <p:sldId id="260" r:id="rId11"/>
    <p:sldId id="362" r:id="rId12"/>
    <p:sldId id="361" r:id="rId13"/>
    <p:sldId id="320" r:id="rId14"/>
    <p:sldId id="376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78" r:id="rId23"/>
    <p:sldId id="272" r:id="rId2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Helvetica Neue Light" panose="02000403000000020004" pitchFamily="2" charset="0"/>
      <p:regular r:id="rId30"/>
      <p:bold r:id="rId31"/>
      <p:italic r:id="rId32"/>
      <p:boldItalic r:id="rId33"/>
    </p:embeddedFont>
    <p:embeddedFont>
      <p:font typeface="News Cycle" panose="020F0502020204030204" pitchFamily="34" charset="0"/>
      <p:regular r:id="rId34"/>
      <p:bold r:id="rId35"/>
      <p:italic r:id="rId36"/>
      <p:boldItalic r:id="rId37"/>
    </p:embeddedFont>
    <p:embeddedFont>
      <p:font typeface="Roboto" panose="020000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8"/>
    <p:restoredTop sz="94665"/>
  </p:normalViewPr>
  <p:slideViewPr>
    <p:cSldViewPr snapToGrid="0">
      <p:cViewPr varScale="1">
        <p:scale>
          <a:sx n="143" d="100"/>
          <a:sy n="143" d="100"/>
        </p:scale>
        <p:origin x="6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bfaac0dd05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bfaac0dd05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872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bfaac0dd05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bfaac0dd05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187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6050c43d5_3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gd6050c43d5_3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926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faac0dd05_6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faac0dd05_6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830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faac0dd05_6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faac0dd05_6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656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faac0dd05_6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faac0dd05_6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faac0dd05_6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faac0dd05_6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949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faac0dd05_6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faac0dd05_6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742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5618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1507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261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907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bfaac0dd05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bfaac0dd05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045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60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12" y="-19"/>
            <a:ext cx="5713277" cy="5147878"/>
          </a:xfrm>
          <a:custGeom>
            <a:avLst/>
            <a:gdLst/>
            <a:ahLst/>
            <a:cxnLst/>
            <a:rect l="l" t="t" r="r" b="b"/>
            <a:pathLst>
              <a:path w="4644941" h="4202349" extrusionOk="0">
                <a:moveTo>
                  <a:pt x="2816531" y="4202349"/>
                </a:moveTo>
                <a:lnTo>
                  <a:pt x="0" y="4202349"/>
                </a:lnTo>
                <a:lnTo>
                  <a:pt x="0" y="0"/>
                </a:lnTo>
                <a:lnTo>
                  <a:pt x="4644942" y="0"/>
                </a:lnTo>
                <a:lnTo>
                  <a:pt x="2816531" y="4202349"/>
                </a:lnTo>
                <a:close/>
              </a:path>
            </a:pathLst>
          </a:custGeom>
          <a:solidFill>
            <a:srgbClr val="18171D">
              <a:alpha val="85882"/>
            </a:srgbClr>
          </a:solidFill>
          <a:ln>
            <a:noFill/>
          </a:ln>
          <a:effectLst>
            <a:outerShdw dist="9525" algn="bl" rotWithShape="0">
              <a:schemeClr val="lt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3807571" y="1106345"/>
            <a:ext cx="1603738" cy="2930810"/>
          </a:xfrm>
          <a:custGeom>
            <a:avLst/>
            <a:gdLst/>
            <a:ahLst/>
            <a:cxnLst/>
            <a:rect l="l" t="t" r="r" b="b"/>
            <a:pathLst>
              <a:path w="1303852" h="2392498" extrusionOk="0">
                <a:moveTo>
                  <a:pt x="1040950" y="0"/>
                </a:moveTo>
                <a:lnTo>
                  <a:pt x="0" y="2392499"/>
                </a:lnTo>
                <a:lnTo>
                  <a:pt x="262902" y="2392499"/>
                </a:lnTo>
                <a:lnTo>
                  <a:pt x="1303852" y="0"/>
                </a:lnTo>
                <a:lnTo>
                  <a:pt x="10409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19050" algn="bl" rotWithShape="0">
              <a:schemeClr val="dk1">
                <a:alpha val="2980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 txBox="1">
            <a:spLocks noGrp="1"/>
          </p:cNvSpPr>
          <p:nvPr>
            <p:ph type="ctrTitle"/>
          </p:nvPr>
        </p:nvSpPr>
        <p:spPr>
          <a:xfrm>
            <a:off x="457200" y="1873800"/>
            <a:ext cx="33504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457200" y="2978101"/>
            <a:ext cx="33504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80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">
  <p:cSld name="Пустой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313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ото — горизонтально" type="title">
  <p:cSld name="Фото — горизонтально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363247" y="211546"/>
            <a:ext cx="86677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37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9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0002"/>
            </a:gs>
            <a:gs pos="100000">
              <a:srgbClr val="00373E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29803" y="278606"/>
            <a:ext cx="7836694" cy="456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>
            <a:lvl1pPr marL="457200" marR="0" lvl="0" indent="-228600" algn="l" rtl="0">
              <a:lnSpc>
                <a:spcPct val="84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  <a:defRPr sz="21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84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5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84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84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84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5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84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5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84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5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84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5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84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5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04634" y="3399234"/>
            <a:ext cx="395288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822840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735" r:id="rId2"/>
    <p:sldLayoutId id="2147483739" r:id="rId3"/>
    <p:sldLayoutId id="214748374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>
            <a:spLocks noGrp="1"/>
          </p:cNvSpPr>
          <p:nvPr>
            <p:ph type="ctrTitle"/>
          </p:nvPr>
        </p:nvSpPr>
        <p:spPr>
          <a:xfrm>
            <a:off x="-113528" y="1564350"/>
            <a:ext cx="4931664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br>
              <a:rPr lang="en-US" u="sng" dirty="0"/>
            </a:br>
            <a:r>
              <a:rPr lang="ru-RU" sz="2800" dirty="0">
                <a:solidFill>
                  <a:schemeClr val="bg1"/>
                </a:solidFill>
                <a:latin typeface="Roboto" panose="02000000000000000000" pitchFamily="2" charset="0"/>
              </a:rPr>
              <a:t>Предобработка данных и понятие векторных представлений слов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85083F-1BAB-5148-81B6-80E497556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511" y="2453489"/>
            <a:ext cx="4223489" cy="2690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Google Shape;140;p27">
            <a:extLst>
              <a:ext uri="{FF2B5EF4-FFF2-40B4-BE49-F238E27FC236}">
                <a16:creationId xmlns:a16="http://schemas.microsoft.com/office/drawing/2014/main" id="{4930F23D-BCEA-6343-A51E-A89EDAC5B063}"/>
              </a:ext>
            </a:extLst>
          </p:cNvPr>
          <p:cNvSpPr txBox="1"/>
          <p:nvPr/>
        </p:nvSpPr>
        <p:spPr>
          <a:xfrm>
            <a:off x="536761" y="4185501"/>
            <a:ext cx="41790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397"/>
              </a:buClr>
              <a:buSzPts val="900"/>
              <a:buFont typeface="Arial"/>
              <a:buNone/>
            </a:pPr>
            <a:r>
              <a:rPr lang="ru-RU" sz="1300" dirty="0">
                <a:solidFill>
                  <a:srgbClr val="00E397"/>
                </a:solidFill>
              </a:rPr>
              <a:t>Тихонова Мария</a:t>
            </a:r>
            <a:endParaRPr sz="1500"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E397"/>
              </a:buClr>
              <a:buSzPts val="900"/>
              <a:buFont typeface="Arial"/>
              <a:buNone/>
            </a:pPr>
            <a:r>
              <a:rPr lang="ru" sz="1300" b="0" i="0" u="none" dirty="0">
                <a:solidFill>
                  <a:srgbClr val="00E397"/>
                </a:solidFill>
                <a:latin typeface="Arial"/>
                <a:ea typeface="Arial"/>
                <a:cs typeface="Arial"/>
                <a:sym typeface="Arial"/>
              </a:rPr>
              <a:t>SberDevices</a:t>
            </a:r>
            <a:r>
              <a:rPr lang="en-US" sz="1300" b="0" i="0" u="none" dirty="0">
                <a:solidFill>
                  <a:srgbClr val="00E397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0B3BE"/>
              </a:buClr>
              <a:buSzPts val="900"/>
              <a:buFont typeface="Arial"/>
              <a:buNone/>
            </a:pPr>
            <a:r>
              <a:rPr lang="ru-RU" sz="1300" dirty="0">
                <a:solidFill>
                  <a:srgbClr val="A0B3BE"/>
                </a:solidFill>
              </a:rPr>
              <a:t>Март </a:t>
            </a:r>
            <a:r>
              <a:rPr lang="ru" sz="1300" b="0" i="0" u="none" dirty="0">
                <a:solidFill>
                  <a:srgbClr val="A0B3BE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0B3BE"/>
              </a:buClr>
              <a:buSzPts val="900"/>
              <a:buFont typeface="Arial"/>
              <a:buNone/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291797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>
            <a:spLocks noGrp="1"/>
          </p:cNvSpPr>
          <p:nvPr>
            <p:ph type="ctrTitle"/>
          </p:nvPr>
        </p:nvSpPr>
        <p:spPr>
          <a:xfrm>
            <a:off x="512341" y="1144413"/>
            <a:ext cx="33504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</a:pPr>
            <a:r>
              <a:rPr lang="en-US" dirty="0"/>
              <a:t>NLP: recap</a:t>
            </a: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85083F-1BAB-5148-81B6-80E497556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511" y="2453489"/>
            <a:ext cx="4223489" cy="2690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6879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329803" y="4614863"/>
            <a:ext cx="386953" cy="289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397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>
                <a:solidFill>
                  <a:srgbClr val="00E397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100"/>
          </a:p>
        </p:txBody>
      </p:sp>
      <p:sp>
        <p:nvSpPr>
          <p:cNvPr id="6" name="Google Shape;93;gd7dd9b67d2_0_691">
            <a:extLst>
              <a:ext uri="{FF2B5EF4-FFF2-40B4-BE49-F238E27FC236}">
                <a16:creationId xmlns:a16="http://schemas.microsoft.com/office/drawing/2014/main" id="{598F0F3D-7833-484B-9D49-2034A6ED37B6}"/>
              </a:ext>
            </a:extLst>
          </p:cNvPr>
          <p:cNvSpPr txBox="1"/>
          <p:nvPr/>
        </p:nvSpPr>
        <p:spPr>
          <a:xfrm>
            <a:off x="0" y="139404"/>
            <a:ext cx="8814197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2800" i="0" u="none" strike="noStrike" cap="none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Natural Language Processing</a:t>
            </a:r>
            <a:endParaRPr lang="ru-RU" sz="2800" i="0" u="none" strike="noStrike" cap="none" dirty="0">
              <a:solidFill>
                <a:schemeClr val="bg1"/>
              </a:solidFill>
              <a:ea typeface="PT Mono"/>
              <a:cs typeface="PT Mono"/>
              <a:sym typeface="PT Mono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News Cycle"/>
              <a:buNone/>
            </a:pPr>
            <a:endParaRPr lang="ru-RU" sz="2400" dirty="0">
              <a:solidFill>
                <a:schemeClr val="bg1"/>
              </a:solidFill>
              <a:ea typeface="PT Mono"/>
              <a:cs typeface="PT Mono"/>
              <a:sym typeface="PT Mono"/>
            </a:endParaRPr>
          </a:p>
          <a:p>
            <a:pPr marL="171450" marR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1EF88-BF8D-7E46-9B07-FC46C286F737}"/>
              </a:ext>
            </a:extLst>
          </p:cNvPr>
          <p:cNvSpPr txBox="1"/>
          <p:nvPr/>
        </p:nvSpPr>
        <p:spPr>
          <a:xfrm>
            <a:off x="201168" y="1100193"/>
            <a:ext cx="4886880" cy="324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Natural Language Processing (NLP) – </a:t>
            </a:r>
            <a:r>
              <a:rPr lang="ru-RU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обработка естественного языка – </a:t>
            </a:r>
            <a:r>
              <a:rPr lang="ru-RU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раздел </a:t>
            </a:r>
            <a:r>
              <a:rPr lang="en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Data Science, </a:t>
            </a:r>
            <a:r>
              <a:rPr lang="ru-RU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посвященный тому, как компьютеры анализируют естественный (человеческие) язык. </a:t>
            </a:r>
            <a:endParaRPr lang="en-US"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508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NLP </a:t>
            </a:r>
            <a:r>
              <a:rPr lang="ru-RU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позволяет применять алгоритмы машинного обучения для текста и речи.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404433-8A84-7C48-8BD0-3A93B8EF7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64" y="1100193"/>
            <a:ext cx="3624964" cy="37673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8241187"/>
      </p:ext>
    </p:extLst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3;gd7dd9b67d2_0_691">
            <a:extLst>
              <a:ext uri="{FF2B5EF4-FFF2-40B4-BE49-F238E27FC236}">
                <a16:creationId xmlns:a16="http://schemas.microsoft.com/office/drawing/2014/main" id="{10D626BA-D098-2F4B-9A0A-AE96A0DBF33A}"/>
              </a:ext>
            </a:extLst>
          </p:cNvPr>
          <p:cNvSpPr txBox="1"/>
          <p:nvPr/>
        </p:nvSpPr>
        <p:spPr>
          <a:xfrm>
            <a:off x="0" y="139404"/>
            <a:ext cx="8814197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2800" i="0" u="none" strike="noStrike" cap="none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Где используетс</a:t>
            </a:r>
            <a:r>
              <a:rPr lang="ru-RU" sz="2800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я </a:t>
            </a:r>
            <a:r>
              <a:rPr lang="en-US" sz="2800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NLP</a:t>
            </a:r>
            <a:r>
              <a:rPr lang="ru-RU" sz="2800" i="0" u="none" strike="noStrike" cap="none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?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News Cycle"/>
              <a:buNone/>
            </a:pPr>
            <a:endParaRPr lang="ru-RU" sz="2400" dirty="0">
              <a:solidFill>
                <a:schemeClr val="bg1"/>
              </a:solidFill>
              <a:ea typeface="PT Mono"/>
              <a:cs typeface="PT Mono"/>
              <a:sym typeface="PT Mono"/>
            </a:endParaRPr>
          </a:p>
          <a:p>
            <a:pPr marL="171450" marR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185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3;gd7dd9b67d2_0_691">
            <a:extLst>
              <a:ext uri="{FF2B5EF4-FFF2-40B4-BE49-F238E27FC236}">
                <a16:creationId xmlns:a16="http://schemas.microsoft.com/office/drawing/2014/main" id="{10D626BA-D098-2F4B-9A0A-AE96A0DBF33A}"/>
              </a:ext>
            </a:extLst>
          </p:cNvPr>
          <p:cNvSpPr txBox="1"/>
          <p:nvPr/>
        </p:nvSpPr>
        <p:spPr>
          <a:xfrm>
            <a:off x="0" y="139404"/>
            <a:ext cx="8814197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4800"/>
            </a:pPr>
            <a:r>
              <a:rPr lang="ru-RU" sz="2800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Где используется </a:t>
            </a:r>
            <a:r>
              <a:rPr lang="en-US" sz="2800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NLP</a:t>
            </a:r>
            <a:r>
              <a:rPr lang="ru-RU" sz="2800" dirty="0">
                <a:solidFill>
                  <a:schemeClr val="bg1"/>
                </a:solidFill>
                <a:ea typeface="PT Mono"/>
                <a:cs typeface="PT Mono"/>
                <a:sym typeface="PT Mono"/>
              </a:rPr>
              <a:t>?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News Cycle"/>
              <a:buNone/>
            </a:pPr>
            <a:endParaRPr lang="ru-RU" sz="2400" dirty="0">
              <a:solidFill>
                <a:schemeClr val="bg1"/>
              </a:solidFill>
              <a:ea typeface="PT Mono"/>
              <a:cs typeface="PT Mono"/>
              <a:sym typeface="PT Mono"/>
            </a:endParaRPr>
          </a:p>
          <a:p>
            <a:pPr marL="171450" marR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BFBA8-F7FF-9E45-A763-777C2820ED65}"/>
              </a:ext>
            </a:extLst>
          </p:cNvPr>
          <p:cNvSpPr txBox="1"/>
          <p:nvPr/>
        </p:nvSpPr>
        <p:spPr>
          <a:xfrm>
            <a:off x="178371" y="623140"/>
            <a:ext cx="697656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lvl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3">
                  <a:lumMod val="95000"/>
                </a:schemeClr>
              </a:buClr>
              <a:buSzPts val="1700"/>
            </a:pPr>
            <a:endParaRPr lang="ru-RU" sz="2000" dirty="0">
              <a:solidFill>
                <a:schemeClr val="bg1"/>
              </a:solidFill>
            </a:endParaRPr>
          </a:p>
          <a:p>
            <a:pPr marL="457200" indent="-336550">
              <a:lnSpc>
                <a:spcPct val="150000"/>
              </a:lnSpc>
              <a:spcBef>
                <a:spcPts val="600"/>
              </a:spcBef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r>
              <a:rPr lang="ru-RU" sz="2000" dirty="0">
                <a:solidFill>
                  <a:schemeClr val="bg1"/>
                </a:solidFill>
              </a:rPr>
              <a:t>автоматизация обработки обратной связи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r>
              <a:rPr lang="ru-RU" sz="2000" dirty="0">
                <a:solidFill>
                  <a:schemeClr val="bg1"/>
                </a:solidFill>
              </a:rPr>
              <a:t>автоматизация документооборота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r>
              <a:rPr lang="ru-RU" sz="2000" dirty="0">
                <a:solidFill>
                  <a:schemeClr val="bg1"/>
                </a:solidFill>
              </a:rPr>
              <a:t>информационный поиск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r>
              <a:rPr lang="ru-RU" sz="2000" dirty="0">
                <a:solidFill>
                  <a:schemeClr val="bg1"/>
                </a:solidFill>
              </a:rPr>
              <a:t>автоматический перевод</a:t>
            </a:r>
          </a:p>
          <a:p>
            <a:pPr marL="457200" lvl="0" indent="-336550">
              <a:lnSpc>
                <a:spcPct val="150000"/>
              </a:lnSpc>
              <a:spcBef>
                <a:spcPts val="600"/>
              </a:spcBef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r>
              <a:rPr lang="ru-RU" sz="2000" dirty="0">
                <a:solidFill>
                  <a:schemeClr val="bg1"/>
                </a:solidFill>
              </a:rPr>
              <a:t>автоматизация </a:t>
            </a:r>
            <a:r>
              <a:rPr lang="en-US" sz="2000" dirty="0">
                <a:solidFill>
                  <a:schemeClr val="bg1"/>
                </a:solidFill>
              </a:rPr>
              <a:t>call</a:t>
            </a:r>
            <a:r>
              <a:rPr lang="ru-RU" sz="2000" dirty="0">
                <a:solidFill>
                  <a:schemeClr val="bg1"/>
                </a:solidFill>
              </a:rPr>
              <a:t>-центров</a:t>
            </a:r>
          </a:p>
          <a:p>
            <a:pPr marL="457200" indent="-336550">
              <a:lnSpc>
                <a:spcPct val="150000"/>
              </a:lnSpc>
              <a:spcBef>
                <a:spcPts val="600"/>
              </a:spcBef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r>
              <a:rPr lang="ru-RU" sz="2000" dirty="0">
                <a:solidFill>
                  <a:schemeClr val="bg1"/>
                </a:solidFill>
              </a:rPr>
              <a:t>чат-боты</a:t>
            </a:r>
          </a:p>
          <a:p>
            <a:pPr marL="457200" lvl="0" indent="-336550">
              <a:lnSpc>
                <a:spcPct val="150000"/>
              </a:lnSpc>
              <a:spcBef>
                <a:spcPts val="600"/>
              </a:spcBef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endParaRPr lang="ru-RU" sz="2000" dirty="0">
              <a:solidFill>
                <a:schemeClr val="bg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>
                  <a:lumMod val="95000"/>
                </a:schemeClr>
              </a:buClr>
              <a:buSzPts val="1700"/>
              <a:buFont typeface="Courier New" panose="02070309020205020404" pitchFamily="49" charset="0"/>
              <a:buChar char="o"/>
            </a:pP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09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5"/>
          <p:cNvSpPr txBox="1">
            <a:spLocks noGrp="1"/>
          </p:cNvSpPr>
          <p:nvPr>
            <p:ph type="title"/>
          </p:nvPr>
        </p:nvSpPr>
        <p:spPr>
          <a:xfrm>
            <a:off x="375666" y="-48306"/>
            <a:ext cx="8667750" cy="75247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Три основных типа </a:t>
            </a:r>
            <a:r>
              <a:rPr lang="en-US" sz="2400" dirty="0"/>
              <a:t>NLP </a:t>
            </a:r>
            <a:r>
              <a:rPr lang="ru-RU" sz="2400" dirty="0"/>
              <a:t>задач</a:t>
            </a:r>
            <a:endParaRPr sz="2400" dirty="0"/>
          </a:p>
        </p:txBody>
      </p:sp>
      <p:sp>
        <p:nvSpPr>
          <p:cNvPr id="544" name="Google Shape;544;p75"/>
          <p:cNvSpPr txBox="1">
            <a:spLocks noGrp="1"/>
          </p:cNvSpPr>
          <p:nvPr>
            <p:ph type="body" idx="4294967295"/>
          </p:nvPr>
        </p:nvSpPr>
        <p:spPr>
          <a:xfrm>
            <a:off x="253494" y="1073904"/>
            <a:ext cx="4864100" cy="36004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2000" dirty="0"/>
              <a:t>1) классификация</a:t>
            </a:r>
            <a:r>
              <a:rPr lang="en-US" sz="2000" dirty="0"/>
              <a:t>/</a:t>
            </a:r>
            <a:r>
              <a:rPr lang="ru-RU" sz="2000" dirty="0"/>
              <a:t>кластеризация</a:t>
            </a:r>
            <a:r>
              <a:rPr lang="ru" sz="2000" dirty="0"/>
              <a:t> текстов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1600" dirty="0">
                <a:solidFill>
                  <a:schemeClr val="accent1"/>
                </a:solidFill>
              </a:rPr>
              <a:t>текст → метка, несколько меток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lang="ru" sz="2000"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5" name="Picture 2" descr="D:\Work\work\3D_projects\SBER\презентации\Презентация для MIXAR\photo_2022-09-09_09-53-26.jpg">
            <a:extLst>
              <a:ext uri="{FF2B5EF4-FFF2-40B4-BE49-F238E27FC236}">
                <a16:creationId xmlns:a16="http://schemas.microsoft.com/office/drawing/2014/main" id="{88E3B0E2-98BE-A945-8D61-72A5A3D91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6353" y="903114"/>
            <a:ext cx="2553519" cy="3401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6AAFABD8-407C-3B46-A4AE-815C9F425F0C}"/>
              </a:ext>
            </a:extLst>
          </p:cNvPr>
          <p:cNvSpPr/>
          <p:nvPr/>
        </p:nvSpPr>
        <p:spPr>
          <a:xfrm>
            <a:off x="4222916" y="469146"/>
            <a:ext cx="2082095" cy="103664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bg2"/>
                </a:solidFill>
              </a:rPr>
              <a:t>Let’s talk!</a:t>
            </a:r>
            <a:endParaRPr lang="ru-RU" sz="1600" i="1" dirty="0">
              <a:solidFill>
                <a:schemeClr val="bg2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AE85B66-C93A-1D45-B179-9674D241EE5F}"/>
              </a:ext>
            </a:extLst>
          </p:cNvPr>
          <p:cNvSpPr/>
          <p:nvPr/>
        </p:nvSpPr>
        <p:spPr>
          <a:xfrm>
            <a:off x="7578609" y="586658"/>
            <a:ext cx="1386235" cy="103664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DAC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i="1" dirty="0">
                <a:solidFill>
                  <a:srgbClr val="E3771D"/>
                </a:solidFill>
              </a:rPr>
              <a:t>Let’s talk!</a:t>
            </a:r>
            <a:endParaRPr lang="ru-RU" sz="1500" i="1" dirty="0">
              <a:solidFill>
                <a:srgbClr val="E377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5"/>
          <p:cNvSpPr txBox="1">
            <a:spLocks noGrp="1"/>
          </p:cNvSpPr>
          <p:nvPr>
            <p:ph type="title"/>
          </p:nvPr>
        </p:nvSpPr>
        <p:spPr>
          <a:xfrm>
            <a:off x="375666" y="-48306"/>
            <a:ext cx="8667750" cy="75247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Три основных типа </a:t>
            </a:r>
            <a:r>
              <a:rPr lang="en-US" sz="2400" dirty="0"/>
              <a:t>NLP </a:t>
            </a:r>
            <a:r>
              <a:rPr lang="ru-RU" sz="2400" dirty="0"/>
              <a:t>задач</a:t>
            </a:r>
            <a:endParaRPr sz="2400" dirty="0"/>
          </a:p>
        </p:txBody>
      </p:sp>
      <p:sp>
        <p:nvSpPr>
          <p:cNvPr id="544" name="Google Shape;544;p75"/>
          <p:cNvSpPr txBox="1">
            <a:spLocks noGrp="1"/>
          </p:cNvSpPr>
          <p:nvPr>
            <p:ph type="body" idx="4294967295"/>
          </p:nvPr>
        </p:nvSpPr>
        <p:spPr>
          <a:xfrm>
            <a:off x="253494" y="1073904"/>
            <a:ext cx="4864100" cy="36004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2000" dirty="0"/>
              <a:t>1) классификация</a:t>
            </a:r>
            <a:r>
              <a:rPr lang="en-US" sz="2000" dirty="0"/>
              <a:t>/</a:t>
            </a:r>
            <a:r>
              <a:rPr lang="ru-RU" sz="2000" dirty="0"/>
              <a:t>кластеризация</a:t>
            </a:r>
            <a:r>
              <a:rPr lang="ru" sz="2000" dirty="0"/>
              <a:t> текстов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1600" dirty="0">
                <a:solidFill>
                  <a:schemeClr val="accent1"/>
                </a:solidFill>
              </a:rPr>
              <a:t>текст → метка, несколько меток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lang="ru" sz="2000" dirty="0"/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2000" dirty="0"/>
              <a:t>2) классификация последовательности (</a:t>
            </a:r>
            <a:r>
              <a:rPr lang="en-US" sz="2000" dirty="0"/>
              <a:t>sequence labeling)</a:t>
            </a:r>
            <a:endParaRPr lang="ru" sz="2000" dirty="0"/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1600" dirty="0">
                <a:solidFill>
                  <a:schemeClr val="accent1"/>
                </a:solidFill>
              </a:rPr>
              <a:t>каждое слово в тексте → метка</a:t>
            </a:r>
            <a:endParaRPr sz="1600" dirty="0">
              <a:solidFill>
                <a:schemeClr val="accent1"/>
              </a:solidFill>
            </a:endParaRP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lang="ru" sz="2000"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5" name="Picture 2" descr="D:\Work\work\3D_projects\SBER\презентации\Презентация для MIXAR\photo_2022-09-09_09-53-26.jpg">
            <a:extLst>
              <a:ext uri="{FF2B5EF4-FFF2-40B4-BE49-F238E27FC236}">
                <a16:creationId xmlns:a16="http://schemas.microsoft.com/office/drawing/2014/main" id="{012279D0-4475-BA45-BDDA-F771377D4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6353" y="903114"/>
            <a:ext cx="2553519" cy="3401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096CD649-177F-534B-A8E3-02FB2F0934EF}"/>
              </a:ext>
            </a:extLst>
          </p:cNvPr>
          <p:cNvSpPr/>
          <p:nvPr/>
        </p:nvSpPr>
        <p:spPr>
          <a:xfrm>
            <a:off x="4222916" y="469146"/>
            <a:ext cx="2082095" cy="103664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bg2"/>
                </a:solidFill>
              </a:rPr>
              <a:t>Let’s talk!</a:t>
            </a:r>
            <a:endParaRPr lang="ru-RU" sz="1600" i="1" dirty="0">
              <a:solidFill>
                <a:schemeClr val="bg2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867C9F6-0D8D-9446-820C-9330C7560625}"/>
              </a:ext>
            </a:extLst>
          </p:cNvPr>
          <p:cNvSpPr/>
          <p:nvPr/>
        </p:nvSpPr>
        <p:spPr>
          <a:xfrm>
            <a:off x="7578609" y="586658"/>
            <a:ext cx="1386235" cy="103664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DAC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i="1" dirty="0">
                <a:solidFill>
                  <a:srgbClr val="E3771D"/>
                </a:solidFill>
              </a:rPr>
              <a:t>Let’s talk!</a:t>
            </a:r>
            <a:endParaRPr lang="ru-RU" sz="1500" i="1" dirty="0">
              <a:solidFill>
                <a:srgbClr val="E377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73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5"/>
          <p:cNvSpPr txBox="1">
            <a:spLocks noGrp="1"/>
          </p:cNvSpPr>
          <p:nvPr>
            <p:ph type="title"/>
          </p:nvPr>
        </p:nvSpPr>
        <p:spPr>
          <a:xfrm>
            <a:off x="375666" y="-48306"/>
            <a:ext cx="8667750" cy="75247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Три основных типа </a:t>
            </a:r>
            <a:r>
              <a:rPr lang="en-US" sz="2400" dirty="0"/>
              <a:t>NLP </a:t>
            </a:r>
            <a:r>
              <a:rPr lang="ru-RU" sz="2400" dirty="0"/>
              <a:t>задач</a:t>
            </a:r>
            <a:endParaRPr sz="2400" dirty="0"/>
          </a:p>
        </p:txBody>
      </p:sp>
      <p:sp>
        <p:nvSpPr>
          <p:cNvPr id="544" name="Google Shape;544;p75"/>
          <p:cNvSpPr txBox="1">
            <a:spLocks noGrp="1"/>
          </p:cNvSpPr>
          <p:nvPr>
            <p:ph type="body" idx="4294967295"/>
          </p:nvPr>
        </p:nvSpPr>
        <p:spPr>
          <a:xfrm>
            <a:off x="253494" y="1073904"/>
            <a:ext cx="4864100" cy="36004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2000" dirty="0"/>
              <a:t>1) классификация</a:t>
            </a:r>
            <a:r>
              <a:rPr lang="en-US" sz="2000" dirty="0"/>
              <a:t>/</a:t>
            </a:r>
            <a:r>
              <a:rPr lang="ru-RU" sz="2000" dirty="0"/>
              <a:t>кластеризация</a:t>
            </a:r>
            <a:r>
              <a:rPr lang="ru" sz="2000" dirty="0"/>
              <a:t> текстов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1600" dirty="0">
                <a:solidFill>
                  <a:schemeClr val="accent1"/>
                </a:solidFill>
              </a:rPr>
              <a:t>текст → метка, несколько меток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lang="ru" sz="2000" dirty="0"/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2000" dirty="0"/>
              <a:t>2) классификация последовательности (</a:t>
            </a:r>
            <a:r>
              <a:rPr lang="en-US" sz="2000" dirty="0"/>
              <a:t>sequence labeling)</a:t>
            </a:r>
            <a:endParaRPr lang="ru" sz="2000" dirty="0"/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1600" dirty="0">
                <a:solidFill>
                  <a:schemeClr val="accent1"/>
                </a:solidFill>
              </a:rPr>
              <a:t>каждое слово в тексте → метка</a:t>
            </a:r>
            <a:endParaRPr sz="1600" dirty="0">
              <a:solidFill>
                <a:schemeClr val="accent1"/>
              </a:solidFill>
            </a:endParaRP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lang="ru" sz="2000" dirty="0"/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2000" dirty="0"/>
              <a:t>3) sequence to sequence (seq2seq)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ru" sz="1600" dirty="0">
                <a:solidFill>
                  <a:schemeClr val="accent1"/>
                </a:solidFill>
              </a:rPr>
              <a:t>текст → текст</a:t>
            </a:r>
            <a:endParaRPr sz="1600" dirty="0"/>
          </a:p>
          <a:p>
            <a:pPr marL="127000" lvl="0" indent="0" algn="l" rtl="0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ru" sz="1600" dirty="0"/>
              <a:t>+ Иногда требуется: 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accent1"/>
                </a:solidFill>
              </a:rPr>
              <a:t>текст → число</a:t>
            </a:r>
            <a:r>
              <a:rPr lang="ru" sz="1600" dirty="0"/>
              <a:t> и  </a:t>
            </a:r>
            <a:r>
              <a:rPr lang="ru" sz="1600" dirty="0">
                <a:solidFill>
                  <a:schemeClr val="accent1"/>
                </a:solidFill>
              </a:rPr>
              <a:t>текст → расстояние до др текстов</a:t>
            </a:r>
            <a:r>
              <a:rPr lang="ru" sz="1600" dirty="0"/>
              <a:t> </a:t>
            </a:r>
            <a:endParaRPr sz="1600"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5" name="Picture 2" descr="D:\Work\work\3D_projects\SBER\презентации\Презентация для MIXAR\photo_2022-09-09_09-53-26.jpg">
            <a:extLst>
              <a:ext uri="{FF2B5EF4-FFF2-40B4-BE49-F238E27FC236}">
                <a16:creationId xmlns:a16="http://schemas.microsoft.com/office/drawing/2014/main" id="{47FFA8FE-2993-2548-93AD-7FCBA28EE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6353" y="903114"/>
            <a:ext cx="2553519" cy="3401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54CA0D4E-D369-9A4E-A4EF-0560A1735A9F}"/>
              </a:ext>
            </a:extLst>
          </p:cNvPr>
          <p:cNvSpPr/>
          <p:nvPr/>
        </p:nvSpPr>
        <p:spPr>
          <a:xfrm>
            <a:off x="4222916" y="469146"/>
            <a:ext cx="2082095" cy="103664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bg2"/>
                </a:solidFill>
              </a:rPr>
              <a:t>Let’s talk!</a:t>
            </a:r>
            <a:endParaRPr lang="ru-RU" sz="1600" i="1" dirty="0">
              <a:solidFill>
                <a:schemeClr val="bg2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55FF173-3C3C-764F-BAD8-DE5818E5ECD9}"/>
              </a:ext>
            </a:extLst>
          </p:cNvPr>
          <p:cNvSpPr/>
          <p:nvPr/>
        </p:nvSpPr>
        <p:spPr>
          <a:xfrm>
            <a:off x="7578609" y="586658"/>
            <a:ext cx="1386235" cy="103664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DAC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i="1" dirty="0">
                <a:solidFill>
                  <a:srgbClr val="E3771D"/>
                </a:solidFill>
              </a:rPr>
              <a:t>Let’s talk!</a:t>
            </a:r>
            <a:endParaRPr lang="ru-RU" sz="1500" i="1" dirty="0">
              <a:solidFill>
                <a:srgbClr val="E377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542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idx="4294967295"/>
          </p:nvPr>
        </p:nvSpPr>
        <p:spPr>
          <a:xfrm>
            <a:off x="0" y="2259013"/>
            <a:ext cx="2368550" cy="6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Кластеризация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321" y="3097892"/>
            <a:ext cx="2615792" cy="15456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6670" y="2708700"/>
            <a:ext cx="2273060" cy="2195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2" name="Google Shape;172;p5"/>
          <p:cNvSpPr/>
          <p:nvPr/>
        </p:nvSpPr>
        <p:spPr>
          <a:xfrm>
            <a:off x="4191000" y="3523606"/>
            <a:ext cx="762000" cy="69426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B285CF-A982-FA43-8E3F-9C41BD9FF281}"/>
              </a:ext>
            </a:extLst>
          </p:cNvPr>
          <p:cNvSpPr txBox="1"/>
          <p:nvPr/>
        </p:nvSpPr>
        <p:spPr>
          <a:xfrm>
            <a:off x="355702" y="33412"/>
            <a:ext cx="3347618" cy="1838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ru-RU" sz="21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Классификация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Фильтрация спама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Анализ тональности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Жанр</a:t>
            </a:r>
          </a:p>
        </p:txBody>
      </p:sp>
      <p:pic>
        <p:nvPicPr>
          <p:cNvPr id="11" name="Google Shape;160;p4">
            <a:extLst>
              <a:ext uri="{FF2B5EF4-FFF2-40B4-BE49-F238E27FC236}">
                <a16:creationId xmlns:a16="http://schemas.microsoft.com/office/drawing/2014/main" id="{3576788C-1A64-CA46-A2C8-7CC8847F68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8264" y="-34080"/>
            <a:ext cx="4486737" cy="24688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5229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idx="4294967295"/>
          </p:nvPr>
        </p:nvSpPr>
        <p:spPr>
          <a:xfrm>
            <a:off x="0" y="33338"/>
            <a:ext cx="82296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6750" y="2882591"/>
            <a:ext cx="3300984" cy="18015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27CB52-7C25-4749-9936-C28BC216BECD}"/>
              </a:ext>
            </a:extLst>
          </p:cNvPr>
          <p:cNvSpPr txBox="1"/>
          <p:nvPr/>
        </p:nvSpPr>
        <p:spPr>
          <a:xfrm>
            <a:off x="191110" y="333222"/>
            <a:ext cx="4463186" cy="271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lvl="0">
              <a:lnSpc>
                <a:spcPct val="150000"/>
              </a:lnSpc>
              <a:buSzPts val="1700"/>
            </a:pPr>
            <a:r>
              <a:rPr lang="en" sz="2100" b="1" dirty="0">
                <a:solidFill>
                  <a:schemeClr val="bg1"/>
                </a:solidFill>
              </a:rPr>
              <a:t>Sequence Labeling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en-US" sz="1900" dirty="0">
                <a:solidFill>
                  <a:schemeClr val="bg1"/>
                </a:solidFill>
              </a:rPr>
              <a:t>POS-Tagging –</a:t>
            </a:r>
            <a:r>
              <a:rPr lang="ru-RU" sz="1900" dirty="0">
                <a:solidFill>
                  <a:schemeClr val="bg1"/>
                </a:solidFill>
              </a:rPr>
              <a:t>разметка по частям речи</a:t>
            </a:r>
            <a:endParaRPr lang="ru-RU" sz="19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en-US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NER – </a:t>
            </a: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распознавание именованных сущностей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Извлечение фактов</a:t>
            </a:r>
          </a:p>
        </p:txBody>
      </p:sp>
      <p:pic>
        <p:nvPicPr>
          <p:cNvPr id="1026" name="Picture 2" descr="pos-tagging · GitHub Topics · GitHub">
            <a:extLst>
              <a:ext uri="{FF2B5EF4-FFF2-40B4-BE49-F238E27FC236}">
                <a16:creationId xmlns:a16="http://schemas.microsoft.com/office/drawing/2014/main" id="{B9D20273-3EFB-2E41-8DE8-19EFAEDA4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023" y="915741"/>
            <a:ext cx="3602736" cy="9963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idx="4294967295"/>
          </p:nvPr>
        </p:nvSpPr>
        <p:spPr>
          <a:xfrm>
            <a:off x="0" y="33338"/>
            <a:ext cx="82296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7CB52-7C25-4749-9936-C28BC216BECD}"/>
              </a:ext>
            </a:extLst>
          </p:cNvPr>
          <p:cNvSpPr txBox="1"/>
          <p:nvPr/>
        </p:nvSpPr>
        <p:spPr>
          <a:xfrm>
            <a:off x="191110" y="333222"/>
            <a:ext cx="4463186" cy="961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lvl="0">
              <a:lnSpc>
                <a:spcPct val="150000"/>
              </a:lnSpc>
              <a:buSzPts val="1700"/>
            </a:pPr>
            <a:r>
              <a:rPr lang="en" sz="2100" b="1" dirty="0">
                <a:solidFill>
                  <a:schemeClr val="bg1"/>
                </a:solidFill>
              </a:rPr>
              <a:t>Seq2seq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</a:rPr>
              <a:t>Машинный перевод</a:t>
            </a:r>
          </a:p>
        </p:txBody>
      </p:sp>
      <p:pic>
        <p:nvPicPr>
          <p:cNvPr id="11" name="Google Shape;155;p4">
            <a:extLst>
              <a:ext uri="{FF2B5EF4-FFF2-40B4-BE49-F238E27FC236}">
                <a16:creationId xmlns:a16="http://schemas.microsoft.com/office/drawing/2014/main" id="{46540F11-4F54-4D4C-B0AA-30EFAB2745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261592"/>
            <a:ext cx="3348036" cy="14189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30470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idx="4294967295"/>
          </p:nvPr>
        </p:nvSpPr>
        <p:spPr>
          <a:xfrm>
            <a:off x="0" y="33338"/>
            <a:ext cx="82296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7CB52-7C25-4749-9936-C28BC216BECD}"/>
              </a:ext>
            </a:extLst>
          </p:cNvPr>
          <p:cNvSpPr txBox="1"/>
          <p:nvPr/>
        </p:nvSpPr>
        <p:spPr>
          <a:xfrm>
            <a:off x="191110" y="333222"/>
            <a:ext cx="4463186" cy="1400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lvl="0">
              <a:lnSpc>
                <a:spcPct val="150000"/>
              </a:lnSpc>
              <a:buSzPts val="1700"/>
            </a:pPr>
            <a:r>
              <a:rPr lang="en" sz="2100" b="1" dirty="0">
                <a:solidFill>
                  <a:schemeClr val="bg1"/>
                </a:solidFill>
              </a:rPr>
              <a:t>Seq2seq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</a:rPr>
              <a:t>Машинный перевод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Вопросно-ответные системы</a:t>
            </a:r>
          </a:p>
        </p:txBody>
      </p:sp>
      <p:pic>
        <p:nvPicPr>
          <p:cNvPr id="8" name="Google Shape;181;p6">
            <a:extLst>
              <a:ext uri="{FF2B5EF4-FFF2-40B4-BE49-F238E27FC236}">
                <a16:creationId xmlns:a16="http://schemas.microsoft.com/office/drawing/2014/main" id="{F16E038C-B34F-EB48-9012-03E2B72568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689845"/>
            <a:ext cx="1517160" cy="13247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Google Shape;182;p6">
            <a:extLst>
              <a:ext uri="{FF2B5EF4-FFF2-40B4-BE49-F238E27FC236}">
                <a16:creationId xmlns:a16="http://schemas.microsoft.com/office/drawing/2014/main" id="{B5FD685A-E5D9-C74A-9AA6-88FC458F57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7286" y="2896233"/>
            <a:ext cx="1823491" cy="11838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Google Shape;183;p6">
            <a:extLst>
              <a:ext uri="{FF2B5EF4-FFF2-40B4-BE49-F238E27FC236}">
                <a16:creationId xmlns:a16="http://schemas.microsoft.com/office/drawing/2014/main" id="{AEDC0DBA-F485-894B-AACC-9CE12F59FF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2150" y="1743247"/>
            <a:ext cx="1612805" cy="19930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Google Shape;155;p4">
            <a:extLst>
              <a:ext uri="{FF2B5EF4-FFF2-40B4-BE49-F238E27FC236}">
                <a16:creationId xmlns:a16="http://schemas.microsoft.com/office/drawing/2014/main" id="{46540F11-4F54-4D4C-B0AA-30EFAB2745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142720"/>
            <a:ext cx="3348036" cy="14189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12623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idx="4294967295"/>
          </p:nvPr>
        </p:nvSpPr>
        <p:spPr>
          <a:xfrm>
            <a:off x="0" y="33338"/>
            <a:ext cx="82296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7CB52-7C25-4749-9936-C28BC216BECD}"/>
              </a:ext>
            </a:extLst>
          </p:cNvPr>
          <p:cNvSpPr txBox="1"/>
          <p:nvPr/>
        </p:nvSpPr>
        <p:spPr>
          <a:xfrm>
            <a:off x="191110" y="333222"/>
            <a:ext cx="4463186" cy="315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lvl="0">
              <a:lnSpc>
                <a:spcPct val="150000"/>
              </a:lnSpc>
              <a:buSzPts val="1700"/>
            </a:pPr>
            <a:r>
              <a:rPr lang="en" sz="2100" b="1" dirty="0">
                <a:solidFill>
                  <a:schemeClr val="bg1"/>
                </a:solidFill>
              </a:rPr>
              <a:t>Seq2seq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</a:rPr>
              <a:t>Машинный перевод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Вопросно-ответные системы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en-US" sz="1900" dirty="0">
                <a:solidFill>
                  <a:schemeClr val="bg1"/>
                </a:solidFill>
              </a:rPr>
              <a:t>Text Autocomplete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>
                <a:solidFill>
                  <a:schemeClr val="bg1"/>
                </a:solidFill>
              </a:rPr>
              <a:t>Парафраз текста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ru-RU" sz="19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Суммаризация</a:t>
            </a:r>
            <a:r>
              <a:rPr lang="ru-RU" sz="19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текста</a:t>
            </a:r>
          </a:p>
          <a:p>
            <a:pPr marL="74295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900"/>
              <a:buChar char="–"/>
            </a:pPr>
            <a:r>
              <a:rPr lang="en-US" sz="1900" dirty="0">
                <a:solidFill>
                  <a:schemeClr val="bg1"/>
                </a:solidFill>
              </a:rPr>
              <a:t>To be continued….</a:t>
            </a:r>
            <a:endParaRPr lang="ru-RU" sz="19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181;p6">
            <a:extLst>
              <a:ext uri="{FF2B5EF4-FFF2-40B4-BE49-F238E27FC236}">
                <a16:creationId xmlns:a16="http://schemas.microsoft.com/office/drawing/2014/main" id="{F16E038C-B34F-EB48-9012-03E2B72568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689845"/>
            <a:ext cx="1517160" cy="13247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Google Shape;182;p6">
            <a:extLst>
              <a:ext uri="{FF2B5EF4-FFF2-40B4-BE49-F238E27FC236}">
                <a16:creationId xmlns:a16="http://schemas.microsoft.com/office/drawing/2014/main" id="{B5FD685A-E5D9-C74A-9AA6-88FC458F57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7286" y="2896233"/>
            <a:ext cx="1823491" cy="11838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Google Shape;183;p6">
            <a:extLst>
              <a:ext uri="{FF2B5EF4-FFF2-40B4-BE49-F238E27FC236}">
                <a16:creationId xmlns:a16="http://schemas.microsoft.com/office/drawing/2014/main" id="{AEDC0DBA-F485-894B-AACC-9CE12F59FF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2150" y="1743247"/>
            <a:ext cx="1612805" cy="19930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Google Shape;155;p4">
            <a:extLst>
              <a:ext uri="{FF2B5EF4-FFF2-40B4-BE49-F238E27FC236}">
                <a16:creationId xmlns:a16="http://schemas.microsoft.com/office/drawing/2014/main" id="{46540F11-4F54-4D4C-B0AA-30EFAB2745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142720"/>
            <a:ext cx="3348036" cy="14189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Google Shape;192;p7">
            <a:extLst>
              <a:ext uri="{FF2B5EF4-FFF2-40B4-BE49-F238E27FC236}">
                <a16:creationId xmlns:a16="http://schemas.microsoft.com/office/drawing/2014/main" id="{297963FD-B784-014B-8E37-4970EC3F2B3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117" y="3556537"/>
            <a:ext cx="3869731" cy="15142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441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>
            <a:spLocks noGrp="1"/>
          </p:cNvSpPr>
          <p:nvPr>
            <p:ph type="ctrTitle"/>
          </p:nvPr>
        </p:nvSpPr>
        <p:spPr>
          <a:xfrm>
            <a:off x="484632" y="2068050"/>
            <a:ext cx="33504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Calibri"/>
              <a:buNone/>
            </a:pPr>
            <a:r>
              <a:rPr lang="ru-RU" sz="3600" b="1" i="0" u="none" strike="noStrike" cap="none" dirty="0">
                <a:solidFill>
                  <a:schemeClr val="lt1"/>
                </a:solidFill>
              </a:rPr>
              <a:t>Откуда ноги растут?</a:t>
            </a:r>
            <a:br>
              <a:rPr lang="ru-RU" sz="3600" b="1" i="0" u="none" strike="noStrike" cap="none" dirty="0">
                <a:solidFill>
                  <a:schemeClr val="lt1"/>
                </a:solidFill>
              </a:rPr>
            </a:br>
            <a:endParaRPr lang="ru-RU" sz="3600" b="1" i="0" u="none" strike="noStrike" cap="none" dirty="0">
              <a:solidFill>
                <a:schemeClr val="lt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85083F-1BAB-5148-81B6-80E497556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511" y="2453489"/>
            <a:ext cx="4223489" cy="2690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9513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2873" y="2940487"/>
            <a:ext cx="4300538" cy="2114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7" name="Google Shape;217;p10"/>
          <p:cNvSpPr txBox="1"/>
          <p:nvPr/>
        </p:nvSpPr>
        <p:spPr>
          <a:xfrm>
            <a:off x="180589" y="1145738"/>
            <a:ext cx="676367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Как компьютеру работать со словами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Занумеровать по порядку? - Неудобно!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Представлять слова в виде векторов!</a:t>
            </a:r>
            <a:endParaRPr sz="15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07;p9">
            <a:extLst>
              <a:ext uri="{FF2B5EF4-FFF2-40B4-BE49-F238E27FC236}">
                <a16:creationId xmlns:a16="http://schemas.microsoft.com/office/drawing/2014/main" id="{37DFE4AD-9AA9-7047-8D26-2E65988B0DC6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ru-RU" sz="3200" b="1" i="0" u="none" strike="noStrike" cap="none" dirty="0">
                <a:solidFill>
                  <a:schemeClr val="lt1"/>
                </a:solidFill>
              </a:rPr>
              <a:t>Откуда ноги растут?</a:t>
            </a:r>
            <a:br>
              <a:rPr lang="ru-RU" sz="3200" b="1" i="0" u="none" strike="noStrike" cap="none" dirty="0">
                <a:solidFill>
                  <a:schemeClr val="lt1"/>
                </a:solidFill>
              </a:rPr>
            </a:b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/>
        </p:nvSpPr>
        <p:spPr>
          <a:xfrm>
            <a:off x="166811" y="602947"/>
            <a:ext cx="879312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Векторное представление = </a:t>
            </a: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– сопоставление произвольному объекту числового вектора в многомерном пространстве.</a:t>
            </a: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184064" y="1664776"/>
            <a:ext cx="8442251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Векторные представления можно строить для чего угодно: </a:t>
            </a:r>
            <a:endParaRPr dirty="0">
              <a:solidFill>
                <a:schemeClr val="bg1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слов,</a:t>
            </a:r>
            <a:endParaRPr dirty="0">
              <a:solidFill>
                <a:schemeClr val="bg1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символов,</a:t>
            </a:r>
            <a:endParaRPr dirty="0">
              <a:solidFill>
                <a:schemeClr val="bg1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предложений,</a:t>
            </a:r>
            <a:endParaRPr dirty="0">
              <a:solidFill>
                <a:schemeClr val="bg1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документов.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Самый популярный тип векторов (</a:t>
            </a:r>
            <a:r>
              <a:rPr lang="ru-RU" sz="21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embedding’ов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b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(вектора слов).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207;p9">
            <a:extLst>
              <a:ext uri="{FF2B5EF4-FFF2-40B4-BE49-F238E27FC236}">
                <a16:creationId xmlns:a16="http://schemas.microsoft.com/office/drawing/2014/main" id="{D23D2024-D609-E041-98F0-B208797AB4C8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ru-RU" sz="3200" b="1" i="0" u="none" strike="noStrike" cap="none" dirty="0">
                <a:solidFill>
                  <a:schemeClr val="lt1"/>
                </a:solidFill>
              </a:rPr>
              <a:t>Векторные представления</a:t>
            </a: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7E7492-E915-EE4A-9AA3-FC7E4F5DF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836" y="3024525"/>
            <a:ext cx="5461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/>
        </p:nvSpPr>
        <p:spPr>
          <a:xfrm>
            <a:off x="234869" y="712231"/>
            <a:ext cx="8442251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Глобальная цель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– построить векторные представления, которые обладают хорошими свойствами.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sng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sng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Например: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близость векторов отражает близость исходных объектов.</a:t>
            </a: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Для слов это может быть семантическая близость.</a:t>
            </a: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209544"/>
            <a:ext cx="4471923" cy="1833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07;p9">
            <a:extLst>
              <a:ext uri="{FF2B5EF4-FFF2-40B4-BE49-F238E27FC236}">
                <a16:creationId xmlns:a16="http://schemas.microsoft.com/office/drawing/2014/main" id="{83F723EC-A49C-EE46-91C6-978A380CF46B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ru-RU" sz="3200" b="1" i="0" u="none" strike="noStrike" cap="none" dirty="0">
                <a:solidFill>
                  <a:schemeClr val="lt1"/>
                </a:solidFill>
              </a:rPr>
              <a:t>Векторные представления</a:t>
            </a: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/>
        </p:nvSpPr>
        <p:spPr>
          <a:xfrm>
            <a:off x="215311" y="981333"/>
            <a:ext cx="406008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Слову сопоставляем вектор с одной единицей, соответствующей номеру слова в словаре.</a:t>
            </a: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215311" y="2615111"/>
            <a:ext cx="4182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ru-RU" sz="2100" b="0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Просто получить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- Гигантский размер векторов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- Вектора ортог</a:t>
            </a:r>
            <a:r>
              <a:rPr lang="ru-RU" sz="2100" dirty="0">
                <a:solidFill>
                  <a:srgbClr val="C00000"/>
                </a:solidFill>
              </a:rPr>
              <a:t>о</a:t>
            </a:r>
            <a:r>
              <a:rPr lang="ru-RU" sz="21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нальные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- Не отражают близость между словами</a:t>
            </a:r>
            <a:endParaRPr sz="21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7712" y="2057400"/>
            <a:ext cx="4586288" cy="3086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07;p9">
            <a:extLst>
              <a:ext uri="{FF2B5EF4-FFF2-40B4-BE49-F238E27FC236}">
                <a16:creationId xmlns:a16="http://schemas.microsoft.com/office/drawing/2014/main" id="{D51FAE4A-1FD8-D242-99FD-F2BF9A6A0A16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ru-RU" sz="3200" b="1" i="0" u="none" strike="noStrike" cap="none" dirty="0">
                <a:solidFill>
                  <a:schemeClr val="lt1"/>
                </a:solidFill>
              </a:rPr>
              <a:t>Начнем с простого: </a:t>
            </a:r>
            <a:r>
              <a:rPr lang="en" sz="3200" b="1" i="0" u="none" strike="noStrike" cap="none" dirty="0">
                <a:solidFill>
                  <a:schemeClr val="lt1"/>
                </a:solidFill>
              </a:rPr>
              <a:t>one-hot encoding</a:t>
            </a:r>
            <a:endParaRPr lang="ru-RU" sz="3200" b="1" i="0" u="none" strike="noStrike" cap="none" dirty="0">
              <a:solidFill>
                <a:schemeClr val="lt1"/>
              </a:solidFill>
            </a:endParaRP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/>
        </p:nvSpPr>
        <p:spPr>
          <a:xfrm>
            <a:off x="149262" y="565934"/>
            <a:ext cx="857204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1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Words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или </a:t>
            </a:r>
            <a:r>
              <a:rPr lang="ru-RU" sz="21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мешок слов </a:t>
            </a:r>
            <a:r>
              <a:rPr lang="ru-RU" sz="21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 это модель, представляющая собой неупорядоченный набор слов, входящих в обрабатываемый текст.</a:t>
            </a:r>
            <a:endParaRPr sz="2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080" y="1663910"/>
            <a:ext cx="8755981" cy="3479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Google Shape;207;p9">
            <a:extLst>
              <a:ext uri="{FF2B5EF4-FFF2-40B4-BE49-F238E27FC236}">
                <a16:creationId xmlns:a16="http://schemas.microsoft.com/office/drawing/2014/main" id="{1D649651-E1B3-1940-948E-BFEB337E2BF8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en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Bag-of-Word model</a:t>
            </a:r>
            <a:endParaRPr lang="ru-RU" sz="3200" b="1" i="0" u="none" strike="noStrike" cap="none" dirty="0">
              <a:solidFill>
                <a:schemeClr val="lt1"/>
              </a:solidFill>
            </a:endParaRP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/>
        </p:nvSpPr>
        <p:spPr>
          <a:xfrm>
            <a:off x="149262" y="457828"/>
            <a:ext cx="8994738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Тексты представляют в виде матрицы:</a:t>
            </a:r>
            <a:endParaRPr dirty="0">
              <a:solidFill>
                <a:schemeClr val="bg1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Строка соответствуют тексту;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Столбцы  соответствую словам;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 Ячейки на пересечении являются числом вхождения данного слова в текст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соответствующий документ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248;p14">
            <a:extLst>
              <a:ext uri="{FF2B5EF4-FFF2-40B4-BE49-F238E27FC236}">
                <a16:creationId xmlns:a16="http://schemas.microsoft.com/office/drawing/2014/main" id="{5AEF1CB6-D604-614D-A96F-6086D61BD6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080" y="1663910"/>
            <a:ext cx="8755981" cy="3479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07;p9">
            <a:extLst>
              <a:ext uri="{FF2B5EF4-FFF2-40B4-BE49-F238E27FC236}">
                <a16:creationId xmlns:a16="http://schemas.microsoft.com/office/drawing/2014/main" id="{B6464193-7B9C-DF46-8ECF-1BB920CD49AA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en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Bag-of-Word model</a:t>
            </a:r>
            <a:endParaRPr lang="ru-RU" sz="3200" b="1" i="0" u="none" strike="noStrike" cap="none" dirty="0">
              <a:solidFill>
                <a:schemeClr val="lt1"/>
              </a:solidFill>
            </a:endParaRP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61D60D-AF6D-3247-93A5-49D236A19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66" y="2377440"/>
            <a:ext cx="6397498" cy="2646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0" name="Google Shape;260;p16"/>
          <p:cNvSpPr txBox="1"/>
          <p:nvPr/>
        </p:nvSpPr>
        <p:spPr>
          <a:xfrm>
            <a:off x="155524" y="572823"/>
            <a:ext cx="8572043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TF-IDF </a:t>
            </a: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 статистическая мера, используемая для оценки важности слова в контексте документа, являющегося частью корпуса.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Вес некоторого слова </a:t>
            </a:r>
            <a:r>
              <a:rPr lang="ru-RU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пропорционален частоте </a:t>
            </a: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употребления этого слова </a:t>
            </a:r>
            <a:r>
              <a:rPr lang="ru-RU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 документе </a:t>
            </a: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и </a:t>
            </a:r>
            <a:r>
              <a:rPr lang="ru-RU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обратно пропорционален</a:t>
            </a:r>
            <a:r>
              <a:rPr lang="ru-RU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частоте употребления слова </a:t>
            </a:r>
            <a:r>
              <a:rPr lang="ru-RU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во всех документах коллекции. </a:t>
            </a:r>
            <a:endParaRPr sz="24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6" descr="Изображение выглядит как текст&#10;&#10;Автоматически созданное описание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9065" y="2478023"/>
            <a:ext cx="6849374" cy="227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7;p9">
            <a:extLst>
              <a:ext uri="{FF2B5EF4-FFF2-40B4-BE49-F238E27FC236}">
                <a16:creationId xmlns:a16="http://schemas.microsoft.com/office/drawing/2014/main" id="{A368FC52-2F83-354A-B689-FB827990CF2B}"/>
              </a:ext>
            </a:extLst>
          </p:cNvPr>
          <p:cNvSpPr txBox="1">
            <a:spLocks/>
          </p:cNvSpPr>
          <p:nvPr/>
        </p:nvSpPr>
        <p:spPr>
          <a:xfrm>
            <a:off x="320726" y="-19924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ru-RU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Вектора поумнее: </a:t>
            </a:r>
            <a:r>
              <a:rPr lang="en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TF-IDF</a:t>
            </a:r>
            <a:endParaRPr lang="ru-RU" sz="3200" b="1" i="0" u="none" strike="noStrike" cap="none" dirty="0">
              <a:solidFill>
                <a:schemeClr val="lt1"/>
              </a:solidFill>
            </a:endParaRP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C6C34B-AED0-2A43-94DA-1ABDFA9C4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836" y="3024525"/>
            <a:ext cx="5461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8;p14">
            <a:extLst>
              <a:ext uri="{FF2B5EF4-FFF2-40B4-BE49-F238E27FC236}">
                <a16:creationId xmlns:a16="http://schemas.microsoft.com/office/drawing/2014/main" id="{C7A9FBFA-F343-604D-A688-3860EF5288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064" y="1369045"/>
            <a:ext cx="8755981" cy="3479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61D60D-AF6D-3247-93A5-49D236A19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341" y="2040689"/>
            <a:ext cx="5253318" cy="24517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62" name="Google Shape;262;p16" descr="Изображение выглядит как текст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0331" y="2114362"/>
            <a:ext cx="4614586" cy="21122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7;p9">
            <a:extLst>
              <a:ext uri="{FF2B5EF4-FFF2-40B4-BE49-F238E27FC236}">
                <a16:creationId xmlns:a16="http://schemas.microsoft.com/office/drawing/2014/main" id="{A368FC52-2F83-354A-B689-FB827990CF2B}"/>
              </a:ext>
            </a:extLst>
          </p:cNvPr>
          <p:cNvSpPr txBox="1">
            <a:spLocks/>
          </p:cNvSpPr>
          <p:nvPr/>
        </p:nvSpPr>
        <p:spPr>
          <a:xfrm>
            <a:off x="272295" y="87652"/>
            <a:ext cx="8667750" cy="752475"/>
          </a:xfrm>
          <a:prstGeom prst="rect">
            <a:avLst/>
          </a:prstGeom>
          <a:noFill/>
          <a:ln>
            <a:noFill/>
          </a:ln>
          <a:effectLst>
            <a:outerShdw blurRad="50799" dist="50800" dir="5400000" sx="104000" sy="104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720"/>
            </a:pPr>
            <a:br>
              <a:rPr lang="ru-RU" sz="2880" b="1" dirty="0">
                <a:solidFill>
                  <a:schemeClr val="lt1"/>
                </a:solidFill>
              </a:rPr>
            </a:br>
            <a:r>
              <a:rPr lang="ru-RU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Вектора поумнее: </a:t>
            </a:r>
            <a:r>
              <a:rPr lang="en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TF-IDF</a:t>
            </a:r>
            <a:endParaRPr lang="ru-RU" sz="3200" b="1" i="0" u="none" strike="noStrike" cap="none" dirty="0">
              <a:solidFill>
                <a:schemeClr val="lt1"/>
              </a:solidFill>
            </a:endParaRPr>
          </a:p>
          <a:p>
            <a:pPr algn="l">
              <a:buSzPts val="720"/>
            </a:pPr>
            <a:endParaRPr lang="ru-RU" sz="3200" b="1" i="0" u="none" strike="noStrike" cap="none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895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4480" y="1747273"/>
            <a:ext cx="6262777" cy="21025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EFF019-4E82-5C4D-BA3B-67347A438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836" y="3024525"/>
            <a:ext cx="546100" cy="2019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3267</TotalTime>
  <Words>512</Words>
  <Application>Microsoft Macintosh PowerPoint</Application>
  <PresentationFormat>Экран (16:9)</PresentationFormat>
  <Paragraphs>120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Courier New</vt:lpstr>
      <vt:lpstr>News Cycle</vt:lpstr>
      <vt:lpstr>Roboto</vt:lpstr>
      <vt:lpstr>Helvetica Neue Light</vt:lpstr>
      <vt:lpstr>Calibri</vt:lpstr>
      <vt:lpstr>Arial</vt:lpstr>
      <vt:lpstr>POI_THEME_TEMPLATE_DESIGN</vt:lpstr>
      <vt:lpstr> Предобработка данных и понятие векторных представлений слов</vt:lpstr>
      <vt:lpstr>NLP: recap</vt:lpstr>
      <vt:lpstr>Презентация PowerPoint</vt:lpstr>
      <vt:lpstr>Презентация PowerPoint</vt:lpstr>
      <vt:lpstr>Презентация PowerPoint</vt:lpstr>
      <vt:lpstr>Три основных типа NLP задач</vt:lpstr>
      <vt:lpstr>Три основных типа NLP задач</vt:lpstr>
      <vt:lpstr>Три основных типа NLP задач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Откуда ноги растут?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23</cp:revision>
  <dcterms:modified xsi:type="dcterms:W3CDTF">2024-03-06T15:11:17Z</dcterms:modified>
</cp:coreProperties>
</file>