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8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30"/>
  </p:notesMasterIdLst>
  <p:sldIdLst>
    <p:sldId id="415" r:id="rId2"/>
    <p:sldId id="411" r:id="rId3"/>
    <p:sldId id="334" r:id="rId4"/>
    <p:sldId id="414" r:id="rId5"/>
    <p:sldId id="305" r:id="rId6"/>
    <p:sldId id="263" r:id="rId7"/>
    <p:sldId id="264" r:id="rId8"/>
    <p:sldId id="331" r:id="rId9"/>
    <p:sldId id="341" r:id="rId10"/>
    <p:sldId id="392" r:id="rId11"/>
    <p:sldId id="393" r:id="rId12"/>
    <p:sldId id="349" r:id="rId13"/>
    <p:sldId id="397" r:id="rId14"/>
    <p:sldId id="375" r:id="rId15"/>
    <p:sldId id="360" r:id="rId16"/>
    <p:sldId id="376" r:id="rId17"/>
    <p:sldId id="404" r:id="rId18"/>
    <p:sldId id="403" r:id="rId19"/>
    <p:sldId id="402" r:id="rId20"/>
    <p:sldId id="405" r:id="rId21"/>
    <p:sldId id="406" r:id="rId22"/>
    <p:sldId id="409" r:id="rId23"/>
    <p:sldId id="408" r:id="rId24"/>
    <p:sldId id="410" r:id="rId25"/>
    <p:sldId id="416" r:id="rId26"/>
    <p:sldId id="391" r:id="rId27"/>
    <p:sldId id="388" r:id="rId28"/>
    <p:sldId id="389" r:id="rId2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source sans pro" panose="020B0503030403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E6A93D-E22E-496A-AE55-A62C1E3046BF}">
  <a:tblStyle styleId="{23E6A93D-E22E-496A-AE55-A62C1E3046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6"/>
    <p:restoredTop sz="94626"/>
  </p:normalViewPr>
  <p:slideViewPr>
    <p:cSldViewPr snapToGrid="0">
      <p:cViewPr varScale="1">
        <p:scale>
          <a:sx n="155" d="100"/>
          <a:sy n="155" d="100"/>
        </p:scale>
        <p:origin x="1272" y="184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B66F61-9E35-824C-A4DD-B4D2BE9E2C85}" type="doc">
      <dgm:prSet loTypeId="urn:microsoft.com/office/officeart/2005/8/layout/venn1" loCatId="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FF00E600-A301-9C45-BFFE-05C6082795EE}">
      <dgm:prSet phldrT="[Текст]"/>
      <dgm:spPr/>
      <dgm:t>
        <a:bodyPr/>
        <a:lstStyle/>
        <a:p>
          <a:r>
            <a:rPr lang="ru-RU" dirty="0"/>
            <a:t>Явно</a:t>
          </a:r>
          <a:r>
            <a:rPr lang="ru-RU" baseline="0" dirty="0"/>
            <a:t> – </a:t>
          </a:r>
          <a:r>
            <a:rPr lang="en-US" baseline="0" dirty="0"/>
            <a:t>Figures and Axes</a:t>
          </a:r>
          <a:endParaRPr lang="ru-RU" dirty="0"/>
        </a:p>
      </dgm:t>
    </dgm:pt>
    <dgm:pt modelId="{160DFAAF-A87C-B84A-A013-A2BF43F0B8C8}" type="parTrans" cxnId="{DDD1C3A5-9228-F047-8AA3-FB4B462AFEA2}">
      <dgm:prSet/>
      <dgm:spPr/>
      <dgm:t>
        <a:bodyPr/>
        <a:lstStyle/>
        <a:p>
          <a:endParaRPr lang="ru-RU"/>
        </a:p>
      </dgm:t>
    </dgm:pt>
    <dgm:pt modelId="{FCB808E0-9E08-4B4B-8652-14F8FE651F6E}" type="sibTrans" cxnId="{DDD1C3A5-9228-F047-8AA3-FB4B462AFEA2}">
      <dgm:prSet/>
      <dgm:spPr/>
      <dgm:t>
        <a:bodyPr/>
        <a:lstStyle/>
        <a:p>
          <a:endParaRPr lang="ru-RU"/>
        </a:p>
      </dgm:t>
    </dgm:pt>
    <dgm:pt modelId="{F04430D8-90C4-3A45-913B-9B9665FD3999}">
      <dgm:prSet phldrT="[Текст]"/>
      <dgm:spPr/>
      <dgm:t>
        <a:bodyPr/>
        <a:lstStyle/>
        <a:p>
          <a:r>
            <a:rPr lang="ru-RU" dirty="0" err="1"/>
            <a:t>Полуавто</a:t>
          </a:r>
          <a:r>
            <a:rPr lang="ru-RU" dirty="0"/>
            <a:t> - </a:t>
          </a:r>
          <a:r>
            <a:rPr lang="en-US" dirty="0" err="1"/>
            <a:t>pyplot</a:t>
          </a:r>
          <a:endParaRPr lang="ru-RU" dirty="0"/>
        </a:p>
      </dgm:t>
    </dgm:pt>
    <dgm:pt modelId="{F2845F4B-F498-C347-B141-8F33C6D6DD01}" type="parTrans" cxnId="{B2EBC3AF-3B2A-4F4E-8662-D06BACFD26B7}">
      <dgm:prSet/>
      <dgm:spPr/>
      <dgm:t>
        <a:bodyPr/>
        <a:lstStyle/>
        <a:p>
          <a:endParaRPr lang="ru-RU"/>
        </a:p>
      </dgm:t>
    </dgm:pt>
    <dgm:pt modelId="{B817891D-4DD6-AE48-99D8-2F118FFCA60E}" type="sibTrans" cxnId="{B2EBC3AF-3B2A-4F4E-8662-D06BACFD26B7}">
      <dgm:prSet/>
      <dgm:spPr/>
      <dgm:t>
        <a:bodyPr/>
        <a:lstStyle/>
        <a:p>
          <a:endParaRPr lang="ru-RU"/>
        </a:p>
      </dgm:t>
    </dgm:pt>
    <dgm:pt modelId="{23F9B57E-DDED-BE40-8BCC-CE86EE4B38AC}" type="pres">
      <dgm:prSet presAssocID="{A8B66F61-9E35-824C-A4DD-B4D2BE9E2C85}" presName="compositeShape" presStyleCnt="0">
        <dgm:presLayoutVars>
          <dgm:chMax val="7"/>
          <dgm:dir/>
          <dgm:resizeHandles val="exact"/>
        </dgm:presLayoutVars>
      </dgm:prSet>
      <dgm:spPr/>
    </dgm:pt>
    <dgm:pt modelId="{4A357F4A-1015-2D41-888A-9D3C7A36A59E}" type="pres">
      <dgm:prSet presAssocID="{FF00E600-A301-9C45-BFFE-05C6082795EE}" presName="circ1" presStyleLbl="vennNode1" presStyleIdx="0" presStyleCnt="2"/>
      <dgm:spPr/>
    </dgm:pt>
    <dgm:pt modelId="{57FF6263-EE59-894F-8081-86BE135EB1E3}" type="pres">
      <dgm:prSet presAssocID="{FF00E600-A301-9C45-BFFE-05C6082795E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675B776-2569-6E48-89B0-DEFA42F1FC54}" type="pres">
      <dgm:prSet presAssocID="{F04430D8-90C4-3A45-913B-9B9665FD3999}" presName="circ2" presStyleLbl="vennNode1" presStyleIdx="1" presStyleCnt="2"/>
      <dgm:spPr/>
    </dgm:pt>
    <dgm:pt modelId="{850FE8DB-8A91-4141-9FF5-88010CA86BB7}" type="pres">
      <dgm:prSet presAssocID="{F04430D8-90C4-3A45-913B-9B9665FD3999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9963B2C-19D8-894F-8836-5CB14F656EBB}" type="presOf" srcId="{F04430D8-90C4-3A45-913B-9B9665FD3999}" destId="{F675B776-2569-6E48-89B0-DEFA42F1FC54}" srcOrd="0" destOrd="0" presId="urn:microsoft.com/office/officeart/2005/8/layout/venn1"/>
    <dgm:cxn modelId="{C5BEE94A-BFA7-EF4C-B2B9-8ACC85643730}" type="presOf" srcId="{A8B66F61-9E35-824C-A4DD-B4D2BE9E2C85}" destId="{23F9B57E-DDED-BE40-8BCC-CE86EE4B38AC}" srcOrd="0" destOrd="0" presId="urn:microsoft.com/office/officeart/2005/8/layout/venn1"/>
    <dgm:cxn modelId="{E16F6053-C5A3-824E-98D7-B5A63EF13215}" type="presOf" srcId="{FF00E600-A301-9C45-BFFE-05C6082795EE}" destId="{57FF6263-EE59-894F-8081-86BE135EB1E3}" srcOrd="1" destOrd="0" presId="urn:microsoft.com/office/officeart/2005/8/layout/venn1"/>
    <dgm:cxn modelId="{58130D74-C2E9-EB4C-9348-EF9DCD1A809D}" type="presOf" srcId="{FF00E600-A301-9C45-BFFE-05C6082795EE}" destId="{4A357F4A-1015-2D41-888A-9D3C7A36A59E}" srcOrd="0" destOrd="0" presId="urn:microsoft.com/office/officeart/2005/8/layout/venn1"/>
    <dgm:cxn modelId="{DDD1C3A5-9228-F047-8AA3-FB4B462AFEA2}" srcId="{A8B66F61-9E35-824C-A4DD-B4D2BE9E2C85}" destId="{FF00E600-A301-9C45-BFFE-05C6082795EE}" srcOrd="0" destOrd="0" parTransId="{160DFAAF-A87C-B84A-A013-A2BF43F0B8C8}" sibTransId="{FCB808E0-9E08-4B4B-8652-14F8FE651F6E}"/>
    <dgm:cxn modelId="{B2EBC3AF-3B2A-4F4E-8662-D06BACFD26B7}" srcId="{A8B66F61-9E35-824C-A4DD-B4D2BE9E2C85}" destId="{F04430D8-90C4-3A45-913B-9B9665FD3999}" srcOrd="1" destOrd="0" parTransId="{F2845F4B-F498-C347-B141-8F33C6D6DD01}" sibTransId="{B817891D-4DD6-AE48-99D8-2F118FFCA60E}"/>
    <dgm:cxn modelId="{8F69E8D7-84DD-4A47-A778-3A216A5866DF}" type="presOf" srcId="{F04430D8-90C4-3A45-913B-9B9665FD3999}" destId="{850FE8DB-8A91-4141-9FF5-88010CA86BB7}" srcOrd="1" destOrd="0" presId="urn:microsoft.com/office/officeart/2005/8/layout/venn1"/>
    <dgm:cxn modelId="{6600410E-2F2C-C94C-814D-138865CB9771}" type="presParOf" srcId="{23F9B57E-DDED-BE40-8BCC-CE86EE4B38AC}" destId="{4A357F4A-1015-2D41-888A-9D3C7A36A59E}" srcOrd="0" destOrd="0" presId="urn:microsoft.com/office/officeart/2005/8/layout/venn1"/>
    <dgm:cxn modelId="{A56F94BE-7C73-B34F-9291-200E9616D059}" type="presParOf" srcId="{23F9B57E-DDED-BE40-8BCC-CE86EE4B38AC}" destId="{57FF6263-EE59-894F-8081-86BE135EB1E3}" srcOrd="1" destOrd="0" presId="urn:microsoft.com/office/officeart/2005/8/layout/venn1"/>
    <dgm:cxn modelId="{3A76412E-2C1D-874A-9A54-C4B0AE35D5EA}" type="presParOf" srcId="{23F9B57E-DDED-BE40-8BCC-CE86EE4B38AC}" destId="{F675B776-2569-6E48-89B0-DEFA42F1FC54}" srcOrd="2" destOrd="0" presId="urn:microsoft.com/office/officeart/2005/8/layout/venn1"/>
    <dgm:cxn modelId="{F34A52BB-ABD7-4A4D-9A91-34FEFA4DAAA6}" type="presParOf" srcId="{23F9B57E-DDED-BE40-8BCC-CE86EE4B38AC}" destId="{850FE8DB-8A91-4141-9FF5-88010CA86BB7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57F4A-1015-2D41-888A-9D3C7A36A59E}">
      <dsp:nvSpPr>
        <dsp:cNvPr id="0" name=""/>
        <dsp:cNvSpPr/>
      </dsp:nvSpPr>
      <dsp:spPr>
        <a:xfrm>
          <a:off x="371777" y="9238"/>
          <a:ext cx="3377866" cy="337786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/>
            <a:t>Явно</a:t>
          </a:r>
          <a:r>
            <a:rPr lang="ru-RU" sz="3400" kern="1200" baseline="0" dirty="0"/>
            <a:t> – </a:t>
          </a:r>
          <a:r>
            <a:rPr lang="en-US" sz="3400" kern="1200" baseline="0" dirty="0"/>
            <a:t>Figures and Axes</a:t>
          </a:r>
          <a:endParaRPr lang="ru-RU" sz="3400" kern="1200" dirty="0"/>
        </a:p>
      </dsp:txBody>
      <dsp:txXfrm>
        <a:off x="843461" y="407561"/>
        <a:ext cx="1947598" cy="2581220"/>
      </dsp:txXfrm>
    </dsp:sp>
    <dsp:sp modelId="{F675B776-2569-6E48-89B0-DEFA42F1FC54}">
      <dsp:nvSpPr>
        <dsp:cNvPr id="0" name=""/>
        <dsp:cNvSpPr/>
      </dsp:nvSpPr>
      <dsp:spPr>
        <a:xfrm>
          <a:off x="2806276" y="9238"/>
          <a:ext cx="3377866" cy="3377866"/>
        </a:xfrm>
        <a:prstGeom prst="ellipse">
          <a:avLst/>
        </a:prstGeom>
        <a:solidFill>
          <a:schemeClr val="accent4">
            <a:alpha val="50000"/>
            <a:hueOff val="9128156"/>
            <a:satOff val="0"/>
            <a:lumOff val="-29804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 err="1"/>
            <a:t>Полуавто</a:t>
          </a:r>
          <a:r>
            <a:rPr lang="ru-RU" sz="3400" kern="1200" dirty="0"/>
            <a:t> - </a:t>
          </a:r>
          <a:r>
            <a:rPr lang="en-US" sz="3400" kern="1200" dirty="0" err="1"/>
            <a:t>pyplot</a:t>
          </a:r>
          <a:endParaRPr lang="ru-RU" sz="3400" kern="1200" dirty="0"/>
        </a:p>
      </dsp:txBody>
      <dsp:txXfrm>
        <a:off x="3764860" y="407561"/>
        <a:ext cx="1947598" cy="2581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28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638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706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7407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142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f72f1f578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f72f1f578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66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76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2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7" r:id="rId6"/>
    <p:sldLayoutId id="2147483663" r:id="rId7"/>
    <p:sldLayoutId id="2147483664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gif"/><Relationship Id="rId3" Type="http://schemas.openxmlformats.org/officeDocument/2006/relationships/hyperlink" Target="https://www.routledge.com/Visualization-Analysis-and-Design/Munzner/p/book/9781466508910" TargetMode="External"/><Relationship Id="rId7" Type="http://schemas.openxmlformats.org/officeDocument/2006/relationships/image" Target="../media/image30.png"/><Relationship Id="rId2" Type="http://schemas.openxmlformats.org/officeDocument/2006/relationships/hyperlink" Target="https://www.edwardtufte.com/tufte/books_vdq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ureau.ru/soviet/selected/igor-vahromeev/tipografika-i-vyorstka/" TargetMode="External"/><Relationship Id="rId5" Type="http://schemas.openxmlformats.org/officeDocument/2006/relationships/hyperlink" Target="https://blog.infotanka.ru/" TargetMode="External"/><Relationship Id="rId4" Type="http://schemas.openxmlformats.org/officeDocument/2006/relationships/hyperlink" Target="https://www.litres.ru/aleksandr-bogachev/grafiki-kotorye-ubezhdaut-vseh/" TargetMode="External"/><Relationship Id="rId9" Type="http://schemas.openxmlformats.org/officeDocument/2006/relationships/image" Target="../media/image32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hyperlink" Target="https://www.mann-ivanov-ferber.ru/books/dizajn-privyichnyix-veshhej/" TargetMode="External"/><Relationship Id="rId7" Type="http://schemas.openxmlformats.org/officeDocument/2006/relationships/image" Target="../media/image33.jpg"/><Relationship Id="rId2" Type="http://schemas.openxmlformats.org/officeDocument/2006/relationships/hyperlink" Target="https://www.litres.ru/dzhef-raskin/interfeys-novye-napravleniya-v-proektirovanii-komputernyh-sistem-2449944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nn-ivanov-ferber.ru/books/dannye-vizualiziruj-rasskazhi-ispolzuj/" TargetMode="External"/><Relationship Id="rId11" Type="http://schemas.openxmlformats.org/officeDocument/2006/relationships/image" Target="../media/image37.png"/><Relationship Id="rId5" Type="http://schemas.openxmlformats.org/officeDocument/2006/relationships/hyperlink" Target="https://www.mann-ivanov-ferber.ru/books/paperbook/back-napkin/" TargetMode="External"/><Relationship Id="rId10" Type="http://schemas.openxmlformats.org/officeDocument/2006/relationships/image" Target="../media/image36.png"/><Relationship Id="rId4" Type="http://schemas.openxmlformats.org/officeDocument/2006/relationships/hyperlink" Target="https://www.litres.ru/barbara-minto/princip-piramidy-minto-r-zolotye-pravila-myshleniya-delovogo" TargetMode="External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www.litres.ru/book/dzhoshua-kerievski-21148538/refaktoring-s-ispolzovaniem-shablonov-48638019/" TargetMode="External"/><Relationship Id="rId7" Type="http://schemas.openxmlformats.org/officeDocument/2006/relationships/image" Target="../media/image39.jpeg"/><Relationship Id="rId2" Type="http://schemas.openxmlformats.org/officeDocument/2006/relationships/hyperlink" Target="https://www.litres.ru/martin-fauler/refaktoring-koda-na-javascript-uluchshenie-proekta-4861375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hyperlink" Target="https://bureau.ru/soviet/productdesign/selected/" TargetMode="External"/><Relationship Id="rId4" Type="http://schemas.openxmlformats.org/officeDocument/2006/relationships/hyperlink" Target="https://www.mann-ivanov-ferber.ru/books/golaya-statistika/" TargetMode="External"/><Relationship Id="rId9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468295/" TargetMode="External"/><Relationship Id="rId3" Type="http://schemas.openxmlformats.org/officeDocument/2006/relationships/hyperlink" Target="https://revealthedata.com/blog/" TargetMode="External"/><Relationship Id="rId7" Type="http://schemas.openxmlformats.org/officeDocument/2006/relationships/hyperlink" Target="https://github.com/nalgeon/dataviz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abr.com/ru/company/true_engineering/blog/422093/" TargetMode="External"/><Relationship Id="rId5" Type="http://schemas.openxmlformats.org/officeDocument/2006/relationships/hyperlink" Target="https://python-graph-gallery.com/" TargetMode="External"/><Relationship Id="rId4" Type="http://schemas.openxmlformats.org/officeDocument/2006/relationships/hyperlink" Target="https://www.data-to-viz.com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BI </a:t>
            </a:r>
            <a:r>
              <a:rPr lang="ru-RU" sz="5600" spc="-35" dirty="0">
                <a:solidFill>
                  <a:srgbClr val="FFFFFF"/>
                </a:solidFill>
              </a:rPr>
              <a:t>Аналитик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Визуализация данных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BI</a:t>
            </a:r>
            <a:r>
              <a:rPr lang="ru-RU" dirty="0"/>
              <a:t> аналитик</a:t>
            </a:r>
            <a:br>
              <a:rPr lang="en-US" dirty="0"/>
            </a:br>
            <a:r>
              <a:rPr lang="ru-RU" dirty="0"/>
              <a:t>Визуализация данных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914203DC-EABC-A147-B314-E38A863404D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ru-RU" sz="1150" b="1" kern="0" dirty="0"/>
              <a:t> </a:t>
            </a:r>
            <a:r>
              <a:rPr lang="en-US" sz="1150" b="1" kern="0" dirty="0"/>
              <a:t>DM-Solutions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738008" y="1426469"/>
            <a:ext cx="2665379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1148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2200" dirty="0"/>
          </a:p>
          <a:p>
            <a:pPr marL="0" marR="28067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9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 err="1"/>
              <a:t>Задаем</a:t>
            </a:r>
            <a:r>
              <a:rPr spc="-45" dirty="0"/>
              <a:t> </a:t>
            </a:r>
            <a:r>
              <a:rPr spc="-5" dirty="0" err="1"/>
              <a:t>вопрос</a:t>
            </a:r>
            <a:r>
              <a:rPr lang="ru-RU" spc="-5" dirty="0"/>
              <a:t> </a:t>
            </a:r>
            <a:br>
              <a:rPr lang="ru-RU" spc="-5" dirty="0"/>
            </a:b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lang="ru-RU" spc="-3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spc="-1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spc="-10" dirty="0"/>
          </a:p>
          <a:p>
            <a:pPr marL="0" marR="5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10" dirty="0" err="1"/>
              <a:t>Вопросы</a:t>
            </a:r>
            <a:r>
              <a:rPr spc="-10" dirty="0"/>
              <a:t>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EC7AAE1-F612-A948-BBCA-1CDECDA2E53E}"/>
              </a:ext>
            </a:extLst>
          </p:cNvPr>
          <p:cNvGrpSpPr/>
          <p:nvPr/>
        </p:nvGrpSpPr>
        <p:grpSpPr>
          <a:xfrm>
            <a:off x="6046470" y="1135"/>
            <a:ext cx="3097530" cy="5135880"/>
            <a:chOff x="6046470" y="1135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470" y="1135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9332" y="190441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9332" y="238450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9332" y="286460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9332" y="334469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9332" y="382478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9332" y="430488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4294967295"/>
          </p:nvPr>
        </p:nvSpPr>
        <p:spPr>
          <a:xfrm>
            <a:off x="7277100" y="1116013"/>
            <a:ext cx="1866900" cy="3535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29591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pc="-10" dirty="0">
                <a:solidFill>
                  <a:schemeClr val="bg1"/>
                </a:solidFill>
              </a:rPr>
              <a:t>Условные 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обозначения</a:t>
            </a:r>
          </a:p>
          <a:p>
            <a:pPr marL="161290" indent="0">
              <a:lnSpc>
                <a:spcPct val="100000"/>
              </a:lnSpc>
              <a:spcBef>
                <a:spcPts val="1895"/>
              </a:spcBef>
              <a:buNone/>
            </a:pP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Индивидуально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5080" indent="0">
              <a:lnSpc>
                <a:spcPct val="100000"/>
              </a:lnSpc>
              <a:spcBef>
                <a:spcPts val="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на</a:t>
            </a: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активность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0"/>
              </a:spcBef>
              <a:buNone/>
            </a:pPr>
            <a:endParaRPr sz="16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buNone/>
            </a:pP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Пишем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в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чат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Говорим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голосом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80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Документ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5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161925" indent="0">
              <a:lnSpc>
                <a:spcPct val="100000"/>
              </a:lnSpc>
              <a:buNone/>
            </a:pP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Ответьте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себе </a:t>
            </a:r>
            <a:r>
              <a:rPr sz="1100" b="0" spc="10" dirty="0">
                <a:solidFill>
                  <a:schemeClr val="bg1"/>
                </a:solidFill>
                <a:latin typeface="Roboto"/>
                <a:cs typeface="Roboto"/>
              </a:rPr>
              <a:t>или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задайте</a:t>
            </a: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вопрос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364291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2755741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Plotly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596159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хорошая визуализация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8" y="1263005"/>
            <a:ext cx="12700" cy="8404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943841"/>
            <a:ext cx="12700" cy="8404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6" y="4436576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7" y="3784258"/>
            <a:ext cx="3" cy="840417"/>
          </a:xfrm>
          <a:prstGeom prst="curvedConnector3">
            <a:avLst>
              <a:gd name="adj1" fmla="val 762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8" y="1915323"/>
            <a:ext cx="364291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Seaborn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H="1" flipV="1">
            <a:off x="740237" y="2103423"/>
            <a:ext cx="1" cy="840418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8179C8A6-CD52-0C48-BC22-53EABB185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850" y="1074905"/>
            <a:ext cx="4196763" cy="3632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168" name="Google Shape;168;p23"/>
          <p:cNvGraphicFramePr/>
          <p:nvPr>
            <p:extLst>
              <p:ext uri="{D42A27DB-BD31-4B8C-83A1-F6EECF244321}">
                <p14:modId xmlns:p14="http://schemas.microsoft.com/office/powerpoint/2010/main" val="883200827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Уметь рисовать графики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ыбрать подходящую библиотеку визуализации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Оценить качество визуализаций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" name="Google Shape;170;p2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После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76" name="Google Shape;176;p24"/>
          <p:cNvGraphicFramePr/>
          <p:nvPr>
            <p:extLst>
              <p:ext uri="{D42A27DB-BD31-4B8C-83A1-F6EECF244321}">
                <p14:modId xmlns:p14="http://schemas.microsoft.com/office/powerpoint/2010/main" val="1631979163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Искать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инсайты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EDA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Подкреплять выводы визуализациями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Сторителлинг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эстетика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8" name="Google Shape;178;p2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Matplotlib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4821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812EA4C-E100-B142-84B1-235223BF2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43" y="564204"/>
            <a:ext cx="4015091" cy="401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8A31036-7D8B-694F-AB4D-2205A16C9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1" y="214008"/>
            <a:ext cx="5289754" cy="1269541"/>
          </a:xfrm>
          <a:prstGeom prst="rect">
            <a:avLst/>
          </a:prstGeom>
        </p:spPr>
      </p:pic>
      <p:pic>
        <p:nvPicPr>
          <p:cNvPr id="6" name="Picture 2" descr="Chart">
            <a:extLst>
              <a:ext uri="{FF2B5EF4-FFF2-40B4-BE49-F238E27FC236}">
                <a16:creationId xmlns:a16="http://schemas.microsoft.com/office/drawing/2014/main" id="{104B5011-6AF0-9F42-A444-9998D5447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74" y="1686127"/>
            <a:ext cx="2940653" cy="306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39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BB881-CE4B-1A41-8B56-C4FBB375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styles</a:t>
            </a:r>
            <a:endParaRPr lang="ru-RU" dirty="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524F0E68-D1FA-E848-9FB3-13AC5398F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108892"/>
              </p:ext>
            </p:extLst>
          </p:nvPr>
        </p:nvGraphicFramePr>
        <p:xfrm>
          <a:off x="122850" y="987878"/>
          <a:ext cx="6555921" cy="3396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86B3FEA-68F0-E44A-A975-2714CE6E2CEB}"/>
              </a:ext>
            </a:extLst>
          </p:cNvPr>
          <p:cNvSpPr txBox="1"/>
          <p:nvPr/>
        </p:nvSpPr>
        <p:spPr>
          <a:xfrm>
            <a:off x="4144447" y="4579257"/>
            <a:ext cx="1232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i="0" u="none" strike="noStrike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state-based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46C68-C77B-264C-B808-7F86B71EC409}"/>
              </a:ext>
            </a:extLst>
          </p:cNvPr>
          <p:cNvSpPr txBox="1"/>
          <p:nvPr/>
        </p:nvSpPr>
        <p:spPr>
          <a:xfrm>
            <a:off x="1581248" y="4579256"/>
            <a:ext cx="1232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i="0" u="none" strike="noStrike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state</a:t>
            </a:r>
            <a:r>
              <a:rPr lang="en-US" dirty="0">
                <a:solidFill>
                  <a:srgbClr val="222222"/>
                </a:solidFill>
                <a:latin typeface="source sans pro" panose="020F0502020204030204" pitchFamily="34" charset="0"/>
              </a:rPr>
              <a:t>less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5D13D-B30C-CC46-BD9F-6B38EA6EA161}"/>
              </a:ext>
            </a:extLst>
          </p:cNvPr>
          <p:cNvSpPr txBox="1"/>
          <p:nvPr/>
        </p:nvSpPr>
        <p:spPr>
          <a:xfrm>
            <a:off x="6678771" y="1048256"/>
            <a:ext cx="22288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 err="1">
                <a:solidFill>
                  <a:srgbClr val="222222"/>
                </a:solidFill>
                <a:latin typeface="source sans pro" panose="020B0503030403020204" pitchFamily="34" charset="0"/>
              </a:rPr>
              <a:t>Pyplot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– совокупность оберток над объектно-ориентированными интерфейсами. </a:t>
            </a:r>
          </a:p>
          <a:p>
            <a:endParaRPr lang="en-US" sz="1600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endParaRPr lang="ru-RU" sz="1600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r>
              <a:rPr lang="en" sz="1600" dirty="0" err="1"/>
              <a:t>plt.title</a:t>
            </a:r>
            <a:r>
              <a:rPr lang="en" sz="1600" dirty="0"/>
              <a:t>()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соответствует геттерам и сеттерам ОО подхода 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</a:t>
            </a:r>
            <a:r>
              <a:rPr lang="en" sz="1600" dirty="0" err="1"/>
              <a:t>ax.set_title</a:t>
            </a:r>
            <a:r>
              <a:rPr lang="en" sz="1600" dirty="0"/>
              <a:t>()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and </a:t>
            </a:r>
            <a:r>
              <a:rPr lang="en" sz="1600" dirty="0" err="1"/>
              <a:t>ax.get_title</a:t>
            </a:r>
            <a:r>
              <a:rPr lang="en" sz="1600" dirty="0"/>
              <a:t>()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84317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6B0E183-8E2F-3A43-B336-40540D67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B5684A-ABD1-C942-8D8F-A7450D877A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74" t="26032" r="15753" b="38095"/>
          <a:stretch/>
        </p:blipFill>
        <p:spPr>
          <a:xfrm>
            <a:off x="5702683" y="1757237"/>
            <a:ext cx="3318467" cy="2280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CB6701-E22F-6F4E-8850-7A5D22B64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238"/>
          <a:stretch/>
        </p:blipFill>
        <p:spPr>
          <a:xfrm>
            <a:off x="500550" y="1623750"/>
            <a:ext cx="4986686" cy="12736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80BC2B-07DD-4149-A44F-2504D3DE57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93"/>
          <a:stretch/>
        </p:blipFill>
        <p:spPr>
          <a:xfrm>
            <a:off x="500550" y="3360786"/>
            <a:ext cx="4986686" cy="10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9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Seaborn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27538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03BAE-47C3-364E-B602-F0100303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0" dirty="0"/>
              <a:t>Figure-level vs. axes-level functions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61CBEF-E848-DC44-B162-0AD65813CA44}"/>
              </a:ext>
            </a:extLst>
          </p:cNvPr>
          <p:cNvSpPr txBox="1"/>
          <p:nvPr/>
        </p:nvSpPr>
        <p:spPr>
          <a:xfrm>
            <a:off x="500550" y="1131040"/>
            <a:ext cx="22916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dirty="0"/>
              <a:t>axes-level – </a:t>
            </a:r>
            <a:r>
              <a:rPr lang="ru-RU" b="0" dirty="0"/>
              <a:t>деление по оси (</a:t>
            </a:r>
            <a:r>
              <a:rPr lang="ru-RU" b="0" dirty="0" err="1"/>
              <a:t>напр</a:t>
            </a:r>
            <a:r>
              <a:rPr lang="ru-RU" b="0" dirty="0"/>
              <a:t>, группировка по признаку)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988715-8003-4745-9DEA-557F02C2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18" y="2145322"/>
            <a:ext cx="4149967" cy="2667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D0FC54-C360-E445-851A-D429C710B25D}"/>
              </a:ext>
            </a:extLst>
          </p:cNvPr>
          <p:cNvSpPr txBox="1"/>
          <p:nvPr/>
        </p:nvSpPr>
        <p:spPr>
          <a:xfrm>
            <a:off x="5461714" y="1131040"/>
            <a:ext cx="24249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Figure-level</a:t>
            </a:r>
            <a:r>
              <a:rPr lang="en" b="0" dirty="0"/>
              <a:t> – </a:t>
            </a:r>
            <a:r>
              <a:rPr lang="ru-RU" b="0" dirty="0"/>
              <a:t>разные типы графиков внутри одной функции</a:t>
            </a:r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191333-CE13-BA49-B9B1-2FF5252E8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850" y="1869704"/>
            <a:ext cx="4076700" cy="294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840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7821033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 dirty="0"/>
              <a:t>Про хорошие визуализации</a:t>
            </a:r>
            <a:endParaRPr sz="3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057030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74BE1-279B-A144-9F54-B8D91715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86" y="1187974"/>
            <a:ext cx="8520600" cy="1095900"/>
          </a:xfrm>
        </p:spPr>
        <p:txBody>
          <a:bodyPr/>
          <a:lstStyle/>
          <a:p>
            <a:r>
              <a:rPr lang="ru-RU" dirty="0"/>
              <a:t>Что для вас хороший график или </a:t>
            </a:r>
            <a:r>
              <a:rPr lang="ru-RU" dirty="0" err="1"/>
              <a:t>дэшборд</a:t>
            </a:r>
            <a:r>
              <a:rPr lang="ru-RU" dirty="0"/>
              <a:t>?</a:t>
            </a:r>
          </a:p>
        </p:txBody>
      </p:sp>
      <p:pic>
        <p:nvPicPr>
          <p:cNvPr id="13" name="Google Shape;119;p20">
            <a:extLst>
              <a:ext uri="{FF2B5EF4-FFF2-40B4-BE49-F238E27FC236}">
                <a16:creationId xmlns:a16="http://schemas.microsoft.com/office/drawing/2014/main" id="{1B0749D9-02FE-0347-8F88-13B2E94E85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0;p20">
            <a:extLst>
              <a:ext uri="{FF2B5EF4-FFF2-40B4-BE49-F238E27FC236}">
                <a16:creationId xmlns:a16="http://schemas.microsoft.com/office/drawing/2014/main" id="{DB4C9B1C-9567-BE49-A583-D22459B173DD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121;p20">
            <a:extLst>
              <a:ext uri="{FF2B5EF4-FFF2-40B4-BE49-F238E27FC236}">
                <a16:creationId xmlns:a16="http://schemas.microsoft.com/office/drawing/2014/main" id="{EAE03A83-D544-3349-8A6C-B2375222DA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22;p20">
            <a:extLst>
              <a:ext uri="{FF2B5EF4-FFF2-40B4-BE49-F238E27FC236}">
                <a16:creationId xmlns:a16="http://schemas.microsoft.com/office/drawing/2014/main" id="{CE3188D6-70C6-914F-A420-F6FD1D6AF9AF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437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263F91-1CEB-714D-89A8-9AEBF61AA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  <p:pic>
        <p:nvPicPr>
          <p:cNvPr id="1026" name="Picture 2" descr="Не быть тебе дизайнером | Пикабу">
            <a:extLst>
              <a:ext uri="{FF2B5EF4-FFF2-40B4-BE49-F238E27FC236}">
                <a16:creationId xmlns:a16="http://schemas.microsoft.com/office/drawing/2014/main" id="{260F897B-F043-9949-BA72-8092B5984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2" b="4603"/>
          <a:stretch/>
        </p:blipFill>
        <p:spPr bwMode="auto">
          <a:xfrm>
            <a:off x="141514" y="133924"/>
            <a:ext cx="4667250" cy="472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7FE1352-1B9A-A040-8EE2-7A87872E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30724"/>
            <a:ext cx="4449150" cy="1095900"/>
          </a:xfrm>
        </p:spPr>
        <p:txBody>
          <a:bodyPr/>
          <a:lstStyle/>
          <a:p>
            <a:r>
              <a:rPr lang="ru-RU" dirty="0"/>
              <a:t>Зачем</a:t>
            </a:r>
          </a:p>
        </p:txBody>
      </p:sp>
      <p:graphicFrame>
        <p:nvGraphicFramePr>
          <p:cNvPr id="10" name="Google Shape;168;p23">
            <a:extLst>
              <a:ext uri="{FF2B5EF4-FFF2-40B4-BE49-F238E27FC236}">
                <a16:creationId xmlns:a16="http://schemas.microsoft.com/office/drawing/2014/main" id="{D7C3EA1B-620E-7048-A7E6-B67E4754D8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914392"/>
              </p:ext>
            </p:extLst>
          </p:nvPr>
        </p:nvGraphicFramePr>
        <p:xfrm>
          <a:off x="4808764" y="1745664"/>
          <a:ext cx="3745383" cy="1486770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7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3350" indent="0">
                        <a:buFont typeface="Arial" panose="020B0604020202020204" pitchFamily="34" charset="0"/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Легкое и быстрое восприятие информации для пользователей</a:t>
                      </a:r>
                    </a:p>
                  </a:txBody>
                  <a:tcPr marL="45720" marR="4572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Выявление неочевидных закономерностей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/>
                        <a:t>Единство стиля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587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887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BD6-2E29-D342-B937-6A9A733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Навыки для визуализации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9D286-1877-934E-A308-2F02BE3724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17</a:t>
            </a:fld>
            <a:endParaRPr lang="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9B821-D411-314C-BB83-AAFE1AC593FA}"/>
              </a:ext>
            </a:extLst>
          </p:cNvPr>
          <p:cNvSpPr txBox="1"/>
          <p:nvPr/>
        </p:nvSpPr>
        <p:spPr>
          <a:xfrm>
            <a:off x="416378" y="4834427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 err="1"/>
              <a:t>https</a:t>
            </a:r>
            <a:r>
              <a:rPr lang="ru-RU" sz="900" dirty="0"/>
              <a:t>://</a:t>
            </a:r>
            <a:r>
              <a:rPr lang="ru-RU" sz="900" dirty="0" err="1"/>
              <a:t>revealthedata.com</a:t>
            </a:r>
            <a:r>
              <a:rPr lang="ru-RU" sz="900" dirty="0"/>
              <a:t>/</a:t>
            </a:r>
            <a:r>
              <a:rPr lang="ru-RU" sz="900" dirty="0" err="1"/>
              <a:t>blog</a:t>
            </a:r>
            <a:r>
              <a:rPr lang="ru-RU" sz="900" dirty="0"/>
              <a:t>/</a:t>
            </a:r>
            <a:r>
              <a:rPr lang="ru-RU" sz="900" dirty="0" err="1"/>
              <a:t>all</a:t>
            </a:r>
            <a:r>
              <a:rPr lang="ru-RU" sz="900" dirty="0"/>
              <a:t>/</a:t>
            </a:r>
            <a:r>
              <a:rPr lang="ru-RU" sz="900" dirty="0" err="1"/>
              <a:t>navyki-dlya-vizualizacii-dannyh-i-dataviz-inzhenerov</a:t>
            </a:r>
            <a:r>
              <a:rPr lang="ru-RU" sz="900" dirty="0"/>
              <a:t>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1B328-35C0-9248-9508-B1900B519221}"/>
              </a:ext>
            </a:extLst>
          </p:cNvPr>
          <p:cNvSpPr txBox="1"/>
          <p:nvPr/>
        </p:nvSpPr>
        <p:spPr>
          <a:xfrm>
            <a:off x="500550" y="1310463"/>
            <a:ext cx="387041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100" b="0" i="1" u="none" strike="noStrike" dirty="0">
                <a:solidFill>
                  <a:srgbClr val="000000"/>
                </a:solidFill>
                <a:effectLst/>
                <a:latin typeface=""/>
              </a:rPr>
              <a:t>Больше «дизайнерские»</a:t>
            </a: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Визуализация данных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«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Тафти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скилз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» — минимизация чернил, принципы визуального кодирования данных, принципы оформления графиков.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2"/>
              </a:rPr>
              <a:t>Тафти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3"/>
              </a:rPr>
              <a:t>Манзнер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4"/>
              </a:rPr>
              <a:t>Богачёв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5"/>
              </a:rPr>
              <a:t>Блог Тани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1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1" dirty="0">
              <a:latin typeface=""/>
            </a:endParaRPr>
          </a:p>
          <a:p>
            <a:pPr algn="l" fontAlgn="base"/>
            <a:endParaRPr lang="ru-RU" sz="1100" b="1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Графический дизайн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Правила верстки, композиция, модульные сетки, цвета и 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типографика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 адаптивный дизайн, работа с динамичным контентом (изменение данных в графиках).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6"/>
              </a:rPr>
              <a:t>Советы на сайте Бюро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 и книги, которые там рекомендуют.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5B663-D145-6142-A0F8-30ABF6AFEA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881" y="996347"/>
            <a:ext cx="26797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4499A4-C2D1-204E-BB85-6B42F4DB80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7895" y="330724"/>
            <a:ext cx="2255060" cy="2852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2D5217-03DD-AD49-B098-54235DD19F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274" y="2932751"/>
            <a:ext cx="1533224" cy="188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87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BD6-2E29-D342-B937-6A9A733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Навыки для визуализации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9D286-1877-934E-A308-2F02BE3724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0CD36-C686-D440-8EDF-F7E35F7BB599}"/>
              </a:ext>
            </a:extLst>
          </p:cNvPr>
          <p:cNvSpPr txBox="1"/>
          <p:nvPr/>
        </p:nvSpPr>
        <p:spPr>
          <a:xfrm>
            <a:off x="4257482" y="1162941"/>
            <a:ext cx="457200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Дизайн интерфейсов и </a:t>
            </a:r>
            <a:r>
              <a:rPr lang="en" sz="1100" b="1" i="0" u="none" strike="noStrike" dirty="0">
                <a:solidFill>
                  <a:srgbClr val="000000"/>
                </a:solidFill>
                <a:effectLst/>
                <a:latin typeface=""/>
              </a:rPr>
              <a:t>UX</a:t>
            </a:r>
            <a:br>
              <a:rPr lang="en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Выбор подходящих элементов управления, паттерны использования </a:t>
            </a:r>
            <a:r>
              <a:rPr lang="en" sz="1100" b="0" i="0" u="none" strike="noStrike" dirty="0">
                <a:solidFill>
                  <a:srgbClr val="000000"/>
                </a:solidFill>
                <a:effectLst/>
                <a:latin typeface=""/>
              </a:rPr>
              <a:t>UI 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элементов, сценарии работы.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2"/>
              </a:rPr>
              <a:t>Раскин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3"/>
              </a:rPr>
              <a:t>Норман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dirty="0"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 err="1">
                <a:solidFill>
                  <a:srgbClr val="000000"/>
                </a:solidFill>
                <a:effectLst/>
                <a:latin typeface=""/>
              </a:rPr>
              <a:t>Сторителлинг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Нарратив анализа данных в 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дашборде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 выделение идей и их презентация, аннотации, принципы журналистики данных и построение пирамиды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Минто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4"/>
              </a:rPr>
              <a:t>Минто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5"/>
              </a:rPr>
              <a:t>Роэм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6"/>
              </a:rPr>
              <a:t>Нафлик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A63AF-383D-5A4F-B766-025AD84ABB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367" y="2527362"/>
            <a:ext cx="1824500" cy="26158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541B47-8C93-D146-A44D-7FB617720D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839" y="998697"/>
            <a:ext cx="1253753" cy="1827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DA45FB-5F73-F241-B38F-116B5811BD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688" y="2972807"/>
            <a:ext cx="1338057" cy="1608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1607ED-D53A-F14D-AFBE-09020EFFFA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5495" y="3544498"/>
            <a:ext cx="1286640" cy="15336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F2FEAA-3C41-9041-960F-2E3A798DA4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852" y="1443650"/>
            <a:ext cx="1079454" cy="15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30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DCBD6-2E29-D342-B937-6A9A733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Навыки для визуализации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9D286-1877-934E-A308-2F02BE3724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19</a:t>
            </a:fld>
            <a:endParaRPr lang="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9B821-D411-314C-BB83-AAFE1AC593FA}"/>
              </a:ext>
            </a:extLst>
          </p:cNvPr>
          <p:cNvSpPr txBox="1"/>
          <p:nvPr/>
        </p:nvSpPr>
        <p:spPr>
          <a:xfrm>
            <a:off x="416378" y="4834427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 err="1"/>
              <a:t>https</a:t>
            </a:r>
            <a:r>
              <a:rPr lang="ru-RU" sz="900" dirty="0"/>
              <a:t>://</a:t>
            </a:r>
            <a:r>
              <a:rPr lang="ru-RU" sz="900" dirty="0" err="1"/>
              <a:t>revealthedata.com</a:t>
            </a:r>
            <a:r>
              <a:rPr lang="ru-RU" sz="900" dirty="0"/>
              <a:t>/</a:t>
            </a:r>
            <a:r>
              <a:rPr lang="ru-RU" sz="900" dirty="0" err="1"/>
              <a:t>blog</a:t>
            </a:r>
            <a:r>
              <a:rPr lang="ru-RU" sz="900" dirty="0"/>
              <a:t>/</a:t>
            </a:r>
            <a:r>
              <a:rPr lang="ru-RU" sz="900" dirty="0" err="1"/>
              <a:t>all</a:t>
            </a:r>
            <a:r>
              <a:rPr lang="ru-RU" sz="900" dirty="0"/>
              <a:t>/</a:t>
            </a:r>
            <a:r>
              <a:rPr lang="ru-RU" sz="900" dirty="0" err="1"/>
              <a:t>navyki-dlya-vizualizacii-dannyh-i-dataviz-inzhenerov</a:t>
            </a:r>
            <a:r>
              <a:rPr lang="ru-RU" sz="900" dirty="0"/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D0811-5516-B741-AB09-088A94BE150C}"/>
              </a:ext>
            </a:extLst>
          </p:cNvPr>
          <p:cNvSpPr txBox="1"/>
          <p:nvPr/>
        </p:nvSpPr>
        <p:spPr>
          <a:xfrm>
            <a:off x="500550" y="1002089"/>
            <a:ext cx="416987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1100" b="0" i="1" u="none" strike="noStrike" dirty="0">
                <a:solidFill>
                  <a:srgbClr val="000000"/>
                </a:solidFill>
                <a:effectLst/>
                <a:latin typeface=""/>
              </a:rPr>
              <a:t>«</a:t>
            </a:r>
            <a:r>
              <a:rPr lang="ru-RU" sz="1100" i="1" dirty="0">
                <a:latin typeface=""/>
              </a:rPr>
              <a:t>Т</a:t>
            </a:r>
            <a:r>
              <a:rPr lang="ru-RU" sz="1100" b="0" i="1" u="none" strike="noStrike" dirty="0">
                <a:solidFill>
                  <a:srgbClr val="000000"/>
                </a:solidFill>
                <a:effectLst/>
                <a:latin typeface=""/>
              </a:rPr>
              <a:t>ехнические» книги</a:t>
            </a:r>
          </a:p>
          <a:p>
            <a:pPr algn="l" fontAlgn="base"/>
            <a:endParaRPr lang="ru-RU" sz="1100" i="1" dirty="0">
              <a:latin typeface=""/>
            </a:endParaRPr>
          </a:p>
          <a:p>
            <a:pPr algn="l" fontAlgn="base"/>
            <a:endParaRPr lang="ru-RU" sz="1100" b="0" i="1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Инструмент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Технические знания инструмента и с</a:t>
            </a:r>
            <a:r>
              <a:rPr lang="en" sz="1100" b="0" i="0" u="none" strike="noStrike" dirty="0">
                <a:solidFill>
                  <a:srgbClr val="000000"/>
                </a:solidFill>
                <a:effectLst/>
                <a:latin typeface=""/>
              </a:rPr>
              <a:t>ode style: 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лучшие практики совместной работы с кодом, источниками данных,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нейминга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 и поддержания порядка. </a:t>
            </a:r>
            <a:r>
              <a:rPr lang="ru-RU" sz="1100" dirty="0">
                <a:latin typeface=""/>
              </a:rPr>
              <a:t>П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ро организацию кода — читать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2"/>
              </a:rPr>
              <a:t>Фаулер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"/>
              </a:rPr>
              <a:t>,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  <a:hlinkClick r:id="rId3"/>
              </a:rPr>
              <a:t>Кериевски</a:t>
            </a:r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Основы статистики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Распределения, медианы, доверительные интервалы и 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"/>
              </a:rPr>
              <a:t>стат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 значимость, понимание расчетов метрик и их иерархий, понимание аддитивных и неаддитивных показателей.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4"/>
              </a:rPr>
              <a:t>Уилан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.</a:t>
            </a:r>
          </a:p>
          <a:p>
            <a:pPr algn="l" fontAlgn="base"/>
            <a:endParaRPr lang="ru-RU" sz="1100" b="0" i="0" u="none" strike="noStrike" dirty="0">
              <a:solidFill>
                <a:srgbClr val="000000"/>
              </a:solidFill>
              <a:effectLst/>
              <a:latin typeface=""/>
            </a:endParaRPr>
          </a:p>
          <a:p>
            <a:pPr algn="l" fontAlgn="base"/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"/>
              </a:rPr>
              <a:t>Бизнес-навыки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Управления продуктом, знание предметной области и здравый смысл: сбор требований и постановка задачи, управление ожиданиями и т. п.</a:t>
            </a:r>
            <a:b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</a:b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Читать: 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  <a:hlinkClick r:id="rId5"/>
              </a:rPr>
              <a:t>Советы Бюро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"/>
              </a:rPr>
              <a:t> и рекомендуемые там книги.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30EDCE-41BC-BB4C-BDB1-1B136561B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649" y="601492"/>
            <a:ext cx="1062286" cy="1530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98CED5-8C59-1943-9EC2-6E845FCDBC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2151" y="588913"/>
            <a:ext cx="1114232" cy="1573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EDF259-7C69-3041-BF4E-0D66049801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0357" y="2240201"/>
            <a:ext cx="1225685" cy="17581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F4271A-2307-AC4B-9C4E-9890176E15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9261" y="2754485"/>
            <a:ext cx="1354190" cy="194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42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EEA7C-9B84-5742-8033-2A83B748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Data-ink ratio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7C3D19-834A-4842-90D5-77C47399B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8229C8-9B96-C24C-B1C2-C1C7BA74B3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  <p:pic>
        <p:nvPicPr>
          <p:cNvPr id="6148" name="Picture 4" descr="The Manifesto of the Data-Ink Ratio - Speedwell">
            <a:extLst>
              <a:ext uri="{FF2B5EF4-FFF2-40B4-BE49-F238E27FC236}">
                <a16:creationId xmlns:a16="http://schemas.microsoft.com/office/drawing/2014/main" id="{66A1173C-4EAC-3B4E-9E5C-CA322A15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42" y="1349690"/>
            <a:ext cx="6906986" cy="346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189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13880-D2C6-A043-B784-7234FC11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29999C-EDDC-DE44-8009-B4A227220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6BB8FA-9AED-E343-AA92-E79640616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  <p:pic>
        <p:nvPicPr>
          <p:cNvPr id="7172" name="Picture 4" descr="Data to Ink Ratio (Tufte principle of Data Visualisation) - YouTube">
            <a:extLst>
              <a:ext uri="{FF2B5EF4-FFF2-40B4-BE49-F238E27FC236}">
                <a16:creationId xmlns:a16="http://schemas.microsoft.com/office/drawing/2014/main" id="{FC703445-C7E4-4B46-ABBA-7C64555C2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15" y="189226"/>
            <a:ext cx="8273143" cy="465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498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повысить </a:t>
            </a:r>
            <a:r>
              <a:rPr lang="en-US" dirty="0"/>
              <a:t>DIR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5C872-B2C5-BA47-B8B4-3FCD5575A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18" y="921901"/>
            <a:ext cx="7010400" cy="3936165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2796" y="878674"/>
            <a:ext cx="3675859" cy="2243946"/>
          </a:xfrm>
        </p:spPr>
        <p:txBody>
          <a:bodyPr>
            <a:normAutofit/>
          </a:bodyPr>
          <a:lstStyle/>
          <a:p>
            <a:pPr marL="133350" indent="0">
              <a:buNone/>
            </a:pPr>
            <a:r>
              <a:rPr lang="ru-RU" dirty="0"/>
              <a:t>Удалить </a:t>
            </a:r>
            <a:r>
              <a:rPr lang="en-US" dirty="0"/>
              <a:t>non-data ink</a:t>
            </a:r>
          </a:p>
          <a:p>
            <a:pPr lvl="1"/>
            <a:r>
              <a:rPr lang="ru-RU" dirty="0"/>
              <a:t>Лишний фон, сетку, обводки</a:t>
            </a:r>
          </a:p>
          <a:p>
            <a:pPr marL="133350" indent="0">
              <a:buNone/>
            </a:pPr>
            <a:endParaRPr lang="en-US" dirty="0"/>
          </a:p>
          <a:p>
            <a:pPr marL="133350" indent="0">
              <a:buNone/>
            </a:pPr>
            <a:r>
              <a:rPr lang="ru-RU" dirty="0"/>
              <a:t>Удалить лишний </a:t>
            </a:r>
            <a:r>
              <a:rPr lang="en-US" dirty="0"/>
              <a:t>data-ink</a:t>
            </a:r>
          </a:p>
          <a:p>
            <a:pPr lvl="1"/>
            <a:r>
              <a:rPr lang="ru-RU" dirty="0"/>
              <a:t>Округление</a:t>
            </a:r>
          </a:p>
          <a:p>
            <a:pPr lvl="1"/>
            <a:r>
              <a:rPr lang="ru-RU" dirty="0"/>
              <a:t>Легенда, встроенная в график</a:t>
            </a:r>
          </a:p>
          <a:p>
            <a:pPr lvl="1"/>
            <a:r>
              <a:rPr lang="ru-RU" dirty="0"/>
              <a:t>Подписи вместо осей</a:t>
            </a:r>
          </a:p>
        </p:txBody>
      </p:sp>
    </p:spTree>
    <p:extLst>
      <p:ext uri="{BB962C8B-B14F-4D97-AF65-F5344CB8AC3E}">
        <p14:creationId xmlns:p14="http://schemas.microsoft.com/office/powerpoint/2010/main" val="3324660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23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8" name="Google Shape;119;p20">
            <a:extLst>
              <a:ext uri="{FF2B5EF4-FFF2-40B4-BE49-F238E27FC236}">
                <a16:creationId xmlns:a16="http://schemas.microsoft.com/office/drawing/2014/main" id="{380C32BD-9071-0E43-B6F6-13060EB71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;p20">
            <a:extLst>
              <a:ext uri="{FF2B5EF4-FFF2-40B4-BE49-F238E27FC236}">
                <a16:creationId xmlns:a16="http://schemas.microsoft.com/office/drawing/2014/main" id="{8FEB5C78-1EBC-5A4B-80D6-EF605EDEFB77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121;p20">
            <a:extLst>
              <a:ext uri="{FF2B5EF4-FFF2-40B4-BE49-F238E27FC236}">
                <a16:creationId xmlns:a16="http://schemas.microsoft.com/office/drawing/2014/main" id="{B66EDB24-C7D2-6848-A053-ED79298A3E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20">
            <a:extLst>
              <a:ext uri="{FF2B5EF4-FFF2-40B4-BE49-F238E27FC236}">
                <a16:creationId xmlns:a16="http://schemas.microsoft.com/office/drawing/2014/main" id="{237A33F6-EC8A-8440-A696-9D7D8D17D1E5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5C373-360C-1D4B-BF42-0C4BA8F73665}"/>
              </a:ext>
            </a:extLst>
          </p:cNvPr>
          <p:cNvSpPr txBox="1"/>
          <p:nvPr/>
        </p:nvSpPr>
        <p:spPr>
          <a:xfrm>
            <a:off x="857250" y="3661787"/>
            <a:ext cx="31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исправить в графике справа?</a:t>
            </a:r>
          </a:p>
        </p:txBody>
      </p:sp>
    </p:spTree>
    <p:extLst>
      <p:ext uri="{BB962C8B-B14F-4D97-AF65-F5344CB8AC3E}">
        <p14:creationId xmlns:p14="http://schemas.microsoft.com/office/powerpoint/2010/main" val="499661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79CA7-359C-FF44-A292-16FFBEEE6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24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8" name="Google Shape;119;p20">
            <a:extLst>
              <a:ext uri="{FF2B5EF4-FFF2-40B4-BE49-F238E27FC236}">
                <a16:creationId xmlns:a16="http://schemas.microsoft.com/office/drawing/2014/main" id="{380C32BD-9071-0E43-B6F6-13060EB71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;p20">
            <a:extLst>
              <a:ext uri="{FF2B5EF4-FFF2-40B4-BE49-F238E27FC236}">
                <a16:creationId xmlns:a16="http://schemas.microsoft.com/office/drawing/2014/main" id="{8FEB5C78-1EBC-5A4B-80D6-EF605EDEFB77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121;p20">
            <a:extLst>
              <a:ext uri="{FF2B5EF4-FFF2-40B4-BE49-F238E27FC236}">
                <a16:creationId xmlns:a16="http://schemas.microsoft.com/office/drawing/2014/main" id="{B66EDB24-C7D2-6848-A053-ED79298A3E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7365" y="4071163"/>
            <a:ext cx="400742" cy="430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;p20">
            <a:extLst>
              <a:ext uri="{FF2B5EF4-FFF2-40B4-BE49-F238E27FC236}">
                <a16:creationId xmlns:a16="http://schemas.microsoft.com/office/drawing/2014/main" id="{237A33F6-EC8A-8440-A696-9D7D8D17D1E5}"/>
              </a:ext>
            </a:extLst>
          </p:cNvPr>
          <p:cNvSpPr txBox="1"/>
          <p:nvPr/>
        </p:nvSpPr>
        <p:spPr>
          <a:xfrm>
            <a:off x="5547560" y="4071163"/>
            <a:ext cx="301677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Пишем в чат или голосом</a:t>
            </a:r>
            <a:endParaRPr sz="18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5C373-360C-1D4B-BF42-0C4BA8F73665}"/>
              </a:ext>
            </a:extLst>
          </p:cNvPr>
          <p:cNvSpPr txBox="1"/>
          <p:nvPr/>
        </p:nvSpPr>
        <p:spPr>
          <a:xfrm>
            <a:off x="857250" y="3661787"/>
            <a:ext cx="31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исправить в графике справа?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716798-7B3B-784F-B252-E25E7EB26A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704"/>
          <a:stretch/>
        </p:blipFill>
        <p:spPr>
          <a:xfrm>
            <a:off x="4718548" y="1280537"/>
            <a:ext cx="4217998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40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47DE9-97F9-8544-96C9-84DC3F29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212AD-5FEA-854F-B415-4C411606E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9"/>
            <a:ext cx="4071450" cy="3416400"/>
          </a:xfrm>
        </p:spPr>
        <p:txBody>
          <a:bodyPr/>
          <a:lstStyle/>
          <a:p>
            <a:pPr marL="13335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5EC910-5575-3B41-8074-2BEB0E20A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88"/>
          <a:stretch/>
        </p:blipFill>
        <p:spPr>
          <a:xfrm>
            <a:off x="354002" y="1163491"/>
            <a:ext cx="4217998" cy="2284348"/>
          </a:xfrm>
          <a:prstGeom prst="rect">
            <a:avLst/>
          </a:prstGeom>
        </p:spPr>
      </p:pic>
      <p:pic>
        <p:nvPicPr>
          <p:cNvPr id="8" name="Google Shape;119;p20">
            <a:extLst>
              <a:ext uri="{FF2B5EF4-FFF2-40B4-BE49-F238E27FC236}">
                <a16:creationId xmlns:a16="http://schemas.microsoft.com/office/drawing/2014/main" id="{380C32BD-9071-0E43-B6F6-13060EB71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36" y="4041294"/>
            <a:ext cx="400742" cy="42206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;p20">
            <a:extLst>
              <a:ext uri="{FF2B5EF4-FFF2-40B4-BE49-F238E27FC236}">
                <a16:creationId xmlns:a16="http://schemas.microsoft.com/office/drawing/2014/main" id="{8FEB5C78-1EBC-5A4B-80D6-EF605EDEFB77}"/>
              </a:ext>
            </a:extLst>
          </p:cNvPr>
          <p:cNvSpPr txBox="1"/>
          <p:nvPr/>
        </p:nvSpPr>
        <p:spPr>
          <a:xfrm>
            <a:off x="1473143" y="4072330"/>
            <a:ext cx="2044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60 сек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5C373-360C-1D4B-BF42-0C4BA8F73665}"/>
              </a:ext>
            </a:extLst>
          </p:cNvPr>
          <p:cNvSpPr txBox="1"/>
          <p:nvPr/>
        </p:nvSpPr>
        <p:spPr>
          <a:xfrm>
            <a:off x="857250" y="3661787"/>
            <a:ext cx="31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исправить в графике справа?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C24015-A340-8F41-A64A-BF0E37039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685" y="1210669"/>
            <a:ext cx="37084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49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66727-502E-0641-886D-AAB62CD3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Тезисы</a:t>
            </a:r>
          </a:p>
        </p:txBody>
      </p:sp>
      <p:graphicFrame>
        <p:nvGraphicFramePr>
          <p:cNvPr id="3" name="Google Shape;168;p23">
            <a:extLst>
              <a:ext uri="{FF2B5EF4-FFF2-40B4-BE49-F238E27FC236}">
                <a16:creationId xmlns:a16="http://schemas.microsoft.com/office/drawing/2014/main" id="{36042854-032C-5F41-BAC0-2675204F1B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1674405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{23E6A93D-E22E-496A-AE55-A62C1E3046BF}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Matplotlib –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основа визуализаций на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Seaborn – </a:t>
                      </a:r>
                      <a:r>
                        <a:rPr lang="ru-RU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обертка для построения графиков в одну команду</a:t>
                      </a:r>
                      <a:endParaRPr sz="13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Plotly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если хочется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интерактива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587661"/>
                  </a:ext>
                </a:extLst>
              </a:tr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Максимизируйте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Data-ink ratio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повышения понятности графиков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446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683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290" name="Google Shape;290;p40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ru" sz="1400" dirty="0">
                <a:latin typeface="+mn-lt"/>
              </a:rPr>
              <a:t>Документация</a:t>
            </a:r>
          </a:p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ru" sz="1400" dirty="0">
                <a:latin typeface="+mn-lt"/>
              </a:rPr>
              <a:t>Роман Бунин </a:t>
            </a:r>
            <a:r>
              <a:rPr lang="en" sz="1400" dirty="0">
                <a:latin typeface="+mn-lt"/>
                <a:hlinkClick r:id="rId3"/>
              </a:rPr>
              <a:t>https://revealthedata.com/blog/</a:t>
            </a:r>
            <a:endParaRPr lang="ru-RU" sz="1400" dirty="0">
              <a:latin typeface="+mn-lt"/>
            </a:endParaRPr>
          </a:p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ru" sz="1400" dirty="0">
                <a:latin typeface="+mn-lt"/>
              </a:rPr>
              <a:t>Галерея, какой график под какую задачу </a:t>
            </a:r>
            <a:r>
              <a:rPr lang="en" sz="1400" dirty="0">
                <a:latin typeface="+mn-lt"/>
                <a:hlinkClick r:id="rId4"/>
              </a:rPr>
              <a:t>https://www.data-to-viz.com</a:t>
            </a:r>
            <a:r>
              <a:rPr lang="ru-RU" sz="1400" dirty="0">
                <a:latin typeface="+mn-lt"/>
              </a:rPr>
              <a:t> , </a:t>
            </a:r>
            <a:r>
              <a:rPr lang="en" sz="1400" dirty="0">
                <a:latin typeface="+mn-lt"/>
                <a:hlinkClick r:id="rId5"/>
              </a:rPr>
              <a:t>https://python-graph-gallery.com</a:t>
            </a:r>
            <a:r>
              <a:rPr lang="ru-RU" sz="1400" dirty="0">
                <a:latin typeface="+mn-lt"/>
              </a:rPr>
              <a:t> </a:t>
            </a:r>
          </a:p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ru-RU" sz="1400" dirty="0">
                <a:latin typeface="+mn-lt"/>
              </a:rPr>
              <a:t>Пересказ книги про </a:t>
            </a:r>
            <a:r>
              <a:rPr lang="ru-RU" sz="1400" dirty="0" err="1">
                <a:latin typeface="+mn-lt"/>
              </a:rPr>
              <a:t>сторителлинг</a:t>
            </a:r>
            <a:r>
              <a:rPr lang="ru-RU" sz="1400" dirty="0">
                <a:latin typeface="+mn-lt"/>
              </a:rPr>
              <a:t> </a:t>
            </a:r>
            <a:r>
              <a:rPr lang="en" sz="1400" dirty="0">
                <a:latin typeface="+mn-lt"/>
                <a:hlinkClick r:id="rId6"/>
              </a:rPr>
              <a:t>https://habr.com/ru/company/true_engineering/blog/422093/</a:t>
            </a:r>
            <a:endParaRPr lang="ru-RU" sz="1400" dirty="0">
              <a:latin typeface="+mn-lt"/>
            </a:endParaRPr>
          </a:p>
          <a:p>
            <a:pPr lvl="0" indent="-311150">
              <a:lnSpc>
                <a:spcPct val="150000"/>
              </a:lnSpc>
              <a:buSzPts val="1300"/>
              <a:buAutoNum type="arabicPeriod"/>
            </a:pPr>
            <a:r>
              <a:rPr lang="en" sz="1400" dirty="0">
                <a:latin typeface="+mn-lt"/>
              </a:rPr>
              <a:t>International Business Communication Standards 1.1</a:t>
            </a:r>
            <a:r>
              <a:rPr lang="ru-RU" sz="1400" dirty="0">
                <a:latin typeface="+mn-lt"/>
              </a:rPr>
              <a:t> </a:t>
            </a:r>
            <a:r>
              <a:rPr lang="en" sz="1400" dirty="0">
                <a:latin typeface="+mn-lt"/>
                <a:hlinkClick r:id="rId7"/>
              </a:rPr>
              <a:t>https://github.com/nalgeon/dataviz</a:t>
            </a:r>
            <a:r>
              <a:rPr lang="ru-RU" sz="1400" dirty="0">
                <a:latin typeface="+mn-lt"/>
              </a:rPr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+mn-lt"/>
              </a:rPr>
              <a:t>50 оттенков </a:t>
            </a:r>
            <a:r>
              <a:rPr lang="ru-RU" sz="14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matplotlib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+mn-lt"/>
                <a:hlinkClick r:id="rId8"/>
              </a:rPr>
              <a:t>https://habr.com/ru/articles/468295/</a:t>
            </a: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4844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297" name="Google Shape;29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1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1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8CF9D2-628E-C34E-8B65-6B4E58685E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795329797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9048</TotalTime>
  <Words>793</Words>
  <Application>Microsoft Macintosh PowerPoint</Application>
  <PresentationFormat>On-screen Show (16:9)</PresentationFormat>
  <Paragraphs>173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Roboto</vt:lpstr>
      <vt:lpstr>Arial</vt:lpstr>
      <vt:lpstr>source sans pro</vt:lpstr>
      <vt:lpstr>Светлая тема</vt:lpstr>
      <vt:lpstr>BI Аналитик Визуализация данных</vt:lpstr>
      <vt:lpstr>Проверить, идет ли запись</vt:lpstr>
      <vt:lpstr>BI аналитик Визуализация данных</vt:lpstr>
      <vt:lpstr>Правила вебинара</vt:lpstr>
      <vt:lpstr>Маршрут вебинара</vt:lpstr>
      <vt:lpstr>Цели вебинара</vt:lpstr>
      <vt:lpstr>Смысл</vt:lpstr>
      <vt:lpstr>Matplotlib</vt:lpstr>
      <vt:lpstr>PowerPoint Presentation</vt:lpstr>
      <vt:lpstr>Coding styles</vt:lpstr>
      <vt:lpstr>Пример</vt:lpstr>
      <vt:lpstr>Seaborn</vt:lpstr>
      <vt:lpstr>Figure-level vs. axes-level functions</vt:lpstr>
      <vt:lpstr>Про хорошие визуализации</vt:lpstr>
      <vt:lpstr>Что для вас хороший график или дэшборд?</vt:lpstr>
      <vt:lpstr>Зачем</vt:lpstr>
      <vt:lpstr>Навыки для визуализации</vt:lpstr>
      <vt:lpstr>Навыки для визуализации</vt:lpstr>
      <vt:lpstr>Навыки для визуализации</vt:lpstr>
      <vt:lpstr>Data-ink ratio </vt:lpstr>
      <vt:lpstr>PowerPoint Presentation</vt:lpstr>
      <vt:lpstr>Как повысить DIR</vt:lpstr>
      <vt:lpstr>Пример</vt:lpstr>
      <vt:lpstr>Пример</vt:lpstr>
      <vt:lpstr>Пример</vt:lpstr>
      <vt:lpstr>Тезисы</vt:lpstr>
      <vt:lpstr>Список материалов для изучения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17. Основы статистики</dc:title>
  <cp:lastModifiedBy>Стурейко Игорь Олегович</cp:lastModifiedBy>
  <cp:revision>38</cp:revision>
  <dcterms:modified xsi:type="dcterms:W3CDTF">2025-05-22T11:30:44Z</dcterms:modified>
</cp:coreProperties>
</file>