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media/image4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media/image53.jpg" ContentType="image/jpeg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media/image63.jpg" ContentType="image/jpeg"/>
  <Override PartName="/ppt/media/image64.jpg" ContentType="image/jpeg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334" r:id="rId4"/>
    <p:sldId id="259" r:id="rId5"/>
    <p:sldId id="396" r:id="rId6"/>
    <p:sldId id="397" r:id="rId7"/>
    <p:sldId id="260" r:id="rId8"/>
    <p:sldId id="371" r:id="rId9"/>
    <p:sldId id="393" r:id="rId10"/>
    <p:sldId id="311" r:id="rId11"/>
    <p:sldId id="360" r:id="rId12"/>
    <p:sldId id="517" r:id="rId13"/>
    <p:sldId id="521" r:id="rId14"/>
    <p:sldId id="515" r:id="rId15"/>
    <p:sldId id="516" r:id="rId16"/>
    <p:sldId id="519" r:id="rId17"/>
    <p:sldId id="518" r:id="rId18"/>
    <p:sldId id="514" r:id="rId19"/>
    <p:sldId id="267" r:id="rId20"/>
    <p:sldId id="522" r:id="rId21"/>
    <p:sldId id="504" r:id="rId22"/>
    <p:sldId id="350" r:id="rId23"/>
    <p:sldId id="352" r:id="rId24"/>
    <p:sldId id="351" r:id="rId25"/>
    <p:sldId id="353" r:id="rId26"/>
    <p:sldId id="520" r:id="rId27"/>
    <p:sldId id="506" r:id="rId28"/>
    <p:sldId id="510" r:id="rId29"/>
    <p:sldId id="511" r:id="rId30"/>
    <p:sldId id="512" r:id="rId31"/>
    <p:sldId id="513" r:id="rId32"/>
    <p:sldId id="262" r:id="rId33"/>
    <p:sldId id="488" r:id="rId34"/>
    <p:sldId id="492" r:id="rId35"/>
    <p:sldId id="493" r:id="rId36"/>
    <p:sldId id="501" r:id="rId37"/>
    <p:sldId id="502" r:id="rId38"/>
    <p:sldId id="509" r:id="rId39"/>
    <p:sldId id="505" r:id="rId40"/>
    <p:sldId id="507" r:id="rId41"/>
    <p:sldId id="508" r:id="rId42"/>
    <p:sldId id="300" r:id="rId43"/>
    <p:sldId id="398" r:id="rId44"/>
    <p:sldId id="364" r:id="rId45"/>
    <p:sldId id="523" r:id="rId46"/>
    <p:sldId id="302" r:id="rId47"/>
    <p:sldId id="335" r:id="rId48"/>
  </p:sldIdLst>
  <p:sldSz cx="9144000" cy="5143500" type="screen16x9"/>
  <p:notesSz cx="9144000" cy="51435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78"/>
    <p:restoredTop sz="97030"/>
  </p:normalViewPr>
  <p:slideViewPr>
    <p:cSldViewPr>
      <p:cViewPr varScale="1">
        <p:scale>
          <a:sx n="165" d="100"/>
          <a:sy n="165" d="100"/>
        </p:scale>
        <p:origin x="872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9D4DEE-AA18-4B6A-845C-60AFD9463AA2}" type="datetimeFigureOut">
              <a:rPr lang="ru-RU" smtClean="0"/>
              <a:t>19.11.2024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75BB5-C319-4CC0-9F8F-8FE78AD357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78734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10981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09340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67948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92239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41618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38674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93635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295762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8421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07639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8" name="Google Shape;478;p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05397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df6222e6a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df6222e6a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2" name="Google Shape;492;p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21183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3575" y="388001"/>
            <a:ext cx="7996849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11/19/24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11/19/24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3999" cy="51434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727549" y="1317655"/>
            <a:ext cx="2095500" cy="32054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0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17087" y="1115827"/>
            <a:ext cx="1866265" cy="35356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11/19/24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3999" cy="51434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11/19/24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11/19/24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2338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Разделительный слайд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29" name="Google Shape;29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193350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45863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Ваш макет 1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71571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17254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7696200" y="4876800"/>
            <a:ext cx="1295399" cy="1523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2554" y="388000"/>
            <a:ext cx="8718890" cy="970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95799" y="1421874"/>
            <a:ext cx="8535035" cy="19177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11/19/24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://www.linkedin.com/in/igor-stureiko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sv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4.png"/><Relationship Id="rId4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jpeg"/><Relationship Id="rId3" Type="http://schemas.openxmlformats.org/officeDocument/2006/relationships/hyperlink" Target="https://mahout.apache.org/" TargetMode="External"/><Relationship Id="rId7" Type="http://schemas.openxmlformats.org/officeDocument/2006/relationships/hyperlink" Target="https://hive.apache.org/" TargetMode="External"/><Relationship Id="rId12" Type="http://schemas.openxmlformats.org/officeDocument/2006/relationships/image" Target="../media/image4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madlib.apache.org/" TargetMode="External"/><Relationship Id="rId11" Type="http://schemas.openxmlformats.org/officeDocument/2006/relationships/image" Target="../media/image42.png"/><Relationship Id="rId5" Type="http://schemas.openxmlformats.org/officeDocument/2006/relationships/hyperlink" Target="https://flink.apache.org/" TargetMode="External"/><Relationship Id="rId10" Type="http://schemas.openxmlformats.org/officeDocument/2006/relationships/image" Target="../media/image41.jpeg"/><Relationship Id="rId4" Type="http://schemas.openxmlformats.org/officeDocument/2006/relationships/hyperlink" Target="https://spark.apache.org/" TargetMode="External"/><Relationship Id="rId9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hyperlink" Target="https://hbase.apache.org/" TargetMode="External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4.png"/><Relationship Id="rId5" Type="http://schemas.openxmlformats.org/officeDocument/2006/relationships/hyperlink" Target="https://kafka.apache.org/" TargetMode="External"/><Relationship Id="rId4" Type="http://schemas.openxmlformats.org/officeDocument/2006/relationships/hyperlink" Target="https://spark.apache.org/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almond.sh/" TargetMode="External"/><Relationship Id="rId13" Type="http://schemas.openxmlformats.org/officeDocument/2006/relationships/image" Target="../media/image51.png"/><Relationship Id="rId3" Type="http://schemas.openxmlformats.org/officeDocument/2006/relationships/hyperlink" Target="https://spark.apache.org/docs/latest/api/python/index.html" TargetMode="External"/><Relationship Id="rId7" Type="http://schemas.openxmlformats.org/officeDocument/2006/relationships/hyperlink" Target="https://www.jetbrains.com/ru-ru/dataspell" TargetMode="External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54.png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jupyter.org/" TargetMode="External"/><Relationship Id="rId11" Type="http://schemas.openxmlformats.org/officeDocument/2006/relationships/image" Target="../media/image49.png"/><Relationship Id="rId5" Type="http://schemas.openxmlformats.org/officeDocument/2006/relationships/hyperlink" Target="https://plugins.jetbrains.com/plugin/12494-big-data-tools" TargetMode="External"/><Relationship Id="rId15" Type="http://schemas.openxmlformats.org/officeDocument/2006/relationships/image" Target="../media/image53.jpg"/><Relationship Id="rId10" Type="http://schemas.openxmlformats.org/officeDocument/2006/relationships/image" Target="../media/image48.png"/><Relationship Id="rId4" Type="http://schemas.openxmlformats.org/officeDocument/2006/relationships/hyperlink" Target="http://zeppelin.apache.org/" TargetMode="External"/><Relationship Id="rId9" Type="http://schemas.openxmlformats.org/officeDocument/2006/relationships/hyperlink" Target="https://community.cloud.databricks.com/" TargetMode="External"/><Relationship Id="rId14" Type="http://schemas.openxmlformats.org/officeDocument/2006/relationships/image" Target="../media/image5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57.jpeg"/><Relationship Id="rId4" Type="http://schemas.openxmlformats.org/officeDocument/2006/relationships/image" Target="../media/image5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57.jpe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4.jpg"/><Relationship Id="rId7" Type="http://schemas.openxmlformats.org/officeDocument/2006/relationships/image" Target="../media/image68.png"/><Relationship Id="rId2" Type="http://schemas.openxmlformats.org/officeDocument/2006/relationships/image" Target="../media/image63.jp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67.jpeg"/><Relationship Id="rId5" Type="http://schemas.openxmlformats.org/officeDocument/2006/relationships/image" Target="../media/image66.pn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charts.min.io/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5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yandex.cloud/ru/docs/storage/tools/boto" TargetMode="External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mongodb.github.io/helm-charts" TargetMode="External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hyperlink" Target="http://zeppelin.apache.org/" TargetMode="External"/><Relationship Id="rId13" Type="http://schemas.openxmlformats.org/officeDocument/2006/relationships/hyperlink" Target="https://community.cloud.databricks.com/" TargetMode="External"/><Relationship Id="rId3" Type="http://schemas.openxmlformats.org/officeDocument/2006/relationships/hyperlink" Target="https://mahout.apache.org/" TargetMode="External"/><Relationship Id="rId7" Type="http://schemas.openxmlformats.org/officeDocument/2006/relationships/hyperlink" Target="https://h2o.ai/" TargetMode="External"/><Relationship Id="rId12" Type="http://schemas.openxmlformats.org/officeDocument/2006/relationships/hyperlink" Target="https://almond.sh/" TargetMode="External"/><Relationship Id="rId17" Type="http://schemas.openxmlformats.org/officeDocument/2006/relationships/hyperlink" Target="https://mlflow.org/docs/latest/python_api/mlflow.spark.html" TargetMode="External"/><Relationship Id="rId2" Type="http://schemas.openxmlformats.org/officeDocument/2006/relationships/notesSlide" Target="../notesSlides/notesSlide19.xml"/><Relationship Id="rId16" Type="http://schemas.openxmlformats.org/officeDocument/2006/relationships/hyperlink" Target="https://spark.apache.org/docs/latest/api/python/reference/pyspark.ml.html" TargetMode="Externa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madlib.apache.org/" TargetMode="External"/><Relationship Id="rId11" Type="http://schemas.openxmlformats.org/officeDocument/2006/relationships/hyperlink" Target="https://www.jetbrains.com/ru-ru/dataspell" TargetMode="External"/><Relationship Id="rId5" Type="http://schemas.openxmlformats.org/officeDocument/2006/relationships/hyperlink" Target="https%20:/flink.apache.org" TargetMode="External"/><Relationship Id="rId15" Type="http://schemas.openxmlformats.org/officeDocument/2006/relationships/hyperlink" Target="https://spark.apache.org/docs/latest/ml-guide.html" TargetMode="External"/><Relationship Id="rId10" Type="http://schemas.openxmlformats.org/officeDocument/2006/relationships/hyperlink" Target="https://jupyter.org/" TargetMode="External"/><Relationship Id="rId4" Type="http://schemas.openxmlformats.org/officeDocument/2006/relationships/hyperlink" Target="https://spark.apache.org/" TargetMode="External"/><Relationship Id="rId9" Type="http://schemas.openxmlformats.org/officeDocument/2006/relationships/hyperlink" Target="https://plugins.jetbrains.com/plugin/12494-big-data-tools" TargetMode="External"/><Relationship Id="rId14" Type="http://schemas.openxmlformats.org/officeDocument/2006/relationships/hyperlink" Target="https://spark-packages.org/" TargetMode="Externa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://www.linkedin.com/in/igor-stureik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3999" cy="514349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017674" y="4414306"/>
            <a:ext cx="1649326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FFFFFF"/>
                </a:solidFill>
                <a:latin typeface="Roboto"/>
                <a:cs typeface="Roboto"/>
              </a:rPr>
              <a:t>otus.ru</a:t>
            </a:r>
            <a:endParaRPr sz="1800" dirty="0">
              <a:latin typeface="Roboto"/>
              <a:cs typeface="Roboto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017674" y="1745501"/>
            <a:ext cx="7516726" cy="13336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6555"/>
              </a:lnSpc>
              <a:spcBef>
                <a:spcPts val="100"/>
              </a:spcBef>
            </a:pPr>
            <a:r>
              <a:rPr lang="en-US" sz="5600" spc="-35" dirty="0">
                <a:solidFill>
                  <a:srgbClr val="FFFFFF"/>
                </a:solidFill>
              </a:rPr>
              <a:t>Python</a:t>
            </a:r>
            <a:endParaRPr sz="5600" dirty="0"/>
          </a:p>
          <a:p>
            <a:pPr marL="12700" marR="5080">
              <a:lnSpc>
                <a:spcPts val="3350"/>
              </a:lnSpc>
              <a:spcBef>
                <a:spcPts val="254"/>
              </a:spcBef>
            </a:pPr>
            <a:r>
              <a:rPr lang="en-US" spc="-10" dirty="0" err="1">
                <a:solidFill>
                  <a:srgbClr val="FFFFFF"/>
                </a:solidFill>
              </a:rPr>
              <a:t>BigData</a:t>
            </a:r>
            <a:endParaRPr lang="en-US" spc="-1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08899" y="1009637"/>
            <a:ext cx="3427729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10" dirty="0"/>
              <a:t>Проверить, </a:t>
            </a:r>
            <a:r>
              <a:rPr sz="2100" spc="-25" dirty="0"/>
              <a:t>идет</a:t>
            </a:r>
            <a:r>
              <a:rPr sz="2100" spc="-10" dirty="0"/>
              <a:t> </a:t>
            </a:r>
            <a:r>
              <a:rPr sz="2100" spc="5" dirty="0"/>
              <a:t>ли</a:t>
            </a:r>
            <a:r>
              <a:rPr sz="2100" spc="-5" dirty="0"/>
              <a:t> </a:t>
            </a:r>
            <a:r>
              <a:rPr sz="2100" spc="-20" dirty="0"/>
              <a:t>запись</a:t>
            </a:r>
            <a:endParaRPr sz="210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0825" y="1032407"/>
            <a:ext cx="642317" cy="321158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72375" y="3520050"/>
            <a:ext cx="525599" cy="52559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39750" y="1810429"/>
            <a:ext cx="5484850" cy="2197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4000" b="1" spc="10" dirty="0">
                <a:latin typeface="Roboto"/>
                <a:cs typeface="Roboto"/>
              </a:rPr>
              <a:t>Меня</a:t>
            </a:r>
            <a:r>
              <a:rPr sz="4000" b="1" spc="-40" dirty="0">
                <a:latin typeface="Roboto"/>
                <a:cs typeface="Roboto"/>
              </a:rPr>
              <a:t> </a:t>
            </a:r>
            <a:r>
              <a:rPr sz="4000" b="1" spc="-20" dirty="0">
                <a:latin typeface="Roboto"/>
                <a:cs typeface="Roboto"/>
              </a:rPr>
              <a:t>хорошо</a:t>
            </a:r>
            <a:r>
              <a:rPr sz="4000" b="1" spc="-30" dirty="0">
                <a:latin typeface="Roboto"/>
                <a:cs typeface="Roboto"/>
              </a:rPr>
              <a:t> </a:t>
            </a:r>
            <a:r>
              <a:rPr sz="4000" b="1" spc="-35" dirty="0">
                <a:latin typeface="Roboto"/>
                <a:cs typeface="Roboto"/>
              </a:rPr>
              <a:t>видно </a:t>
            </a:r>
            <a:r>
              <a:rPr sz="4000" b="1" spc="-980" dirty="0">
                <a:latin typeface="Roboto"/>
                <a:cs typeface="Roboto"/>
              </a:rPr>
              <a:t> </a:t>
            </a:r>
            <a:r>
              <a:rPr sz="4000" b="1" spc="-10" dirty="0">
                <a:latin typeface="Roboto"/>
                <a:cs typeface="Roboto"/>
              </a:rPr>
              <a:t>&amp;&amp; </a:t>
            </a:r>
            <a:r>
              <a:rPr sz="4000" b="1" dirty="0">
                <a:latin typeface="Roboto"/>
                <a:cs typeface="Roboto"/>
              </a:rPr>
              <a:t>слышно?</a:t>
            </a:r>
            <a:endParaRPr sz="4000" dirty="0">
              <a:latin typeface="Roboto"/>
              <a:cs typeface="Roboto"/>
            </a:endParaRPr>
          </a:p>
          <a:p>
            <a:pPr marL="760095" marR="1526540">
              <a:lnSpc>
                <a:spcPct val="100000"/>
              </a:lnSpc>
              <a:spcBef>
                <a:spcPts val="3900"/>
              </a:spcBef>
            </a:pPr>
            <a:r>
              <a:rPr sz="1500" spc="-10" dirty="0">
                <a:latin typeface="Roboto"/>
                <a:cs typeface="Roboto"/>
              </a:rPr>
              <a:t>Ставим </a:t>
            </a:r>
            <a:r>
              <a:rPr sz="1500" spc="-25" dirty="0">
                <a:latin typeface="Roboto"/>
                <a:cs typeface="Roboto"/>
              </a:rPr>
              <a:t>“+”, </a:t>
            </a:r>
            <a:r>
              <a:rPr sz="1500" spc="10" dirty="0">
                <a:latin typeface="Roboto"/>
                <a:cs typeface="Roboto"/>
              </a:rPr>
              <a:t>если </a:t>
            </a:r>
            <a:r>
              <a:rPr sz="1500" dirty="0">
                <a:latin typeface="Roboto"/>
                <a:cs typeface="Roboto"/>
              </a:rPr>
              <a:t>все </a:t>
            </a:r>
            <a:r>
              <a:rPr sz="1500" spc="-10" dirty="0">
                <a:latin typeface="Roboto"/>
                <a:cs typeface="Roboto"/>
              </a:rPr>
              <a:t>хорошо </a:t>
            </a:r>
            <a:r>
              <a:rPr sz="1500" spc="-360" dirty="0">
                <a:latin typeface="Roboto"/>
                <a:cs typeface="Roboto"/>
              </a:rPr>
              <a:t> </a:t>
            </a:r>
            <a:r>
              <a:rPr sz="1500" spc="-105" dirty="0">
                <a:latin typeface="Roboto"/>
                <a:cs typeface="Roboto"/>
              </a:rPr>
              <a:t>“-”</a:t>
            </a:r>
            <a:r>
              <a:rPr sz="1500" spc="-50" dirty="0">
                <a:latin typeface="Roboto"/>
                <a:cs typeface="Roboto"/>
              </a:rPr>
              <a:t>,</a:t>
            </a:r>
            <a:r>
              <a:rPr sz="1500" spc="-5" dirty="0">
                <a:latin typeface="Roboto"/>
                <a:cs typeface="Roboto"/>
              </a:rPr>
              <a:t> </a:t>
            </a:r>
            <a:r>
              <a:rPr sz="1500" spc="5" dirty="0">
                <a:latin typeface="Roboto"/>
                <a:cs typeface="Roboto"/>
              </a:rPr>
              <a:t>есл</a:t>
            </a:r>
            <a:r>
              <a:rPr sz="1500" spc="15" dirty="0">
                <a:latin typeface="Roboto"/>
                <a:cs typeface="Roboto"/>
              </a:rPr>
              <a:t>и</a:t>
            </a:r>
            <a:r>
              <a:rPr sz="1500" spc="-5" dirty="0">
                <a:latin typeface="Roboto"/>
                <a:cs typeface="Roboto"/>
              </a:rPr>
              <a:t> </a:t>
            </a:r>
            <a:r>
              <a:rPr sz="1500" spc="-15" dirty="0">
                <a:latin typeface="Roboto"/>
                <a:cs typeface="Roboto"/>
              </a:rPr>
              <a:t>ест</a:t>
            </a:r>
            <a:r>
              <a:rPr sz="1500" spc="-10" dirty="0">
                <a:latin typeface="Roboto"/>
                <a:cs typeface="Roboto"/>
              </a:rPr>
              <a:t>ь</a:t>
            </a:r>
            <a:r>
              <a:rPr sz="1500" spc="-5" dirty="0">
                <a:latin typeface="Roboto"/>
                <a:cs typeface="Roboto"/>
              </a:rPr>
              <a:t> проблемы</a:t>
            </a:r>
            <a:endParaRPr sz="1500" dirty="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Python</a:t>
            </a:r>
            <a:br>
              <a:rPr lang="en-US" dirty="0"/>
            </a:br>
            <a:r>
              <a:rPr lang="en-US" sz="2400" b="1" dirty="0" err="1">
                <a:latin typeface="Roboto"/>
                <a:ea typeface="Roboto"/>
                <a:cs typeface="Roboto"/>
                <a:sym typeface="Roboto"/>
              </a:rPr>
              <a:t>BigData</a:t>
            </a:r>
            <a:endParaRPr sz="2400"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2215E3-7B5E-BC4F-9DA6-F65D728D82F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2" name="Google Shape;208;p48">
            <a:extLst>
              <a:ext uri="{FF2B5EF4-FFF2-40B4-BE49-F238E27FC236}">
                <a16:creationId xmlns:a16="http://schemas.microsoft.com/office/drawing/2014/main" id="{8FBBE438-6184-8A4F-90F6-F58109911B53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3" name="Google Shape;209;p48">
            <a:extLst>
              <a:ext uri="{FF2B5EF4-FFF2-40B4-BE49-F238E27FC236}">
                <a16:creationId xmlns:a16="http://schemas.microsoft.com/office/drawing/2014/main" id="{77AC283E-91B9-B345-9D33-B29BA0BAF031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96200" y="4876800"/>
            <a:ext cx="1295399" cy="15239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3575" y="387492"/>
            <a:ext cx="5865017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dirty="0"/>
              <a:t>Правила</a:t>
            </a:r>
            <a:r>
              <a:rPr sz="3200" spc="-60" dirty="0"/>
              <a:t> </a:t>
            </a:r>
            <a:r>
              <a:rPr sz="3200" dirty="0"/>
              <a:t>вебинара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7650" y="3951280"/>
            <a:ext cx="692621" cy="69261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37650" y="1281613"/>
            <a:ext cx="692621" cy="69261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37650" y="3061405"/>
            <a:ext cx="692621" cy="692598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37650" y="2171509"/>
            <a:ext cx="692621" cy="692619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14808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Активно </a:t>
            </a:r>
            <a:r>
              <a:rPr dirty="0"/>
              <a:t> </a:t>
            </a:r>
            <a:r>
              <a:rPr spc="-25" dirty="0"/>
              <a:t>участ</a:t>
            </a:r>
            <a:r>
              <a:rPr spc="-30" dirty="0"/>
              <a:t>в</a:t>
            </a:r>
            <a:r>
              <a:rPr spc="-55" dirty="0"/>
              <a:t>у</a:t>
            </a:r>
            <a:r>
              <a:rPr spc="-5" dirty="0"/>
              <a:t>ем</a:t>
            </a: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2200" dirty="0"/>
          </a:p>
          <a:p>
            <a:pPr marL="12700" marR="280670">
              <a:lnSpc>
                <a:spcPct val="100000"/>
              </a:lnSpc>
            </a:pPr>
            <a:r>
              <a:rPr spc="-35" dirty="0"/>
              <a:t>Off-topic </a:t>
            </a:r>
            <a:r>
              <a:rPr spc="-10" dirty="0"/>
              <a:t>обсуждаем </a:t>
            </a:r>
            <a:r>
              <a:rPr spc="-360" dirty="0"/>
              <a:t> </a:t>
            </a:r>
            <a:r>
              <a:rPr dirty="0"/>
              <a:t>в</a:t>
            </a:r>
            <a:r>
              <a:rPr spc="-15" dirty="0"/>
              <a:t> </a:t>
            </a:r>
            <a:r>
              <a:rPr spc="-10" dirty="0"/>
              <a:t>учебной</a:t>
            </a:r>
            <a:r>
              <a:rPr spc="-15" dirty="0"/>
              <a:t> </a:t>
            </a:r>
            <a:r>
              <a:rPr spc="-10" dirty="0"/>
              <a:t>группе</a:t>
            </a:r>
          </a:p>
          <a:p>
            <a:pPr>
              <a:lnSpc>
                <a:spcPct val="100000"/>
              </a:lnSpc>
            </a:pPr>
            <a:endParaRPr sz="1700" dirty="0"/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950" dirty="0"/>
          </a:p>
          <a:p>
            <a:pPr marL="12700">
              <a:lnSpc>
                <a:spcPct val="100000"/>
              </a:lnSpc>
            </a:pPr>
            <a:r>
              <a:rPr spc="-35" dirty="0"/>
              <a:t>Задаем</a:t>
            </a:r>
            <a:r>
              <a:rPr spc="-45" dirty="0"/>
              <a:t> </a:t>
            </a:r>
            <a:r>
              <a:rPr spc="-5" dirty="0"/>
              <a:t>вопрос</a:t>
            </a:r>
          </a:p>
          <a:p>
            <a:pPr marL="12700">
              <a:lnSpc>
                <a:spcPct val="100000"/>
              </a:lnSpc>
            </a:pPr>
            <a:r>
              <a:rPr dirty="0" err="1"/>
              <a:t>в</a:t>
            </a:r>
            <a:r>
              <a:rPr spc="-20" dirty="0"/>
              <a:t> </a:t>
            </a:r>
            <a:r>
              <a:rPr spc="-30" dirty="0" err="1"/>
              <a:t>чат</a:t>
            </a:r>
            <a:endParaRPr spc="-5" dirty="0"/>
          </a:p>
          <a:p>
            <a:pPr>
              <a:lnSpc>
                <a:spcPct val="100000"/>
              </a:lnSpc>
            </a:pPr>
            <a:endParaRPr sz="1700" dirty="0"/>
          </a:p>
          <a:p>
            <a:pPr marL="12700" marR="5080">
              <a:lnSpc>
                <a:spcPct val="100000"/>
              </a:lnSpc>
              <a:spcBef>
                <a:spcPts val="1515"/>
              </a:spcBef>
            </a:pPr>
            <a:r>
              <a:rPr spc="-10" dirty="0"/>
              <a:t>Вопросы </a:t>
            </a:r>
            <a:r>
              <a:rPr spc="5" dirty="0"/>
              <a:t>вижу </a:t>
            </a:r>
            <a:r>
              <a:rPr dirty="0"/>
              <a:t>в </a:t>
            </a:r>
            <a:r>
              <a:rPr spc="-35" dirty="0"/>
              <a:t>чате, </a:t>
            </a:r>
            <a:r>
              <a:rPr spc="-30" dirty="0"/>
              <a:t> </a:t>
            </a:r>
            <a:r>
              <a:rPr spc="-15" dirty="0"/>
              <a:t>могу</a:t>
            </a:r>
            <a:r>
              <a:rPr spc="-20" dirty="0"/>
              <a:t> </a:t>
            </a:r>
            <a:r>
              <a:rPr spc="-25" dirty="0"/>
              <a:t>ответить</a:t>
            </a:r>
            <a:r>
              <a:rPr spc="-20" dirty="0"/>
              <a:t> </a:t>
            </a:r>
            <a:r>
              <a:rPr spc="5" dirty="0"/>
              <a:t>не</a:t>
            </a:r>
            <a:r>
              <a:rPr spc="-15" dirty="0"/>
              <a:t> </a:t>
            </a:r>
            <a:r>
              <a:rPr spc="-30" dirty="0"/>
              <a:t>сразу</a:t>
            </a:r>
          </a:p>
        </p:txBody>
      </p:sp>
      <p:grpSp>
        <p:nvGrpSpPr>
          <p:cNvPr id="9" name="object 9"/>
          <p:cNvGrpSpPr/>
          <p:nvPr/>
        </p:nvGrpSpPr>
        <p:grpSpPr>
          <a:xfrm>
            <a:off x="6046275" y="0"/>
            <a:ext cx="3097530" cy="5135880"/>
            <a:chOff x="6046275" y="0"/>
            <a:chExt cx="3097530" cy="5135880"/>
          </a:xfrm>
        </p:grpSpPr>
        <p:sp>
          <p:nvSpPr>
            <p:cNvPr id="10" name="object 10"/>
            <p:cNvSpPr/>
            <p:nvPr/>
          </p:nvSpPr>
          <p:spPr>
            <a:xfrm>
              <a:off x="6046275" y="0"/>
              <a:ext cx="3097530" cy="5135880"/>
            </a:xfrm>
            <a:custGeom>
              <a:avLst/>
              <a:gdLst/>
              <a:ahLst/>
              <a:cxnLst/>
              <a:rect l="l" t="t" r="r" b="b"/>
              <a:pathLst>
                <a:path w="3097529" h="5135880">
                  <a:moveTo>
                    <a:pt x="3097499" y="5135450"/>
                  </a:moveTo>
                  <a:lnTo>
                    <a:pt x="0" y="5135450"/>
                  </a:lnTo>
                  <a:lnTo>
                    <a:pt x="0" y="0"/>
                  </a:lnTo>
                  <a:lnTo>
                    <a:pt x="3097499" y="0"/>
                  </a:lnTo>
                  <a:lnTo>
                    <a:pt x="3097499" y="5135450"/>
                  </a:lnTo>
                  <a:close/>
                </a:path>
              </a:pathLst>
            </a:custGeom>
            <a:solidFill>
              <a:srgbClr val="2121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438592" y="1912031"/>
              <a:ext cx="330301" cy="330302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438592" y="2392126"/>
              <a:ext cx="330301" cy="330302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6438592" y="2872220"/>
              <a:ext cx="330301" cy="330302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438592" y="3352314"/>
              <a:ext cx="330301" cy="330302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6438592" y="3832409"/>
              <a:ext cx="330301" cy="33030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438592" y="4312502"/>
              <a:ext cx="330301" cy="330302"/>
            </a:xfrm>
            <a:prstGeom prst="rect">
              <a:avLst/>
            </a:prstGeom>
          </p:spPr>
        </p:pic>
      </p:grpSp>
      <p:sp>
        <p:nvSpPr>
          <p:cNvPr id="17" name="object 17"/>
          <p:cNvSpPr txBox="1">
            <a:spLocks noGrp="1"/>
          </p:cNvSpPr>
          <p:nvPr>
            <p:ph sz="half" idx="3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9591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Условные </a:t>
            </a:r>
            <a:r>
              <a:rPr spc="-5" dirty="0"/>
              <a:t> </a:t>
            </a:r>
            <a:r>
              <a:rPr spc="-10" dirty="0"/>
              <a:t>обозначения</a:t>
            </a:r>
          </a:p>
          <a:p>
            <a:pPr marL="497840">
              <a:lnSpc>
                <a:spcPct val="100000"/>
              </a:lnSpc>
              <a:spcBef>
                <a:spcPts val="1895"/>
              </a:spcBef>
            </a:pPr>
            <a:r>
              <a:rPr sz="1100" b="0" spc="-10" dirty="0">
                <a:latin typeface="Roboto"/>
                <a:cs typeface="Roboto"/>
              </a:rPr>
              <a:t>Индивидуально</a:t>
            </a:r>
            <a:endParaRPr sz="11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450">
              <a:latin typeface="Roboto"/>
              <a:cs typeface="Roboto"/>
            </a:endParaRPr>
          </a:p>
          <a:p>
            <a:pPr marL="497840" marR="5080">
              <a:lnSpc>
                <a:spcPct val="100000"/>
              </a:lnSpc>
              <a:spcBef>
                <a:spcPts val="5"/>
              </a:spcBef>
            </a:pPr>
            <a:r>
              <a:rPr sz="1100" b="0" spc="-15" dirty="0">
                <a:latin typeface="Roboto"/>
                <a:cs typeface="Roboto"/>
              </a:rPr>
              <a:t>Время, необходимое </a:t>
            </a:r>
            <a:r>
              <a:rPr sz="1100" b="0" spc="-260" dirty="0">
                <a:latin typeface="Roboto"/>
                <a:cs typeface="Roboto"/>
              </a:rPr>
              <a:t> </a:t>
            </a:r>
            <a:r>
              <a:rPr sz="1100" b="0" spc="-5" dirty="0">
                <a:latin typeface="Roboto"/>
                <a:cs typeface="Roboto"/>
              </a:rPr>
              <a:t>на</a:t>
            </a:r>
            <a:r>
              <a:rPr sz="1100" b="0" spc="-10" dirty="0">
                <a:latin typeface="Roboto"/>
                <a:cs typeface="Roboto"/>
              </a:rPr>
              <a:t> </a:t>
            </a:r>
            <a:r>
              <a:rPr sz="1100" b="0" spc="-15" dirty="0">
                <a:latin typeface="Roboto"/>
                <a:cs typeface="Roboto"/>
              </a:rPr>
              <a:t>активность</a:t>
            </a:r>
            <a:endParaRPr sz="11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600">
              <a:latin typeface="Roboto"/>
              <a:cs typeface="Roboto"/>
            </a:endParaRPr>
          </a:p>
          <a:p>
            <a:pPr marL="497840">
              <a:lnSpc>
                <a:spcPct val="100000"/>
              </a:lnSpc>
            </a:pPr>
            <a:r>
              <a:rPr sz="1100" b="0" dirty="0">
                <a:latin typeface="Roboto"/>
                <a:cs typeface="Roboto"/>
              </a:rPr>
              <a:t>Пишем</a:t>
            </a:r>
            <a:r>
              <a:rPr sz="1100" b="0" spc="-30" dirty="0">
                <a:latin typeface="Roboto"/>
                <a:cs typeface="Roboto"/>
              </a:rPr>
              <a:t> </a:t>
            </a:r>
            <a:r>
              <a:rPr sz="1100" b="0" dirty="0">
                <a:latin typeface="Roboto"/>
                <a:cs typeface="Roboto"/>
              </a:rPr>
              <a:t>в</a:t>
            </a:r>
            <a:r>
              <a:rPr sz="1100" b="0" spc="-30" dirty="0">
                <a:latin typeface="Roboto"/>
                <a:cs typeface="Roboto"/>
              </a:rPr>
              <a:t> </a:t>
            </a:r>
            <a:r>
              <a:rPr sz="1100" b="0" spc="-25" dirty="0">
                <a:latin typeface="Roboto"/>
                <a:cs typeface="Roboto"/>
              </a:rPr>
              <a:t>чат</a:t>
            </a:r>
            <a:endParaRPr sz="1100">
              <a:latin typeface="Roboto"/>
              <a:cs typeface="Roboto"/>
            </a:endParaRPr>
          </a:p>
          <a:p>
            <a:pPr>
              <a:lnSpc>
                <a:spcPct val="100000"/>
              </a:lnSpc>
            </a:pPr>
            <a:endParaRPr sz="1300">
              <a:latin typeface="Roboto"/>
              <a:cs typeface="Roboto"/>
            </a:endParaRPr>
          </a:p>
          <a:p>
            <a:pPr marL="497840">
              <a:lnSpc>
                <a:spcPct val="100000"/>
              </a:lnSpc>
              <a:spcBef>
                <a:spcPts val="950"/>
              </a:spcBef>
            </a:pPr>
            <a:r>
              <a:rPr sz="1100" b="0" spc="-20" dirty="0">
                <a:latin typeface="Roboto"/>
                <a:cs typeface="Roboto"/>
              </a:rPr>
              <a:t>Говорим</a:t>
            </a:r>
            <a:r>
              <a:rPr sz="1100" b="0" spc="-30" dirty="0">
                <a:latin typeface="Roboto"/>
                <a:cs typeface="Roboto"/>
              </a:rPr>
              <a:t> </a:t>
            </a:r>
            <a:r>
              <a:rPr sz="1100" b="0" spc="-5" dirty="0">
                <a:latin typeface="Roboto"/>
                <a:cs typeface="Roboto"/>
              </a:rPr>
              <a:t>голосом</a:t>
            </a:r>
            <a:endParaRPr sz="1100">
              <a:latin typeface="Roboto"/>
              <a:cs typeface="Roboto"/>
            </a:endParaRPr>
          </a:p>
          <a:p>
            <a:pPr>
              <a:lnSpc>
                <a:spcPct val="100000"/>
              </a:lnSpc>
            </a:pPr>
            <a:endParaRPr sz="1300">
              <a:latin typeface="Roboto"/>
              <a:cs typeface="Roboto"/>
            </a:endParaRPr>
          </a:p>
          <a:p>
            <a:pPr marL="497840">
              <a:lnSpc>
                <a:spcPct val="100000"/>
              </a:lnSpc>
              <a:spcBef>
                <a:spcPts val="805"/>
              </a:spcBef>
            </a:pPr>
            <a:r>
              <a:rPr sz="1100" b="0" spc="-15" dirty="0">
                <a:latin typeface="Roboto"/>
                <a:cs typeface="Roboto"/>
              </a:rPr>
              <a:t>Документ</a:t>
            </a:r>
            <a:endParaRPr sz="11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1450">
              <a:latin typeface="Roboto"/>
              <a:cs typeface="Roboto"/>
            </a:endParaRPr>
          </a:p>
          <a:p>
            <a:pPr marL="497840" marR="161925">
              <a:lnSpc>
                <a:spcPct val="100000"/>
              </a:lnSpc>
            </a:pPr>
            <a:r>
              <a:rPr sz="1100" b="0" spc="-25" dirty="0">
                <a:latin typeface="Roboto"/>
                <a:cs typeface="Roboto"/>
              </a:rPr>
              <a:t>Ответьте </a:t>
            </a:r>
            <a:r>
              <a:rPr sz="1100" b="0" spc="-5" dirty="0">
                <a:latin typeface="Roboto"/>
                <a:cs typeface="Roboto"/>
              </a:rPr>
              <a:t>себе </a:t>
            </a:r>
            <a:r>
              <a:rPr sz="1100" b="0" spc="10" dirty="0">
                <a:latin typeface="Roboto"/>
                <a:cs typeface="Roboto"/>
              </a:rPr>
              <a:t>или </a:t>
            </a:r>
            <a:r>
              <a:rPr sz="1100" b="0" spc="-260" dirty="0">
                <a:latin typeface="Roboto"/>
                <a:cs typeface="Roboto"/>
              </a:rPr>
              <a:t> </a:t>
            </a:r>
            <a:r>
              <a:rPr sz="1100" b="0" spc="-25" dirty="0">
                <a:latin typeface="Roboto"/>
                <a:cs typeface="Roboto"/>
              </a:rPr>
              <a:t>задайте</a:t>
            </a:r>
            <a:r>
              <a:rPr sz="1100" b="0" spc="-20" dirty="0">
                <a:latin typeface="Roboto"/>
                <a:cs typeface="Roboto"/>
              </a:rPr>
              <a:t> </a:t>
            </a:r>
            <a:r>
              <a:rPr sz="1100" b="0" spc="-5" dirty="0">
                <a:latin typeface="Roboto"/>
                <a:cs typeface="Roboto"/>
              </a:rPr>
              <a:t>вопрос</a:t>
            </a:r>
            <a:endParaRPr sz="11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73575" y="388000"/>
            <a:ext cx="6225366" cy="497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0" dirty="0"/>
              <a:t>Карта</a:t>
            </a:r>
            <a:r>
              <a:rPr spc="-65" dirty="0"/>
              <a:t> </a:t>
            </a:r>
            <a:r>
              <a:rPr spc="-15" dirty="0"/>
              <a:t>курса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42B962FB-80BD-6A48-8524-7D919FB49D23}"/>
              </a:ext>
            </a:extLst>
          </p:cNvPr>
          <p:cNvSpPr/>
          <p:nvPr/>
        </p:nvSpPr>
        <p:spPr>
          <a:xfrm>
            <a:off x="5464657" y="1118648"/>
            <a:ext cx="2320880" cy="49940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Python Advanced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92BC185D-17BD-9442-94E8-23EB83D225B1}"/>
              </a:ext>
            </a:extLst>
          </p:cNvPr>
          <p:cNvSpPr/>
          <p:nvPr/>
        </p:nvSpPr>
        <p:spPr>
          <a:xfrm>
            <a:off x="1049762" y="1635977"/>
            <a:ext cx="2871318" cy="5334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spc="-10" dirty="0">
                <a:solidFill>
                  <a:schemeClr val="tx1"/>
                </a:solidFill>
                <a:latin typeface="Roboto"/>
                <a:cs typeface="Roboto"/>
              </a:rPr>
              <a:t>Web. Django. </a:t>
            </a:r>
            <a:r>
              <a:rPr lang="en-US" sz="1400" spc="-10" dirty="0" err="1">
                <a:solidFill>
                  <a:schemeClr val="tx1"/>
                </a:solidFill>
                <a:latin typeface="Roboto"/>
                <a:cs typeface="Roboto"/>
              </a:rPr>
              <a:t>FastAPI</a:t>
            </a:r>
            <a:r>
              <a:rPr lang="en-US" sz="1400" spc="-10" dirty="0">
                <a:solidFill>
                  <a:schemeClr val="tx1"/>
                </a:solidFill>
                <a:latin typeface="Roboto"/>
                <a:cs typeface="Roboto"/>
              </a:rPr>
              <a:t>.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D389797C-5AC8-8647-A026-69A3A4FA36D4}"/>
              </a:ext>
            </a:extLst>
          </p:cNvPr>
          <p:cNvSpPr/>
          <p:nvPr/>
        </p:nvSpPr>
        <p:spPr>
          <a:xfrm>
            <a:off x="5045557" y="2671225"/>
            <a:ext cx="3159080" cy="680465"/>
          </a:xfrm>
          <a:prstGeom prst="roundRect">
            <a:avLst/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spc="-20" dirty="0">
                <a:solidFill>
                  <a:schemeClr val="tx1"/>
                </a:solidFill>
                <a:latin typeface="Roboto"/>
                <a:cs typeface="Roboto"/>
              </a:rPr>
              <a:t>ML Engineering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06F4D35-6103-0049-B079-D9E4D26C23A1}"/>
              </a:ext>
            </a:extLst>
          </p:cNvPr>
          <p:cNvSpPr/>
          <p:nvPr/>
        </p:nvSpPr>
        <p:spPr>
          <a:xfrm>
            <a:off x="762000" y="3351690"/>
            <a:ext cx="3159080" cy="68046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0" i="0" u="none" strike="noStrike" dirty="0" err="1">
                <a:solidFill>
                  <a:schemeClr val="tx1"/>
                </a:solidFill>
                <a:effectLst/>
                <a:latin typeface="roboto" panose="02000000000000000000" pitchFamily="2" charset="0"/>
              </a:rPr>
              <a:t>Highload</a:t>
            </a:r>
            <a:endParaRPr lang="ru-RU" sz="1400" b="0" i="0" u="none" strike="noStrike" dirty="0">
              <a:solidFill>
                <a:schemeClr val="tx1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07B65E25-3B50-0547-A404-FB902131A18C}"/>
              </a:ext>
            </a:extLst>
          </p:cNvPr>
          <p:cNvSpPr/>
          <p:nvPr/>
        </p:nvSpPr>
        <p:spPr>
          <a:xfrm>
            <a:off x="4800600" y="3943350"/>
            <a:ext cx="3159080" cy="68046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solidFill>
                  <a:schemeClr val="tx1"/>
                </a:solidFill>
                <a:latin typeface="roboto" panose="02000000000000000000" pitchFamily="2" charset="0"/>
              </a:rPr>
              <a:t>Проектная работа</a:t>
            </a:r>
            <a:endParaRPr lang="ru-RU" sz="1400" b="0" i="0" u="none" strike="noStrike" dirty="0">
              <a:solidFill>
                <a:schemeClr val="tx1"/>
              </a:solidFill>
              <a:effectLst/>
              <a:latin typeface="roboto" panose="02000000000000000000" pitchFamily="2" charset="0"/>
            </a:endParaRPr>
          </a:p>
        </p:txBody>
      </p:sp>
      <p:cxnSp>
        <p:nvCxnSpPr>
          <p:cNvPr id="35" name="Curved Connector 34">
            <a:extLst>
              <a:ext uri="{FF2B5EF4-FFF2-40B4-BE49-F238E27FC236}">
                <a16:creationId xmlns:a16="http://schemas.microsoft.com/office/drawing/2014/main" id="{37285617-EA33-4A41-ADCC-CBE14D49180A}"/>
              </a:ext>
            </a:extLst>
          </p:cNvPr>
          <p:cNvCxnSpPr>
            <a:stCxn id="27" idx="1"/>
            <a:endCxn id="28" idx="0"/>
          </p:cNvCxnSpPr>
          <p:nvPr/>
        </p:nvCxnSpPr>
        <p:spPr>
          <a:xfrm rot="10800000" flipV="1">
            <a:off x="2485421" y="1368349"/>
            <a:ext cx="2979236" cy="267628"/>
          </a:xfrm>
          <a:prstGeom prst="curvedConnector2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D756DAE7-9C8B-C141-B84C-9D09901DD5B3}"/>
              </a:ext>
            </a:extLst>
          </p:cNvPr>
          <p:cNvCxnSpPr>
            <a:cxnSpLocks/>
            <a:stCxn id="31" idx="0"/>
            <a:endCxn id="28" idx="3"/>
          </p:cNvCxnSpPr>
          <p:nvPr/>
        </p:nvCxnSpPr>
        <p:spPr>
          <a:xfrm rot="16200000" flipV="1">
            <a:off x="4888815" y="934942"/>
            <a:ext cx="768548" cy="2704017"/>
          </a:xfrm>
          <a:prstGeom prst="curvedConnector2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urved Connector 38">
            <a:extLst>
              <a:ext uri="{FF2B5EF4-FFF2-40B4-BE49-F238E27FC236}">
                <a16:creationId xmlns:a16="http://schemas.microsoft.com/office/drawing/2014/main" id="{AC942019-1574-FC4F-BCCC-887DF1A37A86}"/>
              </a:ext>
            </a:extLst>
          </p:cNvPr>
          <p:cNvCxnSpPr>
            <a:cxnSpLocks/>
            <a:stCxn id="31" idx="1"/>
            <a:endCxn id="32" idx="0"/>
          </p:cNvCxnSpPr>
          <p:nvPr/>
        </p:nvCxnSpPr>
        <p:spPr>
          <a:xfrm rot="10800000" flipV="1">
            <a:off x="2341541" y="3011458"/>
            <a:ext cx="2704017" cy="340232"/>
          </a:xfrm>
          <a:prstGeom prst="curvedConnector2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000F223C-79D7-D841-84F9-9C5650FBE24F}"/>
              </a:ext>
            </a:extLst>
          </p:cNvPr>
          <p:cNvCxnSpPr>
            <a:cxnSpLocks/>
            <a:stCxn id="33" idx="1"/>
            <a:endCxn id="32" idx="2"/>
          </p:cNvCxnSpPr>
          <p:nvPr/>
        </p:nvCxnSpPr>
        <p:spPr>
          <a:xfrm rot="10800000">
            <a:off x="2341540" y="4032155"/>
            <a:ext cx="2459060" cy="251428"/>
          </a:xfrm>
          <a:prstGeom prst="curvedConnector2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73575" y="388000"/>
            <a:ext cx="6225366" cy="497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0" dirty="0"/>
              <a:t>Карта</a:t>
            </a:r>
            <a:r>
              <a:rPr spc="-65" dirty="0"/>
              <a:t> </a:t>
            </a:r>
            <a:r>
              <a:rPr spc="-15" dirty="0"/>
              <a:t>курса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D389797C-5AC8-8647-A026-69A3A4FA36D4}"/>
              </a:ext>
            </a:extLst>
          </p:cNvPr>
          <p:cNvSpPr/>
          <p:nvPr/>
        </p:nvSpPr>
        <p:spPr>
          <a:xfrm>
            <a:off x="573575" y="1047751"/>
            <a:ext cx="3159080" cy="38100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spc="-20" dirty="0">
                <a:solidFill>
                  <a:schemeClr val="tx1"/>
                </a:solidFill>
                <a:latin typeface="Roboto"/>
                <a:cs typeface="Roboto"/>
              </a:rPr>
              <a:t>ML Engineering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F7CF1FE-957A-9D4D-88EA-6F04DA515F47}"/>
              </a:ext>
            </a:extLst>
          </p:cNvPr>
          <p:cNvSpPr/>
          <p:nvPr/>
        </p:nvSpPr>
        <p:spPr>
          <a:xfrm>
            <a:off x="2590800" y="1657350"/>
            <a:ext cx="3955836" cy="381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379538"/>
            <a:endParaRPr lang="en-US" sz="1400" spc="-20" dirty="0">
              <a:solidFill>
                <a:schemeClr val="tx1"/>
              </a:solidFill>
              <a:latin typeface="Roboto"/>
              <a:cs typeface="Roboto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DE9C2A-C75A-424B-9C32-4C42AB3629F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218"/>
          <a:stretch/>
        </p:blipFill>
        <p:spPr>
          <a:xfrm>
            <a:off x="2740565" y="1606719"/>
            <a:ext cx="985256" cy="482261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3A7F82C-DC26-3441-A3B2-9F847F37DCC0}"/>
              </a:ext>
            </a:extLst>
          </p:cNvPr>
          <p:cNvSpPr/>
          <p:nvPr/>
        </p:nvSpPr>
        <p:spPr>
          <a:xfrm>
            <a:off x="2590800" y="2190750"/>
            <a:ext cx="3955836" cy="381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379538"/>
            <a:endParaRPr lang="en-US" sz="1400" spc="-20" dirty="0">
              <a:solidFill>
                <a:schemeClr val="tx1"/>
              </a:solidFill>
              <a:latin typeface="Roboto"/>
              <a:cs typeface="Roboto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EF80175-500B-0745-AC1C-57AE234B1F7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1550" y="2186909"/>
            <a:ext cx="954150" cy="384841"/>
          </a:xfrm>
          <a:prstGeom prst="rect">
            <a:avLst/>
          </a:prstGeom>
        </p:spPr>
      </p:pic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E111EED-9646-C942-AC8C-B290C62B252A}"/>
              </a:ext>
            </a:extLst>
          </p:cNvPr>
          <p:cNvSpPr/>
          <p:nvPr/>
        </p:nvSpPr>
        <p:spPr>
          <a:xfrm>
            <a:off x="2597363" y="2724151"/>
            <a:ext cx="3955836" cy="381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379538"/>
            <a:endParaRPr lang="en-US" sz="1400" spc="-20" dirty="0">
              <a:solidFill>
                <a:schemeClr val="tx1"/>
              </a:solidFill>
              <a:latin typeface="Roboto"/>
              <a:cs typeface="Roboto"/>
            </a:endParaRP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2BA28636-A2A2-CF4A-B027-9AE15B493B8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41550" y="2759203"/>
            <a:ext cx="1295400" cy="310896"/>
          </a:xfrm>
          <a:prstGeom prst="rect">
            <a:avLst/>
          </a:prstGeom>
        </p:spPr>
      </p:pic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8C2E6EB-5537-C441-978A-F955D65CA629}"/>
              </a:ext>
            </a:extLst>
          </p:cNvPr>
          <p:cNvSpPr/>
          <p:nvPr/>
        </p:nvSpPr>
        <p:spPr>
          <a:xfrm>
            <a:off x="2597363" y="3287255"/>
            <a:ext cx="3955836" cy="381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379538"/>
            <a:endParaRPr lang="en-US" sz="1400" spc="-20" dirty="0">
              <a:solidFill>
                <a:schemeClr val="tx1"/>
              </a:solidFill>
              <a:latin typeface="Roboto"/>
              <a:cs typeface="Roboto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9A2B97B-E07C-8B4B-AC76-5ED6EDD604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0565" y="3334299"/>
            <a:ext cx="939800" cy="271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79EE7A51-808B-7846-8A46-D3D37A7889CF}"/>
              </a:ext>
            </a:extLst>
          </p:cNvPr>
          <p:cNvSpPr/>
          <p:nvPr/>
        </p:nvSpPr>
        <p:spPr>
          <a:xfrm>
            <a:off x="2597362" y="3813939"/>
            <a:ext cx="3955837" cy="381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379538"/>
            <a:endParaRPr lang="en-US" sz="1400" spc="-20" dirty="0">
              <a:solidFill>
                <a:schemeClr val="tx1"/>
              </a:solidFill>
              <a:latin typeface="Roboto"/>
              <a:cs typeface="Roboto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A289D9D3-72EC-5D44-B12E-E4E47EA7F9F5}"/>
              </a:ext>
            </a:extLst>
          </p:cNvPr>
          <p:cNvSpPr/>
          <p:nvPr/>
        </p:nvSpPr>
        <p:spPr>
          <a:xfrm>
            <a:off x="2597362" y="4340623"/>
            <a:ext cx="3949273" cy="38100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379538"/>
            <a:endParaRPr lang="en-US" sz="1400" spc="-20" dirty="0">
              <a:solidFill>
                <a:schemeClr val="tx1"/>
              </a:solidFill>
              <a:latin typeface="Roboto"/>
              <a:cs typeface="Roboto"/>
            </a:endParaRPr>
          </a:p>
        </p:txBody>
      </p:sp>
      <p:pic>
        <p:nvPicPr>
          <p:cNvPr id="1028" name="Picture 4" descr="Plugger AI vs. Huggingface: Simplifying AI Model Access and Scalability">
            <a:extLst>
              <a:ext uri="{FF2B5EF4-FFF2-40B4-BE49-F238E27FC236}">
                <a16:creationId xmlns:a16="http://schemas.microsoft.com/office/drawing/2014/main" id="{073121C2-02B0-ED42-85C8-C4E1BE951A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3534" y="3813939"/>
            <a:ext cx="1433416" cy="38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E0DB6B5D-321E-6F42-B1AE-2130BF1EAD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7630" y="3803827"/>
            <a:ext cx="766822" cy="3834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CF1F9F0-CB34-9044-A342-8C081391014B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4452" y="3668255"/>
            <a:ext cx="1289048" cy="7365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8AA570-964A-304F-9938-62731D1A07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0471" y="4324350"/>
            <a:ext cx="1122184" cy="4007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CA82B87-B256-D842-95A2-4F0058160C6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4584" y="4388557"/>
            <a:ext cx="1079868" cy="323961"/>
          </a:xfrm>
          <a:prstGeom prst="rect">
            <a:avLst/>
          </a:prstGeom>
        </p:spPr>
      </p:pic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93D6C3F3-7051-AC4F-8AC1-17DD79319C3A}"/>
              </a:ext>
            </a:extLst>
          </p:cNvPr>
          <p:cNvCxnSpPr>
            <a:stCxn id="31" idx="2"/>
            <a:endCxn id="12" idx="1"/>
          </p:cNvCxnSpPr>
          <p:nvPr/>
        </p:nvCxnSpPr>
        <p:spPr>
          <a:xfrm rot="16200000" flipH="1">
            <a:off x="2162408" y="1419457"/>
            <a:ext cx="419099" cy="43768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A514CCD4-184A-7041-B505-7CFED74F146E}"/>
              </a:ext>
            </a:extLst>
          </p:cNvPr>
          <p:cNvCxnSpPr>
            <a:cxnSpLocks/>
            <a:stCxn id="31" idx="2"/>
            <a:endCxn id="14" idx="1"/>
          </p:cNvCxnSpPr>
          <p:nvPr/>
        </p:nvCxnSpPr>
        <p:spPr>
          <a:xfrm rot="16200000" flipH="1">
            <a:off x="1895708" y="1686157"/>
            <a:ext cx="952499" cy="43768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EF55DB35-EABA-184E-A17E-63C5E13A34E9}"/>
              </a:ext>
            </a:extLst>
          </p:cNvPr>
          <p:cNvCxnSpPr>
            <a:cxnSpLocks/>
            <a:stCxn id="31" idx="2"/>
            <a:endCxn id="17" idx="1"/>
          </p:cNvCxnSpPr>
          <p:nvPr/>
        </p:nvCxnSpPr>
        <p:spPr>
          <a:xfrm rot="16200000" flipH="1">
            <a:off x="1632289" y="1949577"/>
            <a:ext cx="1485900" cy="44424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E94D35CF-3789-1D43-AD6D-27419086DF0F}"/>
              </a:ext>
            </a:extLst>
          </p:cNvPr>
          <p:cNvCxnSpPr>
            <a:cxnSpLocks/>
            <a:stCxn id="31" idx="2"/>
            <a:endCxn id="19" idx="1"/>
          </p:cNvCxnSpPr>
          <p:nvPr/>
        </p:nvCxnSpPr>
        <p:spPr>
          <a:xfrm rot="16200000" flipH="1">
            <a:off x="1350737" y="2231129"/>
            <a:ext cx="2049004" cy="44424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4FC9284D-C7B0-104C-B085-2FA31330BF8A}"/>
              </a:ext>
            </a:extLst>
          </p:cNvPr>
          <p:cNvCxnSpPr>
            <a:cxnSpLocks/>
            <a:stCxn id="31" idx="2"/>
            <a:endCxn id="1028" idx="1"/>
          </p:cNvCxnSpPr>
          <p:nvPr/>
        </p:nvCxnSpPr>
        <p:spPr>
          <a:xfrm rot="16200000" flipH="1">
            <a:off x="1090480" y="2491385"/>
            <a:ext cx="2575688" cy="45041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8D13A058-D9D9-D044-B871-F4E844C878C7}"/>
              </a:ext>
            </a:extLst>
          </p:cNvPr>
          <p:cNvCxnSpPr>
            <a:cxnSpLocks/>
            <a:stCxn id="31" idx="2"/>
            <a:endCxn id="21" idx="1"/>
          </p:cNvCxnSpPr>
          <p:nvPr/>
        </p:nvCxnSpPr>
        <p:spPr>
          <a:xfrm rot="16200000" flipH="1">
            <a:off x="824052" y="2757813"/>
            <a:ext cx="3102372" cy="44424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90586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284" name="Google Shape;284;p65"/>
          <p:cNvSpPr/>
          <p:nvPr/>
        </p:nvSpPr>
        <p:spPr>
          <a:xfrm>
            <a:off x="680150" y="1521159"/>
            <a:ext cx="358705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1. Знакомство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65"/>
          <p:cNvSpPr/>
          <p:nvPr/>
        </p:nvSpPr>
        <p:spPr>
          <a:xfrm>
            <a:off x="680150" y="2063176"/>
            <a:ext cx="358705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Проблема масштабирования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65"/>
          <p:cNvSpPr/>
          <p:nvPr/>
        </p:nvSpPr>
        <p:spPr>
          <a:xfrm>
            <a:off x="680150" y="2605193"/>
            <a:ext cx="358705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r>
              <a:rPr lang="en-US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Hadoop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288;p65">
            <a:extLst>
              <a:ext uri="{FF2B5EF4-FFF2-40B4-BE49-F238E27FC236}">
                <a16:creationId xmlns:a16="http://schemas.microsoft.com/office/drawing/2014/main" id="{BE39A353-0113-CB40-A790-4710AD049C32}"/>
              </a:ext>
            </a:extLst>
          </p:cNvPr>
          <p:cNvSpPr/>
          <p:nvPr/>
        </p:nvSpPr>
        <p:spPr>
          <a:xfrm>
            <a:off x="680150" y="3147210"/>
            <a:ext cx="358705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r>
              <a:rPr lang="en-US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Spark &amp; </a:t>
            </a:r>
            <a:r>
              <a:rPr lang="en-US" sz="15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SparkML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287;p65">
            <a:extLst>
              <a:ext uri="{FF2B5EF4-FFF2-40B4-BE49-F238E27FC236}">
                <a16:creationId xmlns:a16="http://schemas.microsoft.com/office/drawing/2014/main" id="{90E2BDB8-3207-4D44-8E25-7148F988B431}"/>
              </a:ext>
            </a:extLst>
          </p:cNvPr>
          <p:cNvSpPr/>
          <p:nvPr/>
        </p:nvSpPr>
        <p:spPr>
          <a:xfrm>
            <a:off x="674524" y="3689227"/>
            <a:ext cx="358705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r>
              <a:rPr lang="en-US" sz="15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ClickHouse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09A9D69-4C6C-1843-B7AA-7DE692AC36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8576" y="1535351"/>
            <a:ext cx="2692658" cy="80779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FF80A2B-DACF-2B45-BF80-BC9B843A6A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355510"/>
            <a:ext cx="2743440" cy="979800"/>
          </a:xfrm>
          <a:prstGeom prst="rect">
            <a:avLst/>
          </a:prstGeom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ADD9CE74-2EE5-6F44-921A-0EEC624D18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5800" y="3037503"/>
            <a:ext cx="2249550" cy="1423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rstanding the Significance of Amazon S3 Buckets">
            <a:extLst>
              <a:ext uri="{FF2B5EF4-FFF2-40B4-BE49-F238E27FC236}">
                <a16:creationId xmlns:a16="http://schemas.microsoft.com/office/drawing/2014/main" id="{1B397803-7BAE-994C-967F-93B91DBDEB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1157" y="3789950"/>
            <a:ext cx="1205883" cy="830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Google Shape;287;p65">
            <a:extLst>
              <a:ext uri="{FF2B5EF4-FFF2-40B4-BE49-F238E27FC236}">
                <a16:creationId xmlns:a16="http://schemas.microsoft.com/office/drawing/2014/main" id="{D5CB1965-A729-9445-BD70-7A066F87BEAF}"/>
              </a:ext>
            </a:extLst>
          </p:cNvPr>
          <p:cNvSpPr/>
          <p:nvPr/>
        </p:nvSpPr>
        <p:spPr>
          <a:xfrm>
            <a:off x="674524" y="4231244"/>
            <a:ext cx="358705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Объектные хранилища </a:t>
            </a:r>
            <a:r>
              <a:rPr lang="en-US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S3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" name="Curved Connector 2">
            <a:extLst>
              <a:ext uri="{FF2B5EF4-FFF2-40B4-BE49-F238E27FC236}">
                <a16:creationId xmlns:a16="http://schemas.microsoft.com/office/drawing/2014/main" id="{3BA9729E-E0F3-D04E-9C05-B3723AECA1B5}"/>
              </a:ext>
            </a:extLst>
          </p:cNvPr>
          <p:cNvCxnSpPr>
            <a:stCxn id="284" idx="1"/>
            <a:endCxn id="287" idx="1"/>
          </p:cNvCxnSpPr>
          <p:nvPr/>
        </p:nvCxnSpPr>
        <p:spPr>
          <a:xfrm rot="10800000" flipV="1">
            <a:off x="680150" y="1709258"/>
            <a:ext cx="12700" cy="542017"/>
          </a:xfrm>
          <a:prstGeom prst="curvedConnector3">
            <a:avLst>
              <a:gd name="adj1" fmla="val 1800000"/>
            </a:avLst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E512508C-348F-8647-B039-FDCAE8083AB0}"/>
              </a:ext>
            </a:extLst>
          </p:cNvPr>
          <p:cNvCxnSpPr>
            <a:cxnSpLocks/>
            <a:stCxn id="287" idx="1"/>
            <a:endCxn id="288" idx="1"/>
          </p:cNvCxnSpPr>
          <p:nvPr/>
        </p:nvCxnSpPr>
        <p:spPr>
          <a:xfrm rot="10800000" flipV="1">
            <a:off x="680150" y="2251275"/>
            <a:ext cx="12700" cy="542017"/>
          </a:xfrm>
          <a:prstGeom prst="curvedConnector3">
            <a:avLst>
              <a:gd name="adj1" fmla="val 1800000"/>
            </a:avLst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B7168C74-2733-0646-A15A-FB2393D892FC}"/>
              </a:ext>
            </a:extLst>
          </p:cNvPr>
          <p:cNvCxnSpPr>
            <a:cxnSpLocks/>
            <a:stCxn id="288" idx="1"/>
            <a:endCxn id="9" idx="1"/>
          </p:cNvCxnSpPr>
          <p:nvPr/>
        </p:nvCxnSpPr>
        <p:spPr>
          <a:xfrm rot="10800000" flipV="1">
            <a:off x="680150" y="2793292"/>
            <a:ext cx="12700" cy="542017"/>
          </a:xfrm>
          <a:prstGeom prst="curvedConnector3">
            <a:avLst>
              <a:gd name="adj1" fmla="val 1800000"/>
            </a:avLst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F2C8DAD5-5BE7-E14C-BC8B-7837D81D8C50}"/>
              </a:ext>
            </a:extLst>
          </p:cNvPr>
          <p:cNvCxnSpPr>
            <a:cxnSpLocks/>
            <a:stCxn id="9" idx="1"/>
            <a:endCxn id="8" idx="1"/>
          </p:cNvCxnSpPr>
          <p:nvPr/>
        </p:nvCxnSpPr>
        <p:spPr>
          <a:xfrm rot="10800000" flipV="1">
            <a:off x="674524" y="3335309"/>
            <a:ext cx="5626" cy="542017"/>
          </a:xfrm>
          <a:prstGeom prst="curvedConnector3">
            <a:avLst>
              <a:gd name="adj1" fmla="val 4163278"/>
            </a:avLst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urved Connector 21">
            <a:extLst>
              <a:ext uri="{FF2B5EF4-FFF2-40B4-BE49-F238E27FC236}">
                <a16:creationId xmlns:a16="http://schemas.microsoft.com/office/drawing/2014/main" id="{255450A9-4388-6340-BEF7-1139F5C0DA3D}"/>
              </a:ext>
            </a:extLst>
          </p:cNvPr>
          <p:cNvCxnSpPr>
            <a:cxnSpLocks/>
            <a:stCxn id="8" idx="1"/>
            <a:endCxn id="16" idx="1"/>
          </p:cNvCxnSpPr>
          <p:nvPr/>
        </p:nvCxnSpPr>
        <p:spPr>
          <a:xfrm rot="10800000" flipV="1">
            <a:off x="674524" y="3877326"/>
            <a:ext cx="12700" cy="542017"/>
          </a:xfrm>
          <a:prstGeom prst="curvedConnector3">
            <a:avLst>
              <a:gd name="adj1" fmla="val 1800000"/>
            </a:avLst>
          </a:prstGeom>
          <a:ln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sp>
        <p:nvSpPr>
          <p:cNvPr id="204" name="Google Shape;204;p37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 dirty="0">
                <a:solidFill>
                  <a:srgbClr val="FF9900"/>
                </a:solidFill>
              </a:rPr>
              <a:t>К концу занятия вы сможете</a:t>
            </a:r>
            <a:endParaRPr sz="1500" b="1" dirty="0">
              <a:solidFill>
                <a:srgbClr val="FF9900"/>
              </a:solidFill>
            </a:endParaRPr>
          </a:p>
        </p:txBody>
      </p:sp>
      <p:graphicFrame>
        <p:nvGraphicFramePr>
          <p:cNvPr id="5" name="Google Shape;210;p38">
            <a:extLst>
              <a:ext uri="{FF2B5EF4-FFF2-40B4-BE49-F238E27FC236}">
                <a16:creationId xmlns:a16="http://schemas.microsoft.com/office/drawing/2014/main" id="{B0C8E344-6310-094A-A544-66E8083E1A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5387999"/>
              </p:ext>
            </p:extLst>
          </p:nvPr>
        </p:nvGraphicFramePr>
        <p:xfrm>
          <a:off x="846750" y="1649963"/>
          <a:ext cx="7239000" cy="220285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4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ru-RU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Понять, что такое распределенные системы и с какими сложностями мы сталкиваемся при их эксплуатации</a:t>
                      </a:r>
                      <a:endParaRPr sz="1300" u="none" strike="noStrike" cap="none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4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 anchor="ctr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ru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что такое платформа </a:t>
                      </a:r>
                      <a:r>
                        <a:rPr lang="en-US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Hadoop </a:t>
                      </a:r>
                      <a:r>
                        <a:rPr lang="ru-RU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 когда она используется</a:t>
                      </a:r>
                      <a:endParaRPr sz="1300" u="none" strike="noStrike" cap="none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4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 anchor="ctr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ru-RU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что такое платформа </a:t>
                      </a:r>
                      <a:r>
                        <a:rPr lang="en-US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Spark </a:t>
                      </a:r>
                      <a:r>
                        <a:rPr lang="ru-RU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 когда она используется</a:t>
                      </a:r>
                      <a:endParaRPr sz="1300" u="none" strike="noStrike" cap="none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772747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4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 anchor="ctr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ru-RU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что такое колоночные БД и когда стоит использовать </a:t>
                      </a:r>
                      <a:r>
                        <a:rPr lang="en-US" sz="1300" u="none" strike="noStrike" cap="none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ClickHouse</a:t>
                      </a:r>
                      <a:endParaRPr sz="1300" u="none" strike="noStrike" cap="none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66709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sz="14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 anchor="ctr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ru-RU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что такое объектное хранилище </a:t>
                      </a:r>
                      <a:r>
                        <a:rPr lang="en-US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S3</a:t>
                      </a:r>
                      <a:endParaRPr sz="1300" u="none" strike="noStrike" cap="none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474299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Смысл</a:t>
            </a:r>
            <a:endParaRPr/>
          </a:p>
        </p:txBody>
      </p:sp>
      <p:sp>
        <p:nvSpPr>
          <p:cNvPr id="211" name="Google Shape;211;p38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знать</a:t>
            </a:r>
            <a:endParaRPr sz="1500" b="1">
              <a:solidFill>
                <a:srgbClr val="FF9900"/>
              </a:solidFill>
            </a:endParaRPr>
          </a:p>
        </p:txBody>
      </p:sp>
      <p:graphicFrame>
        <p:nvGraphicFramePr>
          <p:cNvPr id="5" name="Google Shape;210;p38">
            <a:extLst>
              <a:ext uri="{FF2B5EF4-FFF2-40B4-BE49-F238E27FC236}">
                <a16:creationId xmlns:a16="http://schemas.microsoft.com/office/drawing/2014/main" id="{95CF6988-BEFE-5F4D-8976-4C03B79F873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3415486"/>
              </p:ext>
            </p:extLst>
          </p:nvPr>
        </p:nvGraphicFramePr>
        <p:xfrm>
          <a:off x="846750" y="1649963"/>
          <a:ext cx="7239000" cy="39500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4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ru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</a:t>
                      </a:r>
                      <a:r>
                        <a:rPr lang="ru-RU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общие принципы функционирования компонентов </a:t>
                      </a:r>
                      <a:r>
                        <a:rPr lang="en-US" sz="1300" u="none" strike="noStrike" cap="none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BigData</a:t>
                      </a:r>
                      <a:r>
                        <a:rPr lang="en-US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экосистемы</a:t>
                      </a:r>
                      <a:endParaRPr sz="1300" u="none" strike="noStrike" cap="none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900" dirty="0" err="1"/>
              <a:t>BigData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84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AEF741A-6E1E-D141-B792-11CB31BD8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Данные</a:t>
            </a:r>
            <a:endParaRPr lang="en-US" dirty="0"/>
          </a:p>
        </p:txBody>
      </p:sp>
      <p:pic>
        <p:nvPicPr>
          <p:cNvPr id="2056" name="Picture 8" descr="Big Data - Hexanika (Think Beyond Data)">
            <a:extLst>
              <a:ext uri="{FF2B5EF4-FFF2-40B4-BE49-F238E27FC236}">
                <a16:creationId xmlns:a16="http://schemas.microsoft.com/office/drawing/2014/main" id="{5092F325-FDC0-8542-8449-EB30AAE5C1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00150"/>
            <a:ext cx="9144000" cy="3612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AD4B40-780B-A140-8797-F762339E53DE}"/>
              </a:ext>
            </a:extLst>
          </p:cNvPr>
          <p:cNvSpPr txBox="1"/>
          <p:nvPr/>
        </p:nvSpPr>
        <p:spPr>
          <a:xfrm>
            <a:off x="838200" y="1962150"/>
            <a:ext cx="7467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 ZB = 1024 EB = 1,048,576 PB = 1,073,741,824 TB = 1,099,511,627,776 GB</a:t>
            </a:r>
          </a:p>
        </p:txBody>
      </p:sp>
    </p:spTree>
    <p:extLst>
      <p:ext uri="{BB962C8B-B14F-4D97-AF65-F5344CB8AC3E}">
        <p14:creationId xmlns:p14="http://schemas.microsoft.com/office/powerpoint/2010/main" val="3967521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AEF741A-6E1E-D141-B792-11CB31BD8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Масштабирование</a:t>
            </a:r>
            <a:endParaRPr lang="en-US" dirty="0"/>
          </a:p>
        </p:txBody>
      </p:sp>
      <p:pic>
        <p:nvPicPr>
          <p:cNvPr id="2052" name="Picture 4" descr="Scaling nedir: Vertical ve Horizontal Scaling nasıl yapılır? | by Emre  Güney | Medium">
            <a:extLst>
              <a:ext uri="{FF2B5EF4-FFF2-40B4-BE49-F238E27FC236}">
                <a16:creationId xmlns:a16="http://schemas.microsoft.com/office/drawing/2014/main" id="{6F553B85-3C98-3C41-96AF-1FA382E582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47750"/>
            <a:ext cx="9144000" cy="3957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74144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>
            <a:extLst>
              <a:ext uri="{FF2B5EF4-FFF2-40B4-BE49-F238E27FC236}">
                <a16:creationId xmlns:a16="http://schemas.microsoft.com/office/drawing/2014/main" id="{95F2B43F-4CF1-4D4C-84DA-DBAE21951A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0"/>
            <a:ext cx="9144001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08193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900" dirty="0"/>
              <a:t>Hadoop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54141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AEF741A-6E1E-D141-B792-11CB31BD8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Hadoop</a:t>
            </a:r>
          </a:p>
        </p:txBody>
      </p:sp>
      <p:pic>
        <p:nvPicPr>
          <p:cNvPr id="4104" name="Picture 8" descr="Hadoop Nedir? Bileşenlerini Tanımaya Başlayalım 1 (HDFS,MapReduce) | by  Birol EMEKLİ | Devops Türkiye☁️ 🐧 🐳 ☸️ | Medium">
            <a:extLst>
              <a:ext uri="{FF2B5EF4-FFF2-40B4-BE49-F238E27FC236}">
                <a16:creationId xmlns:a16="http://schemas.microsoft.com/office/drawing/2014/main" id="{B24187CF-0B66-5C41-B318-25594C0003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029493"/>
            <a:ext cx="7391400" cy="3756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24579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adoop Nedir? Bileşenlerini Tanımaya Başlayalım 1 (HDFS,MapReduce) | by  Birol EMEKLİ | Devops Türkiye☁️ 🐧 🐳 ☸️ | Medium">
            <a:extLst>
              <a:ext uri="{FF2B5EF4-FFF2-40B4-BE49-F238E27FC236}">
                <a16:creationId xmlns:a16="http://schemas.microsoft.com/office/drawing/2014/main" id="{1322A334-F9B8-2540-A372-39BAB00BBE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28" t="48229" r="39778" b="38934"/>
          <a:stretch/>
        </p:blipFill>
        <p:spPr bwMode="auto">
          <a:xfrm>
            <a:off x="289975" y="2186819"/>
            <a:ext cx="1994616" cy="628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Hadoop Nedir? Bileşenlerini Tanımaya Başlayalım 1 (HDFS,MapReduce) | by  Birol EMEKLİ | Devops Türkiye☁️ 🐧 🐳 ☸️ | Medium">
            <a:extLst>
              <a:ext uri="{FF2B5EF4-FFF2-40B4-BE49-F238E27FC236}">
                <a16:creationId xmlns:a16="http://schemas.microsoft.com/office/drawing/2014/main" id="{AEB47959-707A-6B47-ACF5-ACFA13A90F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28" t="63416" r="39778" b="23747"/>
          <a:stretch/>
        </p:blipFill>
        <p:spPr bwMode="auto">
          <a:xfrm>
            <a:off x="457200" y="1342001"/>
            <a:ext cx="1994616" cy="628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8E7A6FE-1492-7D46-829F-15389A3333D7}"/>
              </a:ext>
            </a:extLst>
          </p:cNvPr>
          <p:cNvSpPr txBox="1"/>
          <p:nvPr/>
        </p:nvSpPr>
        <p:spPr>
          <a:xfrm>
            <a:off x="2743200" y="1441189"/>
            <a:ext cx="62484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Hadoop Distributed File System (HDFS) – </a:t>
            </a:r>
            <a:r>
              <a:rPr lang="ru-RU" sz="1400" dirty="0"/>
              <a:t>распределённая файловая система, позволяющая хранить информацию практически неограниченного объёма.</a:t>
            </a:r>
          </a:p>
          <a:p>
            <a:endParaRPr lang="ru-RU" sz="1400" dirty="0"/>
          </a:p>
          <a:p>
            <a:endParaRPr lang="en-US" sz="1400" dirty="0"/>
          </a:p>
          <a:p>
            <a:r>
              <a:rPr lang="en-US" sz="1400" dirty="0"/>
              <a:t>Hadoop YARN – </a:t>
            </a:r>
            <a:r>
              <a:rPr lang="ru-RU" sz="1400" dirty="0"/>
              <a:t>фреймворк для управления ресурсами кластера и менеджмента задач, в том числе включает фреймворк </a:t>
            </a:r>
            <a:r>
              <a:rPr lang="en-US" sz="1400" dirty="0"/>
              <a:t>MapReduce.</a:t>
            </a:r>
            <a:endParaRPr lang="ru-RU" sz="1400" dirty="0"/>
          </a:p>
          <a:p>
            <a:endParaRPr lang="ru-RU" sz="1400" dirty="0"/>
          </a:p>
          <a:p>
            <a:r>
              <a:rPr lang="en-US" sz="1400" dirty="0"/>
              <a:t>Hive – </a:t>
            </a:r>
            <a:r>
              <a:rPr lang="ru-RU" sz="1400" dirty="0"/>
              <a:t>инструмент для </a:t>
            </a:r>
            <a:r>
              <a:rPr lang="en-US" sz="1400" dirty="0"/>
              <a:t>SQL-like </a:t>
            </a:r>
            <a:r>
              <a:rPr lang="ru-RU" sz="1400" dirty="0"/>
              <a:t>запросов над большими данными (превращает </a:t>
            </a:r>
            <a:r>
              <a:rPr lang="en-US" sz="1400" dirty="0"/>
              <a:t>SQL-</a:t>
            </a:r>
            <a:r>
              <a:rPr lang="ru-RU" sz="1400" dirty="0"/>
              <a:t>запросы в серию </a:t>
            </a:r>
            <a:r>
              <a:rPr lang="en-US" sz="1400" dirty="0"/>
              <a:t>MapReduce </a:t>
            </a:r>
            <a:r>
              <a:rPr lang="ru-RU" sz="1400" dirty="0"/>
              <a:t>задач);</a:t>
            </a:r>
          </a:p>
          <a:p>
            <a:endParaRPr lang="ru-RU" sz="1400" dirty="0"/>
          </a:p>
          <a:p>
            <a:r>
              <a:rPr lang="en-US" sz="1400" dirty="0"/>
              <a:t>Pig – </a:t>
            </a:r>
            <a:r>
              <a:rPr lang="ru-RU" sz="1400" dirty="0"/>
              <a:t>язык программирования для анализа данных на высоком уровне. Одна строчка кода на этом языке может превратиться в последовательность </a:t>
            </a:r>
            <a:r>
              <a:rPr lang="en-US" sz="1400" dirty="0"/>
              <a:t>MapReduce </a:t>
            </a:r>
            <a:r>
              <a:rPr lang="ru-RU" sz="1400" dirty="0"/>
              <a:t>задач;</a:t>
            </a:r>
          </a:p>
          <a:p>
            <a:endParaRPr lang="ru-RU" sz="1400" dirty="0"/>
          </a:p>
          <a:p>
            <a:r>
              <a:rPr lang="en-US" sz="1400" dirty="0" err="1"/>
              <a:t>ZooKeeper</a:t>
            </a:r>
            <a:r>
              <a:rPr lang="en-US" sz="1400" dirty="0"/>
              <a:t> – </a:t>
            </a:r>
            <a:r>
              <a:rPr lang="ru-RU" sz="1400" dirty="0"/>
              <a:t>сервис для распределённого хранения конфигурации и синхронизации изменений этой конфигурации;</a:t>
            </a:r>
            <a:endParaRPr lang="en-US" sz="1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63DE1DC-6860-2A4B-A02A-1C33355E3B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85750"/>
            <a:ext cx="2692658" cy="807799"/>
          </a:xfrm>
          <a:prstGeom prst="rect">
            <a:avLst/>
          </a:prstGeom>
        </p:spPr>
      </p:pic>
      <p:pic>
        <p:nvPicPr>
          <p:cNvPr id="11" name="Picture 10" descr="Hadoop Nedir? Bileşenlerini Tanımaya Başlayalım 1 (HDFS,MapReduce) | by  Birol EMEKLİ | Devops Türkiye☁️ 🐧 🐳 ☸️ | Medium">
            <a:extLst>
              <a:ext uri="{FF2B5EF4-FFF2-40B4-BE49-F238E27FC236}">
                <a16:creationId xmlns:a16="http://schemas.microsoft.com/office/drawing/2014/main" id="{684B944B-C2F3-DB42-A7C1-DD457BE2751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178" t="16334" r="42288" b="68499"/>
          <a:stretch/>
        </p:blipFill>
        <p:spPr bwMode="auto">
          <a:xfrm>
            <a:off x="676569" y="3374893"/>
            <a:ext cx="517600" cy="720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Hadoop Nedir? Bileşenlerini Tanımaya Başlayalım 1 (HDFS,MapReduce) | by  Birol EMEKLİ | Devops Türkiye☁️ 🐧 🐳 ☸️ | Medium">
            <a:extLst>
              <a:ext uri="{FF2B5EF4-FFF2-40B4-BE49-F238E27FC236}">
                <a16:creationId xmlns:a16="http://schemas.microsoft.com/office/drawing/2014/main" id="{672CDCA4-326D-5C41-AA89-9C6DAEA9E6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71" t="15908" r="51837" b="68925"/>
          <a:stretch/>
        </p:blipFill>
        <p:spPr bwMode="auto">
          <a:xfrm>
            <a:off x="1173576" y="2812072"/>
            <a:ext cx="652405" cy="671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 descr="Hadoop Nedir? Bileşenlerini Tanımaya Başlayalım 1 (HDFS,MapReduce) | by  Birol EMEKLİ | Devops Türkiye☁️ 🐧 🐳 ☸️ | Medium">
            <a:extLst>
              <a:ext uri="{FF2B5EF4-FFF2-40B4-BE49-F238E27FC236}">
                <a16:creationId xmlns:a16="http://schemas.microsoft.com/office/drawing/2014/main" id="{BAD0EED5-14EF-6243-8589-776EAE71634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6" t="31911" r="89520" b="41032"/>
          <a:stretch/>
        </p:blipFill>
        <p:spPr bwMode="auto">
          <a:xfrm>
            <a:off x="1056560" y="3963173"/>
            <a:ext cx="769421" cy="1180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0797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2" name="Picture 6" descr="Framework of Mapreduce in Hadoop. It consists of map as well as reduce... |  Download Scientific Diagram">
            <a:extLst>
              <a:ext uri="{FF2B5EF4-FFF2-40B4-BE49-F238E27FC236}">
                <a16:creationId xmlns:a16="http://schemas.microsoft.com/office/drawing/2014/main" id="{3B881E4A-BDD3-D946-AE1A-389CA4AC49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50" y="1454872"/>
            <a:ext cx="4497476" cy="2952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E90D46C-8AC9-7F49-9E46-71F15A4EBF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5400" y="971550"/>
            <a:ext cx="3860800" cy="15113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B1FC77-9849-4242-BEFA-CC65724F36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400" y="3183314"/>
            <a:ext cx="4296750" cy="1007430"/>
          </a:xfrm>
          <a:prstGeom prst="rect">
            <a:avLst/>
          </a:prstGeom>
        </p:spPr>
      </p:pic>
      <p:pic>
        <p:nvPicPr>
          <p:cNvPr id="9" name="Picture 8" descr="Hadoop Nedir? Bileşenlerini Tanımaya Başlayalım 1 (HDFS,MapReduce) | by  Birol EMEKLİ | Devops Türkiye☁️ 🐧 🐳 ☸️ | Medium">
            <a:extLst>
              <a:ext uri="{FF2B5EF4-FFF2-40B4-BE49-F238E27FC236}">
                <a16:creationId xmlns:a16="http://schemas.microsoft.com/office/drawing/2014/main" id="{1322A334-F9B8-2540-A372-39BAB00BBE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947" t="33640" r="45359" b="53523"/>
          <a:stretch/>
        </p:blipFill>
        <p:spPr bwMode="auto">
          <a:xfrm>
            <a:off x="519984" y="361949"/>
            <a:ext cx="1994616" cy="628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84243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AEF741A-6E1E-D141-B792-11CB31BD8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MapReduce </a:t>
            </a:r>
            <a:r>
              <a:rPr lang="ru-RU" dirty="0"/>
              <a:t>пример: </a:t>
            </a:r>
            <a:r>
              <a:rPr lang="en-US" dirty="0" err="1"/>
              <a:t>WordCount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8537DC-87F7-5947-97FD-7357D1C2E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818" y="933450"/>
            <a:ext cx="8800363" cy="421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73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547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ML </a:t>
            </a:r>
            <a:r>
              <a:rPr lang="ru-RU" dirty="0"/>
              <a:t>Компоненты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03A304-EFF9-C443-82B1-DEC28AFFC567}"/>
              </a:ext>
            </a:extLst>
          </p:cNvPr>
          <p:cNvSpPr txBox="1"/>
          <p:nvPr/>
        </p:nvSpPr>
        <p:spPr>
          <a:xfrm>
            <a:off x="3048000" y="1352550"/>
            <a:ext cx="5048433" cy="36009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000" dirty="0"/>
              <a:t>Apache Mahout - </a:t>
            </a:r>
            <a:r>
              <a:rPr lang="en-GB" sz="2000" dirty="0">
                <a:hlinkClick r:id="rId3"/>
              </a:rPr>
              <a:t>https://mahout.apache.org</a:t>
            </a:r>
            <a:endParaRPr lang="ru-RU" sz="2000" dirty="0"/>
          </a:p>
          <a:p>
            <a:pPr>
              <a:spcAft>
                <a:spcPts val="1200"/>
              </a:spcAft>
            </a:pPr>
            <a:r>
              <a:rPr lang="ru-RU" sz="1600" dirty="0"/>
              <a:t>(</a:t>
            </a:r>
            <a:r>
              <a:rPr lang="en-US" sz="1600" dirty="0"/>
              <a:t>linear algebra and Scala DSL)</a:t>
            </a:r>
            <a:r>
              <a:rPr lang="en-GB" sz="1600" dirty="0"/>
              <a:t> </a:t>
            </a:r>
          </a:p>
          <a:p>
            <a:r>
              <a:rPr lang="en-GB" sz="2000" dirty="0"/>
              <a:t>Apache Spark - </a:t>
            </a:r>
            <a:r>
              <a:rPr lang="en-GB" sz="2000" dirty="0">
                <a:hlinkClick r:id="rId4"/>
              </a:rPr>
              <a:t>https://spark.apache.org</a:t>
            </a:r>
            <a:endParaRPr lang="ru-RU" sz="2000" dirty="0"/>
          </a:p>
          <a:p>
            <a:pPr>
              <a:spcAft>
                <a:spcPts val="1200"/>
              </a:spcAft>
            </a:pPr>
            <a:r>
              <a:rPr lang="ru-RU" sz="1600" dirty="0"/>
              <a:t>(пакетная обработка)</a:t>
            </a:r>
            <a:r>
              <a:rPr lang="en-GB" sz="1600" dirty="0"/>
              <a:t> </a:t>
            </a:r>
          </a:p>
          <a:p>
            <a:r>
              <a:rPr lang="en-GB" sz="2000" dirty="0"/>
              <a:t>Apache </a:t>
            </a:r>
            <a:r>
              <a:rPr lang="en-GB" sz="2000" dirty="0" err="1"/>
              <a:t>Flink</a:t>
            </a:r>
            <a:r>
              <a:rPr lang="en-GB" sz="2000" dirty="0"/>
              <a:t> - </a:t>
            </a:r>
            <a:r>
              <a:rPr lang="en-GB" sz="2000" dirty="0">
                <a:hlinkClick r:id="rId5"/>
              </a:rPr>
              <a:t>https ://flink.apache.org</a:t>
            </a:r>
            <a:r>
              <a:rPr lang="en-GB" sz="2000" dirty="0"/>
              <a:t> </a:t>
            </a:r>
          </a:p>
          <a:p>
            <a:pPr>
              <a:spcAft>
                <a:spcPts val="1200"/>
              </a:spcAft>
            </a:pPr>
            <a:r>
              <a:rPr lang="en-GB" sz="1600" dirty="0"/>
              <a:t>(</a:t>
            </a:r>
            <a:r>
              <a:rPr lang="ru-RU" sz="1600" dirty="0"/>
              <a:t>потоковая обработка)</a:t>
            </a:r>
            <a:endParaRPr lang="en-GB" sz="1600" dirty="0"/>
          </a:p>
          <a:p>
            <a:r>
              <a:rPr lang="en-GB" sz="2000" dirty="0"/>
              <a:t>Apache </a:t>
            </a:r>
            <a:r>
              <a:rPr lang="en-GB" sz="2000" dirty="0" err="1"/>
              <a:t>Madlib</a:t>
            </a:r>
            <a:r>
              <a:rPr lang="en-GB" sz="2000" dirty="0"/>
              <a:t> - </a:t>
            </a:r>
            <a:r>
              <a:rPr lang="en-GB" sz="2000" dirty="0">
                <a:hlinkClick r:id="rId6"/>
              </a:rPr>
              <a:t>https://madlib.apache.org</a:t>
            </a:r>
            <a:endParaRPr lang="ru-RU" sz="2000" dirty="0"/>
          </a:p>
          <a:p>
            <a:pPr>
              <a:spcAft>
                <a:spcPts val="1200"/>
              </a:spcAft>
            </a:pPr>
            <a:r>
              <a:rPr lang="ru-RU" sz="1600" dirty="0"/>
              <a:t>(работа поверх </a:t>
            </a:r>
            <a:r>
              <a:rPr lang="en-GB" sz="1600" dirty="0"/>
              <a:t>SQL) </a:t>
            </a:r>
            <a:endParaRPr lang="ru-RU" sz="1600" dirty="0"/>
          </a:p>
          <a:p>
            <a:r>
              <a:rPr lang="en-GB" sz="2000" dirty="0"/>
              <a:t>Apache Hive – </a:t>
            </a:r>
            <a:r>
              <a:rPr lang="en-GB" sz="2000" dirty="0">
                <a:hlinkClick r:id="rId7"/>
              </a:rPr>
              <a:t>https://hive.apache.org</a:t>
            </a:r>
            <a:r>
              <a:rPr lang="en-GB" sz="2000" dirty="0"/>
              <a:t> </a:t>
            </a:r>
            <a:endParaRPr lang="ru-RU" sz="2000" dirty="0"/>
          </a:p>
          <a:p>
            <a:pPr>
              <a:spcAft>
                <a:spcPts val="1200"/>
              </a:spcAft>
            </a:pPr>
            <a:r>
              <a:rPr lang="ru-RU" sz="1600" dirty="0"/>
              <a:t>(работа </a:t>
            </a:r>
            <a:r>
              <a:rPr lang="en-US" sz="1600" dirty="0" err="1"/>
              <a:t>mapreduce</a:t>
            </a:r>
            <a:r>
              <a:rPr lang="ru-RU" sz="1600" dirty="0"/>
              <a:t> поверх </a:t>
            </a:r>
            <a:r>
              <a:rPr lang="en-GB" sz="1600" dirty="0"/>
              <a:t>SQL) </a:t>
            </a:r>
            <a:endParaRPr lang="ru-RU" sz="1600" dirty="0"/>
          </a:p>
        </p:txBody>
      </p:sp>
      <p:pic>
        <p:nvPicPr>
          <p:cNvPr id="11266" name="Picture 2" descr="What is Mahout - YouTube">
            <a:extLst>
              <a:ext uri="{FF2B5EF4-FFF2-40B4-BE49-F238E27FC236}">
                <a16:creationId xmlns:a16="http://schemas.microsoft.com/office/drawing/2014/main" id="{830D0E17-46B6-714A-878A-5FA8DF2E58A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11864"/>
          <a:stretch/>
        </p:blipFill>
        <p:spPr bwMode="auto">
          <a:xfrm>
            <a:off x="381000" y="1290900"/>
            <a:ext cx="1537025" cy="67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 descr="Apache Spark - Wikipedia">
            <a:extLst>
              <a:ext uri="{FF2B5EF4-FFF2-40B4-BE49-F238E27FC236}">
                <a16:creationId xmlns:a16="http://schemas.microsoft.com/office/drawing/2014/main" id="{899E7B35-8F89-3443-91B2-F26837CEF3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2076450"/>
            <a:ext cx="953911" cy="49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 descr="Stream-Processing mit Apache Flink">
            <a:extLst>
              <a:ext uri="{FF2B5EF4-FFF2-40B4-BE49-F238E27FC236}">
                <a16:creationId xmlns:a16="http://schemas.microsoft.com/office/drawing/2014/main" id="{46004F4F-B049-1446-AF92-DB3D1CF6E4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04" r="18605"/>
          <a:stretch/>
        </p:blipFill>
        <p:spPr bwMode="auto">
          <a:xfrm>
            <a:off x="581389" y="2721541"/>
            <a:ext cx="1267749" cy="67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2" name="Picture 8" descr="Apache MADlib graduates to Top-Level Project - SD Times">
            <a:extLst>
              <a:ext uri="{FF2B5EF4-FFF2-40B4-BE49-F238E27FC236}">
                <a16:creationId xmlns:a16="http://schemas.microsoft.com/office/drawing/2014/main" id="{435AA1AC-0774-E841-8747-72CF29E932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548" b="21917"/>
          <a:stretch/>
        </p:blipFill>
        <p:spPr bwMode="auto">
          <a:xfrm>
            <a:off x="1639168" y="3424324"/>
            <a:ext cx="1199987" cy="690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4" name="Picture 10" descr="Apache Hive. Apache Hive, büyük veri analitiği için… | by Betül Uluocak |  Medium">
            <a:extLst>
              <a:ext uri="{FF2B5EF4-FFF2-40B4-BE49-F238E27FC236}">
                <a16:creationId xmlns:a16="http://schemas.microsoft.com/office/drawing/2014/main" id="{C753F003-6A6B-744E-A3A3-8D7A729583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50" y="4146260"/>
            <a:ext cx="1537025" cy="600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547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Data </a:t>
            </a:r>
            <a:r>
              <a:rPr lang="ru-RU" dirty="0"/>
              <a:t>Компоненты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03A304-EFF9-C443-82B1-DEC28AFFC567}"/>
              </a:ext>
            </a:extLst>
          </p:cNvPr>
          <p:cNvSpPr txBox="1"/>
          <p:nvPr/>
        </p:nvSpPr>
        <p:spPr>
          <a:xfrm>
            <a:off x="3048000" y="1352550"/>
            <a:ext cx="5973150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2000"/>
              <a:t>Apache </a:t>
            </a:r>
            <a:r>
              <a:rPr lang="en-US" sz="2000" dirty="0"/>
              <a:t>HBase</a:t>
            </a:r>
            <a:r>
              <a:rPr lang="en-RU" sz="2000"/>
              <a:t> – </a:t>
            </a:r>
            <a:r>
              <a:rPr lang="en-GB" sz="2000" dirty="0">
                <a:hlinkClick r:id="rId3"/>
              </a:rPr>
              <a:t>https://hbase.apache.org</a:t>
            </a:r>
            <a:r>
              <a:rPr lang="en-GB" sz="2000" dirty="0"/>
              <a:t> </a:t>
            </a:r>
            <a:endParaRPr lang="ru-RU" sz="2000" dirty="0"/>
          </a:p>
          <a:p>
            <a:pPr>
              <a:spcAft>
                <a:spcPts val="1200"/>
              </a:spcAft>
            </a:pPr>
            <a:r>
              <a:rPr lang="ru-RU" sz="1600" dirty="0"/>
              <a:t>(колоночная БД</a:t>
            </a:r>
            <a:r>
              <a:rPr lang="en-US" sz="1600" dirty="0"/>
              <a:t>, </a:t>
            </a:r>
            <a:r>
              <a:rPr lang="ru-RU" sz="1600" dirty="0"/>
              <a:t>попытка объединения удобства пакетной обработки и удобства обновления и произвольного доступа</a:t>
            </a:r>
            <a:r>
              <a:rPr lang="en-US" sz="1600" dirty="0"/>
              <a:t>)</a:t>
            </a:r>
            <a:r>
              <a:rPr lang="en-GB" sz="1600" dirty="0"/>
              <a:t> </a:t>
            </a:r>
          </a:p>
          <a:p>
            <a:pPr>
              <a:spcAft>
                <a:spcPts val="1200"/>
              </a:spcAft>
            </a:pPr>
            <a:endParaRPr lang="en-GB" sz="1600" dirty="0"/>
          </a:p>
          <a:p>
            <a:r>
              <a:rPr lang="en-GB" sz="2000" dirty="0"/>
              <a:t>Apache Cassandra – </a:t>
            </a:r>
            <a:r>
              <a:rPr lang="en-GB" sz="2000" dirty="0">
                <a:hlinkClick r:id="rId4"/>
              </a:rPr>
              <a:t>https://spark.apache.org</a:t>
            </a:r>
            <a:endParaRPr lang="ru-RU" sz="2000" dirty="0"/>
          </a:p>
          <a:p>
            <a:pPr>
              <a:spcAft>
                <a:spcPts val="1200"/>
              </a:spcAft>
            </a:pPr>
            <a:r>
              <a:rPr lang="ru-RU" sz="1600" dirty="0"/>
              <a:t>(гибридная </a:t>
            </a:r>
            <a:r>
              <a:rPr lang="en-US" sz="1600" dirty="0"/>
              <a:t>NoSQL</a:t>
            </a:r>
            <a:r>
              <a:rPr lang="ru-RU" sz="1600" dirty="0"/>
              <a:t> СУБД, сочетает модель столбцов (</a:t>
            </a:r>
            <a:r>
              <a:rPr lang="en-US" sz="1600" dirty="0" err="1"/>
              <a:t>ColumnFamily</a:t>
            </a:r>
            <a:r>
              <a:rPr lang="en-US" sz="1600" dirty="0"/>
              <a:t>) </a:t>
            </a:r>
            <a:r>
              <a:rPr lang="ru-RU" sz="1600" dirty="0"/>
              <a:t>с концепцией </a:t>
            </a:r>
            <a:r>
              <a:rPr lang="en-US" sz="1600" dirty="0"/>
              <a:t>key-value (</a:t>
            </a:r>
            <a:r>
              <a:rPr lang="ru-RU" sz="1600" dirty="0"/>
              <a:t>ключ-значение))</a:t>
            </a:r>
            <a:r>
              <a:rPr lang="en-GB" sz="1600" dirty="0"/>
              <a:t> </a:t>
            </a:r>
          </a:p>
          <a:p>
            <a:pPr>
              <a:spcAft>
                <a:spcPts val="1200"/>
              </a:spcAft>
            </a:pPr>
            <a:endParaRPr lang="en-GB" sz="1600" dirty="0"/>
          </a:p>
          <a:p>
            <a:r>
              <a:rPr lang="en-GB" sz="2000" dirty="0"/>
              <a:t>Apache Kafka – </a:t>
            </a:r>
            <a:r>
              <a:rPr lang="en-GB" sz="2000" dirty="0">
                <a:hlinkClick r:id="rId5"/>
              </a:rPr>
              <a:t>https://kafka.apache.org</a:t>
            </a:r>
            <a:r>
              <a:rPr lang="en-GB" sz="2000" dirty="0"/>
              <a:t>  </a:t>
            </a:r>
          </a:p>
          <a:p>
            <a:pPr>
              <a:spcAft>
                <a:spcPts val="1200"/>
              </a:spcAft>
            </a:pPr>
            <a:r>
              <a:rPr lang="en-GB" sz="1600" dirty="0"/>
              <a:t>(</a:t>
            </a:r>
            <a:r>
              <a:rPr lang="ru-RU" sz="1600" dirty="0"/>
              <a:t>распределённый брокер сообщений)</a:t>
            </a:r>
            <a:endParaRPr lang="en-GB" sz="1600" dirty="0"/>
          </a:p>
        </p:txBody>
      </p:sp>
      <p:pic>
        <p:nvPicPr>
          <p:cNvPr id="13314" name="Picture 2" descr="Apache HBase">
            <a:extLst>
              <a:ext uri="{FF2B5EF4-FFF2-40B4-BE49-F238E27FC236}">
                <a16:creationId xmlns:a16="http://schemas.microsoft.com/office/drawing/2014/main" id="{4AB726E6-94B3-0046-A43F-2CC620C9E5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1352550"/>
            <a:ext cx="2374900" cy="606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8" name="Picture 6" descr="Apache Cassandra - NoSQL Database">
            <a:extLst>
              <a:ext uri="{FF2B5EF4-FFF2-40B4-BE49-F238E27FC236}">
                <a16:creationId xmlns:a16="http://schemas.microsoft.com/office/drawing/2014/main" id="{38A60AD1-43A5-D14B-B4BE-3EFC46BB8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2647950"/>
            <a:ext cx="2300046" cy="657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0" name="Picture 8" descr="Kafka Streams: Guide to Apache Kafka's Core - Cuelogic An LTI Company">
            <a:extLst>
              <a:ext uri="{FF2B5EF4-FFF2-40B4-BE49-F238E27FC236}">
                <a16:creationId xmlns:a16="http://schemas.microsoft.com/office/drawing/2014/main" id="{6CC12FB3-89FF-0F4C-BBCD-AAC7627EB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3994149"/>
            <a:ext cx="2133600" cy="637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64740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en-US" sz="4900" dirty="0"/>
              <a:t>Spark &amp; </a:t>
            </a:r>
            <a:r>
              <a:rPr lang="en-US" sz="4900" dirty="0" err="1"/>
              <a:t>SparkML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68299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Что есть </a:t>
            </a:r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Spark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9AF54-A370-5048-BA1F-791838DF1C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5349" y="1426624"/>
            <a:ext cx="6116185" cy="3031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6848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Работа со</a:t>
            </a:r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 Spark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70EE49-C521-D34E-9204-5F57F8758D91}"/>
              </a:ext>
            </a:extLst>
          </p:cNvPr>
          <p:cNvSpPr txBox="1"/>
          <p:nvPr/>
        </p:nvSpPr>
        <p:spPr>
          <a:xfrm>
            <a:off x="212291" y="1063898"/>
            <a:ext cx="8731873" cy="38843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352425" algn="l"/>
                <a:tab pos="1149350" algn="l"/>
              </a:tabLst>
            </a:pPr>
            <a:r>
              <a:rPr lang="en-US" sz="1800" dirty="0"/>
              <a:t> 		</a:t>
            </a:r>
            <a:r>
              <a:rPr lang="en-US" sz="1800" dirty="0" err="1"/>
              <a:t>PySpark</a:t>
            </a:r>
            <a:r>
              <a:rPr lang="en-US" sz="1800" dirty="0"/>
              <a:t> –</a:t>
            </a:r>
            <a:r>
              <a:rPr lang="ru-RU" sz="1800" dirty="0"/>
              <a:t> </a:t>
            </a:r>
            <a:r>
              <a:rPr lang="en-US" sz="1800" dirty="0">
                <a:hlinkClick r:id="rId3"/>
              </a:rPr>
              <a:t>https://spark.apache.org/docs/latest/api/python/index.html</a:t>
            </a:r>
            <a:r>
              <a:rPr lang="ru-RU" sz="1800" dirty="0"/>
              <a:t> 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352425" algn="l"/>
                <a:tab pos="1149350" algn="l"/>
              </a:tabLst>
            </a:pPr>
            <a:r>
              <a:rPr lang="en-US" sz="1800" dirty="0"/>
              <a:t> 		Apache </a:t>
            </a:r>
            <a:r>
              <a:rPr lang="en-US" sz="1800" dirty="0" err="1"/>
              <a:t>Zepellin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http://zeppelin.apache.org/</a:t>
            </a:r>
            <a:r>
              <a:rPr lang="en-US" sz="1800" dirty="0"/>
              <a:t> </a:t>
            </a:r>
            <a:endParaRPr lang="ru-RU" sz="18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352425" algn="l"/>
                <a:tab pos="1149350" algn="l"/>
              </a:tabLst>
            </a:pPr>
            <a:r>
              <a:rPr lang="en-US" sz="1800" dirty="0"/>
              <a:t> 		JB Big Data </a:t>
            </a:r>
            <a:r>
              <a:rPr lang="en-US" sz="1800" dirty="0">
                <a:hlinkClick r:id="rId5"/>
              </a:rPr>
              <a:t>https://plugins.jetbrains.com/plugin/12494-big-data-tools</a:t>
            </a:r>
            <a:r>
              <a:rPr lang="en-US" sz="1800" dirty="0"/>
              <a:t>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352425" algn="l"/>
                <a:tab pos="1149350" algn="l"/>
              </a:tabLst>
            </a:pPr>
            <a:r>
              <a:rPr lang="en-US" sz="1800" dirty="0"/>
              <a:t> 	 	Jupyter </a:t>
            </a:r>
            <a:r>
              <a:rPr lang="en-US" sz="1800" dirty="0">
                <a:hlinkClick r:id="rId6"/>
              </a:rPr>
              <a:t>https://jupyter.org/</a:t>
            </a:r>
            <a:r>
              <a:rPr lang="en-US" sz="1800" dirty="0"/>
              <a:t>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352425" algn="l"/>
                <a:tab pos="1149350" algn="l"/>
              </a:tabLst>
            </a:pPr>
            <a:r>
              <a:rPr lang="en-US" sz="1800" dirty="0"/>
              <a:t> 		JB </a:t>
            </a:r>
            <a:r>
              <a:rPr lang="en-US" sz="1800" dirty="0" err="1"/>
              <a:t>DataSpell</a:t>
            </a:r>
            <a:r>
              <a:rPr lang="en-US" sz="1800" dirty="0"/>
              <a:t> </a:t>
            </a:r>
            <a:r>
              <a:rPr lang="en-US" sz="1800" dirty="0">
                <a:hlinkClick r:id="rId7"/>
              </a:rPr>
              <a:t>https://www.jetbrains.com/ru-ru/dataspell</a:t>
            </a:r>
            <a:r>
              <a:rPr lang="en-US" sz="1800" dirty="0"/>
              <a:t>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352425" algn="l"/>
                <a:tab pos="1149350" algn="l"/>
              </a:tabLst>
            </a:pPr>
            <a:r>
              <a:rPr lang="en-US" sz="1800" dirty="0"/>
              <a:t> 	  	Almond </a:t>
            </a:r>
            <a:r>
              <a:rPr lang="en-US" sz="1800" dirty="0">
                <a:hlinkClick r:id="rId8"/>
              </a:rPr>
              <a:t>https://almond.sh/</a:t>
            </a:r>
            <a:r>
              <a:rPr lang="en-US" sz="1800" dirty="0"/>
              <a:t>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352425" algn="l"/>
                <a:tab pos="1149350" algn="l"/>
              </a:tabLst>
            </a:pPr>
            <a:r>
              <a:rPr lang="en-US" sz="1800" dirty="0"/>
              <a:t> 	  	</a:t>
            </a:r>
            <a:r>
              <a:rPr lang="en-US" sz="1800" dirty="0" err="1"/>
              <a:t>DataBricks</a:t>
            </a:r>
            <a:r>
              <a:rPr lang="en-US" sz="1800" dirty="0"/>
              <a:t> </a:t>
            </a:r>
            <a:r>
              <a:rPr lang="en-US" sz="1800" dirty="0">
                <a:hlinkClick r:id="rId9"/>
              </a:rPr>
              <a:t>https://community.cloud.databricks.com/</a:t>
            </a:r>
            <a:r>
              <a:rPr lang="en-US" sz="1800" dirty="0"/>
              <a:t> </a:t>
            </a:r>
            <a:endParaRPr lang="en-RU" sz="1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A2B35F-8362-784B-822F-70721D53D0D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0550" y="4508061"/>
            <a:ext cx="831850" cy="4367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31E05F-FE3D-EF4F-ACB5-095150811AA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4618" y="3962064"/>
            <a:ext cx="450850" cy="5425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B8D6FD4-3056-2144-B833-ACCD0B76501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1050" y="3465199"/>
            <a:ext cx="450850" cy="4508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20B2B2F-537E-8E48-8992-0C156278ABD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1050" y="2795345"/>
            <a:ext cx="468387" cy="5425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ED94697-D13C-714F-AFED-33C1107DAC0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1050" y="2299314"/>
            <a:ext cx="450850" cy="4508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08A1857-6BB6-5245-9146-ECACEFAEA50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58304" y="1793211"/>
            <a:ext cx="601133" cy="4508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82D046E-FD05-AD40-B296-AC2D4FD2BFC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4721" y="1237827"/>
            <a:ext cx="708297" cy="38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3373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1AC5DF-9059-3949-BE11-C9B97F75C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2464" y="1231834"/>
            <a:ext cx="6449245" cy="31206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E70EE49-C521-D34E-9204-5F57F8758D91}"/>
              </a:ext>
            </a:extLst>
          </p:cNvPr>
          <p:cNvSpPr txBox="1"/>
          <p:nvPr/>
        </p:nvSpPr>
        <p:spPr>
          <a:xfrm>
            <a:off x="212291" y="1063898"/>
            <a:ext cx="3151825" cy="12874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800" dirty="0"/>
              <a:t>Ввод данных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800" dirty="0"/>
              <a:t>Манипуляция с данными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800" dirty="0"/>
              <a:t>Вывод результата</a:t>
            </a:r>
            <a:endParaRPr lang="en-RU" sz="1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BE6E16-E0F5-864C-A38B-61CDEB14690C}"/>
              </a:ext>
            </a:extLst>
          </p:cNvPr>
          <p:cNvSpPr txBox="1"/>
          <p:nvPr/>
        </p:nvSpPr>
        <p:spPr>
          <a:xfrm>
            <a:off x="212291" y="3542334"/>
            <a:ext cx="29430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На каждом шаге создается новый </a:t>
            </a:r>
            <a:r>
              <a:rPr lang="en-US" dirty="0"/>
              <a:t>dataset </a:t>
            </a:r>
            <a:r>
              <a:rPr lang="ru-RU" dirty="0"/>
              <a:t>с результатами операции</a:t>
            </a:r>
            <a:endParaRPr lang="en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D05586-E476-5B40-AC62-1F90B92642E9}"/>
              </a:ext>
            </a:extLst>
          </p:cNvPr>
          <p:cNvSpPr txBox="1"/>
          <p:nvPr/>
        </p:nvSpPr>
        <p:spPr>
          <a:xfrm>
            <a:off x="3320194" y="879232"/>
            <a:ext cx="4628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800" b="1" dirty="0">
                <a:effectLst/>
                <a:latin typeface="LiberationSans"/>
              </a:rPr>
              <a:t>Pandas API </a:t>
            </a:r>
            <a:r>
              <a:rPr lang="en-GB" sz="1800" dirty="0">
                <a:effectLst/>
                <a:latin typeface="LiberationSans"/>
              </a:rPr>
              <a:t>— </a:t>
            </a:r>
            <a:r>
              <a:rPr lang="ru-RU" sz="1800" dirty="0" err="1">
                <a:effectLst/>
                <a:latin typeface="LiberationSans"/>
              </a:rPr>
              <a:t>новыи</a:t>
            </a:r>
            <a:r>
              <a:rPr lang="ru-RU" sz="1800" dirty="0">
                <a:effectLst/>
                <a:latin typeface="LiberationSans"/>
              </a:rPr>
              <a:t>̆ (с 3.2.0) </a:t>
            </a:r>
            <a:r>
              <a:rPr lang="en-GB" sz="1800" dirty="0">
                <a:effectLst/>
                <a:latin typeface="LiberationSans"/>
              </a:rPr>
              <a:t>API </a:t>
            </a:r>
            <a:r>
              <a:rPr lang="ru-RU" sz="1800" dirty="0">
                <a:effectLst/>
                <a:latin typeface="LiberationSans"/>
              </a:rPr>
              <a:t>для </a:t>
            </a:r>
            <a:r>
              <a:rPr lang="en-GB" sz="1800" dirty="0" err="1">
                <a:effectLst/>
                <a:latin typeface="LiberationSans"/>
              </a:rPr>
              <a:t>PySpark</a:t>
            </a:r>
            <a:r>
              <a:rPr lang="en-GB" sz="1800" dirty="0">
                <a:effectLst/>
                <a:latin typeface="LiberationSans"/>
              </a:rPr>
              <a:t> </a:t>
            </a:r>
            <a:endParaRPr lang="en-GB" dirty="0">
              <a:effectLst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37E29D-E75C-7546-9FC2-340D7FEDF7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93" y="37940"/>
            <a:ext cx="2840884" cy="11671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6564CBF-2F30-3F4A-B554-949B92CFF4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4534" y="194030"/>
            <a:ext cx="1393529" cy="857556"/>
          </a:xfrm>
          <a:prstGeom prst="rect">
            <a:avLst/>
          </a:prstGeom>
          <a:ln>
            <a:noFill/>
          </a:ln>
          <a:effectLst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42148134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056A6AC-EA8A-654E-A54A-5494EB50B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3" y="37940"/>
            <a:ext cx="2840884" cy="116713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C2CCEDA-9269-5C45-B8C7-3D6CC40272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387" y="988086"/>
            <a:ext cx="1505579" cy="39560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2D6F991-BF5E-F44C-B791-111746DE45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8535" y="1909433"/>
            <a:ext cx="5808147" cy="28030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F67FD24-B310-7843-9F60-D997C13C337F}"/>
              </a:ext>
            </a:extLst>
          </p:cNvPr>
          <p:cNvSpPr txBox="1"/>
          <p:nvPr/>
        </p:nvSpPr>
        <p:spPr>
          <a:xfrm>
            <a:off x="3191317" y="1205070"/>
            <a:ext cx="36279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 err="1">
                <a:effectLst/>
                <a:latin typeface="LiberationSans"/>
              </a:rPr>
              <a:t>spark.ml</a:t>
            </a:r>
            <a:r>
              <a:rPr lang="en-GB" sz="2000" dirty="0">
                <a:effectLst/>
                <a:latin typeface="LiberationSans"/>
              </a:rPr>
              <a:t> – </a:t>
            </a:r>
            <a:r>
              <a:rPr lang="en-GB" sz="2000" dirty="0" err="1">
                <a:effectLst/>
                <a:latin typeface="LiberationSans"/>
              </a:rPr>
              <a:t>DataFrame</a:t>
            </a:r>
            <a:r>
              <a:rPr lang="en-GB" sz="2000" dirty="0">
                <a:effectLst/>
                <a:latin typeface="LiberationSans"/>
              </a:rPr>
              <a:t>-based API </a:t>
            </a:r>
            <a:endParaRPr lang="en-GB" sz="1600" dirty="0">
              <a:effectLst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33F7BE6-9492-DA45-9FB2-E866A9384E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4534" y="194030"/>
            <a:ext cx="1393529" cy="857556"/>
          </a:xfrm>
          <a:prstGeom prst="rect">
            <a:avLst/>
          </a:prstGeom>
          <a:ln>
            <a:noFill/>
          </a:ln>
          <a:effectLst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30189875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en-US" sz="4900" dirty="0"/>
              <a:t>ClickHouse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021624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5474A3B-9765-334E-924A-F3B821A8A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MPP </a:t>
            </a:r>
            <a:r>
              <a:rPr lang="en-US" dirty="0" err="1"/>
              <a:t>arhitecture</a:t>
            </a:r>
            <a:endParaRPr lang="en-US" dirty="0"/>
          </a:p>
        </p:txBody>
      </p:sp>
      <p:pic>
        <p:nvPicPr>
          <p:cNvPr id="1026" name="Picture 2" descr="Database Architectures Compared - DZone">
            <a:extLst>
              <a:ext uri="{FF2B5EF4-FFF2-40B4-BE49-F238E27FC236}">
                <a16:creationId xmlns:a16="http://schemas.microsoft.com/office/drawing/2014/main" id="{0C2C7088-12EA-AF4C-92AF-E827538D4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1755" y="1206229"/>
            <a:ext cx="4003097" cy="3230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0743058-11E7-9D40-9AB5-6DB7F9A0AB2B}"/>
              </a:ext>
            </a:extLst>
          </p:cNvPr>
          <p:cNvSpPr txBox="1"/>
          <p:nvPr/>
        </p:nvSpPr>
        <p:spPr>
          <a:xfrm>
            <a:off x="500550" y="1536536"/>
            <a:ext cx="400309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MPP – Massive Parallel Processing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dirty="0"/>
              <a:t>Выделение необходимой мощности нескольким параллельным узлам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DB MPP – </a:t>
            </a:r>
            <a:r>
              <a:rPr lang="ru-RU" sz="1600" dirty="0"/>
              <a:t>БД оптимизированная для параллельной обработки множества операций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dirty="0"/>
              <a:t>Адаптирована для </a:t>
            </a:r>
            <a:r>
              <a:rPr lang="en-US" sz="1600" dirty="0"/>
              <a:t>OLAP </a:t>
            </a:r>
            <a:r>
              <a:rPr lang="ru-RU" sz="1600" dirty="0"/>
              <a:t>задач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dirty="0"/>
              <a:t>Хорошо масштабируется горизонтально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4335767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5474A3B-9765-334E-924A-F3B821A8A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ClickHouse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743058-11E7-9D40-9AB5-6DB7F9A0AB2B}"/>
              </a:ext>
            </a:extLst>
          </p:cNvPr>
          <p:cNvSpPr txBox="1"/>
          <p:nvPr/>
        </p:nvSpPr>
        <p:spPr>
          <a:xfrm>
            <a:off x="500550" y="1536536"/>
            <a:ext cx="5167433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Column Oriented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MPP, shared nothing, distributed</a:t>
            </a:r>
            <a:endParaRPr lang="ru-RU" sz="1600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dirty="0"/>
              <a:t>Аналитическая СУБД, адаптированная для аналитических запросов на основе постоянно пополняемых данных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600" dirty="0"/>
              <a:t>Можно развернуть локально</a:t>
            </a:r>
            <a:r>
              <a:rPr lang="en-US" sz="1600" dirty="0"/>
              <a:t>, Docker, K8s</a:t>
            </a:r>
            <a:endParaRPr lang="ru-RU" sz="1600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600" dirty="0"/>
              <a:t>Open source (Apache 2.0)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4FDE7AC-2D8D-F24B-B26D-B8DB23CE2B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6790" y="1342781"/>
            <a:ext cx="4114800" cy="260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28297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5474A3B-9765-334E-924A-F3B821A8A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ClickHouse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743058-11E7-9D40-9AB5-6DB7F9A0AB2B}"/>
              </a:ext>
            </a:extLst>
          </p:cNvPr>
          <p:cNvSpPr txBox="1"/>
          <p:nvPr/>
        </p:nvSpPr>
        <p:spPr>
          <a:xfrm>
            <a:off x="500550" y="1440276"/>
            <a:ext cx="5167433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/>
              <a:t>Переваривает огромные объемы без дополнительной настройки</a:t>
            </a:r>
            <a:endParaRPr lang="en-US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/>
              <a:t>Эффективная компрессия данных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/>
              <a:t>Репликация и </a:t>
            </a:r>
            <a:r>
              <a:rPr lang="ru-RU" sz="1600" dirty="0" err="1"/>
              <a:t>шардирование</a:t>
            </a:r>
            <a:endParaRPr lang="ru-RU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/>
              <a:t>Множество встроенных типов данных, включая </a:t>
            </a:r>
            <a:r>
              <a:rPr lang="ru-RU" sz="1600" dirty="0" err="1"/>
              <a:t>геоданные</a:t>
            </a:r>
            <a:endParaRPr lang="ru-RU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dirty="0"/>
              <a:t>Интеграция с </a:t>
            </a:r>
            <a:r>
              <a:rPr lang="en-US" sz="1600" dirty="0"/>
              <a:t>SQL </a:t>
            </a:r>
            <a:r>
              <a:rPr lang="ru-RU" sz="1600" dirty="0"/>
              <a:t>решениями </a:t>
            </a:r>
            <a:br>
              <a:rPr lang="en-US" sz="1600" dirty="0"/>
            </a:br>
            <a:r>
              <a:rPr lang="ru-RU" sz="1600" dirty="0"/>
              <a:t>(</a:t>
            </a:r>
            <a:r>
              <a:rPr lang="en-US" sz="1600" dirty="0"/>
              <a:t>PostgreSQL, MySQL, RabbitMQ, Kafka)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b="1" dirty="0"/>
              <a:t>Собственный </a:t>
            </a:r>
            <a:r>
              <a:rPr lang="en-US" sz="1600" b="1" dirty="0"/>
              <a:t>SQL </a:t>
            </a:r>
            <a:r>
              <a:rPr lang="ru-RU" sz="1600" b="1" dirty="0"/>
              <a:t>диалект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b="1" dirty="0"/>
              <a:t>Нужно быть осторожным с </a:t>
            </a:r>
            <a:r>
              <a:rPr lang="en-US" sz="1600" b="1" dirty="0"/>
              <a:t>JOIN</a:t>
            </a:r>
            <a:endParaRPr lang="ru-RU" sz="1600" b="1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1600" b="1" dirty="0"/>
              <a:t>Не любит большого количества маленьких вставок</a:t>
            </a:r>
            <a:endParaRPr lang="en-US" sz="1600" b="1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84FDE7AC-2D8D-F24B-B26D-B8DB23CE2B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6790" y="1342781"/>
            <a:ext cx="4114800" cy="260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15753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5474A3B-9765-334E-924A-F3B821A8A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ClickHouse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650A40-6CDB-8346-BB2E-126FBED86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3750" y="993032"/>
            <a:ext cx="4597400" cy="33909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F6D5C4-330A-374D-9773-0B53209209B6}"/>
              </a:ext>
            </a:extLst>
          </p:cNvPr>
          <p:cNvSpPr txBox="1"/>
          <p:nvPr/>
        </p:nvSpPr>
        <p:spPr>
          <a:xfrm>
            <a:off x="500550" y="993032"/>
            <a:ext cx="350195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u="sng" dirty="0"/>
              <a:t>Развернуть локально в </a:t>
            </a:r>
            <a:r>
              <a:rPr lang="en-US" sz="1400" u="sng" dirty="0"/>
              <a:t>Docker </a:t>
            </a:r>
            <a:r>
              <a:rPr lang="ru-RU" sz="1400" u="sng" dirty="0"/>
              <a:t>образе</a:t>
            </a:r>
          </a:p>
          <a:p>
            <a:endParaRPr lang="ru-RU" sz="1400" u="sng" dirty="0"/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compose -f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mongodb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-docker-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compose.yml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up 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sz="1400" u="sng" dirty="0"/>
              <a:t>Развернуть в </a:t>
            </a:r>
            <a:r>
              <a:rPr lang="en-US" sz="1400" u="sng" dirty="0"/>
              <a:t>K8s </a:t>
            </a:r>
            <a:r>
              <a:rPr lang="ru-RU" sz="1400" u="sng" dirty="0"/>
              <a:t>кластере: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b="0" i="0" u="none" strike="noStrike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helm repo add </a:t>
            </a:r>
            <a:r>
              <a:rPr lang="en-US" sz="1400" b="0" i="0" u="none" strike="noStrike" dirty="0" err="1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clickhouse</a:t>
            </a:r>
            <a:r>
              <a:rPr lang="en-US" sz="1400" b="0" i="0" u="none" strike="noStrike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-operator https://</a:t>
            </a:r>
            <a:r>
              <a:rPr lang="en-US" sz="1400" b="0" i="0" u="none" strike="noStrike" dirty="0" err="1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docs.altinity.com</a:t>
            </a:r>
            <a:r>
              <a:rPr lang="en-US" sz="1400" b="0" i="0" u="none" strike="noStrike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0" i="0" u="none" strike="noStrike" dirty="0" err="1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clickhouse</a:t>
            </a:r>
            <a:r>
              <a:rPr lang="en-US" sz="1400" b="0" i="0" u="none" strike="noStrike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-operator/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b="0" i="0" u="none" strike="noStrike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helm install </a:t>
            </a:r>
            <a:r>
              <a:rPr lang="en-US" sz="1400" b="0" i="0" u="none" strike="noStrike" dirty="0" err="1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clickhouse</a:t>
            </a:r>
            <a:r>
              <a:rPr lang="en-US" sz="1400" b="0" i="0" u="none" strike="noStrike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-operator </a:t>
            </a:r>
            <a:r>
              <a:rPr lang="en-US" sz="1400" b="0" i="0" u="none" strike="noStrike" dirty="0" err="1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clickhouse</a:t>
            </a:r>
            <a:r>
              <a:rPr lang="en-US" sz="1400" b="0" i="0" u="none" strike="noStrike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-operator/</a:t>
            </a:r>
            <a:r>
              <a:rPr lang="en-US" sz="1400" b="0" i="0" u="none" strike="noStrike" dirty="0" err="1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altinity</a:t>
            </a:r>
            <a:r>
              <a:rPr lang="en-US" sz="1400" b="0" i="0" u="none" strike="noStrike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sz="1400" b="0" i="0" u="none" strike="noStrike" dirty="0" err="1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clickhouse</a:t>
            </a:r>
            <a:r>
              <a:rPr lang="en-US" sz="1400" b="0" i="0" u="none" strike="noStrike" dirty="0">
                <a:solidFill>
                  <a:srgbClr val="24242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-operator</a:t>
            </a:r>
            <a:endParaRPr lang="ru-RU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81129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5474A3B-9765-334E-924A-F3B821A8A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ClickHouse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69BA91C-5399-D742-8F6C-C362D2379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50" y="1668564"/>
            <a:ext cx="7454900" cy="166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2652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en-US" sz="4900" dirty="0"/>
              <a:t>S3 – </a:t>
            </a:r>
            <a:br>
              <a:rPr lang="en-US" sz="4900" dirty="0"/>
            </a:br>
            <a:r>
              <a:rPr lang="en-US" sz="4900" dirty="0"/>
              <a:t>Simple Storage Service </a:t>
            </a:r>
            <a:endParaRPr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293E8-D861-3143-81A6-DA9CFF0D7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Объектное хранилище</a:t>
            </a:r>
            <a:endParaRPr lang="en-US" dirty="0"/>
          </a:p>
        </p:txBody>
      </p:sp>
      <p:sp>
        <p:nvSpPr>
          <p:cNvPr id="8" name="Google Shape;189;p18">
            <a:extLst>
              <a:ext uri="{FF2B5EF4-FFF2-40B4-BE49-F238E27FC236}">
                <a16:creationId xmlns:a16="http://schemas.microsoft.com/office/drawing/2014/main" id="{970DABE8-2208-454C-A778-3349D36980E8}"/>
              </a:ext>
            </a:extLst>
          </p:cNvPr>
          <p:cNvSpPr/>
          <p:nvPr/>
        </p:nvSpPr>
        <p:spPr>
          <a:xfrm>
            <a:off x="850116" y="1160701"/>
            <a:ext cx="2554565" cy="2172644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190;p18">
            <a:extLst>
              <a:ext uri="{FF2B5EF4-FFF2-40B4-BE49-F238E27FC236}">
                <a16:creationId xmlns:a16="http://schemas.microsoft.com/office/drawing/2014/main" id="{DAA78618-8A62-3449-81E5-428815D4A509}"/>
              </a:ext>
            </a:extLst>
          </p:cNvPr>
          <p:cNvSpPr txBox="1"/>
          <p:nvPr/>
        </p:nvSpPr>
        <p:spPr>
          <a:xfrm>
            <a:off x="4572000" y="1263580"/>
            <a:ext cx="4316095" cy="1760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65100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Object storage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мы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можем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получить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900" marR="0" lvl="0" indent="-36703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Масштабируемость</a:t>
            </a:r>
            <a:endParaRPr sz="1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900" marR="0" lvl="0" indent="-36703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Безопасность</a:t>
            </a:r>
            <a:endParaRPr sz="1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900" marR="0" lvl="0" indent="-367030" algn="l" rtl="0">
              <a:lnSpc>
                <a:spcPct val="100000"/>
              </a:lnSpc>
              <a:spcBef>
                <a:spcPts val="32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Отказоустойчивость</a:t>
            </a:r>
            <a:endParaRPr sz="1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900" marR="0" lvl="0" indent="-367030" algn="l" rtl="0">
              <a:lnSpc>
                <a:spcPct val="100000"/>
              </a:lnSpc>
              <a:spcBef>
                <a:spcPts val="32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Управление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жизненным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циклом</a:t>
            </a:r>
            <a:endParaRPr sz="1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265" marR="5080" lvl="0" indent="-36703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Разные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уровни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хранения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разной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цене</a:t>
            </a:r>
            <a:endParaRPr sz="1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" name="Google Shape;191;p18">
            <a:extLst>
              <a:ext uri="{FF2B5EF4-FFF2-40B4-BE49-F238E27FC236}">
                <a16:creationId xmlns:a16="http://schemas.microsoft.com/office/drawing/2014/main" id="{DFF225DF-20AB-4641-B6AF-F2CC39F3E33A}"/>
              </a:ext>
            </a:extLst>
          </p:cNvPr>
          <p:cNvSpPr/>
          <p:nvPr/>
        </p:nvSpPr>
        <p:spPr>
          <a:xfrm>
            <a:off x="2645954" y="3621901"/>
            <a:ext cx="1517453" cy="649256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92;p18">
            <a:extLst>
              <a:ext uri="{FF2B5EF4-FFF2-40B4-BE49-F238E27FC236}">
                <a16:creationId xmlns:a16="http://schemas.microsoft.com/office/drawing/2014/main" id="{1192036C-A5DB-4146-8D0C-099F731D7D28}"/>
              </a:ext>
            </a:extLst>
          </p:cNvPr>
          <p:cNvSpPr/>
          <p:nvPr/>
        </p:nvSpPr>
        <p:spPr>
          <a:xfrm>
            <a:off x="484364" y="3543505"/>
            <a:ext cx="2161590" cy="806048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0" name="Picture 2" descr="Minio API Authorization">
            <a:extLst>
              <a:ext uri="{FF2B5EF4-FFF2-40B4-BE49-F238E27FC236}">
                <a16:creationId xmlns:a16="http://schemas.microsoft.com/office/drawing/2014/main" id="{701BEF43-1D07-1F44-B647-C9AED08589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8971" y="4412330"/>
            <a:ext cx="649257" cy="649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05675E-9827-1D4B-9456-9AF57063B0F2}"/>
              </a:ext>
            </a:extLst>
          </p:cNvPr>
          <p:cNvSpPr txBox="1"/>
          <p:nvPr/>
        </p:nvSpPr>
        <p:spPr>
          <a:xfrm>
            <a:off x="6315240" y="3791650"/>
            <a:ext cx="17252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b="1" dirty="0"/>
              <a:t>Облачные решения</a:t>
            </a:r>
            <a:endParaRPr lang="en-US" sz="1400" b="1" dirty="0"/>
          </a:p>
        </p:txBody>
      </p:sp>
      <p:pic>
        <p:nvPicPr>
          <p:cNvPr id="2052" name="Picture 4" descr="What the heck is HPE up to with its cloud? | ZDNET">
            <a:extLst>
              <a:ext uri="{FF2B5EF4-FFF2-40B4-BE49-F238E27FC236}">
                <a16:creationId xmlns:a16="http://schemas.microsoft.com/office/drawing/2014/main" id="{7B97B3B7-35A6-DE4F-BD64-F91D87E29C7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24" t="19779" r="5987" b="20779"/>
          <a:stretch/>
        </p:blipFill>
        <p:spPr bwMode="auto">
          <a:xfrm>
            <a:off x="693129" y="4440270"/>
            <a:ext cx="1417480" cy="559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Source Scality S3 Server ...">
            <a:extLst>
              <a:ext uri="{FF2B5EF4-FFF2-40B4-BE49-F238E27FC236}">
                <a16:creationId xmlns:a16="http://schemas.microsoft.com/office/drawing/2014/main" id="{022B81E4-1D56-BF48-B616-F8A3568646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7852" y="4465085"/>
            <a:ext cx="1119207" cy="584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0BE401C-7D09-3B49-B790-AA63335C1F97}"/>
              </a:ext>
            </a:extLst>
          </p:cNvPr>
          <p:cNvSpPr txBox="1"/>
          <p:nvPr/>
        </p:nvSpPr>
        <p:spPr>
          <a:xfrm>
            <a:off x="6315240" y="4411340"/>
            <a:ext cx="19372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Self-managed</a:t>
            </a:r>
            <a:r>
              <a:rPr lang="ru-RU" sz="1400" b="1" dirty="0"/>
              <a:t> решения</a:t>
            </a:r>
            <a:endParaRPr lang="en-US" sz="1400"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64F53AE-A9F8-D540-A3E9-5D16282944DE}"/>
              </a:ext>
            </a:extLst>
          </p:cNvPr>
          <p:cNvGrpSpPr/>
          <p:nvPr/>
        </p:nvGrpSpPr>
        <p:grpSpPr>
          <a:xfrm>
            <a:off x="4343400" y="3681447"/>
            <a:ext cx="1448602" cy="530161"/>
            <a:chOff x="4655832" y="3463048"/>
            <a:chExt cx="1448602" cy="530161"/>
          </a:xfrm>
        </p:grpSpPr>
        <p:pic>
          <p:nvPicPr>
            <p:cNvPr id="2056" name="Picture 8" descr="Yandex Cloud - APK Download for Android ...">
              <a:extLst>
                <a:ext uri="{FF2B5EF4-FFF2-40B4-BE49-F238E27FC236}">
                  <a16:creationId xmlns:a16="http://schemas.microsoft.com/office/drawing/2014/main" id="{60E529B6-22D9-E742-A9AA-FC58A424387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227" t="34570" r="15405" b="30691"/>
            <a:stretch/>
          </p:blipFill>
          <p:spPr bwMode="auto">
            <a:xfrm>
              <a:off x="4695463" y="3463048"/>
              <a:ext cx="1238410" cy="307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62" name="Picture 14" descr="Yandex Object Storage">
              <a:extLst>
                <a:ext uri="{FF2B5EF4-FFF2-40B4-BE49-F238E27FC236}">
                  <a16:creationId xmlns:a16="http://schemas.microsoft.com/office/drawing/2014/main" id="{8F7196B1-AF93-D94F-9D24-317A029184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3204" y="3685432"/>
              <a:ext cx="307777" cy="307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20CB76A-320C-6A4F-AA8F-06E7D7D69737}"/>
                </a:ext>
              </a:extLst>
            </p:cNvPr>
            <p:cNvSpPr txBox="1"/>
            <p:nvPr/>
          </p:nvSpPr>
          <p:spPr>
            <a:xfrm>
              <a:off x="4655832" y="3656976"/>
              <a:ext cx="14486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Object      storage</a:t>
              </a:r>
            </a:p>
          </p:txBody>
        </p:sp>
      </p:grpSp>
      <p:pic>
        <p:nvPicPr>
          <p:cNvPr id="2064" name="Picture 16" descr="Ceph - retinadata">
            <a:extLst>
              <a:ext uri="{FF2B5EF4-FFF2-40B4-BE49-F238E27FC236}">
                <a16:creationId xmlns:a16="http://schemas.microsoft.com/office/drawing/2014/main" id="{96D03353-A094-7D42-9E88-CC3E7E9A8F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670"/>
          <a:stretch/>
        </p:blipFill>
        <p:spPr bwMode="auto">
          <a:xfrm>
            <a:off x="2583047" y="4411340"/>
            <a:ext cx="587947" cy="638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CF47CB3-DE08-294F-AA26-4E60028B4C59}"/>
              </a:ext>
            </a:extLst>
          </p:cNvPr>
          <p:cNvCxnSpPr>
            <a:cxnSpLocks/>
          </p:cNvCxnSpPr>
          <p:nvPr/>
        </p:nvCxnSpPr>
        <p:spPr>
          <a:xfrm>
            <a:off x="356681" y="4411340"/>
            <a:ext cx="559664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93919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Self-managed </a:t>
            </a:r>
            <a:r>
              <a:rPr lang="ru-RU" dirty="0"/>
              <a:t>решение</a:t>
            </a:r>
            <a:r>
              <a:rPr lang="en-US" dirty="0"/>
              <a:t> - </a:t>
            </a:r>
            <a:r>
              <a:rPr lang="en-US" dirty="0" err="1"/>
              <a:t>minio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35188B-A803-404B-BD77-F5F4E2D53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7902" y="907914"/>
            <a:ext cx="4816097" cy="42355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404033-5291-9241-9BAF-A0191ACE98B1}"/>
              </a:ext>
            </a:extLst>
          </p:cNvPr>
          <p:cNvSpPr txBox="1"/>
          <p:nvPr/>
        </p:nvSpPr>
        <p:spPr>
          <a:xfrm>
            <a:off x="500550" y="1095884"/>
            <a:ext cx="370450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u="sng" dirty="0"/>
              <a:t>Локально развернуть из образа </a:t>
            </a:r>
            <a:r>
              <a:rPr lang="en-US" sz="1400" u="sng" dirty="0"/>
              <a:t>Docker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compose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-f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minio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-docker-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compose.yml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up </a:t>
            </a:r>
            <a:endParaRPr lang="ru-RU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ru-RU" sz="1400" dirty="0"/>
          </a:p>
          <a:p>
            <a:endParaRPr lang="en-US" sz="1400" dirty="0"/>
          </a:p>
          <a:p>
            <a:r>
              <a:rPr lang="ru-RU" sz="1400" u="sng" dirty="0"/>
              <a:t>Развернуть в </a:t>
            </a:r>
            <a:r>
              <a:rPr lang="en-US" sz="1400" u="sng" dirty="0"/>
              <a:t>K8s </a:t>
            </a:r>
            <a:r>
              <a:rPr lang="ru-RU" sz="1400" u="sng" dirty="0"/>
              <a:t>кластере: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helm repo add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minio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  <a:hlinkClick r:id="rId3"/>
              </a:rPr>
              <a:t>https://charts.min.io/</a:t>
            </a:r>
            <a:endParaRPr lang="ru-RU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helm install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--namespace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minio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--set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rootUser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rootuser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rootPassword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=rootpass123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--generate-name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minio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minio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02CC43-3C1A-4546-B0E7-38FB10C7EB9C}"/>
              </a:ext>
            </a:extLst>
          </p:cNvPr>
          <p:cNvSpPr txBox="1"/>
          <p:nvPr/>
        </p:nvSpPr>
        <p:spPr>
          <a:xfrm>
            <a:off x="7430069" y="878674"/>
            <a:ext cx="171393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solidFill>
                  <a:schemeClr val="bg1"/>
                </a:solidFill>
                <a:latin typeface="+mn-lt"/>
                <a:cs typeface="Courier New" panose="02070309020205020404" pitchFamily="49" charset="0"/>
              </a:rPr>
              <a:t>minio</a:t>
            </a:r>
            <a:r>
              <a:rPr lang="en-US" sz="1000" dirty="0">
                <a:solidFill>
                  <a:schemeClr val="bg1"/>
                </a:solidFill>
                <a:latin typeface="+mn-lt"/>
                <a:cs typeface="Courier New" panose="02070309020205020404" pitchFamily="49" charset="0"/>
              </a:rPr>
              <a:t>-docker-</a:t>
            </a:r>
            <a:r>
              <a:rPr lang="en-US" sz="1000" dirty="0" err="1">
                <a:solidFill>
                  <a:schemeClr val="bg1"/>
                </a:solidFill>
                <a:latin typeface="+mn-lt"/>
                <a:cs typeface="Courier New" panose="02070309020205020404" pitchFamily="49" charset="0"/>
              </a:rPr>
              <a:t>compose.yml</a:t>
            </a:r>
            <a:endParaRPr lang="en-US" sz="100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005383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759" y="330724"/>
            <a:ext cx="8520600" cy="1095900"/>
          </a:xfrm>
        </p:spPr>
        <p:txBody>
          <a:bodyPr/>
          <a:lstStyle/>
          <a:p>
            <a:r>
              <a:rPr lang="en-US" dirty="0"/>
              <a:t>Cloud </a:t>
            </a:r>
            <a:r>
              <a:rPr lang="ru-RU" dirty="0"/>
              <a:t>решение</a:t>
            </a:r>
            <a:br>
              <a:rPr lang="en-US" dirty="0"/>
            </a:br>
            <a:r>
              <a:rPr lang="en-US" dirty="0"/>
              <a:t>Yandex Object Storage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399A7BC-3BFC-5943-B20C-A1EFD1687D26}"/>
              </a:ext>
            </a:extLst>
          </p:cNvPr>
          <p:cNvGrpSpPr/>
          <p:nvPr/>
        </p:nvGrpSpPr>
        <p:grpSpPr>
          <a:xfrm>
            <a:off x="4831404" y="-1991"/>
            <a:ext cx="4312596" cy="5145491"/>
            <a:chOff x="4831404" y="-1991"/>
            <a:chExt cx="4312596" cy="514549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96294DA-D804-1546-9355-70554F96FCA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r="29638"/>
            <a:stretch/>
          </p:blipFill>
          <p:spPr>
            <a:xfrm>
              <a:off x="4831404" y="-1991"/>
              <a:ext cx="4312596" cy="5145491"/>
            </a:xfrm>
            <a:prstGeom prst="rect">
              <a:avLst/>
            </a:prstGeom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EA4B0DDE-9536-8C40-8BE3-00BEFF77D21D}"/>
                </a:ext>
              </a:extLst>
            </p:cNvPr>
            <p:cNvSpPr/>
            <p:nvPr/>
          </p:nvSpPr>
          <p:spPr>
            <a:xfrm>
              <a:off x="7055796" y="1121923"/>
              <a:ext cx="1472119" cy="304701"/>
            </a:xfrm>
            <a:prstGeom prst="roundRect">
              <a:avLst/>
            </a:prstGeom>
            <a:noFill/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09EF4E-E2EA-4049-99FA-04B22FED2A5C}"/>
              </a:ext>
            </a:extLst>
          </p:cNvPr>
          <p:cNvSpPr txBox="1"/>
          <p:nvPr/>
        </p:nvSpPr>
        <p:spPr>
          <a:xfrm>
            <a:off x="296770" y="1754311"/>
            <a:ext cx="40544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Манипулировать объектами через </a:t>
            </a:r>
            <a:r>
              <a:rPr lang="en-US" sz="1400" dirty="0"/>
              <a:t>web </a:t>
            </a:r>
            <a:r>
              <a:rPr lang="ru-RU" sz="1400" dirty="0"/>
              <a:t>интерфейс</a:t>
            </a:r>
            <a:endParaRPr 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97E005-DC2A-AD44-9383-93EB6EEB8030}"/>
              </a:ext>
            </a:extLst>
          </p:cNvPr>
          <p:cNvSpPr txBox="1"/>
          <p:nvPr/>
        </p:nvSpPr>
        <p:spPr>
          <a:xfrm>
            <a:off x="296769" y="3664248"/>
            <a:ext cx="372743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Манипулировать объектами через </a:t>
            </a:r>
            <a:r>
              <a:rPr lang="en-US" sz="1400" dirty="0"/>
              <a:t>CLI </a:t>
            </a:r>
            <a:r>
              <a:rPr lang="ru-RU" sz="1400" dirty="0"/>
              <a:t>утилиту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storage buckets list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0D0140-098C-E14B-A9CA-CF11EEE89C6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3324"/>
          <a:stretch/>
        </p:blipFill>
        <p:spPr>
          <a:xfrm>
            <a:off x="32426" y="4402912"/>
            <a:ext cx="4773038" cy="603062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B913943B-6B6C-DA4C-9EFD-599F4F1DD755}"/>
              </a:ext>
            </a:extLst>
          </p:cNvPr>
          <p:cNvGrpSpPr/>
          <p:nvPr/>
        </p:nvGrpSpPr>
        <p:grpSpPr>
          <a:xfrm>
            <a:off x="32426" y="2081719"/>
            <a:ext cx="4857344" cy="1410483"/>
            <a:chOff x="32426" y="2081719"/>
            <a:chExt cx="4857344" cy="141048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C54C560-D716-D74C-82FE-0AFCA44763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426" y="2139908"/>
              <a:ext cx="4773038" cy="1352294"/>
            </a:xfrm>
            <a:prstGeom prst="rect">
              <a:avLst/>
            </a:prstGeom>
          </p:spPr>
        </p:pic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D68A5782-5C60-934C-974F-8C144738AB4C}"/>
                </a:ext>
              </a:extLst>
            </p:cNvPr>
            <p:cNvSpPr/>
            <p:nvPr/>
          </p:nvSpPr>
          <p:spPr>
            <a:xfrm>
              <a:off x="4202349" y="2081719"/>
              <a:ext cx="687421" cy="27886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682466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Yandex Cloud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09EF4E-E2EA-4049-99FA-04B22FED2A5C}"/>
              </a:ext>
            </a:extLst>
          </p:cNvPr>
          <p:cNvSpPr txBox="1"/>
          <p:nvPr/>
        </p:nvSpPr>
        <p:spPr>
          <a:xfrm>
            <a:off x="500550" y="1200150"/>
            <a:ext cx="866564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/>
              <a:t>Манипулировать объектами через код</a:t>
            </a:r>
          </a:p>
          <a:p>
            <a:endParaRPr lang="ru-RU" sz="1400" dirty="0"/>
          </a:p>
          <a:p>
            <a:pPr marL="342900" indent="-342900">
              <a:buAutoNum type="arabicPeriod"/>
            </a:pPr>
            <a:r>
              <a:rPr lang="ru-RU" sz="1400" dirty="0"/>
              <a:t>Перейдите в директорию </a:t>
            </a:r>
          </a:p>
          <a:p>
            <a:r>
              <a:rPr lang="ru-RU" sz="1400" dirty="0"/>
              <a:t>~/.</a:t>
            </a:r>
            <a:r>
              <a:rPr lang="en-US" sz="1400" dirty="0" err="1"/>
              <a:t>aws</a:t>
            </a:r>
            <a:r>
              <a:rPr lang="en-US" sz="1400" dirty="0"/>
              <a:t>/ (</a:t>
            </a:r>
            <a:r>
              <a:rPr lang="ru-RU" sz="1400" dirty="0"/>
              <a:t>для </a:t>
            </a:r>
            <a:r>
              <a:rPr lang="en-US" sz="1400" dirty="0"/>
              <a:t>macOS </a:t>
            </a:r>
            <a:r>
              <a:rPr lang="ru-RU" sz="1400" dirty="0"/>
              <a:t>и </a:t>
            </a:r>
            <a:r>
              <a:rPr lang="en-US" sz="1400" dirty="0"/>
              <a:t>Linux) </a:t>
            </a:r>
            <a:r>
              <a:rPr lang="ru-RU" sz="1400" dirty="0"/>
              <a:t>или </a:t>
            </a:r>
            <a:r>
              <a:rPr lang="en-US" sz="1400" dirty="0"/>
              <a:t>C:\Users\&lt;</a:t>
            </a:r>
            <a:r>
              <a:rPr lang="ru-RU" sz="1400" dirty="0" err="1"/>
              <a:t>имя_пользователя</a:t>
            </a:r>
            <a:r>
              <a:rPr lang="ru-RU" sz="1400" dirty="0"/>
              <a:t>&gt;\.</a:t>
            </a:r>
            <a:r>
              <a:rPr lang="en-US" sz="1400" dirty="0" err="1"/>
              <a:t>aws</a:t>
            </a:r>
            <a:r>
              <a:rPr lang="en-US" sz="1400" dirty="0"/>
              <a:t>\ (</a:t>
            </a:r>
            <a:r>
              <a:rPr lang="ru-RU" sz="1400" dirty="0"/>
              <a:t>для </a:t>
            </a:r>
            <a:r>
              <a:rPr lang="en-US" sz="1400" dirty="0"/>
              <a:t>Windows).</a:t>
            </a:r>
          </a:p>
          <a:p>
            <a:r>
              <a:rPr lang="ru-RU" sz="1400" dirty="0"/>
              <a:t>Создайте файл </a:t>
            </a:r>
            <a:r>
              <a:rPr lang="en-US" sz="1400" dirty="0"/>
              <a:t>credentials </a:t>
            </a:r>
            <a:r>
              <a:rPr lang="ru-RU" sz="1400" dirty="0"/>
              <a:t>с </a:t>
            </a:r>
            <a:r>
              <a:rPr lang="ru-RU" sz="1400" dirty="0" err="1"/>
              <a:t>аутентификационными</a:t>
            </a:r>
            <a:r>
              <a:rPr lang="ru-RU" sz="1400" dirty="0"/>
              <a:t> данными для </a:t>
            </a:r>
            <a:r>
              <a:rPr lang="en-US" sz="1400" dirty="0"/>
              <a:t>Object Storage </a:t>
            </a:r>
            <a:r>
              <a:rPr lang="ru-RU" sz="1400" dirty="0"/>
              <a:t>и </a:t>
            </a:r>
          </a:p>
          <a:p>
            <a:r>
              <a:rPr lang="ru-RU" sz="1400" dirty="0"/>
              <a:t>скопируйте в него следующую информацию:</a:t>
            </a:r>
          </a:p>
          <a:p>
            <a:endParaRPr lang="ru-RU" sz="1400" dirty="0"/>
          </a:p>
          <a:p>
            <a:r>
              <a:rPr lang="ru-R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default]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aws_access_key_id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&lt;</a:t>
            </a:r>
            <a:r>
              <a:rPr lang="ru-RU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идентификатор_статического_ключа</a:t>
            </a:r>
            <a:r>
              <a:rPr lang="ru-R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ru-R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aws_secret_access_key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&lt;</a:t>
            </a:r>
            <a:r>
              <a:rPr lang="ru-RU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секретный_ключ</a:t>
            </a:r>
            <a:r>
              <a:rPr lang="ru-R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ru-RU" sz="1400" dirty="0"/>
          </a:p>
          <a:p>
            <a:r>
              <a:rPr lang="ru-RU" sz="1400" dirty="0"/>
              <a:t>2. Создайте файл </a:t>
            </a:r>
            <a:r>
              <a:rPr lang="en-US" sz="1400" dirty="0"/>
              <a:t>config </a:t>
            </a:r>
            <a:r>
              <a:rPr lang="ru-RU" sz="1400" dirty="0"/>
              <a:t>с параметрами региона по умолчанию и скопируйте в него </a:t>
            </a:r>
            <a:br>
              <a:rPr lang="ru-RU" sz="1400" dirty="0"/>
            </a:br>
            <a:r>
              <a:rPr lang="ru-RU" sz="1400" dirty="0"/>
              <a:t>следующую информацию:</a:t>
            </a:r>
          </a:p>
          <a:p>
            <a:endParaRPr lang="ru-RU" sz="1400" dirty="0"/>
          </a:p>
          <a:p>
            <a:r>
              <a:rPr lang="ru-R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default]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region=ru-central1</a:t>
            </a:r>
          </a:p>
        </p:txBody>
      </p:sp>
    </p:spTree>
    <p:extLst>
      <p:ext uri="{BB962C8B-B14F-4D97-AF65-F5344CB8AC3E}">
        <p14:creationId xmlns:p14="http://schemas.microsoft.com/office/powerpoint/2010/main" val="23975501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Yandex Cloud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09EF4E-E2EA-4049-99FA-04B22FED2A5C}"/>
              </a:ext>
            </a:extLst>
          </p:cNvPr>
          <p:cNvSpPr txBox="1"/>
          <p:nvPr/>
        </p:nvSpPr>
        <p:spPr>
          <a:xfrm>
            <a:off x="580417" y="1094657"/>
            <a:ext cx="86656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Манипулировать объектами через код</a:t>
            </a:r>
          </a:p>
          <a:p>
            <a:endParaRPr lang="ru-R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C1168C-9178-1945-AF43-1A5D2D74D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439" y="1617877"/>
            <a:ext cx="6705600" cy="2844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7D2D05E-8D66-9745-BD1D-BD801AF37AFD}"/>
              </a:ext>
            </a:extLst>
          </p:cNvPr>
          <p:cNvSpPr txBox="1"/>
          <p:nvPr/>
        </p:nvSpPr>
        <p:spPr>
          <a:xfrm>
            <a:off x="1115439" y="4638370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hlinkClick r:id="rId3"/>
              </a:rPr>
              <a:t>https://yandex.cloud/ru/docs/storage/tools/boto</a:t>
            </a:r>
            <a:r>
              <a:rPr lang="ru-RU" sz="1000" dirty="0"/>
              <a:t> 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7077343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en-US" sz="4900" dirty="0"/>
              <a:t>MongoDB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686104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5474A3B-9765-334E-924A-F3B821A8A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MongoDB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52DAF3-D5A8-DC41-9BFF-4A6BA9CD1695}"/>
              </a:ext>
            </a:extLst>
          </p:cNvPr>
          <p:cNvSpPr txBox="1"/>
          <p:nvPr/>
        </p:nvSpPr>
        <p:spPr>
          <a:xfrm>
            <a:off x="500550" y="1213129"/>
            <a:ext cx="8520600" cy="39368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/>
              <a:t>Адаптирована для </a:t>
            </a:r>
            <a:r>
              <a:rPr lang="en-US" sz="1400" dirty="0"/>
              <a:t>OLTP </a:t>
            </a:r>
            <a:r>
              <a:rPr lang="ru-RU" sz="1400" dirty="0"/>
              <a:t>задач – запись/хранение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/>
              <a:t>Работа с </a:t>
            </a:r>
            <a:r>
              <a:rPr lang="en-US" sz="1400" dirty="0"/>
              <a:t>JSON </a:t>
            </a:r>
            <a:r>
              <a:rPr lang="ru-RU" sz="1400" dirty="0"/>
              <a:t>как с типом документа.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JSON</a:t>
            </a:r>
            <a:r>
              <a:rPr lang="ru-RU" sz="1400" dirty="0"/>
              <a:t>ы</a:t>
            </a:r>
            <a:r>
              <a:rPr lang="en-US" sz="1400" dirty="0"/>
              <a:t> </a:t>
            </a:r>
            <a:r>
              <a:rPr lang="ru-RU" sz="1400" dirty="0"/>
              <a:t>можно собирать в коллекции (в некотором роде аналог таблиц, но не совсем)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JSON</a:t>
            </a:r>
            <a:r>
              <a:rPr lang="ru-RU" sz="1400" dirty="0"/>
              <a:t>ы произвольной структуры и вложенности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/>
              <a:t>Отсутствие схемы – нет требований по определенной структуре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/>
              <a:t>Разные </a:t>
            </a:r>
            <a:r>
              <a:rPr lang="en-US" sz="1400" dirty="0"/>
              <a:t>JSON</a:t>
            </a:r>
            <a:r>
              <a:rPr lang="ru-RU" sz="1400" dirty="0"/>
              <a:t>ы можно «свалить» в одну коллекцию. НО делать так не рекомендуется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/>
              <a:t>Нет внешних ключей, хранимых процедур и триггеров.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JOIN </a:t>
            </a:r>
            <a:r>
              <a:rPr lang="ru-RU" sz="1400" dirty="0"/>
              <a:t>поддерживается, но не приветствуется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/>
              <a:t>Можно создавать индексы для полей </a:t>
            </a:r>
            <a:r>
              <a:rPr lang="en-US" sz="1400" dirty="0"/>
              <a:t>JSON-</a:t>
            </a:r>
            <a:r>
              <a:rPr lang="ru-RU" sz="1400" dirty="0"/>
              <a:t>документа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ru-RU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/>
              <a:t>Просто разворачивается репликация и </a:t>
            </a:r>
            <a:r>
              <a:rPr lang="ru-RU" sz="1400" dirty="0" err="1"/>
              <a:t>шардирование</a:t>
            </a:r>
            <a:endParaRPr lang="ru-RU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MongoDB </a:t>
            </a:r>
            <a:r>
              <a:rPr lang="ru-RU" sz="1400" dirty="0"/>
              <a:t>требует много памяти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3933345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5474A3B-9765-334E-924A-F3B821A8A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MongoDB - </a:t>
            </a:r>
            <a:r>
              <a:rPr lang="ru-RU" dirty="0"/>
              <a:t>локально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540BC25-6479-F740-A542-809D2E2F9F14}"/>
              </a:ext>
            </a:extLst>
          </p:cNvPr>
          <p:cNvGrpSpPr/>
          <p:nvPr/>
        </p:nvGrpSpPr>
        <p:grpSpPr>
          <a:xfrm>
            <a:off x="500550" y="1826734"/>
            <a:ext cx="6350000" cy="1409700"/>
            <a:chOff x="500550" y="1257300"/>
            <a:chExt cx="6350000" cy="14097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55D552-2F50-0442-9E04-228A118E5E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0550" y="1257300"/>
              <a:ext cx="6350000" cy="140970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D45F039-A5B0-B449-9BDC-480FF8CE5AAE}"/>
                </a:ext>
              </a:extLst>
            </p:cNvPr>
            <p:cNvSpPr txBox="1"/>
            <p:nvPr/>
          </p:nvSpPr>
          <p:spPr>
            <a:xfrm>
              <a:off x="4912199" y="1257300"/>
              <a:ext cx="19383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 err="1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mongodb</a:t>
              </a:r>
              <a:r>
                <a:rPr lang="en-US" sz="1000" dirty="0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-docker-</a:t>
              </a:r>
              <a:r>
                <a:rPr lang="en-US" sz="1000" dirty="0" err="1">
                  <a:solidFill>
                    <a:schemeClr val="bg1"/>
                  </a:solidFill>
                  <a:latin typeface="+mn-lt"/>
                  <a:cs typeface="Courier New" panose="02070309020205020404" pitchFamily="49" charset="0"/>
                </a:rPr>
                <a:t>compose.yml</a:t>
              </a:r>
              <a:endParaRPr lang="en-US" sz="1000" dirty="0">
                <a:solidFill>
                  <a:schemeClr val="bg1"/>
                </a:solidFill>
                <a:latin typeface="+mn-lt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AD3B98A8-9157-4744-A68C-E75457E2F74E}"/>
              </a:ext>
            </a:extLst>
          </p:cNvPr>
          <p:cNvSpPr txBox="1"/>
          <p:nvPr/>
        </p:nvSpPr>
        <p:spPr>
          <a:xfrm>
            <a:off x="408562" y="986820"/>
            <a:ext cx="678990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u="sng" dirty="0"/>
              <a:t>Развернуть локально в </a:t>
            </a:r>
            <a:r>
              <a:rPr lang="en-US" sz="1400" u="sng" dirty="0"/>
              <a:t>Docker </a:t>
            </a:r>
            <a:r>
              <a:rPr lang="ru-RU" sz="1400" u="sng" dirty="0"/>
              <a:t>образе</a:t>
            </a:r>
          </a:p>
          <a:p>
            <a:endParaRPr lang="ru-RU" sz="1400" u="sng" dirty="0"/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compose -f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mongodb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-docker-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compose.yml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up </a:t>
            </a:r>
            <a:endParaRPr lang="ru-RU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861C21-D43F-A54A-9568-3E602778178E}"/>
              </a:ext>
            </a:extLst>
          </p:cNvPr>
          <p:cNvSpPr txBox="1"/>
          <p:nvPr/>
        </p:nvSpPr>
        <p:spPr>
          <a:xfrm>
            <a:off x="500550" y="3605765"/>
            <a:ext cx="678990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u="sng" dirty="0"/>
              <a:t>Развернуть в </a:t>
            </a:r>
            <a:r>
              <a:rPr lang="en-US" sz="1400" u="sng" dirty="0"/>
              <a:t>K8s </a:t>
            </a:r>
            <a:r>
              <a:rPr lang="ru-RU" sz="1400" u="sng" dirty="0"/>
              <a:t>кластере</a:t>
            </a:r>
          </a:p>
          <a:p>
            <a:endParaRPr lang="ru-RU" sz="1400" u="sng" dirty="0"/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helm repo add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mongodb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  <a:hlinkClick r:id="rId3"/>
              </a:rPr>
              <a:t>https://mongodb.github.io/helm-charts</a:t>
            </a:r>
            <a:endParaRPr lang="ru-RU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helm install atlas-operator --namespace=atlas-operator --create-namespace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mongodb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mongodb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-atlas-operator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191238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5474A3B-9765-334E-924A-F3B821A8A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MongoDB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0FCBB3-9048-1543-B9C8-640CAF7FC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29" y="1217444"/>
            <a:ext cx="4737100" cy="193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5284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74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dirty="0"/>
              <a:t>Практика</a:t>
            </a:r>
            <a:endParaRPr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Практика</a:t>
            </a:r>
            <a:endParaRPr dirty="0"/>
          </a:p>
        </p:txBody>
      </p:sp>
      <p:graphicFrame>
        <p:nvGraphicFramePr>
          <p:cNvPr id="5" name="Google Shape;210;p38">
            <a:extLst>
              <a:ext uri="{FF2B5EF4-FFF2-40B4-BE49-F238E27FC236}">
                <a16:creationId xmlns:a16="http://schemas.microsoft.com/office/drawing/2014/main" id="{95CF6988-BEFE-5F4D-8976-4C03B79F873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7379929"/>
              </p:ext>
            </p:extLst>
          </p:nvPr>
        </p:nvGraphicFramePr>
        <p:xfrm>
          <a:off x="846750" y="1649963"/>
          <a:ext cx="7239000" cy="158001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4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ru-RU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Создать </a:t>
                      </a:r>
                      <a:r>
                        <a:rPr lang="en-US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S3 </a:t>
                      </a:r>
                      <a:r>
                        <a:rPr lang="ru-RU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систему хранения локально</a:t>
                      </a:r>
                      <a:endParaRPr sz="1300" u="none" strike="noStrike" cap="none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4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 anchor="ctr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ru-RU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Создать </a:t>
                      </a:r>
                      <a:r>
                        <a:rPr lang="en-US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S3 </a:t>
                      </a:r>
                      <a:r>
                        <a:rPr lang="ru-RU" sz="1300" u="none" strike="noStrike" cap="none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бакет</a:t>
                      </a:r>
                      <a:r>
                        <a:rPr lang="ru-RU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в </a:t>
                      </a:r>
                      <a:r>
                        <a:rPr lang="en-US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Yandex Cloud</a:t>
                      </a:r>
                      <a:endParaRPr lang="ru-RU" sz="1300" u="none" strike="noStrike" cap="none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4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 anchor="ctr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ru-RU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Поднять локально </a:t>
                      </a:r>
                      <a:r>
                        <a:rPr lang="en-US" sz="1300" u="none" strike="noStrike" cap="none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ClickHouse</a:t>
                      </a:r>
                      <a:r>
                        <a:rPr lang="en-US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 подключиться к нему</a:t>
                      </a:r>
                      <a:endParaRPr sz="1300" u="none" strike="noStrike" cap="none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529608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4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 anchor="ctr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ru-RU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Создать </a:t>
                      </a:r>
                      <a:r>
                        <a:rPr lang="en-US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Spark </a:t>
                      </a:r>
                      <a:r>
                        <a:rPr lang="ru-RU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кластер в </a:t>
                      </a:r>
                      <a:r>
                        <a:rPr lang="en-US" sz="1300" u="none" strike="noStrike" cap="none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Yandex Cloud</a:t>
                      </a:r>
                      <a:endParaRPr sz="1300" u="none" strike="noStrike" cap="none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378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36000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24450" y="2030821"/>
            <a:ext cx="5066750" cy="772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900" spc="-5" dirty="0">
                <a:solidFill>
                  <a:srgbClr val="FFFFFF"/>
                </a:solidFill>
              </a:rPr>
              <a:t>Вопросы?</a:t>
            </a:r>
            <a:endParaRPr sz="4900" dirty="0"/>
          </a:p>
        </p:txBody>
      </p:sp>
      <p:grpSp>
        <p:nvGrpSpPr>
          <p:cNvPr id="3" name="object 3"/>
          <p:cNvGrpSpPr/>
          <p:nvPr/>
        </p:nvGrpSpPr>
        <p:grpSpPr>
          <a:xfrm>
            <a:off x="719975" y="3370764"/>
            <a:ext cx="4045585" cy="662940"/>
            <a:chOff x="719975" y="3370764"/>
            <a:chExt cx="4045585" cy="66294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19975" y="3370764"/>
              <a:ext cx="662534" cy="662534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102950" y="3370764"/>
              <a:ext cx="662534" cy="662534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1511050" y="3444186"/>
            <a:ext cx="172402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Ставим</a:t>
            </a:r>
            <a:r>
              <a:rPr sz="1500" spc="-5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25" dirty="0">
                <a:solidFill>
                  <a:srgbClr val="FFFFFF"/>
                </a:solidFill>
                <a:latin typeface="Roboto"/>
                <a:cs typeface="Roboto"/>
              </a:rPr>
              <a:t>“+”,</a:t>
            </a:r>
            <a:endParaRPr sz="1500">
              <a:latin typeface="Roboto"/>
              <a:cs typeface="Roboto"/>
            </a:endParaRPr>
          </a:p>
          <a:p>
            <a:pPr marL="12700">
              <a:lnSpc>
                <a:spcPct val="100000"/>
              </a:lnSpc>
            </a:pPr>
            <a:r>
              <a:rPr sz="1500" spc="10" dirty="0">
                <a:solidFill>
                  <a:srgbClr val="FFFFFF"/>
                </a:solidFill>
                <a:latin typeface="Roboto"/>
                <a:cs typeface="Roboto"/>
              </a:rPr>
              <a:t>если</a:t>
            </a:r>
            <a:r>
              <a:rPr sz="1500" spc="-3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вопросы</a:t>
            </a:r>
            <a:r>
              <a:rPr sz="1500" spc="-3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5" dirty="0">
                <a:solidFill>
                  <a:srgbClr val="FFFFFF"/>
                </a:solidFill>
                <a:latin typeface="Roboto"/>
                <a:cs typeface="Roboto"/>
              </a:rPr>
              <a:t>есть</a:t>
            </a:r>
            <a:endParaRPr sz="1500">
              <a:latin typeface="Roboto"/>
              <a:cs typeface="Robo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79725" y="3444186"/>
            <a:ext cx="169989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Ставим</a:t>
            </a:r>
            <a:r>
              <a:rPr sz="1500" spc="-4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40" dirty="0">
                <a:solidFill>
                  <a:srgbClr val="FFFFFF"/>
                </a:solidFill>
                <a:latin typeface="Roboto"/>
                <a:cs typeface="Roboto"/>
              </a:rPr>
              <a:t>“–”,</a:t>
            </a:r>
            <a:endParaRPr sz="1500">
              <a:latin typeface="Roboto"/>
              <a:cs typeface="Roboto"/>
            </a:endParaRPr>
          </a:p>
          <a:p>
            <a:pPr marL="12700">
              <a:lnSpc>
                <a:spcPct val="100000"/>
              </a:lnSpc>
            </a:pPr>
            <a:r>
              <a:rPr sz="1500" spc="10" dirty="0">
                <a:solidFill>
                  <a:srgbClr val="FFFFFF"/>
                </a:solidFill>
                <a:latin typeface="Roboto"/>
                <a:cs typeface="Roboto"/>
              </a:rPr>
              <a:t>если</a:t>
            </a:r>
            <a:r>
              <a:rPr sz="1500" spc="-3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5" dirty="0">
                <a:solidFill>
                  <a:srgbClr val="FFFFFF"/>
                </a:solidFill>
                <a:latin typeface="Roboto"/>
                <a:cs typeface="Roboto"/>
              </a:rPr>
              <a:t>вопросов</a:t>
            </a:r>
            <a:r>
              <a:rPr sz="1500" spc="-3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5" dirty="0">
                <a:solidFill>
                  <a:srgbClr val="FFFFFF"/>
                </a:solidFill>
                <a:latin typeface="Roboto"/>
                <a:cs typeface="Roboto"/>
              </a:rPr>
              <a:t>нет</a:t>
            </a:r>
            <a:endParaRPr sz="1500">
              <a:latin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7757382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Список материалов для изучения</a:t>
            </a:r>
            <a:endParaRPr dirty="0"/>
          </a:p>
        </p:txBody>
      </p:sp>
      <p:sp>
        <p:nvSpPr>
          <p:cNvPr id="408" name="Google Shape;408;p71"/>
          <p:cNvSpPr txBox="1">
            <a:spLocks noGrp="1"/>
          </p:cNvSpPr>
          <p:nvPr>
            <p:ph type="body" idx="4294967295"/>
          </p:nvPr>
        </p:nvSpPr>
        <p:spPr>
          <a:xfrm>
            <a:off x="500550" y="1197862"/>
            <a:ext cx="7742400" cy="36789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indent="-311150">
              <a:lnSpc>
                <a:spcPct val="150000"/>
              </a:lnSpc>
              <a:buSzPts val="1300"/>
              <a:buFont typeface="Roboto"/>
              <a:buAutoNum type="arabicPeriod"/>
            </a:pPr>
            <a:r>
              <a:rPr lang="en-GB" sz="1300" dirty="0">
                <a:hlinkClick r:id="rId3"/>
              </a:rPr>
              <a:t>Apache Mahout</a:t>
            </a:r>
            <a:endParaRPr lang="en-GB" sz="1300" dirty="0"/>
          </a:p>
          <a:p>
            <a:pPr indent="-311150">
              <a:lnSpc>
                <a:spcPct val="150000"/>
              </a:lnSpc>
              <a:buSzPts val="1300"/>
              <a:buFont typeface="Roboto"/>
              <a:buAutoNum type="arabicPeriod"/>
            </a:pPr>
            <a:r>
              <a:rPr lang="en-GB" sz="1300" dirty="0">
                <a:hlinkClick r:id="rId4"/>
              </a:rPr>
              <a:t>Apache Spark</a:t>
            </a:r>
            <a:endParaRPr lang="ru-RU" sz="1300" dirty="0"/>
          </a:p>
          <a:p>
            <a:pPr indent="-311150">
              <a:lnSpc>
                <a:spcPct val="150000"/>
              </a:lnSpc>
              <a:buSzPts val="1300"/>
              <a:buFont typeface="Roboto"/>
              <a:buAutoNum type="arabicPeriod"/>
            </a:pPr>
            <a:r>
              <a:rPr lang="en-GB" sz="1300" dirty="0">
                <a:hlinkClick r:id="rId5"/>
              </a:rPr>
              <a:t>Apache Flink</a:t>
            </a:r>
            <a:endParaRPr lang="en-GB" sz="1300" dirty="0"/>
          </a:p>
          <a:p>
            <a:pPr indent="-311150">
              <a:lnSpc>
                <a:spcPct val="150000"/>
              </a:lnSpc>
              <a:buSzPts val="1300"/>
              <a:buFont typeface="Roboto"/>
              <a:buAutoNum type="arabicPeriod"/>
            </a:pPr>
            <a:r>
              <a:rPr lang="en-GB" sz="1300" dirty="0">
                <a:hlinkClick r:id="rId6"/>
              </a:rPr>
              <a:t>Apache </a:t>
            </a:r>
            <a:r>
              <a:rPr lang="en-GB" sz="1300" dirty="0" err="1">
                <a:hlinkClick r:id="rId6"/>
              </a:rPr>
              <a:t>Madlib</a:t>
            </a:r>
            <a:endParaRPr lang="en-GB" sz="1300" dirty="0"/>
          </a:p>
          <a:p>
            <a:pPr indent="-311150">
              <a:lnSpc>
                <a:spcPct val="150000"/>
              </a:lnSpc>
              <a:buSzPts val="1300"/>
              <a:buFont typeface="Roboto"/>
              <a:buAutoNum type="arabicPeriod"/>
            </a:pPr>
            <a:r>
              <a:rPr lang="en-GB" sz="1300" dirty="0">
                <a:hlinkClick r:id="rId7"/>
              </a:rPr>
              <a:t>H2O</a:t>
            </a:r>
            <a:endParaRPr lang="en-GB" sz="1300" dirty="0"/>
          </a:p>
          <a:p>
            <a:pPr indent="-311150">
              <a:lnSpc>
                <a:spcPct val="150000"/>
              </a:lnSpc>
              <a:buSzPts val="1300"/>
              <a:buFont typeface="Roboto"/>
              <a:buAutoNum type="arabicPeriod"/>
            </a:pPr>
            <a:r>
              <a:rPr lang="en-GB" sz="1300" dirty="0">
                <a:hlinkClick r:id="rId8"/>
              </a:rPr>
              <a:t>Apache Zepellin</a:t>
            </a:r>
            <a:endParaRPr lang="en-GB" sz="1300" dirty="0"/>
          </a:p>
          <a:p>
            <a:pPr indent="-311150">
              <a:lnSpc>
                <a:spcPct val="150000"/>
              </a:lnSpc>
              <a:buSzPts val="1300"/>
              <a:buFont typeface="Roboto"/>
              <a:buAutoNum type="arabicPeriod"/>
            </a:pPr>
            <a:r>
              <a:rPr lang="en-GB" sz="1300" dirty="0">
                <a:hlinkClick r:id="rId9"/>
              </a:rPr>
              <a:t>JetBrains Big Tool Data</a:t>
            </a:r>
            <a:endParaRPr lang="en-GB" sz="1300" dirty="0"/>
          </a:p>
          <a:p>
            <a:pPr indent="-311150">
              <a:lnSpc>
                <a:spcPct val="150000"/>
              </a:lnSpc>
              <a:buSzPts val="1300"/>
              <a:buFont typeface="Roboto"/>
              <a:buAutoNum type="arabicPeriod"/>
            </a:pPr>
            <a:r>
              <a:rPr lang="en-GB" sz="1300" dirty="0">
                <a:hlinkClick r:id="rId10"/>
              </a:rPr>
              <a:t>Jupyter</a:t>
            </a:r>
            <a:endParaRPr lang="en-GB" sz="1300" dirty="0"/>
          </a:p>
          <a:p>
            <a:pPr indent="-311150">
              <a:lnSpc>
                <a:spcPct val="150000"/>
              </a:lnSpc>
              <a:buSzPts val="1300"/>
              <a:buFont typeface="Roboto"/>
              <a:buAutoNum type="arabicPeriod"/>
            </a:pPr>
            <a:r>
              <a:rPr lang="en-GB" sz="1300" dirty="0">
                <a:hlinkClick r:id="rId11"/>
              </a:rPr>
              <a:t>JetBrains </a:t>
            </a:r>
            <a:r>
              <a:rPr lang="en-GB" sz="1300" dirty="0" err="1">
                <a:hlinkClick r:id="rId11"/>
              </a:rPr>
              <a:t>DataSpell</a:t>
            </a:r>
            <a:endParaRPr lang="en-GB" sz="1300" dirty="0"/>
          </a:p>
          <a:p>
            <a:pPr indent="-311150">
              <a:lnSpc>
                <a:spcPct val="150000"/>
              </a:lnSpc>
              <a:buSzPts val="1300"/>
              <a:buFont typeface="Roboto"/>
              <a:buAutoNum type="arabicPeriod"/>
            </a:pPr>
            <a:r>
              <a:rPr lang="en-GB" sz="1300" dirty="0">
                <a:hlinkClick r:id="rId12"/>
              </a:rPr>
              <a:t>Almond</a:t>
            </a:r>
            <a:r>
              <a:rPr lang="en-GB" sz="1300" dirty="0"/>
              <a:t> </a:t>
            </a:r>
          </a:p>
          <a:p>
            <a:pPr indent="-311150">
              <a:lnSpc>
                <a:spcPct val="150000"/>
              </a:lnSpc>
              <a:buSzPts val="1300"/>
              <a:buFont typeface="Roboto"/>
              <a:buAutoNum type="arabicPeriod"/>
            </a:pPr>
            <a:r>
              <a:rPr lang="en-GB" sz="1300" dirty="0">
                <a:hlinkClick r:id="rId13"/>
              </a:rPr>
              <a:t>DataBricks</a:t>
            </a:r>
            <a:r>
              <a:rPr lang="en-GB" sz="1300" dirty="0"/>
              <a:t> </a:t>
            </a:r>
          </a:p>
          <a:p>
            <a:pPr indent="-311150">
              <a:lnSpc>
                <a:spcPct val="150000"/>
              </a:lnSpc>
              <a:buSzPts val="1300"/>
              <a:buFont typeface="Roboto"/>
              <a:buAutoNum type="arabicPeriod"/>
            </a:pPr>
            <a:r>
              <a:rPr lang="en-GB" sz="1300" dirty="0"/>
              <a:t>Spark packages: </a:t>
            </a:r>
            <a:r>
              <a:rPr lang="en-GB" sz="1300" dirty="0">
                <a:hlinkClick r:id="rId14"/>
              </a:rPr>
              <a:t>https://spark-packages.org</a:t>
            </a:r>
            <a:endParaRPr lang="en-GB" sz="1300" dirty="0"/>
          </a:p>
          <a:p>
            <a:pPr indent="-311150">
              <a:lnSpc>
                <a:spcPct val="150000"/>
              </a:lnSpc>
              <a:buSzPts val="1300"/>
              <a:buFont typeface="Roboto"/>
              <a:buAutoNum type="arabicPeriod"/>
            </a:pPr>
            <a:r>
              <a:rPr lang="en-GB" sz="1300" dirty="0" err="1"/>
              <a:t>Mllib</a:t>
            </a:r>
            <a:r>
              <a:rPr lang="en-GB" sz="1300" dirty="0"/>
              <a:t> main guide: </a:t>
            </a:r>
            <a:r>
              <a:rPr lang="en-GB" sz="1300" dirty="0">
                <a:hlinkClick r:id="rId15"/>
              </a:rPr>
              <a:t>https://spark.apache.org/docs/latest/ml-guide.html</a:t>
            </a:r>
            <a:r>
              <a:rPr lang="en-GB" sz="1300" dirty="0"/>
              <a:t> </a:t>
            </a:r>
          </a:p>
          <a:p>
            <a:pPr indent="-311150">
              <a:lnSpc>
                <a:spcPct val="150000"/>
              </a:lnSpc>
              <a:buSzPts val="1300"/>
              <a:buFont typeface="Roboto"/>
              <a:buAutoNum type="arabicPeriod"/>
            </a:pPr>
            <a:r>
              <a:rPr lang="en-GB" sz="1300" dirty="0" err="1"/>
              <a:t>Mllib</a:t>
            </a:r>
            <a:r>
              <a:rPr lang="en-GB" sz="1300" dirty="0"/>
              <a:t> </a:t>
            </a:r>
            <a:r>
              <a:rPr lang="en-GB" sz="1300" dirty="0" err="1"/>
              <a:t>DataFrame</a:t>
            </a:r>
            <a:r>
              <a:rPr lang="en-GB" sz="1300" dirty="0"/>
              <a:t>-based: </a:t>
            </a:r>
            <a:r>
              <a:rPr lang="en-GB" sz="1300" dirty="0">
                <a:hlinkClick r:id="rId16"/>
              </a:rPr>
              <a:t>https://spark.apache.org/docs/latest/api/python/reference/pyspark.ml.html</a:t>
            </a:r>
            <a:r>
              <a:rPr lang="en-GB" sz="1300" dirty="0"/>
              <a:t> </a:t>
            </a:r>
          </a:p>
          <a:p>
            <a:pPr indent="-311150">
              <a:lnSpc>
                <a:spcPct val="150000"/>
              </a:lnSpc>
              <a:buSzPts val="1300"/>
              <a:buFont typeface="Roboto"/>
              <a:buAutoNum type="arabicPeriod"/>
            </a:pPr>
            <a:r>
              <a:rPr lang="en-GB" sz="1300" dirty="0" err="1"/>
              <a:t>MLFlow</a:t>
            </a:r>
            <a:r>
              <a:rPr lang="en-GB" sz="1300" dirty="0"/>
              <a:t> spark: </a:t>
            </a:r>
            <a:r>
              <a:rPr lang="en-GB" sz="1300" dirty="0">
                <a:hlinkClick r:id="rId17"/>
              </a:rPr>
              <a:t>https://mlflow.org/docs/latest/python_api/mlflow.spark.html</a:t>
            </a:r>
            <a:r>
              <a:rPr lang="en-GB" sz="1300" dirty="0"/>
              <a:t>  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76"/>
          <p:cNvSpPr txBox="1">
            <a:spLocks noGrp="1"/>
          </p:cNvSpPr>
          <p:nvPr>
            <p:ph type="title"/>
          </p:nvPr>
        </p:nvSpPr>
        <p:spPr>
          <a:xfrm>
            <a:off x="956224" y="396394"/>
            <a:ext cx="7730575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800" dirty="0"/>
              <a:t>Заполните, пожалуйста,</a:t>
            </a:r>
            <a:endParaRPr sz="38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3800" dirty="0"/>
              <a:t>опрос о занятии</a:t>
            </a:r>
            <a:endParaRPr sz="38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3800" dirty="0"/>
              <a:t>по ссылке в чате</a:t>
            </a:r>
            <a:endParaRPr sz="3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2" name="Google Shape;499;p77">
            <a:extLst>
              <a:ext uri="{FF2B5EF4-FFF2-40B4-BE49-F238E27FC236}">
                <a16:creationId xmlns:a16="http://schemas.microsoft.com/office/drawing/2014/main" id="{582ECAAA-AF1D-254F-9EEA-3E6087D018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821221"/>
            <a:ext cx="8520600" cy="136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Aft>
                <a:spcPts val="1200"/>
              </a:spcAft>
              <a:buSzPts val="3200"/>
              <a:buNone/>
            </a:pPr>
            <a:r>
              <a:rPr lang="ru-RU" dirty="0"/>
              <a:t>Приходите на следующие вебинары</a:t>
            </a:r>
            <a:br>
              <a:rPr lang="en-US" dirty="0"/>
            </a:br>
            <a:br>
              <a:rPr lang="en-US" sz="900" dirty="0"/>
            </a:br>
            <a:r>
              <a:rPr lang="ru-RU" sz="1800" dirty="0"/>
              <a:t>28.11 – </a:t>
            </a:r>
            <a:r>
              <a:rPr lang="en-US" sz="1800" dirty="0"/>
              <a:t>Concurrency: </a:t>
            </a:r>
            <a:r>
              <a:rPr lang="ru-RU" sz="1800" dirty="0"/>
              <a:t>многопоточное программирование и примитивы синхронизации</a:t>
            </a:r>
            <a:endParaRPr lang="ru-RU" dirty="0"/>
          </a:p>
        </p:txBody>
      </p:sp>
      <p:sp>
        <p:nvSpPr>
          <p:cNvPr id="13" name="Google Shape;500;p77">
            <a:extLst>
              <a:ext uri="{FF2B5EF4-FFF2-40B4-BE49-F238E27FC236}">
                <a16:creationId xmlns:a16="http://schemas.microsoft.com/office/drawing/2014/main" id="{E0455609-6D75-8B47-AD05-D96CCF37EC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438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ru-RU" dirty="0"/>
              <a:t>Спасибо за внимание!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1303AF-03ED-4942-AD0B-371ABDC3B86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5BB9E164-B69D-9940-834A-3C9CEED248AB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  <p:extLst>
      <p:ext uri="{BB962C8B-B14F-4D97-AF65-F5344CB8AC3E}">
        <p14:creationId xmlns:p14="http://schemas.microsoft.com/office/powerpoint/2010/main" val="706987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10040</TotalTime>
  <Words>1473</Words>
  <Application>Microsoft Macintosh PowerPoint</Application>
  <PresentationFormat>On-screen Show (16:9)</PresentationFormat>
  <Paragraphs>291</Paragraphs>
  <Slides>47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5" baseType="lpstr">
      <vt:lpstr>Arial</vt:lpstr>
      <vt:lpstr>Calibri</vt:lpstr>
      <vt:lpstr>Courier New</vt:lpstr>
      <vt:lpstr>Helvetica Neue</vt:lpstr>
      <vt:lpstr>LiberationSans</vt:lpstr>
      <vt:lpstr>Roboto</vt:lpstr>
      <vt:lpstr>Roboto</vt:lpstr>
      <vt:lpstr>Office Theme</vt:lpstr>
      <vt:lpstr>Python BigData</vt:lpstr>
      <vt:lpstr>Проверить, идет ли запись</vt:lpstr>
      <vt:lpstr>Python BigData</vt:lpstr>
      <vt:lpstr>Правила вебинара</vt:lpstr>
      <vt:lpstr>Карта курса</vt:lpstr>
      <vt:lpstr>Карта курса</vt:lpstr>
      <vt:lpstr>Маршрут вебинара</vt:lpstr>
      <vt:lpstr>Цели вебинара</vt:lpstr>
      <vt:lpstr>Смысл</vt:lpstr>
      <vt:lpstr>BigData</vt:lpstr>
      <vt:lpstr>Данные</vt:lpstr>
      <vt:lpstr>Масштабирование</vt:lpstr>
      <vt:lpstr>PowerPoint Presentation</vt:lpstr>
      <vt:lpstr>Hadoop</vt:lpstr>
      <vt:lpstr>Hadoop</vt:lpstr>
      <vt:lpstr>PowerPoint Presentation</vt:lpstr>
      <vt:lpstr>PowerPoint Presentation</vt:lpstr>
      <vt:lpstr>MapReduce пример: WordCount</vt:lpstr>
      <vt:lpstr>ML Компоненты</vt:lpstr>
      <vt:lpstr>Data Компоненты</vt:lpstr>
      <vt:lpstr>Spark &amp; SparkML</vt:lpstr>
      <vt:lpstr>Что есть Spark</vt:lpstr>
      <vt:lpstr>Работа со Spark</vt:lpstr>
      <vt:lpstr>PowerPoint Presentation</vt:lpstr>
      <vt:lpstr>PowerPoint Presentation</vt:lpstr>
      <vt:lpstr>ClickHouse</vt:lpstr>
      <vt:lpstr>MPP arhitecture</vt:lpstr>
      <vt:lpstr>ClickHouse</vt:lpstr>
      <vt:lpstr>ClickHouse</vt:lpstr>
      <vt:lpstr>ClickHouse</vt:lpstr>
      <vt:lpstr>ClickHouse</vt:lpstr>
      <vt:lpstr>S3 –  Simple Storage Service </vt:lpstr>
      <vt:lpstr>Объектное хранилище</vt:lpstr>
      <vt:lpstr>Self-managed решение - minio</vt:lpstr>
      <vt:lpstr>Cloud решение Yandex Object Storage</vt:lpstr>
      <vt:lpstr>Yandex Cloud </vt:lpstr>
      <vt:lpstr>Yandex Cloud </vt:lpstr>
      <vt:lpstr>MongoDB</vt:lpstr>
      <vt:lpstr>MongoDB</vt:lpstr>
      <vt:lpstr>MongoDB - локально</vt:lpstr>
      <vt:lpstr>MongoDB</vt:lpstr>
      <vt:lpstr>Практика</vt:lpstr>
      <vt:lpstr>Практика</vt:lpstr>
      <vt:lpstr>Вопросы?</vt:lpstr>
      <vt:lpstr>Список материалов для изучения</vt:lpstr>
      <vt:lpstr>Заполните, пожалуйста, опрос о занятии по ссылке в чате</vt:lpstr>
      <vt:lpstr>Приходите на следующие вебинары  28.11 – Concurrency: многопоточное программирование и примитивы синхронизации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Копия 1.2 Практическое занятие - Оптимизация кода, parallelization, multiprocessing, ускорение pandas, Modin для Pandas</dc:title>
  <cp:lastModifiedBy>Стурейко Игорь Олегович</cp:lastModifiedBy>
  <cp:revision>127</cp:revision>
  <dcterms:created xsi:type="dcterms:W3CDTF">2023-10-10T14:19:39Z</dcterms:created>
  <dcterms:modified xsi:type="dcterms:W3CDTF">2024-11-19T14:28:02Z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or">
    <vt:lpwstr>Google</vt:lpwstr>
  </property>
</Properties>
</file>