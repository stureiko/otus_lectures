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53.jpg" ContentType="image/jpeg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media/image63.jpg" ContentType="image/jpeg"/>
  <Override PartName="/ppt/media/image64.jpg" ContentType="image/jpeg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334" r:id="rId4"/>
    <p:sldId id="259" r:id="rId5"/>
    <p:sldId id="396" r:id="rId6"/>
    <p:sldId id="397" r:id="rId7"/>
    <p:sldId id="260" r:id="rId8"/>
    <p:sldId id="371" r:id="rId9"/>
    <p:sldId id="393" r:id="rId10"/>
    <p:sldId id="311" r:id="rId11"/>
    <p:sldId id="360" r:id="rId12"/>
    <p:sldId id="517" r:id="rId13"/>
    <p:sldId id="521" r:id="rId14"/>
    <p:sldId id="515" r:id="rId15"/>
    <p:sldId id="516" r:id="rId16"/>
    <p:sldId id="519" r:id="rId17"/>
    <p:sldId id="518" r:id="rId18"/>
    <p:sldId id="514" r:id="rId19"/>
    <p:sldId id="267" r:id="rId20"/>
    <p:sldId id="522" r:id="rId21"/>
    <p:sldId id="504" r:id="rId22"/>
    <p:sldId id="350" r:id="rId23"/>
    <p:sldId id="352" r:id="rId24"/>
    <p:sldId id="351" r:id="rId25"/>
    <p:sldId id="353" r:id="rId26"/>
    <p:sldId id="520" r:id="rId27"/>
    <p:sldId id="506" r:id="rId28"/>
    <p:sldId id="510" r:id="rId29"/>
    <p:sldId id="511" r:id="rId30"/>
    <p:sldId id="512" r:id="rId31"/>
    <p:sldId id="513" r:id="rId32"/>
    <p:sldId id="262" r:id="rId33"/>
    <p:sldId id="488" r:id="rId34"/>
    <p:sldId id="492" r:id="rId35"/>
    <p:sldId id="493" r:id="rId36"/>
    <p:sldId id="501" r:id="rId37"/>
    <p:sldId id="502" r:id="rId38"/>
    <p:sldId id="509" r:id="rId39"/>
    <p:sldId id="505" r:id="rId40"/>
    <p:sldId id="507" r:id="rId41"/>
    <p:sldId id="508" r:id="rId42"/>
    <p:sldId id="300" r:id="rId43"/>
    <p:sldId id="398" r:id="rId44"/>
    <p:sldId id="364" r:id="rId45"/>
    <p:sldId id="523" r:id="rId46"/>
    <p:sldId id="302" r:id="rId47"/>
    <p:sldId id="335" r:id="rId48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0"/>
    <p:restoredTop sz="97030"/>
  </p:normalViewPr>
  <p:slideViewPr>
    <p:cSldViewPr>
      <p:cViewPr varScale="1">
        <p:scale>
          <a:sx n="165" d="100"/>
          <a:sy n="165" d="100"/>
        </p:scale>
        <p:origin x="84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098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934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6794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9223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161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3867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9363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576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42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0763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05397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157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725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hyperlink" Target="https://mahout.apache.org/" TargetMode="External"/><Relationship Id="rId7" Type="http://schemas.openxmlformats.org/officeDocument/2006/relationships/hyperlink" Target="https://hive.apache.org/" TargetMode="External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madlib.apache.org/" TargetMode="External"/><Relationship Id="rId11" Type="http://schemas.openxmlformats.org/officeDocument/2006/relationships/image" Target="../media/image42.png"/><Relationship Id="rId5" Type="http://schemas.openxmlformats.org/officeDocument/2006/relationships/hyperlink" Target="https://flink.apache.org/" TargetMode="External"/><Relationship Id="rId10" Type="http://schemas.openxmlformats.org/officeDocument/2006/relationships/image" Target="../media/image41.jpeg"/><Relationship Id="rId4" Type="http://schemas.openxmlformats.org/officeDocument/2006/relationships/hyperlink" Target="https://spark.apache.org/" TargetMode="External"/><Relationship Id="rId9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hyperlink" Target="https://hbase.apache.org/" TargetMode="External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png"/><Relationship Id="rId5" Type="http://schemas.openxmlformats.org/officeDocument/2006/relationships/hyperlink" Target="https://kafka.apache.org/" TargetMode="External"/><Relationship Id="rId4" Type="http://schemas.openxmlformats.org/officeDocument/2006/relationships/hyperlink" Target="https://spark.apache.org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almond.sh/" TargetMode="External"/><Relationship Id="rId13" Type="http://schemas.openxmlformats.org/officeDocument/2006/relationships/image" Target="../media/image51.png"/><Relationship Id="rId3" Type="http://schemas.openxmlformats.org/officeDocument/2006/relationships/hyperlink" Target="https://spark.apache.org/docs/latest/api/python/index.html" TargetMode="External"/><Relationship Id="rId7" Type="http://schemas.openxmlformats.org/officeDocument/2006/relationships/hyperlink" Target="https://www.jetbrains.com/ru-ru/dataspell" TargetMode="External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jupyter.org/" TargetMode="External"/><Relationship Id="rId11" Type="http://schemas.openxmlformats.org/officeDocument/2006/relationships/image" Target="../media/image49.png"/><Relationship Id="rId5" Type="http://schemas.openxmlformats.org/officeDocument/2006/relationships/hyperlink" Target="https://plugins.jetbrains.com/plugin/12494-big-data-tools" TargetMode="External"/><Relationship Id="rId15" Type="http://schemas.openxmlformats.org/officeDocument/2006/relationships/image" Target="../media/image53.jpg"/><Relationship Id="rId10" Type="http://schemas.openxmlformats.org/officeDocument/2006/relationships/image" Target="../media/image48.png"/><Relationship Id="rId4" Type="http://schemas.openxmlformats.org/officeDocument/2006/relationships/hyperlink" Target="http://zeppelin.apache.org/" TargetMode="External"/><Relationship Id="rId9" Type="http://schemas.openxmlformats.org/officeDocument/2006/relationships/hyperlink" Target="https://community.cloud.databricks.com/" TargetMode="External"/><Relationship Id="rId1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7.jpe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7.jpe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jpg"/><Relationship Id="rId7" Type="http://schemas.openxmlformats.org/officeDocument/2006/relationships/image" Target="../media/image68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7.jpe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harts.min.io/" TargetMode="Externa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yandex.cloud/ru/docs/storage/tools/boto" TargetMode="Externa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mongodb.github.io/helm-charts" TargetMode="Externa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://zeppelin.apache.org/" TargetMode="External"/><Relationship Id="rId13" Type="http://schemas.openxmlformats.org/officeDocument/2006/relationships/hyperlink" Target="https://community.cloud.databricks.com/" TargetMode="External"/><Relationship Id="rId3" Type="http://schemas.openxmlformats.org/officeDocument/2006/relationships/hyperlink" Target="https://mahout.apache.org/" TargetMode="External"/><Relationship Id="rId7" Type="http://schemas.openxmlformats.org/officeDocument/2006/relationships/hyperlink" Target="https://h2o.ai/" TargetMode="External"/><Relationship Id="rId12" Type="http://schemas.openxmlformats.org/officeDocument/2006/relationships/hyperlink" Target="https://almond.sh/" TargetMode="External"/><Relationship Id="rId17" Type="http://schemas.openxmlformats.org/officeDocument/2006/relationships/hyperlink" Target="https://mlflow.org/docs/latest/python_api/mlflow.spark.html" TargetMode="External"/><Relationship Id="rId2" Type="http://schemas.openxmlformats.org/officeDocument/2006/relationships/notesSlide" Target="../notesSlides/notesSlide19.xml"/><Relationship Id="rId16" Type="http://schemas.openxmlformats.org/officeDocument/2006/relationships/hyperlink" Target="https://spark.apache.org/docs/latest/api/python/reference/pyspark.ml.html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madlib.apache.org/" TargetMode="External"/><Relationship Id="rId11" Type="http://schemas.openxmlformats.org/officeDocument/2006/relationships/hyperlink" Target="https://www.jetbrains.com/ru-ru/dataspell" TargetMode="External"/><Relationship Id="rId5" Type="http://schemas.openxmlformats.org/officeDocument/2006/relationships/hyperlink" Target="https%20:/flink.apache.org" TargetMode="External"/><Relationship Id="rId15" Type="http://schemas.openxmlformats.org/officeDocument/2006/relationships/hyperlink" Target="https://spark.apache.org/docs/latest/ml-guide.html" TargetMode="External"/><Relationship Id="rId10" Type="http://schemas.openxmlformats.org/officeDocument/2006/relationships/hyperlink" Target="https://jupyter.org/" TargetMode="External"/><Relationship Id="rId4" Type="http://schemas.openxmlformats.org/officeDocument/2006/relationships/hyperlink" Target="https://spark.apache.org/" TargetMode="External"/><Relationship Id="rId9" Type="http://schemas.openxmlformats.org/officeDocument/2006/relationships/hyperlink" Target="https://plugins.jetbrains.com/plugin/12494-big-data-tools" TargetMode="External"/><Relationship Id="rId14" Type="http://schemas.openxmlformats.org/officeDocument/2006/relationships/hyperlink" Target="https://spark-packages.org/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 err="1">
                <a:solidFill>
                  <a:srgbClr val="FFFFFF"/>
                </a:solidFill>
              </a:rPr>
              <a:t>BigData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</a:t>
            </a:r>
            <a:br>
              <a:rPr lang="en-US" dirty="0"/>
            </a:br>
            <a:r>
              <a:rPr lang="en-US" sz="2400" b="1" dirty="0" err="1">
                <a:latin typeface="Roboto"/>
                <a:ea typeface="Roboto"/>
                <a:cs typeface="Roboto"/>
                <a:sym typeface="Roboto"/>
              </a:rPr>
              <a:t>BigData</a:t>
            </a:r>
            <a:endParaRPr sz="240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8FBBE438-6184-8A4F-90F6-F58109911B5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77AC283E-91B9-B345-9D33-B29BA0BAF031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Python Advanced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1049762" y="1635977"/>
            <a:ext cx="2871318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-10" dirty="0">
                <a:solidFill>
                  <a:schemeClr val="tx1"/>
                </a:solidFill>
                <a:latin typeface="Roboto"/>
                <a:cs typeface="Roboto"/>
              </a:rPr>
              <a:t>Web. Django. </a:t>
            </a:r>
            <a:r>
              <a:rPr lang="en-US" sz="1400" spc="-10" dirty="0" err="1">
                <a:solidFill>
                  <a:schemeClr val="tx1"/>
                </a:solidFill>
                <a:latin typeface="Roboto"/>
                <a:cs typeface="Roboto"/>
              </a:rPr>
              <a:t>FastAPI</a:t>
            </a:r>
            <a:r>
              <a:rPr lang="en-US" sz="1400" spc="-10" dirty="0">
                <a:solidFill>
                  <a:schemeClr val="tx1"/>
                </a:solidFill>
                <a:latin typeface="Roboto"/>
                <a:cs typeface="Roboto"/>
              </a:rPr>
              <a:t>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045557" y="2671225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-20" dirty="0">
                <a:solidFill>
                  <a:schemeClr val="tx1"/>
                </a:solidFill>
                <a:latin typeface="Roboto"/>
                <a:cs typeface="Roboto"/>
              </a:rPr>
              <a:t>ML Engineering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62000" y="335169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0" u="none" strike="noStrike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Highload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4800600" y="394335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stCxn id="27" idx="1"/>
            <a:endCxn id="28" idx="0"/>
          </p:cNvCxnSpPr>
          <p:nvPr/>
        </p:nvCxnSpPr>
        <p:spPr>
          <a:xfrm rot="10800000" flipV="1">
            <a:off x="2485421" y="1368349"/>
            <a:ext cx="2979236" cy="267628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31" idx="0"/>
            <a:endCxn id="28" idx="3"/>
          </p:cNvCxnSpPr>
          <p:nvPr/>
        </p:nvCxnSpPr>
        <p:spPr>
          <a:xfrm rot="16200000" flipV="1">
            <a:off x="4888815" y="934942"/>
            <a:ext cx="768548" cy="2704017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1"/>
            <a:endCxn id="32" idx="0"/>
          </p:cNvCxnSpPr>
          <p:nvPr/>
        </p:nvCxnSpPr>
        <p:spPr>
          <a:xfrm rot="10800000" flipV="1">
            <a:off x="2341541" y="3011458"/>
            <a:ext cx="2704017" cy="340232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2"/>
          </p:cNvCxnSpPr>
          <p:nvPr/>
        </p:nvCxnSpPr>
        <p:spPr>
          <a:xfrm rot="10800000">
            <a:off x="2341540" y="4032155"/>
            <a:ext cx="2459060" cy="251428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73575" y="1047751"/>
            <a:ext cx="3159080" cy="38100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-20" dirty="0">
                <a:solidFill>
                  <a:schemeClr val="tx1"/>
                </a:solidFill>
                <a:latin typeface="Roboto"/>
                <a:cs typeface="Roboto"/>
              </a:rPr>
              <a:t>ML Engineering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F7CF1FE-957A-9D4D-88EA-6F04DA515F47}"/>
              </a:ext>
            </a:extLst>
          </p:cNvPr>
          <p:cNvSpPr/>
          <p:nvPr/>
        </p:nvSpPr>
        <p:spPr>
          <a:xfrm>
            <a:off x="2590800" y="1657350"/>
            <a:ext cx="3955836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DE9C2A-C75A-424B-9C32-4C42AB3629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18"/>
          <a:stretch/>
        </p:blipFill>
        <p:spPr>
          <a:xfrm>
            <a:off x="2740565" y="1606719"/>
            <a:ext cx="985256" cy="482261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A7F82C-DC26-3441-A3B2-9F847F37DCC0}"/>
              </a:ext>
            </a:extLst>
          </p:cNvPr>
          <p:cNvSpPr/>
          <p:nvPr/>
        </p:nvSpPr>
        <p:spPr>
          <a:xfrm>
            <a:off x="2590800" y="2190750"/>
            <a:ext cx="3955836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F80175-500B-0745-AC1C-57AE234B1F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550" y="2186909"/>
            <a:ext cx="954150" cy="384841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E111EED-9646-C942-AC8C-B290C62B252A}"/>
              </a:ext>
            </a:extLst>
          </p:cNvPr>
          <p:cNvSpPr/>
          <p:nvPr/>
        </p:nvSpPr>
        <p:spPr>
          <a:xfrm>
            <a:off x="2597363" y="2724151"/>
            <a:ext cx="3955836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BA28636-A2A2-CF4A-B027-9AE15B493B8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1550" y="2759203"/>
            <a:ext cx="1295400" cy="310896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8C2E6EB-5537-C441-978A-F955D65CA629}"/>
              </a:ext>
            </a:extLst>
          </p:cNvPr>
          <p:cNvSpPr/>
          <p:nvPr/>
        </p:nvSpPr>
        <p:spPr>
          <a:xfrm>
            <a:off x="2597363" y="3287255"/>
            <a:ext cx="3955836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A2B97B-E07C-8B4B-AC76-5ED6EDD60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565" y="3334299"/>
            <a:ext cx="939800" cy="27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9EE7A51-808B-7846-8A46-D3D37A7889CF}"/>
              </a:ext>
            </a:extLst>
          </p:cNvPr>
          <p:cNvSpPr/>
          <p:nvPr/>
        </p:nvSpPr>
        <p:spPr>
          <a:xfrm>
            <a:off x="2597362" y="3813939"/>
            <a:ext cx="3955837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289D9D3-72EC-5D44-B12E-E4E47EA7F9F5}"/>
              </a:ext>
            </a:extLst>
          </p:cNvPr>
          <p:cNvSpPr/>
          <p:nvPr/>
        </p:nvSpPr>
        <p:spPr>
          <a:xfrm>
            <a:off x="2597362" y="4340623"/>
            <a:ext cx="3949273" cy="38100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9538"/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1028" name="Picture 4" descr="Plugger AI vs. Huggingface: Simplifying AI Model Access and Scalability">
            <a:extLst>
              <a:ext uri="{FF2B5EF4-FFF2-40B4-BE49-F238E27FC236}">
                <a16:creationId xmlns:a16="http://schemas.microsoft.com/office/drawing/2014/main" id="{073121C2-02B0-ED42-85C8-C4E1BE951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34" y="3813939"/>
            <a:ext cx="1433416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0DB6B5D-321E-6F42-B1AE-2130BF1EA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630" y="3803827"/>
            <a:ext cx="766822" cy="38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F1F9F0-CB34-9044-A342-8C081391014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452" y="3668255"/>
            <a:ext cx="1289048" cy="736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8AA570-964A-304F-9938-62731D1A07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71" y="4324350"/>
            <a:ext cx="1122184" cy="400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A82B87-B256-D842-95A2-4F0058160C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584" y="4388557"/>
            <a:ext cx="1079868" cy="323961"/>
          </a:xfrm>
          <a:prstGeom prst="rect">
            <a:avLst/>
          </a:prstGeom>
        </p:spPr>
      </p:pic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93D6C3F3-7051-AC4F-8AC1-17DD79319C3A}"/>
              </a:ext>
            </a:extLst>
          </p:cNvPr>
          <p:cNvCxnSpPr>
            <a:stCxn id="31" idx="2"/>
            <a:endCxn id="12" idx="1"/>
          </p:cNvCxnSpPr>
          <p:nvPr/>
        </p:nvCxnSpPr>
        <p:spPr>
          <a:xfrm rot="16200000" flipH="1">
            <a:off x="2162408" y="1419457"/>
            <a:ext cx="419099" cy="4376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514CCD4-184A-7041-B505-7CFED74F146E}"/>
              </a:ext>
            </a:extLst>
          </p:cNvPr>
          <p:cNvCxnSpPr>
            <a:cxnSpLocks/>
            <a:stCxn id="31" idx="2"/>
            <a:endCxn id="14" idx="1"/>
          </p:cNvCxnSpPr>
          <p:nvPr/>
        </p:nvCxnSpPr>
        <p:spPr>
          <a:xfrm rot="16200000" flipH="1">
            <a:off x="1895708" y="1686157"/>
            <a:ext cx="952499" cy="4376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EF55DB35-EABA-184E-A17E-63C5E13A34E9}"/>
              </a:ext>
            </a:extLst>
          </p:cNvPr>
          <p:cNvCxnSpPr>
            <a:cxnSpLocks/>
            <a:stCxn id="31" idx="2"/>
            <a:endCxn id="17" idx="1"/>
          </p:cNvCxnSpPr>
          <p:nvPr/>
        </p:nvCxnSpPr>
        <p:spPr>
          <a:xfrm rot="16200000" flipH="1">
            <a:off x="1632289" y="1949577"/>
            <a:ext cx="1485900" cy="4442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E94D35CF-3789-1D43-AD6D-27419086DF0F}"/>
              </a:ext>
            </a:extLst>
          </p:cNvPr>
          <p:cNvCxnSpPr>
            <a:cxnSpLocks/>
            <a:stCxn id="31" idx="2"/>
            <a:endCxn id="19" idx="1"/>
          </p:cNvCxnSpPr>
          <p:nvPr/>
        </p:nvCxnSpPr>
        <p:spPr>
          <a:xfrm rot="16200000" flipH="1">
            <a:off x="1350737" y="2231129"/>
            <a:ext cx="2049004" cy="4442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4FC9284D-C7B0-104C-B085-2FA31330BF8A}"/>
              </a:ext>
            </a:extLst>
          </p:cNvPr>
          <p:cNvCxnSpPr>
            <a:cxnSpLocks/>
            <a:stCxn id="31" idx="2"/>
            <a:endCxn id="1028" idx="1"/>
          </p:cNvCxnSpPr>
          <p:nvPr/>
        </p:nvCxnSpPr>
        <p:spPr>
          <a:xfrm rot="16200000" flipH="1">
            <a:off x="1090480" y="2491385"/>
            <a:ext cx="2575688" cy="4504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8D13A058-D9D9-D044-B871-F4E844C878C7}"/>
              </a:ext>
            </a:extLst>
          </p:cNvPr>
          <p:cNvCxnSpPr>
            <a:cxnSpLocks/>
            <a:stCxn id="31" idx="2"/>
            <a:endCxn id="21" idx="1"/>
          </p:cNvCxnSpPr>
          <p:nvPr/>
        </p:nvCxnSpPr>
        <p:spPr>
          <a:xfrm rot="16200000" flipH="1">
            <a:off x="824052" y="2757813"/>
            <a:ext cx="3102372" cy="4442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058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5870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063176"/>
            <a:ext cx="35870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Проблема масштабирования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2605193"/>
            <a:ext cx="35870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Hadoop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BE39A353-0113-CB40-A790-4710AD049C32}"/>
              </a:ext>
            </a:extLst>
          </p:cNvPr>
          <p:cNvSpPr/>
          <p:nvPr/>
        </p:nvSpPr>
        <p:spPr>
          <a:xfrm>
            <a:off x="680150" y="3147210"/>
            <a:ext cx="35870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 &amp; 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SparkML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287;p65">
            <a:extLst>
              <a:ext uri="{FF2B5EF4-FFF2-40B4-BE49-F238E27FC236}">
                <a16:creationId xmlns:a16="http://schemas.microsoft.com/office/drawing/2014/main" id="{90E2BDB8-3207-4D44-8E25-7148F988B431}"/>
              </a:ext>
            </a:extLst>
          </p:cNvPr>
          <p:cNvSpPr/>
          <p:nvPr/>
        </p:nvSpPr>
        <p:spPr>
          <a:xfrm>
            <a:off x="674524" y="3689227"/>
            <a:ext cx="35870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ClickHouse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9A9D69-4C6C-1843-B7AA-7DE692AC3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576" y="1535351"/>
            <a:ext cx="2692658" cy="8077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F80A2B-DACF-2B45-BF80-BC9B843A6A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55510"/>
            <a:ext cx="2743440" cy="979800"/>
          </a:xfrm>
          <a:prstGeom prst="rect">
            <a:avLst/>
          </a:prstGeom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ADD9CE74-2EE5-6F44-921A-0EEC624D1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037503"/>
            <a:ext cx="2249550" cy="14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rstanding the Significance of Amazon S3 Buckets">
            <a:extLst>
              <a:ext uri="{FF2B5EF4-FFF2-40B4-BE49-F238E27FC236}">
                <a16:creationId xmlns:a16="http://schemas.microsoft.com/office/drawing/2014/main" id="{1B397803-7BAE-994C-967F-93B91DBDE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157" y="3789950"/>
            <a:ext cx="1205883" cy="830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287;p65">
            <a:extLst>
              <a:ext uri="{FF2B5EF4-FFF2-40B4-BE49-F238E27FC236}">
                <a16:creationId xmlns:a16="http://schemas.microsoft.com/office/drawing/2014/main" id="{D5CB1965-A729-9445-BD70-7A066F87BEAF}"/>
              </a:ext>
            </a:extLst>
          </p:cNvPr>
          <p:cNvSpPr/>
          <p:nvPr/>
        </p:nvSpPr>
        <p:spPr>
          <a:xfrm>
            <a:off x="674524" y="4231244"/>
            <a:ext cx="358705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Объектные хранилища </a:t>
            </a: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S3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3BA9729E-E0F3-D04E-9C05-B3723AECA1B5}"/>
              </a:ext>
            </a:extLst>
          </p:cNvPr>
          <p:cNvCxnSpPr>
            <a:stCxn id="284" idx="1"/>
            <a:endCxn id="287" idx="1"/>
          </p:cNvCxnSpPr>
          <p:nvPr/>
        </p:nvCxnSpPr>
        <p:spPr>
          <a:xfrm rot="10800000" flipV="1">
            <a:off x="680150" y="1709258"/>
            <a:ext cx="12700" cy="542017"/>
          </a:xfrm>
          <a:prstGeom prst="curved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E512508C-348F-8647-B039-FDCAE8083AB0}"/>
              </a:ext>
            </a:extLst>
          </p:cNvPr>
          <p:cNvCxnSpPr>
            <a:cxnSpLocks/>
            <a:stCxn id="287" idx="1"/>
            <a:endCxn id="288" idx="1"/>
          </p:cNvCxnSpPr>
          <p:nvPr/>
        </p:nvCxnSpPr>
        <p:spPr>
          <a:xfrm rot="10800000" flipV="1">
            <a:off x="680150" y="2251275"/>
            <a:ext cx="12700" cy="542017"/>
          </a:xfrm>
          <a:prstGeom prst="curved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B7168C74-2733-0646-A15A-FB2393D892FC}"/>
              </a:ext>
            </a:extLst>
          </p:cNvPr>
          <p:cNvCxnSpPr>
            <a:cxnSpLocks/>
            <a:stCxn id="288" idx="1"/>
            <a:endCxn id="9" idx="1"/>
          </p:cNvCxnSpPr>
          <p:nvPr/>
        </p:nvCxnSpPr>
        <p:spPr>
          <a:xfrm rot="10800000" flipV="1">
            <a:off x="680150" y="2793292"/>
            <a:ext cx="12700" cy="542017"/>
          </a:xfrm>
          <a:prstGeom prst="curved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F2C8DAD5-5BE7-E14C-BC8B-7837D81D8C50}"/>
              </a:ext>
            </a:extLst>
          </p:cNvPr>
          <p:cNvCxnSpPr>
            <a:cxnSpLocks/>
            <a:stCxn id="9" idx="1"/>
            <a:endCxn id="8" idx="1"/>
          </p:cNvCxnSpPr>
          <p:nvPr/>
        </p:nvCxnSpPr>
        <p:spPr>
          <a:xfrm rot="10800000" flipV="1">
            <a:off x="674524" y="3335309"/>
            <a:ext cx="5626" cy="542017"/>
          </a:xfrm>
          <a:prstGeom prst="curvedConnector3">
            <a:avLst>
              <a:gd name="adj1" fmla="val 4163278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255450A9-4388-6340-BEF7-1139F5C0DA3D}"/>
              </a:ext>
            </a:extLst>
          </p:cNvPr>
          <p:cNvCxnSpPr>
            <a:cxnSpLocks/>
            <a:stCxn id="8" idx="1"/>
            <a:endCxn id="16" idx="1"/>
          </p:cNvCxnSpPr>
          <p:nvPr/>
        </p:nvCxnSpPr>
        <p:spPr>
          <a:xfrm rot="10800000" flipV="1">
            <a:off x="674524" y="3877326"/>
            <a:ext cx="12700" cy="542017"/>
          </a:xfrm>
          <a:prstGeom prst="curved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5387999"/>
              </p:ext>
            </p:extLst>
          </p:nvPr>
        </p:nvGraphicFramePr>
        <p:xfrm>
          <a:off x="846750" y="1649963"/>
          <a:ext cx="7239000" cy="22028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Понять, что такое распределенные системы и с какими сложностями мы сталкиваемся при их эксплуатации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что такое платформа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Hadoop 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когда она используется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что такое платформа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 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когда она используется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72747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что такое колоночные БД и когда стоит использовать </a:t>
                      </a:r>
                      <a:r>
                        <a:rPr lang="en-US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67097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что такое объектное хранилище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S3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7429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95CF6988-BEFE-5F4D-8976-4C03B79F87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3415486"/>
              </p:ext>
            </p:extLst>
          </p:nvPr>
        </p:nvGraphicFramePr>
        <p:xfrm>
          <a:off x="846750" y="1649963"/>
          <a:ext cx="7239000" cy="3950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общие принципы функционирования компонентов </a:t>
                      </a:r>
                      <a:r>
                        <a:rPr lang="en-US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BigData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экосистемы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 err="1"/>
              <a:t>BigData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F741A-6E1E-D141-B792-11CB31BD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</a:t>
            </a:r>
            <a:endParaRPr lang="en-US" dirty="0"/>
          </a:p>
        </p:txBody>
      </p:sp>
      <p:pic>
        <p:nvPicPr>
          <p:cNvPr id="2056" name="Picture 8" descr="Big Data - Hexanika (Think Beyond Data)">
            <a:extLst>
              <a:ext uri="{FF2B5EF4-FFF2-40B4-BE49-F238E27FC236}">
                <a16:creationId xmlns:a16="http://schemas.microsoft.com/office/drawing/2014/main" id="{5092F325-FDC0-8542-8449-EB30AAE5C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0150"/>
            <a:ext cx="9144000" cy="361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AD4B40-780B-A140-8797-F762339E53DE}"/>
              </a:ext>
            </a:extLst>
          </p:cNvPr>
          <p:cNvSpPr txBox="1"/>
          <p:nvPr/>
        </p:nvSpPr>
        <p:spPr>
          <a:xfrm>
            <a:off x="838200" y="1962150"/>
            <a:ext cx="746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ZB = 1024 EB = 1,048,576 PB = 1,073,741,824 TB = 1,099,511,627,776 GB</a:t>
            </a:r>
          </a:p>
        </p:txBody>
      </p:sp>
    </p:spTree>
    <p:extLst>
      <p:ext uri="{BB962C8B-B14F-4D97-AF65-F5344CB8AC3E}">
        <p14:creationId xmlns:p14="http://schemas.microsoft.com/office/powerpoint/2010/main" val="3967521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F741A-6E1E-D141-B792-11CB31BD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Масштабирование</a:t>
            </a:r>
            <a:endParaRPr lang="en-US" dirty="0"/>
          </a:p>
        </p:txBody>
      </p:sp>
      <p:pic>
        <p:nvPicPr>
          <p:cNvPr id="2052" name="Picture 4" descr="Scaling nedir: Vertical ve Horizontal Scaling nasıl yapılır? | by Emre  Güney | Medium">
            <a:extLst>
              <a:ext uri="{FF2B5EF4-FFF2-40B4-BE49-F238E27FC236}">
                <a16:creationId xmlns:a16="http://schemas.microsoft.com/office/drawing/2014/main" id="{6F553B85-3C98-3C41-96AF-1FA382E58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7750"/>
            <a:ext cx="9144000" cy="395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414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95F2B43F-4CF1-4D4C-84DA-DBAE21951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0819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Hadoop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4141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F741A-6E1E-D141-B792-11CB31BD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</a:t>
            </a:r>
          </a:p>
        </p:txBody>
      </p:sp>
      <p:pic>
        <p:nvPicPr>
          <p:cNvPr id="4104" name="Picture 8" descr="Hadoop Nedir? Bileşenlerini Tanımaya Başlayalım 1 (HDFS,MapReduce) | by  Birol EMEKLİ | Devops Türkiye☁️ 🐧 🐳 ☸️ | Medium">
            <a:extLst>
              <a:ext uri="{FF2B5EF4-FFF2-40B4-BE49-F238E27FC236}">
                <a16:creationId xmlns:a16="http://schemas.microsoft.com/office/drawing/2014/main" id="{B24187CF-0B66-5C41-B318-25594C000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29493"/>
            <a:ext cx="7391400" cy="375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457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adoop Nedir? Bileşenlerini Tanımaya Başlayalım 1 (HDFS,MapReduce) | by  Birol EMEKLİ | Devops Türkiye☁️ 🐧 🐳 ☸️ | Medium">
            <a:extLst>
              <a:ext uri="{FF2B5EF4-FFF2-40B4-BE49-F238E27FC236}">
                <a16:creationId xmlns:a16="http://schemas.microsoft.com/office/drawing/2014/main" id="{1322A334-F9B8-2540-A372-39BAB00BBE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28" t="48229" r="39778" b="38934"/>
          <a:stretch/>
        </p:blipFill>
        <p:spPr bwMode="auto">
          <a:xfrm>
            <a:off x="289975" y="2186819"/>
            <a:ext cx="1994616" cy="62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adoop Nedir? Bileşenlerini Tanımaya Başlayalım 1 (HDFS,MapReduce) | by  Birol EMEKLİ | Devops Türkiye☁️ 🐧 🐳 ☸️ | Medium">
            <a:extLst>
              <a:ext uri="{FF2B5EF4-FFF2-40B4-BE49-F238E27FC236}">
                <a16:creationId xmlns:a16="http://schemas.microsoft.com/office/drawing/2014/main" id="{AEB47959-707A-6B47-ACF5-ACFA13A90F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28" t="63416" r="39778" b="23747"/>
          <a:stretch/>
        </p:blipFill>
        <p:spPr bwMode="auto">
          <a:xfrm>
            <a:off x="457200" y="1342001"/>
            <a:ext cx="1994616" cy="62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E7A6FE-1492-7D46-829F-15389A3333D7}"/>
              </a:ext>
            </a:extLst>
          </p:cNvPr>
          <p:cNvSpPr txBox="1"/>
          <p:nvPr/>
        </p:nvSpPr>
        <p:spPr>
          <a:xfrm>
            <a:off x="2743200" y="1441189"/>
            <a:ext cx="6248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Hadoop Distributed File System (HDFS) – </a:t>
            </a:r>
            <a:r>
              <a:rPr lang="ru-RU" sz="1400" dirty="0"/>
              <a:t>распределённая файловая система, позволяющая хранить информацию практически неограниченного объёма.</a:t>
            </a:r>
          </a:p>
          <a:p>
            <a:endParaRPr lang="ru-RU" sz="1400" dirty="0"/>
          </a:p>
          <a:p>
            <a:endParaRPr lang="en-US" sz="1400" dirty="0"/>
          </a:p>
          <a:p>
            <a:r>
              <a:rPr lang="en-US" sz="1400" dirty="0"/>
              <a:t>Hadoop YARN – </a:t>
            </a:r>
            <a:r>
              <a:rPr lang="ru-RU" sz="1400" dirty="0"/>
              <a:t>фреймворк для управления ресурсами кластера и менеджмента задач, в том числе включает фреймворк </a:t>
            </a:r>
            <a:r>
              <a:rPr lang="en-US" sz="1400" dirty="0"/>
              <a:t>MapReduce.</a:t>
            </a:r>
            <a:endParaRPr lang="ru-RU" sz="1400" dirty="0"/>
          </a:p>
          <a:p>
            <a:endParaRPr lang="ru-RU" sz="1400" dirty="0"/>
          </a:p>
          <a:p>
            <a:r>
              <a:rPr lang="en-US" sz="1400" dirty="0"/>
              <a:t>Hive – </a:t>
            </a:r>
            <a:r>
              <a:rPr lang="ru-RU" sz="1400" dirty="0"/>
              <a:t>инструмент для </a:t>
            </a:r>
            <a:r>
              <a:rPr lang="en-US" sz="1400" dirty="0"/>
              <a:t>SQL-like </a:t>
            </a:r>
            <a:r>
              <a:rPr lang="ru-RU" sz="1400" dirty="0"/>
              <a:t>запросов над большими данными (превращает </a:t>
            </a:r>
            <a:r>
              <a:rPr lang="en-US" sz="1400" dirty="0"/>
              <a:t>SQL-</a:t>
            </a:r>
            <a:r>
              <a:rPr lang="ru-RU" sz="1400" dirty="0"/>
              <a:t>запросы в серию </a:t>
            </a:r>
            <a:r>
              <a:rPr lang="en-US" sz="1400" dirty="0"/>
              <a:t>MapReduce </a:t>
            </a:r>
            <a:r>
              <a:rPr lang="ru-RU" sz="1400" dirty="0"/>
              <a:t>задач);</a:t>
            </a:r>
          </a:p>
          <a:p>
            <a:endParaRPr lang="ru-RU" sz="1400" dirty="0"/>
          </a:p>
          <a:p>
            <a:r>
              <a:rPr lang="en-US" sz="1400" dirty="0"/>
              <a:t>Pig – </a:t>
            </a:r>
            <a:r>
              <a:rPr lang="ru-RU" sz="1400" dirty="0"/>
              <a:t>язык программирования для анализа данных на высоком уровне. Одна строчка кода на этом языке может превратиться в последовательность </a:t>
            </a:r>
            <a:r>
              <a:rPr lang="en-US" sz="1400" dirty="0"/>
              <a:t>MapReduce </a:t>
            </a:r>
            <a:r>
              <a:rPr lang="ru-RU" sz="1400" dirty="0"/>
              <a:t>задач;</a:t>
            </a:r>
          </a:p>
          <a:p>
            <a:endParaRPr lang="ru-RU" sz="1400" dirty="0"/>
          </a:p>
          <a:p>
            <a:r>
              <a:rPr lang="en-US" sz="1400" dirty="0" err="1"/>
              <a:t>ZooKeeper</a:t>
            </a:r>
            <a:r>
              <a:rPr lang="en-US" sz="1400" dirty="0"/>
              <a:t> – </a:t>
            </a:r>
            <a:r>
              <a:rPr lang="ru-RU" sz="1400" dirty="0"/>
              <a:t>сервис для распределённого хранения конфигурации и синхронизации изменений этой конфигурации;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3DE1DC-6860-2A4B-A02A-1C33355E3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5750"/>
            <a:ext cx="2692658" cy="807799"/>
          </a:xfrm>
          <a:prstGeom prst="rect">
            <a:avLst/>
          </a:prstGeom>
        </p:spPr>
      </p:pic>
      <p:pic>
        <p:nvPicPr>
          <p:cNvPr id="11" name="Picture 10" descr="Hadoop Nedir? Bileşenlerini Tanımaya Başlayalım 1 (HDFS,MapReduce) | by  Birol EMEKLİ | Devops Türkiye☁️ 🐧 🐳 ☸️ | Medium">
            <a:extLst>
              <a:ext uri="{FF2B5EF4-FFF2-40B4-BE49-F238E27FC236}">
                <a16:creationId xmlns:a16="http://schemas.microsoft.com/office/drawing/2014/main" id="{684B944B-C2F3-DB42-A7C1-DD457BE275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8" t="16334" r="42288" b="68499"/>
          <a:stretch/>
        </p:blipFill>
        <p:spPr bwMode="auto">
          <a:xfrm>
            <a:off x="676569" y="3374893"/>
            <a:ext cx="517600" cy="7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Hadoop Nedir? Bileşenlerini Tanımaya Başlayalım 1 (HDFS,MapReduce) | by  Birol EMEKLİ | Devops Türkiye☁️ 🐧 🐳 ☸️ | Medium">
            <a:extLst>
              <a:ext uri="{FF2B5EF4-FFF2-40B4-BE49-F238E27FC236}">
                <a16:creationId xmlns:a16="http://schemas.microsoft.com/office/drawing/2014/main" id="{672CDCA4-326D-5C41-AA89-9C6DAEA9E6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1" t="15908" r="51837" b="68925"/>
          <a:stretch/>
        </p:blipFill>
        <p:spPr bwMode="auto">
          <a:xfrm>
            <a:off x="1173576" y="2812072"/>
            <a:ext cx="652405" cy="671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Hadoop Nedir? Bileşenlerini Tanımaya Başlayalım 1 (HDFS,MapReduce) | by  Birol EMEKLİ | Devops Türkiye☁️ 🐧 🐳 ☸️ | Medium">
            <a:extLst>
              <a:ext uri="{FF2B5EF4-FFF2-40B4-BE49-F238E27FC236}">
                <a16:creationId xmlns:a16="http://schemas.microsoft.com/office/drawing/2014/main" id="{BAD0EED5-14EF-6243-8589-776EAE7163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" t="31911" r="89520" b="41032"/>
          <a:stretch/>
        </p:blipFill>
        <p:spPr bwMode="auto">
          <a:xfrm>
            <a:off x="1056560" y="3963173"/>
            <a:ext cx="769421" cy="118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9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Framework of Mapreduce in Hadoop. It consists of map as well as reduce... |  Download Scientific Diagram">
            <a:extLst>
              <a:ext uri="{FF2B5EF4-FFF2-40B4-BE49-F238E27FC236}">
                <a16:creationId xmlns:a16="http://schemas.microsoft.com/office/drawing/2014/main" id="{3B881E4A-BDD3-D946-AE1A-389CA4AC4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50" y="1454872"/>
            <a:ext cx="4497476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90D46C-8AC9-7F49-9E46-71F15A4EB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971550"/>
            <a:ext cx="3860800" cy="151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B1FC77-9849-4242-BEFA-CC65724F3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183314"/>
            <a:ext cx="4296750" cy="1007430"/>
          </a:xfrm>
          <a:prstGeom prst="rect">
            <a:avLst/>
          </a:prstGeom>
        </p:spPr>
      </p:pic>
      <p:pic>
        <p:nvPicPr>
          <p:cNvPr id="9" name="Picture 8" descr="Hadoop Nedir? Bileşenlerini Tanımaya Başlayalım 1 (HDFS,MapReduce) | by  Birol EMEKLİ | Devops Türkiye☁️ 🐧 🐳 ☸️ | Medium">
            <a:extLst>
              <a:ext uri="{FF2B5EF4-FFF2-40B4-BE49-F238E27FC236}">
                <a16:creationId xmlns:a16="http://schemas.microsoft.com/office/drawing/2014/main" id="{1322A334-F9B8-2540-A372-39BAB00BBE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47" t="33640" r="45359" b="53523"/>
          <a:stretch/>
        </p:blipFill>
        <p:spPr bwMode="auto">
          <a:xfrm>
            <a:off x="519984" y="361949"/>
            <a:ext cx="1994616" cy="62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424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F741A-6E1E-D141-B792-11CB31BD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</a:t>
            </a:r>
            <a:r>
              <a:rPr lang="ru-RU" dirty="0"/>
              <a:t>пример: </a:t>
            </a:r>
            <a:r>
              <a:rPr lang="en-US" dirty="0" err="1"/>
              <a:t>WordCount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537DC-87F7-5947-97FD-7357D1C2E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18" y="933450"/>
            <a:ext cx="8800363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ML </a:t>
            </a:r>
            <a:r>
              <a:rPr lang="ru-RU" dirty="0"/>
              <a:t>Компоненты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3A304-EFF9-C443-82B1-DEC28AFFC567}"/>
              </a:ext>
            </a:extLst>
          </p:cNvPr>
          <p:cNvSpPr txBox="1"/>
          <p:nvPr/>
        </p:nvSpPr>
        <p:spPr>
          <a:xfrm>
            <a:off x="3048000" y="1352550"/>
            <a:ext cx="5048433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000" dirty="0"/>
              <a:t>Apache Mahout - </a:t>
            </a:r>
            <a:r>
              <a:rPr lang="en-GB" sz="2000" dirty="0">
                <a:hlinkClick r:id="rId3"/>
              </a:rPr>
              <a:t>https://mahout.apache.org</a:t>
            </a:r>
            <a:endParaRPr lang="ru-RU" sz="2000" dirty="0"/>
          </a:p>
          <a:p>
            <a:pPr>
              <a:spcAft>
                <a:spcPts val="1200"/>
              </a:spcAft>
            </a:pPr>
            <a:r>
              <a:rPr lang="ru-RU" sz="1600" dirty="0"/>
              <a:t>(</a:t>
            </a:r>
            <a:r>
              <a:rPr lang="en-US" sz="1600" dirty="0"/>
              <a:t>linear algebra and Scala DSL)</a:t>
            </a:r>
            <a:r>
              <a:rPr lang="en-GB" sz="1600" dirty="0"/>
              <a:t> </a:t>
            </a:r>
          </a:p>
          <a:p>
            <a:r>
              <a:rPr lang="en-GB" sz="2000" dirty="0"/>
              <a:t>Apache Spark - </a:t>
            </a:r>
            <a:r>
              <a:rPr lang="en-GB" sz="2000" dirty="0">
                <a:hlinkClick r:id="rId4"/>
              </a:rPr>
              <a:t>https://spark.apache.org</a:t>
            </a:r>
            <a:endParaRPr lang="ru-RU" sz="2000" dirty="0"/>
          </a:p>
          <a:p>
            <a:pPr>
              <a:spcAft>
                <a:spcPts val="1200"/>
              </a:spcAft>
            </a:pPr>
            <a:r>
              <a:rPr lang="ru-RU" sz="1600" dirty="0"/>
              <a:t>(пакетная обработка)</a:t>
            </a:r>
            <a:r>
              <a:rPr lang="en-GB" sz="1600" dirty="0"/>
              <a:t> </a:t>
            </a:r>
          </a:p>
          <a:p>
            <a:r>
              <a:rPr lang="en-GB" sz="2000" dirty="0"/>
              <a:t>Apache </a:t>
            </a:r>
            <a:r>
              <a:rPr lang="en-GB" sz="2000" dirty="0" err="1"/>
              <a:t>Flink</a:t>
            </a:r>
            <a:r>
              <a:rPr lang="en-GB" sz="2000" dirty="0"/>
              <a:t> - </a:t>
            </a:r>
            <a:r>
              <a:rPr lang="en-GB" sz="2000" dirty="0">
                <a:hlinkClick r:id="rId5"/>
              </a:rPr>
              <a:t>https ://flink.apache.org</a:t>
            </a:r>
            <a:r>
              <a:rPr lang="en-GB" sz="2000" dirty="0"/>
              <a:t> </a:t>
            </a:r>
          </a:p>
          <a:p>
            <a:pPr>
              <a:spcAft>
                <a:spcPts val="1200"/>
              </a:spcAft>
            </a:pPr>
            <a:r>
              <a:rPr lang="en-GB" sz="1600" dirty="0"/>
              <a:t>(</a:t>
            </a:r>
            <a:r>
              <a:rPr lang="ru-RU" sz="1600" dirty="0"/>
              <a:t>потоковая обработка)</a:t>
            </a:r>
            <a:endParaRPr lang="en-GB" sz="1600" dirty="0"/>
          </a:p>
          <a:p>
            <a:r>
              <a:rPr lang="en-GB" sz="2000" dirty="0"/>
              <a:t>Apache </a:t>
            </a:r>
            <a:r>
              <a:rPr lang="en-GB" sz="2000" dirty="0" err="1"/>
              <a:t>Madlib</a:t>
            </a:r>
            <a:r>
              <a:rPr lang="en-GB" sz="2000" dirty="0"/>
              <a:t> - </a:t>
            </a:r>
            <a:r>
              <a:rPr lang="en-GB" sz="2000" dirty="0">
                <a:hlinkClick r:id="rId6"/>
              </a:rPr>
              <a:t>https://madlib.apache.org</a:t>
            </a:r>
            <a:endParaRPr lang="ru-RU" sz="2000" dirty="0"/>
          </a:p>
          <a:p>
            <a:pPr>
              <a:spcAft>
                <a:spcPts val="1200"/>
              </a:spcAft>
            </a:pPr>
            <a:r>
              <a:rPr lang="ru-RU" sz="1600" dirty="0"/>
              <a:t>(работа поверх </a:t>
            </a:r>
            <a:r>
              <a:rPr lang="en-GB" sz="1600" dirty="0"/>
              <a:t>SQL) </a:t>
            </a:r>
            <a:endParaRPr lang="ru-RU" sz="1600" dirty="0"/>
          </a:p>
          <a:p>
            <a:r>
              <a:rPr lang="en-GB" sz="2000" dirty="0"/>
              <a:t>Apache Hive – </a:t>
            </a:r>
            <a:r>
              <a:rPr lang="en-GB" sz="2000" dirty="0">
                <a:hlinkClick r:id="rId7"/>
              </a:rPr>
              <a:t>https://hive.apache.org</a:t>
            </a:r>
            <a:r>
              <a:rPr lang="en-GB" sz="2000" dirty="0"/>
              <a:t> </a:t>
            </a:r>
            <a:endParaRPr lang="ru-RU" sz="2000" dirty="0"/>
          </a:p>
          <a:p>
            <a:pPr>
              <a:spcAft>
                <a:spcPts val="1200"/>
              </a:spcAft>
            </a:pPr>
            <a:r>
              <a:rPr lang="ru-RU" sz="1600" dirty="0"/>
              <a:t>(работа </a:t>
            </a:r>
            <a:r>
              <a:rPr lang="en-US" sz="1600" dirty="0" err="1"/>
              <a:t>mapreduce</a:t>
            </a:r>
            <a:r>
              <a:rPr lang="ru-RU" sz="1600" dirty="0"/>
              <a:t> поверх </a:t>
            </a:r>
            <a:r>
              <a:rPr lang="en-GB" sz="1600" dirty="0"/>
              <a:t>SQL) </a:t>
            </a:r>
            <a:endParaRPr lang="ru-RU" sz="1600" dirty="0"/>
          </a:p>
        </p:txBody>
      </p:sp>
      <p:pic>
        <p:nvPicPr>
          <p:cNvPr id="11266" name="Picture 2" descr="What is Mahout - YouTube">
            <a:extLst>
              <a:ext uri="{FF2B5EF4-FFF2-40B4-BE49-F238E27FC236}">
                <a16:creationId xmlns:a16="http://schemas.microsoft.com/office/drawing/2014/main" id="{830D0E17-46B6-714A-878A-5FA8DF2E58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1864"/>
          <a:stretch/>
        </p:blipFill>
        <p:spPr bwMode="auto">
          <a:xfrm>
            <a:off x="381000" y="1290900"/>
            <a:ext cx="1537025" cy="67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Apache Spark - Wikipedia">
            <a:extLst>
              <a:ext uri="{FF2B5EF4-FFF2-40B4-BE49-F238E27FC236}">
                <a16:creationId xmlns:a16="http://schemas.microsoft.com/office/drawing/2014/main" id="{899E7B35-8F89-3443-91B2-F26837CEF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76450"/>
            <a:ext cx="953911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Stream-Processing mit Apache Flink">
            <a:extLst>
              <a:ext uri="{FF2B5EF4-FFF2-40B4-BE49-F238E27FC236}">
                <a16:creationId xmlns:a16="http://schemas.microsoft.com/office/drawing/2014/main" id="{46004F4F-B049-1446-AF92-DB3D1CF6E4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4" r="18605"/>
          <a:stretch/>
        </p:blipFill>
        <p:spPr bwMode="auto">
          <a:xfrm>
            <a:off x="581389" y="2721541"/>
            <a:ext cx="1267749" cy="67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Apache MADlib graduates to Top-Level Project - SD Times">
            <a:extLst>
              <a:ext uri="{FF2B5EF4-FFF2-40B4-BE49-F238E27FC236}">
                <a16:creationId xmlns:a16="http://schemas.microsoft.com/office/drawing/2014/main" id="{435AA1AC-0774-E841-8747-72CF29E932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48" b="21917"/>
          <a:stretch/>
        </p:blipFill>
        <p:spPr bwMode="auto">
          <a:xfrm>
            <a:off x="1639168" y="3424324"/>
            <a:ext cx="1199987" cy="69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Apache Hive. Apache Hive, büyük veri analitiği için… | by Betül Uluocak |  Medium">
            <a:extLst>
              <a:ext uri="{FF2B5EF4-FFF2-40B4-BE49-F238E27FC236}">
                <a16:creationId xmlns:a16="http://schemas.microsoft.com/office/drawing/2014/main" id="{C753F003-6A6B-744E-A3A3-8D7A72958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50" y="4146260"/>
            <a:ext cx="1537025" cy="60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</a:t>
            </a:r>
            <a:r>
              <a:rPr lang="ru-RU" dirty="0"/>
              <a:t>Компоненты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3A304-EFF9-C443-82B1-DEC28AFFC567}"/>
              </a:ext>
            </a:extLst>
          </p:cNvPr>
          <p:cNvSpPr txBox="1"/>
          <p:nvPr/>
        </p:nvSpPr>
        <p:spPr>
          <a:xfrm>
            <a:off x="3048000" y="1352550"/>
            <a:ext cx="597315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000"/>
              <a:t>Apache </a:t>
            </a:r>
            <a:r>
              <a:rPr lang="en-US" sz="2000" dirty="0"/>
              <a:t>HBase</a:t>
            </a:r>
            <a:r>
              <a:rPr lang="en-RU" sz="2000"/>
              <a:t> – </a:t>
            </a:r>
            <a:r>
              <a:rPr lang="en-GB" sz="2000" dirty="0">
                <a:hlinkClick r:id="rId3"/>
              </a:rPr>
              <a:t>https://hbase.apache.org</a:t>
            </a:r>
            <a:r>
              <a:rPr lang="en-GB" sz="2000" dirty="0"/>
              <a:t> </a:t>
            </a:r>
            <a:endParaRPr lang="ru-RU" sz="2000" dirty="0"/>
          </a:p>
          <a:p>
            <a:pPr>
              <a:spcAft>
                <a:spcPts val="1200"/>
              </a:spcAft>
            </a:pPr>
            <a:r>
              <a:rPr lang="ru-RU" sz="1600" dirty="0"/>
              <a:t>(колоночная БД</a:t>
            </a:r>
            <a:r>
              <a:rPr lang="en-US" sz="1600" dirty="0"/>
              <a:t>, </a:t>
            </a:r>
            <a:r>
              <a:rPr lang="ru-RU" sz="1600" dirty="0"/>
              <a:t>попытка объединения удобства пакетной обработки и удобства обновления и произвольного доступа</a:t>
            </a:r>
            <a:r>
              <a:rPr lang="en-US" sz="1600" dirty="0"/>
              <a:t>)</a:t>
            </a:r>
            <a:r>
              <a:rPr lang="en-GB" sz="1600" dirty="0"/>
              <a:t> </a:t>
            </a:r>
          </a:p>
          <a:p>
            <a:pPr>
              <a:spcAft>
                <a:spcPts val="1200"/>
              </a:spcAft>
            </a:pPr>
            <a:endParaRPr lang="en-GB" sz="1600" dirty="0"/>
          </a:p>
          <a:p>
            <a:r>
              <a:rPr lang="en-GB" sz="2000" dirty="0"/>
              <a:t>Apache Cassandra – </a:t>
            </a:r>
            <a:r>
              <a:rPr lang="en-GB" sz="2000" dirty="0">
                <a:hlinkClick r:id="rId4"/>
              </a:rPr>
              <a:t>https://spark.apache.org</a:t>
            </a:r>
            <a:endParaRPr lang="ru-RU" sz="2000" dirty="0"/>
          </a:p>
          <a:p>
            <a:pPr>
              <a:spcAft>
                <a:spcPts val="1200"/>
              </a:spcAft>
            </a:pPr>
            <a:r>
              <a:rPr lang="ru-RU" sz="1600" dirty="0"/>
              <a:t>(гибридная </a:t>
            </a:r>
            <a:r>
              <a:rPr lang="en-US" sz="1600" dirty="0"/>
              <a:t>NoSQL</a:t>
            </a:r>
            <a:r>
              <a:rPr lang="ru-RU" sz="1600" dirty="0"/>
              <a:t> СУБД, сочетает модель столбцов (</a:t>
            </a:r>
            <a:r>
              <a:rPr lang="en-US" sz="1600" dirty="0" err="1"/>
              <a:t>ColumnFamily</a:t>
            </a:r>
            <a:r>
              <a:rPr lang="en-US" sz="1600" dirty="0"/>
              <a:t>) </a:t>
            </a:r>
            <a:r>
              <a:rPr lang="ru-RU" sz="1600" dirty="0"/>
              <a:t>с концепцией </a:t>
            </a:r>
            <a:r>
              <a:rPr lang="en-US" sz="1600" dirty="0"/>
              <a:t>key-value (</a:t>
            </a:r>
            <a:r>
              <a:rPr lang="ru-RU" sz="1600" dirty="0"/>
              <a:t>ключ-значение))</a:t>
            </a:r>
            <a:r>
              <a:rPr lang="en-GB" sz="1600" dirty="0"/>
              <a:t> </a:t>
            </a:r>
          </a:p>
          <a:p>
            <a:pPr>
              <a:spcAft>
                <a:spcPts val="1200"/>
              </a:spcAft>
            </a:pPr>
            <a:endParaRPr lang="en-GB" sz="1600" dirty="0"/>
          </a:p>
          <a:p>
            <a:r>
              <a:rPr lang="en-GB" sz="2000" dirty="0"/>
              <a:t>Apache Kafka – </a:t>
            </a:r>
            <a:r>
              <a:rPr lang="en-GB" sz="2000" dirty="0">
                <a:hlinkClick r:id="rId5"/>
              </a:rPr>
              <a:t>https://kafka.apache.org</a:t>
            </a:r>
            <a:r>
              <a:rPr lang="en-GB" sz="2000" dirty="0"/>
              <a:t>  </a:t>
            </a:r>
          </a:p>
          <a:p>
            <a:pPr>
              <a:spcAft>
                <a:spcPts val="1200"/>
              </a:spcAft>
            </a:pPr>
            <a:r>
              <a:rPr lang="en-GB" sz="1600" dirty="0"/>
              <a:t>(</a:t>
            </a:r>
            <a:r>
              <a:rPr lang="ru-RU" sz="1600" dirty="0"/>
              <a:t>распределённый брокер сообщений)</a:t>
            </a:r>
            <a:endParaRPr lang="en-GB" sz="1600" dirty="0"/>
          </a:p>
        </p:txBody>
      </p:sp>
      <p:pic>
        <p:nvPicPr>
          <p:cNvPr id="13314" name="Picture 2" descr="Apache HBase">
            <a:extLst>
              <a:ext uri="{FF2B5EF4-FFF2-40B4-BE49-F238E27FC236}">
                <a16:creationId xmlns:a16="http://schemas.microsoft.com/office/drawing/2014/main" id="{4AB726E6-94B3-0046-A43F-2CC620C9E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52550"/>
            <a:ext cx="2374900" cy="60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Apache Cassandra - NoSQL Database">
            <a:extLst>
              <a:ext uri="{FF2B5EF4-FFF2-40B4-BE49-F238E27FC236}">
                <a16:creationId xmlns:a16="http://schemas.microsoft.com/office/drawing/2014/main" id="{38A60AD1-43A5-D14B-B4BE-3EFC46BB8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47950"/>
            <a:ext cx="2300046" cy="65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Kafka Streams: Guide to Apache Kafka's Core - Cuelogic An LTI Company">
            <a:extLst>
              <a:ext uri="{FF2B5EF4-FFF2-40B4-BE49-F238E27FC236}">
                <a16:creationId xmlns:a16="http://schemas.microsoft.com/office/drawing/2014/main" id="{6CC12FB3-89FF-0F4C-BBCD-AAC7627EB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994149"/>
            <a:ext cx="2133600" cy="63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474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4900" dirty="0"/>
              <a:t>Spark &amp; </a:t>
            </a:r>
            <a:r>
              <a:rPr lang="en-US" sz="4900" dirty="0" err="1"/>
              <a:t>SparkML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829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Что есть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Spark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59AF54-A370-5048-BA1F-791838DF1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49" y="1426624"/>
            <a:ext cx="6116185" cy="303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84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Работа со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 Spark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0EE49-C521-D34E-9204-5F57F8758D91}"/>
              </a:ext>
            </a:extLst>
          </p:cNvPr>
          <p:cNvSpPr txBox="1"/>
          <p:nvPr/>
        </p:nvSpPr>
        <p:spPr>
          <a:xfrm>
            <a:off x="212291" y="1063898"/>
            <a:ext cx="8731873" cy="3884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</a:t>
            </a:r>
            <a:r>
              <a:rPr lang="en-US" sz="1800" dirty="0" err="1"/>
              <a:t>PySpark</a:t>
            </a:r>
            <a:r>
              <a:rPr lang="en-US" sz="1800" dirty="0"/>
              <a:t> –</a:t>
            </a:r>
            <a:r>
              <a:rPr lang="ru-RU" sz="1800" dirty="0"/>
              <a:t> </a:t>
            </a:r>
            <a:r>
              <a:rPr lang="en-US" sz="1800" dirty="0">
                <a:hlinkClick r:id="rId3"/>
              </a:rPr>
              <a:t>https://spark.apache.org/docs/latest/api/python/index.html</a:t>
            </a:r>
            <a:r>
              <a:rPr lang="ru-RU" sz="1800" dirty="0"/>
              <a:t> 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Apache </a:t>
            </a:r>
            <a:r>
              <a:rPr lang="en-US" sz="1800" dirty="0" err="1"/>
              <a:t>Zepellin</a:t>
            </a:r>
            <a:r>
              <a:rPr lang="en-US" sz="1800" dirty="0"/>
              <a:t> </a:t>
            </a:r>
            <a:r>
              <a:rPr lang="en-US" sz="1800" dirty="0">
                <a:hlinkClick r:id="rId4"/>
              </a:rPr>
              <a:t>http://zeppelin.apache.org/</a:t>
            </a:r>
            <a:r>
              <a:rPr lang="en-US" sz="1800" dirty="0"/>
              <a:t> </a:t>
            </a:r>
            <a:endParaRPr lang="ru-RU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JB Big Data </a:t>
            </a:r>
            <a:r>
              <a:rPr lang="en-US" sz="1800" dirty="0">
                <a:hlinkClick r:id="rId5"/>
              </a:rPr>
              <a:t>https://plugins.jetbrains.com/plugin/12494-big-data-tools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 	Jupyter </a:t>
            </a:r>
            <a:r>
              <a:rPr lang="en-US" sz="1800" dirty="0">
                <a:hlinkClick r:id="rId6"/>
              </a:rPr>
              <a:t>https://jupyter.org/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JB </a:t>
            </a:r>
            <a:r>
              <a:rPr lang="en-US" sz="1800" dirty="0" err="1"/>
              <a:t>DataSpell</a:t>
            </a:r>
            <a:r>
              <a:rPr lang="en-US" sz="1800" dirty="0"/>
              <a:t> </a:t>
            </a:r>
            <a:r>
              <a:rPr lang="en-US" sz="1800" dirty="0">
                <a:hlinkClick r:id="rId7"/>
              </a:rPr>
              <a:t>https://www.jetbrains.com/ru-ru/dataspell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  	Almond </a:t>
            </a:r>
            <a:r>
              <a:rPr lang="en-US" sz="1800" dirty="0">
                <a:hlinkClick r:id="rId8"/>
              </a:rPr>
              <a:t>https://almond.sh/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  	</a:t>
            </a:r>
            <a:r>
              <a:rPr lang="en-US" sz="1800" dirty="0" err="1"/>
              <a:t>DataBricks</a:t>
            </a:r>
            <a:r>
              <a:rPr lang="en-US" sz="1800" dirty="0"/>
              <a:t> </a:t>
            </a:r>
            <a:r>
              <a:rPr lang="en-US" sz="1800" dirty="0">
                <a:hlinkClick r:id="rId9"/>
              </a:rPr>
              <a:t>https://community.cloud.databricks.com/</a:t>
            </a:r>
            <a:r>
              <a:rPr lang="en-US" sz="1800" dirty="0"/>
              <a:t> </a:t>
            </a:r>
            <a:endParaRPr lang="en-RU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A2B35F-8362-784B-822F-70721D53D0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550" y="4508061"/>
            <a:ext cx="831850" cy="436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31E05F-FE3D-EF4F-ACB5-095150811A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618" y="3962064"/>
            <a:ext cx="450850" cy="5425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8D6FD4-3056-2144-B833-ACCD0B7650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050" y="3465199"/>
            <a:ext cx="450850" cy="450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0B2B2F-537E-8E48-8992-0C156278AB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1050" y="2795345"/>
            <a:ext cx="468387" cy="5425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D94697-D13C-714F-AFED-33C1107DAC0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1050" y="2299314"/>
            <a:ext cx="450850" cy="4508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8A1857-6BB6-5245-9146-ECACEFAEA50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8304" y="1793211"/>
            <a:ext cx="601133" cy="4508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82D046E-FD05-AD40-B296-AC2D4FD2BF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721" y="1237827"/>
            <a:ext cx="708297" cy="38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37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1AC5DF-9059-3949-BE11-C9B97F75C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464" y="1231834"/>
            <a:ext cx="6449245" cy="31206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70EE49-C521-D34E-9204-5F57F8758D91}"/>
              </a:ext>
            </a:extLst>
          </p:cNvPr>
          <p:cNvSpPr txBox="1"/>
          <p:nvPr/>
        </p:nvSpPr>
        <p:spPr>
          <a:xfrm>
            <a:off x="212291" y="1063898"/>
            <a:ext cx="3151825" cy="1287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Ввод данных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Манипуляция с данными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Вывод результата</a:t>
            </a:r>
            <a:endParaRPr lang="en-RU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E6E16-E0F5-864C-A38B-61CDEB14690C}"/>
              </a:ext>
            </a:extLst>
          </p:cNvPr>
          <p:cNvSpPr txBox="1"/>
          <p:nvPr/>
        </p:nvSpPr>
        <p:spPr>
          <a:xfrm>
            <a:off x="212291" y="3542334"/>
            <a:ext cx="29430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каждом шаге создается новый </a:t>
            </a:r>
            <a:r>
              <a:rPr lang="en-US" dirty="0"/>
              <a:t>dataset </a:t>
            </a:r>
            <a:r>
              <a:rPr lang="ru-RU" dirty="0"/>
              <a:t>с результатами операции</a:t>
            </a:r>
            <a:endParaRPr lang="en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D05586-E476-5B40-AC62-1F90B92642E9}"/>
              </a:ext>
            </a:extLst>
          </p:cNvPr>
          <p:cNvSpPr txBox="1"/>
          <p:nvPr/>
        </p:nvSpPr>
        <p:spPr>
          <a:xfrm>
            <a:off x="3320194" y="879232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dirty="0">
                <a:effectLst/>
                <a:latin typeface="LiberationSans"/>
              </a:rPr>
              <a:t>Pandas API </a:t>
            </a:r>
            <a:r>
              <a:rPr lang="en-GB" sz="1800" dirty="0">
                <a:effectLst/>
                <a:latin typeface="LiberationSans"/>
              </a:rPr>
              <a:t>— </a:t>
            </a:r>
            <a:r>
              <a:rPr lang="ru-RU" sz="1800" dirty="0" err="1">
                <a:effectLst/>
                <a:latin typeface="LiberationSans"/>
              </a:rPr>
              <a:t>новыи</a:t>
            </a:r>
            <a:r>
              <a:rPr lang="ru-RU" sz="1800" dirty="0">
                <a:effectLst/>
                <a:latin typeface="LiberationSans"/>
              </a:rPr>
              <a:t>̆ (с 3.2.0) </a:t>
            </a:r>
            <a:r>
              <a:rPr lang="en-GB" sz="1800" dirty="0">
                <a:effectLst/>
                <a:latin typeface="LiberationSans"/>
              </a:rPr>
              <a:t>API </a:t>
            </a:r>
            <a:r>
              <a:rPr lang="ru-RU" sz="1800" dirty="0">
                <a:effectLst/>
                <a:latin typeface="LiberationSans"/>
              </a:rPr>
              <a:t>для </a:t>
            </a:r>
            <a:r>
              <a:rPr lang="en-GB" sz="1800" dirty="0" err="1">
                <a:effectLst/>
                <a:latin typeface="LiberationSans"/>
              </a:rPr>
              <a:t>PySpark</a:t>
            </a:r>
            <a:r>
              <a:rPr lang="en-GB" sz="1800" dirty="0">
                <a:effectLst/>
                <a:latin typeface="LiberationSans"/>
              </a:rPr>
              <a:t> </a:t>
            </a:r>
            <a:endParaRPr lang="en-GB" dirty="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37E29D-E75C-7546-9FC2-340D7FEDF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3" y="37940"/>
            <a:ext cx="2840884" cy="11671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564CBF-2F30-3F4A-B554-949B92CFF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534" y="194030"/>
            <a:ext cx="1393529" cy="857556"/>
          </a:xfrm>
          <a:prstGeom prst="rect">
            <a:avLst/>
          </a:prstGeom>
          <a:ln>
            <a:noFill/>
          </a:ln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4214813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056A6AC-EA8A-654E-A54A-5494EB50B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3" y="37940"/>
            <a:ext cx="2840884" cy="11671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2CCEDA-9269-5C45-B8C7-3D6CC4027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87" y="988086"/>
            <a:ext cx="1505579" cy="39560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D6F991-BF5E-F44C-B791-111746DE4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8535" y="1909433"/>
            <a:ext cx="5808147" cy="28030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67FD24-B310-7843-9F60-D997C13C337F}"/>
              </a:ext>
            </a:extLst>
          </p:cNvPr>
          <p:cNvSpPr txBox="1"/>
          <p:nvPr/>
        </p:nvSpPr>
        <p:spPr>
          <a:xfrm>
            <a:off x="3191317" y="1205070"/>
            <a:ext cx="3627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err="1">
                <a:effectLst/>
                <a:latin typeface="LiberationSans"/>
              </a:rPr>
              <a:t>spark.ml</a:t>
            </a:r>
            <a:r>
              <a:rPr lang="en-GB" sz="2000" dirty="0">
                <a:effectLst/>
                <a:latin typeface="LiberationSans"/>
              </a:rPr>
              <a:t> – </a:t>
            </a:r>
            <a:r>
              <a:rPr lang="en-GB" sz="2000" dirty="0" err="1">
                <a:effectLst/>
                <a:latin typeface="LiberationSans"/>
              </a:rPr>
              <a:t>DataFrame</a:t>
            </a:r>
            <a:r>
              <a:rPr lang="en-GB" sz="2000" dirty="0">
                <a:effectLst/>
                <a:latin typeface="LiberationSans"/>
              </a:rPr>
              <a:t>-based API </a:t>
            </a:r>
            <a:endParaRPr lang="en-GB" sz="1600" dirty="0">
              <a:effectLst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3F7BE6-9492-DA45-9FB2-E866A9384E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4534" y="194030"/>
            <a:ext cx="1393529" cy="857556"/>
          </a:xfrm>
          <a:prstGeom prst="rect">
            <a:avLst/>
          </a:prstGeom>
          <a:ln>
            <a:noFill/>
          </a:ln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3018987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4900" dirty="0"/>
              <a:t>ClickHouse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2162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MPP </a:t>
            </a:r>
            <a:r>
              <a:rPr lang="en-US" dirty="0" err="1"/>
              <a:t>arhitecture</a:t>
            </a:r>
            <a:endParaRPr lang="en-US" dirty="0"/>
          </a:p>
        </p:txBody>
      </p:sp>
      <p:pic>
        <p:nvPicPr>
          <p:cNvPr id="1026" name="Picture 2" descr="Database Architectures Compared - DZone">
            <a:extLst>
              <a:ext uri="{FF2B5EF4-FFF2-40B4-BE49-F238E27FC236}">
                <a16:creationId xmlns:a16="http://schemas.microsoft.com/office/drawing/2014/main" id="{0C2C7088-12EA-AF4C-92AF-E827538D4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755" y="1206229"/>
            <a:ext cx="4003097" cy="323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743058-11E7-9D40-9AB5-6DB7F9A0AB2B}"/>
              </a:ext>
            </a:extLst>
          </p:cNvPr>
          <p:cNvSpPr txBox="1"/>
          <p:nvPr/>
        </p:nvSpPr>
        <p:spPr>
          <a:xfrm>
            <a:off x="500550" y="1536536"/>
            <a:ext cx="40030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MPP – Massive Parallel Processing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Выделение необходимой мощности нескольким параллельным узлам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DB MPP – </a:t>
            </a:r>
            <a:r>
              <a:rPr lang="ru-RU" sz="1600" dirty="0"/>
              <a:t>БД оптимизированная для параллельной обработки множества операций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Адаптирована для </a:t>
            </a:r>
            <a:r>
              <a:rPr lang="en-US" sz="1600" dirty="0"/>
              <a:t>OLAP </a:t>
            </a:r>
            <a:r>
              <a:rPr lang="ru-RU" sz="1600" dirty="0"/>
              <a:t>задач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Хорошо масштабируется горизонтально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33576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ClickHouse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43058-11E7-9D40-9AB5-6DB7F9A0AB2B}"/>
              </a:ext>
            </a:extLst>
          </p:cNvPr>
          <p:cNvSpPr txBox="1"/>
          <p:nvPr/>
        </p:nvSpPr>
        <p:spPr>
          <a:xfrm>
            <a:off x="500550" y="1536536"/>
            <a:ext cx="516743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Column Oriented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MPP, shared nothing, distributed</a:t>
            </a:r>
            <a:endParaRPr lang="ru-RU" sz="16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Аналитическая СУБД, адаптированная для аналитических запросов на основе постоянно пополняемых данных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Можно развернуть локально</a:t>
            </a:r>
            <a:r>
              <a:rPr lang="en-US" sz="1600" dirty="0"/>
              <a:t>, Docker, K8s</a:t>
            </a:r>
            <a:endParaRPr lang="ru-RU" sz="16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Open source (Apache 2.0)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FDE7AC-2D8D-F24B-B26D-B8DB23CE2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790" y="1342781"/>
            <a:ext cx="4114800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29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ClickHouse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43058-11E7-9D40-9AB5-6DB7F9A0AB2B}"/>
              </a:ext>
            </a:extLst>
          </p:cNvPr>
          <p:cNvSpPr txBox="1"/>
          <p:nvPr/>
        </p:nvSpPr>
        <p:spPr>
          <a:xfrm>
            <a:off x="500550" y="1440276"/>
            <a:ext cx="516743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Переваривает огромные объемы без дополнительной настройки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Эффективная компрессия данных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Репликация и </a:t>
            </a:r>
            <a:r>
              <a:rPr lang="ru-RU" sz="1600" dirty="0" err="1"/>
              <a:t>шардирование</a:t>
            </a:r>
            <a:endParaRPr lang="ru-RU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Множество встроенных типов данных, включая </a:t>
            </a:r>
            <a:r>
              <a:rPr lang="ru-RU" sz="1600" dirty="0" err="1"/>
              <a:t>геоданные</a:t>
            </a:r>
            <a:endParaRPr lang="ru-RU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Интеграция с </a:t>
            </a:r>
            <a:r>
              <a:rPr lang="en-US" sz="1600" dirty="0"/>
              <a:t>SQL </a:t>
            </a:r>
            <a:r>
              <a:rPr lang="ru-RU" sz="1600" dirty="0"/>
              <a:t>решениями </a:t>
            </a:r>
            <a:br>
              <a:rPr lang="en-US" sz="1600" dirty="0"/>
            </a:br>
            <a:r>
              <a:rPr lang="ru-RU" sz="1600" dirty="0"/>
              <a:t>(</a:t>
            </a:r>
            <a:r>
              <a:rPr lang="en-US" sz="1600" dirty="0"/>
              <a:t>PostgreSQL, MySQL, RabbitMQ, Kafka)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b="1" dirty="0"/>
              <a:t>Собственный </a:t>
            </a:r>
            <a:r>
              <a:rPr lang="en-US" sz="1600" b="1" dirty="0"/>
              <a:t>SQL </a:t>
            </a:r>
            <a:r>
              <a:rPr lang="ru-RU" sz="1600" b="1" dirty="0"/>
              <a:t>диалект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b="1" dirty="0"/>
              <a:t>Нужно быть осторожным с </a:t>
            </a:r>
            <a:r>
              <a:rPr lang="en-US" sz="1600" b="1" dirty="0"/>
              <a:t>JOIN</a:t>
            </a:r>
            <a:endParaRPr lang="ru-RU" sz="1600" b="1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b="1" dirty="0"/>
              <a:t>Не любит большого количества маленьких вставок</a:t>
            </a:r>
            <a:endParaRPr lang="en-US" sz="1600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FDE7AC-2D8D-F24B-B26D-B8DB23CE2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790" y="1342781"/>
            <a:ext cx="4114800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5753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ClickHouse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650A40-6CDB-8346-BB2E-126FBED8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750" y="993032"/>
            <a:ext cx="4597400" cy="3390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F6D5C4-330A-374D-9773-0B53209209B6}"/>
              </a:ext>
            </a:extLst>
          </p:cNvPr>
          <p:cNvSpPr txBox="1"/>
          <p:nvPr/>
        </p:nvSpPr>
        <p:spPr>
          <a:xfrm>
            <a:off x="500550" y="993032"/>
            <a:ext cx="35019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u="sng" dirty="0"/>
              <a:t>Развернуть локально в </a:t>
            </a:r>
            <a:r>
              <a:rPr lang="en-US" sz="1400" u="sng" dirty="0"/>
              <a:t>Docker </a:t>
            </a:r>
            <a:r>
              <a:rPr lang="ru-RU" sz="1400" u="sng" dirty="0"/>
              <a:t>образе</a:t>
            </a:r>
          </a:p>
          <a:p>
            <a:endParaRPr lang="ru-RU" sz="1400" u="sng" dirty="0"/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compose -f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-docker-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compose.yml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up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u="sng" dirty="0"/>
              <a:t>Развернуть в </a:t>
            </a:r>
            <a:r>
              <a:rPr lang="en-US" sz="1400" u="sng" dirty="0"/>
              <a:t>K8s </a:t>
            </a:r>
            <a:r>
              <a:rPr lang="ru-RU" sz="1400" u="sng" dirty="0"/>
              <a:t>кластере: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helm repo add </a:t>
            </a:r>
            <a:r>
              <a:rPr lang="en-US" sz="1400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clickhouse</a:t>
            </a:r>
            <a:r>
              <a:rPr lang="en-US" sz="1400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-operator https://</a:t>
            </a:r>
            <a:r>
              <a:rPr lang="en-US" sz="1400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docs.altinity.com</a:t>
            </a:r>
            <a:r>
              <a:rPr lang="en-US" sz="1400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clickhouse</a:t>
            </a:r>
            <a:r>
              <a:rPr lang="en-US" sz="1400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-operator/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helm install </a:t>
            </a:r>
            <a:r>
              <a:rPr lang="en-US" sz="1400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clickhouse</a:t>
            </a:r>
            <a:r>
              <a:rPr lang="en-US" sz="1400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-operator </a:t>
            </a:r>
            <a:r>
              <a:rPr lang="en-US" sz="1400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clickhouse</a:t>
            </a:r>
            <a:r>
              <a:rPr lang="en-US" sz="1400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-operator/</a:t>
            </a:r>
            <a:r>
              <a:rPr lang="en-US" sz="1400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altinity</a:t>
            </a:r>
            <a:r>
              <a:rPr lang="en-US" sz="1400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400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clickhouse</a:t>
            </a:r>
            <a:r>
              <a:rPr lang="en-US" sz="1400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-operator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129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ClickHouse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9BA91C-5399-D742-8F6C-C362D2379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668564"/>
            <a:ext cx="74549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652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4900" dirty="0"/>
              <a:t>S3 – </a:t>
            </a:r>
            <a:br>
              <a:rPr lang="en-US" sz="4900" dirty="0"/>
            </a:br>
            <a:r>
              <a:rPr lang="en-US" sz="4900" dirty="0"/>
              <a:t>Simple Storage Service 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Объектное хранилище</a:t>
            </a:r>
            <a:endParaRPr lang="en-US" dirty="0"/>
          </a:p>
        </p:txBody>
      </p:sp>
      <p:sp>
        <p:nvSpPr>
          <p:cNvPr id="8" name="Google Shape;189;p18">
            <a:extLst>
              <a:ext uri="{FF2B5EF4-FFF2-40B4-BE49-F238E27FC236}">
                <a16:creationId xmlns:a16="http://schemas.microsoft.com/office/drawing/2014/main" id="{970DABE8-2208-454C-A778-3349D36980E8}"/>
              </a:ext>
            </a:extLst>
          </p:cNvPr>
          <p:cNvSpPr/>
          <p:nvPr/>
        </p:nvSpPr>
        <p:spPr>
          <a:xfrm>
            <a:off x="850116" y="1160701"/>
            <a:ext cx="2554565" cy="217264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90;p18">
            <a:extLst>
              <a:ext uri="{FF2B5EF4-FFF2-40B4-BE49-F238E27FC236}">
                <a16:creationId xmlns:a16="http://schemas.microsoft.com/office/drawing/2014/main" id="{DAA78618-8A62-3449-81E5-428815D4A509}"/>
              </a:ext>
            </a:extLst>
          </p:cNvPr>
          <p:cNvSpPr txBox="1"/>
          <p:nvPr/>
        </p:nvSpPr>
        <p:spPr>
          <a:xfrm>
            <a:off x="4572000" y="1263580"/>
            <a:ext cx="4316095" cy="176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Object storage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можем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получить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Масштабируемость</a:t>
            </a:r>
            <a:endParaRPr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Безопасность</a:t>
            </a:r>
            <a:endParaRPr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Отказоустойчивость</a:t>
            </a:r>
            <a:endParaRPr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Управление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жизненным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циклом</a:t>
            </a:r>
            <a:endParaRPr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265" marR="5080" lvl="0" indent="-36703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Разные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уровни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хранения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разной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цене</a:t>
            </a:r>
            <a:endParaRPr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91;p18">
            <a:extLst>
              <a:ext uri="{FF2B5EF4-FFF2-40B4-BE49-F238E27FC236}">
                <a16:creationId xmlns:a16="http://schemas.microsoft.com/office/drawing/2014/main" id="{DFF225DF-20AB-4641-B6AF-F2CC39F3E33A}"/>
              </a:ext>
            </a:extLst>
          </p:cNvPr>
          <p:cNvSpPr/>
          <p:nvPr/>
        </p:nvSpPr>
        <p:spPr>
          <a:xfrm>
            <a:off x="2645954" y="3621901"/>
            <a:ext cx="1517453" cy="649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92;p18">
            <a:extLst>
              <a:ext uri="{FF2B5EF4-FFF2-40B4-BE49-F238E27FC236}">
                <a16:creationId xmlns:a16="http://schemas.microsoft.com/office/drawing/2014/main" id="{1192036C-A5DB-4146-8D0C-099F731D7D28}"/>
              </a:ext>
            </a:extLst>
          </p:cNvPr>
          <p:cNvSpPr/>
          <p:nvPr/>
        </p:nvSpPr>
        <p:spPr>
          <a:xfrm>
            <a:off x="484364" y="3543505"/>
            <a:ext cx="2161590" cy="8060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Minio API Authorization">
            <a:extLst>
              <a:ext uri="{FF2B5EF4-FFF2-40B4-BE49-F238E27FC236}">
                <a16:creationId xmlns:a16="http://schemas.microsoft.com/office/drawing/2014/main" id="{701BEF43-1D07-1F44-B647-C9AED0858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971" y="4412330"/>
            <a:ext cx="649257" cy="649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05675E-9827-1D4B-9456-9AF57063B0F2}"/>
              </a:ext>
            </a:extLst>
          </p:cNvPr>
          <p:cNvSpPr txBox="1"/>
          <p:nvPr/>
        </p:nvSpPr>
        <p:spPr>
          <a:xfrm>
            <a:off x="6315240" y="3791650"/>
            <a:ext cx="17252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Облачные решения</a:t>
            </a:r>
            <a:endParaRPr lang="en-US" sz="1400" b="1" dirty="0"/>
          </a:p>
        </p:txBody>
      </p:sp>
      <p:pic>
        <p:nvPicPr>
          <p:cNvPr id="2052" name="Picture 4" descr="What the heck is HPE up to with its cloud? | ZDNET">
            <a:extLst>
              <a:ext uri="{FF2B5EF4-FFF2-40B4-BE49-F238E27FC236}">
                <a16:creationId xmlns:a16="http://schemas.microsoft.com/office/drawing/2014/main" id="{7B97B3B7-35A6-DE4F-BD64-F91D87E29C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4" t="19779" r="5987" b="20779"/>
          <a:stretch/>
        </p:blipFill>
        <p:spPr bwMode="auto">
          <a:xfrm>
            <a:off x="693129" y="4440270"/>
            <a:ext cx="1417480" cy="55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ource Scality S3 Server ...">
            <a:extLst>
              <a:ext uri="{FF2B5EF4-FFF2-40B4-BE49-F238E27FC236}">
                <a16:creationId xmlns:a16="http://schemas.microsoft.com/office/drawing/2014/main" id="{022B81E4-1D56-BF48-B616-F8A356864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852" y="4465085"/>
            <a:ext cx="1119207" cy="58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0BE401C-7D09-3B49-B790-AA63335C1F97}"/>
              </a:ext>
            </a:extLst>
          </p:cNvPr>
          <p:cNvSpPr txBox="1"/>
          <p:nvPr/>
        </p:nvSpPr>
        <p:spPr>
          <a:xfrm>
            <a:off x="6315240" y="4411340"/>
            <a:ext cx="1937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Self-managed</a:t>
            </a:r>
            <a:r>
              <a:rPr lang="ru-RU" sz="1400" b="1" dirty="0"/>
              <a:t> решения</a:t>
            </a:r>
            <a:endParaRPr lang="en-US" sz="1400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4F53AE-A9F8-D540-A3E9-5D16282944DE}"/>
              </a:ext>
            </a:extLst>
          </p:cNvPr>
          <p:cNvGrpSpPr/>
          <p:nvPr/>
        </p:nvGrpSpPr>
        <p:grpSpPr>
          <a:xfrm>
            <a:off x="4343400" y="3681447"/>
            <a:ext cx="1448602" cy="530161"/>
            <a:chOff x="4655832" y="3463048"/>
            <a:chExt cx="1448602" cy="530161"/>
          </a:xfrm>
        </p:grpSpPr>
        <p:pic>
          <p:nvPicPr>
            <p:cNvPr id="2056" name="Picture 8" descr="Yandex Cloud - APK Download for Android ...">
              <a:extLst>
                <a:ext uri="{FF2B5EF4-FFF2-40B4-BE49-F238E27FC236}">
                  <a16:creationId xmlns:a16="http://schemas.microsoft.com/office/drawing/2014/main" id="{60E529B6-22D9-E742-A9AA-FC58A42438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27" t="34570" r="15405" b="30691"/>
            <a:stretch/>
          </p:blipFill>
          <p:spPr bwMode="auto">
            <a:xfrm>
              <a:off x="4695463" y="3463048"/>
              <a:ext cx="1238410" cy="307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Yandex Object Storage">
              <a:extLst>
                <a:ext uri="{FF2B5EF4-FFF2-40B4-BE49-F238E27FC236}">
                  <a16:creationId xmlns:a16="http://schemas.microsoft.com/office/drawing/2014/main" id="{8F7196B1-AF93-D94F-9D24-317A029184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3204" y="3685432"/>
              <a:ext cx="307777" cy="307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20CB76A-320C-6A4F-AA8F-06E7D7D69737}"/>
                </a:ext>
              </a:extLst>
            </p:cNvPr>
            <p:cNvSpPr txBox="1"/>
            <p:nvPr/>
          </p:nvSpPr>
          <p:spPr>
            <a:xfrm>
              <a:off x="4655832" y="3656976"/>
              <a:ext cx="14486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Object      storage</a:t>
              </a:r>
            </a:p>
          </p:txBody>
        </p:sp>
      </p:grpSp>
      <p:pic>
        <p:nvPicPr>
          <p:cNvPr id="2064" name="Picture 16" descr="Ceph - retinadata">
            <a:extLst>
              <a:ext uri="{FF2B5EF4-FFF2-40B4-BE49-F238E27FC236}">
                <a16:creationId xmlns:a16="http://schemas.microsoft.com/office/drawing/2014/main" id="{96D03353-A094-7D42-9E88-CC3E7E9A8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70"/>
          <a:stretch/>
        </p:blipFill>
        <p:spPr bwMode="auto">
          <a:xfrm>
            <a:off x="2583047" y="4411340"/>
            <a:ext cx="587947" cy="63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F47CB3-DE08-294F-AA26-4E60028B4C59}"/>
              </a:ext>
            </a:extLst>
          </p:cNvPr>
          <p:cNvCxnSpPr>
            <a:cxnSpLocks/>
          </p:cNvCxnSpPr>
          <p:nvPr/>
        </p:nvCxnSpPr>
        <p:spPr>
          <a:xfrm>
            <a:off x="356681" y="4411340"/>
            <a:ext cx="559664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391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Self-managed </a:t>
            </a:r>
            <a:r>
              <a:rPr lang="ru-RU" dirty="0"/>
              <a:t>решение</a:t>
            </a:r>
            <a:r>
              <a:rPr lang="en-US" dirty="0"/>
              <a:t> - </a:t>
            </a:r>
            <a:r>
              <a:rPr lang="en-US" dirty="0" err="1"/>
              <a:t>minio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35188B-A803-404B-BD77-F5F4E2D53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902" y="907914"/>
            <a:ext cx="4816097" cy="4235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404033-5291-9241-9BAF-A0191ACE98B1}"/>
              </a:ext>
            </a:extLst>
          </p:cNvPr>
          <p:cNvSpPr txBox="1"/>
          <p:nvPr/>
        </p:nvSpPr>
        <p:spPr>
          <a:xfrm>
            <a:off x="500550" y="1095884"/>
            <a:ext cx="37045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u="sng" dirty="0"/>
              <a:t>Локально развернуть из образа </a:t>
            </a:r>
            <a:r>
              <a:rPr lang="en-US" sz="1400" u="sng" dirty="0"/>
              <a:t>Docker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compose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-docker-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compose.yml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up 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dirty="0"/>
          </a:p>
          <a:p>
            <a:endParaRPr lang="en-US" sz="1400" dirty="0"/>
          </a:p>
          <a:p>
            <a:r>
              <a:rPr lang="ru-RU" sz="1400" u="sng" dirty="0"/>
              <a:t>Развернуть в </a:t>
            </a:r>
            <a:r>
              <a:rPr lang="en-US" sz="1400" u="sng" dirty="0"/>
              <a:t>K8s </a:t>
            </a:r>
            <a:r>
              <a:rPr lang="ru-RU" sz="1400" u="sng" dirty="0"/>
              <a:t>кластере: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helm repo add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https://charts.min.io/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helm install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--namespace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--set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rootUser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rootuser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rootPassword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=rootpass123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--generate-name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minio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2CC43-3C1A-4546-B0E7-38FB10C7EB9C}"/>
              </a:ext>
            </a:extLst>
          </p:cNvPr>
          <p:cNvSpPr txBox="1"/>
          <p:nvPr/>
        </p:nvSpPr>
        <p:spPr>
          <a:xfrm>
            <a:off x="7430069" y="878674"/>
            <a:ext cx="17139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minio</a:t>
            </a:r>
            <a:r>
              <a:rPr lang="en-US" sz="1000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-docker-</a:t>
            </a:r>
            <a:r>
              <a:rPr lang="en-US" sz="1000" dirty="0" err="1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compose.yml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0538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9" y="330724"/>
            <a:ext cx="8520600" cy="1095900"/>
          </a:xfrm>
        </p:spPr>
        <p:txBody>
          <a:bodyPr/>
          <a:lstStyle/>
          <a:p>
            <a:r>
              <a:rPr lang="en-US" dirty="0"/>
              <a:t>Cloud </a:t>
            </a:r>
            <a:r>
              <a:rPr lang="ru-RU" dirty="0"/>
              <a:t>решение</a:t>
            </a:r>
            <a:br>
              <a:rPr lang="en-US" dirty="0"/>
            </a:br>
            <a:r>
              <a:rPr lang="en-US" dirty="0"/>
              <a:t>Yandex Object Storage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399A7BC-3BFC-5943-B20C-A1EFD1687D26}"/>
              </a:ext>
            </a:extLst>
          </p:cNvPr>
          <p:cNvGrpSpPr/>
          <p:nvPr/>
        </p:nvGrpSpPr>
        <p:grpSpPr>
          <a:xfrm>
            <a:off x="4831404" y="-1991"/>
            <a:ext cx="4312596" cy="5145491"/>
            <a:chOff x="4831404" y="-1991"/>
            <a:chExt cx="4312596" cy="514549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96294DA-D804-1546-9355-70554F96FC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9638"/>
            <a:stretch/>
          </p:blipFill>
          <p:spPr>
            <a:xfrm>
              <a:off x="4831404" y="-1991"/>
              <a:ext cx="4312596" cy="5145491"/>
            </a:xfrm>
            <a:prstGeom prst="rect">
              <a:avLst/>
            </a:prstGeom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A4B0DDE-9536-8C40-8BE3-00BEFF77D21D}"/>
                </a:ext>
              </a:extLst>
            </p:cNvPr>
            <p:cNvSpPr/>
            <p:nvPr/>
          </p:nvSpPr>
          <p:spPr>
            <a:xfrm>
              <a:off x="7055796" y="1121923"/>
              <a:ext cx="1472119" cy="304701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409EF4E-E2EA-4049-99FA-04B22FED2A5C}"/>
              </a:ext>
            </a:extLst>
          </p:cNvPr>
          <p:cNvSpPr txBox="1"/>
          <p:nvPr/>
        </p:nvSpPr>
        <p:spPr>
          <a:xfrm>
            <a:off x="296770" y="1754311"/>
            <a:ext cx="4054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Манипулировать объектами через </a:t>
            </a:r>
            <a:r>
              <a:rPr lang="en-US" sz="1400" dirty="0"/>
              <a:t>web </a:t>
            </a:r>
            <a:r>
              <a:rPr lang="ru-RU" sz="1400" dirty="0"/>
              <a:t>интерфейс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7E005-DC2A-AD44-9383-93EB6EEB8030}"/>
              </a:ext>
            </a:extLst>
          </p:cNvPr>
          <p:cNvSpPr txBox="1"/>
          <p:nvPr/>
        </p:nvSpPr>
        <p:spPr>
          <a:xfrm>
            <a:off x="296769" y="3664248"/>
            <a:ext cx="37274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Манипулировать объектами через </a:t>
            </a:r>
            <a:r>
              <a:rPr lang="en-US" sz="1400" dirty="0"/>
              <a:t>CLI </a:t>
            </a:r>
            <a:r>
              <a:rPr lang="ru-RU" sz="1400" dirty="0"/>
              <a:t>утилиту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storage buckets list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0D0140-098C-E14B-A9CA-CF11EEE89C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324"/>
          <a:stretch/>
        </p:blipFill>
        <p:spPr>
          <a:xfrm>
            <a:off x="32426" y="4402912"/>
            <a:ext cx="4773038" cy="60306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913943B-6B6C-DA4C-9EFD-599F4F1DD755}"/>
              </a:ext>
            </a:extLst>
          </p:cNvPr>
          <p:cNvGrpSpPr/>
          <p:nvPr/>
        </p:nvGrpSpPr>
        <p:grpSpPr>
          <a:xfrm>
            <a:off x="32426" y="2081719"/>
            <a:ext cx="4857344" cy="1410483"/>
            <a:chOff x="32426" y="2081719"/>
            <a:chExt cx="4857344" cy="14104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C54C560-D716-D74C-82FE-0AFCA4476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26" y="2139908"/>
              <a:ext cx="4773038" cy="1352294"/>
            </a:xfrm>
            <a:prstGeom prst="rect">
              <a:avLst/>
            </a:prstGeom>
          </p:spPr>
        </p:pic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68A5782-5C60-934C-974F-8C144738AB4C}"/>
                </a:ext>
              </a:extLst>
            </p:cNvPr>
            <p:cNvSpPr/>
            <p:nvPr/>
          </p:nvSpPr>
          <p:spPr>
            <a:xfrm>
              <a:off x="4202349" y="2081719"/>
              <a:ext cx="687421" cy="27886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82466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Yandex Cloud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9EF4E-E2EA-4049-99FA-04B22FED2A5C}"/>
              </a:ext>
            </a:extLst>
          </p:cNvPr>
          <p:cNvSpPr txBox="1"/>
          <p:nvPr/>
        </p:nvSpPr>
        <p:spPr>
          <a:xfrm>
            <a:off x="500550" y="1200150"/>
            <a:ext cx="86656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Манипулировать объектами через код</a:t>
            </a:r>
          </a:p>
          <a:p>
            <a:endParaRPr lang="ru-RU" sz="1400" dirty="0"/>
          </a:p>
          <a:p>
            <a:pPr marL="342900" indent="-342900">
              <a:buAutoNum type="arabicPeriod"/>
            </a:pPr>
            <a:r>
              <a:rPr lang="ru-RU" sz="1400" dirty="0"/>
              <a:t>Перейдите в директорию </a:t>
            </a:r>
          </a:p>
          <a:p>
            <a:r>
              <a:rPr lang="ru-RU" sz="1400" dirty="0"/>
              <a:t>~/.</a:t>
            </a:r>
            <a:r>
              <a:rPr lang="en-US" sz="1400" dirty="0" err="1"/>
              <a:t>aws</a:t>
            </a:r>
            <a:r>
              <a:rPr lang="en-US" sz="1400" dirty="0"/>
              <a:t>/ (</a:t>
            </a:r>
            <a:r>
              <a:rPr lang="ru-RU" sz="1400" dirty="0"/>
              <a:t>для </a:t>
            </a:r>
            <a:r>
              <a:rPr lang="en-US" sz="1400" dirty="0"/>
              <a:t>macOS </a:t>
            </a:r>
            <a:r>
              <a:rPr lang="ru-RU" sz="1400" dirty="0"/>
              <a:t>и </a:t>
            </a:r>
            <a:r>
              <a:rPr lang="en-US" sz="1400" dirty="0"/>
              <a:t>Linux) </a:t>
            </a:r>
            <a:r>
              <a:rPr lang="ru-RU" sz="1400" dirty="0"/>
              <a:t>или </a:t>
            </a:r>
            <a:r>
              <a:rPr lang="en-US" sz="1400" dirty="0"/>
              <a:t>C:\Users\&lt;</a:t>
            </a:r>
            <a:r>
              <a:rPr lang="ru-RU" sz="1400" dirty="0" err="1"/>
              <a:t>имя_пользователя</a:t>
            </a:r>
            <a:r>
              <a:rPr lang="ru-RU" sz="1400" dirty="0"/>
              <a:t>&gt;\.</a:t>
            </a:r>
            <a:r>
              <a:rPr lang="en-US" sz="1400" dirty="0" err="1"/>
              <a:t>aws</a:t>
            </a:r>
            <a:r>
              <a:rPr lang="en-US" sz="1400" dirty="0"/>
              <a:t>\ (</a:t>
            </a:r>
            <a:r>
              <a:rPr lang="ru-RU" sz="1400" dirty="0"/>
              <a:t>для </a:t>
            </a:r>
            <a:r>
              <a:rPr lang="en-US" sz="1400" dirty="0"/>
              <a:t>Windows).</a:t>
            </a:r>
          </a:p>
          <a:p>
            <a:r>
              <a:rPr lang="ru-RU" sz="1400" dirty="0"/>
              <a:t>Создайте файл </a:t>
            </a:r>
            <a:r>
              <a:rPr lang="en-US" sz="1400" dirty="0"/>
              <a:t>credentials </a:t>
            </a:r>
            <a:r>
              <a:rPr lang="ru-RU" sz="1400" dirty="0"/>
              <a:t>с </a:t>
            </a:r>
            <a:r>
              <a:rPr lang="ru-RU" sz="1400" dirty="0" err="1"/>
              <a:t>аутентификационными</a:t>
            </a:r>
            <a:r>
              <a:rPr lang="ru-RU" sz="1400" dirty="0"/>
              <a:t> данными для </a:t>
            </a:r>
            <a:r>
              <a:rPr lang="en-US" sz="1400" dirty="0"/>
              <a:t>Object Storage </a:t>
            </a:r>
            <a:r>
              <a:rPr lang="ru-RU" sz="1400" dirty="0"/>
              <a:t>и </a:t>
            </a:r>
          </a:p>
          <a:p>
            <a:r>
              <a:rPr lang="ru-RU" sz="1400" dirty="0"/>
              <a:t>скопируйте в него следующую информацию:</a:t>
            </a:r>
          </a:p>
          <a:p>
            <a:endParaRPr lang="ru-RU" sz="1400" dirty="0"/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default]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aws_access_key_id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идентификатор_статического_ключа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aws_secret_access_key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секретный_ключ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ru-RU" sz="1400" dirty="0"/>
          </a:p>
          <a:p>
            <a:r>
              <a:rPr lang="ru-RU" sz="1400" dirty="0"/>
              <a:t>2. Создайте файл </a:t>
            </a:r>
            <a:r>
              <a:rPr lang="en-US" sz="1400" dirty="0"/>
              <a:t>config </a:t>
            </a:r>
            <a:r>
              <a:rPr lang="ru-RU" sz="1400" dirty="0"/>
              <a:t>с параметрами региона по умолчанию и скопируйте в него </a:t>
            </a:r>
            <a:br>
              <a:rPr lang="ru-RU" sz="1400" dirty="0"/>
            </a:br>
            <a:r>
              <a:rPr lang="ru-RU" sz="1400" dirty="0"/>
              <a:t>следующую информацию:</a:t>
            </a:r>
          </a:p>
          <a:p>
            <a:endParaRPr lang="ru-RU" sz="1400" dirty="0"/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default]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region=ru-central1</a:t>
            </a:r>
          </a:p>
        </p:txBody>
      </p:sp>
    </p:spTree>
    <p:extLst>
      <p:ext uri="{BB962C8B-B14F-4D97-AF65-F5344CB8AC3E}">
        <p14:creationId xmlns:p14="http://schemas.microsoft.com/office/powerpoint/2010/main" val="2397550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Yandex Cloud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9EF4E-E2EA-4049-99FA-04B22FED2A5C}"/>
              </a:ext>
            </a:extLst>
          </p:cNvPr>
          <p:cNvSpPr txBox="1"/>
          <p:nvPr/>
        </p:nvSpPr>
        <p:spPr>
          <a:xfrm>
            <a:off x="580417" y="1094657"/>
            <a:ext cx="8665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Манипулировать объектами через код</a:t>
            </a:r>
          </a:p>
          <a:p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1168C-9178-1945-AF43-1A5D2D74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439" y="1617877"/>
            <a:ext cx="6705600" cy="284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D2D05E-8D66-9745-BD1D-BD801AF37AFD}"/>
              </a:ext>
            </a:extLst>
          </p:cNvPr>
          <p:cNvSpPr txBox="1"/>
          <p:nvPr/>
        </p:nvSpPr>
        <p:spPr>
          <a:xfrm>
            <a:off x="1115439" y="463837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https://yandex.cloud/ru/docs/storage/tools/boto</a:t>
            </a:r>
            <a:r>
              <a:rPr lang="ru-RU" sz="1000" dirty="0"/>
              <a:t>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07734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4900" dirty="0"/>
              <a:t>MongoDB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86104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52DAF3-D5A8-DC41-9BFF-4A6BA9CD1695}"/>
              </a:ext>
            </a:extLst>
          </p:cNvPr>
          <p:cNvSpPr txBox="1"/>
          <p:nvPr/>
        </p:nvSpPr>
        <p:spPr>
          <a:xfrm>
            <a:off x="500550" y="1213129"/>
            <a:ext cx="8520600" cy="3936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/>
              <a:t>Адаптирована для </a:t>
            </a:r>
            <a:r>
              <a:rPr lang="en-US" sz="1400" dirty="0"/>
              <a:t>OLTP </a:t>
            </a:r>
            <a:r>
              <a:rPr lang="ru-RU" sz="1400" dirty="0"/>
              <a:t>задач – запись/хранение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/>
              <a:t>Работа с </a:t>
            </a:r>
            <a:r>
              <a:rPr lang="en-US" sz="1400" dirty="0"/>
              <a:t>JSON </a:t>
            </a:r>
            <a:r>
              <a:rPr lang="ru-RU" sz="1400" dirty="0"/>
              <a:t>как с типом документа.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JSON</a:t>
            </a:r>
            <a:r>
              <a:rPr lang="ru-RU" sz="1400" dirty="0"/>
              <a:t>ы</a:t>
            </a:r>
            <a:r>
              <a:rPr lang="en-US" sz="1400" dirty="0"/>
              <a:t> </a:t>
            </a:r>
            <a:r>
              <a:rPr lang="ru-RU" sz="1400" dirty="0"/>
              <a:t>можно собирать в коллекции (в некотором роде аналог таблиц, но не совсем)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JSON</a:t>
            </a:r>
            <a:r>
              <a:rPr lang="ru-RU" sz="1400" dirty="0"/>
              <a:t>ы произвольной структуры и вложенности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/>
              <a:t>Отсутствие схемы – нет требований по определенной структуре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/>
              <a:t>Разные </a:t>
            </a:r>
            <a:r>
              <a:rPr lang="en-US" sz="1400" dirty="0"/>
              <a:t>JSON</a:t>
            </a:r>
            <a:r>
              <a:rPr lang="ru-RU" sz="1400" dirty="0"/>
              <a:t>ы можно «свалить» в одну коллекцию. НО делать так не рекомендуется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/>
              <a:t>Нет внешних ключей, хранимых процедур и триггеров.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JOIN </a:t>
            </a:r>
            <a:r>
              <a:rPr lang="ru-RU" sz="1400" dirty="0"/>
              <a:t>поддерживается, но не приветствуется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/>
              <a:t>Можно создавать индексы для полей </a:t>
            </a:r>
            <a:r>
              <a:rPr lang="en-US" sz="1400" dirty="0"/>
              <a:t>JSON-</a:t>
            </a:r>
            <a:r>
              <a:rPr lang="ru-RU" sz="1400" dirty="0"/>
              <a:t>документа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/>
              <a:t>Просто разворачивается репликация и </a:t>
            </a:r>
            <a:r>
              <a:rPr lang="ru-RU" sz="1400" dirty="0" err="1"/>
              <a:t>шардирование</a:t>
            </a:r>
            <a:endParaRPr lang="ru-RU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MongoDB </a:t>
            </a:r>
            <a:r>
              <a:rPr lang="ru-RU" sz="1400" dirty="0"/>
              <a:t>требует много памяти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393334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- </a:t>
            </a:r>
            <a:r>
              <a:rPr lang="ru-RU" dirty="0"/>
              <a:t>локально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40BC25-6479-F740-A542-809D2E2F9F14}"/>
              </a:ext>
            </a:extLst>
          </p:cNvPr>
          <p:cNvGrpSpPr/>
          <p:nvPr/>
        </p:nvGrpSpPr>
        <p:grpSpPr>
          <a:xfrm>
            <a:off x="500550" y="1826734"/>
            <a:ext cx="6350000" cy="1409700"/>
            <a:chOff x="500550" y="1257300"/>
            <a:chExt cx="6350000" cy="1409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55D552-2F50-0442-9E04-228A118E5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550" y="1257300"/>
              <a:ext cx="6350000" cy="14097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45F039-A5B0-B449-9BDC-480FF8CE5AAE}"/>
                </a:ext>
              </a:extLst>
            </p:cNvPr>
            <p:cNvSpPr txBox="1"/>
            <p:nvPr/>
          </p:nvSpPr>
          <p:spPr>
            <a:xfrm>
              <a:off x="4912199" y="1257300"/>
              <a:ext cx="19383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mongodb</a:t>
              </a:r>
              <a:r>
                <a:rPr lang="en-US" sz="10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-docker-</a:t>
              </a:r>
              <a:r>
                <a:rPr lang="en-US" sz="1000" dirty="0" err="1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compose.yml</a:t>
              </a:r>
              <a:endParaRPr lang="en-US" sz="1000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D3B98A8-9157-4744-A68C-E75457E2F74E}"/>
              </a:ext>
            </a:extLst>
          </p:cNvPr>
          <p:cNvSpPr txBox="1"/>
          <p:nvPr/>
        </p:nvSpPr>
        <p:spPr>
          <a:xfrm>
            <a:off x="408562" y="986820"/>
            <a:ext cx="67899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u="sng" dirty="0"/>
              <a:t>Развернуть локально в </a:t>
            </a:r>
            <a:r>
              <a:rPr lang="en-US" sz="1400" u="sng" dirty="0"/>
              <a:t>Docker </a:t>
            </a:r>
            <a:r>
              <a:rPr lang="ru-RU" sz="1400" u="sng" dirty="0"/>
              <a:t>образе</a:t>
            </a:r>
          </a:p>
          <a:p>
            <a:endParaRPr lang="ru-RU" sz="1400" u="sng" dirty="0"/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compose -f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-docker-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compose.yml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up 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861C21-D43F-A54A-9568-3E602778178E}"/>
              </a:ext>
            </a:extLst>
          </p:cNvPr>
          <p:cNvSpPr txBox="1"/>
          <p:nvPr/>
        </p:nvSpPr>
        <p:spPr>
          <a:xfrm>
            <a:off x="500550" y="3605765"/>
            <a:ext cx="67899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u="sng" dirty="0"/>
              <a:t>Развернуть в </a:t>
            </a:r>
            <a:r>
              <a:rPr lang="en-US" sz="1400" u="sng" dirty="0"/>
              <a:t>K8s </a:t>
            </a:r>
            <a:r>
              <a:rPr lang="ru-RU" sz="1400" u="sng" dirty="0"/>
              <a:t>кластере</a:t>
            </a:r>
          </a:p>
          <a:p>
            <a:endParaRPr lang="ru-RU" sz="1400" u="sng" dirty="0"/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helm repo add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https://mongodb.github.io/helm-charts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helm install atlas-operator --namespace=atlas-operator --create-namespace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-atlas-operator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191238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0FCBB3-9048-1543-B9C8-640CAF7FC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29" y="1217444"/>
            <a:ext cx="47371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284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95CF6988-BEFE-5F4D-8976-4C03B79F87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7379929"/>
              </p:ext>
            </p:extLst>
          </p:nvPr>
        </p:nvGraphicFramePr>
        <p:xfrm>
          <a:off x="846750" y="1649963"/>
          <a:ext cx="7239000" cy="15800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S3 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систему хранения локально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S3 </a:t>
                      </a:r>
                      <a:r>
                        <a:rPr lang="ru-RU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бакет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Yandex Cloud</a:t>
                      </a:r>
                      <a:endParaRPr lang="ru-RU"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Поднять локально </a:t>
                      </a:r>
                      <a:r>
                        <a:rPr lang="en-US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подключиться к нему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29608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 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кластер в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Yandex Cloud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378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6000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2"/>
            <a:ext cx="7742400" cy="3678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3"/>
              </a:rPr>
              <a:t>Apache Mahout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4"/>
              </a:rPr>
              <a:t>Apache Spark</a:t>
            </a:r>
            <a:endParaRPr lang="ru-RU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5"/>
              </a:rPr>
              <a:t>Apache Flink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6"/>
              </a:rPr>
              <a:t>Apache </a:t>
            </a:r>
            <a:r>
              <a:rPr lang="en-GB" sz="1300" dirty="0" err="1">
                <a:hlinkClick r:id="rId6"/>
              </a:rPr>
              <a:t>Madlib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7"/>
              </a:rPr>
              <a:t>H2O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8"/>
              </a:rPr>
              <a:t>Apache Zepellin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9"/>
              </a:rPr>
              <a:t>JetBrains Big Tool Data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0"/>
              </a:rPr>
              <a:t>Jupyter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1"/>
              </a:rPr>
              <a:t>JetBrains </a:t>
            </a:r>
            <a:r>
              <a:rPr lang="en-GB" sz="1300" dirty="0" err="1">
                <a:hlinkClick r:id="rId11"/>
              </a:rPr>
              <a:t>DataSpell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2"/>
              </a:rPr>
              <a:t>Almond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3"/>
              </a:rPr>
              <a:t>DataBricks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/>
              <a:t>Spark packages: </a:t>
            </a:r>
            <a:r>
              <a:rPr lang="en-GB" sz="1300" dirty="0">
                <a:hlinkClick r:id="rId14"/>
              </a:rPr>
              <a:t>https://spark-packages.org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 err="1"/>
              <a:t>Mllib</a:t>
            </a:r>
            <a:r>
              <a:rPr lang="en-GB" sz="1300" dirty="0"/>
              <a:t> main guide: </a:t>
            </a:r>
            <a:r>
              <a:rPr lang="en-GB" sz="1300" dirty="0">
                <a:hlinkClick r:id="rId15"/>
              </a:rPr>
              <a:t>https://spark.apache.org/docs/latest/ml-guide.html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 err="1"/>
              <a:t>Mllib</a:t>
            </a:r>
            <a:r>
              <a:rPr lang="en-GB" sz="1300" dirty="0"/>
              <a:t> </a:t>
            </a:r>
            <a:r>
              <a:rPr lang="en-GB" sz="1300" dirty="0" err="1"/>
              <a:t>DataFrame</a:t>
            </a:r>
            <a:r>
              <a:rPr lang="en-GB" sz="1300" dirty="0"/>
              <a:t>-based: </a:t>
            </a:r>
            <a:r>
              <a:rPr lang="en-GB" sz="1300" dirty="0">
                <a:hlinkClick r:id="rId16"/>
              </a:rPr>
              <a:t>https://spark.apache.org/docs/latest/api/python/reference/pyspark.ml.html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 err="1"/>
              <a:t>MLFlow</a:t>
            </a:r>
            <a:r>
              <a:rPr lang="en-GB" sz="1300" dirty="0"/>
              <a:t> spark: </a:t>
            </a:r>
            <a:r>
              <a:rPr lang="en-GB" sz="1300" dirty="0">
                <a:hlinkClick r:id="rId17"/>
              </a:rPr>
              <a:t>https://mlflow.org/docs/latest/python_api/mlflow.spark.html</a:t>
            </a:r>
            <a:r>
              <a:rPr lang="en-GB" sz="1300" dirty="0"/>
              <a:t> 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Aft>
                <a:spcPts val="120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en-US" dirty="0"/>
            </a:br>
            <a:br>
              <a:rPr lang="en-US" sz="900" dirty="0"/>
            </a:br>
            <a:r>
              <a:rPr lang="en-US" sz="1800" dirty="0"/>
              <a:t>Concurrency: </a:t>
            </a:r>
            <a:r>
              <a:rPr lang="ru-RU" sz="1800" dirty="0"/>
              <a:t>многопоточное программирование и примитивы синхронизации</a:t>
            </a:r>
            <a:endParaRPr lang="ru-RU"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438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5BB9E164-B69D-9940-834A-3C9CEED248AB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10048</TotalTime>
  <Words>1471</Words>
  <Application>Microsoft Macintosh PowerPoint</Application>
  <PresentationFormat>On-screen Show (16:9)</PresentationFormat>
  <Paragraphs>291</Paragraphs>
  <Slides>47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Calibri</vt:lpstr>
      <vt:lpstr>Courier New</vt:lpstr>
      <vt:lpstr>Helvetica Neue</vt:lpstr>
      <vt:lpstr>LiberationSans</vt:lpstr>
      <vt:lpstr>Roboto</vt:lpstr>
      <vt:lpstr>Roboto</vt:lpstr>
      <vt:lpstr>Office Theme</vt:lpstr>
      <vt:lpstr>Python BigData</vt:lpstr>
      <vt:lpstr>Проверить, идет ли запись</vt:lpstr>
      <vt:lpstr>Python BigData</vt:lpstr>
      <vt:lpstr>Правила вебинара</vt:lpstr>
      <vt:lpstr>Карта курса</vt:lpstr>
      <vt:lpstr>Карта курса</vt:lpstr>
      <vt:lpstr>Маршрут вебинара</vt:lpstr>
      <vt:lpstr>Цели вебинара</vt:lpstr>
      <vt:lpstr>Смысл</vt:lpstr>
      <vt:lpstr>BigData</vt:lpstr>
      <vt:lpstr>Данные</vt:lpstr>
      <vt:lpstr>Масштабирование</vt:lpstr>
      <vt:lpstr>PowerPoint Presentation</vt:lpstr>
      <vt:lpstr>Hadoop</vt:lpstr>
      <vt:lpstr>Hadoop</vt:lpstr>
      <vt:lpstr>PowerPoint Presentation</vt:lpstr>
      <vt:lpstr>PowerPoint Presentation</vt:lpstr>
      <vt:lpstr>MapReduce пример: WordCount</vt:lpstr>
      <vt:lpstr>ML Компоненты</vt:lpstr>
      <vt:lpstr>Data Компоненты</vt:lpstr>
      <vt:lpstr>Spark &amp; SparkML</vt:lpstr>
      <vt:lpstr>Что есть Spark</vt:lpstr>
      <vt:lpstr>Работа со Spark</vt:lpstr>
      <vt:lpstr>PowerPoint Presentation</vt:lpstr>
      <vt:lpstr>PowerPoint Presentation</vt:lpstr>
      <vt:lpstr>ClickHouse</vt:lpstr>
      <vt:lpstr>MPP arhitecture</vt:lpstr>
      <vt:lpstr>ClickHouse</vt:lpstr>
      <vt:lpstr>ClickHouse</vt:lpstr>
      <vt:lpstr>ClickHouse</vt:lpstr>
      <vt:lpstr>ClickHouse</vt:lpstr>
      <vt:lpstr>S3 –  Simple Storage Service </vt:lpstr>
      <vt:lpstr>Объектное хранилище</vt:lpstr>
      <vt:lpstr>Self-managed решение - minio</vt:lpstr>
      <vt:lpstr>Cloud решение Yandex Object Storage</vt:lpstr>
      <vt:lpstr>Yandex Cloud </vt:lpstr>
      <vt:lpstr>Yandex Cloud </vt:lpstr>
      <vt:lpstr>MongoDB</vt:lpstr>
      <vt:lpstr>MongoDB</vt:lpstr>
      <vt:lpstr>MongoDB - локально</vt:lpstr>
      <vt:lpstr>MongoDB</vt:lpstr>
      <vt:lpstr>Практика</vt:lpstr>
      <vt:lpstr>Практика</vt:lpstr>
      <vt:lpstr>Вопросы?</vt:lpstr>
      <vt:lpstr>Список материалов для изучения</vt:lpstr>
      <vt:lpstr>Заполните, пожалуйста, опрос о занятии по ссылке в чате</vt:lpstr>
      <vt:lpstr>Приходите на следующие вебинары  Concurrency: многопоточное программирование и примитивы синхронизации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128</cp:revision>
  <dcterms:created xsi:type="dcterms:W3CDTF">2023-10-10T14:19:39Z</dcterms:created>
  <dcterms:modified xsi:type="dcterms:W3CDTF">2025-03-27T16:12:43Z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