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image4.jpg" ContentType="image/jpeg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334" r:id="rId4"/>
    <p:sldId id="259" r:id="rId5"/>
    <p:sldId id="260" r:id="rId6"/>
    <p:sldId id="305" r:id="rId7"/>
    <p:sldId id="371" r:id="rId8"/>
    <p:sldId id="393" r:id="rId9"/>
    <p:sldId id="342" r:id="rId10"/>
    <p:sldId id="385" r:id="rId11"/>
    <p:sldId id="394" r:id="rId12"/>
    <p:sldId id="395" r:id="rId13"/>
    <p:sldId id="396" r:id="rId14"/>
    <p:sldId id="397" r:id="rId15"/>
    <p:sldId id="398" r:id="rId16"/>
    <p:sldId id="399" r:id="rId17"/>
    <p:sldId id="401" r:id="rId18"/>
    <p:sldId id="402" r:id="rId19"/>
    <p:sldId id="403" r:id="rId20"/>
    <p:sldId id="391" r:id="rId21"/>
    <p:sldId id="300" r:id="rId22"/>
    <p:sldId id="364" r:id="rId23"/>
    <p:sldId id="281" r:id="rId24"/>
    <p:sldId id="302" r:id="rId25"/>
    <p:sldId id="335" r:id="rId26"/>
  </p:sldIdLst>
  <p:sldSz cx="9144000" cy="5143500" type="screen16x9"/>
  <p:notesSz cx="9144000" cy="51435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67"/>
    <p:restoredTop sz="94694"/>
  </p:normalViewPr>
  <p:slideViewPr>
    <p:cSldViewPr>
      <p:cViewPr varScale="1">
        <p:scale>
          <a:sx n="156" d="100"/>
          <a:sy n="156" d="100"/>
        </p:scale>
        <p:origin x="976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9D4DEE-AA18-4B6A-845C-60AFD9463AA2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75BB5-C319-4CC0-9F8F-8FE78AD357C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7873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f29b9fb24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f29b9fb24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df29b9fb2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df29b9fb24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66388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df6222e6a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df6222e6a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2118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3575" y="388001"/>
            <a:ext cx="7996849" cy="497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727549" y="1317655"/>
            <a:ext cx="2095500" cy="32054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17087" y="1115827"/>
            <a:ext cx="1866265" cy="3535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Тема вебинара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3388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Разделительный слайд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19335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Заголовок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45863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657422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2554" y="388000"/>
            <a:ext cx="8718890" cy="970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1" i="0">
                <a:solidFill>
                  <a:schemeClr val="tx1"/>
                </a:solidFill>
                <a:latin typeface="Roboto"/>
                <a:cs typeface="Robo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5799" y="1421874"/>
            <a:ext cx="8535035" cy="1917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5/5/25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numpy.org/doc/stable/index.html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pythonworld.ru/numpy/100-exercises.html" TargetMode="External"/><Relationship Id="rId5" Type="http://schemas.openxmlformats.org/officeDocument/2006/relationships/hyperlink" Target="https://pythonworld.ru/numpy/1.html" TargetMode="External"/><Relationship Id="rId4" Type="http://schemas.openxmlformats.org/officeDocument/2006/relationships/hyperlink" Target="https://habr.com/ru/articles/352678/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linkedin.com/in/igor-sturei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17674" y="4414306"/>
            <a:ext cx="1649326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Roboto"/>
                <a:cs typeface="Roboto"/>
              </a:rPr>
              <a:t>otus.ru</a:t>
            </a:r>
            <a:endParaRPr sz="1800" dirty="0">
              <a:latin typeface="Roboto"/>
              <a:cs typeface="Robo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7674" y="1745501"/>
            <a:ext cx="7516726" cy="21800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6555"/>
              </a:lnSpc>
              <a:spcBef>
                <a:spcPts val="100"/>
              </a:spcBef>
            </a:pPr>
            <a:r>
              <a:rPr lang="en-US" sz="5600" spc="-35" dirty="0">
                <a:solidFill>
                  <a:srgbClr val="FFFFFF"/>
                </a:solidFill>
              </a:rPr>
              <a:t>Python Developer. Professional</a:t>
            </a:r>
            <a:endParaRPr sz="5600" dirty="0"/>
          </a:p>
          <a:p>
            <a:pPr marL="12700" marR="5080">
              <a:lnSpc>
                <a:spcPts val="3350"/>
              </a:lnSpc>
              <a:spcBef>
                <a:spcPts val="254"/>
              </a:spcBef>
            </a:pPr>
            <a:r>
              <a:rPr lang="ru-RU" spc="-10" dirty="0">
                <a:solidFill>
                  <a:srgbClr val="FFFFFF"/>
                </a:solidFill>
              </a:rPr>
              <a:t>Библиотека </a:t>
            </a:r>
            <a:r>
              <a:rPr lang="en-US" spc="-10" dirty="0" err="1">
                <a:solidFill>
                  <a:srgbClr val="FFFFFF"/>
                </a:solidFill>
              </a:rPr>
              <a:t>Numpy</a:t>
            </a:r>
            <a:r>
              <a:rPr lang="en-US" spc="-10" dirty="0">
                <a:solidFill>
                  <a:srgbClr val="FFFFFF"/>
                </a:solidFill>
              </a:rPr>
              <a:t>, </a:t>
            </a:r>
            <a:r>
              <a:rPr lang="ru-RU" spc="-10" dirty="0">
                <a:solidFill>
                  <a:srgbClr val="FFFFFF"/>
                </a:solidFill>
              </a:rPr>
              <a:t>вектора и матрицы</a:t>
            </a:r>
            <a:endParaRPr lang="en-US" spc="-1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8899" y="1009637"/>
            <a:ext cx="3427729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spc="-10" dirty="0"/>
              <a:t>Проверить, </a:t>
            </a:r>
            <a:r>
              <a:rPr sz="2100" spc="-25" dirty="0"/>
              <a:t>идет</a:t>
            </a:r>
            <a:r>
              <a:rPr sz="2100" spc="-10" dirty="0"/>
              <a:t> </a:t>
            </a:r>
            <a:r>
              <a:rPr sz="2100" spc="5" dirty="0"/>
              <a:t>ли</a:t>
            </a:r>
            <a:r>
              <a:rPr sz="2100" spc="-5" dirty="0"/>
              <a:t> </a:t>
            </a:r>
            <a:r>
              <a:rPr sz="2100" spc="-20" dirty="0"/>
              <a:t>запись</a:t>
            </a:r>
            <a:endParaRPr sz="21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0825" y="1032407"/>
            <a:ext cx="642317" cy="3211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72375" y="3520050"/>
            <a:ext cx="525599" cy="5255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39750" y="1810429"/>
            <a:ext cx="5484850" cy="2197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000" b="1" spc="10" dirty="0">
                <a:latin typeface="Roboto"/>
                <a:cs typeface="Roboto"/>
              </a:rPr>
              <a:t>Меня</a:t>
            </a:r>
            <a:r>
              <a:rPr sz="4000" b="1" spc="-40" dirty="0">
                <a:latin typeface="Roboto"/>
                <a:cs typeface="Roboto"/>
              </a:rPr>
              <a:t> </a:t>
            </a:r>
            <a:r>
              <a:rPr sz="4000" b="1" spc="-20" dirty="0">
                <a:latin typeface="Roboto"/>
                <a:cs typeface="Roboto"/>
              </a:rPr>
              <a:t>хорошо</a:t>
            </a:r>
            <a:r>
              <a:rPr sz="4000" b="1" spc="-30" dirty="0">
                <a:latin typeface="Roboto"/>
                <a:cs typeface="Roboto"/>
              </a:rPr>
              <a:t> </a:t>
            </a:r>
            <a:r>
              <a:rPr sz="4000" b="1" spc="-35" dirty="0">
                <a:latin typeface="Roboto"/>
                <a:cs typeface="Roboto"/>
              </a:rPr>
              <a:t>видно </a:t>
            </a:r>
            <a:r>
              <a:rPr sz="4000" b="1" spc="-980" dirty="0">
                <a:latin typeface="Roboto"/>
                <a:cs typeface="Roboto"/>
              </a:rPr>
              <a:t> </a:t>
            </a:r>
            <a:r>
              <a:rPr sz="4000" b="1" spc="-10" dirty="0">
                <a:latin typeface="Roboto"/>
                <a:cs typeface="Roboto"/>
              </a:rPr>
              <a:t>&amp;&amp; </a:t>
            </a:r>
            <a:r>
              <a:rPr sz="4000" b="1" dirty="0">
                <a:latin typeface="Roboto"/>
                <a:cs typeface="Roboto"/>
              </a:rPr>
              <a:t>слышно?</a:t>
            </a:r>
            <a:endParaRPr sz="4000" dirty="0">
              <a:latin typeface="Roboto"/>
              <a:cs typeface="Roboto"/>
            </a:endParaRPr>
          </a:p>
          <a:p>
            <a:pPr marL="760095" marR="1526540">
              <a:lnSpc>
                <a:spcPct val="100000"/>
              </a:lnSpc>
              <a:spcBef>
                <a:spcPts val="3900"/>
              </a:spcBef>
            </a:pPr>
            <a:r>
              <a:rPr sz="1500" spc="-10" dirty="0">
                <a:latin typeface="Roboto"/>
                <a:cs typeface="Roboto"/>
              </a:rPr>
              <a:t>Ставим </a:t>
            </a:r>
            <a:r>
              <a:rPr sz="1500" spc="-25" dirty="0">
                <a:latin typeface="Roboto"/>
                <a:cs typeface="Roboto"/>
              </a:rPr>
              <a:t>“+”, </a:t>
            </a:r>
            <a:r>
              <a:rPr sz="1500" spc="10" dirty="0">
                <a:latin typeface="Roboto"/>
                <a:cs typeface="Roboto"/>
              </a:rPr>
              <a:t>если </a:t>
            </a:r>
            <a:r>
              <a:rPr sz="1500" dirty="0">
                <a:latin typeface="Roboto"/>
                <a:cs typeface="Roboto"/>
              </a:rPr>
              <a:t>все </a:t>
            </a:r>
            <a:r>
              <a:rPr sz="1500" spc="-10" dirty="0">
                <a:latin typeface="Roboto"/>
                <a:cs typeface="Roboto"/>
              </a:rPr>
              <a:t>хорошо </a:t>
            </a:r>
            <a:r>
              <a:rPr sz="1500" spc="-360" dirty="0">
                <a:latin typeface="Roboto"/>
                <a:cs typeface="Roboto"/>
              </a:rPr>
              <a:t> </a:t>
            </a:r>
            <a:r>
              <a:rPr sz="1500" spc="-105" dirty="0">
                <a:latin typeface="Roboto"/>
                <a:cs typeface="Roboto"/>
              </a:rPr>
              <a:t>“-”</a:t>
            </a:r>
            <a:r>
              <a:rPr sz="1500" spc="-50" dirty="0">
                <a:latin typeface="Roboto"/>
                <a:cs typeface="Roboto"/>
              </a:rPr>
              <a:t>,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5" dirty="0">
                <a:latin typeface="Roboto"/>
                <a:cs typeface="Roboto"/>
              </a:rPr>
              <a:t>есл</a:t>
            </a:r>
            <a:r>
              <a:rPr sz="1500" spc="15" dirty="0">
                <a:latin typeface="Roboto"/>
                <a:cs typeface="Roboto"/>
              </a:rPr>
              <a:t>и</a:t>
            </a:r>
            <a:r>
              <a:rPr sz="1500" spc="-5" dirty="0">
                <a:latin typeface="Roboto"/>
                <a:cs typeface="Roboto"/>
              </a:rPr>
              <a:t> </a:t>
            </a:r>
            <a:r>
              <a:rPr sz="1500" spc="-15" dirty="0">
                <a:latin typeface="Roboto"/>
                <a:cs typeface="Roboto"/>
              </a:rPr>
              <a:t>ест</a:t>
            </a:r>
            <a:r>
              <a:rPr sz="1500" spc="-10" dirty="0">
                <a:latin typeface="Roboto"/>
                <a:cs typeface="Roboto"/>
              </a:rPr>
              <a:t>ь</a:t>
            </a:r>
            <a:r>
              <a:rPr sz="1500" spc="-5" dirty="0">
                <a:latin typeface="Roboto"/>
                <a:cs typeface="Roboto"/>
              </a:rPr>
              <a:t> проблемы</a:t>
            </a:r>
            <a:endParaRPr sz="1500" dirty="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Python Developer. Professional</a:t>
            </a:r>
            <a:br>
              <a:rPr lang="en-US" dirty="0"/>
            </a:br>
            <a:r>
              <a:rPr lang="ru-RU" sz="3200" b="1" dirty="0">
                <a:latin typeface="Roboto"/>
                <a:ea typeface="Roboto"/>
                <a:cs typeface="Roboto"/>
                <a:sym typeface="Roboto"/>
              </a:rPr>
              <a:t>Библиотека </a:t>
            </a:r>
            <a:r>
              <a:rPr lang="en-US" sz="3200" b="1" dirty="0" err="1">
                <a:latin typeface="Roboto"/>
                <a:ea typeface="Roboto"/>
                <a:cs typeface="Roboto"/>
                <a:sym typeface="Roboto"/>
              </a:rPr>
              <a:t>Numpy</a:t>
            </a:r>
            <a:r>
              <a:rPr lang="en-US" sz="3200" b="1" dirty="0"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ru-RU" sz="3200" b="1" dirty="0">
                <a:latin typeface="Roboto"/>
                <a:ea typeface="Roboto"/>
                <a:cs typeface="Roboto"/>
                <a:sym typeface="Roboto"/>
              </a:rPr>
              <a:t>вектора и матрицы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84F72DE5-B9BB-374F-994F-599AA90D4AE7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96200" y="4876800"/>
            <a:ext cx="1295399" cy="1523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3575" y="387492"/>
            <a:ext cx="5865017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Правила</a:t>
            </a:r>
            <a:r>
              <a:rPr sz="3200" spc="-60" dirty="0"/>
              <a:t> </a:t>
            </a:r>
            <a:r>
              <a:rPr sz="3200" dirty="0"/>
              <a:t>вебинара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7650" y="3951280"/>
            <a:ext cx="692621" cy="6926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7650" y="1281613"/>
            <a:ext cx="692621" cy="69261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7650" y="3061405"/>
            <a:ext cx="692621" cy="69259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7650" y="2171509"/>
            <a:ext cx="692621" cy="69261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4808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Активно </a:t>
            </a:r>
            <a:r>
              <a:rPr dirty="0"/>
              <a:t> </a:t>
            </a:r>
            <a:r>
              <a:rPr spc="-25" dirty="0"/>
              <a:t>участ</a:t>
            </a:r>
            <a:r>
              <a:rPr spc="-30" dirty="0"/>
              <a:t>в</a:t>
            </a:r>
            <a:r>
              <a:rPr spc="-55" dirty="0"/>
              <a:t>у</a:t>
            </a:r>
            <a:r>
              <a:rPr spc="-5" dirty="0"/>
              <a:t>ем</a:t>
            </a: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200" dirty="0"/>
          </a:p>
          <a:p>
            <a:pPr marL="12700" marR="280670">
              <a:lnSpc>
                <a:spcPct val="100000"/>
              </a:lnSpc>
            </a:pPr>
            <a:r>
              <a:rPr spc="-35" dirty="0"/>
              <a:t>Off-topic </a:t>
            </a:r>
            <a:r>
              <a:rPr spc="-10" dirty="0"/>
              <a:t>обсуждаем </a:t>
            </a:r>
            <a:r>
              <a:rPr spc="-360" dirty="0"/>
              <a:t> </a:t>
            </a:r>
            <a:r>
              <a:rPr dirty="0"/>
              <a:t>в</a:t>
            </a:r>
            <a:r>
              <a:rPr spc="-15" dirty="0"/>
              <a:t> </a:t>
            </a:r>
            <a:r>
              <a:rPr spc="-10" dirty="0"/>
              <a:t>учебной</a:t>
            </a:r>
            <a:r>
              <a:rPr spc="-15" dirty="0"/>
              <a:t> </a:t>
            </a:r>
            <a:r>
              <a:rPr spc="-10" dirty="0"/>
              <a:t>группе</a:t>
            </a:r>
          </a:p>
          <a:p>
            <a:pPr>
              <a:lnSpc>
                <a:spcPct val="100000"/>
              </a:lnSpc>
            </a:pPr>
            <a:endParaRPr sz="1700" dirty="0"/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950" dirty="0"/>
          </a:p>
          <a:p>
            <a:pPr marL="12700">
              <a:lnSpc>
                <a:spcPct val="100000"/>
              </a:lnSpc>
            </a:pPr>
            <a:r>
              <a:rPr spc="-35" dirty="0"/>
              <a:t>Задаем</a:t>
            </a:r>
            <a:r>
              <a:rPr spc="-45" dirty="0"/>
              <a:t> </a:t>
            </a:r>
            <a:r>
              <a:rPr spc="-5" dirty="0"/>
              <a:t>вопрос</a:t>
            </a:r>
          </a:p>
          <a:p>
            <a:pPr marL="12700">
              <a:lnSpc>
                <a:spcPct val="100000"/>
              </a:lnSpc>
            </a:pPr>
            <a:r>
              <a:rPr dirty="0" err="1"/>
              <a:t>в</a:t>
            </a:r>
            <a:r>
              <a:rPr spc="-20" dirty="0"/>
              <a:t> </a:t>
            </a:r>
            <a:r>
              <a:rPr spc="-30" dirty="0" err="1"/>
              <a:t>чат</a:t>
            </a:r>
            <a:endParaRPr spc="-5" dirty="0"/>
          </a:p>
          <a:p>
            <a:pPr>
              <a:lnSpc>
                <a:spcPct val="100000"/>
              </a:lnSpc>
            </a:pPr>
            <a:endParaRPr sz="1700" dirty="0"/>
          </a:p>
          <a:p>
            <a:pPr marL="12700" marR="5080">
              <a:lnSpc>
                <a:spcPct val="100000"/>
              </a:lnSpc>
              <a:spcBef>
                <a:spcPts val="1515"/>
              </a:spcBef>
            </a:pPr>
            <a:r>
              <a:rPr spc="-10" dirty="0"/>
              <a:t>Вопросы </a:t>
            </a:r>
            <a:r>
              <a:rPr spc="5" dirty="0"/>
              <a:t>вижу </a:t>
            </a:r>
            <a:r>
              <a:rPr dirty="0"/>
              <a:t>в </a:t>
            </a:r>
            <a:r>
              <a:rPr spc="-35" dirty="0"/>
              <a:t>чате, </a:t>
            </a:r>
            <a:r>
              <a:rPr spc="-30" dirty="0"/>
              <a:t> </a:t>
            </a:r>
            <a:r>
              <a:rPr spc="-15" dirty="0"/>
              <a:t>могу</a:t>
            </a:r>
            <a:r>
              <a:rPr spc="-20" dirty="0"/>
              <a:t> </a:t>
            </a:r>
            <a:r>
              <a:rPr spc="-25" dirty="0"/>
              <a:t>ответить</a:t>
            </a:r>
            <a:r>
              <a:rPr spc="-20" dirty="0"/>
              <a:t> </a:t>
            </a:r>
            <a:r>
              <a:rPr spc="5" dirty="0"/>
              <a:t>не</a:t>
            </a:r>
            <a:r>
              <a:rPr spc="-15" dirty="0"/>
              <a:t> </a:t>
            </a:r>
            <a:r>
              <a:rPr spc="-30" dirty="0"/>
              <a:t>сразу</a:t>
            </a:r>
          </a:p>
        </p:txBody>
      </p:sp>
      <p:grpSp>
        <p:nvGrpSpPr>
          <p:cNvPr id="9" name="object 9"/>
          <p:cNvGrpSpPr/>
          <p:nvPr/>
        </p:nvGrpSpPr>
        <p:grpSpPr>
          <a:xfrm>
            <a:off x="6046275" y="0"/>
            <a:ext cx="3097530" cy="5135880"/>
            <a:chOff x="6046275" y="0"/>
            <a:chExt cx="3097530" cy="5135880"/>
          </a:xfrm>
        </p:grpSpPr>
        <p:sp>
          <p:nvSpPr>
            <p:cNvPr id="10" name="object 10"/>
            <p:cNvSpPr/>
            <p:nvPr/>
          </p:nvSpPr>
          <p:spPr>
            <a:xfrm>
              <a:off x="6046275" y="0"/>
              <a:ext cx="3097530" cy="5135880"/>
            </a:xfrm>
            <a:custGeom>
              <a:avLst/>
              <a:gdLst/>
              <a:ahLst/>
              <a:cxnLst/>
              <a:rect l="l" t="t" r="r" b="b"/>
              <a:pathLst>
                <a:path w="3097529" h="5135880">
                  <a:moveTo>
                    <a:pt x="3097499" y="5135450"/>
                  </a:moveTo>
                  <a:lnTo>
                    <a:pt x="0" y="5135450"/>
                  </a:lnTo>
                  <a:lnTo>
                    <a:pt x="0" y="0"/>
                  </a:lnTo>
                  <a:lnTo>
                    <a:pt x="3097499" y="0"/>
                  </a:lnTo>
                  <a:lnTo>
                    <a:pt x="3097499" y="513545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38592" y="1912031"/>
              <a:ext cx="330301" cy="33030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38592" y="2392126"/>
              <a:ext cx="330301" cy="33030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438592" y="2872220"/>
              <a:ext cx="330301" cy="33030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38592" y="3352314"/>
              <a:ext cx="330301" cy="33030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438592" y="3832409"/>
              <a:ext cx="330301" cy="33030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38592" y="4312502"/>
              <a:ext cx="330301" cy="330302"/>
            </a:xfrm>
            <a:prstGeom prst="rect">
              <a:avLst/>
            </a:prstGeom>
          </p:spPr>
        </p:pic>
      </p:grpSp>
      <p:sp>
        <p:nvSpPr>
          <p:cNvPr id="17" name="object 17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9591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Условные </a:t>
            </a:r>
            <a:r>
              <a:rPr spc="-5" dirty="0"/>
              <a:t> </a:t>
            </a:r>
            <a:r>
              <a:rPr spc="-10" dirty="0"/>
              <a:t>обозначения</a:t>
            </a:r>
          </a:p>
          <a:p>
            <a:pPr marL="497840">
              <a:lnSpc>
                <a:spcPct val="100000"/>
              </a:lnSpc>
              <a:spcBef>
                <a:spcPts val="1895"/>
              </a:spcBef>
            </a:pPr>
            <a:r>
              <a:rPr sz="1100" b="0" spc="-10" dirty="0">
                <a:latin typeface="Roboto"/>
                <a:cs typeface="Roboto"/>
              </a:rPr>
              <a:t>Индивидуально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450">
              <a:latin typeface="Roboto"/>
              <a:cs typeface="Roboto"/>
            </a:endParaRPr>
          </a:p>
          <a:p>
            <a:pPr marL="497840" marR="5080">
              <a:lnSpc>
                <a:spcPct val="100000"/>
              </a:lnSpc>
              <a:spcBef>
                <a:spcPts val="5"/>
              </a:spcBef>
            </a:pPr>
            <a:r>
              <a:rPr sz="1100" b="0" spc="-15" dirty="0">
                <a:latin typeface="Roboto"/>
                <a:cs typeface="Roboto"/>
              </a:rPr>
              <a:t>Время, необходимое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на</a:t>
            </a:r>
            <a:r>
              <a:rPr sz="1100" b="0" spc="-10" dirty="0">
                <a:latin typeface="Roboto"/>
                <a:cs typeface="Roboto"/>
              </a:rPr>
              <a:t> </a:t>
            </a:r>
            <a:r>
              <a:rPr sz="1100" b="0" spc="-15" dirty="0">
                <a:latin typeface="Roboto"/>
                <a:cs typeface="Roboto"/>
              </a:rPr>
              <a:t>активность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</a:pPr>
            <a:r>
              <a:rPr sz="1100" b="0" dirty="0">
                <a:latin typeface="Roboto"/>
                <a:cs typeface="Roboto"/>
              </a:rPr>
              <a:t>Пишем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dirty="0">
                <a:latin typeface="Roboto"/>
                <a:cs typeface="Roboto"/>
              </a:rPr>
              <a:t>в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чат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950"/>
              </a:spcBef>
            </a:pPr>
            <a:r>
              <a:rPr sz="1100" b="0" spc="-20" dirty="0">
                <a:latin typeface="Roboto"/>
                <a:cs typeface="Roboto"/>
              </a:rPr>
              <a:t>Говорим</a:t>
            </a:r>
            <a:r>
              <a:rPr sz="1100" b="0" spc="-3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голосом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00">
              <a:latin typeface="Roboto"/>
              <a:cs typeface="Roboto"/>
            </a:endParaRPr>
          </a:p>
          <a:p>
            <a:pPr marL="497840">
              <a:lnSpc>
                <a:spcPct val="100000"/>
              </a:lnSpc>
              <a:spcBef>
                <a:spcPts val="805"/>
              </a:spcBef>
            </a:pPr>
            <a:r>
              <a:rPr sz="1100" b="0" spc="-15" dirty="0">
                <a:latin typeface="Roboto"/>
                <a:cs typeface="Roboto"/>
              </a:rPr>
              <a:t>Документ</a:t>
            </a:r>
            <a:endParaRPr sz="11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50">
              <a:latin typeface="Roboto"/>
              <a:cs typeface="Roboto"/>
            </a:endParaRPr>
          </a:p>
          <a:p>
            <a:pPr marL="497840" marR="161925">
              <a:lnSpc>
                <a:spcPct val="100000"/>
              </a:lnSpc>
            </a:pPr>
            <a:r>
              <a:rPr sz="1100" b="0" spc="-25" dirty="0">
                <a:latin typeface="Roboto"/>
                <a:cs typeface="Roboto"/>
              </a:rPr>
              <a:t>Ответьте </a:t>
            </a:r>
            <a:r>
              <a:rPr sz="1100" b="0" spc="-5" dirty="0">
                <a:latin typeface="Roboto"/>
                <a:cs typeface="Roboto"/>
              </a:rPr>
              <a:t>себе </a:t>
            </a:r>
            <a:r>
              <a:rPr sz="1100" b="0" spc="10" dirty="0">
                <a:latin typeface="Roboto"/>
                <a:cs typeface="Roboto"/>
              </a:rPr>
              <a:t>или </a:t>
            </a:r>
            <a:r>
              <a:rPr sz="1100" b="0" spc="-260" dirty="0">
                <a:latin typeface="Roboto"/>
                <a:cs typeface="Roboto"/>
              </a:rPr>
              <a:t> </a:t>
            </a:r>
            <a:r>
              <a:rPr sz="1100" b="0" spc="-25" dirty="0">
                <a:latin typeface="Roboto"/>
                <a:cs typeface="Roboto"/>
              </a:rPr>
              <a:t>задайте</a:t>
            </a:r>
            <a:r>
              <a:rPr sz="1100" b="0" spc="-20" dirty="0">
                <a:latin typeface="Roboto"/>
                <a:cs typeface="Roboto"/>
              </a:rPr>
              <a:t> </a:t>
            </a:r>
            <a:r>
              <a:rPr sz="1100" b="0" spc="-5" dirty="0">
                <a:latin typeface="Roboto"/>
                <a:cs typeface="Roboto"/>
              </a:rPr>
              <a:t>вопрос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3575" y="388000"/>
            <a:ext cx="6225366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Карта</a:t>
            </a:r>
            <a:r>
              <a:rPr spc="-65" dirty="0"/>
              <a:t> </a:t>
            </a:r>
            <a:r>
              <a:rPr spc="-15" dirty="0"/>
              <a:t>курса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2B962FB-80BD-6A48-8524-7D919FB49D23}"/>
              </a:ext>
            </a:extLst>
          </p:cNvPr>
          <p:cNvSpPr/>
          <p:nvPr/>
        </p:nvSpPr>
        <p:spPr>
          <a:xfrm>
            <a:off x="5464657" y="1118648"/>
            <a:ext cx="2320880" cy="499402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Python Advanced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2BC185D-17BD-9442-94E8-23EB83D225B1}"/>
              </a:ext>
            </a:extLst>
          </p:cNvPr>
          <p:cNvSpPr/>
          <p:nvPr/>
        </p:nvSpPr>
        <p:spPr>
          <a:xfrm>
            <a:off x="1049762" y="1635977"/>
            <a:ext cx="2871318" cy="5334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pc="-10" dirty="0">
                <a:solidFill>
                  <a:schemeClr val="tx1"/>
                </a:solidFill>
                <a:latin typeface="Roboto"/>
                <a:cs typeface="Roboto"/>
              </a:rPr>
              <a:t>Web. Django. </a:t>
            </a:r>
            <a:r>
              <a:rPr lang="en-US" sz="1400" spc="-10" dirty="0" err="1">
                <a:solidFill>
                  <a:schemeClr val="tx1"/>
                </a:solidFill>
                <a:latin typeface="Roboto"/>
                <a:cs typeface="Roboto"/>
              </a:rPr>
              <a:t>FastAPI</a:t>
            </a:r>
            <a:r>
              <a:rPr lang="en-US" sz="1400" spc="-10" dirty="0">
                <a:solidFill>
                  <a:schemeClr val="tx1"/>
                </a:solidFill>
                <a:latin typeface="Roboto"/>
                <a:cs typeface="Roboto"/>
              </a:rPr>
              <a:t>.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D389797C-5AC8-8647-A026-69A3A4FA36D4}"/>
              </a:ext>
            </a:extLst>
          </p:cNvPr>
          <p:cNvSpPr/>
          <p:nvPr/>
        </p:nvSpPr>
        <p:spPr>
          <a:xfrm>
            <a:off x="5045557" y="2671225"/>
            <a:ext cx="3159080" cy="680465"/>
          </a:xfrm>
          <a:prstGeom prst="roundRect">
            <a:avLst/>
          </a:prstGeom>
          <a:solidFill>
            <a:srgbClr val="FFD966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spc="-20" dirty="0" err="1">
                <a:solidFill>
                  <a:schemeClr val="tx1"/>
                </a:solidFill>
                <a:latin typeface="Roboto"/>
                <a:cs typeface="Roboto"/>
              </a:rPr>
              <a:t>DataEngineering</a:t>
            </a:r>
            <a:endParaRPr lang="en-US" sz="1400" spc="-20" dirty="0">
              <a:solidFill>
                <a:schemeClr val="tx1"/>
              </a:solidFill>
              <a:latin typeface="Roboto"/>
              <a:cs typeface="Roboto"/>
            </a:endParaRP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D06F4D35-6103-0049-B079-D9E4D26C23A1}"/>
              </a:ext>
            </a:extLst>
          </p:cNvPr>
          <p:cNvSpPr/>
          <p:nvPr/>
        </p:nvSpPr>
        <p:spPr>
          <a:xfrm>
            <a:off x="762000" y="3351690"/>
            <a:ext cx="3159080" cy="680465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0" i="0" u="none" strike="noStrike" dirty="0" err="1">
                <a:solidFill>
                  <a:schemeClr val="tx1"/>
                </a:solidFill>
                <a:effectLst/>
                <a:latin typeface="roboto" panose="02000000000000000000" pitchFamily="2" charset="0"/>
              </a:rPr>
              <a:t>Highload</a:t>
            </a:r>
            <a:endParaRPr lang="ru-RU" sz="1400" b="0" i="0" u="none" strike="noStrike" dirty="0">
              <a:solidFill>
                <a:schemeClr val="tx1"/>
              </a:solidFill>
              <a:effectLst/>
              <a:latin typeface="roboto" panose="02000000000000000000" pitchFamily="2" charset="0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07B65E25-3B50-0547-A404-FB902131A18C}"/>
              </a:ext>
            </a:extLst>
          </p:cNvPr>
          <p:cNvSpPr/>
          <p:nvPr/>
        </p:nvSpPr>
        <p:spPr>
          <a:xfrm>
            <a:off x="4800600" y="3943350"/>
            <a:ext cx="3159080" cy="680465"/>
          </a:xfrm>
          <a:prstGeom prst="round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>
                <a:solidFill>
                  <a:schemeClr val="tx1"/>
                </a:solidFill>
                <a:latin typeface="roboto" panose="02000000000000000000" pitchFamily="2" charset="0"/>
              </a:rPr>
              <a:t>Проектная работа</a:t>
            </a:r>
            <a:endParaRPr lang="ru-RU" sz="1400" b="0" i="0" u="none" strike="noStrike" dirty="0">
              <a:solidFill>
                <a:schemeClr val="tx1"/>
              </a:solidFill>
              <a:effectLst/>
              <a:latin typeface="roboto" panose="02000000000000000000" pitchFamily="2" charset="0"/>
            </a:endParaRPr>
          </a:p>
        </p:txBody>
      </p:sp>
      <p:cxnSp>
        <p:nvCxnSpPr>
          <p:cNvPr id="35" name="Curved Connector 34">
            <a:extLst>
              <a:ext uri="{FF2B5EF4-FFF2-40B4-BE49-F238E27FC236}">
                <a16:creationId xmlns:a16="http://schemas.microsoft.com/office/drawing/2014/main" id="{37285617-EA33-4A41-ADCC-CBE14D49180A}"/>
              </a:ext>
            </a:extLst>
          </p:cNvPr>
          <p:cNvCxnSpPr>
            <a:stCxn id="27" idx="1"/>
            <a:endCxn id="28" idx="0"/>
          </p:cNvCxnSpPr>
          <p:nvPr/>
        </p:nvCxnSpPr>
        <p:spPr>
          <a:xfrm rot="10800000" flipV="1">
            <a:off x="2485421" y="1368349"/>
            <a:ext cx="2979236" cy="267628"/>
          </a:xfrm>
          <a:prstGeom prst="curved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>
            <a:extLst>
              <a:ext uri="{FF2B5EF4-FFF2-40B4-BE49-F238E27FC236}">
                <a16:creationId xmlns:a16="http://schemas.microsoft.com/office/drawing/2014/main" id="{D756DAE7-9C8B-C141-B84C-9D09901DD5B3}"/>
              </a:ext>
            </a:extLst>
          </p:cNvPr>
          <p:cNvCxnSpPr>
            <a:cxnSpLocks/>
            <a:stCxn id="31" idx="0"/>
            <a:endCxn id="28" idx="3"/>
          </p:cNvCxnSpPr>
          <p:nvPr/>
        </p:nvCxnSpPr>
        <p:spPr>
          <a:xfrm rot="16200000" flipV="1">
            <a:off x="4888815" y="934942"/>
            <a:ext cx="768548" cy="2704017"/>
          </a:xfrm>
          <a:prstGeom prst="curved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urved Connector 38">
            <a:extLst>
              <a:ext uri="{FF2B5EF4-FFF2-40B4-BE49-F238E27FC236}">
                <a16:creationId xmlns:a16="http://schemas.microsoft.com/office/drawing/2014/main" id="{AC942019-1574-FC4F-BCCC-887DF1A37A86}"/>
              </a:ext>
            </a:extLst>
          </p:cNvPr>
          <p:cNvCxnSpPr>
            <a:cxnSpLocks/>
            <a:stCxn id="31" idx="1"/>
            <a:endCxn id="32" idx="0"/>
          </p:cNvCxnSpPr>
          <p:nvPr/>
        </p:nvCxnSpPr>
        <p:spPr>
          <a:xfrm rot="10800000" flipV="1">
            <a:off x="2341541" y="3011458"/>
            <a:ext cx="2704017" cy="340232"/>
          </a:xfrm>
          <a:prstGeom prst="curved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urved Connector 41">
            <a:extLst>
              <a:ext uri="{FF2B5EF4-FFF2-40B4-BE49-F238E27FC236}">
                <a16:creationId xmlns:a16="http://schemas.microsoft.com/office/drawing/2014/main" id="{000F223C-79D7-D841-84F9-9C5650FBE24F}"/>
              </a:ext>
            </a:extLst>
          </p:cNvPr>
          <p:cNvCxnSpPr>
            <a:cxnSpLocks/>
            <a:stCxn id="33" idx="1"/>
            <a:endCxn id="32" idx="2"/>
          </p:cNvCxnSpPr>
          <p:nvPr/>
        </p:nvCxnSpPr>
        <p:spPr>
          <a:xfrm rot="10800000">
            <a:off x="2341540" y="4032155"/>
            <a:ext cx="2459060" cy="251428"/>
          </a:xfrm>
          <a:prstGeom prst="curvedConnector2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Маршрут вебинара</a:t>
            </a:r>
            <a:endParaRPr/>
          </a:p>
        </p:txBody>
      </p:sp>
      <p:sp>
        <p:nvSpPr>
          <p:cNvPr id="235" name="Google Shape;235;p37"/>
          <p:cNvSpPr/>
          <p:nvPr/>
        </p:nvSpPr>
        <p:spPr>
          <a:xfrm>
            <a:off x="740239" y="1074905"/>
            <a:ext cx="355627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Массивы в </a:t>
            </a:r>
            <a:r>
              <a:rPr lang="en-US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NumPy</a:t>
            </a:r>
            <a:endParaRPr lang="ru-RU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37"/>
          <p:cNvSpPr/>
          <p:nvPr/>
        </p:nvSpPr>
        <p:spPr>
          <a:xfrm>
            <a:off x="740239" y="2219567"/>
            <a:ext cx="3556275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Арифметика с векторами</a:t>
            </a:r>
            <a:endParaRPr lang="en-US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37"/>
          <p:cNvSpPr/>
          <p:nvPr/>
        </p:nvSpPr>
        <p:spPr>
          <a:xfrm>
            <a:off x="740239" y="2791898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Индексирование и срезы</a:t>
            </a:r>
            <a:endParaRPr lang="en-US" sz="16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0" name="Google Shape;240;p37"/>
          <p:cNvCxnSpPr>
            <a:cxnSpLocks/>
            <a:stCxn id="235" idx="1"/>
            <a:endCxn id="13" idx="1"/>
          </p:cNvCxnSpPr>
          <p:nvPr/>
        </p:nvCxnSpPr>
        <p:spPr>
          <a:xfrm rot="10800000" flipV="1">
            <a:off x="740239" y="1263004"/>
            <a:ext cx="12700" cy="57233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42" name="Google Shape;242;p37"/>
          <p:cNvCxnSpPr>
            <a:cxnSpLocks/>
            <a:stCxn id="236" idx="1"/>
            <a:endCxn id="238" idx="1"/>
          </p:cNvCxnSpPr>
          <p:nvPr/>
        </p:nvCxnSpPr>
        <p:spPr>
          <a:xfrm rot="10800000" flipV="1">
            <a:off x="740239" y="2407666"/>
            <a:ext cx="12700" cy="57233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2" name="Google Shape;238;p37">
            <a:extLst>
              <a:ext uri="{FF2B5EF4-FFF2-40B4-BE49-F238E27FC236}">
                <a16:creationId xmlns:a16="http://schemas.microsoft.com/office/drawing/2014/main" id="{6F8EE228-CF1E-F70B-4105-8ECCB7307098}"/>
              </a:ext>
            </a:extLst>
          </p:cNvPr>
          <p:cNvSpPr/>
          <p:nvPr/>
        </p:nvSpPr>
        <p:spPr>
          <a:xfrm>
            <a:off x="740239" y="3364229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Изменение размера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" name="Google Shape;242;p37">
            <a:extLst>
              <a:ext uri="{FF2B5EF4-FFF2-40B4-BE49-F238E27FC236}">
                <a16:creationId xmlns:a16="http://schemas.microsoft.com/office/drawing/2014/main" id="{9084AE32-B3C1-CEFB-608C-75D2CB107D7A}"/>
              </a:ext>
            </a:extLst>
          </p:cNvPr>
          <p:cNvCxnSpPr>
            <a:cxnSpLocks/>
            <a:stCxn id="238" idx="1"/>
            <a:endCxn id="2" idx="1"/>
          </p:cNvCxnSpPr>
          <p:nvPr/>
        </p:nvCxnSpPr>
        <p:spPr>
          <a:xfrm rot="10800000" flipV="1">
            <a:off x="740239" y="2979997"/>
            <a:ext cx="12700" cy="57233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3" name="Google Shape;235;p37">
            <a:extLst>
              <a:ext uri="{FF2B5EF4-FFF2-40B4-BE49-F238E27FC236}">
                <a16:creationId xmlns:a16="http://schemas.microsoft.com/office/drawing/2014/main" id="{4E855995-62AE-0E46-BFC9-81D4F9F39802}"/>
              </a:ext>
            </a:extLst>
          </p:cNvPr>
          <p:cNvSpPr/>
          <p:nvPr/>
        </p:nvSpPr>
        <p:spPr>
          <a:xfrm>
            <a:off x="740239" y="1647236"/>
            <a:ext cx="355627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Векторы и матрицы</a:t>
            </a:r>
            <a:endParaRPr lang="ru-RU" sz="16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" name="Google Shape;242;p37">
            <a:extLst>
              <a:ext uri="{FF2B5EF4-FFF2-40B4-BE49-F238E27FC236}">
                <a16:creationId xmlns:a16="http://schemas.microsoft.com/office/drawing/2014/main" id="{D6911694-A420-8C4B-BC21-6354019EC62C}"/>
              </a:ext>
            </a:extLst>
          </p:cNvPr>
          <p:cNvCxnSpPr>
            <a:cxnSpLocks/>
            <a:stCxn id="13" idx="1"/>
            <a:endCxn id="236" idx="1"/>
          </p:cNvCxnSpPr>
          <p:nvPr/>
        </p:nvCxnSpPr>
        <p:spPr>
          <a:xfrm rot="10800000" flipV="1">
            <a:off x="740239" y="1835335"/>
            <a:ext cx="12700" cy="57233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6" name="Google Shape;238;p37">
            <a:extLst>
              <a:ext uri="{FF2B5EF4-FFF2-40B4-BE49-F238E27FC236}">
                <a16:creationId xmlns:a16="http://schemas.microsoft.com/office/drawing/2014/main" id="{1E93F41F-C7D4-7B40-9453-630D8322B79F}"/>
              </a:ext>
            </a:extLst>
          </p:cNvPr>
          <p:cNvSpPr/>
          <p:nvPr/>
        </p:nvSpPr>
        <p:spPr>
          <a:xfrm>
            <a:off x="740239" y="3936560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Универсальные функции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" name="Google Shape;238;p37">
            <a:extLst>
              <a:ext uri="{FF2B5EF4-FFF2-40B4-BE49-F238E27FC236}">
                <a16:creationId xmlns:a16="http://schemas.microsoft.com/office/drawing/2014/main" id="{A9FEECAF-5693-6943-B6A3-087594019852}"/>
              </a:ext>
            </a:extLst>
          </p:cNvPr>
          <p:cNvSpPr/>
          <p:nvPr/>
        </p:nvSpPr>
        <p:spPr>
          <a:xfrm>
            <a:off x="740239" y="4508891"/>
            <a:ext cx="3555066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Статистические операции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" name="Google Shape;242;p37">
            <a:extLst>
              <a:ext uri="{FF2B5EF4-FFF2-40B4-BE49-F238E27FC236}">
                <a16:creationId xmlns:a16="http://schemas.microsoft.com/office/drawing/2014/main" id="{B2CB5C7A-BED0-5A48-8D67-CA874A50A0CA}"/>
              </a:ext>
            </a:extLst>
          </p:cNvPr>
          <p:cNvCxnSpPr>
            <a:cxnSpLocks/>
            <a:stCxn id="2" idx="1"/>
            <a:endCxn id="16" idx="1"/>
          </p:cNvCxnSpPr>
          <p:nvPr/>
        </p:nvCxnSpPr>
        <p:spPr>
          <a:xfrm rot="10800000" flipV="1">
            <a:off x="740239" y="3552328"/>
            <a:ext cx="12700" cy="57233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1" name="Google Shape;242;p37">
            <a:extLst>
              <a:ext uri="{FF2B5EF4-FFF2-40B4-BE49-F238E27FC236}">
                <a16:creationId xmlns:a16="http://schemas.microsoft.com/office/drawing/2014/main" id="{291BD154-5459-924F-A6F6-82CAD3D94BB7}"/>
              </a:ext>
            </a:extLst>
          </p:cNvPr>
          <p:cNvCxnSpPr>
            <a:cxnSpLocks/>
            <a:stCxn id="16" idx="1"/>
            <a:endCxn id="17" idx="1"/>
          </p:cNvCxnSpPr>
          <p:nvPr/>
        </p:nvCxnSpPr>
        <p:spPr>
          <a:xfrm rot="10800000" flipV="1">
            <a:off x="740239" y="4124659"/>
            <a:ext cx="12700" cy="572331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43CB3224-D5BB-DF46-BFD7-6FE236A0CED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218"/>
          <a:stretch/>
        </p:blipFill>
        <p:spPr>
          <a:xfrm>
            <a:off x="4572001" y="1026994"/>
            <a:ext cx="4071450" cy="1992884"/>
          </a:xfrm>
          <a:prstGeom prst="rect">
            <a:avLst/>
          </a:prstGeom>
        </p:spPr>
      </p:pic>
      <p:sp>
        <p:nvSpPr>
          <p:cNvPr id="19" name="Google Shape;238;p37">
            <a:extLst>
              <a:ext uri="{FF2B5EF4-FFF2-40B4-BE49-F238E27FC236}">
                <a16:creationId xmlns:a16="http://schemas.microsoft.com/office/drawing/2014/main" id="{A172070A-2138-6C49-9D34-F783A5DF1F56}"/>
              </a:ext>
            </a:extLst>
          </p:cNvPr>
          <p:cNvSpPr/>
          <p:nvPr/>
        </p:nvSpPr>
        <p:spPr>
          <a:xfrm>
            <a:off x="4933545" y="3368775"/>
            <a:ext cx="3835392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Сортировка и удаление дубликатов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" name="Google Shape;238;p37">
            <a:extLst>
              <a:ext uri="{FF2B5EF4-FFF2-40B4-BE49-F238E27FC236}">
                <a16:creationId xmlns:a16="http://schemas.microsoft.com/office/drawing/2014/main" id="{98A647DE-FE87-0645-950D-B25BED3B6CCB}"/>
              </a:ext>
            </a:extLst>
          </p:cNvPr>
          <p:cNvSpPr/>
          <p:nvPr/>
        </p:nvSpPr>
        <p:spPr>
          <a:xfrm>
            <a:off x="4933545" y="3934744"/>
            <a:ext cx="3835392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Линейная алгебра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" name="Google Shape;238;p37">
            <a:extLst>
              <a:ext uri="{FF2B5EF4-FFF2-40B4-BE49-F238E27FC236}">
                <a16:creationId xmlns:a16="http://schemas.microsoft.com/office/drawing/2014/main" id="{C5983852-647D-B64D-8505-C5AC5056B8A5}"/>
              </a:ext>
            </a:extLst>
          </p:cNvPr>
          <p:cNvSpPr/>
          <p:nvPr/>
        </p:nvSpPr>
        <p:spPr>
          <a:xfrm>
            <a:off x="4953000" y="4508890"/>
            <a:ext cx="3835392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Рефлексия</a:t>
            </a:r>
            <a:endParaRPr sz="1600" b="0" i="0" u="none" strike="noStrike" cap="none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3" name="Google Shape;242;p37">
            <a:extLst>
              <a:ext uri="{FF2B5EF4-FFF2-40B4-BE49-F238E27FC236}">
                <a16:creationId xmlns:a16="http://schemas.microsoft.com/office/drawing/2014/main" id="{A4EA118F-BD30-6D43-ADC8-AF6ACCDE8AAE}"/>
              </a:ext>
            </a:extLst>
          </p:cNvPr>
          <p:cNvCxnSpPr>
            <a:cxnSpLocks/>
            <a:stCxn id="19" idx="1"/>
            <a:endCxn id="17" idx="3"/>
          </p:cNvCxnSpPr>
          <p:nvPr/>
        </p:nvCxnSpPr>
        <p:spPr>
          <a:xfrm rot="10800000" flipV="1">
            <a:off x="4295305" y="3556875"/>
            <a:ext cx="638240" cy="1140116"/>
          </a:xfrm>
          <a:prstGeom prst="curvedConnector3">
            <a:avLst>
              <a:gd name="adj1" fmla="val 5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5" name="Google Shape;242;p37">
            <a:extLst>
              <a:ext uri="{FF2B5EF4-FFF2-40B4-BE49-F238E27FC236}">
                <a16:creationId xmlns:a16="http://schemas.microsoft.com/office/drawing/2014/main" id="{32C3D994-1467-F841-A5CB-BCCCE34A5946}"/>
              </a:ext>
            </a:extLst>
          </p:cNvPr>
          <p:cNvCxnSpPr>
            <a:cxnSpLocks/>
            <a:stCxn id="19" idx="1"/>
            <a:endCxn id="20" idx="1"/>
          </p:cNvCxnSpPr>
          <p:nvPr/>
        </p:nvCxnSpPr>
        <p:spPr>
          <a:xfrm rot="10800000" flipV="1">
            <a:off x="4933545" y="3556874"/>
            <a:ext cx="12700" cy="565969"/>
          </a:xfrm>
          <a:prstGeom prst="curvedConnector3">
            <a:avLst>
              <a:gd name="adj1" fmla="val 18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8" name="Google Shape;242;p37">
            <a:extLst>
              <a:ext uri="{FF2B5EF4-FFF2-40B4-BE49-F238E27FC236}">
                <a16:creationId xmlns:a16="http://schemas.microsoft.com/office/drawing/2014/main" id="{76CD26E3-5D02-724A-9FEB-6E20D6BA6263}"/>
              </a:ext>
            </a:extLst>
          </p:cNvPr>
          <p:cNvCxnSpPr>
            <a:cxnSpLocks/>
            <a:stCxn id="20" idx="1"/>
            <a:endCxn id="22" idx="1"/>
          </p:cNvCxnSpPr>
          <p:nvPr/>
        </p:nvCxnSpPr>
        <p:spPr>
          <a:xfrm rot="10800000" flipH="1" flipV="1">
            <a:off x="4933544" y="4122844"/>
            <a:ext cx="19455" cy="574146"/>
          </a:xfrm>
          <a:prstGeom prst="curvedConnector3">
            <a:avLst>
              <a:gd name="adj1" fmla="val -1175019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Цели вебинара</a:t>
            </a:r>
            <a:endParaRPr/>
          </a:p>
        </p:txBody>
      </p:sp>
      <p:sp>
        <p:nvSpPr>
          <p:cNvPr id="204" name="Google Shape;204;p37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 dirty="0">
                <a:solidFill>
                  <a:srgbClr val="FF9900"/>
                </a:solidFill>
              </a:rPr>
              <a:t>К концу занятия вы сможете</a:t>
            </a:r>
            <a:endParaRPr sz="1500" b="1" dirty="0">
              <a:solidFill>
                <a:srgbClr val="FF9900"/>
              </a:solidFill>
            </a:endParaRPr>
          </a:p>
        </p:txBody>
      </p:sp>
      <p:graphicFrame>
        <p:nvGraphicFramePr>
          <p:cNvPr id="5" name="Google Shape;210;p38">
            <a:extLst>
              <a:ext uri="{FF2B5EF4-FFF2-40B4-BE49-F238E27FC236}">
                <a16:creationId xmlns:a16="http://schemas.microsoft.com/office/drawing/2014/main" id="{B0C8E344-6310-094A-A544-66E8083E1A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877278"/>
              </p:ext>
            </p:extLst>
          </p:nvPr>
        </p:nvGraphicFramePr>
        <p:xfrm>
          <a:off x="846750" y="1649963"/>
          <a:ext cx="7239000" cy="981436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ym typeface="Roboto"/>
                        </a:rPr>
                        <a:t>Создавать и работать с массивами </a:t>
                      </a:r>
                      <a:r>
                        <a:rPr lang="en-US" sz="1400" dirty="0">
                          <a:sym typeface="Roboto"/>
                        </a:rPr>
                        <a:t>NumPy</a:t>
                      </a:r>
                      <a:endParaRPr lang="ru-RU" sz="1400" dirty="0"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400" b="1" dirty="0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400" b="1" dirty="0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 anchor="ctr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400" dirty="0">
                          <a:sym typeface="Roboto"/>
                        </a:rPr>
                        <a:t>Поймете применение </a:t>
                      </a:r>
                      <a:r>
                        <a:rPr lang="en-US" sz="1400" dirty="0">
                          <a:sym typeface="Roboto"/>
                        </a:rPr>
                        <a:t>NumPy </a:t>
                      </a:r>
                      <a:r>
                        <a:rPr lang="ru-RU" sz="1400" dirty="0">
                          <a:sym typeface="Roboto"/>
                        </a:rPr>
                        <a:t>для математических и статистических операций с векторами и матрицами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Смысл</a:t>
            </a:r>
            <a:endParaRPr/>
          </a:p>
        </p:txBody>
      </p:sp>
      <p:graphicFrame>
        <p:nvGraphicFramePr>
          <p:cNvPr id="210" name="Google Shape;210;p38"/>
          <p:cNvGraphicFramePr/>
          <p:nvPr>
            <p:extLst>
              <p:ext uri="{D42A27DB-BD31-4B8C-83A1-F6EECF244321}">
                <p14:modId xmlns:p14="http://schemas.microsoft.com/office/powerpoint/2010/main" val="2382909610"/>
              </p:ext>
            </p:extLst>
          </p:nvPr>
        </p:nvGraphicFramePr>
        <p:xfrm>
          <a:off x="952500" y="1544194"/>
          <a:ext cx="7239000" cy="34930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 b="1">
                          <a:solidFill>
                            <a:srgbClr val="FF99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300" b="1">
                        <a:solidFill>
                          <a:srgbClr val="FF99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68575" marB="6857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dirty="0">
                          <a:latin typeface="Roboto"/>
                          <a:ea typeface="Roboto"/>
                          <a:cs typeface="Roboto"/>
                          <a:sym typeface="Roboto"/>
                        </a:rPr>
                        <a:t>Быстрые математические операции с векторами и матрицами</a:t>
                      </a:r>
                    </a:p>
                  </a:txBody>
                  <a:tcPr marL="198000" marR="91425" marT="68575" marB="68575">
                    <a:lnL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1" name="Google Shape;211;p38"/>
          <p:cNvSpPr txBox="1">
            <a:spLocks noGrp="1"/>
          </p:cNvSpPr>
          <p:nvPr>
            <p:ph type="subTitle" idx="4294967295"/>
          </p:nvPr>
        </p:nvSpPr>
        <p:spPr>
          <a:xfrm>
            <a:off x="500550" y="85736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FF9900"/>
                </a:solidFill>
              </a:rPr>
              <a:t>Зачем вам это знать</a:t>
            </a:r>
            <a:endParaRPr sz="1500" b="1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Библиотека </a:t>
            </a:r>
            <a:r>
              <a:rPr lang="en-US" dirty="0"/>
              <a:t>NumPy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1339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B75D80-797D-A14E-AF21-95E49EB59198}"/>
              </a:ext>
            </a:extLst>
          </p:cNvPr>
          <p:cNvSpPr txBox="1"/>
          <p:nvPr/>
        </p:nvSpPr>
        <p:spPr>
          <a:xfrm>
            <a:off x="270148" y="1657350"/>
            <a:ext cx="8603701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поддержка многомерных массивов (включая матрицы);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быстрые векторные</a:t>
            </a:r>
            <a:r>
              <a:rPr lang="en-US" sz="2000" dirty="0"/>
              <a:t> </a:t>
            </a:r>
            <a:r>
              <a:rPr lang="ru-RU" sz="2000" dirty="0"/>
              <a:t>операции;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стандартные алгоритмы работы</a:t>
            </a:r>
            <a:r>
              <a:rPr lang="en-US" sz="2000" dirty="0"/>
              <a:t> </a:t>
            </a:r>
            <a:r>
              <a:rPr lang="ru-RU" sz="2000" dirty="0"/>
              <a:t>с массивами;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эффективная описательная статистика;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соединение разнородных наборов данных;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описание условной логики в виде выражений-массивов вместо циклов с ветвлением </a:t>
            </a:r>
            <a:r>
              <a:rPr lang="en-US" sz="2000" dirty="0"/>
              <a:t>if–</a:t>
            </a:r>
            <a:r>
              <a:rPr lang="en-US" sz="2000" dirty="0" err="1"/>
              <a:t>elif</a:t>
            </a:r>
            <a:r>
              <a:rPr lang="en-US" sz="2000" dirty="0"/>
              <a:t>–else;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групповые операции с данными</a:t>
            </a: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E6A5AB-117E-E044-A328-9A2F293EE9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57150"/>
            <a:ext cx="4000500" cy="16002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BAFE96F-1088-2A41-9359-32E3C5306B82}"/>
              </a:ext>
            </a:extLst>
          </p:cNvPr>
          <p:cNvSpPr txBox="1"/>
          <p:nvPr/>
        </p:nvSpPr>
        <p:spPr>
          <a:xfrm>
            <a:off x="1566817" y="1173259"/>
            <a:ext cx="30051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ru-RU" sz="1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сокращенно от </a:t>
            </a:r>
            <a:r>
              <a:rPr lang="en-US" sz="1400" b="0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Numerical Python</a:t>
            </a:r>
            <a:r>
              <a:rPr lang="en-US" sz="1400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29280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86EB4-0F15-CE45-856A-EC3EBA601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Вектор и матрица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FFD9C2-247E-3F45-A741-E18D8127E4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123950"/>
            <a:ext cx="2209800" cy="17187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336803-6A42-164F-A018-FFB1E4579CD3}"/>
              </a:ext>
            </a:extLst>
          </p:cNvPr>
          <p:cNvSpPr txBox="1"/>
          <p:nvPr/>
        </p:nvSpPr>
        <p:spPr>
          <a:xfrm>
            <a:off x="3505200" y="1352550"/>
            <a:ext cx="551595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/>
              <a:t>Вектор</a:t>
            </a:r>
            <a:r>
              <a:rPr lang="ru-RU" dirty="0"/>
              <a:t> - математический объект, характеризующийся величиной и направлением.</a:t>
            </a:r>
          </a:p>
          <a:p>
            <a:r>
              <a:rPr lang="ru-RU" b="1" dirty="0"/>
              <a:t>Вектор </a:t>
            </a:r>
            <a:r>
              <a:rPr lang="ru-RU" dirty="0"/>
              <a:t>можно рассматривать, как </a:t>
            </a:r>
            <a:r>
              <a:rPr lang="ru-RU" b="1" i="1" dirty="0"/>
              <a:t>одномерный</a:t>
            </a:r>
            <a:r>
              <a:rPr lang="ru-RU" dirty="0"/>
              <a:t> массив, значения которого соответствуют величине по каждой из осей.</a:t>
            </a:r>
          </a:p>
          <a:p>
            <a:endParaRPr lang="ru-RU" dirty="0"/>
          </a:p>
          <a:p>
            <a:endParaRPr lang="ru-RU" b="1" dirty="0"/>
          </a:p>
          <a:p>
            <a:endParaRPr lang="ru-RU" b="1" dirty="0"/>
          </a:p>
          <a:p>
            <a:r>
              <a:rPr lang="ru-RU" b="1" dirty="0"/>
              <a:t>Матрица </a:t>
            </a:r>
            <a:r>
              <a:rPr lang="ru-RU" dirty="0"/>
              <a:t>– </a:t>
            </a:r>
            <a:r>
              <a:rPr lang="ru-RU" b="1" i="1" dirty="0"/>
              <a:t>многомерный</a:t>
            </a:r>
            <a:r>
              <a:rPr lang="ru-RU" dirty="0"/>
              <a:t> массив.</a:t>
            </a:r>
          </a:p>
          <a:p>
            <a:endParaRPr lang="ru-RU" dirty="0"/>
          </a:p>
          <a:p>
            <a:r>
              <a:rPr lang="ru-RU" dirty="0"/>
              <a:t>Пример – двумерной матрицы.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37E737-8E7A-584C-86D9-03A672B81E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3202305"/>
            <a:ext cx="2971800" cy="163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875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C7D50-875D-C14A-9AC5-E30F7EADA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массивов в </a:t>
            </a:r>
            <a:r>
              <a:rPr lang="en-US" dirty="0"/>
              <a:t>NumPy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9421F4-6593-BD49-9714-36D9925C98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550" y="949780"/>
            <a:ext cx="8001000" cy="4158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897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AE745-9B51-1B45-A205-C0E8EE56A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Типы данных</a:t>
            </a: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5C3AD19-7CF6-824C-8350-D8869662FA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0097171"/>
              </p:ext>
            </p:extLst>
          </p:nvPr>
        </p:nvGraphicFramePr>
        <p:xfrm>
          <a:off x="500550" y="1047750"/>
          <a:ext cx="8142900" cy="3706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4450">
                  <a:extLst>
                    <a:ext uri="{9D8B030D-6E8A-4147-A177-3AD203B41FA5}">
                      <a16:colId xmlns:a16="http://schemas.microsoft.com/office/drawing/2014/main" val="253837555"/>
                    </a:ext>
                  </a:extLst>
                </a:gridCol>
                <a:gridCol w="6738450">
                  <a:extLst>
                    <a:ext uri="{9D8B030D-6E8A-4147-A177-3AD203B41FA5}">
                      <a16:colId xmlns:a16="http://schemas.microsoft.com/office/drawing/2014/main" val="2675953928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r>
                        <a:rPr lang="ru-RU" dirty="0"/>
                        <a:t>Тип данных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Описание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765893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ts val="13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Int8,</a:t>
                      </a:r>
                      <a:r>
                        <a:rPr lang="ru-RU" sz="1100" dirty="0"/>
                        <a:t> </a:t>
                      </a:r>
                      <a:r>
                        <a:rPr lang="en-US" sz="1100" dirty="0"/>
                        <a:t>uint8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ts val="13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/>
                        <a:t>Короткое целое (от -128 до 127) и Целое число без знака (от 0 до 255)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6174744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ts val="13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Int16</a:t>
                      </a:r>
                      <a:r>
                        <a:rPr lang="ru-RU" sz="1100" dirty="0"/>
                        <a:t>, </a:t>
                      </a:r>
                      <a:r>
                        <a:rPr lang="en-US" sz="1100" dirty="0"/>
                        <a:t>uint16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ts val="13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/>
                        <a:t>Целое число (от -32768 до 32767) и Целое число без знака (от 0 до 65535)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611274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ts val="13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Int32</a:t>
                      </a:r>
                      <a:r>
                        <a:rPr lang="ru-RU" sz="1100" dirty="0"/>
                        <a:t>, </a:t>
                      </a:r>
                      <a:r>
                        <a:rPr lang="en-US" sz="1100" dirty="0"/>
                        <a:t>uint32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ts val="13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/>
                        <a:t>Целое число (от -2147483648 до 2147483647) и Целое число без знака (от 0 до 4294967295)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574820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ts val="13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Int64</a:t>
                      </a:r>
                      <a:r>
                        <a:rPr lang="ru-RU" sz="1100" dirty="0"/>
                        <a:t>, </a:t>
                      </a:r>
                      <a:br>
                        <a:rPr lang="ru-RU" sz="1100" dirty="0"/>
                      </a:br>
                      <a:r>
                        <a:rPr lang="en-US" sz="1100" dirty="0"/>
                        <a:t>uint64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ts val="13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/>
                        <a:t>Целое число (от -9223372036854775808 до 9223372036854775807) и </a:t>
                      </a:r>
                      <a:br>
                        <a:rPr lang="ru-RU" sz="1100" dirty="0"/>
                      </a:br>
                      <a:r>
                        <a:rPr lang="ru-RU" sz="1100" dirty="0"/>
                        <a:t>Целое число без знака (от 0 до 18446744073709551615)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6757120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>
                        <a:lnSpc>
                          <a:spcPts val="1320"/>
                        </a:lnSpc>
                      </a:pPr>
                      <a:r>
                        <a:rPr lang="en-US" sz="1100" dirty="0"/>
                        <a:t>float16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320"/>
                        </a:lnSpc>
                      </a:pPr>
                      <a:r>
                        <a:rPr lang="ru-RU" sz="1100" dirty="0"/>
                        <a:t>Число с плавающей точкой половинной точности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673363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>
                        <a:lnSpc>
                          <a:spcPts val="1320"/>
                        </a:lnSpc>
                      </a:pPr>
                      <a:r>
                        <a:rPr lang="en-US" sz="1100" dirty="0"/>
                        <a:t>float32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ts val="13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/>
                        <a:t>Число с плавающей точкой одинарной точности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9819541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>
                        <a:lnSpc>
                          <a:spcPts val="1320"/>
                        </a:lnSpc>
                      </a:pPr>
                      <a:r>
                        <a:rPr lang="en-US" sz="1100" dirty="0"/>
                        <a:t>float64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ts val="13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/>
                        <a:t>Число с плавающей точкой двойной точности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9084626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>
                        <a:lnSpc>
                          <a:spcPts val="1320"/>
                        </a:lnSpc>
                      </a:pPr>
                      <a:r>
                        <a:rPr lang="en-US" sz="1100" dirty="0"/>
                        <a:t>float</a:t>
                      </a:r>
                      <a:r>
                        <a:rPr lang="ru-RU" sz="1100" dirty="0"/>
                        <a:t>128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ts val="13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dirty="0"/>
                        <a:t>Число с плавающей точкой расширенной точности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306995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ts val="13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complex64, complex128,</a:t>
                      </a:r>
                    </a:p>
                    <a:p>
                      <a:pPr marL="0" marR="0" lvl="0" indent="0" defTabSz="914400" eaLnBrk="1" fontAlgn="auto" latinLnBrk="0" hangingPunct="1">
                        <a:lnSpc>
                          <a:spcPts val="132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complex256,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320"/>
                        </a:lnSpc>
                      </a:pPr>
                      <a:r>
                        <a:rPr lang="ru-RU" sz="1100" dirty="0"/>
                        <a:t>Комплексные числа, действительная и мнимая часть которых представлена соответственно типами </a:t>
                      </a:r>
                      <a:r>
                        <a:rPr lang="en-US" sz="1100" dirty="0"/>
                        <a:t>float32</a:t>
                      </a:r>
                      <a:r>
                        <a:rPr lang="ru-RU" sz="1100" dirty="0"/>
                        <a:t>, </a:t>
                      </a:r>
                      <a:r>
                        <a:rPr lang="en-US" sz="1100" dirty="0"/>
                        <a:t>float</a:t>
                      </a:r>
                      <a:r>
                        <a:rPr lang="ru-RU" sz="1100" dirty="0"/>
                        <a:t>64, </a:t>
                      </a:r>
                      <a:r>
                        <a:rPr lang="en-US" sz="1100" dirty="0"/>
                        <a:t>float</a:t>
                      </a:r>
                      <a:r>
                        <a:rPr lang="ru-RU" sz="1100" dirty="0"/>
                        <a:t>128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7026970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>
                        <a:lnSpc>
                          <a:spcPts val="1320"/>
                        </a:lnSpc>
                      </a:pPr>
                      <a:r>
                        <a:rPr lang="en-US" sz="1100" dirty="0"/>
                        <a:t>bool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320"/>
                        </a:lnSpc>
                      </a:pPr>
                      <a:r>
                        <a:rPr lang="ru-RU" sz="1100" dirty="0"/>
                        <a:t>Бинарный тип, хранит </a:t>
                      </a:r>
                      <a:r>
                        <a:rPr lang="en-US" sz="1100" dirty="0"/>
                        <a:t>True </a:t>
                      </a:r>
                      <a:r>
                        <a:rPr lang="ru-RU" sz="1100" dirty="0"/>
                        <a:t>или </a:t>
                      </a:r>
                      <a:r>
                        <a:rPr lang="en-US" sz="1100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581055"/>
                  </a:ext>
                </a:extLst>
              </a:tr>
              <a:tr h="259200">
                <a:tc>
                  <a:txBody>
                    <a:bodyPr/>
                    <a:lstStyle/>
                    <a:p>
                      <a:pPr>
                        <a:lnSpc>
                          <a:spcPts val="1320"/>
                        </a:lnSpc>
                      </a:pPr>
                      <a:r>
                        <a:rPr lang="en-US" sz="1100" dirty="0"/>
                        <a:t>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ts val="1320"/>
                        </a:lnSpc>
                      </a:pPr>
                      <a:r>
                        <a:rPr lang="ru-RU" sz="1100" dirty="0"/>
                        <a:t>Тип сложного объекта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80873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266530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C4BD9-A9FF-DB43-A158-3EC84C2BB9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Индексирование двумерного массива</a:t>
            </a:r>
            <a:endParaRPr lang="en-US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3B4D4A9-B9F5-F845-98F2-77DAF80F4C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545227"/>
              </p:ext>
            </p:extLst>
          </p:nvPr>
        </p:nvGraphicFramePr>
        <p:xfrm>
          <a:off x="500550" y="1123950"/>
          <a:ext cx="125205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7350">
                  <a:extLst>
                    <a:ext uri="{9D8B030D-6E8A-4147-A177-3AD203B41FA5}">
                      <a16:colId xmlns:a16="http://schemas.microsoft.com/office/drawing/2014/main" val="2949819324"/>
                    </a:ext>
                  </a:extLst>
                </a:gridCol>
                <a:gridCol w="417350">
                  <a:extLst>
                    <a:ext uri="{9D8B030D-6E8A-4147-A177-3AD203B41FA5}">
                      <a16:colId xmlns:a16="http://schemas.microsoft.com/office/drawing/2014/main" val="3884713188"/>
                    </a:ext>
                  </a:extLst>
                </a:gridCol>
                <a:gridCol w="417350">
                  <a:extLst>
                    <a:ext uri="{9D8B030D-6E8A-4147-A177-3AD203B41FA5}">
                      <a16:colId xmlns:a16="http://schemas.microsoft.com/office/drawing/2014/main" val="14239199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9916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119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138410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B5B1B91-19F8-0144-9A47-DFADC0D4DF82}"/>
              </a:ext>
            </a:extLst>
          </p:cNvPr>
          <p:cNvSpPr txBox="1"/>
          <p:nvPr/>
        </p:nvSpPr>
        <p:spPr>
          <a:xfrm>
            <a:off x="2057400" y="1504950"/>
            <a:ext cx="963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arr</a:t>
            </a:r>
            <a:r>
              <a:rPr lang="en-US" dirty="0"/>
              <a:t>[3, 3]</a:t>
            </a:r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1FEFDEB1-2F6A-B142-995B-231A27B8CA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3283947"/>
              </p:ext>
            </p:extLst>
          </p:nvPr>
        </p:nvGraphicFramePr>
        <p:xfrm>
          <a:off x="503793" y="2473436"/>
          <a:ext cx="125205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7350">
                  <a:extLst>
                    <a:ext uri="{9D8B030D-6E8A-4147-A177-3AD203B41FA5}">
                      <a16:colId xmlns:a16="http://schemas.microsoft.com/office/drawing/2014/main" val="2949819324"/>
                    </a:ext>
                  </a:extLst>
                </a:gridCol>
                <a:gridCol w="417350">
                  <a:extLst>
                    <a:ext uri="{9D8B030D-6E8A-4147-A177-3AD203B41FA5}">
                      <a16:colId xmlns:a16="http://schemas.microsoft.com/office/drawing/2014/main" val="3884713188"/>
                    </a:ext>
                  </a:extLst>
                </a:gridCol>
                <a:gridCol w="417350">
                  <a:extLst>
                    <a:ext uri="{9D8B030D-6E8A-4147-A177-3AD203B41FA5}">
                      <a16:colId xmlns:a16="http://schemas.microsoft.com/office/drawing/2014/main" val="14239199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916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6119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138410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B4FEEBD-6A92-7644-8E37-E30C5EFCBB1C}"/>
              </a:ext>
            </a:extLst>
          </p:cNvPr>
          <p:cNvSpPr txBox="1"/>
          <p:nvPr/>
        </p:nvSpPr>
        <p:spPr>
          <a:xfrm>
            <a:off x="1981200" y="2606202"/>
            <a:ext cx="1066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arr</a:t>
            </a:r>
            <a:r>
              <a:rPr lang="en-US" dirty="0"/>
              <a:t>[:2, 1:]</a:t>
            </a:r>
          </a:p>
        </p:txBody>
      </p:sp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87E96970-EF32-8544-9A2B-37010F621A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2474874"/>
              </p:ext>
            </p:extLst>
          </p:nvPr>
        </p:nvGraphicFramePr>
        <p:xfrm>
          <a:off x="500550" y="3784922"/>
          <a:ext cx="125205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7350">
                  <a:extLst>
                    <a:ext uri="{9D8B030D-6E8A-4147-A177-3AD203B41FA5}">
                      <a16:colId xmlns:a16="http://schemas.microsoft.com/office/drawing/2014/main" val="2949819324"/>
                    </a:ext>
                  </a:extLst>
                </a:gridCol>
                <a:gridCol w="417350">
                  <a:extLst>
                    <a:ext uri="{9D8B030D-6E8A-4147-A177-3AD203B41FA5}">
                      <a16:colId xmlns:a16="http://schemas.microsoft.com/office/drawing/2014/main" val="3884713188"/>
                    </a:ext>
                  </a:extLst>
                </a:gridCol>
                <a:gridCol w="417350">
                  <a:extLst>
                    <a:ext uri="{9D8B030D-6E8A-4147-A177-3AD203B41FA5}">
                      <a16:colId xmlns:a16="http://schemas.microsoft.com/office/drawing/2014/main" val="14239199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9916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6119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138410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123139C-D235-1642-B2E7-845BA8BE012E}"/>
              </a:ext>
            </a:extLst>
          </p:cNvPr>
          <p:cNvSpPr txBox="1"/>
          <p:nvPr/>
        </p:nvSpPr>
        <p:spPr>
          <a:xfrm>
            <a:off x="1977957" y="3917688"/>
            <a:ext cx="94929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arr</a:t>
            </a:r>
            <a:r>
              <a:rPr lang="en-US" dirty="0"/>
              <a:t>[2]</a:t>
            </a:r>
          </a:p>
          <a:p>
            <a:r>
              <a:rPr lang="en-US" dirty="0" err="1"/>
              <a:t>arr</a:t>
            </a:r>
            <a:r>
              <a:rPr lang="en-US" dirty="0"/>
              <a:t>[2, :]</a:t>
            </a:r>
          </a:p>
          <a:p>
            <a:r>
              <a:rPr lang="en-US" dirty="0" err="1"/>
              <a:t>arr</a:t>
            </a:r>
            <a:r>
              <a:rPr lang="en-US" dirty="0"/>
              <a:t>[2:, :]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CE1B9E-605B-E94B-A1C9-ED5E20B043BF}"/>
              </a:ext>
            </a:extLst>
          </p:cNvPr>
          <p:cNvSpPr txBox="1"/>
          <p:nvPr/>
        </p:nvSpPr>
        <p:spPr>
          <a:xfrm>
            <a:off x="2057400" y="991338"/>
            <a:ext cx="1330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Выражение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C96AD6-92A3-CA44-987C-77C32DCFB233}"/>
              </a:ext>
            </a:extLst>
          </p:cNvPr>
          <p:cNvSpPr txBox="1"/>
          <p:nvPr/>
        </p:nvSpPr>
        <p:spPr>
          <a:xfrm>
            <a:off x="3388021" y="991338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Форма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5A34C6-C793-DB40-8B48-8142A0221FAC}"/>
              </a:ext>
            </a:extLst>
          </p:cNvPr>
          <p:cNvSpPr txBox="1"/>
          <p:nvPr/>
        </p:nvSpPr>
        <p:spPr>
          <a:xfrm>
            <a:off x="3480193" y="1508598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(3, 3)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5BAAB2-E3D6-8944-912F-F63F36AAA458}"/>
              </a:ext>
            </a:extLst>
          </p:cNvPr>
          <p:cNvSpPr txBox="1"/>
          <p:nvPr/>
        </p:nvSpPr>
        <p:spPr>
          <a:xfrm>
            <a:off x="3480193" y="2591163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(2, 2)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4B15A4-500D-1E4A-BA9D-D9AEEF9AC2C9}"/>
              </a:ext>
            </a:extLst>
          </p:cNvPr>
          <p:cNvSpPr txBox="1"/>
          <p:nvPr/>
        </p:nvSpPr>
        <p:spPr>
          <a:xfrm>
            <a:off x="3480193" y="3909987"/>
            <a:ext cx="67037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(3,)</a:t>
            </a:r>
          </a:p>
          <a:p>
            <a:r>
              <a:rPr lang="ru-RU" dirty="0"/>
              <a:t>(3,)</a:t>
            </a:r>
          </a:p>
          <a:p>
            <a:r>
              <a:rPr lang="ru-RU" dirty="0"/>
              <a:t>(1, 3)</a:t>
            </a:r>
            <a:endParaRPr lang="en-US" dirty="0"/>
          </a:p>
        </p:txBody>
      </p:sp>
      <p:graphicFrame>
        <p:nvGraphicFramePr>
          <p:cNvPr id="15" name="Table 4">
            <a:extLst>
              <a:ext uri="{FF2B5EF4-FFF2-40B4-BE49-F238E27FC236}">
                <a16:creationId xmlns:a16="http://schemas.microsoft.com/office/drawing/2014/main" id="{31138760-2BBF-0749-9497-0311510E2F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187686"/>
              </p:ext>
            </p:extLst>
          </p:nvPr>
        </p:nvGraphicFramePr>
        <p:xfrm>
          <a:off x="4480863" y="1110169"/>
          <a:ext cx="125205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7350">
                  <a:extLst>
                    <a:ext uri="{9D8B030D-6E8A-4147-A177-3AD203B41FA5}">
                      <a16:colId xmlns:a16="http://schemas.microsoft.com/office/drawing/2014/main" val="2949819324"/>
                    </a:ext>
                  </a:extLst>
                </a:gridCol>
                <a:gridCol w="417350">
                  <a:extLst>
                    <a:ext uri="{9D8B030D-6E8A-4147-A177-3AD203B41FA5}">
                      <a16:colId xmlns:a16="http://schemas.microsoft.com/office/drawing/2014/main" val="3884713188"/>
                    </a:ext>
                  </a:extLst>
                </a:gridCol>
                <a:gridCol w="417350">
                  <a:extLst>
                    <a:ext uri="{9D8B030D-6E8A-4147-A177-3AD203B41FA5}">
                      <a16:colId xmlns:a16="http://schemas.microsoft.com/office/drawing/2014/main" val="14239199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9916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119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1384103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7532664A-D757-854B-BAFB-B64855A6C60B}"/>
              </a:ext>
            </a:extLst>
          </p:cNvPr>
          <p:cNvSpPr txBox="1"/>
          <p:nvPr/>
        </p:nvSpPr>
        <p:spPr>
          <a:xfrm>
            <a:off x="6037713" y="1491169"/>
            <a:ext cx="963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arr</a:t>
            </a:r>
            <a:r>
              <a:rPr lang="en-US" dirty="0"/>
              <a:t>[3, 3]</a:t>
            </a:r>
          </a:p>
        </p:txBody>
      </p:sp>
      <p:graphicFrame>
        <p:nvGraphicFramePr>
          <p:cNvPr id="17" name="Table 4">
            <a:extLst>
              <a:ext uri="{FF2B5EF4-FFF2-40B4-BE49-F238E27FC236}">
                <a16:creationId xmlns:a16="http://schemas.microsoft.com/office/drawing/2014/main" id="{012DDF47-E022-1E45-9F3E-7C5A0206C1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554242"/>
              </p:ext>
            </p:extLst>
          </p:nvPr>
        </p:nvGraphicFramePr>
        <p:xfrm>
          <a:off x="4484106" y="2459655"/>
          <a:ext cx="125205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7350">
                  <a:extLst>
                    <a:ext uri="{9D8B030D-6E8A-4147-A177-3AD203B41FA5}">
                      <a16:colId xmlns:a16="http://schemas.microsoft.com/office/drawing/2014/main" val="2949819324"/>
                    </a:ext>
                  </a:extLst>
                </a:gridCol>
                <a:gridCol w="417350">
                  <a:extLst>
                    <a:ext uri="{9D8B030D-6E8A-4147-A177-3AD203B41FA5}">
                      <a16:colId xmlns:a16="http://schemas.microsoft.com/office/drawing/2014/main" val="3884713188"/>
                    </a:ext>
                  </a:extLst>
                </a:gridCol>
                <a:gridCol w="417350">
                  <a:extLst>
                    <a:ext uri="{9D8B030D-6E8A-4147-A177-3AD203B41FA5}">
                      <a16:colId xmlns:a16="http://schemas.microsoft.com/office/drawing/2014/main" val="14239199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9916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6119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1384103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7D334E68-6235-D646-A5D0-4067FF85CA8E}"/>
              </a:ext>
            </a:extLst>
          </p:cNvPr>
          <p:cNvSpPr txBox="1"/>
          <p:nvPr/>
        </p:nvSpPr>
        <p:spPr>
          <a:xfrm>
            <a:off x="5961513" y="2592421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arr</a:t>
            </a:r>
            <a:r>
              <a:rPr lang="en-US" dirty="0"/>
              <a:t>[:, </a:t>
            </a:r>
            <a:r>
              <a:rPr lang="ru-RU" dirty="0"/>
              <a:t>:2</a:t>
            </a:r>
            <a:r>
              <a:rPr lang="en-US" dirty="0"/>
              <a:t>]</a:t>
            </a:r>
          </a:p>
        </p:txBody>
      </p:sp>
      <p:graphicFrame>
        <p:nvGraphicFramePr>
          <p:cNvPr id="19" name="Table 4">
            <a:extLst>
              <a:ext uri="{FF2B5EF4-FFF2-40B4-BE49-F238E27FC236}">
                <a16:creationId xmlns:a16="http://schemas.microsoft.com/office/drawing/2014/main" id="{FCE75639-988A-A747-B0A0-0319EA93DD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587570"/>
              </p:ext>
            </p:extLst>
          </p:nvPr>
        </p:nvGraphicFramePr>
        <p:xfrm>
          <a:off x="4480863" y="3771141"/>
          <a:ext cx="1252050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7350">
                  <a:extLst>
                    <a:ext uri="{9D8B030D-6E8A-4147-A177-3AD203B41FA5}">
                      <a16:colId xmlns:a16="http://schemas.microsoft.com/office/drawing/2014/main" val="2949819324"/>
                    </a:ext>
                  </a:extLst>
                </a:gridCol>
                <a:gridCol w="417350">
                  <a:extLst>
                    <a:ext uri="{9D8B030D-6E8A-4147-A177-3AD203B41FA5}">
                      <a16:colId xmlns:a16="http://schemas.microsoft.com/office/drawing/2014/main" val="3884713188"/>
                    </a:ext>
                  </a:extLst>
                </a:gridCol>
                <a:gridCol w="417350">
                  <a:extLst>
                    <a:ext uri="{9D8B030D-6E8A-4147-A177-3AD203B41FA5}">
                      <a16:colId xmlns:a16="http://schemas.microsoft.com/office/drawing/2014/main" val="14239199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99162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6119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384103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62FF9B9D-B95A-414E-95AF-12BB636131FB}"/>
              </a:ext>
            </a:extLst>
          </p:cNvPr>
          <p:cNvSpPr txBox="1"/>
          <p:nvPr/>
        </p:nvSpPr>
        <p:spPr>
          <a:xfrm>
            <a:off x="5958270" y="3903907"/>
            <a:ext cx="11833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arr</a:t>
            </a:r>
            <a:r>
              <a:rPr lang="en-US" dirty="0"/>
              <a:t>[</a:t>
            </a:r>
            <a:r>
              <a:rPr lang="ru-RU" dirty="0"/>
              <a:t>1, :2</a:t>
            </a:r>
            <a:r>
              <a:rPr lang="en-US" dirty="0"/>
              <a:t>]</a:t>
            </a:r>
          </a:p>
          <a:p>
            <a:r>
              <a:rPr lang="en-US" dirty="0" err="1"/>
              <a:t>arr</a:t>
            </a:r>
            <a:r>
              <a:rPr lang="en-US" dirty="0"/>
              <a:t>[1:2, :2]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8D952C-F5B7-6443-BF2C-8B80BA7CE4E5}"/>
              </a:ext>
            </a:extLst>
          </p:cNvPr>
          <p:cNvSpPr txBox="1"/>
          <p:nvPr/>
        </p:nvSpPr>
        <p:spPr>
          <a:xfrm>
            <a:off x="6037713" y="977557"/>
            <a:ext cx="1330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Выражение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A22A238-DC74-7840-A1E2-C3EFF8741F90}"/>
              </a:ext>
            </a:extLst>
          </p:cNvPr>
          <p:cNvSpPr txBox="1"/>
          <p:nvPr/>
        </p:nvSpPr>
        <p:spPr>
          <a:xfrm>
            <a:off x="7368334" y="977557"/>
            <a:ext cx="854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Форма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EFC4F0-FD02-C64D-B714-A60519A3853D}"/>
              </a:ext>
            </a:extLst>
          </p:cNvPr>
          <p:cNvSpPr txBox="1"/>
          <p:nvPr/>
        </p:nvSpPr>
        <p:spPr>
          <a:xfrm>
            <a:off x="7460506" y="1494817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(3, 3)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DEE3BC-5C03-BC42-8F0E-E867E214A9F2}"/>
              </a:ext>
            </a:extLst>
          </p:cNvPr>
          <p:cNvSpPr txBox="1"/>
          <p:nvPr/>
        </p:nvSpPr>
        <p:spPr>
          <a:xfrm>
            <a:off x="7460506" y="2577382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(3, 2)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E2A4B6-5ECE-EA48-B428-192CFA22E2E5}"/>
              </a:ext>
            </a:extLst>
          </p:cNvPr>
          <p:cNvSpPr txBox="1"/>
          <p:nvPr/>
        </p:nvSpPr>
        <p:spPr>
          <a:xfrm>
            <a:off x="7460506" y="3896206"/>
            <a:ext cx="6703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(</a:t>
            </a:r>
            <a:r>
              <a:rPr lang="en-US" dirty="0"/>
              <a:t>2</a:t>
            </a:r>
            <a:r>
              <a:rPr lang="ru-RU" dirty="0"/>
              <a:t>,)</a:t>
            </a:r>
          </a:p>
          <a:p>
            <a:r>
              <a:rPr lang="ru-RU" dirty="0"/>
              <a:t>(</a:t>
            </a:r>
            <a:r>
              <a:rPr lang="en-US" dirty="0"/>
              <a:t>1</a:t>
            </a:r>
            <a:r>
              <a:rPr lang="ru-RU" dirty="0"/>
              <a:t>,</a:t>
            </a:r>
            <a:r>
              <a:rPr lang="en-US" dirty="0"/>
              <a:t> 2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54033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F7684-0114-7A49-B934-8A2E1DEDD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Математические функции</a:t>
            </a:r>
            <a:endParaRPr lang="en-US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F26CB7E8-0691-B14A-BB97-FC22DB7AB5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4890999"/>
              </p:ext>
            </p:extLst>
          </p:nvPr>
        </p:nvGraphicFramePr>
        <p:xfrm>
          <a:off x="228600" y="895350"/>
          <a:ext cx="8763000" cy="40556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1927278460"/>
                    </a:ext>
                  </a:extLst>
                </a:gridCol>
                <a:gridCol w="6781800">
                  <a:extLst>
                    <a:ext uri="{9D8B030D-6E8A-4147-A177-3AD203B41FA5}">
                      <a16:colId xmlns:a16="http://schemas.microsoft.com/office/drawing/2014/main" val="3222126034"/>
                    </a:ext>
                  </a:extLst>
                </a:gridCol>
              </a:tblGrid>
              <a:tr h="372630">
                <a:tc>
                  <a:txBody>
                    <a:bodyPr/>
                    <a:lstStyle/>
                    <a:p>
                      <a:r>
                        <a:rPr lang="ru-RU" dirty="0"/>
                        <a:t>Функция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Описание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49926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>
                        <a:lnSpc>
                          <a:spcPts val="1000"/>
                        </a:lnSpc>
                      </a:pPr>
                      <a:r>
                        <a:rPr lang="en-US" sz="1000" dirty="0">
                          <a:effectLst/>
                        </a:rPr>
                        <a:t>abs, fabs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000"/>
                        </a:lnSpc>
                      </a:pPr>
                      <a:r>
                        <a:rPr lang="ru-RU" sz="1000" dirty="0">
                          <a:effectLst/>
                        </a:rPr>
                        <a:t>Вычисляет абсолютные значения каждого элементов массива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62809664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>
                        <a:lnSpc>
                          <a:spcPts val="1000"/>
                        </a:lnSpc>
                      </a:pPr>
                      <a:r>
                        <a:rPr lang="en-US" sz="1000" dirty="0">
                          <a:effectLst/>
                        </a:rPr>
                        <a:t>sqrt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000"/>
                        </a:lnSpc>
                      </a:pPr>
                      <a:r>
                        <a:rPr lang="ru-RU" sz="1000" dirty="0">
                          <a:effectLst/>
                        </a:rPr>
                        <a:t>Вычисляет квадратный корень из каждого элемента массива</a:t>
                      </a:r>
                      <a:endParaRPr lang="en-US" sz="1000" dirty="0">
                        <a:effectLst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7644561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>
                        <a:lnSpc>
                          <a:spcPts val="1000"/>
                        </a:lnSpc>
                      </a:pPr>
                      <a:r>
                        <a:rPr lang="en-US" sz="1000" dirty="0">
                          <a:effectLst/>
                        </a:rPr>
                        <a:t>square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000"/>
                        </a:lnSpc>
                      </a:pPr>
                      <a:r>
                        <a:rPr lang="ru-RU" sz="1000" dirty="0">
                          <a:effectLst/>
                        </a:rPr>
                        <a:t>Вычисляет квадрат каждого элемента массива</a:t>
                      </a:r>
                      <a:endParaRPr lang="en-US" sz="1000" dirty="0">
                        <a:effectLst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44096802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>
                        <a:lnSpc>
                          <a:spcPts val="1000"/>
                        </a:lnSpc>
                      </a:pPr>
                      <a:r>
                        <a:rPr lang="en-US" sz="1000" dirty="0">
                          <a:effectLst/>
                        </a:rPr>
                        <a:t>exp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000"/>
                        </a:lnSpc>
                      </a:pPr>
                      <a:r>
                        <a:rPr lang="ru-RU" sz="1000" dirty="0">
                          <a:effectLst/>
                        </a:rPr>
                        <a:t>Вычисляет экспоненту от каждого элемента массива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70367892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>
                        <a:lnSpc>
                          <a:spcPts val="1000"/>
                        </a:lnSpc>
                      </a:pPr>
                      <a:r>
                        <a:rPr lang="en-US" sz="1000" dirty="0">
                          <a:effectLst/>
                        </a:rPr>
                        <a:t>log, log10, log2, log1p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000"/>
                        </a:lnSpc>
                      </a:pPr>
                      <a:r>
                        <a:rPr lang="ru-RU" sz="1000" dirty="0">
                          <a:effectLst/>
                        </a:rPr>
                        <a:t>Вычисляет натуральный, десятичный логарифмы, логарифм по основанию </a:t>
                      </a:r>
                      <a:r>
                        <a:rPr lang="ru-RU" sz="1000" b="0" i="0" u="none" strike="noStrike" dirty="0">
                          <a:effectLst/>
                          <a:latin typeface="STIXGeneral-Regular"/>
                        </a:rPr>
                        <a:t>2</a:t>
                      </a:r>
                      <a:r>
                        <a:rPr lang="ru-RU" sz="1000" dirty="0">
                          <a:effectLst/>
                        </a:rPr>
                        <a:t> и </a:t>
                      </a:r>
                      <a:r>
                        <a:rPr lang="en-US" sz="1000" b="0" i="0" u="none" strike="noStrike" dirty="0">
                          <a:effectLst/>
                          <a:latin typeface="STIXGeneral-Regular"/>
                        </a:rPr>
                        <a:t>log(1+</a:t>
                      </a:r>
                      <a:r>
                        <a:rPr lang="en-US" sz="1000" b="0" i="0" u="none" strike="noStrike" dirty="0">
                          <a:effectLst/>
                          <a:latin typeface="STIXGeneral-Italic"/>
                        </a:rPr>
                        <a:t>x</a:t>
                      </a:r>
                      <a:r>
                        <a:rPr lang="en-US" sz="1000" b="0" i="0" u="none" strike="noStrike" dirty="0">
                          <a:effectLst/>
                          <a:latin typeface="STIXGeneral-Regular"/>
                        </a:rPr>
                        <a:t>)</a:t>
                      </a:r>
                      <a:r>
                        <a:rPr lang="en-US" sz="1000" b="0" i="0" u="none" strike="noStrike" dirty="0">
                          <a:effectLst/>
                        </a:rPr>
                        <a:t> </a:t>
                      </a:r>
                      <a:r>
                        <a:rPr lang="ru-RU" sz="1000" dirty="0">
                          <a:effectLst/>
                        </a:rPr>
                        <a:t>соответственно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48306648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>
                        <a:lnSpc>
                          <a:spcPts val="1000"/>
                        </a:lnSpc>
                      </a:pPr>
                      <a:r>
                        <a:rPr lang="en-US" sz="1000" dirty="0">
                          <a:effectLst/>
                        </a:rPr>
                        <a:t>sign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000"/>
                        </a:lnSpc>
                      </a:pPr>
                      <a:r>
                        <a:rPr lang="ru-RU" sz="1000" dirty="0">
                          <a:effectLst/>
                        </a:rPr>
                        <a:t>Вычисляет знак каждого элемента: </a:t>
                      </a:r>
                      <a:r>
                        <a:rPr lang="ru-RU" sz="1000" b="0" i="0" u="none" strike="noStrike" dirty="0">
                          <a:effectLst/>
                          <a:latin typeface="STIXGeneral-Regular"/>
                        </a:rPr>
                        <a:t>1</a:t>
                      </a:r>
                      <a:r>
                        <a:rPr lang="ru-RU" sz="1000" dirty="0">
                          <a:effectLst/>
                        </a:rPr>
                        <a:t> (положительный элемент), </a:t>
                      </a:r>
                      <a:r>
                        <a:rPr lang="ru-RU" sz="1000" b="0" i="0" u="none" strike="noStrike" dirty="0">
                          <a:effectLst/>
                          <a:latin typeface="STIXGeneral-Regular"/>
                        </a:rPr>
                        <a:t>0</a:t>
                      </a:r>
                      <a:r>
                        <a:rPr lang="ru-RU" sz="1000" dirty="0">
                          <a:effectLst/>
                        </a:rPr>
                        <a:t> (ноль), </a:t>
                      </a:r>
                      <a:r>
                        <a:rPr lang="ru-RU" sz="1000" b="0" i="0" u="none" strike="noStrike" dirty="0">
                          <a:effectLst/>
                          <a:latin typeface="STIXGeneral-Regular"/>
                        </a:rPr>
                        <a:t>−1</a:t>
                      </a:r>
                      <a:r>
                        <a:rPr lang="ru-RU" sz="1000" dirty="0">
                          <a:effectLst/>
                        </a:rPr>
                        <a:t> (отрицательный элемент)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74969909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>
                        <a:lnSpc>
                          <a:spcPts val="1000"/>
                        </a:lnSpc>
                      </a:pPr>
                      <a:r>
                        <a:rPr lang="en-US" sz="1000" dirty="0">
                          <a:effectLst/>
                        </a:rPr>
                        <a:t>ceil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000"/>
                        </a:lnSpc>
                      </a:pPr>
                      <a:r>
                        <a:rPr lang="ru-RU" sz="1000" dirty="0">
                          <a:effectLst/>
                        </a:rPr>
                        <a:t>Вычисляет наименьшее целое число большее либо равное каждого элемента массива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63931075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>
                        <a:lnSpc>
                          <a:spcPts val="1000"/>
                        </a:lnSpc>
                      </a:pPr>
                      <a:r>
                        <a:rPr lang="en-US" sz="1000" dirty="0">
                          <a:effectLst/>
                        </a:rPr>
                        <a:t>floor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000"/>
                        </a:lnSpc>
                      </a:pPr>
                      <a:r>
                        <a:rPr lang="ru-RU" sz="1000" dirty="0">
                          <a:effectLst/>
                        </a:rPr>
                        <a:t>Вычисляет наибольшее целое число меньшее либо равное каждого элемента массива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5985301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>
                        <a:lnSpc>
                          <a:spcPts val="1000"/>
                        </a:lnSpc>
                      </a:pPr>
                      <a:r>
                        <a:rPr lang="en-US" sz="1000">
                          <a:effectLst/>
                        </a:rPr>
                        <a:t>rint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000"/>
                        </a:lnSpc>
                      </a:pPr>
                      <a:r>
                        <a:rPr lang="ru-RU" sz="1000" dirty="0">
                          <a:effectLst/>
                        </a:rPr>
                        <a:t>Округляет элементы к ближайшим целым сохраняя </a:t>
                      </a:r>
                      <a:r>
                        <a:rPr lang="en-US" sz="1000" dirty="0" err="1">
                          <a:effectLst/>
                        </a:rPr>
                        <a:t>dtype</a:t>
                      </a:r>
                      <a:endParaRPr lang="en-US" sz="1000" dirty="0">
                        <a:effectLst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74577028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>
                        <a:lnSpc>
                          <a:spcPts val="1000"/>
                        </a:lnSpc>
                      </a:pPr>
                      <a:r>
                        <a:rPr lang="en-US" sz="1000">
                          <a:effectLst/>
                        </a:rPr>
                        <a:t>modf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000"/>
                        </a:lnSpc>
                      </a:pPr>
                      <a:r>
                        <a:rPr lang="ru-RU" sz="1000" dirty="0">
                          <a:effectLst/>
                        </a:rPr>
                        <a:t>Возвращает дробные и целые части каждого элемента массива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2470130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>
                        <a:lnSpc>
                          <a:spcPts val="1000"/>
                        </a:lnSpc>
                      </a:pPr>
                      <a:r>
                        <a:rPr lang="en-US" sz="1000">
                          <a:effectLst/>
                        </a:rPr>
                        <a:t>isnan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000"/>
                        </a:lnSpc>
                      </a:pPr>
                      <a:r>
                        <a:rPr lang="ru-RU" sz="1000" dirty="0">
                          <a:effectLst/>
                        </a:rPr>
                        <a:t>Возвращает булев массив, указывающий является каждый элемент входного массива </a:t>
                      </a:r>
                      <a:r>
                        <a:rPr lang="en-US" sz="1000" dirty="0" err="1">
                          <a:effectLst/>
                        </a:rPr>
                        <a:t>NaN</a:t>
                      </a:r>
                      <a:r>
                        <a:rPr lang="en-US" sz="1000" dirty="0">
                          <a:effectLst/>
                        </a:rPr>
                        <a:t> (Not A Number)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21023791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>
                        <a:lnSpc>
                          <a:spcPts val="1000"/>
                        </a:lnSpc>
                      </a:pPr>
                      <a:r>
                        <a:rPr lang="en-US" sz="1000" dirty="0" err="1">
                          <a:effectLst/>
                        </a:rPr>
                        <a:t>isfinite</a:t>
                      </a:r>
                      <a:r>
                        <a:rPr lang="en-US" sz="1000" dirty="0">
                          <a:effectLst/>
                        </a:rPr>
                        <a:t>, </a:t>
                      </a:r>
                      <a:r>
                        <a:rPr lang="en-US" sz="1000" dirty="0" err="1">
                          <a:effectLst/>
                        </a:rPr>
                        <a:t>isinf</a:t>
                      </a:r>
                      <a:endParaRPr lang="en-US" sz="1000" dirty="0">
                        <a:effectLst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000"/>
                        </a:lnSpc>
                      </a:pPr>
                      <a:r>
                        <a:rPr lang="ru-RU" sz="1000" dirty="0">
                          <a:effectLst/>
                        </a:rPr>
                        <a:t>Возвращает булев массив, указывающий является каждый элемент конечным (не </a:t>
                      </a:r>
                      <a:r>
                        <a:rPr lang="en-US" sz="1000" dirty="0">
                          <a:effectLst/>
                        </a:rPr>
                        <a:t>inf </a:t>
                      </a:r>
                      <a:r>
                        <a:rPr lang="ru-RU" sz="1000" dirty="0">
                          <a:effectLst/>
                        </a:rPr>
                        <a:t>и не </a:t>
                      </a:r>
                      <a:r>
                        <a:rPr lang="en-US" sz="1000" dirty="0" err="1">
                          <a:effectLst/>
                        </a:rPr>
                        <a:t>NaN</a:t>
                      </a:r>
                      <a:r>
                        <a:rPr lang="en-US" sz="1000" dirty="0">
                          <a:effectLst/>
                        </a:rPr>
                        <a:t>) </a:t>
                      </a:r>
                      <a:r>
                        <a:rPr lang="ru-RU" sz="1000" dirty="0">
                          <a:effectLst/>
                        </a:rPr>
                        <a:t>или бесконечным, </a:t>
                      </a:r>
                      <a:r>
                        <a:rPr lang="ru-RU" sz="1000" dirty="0" err="1">
                          <a:effectLst/>
                        </a:rPr>
                        <a:t>соотвественно</a:t>
                      </a:r>
                      <a:endParaRPr lang="ru-RU" sz="1000" dirty="0">
                        <a:effectLst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414703237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>
                        <a:lnSpc>
                          <a:spcPts val="1000"/>
                        </a:lnSpc>
                      </a:pPr>
                      <a:r>
                        <a:rPr lang="en-US" sz="1000" dirty="0">
                          <a:effectLst/>
                        </a:rPr>
                        <a:t>cos, </a:t>
                      </a:r>
                      <a:r>
                        <a:rPr lang="en-US" sz="1000" dirty="0" err="1">
                          <a:effectLst/>
                        </a:rPr>
                        <a:t>cosh</a:t>
                      </a:r>
                      <a:r>
                        <a:rPr lang="en-US" sz="1000" dirty="0">
                          <a:effectLst/>
                        </a:rPr>
                        <a:t>, sin, </a:t>
                      </a:r>
                      <a:r>
                        <a:rPr lang="en-US" sz="1000" dirty="0" err="1">
                          <a:effectLst/>
                        </a:rPr>
                        <a:t>sinh</a:t>
                      </a:r>
                      <a:r>
                        <a:rPr lang="en-US" sz="1000" dirty="0">
                          <a:effectLst/>
                        </a:rPr>
                        <a:t>, tan, tanh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000"/>
                        </a:lnSpc>
                      </a:pPr>
                      <a:r>
                        <a:rPr lang="ru-RU" sz="1000" dirty="0">
                          <a:effectLst/>
                        </a:rPr>
                        <a:t>Обычные и тригонометрические функции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26274387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>
                        <a:lnSpc>
                          <a:spcPts val="1000"/>
                        </a:lnSpc>
                      </a:pPr>
                      <a:r>
                        <a:rPr lang="en-US" sz="1000" dirty="0" err="1">
                          <a:effectLst/>
                        </a:rPr>
                        <a:t>arccos</a:t>
                      </a:r>
                      <a:r>
                        <a:rPr lang="en-US" sz="1000" dirty="0">
                          <a:effectLst/>
                        </a:rPr>
                        <a:t>, </a:t>
                      </a:r>
                      <a:r>
                        <a:rPr lang="en-US" sz="1000" dirty="0" err="1">
                          <a:effectLst/>
                        </a:rPr>
                        <a:t>arccosh</a:t>
                      </a:r>
                      <a:r>
                        <a:rPr lang="en-US" sz="1000" dirty="0">
                          <a:effectLst/>
                        </a:rPr>
                        <a:t>, </a:t>
                      </a:r>
                      <a:r>
                        <a:rPr lang="en-US" sz="1000" dirty="0" err="1">
                          <a:effectLst/>
                        </a:rPr>
                        <a:t>arcsin</a:t>
                      </a:r>
                      <a:r>
                        <a:rPr lang="en-US" sz="1000" dirty="0">
                          <a:effectLst/>
                        </a:rPr>
                        <a:t>, </a:t>
                      </a:r>
                      <a:r>
                        <a:rPr lang="en-US" sz="1000" dirty="0" err="1">
                          <a:effectLst/>
                        </a:rPr>
                        <a:t>arcsinh</a:t>
                      </a:r>
                      <a:r>
                        <a:rPr lang="en-US" sz="1000" dirty="0">
                          <a:effectLst/>
                        </a:rPr>
                        <a:t>, </a:t>
                      </a:r>
                      <a:br>
                        <a:rPr lang="ru-RU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arctan, arctanh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000"/>
                        </a:lnSpc>
                      </a:pPr>
                      <a:r>
                        <a:rPr lang="ru-RU" sz="1000" dirty="0">
                          <a:effectLst/>
                        </a:rPr>
                        <a:t>Обратные тригонометрические функции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2445969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>
                        <a:lnSpc>
                          <a:spcPts val="1000"/>
                        </a:lnSpc>
                      </a:pPr>
                      <a:r>
                        <a:rPr lang="en-US" sz="1000">
                          <a:effectLst/>
                        </a:rPr>
                        <a:t>logical_not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ts val="1000"/>
                        </a:lnSpc>
                      </a:pPr>
                      <a:r>
                        <a:rPr lang="ru-RU" sz="1000" dirty="0">
                          <a:effectLst/>
                        </a:rPr>
                        <a:t>Вычисляет </a:t>
                      </a:r>
                      <a:r>
                        <a:rPr lang="ru-RU" sz="1000" dirty="0" err="1">
                          <a:effectLst/>
                        </a:rPr>
                        <a:t>истиное</a:t>
                      </a:r>
                      <a:r>
                        <a:rPr lang="ru-RU" sz="1000" dirty="0">
                          <a:effectLst/>
                        </a:rPr>
                        <a:t> значение </a:t>
                      </a:r>
                      <a:r>
                        <a:rPr lang="en-US" sz="1000" dirty="0">
                          <a:effectLst/>
                        </a:rPr>
                        <a:t>not x </a:t>
                      </a:r>
                      <a:r>
                        <a:rPr lang="ru-RU" sz="1000" dirty="0">
                          <a:effectLst/>
                        </a:rPr>
                        <a:t>для каждого элемента (эквивалентно  </a:t>
                      </a:r>
                      <a:r>
                        <a:rPr lang="en-US" sz="1000" dirty="0" err="1">
                          <a:effectLst/>
                        </a:rPr>
                        <a:t>arr</a:t>
                      </a:r>
                      <a:r>
                        <a:rPr lang="en-US" sz="1000" dirty="0">
                          <a:effectLst/>
                        </a:rPr>
                        <a:t>)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516621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62287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F7684-0114-7A49-B934-8A2E1DEDD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Математические функции</a:t>
            </a:r>
            <a:endParaRPr lang="en-US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F26CB7E8-0691-B14A-BB97-FC22DB7AB5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9307118"/>
              </p:ext>
            </p:extLst>
          </p:nvPr>
        </p:nvGraphicFramePr>
        <p:xfrm>
          <a:off x="228600" y="895350"/>
          <a:ext cx="8763000" cy="3599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1927278460"/>
                    </a:ext>
                  </a:extLst>
                </a:gridCol>
                <a:gridCol w="6781800">
                  <a:extLst>
                    <a:ext uri="{9D8B030D-6E8A-4147-A177-3AD203B41FA5}">
                      <a16:colId xmlns:a16="http://schemas.microsoft.com/office/drawing/2014/main" val="3222126034"/>
                    </a:ext>
                  </a:extLst>
                </a:gridCol>
              </a:tblGrid>
              <a:tr h="372630">
                <a:tc>
                  <a:txBody>
                    <a:bodyPr/>
                    <a:lstStyle/>
                    <a:p>
                      <a:r>
                        <a:rPr lang="ru-RU" dirty="0"/>
                        <a:t>Функция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Описание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49926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dirty="0">
                          <a:effectLst/>
                        </a:rPr>
                        <a:t>add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100" dirty="0">
                          <a:effectLst/>
                        </a:rPr>
                        <a:t>Складывает соответствующие элементы массивов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7644561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>
                          <a:effectLst/>
                        </a:rPr>
                        <a:t>subtract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100" dirty="0">
                          <a:effectLst/>
                        </a:rPr>
                        <a:t>Вычитает соответствующие элементы второго массива из элементов первого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44096802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>
                          <a:effectLst/>
                        </a:rPr>
                        <a:t>multiply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100" dirty="0">
                          <a:effectLst/>
                        </a:rPr>
                        <a:t>Перемножает элементы массивов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70367892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>
                          <a:effectLst/>
                        </a:rPr>
                        <a:t>divide, floor_devide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100" dirty="0">
                          <a:effectLst/>
                        </a:rPr>
                        <a:t>Деление или деление с отбрасыванием остатка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48306648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>
                          <a:effectLst/>
                        </a:rPr>
                        <a:t>power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100" dirty="0">
                          <a:effectLst/>
                        </a:rPr>
                        <a:t>Возведение элементов первого массива в степени указанные во втором массиве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74969909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>
                          <a:effectLst/>
                        </a:rPr>
                        <a:t>maximum, fmax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100" dirty="0">
                          <a:effectLst/>
                        </a:rPr>
                        <a:t>Поэлементный максимум, </a:t>
                      </a:r>
                      <a:r>
                        <a:rPr lang="en-US" sz="1100" dirty="0">
                          <a:effectLst/>
                        </a:rPr>
                        <a:t>fmax </a:t>
                      </a:r>
                      <a:r>
                        <a:rPr lang="ru-RU" sz="1100" dirty="0">
                          <a:effectLst/>
                        </a:rPr>
                        <a:t>игнорирует </a:t>
                      </a:r>
                      <a:r>
                        <a:rPr lang="en-US" sz="1100" dirty="0" err="1">
                          <a:effectLst/>
                        </a:rPr>
                        <a:t>NaN</a:t>
                      </a:r>
                      <a:endParaRPr lang="en-US" sz="1100" dirty="0">
                        <a:effectLst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63931075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>
                          <a:effectLst/>
                        </a:rPr>
                        <a:t>minimum, fmin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100" dirty="0">
                          <a:effectLst/>
                        </a:rPr>
                        <a:t>Поэлементный минимум, </a:t>
                      </a:r>
                      <a:r>
                        <a:rPr lang="en-US" sz="1100" dirty="0" err="1">
                          <a:effectLst/>
                        </a:rPr>
                        <a:t>fmin</a:t>
                      </a:r>
                      <a:r>
                        <a:rPr lang="en-US" sz="1100" dirty="0">
                          <a:effectLst/>
                        </a:rPr>
                        <a:t> </a:t>
                      </a:r>
                      <a:r>
                        <a:rPr lang="ru-RU" sz="1100" dirty="0">
                          <a:effectLst/>
                        </a:rPr>
                        <a:t>игнорирует </a:t>
                      </a:r>
                      <a:r>
                        <a:rPr lang="en-US" sz="1100" dirty="0" err="1">
                          <a:effectLst/>
                        </a:rPr>
                        <a:t>NaN</a:t>
                      </a:r>
                      <a:endParaRPr lang="en-US" sz="1100" dirty="0">
                        <a:effectLst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5985301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>
                          <a:effectLst/>
                        </a:rPr>
                        <a:t>mod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100" dirty="0">
                          <a:effectLst/>
                        </a:rPr>
                        <a:t>Поэлементный модуль (остаток от деления)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74577028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>
                          <a:effectLst/>
                        </a:rPr>
                        <a:t>copysign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100" dirty="0">
                          <a:effectLst/>
                        </a:rPr>
                        <a:t>Копирует знаки элементов второго массива в элементы первого массива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2470130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dirty="0">
                          <a:effectLst/>
                        </a:rPr>
                        <a:t>greater, </a:t>
                      </a:r>
                      <a:r>
                        <a:rPr lang="en-US" sz="1100" dirty="0" err="1">
                          <a:effectLst/>
                        </a:rPr>
                        <a:t>greater_equal</a:t>
                      </a:r>
                      <a:r>
                        <a:rPr lang="en-US" sz="1100" dirty="0">
                          <a:effectLst/>
                        </a:rPr>
                        <a:t>, less, </a:t>
                      </a:r>
                      <a:br>
                        <a:rPr lang="ru-RU" sz="1100" dirty="0">
                          <a:effectLst/>
                        </a:rPr>
                      </a:br>
                      <a:r>
                        <a:rPr lang="en-US" sz="1100" dirty="0" err="1">
                          <a:effectLst/>
                        </a:rPr>
                        <a:t>less_equal</a:t>
                      </a:r>
                      <a:r>
                        <a:rPr lang="en-US" sz="1100" dirty="0">
                          <a:effectLst/>
                        </a:rPr>
                        <a:t>, equal, </a:t>
                      </a:r>
                      <a:r>
                        <a:rPr lang="en-US" sz="1100" dirty="0" err="1">
                          <a:effectLst/>
                        </a:rPr>
                        <a:t>not_equal</a:t>
                      </a:r>
                      <a:endParaRPr lang="en-US" sz="1100" dirty="0">
                        <a:effectLst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100">
                          <a:effectLst/>
                        </a:rPr>
                        <a:t>Поэлементное сравнение (эквивалентны операторам &gt;, &gt;=, &lt;, &lt;= `==`, !=)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21023791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100" dirty="0" err="1">
                          <a:effectLst/>
                        </a:rPr>
                        <a:t>logical_and</a:t>
                      </a:r>
                      <a:r>
                        <a:rPr lang="en-US" sz="1100" dirty="0">
                          <a:effectLst/>
                        </a:rPr>
                        <a:t>, </a:t>
                      </a:r>
                      <a:r>
                        <a:rPr lang="en-US" sz="1100" dirty="0" err="1">
                          <a:effectLst/>
                        </a:rPr>
                        <a:t>logical_or</a:t>
                      </a:r>
                      <a:r>
                        <a:rPr lang="en-US" sz="1100" dirty="0">
                          <a:effectLst/>
                        </a:rPr>
                        <a:t>, </a:t>
                      </a:r>
                      <a:br>
                        <a:rPr lang="ru-RU" sz="1100" dirty="0">
                          <a:effectLst/>
                        </a:rPr>
                      </a:br>
                      <a:r>
                        <a:rPr lang="en-US" sz="1100" dirty="0" err="1">
                          <a:effectLst/>
                        </a:rPr>
                        <a:t>logical_xor</a:t>
                      </a:r>
                      <a:endParaRPr lang="en-US" sz="1100" dirty="0">
                        <a:effectLst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100" dirty="0">
                          <a:effectLst/>
                        </a:rPr>
                        <a:t>Вычисляет поэлементное значение истинности логической операций (эквивалентны операторам &amp;, ` | `, ^)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4147032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94582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F7684-0114-7A49-B934-8A2E1DEDD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Статистические функции</a:t>
            </a:r>
            <a:endParaRPr lang="en-US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F26CB7E8-0691-B14A-BB97-FC22DB7AB5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184653"/>
              </p:ext>
            </p:extLst>
          </p:nvPr>
        </p:nvGraphicFramePr>
        <p:xfrm>
          <a:off x="190500" y="1123950"/>
          <a:ext cx="8763000" cy="2502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1927278460"/>
                    </a:ext>
                  </a:extLst>
                </a:gridCol>
                <a:gridCol w="6781800">
                  <a:extLst>
                    <a:ext uri="{9D8B030D-6E8A-4147-A177-3AD203B41FA5}">
                      <a16:colId xmlns:a16="http://schemas.microsoft.com/office/drawing/2014/main" val="3222126034"/>
                    </a:ext>
                  </a:extLst>
                </a:gridCol>
              </a:tblGrid>
              <a:tr h="372630">
                <a:tc>
                  <a:txBody>
                    <a:bodyPr/>
                    <a:lstStyle/>
                    <a:p>
                      <a:r>
                        <a:rPr lang="ru-RU" dirty="0"/>
                        <a:t>Функция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Описание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49926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dirty="0">
                          <a:effectLst/>
                        </a:rPr>
                        <a:t>sum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>
                          <a:effectLst/>
                        </a:rPr>
                        <a:t>Сумма всех элементов массива или вдоль оси. Массив нулевой длины имеет сумму, равную 0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7644561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mean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>
                          <a:effectLst/>
                        </a:rPr>
                        <a:t>Арифметическое среднее. Массив нулевой длины имеет среднее значение </a:t>
                      </a:r>
                      <a:r>
                        <a:rPr lang="en-US" sz="1200">
                          <a:effectLst/>
                        </a:rPr>
                        <a:t>NaN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44096802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std, var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>
                          <a:effectLst/>
                        </a:rPr>
                        <a:t>Стандартное отклонение и дисперсия, соответственно, с возможностью задания степени свободы (по умолчанию знаменатель равен </a:t>
                      </a:r>
                      <a:r>
                        <a:rPr lang="en-US" sz="1200">
                          <a:effectLst/>
                        </a:rPr>
                        <a:t>n)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70367892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min, max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>
                          <a:effectLst/>
                        </a:rPr>
                        <a:t>Минимум и максимум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48306648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argmin, argmax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>
                          <a:effectLst/>
                        </a:rPr>
                        <a:t>Индексы минимального и максимального элементов, соответственно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74969909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cumsum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>
                          <a:effectLst/>
                        </a:rPr>
                        <a:t>Накопленная сумма элементов, начиная с </a:t>
                      </a:r>
                      <a:r>
                        <a:rPr lang="ru-RU" sz="1200" b="0" i="0" u="none" strike="noStrike">
                          <a:effectLst/>
                          <a:latin typeface="STIXGeneral-Regular"/>
                        </a:rPr>
                        <a:t>0</a:t>
                      </a:r>
                      <a:r>
                        <a:rPr lang="ru-RU" sz="1200" b="0" i="0" u="none" strike="noStrike">
                          <a:effectLst/>
                        </a:rPr>
                        <a:t>0</a:t>
                      </a:r>
                      <a:endParaRPr lang="ru-RU" sz="1200">
                        <a:effectLst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63931075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cumprod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 dirty="0">
                          <a:effectLst/>
                        </a:rPr>
                        <a:t>Накопленное произведение элементов, начиная с </a:t>
                      </a:r>
                      <a:r>
                        <a:rPr lang="ru-RU" sz="1200" b="0" i="0" u="none" strike="noStrike" dirty="0">
                          <a:effectLst/>
                          <a:latin typeface="STIXGeneral-Regular"/>
                        </a:rPr>
                        <a:t>1</a:t>
                      </a:r>
                      <a:endParaRPr lang="ru-RU" sz="1200" dirty="0">
                        <a:effectLst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598530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37785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F7684-0114-7A49-B934-8A2E1DEDD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Линейная алгебра</a:t>
            </a:r>
            <a:endParaRPr lang="en-US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F26CB7E8-0691-B14A-BB97-FC22DB7AB5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266895"/>
              </p:ext>
            </p:extLst>
          </p:nvPr>
        </p:nvGraphicFramePr>
        <p:xfrm>
          <a:off x="228600" y="895350"/>
          <a:ext cx="8763000" cy="3614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1927278460"/>
                    </a:ext>
                  </a:extLst>
                </a:gridCol>
                <a:gridCol w="6781800">
                  <a:extLst>
                    <a:ext uri="{9D8B030D-6E8A-4147-A177-3AD203B41FA5}">
                      <a16:colId xmlns:a16="http://schemas.microsoft.com/office/drawing/2014/main" val="3222126034"/>
                    </a:ext>
                  </a:extLst>
                </a:gridCol>
              </a:tblGrid>
              <a:tr h="372630">
                <a:tc>
                  <a:txBody>
                    <a:bodyPr/>
                    <a:lstStyle/>
                    <a:p>
                      <a:r>
                        <a:rPr lang="ru-RU" dirty="0"/>
                        <a:t>Функция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Описание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49926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dirty="0" err="1">
                          <a:effectLst/>
                        </a:rPr>
                        <a:t>diag</a:t>
                      </a:r>
                      <a:endParaRPr lang="en-US" sz="1200" dirty="0">
                        <a:effectLst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>
                          <a:effectLst/>
                        </a:rPr>
                        <a:t>Возвращает диагональные элементы квадратной матрицы в виде одномерного массива или преобразует одномерный массив в квадратную матрицу с нулями вне диагонали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7644561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dot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>
                          <a:effectLst/>
                        </a:rPr>
                        <a:t>Умножение матриц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44096802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trace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>
                          <a:effectLst/>
                        </a:rPr>
                        <a:t>След матрицы — сумма диагональных элементов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70367892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det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>
                          <a:effectLst/>
                        </a:rPr>
                        <a:t>Определитель матрицы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48306648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eig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>
                          <a:effectLst/>
                        </a:rPr>
                        <a:t>Вычисляет собственные значения и собственные векторы квадратной матрицы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74969909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inv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>
                          <a:effectLst/>
                        </a:rPr>
                        <a:t>Вычисляет обратную матрицу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63931075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pinv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>
                          <a:effectLst/>
                        </a:rPr>
                        <a:t>Вычисляет псевдообратную матрицу Мура—Пенроуза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5985301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qr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 dirty="0">
                          <a:effectLst/>
                        </a:rPr>
                        <a:t>Вычисляет </a:t>
                      </a:r>
                      <a:r>
                        <a:rPr lang="en-US" sz="1200" b="0" i="0" u="none" strike="noStrike" dirty="0">
                          <a:effectLst/>
                          <a:latin typeface="STIXGeneral-Italic"/>
                        </a:rPr>
                        <a:t>QR</a:t>
                      </a: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ru-RU" sz="1200" dirty="0">
                          <a:effectLst/>
                        </a:rPr>
                        <a:t>разложение матрицы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74577028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svd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>
                          <a:effectLst/>
                        </a:rPr>
                        <a:t>Вычисляет сингулярное разложение матрицы (</a:t>
                      </a:r>
                      <a:r>
                        <a:rPr lang="en-US" sz="1200">
                          <a:effectLst/>
                        </a:rPr>
                        <a:t>SVD)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2470130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solve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 dirty="0">
                          <a:effectLst/>
                        </a:rPr>
                        <a:t>Решает линейную систему </a:t>
                      </a:r>
                      <a:r>
                        <a:rPr lang="en-US" sz="1200" b="0" i="0" u="none" strike="noStrike" dirty="0">
                          <a:effectLst/>
                          <a:latin typeface="STIXGeneral-Italic"/>
                        </a:rPr>
                        <a:t>Ax</a:t>
                      </a:r>
                      <a:r>
                        <a:rPr lang="en-US" sz="1200" b="0" i="0" u="none" strike="noStrike" dirty="0">
                          <a:effectLst/>
                          <a:latin typeface="STIXGeneral-Regular"/>
                        </a:rPr>
                        <a:t>=</a:t>
                      </a:r>
                      <a:r>
                        <a:rPr lang="en-US" sz="1200" b="0" i="0" u="none" strike="noStrike" dirty="0">
                          <a:effectLst/>
                          <a:latin typeface="STIXGeneral-Italic"/>
                        </a:rPr>
                        <a:t>b</a:t>
                      </a:r>
                      <a:r>
                        <a:rPr lang="en-US" sz="1200" dirty="0">
                          <a:effectLst/>
                        </a:rPr>
                        <a:t>, </a:t>
                      </a:r>
                      <a:r>
                        <a:rPr lang="ru-RU" sz="1200" dirty="0">
                          <a:effectLst/>
                        </a:rPr>
                        <a:t>где </a:t>
                      </a:r>
                      <a:r>
                        <a:rPr lang="en-US" sz="1200" b="0" i="0" u="none" strike="noStrike" dirty="0">
                          <a:effectLst/>
                          <a:latin typeface="STIXGeneral-Italic"/>
                        </a:rPr>
                        <a:t>A</a:t>
                      </a:r>
                      <a:r>
                        <a:rPr lang="en-US" sz="1200" dirty="0">
                          <a:effectLst/>
                        </a:rPr>
                        <a:t> — </a:t>
                      </a:r>
                      <a:r>
                        <a:rPr lang="ru-RU" sz="1200" dirty="0">
                          <a:effectLst/>
                        </a:rPr>
                        <a:t>квадратная матрица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21023791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>
                          <a:effectLst/>
                        </a:rPr>
                        <a:t>lstsq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 dirty="0">
                          <a:effectLst/>
                        </a:rPr>
                        <a:t>Находит решение линейной системы </a:t>
                      </a:r>
                      <a:r>
                        <a:rPr lang="en-US" sz="1200" b="0" i="0" u="none" strike="noStrike" dirty="0">
                          <a:effectLst/>
                          <a:latin typeface="STIXGeneral-Italic"/>
                        </a:rPr>
                        <a:t>Ax</a:t>
                      </a:r>
                      <a:r>
                        <a:rPr lang="en-US" sz="1200" b="0" i="0" u="none" strike="noStrike" dirty="0">
                          <a:effectLst/>
                          <a:latin typeface="STIXGeneral-Regular"/>
                        </a:rPr>
                        <a:t>=</a:t>
                      </a:r>
                      <a:r>
                        <a:rPr lang="en-US" sz="1200" b="0" i="0" u="none" strike="noStrike" dirty="0">
                          <a:effectLst/>
                          <a:latin typeface="STIXGeneral-Italic"/>
                        </a:rPr>
                        <a:t>b</a:t>
                      </a:r>
                      <a:r>
                        <a:rPr lang="en-US" sz="1200" dirty="0">
                          <a:effectLst/>
                        </a:rPr>
                        <a:t> </a:t>
                      </a:r>
                      <a:r>
                        <a:rPr lang="ru-RU" sz="1200" dirty="0">
                          <a:effectLst/>
                        </a:rPr>
                        <a:t>методом наименьших квадратов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41470323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42790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F7684-0114-7A49-B934-8A2E1DEDD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Случайные значения</a:t>
            </a:r>
            <a:endParaRPr lang="en-US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F26CB7E8-0691-B14A-BB97-FC22DB7AB5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396376"/>
              </p:ext>
            </p:extLst>
          </p:nvPr>
        </p:nvGraphicFramePr>
        <p:xfrm>
          <a:off x="228600" y="895350"/>
          <a:ext cx="8763000" cy="3710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>
                  <a:extLst>
                    <a:ext uri="{9D8B030D-6E8A-4147-A177-3AD203B41FA5}">
                      <a16:colId xmlns:a16="http://schemas.microsoft.com/office/drawing/2014/main" val="1927278460"/>
                    </a:ext>
                  </a:extLst>
                </a:gridCol>
                <a:gridCol w="6781800">
                  <a:extLst>
                    <a:ext uri="{9D8B030D-6E8A-4147-A177-3AD203B41FA5}">
                      <a16:colId xmlns:a16="http://schemas.microsoft.com/office/drawing/2014/main" val="3222126034"/>
                    </a:ext>
                  </a:extLst>
                </a:gridCol>
              </a:tblGrid>
              <a:tr h="372630">
                <a:tc>
                  <a:txBody>
                    <a:bodyPr/>
                    <a:lstStyle/>
                    <a:p>
                      <a:r>
                        <a:rPr lang="ru-RU" dirty="0"/>
                        <a:t>Функция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Описание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049926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dirty="0">
                          <a:effectLst/>
                        </a:rPr>
                        <a:t>seed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 dirty="0">
                          <a:effectLst/>
                        </a:rPr>
                        <a:t>Задает начальное значение для генератора случайных чисел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7644561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dirty="0">
                          <a:effectLst/>
                        </a:rPr>
                        <a:t>permutation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 dirty="0">
                          <a:effectLst/>
                        </a:rPr>
                        <a:t>Возвращает случайную перестановку массива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44096802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dirty="0">
                          <a:effectLst/>
                        </a:rPr>
                        <a:t>shuffle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 dirty="0">
                          <a:effectLst/>
                        </a:rPr>
                        <a:t>Случайным образом перемешивает последовательность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70367892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dirty="0">
                          <a:effectLst/>
                        </a:rPr>
                        <a:t>rand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 dirty="0">
                          <a:effectLst/>
                        </a:rPr>
                        <a:t>Случайная выборка с равномерным распределением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48306648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dirty="0" err="1">
                          <a:effectLst/>
                        </a:rPr>
                        <a:t>randint</a:t>
                      </a:r>
                      <a:endParaRPr lang="en-US" sz="1200" dirty="0">
                        <a:effectLst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 dirty="0">
                          <a:effectLst/>
                        </a:rPr>
                        <a:t>Случайная выборка целых чисел из заданного диапазона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74969909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dirty="0" err="1">
                          <a:effectLst/>
                        </a:rPr>
                        <a:t>randn</a:t>
                      </a:r>
                      <a:endParaRPr lang="en-US" sz="1200" dirty="0">
                        <a:effectLst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ru-RU" sz="1200" dirty="0">
                          <a:effectLst/>
                        </a:rPr>
                        <a:t>Случайная выборка с нормальным распределением, средним = 0, стандартным отклонением = 1 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63931075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dirty="0">
                          <a:effectLst/>
                        </a:rPr>
                        <a:t>binomial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</a:rPr>
                        <a:t>Случайная выборка с биномиальным распределением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5985301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dirty="0">
                          <a:effectLst/>
                        </a:rPr>
                        <a:t>normal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</a:rPr>
                        <a:t>Случайная выборка с нормальным распределением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174577028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dirty="0">
                          <a:effectLst/>
                        </a:rPr>
                        <a:t>beta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</a:rPr>
                        <a:t>Случайная выборка с бета распределением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24701308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dirty="0" err="1">
                          <a:effectLst/>
                        </a:rPr>
                        <a:t>chisquare</a:t>
                      </a:r>
                      <a:endParaRPr lang="en-US" sz="1200" dirty="0">
                        <a:effectLst/>
                      </a:endParaRP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</a:rPr>
                        <a:t>Случайная выборка с распределением хи-квадрат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321023791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dirty="0">
                          <a:effectLst/>
                        </a:rPr>
                        <a:t>gamma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</a:rPr>
                        <a:t>Случайная выборка с гамма распределением</a:t>
                      </a: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414703237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l" fontAlgn="t"/>
                      <a:r>
                        <a:rPr lang="en-US" sz="1200" dirty="0">
                          <a:effectLst/>
                        </a:rPr>
                        <a:t>uniform</a:t>
                      </a:r>
                    </a:p>
                  </a:txBody>
                  <a:tcPr marL="47625" marR="47625" marT="47625" marB="47625"/>
                </a:tc>
                <a:tc>
                  <a:txBody>
                    <a:bodyPr/>
                    <a:lstStyle/>
                    <a:p>
                      <a:pPr marL="0" marR="0" lvl="0" indent="0" algn="l" defTabSz="91440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effectLst/>
                        </a:rPr>
                        <a:t>Случайная выборка с равномерным распределением в диапазоне </a:t>
                      </a:r>
                      <a:r>
                        <a:rPr lang="en-US" sz="1200" dirty="0">
                          <a:effectLst/>
                        </a:rPr>
                        <a:t>[0, 1)</a:t>
                      </a:r>
                      <a:endParaRPr lang="ru-RU" sz="1200" dirty="0">
                        <a:effectLst/>
                      </a:endParaRPr>
                    </a:p>
                  </a:txBody>
                  <a:tcPr marL="47625" marR="47625" marT="47625" marB="47625"/>
                </a:tc>
                <a:extLst>
                  <a:ext uri="{0D108BD9-81ED-4DB2-BD59-A6C34878D82A}">
                    <a16:rowId xmlns:a16="http://schemas.microsoft.com/office/drawing/2014/main" val="2517682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97155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77337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5564030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Практика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24450" y="2030821"/>
            <a:ext cx="50667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spc="-5" dirty="0">
                <a:solidFill>
                  <a:srgbClr val="FFFFFF"/>
                </a:solidFill>
              </a:rPr>
              <a:t>Вопросы?</a:t>
            </a:r>
            <a:endParaRPr sz="4900" dirty="0"/>
          </a:p>
        </p:txBody>
      </p:sp>
      <p:grpSp>
        <p:nvGrpSpPr>
          <p:cNvPr id="3" name="object 3"/>
          <p:cNvGrpSpPr/>
          <p:nvPr/>
        </p:nvGrpSpPr>
        <p:grpSpPr>
          <a:xfrm>
            <a:off x="719975" y="3370764"/>
            <a:ext cx="4045585" cy="662940"/>
            <a:chOff x="719975" y="3370764"/>
            <a:chExt cx="4045585" cy="66294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9975" y="3370764"/>
              <a:ext cx="662534" cy="66253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02950" y="3370764"/>
              <a:ext cx="662534" cy="6625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511050" y="3444186"/>
            <a:ext cx="17240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5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25" dirty="0">
                <a:solidFill>
                  <a:srgbClr val="FFFFFF"/>
                </a:solidFill>
                <a:latin typeface="Roboto"/>
                <a:cs typeface="Roboto"/>
              </a:rPr>
              <a:t>“+”,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вопросы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есть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79725" y="3444186"/>
            <a:ext cx="16998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FFFFFF"/>
                </a:solidFill>
                <a:latin typeface="Roboto"/>
                <a:cs typeface="Roboto"/>
              </a:rPr>
              <a:t>Ставим</a:t>
            </a:r>
            <a:r>
              <a:rPr sz="1500" spc="-4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40" dirty="0">
                <a:solidFill>
                  <a:srgbClr val="FFFFFF"/>
                </a:solidFill>
                <a:latin typeface="Roboto"/>
                <a:cs typeface="Roboto"/>
              </a:rPr>
              <a:t>“–”,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</a:pPr>
            <a:r>
              <a:rPr sz="1500" spc="10" dirty="0">
                <a:solidFill>
                  <a:srgbClr val="FFFFFF"/>
                </a:solidFill>
                <a:latin typeface="Roboto"/>
                <a:cs typeface="Roboto"/>
              </a:rPr>
              <a:t>если</a:t>
            </a:r>
            <a:r>
              <a:rPr sz="1500" spc="-35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5" dirty="0">
                <a:solidFill>
                  <a:srgbClr val="FFFFFF"/>
                </a:solidFill>
                <a:latin typeface="Roboto"/>
                <a:cs typeface="Roboto"/>
              </a:rPr>
              <a:t>вопросов</a:t>
            </a:r>
            <a:r>
              <a:rPr sz="1500" spc="-30" dirty="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sz="1500" spc="-15" dirty="0">
                <a:solidFill>
                  <a:srgbClr val="FFFFFF"/>
                </a:solidFill>
                <a:latin typeface="Roboto"/>
                <a:cs typeface="Roboto"/>
              </a:rPr>
              <a:t>нет</a:t>
            </a:r>
            <a:endParaRPr sz="1500">
              <a:latin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7757382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Список материалов для изучения</a:t>
            </a:r>
            <a:endParaRPr dirty="0"/>
          </a:p>
        </p:txBody>
      </p:sp>
      <p:sp>
        <p:nvSpPr>
          <p:cNvPr id="408" name="Google Shape;408;p71"/>
          <p:cNvSpPr txBox="1">
            <a:spLocks noGrp="1"/>
          </p:cNvSpPr>
          <p:nvPr>
            <p:ph type="body" idx="4294967295"/>
          </p:nvPr>
        </p:nvSpPr>
        <p:spPr>
          <a:xfrm>
            <a:off x="381000" y="895350"/>
            <a:ext cx="8610600" cy="396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endParaRPr lang="en-US" sz="1300" dirty="0"/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r>
              <a:rPr lang="ru-RU" sz="1900" b="1" dirty="0"/>
              <a:t>Документация </a:t>
            </a:r>
            <a:r>
              <a:rPr lang="en-US" sz="1900" b="1" dirty="0"/>
              <a:t>NumPy</a:t>
            </a:r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en-US" sz="1400" dirty="0">
                <a:hlinkClick r:id="rId3"/>
              </a:rPr>
              <a:t>https://numpy.org/doc/stable/index.html</a:t>
            </a:r>
            <a:endParaRPr lang="en-US" sz="1400" dirty="0"/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endParaRPr lang="ru-RU" sz="1900" b="1" dirty="0"/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r>
              <a:rPr lang="ru-RU" sz="1900" b="1" dirty="0"/>
              <a:t>Работа с </a:t>
            </a:r>
            <a:r>
              <a:rPr lang="en-US" sz="1900" b="1" dirty="0"/>
              <a:t>NumPy</a:t>
            </a:r>
            <a:endParaRPr lang="en-US" sz="1700" b="1" dirty="0"/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en-US" sz="1300" dirty="0">
                <a:hlinkClick r:id="rId4"/>
              </a:rPr>
              <a:t>https://habr.com/ru/articles/352678/</a:t>
            </a:r>
            <a:endParaRPr lang="en-US" sz="1300" dirty="0"/>
          </a:p>
          <a:p>
            <a:pPr marL="914400" lvl="1" indent="-311150" algn="l" rtl="0">
              <a:buSzPts val="1300"/>
              <a:buFont typeface="Arial" panose="020B0604020202020204" pitchFamily="34" charset="0"/>
              <a:buChar char="•"/>
            </a:pPr>
            <a:r>
              <a:rPr lang="en-US" sz="1300" dirty="0">
                <a:hlinkClick r:id="rId5"/>
              </a:rPr>
              <a:t>https://pythonworld.ru/numpy/1.html</a:t>
            </a:r>
            <a:r>
              <a:rPr lang="en-US" sz="1300" dirty="0"/>
              <a:t> </a:t>
            </a:r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endParaRPr lang="en-US" sz="1900" b="1" dirty="0"/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r>
              <a:rPr lang="ru-RU" sz="1900" b="1" dirty="0"/>
              <a:t>Учебные задачи на </a:t>
            </a:r>
            <a:r>
              <a:rPr lang="en-US" sz="1900" b="1" dirty="0"/>
              <a:t>NumPy</a:t>
            </a:r>
            <a:endParaRPr lang="ru-RU" sz="1900" b="1" dirty="0"/>
          </a:p>
          <a:p>
            <a:pPr marL="914400" lvl="1" indent="-311150" algn="l" rtl="0">
              <a:lnSpc>
                <a:spcPct val="100000"/>
              </a:lnSpc>
              <a:buSzPts val="1300"/>
              <a:buFont typeface="Arial" panose="020B0604020202020204" pitchFamily="34" charset="0"/>
              <a:buChar char="•"/>
            </a:pPr>
            <a:r>
              <a:rPr lang="en-US" sz="1300" dirty="0">
                <a:hlinkClick r:id="rId6"/>
              </a:rPr>
              <a:t>https://pythonworld.ru/numpy/100-exercises.html</a:t>
            </a:r>
            <a:r>
              <a:rPr lang="ru-RU" sz="1300" dirty="0"/>
              <a:t> </a:t>
            </a:r>
          </a:p>
          <a:p>
            <a:pPr marL="457200" indent="-311150" algn="l" rtl="0">
              <a:lnSpc>
                <a:spcPct val="100000"/>
              </a:lnSpc>
              <a:buSzPts val="1300"/>
              <a:buAutoNum type="arabicPeriod"/>
            </a:pPr>
            <a:endParaRPr lang="en-GB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6"/>
          <p:cNvSpPr txBox="1">
            <a:spLocks noGrp="1"/>
          </p:cNvSpPr>
          <p:nvPr>
            <p:ph type="title"/>
          </p:nvPr>
        </p:nvSpPr>
        <p:spPr>
          <a:xfrm>
            <a:off x="956224" y="396394"/>
            <a:ext cx="7730575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 dirty="0"/>
              <a:t>Заполните, пожалуйста,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опрос о занятии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по ссылке в чате</a:t>
            </a:r>
            <a:endParaRPr sz="3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2" name="Google Shape;499;p77">
            <a:extLst>
              <a:ext uri="{FF2B5EF4-FFF2-40B4-BE49-F238E27FC236}">
                <a16:creationId xmlns:a16="http://schemas.microsoft.com/office/drawing/2014/main" id="{582ECAAA-AF1D-254F-9EEA-3E6087D018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13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Aft>
                <a:spcPts val="0"/>
              </a:spcAft>
              <a:buSzPts val="3200"/>
              <a:buNone/>
            </a:pPr>
            <a:r>
              <a:rPr lang="ru-RU" dirty="0"/>
              <a:t>Приходите на следующие вебинары</a:t>
            </a:r>
            <a:br>
              <a:rPr lang="ru-RU" dirty="0"/>
            </a:br>
            <a:r>
              <a:rPr lang="ru-RU" sz="1800" dirty="0"/>
              <a:t>Библиотека </a:t>
            </a:r>
            <a:r>
              <a:rPr lang="en-US" sz="1800" dirty="0"/>
              <a:t>Pandas</a:t>
            </a:r>
            <a:br>
              <a:rPr lang="ru-RU" sz="1800" dirty="0"/>
            </a:br>
            <a:r>
              <a:rPr lang="en-US" sz="1800" dirty="0"/>
              <a:t>Series </a:t>
            </a:r>
            <a:r>
              <a:rPr lang="ru-RU" sz="1800" dirty="0"/>
              <a:t>и </a:t>
            </a:r>
            <a:r>
              <a:rPr lang="en-US" sz="1800" dirty="0" err="1"/>
              <a:t>Dataframe</a:t>
            </a:r>
            <a:r>
              <a:rPr lang="en-US" sz="1800" dirty="0"/>
              <a:t>, </a:t>
            </a:r>
            <a:r>
              <a:rPr lang="ru-RU" sz="1800" dirty="0"/>
              <a:t>методы для работы с ними</a:t>
            </a:r>
            <a:endParaRPr dirty="0"/>
          </a:p>
        </p:txBody>
      </p:sp>
      <p:sp>
        <p:nvSpPr>
          <p:cNvPr id="13" name="Google Shape;500;p77">
            <a:extLst>
              <a:ext uri="{FF2B5EF4-FFF2-40B4-BE49-F238E27FC236}">
                <a16:creationId xmlns:a16="http://schemas.microsoft.com/office/drawing/2014/main" id="{E0455609-6D75-8B47-AD05-D96CCF37ECC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ru-RU" dirty="0"/>
              <a:t>Спасибо за внимание!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1303AF-03ED-4942-AD0B-371ABDC3B8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DADDA820-7925-7347-9D18-F52F07DDBD69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r>
              <a:rPr lang="en-US" sz="1150" b="1" kern="0" dirty="0"/>
              <a:t>, </a:t>
            </a:r>
            <a:r>
              <a:rPr lang="ru-RU" sz="1150" b="1" kern="0" dirty="0"/>
              <a:t>главный инженер проекта, </a:t>
            </a:r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15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 в НИИ ПАО Газпром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  <p:extLst>
      <p:ext uri="{BB962C8B-B14F-4D97-AF65-F5344CB8AC3E}">
        <p14:creationId xmlns:p14="http://schemas.microsoft.com/office/powerpoint/2010/main" val="706987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9415</TotalTime>
  <Words>1413</Words>
  <Application>Microsoft Macintosh PowerPoint</Application>
  <PresentationFormat>On-screen Show (16:9)</PresentationFormat>
  <Paragraphs>311</Paragraphs>
  <Slides>25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2" baseType="lpstr">
      <vt:lpstr>Arial</vt:lpstr>
      <vt:lpstr>Calibri</vt:lpstr>
      <vt:lpstr>roboto</vt:lpstr>
      <vt:lpstr>roboto</vt:lpstr>
      <vt:lpstr>STIXGeneral-Italic</vt:lpstr>
      <vt:lpstr>STIXGeneral-Regular</vt:lpstr>
      <vt:lpstr>Office Theme</vt:lpstr>
      <vt:lpstr>Python Developer. Professional Библиотека Numpy, вектора и матрицы</vt:lpstr>
      <vt:lpstr>Проверить, идет ли запись</vt:lpstr>
      <vt:lpstr>Python Developer. Professional Библиотека Numpy, вектора и матрицы</vt:lpstr>
      <vt:lpstr>Правила вебинара</vt:lpstr>
      <vt:lpstr>Карта курса</vt:lpstr>
      <vt:lpstr>Маршрут вебинара</vt:lpstr>
      <vt:lpstr>Цели вебинара</vt:lpstr>
      <vt:lpstr>Смысл</vt:lpstr>
      <vt:lpstr>Библиотека NumPy</vt:lpstr>
      <vt:lpstr>PowerPoint Presentation</vt:lpstr>
      <vt:lpstr>Вектор и матрица</vt:lpstr>
      <vt:lpstr>Создание массивов в NumPy</vt:lpstr>
      <vt:lpstr>Типы данных</vt:lpstr>
      <vt:lpstr>Индексирование двумерного массива</vt:lpstr>
      <vt:lpstr>Математические функции</vt:lpstr>
      <vt:lpstr>Математические функции</vt:lpstr>
      <vt:lpstr>Статистические функции</vt:lpstr>
      <vt:lpstr>Линейная алгебра</vt:lpstr>
      <vt:lpstr>Случайные значения</vt:lpstr>
      <vt:lpstr>Вопросы?</vt:lpstr>
      <vt:lpstr>Практика</vt:lpstr>
      <vt:lpstr>Вопросы?</vt:lpstr>
      <vt:lpstr>Список материалов для изучения</vt:lpstr>
      <vt:lpstr>Заполните, пожалуйста, опрос о занятии по ссылке в чате</vt:lpstr>
      <vt:lpstr>Приходите на следующие вебинары Библиотека Pandas Series и Dataframe, методы для работы с ними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Копия 1.2 Практическое занятие - Оптимизация кода, parallelization, multiprocessing, ускорение pandas, Modin для Pandas</dc:title>
  <cp:lastModifiedBy>Стурейко Игорь Олегович</cp:lastModifiedBy>
  <cp:revision>92</cp:revision>
  <dcterms:created xsi:type="dcterms:W3CDTF">2023-10-10T14:19:39Z</dcterms:created>
  <dcterms:modified xsi:type="dcterms:W3CDTF">2025-05-05T06:09:36Z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