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394" r:id="rId11"/>
    <p:sldId id="486" r:id="rId12"/>
    <p:sldId id="495" r:id="rId13"/>
    <p:sldId id="411" r:id="rId14"/>
    <p:sldId id="413" r:id="rId15"/>
    <p:sldId id="487" r:id="rId16"/>
    <p:sldId id="488" r:id="rId17"/>
    <p:sldId id="489" r:id="rId18"/>
    <p:sldId id="490" r:id="rId19"/>
    <p:sldId id="491" r:id="rId20"/>
    <p:sldId id="492" r:id="rId21"/>
    <p:sldId id="493" r:id="rId22"/>
    <p:sldId id="494" r:id="rId23"/>
    <p:sldId id="501" r:id="rId24"/>
    <p:sldId id="496" r:id="rId25"/>
    <p:sldId id="497" r:id="rId26"/>
    <p:sldId id="498" r:id="rId27"/>
    <p:sldId id="499" r:id="rId28"/>
    <p:sldId id="500" r:id="rId29"/>
    <p:sldId id="502" r:id="rId30"/>
    <p:sldId id="503" r:id="rId31"/>
    <p:sldId id="504" r:id="rId32"/>
    <p:sldId id="505" r:id="rId33"/>
    <p:sldId id="391" r:id="rId34"/>
    <p:sldId id="300" r:id="rId35"/>
    <p:sldId id="484" r:id="rId36"/>
    <p:sldId id="364" r:id="rId37"/>
    <p:sldId id="281" r:id="rId38"/>
    <p:sldId id="377" r:id="rId39"/>
    <p:sldId id="301" r:id="rId40"/>
    <p:sldId id="302" r:id="rId41"/>
    <p:sldId id="335" r:id="rId42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75"/>
    <p:restoredTop sz="94719"/>
  </p:normalViewPr>
  <p:slideViewPr>
    <p:cSldViewPr>
      <p:cViewPr varScale="1">
        <p:scale>
          <a:sx n="196" d="100"/>
          <a:sy n="196" d="100"/>
        </p:scale>
        <p:origin x="816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08.11.2024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0461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576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08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8598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0394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0305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11/8/24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13336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</a:t>
            </a:r>
            <a:r>
              <a:rPr lang="ru-RU" sz="5600" spc="-35" dirty="0">
                <a:solidFill>
                  <a:srgbClr val="FFFFFF"/>
                </a:solidFill>
              </a:rPr>
              <a:t>для Аналитики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А/Б тесты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</a:t>
            </a:r>
            <a:r>
              <a:rPr lang="ru-RU" dirty="0"/>
              <a:t>для аналитики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А/Б тесты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ED965473-BBD3-AB44-A950-B109F48DEFA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Введение в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990600" y="1351350"/>
            <a:ext cx="2871318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Библиотеки по работе с данными </a:t>
            </a:r>
            <a:r>
              <a:rPr lang="ru-RU" sz="1600">
                <a:solidFill>
                  <a:schemeClr val="tx1">
                    <a:lumMod val="50000"/>
                    <a:lumOff val="50000"/>
                  </a:schemeClr>
                </a:solidFill>
              </a:rPr>
              <a:t>и визуализациями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Работа с базами данных, </a:t>
            </a:r>
          </a:p>
          <a:p>
            <a:pPr algn="ctr"/>
            <a:r>
              <a:rPr lang="ru-RU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парсинг</a:t>
            </a:r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данных с сайтов, взаимодействие с 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02837" y="3790950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Практики. Продуктовая и маркетинговая аналитика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5334000" y="402201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cxnSpLocks/>
            <a:stCxn id="27" idx="1"/>
            <a:endCxn id="28" idx="3"/>
          </p:cNvCxnSpPr>
          <p:nvPr/>
        </p:nvCxnSpPr>
        <p:spPr>
          <a:xfrm rot="10800000" flipV="1">
            <a:off x="3861919" y="1368348"/>
            <a:ext cx="1602739" cy="2497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16200000" flipV="1">
            <a:off x="4132441" y="178569"/>
            <a:ext cx="786475" cy="419883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rot="10800000" flipV="1">
            <a:off x="3732655" y="3011457"/>
            <a:ext cx="1312902" cy="1823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>
            <a:off x="3732654" y="4131184"/>
            <a:ext cx="1601346" cy="23106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8B7568B-4B3A-F548-AE24-C98F935D3CE2}"/>
              </a:ext>
            </a:extLst>
          </p:cNvPr>
          <p:cNvSpPr/>
          <p:nvPr/>
        </p:nvSpPr>
        <p:spPr>
          <a:xfrm>
            <a:off x="702838" y="2689464"/>
            <a:ext cx="3029817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0" i="0" u="none" strike="noStrike" dirty="0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Основы статистики</a:t>
            </a:r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B98E792-EE71-1047-8859-F399DC4F8985}"/>
              </a:ext>
            </a:extLst>
          </p:cNvPr>
          <p:cNvCxnSpPr>
            <a:cxnSpLocks/>
            <a:stCxn id="18" idx="1"/>
            <a:endCxn id="32" idx="1"/>
          </p:cNvCxnSpPr>
          <p:nvPr/>
        </p:nvCxnSpPr>
        <p:spPr>
          <a:xfrm rot="10800000" flipV="1">
            <a:off x="702838" y="3029697"/>
            <a:ext cx="1" cy="1101486"/>
          </a:xfrm>
          <a:prstGeom prst="curvedConnector3">
            <a:avLst>
              <a:gd name="adj1" fmla="val 228601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8" y="1074905"/>
            <a:ext cx="4214193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А/А и А/Б тесты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1944416"/>
            <a:ext cx="421419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Ошибки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II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рода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813927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Уровень значимости и мощность теста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236" idx="1"/>
          </p:cNvCxnSpPr>
          <p:nvPr/>
        </p:nvCxnSpPr>
        <p:spPr>
          <a:xfrm rot="10800000" flipH="1" flipV="1">
            <a:off x="740237" y="1263004"/>
            <a:ext cx="1" cy="869511"/>
          </a:xfrm>
          <a:prstGeom prst="curvedConnector3">
            <a:avLst>
              <a:gd name="adj1" fmla="val -228600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132515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683438"/>
            <a:ext cx="421276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>
              <a:buClr>
                <a:srgbClr val="000000"/>
              </a:buClr>
              <a:buSzPts val="1600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t-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тест,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Z-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тест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3002026"/>
            <a:ext cx="12700" cy="86951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6" y="4552950"/>
            <a:ext cx="4212762" cy="376201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Почему нельзя подглядывать </a:t>
            </a:r>
            <a:endParaRPr lang="ar-AE"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7" y="3871537"/>
            <a:ext cx="3" cy="869513"/>
          </a:xfrm>
          <a:prstGeom prst="curvedConnector3">
            <a:avLst>
              <a:gd name="adj1" fmla="val 762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4" name="Picture 2" descr="Подглядывание и Юмор: истории из жизни, советы, новости и юмор — Лучшее |  Пикабу">
            <a:extLst>
              <a:ext uri="{FF2B5EF4-FFF2-40B4-BE49-F238E27FC236}">
                <a16:creationId xmlns:a16="http://schemas.microsoft.com/office/drawing/2014/main" id="{AABB91BD-0B5B-DD4E-A8A0-10B29B6BD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048" y="3205331"/>
            <a:ext cx="3062624" cy="1723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Рис. 1. На графике показаны распределения разницы средних. Синее распределение соответствует нулевой гипотезе, красное — альтернативной. Вертикальной линией обозначено критическое значение, которое используется для определения статистической значимости. Площадь под синим графиком справа от вертикальной линии равна половине вероятности ошибки первого рода alpha/2. Площадь под красным графиком слева от вертикальной линии равна вероятности ошибки второго рода beta. Площадь под красным графиком справа от вертикальной линии равна мощности 1-beta.">
            <a:extLst>
              <a:ext uri="{FF2B5EF4-FFF2-40B4-BE49-F238E27FC236}">
                <a16:creationId xmlns:a16="http://schemas.microsoft.com/office/drawing/2014/main" id="{25084FE1-A983-1443-B5A7-A618A6412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286" y="967728"/>
            <a:ext cx="3369009" cy="19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4482711"/>
              </p:ext>
            </p:extLst>
          </p:nvPr>
        </p:nvGraphicFramePr>
        <p:xfrm>
          <a:off x="846750" y="1649963"/>
          <a:ext cx="7239000" cy="14721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Разобраться в том, что такое статистический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что такое А/А тест и А/Б тест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как рассчитать необходимый размер выборки и мощность теста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Понять почему нельзя подглядывать в тестах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75886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1769624751"/>
              </p:ext>
            </p:extLst>
          </p:nvPr>
        </p:nvGraphicFramePr>
        <p:xfrm>
          <a:off x="952500" y="1544194"/>
          <a:ext cx="7239000" cy="69860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Проводить численное тестирование гипотез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Повысить эффективность и обоснованность принимаемых решений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09499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Какие тесты бывают</a:t>
            </a:r>
            <a:br>
              <a:rPr lang="ru-RU" dirty="0"/>
            </a:br>
            <a:r>
              <a:rPr lang="ru-RU" dirty="0"/>
              <a:t>А/А, А/Б, А/Б/</a:t>
            </a:r>
            <a:r>
              <a:rPr lang="en-US" dirty="0"/>
              <a:t>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276350"/>
            <a:ext cx="8520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метод, который помогает принимать решения на основе данных. </a:t>
            </a:r>
          </a:p>
          <a:p>
            <a:r>
              <a:rPr lang="ru-RU" dirty="0"/>
              <a:t>Он используется, чтобы проверить, правдиво ли наше предположение (гипотеза) о каком-то явлении или нет. </a:t>
            </a:r>
          </a:p>
          <a:p>
            <a:r>
              <a:rPr lang="ru-RU" dirty="0"/>
              <a:t>Например, мы можем предположить, что два разных продукта одинаково популярны, и с помощью теста проверим, так ли это.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А/А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 тест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А/Б/</a:t>
            </a:r>
            <a:r>
              <a:rPr lang="en-US" dirty="0"/>
              <a:t>n </a:t>
            </a:r>
            <a:r>
              <a:rPr lang="ru-RU" dirty="0"/>
              <a:t>тест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Статистический тест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8CBD5-66A7-7C43-823A-9E9B7465C8A7}"/>
              </a:ext>
            </a:extLst>
          </p:cNvPr>
          <p:cNvSpPr txBox="1"/>
          <p:nvPr/>
        </p:nvSpPr>
        <p:spPr>
          <a:xfrm>
            <a:off x="500550" y="1412064"/>
            <a:ext cx="8520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ходе теста мы хотим выяснить есть ли отличия между нашими выборками, </a:t>
            </a:r>
            <a:r>
              <a:rPr lang="ru-RU" dirty="0" err="1"/>
              <a:t>т.е</a:t>
            </a:r>
            <a:r>
              <a:rPr lang="ru-RU" dirty="0"/>
              <a:t> выяснить есть ли отличия в мат ожидании генеральной совокупности в случае А (базовый случай) и в случае Б (проводимый эксперимент).</a:t>
            </a:r>
          </a:p>
          <a:p>
            <a:endParaRPr lang="ru-RU" dirty="0"/>
          </a:p>
          <a:p>
            <a:r>
              <a:rPr lang="ru-RU" dirty="0"/>
              <a:t>Н0 – нулевая гипотеза – Статистически значимых различий между мат ожиданиями в случае А и в случае Б нет.</a:t>
            </a:r>
          </a:p>
          <a:p>
            <a:endParaRPr lang="ru-RU" dirty="0"/>
          </a:p>
          <a:p>
            <a:r>
              <a:rPr lang="ru-RU" dirty="0"/>
              <a:t>Н1 – альтернативная гипотеза – Статистически значимые различия есть.</a:t>
            </a:r>
          </a:p>
        </p:txBody>
      </p:sp>
    </p:spTree>
    <p:extLst>
      <p:ext uri="{BB962C8B-B14F-4D97-AF65-F5344CB8AC3E}">
        <p14:creationId xmlns:p14="http://schemas.microsoft.com/office/powerpoint/2010/main" val="314768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тесты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04950"/>
            <a:ext cx="84115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тест: </a:t>
            </a:r>
            <a:r>
              <a:rPr lang="ru-RU" dirty="0"/>
              <a:t>Применяется для количественных (непрерывных) данных, таких как измерения роста, веса, температуры и т.д.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</a:t>
            </a:r>
            <a:r>
              <a:rPr lang="en-US" dirty="0"/>
              <a:t>t-</a:t>
            </a:r>
            <a:r>
              <a:rPr lang="ru-RU" dirty="0"/>
              <a:t>тест для проверки гипотезы о том, что средние значения двух групп (например, средний рост мужчин и женщин) различаются.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Z</a:t>
            </a:r>
            <a:r>
              <a:rPr lang="ru-RU" b="1" dirty="0"/>
              <a:t>-тест: </a:t>
            </a:r>
            <a:r>
              <a:rPr lang="ru-RU" dirty="0"/>
              <a:t>Применяется для дискретных (категориальных) данных, которые могут быть представлены в виде пропорций или вероятностей (например, успех/неуспех, да/нет).</a:t>
            </a:r>
          </a:p>
          <a:p>
            <a:pPr>
              <a:spcAft>
                <a:spcPts val="1200"/>
              </a:spcAft>
            </a:pPr>
            <a:r>
              <a:rPr lang="ru-RU" dirty="0"/>
              <a:t>Например, вы используете тест на пропорции для проверки гипотезы о том, что доля пользователей, купивших товар в двух разных группах, различается.</a:t>
            </a:r>
          </a:p>
        </p:txBody>
      </p:sp>
    </p:spTree>
    <p:extLst>
      <p:ext uri="{BB962C8B-B14F-4D97-AF65-F5344CB8AC3E}">
        <p14:creationId xmlns:p14="http://schemas.microsoft.com/office/powerpoint/2010/main" val="383686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Ошибки</a:t>
            </a:r>
          </a:p>
        </p:txBody>
      </p:sp>
    </p:spTree>
    <p:extLst>
      <p:ext uri="{BB962C8B-B14F-4D97-AF65-F5344CB8AC3E}">
        <p14:creationId xmlns:p14="http://schemas.microsoft.com/office/powerpoint/2010/main" val="2575324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Матрица ошибок</a:t>
            </a:r>
            <a:endParaRPr lang="en-US" dirty="0"/>
          </a:p>
        </p:txBody>
      </p:sp>
      <p:pic>
        <p:nvPicPr>
          <p:cNvPr id="8" name="object 11">
            <a:extLst>
              <a:ext uri="{FF2B5EF4-FFF2-40B4-BE49-F238E27FC236}">
                <a16:creationId xmlns:a16="http://schemas.microsoft.com/office/drawing/2014/main" id="{934FF674-6B30-B14F-9F00-B867F2201F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5083" y="742950"/>
            <a:ext cx="2226067" cy="1905000"/>
          </a:xfrm>
          <a:prstGeom prst="rect">
            <a:avLst/>
          </a:prstGeom>
        </p:spPr>
      </p:pic>
      <p:pic>
        <p:nvPicPr>
          <p:cNvPr id="11" name="object 14">
            <a:extLst>
              <a:ext uri="{FF2B5EF4-FFF2-40B4-BE49-F238E27FC236}">
                <a16:creationId xmlns:a16="http://schemas.microsoft.com/office/drawing/2014/main" id="{220016B4-8D4F-B34D-8B25-0420BB9145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257550"/>
            <a:ext cx="2209800" cy="1752600"/>
          </a:xfrm>
          <a:prstGeom prst="rect">
            <a:avLst/>
          </a:prstGeom>
        </p:spPr>
      </p:pic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424A88BB-6FCC-C147-8D5E-0183FFF0A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690591"/>
              </p:ext>
            </p:extLst>
          </p:nvPr>
        </p:nvGraphicFramePr>
        <p:xfrm>
          <a:off x="2438400" y="1499229"/>
          <a:ext cx="2895600" cy="21554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:a16="http://schemas.microsoft.com/office/drawing/2014/main" val="395852037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71020910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017269362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176002476"/>
                    </a:ext>
                  </a:extLst>
                </a:gridCol>
              </a:tblGrid>
              <a:tr h="53886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Actual values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392765"/>
                  </a:ext>
                </a:extLst>
              </a:tr>
              <a:tr h="538861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Predicted values</a:t>
                      </a:r>
                    </a:p>
                  </a:txBody>
                  <a:tcPr vert="vert27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982192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Positive (1)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222477"/>
                  </a:ext>
                </a:extLst>
              </a:tr>
              <a:tr h="538861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Negative (0)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False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True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80987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A61E68-C2D8-9747-A4E4-E6922D93F78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181600" y="1695450"/>
            <a:ext cx="1613483" cy="10287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DCC257-5A46-6E4D-9E20-A50DF8D4C47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2286000" y="3562350"/>
            <a:ext cx="1676400" cy="5715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/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первого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отклоняем нулевую гипотезу (утверждаем, что различие есть), хотя на самом деле различий нет.</a:t>
                </a:r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BA5466-CC92-4D43-AA45-803EEB8E0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2876550"/>
                <a:ext cx="3200400" cy="1169551"/>
              </a:xfrm>
              <a:prstGeom prst="rect">
                <a:avLst/>
              </a:prstGeom>
              <a:blipFill>
                <a:blip r:embed="rId4"/>
                <a:stretch>
                  <a:fillRect l="-791" t="-1075" b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dirty="0"/>
                  <a:t>Ошибка второго рода </a:t>
                </a:r>
                <a:br>
                  <a:rPr lang="ru-RU" sz="1400" dirty="0"/>
                </a:br>
                <a:r>
                  <a:rPr lang="ru-RU" sz="1400" dirty="0"/>
                  <a:t>(или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sz="1400" dirty="0"/>
                  <a:t>-</a:t>
                </a:r>
                <a:r>
                  <a:rPr lang="ru-RU" sz="1400" dirty="0"/>
                  <a:t>ошибка) </a:t>
                </a:r>
              </a:p>
              <a:p>
                <a:r>
                  <a:rPr lang="ru-RU" sz="1400" dirty="0"/>
                  <a:t>Мы не отклоняем нулевую гипотезу </a:t>
                </a:r>
              </a:p>
              <a:p>
                <a:r>
                  <a:rPr lang="ru-RU" sz="1400" dirty="0"/>
                  <a:t>(то есть утверждаем, что различий нет), хотя на самом деле различия есть.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" y="1504712"/>
                <a:ext cx="2639438" cy="1600438"/>
              </a:xfrm>
              <a:prstGeom prst="rect">
                <a:avLst/>
              </a:prstGeom>
              <a:blipFill>
                <a:blip r:embed="rId5"/>
                <a:stretch>
                  <a:fillRect l="-478" t="-787" b="-3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277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Уровень значимости, мощность теста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/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/>
                  <a:t>Уровень значимости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ru-RU" sz="1400" dirty="0"/>
                  <a:t> это вероятность допустить ошибку первого рода.</a:t>
                </a:r>
                <a:r>
                  <a:rPr lang="en-US" sz="1400" dirty="0"/>
                  <a:t> </a:t>
                </a:r>
                <a:r>
                  <a:rPr lang="ru-RU" sz="1400" dirty="0"/>
                  <a:t>Обычно принимается равным 0.05, в случаях высокой цены ошибки первого рода (медицина) принимается 0.01</a:t>
                </a:r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новый дизайн сайта и говорите, что не менее чем в 95 тестовых выборках из 100 он повысит конверсию, хотя на самом деле никакой разницы нет.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=0.05</a:t>
                </a:r>
                <a:endParaRPr lang="ru-RU" sz="1400" dirty="0"/>
              </a:p>
              <a:p>
                <a:r>
                  <a:rPr lang="ru-RU" sz="1400" dirty="0"/>
                  <a:t>Вы тестируете новый лекарственный препарат и говорите, что у не менее чем 99 пациентов из 100 он работает лучше старого, хотя на самом деле они одинаково эффективны.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400" dirty="0"/>
                  <a:t>=0.01</a:t>
                </a:r>
              </a:p>
              <a:p>
                <a:endParaRPr lang="en-US" sz="1400" dirty="0"/>
              </a:p>
              <a:p>
                <a:r>
                  <a:rPr lang="ru-RU" sz="1400" b="1" dirty="0"/>
                  <a:t>Мощность теста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sz="1400" b="1" dirty="0"/>
                  <a:t> </a:t>
                </a:r>
                <a:r>
                  <a:rPr lang="en-US" sz="1400" dirty="0"/>
                  <a:t>–</a:t>
                </a:r>
                <a:r>
                  <a:rPr lang="el-GR" sz="1400" dirty="0"/>
                  <a:t> </a:t>
                </a:r>
                <a:r>
                  <a:rPr lang="ru-RU" sz="1400" dirty="0"/>
                  <a:t>это вероятность того, что тест правильно обнаружит эффект (различия), когда альтернативная гипотеза верна. Обычно принимается равным 0.8, в случаях высокой цены ошибки второго рода (безопасность) принимается 0.9</a:t>
                </a:r>
                <a:endParaRPr lang="en-US" sz="1400" dirty="0"/>
              </a:p>
              <a:p>
                <a:r>
                  <a:rPr lang="ru-RU" sz="1400" b="1" dirty="0"/>
                  <a:t>Пример:</a:t>
                </a:r>
              </a:p>
              <a:p>
                <a:r>
                  <a:rPr lang="ru-RU" sz="1400" dirty="0"/>
                  <a:t>Вы тестируете лекарство и говорите, что для 80 пациентов из 100 оно не работает лучше старого, хотя на самом деле оно лучше.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=0.8</a:t>
                </a:r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819CB8B-B37B-2C46-AC3C-346514211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504950"/>
                <a:ext cx="8520600" cy="3108543"/>
              </a:xfrm>
              <a:prstGeom prst="rect">
                <a:avLst/>
              </a:prstGeom>
              <a:blipFill>
                <a:blip r:embed="rId2"/>
                <a:stretch>
                  <a:fillRect l="-298" t="-407"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3387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А/А тест</a:t>
            </a:r>
          </a:p>
        </p:txBody>
      </p:sp>
    </p:spTree>
    <p:extLst>
      <p:ext uri="{BB962C8B-B14F-4D97-AF65-F5344CB8AC3E}">
        <p14:creationId xmlns:p14="http://schemas.microsoft.com/office/powerpoint/2010/main" val="1098196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400" b="1" dirty="0"/>
              <a:t>Точность разделения трафика и измерений: </a:t>
            </a:r>
            <a:r>
              <a:rPr lang="en-US" sz="1400" dirty="0"/>
              <a:t>A/A-</a:t>
            </a:r>
            <a:r>
              <a:rPr lang="ru-RU" sz="1400" dirty="0"/>
              <a:t>тесты служат важной предварительной проверкой для любой системы сплит- тестирования. Проведение </a:t>
            </a:r>
            <a:r>
              <a:rPr lang="en-US" sz="1400" dirty="0"/>
              <a:t>A/A-</a:t>
            </a:r>
            <a:r>
              <a:rPr lang="ru-RU" sz="1400" dirty="0"/>
              <a:t>теста означает запуск теста, в котором обе группы (контрольная и тестовая) получают одинаковый пользовательский опыт или продукт без каких-либо изменений. </a:t>
            </a:r>
            <a:br>
              <a:rPr lang="ru-RU" sz="1400" dirty="0"/>
            </a:br>
            <a:r>
              <a:rPr lang="ru-RU" sz="1400" dirty="0"/>
              <a:t>Основная цель здесь — убедиться, что система сплит-тестирования корректно разделяет пользователей на группы и точно отслеживает их поведение, не внося в процесс искусственных искажений или предвзятости.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Проверка равномерности распределения:</a:t>
            </a:r>
            <a:r>
              <a:rPr lang="ru-RU" sz="1400" dirty="0"/>
              <a:t> </a:t>
            </a:r>
            <a:r>
              <a:rPr lang="en-US" sz="1400" dirty="0"/>
              <a:t>A/A-</a:t>
            </a:r>
            <a:r>
              <a:rPr lang="ru-RU" sz="1400" dirty="0"/>
              <a:t>тесты позволяют убедиться, что распределение пользователей между группами равномерное и случайное. Это критически важно для обеспечения того, чтобы любые наблюдаемые различия в результатах </a:t>
            </a:r>
            <a:r>
              <a:rPr lang="en-US" sz="1400" dirty="0"/>
              <a:t>A/B-</a:t>
            </a:r>
            <a:r>
              <a:rPr lang="ru-RU" sz="1400" dirty="0"/>
              <a:t>теста были результатом введенных изменений, а не неравномерности в распределении пользователей.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Валидация точности измерений: </a:t>
            </a:r>
            <a:r>
              <a:rPr lang="en-US" sz="1400" dirty="0"/>
              <a:t>c </a:t>
            </a:r>
            <a:r>
              <a:rPr lang="ru-RU" sz="1400" dirty="0"/>
              <a:t>помощью </a:t>
            </a:r>
            <a:r>
              <a:rPr lang="en-US" sz="1400" dirty="0"/>
              <a:t>A/A-</a:t>
            </a:r>
            <a:r>
              <a:rPr lang="ru-RU" sz="1400" dirty="0"/>
              <a:t>тестов можно также проверить, что инструментарий аналитики и сбора данных работает корректно, и что метрики отслеживаются точно и без ошибок.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67252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А/А тест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9CB8B-B37B-2C46-AC3C-34651421193A}"/>
              </a:ext>
            </a:extLst>
          </p:cNvPr>
          <p:cNvSpPr txBox="1"/>
          <p:nvPr/>
        </p:nvSpPr>
        <p:spPr>
          <a:xfrm>
            <a:off x="500550" y="1352550"/>
            <a:ext cx="8520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dirty="0"/>
              <a:t>A/A-</a:t>
            </a:r>
            <a:r>
              <a:rPr lang="ru-RU" sz="1400" dirty="0"/>
              <a:t>тестирование не только подтверждает надежность системы сплит-тестирования, но и помогает выявить потенциальные проблемы с данными и аналитическими инструментами, которые могут исказить результаты последующих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Идентификация проблем с качеством данных: </a:t>
            </a:r>
            <a:r>
              <a:rPr lang="ru-RU" sz="1400" dirty="0"/>
              <a:t>на этапе </a:t>
            </a:r>
            <a:r>
              <a:rPr lang="en-US" sz="1400" dirty="0"/>
              <a:t>A/A-</a:t>
            </a:r>
            <a:r>
              <a:rPr lang="ru-RU" sz="1400" dirty="0"/>
              <a:t>тестирования можно выявить проблемы, связанные с качеством данных, такие как неполные данные, ошибки отслеживания или проблемы с интеграцией между различными аналитическими платформами.</a:t>
            </a:r>
          </a:p>
          <a:p>
            <a:pPr>
              <a:spcAft>
                <a:spcPts val="1200"/>
              </a:spcAft>
            </a:pPr>
            <a:r>
              <a:rPr lang="ru-RU" sz="1400" b="1" dirty="0"/>
              <a:t>Выявление технических недостатков: </a:t>
            </a:r>
            <a:r>
              <a:rPr lang="en-US" sz="1400" dirty="0"/>
              <a:t>A/A-</a:t>
            </a:r>
            <a:r>
              <a:rPr lang="ru-RU" sz="1400" dirty="0"/>
              <a:t>тесты могут указать на технические проблемы в инструментарии сплит-тестирования, включая ошибки в разделении трафика, неправильную настройку целевых страниц или сбои в отслеживании событий.</a:t>
            </a:r>
          </a:p>
          <a:p>
            <a:pPr>
              <a:spcAft>
                <a:spcPts val="1200"/>
              </a:spcAft>
            </a:pPr>
            <a:r>
              <a:rPr lang="ru-RU" sz="1400" dirty="0"/>
              <a:t>Важно, что </a:t>
            </a:r>
            <a:r>
              <a:rPr lang="ru-RU" sz="1400" b="1" dirty="0"/>
              <a:t>если в процессе </a:t>
            </a:r>
            <a:r>
              <a:rPr lang="en-US" sz="1400" b="1" dirty="0"/>
              <a:t>A/A-</a:t>
            </a:r>
            <a:r>
              <a:rPr lang="ru-RU" sz="1400" b="1" dirty="0"/>
              <a:t>тестирования обнаруживаются статистически значимые различия </a:t>
            </a:r>
            <a:r>
              <a:rPr lang="ru-RU" sz="1400" dirty="0"/>
              <a:t>между группами, это служит сигналом о существующих </a:t>
            </a:r>
            <a:r>
              <a:rPr lang="ru-RU" sz="1400" b="1" dirty="0"/>
              <a:t>проблемах</a:t>
            </a:r>
            <a:r>
              <a:rPr lang="ru-RU" sz="1400" dirty="0"/>
              <a:t>, которые </a:t>
            </a:r>
            <a:r>
              <a:rPr lang="ru-RU" sz="1400" b="1" dirty="0"/>
              <a:t>необходимо устранить </a:t>
            </a:r>
            <a:r>
              <a:rPr lang="ru-RU" sz="1400" dirty="0"/>
              <a:t>перед запуском </a:t>
            </a:r>
            <a:r>
              <a:rPr lang="en-US" sz="1400" dirty="0"/>
              <a:t>A/B-</a:t>
            </a:r>
            <a:r>
              <a:rPr lang="ru-RU" sz="1400" dirty="0"/>
              <a:t>тестов.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58404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А/Б тест</a:t>
            </a:r>
          </a:p>
        </p:txBody>
      </p:sp>
    </p:spTree>
    <p:extLst>
      <p:ext uri="{BB962C8B-B14F-4D97-AF65-F5344CB8AC3E}">
        <p14:creationId xmlns:p14="http://schemas.microsoft.com/office/powerpoint/2010/main" val="1546393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2C494-7B1C-8F4E-A971-DB623B1B9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3950"/>
            <a:ext cx="3403600" cy="345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01CA7B-E9DF-C74C-A62B-1E29314BF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475" y="1123950"/>
            <a:ext cx="34036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7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Дисперсия выборочных средних: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𝑑𝑖𝑠𝑡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𝑚𝑎𝑖𝑛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ru-RU" dirty="0"/>
                  <a:t>Чем больше размер выборки – тем точнее мы «видим» истинное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, </a:t>
                </a:r>
                <a:br>
                  <a:rPr lang="ru-RU" dirty="0"/>
                </a:br>
                <a:r>
                  <a:rPr lang="ru-RU" dirty="0" err="1"/>
                  <a:t>т.е</a:t>
                </a:r>
                <a:r>
                  <a:rPr lang="ru-RU" dirty="0"/>
                  <a:t> тем уже распределение выборочных средних.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2753052" cy="2704651"/>
              </a:xfrm>
              <a:prstGeom prst="rect">
                <a:avLst/>
              </a:prstGeom>
              <a:blipFill>
                <a:blip r:embed="rId2"/>
                <a:stretch>
                  <a:fillRect l="-184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3CF3C5-AAE9-3C46-84C1-5B1C119C2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00" y="1200150"/>
            <a:ext cx="56896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27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А/Б 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При достаточно большом размере выборки распределения выборочных средних не будут перекрываться и мы сможем выявить различия при любой единственной выборке.</a:t>
                </a:r>
              </a:p>
              <a:p>
                <a:endParaRPr lang="ru-RU" dirty="0"/>
              </a:p>
              <a:p>
                <a:r>
                  <a:rPr lang="ru-RU" b="1" dirty="0"/>
                  <a:t>Связь между размером эффекта, размером выборки,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b="1" dirty="0"/>
                  <a:t>?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276350"/>
                <a:ext cx="4114800" cy="2308324"/>
              </a:xfrm>
              <a:prstGeom prst="rect">
                <a:avLst/>
              </a:prstGeom>
              <a:blipFill>
                <a:blip r:embed="rId2"/>
                <a:stretch>
                  <a:fillRect l="-1235" t="-1093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E89B98E6-656F-BA4E-999C-F49ED2CB2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979" y="833425"/>
            <a:ext cx="3970179" cy="395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72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dirty="0"/>
              <a:t>Статистический тест, который используется для проверки гипотезы о равенстве средних значений одной или нескольких групп, когда дисперсия неизвестна, и выборка мала.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 err="1"/>
              <a:t>Одновыборочный</a:t>
            </a:r>
            <a:r>
              <a:rPr lang="ru-RU" dirty="0"/>
              <a:t>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Проверяет гипотезу о том, что среднее значение выборки равно известному значению.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t-</a:t>
            </a:r>
            <a:r>
              <a:rPr lang="ru-RU" dirty="0"/>
              <a:t>тест для независимых выборок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независимых групп. Тест используется для проверки гипотезы о том, что средние значения двух групп равны.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dirty="0"/>
              <a:t>Парный </a:t>
            </a:r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:</a:t>
            </a:r>
            <a:r>
              <a:rPr lang="ru-RU" dirty="0"/>
              <a:t> Сравнивает средние значения двух зависимых выборок (обычно это данные до и после эксперимента для одной группы).</a:t>
            </a:r>
          </a:p>
        </p:txBody>
      </p:sp>
    </p:spTree>
    <p:extLst>
      <p:ext uri="{BB962C8B-B14F-4D97-AF65-F5344CB8AC3E}">
        <p14:creationId xmlns:p14="http://schemas.microsoft.com/office/powerpoint/2010/main" val="3406493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 условия применения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200150"/>
            <a:ext cx="841155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b="1" dirty="0"/>
              <a:t>Нормальность распределения:</a:t>
            </a:r>
            <a:r>
              <a:rPr lang="ru-RU" dirty="0"/>
              <a:t> Данные в выборке должны быть нормально распределены, особенно для малых выборок (обычно менее 30 наблюдений). Вспоминаем про тесты на нормальность: тест Шапиро-</a:t>
            </a:r>
            <a:r>
              <a:rPr lang="ru-RU" dirty="0" err="1"/>
              <a:t>Уилка</a:t>
            </a:r>
            <a:r>
              <a:rPr lang="ru-RU" dirty="0"/>
              <a:t>, Колмогорова-Смирнова. Если данные распределены не нормально – тест Манна-Уитни.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Гомоскедастичность (равенство дисперсий):</a:t>
            </a:r>
            <a:r>
              <a:rPr lang="ru-RU" dirty="0"/>
              <a:t> Для независимых выборок предполагается, что дисперсии в двух группах должны быть равны. Если дисперсии не равны, следует использовать модифицированный тест — </a:t>
            </a:r>
            <a:r>
              <a:rPr lang="en-US" dirty="0"/>
              <a:t>t-</a:t>
            </a:r>
            <a:r>
              <a:rPr lang="ru-RU" dirty="0"/>
              <a:t>тест с поправкой на неравные дисперсии (тест Уэлча).</a:t>
            </a:r>
          </a:p>
          <a:p>
            <a:pPr>
              <a:spcAft>
                <a:spcPts val="1200"/>
              </a:spcAft>
            </a:pPr>
            <a:r>
              <a:rPr lang="ru-RU" b="1" dirty="0"/>
              <a:t>Независимость наблюдений:</a:t>
            </a:r>
            <a:r>
              <a:rPr lang="ru-RU" dirty="0"/>
              <a:t> В выборках должны быть независимые наблюдения. Если выборки зависимы (например, до и после измерения на одной и той же группе людей), используется парный </a:t>
            </a:r>
            <a:r>
              <a:rPr lang="en-US" dirty="0"/>
              <a:t>t-</a:t>
            </a:r>
            <a:r>
              <a:rPr lang="ru-RU" dirty="0"/>
              <a:t>тест.</a:t>
            </a:r>
          </a:p>
        </p:txBody>
      </p:sp>
    </p:spTree>
    <p:extLst>
      <p:ext uri="{BB962C8B-B14F-4D97-AF65-F5344CB8AC3E}">
        <p14:creationId xmlns:p14="http://schemas.microsoft.com/office/powerpoint/2010/main" val="1429888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Aft>
                    <a:spcPts val="1200"/>
                  </a:spcAft>
                  <a:buAutoNum type="arabicPeriod"/>
                </a:pPr>
                <a:r>
                  <a:rPr lang="ru-RU" dirty="0"/>
                  <a:t>Вычисление </a:t>
                </a:r>
                <a:r>
                  <a:rPr lang="en-US" dirty="0"/>
                  <a:t>t </a:t>
                </a:r>
                <a:r>
                  <a:rPr lang="ru-RU" dirty="0"/>
                  <a:t>статистики: 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2. t-</a:t>
                </a:r>
                <a:r>
                  <a:rPr lang="ru-RU" dirty="0"/>
                  <a:t>статистика сравнивается с критическим значением распределения Стьюдента для соответствующего количества степеней свободы. Если </a:t>
                </a:r>
                <a:r>
                  <a:rPr lang="en-US" dirty="0"/>
                  <a:t>t-</a:t>
                </a:r>
                <a:r>
                  <a:rPr lang="ru-RU" dirty="0"/>
                  <a:t>статистика больше критического значения, нулевая гипотеза отвергается.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3. </a:t>
                </a:r>
                <a:r>
                  <a:rPr lang="ru-RU" dirty="0"/>
                  <a:t>Количество степеней свободы для распределения Стьюдента: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3362267"/>
              </a:xfrm>
              <a:prstGeom prst="rect">
                <a:avLst/>
              </a:prstGeom>
              <a:blipFill>
                <a:blip r:embed="rId2"/>
                <a:stretch>
                  <a:fillRect l="-603" t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/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средние значения двух выборок,</a:t>
                </a:r>
                <a:r>
                  <a:rPr lang="en-US" dirty="0"/>
                  <a:t> </a:t>
                </a:r>
                <a:br>
                  <a:rPr lang="ru-RU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дисперсии двух выборок,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746672-882B-B948-A0F2-95D3FE965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541" y="1666165"/>
                <a:ext cx="6830011" cy="657488"/>
              </a:xfrm>
              <a:prstGeom prst="rect">
                <a:avLst/>
              </a:prstGeom>
              <a:blipFill>
                <a:blip r:embed="rId3"/>
                <a:stretch>
                  <a:fillRect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90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интерпретация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44FC2E-21C5-5B45-A8E8-3551A7FD8C01}"/>
              </a:ext>
            </a:extLst>
          </p:cNvPr>
          <p:cNvSpPr txBox="1"/>
          <p:nvPr/>
        </p:nvSpPr>
        <p:spPr>
          <a:xfrm>
            <a:off x="500550" y="1558007"/>
            <a:ext cx="841155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b="1" dirty="0"/>
              <a:t>t-</a:t>
            </a:r>
            <a:r>
              <a:rPr lang="ru-RU" b="1" dirty="0"/>
              <a:t>статистика: </a:t>
            </a:r>
            <a:r>
              <a:rPr lang="ru-RU" dirty="0"/>
              <a:t>Это значение указывает, насколько разница между средними значениями двух групп велика относительно разброса данных. Чем больше </a:t>
            </a:r>
            <a:r>
              <a:rPr lang="en-US" dirty="0"/>
              <a:t>t-</a:t>
            </a:r>
            <a:r>
              <a:rPr lang="ru-RU" dirty="0"/>
              <a:t>статистика, тем больше вероятность, что разница значима.</a:t>
            </a:r>
          </a:p>
          <a:p>
            <a:pPr>
              <a:spcAft>
                <a:spcPts val="1200"/>
              </a:spcAft>
            </a:pPr>
            <a:r>
              <a:rPr lang="en-US" b="1" dirty="0"/>
              <a:t>p-</a:t>
            </a:r>
            <a:r>
              <a:rPr lang="ru-RU" b="1" dirty="0"/>
              <a:t>значение: </a:t>
            </a:r>
            <a:r>
              <a:rPr lang="ru-RU" dirty="0"/>
              <a:t>Это вероятность получить такие данные (или более экстремальные) при условии, что нулевая гипотеза верна. Если </a:t>
            </a:r>
            <a:r>
              <a:rPr lang="en-US" dirty="0"/>
              <a:t>p-</a:t>
            </a:r>
            <a:r>
              <a:rPr lang="ru-RU" dirty="0"/>
              <a:t>значение меньше уровня значимости (например, 0.05), то нулевая гипотеза отвергается, что говорит о значимых различиях между группами.</a:t>
            </a:r>
          </a:p>
        </p:txBody>
      </p:sp>
    </p:spTree>
    <p:extLst>
      <p:ext uri="{BB962C8B-B14F-4D97-AF65-F5344CB8AC3E}">
        <p14:creationId xmlns:p14="http://schemas.microsoft.com/office/powerpoint/2010/main" val="3388795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t-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</m:num>
                                <m:den>
                                  <m:f>
                                    <m:fPr>
                                      <m:type m:val="skw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величина эффекта, которую вы хотите обнаружить,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dirty="0"/>
                  <a:t> — </a:t>
                </a:r>
                <a:r>
                  <a:rPr lang="ru-RU" dirty="0"/>
                  <a:t>стандартное отклонение.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712363"/>
              </a:xfrm>
              <a:prstGeom prst="rect">
                <a:avLst/>
              </a:prstGeom>
              <a:blipFill>
                <a:blip r:embed="rId2"/>
                <a:stretch>
                  <a:fillRect l="-603" t="-683" r="-1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904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 – условия применения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b="1" dirty="0"/>
                  <a:t>Большие выборки: </a:t>
                </a:r>
                <a:r>
                  <a:rPr lang="ru-RU" dirty="0"/>
                  <a:t>Тест на пропорции предполагает использование больших выборок. Это нужно для того, чтобы распределение пропорций можно было аппроксимировать нормальным распределением. Обычно выборки считаются достаточно большими,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ru-RU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размер выборки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 – вероятность успеха.</a:t>
                </a:r>
              </a:p>
              <a:p>
                <a:pPr>
                  <a:spcAft>
                    <a:spcPts val="1200"/>
                  </a:spcAft>
                </a:pPr>
                <a:r>
                  <a:rPr lang="ru-RU" b="1" dirty="0"/>
                  <a:t>Независимость наблюдений: </a:t>
                </a:r>
                <a:r>
                  <a:rPr lang="ru-RU" dirty="0"/>
                  <a:t>Выборки должны быть независимы друг от друга.</a:t>
                </a:r>
                <a:endParaRPr lang="ru-RU" sz="1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81150"/>
                <a:ext cx="8411550" cy="1908215"/>
              </a:xfrm>
              <a:prstGeom prst="rect">
                <a:avLst/>
              </a:prstGeom>
              <a:blipFill>
                <a:blip r:embed="rId2"/>
                <a:stretch>
                  <a:fillRect l="-603" t="-1325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224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ru-RU" dirty="0"/>
                  <a:t>1. Вычисление </a:t>
                </a:r>
                <a:r>
                  <a:rPr lang="en-US" dirty="0"/>
                  <a:t>Z </a:t>
                </a:r>
                <a:r>
                  <a:rPr lang="ru-RU" dirty="0"/>
                  <a:t>статистики: </a:t>
                </a:r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где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</a:t>
                </a:r>
                <a:r>
                  <a:rPr lang="ru-RU" dirty="0"/>
                  <a:t>и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количество успехов в первой и второй выборках соответственно,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​ — </a:t>
                </a:r>
                <a:r>
                  <a:rPr lang="ru-RU" dirty="0"/>
                  <a:t>размеры выборок.</a:t>
                </a:r>
              </a:p>
              <a:p>
                <a:pPr>
                  <a:spcAft>
                    <a:spcPts val="1200"/>
                  </a:spcAft>
                </a:pPr>
                <a:endParaRPr lang="ru-RU" dirty="0"/>
              </a:p>
              <a:p>
                <a:pPr>
                  <a:spcAft>
                    <a:spcPts val="1200"/>
                  </a:spcAft>
                </a:pPr>
                <a:r>
                  <a:rPr lang="ru-RU" dirty="0"/>
                  <a:t>2.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сравнивается с критическим значением для стандартного нормального распределения. Если </a:t>
                </a:r>
                <a:r>
                  <a:rPr lang="en-US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Z-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статистика превышает критическое значение, нулевая гипотеза отвергается.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" y="1200150"/>
                <a:ext cx="8411550" cy="2812373"/>
              </a:xfrm>
              <a:prstGeom prst="rect">
                <a:avLst/>
              </a:prstGeom>
              <a:blipFill>
                <a:blip r:embed="rId2"/>
                <a:stretch>
                  <a:fillRect l="-603" t="-901"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96633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Z-</a:t>
            </a:r>
            <a:r>
              <a:rPr lang="ru-RU" dirty="0"/>
              <a:t>тест</a:t>
            </a:r>
            <a:r>
              <a:rPr lang="en-US" dirty="0"/>
              <a:t> </a:t>
            </a:r>
            <a:r>
              <a:rPr lang="ru-RU" dirty="0"/>
              <a:t>размер выборки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/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Z-</a:t>
                </a:r>
                <a:r>
                  <a:rPr lang="ru-RU" dirty="0"/>
                  <a:t>статистика будет увеличиваться при увеличении размера выборки.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f>
                                        <m:fPr>
                                          <m:type m:val="skw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d>
                                    </m:e>
                                  </m:ra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𝑍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rad>
                                </m:num>
                                <m:den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</m:oMath>
                </a14:m>
                <a:r>
                  <a:rPr lang="el-GR" dirty="0"/>
                  <a:t>— </a:t>
                </a:r>
                <a:r>
                  <a:rPr lang="ru-RU" dirty="0"/>
                  <a:t>критическое значение стандартного нормального распределения для уровня значимости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l-GR" dirty="0"/>
                  <a:t> (</a:t>
                </a:r>
                <a:r>
                  <a:rPr lang="ru-RU" dirty="0"/>
                  <a:t>например, для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l-GR" dirty="0"/>
                  <a:t>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l-GR" dirty="0"/>
                  <a:t>​ — </a:t>
                </a:r>
                <a:r>
                  <a:rPr lang="ru-RU" dirty="0"/>
                  <a:t>критическое значение стандартного нормального распределения для мощности теста (например, для мощности 80%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l-GR" dirty="0"/>
                  <a:t>),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≈0.84</m:t>
                    </m:r>
                  </m:oMath>
                </a14:m>
                <a:r>
                  <a:rPr lang="el-GR" dirty="0"/>
                  <a:t>),</a:t>
                </a:r>
                <a:endParaRPr lang="en-US" dirty="0"/>
              </a:p>
              <a:p>
                <a:pPr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 — </a:t>
                </a:r>
                <a:r>
                  <a:rPr lang="ru-RU" dirty="0"/>
                  <a:t>средняя вероятность успеха,</a:t>
                </a: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C44FC2E-21C5-5B45-A8E8-3551A7FD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09" y="1352550"/>
                <a:ext cx="8411550" cy="3333477"/>
              </a:xfrm>
              <a:prstGeom prst="rect">
                <a:avLst/>
              </a:prstGeom>
              <a:blipFill>
                <a:blip r:embed="rId2"/>
                <a:stretch>
                  <a:fillRect l="-603" t="-758" r="-1207" b="-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18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Проблема подглядывания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6022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638231-D78E-9046-971E-9007915E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Подглядывание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67BDFD-76DF-D94D-A5C2-D0BF7686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50" y="1276350"/>
            <a:ext cx="4445000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6D8968-8180-1C43-B9E2-5CD91A41A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152" y="1301750"/>
            <a:ext cx="44450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84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Практика</a:t>
            </a:r>
            <a:endParaRPr dirty="0"/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2399212"/>
              </p:ext>
            </p:extLst>
          </p:nvPr>
        </p:nvGraphicFramePr>
        <p:xfrm>
          <a:off x="846750" y="1649963"/>
          <a:ext cx="7239000" cy="1349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Преобразуем данные к нормальному распределению с помощью преобразования Бокса-Кокса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числовые переменные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Проверим на независимость две категориальные переменные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4495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696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endParaRPr lang="en-US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для всех. Сара </a:t>
            </a:r>
            <a:r>
              <a:rPr lang="ru-RU" dirty="0" err="1"/>
              <a:t>Бослаф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 и котики. Владимир Савельев</a:t>
            </a:r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Голая статистика. Чарльз </a:t>
            </a:r>
            <a:r>
              <a:rPr lang="ru-RU" dirty="0" err="1"/>
              <a:t>Уилан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Как лгать при помощи статистики. </a:t>
            </a:r>
            <a:r>
              <a:rPr lang="ru-RU" dirty="0" err="1"/>
              <a:t>Дарелл</a:t>
            </a:r>
            <a:r>
              <a:rPr lang="ru-RU" dirty="0"/>
              <a:t> </a:t>
            </a:r>
            <a:r>
              <a:rPr lang="ru-RU" dirty="0" err="1"/>
              <a:t>Хафф</a:t>
            </a:r>
            <a:endParaRPr lang="ru-RU" dirty="0"/>
          </a:p>
          <a:p>
            <a:pPr marL="457200" indent="-311150" algn="l" rtl="0">
              <a:lnSpc>
                <a:spcPct val="100000"/>
              </a:lnSpc>
              <a:spcAft>
                <a:spcPts val="1200"/>
              </a:spcAft>
              <a:buSzPct val="100000"/>
              <a:buAutoNum type="arabicPeriod"/>
            </a:pPr>
            <a:r>
              <a:rPr lang="ru-RU" dirty="0"/>
              <a:t>Статистика. Шаг за шагом. Роберт А. </a:t>
            </a:r>
            <a:r>
              <a:rPr lang="ru-RU" dirty="0" err="1"/>
              <a:t>Доннелли</a:t>
            </a:r>
            <a:r>
              <a:rPr lang="ru-RU" dirty="0"/>
              <a:t> - мл</a:t>
            </a:r>
            <a:endParaRPr lang="en-GB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Рефлексия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372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Рефлексия</a:t>
            </a:r>
            <a:endParaRPr dirty="0"/>
          </a:p>
        </p:txBody>
      </p:sp>
      <p:pic>
        <p:nvPicPr>
          <p:cNvPr id="486" name="Google Shape;48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114" y="2019850"/>
            <a:ext cx="828522" cy="828504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5"/>
          <p:cNvSpPr txBox="1"/>
          <p:nvPr/>
        </p:nvSpPr>
        <p:spPr>
          <a:xfrm>
            <a:off x="1700240" y="2364004"/>
            <a:ext cx="4672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 какими впечатлениями уходите с вебинара?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75"/>
          <p:cNvSpPr txBox="1"/>
          <p:nvPr/>
        </p:nvSpPr>
        <p:spPr>
          <a:xfrm>
            <a:off x="1700240" y="3414189"/>
            <a:ext cx="4996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будете применять на практике то,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узнали на вебинаре?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89" name="Google Shape;489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950" y="3330152"/>
            <a:ext cx="845250" cy="84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600" dirty="0">
                <a:latin typeface="+mj-lt"/>
              </a:rPr>
              <a:t>А/Б тесты - практика</a:t>
            </a:r>
            <a:endParaRPr dirty="0">
              <a:latin typeface="+mj-lt"/>
            </a:endParaRPr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D886C75-73B3-DA47-ACA9-200B068BFBF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ru-RU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11091</TotalTime>
  <Words>2070</Words>
  <Application>Microsoft Macintosh PowerPoint</Application>
  <PresentationFormat>On-screen Show (16:9)</PresentationFormat>
  <Paragraphs>235</Paragraphs>
  <Slides>41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-webkit-standard</vt:lpstr>
      <vt:lpstr>Arial</vt:lpstr>
      <vt:lpstr>Calibri</vt:lpstr>
      <vt:lpstr>Cambria Math</vt:lpstr>
      <vt:lpstr>roboto</vt:lpstr>
      <vt:lpstr>roboto</vt:lpstr>
      <vt:lpstr>Office Theme</vt:lpstr>
      <vt:lpstr>Python для Аналитики А/Б тесты</vt:lpstr>
      <vt:lpstr>Проверить, идет ли запись</vt:lpstr>
      <vt:lpstr>Python для аналитики А/Б тесты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Какие тесты бывают А/А, А/Б, А/Б/n</vt:lpstr>
      <vt:lpstr>Статистический тест</vt:lpstr>
      <vt:lpstr>Статистический тест</vt:lpstr>
      <vt:lpstr>Статистические тесты</vt:lpstr>
      <vt:lpstr>Ошибки</vt:lpstr>
      <vt:lpstr>Матрица ошибок</vt:lpstr>
      <vt:lpstr>Уровень значимости, мощность теста</vt:lpstr>
      <vt:lpstr>А/А тест</vt:lpstr>
      <vt:lpstr>А/А тест</vt:lpstr>
      <vt:lpstr>А/А тест</vt:lpstr>
      <vt:lpstr>А/Б тест</vt:lpstr>
      <vt:lpstr>А/Б тест</vt:lpstr>
      <vt:lpstr>А/Б тест</vt:lpstr>
      <vt:lpstr>А/Б тест</vt:lpstr>
      <vt:lpstr>t-тест</vt:lpstr>
      <vt:lpstr>t-тест условия применения</vt:lpstr>
      <vt:lpstr>t-тест</vt:lpstr>
      <vt:lpstr>t-тест интерпретация</vt:lpstr>
      <vt:lpstr>t-тест размер выборки</vt:lpstr>
      <vt:lpstr>Z-тест – условия применения</vt:lpstr>
      <vt:lpstr>Z-тест</vt:lpstr>
      <vt:lpstr>Z-тест размер выборки</vt:lpstr>
      <vt:lpstr>Проблема подглядывания</vt:lpstr>
      <vt:lpstr>Подглядывание</vt:lpstr>
      <vt:lpstr>Вопросы?</vt:lpstr>
      <vt:lpstr>Практика</vt:lpstr>
      <vt:lpstr>Практика</vt:lpstr>
      <vt:lpstr>Вопросы?</vt:lpstr>
      <vt:lpstr>Список материалов для изучения</vt:lpstr>
      <vt:lpstr>Рефлексия</vt:lpstr>
      <vt:lpstr>Рефлексия</vt:lpstr>
      <vt:lpstr>Заполните, пожалуйста, опрос о занятии по ссылке в чате</vt:lpstr>
      <vt:lpstr>Приходите на следующие вебинары А/Б тесты - практика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112</cp:revision>
  <dcterms:created xsi:type="dcterms:W3CDTF">2023-10-10T14:19:39Z</dcterms:created>
  <dcterms:modified xsi:type="dcterms:W3CDTF">2024-11-08T14:54:19Z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