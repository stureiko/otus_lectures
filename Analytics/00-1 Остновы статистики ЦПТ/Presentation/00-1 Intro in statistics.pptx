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26.jpg" ContentType="image/jpe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4" r:id="rId19"/>
    <p:sldId id="485" r:id="rId20"/>
    <p:sldId id="403" r:id="rId21"/>
    <p:sldId id="402" r:id="rId22"/>
    <p:sldId id="405" r:id="rId23"/>
    <p:sldId id="472" r:id="rId24"/>
    <p:sldId id="473" r:id="rId25"/>
    <p:sldId id="453" r:id="rId26"/>
    <p:sldId id="474" r:id="rId27"/>
    <p:sldId id="475" r:id="rId28"/>
    <p:sldId id="476" r:id="rId29"/>
    <p:sldId id="477" r:id="rId30"/>
    <p:sldId id="480" r:id="rId31"/>
    <p:sldId id="479" r:id="rId32"/>
    <p:sldId id="483" r:id="rId33"/>
    <p:sldId id="478" r:id="rId34"/>
    <p:sldId id="482" r:id="rId35"/>
    <p:sldId id="481" r:id="rId36"/>
    <p:sldId id="391" r:id="rId37"/>
    <p:sldId id="300" r:id="rId38"/>
    <p:sldId id="484" r:id="rId39"/>
    <p:sldId id="364" r:id="rId40"/>
    <p:sldId id="281" r:id="rId41"/>
    <p:sldId id="377" r:id="rId42"/>
    <p:sldId id="301" r:id="rId43"/>
    <p:sldId id="302" r:id="rId44"/>
    <p:sldId id="335" r:id="rId45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2"/>
    <p:restoredTop sz="94706"/>
  </p:normalViewPr>
  <p:slideViewPr>
    <p:cSldViewPr>
      <p:cViewPr varScale="1">
        <p:scale>
          <a:sx n="386" d="100"/>
          <a:sy n="386" d="100"/>
        </p:scale>
        <p:origin x="187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12.01.2025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24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03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820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862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740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94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Основы статистики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Основы статистики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cs typeface="Roboto"/>
              </a:rPr>
              <a:t>Введение </a:t>
            </a:r>
            <a:r>
              <a:rPr lang="ru-RU" sz="1400" spc="-20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cs typeface="Roboto"/>
              </a:rPr>
              <a:t>в </a:t>
            </a:r>
            <a:r>
              <a:rPr lang="en-US" sz="14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cs typeface="Roboto"/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990600" y="1351350"/>
            <a:ext cx="2871318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cs typeface="Roboto"/>
              </a:rPr>
              <a:t>Библиотеки по работе с данными </a:t>
            </a:r>
            <a:r>
              <a:rPr lang="ru-RU" sz="1400" spc="-20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cs typeface="Roboto"/>
              </a:rPr>
              <a:t>и визуализациями</a:t>
            </a:r>
            <a:endParaRPr lang="en-US" sz="1400" spc="-20" dirty="0">
              <a:solidFill>
                <a:schemeClr val="tx1">
                  <a:lumMod val="50000"/>
                  <a:lumOff val="50000"/>
                </a:schemeClr>
              </a:solidFill>
              <a:latin typeface="Roboto"/>
              <a:cs typeface="Roboto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702838" y="2715668"/>
            <a:ext cx="3029815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Работа с базами данных, </a:t>
            </a:r>
            <a:br>
              <a:rPr lang="ru-RU" sz="1400">
                <a:solidFill>
                  <a:schemeClr val="tx1"/>
                </a:solidFill>
                <a:latin typeface="roboto" panose="02000000000000000000" pitchFamily="2" charset="0"/>
              </a:rPr>
            </a:br>
            <a:r>
              <a:rPr lang="ru-RU" sz="1400">
                <a:solidFill>
                  <a:schemeClr val="tx1"/>
                </a:solidFill>
                <a:latin typeface="roboto" panose="02000000000000000000" pitchFamily="2" charset="0"/>
              </a:rPr>
              <a:t>парсинг</a:t>
            </a:r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 данных с сайтов, взаимодействие </a:t>
            </a:r>
            <a:r>
              <a:rPr lang="ru-RU" sz="1400">
                <a:solidFill>
                  <a:schemeClr val="tx1"/>
                </a:solidFill>
                <a:latin typeface="roboto" panose="02000000000000000000" pitchFamily="2" charset="0"/>
              </a:rPr>
              <a:t>с </a:t>
            </a: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02837" y="379095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Практики.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5334000" y="402201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rot="10800000" flipV="1">
            <a:off x="3861919" y="1368348"/>
            <a:ext cx="1602739" cy="24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18" idx="0"/>
            <a:endCxn id="28" idx="2"/>
          </p:cNvCxnSpPr>
          <p:nvPr/>
        </p:nvCxnSpPr>
        <p:spPr>
          <a:xfrm rot="16200000" flipV="1">
            <a:off x="4167192" y="143817"/>
            <a:ext cx="595050" cy="407691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3"/>
            <a:endCxn id="18" idx="1"/>
          </p:cNvCxnSpPr>
          <p:nvPr/>
        </p:nvCxnSpPr>
        <p:spPr>
          <a:xfrm flipV="1">
            <a:off x="3732653" y="2820033"/>
            <a:ext cx="1255613" cy="235868"/>
          </a:xfrm>
          <a:prstGeom prst="curvedConnector3">
            <a:avLst>
              <a:gd name="adj1" fmla="val 50000"/>
            </a:avLst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3732654" y="4131184"/>
            <a:ext cx="1601346" cy="2310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7568B-4B3A-F548-AE24-C98F935D3CE2}"/>
              </a:ext>
            </a:extLst>
          </p:cNvPr>
          <p:cNvSpPr/>
          <p:nvPr/>
        </p:nvSpPr>
        <p:spPr>
          <a:xfrm>
            <a:off x="4988266" y="247980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spc="-10" dirty="0">
                <a:solidFill>
                  <a:schemeClr val="tx1"/>
                </a:solidFill>
                <a:latin typeface="Roboto"/>
                <a:cs typeface="Roboto"/>
              </a:rPr>
              <a:t>Основы статистики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98E792-EE71-1047-8859-F399DC4F8985}"/>
              </a:ext>
            </a:extLst>
          </p:cNvPr>
          <p:cNvCxnSpPr>
            <a:cxnSpLocks/>
            <a:stCxn id="31" idx="1"/>
            <a:endCxn id="32" idx="1"/>
          </p:cNvCxnSpPr>
          <p:nvPr/>
        </p:nvCxnSpPr>
        <p:spPr>
          <a:xfrm rot="10800000" flipV="1">
            <a:off x="702838" y="3055901"/>
            <a:ext cx="1" cy="1075282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Статистика - что это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219567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Генеральная совокупность и в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ыборка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791898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Меры центральной тенденции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8" y="1263004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407666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364229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Точечные и интервальные оценки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2979997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8" y="1647236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Статистика и аналитика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40237" y="1835335"/>
            <a:ext cx="1" cy="572331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3936560"/>
            <a:ext cx="4212762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ЦПТ, нормальное распределение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38;p37">
            <a:extLst>
              <a:ext uri="{FF2B5EF4-FFF2-40B4-BE49-F238E27FC236}">
                <a16:creationId xmlns:a16="http://schemas.microsoft.com/office/drawing/2014/main" id="{A9FEECAF-5693-6943-B6A3-087594019852}"/>
              </a:ext>
            </a:extLst>
          </p:cNvPr>
          <p:cNvSpPr/>
          <p:nvPr/>
        </p:nvSpPr>
        <p:spPr>
          <a:xfrm>
            <a:off x="740239" y="4508890"/>
            <a:ext cx="4212762" cy="57233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Другие распределения, кроме нормального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552329"/>
            <a:ext cx="1" cy="572332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242;p37">
            <a:extLst>
              <a:ext uri="{FF2B5EF4-FFF2-40B4-BE49-F238E27FC236}">
                <a16:creationId xmlns:a16="http://schemas.microsoft.com/office/drawing/2014/main" id="{291BD154-5459-924F-A6F6-82CAD3D94BB7}"/>
              </a:ext>
            </a:extLst>
          </p:cNvPr>
          <p:cNvCxnSpPr>
            <a:cxnSpLocks/>
            <a:stCxn id="16" idx="1"/>
            <a:endCxn id="17" idx="1"/>
          </p:cNvCxnSpPr>
          <p:nvPr/>
        </p:nvCxnSpPr>
        <p:spPr>
          <a:xfrm rot="10800000" flipH="1" flipV="1">
            <a:off x="740237" y="4124660"/>
            <a:ext cx="1" cy="670395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26" name="Picture 2" descr="AP Statistics">
            <a:extLst>
              <a:ext uri="{FF2B5EF4-FFF2-40B4-BE49-F238E27FC236}">
                <a16:creationId xmlns:a16="http://schemas.microsoft.com/office/drawing/2014/main" id="{27B313B1-5444-244A-B12B-FC878767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405" y="1074905"/>
            <a:ext cx="4068595" cy="406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5342650"/>
              </p:ext>
            </p:extLst>
          </p:nvPr>
        </p:nvGraphicFramePr>
        <p:xfrm>
          <a:off x="846750" y="1649963"/>
          <a:ext cx="7239000" cy="13494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что такое статистика, и какую роль она играет в жизни аналитика данных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Различать понятия генеральной совокупности, выборки и точечной оценки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Центральную предельную теорему и ее важность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780950782"/>
              </p:ext>
            </p:extLst>
          </p:nvPr>
        </p:nvGraphicFramePr>
        <p:xfrm>
          <a:off x="952500" y="1544194"/>
          <a:ext cx="7239000" cy="5771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как по ограниченной выборки оценить величину в генеральной совокупности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Статистика</a:t>
            </a:r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Ложь, наглая ложь и статистика</a:t>
            </a:r>
            <a:endParaRPr lang="en-US" dirty="0"/>
          </a:p>
        </p:txBody>
      </p:sp>
      <p:pic>
        <p:nvPicPr>
          <p:cNvPr id="2050" name="Picture 2" descr="Statistics Authority | Government of the Turks and Caicos Islands">
            <a:extLst>
              <a:ext uri="{FF2B5EF4-FFF2-40B4-BE49-F238E27FC236}">
                <a16:creationId xmlns:a16="http://schemas.microsoft.com/office/drawing/2014/main" id="{B9416DA6-7A80-E646-A432-AD008FCFE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76350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8F76F3-F5AD-CA49-AAC3-1F40043EF4B9}"/>
              </a:ext>
            </a:extLst>
          </p:cNvPr>
          <p:cNvSpPr txBox="1"/>
          <p:nvPr/>
        </p:nvSpPr>
        <p:spPr>
          <a:xfrm>
            <a:off x="500550" y="1276350"/>
            <a:ext cx="43762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Статистика</a:t>
            </a:r>
            <a:r>
              <a:rPr lang="ru-RU" dirty="0"/>
              <a:t> – это наука, изучающая общие вопросы сбора, измерения, мониторинга, анализа количественных или качественных данных и их сравнение</a:t>
            </a:r>
          </a:p>
          <a:p>
            <a:endParaRPr lang="ru-RU" dirty="0"/>
          </a:p>
          <a:p>
            <a:r>
              <a:rPr lang="ru-RU" b="1" dirty="0"/>
              <a:t>Математическая статистика </a:t>
            </a:r>
            <a:r>
              <a:rPr lang="ru-RU" dirty="0"/>
              <a:t>– наука о математических методах систематизации и использования статистических данных для научных и практических выводов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44C60-8648-634D-BE52-3D61A352C0AF}"/>
              </a:ext>
            </a:extLst>
          </p:cNvPr>
          <p:cNvSpPr txBox="1"/>
          <p:nvPr/>
        </p:nvSpPr>
        <p:spPr>
          <a:xfrm>
            <a:off x="500550" y="4006985"/>
            <a:ext cx="852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Принято выделять описательную статистику, теорию оценивания и теорию проверки гипотез</a:t>
            </a:r>
          </a:p>
        </p:txBody>
      </p:sp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1EB3B-1118-A045-8172-6730A5064C04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Статистика		 </a:t>
            </a:r>
            <a:r>
              <a:rPr lang="en-US" dirty="0"/>
              <a:t>vs </a:t>
            </a:r>
            <a:r>
              <a:rPr lang="ru-RU" dirty="0"/>
              <a:t>		Аналитика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581150"/>
            <a:ext cx="396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Область </a:t>
            </a:r>
            <a:r>
              <a:rPr lang="ru-RU" b="1" dirty="0"/>
              <a:t>статистики</a:t>
            </a:r>
            <a:r>
              <a:rPr lang="ru-RU" dirty="0"/>
              <a:t> связана со сбором, анализом, интерпретацией и представлением данных</a:t>
            </a:r>
          </a:p>
          <a:p>
            <a:endParaRPr lang="ru-RU" dirty="0"/>
          </a:p>
          <a:p>
            <a:r>
              <a:rPr lang="ru-RU" dirty="0"/>
              <a:t>Статистик, скорее всего, будет работать в максимально </a:t>
            </a:r>
            <a:r>
              <a:rPr lang="ru-RU" b="1" dirty="0"/>
              <a:t>исследовательских</a:t>
            </a:r>
            <a:r>
              <a:rPr lang="ru-RU" dirty="0"/>
              <a:t> условиях, где чаще используются дизайн исследования, проверка гипотез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27E0F-80CD-BB44-80DB-3B93D407BBAA}"/>
              </a:ext>
            </a:extLst>
          </p:cNvPr>
          <p:cNvSpPr txBox="1"/>
          <p:nvPr/>
        </p:nvSpPr>
        <p:spPr>
          <a:xfrm>
            <a:off x="4953000" y="1584185"/>
            <a:ext cx="396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Область </a:t>
            </a:r>
            <a:r>
              <a:rPr lang="ru-RU" b="1" dirty="0"/>
              <a:t>аналитики</a:t>
            </a:r>
            <a:r>
              <a:rPr lang="ru-RU" dirty="0"/>
              <a:t> связана с применением статистических методов к практическим бизнес-задачам</a:t>
            </a:r>
          </a:p>
          <a:p>
            <a:endParaRPr lang="ru-RU" dirty="0"/>
          </a:p>
          <a:p>
            <a:r>
              <a:rPr lang="ru-RU" dirty="0"/>
              <a:t>Аналитик, скорее всего, будет работать в </a:t>
            </a:r>
            <a:r>
              <a:rPr lang="ru-RU" b="1" dirty="0"/>
              <a:t>бизнес-среде</a:t>
            </a:r>
            <a:r>
              <a:rPr lang="ru-RU" dirty="0"/>
              <a:t>, где чаще используются описательная статистика, визуализация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4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01EB3B-1118-A045-8172-6730A5064C04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Статистика		 </a:t>
            </a:r>
            <a:r>
              <a:rPr lang="en-US" dirty="0"/>
              <a:t>vs </a:t>
            </a:r>
            <a:r>
              <a:rPr lang="ru-RU" dirty="0"/>
              <a:t>		Аналитика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581150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Статистика</a:t>
            </a:r>
            <a:r>
              <a:rPr lang="ru-RU" dirty="0"/>
              <a:t> помогает вам проверить гипотезы. </a:t>
            </a:r>
          </a:p>
          <a:p>
            <a:endParaRPr lang="ru-RU" dirty="0"/>
          </a:p>
          <a:p>
            <a:r>
              <a:rPr lang="ru-RU" dirty="0"/>
              <a:t>Это улучшает качество ваших </a:t>
            </a:r>
            <a:br>
              <a:rPr lang="ru-RU" dirty="0"/>
            </a:br>
            <a:r>
              <a:rPr lang="ru-RU" b="1" dirty="0"/>
              <a:t>ответов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Статистик помогает понять стоит ли воспринимать эту информацию как феномен, применимый за пределами этого набора данных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27E0F-80CD-BB44-80DB-3B93D407BBAA}"/>
              </a:ext>
            </a:extLst>
          </p:cNvPr>
          <p:cNvSpPr txBox="1"/>
          <p:nvPr/>
        </p:nvSpPr>
        <p:spPr>
          <a:xfrm>
            <a:off x="4953000" y="1584185"/>
            <a:ext cx="396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Аналитика</a:t>
            </a:r>
            <a:r>
              <a:rPr lang="ru-RU" dirty="0"/>
              <a:t> помогает вам сформулировать гипотезы. </a:t>
            </a:r>
          </a:p>
          <a:p>
            <a:endParaRPr lang="ru-RU" dirty="0"/>
          </a:p>
          <a:p>
            <a:r>
              <a:rPr lang="ru-RU" dirty="0"/>
              <a:t>Это улучшает качество ваших </a:t>
            </a:r>
            <a:r>
              <a:rPr lang="ru-RU" b="1" dirty="0"/>
              <a:t>вопросов.</a:t>
            </a:r>
          </a:p>
          <a:p>
            <a:endParaRPr lang="ru-RU" dirty="0"/>
          </a:p>
          <a:p>
            <a:r>
              <a:rPr lang="ru-RU" dirty="0"/>
              <a:t>Аналитик добывает информацию в конкретном наборе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90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Генеральная совокупность</a:t>
            </a:r>
          </a:p>
        </p:txBody>
      </p:sp>
    </p:spTree>
    <p:extLst>
      <p:ext uri="{BB962C8B-B14F-4D97-AF65-F5344CB8AC3E}">
        <p14:creationId xmlns:p14="http://schemas.microsoft.com/office/powerpoint/2010/main" val="1499920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Генеральная совокупность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123950"/>
            <a:ext cx="3962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Генеральная совокупность </a:t>
            </a:r>
            <a:r>
              <a:rPr lang="ru-RU" dirty="0"/>
              <a:t>– совокупность всех объектов, которые предполагается проанализировать</a:t>
            </a:r>
          </a:p>
          <a:p>
            <a:r>
              <a:rPr lang="ru-RU" sz="1200" dirty="0"/>
              <a:t>Суммарная численность объектов наблюдения,</a:t>
            </a:r>
          </a:p>
          <a:p>
            <a:r>
              <a:rPr lang="ru-RU" sz="1200" dirty="0"/>
              <a:t>обладающих определенным набором признаков</a:t>
            </a:r>
          </a:p>
          <a:p>
            <a:r>
              <a:rPr lang="ru-RU" sz="1200" dirty="0"/>
              <a:t>(пол, возраст, доход, численность, оборот и т.д.),</a:t>
            </a:r>
          </a:p>
          <a:p>
            <a:r>
              <a:rPr lang="ru-RU" sz="1200" dirty="0"/>
              <a:t>ограниченная в пространстве и времени</a:t>
            </a:r>
          </a:p>
          <a:p>
            <a:endParaRPr lang="ru-RU" dirty="0"/>
          </a:p>
          <a:p>
            <a:r>
              <a:rPr lang="ru-RU" dirty="0"/>
              <a:t>Давайте представим, что мы хотим что-то узнать о российских сноубордистах. Например, размер ноги, рост, вес, средние затраты на снаряжение.</a:t>
            </a:r>
            <a:endParaRPr lang="en-US" dirty="0"/>
          </a:p>
        </p:txBody>
      </p:sp>
      <p:pic>
        <p:nvPicPr>
          <p:cNvPr id="4100" name="Picture 4" descr="SG PRO TEAM - Sigi Grabner">
            <a:extLst>
              <a:ext uri="{FF2B5EF4-FFF2-40B4-BE49-F238E27FC236}">
                <a16:creationId xmlns:a16="http://schemas.microsoft.com/office/drawing/2014/main" id="{16460FBE-58D3-4541-A6F1-BE87033E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123950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6F75A-9CCD-9241-99CF-216C311430DB}"/>
              </a:ext>
            </a:extLst>
          </p:cNvPr>
          <p:cNvSpPr txBox="1"/>
          <p:nvPr/>
        </p:nvSpPr>
        <p:spPr>
          <a:xfrm>
            <a:off x="4876800" y="3867150"/>
            <a:ext cx="4144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Опросив пятьсот человек, можем ли мы</a:t>
            </a:r>
            <a:endParaRPr lang="en-US" sz="1400" dirty="0"/>
          </a:p>
          <a:p>
            <a:r>
              <a:rPr lang="ru-RU" sz="1400" dirty="0"/>
              <a:t>сказать</a:t>
            </a:r>
            <a:r>
              <a:rPr lang="en-US" sz="1400" dirty="0"/>
              <a:t>, </a:t>
            </a:r>
            <a:r>
              <a:rPr lang="ru-RU" sz="1400" dirty="0"/>
              <a:t>что полученные результаты</a:t>
            </a:r>
            <a:r>
              <a:rPr lang="en-US" sz="1400" dirty="0"/>
              <a:t> </a:t>
            </a:r>
            <a:r>
              <a:rPr lang="ru-RU" sz="1400" dirty="0"/>
              <a:t>полностью</a:t>
            </a:r>
            <a:endParaRPr lang="en-US" sz="1400" dirty="0"/>
          </a:p>
          <a:p>
            <a:r>
              <a:rPr lang="ru-RU" sz="1400" dirty="0"/>
              <a:t>репрезентативны</a:t>
            </a:r>
            <a:r>
              <a:rPr lang="en-US" sz="1400" dirty="0"/>
              <a:t>? </a:t>
            </a:r>
            <a:endParaRPr lang="ru-RU" sz="1400" dirty="0"/>
          </a:p>
          <a:p>
            <a:r>
              <a:rPr lang="ru-RU" sz="1400" dirty="0"/>
              <a:t>А если тысячу?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383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Выборка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123950"/>
            <a:ext cx="3962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Выборка </a:t>
            </a:r>
            <a:r>
              <a:rPr lang="ru-RU" dirty="0"/>
              <a:t>— часть генеральной совокупности элементов, которая доступна исследователю в ходе анализа</a:t>
            </a:r>
          </a:p>
          <a:p>
            <a:endParaRPr lang="ru-RU" dirty="0"/>
          </a:p>
          <a:p>
            <a:r>
              <a:rPr lang="ru-RU" dirty="0"/>
              <a:t>Характеристики выборки: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Качественная</a:t>
            </a:r>
            <a:r>
              <a:rPr lang="ru-RU" dirty="0"/>
              <a:t> – что именно мы выбираем и какие способы построения выборки мы для этого используем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Количественная</a:t>
            </a:r>
            <a:r>
              <a:rPr lang="ru-RU" dirty="0"/>
              <a:t> – сколько элементов мы выбираем, другими словами – объём выборки</a:t>
            </a:r>
            <a:endParaRPr lang="en-US" dirty="0"/>
          </a:p>
        </p:txBody>
      </p:sp>
      <p:pic>
        <p:nvPicPr>
          <p:cNvPr id="6146" name="Picture 2" descr="Sampling — Statistical approach in Machine learning | by Suresha HP |  Analytics Vidhya | Jan, 2021 | Medium | Analytics Vidhya">
            <a:extLst>
              <a:ext uri="{FF2B5EF4-FFF2-40B4-BE49-F238E27FC236}">
                <a16:creationId xmlns:a16="http://schemas.microsoft.com/office/drawing/2014/main" id="{05363B68-6F77-EC42-8CDB-8DE72673F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275" y="403892"/>
            <a:ext cx="3962400" cy="216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AE8A92-F687-1C49-8282-F02A5E701C65}"/>
              </a:ext>
            </a:extLst>
          </p:cNvPr>
          <p:cNvSpPr txBox="1"/>
          <p:nvPr/>
        </p:nvSpPr>
        <p:spPr>
          <a:xfrm>
            <a:off x="4777275" y="2571750"/>
            <a:ext cx="42438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Пример генеральной совокупности</a:t>
            </a:r>
            <a:r>
              <a:rPr lang="ru-RU" dirty="0"/>
              <a:t>:</a:t>
            </a:r>
          </a:p>
          <a:p>
            <a:r>
              <a:rPr lang="ru-RU" dirty="0"/>
              <a:t>Парни Москвы в возрасте 27-35 лет, занимающиеся сноубордингом</a:t>
            </a:r>
          </a:p>
          <a:p>
            <a:endParaRPr lang="ru-RU" dirty="0"/>
          </a:p>
          <a:p>
            <a:r>
              <a:rPr lang="ru-RU" b="1" dirty="0"/>
              <a:t>Пример выборки:</a:t>
            </a:r>
          </a:p>
          <a:p>
            <a:r>
              <a:rPr lang="ru-RU" dirty="0"/>
              <a:t>Парни Москвы в возрасте 27-35 лет, занимающиеся сноубордингом, </a:t>
            </a:r>
            <a:br>
              <a:rPr lang="ru-RU" dirty="0"/>
            </a:br>
            <a:r>
              <a:rPr lang="ru-RU" dirty="0"/>
              <a:t>которых получилось опросить =)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95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Особенности выборок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581150"/>
            <a:ext cx="848775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Репрезентативность</a:t>
            </a:r>
            <a:r>
              <a:rPr lang="ru-RU" dirty="0"/>
              <a:t> – соответствие характеристик выборки характеристикам генеральной совокупности в целом.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При сравнении двух (и более) выборок важным параметром является их </a:t>
            </a:r>
            <a:r>
              <a:rPr lang="ru-RU" b="1" dirty="0"/>
              <a:t>зависимость.</a:t>
            </a:r>
          </a:p>
          <a:p>
            <a:r>
              <a:rPr lang="ru-RU" sz="1200" dirty="0"/>
              <a:t>Если можно установить четкую пару для каждого случая в двух выборках, такие выборки называются зависимыми.</a:t>
            </a:r>
          </a:p>
          <a:p>
            <a:r>
              <a:rPr lang="ru-RU" sz="1200" dirty="0"/>
              <a:t>Следовательно, зависимые выборки всегда имеют одинаковый объём, а объём независимых может отличаться.</a:t>
            </a:r>
          </a:p>
          <a:p>
            <a:endParaRPr lang="ru-RU" dirty="0"/>
          </a:p>
          <a:p>
            <a:r>
              <a:rPr lang="ru-RU" b="1" dirty="0"/>
              <a:t>Рандомизация</a:t>
            </a:r>
            <a:r>
              <a:rPr lang="ru-RU" dirty="0"/>
              <a:t>, или случайный отбор,</a:t>
            </a:r>
            <a:r>
              <a:rPr lang="en-US" dirty="0"/>
              <a:t> </a:t>
            </a:r>
            <a:r>
              <a:rPr lang="ru-RU" dirty="0"/>
              <a:t>часто</a:t>
            </a:r>
            <a:r>
              <a:rPr lang="en-US" dirty="0"/>
              <a:t> </a:t>
            </a:r>
            <a:r>
              <a:rPr lang="ru-RU" dirty="0"/>
              <a:t>используется для создания простых случайных выборок.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06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Меры центральной тенденции</a:t>
            </a:r>
          </a:p>
        </p:txBody>
      </p:sp>
    </p:spTree>
    <p:extLst>
      <p:ext uri="{BB962C8B-B14F-4D97-AF65-F5344CB8AC3E}">
        <p14:creationId xmlns:p14="http://schemas.microsoft.com/office/powerpoint/2010/main" val="295365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Меры центральной тенденции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276350"/>
            <a:ext cx="84877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Статистические показатели, которые характеризуют "центральное" или "типичное" значение в наборе данных. Они позволяют описать, где находится центр распределения данных, и понять общее расположение данных. </a:t>
            </a:r>
          </a:p>
          <a:p>
            <a:r>
              <a:rPr lang="ru-RU" dirty="0"/>
              <a:t>Основными мерами центральной тенденции являются </a:t>
            </a:r>
            <a:r>
              <a:rPr lang="ru-RU" b="1" dirty="0"/>
              <a:t>среднее, медиана и мода</a:t>
            </a:r>
            <a:r>
              <a:rPr lang="ru-RU" dirty="0"/>
              <a:t>.</a:t>
            </a:r>
          </a:p>
          <a:p>
            <a:endParaRPr lang="ru-RU" dirty="0"/>
          </a:p>
          <a:p>
            <a:pPr>
              <a:spcAft>
                <a:spcPts val="1200"/>
              </a:spcAft>
            </a:pPr>
            <a:r>
              <a:rPr lang="ru-RU" sz="1400" b="1" dirty="0"/>
              <a:t>Медианой</a:t>
            </a:r>
            <a:r>
              <a:rPr lang="ru-RU" sz="1400" dirty="0"/>
              <a:t> упорядоченной последовательности чисел с нечетным числом членов называется число, находящееся посередине (для четного - среднее арифметическое двух чисел, находящихся посередине) последовательности.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Среднее арифметическое </a:t>
            </a:r>
            <a:r>
              <a:rPr lang="ru-RU" sz="1400" dirty="0"/>
              <a:t>нескольких величин – это отношение суммы величин к их количеству.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Мода</a:t>
            </a:r>
            <a:r>
              <a:rPr lang="ru-RU" sz="1400" dirty="0"/>
              <a:t> последовательности чисел – это число, которое встречается в упорядоченной последовательности чисел чаще других.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Разброс</a:t>
            </a:r>
            <a:r>
              <a:rPr lang="ru-RU" sz="1400" dirty="0"/>
              <a:t> (размах) – разность между максимальной и минимальной величинами.</a:t>
            </a:r>
          </a:p>
        </p:txBody>
      </p:sp>
    </p:spTree>
    <p:extLst>
      <p:ext uri="{BB962C8B-B14F-4D97-AF65-F5344CB8AC3E}">
        <p14:creationId xmlns:p14="http://schemas.microsoft.com/office/powerpoint/2010/main" val="1446593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Меры центральной тенденции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FB045-55B0-4640-B618-B6CF40C667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4" t="7541" r="8847"/>
          <a:stretch/>
        </p:blipFill>
        <p:spPr>
          <a:xfrm>
            <a:off x="1562100" y="1123950"/>
            <a:ext cx="6019800" cy="39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84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Точечные и интервальные оценки</a:t>
            </a:r>
          </a:p>
        </p:txBody>
      </p:sp>
    </p:spTree>
    <p:extLst>
      <p:ext uri="{BB962C8B-B14F-4D97-AF65-F5344CB8AC3E}">
        <p14:creationId xmlns:p14="http://schemas.microsoft.com/office/powerpoint/2010/main" val="2901618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0724"/>
            <a:ext cx="8487750" cy="1095900"/>
          </a:xfrm>
        </p:spPr>
        <p:txBody>
          <a:bodyPr/>
          <a:lstStyle/>
          <a:p>
            <a:r>
              <a:rPr lang="ru-RU" dirty="0"/>
              <a:t>Точечные и интервальные оценки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E6D0-00E7-0346-9E19-84F25AC67013}"/>
              </a:ext>
            </a:extLst>
          </p:cNvPr>
          <p:cNvSpPr txBox="1"/>
          <p:nvPr/>
        </p:nvSpPr>
        <p:spPr>
          <a:xfrm>
            <a:off x="533400" y="1123950"/>
            <a:ext cx="848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Точечная оценка</a:t>
            </a:r>
            <a:r>
              <a:rPr lang="ru-RU" dirty="0"/>
              <a:t> – точное «единственное» значение</a:t>
            </a:r>
          </a:p>
          <a:p>
            <a:r>
              <a:rPr lang="ru-RU" b="1" dirty="0"/>
              <a:t>Интервальная оценка </a:t>
            </a:r>
            <a:r>
              <a:rPr lang="ru-RU" dirty="0"/>
              <a:t>– нахождение величины в некотором диапазоне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AF6FDC-FE66-F94A-8F85-34BB255B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9060"/>
            <a:ext cx="34417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3E8BC-28F2-FC4D-B0CD-B5BB0AEE0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869060"/>
            <a:ext cx="34417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13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Центральная предельная теорема</a:t>
            </a:r>
          </a:p>
        </p:txBody>
      </p:sp>
    </p:spTree>
    <p:extLst>
      <p:ext uri="{BB962C8B-B14F-4D97-AF65-F5344CB8AC3E}">
        <p14:creationId xmlns:p14="http://schemas.microsoft.com/office/powerpoint/2010/main" val="1050821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80ED6A-50AD-F748-A6F5-48852325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Кондорсе (1784 г.)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9BFFA-EA10-D44F-A889-614CF281F46A}"/>
              </a:ext>
            </a:extLst>
          </p:cNvPr>
          <p:cNvSpPr txBox="1"/>
          <p:nvPr/>
        </p:nvSpPr>
        <p:spPr>
          <a:xfrm>
            <a:off x="609600" y="1276350"/>
            <a:ext cx="8305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больше или равна 0.5 то с увеличением числа членов жюри вероятность правильного ответа возрастает и стремиться к 1 по мере увеличения их количества.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меньше 0.5 то с увеличением числа членов жюри вероятность правильного ответа стремиться к 0 по мере увеличения их количества.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/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blipFill>
                <a:blip r:embed="rId2"/>
                <a:stretch>
                  <a:fillRect l="-16580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/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&gt;0.5 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blipFill>
                <a:blip r:embed="rId3"/>
                <a:stretch>
                  <a:fillRect l="-159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860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7B93-6AFD-4D44-BFDD-33F05F2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 </a:t>
            </a:r>
            <a:r>
              <a:rPr lang="ru-RU" dirty="0" err="1"/>
              <a:t>Гальтона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2E09B-2E98-8B40-98A7-C2B72EDD2481}"/>
              </a:ext>
            </a:extLst>
          </p:cNvPr>
          <p:cNvSpPr txBox="1"/>
          <p:nvPr/>
        </p:nvSpPr>
        <p:spPr>
          <a:xfrm>
            <a:off x="490582" y="1657350"/>
            <a:ext cx="4078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На ярмарке около 800 человек пытались угадать вес быка. Бык весил 1198 фунтов.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Ни один из участников не дал точного ответа.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Среднее предсказание по всем ответам оказалось 1197 фунтов.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CF9DA-0961-4B4E-B4FB-2DAC3C57AD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953"/>
          <a:stretch/>
        </p:blipFill>
        <p:spPr>
          <a:xfrm>
            <a:off x="4953000" y="1200150"/>
            <a:ext cx="35052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0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814558-B860-2946-B661-F469412C4B7A}"/>
              </a:ext>
            </a:extLst>
          </p:cNvPr>
          <p:cNvGrpSpPr/>
          <p:nvPr/>
        </p:nvGrpSpPr>
        <p:grpSpPr>
          <a:xfrm>
            <a:off x="1143000" y="1047750"/>
            <a:ext cx="5638800" cy="3293276"/>
            <a:chOff x="838200" y="878674"/>
            <a:chExt cx="5638800" cy="3293276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D77A3E0-0E9B-C743-BF92-DF18E8ABE39D}"/>
                </a:ext>
              </a:extLst>
            </p:cNvPr>
            <p:cNvPicPr/>
            <p:nvPr/>
          </p:nvPicPr>
          <p:blipFill rotWithShape="1">
            <a:blip r:embed="rId2" cstate="print"/>
            <a:srcRect r="25252" b="17794"/>
            <a:stretch/>
          </p:blipFill>
          <p:spPr>
            <a:xfrm>
              <a:off x="838200" y="878674"/>
              <a:ext cx="5638800" cy="329327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3C11745-E226-8C4C-9988-9AB592159A6E}"/>
                </a:ext>
              </a:extLst>
            </p:cNvPr>
            <p:cNvSpPr txBox="1"/>
            <p:nvPr/>
          </p:nvSpPr>
          <p:spPr>
            <a:xfrm>
              <a:off x="2971800" y="1581150"/>
              <a:ext cx="8765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/>
                <a:t>Выбор с </a:t>
              </a:r>
            </a:p>
            <a:p>
              <a:pPr algn="ctr"/>
              <a:r>
                <a:rPr lang="ru-RU" sz="1200" dirty="0"/>
                <a:t>возвратом</a:t>
              </a:r>
              <a:endParaRPr lang="en-US" sz="1200" dirty="0"/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63FA5F6B-A2B9-B442-A00C-9A2B747EEEE5}"/>
                </a:ext>
              </a:extLst>
            </p:cNvPr>
            <p:cNvSpPr/>
            <p:nvPr/>
          </p:nvSpPr>
          <p:spPr>
            <a:xfrm rot="6324136">
              <a:off x="2974724" y="1822241"/>
              <a:ext cx="717211" cy="668142"/>
            </a:xfrm>
            <a:prstGeom prst="arc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3D3566D3-B8E9-E34D-8539-AB7DBBB512C8}"/>
                </a:ext>
              </a:extLst>
            </p:cNvPr>
            <p:cNvSpPr/>
            <p:nvPr/>
          </p:nvSpPr>
          <p:spPr>
            <a:xfrm rot="8480726">
              <a:off x="3101908" y="2336769"/>
              <a:ext cx="717211" cy="668142"/>
            </a:xfrm>
            <a:prstGeom prst="arc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95CE3C8D-CF06-AC49-B891-DB0344A7D35D}"/>
                </a:ext>
              </a:extLst>
            </p:cNvPr>
            <p:cNvSpPr/>
            <p:nvPr/>
          </p:nvSpPr>
          <p:spPr>
            <a:xfrm rot="10029697">
              <a:off x="3101908" y="2855767"/>
              <a:ext cx="717211" cy="668142"/>
            </a:xfrm>
            <a:prstGeom prst="arc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E32F87-9D17-034A-AD5D-0189CE17C046}"/>
              </a:ext>
            </a:extLst>
          </p:cNvPr>
          <p:cNvSpPr txBox="1"/>
          <p:nvPr/>
        </p:nvSpPr>
        <p:spPr>
          <a:xfrm>
            <a:off x="1447800" y="4341026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= 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041B7-C4D1-264D-B54D-1675E1F49596}"/>
              </a:ext>
            </a:extLst>
          </p:cNvPr>
          <p:cNvSpPr txBox="1"/>
          <p:nvPr/>
        </p:nvSpPr>
        <p:spPr>
          <a:xfrm>
            <a:off x="6771176" y="2027225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r>
              <a:rPr lang="en-US" baseline="-25000" dirty="0"/>
              <a:t>1</a:t>
            </a:r>
            <a:r>
              <a:rPr lang="en-US" dirty="0"/>
              <a:t> = 0.51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D3164-75AC-9843-9D55-EA6A3BDFFCFB}"/>
              </a:ext>
            </a:extLst>
          </p:cNvPr>
          <p:cNvSpPr txBox="1"/>
          <p:nvPr/>
        </p:nvSpPr>
        <p:spPr>
          <a:xfrm>
            <a:off x="6781800" y="275984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r>
              <a:rPr lang="en-US" baseline="-25000" dirty="0"/>
              <a:t>2</a:t>
            </a:r>
            <a:r>
              <a:rPr lang="en-US" dirty="0"/>
              <a:t> = 0.48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83DF8-9A6B-D64F-A595-815B578D9D72}"/>
              </a:ext>
            </a:extLst>
          </p:cNvPr>
          <p:cNvSpPr txBox="1"/>
          <p:nvPr/>
        </p:nvSpPr>
        <p:spPr>
          <a:xfrm>
            <a:off x="6771176" y="3394985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r>
              <a:rPr lang="en-US" baseline="-25000" dirty="0"/>
              <a:t>3</a:t>
            </a:r>
            <a:r>
              <a:rPr lang="en-US" dirty="0"/>
              <a:t> = 0.52</a:t>
            </a:r>
          </a:p>
        </p:txBody>
      </p:sp>
    </p:spTree>
    <p:extLst>
      <p:ext uri="{BB962C8B-B14F-4D97-AF65-F5344CB8AC3E}">
        <p14:creationId xmlns:p14="http://schemas.microsoft.com/office/powerpoint/2010/main" val="3933421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77A3E0-0E9B-C743-BF92-DF18E8ABE39D}"/>
              </a:ext>
            </a:extLst>
          </p:cNvPr>
          <p:cNvPicPr/>
          <p:nvPr/>
        </p:nvPicPr>
        <p:blipFill rotWithShape="1">
          <a:blip r:embed="rId2" cstate="print"/>
          <a:srcRect r="36399" b="17794"/>
          <a:stretch/>
        </p:blipFill>
        <p:spPr>
          <a:xfrm>
            <a:off x="148065" y="1047750"/>
            <a:ext cx="4347735" cy="32932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11745-E226-8C4C-9988-9AB592159A6E}"/>
              </a:ext>
            </a:extLst>
          </p:cNvPr>
          <p:cNvSpPr txBox="1"/>
          <p:nvPr/>
        </p:nvSpPr>
        <p:spPr>
          <a:xfrm>
            <a:off x="2081478" y="1750226"/>
            <a:ext cx="794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Выбор с </a:t>
            </a:r>
          </a:p>
          <a:p>
            <a:pPr algn="ctr"/>
            <a:r>
              <a:rPr lang="ru-RU" sz="1200" dirty="0"/>
              <a:t>возвратом</a:t>
            </a:r>
            <a:endParaRPr lang="en-US" sz="1200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3FA5F6B-A2B9-B442-A00C-9A2B747EEEE5}"/>
              </a:ext>
            </a:extLst>
          </p:cNvPr>
          <p:cNvSpPr/>
          <p:nvPr/>
        </p:nvSpPr>
        <p:spPr>
          <a:xfrm rot="6324136">
            <a:off x="2050481" y="2022661"/>
            <a:ext cx="717211" cy="605453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3D3566D3-B8E9-E34D-8539-AB7DBBB512C8}"/>
              </a:ext>
            </a:extLst>
          </p:cNvPr>
          <p:cNvSpPr/>
          <p:nvPr/>
        </p:nvSpPr>
        <p:spPr>
          <a:xfrm rot="8480726">
            <a:off x="2199379" y="2505845"/>
            <a:ext cx="649918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5CE3C8D-CF06-AC49-B891-DB0344A7D35D}"/>
              </a:ext>
            </a:extLst>
          </p:cNvPr>
          <p:cNvSpPr/>
          <p:nvPr/>
        </p:nvSpPr>
        <p:spPr>
          <a:xfrm rot="10029697">
            <a:off x="2199379" y="3024843"/>
            <a:ext cx="649918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32F87-9D17-034A-AD5D-0189CE17C046}"/>
              </a:ext>
            </a:extLst>
          </p:cNvPr>
          <p:cNvSpPr txBox="1"/>
          <p:nvPr/>
        </p:nvSpPr>
        <p:spPr>
          <a:xfrm>
            <a:off x="457200" y="430738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= 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041B7-C4D1-264D-B54D-1675E1F49596}"/>
              </a:ext>
            </a:extLst>
          </p:cNvPr>
          <p:cNvSpPr txBox="1"/>
          <p:nvPr/>
        </p:nvSpPr>
        <p:spPr>
          <a:xfrm>
            <a:off x="4419600" y="1886255"/>
            <a:ext cx="848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0.51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D3164-75AC-9843-9D55-EA6A3BDFFCFB}"/>
              </a:ext>
            </a:extLst>
          </p:cNvPr>
          <p:cNvSpPr txBox="1"/>
          <p:nvPr/>
        </p:nvSpPr>
        <p:spPr>
          <a:xfrm>
            <a:off x="4446048" y="2633706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r>
              <a:rPr lang="en-US" baseline="-25000" dirty="0"/>
              <a:t>2</a:t>
            </a:r>
          </a:p>
          <a:p>
            <a:r>
              <a:rPr lang="en-US" dirty="0"/>
              <a:t>0.48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83DF8-9A6B-D64F-A595-815B578D9D72}"/>
              </a:ext>
            </a:extLst>
          </p:cNvPr>
          <p:cNvSpPr txBox="1"/>
          <p:nvPr/>
        </p:nvSpPr>
        <p:spPr>
          <a:xfrm>
            <a:off x="4414386" y="3319075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r>
              <a:rPr lang="en-US" baseline="-25000" dirty="0"/>
              <a:t>3</a:t>
            </a:r>
          </a:p>
          <a:p>
            <a:r>
              <a:rPr lang="en-US" dirty="0"/>
              <a:t>0.52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E3B6F3-7365-2A47-ADC2-F310967C76DB}"/>
              </a:ext>
            </a:extLst>
          </p:cNvPr>
          <p:cNvCxnSpPr>
            <a:cxnSpLocks/>
          </p:cNvCxnSpPr>
          <p:nvPr/>
        </p:nvCxnSpPr>
        <p:spPr>
          <a:xfrm>
            <a:off x="4343400" y="2228509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D5A117-EF5F-E04D-B791-A83FD9984ACE}"/>
              </a:ext>
            </a:extLst>
          </p:cNvPr>
          <p:cNvCxnSpPr>
            <a:cxnSpLocks/>
          </p:cNvCxnSpPr>
          <p:nvPr/>
        </p:nvCxnSpPr>
        <p:spPr>
          <a:xfrm>
            <a:off x="4343400" y="2960988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15BA43-CED6-DC4A-9A52-77BF520D5DC9}"/>
              </a:ext>
            </a:extLst>
          </p:cNvPr>
          <p:cNvCxnSpPr>
            <a:cxnSpLocks/>
          </p:cNvCxnSpPr>
          <p:nvPr/>
        </p:nvCxnSpPr>
        <p:spPr>
          <a:xfrm>
            <a:off x="4343400" y="3638550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F03A7B65-C8CE-B347-9535-5D30FB173C5C}"/>
              </a:ext>
            </a:extLst>
          </p:cNvPr>
          <p:cNvSpPr/>
          <p:nvPr/>
        </p:nvSpPr>
        <p:spPr>
          <a:xfrm>
            <a:off x="5206106" y="2038350"/>
            <a:ext cx="164449" cy="18288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ED2745-CE4E-2F41-908D-82A5C0EDACDB}"/>
              </a:ext>
            </a:extLst>
          </p:cNvPr>
          <p:cNvGrpSpPr/>
          <p:nvPr/>
        </p:nvGrpSpPr>
        <p:grpSpPr>
          <a:xfrm>
            <a:off x="5942802" y="1796226"/>
            <a:ext cx="2708184" cy="2329523"/>
            <a:chOff x="5899005" y="1529926"/>
            <a:chExt cx="2708184" cy="23295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AC6ECB6-CBDD-0447-AF0A-088430709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9005" y="1979952"/>
              <a:ext cx="2708184" cy="1879497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B94DAD-2D8F-3C43-B5C9-2D183EFE53CC}"/>
                </a:ext>
              </a:extLst>
            </p:cNvPr>
            <p:cNvCxnSpPr/>
            <p:nvPr/>
          </p:nvCxnSpPr>
          <p:spPr>
            <a:xfrm>
              <a:off x="7253097" y="1908437"/>
              <a:ext cx="0" cy="137160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D7B2A7-68C5-6C41-B30C-32BBB157AE5D}"/>
                </a:ext>
              </a:extLst>
            </p:cNvPr>
            <p:cNvSpPr txBox="1"/>
            <p:nvPr/>
          </p:nvSpPr>
          <p:spPr>
            <a:xfrm>
              <a:off x="6638185" y="1529926"/>
              <a:ext cx="1229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mean = 0.5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1201AD-CF49-5A4C-B754-8312B718E328}"/>
              </a:ext>
            </a:extLst>
          </p:cNvPr>
          <p:cNvCxnSpPr>
            <a:cxnSpLocks/>
          </p:cNvCxnSpPr>
          <p:nvPr/>
        </p:nvCxnSpPr>
        <p:spPr>
          <a:xfrm>
            <a:off x="5562600" y="2961525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89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Центральная предельная теорема</a:t>
            </a:r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9858195-1863-5743-B532-46E59392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66950"/>
            <a:ext cx="6324600" cy="266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CD1656-F935-FC41-848F-91D38DB4FD15}"/>
              </a:ext>
            </a:extLst>
          </p:cNvPr>
          <p:cNvSpPr txBox="1"/>
          <p:nvPr/>
        </p:nvSpPr>
        <p:spPr>
          <a:xfrm>
            <a:off x="500550" y="1019522"/>
            <a:ext cx="852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Какова бы ни была форма распределения генеральной совокупности, распределение выборочного среднего стремится к нормальному, а его дисперсия определяется величиной выборки.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025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Распределения случайных величин</a:t>
            </a:r>
          </a:p>
        </p:txBody>
      </p:sp>
    </p:spTree>
    <p:extLst>
      <p:ext uri="{BB962C8B-B14F-4D97-AF65-F5344CB8AC3E}">
        <p14:creationId xmlns:p14="http://schemas.microsoft.com/office/powerpoint/2010/main" val="2125564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Нормальное распределение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CD1656-F935-FC41-848F-91D38DB4FD15}"/>
                  </a:ext>
                </a:extLst>
              </p:cNvPr>
              <p:cNvSpPr txBox="1"/>
              <p:nvPr/>
            </p:nvSpPr>
            <p:spPr>
              <a:xfrm>
                <a:off x="500550" y="1886626"/>
                <a:ext cx="2928450" cy="151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 err="1"/>
                  <a:t>мат.ожидание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дисперсия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CD1656-F935-FC41-848F-91D38DB4F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886626"/>
                <a:ext cx="2928450" cy="1516121"/>
              </a:xfrm>
              <a:prstGeom prst="rect">
                <a:avLst/>
              </a:prstGeom>
              <a:blipFill>
                <a:blip r:embed="rId2"/>
                <a:stretch>
                  <a:fillRect b="-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F604370-1D2C-C649-AAE9-1E91AFB8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581150"/>
            <a:ext cx="53721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25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752C96D-D565-6E4E-BF35-7CF04C59F6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Распределение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752C96D-D565-6E4E-BF35-7CF04C59F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B868FFA-334A-764E-A47A-373735536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250" y="1581150"/>
            <a:ext cx="5422900" cy="345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61436F-1A34-804D-8E0A-99056A9B5951}"/>
              </a:ext>
            </a:extLst>
          </p:cNvPr>
          <p:cNvSpPr txBox="1"/>
          <p:nvPr/>
        </p:nvSpPr>
        <p:spPr>
          <a:xfrm>
            <a:off x="533400" y="1885950"/>
            <a:ext cx="3064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Описывает распределение суммы квадратов </a:t>
            </a:r>
            <a:r>
              <a:rPr lang="en-US" dirty="0"/>
              <a:t>k </a:t>
            </a:r>
            <a:r>
              <a:rPr lang="ru-RU" dirty="0"/>
              <a:t>независимых стандартных нормально распределённых случайных величин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079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Стьюдента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D78B6-F988-4C4F-B029-525414CFF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293" y="1581150"/>
            <a:ext cx="5372100" cy="345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AA6B92-9D07-BF4B-AFC5-4A0BFB8E395A}"/>
              </a:ext>
            </a:extLst>
          </p:cNvPr>
          <p:cNvSpPr txBox="1"/>
          <p:nvPr/>
        </p:nvSpPr>
        <p:spPr>
          <a:xfrm>
            <a:off x="457200" y="1581150"/>
            <a:ext cx="31517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Вероятностное распределение, которое используется в статистике при анализе малых выборок, когда генеральная дисперсия неизвестна и выборочные данные предполагаются нормально распределёнными.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35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Стьюдента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AA6B92-9D07-BF4B-AFC5-4A0BFB8E395A}"/>
                  </a:ext>
                </a:extLst>
              </p:cNvPr>
              <p:cNvSpPr txBox="1"/>
              <p:nvPr/>
            </p:nvSpPr>
            <p:spPr>
              <a:xfrm>
                <a:off x="457200" y="1418923"/>
                <a:ext cx="856395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t-</a:t>
                </a:r>
                <a:r>
                  <a:rPr lang="ru-RU" dirty="0"/>
                  <a:t>распределение похоже на нормальное распределение, но имеет "более тяжёлые хвосты". Это означает, что оно даёт более высокие вероятности для наблюдений, которые находятся далеко от среднего, по сравнению с нормальным распределением. </a:t>
                </a:r>
              </a:p>
              <a:p>
                <a:r>
                  <a:rPr lang="ru-RU" dirty="0"/>
                  <a:t>Это делает его более консервативным при анализе малых выборок.</a:t>
                </a:r>
              </a:p>
              <a:p>
                <a:endParaRPr lang="ru-RU" dirty="0"/>
              </a:p>
              <a:p>
                <a:r>
                  <a:rPr lang="ru-RU" dirty="0"/>
                  <a:t>Когда количество степеней свободы становится большим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l-GR" dirty="0"/>
                  <a:t>), </a:t>
                </a:r>
                <a:r>
                  <a:rPr lang="ru-RU" dirty="0"/>
                  <a:t>распределение Стьюдента становится очень близким к стандартному нормальному распределению.</a:t>
                </a:r>
              </a:p>
              <a:p>
                <a:endParaRPr lang="en-US" dirty="0"/>
              </a:p>
              <a:p>
                <a:r>
                  <a:rPr lang="ru-RU" dirty="0"/>
                  <a:t>Для малых значений степеней свободы </a:t>
                </a:r>
                <a:r>
                  <a:rPr lang="en-US" dirty="0"/>
                  <a:t>t-</a:t>
                </a:r>
                <a:r>
                  <a:rPr lang="ru-RU" dirty="0"/>
                  <a:t>распределение имеет более широкие хвосты, что делает его более чувствительным к крайним значениям.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AA6B92-9D07-BF4B-AFC5-4A0BFB8E3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8923"/>
                <a:ext cx="8563950" cy="3139321"/>
              </a:xfrm>
              <a:prstGeom prst="rect">
                <a:avLst/>
              </a:prstGeom>
              <a:blipFill>
                <a:blip r:embed="rId2"/>
                <a:stretch>
                  <a:fillRect l="-593" t="-803" b="-2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1771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Биномиальное распределение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41675-6B46-5D4A-93C6-90E824251FDF}"/>
              </a:ext>
            </a:extLst>
          </p:cNvPr>
          <p:cNvSpPr txBox="1"/>
          <p:nvPr/>
        </p:nvSpPr>
        <p:spPr>
          <a:xfrm>
            <a:off x="500550" y="1352550"/>
            <a:ext cx="28955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-webkit-standard"/>
              </a:rPr>
              <a:t>Д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искретное вероятностное распределение, которое описывает количество успехов в серии независимых испытаний, где каждое испытание может иметь только два исхода: успех (с вероятностью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или неудача (с вероятностью (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1−p). 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endParaRPr lang="ru-RU" sz="1400" dirty="0">
              <a:solidFill>
                <a:srgbClr val="000000"/>
              </a:solidFill>
              <a:latin typeface="-webkit-standard"/>
            </a:endParaRPr>
          </a:p>
          <a:p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Это распределение моделирует ситуации, в которых одно и то же событие повторяется несколько раз с фиксированной вероятностью успеха.</a:t>
            </a:r>
            <a:endParaRPr lang="ru-RU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961234-54CC-4E4D-98DC-11E1AFECD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69" y="1581150"/>
            <a:ext cx="54229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84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Пуассона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741675-6B46-5D4A-93C6-90E824251FDF}"/>
                  </a:ext>
                </a:extLst>
              </p:cNvPr>
              <p:cNvSpPr txBox="1"/>
              <p:nvPr/>
            </p:nvSpPr>
            <p:spPr>
              <a:xfrm>
                <a:off x="500550" y="1352550"/>
                <a:ext cx="2895599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>
                    <a:solidFill>
                      <a:srgbClr val="000000"/>
                    </a:solidFill>
                    <a:latin typeface="-webkit-standard"/>
                  </a:rPr>
                  <a:t>Д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искретное вероятностное распределение, которое описывает вероятность определённого числа событий, происходящих за фиксированный промежуток времени или как еще говорят – потока событий.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endParaRPr lang="en-US" sz="1400" dirty="0">
                  <a:solidFill>
                    <a:srgbClr val="000000"/>
                  </a:solidFill>
                  <a:latin typeface="-webkit-standard"/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 - </a:t>
                </a:r>
                <a:r>
                  <a:rPr lang="ru-RU" sz="1400" dirty="0"/>
                  <a:t>математическое ожидание случайной</a:t>
                </a:r>
                <a:r>
                  <a:rPr lang="en-US" sz="1400" dirty="0"/>
                  <a:t> </a:t>
                </a:r>
                <a:r>
                  <a:rPr lang="ru-RU" sz="1400" dirty="0"/>
                  <a:t>величины (среднее количество событий за фиксированный промежуток времени)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741675-6B46-5D4A-93C6-90E82425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352550"/>
                <a:ext cx="2895599" cy="2893100"/>
              </a:xfrm>
              <a:prstGeom prst="rect">
                <a:avLst/>
              </a:prstGeom>
              <a:blipFill>
                <a:blip r:embed="rId2"/>
                <a:stretch>
                  <a:fillRect l="-873" t="-437" r="-1747" b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AB2CB4E-B912-B140-866F-46EE046FF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250" y="1123950"/>
            <a:ext cx="54229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10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Пуассона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41675-6B46-5D4A-93C6-90E824251FDF}"/>
              </a:ext>
            </a:extLst>
          </p:cNvPr>
          <p:cNvSpPr txBox="1"/>
          <p:nvPr/>
        </p:nvSpPr>
        <p:spPr>
          <a:xfrm>
            <a:off x="500550" y="1352550"/>
            <a:ext cx="8520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Связь с другими распределениями: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Биномиальное распределение:</a:t>
            </a:r>
          </a:p>
          <a:p>
            <a:r>
              <a:rPr lang="ru-RU" dirty="0"/>
              <a:t>Распределение Пуассона является предельным случаем биномиального распределения, когда количество испытаний </a:t>
            </a:r>
            <a:r>
              <a:rPr lang="en-US" dirty="0"/>
              <a:t>n </a:t>
            </a:r>
            <a:r>
              <a:rPr lang="ru-RU" dirty="0"/>
              <a:t>велико, а вероятность успеха </a:t>
            </a:r>
            <a:r>
              <a:rPr lang="en-US" dirty="0"/>
              <a:t>p, </a:t>
            </a:r>
            <a:r>
              <a:rPr lang="ru-RU" dirty="0"/>
              <a:t>но среднее число успехов </a:t>
            </a:r>
            <a:r>
              <a:rPr lang="en-US" dirty="0"/>
              <a:t>np=</a:t>
            </a:r>
            <a:r>
              <a:rPr lang="el-GR" dirty="0"/>
              <a:t>λ </a:t>
            </a:r>
            <a:r>
              <a:rPr lang="ru-RU" dirty="0"/>
              <a:t>остаётся постоянным.</a:t>
            </a:r>
          </a:p>
          <a:p>
            <a:endParaRPr lang="en-US" dirty="0"/>
          </a:p>
          <a:p>
            <a:r>
              <a:rPr lang="ru-RU" b="1" dirty="0"/>
              <a:t>Экспоненциальное распределение:</a:t>
            </a:r>
          </a:p>
          <a:p>
            <a:r>
              <a:rPr lang="ru-RU" dirty="0"/>
              <a:t>Если распределение Пуассона описывает количество событий за определённый интервал, то экспоненциальное распределение описывает время между событиями в модели Пуассона.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14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27812"/>
              </p:ext>
            </p:extLst>
          </p:nvPr>
        </p:nvGraphicFramePr>
        <p:xfrm>
          <a:off x="846750" y="1649963"/>
          <a:ext cx="7239000" cy="1104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>
                          <a:sym typeface="Roboto"/>
                        </a:rPr>
                        <a:t>Бутстрап</a:t>
                      </a:r>
                      <a:r>
                        <a:rPr lang="ru-RU" sz="1400" dirty="0">
                          <a:sym typeface="Roboto"/>
                        </a:rPr>
                        <a:t> выборка – как это работает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Насемплировать данных и убедиться в справедливости ЦПТ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Построить примеры дискретных и непрерывных распределений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696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 для всех. Сара </a:t>
            </a:r>
            <a:r>
              <a:rPr lang="ru-RU" dirty="0" err="1"/>
              <a:t>Бослаф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 и котики. Владимир Савельев</a:t>
            </a:r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Голая статистика. Чарльз </a:t>
            </a:r>
            <a:r>
              <a:rPr lang="ru-RU" dirty="0" err="1"/>
              <a:t>Уилан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Как лгать при помощи статистики. </a:t>
            </a:r>
            <a:r>
              <a:rPr lang="ru-RU" dirty="0" err="1"/>
              <a:t>Дарелл</a:t>
            </a:r>
            <a:r>
              <a:rPr lang="ru-RU" dirty="0"/>
              <a:t> </a:t>
            </a:r>
            <a:r>
              <a:rPr lang="ru-RU" dirty="0" err="1"/>
              <a:t>Хафф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Статистика. Шаг за шагом. Роберт А. </a:t>
            </a:r>
            <a:r>
              <a:rPr lang="ru-RU" dirty="0" err="1"/>
              <a:t>Доннелли</a:t>
            </a:r>
            <a:r>
              <a:rPr lang="ru-RU" dirty="0"/>
              <a:t> - мл</a:t>
            </a:r>
            <a:endParaRPr lang="en-GB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Исследование зависимостей: номинальные, порядковые и количественные переменные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12114</TotalTime>
  <Words>1541</Words>
  <Application>Microsoft Macintosh PowerPoint</Application>
  <PresentationFormat>On-screen Show (16:9)</PresentationFormat>
  <Paragraphs>258</Paragraphs>
  <Slides>44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-webkit-standard</vt:lpstr>
      <vt:lpstr>Arial</vt:lpstr>
      <vt:lpstr>Calibri</vt:lpstr>
      <vt:lpstr>Cambria Math</vt:lpstr>
      <vt:lpstr>roboto</vt:lpstr>
      <vt:lpstr>roboto</vt:lpstr>
      <vt:lpstr>Office Theme</vt:lpstr>
      <vt:lpstr>Python для Аналитики Основы статистики</vt:lpstr>
      <vt:lpstr>Проверить, идет ли запись</vt:lpstr>
      <vt:lpstr>Python для аналитики Основы статистики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Статистика</vt:lpstr>
      <vt:lpstr>Ложь, наглая ложь и статистика</vt:lpstr>
      <vt:lpstr>Статистика   vs   Аналитика</vt:lpstr>
      <vt:lpstr>Статистика   vs   Аналитика</vt:lpstr>
      <vt:lpstr>Генеральная совокупность</vt:lpstr>
      <vt:lpstr>Генеральная совокупность</vt:lpstr>
      <vt:lpstr>Выборка</vt:lpstr>
      <vt:lpstr>Особенности выборок</vt:lpstr>
      <vt:lpstr>Меры центральной тенденции</vt:lpstr>
      <vt:lpstr>Меры центральной тенденции</vt:lpstr>
      <vt:lpstr>Меры центральной тенденции</vt:lpstr>
      <vt:lpstr>Точечные и интервальные оценки</vt:lpstr>
      <vt:lpstr>Точечные и интервальные оценки</vt:lpstr>
      <vt:lpstr>Центральная предельная теорема</vt:lpstr>
      <vt:lpstr>Принцип Кондорсе (1784 г.)</vt:lpstr>
      <vt:lpstr>Эксперимент Гальтона</vt:lpstr>
      <vt:lpstr>Bootstrap</vt:lpstr>
      <vt:lpstr>Bootstrap</vt:lpstr>
      <vt:lpstr>Центральная предельная теорема</vt:lpstr>
      <vt:lpstr>Распределения случайных величин</vt:lpstr>
      <vt:lpstr>Нормальное распределение</vt:lpstr>
      <vt:lpstr>Распределение χ^2 </vt:lpstr>
      <vt:lpstr>Распределение Стьюдента</vt:lpstr>
      <vt:lpstr>Распределение Стьюдента</vt:lpstr>
      <vt:lpstr>Биномиальное распределение</vt:lpstr>
      <vt:lpstr>Распределение Пуассона</vt:lpstr>
      <vt:lpstr>Распределение Пуассона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Исследование зависимостей: номинальные, порядковые и количественные переменные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107</cp:revision>
  <dcterms:created xsi:type="dcterms:W3CDTF">2023-10-10T14:19:39Z</dcterms:created>
  <dcterms:modified xsi:type="dcterms:W3CDTF">2025-01-13T10:15:53Z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