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34" r:id="rId4"/>
    <p:sldId id="259" r:id="rId5"/>
    <p:sldId id="260" r:id="rId6"/>
    <p:sldId id="305" r:id="rId7"/>
    <p:sldId id="371" r:id="rId8"/>
    <p:sldId id="393" r:id="rId9"/>
    <p:sldId id="342" r:id="rId10"/>
    <p:sldId id="505" r:id="rId11"/>
    <p:sldId id="506" r:id="rId12"/>
    <p:sldId id="507" r:id="rId13"/>
    <p:sldId id="508" r:id="rId14"/>
    <p:sldId id="509" r:id="rId15"/>
    <p:sldId id="510" r:id="rId16"/>
    <p:sldId id="513" r:id="rId17"/>
    <p:sldId id="514" r:id="rId18"/>
    <p:sldId id="511" r:id="rId19"/>
    <p:sldId id="512" r:id="rId20"/>
    <p:sldId id="391" r:id="rId21"/>
    <p:sldId id="300" r:id="rId22"/>
    <p:sldId id="484" r:id="rId23"/>
    <p:sldId id="364" r:id="rId24"/>
    <p:sldId id="281" r:id="rId25"/>
    <p:sldId id="302" r:id="rId26"/>
    <p:sldId id="335" r:id="rId27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07"/>
    <p:restoredTop sz="94681"/>
  </p:normalViewPr>
  <p:slideViewPr>
    <p:cSldViewPr>
      <p:cViewPr varScale="1">
        <p:scale>
          <a:sx n="280" d="100"/>
          <a:sy n="280" d="100"/>
        </p:scale>
        <p:origin x="164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25.01.2025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051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862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0732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94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habr.com/ru/companies/glowbyte/articles/732024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companies/X5Tech/articles/596279/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companies/ozontech/articles/712306/" TargetMode="External"/><Relationship Id="rId3" Type="http://schemas.openxmlformats.org/officeDocument/2006/relationships/hyperlink" Target="https://habr.com/ru/companies/X5Tech/articles/596279/" TargetMode="External"/><Relationship Id="rId7" Type="http://schemas.openxmlformats.org/officeDocument/2006/relationships/hyperlink" Target="https://habr.com/ru/companies/avito/articles/590105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abr.com/ru/companies/X5Tech/articles/763656/" TargetMode="External"/><Relationship Id="rId11" Type="http://schemas.openxmlformats.org/officeDocument/2006/relationships/hyperlink" Target="https://habr.com/ru/companies/glowbyte/articles/732024/" TargetMode="External"/><Relationship Id="rId5" Type="http://schemas.openxmlformats.org/officeDocument/2006/relationships/hyperlink" Target="https://habr.com/ru/companies/X5Tech/articles/706388/" TargetMode="External"/><Relationship Id="rId10" Type="http://schemas.openxmlformats.org/officeDocument/2006/relationships/hyperlink" Target="https://habr.com/ru/companies/otus/articles/809139/" TargetMode="External"/><Relationship Id="rId4" Type="http://schemas.openxmlformats.org/officeDocument/2006/relationships/hyperlink" Target="https://habr.com/ru/companies/X5Tech/articles/780270/" TargetMode="External"/><Relationship Id="rId9" Type="http://schemas.openxmlformats.org/officeDocument/2006/relationships/hyperlink" Target="https://habr.com/ru/companies/yandex/articles/476826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</a:t>
            </a:r>
            <a:r>
              <a:rPr lang="ru-RU" sz="5600" spc="-35" dirty="0">
                <a:solidFill>
                  <a:srgbClr val="FFFFFF"/>
                </a:solidFill>
              </a:rPr>
              <a:t>для Аналитики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А/Б тесты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</a:t>
            </a:r>
            <a:r>
              <a:rPr lang="ru-RU" dirty="0"/>
              <a:t>для аналитики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А/Б тесты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ED965473-BBD3-AB44-A950-B109F48DEFA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Введение в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990600" y="1351350"/>
            <a:ext cx="2871318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Библиотеки по работе с данными </a:t>
            </a:r>
            <a:r>
              <a:rPr lang="ru-RU" sz="1600">
                <a:solidFill>
                  <a:schemeClr val="tx1">
                    <a:lumMod val="50000"/>
                    <a:lumOff val="50000"/>
                  </a:schemeClr>
                </a:solidFill>
              </a:rPr>
              <a:t>и визуализациями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Работа с базами данных, </a:t>
            </a:r>
          </a:p>
          <a:p>
            <a:pPr algn="ctr"/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парсинг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данных с сайтов, взаимодействие с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02837" y="3790950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Практики. Продуктовая и маркетинговая аналитика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5334000" y="402201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cxnSpLocks/>
            <a:stCxn id="27" idx="1"/>
            <a:endCxn id="28" idx="3"/>
          </p:cNvCxnSpPr>
          <p:nvPr/>
        </p:nvCxnSpPr>
        <p:spPr>
          <a:xfrm rot="10800000" flipV="1">
            <a:off x="3861919" y="1368348"/>
            <a:ext cx="1602739" cy="2497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rot="16200000" flipV="1">
            <a:off x="4132441" y="178569"/>
            <a:ext cx="786475" cy="41988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rot="10800000" flipV="1">
            <a:off x="3732655" y="3011457"/>
            <a:ext cx="1312902" cy="1823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rot="10800000">
            <a:off x="3732654" y="4131184"/>
            <a:ext cx="1601346" cy="23106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B7568B-4B3A-F548-AE24-C98F935D3CE2}"/>
              </a:ext>
            </a:extLst>
          </p:cNvPr>
          <p:cNvSpPr/>
          <p:nvPr/>
        </p:nvSpPr>
        <p:spPr>
          <a:xfrm>
            <a:off x="702838" y="2689464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Основы статистики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B98E792-EE71-1047-8859-F399DC4F8985}"/>
              </a:ext>
            </a:extLst>
          </p:cNvPr>
          <p:cNvCxnSpPr>
            <a:cxnSpLocks/>
            <a:stCxn id="18" idx="1"/>
            <a:endCxn id="32" idx="1"/>
          </p:cNvCxnSpPr>
          <p:nvPr/>
        </p:nvCxnSpPr>
        <p:spPr>
          <a:xfrm rot="10800000" flipV="1">
            <a:off x="702838" y="3029697"/>
            <a:ext cx="1" cy="1101486"/>
          </a:xfrm>
          <a:prstGeom prst="curvedConnector3">
            <a:avLst>
              <a:gd name="adj1" fmla="val 228601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03140" y="1624647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А/Б тесты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учимся подглядывать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03138" y="2290122"/>
            <a:ext cx="421419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Множественное тестирование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4519947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37"/>
          <p:cNvCxnSpPr>
            <a:cxnSpLocks/>
            <a:stCxn id="238" idx="1"/>
            <a:endCxn id="15" idx="1"/>
          </p:cNvCxnSpPr>
          <p:nvPr/>
        </p:nvCxnSpPr>
        <p:spPr>
          <a:xfrm rot="10800000">
            <a:off x="740239" y="4042573"/>
            <a:ext cx="12700" cy="66547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4" name="Picture 2" descr="Подглядывание и Юмор: истории из жизни, советы, новости и юмор — Лучшее |  Пикабу">
            <a:extLst>
              <a:ext uri="{FF2B5EF4-FFF2-40B4-BE49-F238E27FC236}">
                <a16:creationId xmlns:a16="http://schemas.microsoft.com/office/drawing/2014/main" id="{AABB91BD-0B5B-DD4E-A8A0-10B29B6BD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05953"/>
            <a:ext cx="3062624" cy="172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46E8D2D-F1E3-654B-A297-CFBF7823A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866" y="3176521"/>
            <a:ext cx="3630520" cy="163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235;p37">
            <a:extLst>
              <a:ext uri="{FF2B5EF4-FFF2-40B4-BE49-F238E27FC236}">
                <a16:creationId xmlns:a16="http://schemas.microsoft.com/office/drawing/2014/main" id="{5B7CDC4F-8813-674D-8E40-29B8F61514E0}"/>
              </a:ext>
            </a:extLst>
          </p:cNvPr>
          <p:cNvSpPr/>
          <p:nvPr/>
        </p:nvSpPr>
        <p:spPr>
          <a:xfrm>
            <a:off x="708902" y="2955597"/>
            <a:ext cx="4214193" cy="6096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Стратификация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повышение чувствительности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235;p37">
            <a:extLst>
              <a:ext uri="{FF2B5EF4-FFF2-40B4-BE49-F238E27FC236}">
                <a16:creationId xmlns:a16="http://schemas.microsoft.com/office/drawing/2014/main" id="{74334085-1156-D547-B5CE-40C6F022CDCC}"/>
              </a:ext>
            </a:extLst>
          </p:cNvPr>
          <p:cNvSpPr/>
          <p:nvPr/>
        </p:nvSpPr>
        <p:spPr>
          <a:xfrm>
            <a:off x="740239" y="3854472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CUPED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" name="Google Shape;242;p37">
            <a:extLst>
              <a:ext uri="{FF2B5EF4-FFF2-40B4-BE49-F238E27FC236}">
                <a16:creationId xmlns:a16="http://schemas.microsoft.com/office/drawing/2014/main" id="{57B81F5F-1189-1D4E-8B84-635DB1BDADF8}"/>
              </a:ext>
            </a:extLst>
          </p:cNvPr>
          <p:cNvCxnSpPr>
            <a:cxnSpLocks/>
            <a:stCxn id="236" idx="1"/>
            <a:endCxn id="235" idx="1"/>
          </p:cNvCxnSpPr>
          <p:nvPr/>
        </p:nvCxnSpPr>
        <p:spPr>
          <a:xfrm rot="10800000" flipH="1">
            <a:off x="703138" y="1812748"/>
            <a:ext cx="2" cy="665475"/>
          </a:xfrm>
          <a:prstGeom prst="curvedConnector3">
            <a:avLst>
              <a:gd name="adj1" fmla="val -1143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" name="Google Shape;242;p37">
            <a:extLst>
              <a:ext uri="{FF2B5EF4-FFF2-40B4-BE49-F238E27FC236}">
                <a16:creationId xmlns:a16="http://schemas.microsoft.com/office/drawing/2014/main" id="{F7FBB00E-AA74-BC43-B475-9696CCECA13C}"/>
              </a:ext>
            </a:extLst>
          </p:cNvPr>
          <p:cNvCxnSpPr>
            <a:cxnSpLocks/>
            <a:stCxn id="14" idx="1"/>
            <a:endCxn id="236" idx="1"/>
          </p:cNvCxnSpPr>
          <p:nvPr/>
        </p:nvCxnSpPr>
        <p:spPr>
          <a:xfrm rot="10800000">
            <a:off x="703138" y="2478223"/>
            <a:ext cx="5764" cy="782175"/>
          </a:xfrm>
          <a:prstGeom prst="curvedConnector3">
            <a:avLst>
              <a:gd name="adj1" fmla="val 4065996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" name="Google Shape;242;p37">
            <a:extLst>
              <a:ext uri="{FF2B5EF4-FFF2-40B4-BE49-F238E27FC236}">
                <a16:creationId xmlns:a16="http://schemas.microsoft.com/office/drawing/2014/main" id="{28868F21-4379-3247-9F53-3EEC819B1642}"/>
              </a:ext>
            </a:extLst>
          </p:cNvPr>
          <p:cNvCxnSpPr>
            <a:cxnSpLocks/>
            <a:stCxn id="15" idx="1"/>
            <a:endCxn id="14" idx="1"/>
          </p:cNvCxnSpPr>
          <p:nvPr/>
        </p:nvCxnSpPr>
        <p:spPr>
          <a:xfrm rot="10800000">
            <a:off x="708903" y="3260398"/>
            <a:ext cx="31337" cy="782175"/>
          </a:xfrm>
          <a:prstGeom prst="curvedConnector3">
            <a:avLst>
              <a:gd name="adj1" fmla="val 829489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8018845"/>
              </p:ext>
            </p:extLst>
          </p:nvPr>
        </p:nvGraphicFramePr>
        <p:xfrm>
          <a:off x="846750" y="1649963"/>
          <a:ext cx="7239000" cy="1104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Разобраться в том, как правильно подглядывать в А/Б тестах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как проводить множественное тестирование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Попрактиковаться в А/Б тестах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769624751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Проводить численное тестирование гипотез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Повысить эффективность и обоснованность принимаемых решений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09499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Как правильно подглядывать</a:t>
            </a:r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Подглядывание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8A55C-2515-284F-8A3C-403957199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28750"/>
            <a:ext cx="4445000" cy="335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52595-D263-294E-B32D-BC6928097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1454150"/>
            <a:ext cx="44450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8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Подглядывание</a:t>
            </a:r>
            <a:r>
              <a:rPr lang="en-US" dirty="0"/>
              <a:t> – </a:t>
            </a:r>
            <a:r>
              <a:rPr lang="ru-RU" dirty="0"/>
              <a:t>байесовский подход</a:t>
            </a:r>
            <a:endParaRPr lang="en-US" dirty="0"/>
          </a:p>
        </p:txBody>
      </p:sp>
      <p:pic>
        <p:nvPicPr>
          <p:cNvPr id="1026" name="Picture 2" descr="Рисунок 2. Апостериорные распределения конверсий в группе А и Б на 1 неделе (линии - стандартные отклонения)">
            <a:extLst>
              <a:ext uri="{FF2B5EF4-FFF2-40B4-BE49-F238E27FC236}">
                <a16:creationId xmlns:a16="http://schemas.microsoft.com/office/drawing/2014/main" id="{BABB5898-27E7-5544-8446-C4E8B80E1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87150"/>
            <a:ext cx="345259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Рисунок 4. Апостериорные распределения конверсий в группе А и Б на 4 неделе (линии - стандартные отклонения)">
            <a:extLst>
              <a:ext uri="{FF2B5EF4-FFF2-40B4-BE49-F238E27FC236}">
                <a16:creationId xmlns:a16="http://schemas.microsoft.com/office/drawing/2014/main" id="{260F8E53-7A40-A14B-AD46-E09DA380C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887150"/>
            <a:ext cx="3456703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otched Right Arrow 1">
            <a:extLst>
              <a:ext uri="{FF2B5EF4-FFF2-40B4-BE49-F238E27FC236}">
                <a16:creationId xmlns:a16="http://schemas.microsoft.com/office/drawing/2014/main" id="{2CB91A70-96BD-834C-B79F-C3D2A28F4A20}"/>
              </a:ext>
            </a:extLst>
          </p:cNvPr>
          <p:cNvSpPr/>
          <p:nvPr/>
        </p:nvSpPr>
        <p:spPr>
          <a:xfrm>
            <a:off x="4132691" y="2634834"/>
            <a:ext cx="978408" cy="484632"/>
          </a:xfrm>
          <a:prstGeom prst="notchedRightArrow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5E19A-EECB-9749-81D5-8F7B5214E791}"/>
              </a:ext>
            </a:extLst>
          </p:cNvPr>
          <p:cNvSpPr txBox="1"/>
          <p:nvPr/>
        </p:nvSpPr>
        <p:spPr>
          <a:xfrm>
            <a:off x="762000" y="1953214"/>
            <a:ext cx="7232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неделя 1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65ADB-D285-8540-BD5A-E321618898C1}"/>
              </a:ext>
            </a:extLst>
          </p:cNvPr>
          <p:cNvSpPr txBox="1"/>
          <p:nvPr/>
        </p:nvSpPr>
        <p:spPr>
          <a:xfrm>
            <a:off x="5562600" y="1948755"/>
            <a:ext cx="7232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неделя 4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F9A18-B682-474C-A8BC-9D38353A8B34}"/>
              </a:ext>
            </a:extLst>
          </p:cNvPr>
          <p:cNvSpPr txBox="1"/>
          <p:nvPr/>
        </p:nvSpPr>
        <p:spPr>
          <a:xfrm>
            <a:off x="457200" y="4812776"/>
            <a:ext cx="6400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4"/>
              </a:rPr>
              <a:t>https://habr.com/ru/companies/glowbyte/articles/732024/</a:t>
            </a:r>
            <a:r>
              <a:rPr lang="ru-RU" sz="1000" dirty="0"/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735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Множественное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06319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Поправка </a:t>
            </a:r>
            <a:r>
              <a:rPr lang="ru-RU" dirty="0" err="1"/>
              <a:t>Бонферрони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3D0A9A-8B3F-874E-AE79-6A9DDFF05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31" y="1425575"/>
            <a:ext cx="3711469" cy="190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6B58F6B-D8E5-1C42-B6D4-903F8C0FE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328" y="1616076"/>
            <a:ext cx="3388493" cy="152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B6CE07-A0DB-9546-AB9B-D4E65E005603}"/>
                  </a:ext>
                </a:extLst>
              </p:cNvPr>
              <p:cNvSpPr txBox="1"/>
              <p:nvPr/>
            </p:nvSpPr>
            <p:spPr>
              <a:xfrm>
                <a:off x="2362200" y="3790950"/>
                <a:ext cx="1013034" cy="461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B6CE07-A0DB-9546-AB9B-D4E65E00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790950"/>
                <a:ext cx="1013034" cy="4614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BE48C-91A3-4B47-9548-9D0A29A44091}"/>
                  </a:ext>
                </a:extLst>
              </p:cNvPr>
              <p:cNvSpPr txBox="1"/>
              <p:nvPr/>
            </p:nvSpPr>
            <p:spPr>
              <a:xfrm>
                <a:off x="3429000" y="3837020"/>
                <a:ext cx="3735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количество сравниваемых групп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BE48C-91A3-4B47-9548-9D0A29A44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837020"/>
                <a:ext cx="3735125" cy="369332"/>
              </a:xfrm>
              <a:prstGeom prst="rect">
                <a:avLst/>
              </a:prstGeom>
              <a:blipFill>
                <a:blip r:embed="rId5"/>
                <a:stretch>
                  <a:fillRect t="-3226" r="-680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834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Стратификация</a:t>
            </a:r>
          </a:p>
        </p:txBody>
      </p:sp>
    </p:spTree>
    <p:extLst>
      <p:ext uri="{BB962C8B-B14F-4D97-AF65-F5344CB8AC3E}">
        <p14:creationId xmlns:p14="http://schemas.microsoft.com/office/powerpoint/2010/main" val="3152197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Стратификация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F081A-A1DB-DD4F-9F76-CAD13EC980FF}"/>
              </a:ext>
            </a:extLst>
          </p:cNvPr>
          <p:cNvSpPr txBox="1"/>
          <p:nvPr/>
        </p:nvSpPr>
        <p:spPr>
          <a:xfrm>
            <a:off x="500551" y="1276350"/>
            <a:ext cx="8520600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/>
              <a:t>У нас есть программа лояльности, в которой зарегистрированы не все пользователи нашего магазина. Поведение зарегистрированных пользователей может отличаться от поведения незарегистрированных. </a:t>
            </a:r>
            <a:br>
              <a:rPr lang="en-US" sz="1600" dirty="0"/>
            </a:br>
            <a:r>
              <a:rPr lang="ru-RU" sz="1600" dirty="0"/>
              <a:t>Информацию о регистрации в программе лояльности можно использовать для повышения чувствительности эксперимента.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b="1" dirty="0" err="1"/>
              <a:t>Ковариата</a:t>
            </a:r>
            <a:r>
              <a:rPr lang="ru-RU" sz="1600" dirty="0"/>
              <a:t> - метрика, которая коррелирует с целевой метрикой, может быть измерена до эксперимента (строго говоря, нет) и не зависит от других экспериментов. В нашем случае факт регистрации в программе лояльности до эксперимента будет </a:t>
            </a:r>
            <a:r>
              <a:rPr lang="ru-RU" sz="1600" dirty="0" err="1"/>
              <a:t>ковариатой</a:t>
            </a:r>
            <a:r>
              <a:rPr lang="ru-RU" sz="16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b="1" dirty="0"/>
              <a:t>Популяция </a:t>
            </a:r>
            <a:r>
              <a:rPr lang="ru-RU" sz="1600" dirty="0"/>
              <a:t>- все пользователи, на которых мы можем повлиять нашим экспериментом. Пусть в нашей популяции будет 10 тысяч активных пользователей.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С помощью </a:t>
            </a:r>
            <a:r>
              <a:rPr lang="ru-RU" sz="1600" dirty="0" err="1"/>
              <a:t>ковариат</a:t>
            </a:r>
            <a:r>
              <a:rPr lang="ru-RU" sz="1600" dirty="0"/>
              <a:t> можно разделить популяцию на непересекающиеся подмножества, которые будут обладать уникальным набором значений </a:t>
            </a:r>
            <a:r>
              <a:rPr lang="ru-RU" sz="1600" dirty="0" err="1"/>
              <a:t>ковариат</a:t>
            </a:r>
            <a:r>
              <a:rPr lang="ru-RU" sz="1600" dirty="0"/>
              <a:t>. Такие подмножества будем называть </a:t>
            </a:r>
            <a:r>
              <a:rPr lang="ru-RU" sz="1600" b="1" dirty="0"/>
              <a:t>стратами</a:t>
            </a:r>
            <a:r>
              <a:rPr lang="ru-RU" sz="1600" dirty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09322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Стратификация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F081A-A1DB-DD4F-9F76-CAD13EC980FF}"/>
              </a:ext>
            </a:extLst>
          </p:cNvPr>
          <p:cNvSpPr txBox="1"/>
          <p:nvPr/>
        </p:nvSpPr>
        <p:spPr>
          <a:xfrm>
            <a:off x="500550" y="1123950"/>
            <a:ext cx="8520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/>
              <a:t>В нашем примере будет две страты: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первая - кто не зарегистрирован в программе лояльности;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вторая - кто зарегистрирован в программе лояльности.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F764DE-A5B6-6C42-AFF2-20C13E646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08835"/>
            <a:ext cx="4316412" cy="287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2B6EE1-21A4-8A48-B0E7-0BC8DE5D7E9B}"/>
              </a:ext>
            </a:extLst>
          </p:cNvPr>
          <p:cNvSpPr txBox="1"/>
          <p:nvPr/>
        </p:nvSpPr>
        <p:spPr>
          <a:xfrm>
            <a:off x="5105400" y="2347013"/>
            <a:ext cx="35420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333333"/>
                </a:solidFill>
                <a:latin typeface="-apple-system"/>
              </a:rPr>
              <a:t>П</a:t>
            </a:r>
            <a:r>
              <a:rPr lang="ru-RU" sz="16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ри случайном </a:t>
            </a:r>
            <a:r>
              <a:rPr lang="ru-RU" sz="16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семплировании</a:t>
            </a:r>
            <a:r>
              <a:rPr lang="ru-RU" sz="16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оценка вероятности ошибки первого рода равна 0.048, а при стратифицированном - 0.010.</a:t>
            </a:r>
          </a:p>
          <a:p>
            <a:endParaRPr lang="ru-RU" sz="1600" dirty="0">
              <a:solidFill>
                <a:srgbClr val="333333"/>
              </a:solidFill>
              <a:latin typeface="-apple-system"/>
            </a:endParaRPr>
          </a:p>
          <a:p>
            <a:r>
              <a:rPr lang="ru-RU" sz="1600" b="1" dirty="0">
                <a:solidFill>
                  <a:srgbClr val="333333"/>
                </a:solidFill>
                <a:latin typeface="-apple-system"/>
              </a:rPr>
              <a:t>Стратификация уменьшила ошибку первого рода в 4 раза!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88646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Стратификация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F081A-A1DB-DD4F-9F76-CAD13EC980FF}"/>
              </a:ext>
            </a:extLst>
          </p:cNvPr>
          <p:cNvSpPr txBox="1"/>
          <p:nvPr/>
        </p:nvSpPr>
        <p:spPr>
          <a:xfrm>
            <a:off x="500550" y="1047750"/>
            <a:ext cx="8520600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/>
              <a:t>При стратифицированном </a:t>
            </a:r>
            <a:r>
              <a:rPr lang="ru-RU" sz="1600" dirty="0" err="1"/>
              <a:t>семплировании</a:t>
            </a:r>
            <a:r>
              <a:rPr lang="ru-RU" sz="1600" dirty="0"/>
              <a:t> мы не только делаем распределение средних более узким, но и снижаем дисперсию, зафиксировав количество страт в каждой группе. </a:t>
            </a:r>
          </a:p>
          <a:p>
            <a:pPr>
              <a:spcAft>
                <a:spcPts val="600"/>
              </a:spcAft>
            </a:pPr>
            <a:r>
              <a:rPr lang="ru-RU" sz="1600" dirty="0"/>
              <a:t>Тест Стьюдента не знает о том, что мы </a:t>
            </a:r>
            <a:r>
              <a:rPr lang="ru-RU" sz="1600" dirty="0" err="1"/>
              <a:t>семплируем</a:t>
            </a:r>
            <a:r>
              <a:rPr lang="ru-RU" sz="1600" dirty="0"/>
              <a:t> данные не случайно, поэтому при подсчёте статистики используется завышенная оценка дисперсии.</a:t>
            </a:r>
          </a:p>
          <a:p>
            <a:pPr>
              <a:spcAft>
                <a:spcPts val="600"/>
              </a:spcAft>
            </a:pPr>
            <a:endParaRPr lang="ru-RU" sz="1600" dirty="0"/>
          </a:p>
          <a:p>
            <a:pPr>
              <a:spcAft>
                <a:spcPts val="600"/>
              </a:spcAft>
            </a:pPr>
            <a:r>
              <a:rPr lang="ru-RU" sz="1600" dirty="0"/>
              <a:t>При вычислении </a:t>
            </a:r>
            <a:r>
              <a:rPr lang="ru-RU" sz="1600" b="1" i="1" dirty="0"/>
              <a:t>обычного среднего </a:t>
            </a:r>
            <a:r>
              <a:rPr lang="ru-RU" sz="1600" dirty="0"/>
              <a:t>мы делим суммарную выручку на общее количество пользователей. </a:t>
            </a:r>
          </a:p>
          <a:p>
            <a:pPr>
              <a:spcAft>
                <a:spcPts val="600"/>
              </a:spcAft>
            </a:pPr>
            <a:r>
              <a:rPr lang="ru-RU" sz="1600" dirty="0"/>
              <a:t>При вычислении </a:t>
            </a:r>
            <a:r>
              <a:rPr lang="ru-RU" sz="1600" b="1" i="1" dirty="0"/>
              <a:t>стратифицированного среднего </a:t>
            </a:r>
            <a:r>
              <a:rPr lang="ru-RU" sz="1600" dirty="0"/>
              <a:t>мы считаем обычное среднее для каждой страты по отдельности, а затем вычисляем их взвешенную сумму, где вес страты - доля страты в популяции.</a:t>
            </a:r>
          </a:p>
          <a:p>
            <a:pPr>
              <a:spcAft>
                <a:spcPts val="600"/>
              </a:spcAft>
            </a:pPr>
            <a:endParaRPr lang="ru-RU" sz="1600" dirty="0"/>
          </a:p>
          <a:p>
            <a:pPr>
              <a:spcAft>
                <a:spcPts val="600"/>
              </a:spcAft>
            </a:pPr>
            <a:r>
              <a:rPr lang="ru-RU" sz="1600" dirty="0"/>
              <a:t>Применение стратификации позволяет уменьшить размер выборки, при сохранении уровня значимости на прежнем уровне.</a:t>
            </a:r>
          </a:p>
          <a:p>
            <a:pPr>
              <a:spcAft>
                <a:spcPts val="600"/>
              </a:spcAft>
            </a:pPr>
            <a:r>
              <a:rPr lang="en-US" sz="1100" dirty="0">
                <a:hlinkClick r:id="rId2"/>
              </a:rPr>
              <a:t>https://habr.com/ru/companies/X5Tech/articles/596279/</a:t>
            </a:r>
            <a:r>
              <a:rPr lang="ru-RU" sz="1100" dirty="0"/>
              <a:t>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27280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CUPED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9895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CUPED </a:t>
            </a:r>
            <a:br>
              <a:rPr lang="en-US" dirty="0"/>
            </a:br>
            <a:r>
              <a:rPr lang="en-US" sz="2800" dirty="0"/>
              <a:t>(Controlled-experiment Using Pre-Experiment Data)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6DB7947-240C-3E46-A0BF-B78927B38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9" r="8331"/>
          <a:stretch/>
        </p:blipFill>
        <p:spPr bwMode="auto">
          <a:xfrm>
            <a:off x="228600" y="2267364"/>
            <a:ext cx="3960077" cy="28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607C1D-4AA5-E148-A454-77A31BB6E1FC}"/>
              </a:ext>
            </a:extLst>
          </p:cNvPr>
          <p:cNvSpPr txBox="1"/>
          <p:nvPr/>
        </p:nvSpPr>
        <p:spPr>
          <a:xfrm>
            <a:off x="383322" y="1547509"/>
            <a:ext cx="39600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Среднее значение </a:t>
            </a:r>
            <a:r>
              <a:rPr lang="ru-RU" sz="1050" dirty="0"/>
              <a:t>суммарной выручки с пользователя в экспериментальной группе больше на 40 рублей. </a:t>
            </a:r>
          </a:p>
          <a:p>
            <a:r>
              <a:rPr lang="ru-RU" sz="1050" b="1" dirty="0"/>
              <a:t>Статистически значимых отличий нет</a:t>
            </a:r>
            <a:r>
              <a:rPr lang="ru-RU" sz="1050" dirty="0"/>
              <a:t>, </a:t>
            </a:r>
            <a:r>
              <a:rPr lang="en-US" sz="1050" dirty="0"/>
              <a:t>p-value </a:t>
            </a:r>
            <a:r>
              <a:rPr lang="ru-RU" sz="1050" dirty="0"/>
              <a:t>равно 0.87.</a:t>
            </a:r>
            <a:endParaRPr lang="en-US" sz="105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3DD2534-3AA3-B048-A63E-95BEBEBF5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9" r="8331"/>
          <a:stretch/>
        </p:blipFill>
        <p:spPr bwMode="auto">
          <a:xfrm>
            <a:off x="5061073" y="2257343"/>
            <a:ext cx="3960077" cy="285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8549FE-557E-7F44-B97A-3059E4897F94}"/>
              </a:ext>
            </a:extLst>
          </p:cNvPr>
          <p:cNvSpPr txBox="1"/>
          <p:nvPr/>
        </p:nvSpPr>
        <p:spPr>
          <a:xfrm>
            <a:off x="5183923" y="1547509"/>
            <a:ext cx="39600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Приращение</a:t>
            </a:r>
            <a:r>
              <a:rPr lang="ru-RU" sz="1050" dirty="0"/>
              <a:t> суммарной выручки с пользователя в экспериментальной группе в среднем больше на 30 рублей. </a:t>
            </a:r>
          </a:p>
          <a:p>
            <a:r>
              <a:rPr lang="ru-RU" sz="1050" b="1" dirty="0"/>
              <a:t>Статистически значимые отличия</a:t>
            </a:r>
            <a:r>
              <a:rPr lang="ru-RU" sz="1050" dirty="0"/>
              <a:t>, </a:t>
            </a:r>
            <a:r>
              <a:rPr lang="en-US" sz="1050" dirty="0"/>
              <a:t>p-value </a:t>
            </a:r>
            <a:r>
              <a:rPr lang="ru-RU" sz="1050" dirty="0"/>
              <a:t>равно 0.007.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43076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558428"/>
              </p:ext>
            </p:extLst>
          </p:nvPr>
        </p:nvGraphicFramePr>
        <p:xfrm>
          <a:off x="846750" y="1649963"/>
          <a:ext cx="7239000" cy="1104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Построим байесовский А/Б тест 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А/Б тест в случае с несколькими группами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Поработаем с разбиением выборки и проверим </a:t>
                      </a:r>
                      <a:r>
                        <a:rPr lang="en-US" sz="1400" dirty="0">
                          <a:sym typeface="Roboto"/>
                        </a:rPr>
                        <a:t>CUPED </a:t>
                      </a:r>
                      <a:r>
                        <a:rPr lang="ru-RU" sz="1400" dirty="0">
                          <a:sym typeface="Roboto"/>
                        </a:rPr>
                        <a:t>метод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696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endParaRPr lang="en-US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3"/>
              </a:rPr>
              <a:t>Стратификация. Как разбиение выборки повышает чувствительность </a:t>
            </a:r>
            <a:r>
              <a:rPr lang="en-US" dirty="0">
                <a:hlinkClick r:id="rId3"/>
              </a:rPr>
              <a:t>A/B </a:t>
            </a:r>
            <a:r>
              <a:rPr lang="ru-RU" dirty="0">
                <a:hlinkClick r:id="rId3"/>
              </a:rPr>
              <a:t>теста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4"/>
              </a:rPr>
              <a:t>А/Б тестирование с </a:t>
            </a:r>
            <a:r>
              <a:rPr lang="en-US" dirty="0">
                <a:hlinkClick r:id="rId4"/>
              </a:rPr>
              <a:t>CUPED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5"/>
              </a:rPr>
              <a:t>Проверка корректности А/Б тестов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6"/>
              </a:rPr>
              <a:t>Определяем оптимальный размер групп при множественном А/Б тестировании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en-US" dirty="0">
                <a:hlinkClick r:id="rId7"/>
              </a:rPr>
              <a:t>ML-</a:t>
            </a:r>
            <a:r>
              <a:rPr lang="ru-RU" dirty="0">
                <a:hlinkClick r:id="rId7"/>
              </a:rPr>
              <a:t>критерии для </a:t>
            </a:r>
            <a:r>
              <a:rPr lang="en-US" dirty="0">
                <a:hlinkClick r:id="rId7"/>
              </a:rPr>
              <a:t>A/B-</a:t>
            </a:r>
            <a:r>
              <a:rPr lang="ru-RU" dirty="0">
                <a:hlinkClick r:id="rId7"/>
              </a:rPr>
              <a:t>тестов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8"/>
              </a:rPr>
              <a:t>Шесть причин, почему ваши </a:t>
            </a:r>
            <a:r>
              <a:rPr lang="en-GB" dirty="0">
                <a:hlinkClick r:id="rId8"/>
              </a:rPr>
              <a:t>A/B-</a:t>
            </a:r>
            <a:r>
              <a:rPr lang="ru-RU" dirty="0">
                <a:hlinkClick r:id="rId8"/>
              </a:rPr>
              <a:t>тесты не работают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9"/>
              </a:rPr>
              <a:t>Множественные эксперименты: теория и практика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10"/>
              </a:rPr>
              <a:t>Подглядывание в </a:t>
            </a:r>
            <a:r>
              <a:rPr lang="en-GB" dirty="0">
                <a:hlinkClick r:id="rId10"/>
              </a:rPr>
              <a:t>A/B </a:t>
            </a:r>
            <a:r>
              <a:rPr lang="ru-RU" dirty="0">
                <a:hlinkClick r:id="rId10"/>
              </a:rPr>
              <a:t>тестах: как не потерять достоверность данных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11"/>
              </a:rPr>
              <a:t>Байесовский подход к АБ тестированию</a:t>
            </a:r>
            <a:endParaRPr lang="en-GB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600" dirty="0">
                <a:latin typeface="+mj-lt"/>
              </a:rPr>
              <a:t>Основы </a:t>
            </a:r>
            <a:r>
              <a:rPr lang="en-US" sz="1600" dirty="0">
                <a:latin typeface="+mj-lt"/>
              </a:rPr>
              <a:t>SQL</a:t>
            </a:r>
            <a:endParaRPr dirty="0">
              <a:latin typeface="+mj-lt"/>
            </a:endParaRPr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D886C75-73B3-DA47-ACA9-200B068BFBF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11207</TotalTime>
  <Words>874</Words>
  <Application>Microsoft Macintosh PowerPoint</Application>
  <PresentationFormat>On-screen Show (16:9)</PresentationFormat>
  <Paragraphs>162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-apple-system</vt:lpstr>
      <vt:lpstr>Arial</vt:lpstr>
      <vt:lpstr>Calibri</vt:lpstr>
      <vt:lpstr>Cambria Math</vt:lpstr>
      <vt:lpstr>roboto</vt:lpstr>
      <vt:lpstr>roboto</vt:lpstr>
      <vt:lpstr>Office Theme</vt:lpstr>
      <vt:lpstr>Python для Аналитики А/Б тесты</vt:lpstr>
      <vt:lpstr>Проверить, идет ли запись</vt:lpstr>
      <vt:lpstr>Python для аналитики А/Б тесты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Как правильно подглядывать</vt:lpstr>
      <vt:lpstr>Подглядывание</vt:lpstr>
      <vt:lpstr>Подглядывание – байесовский подход</vt:lpstr>
      <vt:lpstr>Множественное тестирование</vt:lpstr>
      <vt:lpstr>Поправка Бонферрони</vt:lpstr>
      <vt:lpstr>Стратификация</vt:lpstr>
      <vt:lpstr>Стратификация</vt:lpstr>
      <vt:lpstr>Стратификация</vt:lpstr>
      <vt:lpstr>Стратификация</vt:lpstr>
      <vt:lpstr>CUPED</vt:lpstr>
      <vt:lpstr>CUPED  (Controlled-experiment Using Pre-Experiment Data)</vt:lpstr>
      <vt:lpstr>Вопросы?</vt:lpstr>
      <vt:lpstr>Практика</vt:lpstr>
      <vt:lpstr>Практика</vt:lpstr>
      <vt:lpstr>Вопросы?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 Основы 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117</cp:revision>
  <dcterms:created xsi:type="dcterms:W3CDTF">2023-10-10T14:19:39Z</dcterms:created>
  <dcterms:modified xsi:type="dcterms:W3CDTF">2025-01-25T12:09:32Z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