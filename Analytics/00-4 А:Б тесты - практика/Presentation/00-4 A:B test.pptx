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334" r:id="rId4"/>
    <p:sldId id="259" r:id="rId5"/>
    <p:sldId id="260" r:id="rId6"/>
    <p:sldId id="305" r:id="rId7"/>
    <p:sldId id="371" r:id="rId8"/>
    <p:sldId id="393" r:id="rId9"/>
    <p:sldId id="342" r:id="rId10"/>
    <p:sldId id="505" r:id="rId11"/>
    <p:sldId id="391" r:id="rId12"/>
    <p:sldId id="300" r:id="rId13"/>
    <p:sldId id="484" r:id="rId14"/>
    <p:sldId id="364" r:id="rId15"/>
    <p:sldId id="281" r:id="rId16"/>
    <p:sldId id="377" r:id="rId17"/>
    <p:sldId id="301" r:id="rId18"/>
    <p:sldId id="302" r:id="rId19"/>
    <p:sldId id="335" r:id="rId20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875"/>
    <p:restoredTop sz="94719"/>
  </p:normalViewPr>
  <p:slideViewPr>
    <p:cSldViewPr>
      <p:cViewPr varScale="1">
        <p:scale>
          <a:sx n="196" d="100"/>
          <a:sy n="196" d="100"/>
        </p:scale>
        <p:origin x="816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20.10.2024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6638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394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0305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lang="en-US" sz="5600" spc="-35" dirty="0">
                <a:solidFill>
                  <a:srgbClr val="FFFFFF"/>
                </a:solidFill>
              </a:rPr>
              <a:t>Python </a:t>
            </a:r>
            <a:r>
              <a:rPr lang="ru-RU" sz="5600" spc="-35" dirty="0">
                <a:solidFill>
                  <a:srgbClr val="FFFFFF"/>
                </a:solidFill>
              </a:rPr>
              <a:t>для Аналитики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ru-RU" spc="-10" dirty="0">
                <a:solidFill>
                  <a:srgbClr val="FFFFFF"/>
                </a:solidFill>
              </a:rPr>
              <a:t>А/Б тесты</a:t>
            </a:r>
            <a:endParaRPr lang="en-US"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Python </a:t>
            </a:r>
            <a:r>
              <a:rPr lang="ru-RU" dirty="0"/>
              <a:t>для аналитики</a:t>
            </a:r>
            <a:br>
              <a:rPr lang="en-US" dirty="0"/>
            </a:br>
            <a:r>
              <a:rPr lang="ru-RU" sz="3200" b="1" dirty="0">
                <a:latin typeface="Roboto"/>
                <a:ea typeface="Roboto"/>
                <a:cs typeface="Roboto"/>
                <a:sym typeface="Roboto"/>
              </a:rPr>
              <a:t>А/Б тесты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ED965473-BBD3-AB44-A950-B109F48DEFA0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 dirty="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>
              <a:lnSpc>
                <a:spcPct val="100000"/>
              </a:lnSpc>
            </a:pPr>
            <a:endParaRPr sz="170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Карта</a:t>
            </a:r>
            <a:r>
              <a:rPr spc="-65" dirty="0"/>
              <a:t> </a:t>
            </a:r>
            <a:r>
              <a:rPr spc="-15" dirty="0"/>
              <a:t>курса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2B962FB-80BD-6A48-8524-7D919FB49D23}"/>
              </a:ext>
            </a:extLst>
          </p:cNvPr>
          <p:cNvSpPr/>
          <p:nvPr/>
        </p:nvSpPr>
        <p:spPr>
          <a:xfrm>
            <a:off x="5464657" y="1118648"/>
            <a:ext cx="2320880" cy="49940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Введение в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Python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BC185D-17BD-9442-94E8-23EB83D225B1}"/>
              </a:ext>
            </a:extLst>
          </p:cNvPr>
          <p:cNvSpPr/>
          <p:nvPr/>
        </p:nvSpPr>
        <p:spPr>
          <a:xfrm>
            <a:off x="990600" y="1351350"/>
            <a:ext cx="2871318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Библиотеки по работе с данными </a:t>
            </a:r>
            <a:r>
              <a:rPr lang="ru-RU" sz="1600">
                <a:solidFill>
                  <a:schemeClr val="tx1">
                    <a:lumMod val="50000"/>
                    <a:lumOff val="50000"/>
                  </a:schemeClr>
                </a:solidFill>
              </a:rPr>
              <a:t>и визуализациями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389797C-5AC8-8647-A026-69A3A4FA36D4}"/>
              </a:ext>
            </a:extLst>
          </p:cNvPr>
          <p:cNvSpPr/>
          <p:nvPr/>
        </p:nvSpPr>
        <p:spPr>
          <a:xfrm>
            <a:off x="5045557" y="2671225"/>
            <a:ext cx="3159080" cy="68046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Работа с базами данных, </a:t>
            </a:r>
          </a:p>
          <a:p>
            <a:pPr algn="ctr"/>
            <a:r>
              <a:rPr lang="ru-RU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парсинг</a:t>
            </a:r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данных с сайтов, взаимодействие с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API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06F4D35-6103-0049-B079-D9E4D26C23A1}"/>
              </a:ext>
            </a:extLst>
          </p:cNvPr>
          <p:cNvSpPr/>
          <p:nvPr/>
        </p:nvSpPr>
        <p:spPr>
          <a:xfrm>
            <a:off x="702837" y="3790950"/>
            <a:ext cx="3029817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Практики. Продуктовая и маркетинговая аналитика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7B65E25-3B50-0547-A404-FB902131A18C}"/>
              </a:ext>
            </a:extLst>
          </p:cNvPr>
          <p:cNvSpPr/>
          <p:nvPr/>
        </p:nvSpPr>
        <p:spPr>
          <a:xfrm>
            <a:off x="5334000" y="4022015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roboto" panose="02000000000000000000" pitchFamily="2" charset="0"/>
              </a:rPr>
              <a:t>Проектная работа</a:t>
            </a:r>
            <a:endParaRPr lang="ru-RU" sz="1400" b="0" i="0" u="none" strike="noStrike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37285617-EA33-4A41-ADCC-CBE14D49180A}"/>
              </a:ext>
            </a:extLst>
          </p:cNvPr>
          <p:cNvCxnSpPr>
            <a:cxnSpLocks/>
            <a:stCxn id="27" idx="1"/>
            <a:endCxn id="28" idx="3"/>
          </p:cNvCxnSpPr>
          <p:nvPr/>
        </p:nvCxnSpPr>
        <p:spPr>
          <a:xfrm rot="10800000" flipV="1">
            <a:off x="3861919" y="1368348"/>
            <a:ext cx="1602739" cy="24970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D756DAE7-9C8B-C141-B84C-9D09901DD5B3}"/>
              </a:ext>
            </a:extLst>
          </p:cNvPr>
          <p:cNvCxnSpPr>
            <a:cxnSpLocks/>
            <a:stCxn id="31" idx="0"/>
            <a:endCxn id="28" idx="2"/>
          </p:cNvCxnSpPr>
          <p:nvPr/>
        </p:nvCxnSpPr>
        <p:spPr>
          <a:xfrm rot="16200000" flipV="1">
            <a:off x="4132441" y="178569"/>
            <a:ext cx="786475" cy="4198838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AC942019-1574-FC4F-BCCC-887DF1A37A86}"/>
              </a:ext>
            </a:extLst>
          </p:cNvPr>
          <p:cNvCxnSpPr>
            <a:cxnSpLocks/>
            <a:stCxn id="31" idx="1"/>
            <a:endCxn id="18" idx="3"/>
          </p:cNvCxnSpPr>
          <p:nvPr/>
        </p:nvCxnSpPr>
        <p:spPr>
          <a:xfrm rot="10800000" flipV="1">
            <a:off x="3732655" y="3011457"/>
            <a:ext cx="1312902" cy="18239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000F223C-79D7-D841-84F9-9C5650FBE24F}"/>
              </a:ext>
            </a:extLst>
          </p:cNvPr>
          <p:cNvCxnSpPr>
            <a:cxnSpLocks/>
            <a:stCxn id="33" idx="1"/>
            <a:endCxn id="32" idx="3"/>
          </p:cNvCxnSpPr>
          <p:nvPr/>
        </p:nvCxnSpPr>
        <p:spPr>
          <a:xfrm rot="10800000">
            <a:off x="3732654" y="4131184"/>
            <a:ext cx="1601346" cy="231065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8B7568B-4B3A-F548-AE24-C98F935D3CE2}"/>
              </a:ext>
            </a:extLst>
          </p:cNvPr>
          <p:cNvSpPr/>
          <p:nvPr/>
        </p:nvSpPr>
        <p:spPr>
          <a:xfrm>
            <a:off x="702838" y="2689464"/>
            <a:ext cx="3029817" cy="680465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Основы статистики</a:t>
            </a:r>
          </a:p>
        </p:txBody>
      </p: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9B98E792-EE71-1047-8859-F399DC4F8985}"/>
              </a:ext>
            </a:extLst>
          </p:cNvPr>
          <p:cNvCxnSpPr>
            <a:cxnSpLocks/>
            <a:stCxn id="18" idx="1"/>
            <a:endCxn id="32" idx="1"/>
          </p:cNvCxnSpPr>
          <p:nvPr/>
        </p:nvCxnSpPr>
        <p:spPr>
          <a:xfrm rot="10800000" flipV="1">
            <a:off x="702838" y="3029697"/>
            <a:ext cx="1" cy="1101486"/>
          </a:xfrm>
          <a:prstGeom prst="curvedConnector3">
            <a:avLst>
              <a:gd name="adj1" fmla="val 2286010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40238" y="1074905"/>
            <a:ext cx="4214193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А/Б тесты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–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учимся подглядывать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7"/>
          <p:cNvSpPr/>
          <p:nvPr/>
        </p:nvSpPr>
        <p:spPr>
          <a:xfrm>
            <a:off x="738806" y="2832451"/>
            <a:ext cx="421419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Множественное тестирование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40239" y="4519947"/>
            <a:ext cx="421276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Практика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37"/>
          <p:cNvCxnSpPr>
            <a:cxnSpLocks/>
            <a:stCxn id="235" idx="1"/>
            <a:endCxn id="236" idx="1"/>
          </p:cNvCxnSpPr>
          <p:nvPr/>
        </p:nvCxnSpPr>
        <p:spPr>
          <a:xfrm rot="10800000" flipV="1">
            <a:off x="738806" y="1263005"/>
            <a:ext cx="1432" cy="1757546"/>
          </a:xfrm>
          <a:prstGeom prst="curvedConnector3">
            <a:avLst>
              <a:gd name="adj1" fmla="val 16063687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H="1" flipV="1">
            <a:off x="738805" y="3020551"/>
            <a:ext cx="1433" cy="1687496"/>
          </a:xfrm>
          <a:prstGeom prst="curvedConnector3">
            <a:avLst>
              <a:gd name="adj1" fmla="val -15952547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4" name="Picture 2" descr="Подглядывание и Юмор: истории из жизни, советы, новости и юмор — Лучшее |  Пикабу">
            <a:extLst>
              <a:ext uri="{FF2B5EF4-FFF2-40B4-BE49-F238E27FC236}">
                <a16:creationId xmlns:a16="http://schemas.microsoft.com/office/drawing/2014/main" id="{AABB91BD-0B5B-DD4E-A8A0-10B29B6BD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0915" y="1074905"/>
            <a:ext cx="3062624" cy="1723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46E8D2D-F1E3-654B-A297-CFBF7823A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071792"/>
            <a:ext cx="3630520" cy="1636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8018845"/>
              </p:ext>
            </p:extLst>
          </p:nvPr>
        </p:nvGraphicFramePr>
        <p:xfrm>
          <a:off x="846750" y="1649963"/>
          <a:ext cx="7239000" cy="11041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Разобраться в том, как правильно подглядывать в А/Б тестах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Понять как проводить множественное тестирование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Попрактиковаться в А/Б тестах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4953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1769624751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Проводить численное тестирование гипотез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Повысить эффективность и обоснованность принимаемых решений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6094990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Как правильно подглядывать</a:t>
            </a:r>
          </a:p>
        </p:txBody>
      </p:sp>
    </p:spTree>
    <p:extLst>
      <p:ext uri="{BB962C8B-B14F-4D97-AF65-F5344CB8AC3E}">
        <p14:creationId xmlns:p14="http://schemas.microsoft.com/office/powerpoint/2010/main" val="2991339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Подглядывание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D92323-1E4C-D045-B2BE-69AC34C8C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50" y="1449220"/>
            <a:ext cx="6413500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84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7733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556403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Практика</a:t>
            </a:r>
            <a:endParaRPr dirty="0"/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2399212"/>
              </p:ext>
            </p:extLst>
          </p:nvPr>
        </p:nvGraphicFramePr>
        <p:xfrm>
          <a:off x="846750" y="1649963"/>
          <a:ext cx="7239000" cy="13494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Преобразуем данные к нормальному распределению с помощью преобразования Бокса-Кокса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Проверим на независимость две числовые переменные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Проверим на независимость две категориальные переменные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495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696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5738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endParaRPr lang="en-US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/>
              <a:t>Статистика для всех. Сара </a:t>
            </a:r>
            <a:r>
              <a:rPr lang="ru-RU" dirty="0" err="1"/>
              <a:t>Бослаф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/>
              <a:t>Статистика и котики. Владимир Савельев</a:t>
            </a:r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/>
              <a:t>Голая статистика. Чарльз </a:t>
            </a:r>
            <a:r>
              <a:rPr lang="ru-RU" dirty="0" err="1"/>
              <a:t>Уилан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/>
              <a:t>Как лгать при помощи статистики. </a:t>
            </a:r>
            <a:r>
              <a:rPr lang="ru-RU" dirty="0" err="1"/>
              <a:t>Дарелл</a:t>
            </a:r>
            <a:r>
              <a:rPr lang="ru-RU" dirty="0"/>
              <a:t> </a:t>
            </a:r>
            <a:r>
              <a:rPr lang="ru-RU" dirty="0" err="1"/>
              <a:t>Хафф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/>
              <a:t>Статистика. Шаг за шагом. Роберт А. </a:t>
            </a:r>
            <a:r>
              <a:rPr lang="ru-RU" dirty="0" err="1"/>
              <a:t>Доннелли</a:t>
            </a:r>
            <a:r>
              <a:rPr lang="ru-RU" dirty="0"/>
              <a:t> - мл</a:t>
            </a:r>
            <a:endParaRPr lang="en-GB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Рефлексия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7372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Рефлексия</a:t>
            </a:r>
            <a:endParaRPr dirty="0"/>
          </a:p>
        </p:txBody>
      </p:sp>
      <p:pic>
        <p:nvPicPr>
          <p:cNvPr id="486" name="Google Shape;486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114" y="2019850"/>
            <a:ext cx="828522" cy="828504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75"/>
          <p:cNvSpPr txBox="1"/>
          <p:nvPr/>
        </p:nvSpPr>
        <p:spPr>
          <a:xfrm>
            <a:off x="1700240" y="2364004"/>
            <a:ext cx="4672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впечатлениями уходите с вебинара?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75"/>
          <p:cNvSpPr txBox="1"/>
          <p:nvPr/>
        </p:nvSpPr>
        <p:spPr>
          <a:xfrm>
            <a:off x="1700240" y="3414189"/>
            <a:ext cx="4996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будете применять на практике то,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узнали на вебинаре?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9" name="Google Shape;489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950" y="3330152"/>
            <a:ext cx="845250" cy="84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ru-RU" dirty="0"/>
            </a:br>
            <a:r>
              <a:rPr lang="ru-RU" sz="1600" dirty="0">
                <a:latin typeface="+mj-lt"/>
              </a:rPr>
              <a:t>А/Б тесты - практика</a:t>
            </a:r>
            <a:endParaRPr dirty="0">
              <a:latin typeface="+mj-lt"/>
            </a:endParaRPr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8D886C75-73B3-DA47-ACA9-200B068BFBF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11091</TotalTime>
  <Words>462</Words>
  <Application>Microsoft Macintosh PowerPoint</Application>
  <PresentationFormat>On-screen Show (16:9)</PresentationFormat>
  <Paragraphs>125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roboto</vt:lpstr>
      <vt:lpstr>roboto</vt:lpstr>
      <vt:lpstr>Office Theme</vt:lpstr>
      <vt:lpstr>Python для Аналитики А/Б тесты</vt:lpstr>
      <vt:lpstr>Проверить, идет ли запись</vt:lpstr>
      <vt:lpstr>Python для аналитики А/Б тесты</vt:lpstr>
      <vt:lpstr>Правила вебинара</vt:lpstr>
      <vt:lpstr>Карта курса</vt:lpstr>
      <vt:lpstr>Маршрут вебинара</vt:lpstr>
      <vt:lpstr>Цели вебинара</vt:lpstr>
      <vt:lpstr>Смысл</vt:lpstr>
      <vt:lpstr>Как правильно подглядывать</vt:lpstr>
      <vt:lpstr>Подглядывание</vt:lpstr>
      <vt:lpstr>Вопросы?</vt:lpstr>
      <vt:lpstr>Практика</vt:lpstr>
      <vt:lpstr>Практика</vt:lpstr>
      <vt:lpstr>Вопросы?</vt:lpstr>
      <vt:lpstr>Список материалов для изучения</vt:lpstr>
      <vt:lpstr>Рефлексия</vt:lpstr>
      <vt:lpstr>Рефлексия</vt:lpstr>
      <vt:lpstr>Заполните, пожалуйста, опрос о занятии по ссылке в чате</vt:lpstr>
      <vt:lpstr>Приходите на следующие вебинары А/Б тесты - практика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112</cp:revision>
  <dcterms:created xsi:type="dcterms:W3CDTF">2023-10-10T14:19:39Z</dcterms:created>
  <dcterms:modified xsi:type="dcterms:W3CDTF">2024-10-20T15:02:03Z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