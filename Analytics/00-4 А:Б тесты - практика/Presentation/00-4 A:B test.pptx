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media/image4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334" r:id="rId4"/>
    <p:sldId id="259" r:id="rId5"/>
    <p:sldId id="260" r:id="rId6"/>
    <p:sldId id="305" r:id="rId7"/>
    <p:sldId id="371" r:id="rId8"/>
    <p:sldId id="393" r:id="rId9"/>
    <p:sldId id="342" r:id="rId10"/>
    <p:sldId id="505" r:id="rId11"/>
    <p:sldId id="506" r:id="rId12"/>
    <p:sldId id="507" r:id="rId13"/>
    <p:sldId id="508" r:id="rId14"/>
    <p:sldId id="509" r:id="rId15"/>
    <p:sldId id="510" r:id="rId16"/>
    <p:sldId id="513" r:id="rId17"/>
    <p:sldId id="514" r:id="rId18"/>
    <p:sldId id="511" r:id="rId19"/>
    <p:sldId id="512" r:id="rId20"/>
    <p:sldId id="391" r:id="rId21"/>
    <p:sldId id="300" r:id="rId22"/>
    <p:sldId id="484" r:id="rId23"/>
    <p:sldId id="364" r:id="rId24"/>
    <p:sldId id="281" r:id="rId25"/>
    <p:sldId id="377" r:id="rId26"/>
    <p:sldId id="301" r:id="rId27"/>
    <p:sldId id="302" r:id="rId28"/>
    <p:sldId id="335" r:id="rId29"/>
  </p:sldIdLst>
  <p:sldSz cx="9144000" cy="5143500" type="screen16x9"/>
  <p:notesSz cx="9144000" cy="51435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32"/>
    <p:restoredTop sz="94719"/>
  </p:normalViewPr>
  <p:slideViewPr>
    <p:cSldViewPr>
      <p:cViewPr varScale="1">
        <p:scale>
          <a:sx n="196" d="100"/>
          <a:sy n="196" d="100"/>
        </p:scale>
        <p:origin x="688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D4DEE-AA18-4B6A-845C-60AFD9463AA2}" type="datetimeFigureOut">
              <a:rPr lang="ru-RU" smtClean="0"/>
              <a:t>02.11.2024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75BB5-C319-4CC0-9F8F-8FE78AD357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873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66388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00514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48621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07320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394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03053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3" name="Google Shape;483;p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2" name="Google Shape;492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118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3575" y="388001"/>
            <a:ext cx="7996849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27549" y="1317655"/>
            <a:ext cx="2095500" cy="32054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17087" y="1115827"/>
            <a:ext cx="1866265" cy="35356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2338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9335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5863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696200" y="4876800"/>
            <a:ext cx="1295399" cy="152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2554" y="388000"/>
            <a:ext cx="8718890" cy="970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5799" y="1421874"/>
            <a:ext cx="8535035" cy="1917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habr.com/ru/companies/glowbyte/articles/732024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habr.com/ru/companies/X5Tech/articles/596279/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companies/ozontech/articles/712306/" TargetMode="External"/><Relationship Id="rId3" Type="http://schemas.openxmlformats.org/officeDocument/2006/relationships/hyperlink" Target="https://habr.com/ru/companies/X5Tech/articles/596279/" TargetMode="External"/><Relationship Id="rId7" Type="http://schemas.openxmlformats.org/officeDocument/2006/relationships/hyperlink" Target="https://habr.com/ru/companies/avito/articles/590105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habr.com/ru/companies/X5Tech/articles/763656/" TargetMode="External"/><Relationship Id="rId11" Type="http://schemas.openxmlformats.org/officeDocument/2006/relationships/hyperlink" Target="https://habr.com/ru/companies/glowbyte/articles/732024/" TargetMode="External"/><Relationship Id="rId5" Type="http://schemas.openxmlformats.org/officeDocument/2006/relationships/hyperlink" Target="https://habr.com/ru/companies/X5Tech/articles/706388/" TargetMode="External"/><Relationship Id="rId10" Type="http://schemas.openxmlformats.org/officeDocument/2006/relationships/hyperlink" Target="https://habr.com/ru/companies/otus/articles/809139/" TargetMode="External"/><Relationship Id="rId4" Type="http://schemas.openxmlformats.org/officeDocument/2006/relationships/hyperlink" Target="https://habr.com/ru/companies/X5Tech/articles/780270/" TargetMode="External"/><Relationship Id="rId9" Type="http://schemas.openxmlformats.org/officeDocument/2006/relationships/hyperlink" Target="https://habr.com/ru/companies/yandex/articles/476826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017674" y="4414306"/>
            <a:ext cx="1649326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FFFF"/>
                </a:solidFill>
                <a:latin typeface="Roboto"/>
                <a:cs typeface="Roboto"/>
              </a:rPr>
              <a:t>otus.ru</a:t>
            </a:r>
            <a:endParaRPr sz="1800" dirty="0">
              <a:latin typeface="Roboto"/>
              <a:cs typeface="Robot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017674" y="1745501"/>
            <a:ext cx="7516726" cy="13336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6555"/>
              </a:lnSpc>
              <a:spcBef>
                <a:spcPts val="100"/>
              </a:spcBef>
            </a:pPr>
            <a:r>
              <a:rPr lang="en-US" sz="5600" spc="-35" dirty="0">
                <a:solidFill>
                  <a:srgbClr val="FFFFFF"/>
                </a:solidFill>
              </a:rPr>
              <a:t>Python </a:t>
            </a:r>
            <a:r>
              <a:rPr lang="ru-RU" sz="5600" spc="-35" dirty="0">
                <a:solidFill>
                  <a:srgbClr val="FFFFFF"/>
                </a:solidFill>
              </a:rPr>
              <a:t>для Аналитики</a:t>
            </a:r>
            <a:endParaRPr sz="5600" dirty="0"/>
          </a:p>
          <a:p>
            <a:pPr marL="12700" marR="5080">
              <a:lnSpc>
                <a:spcPts val="3350"/>
              </a:lnSpc>
              <a:spcBef>
                <a:spcPts val="254"/>
              </a:spcBef>
            </a:pPr>
            <a:r>
              <a:rPr lang="ru-RU" spc="-10" dirty="0">
                <a:solidFill>
                  <a:srgbClr val="FFFFFF"/>
                </a:solidFill>
              </a:rPr>
              <a:t>А/Б тесты</a:t>
            </a:r>
            <a:endParaRPr lang="en-US" spc="-1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08899" y="1009637"/>
            <a:ext cx="342772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0" dirty="0"/>
              <a:t>Проверить, </a:t>
            </a:r>
            <a:r>
              <a:rPr sz="2100" spc="-25" dirty="0"/>
              <a:t>идет</a:t>
            </a:r>
            <a:r>
              <a:rPr sz="2100" spc="-10" dirty="0"/>
              <a:t> </a:t>
            </a:r>
            <a:r>
              <a:rPr sz="2100" spc="5" dirty="0"/>
              <a:t>ли</a:t>
            </a:r>
            <a:r>
              <a:rPr sz="2100" spc="-5" dirty="0"/>
              <a:t> </a:t>
            </a:r>
            <a:r>
              <a:rPr sz="2100" spc="-20" dirty="0"/>
              <a:t>запись</a:t>
            </a:r>
            <a:endParaRPr sz="21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0825" y="1032407"/>
            <a:ext cx="642317" cy="32115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2375" y="3520050"/>
            <a:ext cx="525599" cy="5255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39750" y="1810429"/>
            <a:ext cx="5484850" cy="2197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4000" b="1" spc="10" dirty="0">
                <a:latin typeface="Roboto"/>
                <a:cs typeface="Roboto"/>
              </a:rPr>
              <a:t>Меня</a:t>
            </a:r>
            <a:r>
              <a:rPr sz="4000" b="1" spc="-40" dirty="0">
                <a:latin typeface="Roboto"/>
                <a:cs typeface="Roboto"/>
              </a:rPr>
              <a:t> </a:t>
            </a:r>
            <a:r>
              <a:rPr sz="4000" b="1" spc="-20" dirty="0">
                <a:latin typeface="Roboto"/>
                <a:cs typeface="Roboto"/>
              </a:rPr>
              <a:t>хорошо</a:t>
            </a:r>
            <a:r>
              <a:rPr sz="4000" b="1" spc="-30" dirty="0">
                <a:latin typeface="Roboto"/>
                <a:cs typeface="Roboto"/>
              </a:rPr>
              <a:t> </a:t>
            </a:r>
            <a:r>
              <a:rPr sz="4000" b="1" spc="-35" dirty="0">
                <a:latin typeface="Roboto"/>
                <a:cs typeface="Roboto"/>
              </a:rPr>
              <a:t>видно </a:t>
            </a:r>
            <a:r>
              <a:rPr sz="4000" b="1" spc="-980" dirty="0">
                <a:latin typeface="Roboto"/>
                <a:cs typeface="Roboto"/>
              </a:rPr>
              <a:t> </a:t>
            </a:r>
            <a:r>
              <a:rPr sz="4000" b="1" spc="-10" dirty="0">
                <a:latin typeface="Roboto"/>
                <a:cs typeface="Roboto"/>
              </a:rPr>
              <a:t>&amp;&amp; </a:t>
            </a:r>
            <a:r>
              <a:rPr sz="4000" b="1" dirty="0">
                <a:latin typeface="Roboto"/>
                <a:cs typeface="Roboto"/>
              </a:rPr>
              <a:t>слышно?</a:t>
            </a:r>
            <a:endParaRPr sz="4000" dirty="0">
              <a:latin typeface="Roboto"/>
              <a:cs typeface="Roboto"/>
            </a:endParaRPr>
          </a:p>
          <a:p>
            <a:pPr marL="760095" marR="1526540">
              <a:lnSpc>
                <a:spcPct val="100000"/>
              </a:lnSpc>
              <a:spcBef>
                <a:spcPts val="3900"/>
              </a:spcBef>
            </a:pPr>
            <a:r>
              <a:rPr sz="1500" spc="-10" dirty="0">
                <a:latin typeface="Roboto"/>
                <a:cs typeface="Roboto"/>
              </a:rPr>
              <a:t>Ставим </a:t>
            </a:r>
            <a:r>
              <a:rPr sz="1500" spc="-25" dirty="0">
                <a:latin typeface="Roboto"/>
                <a:cs typeface="Roboto"/>
              </a:rPr>
              <a:t>“+”, </a:t>
            </a:r>
            <a:r>
              <a:rPr sz="1500" spc="10" dirty="0">
                <a:latin typeface="Roboto"/>
                <a:cs typeface="Roboto"/>
              </a:rPr>
              <a:t>если </a:t>
            </a:r>
            <a:r>
              <a:rPr sz="1500" dirty="0">
                <a:latin typeface="Roboto"/>
                <a:cs typeface="Roboto"/>
              </a:rPr>
              <a:t>все </a:t>
            </a:r>
            <a:r>
              <a:rPr sz="1500" spc="-10" dirty="0">
                <a:latin typeface="Roboto"/>
                <a:cs typeface="Roboto"/>
              </a:rPr>
              <a:t>хорошо </a:t>
            </a:r>
            <a:r>
              <a:rPr sz="1500" spc="-360" dirty="0">
                <a:latin typeface="Roboto"/>
                <a:cs typeface="Roboto"/>
              </a:rPr>
              <a:t> </a:t>
            </a:r>
            <a:r>
              <a:rPr sz="1500" spc="-105" dirty="0">
                <a:latin typeface="Roboto"/>
                <a:cs typeface="Roboto"/>
              </a:rPr>
              <a:t>“-”</a:t>
            </a:r>
            <a:r>
              <a:rPr sz="1500" spc="-50" dirty="0">
                <a:latin typeface="Roboto"/>
                <a:cs typeface="Roboto"/>
              </a:rPr>
              <a:t>,</a:t>
            </a:r>
            <a:r>
              <a:rPr sz="1500" spc="-5" dirty="0">
                <a:latin typeface="Roboto"/>
                <a:cs typeface="Roboto"/>
              </a:rPr>
              <a:t> </a:t>
            </a:r>
            <a:r>
              <a:rPr sz="1500" spc="5" dirty="0">
                <a:latin typeface="Roboto"/>
                <a:cs typeface="Roboto"/>
              </a:rPr>
              <a:t>есл</a:t>
            </a:r>
            <a:r>
              <a:rPr sz="1500" spc="15" dirty="0">
                <a:latin typeface="Roboto"/>
                <a:cs typeface="Roboto"/>
              </a:rPr>
              <a:t>и</a:t>
            </a:r>
            <a:r>
              <a:rPr sz="1500" spc="-5" dirty="0">
                <a:latin typeface="Roboto"/>
                <a:cs typeface="Roboto"/>
              </a:rPr>
              <a:t> </a:t>
            </a:r>
            <a:r>
              <a:rPr sz="1500" spc="-15" dirty="0">
                <a:latin typeface="Roboto"/>
                <a:cs typeface="Roboto"/>
              </a:rPr>
              <a:t>ест</a:t>
            </a:r>
            <a:r>
              <a:rPr sz="1500" spc="-10" dirty="0">
                <a:latin typeface="Roboto"/>
                <a:cs typeface="Roboto"/>
              </a:rPr>
              <a:t>ь</a:t>
            </a:r>
            <a:r>
              <a:rPr sz="1500" spc="-5" dirty="0">
                <a:latin typeface="Roboto"/>
                <a:cs typeface="Roboto"/>
              </a:rPr>
              <a:t> проблемы</a:t>
            </a:r>
            <a:endParaRPr sz="1500" dirty="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Python </a:t>
            </a:r>
            <a:r>
              <a:rPr lang="ru-RU" dirty="0"/>
              <a:t>для аналитики</a:t>
            </a:r>
            <a:br>
              <a:rPr lang="en-US" dirty="0"/>
            </a:br>
            <a:r>
              <a:rPr lang="ru-RU" sz="3200" b="1" dirty="0">
                <a:latin typeface="Roboto"/>
                <a:ea typeface="Roboto"/>
                <a:cs typeface="Roboto"/>
                <a:sym typeface="Roboto"/>
              </a:rPr>
              <a:t>А/Б тесты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ED965473-BBD3-AB44-A950-B109F48DEFA0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endParaRPr lang="ru-RU" sz="1150" b="1" kern="0" dirty="0"/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6200" y="4876800"/>
            <a:ext cx="1295399" cy="1523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3575" y="387492"/>
            <a:ext cx="5865017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Правила</a:t>
            </a:r>
            <a:r>
              <a:rPr sz="3200" spc="-60" dirty="0"/>
              <a:t> </a:t>
            </a:r>
            <a:r>
              <a:rPr sz="3200" dirty="0"/>
              <a:t>вебинара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7650" y="3951280"/>
            <a:ext cx="692621" cy="6926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7650" y="1281613"/>
            <a:ext cx="692621" cy="69261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7650" y="3061405"/>
            <a:ext cx="692621" cy="69259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7650" y="2171509"/>
            <a:ext cx="692621" cy="692619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4808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Активно </a:t>
            </a:r>
            <a:r>
              <a:rPr dirty="0"/>
              <a:t> </a:t>
            </a:r>
            <a:r>
              <a:rPr spc="-25" dirty="0"/>
              <a:t>участ</a:t>
            </a:r>
            <a:r>
              <a:rPr spc="-30" dirty="0"/>
              <a:t>в</a:t>
            </a:r>
            <a:r>
              <a:rPr spc="-55" dirty="0"/>
              <a:t>у</a:t>
            </a:r>
            <a:r>
              <a:rPr spc="-5" dirty="0"/>
              <a:t>ем</a:t>
            </a: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200" dirty="0"/>
          </a:p>
          <a:p>
            <a:pPr marL="12700" marR="280670">
              <a:lnSpc>
                <a:spcPct val="100000"/>
              </a:lnSpc>
            </a:pPr>
            <a:r>
              <a:rPr spc="-35" dirty="0"/>
              <a:t>Off-topic </a:t>
            </a:r>
            <a:r>
              <a:rPr spc="-10" dirty="0"/>
              <a:t>обсуждаем </a:t>
            </a:r>
            <a:r>
              <a:rPr spc="-360" dirty="0"/>
              <a:t> </a:t>
            </a:r>
            <a:r>
              <a:rPr dirty="0"/>
              <a:t>в</a:t>
            </a:r>
            <a:r>
              <a:rPr spc="-15" dirty="0"/>
              <a:t> </a:t>
            </a:r>
            <a:r>
              <a:rPr spc="-10" dirty="0"/>
              <a:t>учебной</a:t>
            </a:r>
            <a:r>
              <a:rPr spc="-15" dirty="0"/>
              <a:t> </a:t>
            </a:r>
            <a:r>
              <a:rPr spc="-10" dirty="0"/>
              <a:t>группе</a:t>
            </a:r>
          </a:p>
          <a:p>
            <a:pPr>
              <a:lnSpc>
                <a:spcPct val="100000"/>
              </a:lnSpc>
            </a:pPr>
            <a:endParaRPr sz="1700" dirty="0"/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950" dirty="0"/>
          </a:p>
          <a:p>
            <a:pPr marL="12700">
              <a:lnSpc>
                <a:spcPct val="100000"/>
              </a:lnSpc>
            </a:pPr>
            <a:r>
              <a:rPr spc="-35" dirty="0"/>
              <a:t>Задаем</a:t>
            </a:r>
            <a:r>
              <a:rPr spc="-45" dirty="0"/>
              <a:t> </a:t>
            </a:r>
            <a:r>
              <a:rPr spc="-5" dirty="0"/>
              <a:t>вопрос</a:t>
            </a:r>
          </a:p>
          <a:p>
            <a:pPr marL="12700">
              <a:lnSpc>
                <a:spcPct val="100000"/>
              </a:lnSpc>
            </a:pPr>
            <a:r>
              <a:rPr dirty="0" err="1"/>
              <a:t>в</a:t>
            </a:r>
            <a:r>
              <a:rPr spc="-20" dirty="0"/>
              <a:t> </a:t>
            </a:r>
            <a:r>
              <a:rPr spc="-30" dirty="0" err="1"/>
              <a:t>чат</a:t>
            </a:r>
            <a:endParaRPr spc="-5" dirty="0"/>
          </a:p>
          <a:p>
            <a:pPr>
              <a:lnSpc>
                <a:spcPct val="100000"/>
              </a:lnSpc>
            </a:pPr>
            <a:endParaRPr sz="1700" dirty="0"/>
          </a:p>
          <a:p>
            <a:pPr marL="12700" marR="5080">
              <a:lnSpc>
                <a:spcPct val="100000"/>
              </a:lnSpc>
              <a:spcBef>
                <a:spcPts val="1515"/>
              </a:spcBef>
            </a:pPr>
            <a:r>
              <a:rPr spc="-10" dirty="0"/>
              <a:t>Вопросы </a:t>
            </a:r>
            <a:r>
              <a:rPr spc="5" dirty="0"/>
              <a:t>вижу </a:t>
            </a:r>
            <a:r>
              <a:rPr dirty="0"/>
              <a:t>в </a:t>
            </a:r>
            <a:r>
              <a:rPr spc="-35" dirty="0"/>
              <a:t>чате, </a:t>
            </a:r>
            <a:r>
              <a:rPr spc="-30" dirty="0"/>
              <a:t> </a:t>
            </a:r>
            <a:r>
              <a:rPr spc="-15" dirty="0"/>
              <a:t>могу</a:t>
            </a:r>
            <a:r>
              <a:rPr spc="-20" dirty="0"/>
              <a:t> </a:t>
            </a:r>
            <a:r>
              <a:rPr spc="-25" dirty="0"/>
              <a:t>ответить</a:t>
            </a:r>
            <a:r>
              <a:rPr spc="-20" dirty="0"/>
              <a:t> </a:t>
            </a:r>
            <a:r>
              <a:rPr spc="5" dirty="0"/>
              <a:t>не</a:t>
            </a:r>
            <a:r>
              <a:rPr spc="-15" dirty="0"/>
              <a:t> </a:t>
            </a:r>
            <a:r>
              <a:rPr spc="-30" dirty="0"/>
              <a:t>сразу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6046275" y="0"/>
            <a:ext cx="3097530" cy="5135880"/>
            <a:chOff x="6046275" y="0"/>
            <a:chExt cx="3097530" cy="5135880"/>
          </a:xfrm>
        </p:grpSpPr>
        <p:sp>
          <p:nvSpPr>
            <p:cNvPr id="10" name="object 10"/>
            <p:cNvSpPr/>
            <p:nvPr/>
          </p:nvSpPr>
          <p:spPr>
            <a:xfrm>
              <a:off x="6046275" y="0"/>
              <a:ext cx="3097530" cy="5135880"/>
            </a:xfrm>
            <a:custGeom>
              <a:avLst/>
              <a:gdLst/>
              <a:ahLst/>
              <a:cxnLst/>
              <a:rect l="l" t="t" r="r" b="b"/>
              <a:pathLst>
                <a:path w="3097529" h="5135880">
                  <a:moveTo>
                    <a:pt x="3097499" y="5135450"/>
                  </a:moveTo>
                  <a:lnTo>
                    <a:pt x="0" y="5135450"/>
                  </a:lnTo>
                  <a:lnTo>
                    <a:pt x="0" y="0"/>
                  </a:lnTo>
                  <a:lnTo>
                    <a:pt x="3097499" y="0"/>
                  </a:lnTo>
                  <a:lnTo>
                    <a:pt x="3097499" y="5135450"/>
                  </a:lnTo>
                  <a:close/>
                </a:path>
              </a:pathLst>
            </a:custGeom>
            <a:solidFill>
              <a:srgbClr val="2121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438592" y="1912031"/>
              <a:ext cx="330301" cy="33030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438592" y="2392126"/>
              <a:ext cx="330301" cy="33030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438592" y="2872220"/>
              <a:ext cx="330301" cy="33030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438592" y="3352314"/>
              <a:ext cx="330301" cy="330302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38592" y="3832409"/>
              <a:ext cx="330301" cy="3303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438592" y="4312502"/>
              <a:ext cx="330301" cy="330302"/>
            </a:xfrm>
            <a:prstGeom prst="rect">
              <a:avLst/>
            </a:prstGeom>
          </p:spPr>
        </p:pic>
      </p:grpSp>
      <p:sp>
        <p:nvSpPr>
          <p:cNvPr id="17" name="object 17"/>
          <p:cNvSpPr txBox="1">
            <a:spLocks noGrp="1"/>
          </p:cNvSpPr>
          <p:nvPr>
            <p:ph sz="half" idx="3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9591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Условные </a:t>
            </a:r>
            <a:r>
              <a:rPr spc="-5" dirty="0"/>
              <a:t> </a:t>
            </a:r>
            <a:r>
              <a:rPr spc="-10" dirty="0"/>
              <a:t>обозначения</a:t>
            </a:r>
          </a:p>
          <a:p>
            <a:pPr marL="497840">
              <a:lnSpc>
                <a:spcPct val="100000"/>
              </a:lnSpc>
              <a:spcBef>
                <a:spcPts val="1895"/>
              </a:spcBef>
            </a:pPr>
            <a:r>
              <a:rPr sz="1100" b="0" spc="-10" dirty="0">
                <a:latin typeface="Roboto"/>
                <a:cs typeface="Roboto"/>
              </a:rPr>
              <a:t>Индивидуально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450">
              <a:latin typeface="Roboto"/>
              <a:cs typeface="Roboto"/>
            </a:endParaRPr>
          </a:p>
          <a:p>
            <a:pPr marL="497840" marR="5080">
              <a:lnSpc>
                <a:spcPct val="100000"/>
              </a:lnSpc>
              <a:spcBef>
                <a:spcPts val="5"/>
              </a:spcBef>
            </a:pPr>
            <a:r>
              <a:rPr sz="1100" b="0" spc="-15" dirty="0">
                <a:latin typeface="Roboto"/>
                <a:cs typeface="Roboto"/>
              </a:rPr>
              <a:t>Время, необходимое </a:t>
            </a:r>
            <a:r>
              <a:rPr sz="1100" b="0" spc="-26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на</a:t>
            </a:r>
            <a:r>
              <a:rPr sz="1100" b="0" spc="-10" dirty="0">
                <a:latin typeface="Roboto"/>
                <a:cs typeface="Roboto"/>
              </a:rPr>
              <a:t> </a:t>
            </a:r>
            <a:r>
              <a:rPr sz="1100" b="0" spc="-15" dirty="0">
                <a:latin typeface="Roboto"/>
                <a:cs typeface="Roboto"/>
              </a:rPr>
              <a:t>активность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6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</a:pPr>
            <a:r>
              <a:rPr sz="1100" b="0" dirty="0">
                <a:latin typeface="Roboto"/>
                <a:cs typeface="Roboto"/>
              </a:rPr>
              <a:t>Пишем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dirty="0">
                <a:latin typeface="Roboto"/>
                <a:cs typeface="Roboto"/>
              </a:rPr>
              <a:t>в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spc="-25" dirty="0">
                <a:latin typeface="Roboto"/>
                <a:cs typeface="Roboto"/>
              </a:rPr>
              <a:t>чат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3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  <a:spcBef>
                <a:spcPts val="950"/>
              </a:spcBef>
            </a:pPr>
            <a:r>
              <a:rPr sz="1100" b="0" spc="-20" dirty="0">
                <a:latin typeface="Roboto"/>
                <a:cs typeface="Roboto"/>
              </a:rPr>
              <a:t>Говорим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голосом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3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  <a:spcBef>
                <a:spcPts val="805"/>
              </a:spcBef>
            </a:pPr>
            <a:r>
              <a:rPr sz="1100" b="0" spc="-15" dirty="0">
                <a:latin typeface="Roboto"/>
                <a:cs typeface="Roboto"/>
              </a:rPr>
              <a:t>Документ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450">
              <a:latin typeface="Roboto"/>
              <a:cs typeface="Roboto"/>
            </a:endParaRPr>
          </a:p>
          <a:p>
            <a:pPr marL="497840" marR="161925">
              <a:lnSpc>
                <a:spcPct val="100000"/>
              </a:lnSpc>
            </a:pPr>
            <a:r>
              <a:rPr sz="1100" b="0" spc="-25" dirty="0">
                <a:latin typeface="Roboto"/>
                <a:cs typeface="Roboto"/>
              </a:rPr>
              <a:t>Ответьте </a:t>
            </a:r>
            <a:r>
              <a:rPr sz="1100" b="0" spc="-5" dirty="0">
                <a:latin typeface="Roboto"/>
                <a:cs typeface="Roboto"/>
              </a:rPr>
              <a:t>себе </a:t>
            </a:r>
            <a:r>
              <a:rPr sz="1100" b="0" spc="10" dirty="0">
                <a:latin typeface="Roboto"/>
                <a:cs typeface="Roboto"/>
              </a:rPr>
              <a:t>или </a:t>
            </a:r>
            <a:r>
              <a:rPr sz="1100" b="0" spc="-260" dirty="0">
                <a:latin typeface="Roboto"/>
                <a:cs typeface="Roboto"/>
              </a:rPr>
              <a:t> </a:t>
            </a:r>
            <a:r>
              <a:rPr sz="1100" b="0" spc="-25" dirty="0">
                <a:latin typeface="Roboto"/>
                <a:cs typeface="Roboto"/>
              </a:rPr>
              <a:t>задайте</a:t>
            </a:r>
            <a:r>
              <a:rPr sz="1100" b="0" spc="-2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вопрос</a:t>
            </a:r>
            <a:endParaRPr sz="11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3575" y="388000"/>
            <a:ext cx="6225366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Карта</a:t>
            </a:r>
            <a:r>
              <a:rPr spc="-65" dirty="0"/>
              <a:t> </a:t>
            </a:r>
            <a:r>
              <a:rPr spc="-15" dirty="0"/>
              <a:t>курса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42B962FB-80BD-6A48-8524-7D919FB49D23}"/>
              </a:ext>
            </a:extLst>
          </p:cNvPr>
          <p:cNvSpPr/>
          <p:nvPr/>
        </p:nvSpPr>
        <p:spPr>
          <a:xfrm>
            <a:off x="5464657" y="1118648"/>
            <a:ext cx="2320880" cy="49940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Введение в 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Python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BC185D-17BD-9442-94E8-23EB83D225B1}"/>
              </a:ext>
            </a:extLst>
          </p:cNvPr>
          <p:cNvSpPr/>
          <p:nvPr/>
        </p:nvSpPr>
        <p:spPr>
          <a:xfrm>
            <a:off x="990600" y="1351350"/>
            <a:ext cx="2871318" cy="5334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Библиотеки по работе с данными </a:t>
            </a:r>
            <a:r>
              <a:rPr lang="ru-RU" sz="1600">
                <a:solidFill>
                  <a:schemeClr val="tx1">
                    <a:lumMod val="50000"/>
                    <a:lumOff val="50000"/>
                  </a:schemeClr>
                </a:solidFill>
              </a:rPr>
              <a:t>и визуализациями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389797C-5AC8-8647-A026-69A3A4FA36D4}"/>
              </a:ext>
            </a:extLst>
          </p:cNvPr>
          <p:cNvSpPr/>
          <p:nvPr/>
        </p:nvSpPr>
        <p:spPr>
          <a:xfrm>
            <a:off x="5045557" y="2671225"/>
            <a:ext cx="3159080" cy="68046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Работа с базами данных, </a:t>
            </a:r>
          </a:p>
          <a:p>
            <a:pPr algn="ctr"/>
            <a:r>
              <a:rPr lang="ru-RU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парсинг</a:t>
            </a:r>
            <a:r>
              <a:rPr lang="ru-RU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данных с сайтов, взаимодействие с 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API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06F4D35-6103-0049-B079-D9E4D26C23A1}"/>
              </a:ext>
            </a:extLst>
          </p:cNvPr>
          <p:cNvSpPr/>
          <p:nvPr/>
        </p:nvSpPr>
        <p:spPr>
          <a:xfrm>
            <a:off x="702837" y="3790950"/>
            <a:ext cx="3029817" cy="68046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0" i="0" u="none" strike="noStrike" dirty="0">
                <a:solidFill>
                  <a:schemeClr val="tx1"/>
                </a:solidFill>
                <a:effectLst/>
                <a:latin typeface="roboto" panose="02000000000000000000" pitchFamily="2" charset="0"/>
              </a:rPr>
              <a:t>Практики. Продуктовая и маркетинговая аналитика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7B65E25-3B50-0547-A404-FB902131A18C}"/>
              </a:ext>
            </a:extLst>
          </p:cNvPr>
          <p:cNvSpPr/>
          <p:nvPr/>
        </p:nvSpPr>
        <p:spPr>
          <a:xfrm>
            <a:off x="5334000" y="4022015"/>
            <a:ext cx="3159080" cy="68046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</a:rPr>
              <a:t>Проектная работа</a:t>
            </a:r>
            <a:endParaRPr lang="ru-RU" sz="1400" b="0" i="0" u="none" strike="noStrike" dirty="0">
              <a:solidFill>
                <a:schemeClr val="tx1"/>
              </a:solidFill>
              <a:effectLst/>
              <a:latin typeface="roboto" panose="02000000000000000000" pitchFamily="2" charset="0"/>
            </a:endParaRPr>
          </a:p>
        </p:txBody>
      </p: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37285617-EA33-4A41-ADCC-CBE14D49180A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rot="10800000" flipV="1">
            <a:off x="3861919" y="1368348"/>
            <a:ext cx="1602739" cy="24970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D756DAE7-9C8B-C141-B84C-9D09901DD5B3}"/>
              </a:ext>
            </a:extLst>
          </p:cNvPr>
          <p:cNvCxnSpPr>
            <a:cxnSpLocks/>
            <a:stCxn id="31" idx="0"/>
            <a:endCxn id="28" idx="2"/>
          </p:cNvCxnSpPr>
          <p:nvPr/>
        </p:nvCxnSpPr>
        <p:spPr>
          <a:xfrm rot="16200000" flipV="1">
            <a:off x="4132441" y="178569"/>
            <a:ext cx="786475" cy="4198838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AC942019-1574-FC4F-BCCC-887DF1A37A86}"/>
              </a:ext>
            </a:extLst>
          </p:cNvPr>
          <p:cNvCxnSpPr>
            <a:cxnSpLocks/>
            <a:stCxn id="31" idx="1"/>
            <a:endCxn id="18" idx="3"/>
          </p:cNvCxnSpPr>
          <p:nvPr/>
        </p:nvCxnSpPr>
        <p:spPr>
          <a:xfrm rot="10800000" flipV="1">
            <a:off x="3732655" y="3011457"/>
            <a:ext cx="1312902" cy="1823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000F223C-79D7-D841-84F9-9C5650FBE24F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>
            <a:off x="3732654" y="4131184"/>
            <a:ext cx="1601346" cy="23106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8B7568B-4B3A-F548-AE24-C98F935D3CE2}"/>
              </a:ext>
            </a:extLst>
          </p:cNvPr>
          <p:cNvSpPr/>
          <p:nvPr/>
        </p:nvSpPr>
        <p:spPr>
          <a:xfrm>
            <a:off x="702838" y="2689464"/>
            <a:ext cx="3029817" cy="680465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0" i="0" u="none" strike="noStrike" dirty="0">
                <a:solidFill>
                  <a:schemeClr val="tx1"/>
                </a:solidFill>
                <a:effectLst/>
                <a:latin typeface="roboto" panose="02000000000000000000" pitchFamily="2" charset="0"/>
              </a:rPr>
              <a:t>Основы статистики</a:t>
            </a:r>
          </a:p>
        </p:txBody>
      </p: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9B98E792-EE71-1047-8859-F399DC4F8985}"/>
              </a:ext>
            </a:extLst>
          </p:cNvPr>
          <p:cNvCxnSpPr>
            <a:cxnSpLocks/>
            <a:stCxn id="18" idx="1"/>
            <a:endCxn id="32" idx="1"/>
          </p:cNvCxnSpPr>
          <p:nvPr/>
        </p:nvCxnSpPr>
        <p:spPr>
          <a:xfrm rot="10800000" flipV="1">
            <a:off x="702838" y="3029697"/>
            <a:ext cx="1" cy="1101486"/>
          </a:xfrm>
          <a:prstGeom prst="curvedConnector3">
            <a:avLst>
              <a:gd name="adj1" fmla="val 2286010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Маршрут вебинара</a:t>
            </a:r>
            <a:endParaRPr/>
          </a:p>
        </p:txBody>
      </p:sp>
      <p:sp>
        <p:nvSpPr>
          <p:cNvPr id="235" name="Google Shape;235;p37"/>
          <p:cNvSpPr/>
          <p:nvPr/>
        </p:nvSpPr>
        <p:spPr>
          <a:xfrm>
            <a:off x="703140" y="1624647"/>
            <a:ext cx="4214193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А/Б тесты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учимся подглядывать</a:t>
            </a:r>
            <a:endParaRPr lang="ru-RU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37"/>
          <p:cNvSpPr/>
          <p:nvPr/>
        </p:nvSpPr>
        <p:spPr>
          <a:xfrm>
            <a:off x="703138" y="2290122"/>
            <a:ext cx="4214195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Множественное тестирование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37"/>
          <p:cNvSpPr/>
          <p:nvPr/>
        </p:nvSpPr>
        <p:spPr>
          <a:xfrm>
            <a:off x="740239" y="4519947"/>
            <a:ext cx="4212762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37"/>
          <p:cNvCxnSpPr>
            <a:cxnSpLocks/>
            <a:stCxn id="238" idx="1"/>
            <a:endCxn id="15" idx="1"/>
          </p:cNvCxnSpPr>
          <p:nvPr/>
        </p:nvCxnSpPr>
        <p:spPr>
          <a:xfrm rot="10800000">
            <a:off x="740239" y="4042573"/>
            <a:ext cx="12700" cy="665475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4" name="Picture 2" descr="Подглядывание и Юмор: истории из жизни, советы, новости и юмор — Лучшее |  Пикабу">
            <a:extLst>
              <a:ext uri="{FF2B5EF4-FFF2-40B4-BE49-F238E27FC236}">
                <a16:creationId xmlns:a16="http://schemas.microsoft.com/office/drawing/2014/main" id="{AABB91BD-0B5B-DD4E-A8A0-10B29B6BD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1405953"/>
            <a:ext cx="3062624" cy="1723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46E8D2D-F1E3-654B-A297-CFBF7823A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7866" y="3176521"/>
            <a:ext cx="3630520" cy="163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5;p37">
            <a:extLst>
              <a:ext uri="{FF2B5EF4-FFF2-40B4-BE49-F238E27FC236}">
                <a16:creationId xmlns:a16="http://schemas.microsoft.com/office/drawing/2014/main" id="{5B7CDC4F-8813-674D-8E40-29B8F61514E0}"/>
              </a:ext>
            </a:extLst>
          </p:cNvPr>
          <p:cNvSpPr/>
          <p:nvPr/>
        </p:nvSpPr>
        <p:spPr>
          <a:xfrm>
            <a:off x="708902" y="2955597"/>
            <a:ext cx="4214193" cy="6096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Стратификация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повышение чувствительности</a:t>
            </a:r>
            <a:endParaRPr lang="ru-RU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Google Shape;235;p37">
            <a:extLst>
              <a:ext uri="{FF2B5EF4-FFF2-40B4-BE49-F238E27FC236}">
                <a16:creationId xmlns:a16="http://schemas.microsoft.com/office/drawing/2014/main" id="{74334085-1156-D547-B5CE-40C6F022CDCC}"/>
              </a:ext>
            </a:extLst>
          </p:cNvPr>
          <p:cNvSpPr/>
          <p:nvPr/>
        </p:nvSpPr>
        <p:spPr>
          <a:xfrm>
            <a:off x="740239" y="3854472"/>
            <a:ext cx="4214193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CUPED</a:t>
            </a:r>
            <a:endParaRPr lang="ru-RU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" name="Google Shape;242;p37">
            <a:extLst>
              <a:ext uri="{FF2B5EF4-FFF2-40B4-BE49-F238E27FC236}">
                <a16:creationId xmlns:a16="http://schemas.microsoft.com/office/drawing/2014/main" id="{57B81F5F-1189-1D4E-8B84-635DB1BDADF8}"/>
              </a:ext>
            </a:extLst>
          </p:cNvPr>
          <p:cNvCxnSpPr>
            <a:cxnSpLocks/>
            <a:stCxn id="236" idx="1"/>
            <a:endCxn id="235" idx="1"/>
          </p:cNvCxnSpPr>
          <p:nvPr/>
        </p:nvCxnSpPr>
        <p:spPr>
          <a:xfrm rot="10800000" flipH="1">
            <a:off x="703138" y="1812748"/>
            <a:ext cx="2" cy="665475"/>
          </a:xfrm>
          <a:prstGeom prst="curvedConnector3">
            <a:avLst>
              <a:gd name="adj1" fmla="val -114300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" name="Google Shape;242;p37">
            <a:extLst>
              <a:ext uri="{FF2B5EF4-FFF2-40B4-BE49-F238E27FC236}">
                <a16:creationId xmlns:a16="http://schemas.microsoft.com/office/drawing/2014/main" id="{F7FBB00E-AA74-BC43-B475-9696CCECA13C}"/>
              </a:ext>
            </a:extLst>
          </p:cNvPr>
          <p:cNvCxnSpPr>
            <a:cxnSpLocks/>
            <a:stCxn id="14" idx="1"/>
            <a:endCxn id="236" idx="1"/>
          </p:cNvCxnSpPr>
          <p:nvPr/>
        </p:nvCxnSpPr>
        <p:spPr>
          <a:xfrm rot="10800000">
            <a:off x="703138" y="2478223"/>
            <a:ext cx="5764" cy="782175"/>
          </a:xfrm>
          <a:prstGeom prst="curvedConnector3">
            <a:avLst>
              <a:gd name="adj1" fmla="val 4065996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" name="Google Shape;242;p37">
            <a:extLst>
              <a:ext uri="{FF2B5EF4-FFF2-40B4-BE49-F238E27FC236}">
                <a16:creationId xmlns:a16="http://schemas.microsoft.com/office/drawing/2014/main" id="{28868F21-4379-3247-9F53-3EEC819B1642}"/>
              </a:ext>
            </a:extLst>
          </p:cNvPr>
          <p:cNvCxnSpPr>
            <a:cxnSpLocks/>
            <a:stCxn id="15" idx="1"/>
            <a:endCxn id="14" idx="1"/>
          </p:cNvCxnSpPr>
          <p:nvPr/>
        </p:nvCxnSpPr>
        <p:spPr>
          <a:xfrm rot="10800000">
            <a:off x="708903" y="3260398"/>
            <a:ext cx="31337" cy="782175"/>
          </a:xfrm>
          <a:prstGeom prst="curvedConnector3">
            <a:avLst>
              <a:gd name="adj1" fmla="val 829489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8018845"/>
              </p:ext>
            </p:extLst>
          </p:nvPr>
        </p:nvGraphicFramePr>
        <p:xfrm>
          <a:off x="846750" y="1649963"/>
          <a:ext cx="7239000" cy="110410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Разобраться в том, как правильно подглядывать в А/Б тестах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Понять как проводить множественное тестирование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Попрактиковаться в А/Б тестах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44953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1769624751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Проводить численное тестирование гипотез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Повысить эффективность и обоснованность принимаемых решений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6094990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Как правильно подглядывать</a:t>
            </a:r>
          </a:p>
        </p:txBody>
      </p:sp>
    </p:spTree>
    <p:extLst>
      <p:ext uri="{BB962C8B-B14F-4D97-AF65-F5344CB8AC3E}">
        <p14:creationId xmlns:p14="http://schemas.microsoft.com/office/powerpoint/2010/main" val="2991339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638231-D78E-9046-971E-9007915E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Подглядывание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B8A55C-2515-284F-8A3C-403957199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1428750"/>
            <a:ext cx="4445000" cy="335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F52595-D263-294E-B32D-BC6928097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0" y="1454150"/>
            <a:ext cx="4445000" cy="332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840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638231-D78E-9046-971E-9007915E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Подглядывание</a:t>
            </a:r>
            <a:r>
              <a:rPr lang="en-US" dirty="0"/>
              <a:t> – </a:t>
            </a:r>
            <a:r>
              <a:rPr lang="ru-RU" dirty="0"/>
              <a:t>байесовский подход</a:t>
            </a:r>
            <a:endParaRPr lang="en-US" dirty="0"/>
          </a:p>
        </p:txBody>
      </p:sp>
      <p:pic>
        <p:nvPicPr>
          <p:cNvPr id="1026" name="Picture 2" descr="Рисунок 2. Апостериорные распределения конверсий в группе А и Б на 1 неделе (линии - стандартные отклонения)">
            <a:extLst>
              <a:ext uri="{FF2B5EF4-FFF2-40B4-BE49-F238E27FC236}">
                <a16:creationId xmlns:a16="http://schemas.microsoft.com/office/drawing/2014/main" id="{BABB5898-27E7-5544-8446-C4E8B80E1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887150"/>
            <a:ext cx="3452590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Рисунок 4. Апостериорные распределения конверсий в группе А и Б на 4 неделе (линии - стандартные отклонения)">
            <a:extLst>
              <a:ext uri="{FF2B5EF4-FFF2-40B4-BE49-F238E27FC236}">
                <a16:creationId xmlns:a16="http://schemas.microsoft.com/office/drawing/2014/main" id="{260F8E53-7A40-A14B-AD46-E09DA380C6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1887150"/>
            <a:ext cx="3456703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Notched Right Arrow 1">
            <a:extLst>
              <a:ext uri="{FF2B5EF4-FFF2-40B4-BE49-F238E27FC236}">
                <a16:creationId xmlns:a16="http://schemas.microsoft.com/office/drawing/2014/main" id="{2CB91A70-96BD-834C-B79F-C3D2A28F4A20}"/>
              </a:ext>
            </a:extLst>
          </p:cNvPr>
          <p:cNvSpPr/>
          <p:nvPr/>
        </p:nvSpPr>
        <p:spPr>
          <a:xfrm>
            <a:off x="4132691" y="2634834"/>
            <a:ext cx="978408" cy="484632"/>
          </a:xfrm>
          <a:prstGeom prst="notchedRightArrow">
            <a:avLst/>
          </a:prstGeom>
          <a:noFill/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5E19A-EECB-9749-81D5-8F7B5214E791}"/>
              </a:ext>
            </a:extLst>
          </p:cNvPr>
          <p:cNvSpPr txBox="1"/>
          <p:nvPr/>
        </p:nvSpPr>
        <p:spPr>
          <a:xfrm>
            <a:off x="762000" y="1953214"/>
            <a:ext cx="7232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неделя 1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65ADB-D285-8540-BD5A-E321618898C1}"/>
              </a:ext>
            </a:extLst>
          </p:cNvPr>
          <p:cNvSpPr txBox="1"/>
          <p:nvPr/>
        </p:nvSpPr>
        <p:spPr>
          <a:xfrm>
            <a:off x="5562600" y="1948755"/>
            <a:ext cx="7232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неделя 4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3F9A18-B682-474C-A8BC-9D38353A8B34}"/>
              </a:ext>
            </a:extLst>
          </p:cNvPr>
          <p:cNvSpPr txBox="1"/>
          <p:nvPr/>
        </p:nvSpPr>
        <p:spPr>
          <a:xfrm>
            <a:off x="457200" y="4812776"/>
            <a:ext cx="6400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hlinkClick r:id="rId4"/>
              </a:rPr>
              <a:t>https://habr.com/ru/companies/glowbyte/articles/732024/</a:t>
            </a:r>
            <a:r>
              <a:rPr lang="ru-RU" sz="1000" dirty="0"/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07359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Множественное тестирование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4063190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638231-D78E-9046-971E-9007915E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Поправка </a:t>
            </a:r>
            <a:r>
              <a:rPr lang="ru-RU" dirty="0" err="1"/>
              <a:t>Бонферрони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73D0A9A-8B3F-874E-AE79-6A9DDFF05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31" y="1425575"/>
            <a:ext cx="3711469" cy="1908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6B58F6B-D8E5-1C42-B6D4-903F8C0FE4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1328" y="1616076"/>
            <a:ext cx="3388493" cy="1527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1B6CE07-A0DB-9546-AB9B-D4E65E005603}"/>
                  </a:ext>
                </a:extLst>
              </p:cNvPr>
              <p:cNvSpPr txBox="1"/>
              <p:nvPr/>
            </p:nvSpPr>
            <p:spPr>
              <a:xfrm>
                <a:off x="2362200" y="3790950"/>
                <a:ext cx="1013034" cy="4614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1B6CE07-A0DB-9546-AB9B-D4E65E00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00" y="3790950"/>
                <a:ext cx="1013034" cy="4614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0BE48C-91A3-4B47-9548-9D0A29A44091}"/>
                  </a:ext>
                </a:extLst>
              </p:cNvPr>
              <p:cNvSpPr txBox="1"/>
              <p:nvPr/>
            </p:nvSpPr>
            <p:spPr>
              <a:xfrm>
                <a:off x="3429000" y="3837020"/>
                <a:ext cx="3735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количество сравниваемых групп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0BE48C-91A3-4B47-9548-9D0A29A44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3837020"/>
                <a:ext cx="3735125" cy="369332"/>
              </a:xfrm>
              <a:prstGeom prst="rect">
                <a:avLst/>
              </a:prstGeom>
              <a:blipFill>
                <a:blip r:embed="rId5"/>
                <a:stretch>
                  <a:fillRect t="-3226" r="-680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9834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Стратификация</a:t>
            </a:r>
          </a:p>
        </p:txBody>
      </p:sp>
    </p:spTree>
    <p:extLst>
      <p:ext uri="{BB962C8B-B14F-4D97-AF65-F5344CB8AC3E}">
        <p14:creationId xmlns:p14="http://schemas.microsoft.com/office/powerpoint/2010/main" val="3152197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638231-D78E-9046-971E-9007915E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Стратификация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1F081A-A1DB-DD4F-9F76-CAD13EC980FF}"/>
              </a:ext>
            </a:extLst>
          </p:cNvPr>
          <p:cNvSpPr txBox="1"/>
          <p:nvPr/>
        </p:nvSpPr>
        <p:spPr>
          <a:xfrm>
            <a:off x="500551" y="1276350"/>
            <a:ext cx="8520600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/>
              <a:t>У нас есть программа лояльности, в которой зарегистрированы не все пользователи нашего магазина. Поведение зарегистрированных пользователей может отличаться от поведения незарегистрированных. </a:t>
            </a:r>
            <a:br>
              <a:rPr lang="en-US" sz="1600" dirty="0"/>
            </a:br>
            <a:r>
              <a:rPr lang="ru-RU" sz="1600" dirty="0"/>
              <a:t>Информацию о регистрации в программе лояльности можно использовать для повышения чувствительности эксперимента.</a:t>
            </a: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b="1" dirty="0" err="1"/>
              <a:t>Ковариата</a:t>
            </a:r>
            <a:r>
              <a:rPr lang="ru-RU" sz="1600" dirty="0"/>
              <a:t> - метрика, которая коррелирует с целевой метрикой, может быть измерена до эксперимента (строго говоря, нет) и не зависит от других экспериментов. В нашем случае факт регистрации в программе лояльности до эксперимента будет </a:t>
            </a:r>
            <a:r>
              <a:rPr lang="ru-RU" sz="1600" dirty="0" err="1"/>
              <a:t>ковариатой</a:t>
            </a:r>
            <a:r>
              <a:rPr lang="ru-RU" sz="1600" dirty="0"/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b="1" dirty="0"/>
              <a:t>Популяция </a:t>
            </a:r>
            <a:r>
              <a:rPr lang="ru-RU" sz="1600" dirty="0"/>
              <a:t>- все пользователи, на которых мы можем повлиять нашим экспериментом. Пусть в нашей популяции будет 10 тысяч активных пользователей.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С помощью </a:t>
            </a:r>
            <a:r>
              <a:rPr lang="ru-RU" sz="1600" dirty="0" err="1"/>
              <a:t>ковариат</a:t>
            </a:r>
            <a:r>
              <a:rPr lang="ru-RU" sz="1600" dirty="0"/>
              <a:t> можно разделить популяцию на непересекающиеся подмножества, которые будут обладать уникальным набором значений </a:t>
            </a:r>
            <a:r>
              <a:rPr lang="ru-RU" sz="1600" dirty="0" err="1"/>
              <a:t>ковариат</a:t>
            </a:r>
            <a:r>
              <a:rPr lang="ru-RU" sz="1600" dirty="0"/>
              <a:t>. Такие подмножества будем называть </a:t>
            </a:r>
            <a:r>
              <a:rPr lang="ru-RU" sz="1600" b="1" dirty="0"/>
              <a:t>стратами</a:t>
            </a:r>
            <a:r>
              <a:rPr lang="ru-RU" sz="1600" dirty="0"/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09322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638231-D78E-9046-971E-9007915E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Стратификация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1F081A-A1DB-DD4F-9F76-CAD13EC980FF}"/>
              </a:ext>
            </a:extLst>
          </p:cNvPr>
          <p:cNvSpPr txBox="1"/>
          <p:nvPr/>
        </p:nvSpPr>
        <p:spPr>
          <a:xfrm>
            <a:off x="500550" y="1123950"/>
            <a:ext cx="852060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/>
              <a:t>В нашем примере будет две страты: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первая - кто не зарегистрирован в программе лояльности;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вторая - кто зарегистрирован в программе лояльности.</a:t>
            </a:r>
            <a:endParaRPr lang="en-US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F764DE-A5B6-6C42-AFF2-20C13E646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2108835"/>
            <a:ext cx="4316412" cy="287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2B6EE1-21A4-8A48-B0E7-0BC8DE5D7E9B}"/>
              </a:ext>
            </a:extLst>
          </p:cNvPr>
          <p:cNvSpPr txBox="1"/>
          <p:nvPr/>
        </p:nvSpPr>
        <p:spPr>
          <a:xfrm>
            <a:off x="5105400" y="2347013"/>
            <a:ext cx="354201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333333"/>
                </a:solidFill>
                <a:latin typeface="-apple-system"/>
              </a:rPr>
              <a:t>П</a:t>
            </a:r>
            <a:r>
              <a:rPr lang="ru-RU" sz="1600" b="0" i="0" u="none" strike="noStrike" dirty="0">
                <a:solidFill>
                  <a:srgbClr val="333333"/>
                </a:solidFill>
                <a:effectLst/>
                <a:latin typeface="-apple-system"/>
              </a:rPr>
              <a:t>ри случайном </a:t>
            </a:r>
            <a:r>
              <a:rPr lang="ru-RU" sz="1600" b="0" i="0" u="none" strike="noStrike" dirty="0" err="1">
                <a:solidFill>
                  <a:srgbClr val="333333"/>
                </a:solidFill>
                <a:effectLst/>
                <a:latin typeface="-apple-system"/>
              </a:rPr>
              <a:t>семплировании</a:t>
            </a:r>
            <a:r>
              <a:rPr lang="ru-RU" sz="1600" b="0" i="0" u="none" strike="noStrike" dirty="0">
                <a:solidFill>
                  <a:srgbClr val="333333"/>
                </a:solidFill>
                <a:effectLst/>
                <a:latin typeface="-apple-system"/>
              </a:rPr>
              <a:t> оценка вероятности ошибки первого рода равна 0.048, а при стратифицированном - 0.010.</a:t>
            </a:r>
          </a:p>
          <a:p>
            <a:endParaRPr lang="ru-RU" sz="1600" dirty="0">
              <a:solidFill>
                <a:srgbClr val="333333"/>
              </a:solidFill>
              <a:latin typeface="-apple-system"/>
            </a:endParaRPr>
          </a:p>
          <a:p>
            <a:r>
              <a:rPr lang="ru-RU" sz="1600" b="1" dirty="0">
                <a:solidFill>
                  <a:srgbClr val="333333"/>
                </a:solidFill>
                <a:latin typeface="-apple-system"/>
              </a:rPr>
              <a:t>Стратификация уменьшила ошибку первого рода в 4 раза!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88646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638231-D78E-9046-971E-9007915E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Стратификация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1F081A-A1DB-DD4F-9F76-CAD13EC980FF}"/>
              </a:ext>
            </a:extLst>
          </p:cNvPr>
          <p:cNvSpPr txBox="1"/>
          <p:nvPr/>
        </p:nvSpPr>
        <p:spPr>
          <a:xfrm>
            <a:off x="500550" y="1047750"/>
            <a:ext cx="8520600" cy="407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dirty="0"/>
              <a:t>При стратифицированном </a:t>
            </a:r>
            <a:r>
              <a:rPr lang="ru-RU" sz="1600" dirty="0" err="1"/>
              <a:t>семплировании</a:t>
            </a:r>
            <a:r>
              <a:rPr lang="ru-RU" sz="1600" dirty="0"/>
              <a:t> мы не только делаем распределение средних более узким, но и снижаем дисперсию, зафиксировав количество страт в каждой группе. </a:t>
            </a:r>
          </a:p>
          <a:p>
            <a:pPr>
              <a:spcAft>
                <a:spcPts val="600"/>
              </a:spcAft>
            </a:pPr>
            <a:r>
              <a:rPr lang="ru-RU" sz="1600" dirty="0"/>
              <a:t>Тест Стьюдента не знает о том, что мы </a:t>
            </a:r>
            <a:r>
              <a:rPr lang="ru-RU" sz="1600" dirty="0" err="1"/>
              <a:t>семплируем</a:t>
            </a:r>
            <a:r>
              <a:rPr lang="ru-RU" sz="1600" dirty="0"/>
              <a:t> данные не случайно, поэтому при подсчёте статистики используется завышенная оценка дисперсии.</a:t>
            </a:r>
          </a:p>
          <a:p>
            <a:pPr>
              <a:spcAft>
                <a:spcPts val="600"/>
              </a:spcAft>
            </a:pPr>
            <a:endParaRPr lang="ru-RU" sz="1600" dirty="0"/>
          </a:p>
          <a:p>
            <a:pPr>
              <a:spcAft>
                <a:spcPts val="600"/>
              </a:spcAft>
            </a:pPr>
            <a:r>
              <a:rPr lang="ru-RU" sz="1600" dirty="0"/>
              <a:t>При вычислении </a:t>
            </a:r>
            <a:r>
              <a:rPr lang="ru-RU" sz="1600" b="1" i="1" dirty="0"/>
              <a:t>обычного среднего </a:t>
            </a:r>
            <a:r>
              <a:rPr lang="ru-RU" sz="1600" dirty="0"/>
              <a:t>мы делим суммарную выручку на общее количество пользователей. </a:t>
            </a:r>
          </a:p>
          <a:p>
            <a:pPr>
              <a:spcAft>
                <a:spcPts val="600"/>
              </a:spcAft>
            </a:pPr>
            <a:r>
              <a:rPr lang="ru-RU" sz="1600" dirty="0"/>
              <a:t>При вычислении </a:t>
            </a:r>
            <a:r>
              <a:rPr lang="ru-RU" sz="1600" b="1" i="1" dirty="0"/>
              <a:t>стратифицированного среднего </a:t>
            </a:r>
            <a:r>
              <a:rPr lang="ru-RU" sz="1600" dirty="0"/>
              <a:t>мы считаем обычное среднее для каждой страты по отдельности, а затем вычисляем их взвешенную сумму, где вес страты - доля страты в популяции.</a:t>
            </a:r>
          </a:p>
          <a:p>
            <a:pPr>
              <a:spcAft>
                <a:spcPts val="600"/>
              </a:spcAft>
            </a:pPr>
            <a:endParaRPr lang="ru-RU" sz="1600" dirty="0"/>
          </a:p>
          <a:p>
            <a:pPr>
              <a:spcAft>
                <a:spcPts val="600"/>
              </a:spcAft>
            </a:pPr>
            <a:r>
              <a:rPr lang="ru-RU" sz="1600" dirty="0"/>
              <a:t>Применение стратификации позволяет уменьшить размер выборки, при сохранении уровня значимости на прежнем уровне.</a:t>
            </a:r>
          </a:p>
          <a:p>
            <a:pPr>
              <a:spcAft>
                <a:spcPts val="600"/>
              </a:spcAft>
            </a:pPr>
            <a:r>
              <a:rPr lang="en-US" sz="1100" dirty="0">
                <a:hlinkClick r:id="rId2"/>
              </a:rPr>
              <a:t>https://habr.com/ru/companies/X5Tech/articles/596279/</a:t>
            </a:r>
            <a:r>
              <a:rPr lang="ru-RU" sz="1100" dirty="0"/>
              <a:t> 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272809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en-US" dirty="0"/>
              <a:t>CUPED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0989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638231-D78E-9046-971E-9007915E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CUPED </a:t>
            </a:r>
            <a:br>
              <a:rPr lang="en-US" dirty="0"/>
            </a:br>
            <a:r>
              <a:rPr lang="en-US" sz="2800" dirty="0"/>
              <a:t>(Controlled-experiment Using Pre-Experiment Data)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6DB7947-240C-3E46-A0BF-B78927B380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9" r="8331"/>
          <a:stretch/>
        </p:blipFill>
        <p:spPr bwMode="auto">
          <a:xfrm>
            <a:off x="228600" y="2267364"/>
            <a:ext cx="3960077" cy="285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607C1D-4AA5-E148-A454-77A31BB6E1FC}"/>
              </a:ext>
            </a:extLst>
          </p:cNvPr>
          <p:cNvSpPr txBox="1"/>
          <p:nvPr/>
        </p:nvSpPr>
        <p:spPr>
          <a:xfrm>
            <a:off x="383322" y="1547509"/>
            <a:ext cx="396007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50" b="1" dirty="0"/>
              <a:t>Среднее значение </a:t>
            </a:r>
            <a:r>
              <a:rPr lang="ru-RU" sz="1050" dirty="0"/>
              <a:t>суммарной выручки с пользователя в экспериментальной группе больше на 40 рублей. </a:t>
            </a:r>
          </a:p>
          <a:p>
            <a:r>
              <a:rPr lang="ru-RU" sz="1050" b="1" dirty="0"/>
              <a:t>Статистически значимых отличий нет</a:t>
            </a:r>
            <a:r>
              <a:rPr lang="ru-RU" sz="1050" dirty="0"/>
              <a:t>, </a:t>
            </a:r>
            <a:r>
              <a:rPr lang="en-US" sz="1050" dirty="0"/>
              <a:t>p-value </a:t>
            </a:r>
            <a:r>
              <a:rPr lang="ru-RU" sz="1050" dirty="0"/>
              <a:t>равно 0.87.</a:t>
            </a:r>
            <a:endParaRPr lang="en-US" sz="1050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3DD2534-3AA3-B048-A63E-95BEBEBF51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9" r="8331"/>
          <a:stretch/>
        </p:blipFill>
        <p:spPr bwMode="auto">
          <a:xfrm>
            <a:off x="5061073" y="2257343"/>
            <a:ext cx="3960077" cy="2859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8549FE-557E-7F44-B97A-3059E4897F94}"/>
              </a:ext>
            </a:extLst>
          </p:cNvPr>
          <p:cNvSpPr txBox="1"/>
          <p:nvPr/>
        </p:nvSpPr>
        <p:spPr>
          <a:xfrm>
            <a:off x="5183923" y="1547509"/>
            <a:ext cx="396007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50" b="1" dirty="0"/>
              <a:t>Приращение</a:t>
            </a:r>
            <a:r>
              <a:rPr lang="ru-RU" sz="1050" dirty="0"/>
              <a:t> суммарной выручки с пользователя в экспериментальной группе в среднем больше на 30 рублей. </a:t>
            </a:r>
          </a:p>
          <a:p>
            <a:r>
              <a:rPr lang="ru-RU" sz="1050" b="1" dirty="0"/>
              <a:t>Статистически значимые отличия</a:t>
            </a:r>
            <a:r>
              <a:rPr lang="ru-RU" sz="1050" dirty="0"/>
              <a:t>, </a:t>
            </a:r>
            <a:r>
              <a:rPr lang="en-US" sz="1050" dirty="0"/>
              <a:t>p-value </a:t>
            </a:r>
            <a:r>
              <a:rPr lang="ru-RU" sz="1050" dirty="0"/>
              <a:t>равно 0.007.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143076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4450" y="2030821"/>
            <a:ext cx="7733750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spc="-5" dirty="0">
                <a:solidFill>
                  <a:srgbClr val="FFFFFF"/>
                </a:solidFill>
              </a:rPr>
              <a:t>Вопросы?</a:t>
            </a:r>
            <a:endParaRPr sz="4900" dirty="0"/>
          </a:p>
        </p:txBody>
      </p:sp>
      <p:grpSp>
        <p:nvGrpSpPr>
          <p:cNvPr id="3" name="object 3"/>
          <p:cNvGrpSpPr/>
          <p:nvPr/>
        </p:nvGrpSpPr>
        <p:grpSpPr>
          <a:xfrm>
            <a:off x="719975" y="3370764"/>
            <a:ext cx="4045585" cy="662940"/>
            <a:chOff x="719975" y="3370764"/>
            <a:chExt cx="4045585" cy="6629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9975" y="3370764"/>
              <a:ext cx="662534" cy="66253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02950" y="3370764"/>
              <a:ext cx="662534" cy="662534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511050" y="3444186"/>
            <a:ext cx="1724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5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“+”,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вопросы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есть</a:t>
            </a:r>
            <a:endParaRPr sz="1500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9725" y="3444186"/>
            <a:ext cx="169989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4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40" dirty="0">
                <a:solidFill>
                  <a:srgbClr val="FFFFFF"/>
                </a:solidFill>
                <a:latin typeface="Roboto"/>
                <a:cs typeface="Roboto"/>
              </a:rPr>
              <a:t>“–”,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5" dirty="0">
                <a:solidFill>
                  <a:srgbClr val="FFFFFF"/>
                </a:solidFill>
                <a:latin typeface="Roboto"/>
                <a:cs typeface="Roboto"/>
              </a:rPr>
              <a:t>вопросов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нет</a:t>
            </a:r>
            <a:endParaRPr sz="1500">
              <a:latin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56403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Практика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Практика</a:t>
            </a:r>
            <a:endParaRPr dirty="0"/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0558428"/>
              </p:ext>
            </p:extLst>
          </p:nvPr>
        </p:nvGraphicFramePr>
        <p:xfrm>
          <a:off x="846750" y="1649963"/>
          <a:ext cx="7239000" cy="110410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Построим байесовский А/Б тест 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Проверим А/Б тест в случае с несколькими группами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Поработаем с разбиением выборки и проверим </a:t>
                      </a:r>
                      <a:r>
                        <a:rPr lang="en-US" sz="1400" dirty="0">
                          <a:sym typeface="Roboto"/>
                        </a:rPr>
                        <a:t>CUPED </a:t>
                      </a:r>
                      <a:r>
                        <a:rPr lang="ru-RU" sz="1400" dirty="0">
                          <a:sym typeface="Roboto"/>
                        </a:rPr>
                        <a:t>метод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4495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696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4450" y="2030821"/>
            <a:ext cx="5066750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spc="-5" dirty="0">
                <a:solidFill>
                  <a:srgbClr val="FFFFFF"/>
                </a:solidFill>
              </a:rPr>
              <a:t>Вопросы?</a:t>
            </a:r>
            <a:endParaRPr sz="4900" dirty="0"/>
          </a:p>
        </p:txBody>
      </p:sp>
      <p:grpSp>
        <p:nvGrpSpPr>
          <p:cNvPr id="3" name="object 3"/>
          <p:cNvGrpSpPr/>
          <p:nvPr/>
        </p:nvGrpSpPr>
        <p:grpSpPr>
          <a:xfrm>
            <a:off x="719975" y="3370764"/>
            <a:ext cx="4045585" cy="662940"/>
            <a:chOff x="719975" y="3370764"/>
            <a:chExt cx="4045585" cy="6629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9975" y="3370764"/>
              <a:ext cx="662534" cy="66253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02950" y="3370764"/>
              <a:ext cx="662534" cy="662534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511050" y="3444186"/>
            <a:ext cx="1724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5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“+”,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вопросы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есть</a:t>
            </a:r>
            <a:endParaRPr sz="1500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9725" y="3444186"/>
            <a:ext cx="169989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4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40" dirty="0">
                <a:solidFill>
                  <a:srgbClr val="FFFFFF"/>
                </a:solidFill>
                <a:latin typeface="Roboto"/>
                <a:cs typeface="Roboto"/>
              </a:rPr>
              <a:t>“–”,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5" dirty="0">
                <a:solidFill>
                  <a:srgbClr val="FFFFFF"/>
                </a:solidFill>
                <a:latin typeface="Roboto"/>
                <a:cs typeface="Roboto"/>
              </a:rPr>
              <a:t>вопросов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нет</a:t>
            </a:r>
            <a:endParaRPr sz="1500">
              <a:latin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7757382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381000" y="895350"/>
            <a:ext cx="8610600" cy="39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endParaRPr lang="en-US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3"/>
              </a:rPr>
              <a:t>Стратификация. Как разбиение выборки повышает чувствительность </a:t>
            </a:r>
            <a:r>
              <a:rPr lang="en-US" dirty="0">
                <a:hlinkClick r:id="rId3"/>
              </a:rPr>
              <a:t>A/B </a:t>
            </a:r>
            <a:r>
              <a:rPr lang="ru-RU" dirty="0">
                <a:hlinkClick r:id="rId3"/>
              </a:rPr>
              <a:t>теста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4"/>
              </a:rPr>
              <a:t>А/Б тестирование с </a:t>
            </a:r>
            <a:r>
              <a:rPr lang="en-US" dirty="0">
                <a:hlinkClick r:id="rId4"/>
              </a:rPr>
              <a:t>CUPED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5"/>
              </a:rPr>
              <a:t>Проверка корректности А/Б тестов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6"/>
              </a:rPr>
              <a:t>Определяем оптимальный размер групп при множественном А/Б тестировании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en-US" dirty="0">
                <a:hlinkClick r:id="rId7"/>
              </a:rPr>
              <a:t>ML-</a:t>
            </a:r>
            <a:r>
              <a:rPr lang="ru-RU" dirty="0">
                <a:hlinkClick r:id="rId7"/>
              </a:rPr>
              <a:t>критерии для </a:t>
            </a:r>
            <a:r>
              <a:rPr lang="en-US" dirty="0">
                <a:hlinkClick r:id="rId7"/>
              </a:rPr>
              <a:t>A/B-</a:t>
            </a:r>
            <a:r>
              <a:rPr lang="ru-RU" dirty="0">
                <a:hlinkClick r:id="rId7"/>
              </a:rPr>
              <a:t>тестов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8"/>
              </a:rPr>
              <a:t>Шесть причин, почему ваши </a:t>
            </a:r>
            <a:r>
              <a:rPr lang="en-GB" dirty="0">
                <a:hlinkClick r:id="rId8"/>
              </a:rPr>
              <a:t>A/B-</a:t>
            </a:r>
            <a:r>
              <a:rPr lang="ru-RU" dirty="0">
                <a:hlinkClick r:id="rId8"/>
              </a:rPr>
              <a:t>тесты не работают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9"/>
              </a:rPr>
              <a:t>Множественные эксперименты: теория и практика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10"/>
              </a:rPr>
              <a:t>Подглядывание в </a:t>
            </a:r>
            <a:r>
              <a:rPr lang="en-GB" dirty="0">
                <a:hlinkClick r:id="rId10"/>
              </a:rPr>
              <a:t>A/B </a:t>
            </a:r>
            <a:r>
              <a:rPr lang="ru-RU" dirty="0">
                <a:hlinkClick r:id="rId10"/>
              </a:rPr>
              <a:t>тестах: как не потерять достоверность данных</a:t>
            </a:r>
            <a:endParaRPr lang="ru-RU" dirty="0"/>
          </a:p>
          <a:p>
            <a:pPr marL="457200" indent="-311150" algn="l" rtl="0">
              <a:lnSpc>
                <a:spcPct val="100000"/>
              </a:lnSpc>
              <a:spcAft>
                <a:spcPts val="1200"/>
              </a:spcAft>
              <a:buSzPct val="100000"/>
              <a:buAutoNum type="arabicPeriod"/>
            </a:pPr>
            <a:r>
              <a:rPr lang="ru-RU" dirty="0">
                <a:hlinkClick r:id="rId11"/>
              </a:rPr>
              <a:t>Байесовский подход к АБ тестированию</a:t>
            </a:r>
            <a:endParaRPr lang="en-GB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Рефлексия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73725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7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Рефлексия</a:t>
            </a:r>
            <a:endParaRPr dirty="0"/>
          </a:p>
        </p:txBody>
      </p:sp>
      <p:pic>
        <p:nvPicPr>
          <p:cNvPr id="486" name="Google Shape;486;p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75"/>
          <p:cNvSpPr txBox="1"/>
          <p:nvPr/>
        </p:nvSpPr>
        <p:spPr>
          <a:xfrm>
            <a:off x="1700240" y="2364004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75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89" name="Google Shape;489;p7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76"/>
          <p:cNvSpPr txBox="1">
            <a:spLocks noGrp="1"/>
          </p:cNvSpPr>
          <p:nvPr>
            <p:ph type="title"/>
          </p:nvPr>
        </p:nvSpPr>
        <p:spPr>
          <a:xfrm>
            <a:off x="956224" y="396394"/>
            <a:ext cx="7730575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 dirty="0"/>
              <a:t>Заполните, пожалуйста,</a:t>
            </a:r>
            <a:endParaRPr sz="3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 dirty="0"/>
              <a:t>опрос о занятии</a:t>
            </a:r>
            <a:endParaRPr sz="3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 dirty="0"/>
              <a:t>по ссылке в чате</a:t>
            </a:r>
            <a:endParaRPr sz="3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2" name="Google Shape;499;p77">
            <a:extLst>
              <a:ext uri="{FF2B5EF4-FFF2-40B4-BE49-F238E27FC236}">
                <a16:creationId xmlns:a16="http://schemas.microsoft.com/office/drawing/2014/main" id="{582ECAAA-AF1D-254F-9EEA-3E6087D018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Aft>
                <a:spcPts val="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br>
              <a:rPr lang="ru-RU" dirty="0"/>
            </a:br>
            <a:r>
              <a:rPr lang="ru-RU" sz="1600" dirty="0">
                <a:latin typeface="+mj-lt"/>
              </a:rPr>
              <a:t>Что там дальше?</a:t>
            </a:r>
            <a:endParaRPr dirty="0">
              <a:latin typeface="+mj-lt"/>
            </a:endParaRPr>
          </a:p>
        </p:txBody>
      </p:sp>
      <p:sp>
        <p:nvSpPr>
          <p:cNvPr id="13" name="Google Shape;500;p77">
            <a:extLst>
              <a:ext uri="{FF2B5EF4-FFF2-40B4-BE49-F238E27FC236}">
                <a16:creationId xmlns:a16="http://schemas.microsoft.com/office/drawing/2014/main" id="{E0455609-6D75-8B47-AD05-D96CCF37EC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1303AF-03ED-4942-AD0B-371ABDC3B8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8D886C75-73B3-DA47-ACA9-200B068BFBF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endParaRPr lang="ru-RU" sz="1150" b="1" kern="0" dirty="0"/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  <p:extLst>
      <p:ext uri="{BB962C8B-B14F-4D97-AF65-F5344CB8AC3E}">
        <p14:creationId xmlns:p14="http://schemas.microsoft.com/office/powerpoint/2010/main" val="706987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11203</TotalTime>
  <Words>897</Words>
  <Application>Microsoft Macintosh PowerPoint</Application>
  <PresentationFormat>On-screen Show (16:9)</PresentationFormat>
  <Paragraphs>167</Paragraphs>
  <Slides>28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-apple-system</vt:lpstr>
      <vt:lpstr>Arial</vt:lpstr>
      <vt:lpstr>Calibri</vt:lpstr>
      <vt:lpstr>Cambria Math</vt:lpstr>
      <vt:lpstr>roboto</vt:lpstr>
      <vt:lpstr>roboto</vt:lpstr>
      <vt:lpstr>Office Theme</vt:lpstr>
      <vt:lpstr>Python для Аналитики А/Б тесты</vt:lpstr>
      <vt:lpstr>Проверить, идет ли запись</vt:lpstr>
      <vt:lpstr>Python для аналитики А/Б тесты</vt:lpstr>
      <vt:lpstr>Правила вебинара</vt:lpstr>
      <vt:lpstr>Карта курса</vt:lpstr>
      <vt:lpstr>Маршрут вебинара</vt:lpstr>
      <vt:lpstr>Цели вебинара</vt:lpstr>
      <vt:lpstr>Смысл</vt:lpstr>
      <vt:lpstr>Как правильно подглядывать</vt:lpstr>
      <vt:lpstr>Подглядывание</vt:lpstr>
      <vt:lpstr>Подглядывание – байесовский подход</vt:lpstr>
      <vt:lpstr>Множественное тестирование</vt:lpstr>
      <vt:lpstr>Поправка Бонферрони</vt:lpstr>
      <vt:lpstr>Стратификация</vt:lpstr>
      <vt:lpstr>Стратификация</vt:lpstr>
      <vt:lpstr>Стратификация</vt:lpstr>
      <vt:lpstr>Стратификация</vt:lpstr>
      <vt:lpstr>CUPED</vt:lpstr>
      <vt:lpstr>CUPED  (Controlled-experiment Using Pre-Experiment Data)</vt:lpstr>
      <vt:lpstr>Вопросы?</vt:lpstr>
      <vt:lpstr>Практика</vt:lpstr>
      <vt:lpstr>Практика</vt:lpstr>
      <vt:lpstr>Вопросы?</vt:lpstr>
      <vt:lpstr>Список материалов для изучения</vt:lpstr>
      <vt:lpstr>Рефлексия</vt:lpstr>
      <vt:lpstr>Рефлексия</vt:lpstr>
      <vt:lpstr>Заполните, пожалуйста, опрос о занятии по ссылке в чате</vt:lpstr>
      <vt:lpstr>Приходите на следующие вебинары Что там дальше?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Копия 1.2 Практическое занятие - Оптимизация кода, parallelization, multiprocessing, ускорение pandas, Modin для Pandas</dc:title>
  <cp:lastModifiedBy>Стурейко Игорь Олегович</cp:lastModifiedBy>
  <cp:revision>116</cp:revision>
  <dcterms:created xsi:type="dcterms:W3CDTF">2023-10-10T14:19:39Z</dcterms:created>
  <dcterms:modified xsi:type="dcterms:W3CDTF">2024-11-02T14:08:39Z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</Properties>
</file>