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394" r:id="rId11"/>
    <p:sldId id="485" r:id="rId12"/>
    <p:sldId id="486" r:id="rId13"/>
    <p:sldId id="487" r:id="rId14"/>
    <p:sldId id="488" r:id="rId15"/>
    <p:sldId id="435" r:id="rId16"/>
    <p:sldId id="436" r:id="rId17"/>
    <p:sldId id="437" r:id="rId18"/>
    <p:sldId id="438" r:id="rId19"/>
    <p:sldId id="439" r:id="rId20"/>
    <p:sldId id="434" r:id="rId21"/>
    <p:sldId id="440" r:id="rId22"/>
    <p:sldId id="441" r:id="rId23"/>
    <p:sldId id="442" r:id="rId24"/>
    <p:sldId id="444" r:id="rId25"/>
    <p:sldId id="443" r:id="rId26"/>
    <p:sldId id="445" r:id="rId27"/>
    <p:sldId id="446" r:id="rId28"/>
    <p:sldId id="447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391" r:id="rId39"/>
    <p:sldId id="300" r:id="rId40"/>
    <p:sldId id="484" r:id="rId41"/>
    <p:sldId id="364" r:id="rId42"/>
    <p:sldId id="281" r:id="rId43"/>
    <p:sldId id="377" r:id="rId44"/>
    <p:sldId id="301" r:id="rId45"/>
    <p:sldId id="302" r:id="rId46"/>
    <p:sldId id="335" r:id="rId47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3"/>
    <p:restoredTop sz="94719"/>
  </p:normalViewPr>
  <p:slideViewPr>
    <p:cSldViewPr>
      <p:cViewPr varScale="1">
        <p:scale>
          <a:sx n="196" d="100"/>
          <a:sy n="196" d="100"/>
        </p:scale>
        <p:origin x="76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22.01.2025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75BB5-C319-4CC0-9F8F-8FE78AD357C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63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9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TIPUK282HmSyCFY0uyHlJYZFPeDGNFX/view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rive.google.com/file/d/17U-kzxMYN0vY9G8TyfgP6FvtDvYWWQ17/view?usp=sharing" TargetMode="External"/><Relationship Id="rId5" Type="http://schemas.openxmlformats.org/officeDocument/2006/relationships/hyperlink" Target="https://drive.google.com/file/d/15GBezm_7-4f75CEaE9ziv_-Gp6bp6a-7/view?usp=sharing" TargetMode="External"/><Relationship Id="rId4" Type="http://schemas.openxmlformats.org/officeDocument/2006/relationships/hyperlink" Target="https://drive.google.com/file/d/19bDez1HirjBfFkVHljhTlDHnvdOMimT-/view?usp=sharing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Исследование зависимостей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Исследование зависимостей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Введение в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Библиотеки по работе с данными </a:t>
            </a:r>
            <a:r>
              <a:rPr lang="ru-RU" sz="1600">
                <a:solidFill>
                  <a:schemeClr val="tx1">
                    <a:lumMod val="50000"/>
                    <a:lumOff val="50000"/>
                  </a:schemeClr>
                </a:solidFill>
              </a:rPr>
              <a:t>и визуализациями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Работа с базами данных, </a:t>
            </a:r>
          </a:p>
          <a:p>
            <a:pPr algn="ctr"/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парсинг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данных с сайтов, взаимодействие с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16200000" flipV="1">
            <a:off x="4132441" y="178569"/>
            <a:ext cx="786475" cy="41988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rot="10800000" flipV="1">
            <a:off x="3732655" y="3011457"/>
            <a:ext cx="1312902" cy="1823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702838" y="2689464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18" idx="1"/>
            <a:endCxn id="32" idx="1"/>
          </p:cNvCxnSpPr>
          <p:nvPr/>
        </p:nvCxnSpPr>
        <p:spPr>
          <a:xfrm rot="10800000" flipV="1">
            <a:off x="702838" y="3029697"/>
            <a:ext cx="1" cy="1101486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бывают переменные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466123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Численные, категориальные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161732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Непрерывные и дискретные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4"/>
            <a:ext cx="12700" cy="69560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654222"/>
            <a:ext cx="12700" cy="69560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857341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Проверка на нормальность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349831"/>
            <a:ext cx="12700" cy="69560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770514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Зависимые и независимые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1958613"/>
            <a:ext cx="1" cy="695609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6" y="4552950"/>
            <a:ext cx="4212762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Статистические критерии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7" y="4045441"/>
            <a:ext cx="3" cy="695610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26" name="Picture 2" descr="AP Statistics">
            <a:extLst>
              <a:ext uri="{FF2B5EF4-FFF2-40B4-BE49-F238E27FC236}">
                <a16:creationId xmlns:a16="http://schemas.microsoft.com/office/drawing/2014/main" id="{27B313B1-5444-244A-B12B-FC878767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405" y="1074905"/>
            <a:ext cx="4068595" cy="406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403514"/>
              </p:ext>
            </p:extLst>
          </p:nvPr>
        </p:nvGraphicFramePr>
        <p:xfrm>
          <a:off x="846750" y="1649963"/>
          <a:ext cx="7239000" cy="1104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какие бывают переменные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провести проверку на нормальность распределения переменной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Исследовать две независимые переменные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4232393632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как ЦПТ помогает оценивать распределение переменных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Перейти к проверке гипотез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75125-ADF7-0C47-9057-5E582839A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73331"/>
            <a:ext cx="8077200" cy="383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Номинальные данные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AD919-34C1-1542-B5E7-D4A50A9A3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9" y="1123950"/>
            <a:ext cx="8553901" cy="368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01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Порядковые данные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90624-E62E-5A43-840A-44EC0A5B9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0" y="1047750"/>
            <a:ext cx="8077200" cy="359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49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Интервальные данные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81A1A-B345-1342-B414-A374F0B91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00150"/>
            <a:ext cx="8229600" cy="339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Нормативные данные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D4D93-F86E-094E-B054-81142633A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50" y="1191118"/>
            <a:ext cx="7696200" cy="360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17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dirty="0"/>
                  <a:t>Если вероятность пересечения событий равна произведению вероятностей – события независимы.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b="1" dirty="0"/>
                  <a:t>Например: </a:t>
                </a:r>
                <a:r>
                  <a:rPr lang="ru-RU" dirty="0"/>
                  <a:t>бросаем монету. Тогда вероятность того что два раза выпадет орел:</a:t>
                </a:r>
              </a:p>
              <a:p>
                <a:pPr marL="13335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орел, орел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17409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F1868-70C3-E744-ACF0-A203D14C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ru-RU" b="1" dirty="0"/>
              <a:t>Внимание вопрос: </a:t>
            </a:r>
            <a:r>
              <a:rPr lang="ru-RU" dirty="0"/>
              <a:t>бросаем монету. Два раза выпал орел. Какова вероятность того, что в третий раз выпадет орел?</a:t>
            </a:r>
          </a:p>
          <a:p>
            <a:pPr marL="133350" indent="0">
              <a:buNone/>
            </a:pPr>
            <a:endParaRPr lang="ru-RU" b="0" i="1" dirty="0">
              <a:latin typeface="Cambria Math" panose="020405030504060302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51569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b="1" dirty="0"/>
                  <a:t>Внимание вопрос: </a:t>
                </a:r>
                <a:r>
                  <a:rPr lang="ru-RU" dirty="0"/>
                  <a:t>бросаем монету. Два раза выпал орел. Какова вероятность того, что в третий раз выпадет орел?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dirty="0"/>
                  <a:t>Вероятность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1" dirty="0"/>
                  <a:t> События независимы!</a:t>
                </a:r>
              </a:p>
              <a:p>
                <a:pPr marL="13335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91416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F1868-70C3-E744-ACF0-A203D14C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ru-RU" b="1" dirty="0"/>
              <a:t>Внимание вопрос: </a:t>
            </a:r>
            <a:r>
              <a:rPr lang="ru-RU" dirty="0"/>
              <a:t>бросаем три монеты. Какова вероятность того, что на всех трех выпадет орел?</a:t>
            </a:r>
          </a:p>
          <a:p>
            <a:pPr marL="133350" indent="0">
              <a:buNone/>
            </a:pP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40559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b="1" dirty="0"/>
                  <a:t>Внимание вопрос: </a:t>
                </a:r>
                <a:r>
                  <a:rPr lang="ru-RU" dirty="0"/>
                  <a:t>бросаем три монеты. Какова вероятность того, что на всех трех выпадет орел?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dirty="0"/>
                  <a:t>Вероятность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ru-RU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1" dirty="0"/>
                  <a:t> События независимы!</a:t>
                </a:r>
              </a:p>
              <a:p>
                <a:pPr marL="13335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73576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28750" y="2173997"/>
          <a:ext cx="7664200" cy="1112520"/>
        </p:xfrm>
        <a:graphic>
          <a:graphicData uri="http://schemas.openxmlformats.org/drawingml/2006/table">
            <a:tbl>
              <a:tblPr firstRow="1" bandRow="1"/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374843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60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28750" y="2173997"/>
          <a:ext cx="7664200" cy="1112520"/>
        </p:xfrm>
        <a:graphic>
          <a:graphicData uri="http://schemas.openxmlformats.org/drawingml/2006/table">
            <a:tbl>
              <a:tblPr firstRow="1" bandRow="1"/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374843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12BEE-8F4D-D744-B01D-6F4C03B4DBD2}"/>
              </a:ext>
            </a:extLst>
          </p:cNvPr>
          <p:cNvSpPr txBox="1"/>
          <p:nvPr/>
        </p:nvSpPr>
        <p:spPr>
          <a:xfrm>
            <a:off x="985737" y="3774332"/>
            <a:ext cx="760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Нам нужно ответить на вопрос, являются ли значения в каждой их ячеек таблицы независимыми величинами.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2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57243" y="1356602"/>
          <a:ext cx="7664200" cy="1112520"/>
        </p:xfrm>
        <a:graphic>
          <a:graphicData uri="http://schemas.openxmlformats.org/drawingml/2006/table">
            <a:tbl>
              <a:tblPr firstRow="1" bandRow="1"/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050588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B12BEE-8F4D-D744-B01D-6F4C03B4DBD2}"/>
                  </a:ext>
                </a:extLst>
              </p:cNvPr>
              <p:cNvSpPr txBox="1"/>
              <p:nvPr/>
            </p:nvSpPr>
            <p:spPr>
              <a:xfrm>
                <a:off x="957243" y="2571750"/>
                <a:ext cx="7607213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Нам нужно ответить на вопрос, являются ли значения в каждой их ячеек таблицы независимыми величинами.</a:t>
                </a:r>
              </a:p>
              <a:p>
                <a:endParaRPr lang="ru-RU" dirty="0"/>
              </a:p>
              <a:p>
                <a:r>
                  <a:rPr lang="ru-RU" dirty="0" err="1"/>
                  <a:t>Т.е</a:t>
                </a:r>
                <a:r>
                  <a:rPr lang="ru-RU" dirty="0"/>
                  <a:t> нам нужно доказать (например для одного случая), что вероятность того, что человек носит аналоговые часы и ему меньше 30 лет является произведением этих двух вероятностей:</a:t>
                </a:r>
                <a:endParaRPr lang="en-US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𝑤𝑎𝑡𝑐h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∩ &lt;30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(&lt;30)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B12BEE-8F4D-D744-B01D-6F4C03B4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43" y="2571750"/>
                <a:ext cx="7607213" cy="1815882"/>
              </a:xfrm>
              <a:prstGeom prst="rect">
                <a:avLst/>
              </a:prstGeom>
              <a:blipFill>
                <a:blip r:embed="rId2"/>
                <a:stretch>
                  <a:fillRect l="-333" t="-694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352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645613"/>
              </p:ext>
            </p:extLst>
          </p:nvPr>
        </p:nvGraphicFramePr>
        <p:xfrm>
          <a:off x="928750" y="1733550"/>
          <a:ext cx="7664200" cy="1752600"/>
        </p:xfrm>
        <a:graphic>
          <a:graphicData uri="http://schemas.openxmlformats.org/drawingml/2006/table">
            <a:tbl>
              <a:tblPr firstRow="1" bandRow="1"/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64437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42131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36584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3028544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5342E-A790-DD40-8469-CEF1083BB24C}"/>
                  </a:ext>
                </a:extLst>
              </p:cNvPr>
              <p:cNvSpPr txBox="1"/>
              <p:nvPr/>
            </p:nvSpPr>
            <p:spPr>
              <a:xfrm>
                <a:off x="2464340" y="3716788"/>
                <a:ext cx="3456651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𝑤𝑎𝑡𝑐h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129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&lt;30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129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5342E-A790-DD40-8469-CEF1083BB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40" y="3716788"/>
                <a:ext cx="3456651" cy="497059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700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89197"/>
              </p:ext>
            </p:extLst>
          </p:nvPr>
        </p:nvGraphicFramePr>
        <p:xfrm>
          <a:off x="928750" y="1817045"/>
          <a:ext cx="7664200" cy="1752600"/>
        </p:xfrm>
        <a:graphic>
          <a:graphicData uri="http://schemas.openxmlformats.org/drawingml/2006/table">
            <a:tbl>
              <a:tblPr firstRow="1" bandRow="1"/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64437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42131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44204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3105150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85342E-A790-DD40-8469-CEF1083BB24C}"/>
              </a:ext>
            </a:extLst>
          </p:cNvPr>
          <p:cNvSpPr txBox="1"/>
          <p:nvPr/>
        </p:nvSpPr>
        <p:spPr>
          <a:xfrm>
            <a:off x="824394" y="3747693"/>
            <a:ext cx="776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Вычислим вероятности носить аналоговые часы и вероятность быть моложе 30 лет из нашей выборки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1DE25-2249-AB49-BBFC-5D4E00CFD063}"/>
              </a:ext>
            </a:extLst>
          </p:cNvPr>
          <p:cNvSpPr txBox="1"/>
          <p:nvPr/>
        </p:nvSpPr>
        <p:spPr>
          <a:xfrm>
            <a:off x="6308350" y="1496864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Наблюдаемые величины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44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788890"/>
              </p:ext>
            </p:extLst>
          </p:nvPr>
        </p:nvGraphicFramePr>
        <p:xfrm>
          <a:off x="928750" y="1657350"/>
          <a:ext cx="7664200" cy="1752600"/>
        </p:xfrm>
        <a:graphic>
          <a:graphicData uri="http://schemas.openxmlformats.org/drawingml/2006/table">
            <a:tbl>
              <a:tblPr firstRow="1" bandRow="1"/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64437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42131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28964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2952750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556FC0-48A1-BA4C-929A-101A1DBC2B0C}"/>
              </a:ext>
            </a:extLst>
          </p:cNvPr>
          <p:cNvGrpSpPr/>
          <p:nvPr/>
        </p:nvGrpSpPr>
        <p:grpSpPr>
          <a:xfrm>
            <a:off x="928750" y="3743071"/>
            <a:ext cx="6870792" cy="852771"/>
            <a:chOff x="928750" y="3728936"/>
            <a:chExt cx="6870792" cy="852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85342E-A790-DD40-8469-CEF1083BB24C}"/>
                    </a:ext>
                  </a:extLst>
                </p:cNvPr>
                <p:cNvSpPr txBox="1"/>
                <p:nvPr/>
              </p:nvSpPr>
              <p:spPr>
                <a:xfrm>
                  <a:off x="928750" y="3728936"/>
                  <a:ext cx="6870792" cy="7125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/>
                    <a:t>Количество ожидаемых людей в предположении, что переменные независимы: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𝑒𝑥𝑝𝑒𝑐𝑡𝑒𝑑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𝑤𝑎𝑡𝑐h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&lt;30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∙129≅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85342E-A790-DD40-8469-CEF1083BB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750" y="3728936"/>
                  <a:ext cx="6870792" cy="712503"/>
                </a:xfrm>
                <a:prstGeom prst="rect">
                  <a:avLst/>
                </a:prstGeom>
                <a:blipFill>
                  <a:blip r:embed="rId2"/>
                  <a:stretch>
                    <a:fillRect l="-185" t="-1754" b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5F77EE-F2C8-C741-8897-3965B95B86D0}"/>
                </a:ext>
              </a:extLst>
            </p:cNvPr>
            <p:cNvCxnSpPr/>
            <p:nvPr/>
          </p:nvCxnSpPr>
          <p:spPr>
            <a:xfrm flipH="1">
              <a:off x="6673174" y="4250922"/>
              <a:ext cx="350196" cy="1811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36C913-FCB8-E04E-91FA-C0E259CEA937}"/>
                </a:ext>
              </a:extLst>
            </p:cNvPr>
            <p:cNvCxnSpPr/>
            <p:nvPr/>
          </p:nvCxnSpPr>
          <p:spPr>
            <a:xfrm flipH="1">
              <a:off x="6126804" y="4400550"/>
              <a:ext cx="350196" cy="1811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3FA5AE-BAA7-474E-8FF0-BDA0C438A0C7}"/>
              </a:ext>
            </a:extLst>
          </p:cNvPr>
          <p:cNvSpPr txBox="1"/>
          <p:nvPr/>
        </p:nvSpPr>
        <p:spPr>
          <a:xfrm>
            <a:off x="6308350" y="1496864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Наблюдаемые величины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38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26</a:t>
            </a:fld>
            <a:endParaRPr lang="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E536634-D016-6744-A6C8-591CFD395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608926"/>
                  </p:ext>
                </p:extLst>
              </p:nvPr>
            </p:nvGraphicFramePr>
            <p:xfrm>
              <a:off x="928750" y="1628520"/>
              <a:ext cx="7664200" cy="176949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32840">
                      <a:extLst>
                        <a:ext uri="{9D8B030D-6E8A-4147-A177-3AD203B41FA5}">
                          <a16:colId xmlns:a16="http://schemas.microsoft.com/office/drawing/2014/main" val="2489338553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505035652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718487918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6787471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31685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Аналоговые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err="1"/>
                            <a:t>Неопределено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Цифровые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Возраст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971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&lt;= 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num>
                                  <m:den>
                                    <m: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𝟑𝟒</m:t>
                                </m:r>
                              </m:oMath>
                            </m:oMathPara>
                          </a14:m>
                          <a:endParaRPr lang="en-US" sz="1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𝟑𝟓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𝟑𝟏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64/129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737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&gt; </a:t>
                          </a:r>
                          <a:r>
                            <a:rPr lang="ru-RU" dirty="0"/>
                            <a:t>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𝟔𝟔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𝟔𝟗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65/129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811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Тип часов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41/129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39/129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129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30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E536634-D016-6744-A6C8-591CFD395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608926"/>
                  </p:ext>
                </p:extLst>
              </p:nvPr>
            </p:nvGraphicFramePr>
            <p:xfrm>
              <a:off x="928750" y="1628520"/>
              <a:ext cx="7664200" cy="176949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32840">
                      <a:extLst>
                        <a:ext uri="{9D8B030D-6E8A-4147-A177-3AD203B41FA5}">
                          <a16:colId xmlns:a16="http://schemas.microsoft.com/office/drawing/2014/main" val="2489338553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505035652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718487918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6787471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316858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Аналоговые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err="1"/>
                            <a:t>Неопределено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Цифровые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Возраст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971745"/>
                      </a:ext>
                    </a:extLst>
                  </a:tr>
                  <a:tr h="377762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&lt;= 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100826" t="-176667" r="-300000" b="-2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202500" t="-176667" r="-202500" b="-2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76667" r="-100826" b="-2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64/129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737943"/>
                      </a:ext>
                    </a:extLst>
                  </a:tr>
                  <a:tr h="38081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&gt; </a:t>
                          </a:r>
                          <a:r>
                            <a:rPr lang="ru-RU" dirty="0"/>
                            <a:t>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100826" t="-276667" r="-3000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202500" t="-276667" r="-202500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76667" r="-10082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65/129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811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Тип часов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41/129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39/129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129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30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000562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FA5AE-BAA7-474E-8FF0-BDA0C438A0C7}"/>
              </a:ext>
            </a:extLst>
          </p:cNvPr>
          <p:cNvSpPr txBox="1"/>
          <p:nvPr/>
        </p:nvSpPr>
        <p:spPr>
          <a:xfrm>
            <a:off x="6308350" y="1308339"/>
            <a:ext cx="2074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Ожидаемые величины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40CA6-6AE0-DC4A-B9A1-7843CE1A2B07}"/>
              </a:ext>
            </a:extLst>
          </p:cNvPr>
          <p:cNvSpPr txBox="1"/>
          <p:nvPr/>
        </p:nvSpPr>
        <p:spPr>
          <a:xfrm>
            <a:off x="928751" y="3611999"/>
            <a:ext cx="7664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</a:t>
            </a:r>
            <a:r>
              <a:rPr lang="ru-RU" b="1" dirty="0"/>
              <a:t>все</a:t>
            </a:r>
            <a:r>
              <a:rPr lang="ru-RU" dirty="0"/>
              <a:t> категории являются </a:t>
            </a:r>
            <a:r>
              <a:rPr lang="ru-RU" b="1" dirty="0"/>
              <a:t>независимыми</a:t>
            </a:r>
            <a:r>
              <a:rPr lang="ru-RU" dirty="0"/>
              <a:t>, то и переменные </a:t>
            </a:r>
            <a:r>
              <a:rPr lang="ru-RU" b="1" dirty="0"/>
              <a:t>в целом </a:t>
            </a:r>
            <a:r>
              <a:rPr lang="ru-RU" dirty="0"/>
              <a:t>можно считать </a:t>
            </a:r>
            <a:r>
              <a:rPr lang="ru-RU" b="1" dirty="0"/>
              <a:t>независимыми</a:t>
            </a:r>
          </a:p>
          <a:p>
            <a:endParaRPr lang="ru-RU" b="1" dirty="0"/>
          </a:p>
          <a:p>
            <a:r>
              <a:rPr lang="ru-RU" dirty="0"/>
              <a:t>Если </a:t>
            </a:r>
            <a:r>
              <a:rPr lang="ru-RU" b="1" dirty="0"/>
              <a:t>хотя бы одна группа окажется зависимой </a:t>
            </a:r>
            <a:r>
              <a:rPr lang="ru-RU" dirty="0"/>
              <a:t>– то и переменные </a:t>
            </a:r>
            <a:r>
              <a:rPr lang="ru-RU" b="1" dirty="0"/>
              <a:t>нельзя считать независимыми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34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хи-квадрат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FD7F2-D1BD-5E47-867D-D9AB3423F8F6}"/>
                  </a:ext>
                </a:extLst>
              </p:cNvPr>
              <p:cNvSpPr txBox="1"/>
              <p:nvPr/>
            </p:nvSpPr>
            <p:spPr>
              <a:xfrm>
                <a:off x="3640645" y="1395110"/>
                <a:ext cx="1940531" cy="624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FD7F2-D1BD-5E47-867D-D9AB3423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45" y="1395110"/>
                <a:ext cx="1940531" cy="624851"/>
              </a:xfrm>
              <a:prstGeom prst="rect">
                <a:avLst/>
              </a:prstGeom>
              <a:blipFill>
                <a:blip r:embed="rId2"/>
                <a:stretch>
                  <a:fillRect l="-11039" t="-110000" b="-1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EDE5D1-B3CA-B24B-A674-453DBD403558}"/>
                  </a:ext>
                </a:extLst>
              </p:cNvPr>
              <p:cNvSpPr txBox="1"/>
              <p:nvPr/>
            </p:nvSpPr>
            <p:spPr>
              <a:xfrm>
                <a:off x="862519" y="2241308"/>
                <a:ext cx="3590278" cy="557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 </a:t>
                </a:r>
                <a:r>
                  <a:rPr lang="ru-RU" dirty="0"/>
                  <a:t>наблюдаемые величины (</a:t>
                </a:r>
                <a:r>
                  <a:rPr lang="en-US" dirty="0"/>
                  <a:t>observed)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ожидаемые величины (</a:t>
                </a:r>
                <a:r>
                  <a:rPr lang="en-US" dirty="0"/>
                  <a:t>expected</a:t>
                </a:r>
                <a:r>
                  <a:rPr lang="ru-RU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EDE5D1-B3CA-B24B-A674-453DBD403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19" y="2241308"/>
                <a:ext cx="3590278" cy="557845"/>
              </a:xfrm>
              <a:prstGeom prst="rect">
                <a:avLst/>
              </a:prstGeom>
              <a:blipFill>
                <a:blip r:embed="rId3"/>
                <a:stretch>
                  <a:fillRect t="-444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B8E690E7-204D-444D-959E-25951A7243DE}"/>
              </a:ext>
            </a:extLst>
          </p:cNvPr>
          <p:cNvGraphicFramePr>
            <a:graphicFrameLocks noGrp="1"/>
          </p:cNvGraphicFramePr>
          <p:nvPr/>
        </p:nvGraphicFramePr>
        <p:xfrm>
          <a:off x="1545230" y="3060720"/>
          <a:ext cx="6131360" cy="1381760"/>
        </p:xfrm>
        <a:graphic>
          <a:graphicData uri="http://schemas.openxmlformats.org/drawingml/2006/table">
            <a:tbl>
              <a:tblPr firstRow="1" bandRow="1"/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(10 – 20.34)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106.9</a:t>
                      </a:r>
                      <a:endParaRPr lang="en-US" sz="1000" b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(17 – 19.35)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(37 – 24.31)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(31 – 20.66)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106.9</a:t>
                      </a:r>
                      <a:r>
                        <a:rPr lang="en-US" sz="1000" b="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(22 – 19.65)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(12 – 24.69)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7E765-7B7D-784A-AE12-9D25141ADAD3}"/>
                  </a:ext>
                </a:extLst>
              </p:cNvPr>
              <p:cNvSpPr txBox="1"/>
              <p:nvPr/>
            </p:nvSpPr>
            <p:spPr>
              <a:xfrm>
                <a:off x="4139992" y="4520286"/>
                <a:ext cx="9253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=24.14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7E765-7B7D-784A-AE12-9D25141A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92" y="4520286"/>
                <a:ext cx="925318" cy="215444"/>
              </a:xfrm>
              <a:prstGeom prst="rect">
                <a:avLst/>
              </a:prstGeom>
              <a:blipFill>
                <a:blip r:embed="rId4"/>
                <a:stretch>
                  <a:fillRect l="-2703" r="-405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3B7CA4-48C4-A14C-A1FE-B02EB803E800}"/>
              </a:ext>
            </a:extLst>
          </p:cNvPr>
          <p:cNvSpPr/>
          <p:nvPr/>
        </p:nvSpPr>
        <p:spPr>
          <a:xfrm>
            <a:off x="4049950" y="4427061"/>
            <a:ext cx="1284050" cy="43068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9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хи-квадрат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28</a:t>
            </a:fld>
            <a:endParaRPr lang="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540724-0A63-074D-A06C-4718CF47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49" y="886919"/>
            <a:ext cx="7094301" cy="425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03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критерии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1733550"/>
            <a:ext cx="852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Математические правила, которые используются для принятия решений о том, отвергать или принимать гипотезу на основе данных выборки. </a:t>
            </a:r>
          </a:p>
          <a:p>
            <a:r>
              <a:rPr lang="ru-RU" dirty="0"/>
              <a:t>Статистические критерии помогают количественно оценить вероятность того, что наблюдаемые результаты являются случайными или же они подтверждают гипотезу. </a:t>
            </a:r>
          </a:p>
          <a:p>
            <a:endParaRPr lang="ru-RU" dirty="0"/>
          </a:p>
          <a:p>
            <a:r>
              <a:rPr lang="ru-RU" dirty="0"/>
              <a:t>Статистика - это величина, вычисленная на основе выборочных данных, которая используется чтобы принять решение по гипотезе – принять или отклонить.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00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нормальность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1733550"/>
            <a:ext cx="852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Стандартизация - многие статистические тесты предполагают нормальность данных.</a:t>
            </a:r>
          </a:p>
          <a:p>
            <a:endParaRPr lang="ru-RU" dirty="0"/>
          </a:p>
          <a:p>
            <a:r>
              <a:rPr lang="ru-RU" dirty="0"/>
              <a:t>Соответствие нормальному распределению, в силу ЦПТ, говорит нам, что в нашей переменной отсутствуют какие-либо «скрытые» зависимости и мы можем оценивать ее как случайную величину. </a:t>
            </a:r>
          </a:p>
        </p:txBody>
      </p:sp>
    </p:spTree>
    <p:extLst>
      <p:ext uri="{BB962C8B-B14F-4D97-AF65-F5344CB8AC3E}">
        <p14:creationId xmlns:p14="http://schemas.microsoft.com/office/powerpoint/2010/main" val="1575519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нормальность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1422165"/>
            <a:ext cx="85206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Тест Шапиро-</a:t>
            </a:r>
            <a:r>
              <a:rPr lang="ru-RU" dirty="0" err="1"/>
              <a:t>Уилка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Тест </a:t>
            </a:r>
            <a:r>
              <a:rPr lang="ru-RU" dirty="0" err="1"/>
              <a:t>Д’Агостино</a:t>
            </a:r>
            <a:r>
              <a:rPr lang="ru-RU" dirty="0"/>
              <a:t> и тест </a:t>
            </a:r>
            <a:r>
              <a:rPr lang="ru-RU" dirty="0" err="1"/>
              <a:t>Ансари</a:t>
            </a:r>
            <a:r>
              <a:rPr lang="ru-RU" dirty="0"/>
              <a:t>-Брэдли </a:t>
            </a:r>
            <a:br>
              <a:rPr lang="ru-RU" dirty="0"/>
            </a:b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проверяет нормальность, используя как симметрию, так и форму распределения</a:t>
            </a:r>
            <a:endParaRPr lang="ru-RU" sz="14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Тест Колмогорова-Смирнова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Тест Андерсона-Дарлинга </a:t>
            </a:r>
            <a:br>
              <a:rPr lang="ru-RU" dirty="0"/>
            </a:br>
            <a:r>
              <a:rPr lang="ru-RU" sz="1400" dirty="0"/>
              <a:t>расширение теста Колмогорова-Смирнова с более высокой чувствительностью к отклонениям от нормальности в хвостах распределения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Q-Q plot </a:t>
            </a:r>
            <a:r>
              <a:rPr lang="ru-RU" dirty="0"/>
              <a:t>(графический инструмент сравнения квантилей нормального и тестируемого распределения)</a:t>
            </a:r>
          </a:p>
        </p:txBody>
      </p:sp>
    </p:spTree>
    <p:extLst>
      <p:ext uri="{BB962C8B-B14F-4D97-AF65-F5344CB8AC3E}">
        <p14:creationId xmlns:p14="http://schemas.microsoft.com/office/powerpoint/2010/main" val="1057206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Шапиро-</a:t>
            </a:r>
            <a:r>
              <a:rPr lang="ru-RU" dirty="0" err="1"/>
              <a:t>Уилка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999657"/>
            <a:ext cx="852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Показывает степень соответствия распределения данных нормальному распределению. Чем ближе значение статистики к 1, тем больше данные соответствуют нормальному распределению.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317B-50EA-B445-9BBF-EF23C44175E8}"/>
              </a:ext>
            </a:extLst>
          </p:cNvPr>
          <p:cNvSpPr txBox="1"/>
          <p:nvPr/>
        </p:nvSpPr>
        <p:spPr>
          <a:xfrm>
            <a:off x="500550" y="1922987"/>
            <a:ext cx="84115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 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import stats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Тест Шапиро-</a:t>
            </a:r>
            <a:r>
              <a:rPr lang="ru-RU" sz="1400" b="0" i="0" u="none" strike="noStrike" dirty="0" err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Уилка</a:t>
            </a:r>
            <a:r>
              <a:rPr lang="ru-RU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400" b="0" i="0" u="none" strike="noStrike" dirty="0">
              <a:solidFill>
                <a:srgbClr val="92D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0" i="0" u="none" strike="noStrike" dirty="0">
              <a:solidFill>
                <a:srgbClr val="92D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stats.shapiro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(data)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print(f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Статистика: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stat}")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400" b="0" i="0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”p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значение: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}") </a:t>
            </a:r>
          </a:p>
          <a:p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Интерпретация </a:t>
            </a: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alpha = 0.05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alpha: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Нулевая гипотеза не отвергается: данные нормальны."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else: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Нулевая гипотеза отвергается: данные не нормальны."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814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Колмогорова-Смирнова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999657"/>
            <a:ext cx="852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Сравнивает эмпирическую функцию распределения данных с кумулятивной функцией нормального распределения.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317B-50EA-B445-9BBF-EF23C44175E8}"/>
              </a:ext>
            </a:extLst>
          </p:cNvPr>
          <p:cNvSpPr txBox="1"/>
          <p:nvPr/>
        </p:nvSpPr>
        <p:spPr>
          <a:xfrm>
            <a:off x="500550" y="1922987"/>
            <a:ext cx="84115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 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import stats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Тест Колмогорова-Смирнова</a:t>
            </a:r>
          </a:p>
          <a:p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stat,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stats.kstest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(data, 'norm',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(data), </a:t>
            </a:r>
            <a:r>
              <a:rPr lang="ru-RU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  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np.std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(data)))</a:t>
            </a:r>
          </a:p>
          <a:p>
            <a:endParaRPr lang="ru-RU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print(f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Статистика: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stat}")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400" b="0" i="0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”p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значение: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}") </a:t>
            </a:r>
          </a:p>
          <a:p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b="0" i="0" u="none" strike="noStrike" dirty="0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Интерпретация </a:t>
            </a: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alpha = 0.05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p_value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 alpha: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Нулевая гипотеза не отвергается: данные нормальны."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else: </a:t>
            </a:r>
            <a:endParaRPr lang="ru-RU" sz="14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1400" b="0" i="0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Нулевая гипотеза отвергается: данные не нормальны."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215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 тестов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1426624"/>
            <a:ext cx="8520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Тест Шапиро-</a:t>
            </a:r>
            <a:r>
              <a:rPr lang="ru-RU" b="1" dirty="0" err="1"/>
              <a:t>Уилка</a:t>
            </a:r>
            <a:endParaRPr lang="ru-RU" b="1" dirty="0"/>
          </a:p>
          <a:p>
            <a:pPr>
              <a:spcAft>
                <a:spcPts val="1200"/>
              </a:spcAft>
            </a:pPr>
            <a:r>
              <a:rPr lang="ru-RU" b="1" dirty="0"/>
              <a:t>Когда работает лучше:</a:t>
            </a:r>
            <a:r>
              <a:rPr lang="ru-RU" dirty="0"/>
              <a:t> считается более точным для маленьких выборок данных, обычно менее 50 элементов, хотя он может быть эффективен для выборок до 2000 элементов. Это делает его предпочтительным вариантом для анализа в ситуациях, когда данных немного, и требуется высокая точность проверки на нормальность.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Когда может не работать:</a:t>
            </a:r>
            <a:r>
              <a:rPr lang="ru-RU" dirty="0"/>
              <a:t> для очень больших выборок его чувствительность может привести к тому, что незначительные отклонения от нормальности будут интерпретироваться как статистически значимые, даже если эти отклонения не имеют практического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1428869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 тестов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B8A25-0E99-9647-949C-C36792D6BC85}"/>
              </a:ext>
            </a:extLst>
          </p:cNvPr>
          <p:cNvSpPr txBox="1"/>
          <p:nvPr/>
        </p:nvSpPr>
        <p:spPr>
          <a:xfrm>
            <a:off x="500550" y="1426624"/>
            <a:ext cx="8520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Тест Колмогорова-Смирнова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Когда работает лучше: </a:t>
            </a:r>
            <a:r>
              <a:rPr lang="ru-RU" dirty="0"/>
              <a:t>К-С более универсален и может использоваться для любого размера выборки. Он также подходит для сравнения двух различных выборок, чтобы увидеть, следуют ли они одному и тому же распределению. Это делает его полезным инструментом для более широкого спектра сценариев, включая те, где необходимо сравнить эмпирическое распределение с теоретическим или сравнить две эмпирические выборки.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Когда может не работать: </a:t>
            </a:r>
            <a:r>
              <a:rPr lang="ru-RU" dirty="0"/>
              <a:t>К-С может быть менее мощным при проверке на нормальность для маленьких выборок по сравнению с тестом Шапиро-</a:t>
            </a:r>
            <a:r>
              <a:rPr lang="ru-RU" dirty="0" err="1"/>
              <a:t>Уилка</a:t>
            </a:r>
            <a:r>
              <a:rPr lang="ru-RU" dirty="0"/>
              <a:t> из-за его общей природы и применимости к различным видам распределений.</a:t>
            </a:r>
          </a:p>
        </p:txBody>
      </p:sp>
    </p:spTree>
    <p:extLst>
      <p:ext uri="{BB962C8B-B14F-4D97-AF65-F5344CB8AC3E}">
        <p14:creationId xmlns:p14="http://schemas.microsoft.com/office/powerpoint/2010/main" val="678829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Приведение к нормальному распределению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B8A25-0E99-9647-949C-C36792D6BC85}"/>
                  </a:ext>
                </a:extLst>
              </p:cNvPr>
              <p:cNvSpPr txBox="1"/>
              <p:nvPr/>
            </p:nvSpPr>
            <p:spPr>
              <a:xfrm>
                <a:off x="500550" y="1417302"/>
                <a:ext cx="8520600" cy="311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b="1" dirty="0"/>
                  <a:t>Преобразование Бокса-Кокса</a:t>
                </a:r>
              </a:p>
              <a:p>
                <a:pPr>
                  <a:spcAft>
                    <a:spcPts val="1200"/>
                  </a:spcAft>
                </a:pPr>
                <a:endParaRPr lang="ru-RU" b="1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ru-RU" dirty="0"/>
                  <a:t>Преобразование выбирает оптимальный параметр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dirty="0"/>
                  <a:t>, </a:t>
                </a:r>
                <a:r>
                  <a:rPr lang="ru-RU" dirty="0"/>
                  <a:t>который минимизирует отклонения от нормальности.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B8A25-0E99-9647-949C-C36792D6B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417302"/>
                <a:ext cx="8520600" cy="3118546"/>
              </a:xfrm>
              <a:prstGeom prst="rect">
                <a:avLst/>
              </a:prstGeom>
              <a:blipFill>
                <a:blip r:embed="rId2"/>
                <a:stretch>
                  <a:fillRect l="-595" t="-48178" b="-70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776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DDE3-13CA-E94A-8857-1D406934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Приведение к нормальному распределению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DD1CD-9825-AB48-A326-7D4B716A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472676"/>
            <a:ext cx="62738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97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399212"/>
              </p:ext>
            </p:extLst>
          </p:nvPr>
        </p:nvGraphicFramePr>
        <p:xfrm>
          <a:off x="846750" y="1649963"/>
          <a:ext cx="7239000" cy="1349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Преобразуем данные к нормальному распределению с помощью преобразования Бокса-Кокса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числовые переменные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категориальные переменные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3"/>
              </a:rPr>
              <a:t>Статистика для всех. Сара </a:t>
            </a:r>
            <a:r>
              <a:rPr lang="ru-RU" dirty="0" err="1">
                <a:hlinkClick r:id="rId3"/>
              </a:rPr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4"/>
              </a:rPr>
              <a:t>Статистика и котики. Владимир Савельев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5"/>
              </a:rPr>
              <a:t>Голая статистика. Чарльз </a:t>
            </a:r>
            <a:r>
              <a:rPr lang="ru-RU" dirty="0" err="1">
                <a:hlinkClick r:id="rId5"/>
              </a:rPr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6"/>
              </a:rPr>
              <a:t>Как лгать при помощи статистики. </a:t>
            </a:r>
            <a:r>
              <a:rPr lang="ru-RU" dirty="0" err="1">
                <a:hlinkClick r:id="rId6"/>
              </a:rPr>
              <a:t>Дарелл</a:t>
            </a:r>
            <a:r>
              <a:rPr lang="ru-RU" dirty="0">
                <a:hlinkClick r:id="rId6"/>
              </a:rPr>
              <a:t> </a:t>
            </a:r>
            <a:r>
              <a:rPr lang="ru-RU" dirty="0" err="1">
                <a:hlinkClick r:id="rId6"/>
              </a:rPr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А/Б тесты - теория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11169</TotalTime>
  <Words>1709</Words>
  <Application>Microsoft Macintosh PowerPoint</Application>
  <PresentationFormat>On-screen Show (16:9)</PresentationFormat>
  <Paragraphs>383</Paragraphs>
  <Slides>46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-webkit-standard</vt:lpstr>
      <vt:lpstr>Arial</vt:lpstr>
      <vt:lpstr>Calibri</vt:lpstr>
      <vt:lpstr>Cambria Math</vt:lpstr>
      <vt:lpstr>Courier New</vt:lpstr>
      <vt:lpstr>Roboto</vt:lpstr>
      <vt:lpstr>Roboto</vt:lpstr>
      <vt:lpstr>Office Theme</vt:lpstr>
      <vt:lpstr>Python для Аналитики Исследование зависимостей</vt:lpstr>
      <vt:lpstr>Проверить, идет ли запись</vt:lpstr>
      <vt:lpstr>Python для аналитики Исследование зависимостей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Типы данных</vt:lpstr>
      <vt:lpstr>Типы данных</vt:lpstr>
      <vt:lpstr>Номинальные данные</vt:lpstr>
      <vt:lpstr>Порядковые данные</vt:lpstr>
      <vt:lpstr>Интервальные данные</vt:lpstr>
      <vt:lpstr>Нормативные данные</vt:lpstr>
      <vt:lpstr>Независимость событий</vt:lpstr>
      <vt:lpstr>Независимость событий</vt:lpstr>
      <vt:lpstr>Независимость событий</vt:lpstr>
      <vt:lpstr>Независимость событий</vt:lpstr>
      <vt:lpstr>Независимость событий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Распределение хи-квадрат</vt:lpstr>
      <vt:lpstr>Распределение хи-квадрат</vt:lpstr>
      <vt:lpstr>Статистические критерии</vt:lpstr>
      <vt:lpstr>Проверка на нормальность</vt:lpstr>
      <vt:lpstr>Проверка на нормальность</vt:lpstr>
      <vt:lpstr>Тест Шапиро-Уилка</vt:lpstr>
      <vt:lpstr>Тест Колмогорова-Смирнова</vt:lpstr>
      <vt:lpstr>Применимость тестов</vt:lpstr>
      <vt:lpstr>Применимость тестов</vt:lpstr>
      <vt:lpstr>Приведение к нормальному распределению</vt:lpstr>
      <vt:lpstr>Приведение к нормальному распределению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А/Б тесты - теория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111</cp:revision>
  <dcterms:created xsi:type="dcterms:W3CDTF">2023-10-10T14:19:39Z</dcterms:created>
  <dcterms:modified xsi:type="dcterms:W3CDTF">2025-01-22T15:43:13Z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