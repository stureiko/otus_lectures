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  <p:sldMasterId id="2147483707" r:id="rId2"/>
  </p:sldMasterIdLst>
  <p:notesMasterIdLst>
    <p:notesMasterId r:id="rId40"/>
  </p:notesMasterIdLst>
  <p:sldIdLst>
    <p:sldId id="257" r:id="rId3"/>
    <p:sldId id="258" r:id="rId4"/>
    <p:sldId id="312" r:id="rId5"/>
    <p:sldId id="262" r:id="rId6"/>
    <p:sldId id="305" r:id="rId7"/>
    <p:sldId id="401" r:id="rId8"/>
    <p:sldId id="402" r:id="rId9"/>
    <p:sldId id="261" r:id="rId10"/>
    <p:sldId id="263" r:id="rId11"/>
    <p:sldId id="264" r:id="rId12"/>
    <p:sldId id="265" r:id="rId13"/>
    <p:sldId id="268" r:id="rId14"/>
    <p:sldId id="331" r:id="rId15"/>
    <p:sldId id="341" r:id="rId16"/>
    <p:sldId id="392" r:id="rId17"/>
    <p:sldId id="393" r:id="rId18"/>
    <p:sldId id="349" r:id="rId19"/>
    <p:sldId id="397" r:id="rId20"/>
    <p:sldId id="278" r:id="rId21"/>
    <p:sldId id="281" r:id="rId22"/>
    <p:sldId id="280" r:id="rId23"/>
    <p:sldId id="366" r:id="rId24"/>
    <p:sldId id="287" r:id="rId25"/>
    <p:sldId id="288" r:id="rId26"/>
    <p:sldId id="339" r:id="rId27"/>
    <p:sldId id="289" r:id="rId28"/>
    <p:sldId id="400" r:id="rId29"/>
    <p:sldId id="372" r:id="rId30"/>
    <p:sldId id="373" r:id="rId31"/>
    <p:sldId id="403" r:id="rId32"/>
    <p:sldId id="374" r:id="rId33"/>
    <p:sldId id="375" r:id="rId34"/>
    <p:sldId id="376" r:id="rId35"/>
    <p:sldId id="297" r:id="rId36"/>
    <p:sldId id="300" r:id="rId37"/>
    <p:sldId id="302" r:id="rId38"/>
    <p:sldId id="303" r:id="rId39"/>
  </p:sldIdLst>
  <p:sldSz cx="9144000" cy="5143500" type="screen16x9"/>
  <p:notesSz cx="6858000" cy="9144000"/>
  <p:embeddedFontLst>
    <p:embeddedFont>
      <p:font typeface="AkayaTelivigala" panose="020F0502020204030204" pitchFamily="34" charset="0"/>
      <p:regular r:id="rId41"/>
      <p:bold r:id="rId42"/>
      <p:italic r:id="rId43"/>
      <p:boldItalic r:id="rId44"/>
    </p:embeddedFont>
    <p:embeddedFont>
      <p:font typeface="Roboto" panose="02000000000000000000" pitchFamily="2" charset="0"/>
      <p:regular r:id="rId45"/>
      <p:bold r:id="rId46"/>
      <p:italic r:id="rId47"/>
      <p:boldItalic r:id="rId48"/>
    </p:embeddedFont>
    <p:embeddedFont>
      <p:font typeface="source sans pro" panose="020B0503030403020204" pitchFamily="3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724">
          <p15:clr>
            <a:srgbClr val="A4A3A4"/>
          </p15:clr>
        </p15:guide>
        <p15:guide id="2" pos="380">
          <p15:clr>
            <a:srgbClr val="9AA0A6"/>
          </p15:clr>
        </p15:guide>
        <p15:guide id="3" orient="horz" pos="2041">
          <p15:clr>
            <a:srgbClr val="9AA0A6"/>
          </p15:clr>
        </p15:guide>
        <p15:guide id="4" orient="horz" pos="2169">
          <p15:clr>
            <a:srgbClr val="9AA0A6"/>
          </p15:clr>
        </p15:guide>
        <p15:guide id="5" pos="33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FF0000"/>
    <a:srgbClr val="FF6F40"/>
    <a:srgbClr val="FF9D54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59E00E-254B-42B5-9FED-D0DB1D54CBD8}">
  <a:tblStyle styleId="{9F59E00E-254B-42B5-9FED-D0DB1D54CB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66"/>
    <p:restoredTop sz="97146"/>
  </p:normalViewPr>
  <p:slideViewPr>
    <p:cSldViewPr snapToGrid="0">
      <p:cViewPr varScale="1">
        <p:scale>
          <a:sx n="165" d="100"/>
          <a:sy n="165" d="100"/>
        </p:scale>
        <p:origin x="688" y="184"/>
      </p:cViewPr>
      <p:guideLst>
        <p:guide pos="1724"/>
        <p:guide pos="380"/>
        <p:guide orient="horz" pos="2041"/>
        <p:guide orient="horz" pos="2169"/>
        <p:guide pos="33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font" Target="fonts/font11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6.fntdata"/><Relationship Id="rId20" Type="http://schemas.openxmlformats.org/officeDocument/2006/relationships/slide" Target="slides/slide18.xml"/><Relationship Id="rId41" Type="http://schemas.openxmlformats.org/officeDocument/2006/relationships/font" Target="fonts/font1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9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B66F61-9E35-824C-A4DD-B4D2BE9E2C85}" type="doc">
      <dgm:prSet loTypeId="urn:microsoft.com/office/officeart/2005/8/layout/venn1" loCatId="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FF00E600-A301-9C45-BFFE-05C6082795EE}">
      <dgm:prSet phldrT="[Текст]"/>
      <dgm:spPr/>
      <dgm:t>
        <a:bodyPr/>
        <a:lstStyle/>
        <a:p>
          <a:r>
            <a:rPr lang="ru-RU" dirty="0"/>
            <a:t>Явно</a:t>
          </a:r>
          <a:r>
            <a:rPr lang="ru-RU" baseline="0" dirty="0"/>
            <a:t> – </a:t>
          </a:r>
          <a:r>
            <a:rPr lang="en-US" baseline="0" dirty="0"/>
            <a:t>Figures and Axes</a:t>
          </a:r>
          <a:endParaRPr lang="ru-RU" dirty="0"/>
        </a:p>
      </dgm:t>
    </dgm:pt>
    <dgm:pt modelId="{160DFAAF-A87C-B84A-A013-A2BF43F0B8C8}" type="parTrans" cxnId="{DDD1C3A5-9228-F047-8AA3-FB4B462AFEA2}">
      <dgm:prSet/>
      <dgm:spPr/>
      <dgm:t>
        <a:bodyPr/>
        <a:lstStyle/>
        <a:p>
          <a:endParaRPr lang="ru-RU"/>
        </a:p>
      </dgm:t>
    </dgm:pt>
    <dgm:pt modelId="{FCB808E0-9E08-4B4B-8652-14F8FE651F6E}" type="sibTrans" cxnId="{DDD1C3A5-9228-F047-8AA3-FB4B462AFEA2}">
      <dgm:prSet/>
      <dgm:spPr/>
      <dgm:t>
        <a:bodyPr/>
        <a:lstStyle/>
        <a:p>
          <a:endParaRPr lang="ru-RU"/>
        </a:p>
      </dgm:t>
    </dgm:pt>
    <dgm:pt modelId="{F04430D8-90C4-3A45-913B-9B9665FD3999}">
      <dgm:prSet phldrT="[Текст]"/>
      <dgm:spPr/>
      <dgm:t>
        <a:bodyPr/>
        <a:lstStyle/>
        <a:p>
          <a:r>
            <a:rPr lang="ru-RU" dirty="0" err="1"/>
            <a:t>Полуавто</a:t>
          </a:r>
          <a:r>
            <a:rPr lang="ru-RU" dirty="0"/>
            <a:t> - </a:t>
          </a:r>
          <a:r>
            <a:rPr lang="en-US" dirty="0" err="1"/>
            <a:t>pyplot</a:t>
          </a:r>
          <a:endParaRPr lang="ru-RU" dirty="0"/>
        </a:p>
      </dgm:t>
    </dgm:pt>
    <dgm:pt modelId="{F2845F4B-F498-C347-B141-8F33C6D6DD01}" type="parTrans" cxnId="{B2EBC3AF-3B2A-4F4E-8662-D06BACFD26B7}">
      <dgm:prSet/>
      <dgm:spPr/>
      <dgm:t>
        <a:bodyPr/>
        <a:lstStyle/>
        <a:p>
          <a:endParaRPr lang="ru-RU"/>
        </a:p>
      </dgm:t>
    </dgm:pt>
    <dgm:pt modelId="{B817891D-4DD6-AE48-99D8-2F118FFCA60E}" type="sibTrans" cxnId="{B2EBC3AF-3B2A-4F4E-8662-D06BACFD26B7}">
      <dgm:prSet/>
      <dgm:spPr/>
      <dgm:t>
        <a:bodyPr/>
        <a:lstStyle/>
        <a:p>
          <a:endParaRPr lang="ru-RU"/>
        </a:p>
      </dgm:t>
    </dgm:pt>
    <dgm:pt modelId="{23F9B57E-DDED-BE40-8BCC-CE86EE4B38AC}" type="pres">
      <dgm:prSet presAssocID="{A8B66F61-9E35-824C-A4DD-B4D2BE9E2C85}" presName="compositeShape" presStyleCnt="0">
        <dgm:presLayoutVars>
          <dgm:chMax val="7"/>
          <dgm:dir/>
          <dgm:resizeHandles val="exact"/>
        </dgm:presLayoutVars>
      </dgm:prSet>
      <dgm:spPr/>
    </dgm:pt>
    <dgm:pt modelId="{4A357F4A-1015-2D41-888A-9D3C7A36A59E}" type="pres">
      <dgm:prSet presAssocID="{FF00E600-A301-9C45-BFFE-05C6082795EE}" presName="circ1" presStyleLbl="vennNode1" presStyleIdx="0" presStyleCnt="2"/>
      <dgm:spPr/>
    </dgm:pt>
    <dgm:pt modelId="{57FF6263-EE59-894F-8081-86BE135EB1E3}" type="pres">
      <dgm:prSet presAssocID="{FF00E600-A301-9C45-BFFE-05C6082795EE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675B776-2569-6E48-89B0-DEFA42F1FC54}" type="pres">
      <dgm:prSet presAssocID="{F04430D8-90C4-3A45-913B-9B9665FD3999}" presName="circ2" presStyleLbl="vennNode1" presStyleIdx="1" presStyleCnt="2"/>
      <dgm:spPr/>
    </dgm:pt>
    <dgm:pt modelId="{850FE8DB-8A91-4141-9FF5-88010CA86BB7}" type="pres">
      <dgm:prSet presAssocID="{F04430D8-90C4-3A45-913B-9B9665FD3999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49963B2C-19D8-894F-8836-5CB14F656EBB}" type="presOf" srcId="{F04430D8-90C4-3A45-913B-9B9665FD3999}" destId="{F675B776-2569-6E48-89B0-DEFA42F1FC54}" srcOrd="0" destOrd="0" presId="urn:microsoft.com/office/officeart/2005/8/layout/venn1"/>
    <dgm:cxn modelId="{C5BEE94A-BFA7-EF4C-B2B9-8ACC85643730}" type="presOf" srcId="{A8B66F61-9E35-824C-A4DD-B4D2BE9E2C85}" destId="{23F9B57E-DDED-BE40-8BCC-CE86EE4B38AC}" srcOrd="0" destOrd="0" presId="urn:microsoft.com/office/officeart/2005/8/layout/venn1"/>
    <dgm:cxn modelId="{E16F6053-C5A3-824E-98D7-B5A63EF13215}" type="presOf" srcId="{FF00E600-A301-9C45-BFFE-05C6082795EE}" destId="{57FF6263-EE59-894F-8081-86BE135EB1E3}" srcOrd="1" destOrd="0" presId="urn:microsoft.com/office/officeart/2005/8/layout/venn1"/>
    <dgm:cxn modelId="{58130D74-C2E9-EB4C-9348-EF9DCD1A809D}" type="presOf" srcId="{FF00E600-A301-9C45-BFFE-05C6082795EE}" destId="{4A357F4A-1015-2D41-888A-9D3C7A36A59E}" srcOrd="0" destOrd="0" presId="urn:microsoft.com/office/officeart/2005/8/layout/venn1"/>
    <dgm:cxn modelId="{DDD1C3A5-9228-F047-8AA3-FB4B462AFEA2}" srcId="{A8B66F61-9E35-824C-A4DD-B4D2BE9E2C85}" destId="{FF00E600-A301-9C45-BFFE-05C6082795EE}" srcOrd="0" destOrd="0" parTransId="{160DFAAF-A87C-B84A-A013-A2BF43F0B8C8}" sibTransId="{FCB808E0-9E08-4B4B-8652-14F8FE651F6E}"/>
    <dgm:cxn modelId="{B2EBC3AF-3B2A-4F4E-8662-D06BACFD26B7}" srcId="{A8B66F61-9E35-824C-A4DD-B4D2BE9E2C85}" destId="{F04430D8-90C4-3A45-913B-9B9665FD3999}" srcOrd="1" destOrd="0" parTransId="{F2845F4B-F498-C347-B141-8F33C6D6DD01}" sibTransId="{B817891D-4DD6-AE48-99D8-2F118FFCA60E}"/>
    <dgm:cxn modelId="{8F69E8D7-84DD-4A47-A778-3A216A5866DF}" type="presOf" srcId="{F04430D8-90C4-3A45-913B-9B9665FD3999}" destId="{850FE8DB-8A91-4141-9FF5-88010CA86BB7}" srcOrd="1" destOrd="0" presId="urn:microsoft.com/office/officeart/2005/8/layout/venn1"/>
    <dgm:cxn modelId="{6600410E-2F2C-C94C-814D-138865CB9771}" type="presParOf" srcId="{23F9B57E-DDED-BE40-8BCC-CE86EE4B38AC}" destId="{4A357F4A-1015-2D41-888A-9D3C7A36A59E}" srcOrd="0" destOrd="0" presId="urn:microsoft.com/office/officeart/2005/8/layout/venn1"/>
    <dgm:cxn modelId="{A56F94BE-7C73-B34F-9291-200E9616D059}" type="presParOf" srcId="{23F9B57E-DDED-BE40-8BCC-CE86EE4B38AC}" destId="{57FF6263-EE59-894F-8081-86BE135EB1E3}" srcOrd="1" destOrd="0" presId="urn:microsoft.com/office/officeart/2005/8/layout/venn1"/>
    <dgm:cxn modelId="{3A76412E-2C1D-874A-9A54-C4B0AE35D5EA}" type="presParOf" srcId="{23F9B57E-DDED-BE40-8BCC-CE86EE4B38AC}" destId="{F675B776-2569-6E48-89B0-DEFA42F1FC54}" srcOrd="2" destOrd="0" presId="urn:microsoft.com/office/officeart/2005/8/layout/venn1"/>
    <dgm:cxn modelId="{F34A52BB-ABD7-4A4D-9A91-34FEFA4DAAA6}" type="presParOf" srcId="{23F9B57E-DDED-BE40-8BCC-CE86EE4B38AC}" destId="{850FE8DB-8A91-4141-9FF5-88010CA86BB7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57F4A-1015-2D41-888A-9D3C7A36A59E}">
      <dsp:nvSpPr>
        <dsp:cNvPr id="0" name=""/>
        <dsp:cNvSpPr/>
      </dsp:nvSpPr>
      <dsp:spPr>
        <a:xfrm>
          <a:off x="371777" y="9238"/>
          <a:ext cx="3377866" cy="3377866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/>
            <a:t>Явно</a:t>
          </a:r>
          <a:r>
            <a:rPr lang="ru-RU" sz="3400" kern="1200" baseline="0" dirty="0"/>
            <a:t> – </a:t>
          </a:r>
          <a:r>
            <a:rPr lang="en-US" sz="3400" kern="1200" baseline="0" dirty="0"/>
            <a:t>Figures and Axes</a:t>
          </a:r>
          <a:endParaRPr lang="ru-RU" sz="3400" kern="1200" dirty="0"/>
        </a:p>
      </dsp:txBody>
      <dsp:txXfrm>
        <a:off x="843461" y="407561"/>
        <a:ext cx="1947598" cy="2581220"/>
      </dsp:txXfrm>
    </dsp:sp>
    <dsp:sp modelId="{F675B776-2569-6E48-89B0-DEFA42F1FC54}">
      <dsp:nvSpPr>
        <dsp:cNvPr id="0" name=""/>
        <dsp:cNvSpPr/>
      </dsp:nvSpPr>
      <dsp:spPr>
        <a:xfrm>
          <a:off x="2806276" y="9238"/>
          <a:ext cx="3377866" cy="3377866"/>
        </a:xfrm>
        <a:prstGeom prst="ellipse">
          <a:avLst/>
        </a:prstGeom>
        <a:solidFill>
          <a:schemeClr val="accent4">
            <a:alpha val="50000"/>
            <a:hueOff val="9128156"/>
            <a:satOff val="0"/>
            <a:lumOff val="-29804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 err="1"/>
            <a:t>Полуавто</a:t>
          </a:r>
          <a:r>
            <a:rPr lang="ru-RU" sz="3400" kern="1200" dirty="0"/>
            <a:t> - </a:t>
          </a:r>
          <a:r>
            <a:rPr lang="en-US" sz="3400" kern="1200" dirty="0" err="1"/>
            <a:t>pyplot</a:t>
          </a:r>
          <a:endParaRPr lang="ru-RU" sz="3400" kern="1200" dirty="0"/>
        </a:p>
      </dsp:txBody>
      <dsp:txXfrm>
        <a:off x="3764860" y="407561"/>
        <a:ext cx="1947598" cy="2581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6383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6706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e3a707456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e3a707456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4806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e3a7074569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e3a7074569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f305d12f47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f305d12f47_1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2baa635cc9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22baa635cc9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8269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6995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2293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7725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df6222e6a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df6222e6a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df29b9fb24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df29b9fb24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df6222e6a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df6222e6a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e3a707456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e3a707456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2"/>
          </p:nvPr>
        </p:nvSpPr>
        <p:spPr>
          <a:xfrm>
            <a:off x="3891775" y="2252794"/>
            <a:ext cx="4587900" cy="20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500550" y="2545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47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7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4" name="Google Shape;194;p47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8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7" name="Google Shape;197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0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03" name="Google Shape;203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6" name="Google Shape;206;p5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5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5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5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13" name="Google Shape;213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53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53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4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2" name="Google Shape;222;p54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223" name="Google Shape;223;p5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224" name="Google Shape;22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57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57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58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58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59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59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9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60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60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60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6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89" name="Google Shape;189;p4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0" name="Google Shape;190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eg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jp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jp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258" name="Google Shape;258;p6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Analytics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dirty="0"/>
              <a:t>Визуализация данных</a:t>
            </a:r>
            <a:endParaRPr sz="6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6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/>
              <a:t>Analytics</a:t>
            </a:r>
            <a:br>
              <a:rPr lang="en-US" sz="3200" dirty="0"/>
            </a:br>
            <a:r>
              <a:rPr lang="ru-RU" sz="2400" dirty="0"/>
              <a:t>Визуализация данных</a:t>
            </a:r>
            <a:endParaRPr b="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Открытый урок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Google Shape;278;p64">
            <a:extLst>
              <a:ext uri="{FF2B5EF4-FFF2-40B4-BE49-F238E27FC236}">
                <a16:creationId xmlns:a16="http://schemas.microsoft.com/office/drawing/2014/main" id="{DC03452F-6B2F-EA48-9B01-C3577A300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CA2CE4C2-C39C-A54B-AFE5-6E9E10E2AB74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6D9259-66E1-AB46-BFF1-E694B121712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Правила вебинара</a:t>
            </a:r>
            <a:endParaRPr b="1"/>
          </a:p>
        </p:txBody>
      </p:sp>
      <p:sp>
        <p:nvSpPr>
          <p:cNvPr id="305" name="Google Shape;305;p67"/>
          <p:cNvSpPr/>
          <p:nvPr/>
        </p:nvSpPr>
        <p:spPr>
          <a:xfrm>
            <a:off x="5730575" y="-8062"/>
            <a:ext cx="34134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" name="Google Shape;307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4940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510213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7"/>
          <p:cNvSpPr txBox="1"/>
          <p:nvPr/>
        </p:nvSpPr>
        <p:spPr>
          <a:xfrm>
            <a:off x="1654525" y="14808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67"/>
          <p:cNvSpPr txBox="1"/>
          <p:nvPr/>
        </p:nvSpPr>
        <p:spPr>
          <a:xfrm>
            <a:off x="1654525" y="35178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1" name="Google Shape;311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514043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7"/>
          <p:cNvSpPr txBox="1"/>
          <p:nvPr/>
        </p:nvSpPr>
        <p:spPr>
          <a:xfrm>
            <a:off x="1654525" y="2519056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67"/>
          <p:cNvSpPr txBox="1"/>
          <p:nvPr/>
        </p:nvSpPr>
        <p:spPr>
          <a:xfrm>
            <a:off x="6350663" y="1403888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4" name="Google Shape;314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23692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67"/>
          <p:cNvSpPr txBox="1"/>
          <p:nvPr/>
        </p:nvSpPr>
        <p:spPr>
          <a:xfrm>
            <a:off x="6829363" y="23559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6" name="Google Shape;316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8418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7"/>
          <p:cNvSpPr txBox="1"/>
          <p:nvPr/>
        </p:nvSpPr>
        <p:spPr>
          <a:xfrm>
            <a:off x="6829363" y="28369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8" name="Google Shape;318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33219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67"/>
          <p:cNvSpPr txBox="1"/>
          <p:nvPr/>
        </p:nvSpPr>
        <p:spPr>
          <a:xfrm>
            <a:off x="6829363" y="32324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8" y="1074905"/>
            <a:ext cx="3642911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Знакомство</a:t>
            </a:r>
          </a:p>
        </p:txBody>
      </p:sp>
      <p:sp>
        <p:nvSpPr>
          <p:cNvPr id="236" name="Google Shape;236;p37"/>
          <p:cNvSpPr/>
          <p:nvPr/>
        </p:nvSpPr>
        <p:spPr>
          <a:xfrm>
            <a:off x="740239" y="2755741"/>
            <a:ext cx="364291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Seaborn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3596159"/>
            <a:ext cx="364291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Программа курса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13" idx="1"/>
          </p:cNvCxnSpPr>
          <p:nvPr/>
        </p:nvCxnSpPr>
        <p:spPr>
          <a:xfrm rot="10800000" flipV="1">
            <a:off x="740238" y="1263005"/>
            <a:ext cx="12700" cy="8404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943841"/>
            <a:ext cx="12700" cy="8404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6" y="4436576"/>
            <a:ext cx="364291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Рефлексия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7" y="3784258"/>
            <a:ext cx="3" cy="840417"/>
          </a:xfrm>
          <a:prstGeom prst="curvedConnector3">
            <a:avLst>
              <a:gd name="adj1" fmla="val 762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40238" y="1915323"/>
            <a:ext cx="3642911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Matplotlib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H="1" flipV="1">
            <a:off x="740237" y="2103423"/>
            <a:ext cx="1" cy="840418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8179C8A6-CD52-0C48-BC22-53EABB185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850" y="1074905"/>
            <a:ext cx="4196763" cy="3632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168" name="Google Shape;168;p23"/>
          <p:cNvGraphicFramePr/>
          <p:nvPr>
            <p:extLst>
              <p:ext uri="{D42A27DB-BD31-4B8C-83A1-F6EECF244321}">
                <p14:modId xmlns:p14="http://schemas.microsoft.com/office/powerpoint/2010/main" val="1207502663"/>
              </p:ext>
            </p:extLst>
          </p:nvPr>
        </p:nvGraphicFramePr>
        <p:xfrm>
          <a:off x="952500" y="1544194"/>
          <a:ext cx="7239000" cy="3493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Уметь рисовать графики 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Python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0" name="Google Shape;170;p2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После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176" name="Google Shape;176;p24"/>
          <p:cNvGraphicFramePr/>
          <p:nvPr>
            <p:extLst>
              <p:ext uri="{D42A27DB-BD31-4B8C-83A1-F6EECF244321}">
                <p14:modId xmlns:p14="http://schemas.microsoft.com/office/powerpoint/2010/main" val="367982111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Искать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инсайты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данных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Подкреплять выводы визуализациями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8" name="Google Shape;178;p2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уметь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Matplotlib</a:t>
            </a:r>
            <a:endParaRPr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6F7EEA-CFB2-FB45-BFE3-1E2E99EA3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13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148213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812EA4C-E100-B142-84B1-235223BF2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943" y="564204"/>
            <a:ext cx="4015091" cy="401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8A31036-7D8B-694F-AB4D-2205A16C9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61" y="214008"/>
            <a:ext cx="5289754" cy="1269541"/>
          </a:xfrm>
          <a:prstGeom prst="rect">
            <a:avLst/>
          </a:prstGeom>
        </p:spPr>
      </p:pic>
      <p:pic>
        <p:nvPicPr>
          <p:cNvPr id="6" name="Picture 2" descr="Chart">
            <a:extLst>
              <a:ext uri="{FF2B5EF4-FFF2-40B4-BE49-F238E27FC236}">
                <a16:creationId xmlns:a16="http://schemas.microsoft.com/office/drawing/2014/main" id="{104B5011-6AF0-9F42-A444-9998D5447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74" y="1686127"/>
            <a:ext cx="2940653" cy="306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390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ABB881-CE4B-1A41-8B56-C4FBB375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styles</a:t>
            </a:r>
            <a:endParaRPr lang="ru-RU" dirty="0"/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524F0E68-D1FA-E848-9FB3-13AC5398F130}"/>
              </a:ext>
            </a:extLst>
          </p:cNvPr>
          <p:cNvGraphicFramePr/>
          <p:nvPr/>
        </p:nvGraphicFramePr>
        <p:xfrm>
          <a:off x="122850" y="987878"/>
          <a:ext cx="6555921" cy="3396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86B3FEA-68F0-E44A-A975-2714CE6E2CEB}"/>
              </a:ext>
            </a:extLst>
          </p:cNvPr>
          <p:cNvSpPr txBox="1"/>
          <p:nvPr/>
        </p:nvSpPr>
        <p:spPr>
          <a:xfrm>
            <a:off x="4144447" y="4579257"/>
            <a:ext cx="12328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0" i="0" u="none" strike="noStrike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state-based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746C68-C77B-264C-B808-7F86B71EC409}"/>
              </a:ext>
            </a:extLst>
          </p:cNvPr>
          <p:cNvSpPr txBox="1"/>
          <p:nvPr/>
        </p:nvSpPr>
        <p:spPr>
          <a:xfrm>
            <a:off x="1581248" y="4579256"/>
            <a:ext cx="12328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0" i="0" u="none" strike="noStrike" dirty="0">
                <a:solidFill>
                  <a:srgbClr val="222222"/>
                </a:solidFill>
                <a:effectLst/>
                <a:latin typeface="source sans pro" panose="020F0502020204030204" pitchFamily="34" charset="0"/>
              </a:rPr>
              <a:t>state</a:t>
            </a:r>
            <a:r>
              <a:rPr lang="en-US" dirty="0">
                <a:solidFill>
                  <a:srgbClr val="222222"/>
                </a:solidFill>
                <a:latin typeface="source sans pro" panose="020F0502020204030204" pitchFamily="34" charset="0"/>
              </a:rPr>
              <a:t>less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55D13D-B30C-CC46-BD9F-6B38EA6EA161}"/>
              </a:ext>
            </a:extLst>
          </p:cNvPr>
          <p:cNvSpPr txBox="1"/>
          <p:nvPr/>
        </p:nvSpPr>
        <p:spPr>
          <a:xfrm>
            <a:off x="6555259" y="1048256"/>
            <a:ext cx="235236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600" dirty="0" err="1">
                <a:solidFill>
                  <a:srgbClr val="222222"/>
                </a:solidFill>
                <a:latin typeface="source sans pro" panose="020B0503030403020204" pitchFamily="34" charset="0"/>
              </a:rPr>
              <a:t>Pyplot</a:t>
            </a:r>
            <a:r>
              <a:rPr lang="ru-RU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 – совокупность оберток над объектно-ориентированными интерфейсами. </a:t>
            </a:r>
          </a:p>
          <a:p>
            <a:endParaRPr lang="en-US" sz="1600" dirty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endParaRPr lang="ru-RU" sz="1600" dirty="0">
              <a:solidFill>
                <a:srgbClr val="222222"/>
              </a:solidFill>
              <a:latin typeface="source sans pro" panose="020B0503030403020204" pitchFamily="34" charset="0"/>
            </a:endParaRPr>
          </a:p>
          <a:p>
            <a:r>
              <a:rPr lang="en" sz="1600" dirty="0" err="1"/>
              <a:t>plt.title</a:t>
            </a:r>
            <a:r>
              <a:rPr lang="en" sz="1600" dirty="0"/>
              <a:t>()</a:t>
            </a:r>
            <a:r>
              <a:rPr lang="ru-RU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 соответствует геттерам и сеттерам ОО подхода </a:t>
            </a:r>
            <a:r>
              <a:rPr lang="en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 </a:t>
            </a:r>
            <a:r>
              <a:rPr lang="en" sz="1600" dirty="0" err="1"/>
              <a:t>ax.set_title</a:t>
            </a:r>
            <a:r>
              <a:rPr lang="en" sz="1600" dirty="0"/>
              <a:t>()</a:t>
            </a:r>
            <a:r>
              <a:rPr lang="en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 </a:t>
            </a:r>
            <a:br>
              <a:rPr lang="ru-RU" sz="1600" dirty="0">
                <a:solidFill>
                  <a:srgbClr val="222222"/>
                </a:solidFill>
                <a:latin typeface="source sans pro" panose="020B0503030403020204" pitchFamily="34" charset="0"/>
              </a:rPr>
            </a:br>
            <a:r>
              <a:rPr lang="ru-RU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и</a:t>
            </a:r>
            <a:r>
              <a:rPr lang="en" sz="1600" dirty="0">
                <a:solidFill>
                  <a:srgbClr val="222222"/>
                </a:solidFill>
                <a:latin typeface="source sans pro" panose="020B0503030403020204" pitchFamily="34" charset="0"/>
              </a:rPr>
              <a:t> </a:t>
            </a:r>
            <a:r>
              <a:rPr lang="en" sz="1600" dirty="0" err="1"/>
              <a:t>ax.get_title</a:t>
            </a:r>
            <a:r>
              <a:rPr lang="en" sz="1600" dirty="0"/>
              <a:t>()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384317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6B0E183-8E2F-3A43-B336-40540D67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3B5684A-ABD1-C942-8D8F-A7450D877A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74" t="26032" r="15753" b="38095"/>
          <a:stretch/>
        </p:blipFill>
        <p:spPr>
          <a:xfrm>
            <a:off x="5702683" y="1757237"/>
            <a:ext cx="3318467" cy="22802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CB6701-E22F-6F4E-8850-7A5D22B64F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5238"/>
          <a:stretch/>
        </p:blipFill>
        <p:spPr>
          <a:xfrm>
            <a:off x="500550" y="1623750"/>
            <a:ext cx="4986686" cy="127362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D80BC2B-07DD-4149-A44F-2504D3DE57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693"/>
          <a:stretch/>
        </p:blipFill>
        <p:spPr>
          <a:xfrm>
            <a:off x="500550" y="3360786"/>
            <a:ext cx="4986686" cy="109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92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Seaborn</a:t>
            </a:r>
            <a:endParaRPr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6F7EEA-CFB2-FB45-BFE3-1E2E99EA3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17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427538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03BAE-47C3-364E-B602-F01003032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0" dirty="0"/>
              <a:t>Seaborn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61CBEF-E848-DC44-B162-0AD65813CA44}"/>
              </a:ext>
            </a:extLst>
          </p:cNvPr>
          <p:cNvSpPr txBox="1"/>
          <p:nvPr/>
        </p:nvSpPr>
        <p:spPr>
          <a:xfrm>
            <a:off x="500549" y="1131040"/>
            <a:ext cx="84652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ru-RU" dirty="0"/>
              <a:t>Надстройка над </a:t>
            </a:r>
            <a:r>
              <a:rPr lang="en-US" dirty="0"/>
              <a:t>Matplotlib </a:t>
            </a:r>
            <a:r>
              <a:rPr lang="ru-RU" dirty="0"/>
              <a:t>позволяющая быстро строить симпатичные стандартно оформленные графики.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988715-8003-4745-9DEA-557F02C23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18" y="2145322"/>
            <a:ext cx="4149967" cy="26674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C7D2D1-A562-3749-9296-BB1CBC32B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233" y="2097634"/>
            <a:ext cx="36195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840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Практика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466" name="Google Shape;466;p86"/>
          <p:cNvGraphicFramePr/>
          <p:nvPr>
            <p:extLst>
              <p:ext uri="{D42A27DB-BD31-4B8C-83A1-F6EECF244321}">
                <p14:modId xmlns:p14="http://schemas.microsoft.com/office/powerpoint/2010/main" val="894844329"/>
              </p:ext>
            </p:extLst>
          </p:nvPr>
        </p:nvGraphicFramePr>
        <p:xfrm>
          <a:off x="952500" y="1544194"/>
          <a:ext cx="7239000" cy="577142"/>
        </p:xfrm>
        <a:graphic>
          <a:graphicData uri="http://schemas.openxmlformats.org/drawingml/2006/table">
            <a:tbl>
              <a:tblPr>
                <a:noFill/>
                <a:tableStyleId>{9F59E00E-254B-42B5-9FED-D0DB1D54CBD8}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Научиться рисовать красивые разнообразные графики и диаграммы с использованием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Matplotlib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Seaborn</a:t>
                      </a:r>
                      <a:endParaRPr lang="ru-RU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5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457" name="Google Shape;457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85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 в чат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9" name="Google Shape;459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85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Ключевые тезисы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66" name="Google Shape;466;p86"/>
          <p:cNvGraphicFramePr/>
          <p:nvPr>
            <p:extLst>
              <p:ext uri="{D42A27DB-BD31-4B8C-83A1-F6EECF244321}">
                <p14:modId xmlns:p14="http://schemas.microsoft.com/office/powerpoint/2010/main" val="3240268248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{9F59E00E-254B-42B5-9FED-D0DB1D54CBD8}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Кратко познакомились с библиотеками визуализации </a:t>
                      </a: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Matplotlib </a:t>
                      </a:r>
                      <a:r>
                        <a:rPr lang="ru-RU" sz="13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Seaborn</a:t>
                      </a:r>
                      <a:endParaRPr lang="en-US" sz="13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Попробовали с их помощью строить различные графики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46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92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503" name="Google Shape;503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9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92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92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 в чат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3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Знакомство с командой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и программой курса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2978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u="sng" dirty="0">
                <a:solidFill>
                  <a:srgbClr val="FF9900"/>
                </a:solidFill>
              </a:rPr>
              <a:t>Роман Козлов</a:t>
            </a:r>
            <a:endParaRPr sz="1517" b="1" u="sng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598325"/>
            <a:ext cx="26451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867" b="1" dirty="0"/>
              <a:t>Руководитель курса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867" dirty="0"/>
              <a:t>Аналитик </a:t>
            </a:r>
            <a:r>
              <a:rPr lang="en-US" sz="867" dirty="0"/>
              <a:t>Big Data/</a:t>
            </a:r>
            <a:r>
              <a:rPr lang="ru-RU" sz="867" dirty="0"/>
              <a:t>системный аналитик с опытом 8+ лет.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ru-RU" sz="867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867" dirty="0"/>
              <a:t>В настоящее время занимается пользовательской аналитикой в проектах Правительства Москвы, таких как Наш город, Активный гражданин, Город Идей, Миллион призов и т.д.</a:t>
            </a:r>
            <a:endParaRPr sz="867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720" b="720"/>
          <a:stretch/>
        </p:blipFill>
        <p:spPr>
          <a:xfrm>
            <a:off x="789925" y="135502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6" name="Google Shape;226;p40"/>
          <p:cNvSpPr txBox="1">
            <a:spLocks noGrp="1"/>
          </p:cNvSpPr>
          <p:nvPr>
            <p:ph type="subTitle" idx="4294967295"/>
          </p:nvPr>
        </p:nvSpPr>
        <p:spPr>
          <a:xfrm>
            <a:off x="1708980" y="2975011"/>
            <a:ext cx="1991700" cy="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-RU" sz="1517" b="1" dirty="0">
                <a:solidFill>
                  <a:srgbClr val="FF9900"/>
                </a:solidFill>
              </a:rPr>
              <a:t>Евгений </a:t>
            </a:r>
            <a:r>
              <a:rPr lang="ru-RU" sz="1517" b="1" dirty="0" err="1">
                <a:solidFill>
                  <a:srgbClr val="FF9900"/>
                </a:solidFill>
              </a:rPr>
              <a:t>Ревняков</a:t>
            </a:r>
            <a:endParaRPr sz="1517" b="1" dirty="0">
              <a:solidFill>
                <a:srgbClr val="FF9900"/>
              </a:solidFill>
            </a:endParaRPr>
          </a:p>
        </p:txBody>
      </p:sp>
      <p:sp>
        <p:nvSpPr>
          <p:cNvPr id="227" name="Google Shape;227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3275450"/>
            <a:ext cx="2554200" cy="115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/>
              <a:t>Senior software engineer</a:t>
            </a:r>
            <a:endParaRPr lang="ru-RU" sz="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900" dirty="0"/>
              <a:t>Участвовал в проектах по автоматизации бизнес-процессов при помощи нейросетей (сервис заказа такси «Максим»), разработке информационных систем в медицине, </a:t>
            </a:r>
            <a:r>
              <a:rPr lang="en-US" sz="900" dirty="0"/>
              <a:t>GIS-</a:t>
            </a:r>
            <a:r>
              <a:rPr lang="ru-RU" sz="900" dirty="0"/>
              <a:t>системы и процессингом изображений</a:t>
            </a:r>
            <a:r>
              <a:rPr lang="en-US" sz="900" dirty="0"/>
              <a:t>.</a:t>
            </a:r>
            <a:endParaRPr lang="ru-RU" sz="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900" dirty="0"/>
              <a:t>Образование: Курганский университет (к.т.н.) </a:t>
            </a:r>
            <a:r>
              <a:rPr lang="en-US" sz="900" dirty="0" err="1"/>
              <a:t>Otus</a:t>
            </a:r>
            <a:r>
              <a:rPr lang="en-US" sz="900" dirty="0"/>
              <a:t> Certified Educator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867" dirty="0"/>
          </a:p>
        </p:txBody>
      </p:sp>
      <p:pic>
        <p:nvPicPr>
          <p:cNvPr id="228" name="Google Shape;228;p40"/>
          <p:cNvPicPr preferRelativeResize="0"/>
          <p:nvPr/>
        </p:nvPicPr>
        <p:blipFill>
          <a:blip r:embed="rId4"/>
          <a:srcRect t="6527" b="6527"/>
          <a:stretch/>
        </p:blipFill>
        <p:spPr>
          <a:xfrm>
            <a:off x="789925" y="3032156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9" name="Google Shape;229;p40"/>
          <p:cNvSpPr txBox="1">
            <a:spLocks noGrp="1"/>
          </p:cNvSpPr>
          <p:nvPr>
            <p:ph type="subTitle" idx="4294967295"/>
          </p:nvPr>
        </p:nvSpPr>
        <p:spPr>
          <a:xfrm>
            <a:off x="5880205" y="1297880"/>
            <a:ext cx="1991700" cy="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Игорь Стурейко</a:t>
            </a:r>
          </a:p>
        </p:txBody>
      </p:sp>
      <p:sp>
        <p:nvSpPr>
          <p:cNvPr id="230" name="Google Shape;230;p40"/>
          <p:cNvSpPr txBox="1">
            <a:spLocks noGrp="1"/>
          </p:cNvSpPr>
          <p:nvPr>
            <p:ph type="subTitle" idx="4294967295"/>
          </p:nvPr>
        </p:nvSpPr>
        <p:spPr>
          <a:xfrm>
            <a:off x="5880200" y="1598325"/>
            <a:ext cx="2585700" cy="11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867" dirty="0"/>
              <a:t>15+ лет опыта в прикладной математике и математическом моделировании </a:t>
            </a:r>
            <a:r>
              <a:rPr lang="ru-RU" sz="867" dirty="0" err="1"/>
              <a:t>НИИгазэкономика</a:t>
            </a:r>
            <a:r>
              <a:rPr lang="ru-RU" sz="867" dirty="0"/>
              <a:t> ПАО Газпром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ru-RU" sz="867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850" dirty="0"/>
              <a:t>Руководил командой̆, решающей прикладные задачи, вывод готовых моделей в продакшн и поддержку решений у клиента</a:t>
            </a:r>
            <a:endParaRPr lang="ru-RU" sz="867" dirty="0"/>
          </a:p>
        </p:txBody>
      </p:sp>
      <p:pic>
        <p:nvPicPr>
          <p:cNvPr id="231" name="Google Shape;231;p40"/>
          <p:cNvPicPr preferRelativeResize="0"/>
          <p:nvPr/>
        </p:nvPicPr>
        <p:blipFill>
          <a:blip r:embed="rId5"/>
          <a:srcRect t="8685" b="8685"/>
          <a:stretch/>
        </p:blipFill>
        <p:spPr>
          <a:xfrm>
            <a:off x="4961150" y="1355025"/>
            <a:ext cx="830100" cy="819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94"/>
          <p:cNvSpPr/>
          <p:nvPr/>
        </p:nvSpPr>
        <p:spPr>
          <a:xfrm>
            <a:off x="1052550" y="1264075"/>
            <a:ext cx="3426900" cy="77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94"/>
          <p:cNvSpPr/>
          <p:nvPr/>
        </p:nvSpPr>
        <p:spPr>
          <a:xfrm>
            <a:off x="1052550" y="2237575"/>
            <a:ext cx="3426900" cy="993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94"/>
          <p:cNvSpPr/>
          <p:nvPr/>
        </p:nvSpPr>
        <p:spPr>
          <a:xfrm>
            <a:off x="1052550" y="3425275"/>
            <a:ext cx="3426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94"/>
          <p:cNvSpPr/>
          <p:nvPr/>
        </p:nvSpPr>
        <p:spPr>
          <a:xfrm>
            <a:off x="4673550" y="1264075"/>
            <a:ext cx="3417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94"/>
          <p:cNvSpPr/>
          <p:nvPr/>
        </p:nvSpPr>
        <p:spPr>
          <a:xfrm>
            <a:off x="4673550" y="2579575"/>
            <a:ext cx="3417900" cy="848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94"/>
          <p:cNvSpPr/>
          <p:nvPr/>
        </p:nvSpPr>
        <p:spPr>
          <a:xfrm>
            <a:off x="4673550" y="3607675"/>
            <a:ext cx="3417900" cy="951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2" name="Google Shape;522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79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94"/>
          <p:cNvSpPr txBox="1"/>
          <p:nvPr/>
        </p:nvSpPr>
        <p:spPr>
          <a:xfrm>
            <a:off x="1763275" y="1326125"/>
            <a:ext cx="25296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Обучение выстроено в формате вебинаров (онлайн). Онлайн-вебинары проводятся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вечерам или в выходные дни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4" name="Google Shape;524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900" y="24404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94"/>
          <p:cNvSpPr txBox="1"/>
          <p:nvPr/>
        </p:nvSpPr>
        <p:spPr>
          <a:xfrm>
            <a:off x="1763275" y="2305525"/>
            <a:ext cx="2626500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Все записи занятий и материалы, предоставляемые преподавателями, сохраняются в личном кабинете и остаются доступны даже после окончания обучения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6" name="Google Shape;526;p9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7900" y="36322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94"/>
          <p:cNvSpPr txBox="1"/>
          <p:nvPr/>
        </p:nvSpPr>
        <p:spPr>
          <a:xfrm>
            <a:off x="1763275" y="3495075"/>
            <a:ext cx="2493300" cy="10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 позволят Вам применить на практике полученные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 время вебинаров знания.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каждому домашнему заданию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преподаватель дает развернутый фидбек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8" name="Google Shape;528;p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31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94"/>
          <p:cNvSpPr txBox="1"/>
          <p:nvPr/>
        </p:nvSpPr>
        <p:spPr>
          <a:xfrm>
            <a:off x="5378475" y="1326125"/>
            <a:ext cx="24933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процессе обучения Вы можете задавать преподавателю вопросы по материалам лекций и домашних заданий, уточнять моменты, которые были непонятны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уроке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0" name="Google Shape;530;p9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3100" y="2743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94"/>
          <p:cNvSpPr txBox="1"/>
          <p:nvPr/>
        </p:nvSpPr>
        <p:spPr>
          <a:xfrm>
            <a:off x="5378475" y="2647825"/>
            <a:ext cx="26265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Время на обучение: от 4 ак. часов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занятия и 4-8 часов на домашнюю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работу в неделю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2" name="Google Shape;532;p9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53100" y="3760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94"/>
          <p:cNvSpPr txBox="1"/>
          <p:nvPr/>
        </p:nvSpPr>
        <p:spPr>
          <a:xfrm>
            <a:off x="5378475" y="3664825"/>
            <a:ext cx="2529600" cy="8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Программа обучения на курсах обновляется каждый запуск в зависимости от актуальных запросов в сфере IТ-технологий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94"/>
          <p:cNvSpPr txBox="1"/>
          <p:nvPr/>
        </p:nvSpPr>
        <p:spPr>
          <a:xfrm>
            <a:off x="500550" y="336745"/>
            <a:ext cx="8307600" cy="1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 dirty="0">
                <a:latin typeface="Roboto"/>
                <a:ea typeface="Roboto"/>
                <a:cs typeface="Roboto"/>
                <a:sym typeface="Roboto"/>
              </a:rPr>
              <a:t>Процесс обучения</a:t>
            </a:r>
            <a:endParaRPr sz="31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курса</a:t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5805200" y="627325"/>
            <a:ext cx="3034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/>
            <a:r>
              <a:rPr lang="ru" dirty="0">
                <a:solidFill>
                  <a:srgbClr val="1F1F1F"/>
                </a:solidFill>
                <a:latin typeface="Google Sans"/>
                <a:sym typeface="Roboto"/>
              </a:rPr>
              <a:t>Введение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462588" y="1847675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Библиотеки по работе с данными и визуализациями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5351894" y="2780747"/>
            <a:ext cx="298033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/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Работа с базами данных, </a:t>
            </a:r>
            <a:br>
              <a: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парсинг</a:t>
            </a:r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данных с сайтов, взаимодействие с </a:t>
            </a:r>
            <a:r>
              <a: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API</a:t>
            </a:r>
          </a:p>
        </p:txBody>
      </p:sp>
      <p:sp>
        <p:nvSpPr>
          <p:cNvPr id="274" name="Google Shape;274;p44"/>
          <p:cNvSpPr/>
          <p:nvPr/>
        </p:nvSpPr>
        <p:spPr>
          <a:xfrm>
            <a:off x="627014" y="3070397"/>
            <a:ext cx="3460096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/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Практика. Продуктовая и маркетинговая аналитика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3" idx="1"/>
          </p:cNvCxnSpPr>
          <p:nvPr/>
        </p:nvCxnSpPr>
        <p:spPr>
          <a:xfrm flipV="1">
            <a:off x="3546288" y="1900817"/>
            <a:ext cx="1792906" cy="23650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2004438" y="916975"/>
            <a:ext cx="3800762" cy="93070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4014265" y="4239977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/>
            <a:r>
              <a:rPr lang="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3" idx="3"/>
            <a:endCxn id="273" idx="3"/>
          </p:cNvCxnSpPr>
          <p:nvPr/>
        </p:nvCxnSpPr>
        <p:spPr>
          <a:xfrm>
            <a:off x="8319526" y="1900817"/>
            <a:ext cx="12700" cy="1169580"/>
          </a:xfrm>
          <a:prstGeom prst="curvedConnector3">
            <a:avLst>
              <a:gd name="adj1" fmla="val 19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2"/>
            <a:endCxn id="278" idx="1"/>
          </p:cNvCxnSpPr>
          <p:nvPr/>
        </p:nvCxnSpPr>
        <p:spPr>
          <a:xfrm rot="16200000" flipH="1">
            <a:off x="2745698" y="3261060"/>
            <a:ext cx="879930" cy="1657203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0" name="Google Shape;225;p40">
            <a:extLst>
              <a:ext uri="{FF2B5EF4-FFF2-40B4-BE49-F238E27FC236}">
                <a16:creationId xmlns:a16="http://schemas.microsoft.com/office/drawing/2014/main" id="{5952E6FF-4808-B94C-B6DD-9A87C1E38AAB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4087110" y="433162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1" name="Google Shape;225;p40">
            <a:extLst>
              <a:ext uri="{FF2B5EF4-FFF2-40B4-BE49-F238E27FC236}">
                <a16:creationId xmlns:a16="http://schemas.microsoft.com/office/drawing/2014/main" id="{CCAFB71F-CCB3-B544-A320-5206EFDB3EB9}"/>
              </a:ext>
            </a:extLst>
          </p:cNvPr>
          <p:cNvPicPr preferRelativeResize="0"/>
          <p:nvPr/>
        </p:nvPicPr>
        <p:blipFill>
          <a:blip r:embed="rId4"/>
          <a:srcRect t="2849" b="2849"/>
          <a:stretch/>
        </p:blipFill>
        <p:spPr>
          <a:xfrm>
            <a:off x="711197" y="316191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" name="Google Shape;225;p40">
            <a:extLst>
              <a:ext uri="{FF2B5EF4-FFF2-40B4-BE49-F238E27FC236}">
                <a16:creationId xmlns:a16="http://schemas.microsoft.com/office/drawing/2014/main" id="{C10A6B38-6EE0-4B44-A413-4970CB23C145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506059" y="193932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1" name="Google Shape;225;p40">
            <a:extLst>
              <a:ext uri="{FF2B5EF4-FFF2-40B4-BE49-F238E27FC236}">
                <a16:creationId xmlns:a16="http://schemas.microsoft.com/office/drawing/2014/main" id="{4EFF9E3E-81BB-0F41-94E5-0451ACC4CDD8}"/>
              </a:ext>
            </a:extLst>
          </p:cNvPr>
          <p:cNvPicPr preferRelativeResize="0"/>
          <p:nvPr/>
        </p:nvPicPr>
        <p:blipFill>
          <a:blip r:embed="rId6"/>
          <a:srcRect t="2849" b="2849"/>
          <a:stretch/>
        </p:blipFill>
        <p:spPr>
          <a:xfrm>
            <a:off x="5437635" y="287239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928FDA-C6DB-FB49-BE89-A4B9B50614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4530" y="695525"/>
            <a:ext cx="416061" cy="529402"/>
          </a:xfrm>
          <a:prstGeom prst="rect">
            <a:avLst/>
          </a:prstGeom>
        </p:spPr>
      </p:pic>
      <p:sp>
        <p:nvSpPr>
          <p:cNvPr id="23" name="Google Shape;273;p44">
            <a:extLst>
              <a:ext uri="{FF2B5EF4-FFF2-40B4-BE49-F238E27FC236}">
                <a16:creationId xmlns:a16="http://schemas.microsoft.com/office/drawing/2014/main" id="{571DBAC5-C62D-3F43-BCAF-949D8FB00D2C}"/>
              </a:ext>
            </a:extLst>
          </p:cNvPr>
          <p:cNvSpPr/>
          <p:nvPr/>
        </p:nvSpPr>
        <p:spPr>
          <a:xfrm>
            <a:off x="5339194" y="1611167"/>
            <a:ext cx="298033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/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Основы статистики</a:t>
            </a:r>
            <a:endParaRPr lang="en-US"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00305AF5-71D1-4342-AFA0-D0B94143281F}"/>
              </a:ext>
            </a:extLst>
          </p:cNvPr>
          <p:cNvPicPr preferRelativeResize="0"/>
          <p:nvPr/>
        </p:nvPicPr>
        <p:blipFill>
          <a:blip r:embed="rId8"/>
          <a:srcRect t="2849" b="2849"/>
          <a:stretch/>
        </p:blipFill>
        <p:spPr>
          <a:xfrm>
            <a:off x="5424935" y="1702816"/>
            <a:ext cx="419930" cy="396001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29" name="Google Shape;276;p44">
            <a:extLst>
              <a:ext uri="{FF2B5EF4-FFF2-40B4-BE49-F238E27FC236}">
                <a16:creationId xmlns:a16="http://schemas.microsoft.com/office/drawing/2014/main" id="{7A4C13FC-8F32-AE49-9D85-A21E56D0BB70}"/>
              </a:ext>
            </a:extLst>
          </p:cNvPr>
          <p:cNvCxnSpPr>
            <a:cxnSpLocks/>
            <a:stCxn id="274" idx="3"/>
            <a:endCxn id="273" idx="1"/>
          </p:cNvCxnSpPr>
          <p:nvPr/>
        </p:nvCxnSpPr>
        <p:spPr>
          <a:xfrm flipV="1">
            <a:off x="4087110" y="3070397"/>
            <a:ext cx="1264784" cy="28965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/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 </a:t>
            </a:r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3406"/>
            <a:ext cx="5355965" cy="360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Google Sans"/>
                <a:sym typeface="Roboto"/>
              </a:rPr>
              <a:t>Jupyter, </a:t>
            </a:r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синтаксис </a:t>
            </a:r>
            <a:r>
              <a:rPr lang="en-US" sz="1200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25640"/>
            <a:ext cx="5355965" cy="360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Итерируемые типы данных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2667874"/>
            <a:ext cx="5355965" cy="360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Условные операторы</a:t>
            </a:r>
            <a:r>
              <a:rPr lang="en-US" sz="1200" dirty="0">
                <a:solidFill>
                  <a:srgbClr val="1F1F1F"/>
                </a:solidFill>
                <a:latin typeface="Google Sans"/>
                <a:sym typeface="Roboto"/>
              </a:rPr>
              <a:t>, </a:t>
            </a:r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исключения, циклы</a:t>
            </a:r>
            <a:r>
              <a:rPr lang="en-US" sz="1200" dirty="0">
                <a:solidFill>
                  <a:srgbClr val="1F1F1F"/>
                </a:solidFill>
                <a:latin typeface="Google Sans"/>
                <a:sym typeface="Roboto"/>
              </a:rPr>
              <a:t>, </a:t>
            </a:r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генераторы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110108"/>
            <a:ext cx="5355965" cy="360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Функции, области видимости, переменные, лямбда функции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76905" y="1613597"/>
            <a:ext cx="27968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55788" y="1834714"/>
            <a:ext cx="72192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434671" y="2055831"/>
            <a:ext cx="1164155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1213554" y="2276948"/>
            <a:ext cx="16063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100580"/>
              </p:ext>
            </p:extLst>
          </p:nvPr>
        </p:nvGraphicFramePr>
        <p:xfrm>
          <a:off x="5355768" y="573874"/>
          <a:ext cx="2226912" cy="30480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615622238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43652" y="2690453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602806" y="2634359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380F84C-9BE7-2948-AA69-E21691185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95" y="1161923"/>
            <a:ext cx="416061" cy="529402"/>
          </a:xfrm>
          <a:prstGeom prst="rect">
            <a:avLst/>
          </a:prstGeom>
        </p:spPr>
      </p:pic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5D9F4EDB-9E5A-EF4F-919D-B539B4005035}"/>
              </a:ext>
            </a:extLst>
          </p:cNvPr>
          <p:cNvSpPr/>
          <p:nvPr/>
        </p:nvSpPr>
        <p:spPr>
          <a:xfrm>
            <a:off x="2226713" y="3552342"/>
            <a:ext cx="5355965" cy="360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Работа со строковыми данными. Регулярные выражения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8E911D8E-CA61-FF49-BBA2-CDF1C546AF9D}"/>
              </a:ext>
            </a:extLst>
          </p:cNvPr>
          <p:cNvSpPr/>
          <p:nvPr/>
        </p:nvSpPr>
        <p:spPr>
          <a:xfrm>
            <a:off x="2226712" y="3994576"/>
            <a:ext cx="5355965" cy="360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Работа с файловой системой и модули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869C3B04-9032-EF4F-8451-9030DB8D4DD3}"/>
              </a:ext>
            </a:extLst>
          </p:cNvPr>
          <p:cNvSpPr/>
          <p:nvPr/>
        </p:nvSpPr>
        <p:spPr>
          <a:xfrm>
            <a:off x="2226712" y="4436812"/>
            <a:ext cx="5355965" cy="360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Google Sans"/>
                <a:sym typeface="Roboto"/>
              </a:rPr>
              <a:t>Q&amp;A </a:t>
            </a:r>
            <a:r>
              <a:rPr lang="ru-RU" sz="1200" dirty="0">
                <a:solidFill>
                  <a:srgbClr val="1F1F1F"/>
                </a:solidFill>
                <a:latin typeface="Google Sans"/>
                <a:sym typeface="Roboto"/>
              </a:rPr>
              <a:t>занятие (разбор домашних заданий)</a:t>
            </a:r>
            <a:endParaRPr sz="12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0053DCB1-BE89-904A-A5B5-852ABC04B6C9}"/>
              </a:ext>
            </a:extLst>
          </p:cNvPr>
          <p:cNvCxnSpPr>
            <a:cxnSpLocks/>
            <a:stCxn id="271" idx="2"/>
            <a:endCxn id="21" idx="1"/>
          </p:cNvCxnSpPr>
          <p:nvPr/>
        </p:nvCxnSpPr>
        <p:spPr>
          <a:xfrm rot="16200000" flipH="1">
            <a:off x="992437" y="2498065"/>
            <a:ext cx="204862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9D822E06-E424-F541-913B-4FF974910228}"/>
              </a:ext>
            </a:extLst>
          </p:cNvPr>
          <p:cNvCxnSpPr>
            <a:cxnSpLocks/>
            <a:stCxn id="271" idx="2"/>
            <a:endCxn id="22" idx="1"/>
          </p:cNvCxnSpPr>
          <p:nvPr/>
        </p:nvCxnSpPr>
        <p:spPr>
          <a:xfrm rot="16200000" flipH="1">
            <a:off x="771320" y="2719183"/>
            <a:ext cx="2490857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171A4259-727E-1D4F-95AE-79E06B10582A}"/>
              </a:ext>
            </a:extLst>
          </p:cNvPr>
          <p:cNvCxnSpPr>
            <a:cxnSpLocks/>
            <a:stCxn id="271" idx="2"/>
            <a:endCxn id="24" idx="1"/>
          </p:cNvCxnSpPr>
          <p:nvPr/>
        </p:nvCxnSpPr>
        <p:spPr>
          <a:xfrm rot="16200000" flipH="1">
            <a:off x="550202" y="2940301"/>
            <a:ext cx="2933093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oogle Shape;530;p82">
            <a:extLst>
              <a:ext uri="{FF2B5EF4-FFF2-40B4-BE49-F238E27FC236}">
                <a16:creationId xmlns:a16="http://schemas.microsoft.com/office/drawing/2014/main" id="{0F076D69-D2CD-D64C-BDA2-94A6B984B87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49915" y="1801405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7DACF1EF-5487-7041-90FC-3E9F64E5E65A}"/>
              </a:ext>
            </a:extLst>
          </p:cNvPr>
          <p:cNvSpPr txBox="1"/>
          <p:nvPr/>
        </p:nvSpPr>
        <p:spPr>
          <a:xfrm rot="20748746">
            <a:off x="7609069" y="1745311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88A32A22-1F42-DF44-8783-3CF3664E7908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43651" y="313444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A3EC1F66-7912-5F41-B15F-809F84357D34}"/>
              </a:ext>
            </a:extLst>
          </p:cNvPr>
          <p:cNvSpPr txBox="1"/>
          <p:nvPr/>
        </p:nvSpPr>
        <p:spPr>
          <a:xfrm rot="20748746">
            <a:off x="7602805" y="307834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42" name="Google Shape;530;p82">
            <a:extLst>
              <a:ext uri="{FF2B5EF4-FFF2-40B4-BE49-F238E27FC236}">
                <a16:creationId xmlns:a16="http://schemas.microsoft.com/office/drawing/2014/main" id="{0D439205-FCA2-4745-8C10-2C140994B5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45583" y="3570341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1E96D91-E5FD-F94A-BDAD-898E0F369371}"/>
              </a:ext>
            </a:extLst>
          </p:cNvPr>
          <p:cNvSpPr txBox="1"/>
          <p:nvPr/>
        </p:nvSpPr>
        <p:spPr>
          <a:xfrm rot="20748746">
            <a:off x="7604737" y="3514247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44" name="Google Shape;530;p82">
            <a:extLst>
              <a:ext uri="{FF2B5EF4-FFF2-40B4-BE49-F238E27FC236}">
                <a16:creationId xmlns:a16="http://schemas.microsoft.com/office/drawing/2014/main" id="{DCEBAA79-0D88-B74A-8D2D-3D9B045D4E2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43651" y="4030576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8CAD827-F9F8-5F43-8EB3-B6D8BB699644}"/>
              </a:ext>
            </a:extLst>
          </p:cNvPr>
          <p:cNvSpPr txBox="1"/>
          <p:nvPr/>
        </p:nvSpPr>
        <p:spPr>
          <a:xfrm rot="20748746">
            <a:off x="7602805" y="3974482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319462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Библиотеки по работе с данными и визуализациями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Библиотека </a:t>
            </a:r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Numpy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,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вектора и матрицы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0319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Библиотека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Pandas, Series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Dataframe</a:t>
            </a:r>
            <a:endParaRPr lang="ru-RU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1438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Продвинутый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Pandas,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работа с временными рядами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2557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Визуализация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Matplotlib, Seaborn, </a:t>
            </a:r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Plotly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59144" y="1822438"/>
            <a:ext cx="406289" cy="1288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703550" y="2078032"/>
            <a:ext cx="917477" cy="1288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447956" y="2333626"/>
            <a:ext cx="1428665" cy="1288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192362" y="2589220"/>
            <a:ext cx="1939853" cy="1288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1E70FE6D-9707-554D-A77C-32B4E003302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86931" y="3461571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73F6CCE-3421-0F41-BADD-782C8BB884F8}"/>
              </a:ext>
            </a:extLst>
          </p:cNvPr>
          <p:cNvSpPr txBox="1"/>
          <p:nvPr/>
        </p:nvSpPr>
        <p:spPr>
          <a:xfrm rot="20748746">
            <a:off x="7546085" y="3405477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25" name="Google Shape;271;p44">
            <a:extLst>
              <a:ext uri="{FF2B5EF4-FFF2-40B4-BE49-F238E27FC236}">
                <a16:creationId xmlns:a16="http://schemas.microsoft.com/office/drawing/2014/main" id="{6AAFEF18-6AF7-D742-BED8-1EE0FB9F9DFF}"/>
              </a:ext>
            </a:extLst>
          </p:cNvPr>
          <p:cNvSpPr/>
          <p:nvPr/>
        </p:nvSpPr>
        <p:spPr>
          <a:xfrm>
            <a:off x="2226712" y="3936760"/>
            <a:ext cx="5355965" cy="488754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Практика: работы с данными с использованием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Pandas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библиотек визуализации</a:t>
            </a:r>
          </a:p>
        </p:txBody>
      </p:sp>
      <p:sp>
        <p:nvSpPr>
          <p:cNvPr id="35" name="Google Shape;271;p44">
            <a:extLst>
              <a:ext uri="{FF2B5EF4-FFF2-40B4-BE49-F238E27FC236}">
                <a16:creationId xmlns:a16="http://schemas.microsoft.com/office/drawing/2014/main" id="{5155F389-DB3A-4A42-A2CE-75E4C4014960}"/>
              </a:ext>
            </a:extLst>
          </p:cNvPr>
          <p:cNvSpPr/>
          <p:nvPr/>
        </p:nvSpPr>
        <p:spPr>
          <a:xfrm>
            <a:off x="2226711" y="454070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Q&amp;A (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разбор домашних заданий)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87453B9F-3AC2-D04F-AE18-4F58FD4BFF65}"/>
              </a:ext>
            </a:extLst>
          </p:cNvPr>
          <p:cNvCxnSpPr>
            <a:cxnSpLocks/>
            <a:stCxn id="271" idx="2"/>
            <a:endCxn id="25" idx="1"/>
          </p:cNvCxnSpPr>
          <p:nvPr/>
        </p:nvCxnSpPr>
        <p:spPr>
          <a:xfrm rot="16200000" flipH="1">
            <a:off x="913579" y="2868004"/>
            <a:ext cx="2497418" cy="12884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DF34340-E2A6-A843-9603-9C8D637AE52D}"/>
              </a:ext>
            </a:extLst>
          </p:cNvPr>
          <p:cNvCxnSpPr>
            <a:cxnSpLocks/>
            <a:stCxn id="271" idx="2"/>
            <a:endCxn id="35" idx="1"/>
          </p:cNvCxnSpPr>
          <p:nvPr/>
        </p:nvCxnSpPr>
        <p:spPr>
          <a:xfrm rot="16200000" flipH="1">
            <a:off x="634795" y="3146787"/>
            <a:ext cx="3054984" cy="1288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oogle Shape;225;p40">
            <a:extLst>
              <a:ext uri="{FF2B5EF4-FFF2-40B4-BE49-F238E27FC236}">
                <a16:creationId xmlns:a16="http://schemas.microsoft.com/office/drawing/2014/main" id="{EAE212ED-D3FC-2B47-A5E4-0FF16A146595}"/>
              </a:ext>
            </a:extLst>
          </p:cNvPr>
          <p:cNvPicPr preferRelativeResize="0"/>
          <p:nvPr/>
        </p:nvPicPr>
        <p:blipFill>
          <a:blip r:embed="rId4"/>
          <a:srcRect t="2849" b="2849"/>
          <a:stretch/>
        </p:blipFill>
        <p:spPr>
          <a:xfrm>
            <a:off x="593741" y="1196068"/>
            <a:ext cx="419930" cy="396001"/>
          </a:xfrm>
          <a:prstGeom prst="ellipse">
            <a:avLst/>
          </a:prstGeom>
          <a:noFill/>
          <a:ln>
            <a:noFill/>
          </a:ln>
        </p:spPr>
      </p:pic>
      <p:graphicFrame>
        <p:nvGraphicFramePr>
          <p:cNvPr id="20" name="Table 23">
            <a:extLst>
              <a:ext uri="{FF2B5EF4-FFF2-40B4-BE49-F238E27FC236}">
                <a16:creationId xmlns:a16="http://schemas.microsoft.com/office/drawing/2014/main" id="{B439E66F-7EAC-FB47-ACB0-384FF44E5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288411"/>
              </p:ext>
            </p:extLst>
          </p:nvPr>
        </p:nvGraphicFramePr>
        <p:xfrm>
          <a:off x="5355768" y="573874"/>
          <a:ext cx="2226912" cy="30480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615622238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964504"/>
            <a:ext cx="3150787" cy="719215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/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Основы статистики</a:t>
            </a:r>
            <a:endParaRPr lang="en-US"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Основы статистики. ЦПТ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Исследование зависимостей: номинальные, порядковые и количественные величины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А/В-тестирование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А/В-тестирование - практика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48184" y="1811478"/>
            <a:ext cx="406289" cy="1507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83173" y="2076489"/>
            <a:ext cx="936310" cy="1507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418163" y="2341499"/>
            <a:ext cx="1466331" cy="1507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153152" y="2606510"/>
            <a:ext cx="1996352" cy="1507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oogle Shape;225;p40">
            <a:extLst>
              <a:ext uri="{FF2B5EF4-FFF2-40B4-BE49-F238E27FC236}">
                <a16:creationId xmlns:a16="http://schemas.microsoft.com/office/drawing/2014/main" id="{52599332-2FFA-044C-995B-B798ADA0046C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580908" y="1134767"/>
            <a:ext cx="419930" cy="396001"/>
          </a:xfrm>
          <a:prstGeom prst="ellipse">
            <a:avLst/>
          </a:prstGeom>
          <a:noFill/>
          <a:ln>
            <a:noFill/>
          </a:ln>
        </p:spPr>
      </p:pic>
      <p:graphicFrame>
        <p:nvGraphicFramePr>
          <p:cNvPr id="18" name="Table 23">
            <a:extLst>
              <a:ext uri="{FF2B5EF4-FFF2-40B4-BE49-F238E27FC236}">
                <a16:creationId xmlns:a16="http://schemas.microsoft.com/office/drawing/2014/main" id="{91112D48-868F-4A40-836A-9A97BC7FB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798456"/>
              </p:ext>
            </p:extLst>
          </p:nvPr>
        </p:nvGraphicFramePr>
        <p:xfrm>
          <a:off x="5355768" y="573874"/>
          <a:ext cx="2226912" cy="30480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615622238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6421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964504"/>
            <a:ext cx="3150787" cy="719215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/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Работа с базами данных, </a:t>
            </a:r>
            <a:b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парсинг</a:t>
            </a: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данных с сайтов, взаимодействие с 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API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Основы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 SQL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: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Таблицы, представления, простые выборки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Join, exists,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вложенные запросы,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group by, having</a:t>
            </a:r>
            <a:endParaRPr lang="ru-RU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Оконные функции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SQL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Работа с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HTTP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Python.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Библиотеки,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requests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48184" y="1811478"/>
            <a:ext cx="406289" cy="1507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83173" y="2076489"/>
            <a:ext cx="936310" cy="1507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418163" y="2341499"/>
            <a:ext cx="1466331" cy="1507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153152" y="2606510"/>
            <a:ext cx="1996352" cy="1507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F1CFE2F-28F6-854C-B875-84E1551E53B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45342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AAA4539-F01D-3B46-8649-E7BCB5ED75D3}"/>
              </a:ext>
            </a:extLst>
          </p:cNvPr>
          <p:cNvSpPr txBox="1"/>
          <p:nvPr/>
        </p:nvSpPr>
        <p:spPr>
          <a:xfrm rot="20748746">
            <a:off x="7534369" y="239732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755F353F-0B1F-B440-BA17-EF3647C41A67}"/>
              </a:ext>
            </a:extLst>
          </p:cNvPr>
          <p:cNvSpPr/>
          <p:nvPr/>
        </p:nvSpPr>
        <p:spPr>
          <a:xfrm>
            <a:off x="2226713" y="40106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Парсинг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данных из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HTML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CC92A012-1145-1246-AD75-982BADB552EE}"/>
              </a:ext>
            </a:extLst>
          </p:cNvPr>
          <p:cNvCxnSpPr>
            <a:cxnSpLocks/>
            <a:stCxn id="271" idx="2"/>
            <a:endCxn id="24" idx="1"/>
          </p:cNvCxnSpPr>
          <p:nvPr/>
        </p:nvCxnSpPr>
        <p:spPr>
          <a:xfrm rot="16200000" flipH="1">
            <a:off x="888847" y="2870815"/>
            <a:ext cx="2524962" cy="1507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oogle Shape;225;p40">
            <a:extLst>
              <a:ext uri="{FF2B5EF4-FFF2-40B4-BE49-F238E27FC236}">
                <a16:creationId xmlns:a16="http://schemas.microsoft.com/office/drawing/2014/main" id="{52599332-2FFA-044C-995B-B798ADA0046C}"/>
              </a:ext>
            </a:extLst>
          </p:cNvPr>
          <p:cNvPicPr preferRelativeResize="0"/>
          <p:nvPr/>
        </p:nvPicPr>
        <p:blipFill>
          <a:blip r:embed="rId4"/>
          <a:srcRect t="2849" b="2849"/>
          <a:stretch/>
        </p:blipFill>
        <p:spPr>
          <a:xfrm>
            <a:off x="580908" y="1134767"/>
            <a:ext cx="419930" cy="396001"/>
          </a:xfrm>
          <a:prstGeom prst="ellipse">
            <a:avLst/>
          </a:prstGeom>
          <a:noFill/>
          <a:ln>
            <a:noFill/>
          </a:ln>
        </p:spPr>
      </p:pic>
      <p:graphicFrame>
        <p:nvGraphicFramePr>
          <p:cNvPr id="18" name="Table 23">
            <a:extLst>
              <a:ext uri="{FF2B5EF4-FFF2-40B4-BE49-F238E27FC236}">
                <a16:creationId xmlns:a16="http://schemas.microsoft.com/office/drawing/2014/main" id="{2D834621-0A60-0C41-B479-196E985AF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081934"/>
              </p:ext>
            </p:extLst>
          </p:nvPr>
        </p:nvGraphicFramePr>
        <p:xfrm>
          <a:off x="5355768" y="573874"/>
          <a:ext cx="2226912" cy="30480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615622238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3818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3125735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Практика. Продуктовая и маркетинговая аналитика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в продуктовую аналитику на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Python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522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Когортный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анализ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89844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RFM -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анализ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0165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ABC-XYZ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анализ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41921" y="1805215"/>
            <a:ext cx="406289" cy="1632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90312" y="2056824"/>
            <a:ext cx="909506" cy="1632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438704" y="2308432"/>
            <a:ext cx="1412723" cy="1632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187095" y="2560041"/>
            <a:ext cx="1915940" cy="1632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E3F9BED0-D7E7-2341-8AE5-D7D3EAFD76DD}"/>
              </a:ext>
            </a:extLst>
          </p:cNvPr>
          <p:cNvSpPr/>
          <p:nvPr/>
        </p:nvSpPr>
        <p:spPr>
          <a:xfrm>
            <a:off x="2226713" y="390487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 формирования продуктовых корзин. Алгоритм априори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AE35560F-9E10-534D-9CE5-B89267D68AC9}"/>
              </a:ext>
            </a:extLst>
          </p:cNvPr>
          <p:cNvCxnSpPr>
            <a:cxnSpLocks/>
            <a:stCxn id="271" idx="2"/>
            <a:endCxn id="21" idx="1"/>
          </p:cNvCxnSpPr>
          <p:nvPr/>
        </p:nvCxnSpPr>
        <p:spPr>
          <a:xfrm rot="16200000" flipH="1">
            <a:off x="935487" y="2811649"/>
            <a:ext cx="2419157" cy="1632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oogle Shape;225;p40">
            <a:extLst>
              <a:ext uri="{FF2B5EF4-FFF2-40B4-BE49-F238E27FC236}">
                <a16:creationId xmlns:a16="http://schemas.microsoft.com/office/drawing/2014/main" id="{B57A7942-5F63-3643-B47C-87CBC69531FA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577573" y="1193862"/>
            <a:ext cx="419930" cy="396001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FF3575B1-2BA6-BC48-810C-C1AE407E4F95}"/>
              </a:ext>
            </a:extLst>
          </p:cNvPr>
          <p:cNvSpPr/>
          <p:nvPr/>
        </p:nvSpPr>
        <p:spPr>
          <a:xfrm>
            <a:off x="2226713" y="4408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Метод прогнозирования последовательностей. Цепи Маркова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16924779-581D-5A48-8B0F-27DD1F192A0D}"/>
              </a:ext>
            </a:extLst>
          </p:cNvPr>
          <p:cNvCxnSpPr>
            <a:cxnSpLocks/>
            <a:stCxn id="271" idx="2"/>
            <a:endCxn id="24" idx="1"/>
          </p:cNvCxnSpPr>
          <p:nvPr/>
        </p:nvCxnSpPr>
        <p:spPr>
          <a:xfrm rot="16200000" flipH="1">
            <a:off x="683879" y="3063257"/>
            <a:ext cx="2922373" cy="1632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3">
            <a:extLst>
              <a:ext uri="{FF2B5EF4-FFF2-40B4-BE49-F238E27FC236}">
                <a16:creationId xmlns:a16="http://schemas.microsoft.com/office/drawing/2014/main" id="{EF3D3363-F42B-A945-A9CF-827C96B2F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239445"/>
              </p:ext>
            </p:extLst>
          </p:nvPr>
        </p:nvGraphicFramePr>
        <p:xfrm>
          <a:off x="5355768" y="573874"/>
          <a:ext cx="2226912" cy="30480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615622238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6227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355600" lvl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Выбор темы и организация проектной работы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Консультация по проектам и домашним заданиям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Защита проектных работ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D3A5F98-F024-0E46-989B-34E1B04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464" y="2943932"/>
            <a:ext cx="2989203" cy="1992802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B0C75A5D-5D72-6D41-85C9-7CD68723B310}"/>
              </a:ext>
            </a:extLst>
          </p:cNvPr>
          <p:cNvPicPr preferRelativeResize="0"/>
          <p:nvPr/>
        </p:nvPicPr>
        <p:blipFill>
          <a:blip r:embed="rId4"/>
          <a:srcRect t="2849" b="2849"/>
          <a:stretch/>
        </p:blipFill>
        <p:spPr>
          <a:xfrm>
            <a:off x="572497" y="1196068"/>
            <a:ext cx="419930" cy="396001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0F28CEF2-9F3C-D747-AEDE-75E7F385C3DF}"/>
              </a:ext>
            </a:extLst>
          </p:cNvPr>
          <p:cNvSpPr/>
          <p:nvPr/>
        </p:nvSpPr>
        <p:spPr>
          <a:xfrm>
            <a:off x="2226713" y="3482071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Подведение итогов курса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E380460D-6985-154F-9936-74BB9CB24A5B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23">
            <a:extLst>
              <a:ext uri="{FF2B5EF4-FFF2-40B4-BE49-F238E27FC236}">
                <a16:creationId xmlns:a16="http://schemas.microsoft.com/office/drawing/2014/main" id="{18296121-4EC0-9046-AF15-3197FA6B1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384653"/>
              </p:ext>
            </p:extLst>
          </p:nvPr>
        </p:nvGraphicFramePr>
        <p:xfrm>
          <a:off x="5355768" y="573874"/>
          <a:ext cx="2226912" cy="304800"/>
        </p:xfrm>
        <a:graphic>
          <a:graphicData uri="http://schemas.openxmlformats.org/drawingml/2006/table">
            <a:tbl>
              <a:tblPr firstRow="1" bandRow="1"/>
              <a:tblGrid>
                <a:gridCol w="37115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71152">
                  <a:extLst>
                    <a:ext uri="{9D8B030D-6E8A-4147-A177-3AD203B41FA5}">
                      <a16:colId xmlns:a16="http://schemas.microsoft.com/office/drawing/2014/main" val="615622238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2229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02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Рефлексия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0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chemeClr val="tx1"/>
                </a:solidFill>
              </a:rPr>
              <a:t>Подведем итоги</a:t>
            </a:r>
          </a:p>
        </p:txBody>
      </p:sp>
      <p:graphicFrame>
        <p:nvGraphicFramePr>
          <p:cNvPr id="615" name="Google Shape;615;p105"/>
          <p:cNvGraphicFramePr/>
          <p:nvPr>
            <p:extLst>
              <p:ext uri="{D42A27DB-BD31-4B8C-83A1-F6EECF244321}">
                <p14:modId xmlns:p14="http://schemas.microsoft.com/office/powerpoint/2010/main" val="3937542467"/>
              </p:ext>
            </p:extLst>
          </p:nvPr>
        </p:nvGraphicFramePr>
        <p:xfrm>
          <a:off x="952500" y="1544194"/>
          <a:ext cx="7239000" cy="1625054"/>
        </p:xfrm>
        <a:graphic>
          <a:graphicData uri="http://schemas.openxmlformats.org/drawingml/2006/table">
            <a:tbl>
              <a:tblPr>
                <a:noFill/>
                <a:tableStyleId>{9F59E00E-254B-42B5-9FED-D0DB1D54CBD8}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Познакомились с компанией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Отус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Узнали про основные библиотеки визуализации в </a:t>
                      </a:r>
                      <a:r>
                        <a:rPr lang="en-US" sz="13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Python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Научились рисовать красивые разнообразные графики и диаграммы с использованием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Matplotlib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Seaborn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структуру курса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Python Analytics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9099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 курсе</a:t>
            </a:r>
            <a:endParaRPr/>
          </a:p>
        </p:txBody>
      </p:sp>
      <p:pic>
        <p:nvPicPr>
          <p:cNvPr id="630" name="Google Shape;630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950" y="2303321"/>
            <a:ext cx="608438" cy="608424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107"/>
          <p:cNvSpPr txBox="1"/>
          <p:nvPr/>
        </p:nvSpPr>
        <p:spPr>
          <a:xfrm>
            <a:off x="500550" y="950100"/>
            <a:ext cx="553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 dirty="0">
                <a:solidFill>
                  <a:srgbClr val="45818E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ru-RU" sz="2400" b="1" i="1" dirty="0">
                <a:solidFill>
                  <a:srgbClr val="45818E"/>
                </a:solidFill>
                <a:latin typeface="Roboto"/>
                <a:ea typeface="Roboto"/>
                <a:cs typeface="Roboto"/>
                <a:sym typeface="Roboto"/>
              </a:rPr>
              <a:t>для аналитики</a:t>
            </a:r>
            <a:endParaRPr sz="2400" b="1" i="1" dirty="0">
              <a:solidFill>
                <a:srgbClr val="45818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107"/>
          <p:cNvSpPr txBox="1"/>
          <p:nvPr/>
        </p:nvSpPr>
        <p:spPr>
          <a:xfrm>
            <a:off x="1724675" y="2330456"/>
            <a:ext cx="418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старт обучения: </a:t>
            </a:r>
            <a:r>
              <a:rPr lang="en-US" sz="18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ru-RU" sz="18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lang="ru" sz="18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ru-RU" sz="18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lang="ru" sz="18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.202</a:t>
            </a:r>
            <a:r>
              <a:rPr lang="en-US" sz="18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ru" sz="18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400" i="1" dirty="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6" name="Google Shape;636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4125" y="0"/>
            <a:ext cx="1064725" cy="106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08"/>
          <p:cNvSpPr txBox="1">
            <a:spLocks noGrp="1"/>
          </p:cNvSpPr>
          <p:nvPr>
            <p:ph type="title"/>
          </p:nvPr>
        </p:nvSpPr>
        <p:spPr>
          <a:xfrm>
            <a:off x="956225" y="777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0"/>
              <a:t>Заполните, пожалуйста,</a:t>
            </a:r>
            <a:endParaRPr sz="35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/>
              <a:t>опрос</a:t>
            </a:r>
            <a:r>
              <a:rPr lang="ru" sz="3500" b="0"/>
              <a:t> о занятии</a:t>
            </a:r>
            <a:endParaRPr sz="35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i="1" u="sng">
                <a:solidFill>
                  <a:schemeClr val="accent6"/>
                </a:solidFill>
              </a:rPr>
              <a:t>Важно! Пройти опрос могут только залогиненные пользователи платформы OTUS</a:t>
            </a:r>
            <a:r>
              <a:rPr lang="ru" sz="1800" i="1" u="sng">
                <a:solidFill>
                  <a:srgbClr val="E06666"/>
                </a:solidFill>
              </a:rPr>
              <a:t> </a:t>
            </a: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ru"/>
              <a:t>Спасибо за внимание!</a:t>
            </a:r>
            <a:endParaRPr/>
          </a:p>
        </p:txBody>
      </p:sp>
      <p:pic>
        <p:nvPicPr>
          <p:cNvPr id="643" name="Google Shape;64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775" y="2131625"/>
            <a:ext cx="2392300" cy="23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3208</TotalTime>
  <Words>1178</Words>
  <Application>Microsoft Macintosh PowerPoint</Application>
  <PresentationFormat>On-screen Show (16:9)</PresentationFormat>
  <Paragraphs>223</Paragraphs>
  <Slides>37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source sans pro</vt:lpstr>
      <vt:lpstr>AkayaTelivigala</vt:lpstr>
      <vt:lpstr>Roboto</vt:lpstr>
      <vt:lpstr>Bradley Hand</vt:lpstr>
      <vt:lpstr>Google Sans</vt:lpstr>
      <vt:lpstr>Arial</vt:lpstr>
      <vt:lpstr>Courier New</vt:lpstr>
      <vt:lpstr>Светлая тема</vt:lpstr>
      <vt:lpstr>Светлая тема</vt:lpstr>
      <vt:lpstr>Analytics Визуализация данных </vt:lpstr>
      <vt:lpstr>PowerPoint Presentation</vt:lpstr>
      <vt:lpstr>Analytics Визуализация данных</vt:lpstr>
      <vt:lpstr>Правила вебинара</vt:lpstr>
      <vt:lpstr>Маршрут вебинара</vt:lpstr>
      <vt:lpstr>Цели вебинара</vt:lpstr>
      <vt:lpstr>Смысл</vt:lpstr>
      <vt:lpstr>Расскажите о себе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Matplotlib</vt:lpstr>
      <vt:lpstr>PowerPoint Presentation</vt:lpstr>
      <vt:lpstr>Coding styles</vt:lpstr>
      <vt:lpstr>Пример</vt:lpstr>
      <vt:lpstr>Seaborn</vt:lpstr>
      <vt:lpstr>Seaborn</vt:lpstr>
      <vt:lpstr>Практика</vt:lpstr>
      <vt:lpstr>Практика </vt:lpstr>
      <vt:lpstr>Вопросы?</vt:lpstr>
      <vt:lpstr>Ключевые тезисы  </vt:lpstr>
      <vt:lpstr>Вопросы?</vt:lpstr>
      <vt:lpstr>Знакомство с командой и программой курса</vt:lpstr>
      <vt:lpstr>Команда курса</vt:lpstr>
      <vt:lpstr>PowerPoint Presentation</vt:lpstr>
      <vt:lpstr>Карта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Рефлексия</vt:lpstr>
      <vt:lpstr>Подведем итоги</vt:lpstr>
      <vt:lpstr>О курсе</vt:lpstr>
      <vt:lpstr>Заполните, пожалуйста, опрос о занятии Важно! Пройти опрос могут только залогиненные пользователи платформы OTUS       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для преподавателя (маршрут демо-занятия)</dc:title>
  <cp:lastModifiedBy>Стурейко Игорь Олегович</cp:lastModifiedBy>
  <cp:revision>67</cp:revision>
  <dcterms:modified xsi:type="dcterms:W3CDTF">2024-11-26T16:31:40Z</dcterms:modified>
</cp:coreProperties>
</file>