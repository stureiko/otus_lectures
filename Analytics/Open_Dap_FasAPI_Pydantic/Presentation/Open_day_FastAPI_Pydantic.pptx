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21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26.jpg" ContentType="image/jpeg"/>
  <Override PartName="/ppt/notesSlides/notesSlide14.xml" ContentType="application/vnd.openxmlformats-officedocument.presentationml.notesSlide+xml"/>
  <Override PartName="/ppt/media/image29.jpg" ContentType="image/jpe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image35.jpg" ContentType="image/jpeg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34" r:id="rId4"/>
    <p:sldId id="262" r:id="rId5"/>
    <p:sldId id="305" r:id="rId6"/>
    <p:sldId id="261" r:id="rId7"/>
    <p:sldId id="263" r:id="rId8"/>
    <p:sldId id="264" r:id="rId9"/>
    <p:sldId id="265" r:id="rId10"/>
    <p:sldId id="313" r:id="rId11"/>
    <p:sldId id="342" r:id="rId12"/>
    <p:sldId id="398" r:id="rId13"/>
    <p:sldId id="399" r:id="rId14"/>
    <p:sldId id="404" r:id="rId15"/>
    <p:sldId id="405" r:id="rId16"/>
    <p:sldId id="406" r:id="rId17"/>
    <p:sldId id="391" r:id="rId18"/>
    <p:sldId id="300" r:id="rId19"/>
    <p:sldId id="397" r:id="rId20"/>
    <p:sldId id="364" r:id="rId21"/>
    <p:sldId id="281" r:id="rId22"/>
    <p:sldId id="287" r:id="rId23"/>
    <p:sldId id="339" r:id="rId24"/>
    <p:sldId id="401" r:id="rId25"/>
    <p:sldId id="372" r:id="rId26"/>
    <p:sldId id="373" r:id="rId27"/>
    <p:sldId id="403" r:id="rId28"/>
    <p:sldId id="374" r:id="rId29"/>
    <p:sldId id="375" r:id="rId30"/>
    <p:sldId id="376" r:id="rId31"/>
    <p:sldId id="400" r:id="rId32"/>
    <p:sldId id="302" r:id="rId33"/>
    <p:sldId id="304" r:id="rId3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/>
    <p:restoredTop sz="94694"/>
  </p:normalViewPr>
  <p:slideViewPr>
    <p:cSldViewPr>
      <p:cViewPr varScale="1">
        <p:scale>
          <a:sx n="156" d="100"/>
          <a:sy n="156" d="100"/>
        </p:scale>
        <p:origin x="109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24.03.2025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75BB5-C319-4CC0-9F8F-8FE78AD357C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604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26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61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29380/" TargetMode="External"/><Relationship Id="rId7" Type="http://schemas.openxmlformats.org/officeDocument/2006/relationships/hyperlink" Target="https://habr.com/ru/articles/800837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br.com/ru/companies/domclick/articles/570802/" TargetMode="External"/><Relationship Id="rId5" Type="http://schemas.openxmlformats.org/officeDocument/2006/relationships/hyperlink" Target="https://habr.com/ru/articles/827134/" TargetMode="External"/><Relationship Id="rId4" Type="http://schemas.openxmlformats.org/officeDocument/2006/relationships/hyperlink" Target="https://habr.com/ru/articles/488468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905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243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br>
              <a:rPr lang="en-US" sz="5600" spc="-35" dirty="0">
                <a:solidFill>
                  <a:srgbClr val="FFFFFF"/>
                </a:solidFill>
              </a:rPr>
            </a:br>
            <a:r>
              <a:rPr lang="en-US" spc="-10" dirty="0">
                <a:solidFill>
                  <a:srgbClr val="FFFFFF"/>
                </a:solidFill>
              </a:rPr>
              <a:t>FastAPI </a:t>
            </a:r>
            <a:r>
              <a:rPr lang="ru-RU" spc="-10" dirty="0" err="1">
                <a:solidFill>
                  <a:srgbClr val="FFFFFF"/>
                </a:solidFill>
              </a:rPr>
              <a:t>валидация</a:t>
            </a:r>
            <a:r>
              <a:rPr lang="ru-RU" spc="-10" dirty="0">
                <a:solidFill>
                  <a:srgbClr val="FFFFFF"/>
                </a:solidFill>
              </a:rPr>
              <a:t> параметров запроса с помощью </a:t>
            </a:r>
            <a:r>
              <a:rPr lang="en-US" spc="-10" dirty="0">
                <a:solidFill>
                  <a:srgbClr val="FFFFFF"/>
                </a:solidFill>
              </a:rPr>
              <a:t>Pydantic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FastAPI </a:t>
            </a:r>
            <a:br>
              <a:rPr lang="en-US" sz="24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ru-RU" sz="2400" b="1" dirty="0" err="1">
                <a:latin typeface="Roboto"/>
                <a:ea typeface="Roboto"/>
                <a:cs typeface="Roboto"/>
                <a:sym typeface="Roboto"/>
              </a:rPr>
              <a:t>валидация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 параметров запроса с помощью 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Pydantic</a:t>
            </a:r>
            <a:endParaRPr sz="240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8FBBE438-6184-8A4F-90F6-F58109911B5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77AC283E-91B9-B345-9D33-B29BA0BAF031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39031" y="1336184"/>
            <a:ext cx="3556274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561930"/>
            <a:ext cx="3556275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Параметры – какие они бывают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174803"/>
            <a:ext cx="3555066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Валидация параметров запроса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H="1" flipV="1">
            <a:off x="739031" y="1578454"/>
            <a:ext cx="1208" cy="612873"/>
          </a:xfrm>
          <a:prstGeom prst="curvedConnector3">
            <a:avLst>
              <a:gd name="adj1" fmla="val -189238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804200"/>
            <a:ext cx="12700" cy="6128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16" idx="1"/>
          </p:cNvCxnSpPr>
          <p:nvPr/>
        </p:nvCxnSpPr>
        <p:spPr>
          <a:xfrm rot="10800000" flipV="1">
            <a:off x="740239" y="3417073"/>
            <a:ext cx="12700" cy="6128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949057"/>
            <a:ext cx="3556274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FastAPI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2191327"/>
            <a:ext cx="12700" cy="6128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9" y="3787676"/>
            <a:ext cx="3555066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400550"/>
            <a:ext cx="3555066" cy="4845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Подведение итогов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V="1">
            <a:off x="740239" y="4029947"/>
            <a:ext cx="12700" cy="61287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245D5F7-5556-5A40-AB54-7C91CE399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7" b="20598"/>
          <a:stretch/>
        </p:blipFill>
        <p:spPr>
          <a:xfrm>
            <a:off x="4540323" y="3196065"/>
            <a:ext cx="4480827" cy="1371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35E5AD-C191-984E-B1A2-64A9676E9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202" y="1175436"/>
            <a:ext cx="4116646" cy="14834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FastAPI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Какие бывают параметры запроса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600986"/>
          </a:xfrm>
        </p:spPr>
        <p:txBody>
          <a:bodyPr/>
          <a:lstStyle/>
          <a:p>
            <a:r>
              <a:rPr lang="ru-RU" dirty="0"/>
              <a:t>Параметры пути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http://localhost:8080/items/1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r>
              <a:rPr lang="ru-RU" dirty="0"/>
              <a:t>Параметры запроса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test?text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=moo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Параметры в теле запроса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data:{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"msg": "test text"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4191000" y="1581150"/>
            <a:ext cx="380999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DA409-923E-0C4E-9063-DB2FF07C93E4}"/>
              </a:ext>
            </a:extLst>
          </p:cNvPr>
          <p:cNvSpPr/>
          <p:nvPr/>
        </p:nvSpPr>
        <p:spPr>
          <a:xfrm>
            <a:off x="4038600" y="2419350"/>
            <a:ext cx="12954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0E4552-F95E-A446-AE5E-1CEB3CACE6E4}"/>
              </a:ext>
            </a:extLst>
          </p:cNvPr>
          <p:cNvSpPr/>
          <p:nvPr/>
        </p:nvSpPr>
        <p:spPr>
          <a:xfrm>
            <a:off x="474722" y="3867150"/>
            <a:ext cx="3563878" cy="1155710"/>
          </a:xfrm>
          <a:prstGeom prst="roundRect">
            <a:avLst>
              <a:gd name="adj" fmla="val 110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2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Валидация параметров</a:t>
            </a:r>
            <a:r>
              <a:rPr lang="en-US" dirty="0"/>
              <a:t> </a:t>
            </a:r>
            <a:r>
              <a:rPr lang="ru-RU" dirty="0"/>
              <a:t>пути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2215991"/>
          </a:xfrm>
        </p:spPr>
        <p:txBody>
          <a:bodyPr/>
          <a:lstStyle/>
          <a:p>
            <a:r>
              <a:rPr lang="ru-RU" dirty="0"/>
              <a:t>Параметры пути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http://localhost:8080/items/1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("/items/{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 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int):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cs typeface="Courier New" panose="02070309020205020404" pitchFamily="49" charset="0"/>
              </a:rPr>
              <a:t>Параметр может быть только </a:t>
            </a:r>
            <a:r>
              <a:rPr lang="en-US" dirty="0">
                <a:cs typeface="Courier New" panose="02070309020205020404" pitchFamily="49" charset="0"/>
              </a:rPr>
              <a:t>int, </a:t>
            </a:r>
            <a:r>
              <a:rPr lang="ru-RU" dirty="0">
                <a:cs typeface="Courier New" panose="02070309020205020404" pitchFamily="49" charset="0"/>
              </a:rPr>
              <a:t>в противном случае будет сгенерирован ответ 422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4191000" y="1581150"/>
            <a:ext cx="380999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3E95DB-A0BA-0543-A220-2622DB8A1ABB}"/>
              </a:ext>
            </a:extLst>
          </p:cNvPr>
          <p:cNvSpPr/>
          <p:nvPr/>
        </p:nvSpPr>
        <p:spPr>
          <a:xfrm>
            <a:off x="3200400" y="2495550"/>
            <a:ext cx="17526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50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Валидация параметров запроса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323987"/>
          </a:xfrm>
        </p:spPr>
        <p:txBody>
          <a:bodyPr/>
          <a:lstStyle/>
          <a:p>
            <a:r>
              <a:rPr lang="ru-RU" dirty="0"/>
              <a:t>Параметры запроса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 'localhost:5002/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query_params?req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=test string'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endParaRPr lang="ru-RU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query_params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 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read_item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(req: str, page: int = 10, skip: int = 0):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"page": page,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"skip": skip,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"req": req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cs typeface="Courier New" panose="02070309020205020404" pitchFamily="49" charset="0"/>
              </a:rPr>
              <a:t>Параметр может быть только </a:t>
            </a:r>
            <a:r>
              <a:rPr lang="en-US" dirty="0">
                <a:cs typeface="Courier New" panose="02070309020205020404" pitchFamily="49" charset="0"/>
              </a:rPr>
              <a:t>str, </a:t>
            </a:r>
            <a:r>
              <a:rPr lang="ru-RU" dirty="0">
                <a:cs typeface="Courier New" panose="02070309020205020404" pitchFamily="49" charset="0"/>
              </a:rPr>
              <a:t>в противном случае будет сгенерирован ответ 422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3200400" y="2724150"/>
            <a:ext cx="54102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3E95DB-A0BA-0543-A220-2622DB8A1ABB}"/>
              </a:ext>
            </a:extLst>
          </p:cNvPr>
          <p:cNvSpPr/>
          <p:nvPr/>
        </p:nvSpPr>
        <p:spPr>
          <a:xfrm>
            <a:off x="4876800" y="1657350"/>
            <a:ext cx="22860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8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Валидация параметров тела запроса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046988"/>
          </a:xfrm>
        </p:spPr>
        <p:txBody>
          <a:bodyPr/>
          <a:lstStyle/>
          <a:p>
            <a:r>
              <a:rPr lang="ru-RU" dirty="0"/>
              <a:t>Параметры тела запроса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curl PUT 'localhost:5002/items/2'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--data '{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"item":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"Foo",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"description": "The pretender",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"price": 42.0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"user": {…}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}'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990600" y="2266950"/>
            <a:ext cx="4876800" cy="1143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8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Валидация параметров тела запроса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570208"/>
          </a:xfrm>
        </p:spPr>
        <p:txBody>
          <a:bodyPr/>
          <a:lstStyle/>
          <a:p>
            <a:r>
              <a:rPr lang="ru-RU" dirty="0"/>
              <a:t>Проверка параметров </a:t>
            </a:r>
          </a:p>
          <a:p>
            <a:endParaRPr lang="ru-RU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Item(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name: str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description: str | None = None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price: float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tax: float | None = None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User(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username: str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str | None = None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("/items/{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async def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update_item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int, item: Item, user: User):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results = {"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"item": item, "user": user}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results</a:t>
            </a:r>
            <a:endParaRPr lang="ru-RU" sz="1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2782116" y="4324350"/>
            <a:ext cx="3962400" cy="21886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58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C50754-391E-D947-A1EF-F9310CD9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477054"/>
          </a:xfrm>
        </p:spPr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B4374-24D5-1943-8C9C-77E4D5065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6619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Реализуем простой </a:t>
            </a:r>
            <a:r>
              <a:rPr lang="en-US" dirty="0"/>
              <a:t>API </a:t>
            </a:r>
            <a:r>
              <a:rPr lang="ru-RU" dirty="0"/>
              <a:t>на </a:t>
            </a:r>
            <a:r>
              <a:rPr lang="en-US" dirty="0"/>
              <a:t>FastAPI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Попробуем </a:t>
            </a:r>
            <a:r>
              <a:rPr lang="ru-RU" dirty="0" err="1"/>
              <a:t>валидацию</a:t>
            </a:r>
            <a:r>
              <a:rPr lang="ru-RU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Параметров пути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Параметров строки запроса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Параметров в теле запроса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2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88950" indent="-342900" algn="l" rtl="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1800" b="1" dirty="0"/>
              <a:t>FastAPI</a:t>
            </a:r>
            <a:endParaRPr lang="ru-RU" sz="1800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3"/>
              </a:rPr>
              <a:t>https://habr.com/ru/articles/729380/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Знакомство с </a:t>
            </a:r>
            <a:r>
              <a:rPr lang="en-US" sz="1400" dirty="0"/>
              <a:t>FastAPI </a:t>
            </a:r>
            <a:r>
              <a:rPr lang="en-US" sz="1400" dirty="0">
                <a:hlinkClick r:id="rId4"/>
              </a:rPr>
              <a:t>https://habr.com/ru/articles/488468/</a:t>
            </a:r>
            <a:r>
              <a:rPr lang="en-US" sz="1400" dirty="0"/>
              <a:t> </a:t>
            </a:r>
            <a:endParaRPr lang="en-GB" sz="1300" dirty="0"/>
          </a:p>
          <a:p>
            <a:pPr marL="146050" lvl="1">
              <a:buSzPts val="1300"/>
            </a:pPr>
            <a:endParaRPr lang="en-GB" sz="1300" dirty="0"/>
          </a:p>
          <a:p>
            <a:pPr marL="488950" lvl="1" indent="-342900" algn="l" rtl="0">
              <a:buSzPct val="100000"/>
              <a:buFont typeface="+mj-lt"/>
              <a:buAutoNum type="arabicPeriod" startAt="2"/>
            </a:pPr>
            <a:r>
              <a:rPr lang="en-US" b="1" dirty="0">
                <a:solidFill>
                  <a:schemeClr val="tx1"/>
                </a:solidFill>
              </a:rPr>
              <a:t>Pydantic</a:t>
            </a:r>
          </a:p>
          <a:p>
            <a:pPr marL="431800" lvl="1" indent="-285750" algn="l" rtl="0">
              <a:buSzPct val="100000"/>
              <a:buFont typeface="Arial" panose="020B0604020202020204" pitchFamily="34" charset="0"/>
              <a:buChar char="•"/>
            </a:pPr>
            <a:r>
              <a:rPr lang="ru-RU" sz="1400" dirty="0"/>
              <a:t>Создание собственного </a:t>
            </a:r>
            <a:r>
              <a:rPr lang="en-US" sz="1400" dirty="0"/>
              <a:t>API </a:t>
            </a:r>
            <a:r>
              <a:rPr lang="ru-RU" sz="1400" dirty="0"/>
              <a:t>на </a:t>
            </a:r>
            <a:r>
              <a:rPr lang="en-US" sz="1400" dirty="0"/>
              <a:t>Python (FastAPI): </a:t>
            </a:r>
            <a:r>
              <a:rPr lang="ru-RU" sz="1400" dirty="0" err="1"/>
              <a:t>Гайд</a:t>
            </a:r>
            <a:r>
              <a:rPr lang="ru-RU" sz="1400" dirty="0"/>
              <a:t> по моделям </a:t>
            </a:r>
            <a:r>
              <a:rPr lang="en-US" sz="1400" dirty="0"/>
              <a:t>Pydantic: </a:t>
            </a:r>
            <a:r>
              <a:rPr lang="en-US" sz="1400" dirty="0">
                <a:hlinkClick r:id="rId5"/>
              </a:rPr>
              <a:t>https://habr.com/ru/articles/827134/</a:t>
            </a:r>
            <a:r>
              <a:rPr lang="en-US" sz="1400" dirty="0"/>
              <a:t> </a:t>
            </a:r>
          </a:p>
          <a:p>
            <a:pPr marL="431800" lvl="1" indent="-285750" algn="l" rtl="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Marshmallow vs. Pydantic: </a:t>
            </a:r>
            <a:r>
              <a:rPr lang="ru-RU" sz="1400" dirty="0"/>
              <a:t>две лучшие библиотеки для </a:t>
            </a:r>
            <a:r>
              <a:rPr lang="ru-RU" sz="1400" dirty="0" err="1"/>
              <a:t>сериализации</a:t>
            </a:r>
            <a:r>
              <a:rPr lang="ru-RU" sz="1400" dirty="0"/>
              <a:t> и </a:t>
            </a:r>
            <a:r>
              <a:rPr lang="ru-RU" sz="1400" dirty="0" err="1"/>
              <a:t>валидации</a:t>
            </a:r>
            <a:r>
              <a:rPr lang="ru-RU" sz="1400" dirty="0"/>
              <a:t> данных на </a:t>
            </a:r>
            <a:r>
              <a:rPr lang="en-US" sz="1400" dirty="0"/>
              <a:t>Python: </a:t>
            </a:r>
            <a:r>
              <a:rPr lang="en-US" sz="1400" dirty="0">
                <a:hlinkClick r:id="rId6"/>
              </a:rPr>
              <a:t>https://habr.com/ru/companies/domclick/articles/570802/</a:t>
            </a:r>
            <a:r>
              <a:rPr lang="en-US" sz="1400" dirty="0"/>
              <a:t> </a:t>
            </a:r>
          </a:p>
          <a:p>
            <a:pPr marL="431800" lvl="1" indent="-285750" algn="l" rtl="0">
              <a:buSzPct val="100000"/>
              <a:buFont typeface="Arial" panose="020B0604020202020204" pitchFamily="34" charset="0"/>
              <a:buChar char="•"/>
            </a:pPr>
            <a:r>
              <a:rPr lang="ru-RU" sz="1400" dirty="0" err="1"/>
              <a:t>Валидируйте</a:t>
            </a:r>
            <a:r>
              <a:rPr lang="ru-RU" sz="1400" dirty="0"/>
              <a:t> это немедленно</a:t>
            </a:r>
            <a:r>
              <a:rPr lang="en-US" sz="1400" dirty="0"/>
              <a:t>: </a:t>
            </a:r>
            <a:r>
              <a:rPr lang="en-US" sz="1400" dirty="0">
                <a:hlinkClick r:id="rId7"/>
              </a:rPr>
              <a:t>https://habr.com/ru/articles/800837/</a:t>
            </a:r>
            <a:r>
              <a:rPr lang="en-US" sz="1400" dirty="0"/>
              <a:t>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2978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u="sng" dirty="0">
                <a:solidFill>
                  <a:srgbClr val="FF9900"/>
                </a:solidFill>
              </a:rPr>
              <a:t>Роман Козлов</a:t>
            </a:r>
            <a:endParaRPr sz="1517" b="1" u="sng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598325"/>
            <a:ext cx="26451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b="1" dirty="0"/>
              <a:t>Руководитель курса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Аналитик </a:t>
            </a:r>
            <a:r>
              <a:rPr lang="en-US" sz="867" dirty="0"/>
              <a:t>Big Data/</a:t>
            </a:r>
            <a:r>
              <a:rPr lang="ru-RU" sz="867" dirty="0"/>
              <a:t>системный аналитик с опытом 8+ лет.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867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В настоящее время занимается пользовательской аналитикой в проектах Правительства Москвы, таких как Наш город, Активный гражданин, Город Идей, Миллион призов и т.д.</a:t>
            </a:r>
            <a:endParaRPr sz="867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720" b="720"/>
          <a:stretch/>
        </p:blipFill>
        <p:spPr>
          <a:xfrm>
            <a:off x="789925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40"/>
          <p:cNvSpPr txBox="1">
            <a:spLocks noGrp="1"/>
          </p:cNvSpPr>
          <p:nvPr>
            <p:ph type="subTitle" idx="4294967295"/>
          </p:nvPr>
        </p:nvSpPr>
        <p:spPr>
          <a:xfrm>
            <a:off x="1708980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</a:t>
            </a:r>
            <a:r>
              <a:rPr lang="ru-RU" sz="1517" b="1" dirty="0" err="1">
                <a:solidFill>
                  <a:srgbClr val="FF9900"/>
                </a:solidFill>
              </a:rPr>
              <a:t>Ревняков</a:t>
            </a:r>
            <a:endParaRPr sz="1517" b="1" dirty="0">
              <a:solidFill>
                <a:srgbClr val="FF9900"/>
              </a:solidFill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3275450"/>
            <a:ext cx="25542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/>
              <a:t>Senior software engineer</a:t>
            </a: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Участвовал в проектах по автоматизации бизнес-процессов при помощи нейросетей (сервис заказа такси «Максим»), разработке информационных систем в медицине, </a:t>
            </a:r>
            <a:r>
              <a:rPr lang="en-US" sz="900" dirty="0"/>
              <a:t>GIS-</a:t>
            </a:r>
            <a:r>
              <a:rPr lang="ru-RU" sz="900" dirty="0"/>
              <a:t>системы и процессингом изображений</a:t>
            </a:r>
            <a:r>
              <a:rPr lang="en-US" sz="900" dirty="0"/>
              <a:t>.</a:t>
            </a: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Образование: Курганский университет (к.т.н.) </a:t>
            </a:r>
            <a:r>
              <a:rPr lang="en-US" sz="900" dirty="0" err="1"/>
              <a:t>Otus</a:t>
            </a:r>
            <a:r>
              <a:rPr lang="en-US" sz="900" dirty="0"/>
              <a:t> Certified Educator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 dirty="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4"/>
          <a:srcRect t="6527" b="6527"/>
          <a:stretch/>
        </p:blipFill>
        <p:spPr>
          <a:xfrm>
            <a:off x="789925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>
            <a:spLocks noGrp="1"/>
          </p:cNvSpPr>
          <p:nvPr>
            <p:ph type="subTitle" idx="4294967295"/>
          </p:nvPr>
        </p:nvSpPr>
        <p:spPr>
          <a:xfrm>
            <a:off x="5880205" y="1297880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Игорь Стурейко</a:t>
            </a:r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4294967295"/>
          </p:nvPr>
        </p:nvSpPr>
        <p:spPr>
          <a:xfrm>
            <a:off x="5880200" y="1598325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15+ лет опыта в прикладной математике и математическом моделировании </a:t>
            </a:r>
            <a:r>
              <a:rPr lang="ru-RU" sz="867" dirty="0" err="1"/>
              <a:t>НИИгазэкономика</a:t>
            </a:r>
            <a:r>
              <a:rPr lang="ru-RU" sz="867" dirty="0"/>
              <a:t> ПАО Газпром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867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50" dirty="0"/>
              <a:t>Руководил командой̆, решающей прикладные задачи, вывод готовых моделей в продакшн и поддержку решений у клиента</a:t>
            </a:r>
            <a:endParaRPr lang="ru-RU" sz="867" dirty="0"/>
          </a:p>
        </p:txBody>
      </p:sp>
      <p:pic>
        <p:nvPicPr>
          <p:cNvPr id="231" name="Google Shape;231;p40"/>
          <p:cNvPicPr preferRelativeResize="0"/>
          <p:nvPr/>
        </p:nvPicPr>
        <p:blipFill>
          <a:blip r:embed="rId5"/>
          <a:srcRect t="8685" b="8685"/>
          <a:stretch/>
        </p:blipFill>
        <p:spPr>
          <a:xfrm>
            <a:off x="4961150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Google Shape;229;p40">
            <a:extLst>
              <a:ext uri="{FF2B5EF4-FFF2-40B4-BE49-F238E27FC236}">
                <a16:creationId xmlns:a16="http://schemas.microsoft.com/office/drawing/2014/main" id="{3875F2E5-27EB-0949-8F7F-E3950A8AF2FA}"/>
              </a:ext>
            </a:extLst>
          </p:cNvPr>
          <p:cNvSpPr txBox="1">
            <a:spLocks/>
          </p:cNvSpPr>
          <p:nvPr/>
        </p:nvSpPr>
        <p:spPr>
          <a:xfrm>
            <a:off x="5880205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kern="0" dirty="0">
                <a:solidFill>
                  <a:srgbClr val="FF9900"/>
                </a:solidFill>
              </a:rPr>
              <a:t>Оксана Терехова</a:t>
            </a:r>
          </a:p>
        </p:txBody>
      </p:sp>
      <p:sp>
        <p:nvSpPr>
          <p:cNvPr id="14" name="Google Shape;230;p40">
            <a:extLst>
              <a:ext uri="{FF2B5EF4-FFF2-40B4-BE49-F238E27FC236}">
                <a16:creationId xmlns:a16="http://schemas.microsoft.com/office/drawing/2014/main" id="{6D0506E3-94D4-1F42-9491-E1DCD3DE4A44}"/>
              </a:ext>
            </a:extLst>
          </p:cNvPr>
          <p:cNvSpPr txBox="1">
            <a:spLocks/>
          </p:cNvSpPr>
          <p:nvPr/>
        </p:nvSpPr>
        <p:spPr>
          <a:xfrm>
            <a:off x="5880200" y="3275456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SzPts val="597"/>
            </a:pPr>
            <a:r>
              <a:rPr lang="ru-RU" sz="867" kern="0" dirty="0"/>
              <a:t>Начальник отдела по анализу и методологическому сопровождению аналитических систем. Ведущий системный аналитик. </a:t>
            </a:r>
          </a:p>
          <a:p>
            <a:pPr algn="l" rtl="0">
              <a:buSzPts val="597"/>
            </a:pPr>
            <a:endParaRPr lang="ru-RU" sz="867" kern="0" dirty="0"/>
          </a:p>
          <a:p>
            <a:pPr algn="l" rtl="0">
              <a:buSzPts val="597"/>
            </a:pPr>
            <a:r>
              <a:rPr lang="ru-RU" sz="867" kern="0" dirty="0"/>
              <a:t>Руководит проектом по разработке информационно аналитической системы.</a:t>
            </a:r>
          </a:p>
          <a:p>
            <a:pPr algn="l" rtl="0">
              <a:buSzPts val="597"/>
            </a:pPr>
            <a:r>
              <a:rPr lang="ru-RU" sz="867" kern="0" dirty="0"/>
              <a:t>Постоянно обучаю и развиваю команду.</a:t>
            </a:r>
          </a:p>
        </p:txBody>
      </p:sp>
      <p:pic>
        <p:nvPicPr>
          <p:cNvPr id="15" name="Google Shape;231;p40">
            <a:extLst>
              <a:ext uri="{FF2B5EF4-FFF2-40B4-BE49-F238E27FC236}">
                <a16:creationId xmlns:a16="http://schemas.microsoft.com/office/drawing/2014/main" id="{9073855B-B722-BE45-9714-87A82788F9EC}"/>
              </a:ext>
            </a:extLst>
          </p:cNvPr>
          <p:cNvPicPr preferRelativeResize="0"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" b="669"/>
          <a:stretch/>
        </p:blipFill>
        <p:spPr>
          <a:xfrm>
            <a:off x="4961150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462588" y="1847675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Библиотеки по работе с данными и визуализациями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5351894" y="2780747"/>
            <a:ext cx="298033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базами данных, </a:t>
            </a:r>
            <a:b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парсинг</a:t>
            </a: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данных с сайтов, взаимодействие с 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627014" y="3070397"/>
            <a:ext cx="3460096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Практика. Продуктовая и маркетинговая аналитика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3" idx="1"/>
          </p:cNvCxnSpPr>
          <p:nvPr/>
        </p:nvCxnSpPr>
        <p:spPr>
          <a:xfrm flipV="1">
            <a:off x="3546288" y="1900817"/>
            <a:ext cx="1792906" cy="23650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004438" y="916975"/>
            <a:ext cx="3800762" cy="9307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4014265" y="423997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3" idx="3"/>
            <a:endCxn id="273" idx="3"/>
          </p:cNvCxnSpPr>
          <p:nvPr/>
        </p:nvCxnSpPr>
        <p:spPr>
          <a:xfrm>
            <a:off x="8319526" y="1900817"/>
            <a:ext cx="12700" cy="1169580"/>
          </a:xfrm>
          <a:prstGeom prst="curvedConnector3">
            <a:avLst>
              <a:gd name="adj1" fmla="val 19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2"/>
            <a:endCxn id="278" idx="1"/>
          </p:cNvCxnSpPr>
          <p:nvPr/>
        </p:nvCxnSpPr>
        <p:spPr>
          <a:xfrm rot="16200000" flipH="1">
            <a:off x="2745698" y="3261060"/>
            <a:ext cx="879930" cy="165720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0" name="Google Shape;225;p40">
            <a:extLst>
              <a:ext uri="{FF2B5EF4-FFF2-40B4-BE49-F238E27FC236}">
                <a16:creationId xmlns:a16="http://schemas.microsoft.com/office/drawing/2014/main" id="{5952E6FF-4808-B94C-B6DD-9A87C1E38AAB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4087110" y="43316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" name="Google Shape;225;p40">
            <a:extLst>
              <a:ext uri="{FF2B5EF4-FFF2-40B4-BE49-F238E27FC236}">
                <a16:creationId xmlns:a16="http://schemas.microsoft.com/office/drawing/2014/main" id="{CCAFB71F-CCB3-B544-A320-5206EFDB3EB9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711197" y="316191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C10A6B38-6EE0-4B44-A413-4970CB23C145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506059" y="193932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" name="Google Shape;225;p40">
            <a:extLst>
              <a:ext uri="{FF2B5EF4-FFF2-40B4-BE49-F238E27FC236}">
                <a16:creationId xmlns:a16="http://schemas.microsoft.com/office/drawing/2014/main" id="{4EFF9E3E-81BB-0F41-94E5-0451ACC4CDD8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437635" y="287239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928FDA-C6DB-FB49-BE89-A4B9B50614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530" y="695525"/>
            <a:ext cx="416061" cy="529402"/>
          </a:xfrm>
          <a:prstGeom prst="rect">
            <a:avLst/>
          </a:prstGeom>
        </p:spPr>
      </p:pic>
      <p:sp>
        <p:nvSpPr>
          <p:cNvPr id="23" name="Google Shape;273;p44">
            <a:extLst>
              <a:ext uri="{FF2B5EF4-FFF2-40B4-BE49-F238E27FC236}">
                <a16:creationId xmlns:a16="http://schemas.microsoft.com/office/drawing/2014/main" id="{571DBAC5-C62D-3F43-BCAF-949D8FB00D2C}"/>
              </a:ext>
            </a:extLst>
          </p:cNvPr>
          <p:cNvSpPr/>
          <p:nvPr/>
        </p:nvSpPr>
        <p:spPr>
          <a:xfrm>
            <a:off x="5339194" y="1611167"/>
            <a:ext cx="298033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Основы статистики</a:t>
            </a:r>
            <a:endParaRPr lang="en-US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00305AF5-71D1-4342-AFA0-D0B94143281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5424935" y="1702816"/>
            <a:ext cx="419930" cy="396001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29" name="Google Shape;276;p44">
            <a:extLst>
              <a:ext uri="{FF2B5EF4-FFF2-40B4-BE49-F238E27FC236}">
                <a16:creationId xmlns:a16="http://schemas.microsoft.com/office/drawing/2014/main" id="{7A4C13FC-8F32-AE49-9D85-A21E56D0BB70}"/>
              </a:ext>
            </a:extLst>
          </p:cNvPr>
          <p:cNvCxnSpPr>
            <a:cxnSpLocks/>
            <a:stCxn id="274" idx="3"/>
            <a:endCxn id="273" idx="1"/>
          </p:cNvCxnSpPr>
          <p:nvPr/>
        </p:nvCxnSpPr>
        <p:spPr>
          <a:xfrm flipV="1">
            <a:off x="4087110" y="3070397"/>
            <a:ext cx="1264784" cy="28965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3406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Jupyter,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синтаксис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25640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Итерируемые типы данных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67874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Условные операторы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исключения, циклы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генераторы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10108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Функции, области видимости, переменные, лямбда функции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76905" y="1613597"/>
            <a:ext cx="27968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5788" y="1834714"/>
            <a:ext cx="72192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434671" y="2055831"/>
            <a:ext cx="116415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1213554" y="2276948"/>
            <a:ext cx="16063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2" y="269045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2806" y="263435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80F84C-9BE7-2948-AA69-E21691185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5" y="1161923"/>
            <a:ext cx="416061" cy="529402"/>
          </a:xfrm>
          <a:prstGeom prst="rect">
            <a:avLst/>
          </a:prstGeom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5D9F4EDB-9E5A-EF4F-919D-B539B4005035}"/>
              </a:ext>
            </a:extLst>
          </p:cNvPr>
          <p:cNvSpPr/>
          <p:nvPr/>
        </p:nvSpPr>
        <p:spPr>
          <a:xfrm>
            <a:off x="2226713" y="3552342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Работа со строковыми данными. Регулярные выражения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8E911D8E-CA61-FF49-BBA2-CDF1C546AF9D}"/>
              </a:ext>
            </a:extLst>
          </p:cNvPr>
          <p:cNvSpPr/>
          <p:nvPr/>
        </p:nvSpPr>
        <p:spPr>
          <a:xfrm>
            <a:off x="2226712" y="3994576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Работа с файловой системой и модули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869C3B04-9032-EF4F-8451-9030DB8D4DD3}"/>
              </a:ext>
            </a:extLst>
          </p:cNvPr>
          <p:cNvSpPr/>
          <p:nvPr/>
        </p:nvSpPr>
        <p:spPr>
          <a:xfrm>
            <a:off x="2226712" y="4436812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Q&amp;A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занятие (разбор домашних заданий)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053DCB1-BE89-904A-A5B5-852ABC04B6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992437" y="2498065"/>
            <a:ext cx="204862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D822E06-E424-F541-913B-4FF974910228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771320" y="2719183"/>
            <a:ext cx="249085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71A4259-727E-1D4F-95AE-79E06B10582A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550202" y="2940301"/>
            <a:ext cx="2933093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oogle Shape;530;p82">
            <a:extLst>
              <a:ext uri="{FF2B5EF4-FFF2-40B4-BE49-F238E27FC236}">
                <a16:creationId xmlns:a16="http://schemas.microsoft.com/office/drawing/2014/main" id="{0F076D69-D2CD-D64C-BDA2-94A6B984B87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9915" y="180140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DACF1EF-5487-7041-90FC-3E9F64E5E65A}"/>
              </a:ext>
            </a:extLst>
          </p:cNvPr>
          <p:cNvSpPr txBox="1"/>
          <p:nvPr/>
        </p:nvSpPr>
        <p:spPr>
          <a:xfrm rot="20748746">
            <a:off x="7609069" y="174531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88A32A22-1F42-DF44-8783-3CF3664E790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1" y="31344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3EC1F66-7912-5F41-B15F-809F84357D34}"/>
              </a:ext>
            </a:extLst>
          </p:cNvPr>
          <p:cNvSpPr txBox="1"/>
          <p:nvPr/>
        </p:nvSpPr>
        <p:spPr>
          <a:xfrm rot="20748746">
            <a:off x="7602805" y="30783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2" name="Google Shape;530;p82">
            <a:extLst>
              <a:ext uri="{FF2B5EF4-FFF2-40B4-BE49-F238E27FC236}">
                <a16:creationId xmlns:a16="http://schemas.microsoft.com/office/drawing/2014/main" id="{0D439205-FCA2-4745-8C10-2C140994B5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5583" y="357034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1E96D91-E5FD-F94A-BDAD-898E0F369371}"/>
              </a:ext>
            </a:extLst>
          </p:cNvPr>
          <p:cNvSpPr txBox="1"/>
          <p:nvPr/>
        </p:nvSpPr>
        <p:spPr>
          <a:xfrm rot="20748746">
            <a:off x="7604737" y="351424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4" name="Google Shape;530;p82">
            <a:extLst>
              <a:ext uri="{FF2B5EF4-FFF2-40B4-BE49-F238E27FC236}">
                <a16:creationId xmlns:a16="http://schemas.microsoft.com/office/drawing/2014/main" id="{DCEBAA79-0D88-B74A-8D2D-3D9B045D4E2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1" y="403057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8CAD827-F9F8-5F43-8EB3-B6D8BB699644}"/>
              </a:ext>
            </a:extLst>
          </p:cNvPr>
          <p:cNvSpPr txBox="1"/>
          <p:nvPr/>
        </p:nvSpPr>
        <p:spPr>
          <a:xfrm rot="20748746">
            <a:off x="7602805" y="397448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319462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Библиотеки по работе с данными и визуализациями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Библиотека </a:t>
            </a:r>
            <a:r>
              <a:rPr lang="en-US" sz="1400" dirty="0" err="1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вектора и матрицы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03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Библиотека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Pandas, Series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sz="1400" dirty="0" err="1">
                <a:solidFill>
                  <a:srgbClr val="1F1F1F"/>
                </a:solidFill>
                <a:latin typeface="Google Sans"/>
                <a:sym typeface="Roboto"/>
              </a:rPr>
              <a:t>Dataframe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143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временными рядами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2557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Визуализация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Matplotlib, Seaborn, </a:t>
            </a:r>
            <a:r>
              <a:rPr lang="en-US" sz="1400" dirty="0" err="1">
                <a:solidFill>
                  <a:srgbClr val="1F1F1F"/>
                </a:solidFill>
                <a:latin typeface="Google Sans"/>
                <a:sym typeface="Roboto"/>
              </a:rPr>
              <a:t>Plotly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9144" y="1822438"/>
            <a:ext cx="406289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03550" y="2078032"/>
            <a:ext cx="917477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47956" y="2333626"/>
            <a:ext cx="1428665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92362" y="2589220"/>
            <a:ext cx="1939853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46157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0547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3936760"/>
            <a:ext cx="5355965" cy="488754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Практика: работы с данными с использованием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 библиотек визуализации</a:t>
            </a: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Q&amp;A (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разбор домашних заданий)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913579" y="2868004"/>
            <a:ext cx="2497418" cy="1288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634795" y="3146787"/>
            <a:ext cx="3054984" cy="1288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EAE212ED-D3FC-2B47-A5E4-0FF16A146595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3741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0" name="Table 23">
            <a:extLst>
              <a:ext uri="{FF2B5EF4-FFF2-40B4-BE49-F238E27FC236}">
                <a16:creationId xmlns:a16="http://schemas.microsoft.com/office/drawing/2014/main" id="{B439E66F-7EAC-FB47-ACB0-384FF44E594F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964504"/>
            <a:ext cx="3150787" cy="719215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Основы статистики</a:t>
            </a: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статистики. ЦПТ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А/В-тестирование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А/В-тестирование - практика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48184" y="1811478"/>
            <a:ext cx="406289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83173" y="2076489"/>
            <a:ext cx="936310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18163" y="2341499"/>
            <a:ext cx="1466331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3152" y="2606510"/>
            <a:ext cx="1996352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52599332-2FFA-044C-995B-B798ADA0046C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80908" y="1134767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91112D48-868F-4A40-836A-9A97BC7FB51A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42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1" y="964504"/>
            <a:ext cx="3004650" cy="719215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базами данных, </a:t>
            </a:r>
            <a:b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парсинг</a:t>
            </a: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данных с сайтов, взаимодействие с 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 SQL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: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Таблицы, представления, простые выборки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HTTP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Python.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Библиотеки,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requests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11650" y="1774944"/>
            <a:ext cx="406289" cy="2238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46639" y="2039955"/>
            <a:ext cx="936310" cy="2238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81629" y="2304965"/>
            <a:ext cx="1466331" cy="2238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16618" y="2569976"/>
            <a:ext cx="1996352" cy="2238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755F353F-0B1F-B440-BA17-EF3647C41A67}"/>
              </a:ext>
            </a:extLst>
          </p:cNvPr>
          <p:cNvSpPr/>
          <p:nvPr/>
        </p:nvSpPr>
        <p:spPr>
          <a:xfrm>
            <a:off x="2226713" y="40106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Парсинг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данных из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HTML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C92A012-1145-1246-AD75-982BADB552EE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852313" y="2834281"/>
            <a:ext cx="2524962" cy="2238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52599332-2FFA-044C-995B-B798ADA0046C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80908" y="1134767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2D834621-0A60-0C41-B479-196E985AF026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3125735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Практика. Продуктовая и маркетинговая аналитика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Введение в продуктовую аналитику на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522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Когортный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анализ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89844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RFM -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анализ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0165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ABC-XYZ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анализ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41921" y="1805215"/>
            <a:ext cx="406289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90312" y="2056824"/>
            <a:ext cx="909506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38704" y="2308432"/>
            <a:ext cx="1412723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87095" y="2560041"/>
            <a:ext cx="1915940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E3F9BED0-D7E7-2341-8AE5-D7D3EAFD76DD}"/>
              </a:ext>
            </a:extLst>
          </p:cNvPr>
          <p:cNvSpPr/>
          <p:nvPr/>
        </p:nvSpPr>
        <p:spPr>
          <a:xfrm>
            <a:off x="2226713" y="390487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формирования продуктовых корзин. Алгоритм априори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35560F-9E10-534D-9CE5-B89267D68A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935487" y="2811649"/>
            <a:ext cx="2419157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oogle Shape;225;p40">
            <a:extLst>
              <a:ext uri="{FF2B5EF4-FFF2-40B4-BE49-F238E27FC236}">
                <a16:creationId xmlns:a16="http://schemas.microsoft.com/office/drawing/2014/main" id="{B57A7942-5F63-3643-B47C-87CBC69531F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77573" y="1193862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FF3575B1-2BA6-BC48-810C-C1AE407E4F95}"/>
              </a:ext>
            </a:extLst>
          </p:cNvPr>
          <p:cNvSpPr/>
          <p:nvPr/>
        </p:nvSpPr>
        <p:spPr>
          <a:xfrm>
            <a:off x="2226713" y="4408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прогнозирования последовательностей. Цепи Маркова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6924779-581D-5A48-8B0F-27DD1F192A0D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683879" y="3063257"/>
            <a:ext cx="2922373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EF3D3363-F42B-A945-A9CF-827C96B2F729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B0C75A5D-5D72-6D41-85C9-7CD68723B310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72497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0F28CEF2-9F3C-D747-AEDE-75E7F385C3DF}"/>
              </a:ext>
            </a:extLst>
          </p:cNvPr>
          <p:cNvSpPr/>
          <p:nvPr/>
        </p:nvSpPr>
        <p:spPr>
          <a:xfrm>
            <a:off x="2226713" y="3482071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Подведение итогов курса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380460D-6985-154F-9936-74BB9CB24A5B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18296121-4EC0-9046-AF15-3197FA6B180F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10259</TotalTime>
  <Words>1630</Words>
  <Application>Microsoft Macintosh PowerPoint</Application>
  <PresentationFormat>On-screen Show (16:9)</PresentationFormat>
  <Paragraphs>278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AkayaTelivigala</vt:lpstr>
      <vt:lpstr>Arial</vt:lpstr>
      <vt:lpstr>Bradley Hand</vt:lpstr>
      <vt:lpstr>Calibri</vt:lpstr>
      <vt:lpstr>Courier New</vt:lpstr>
      <vt:lpstr>Google Sans</vt:lpstr>
      <vt:lpstr>Roboto</vt:lpstr>
      <vt:lpstr>Times New Roman</vt:lpstr>
      <vt:lpstr>Trebuchet MS</vt:lpstr>
      <vt:lpstr>Office Theme</vt:lpstr>
      <vt:lpstr>Python для аналитики FastAPI валидация параметров запроса с помощью Pydantic</vt:lpstr>
      <vt:lpstr>Проверить, идет ли запись</vt:lpstr>
      <vt:lpstr>Python для аналитики FastAPI  валидация параметров запроса с помощью Pydantic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FastAPI</vt:lpstr>
      <vt:lpstr>Какие бывают параметры запроса</vt:lpstr>
      <vt:lpstr>Валидация параметров пути</vt:lpstr>
      <vt:lpstr>Валидация параметров запроса</vt:lpstr>
      <vt:lpstr>Валидация параметров тела запроса</vt:lpstr>
      <vt:lpstr>Валидация параметров тела запроса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Знакомство с командой и программой курса</vt:lpstr>
      <vt:lpstr>Команда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Процесс обучения</vt:lpstr>
      <vt:lpstr>Заполните, пожалуйста, опрос о занятии по ссылке в чате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106</cp:revision>
  <dcterms:created xsi:type="dcterms:W3CDTF">2023-10-10T14:19:39Z</dcterms:created>
  <dcterms:modified xsi:type="dcterms:W3CDTF">2025-03-24T15:38:52Z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