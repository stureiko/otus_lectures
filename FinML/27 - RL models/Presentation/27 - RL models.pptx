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45"/>
  </p:notesMasterIdLst>
  <p:sldIdLst>
    <p:sldId id="256" r:id="rId2"/>
    <p:sldId id="257" r:id="rId3"/>
    <p:sldId id="334" r:id="rId4"/>
    <p:sldId id="259" r:id="rId5"/>
    <p:sldId id="260" r:id="rId6"/>
    <p:sldId id="261" r:id="rId7"/>
    <p:sldId id="262" r:id="rId8"/>
    <p:sldId id="276" r:id="rId9"/>
    <p:sldId id="377" r:id="rId10"/>
    <p:sldId id="378" r:id="rId11"/>
    <p:sldId id="278" r:id="rId12"/>
    <p:sldId id="391" r:id="rId13"/>
    <p:sldId id="392" r:id="rId14"/>
    <p:sldId id="393" r:id="rId15"/>
    <p:sldId id="394" r:id="rId16"/>
    <p:sldId id="395" r:id="rId17"/>
    <p:sldId id="298" r:id="rId18"/>
    <p:sldId id="401" r:id="rId19"/>
    <p:sldId id="396" r:id="rId20"/>
    <p:sldId id="397" r:id="rId21"/>
    <p:sldId id="303" r:id="rId22"/>
    <p:sldId id="302" r:id="rId23"/>
    <p:sldId id="373" r:id="rId24"/>
    <p:sldId id="374" r:id="rId25"/>
    <p:sldId id="399" r:id="rId26"/>
    <p:sldId id="362" r:id="rId27"/>
    <p:sldId id="307" r:id="rId28"/>
    <p:sldId id="402" r:id="rId29"/>
    <p:sldId id="364" r:id="rId30"/>
    <p:sldId id="343" r:id="rId31"/>
    <p:sldId id="338" r:id="rId32"/>
    <p:sldId id="333" r:id="rId33"/>
    <p:sldId id="403" r:id="rId34"/>
    <p:sldId id="379" r:id="rId35"/>
    <p:sldId id="369" r:id="rId36"/>
    <p:sldId id="406" r:id="rId37"/>
    <p:sldId id="407" r:id="rId38"/>
    <p:sldId id="405" r:id="rId39"/>
    <p:sldId id="409" r:id="rId40"/>
    <p:sldId id="408" r:id="rId41"/>
    <p:sldId id="281" r:id="rId42"/>
    <p:sldId id="296" r:id="rId43"/>
    <p:sldId id="319" r:id="rId44"/>
  </p:sldIdLst>
  <p:sldSz cx="9144000" cy="5143500" type="screen16x9"/>
  <p:notesSz cx="6858000" cy="9144000"/>
  <p:embeddedFontLst>
    <p:embeddedFont>
      <p:font typeface="Adelle Sans Devanagari Thin" panose="020F0502020204030204" pitchFamily="34" charset="0"/>
      <p:regular r:id="rId46"/>
      <p:bold r:id="rId47"/>
      <p:italic r:id="rId48"/>
      <p:boldItalic r:id="rId49"/>
    </p:embeddedFon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Cambria Math" panose="02040503050406030204" pitchFamily="18" charset="0"/>
      <p:regular r:id="rId54"/>
    </p:embeddedFont>
    <p:embeddedFont>
      <p:font typeface="Roboto" panose="02000000000000000000" pitchFamily="2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CB5BBF-14A1-44A8-AE45-40D0EF8F1E93}">
  <a:tblStyle styleId="{91CB5BBF-14A1-44A8-AE45-40D0EF8F1E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4"/>
    <p:restoredTop sz="97030"/>
  </p:normalViewPr>
  <p:slideViewPr>
    <p:cSldViewPr snapToGrid="0">
      <p:cViewPr varScale="1">
        <p:scale>
          <a:sx n="172" d="100"/>
          <a:sy n="172" d="100"/>
        </p:scale>
        <p:origin x="200" y="768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9893088cf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9893088cf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beb2bd227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5beb2bd227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dirty="0"/>
              <a:t>Более формально процесс обучения агента можно представить на следующей схеме.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dirty="0"/>
              <a:t>Состояние среду принято обозначать </a:t>
            </a:r>
            <a:r>
              <a:rPr lang="en-US" dirty="0"/>
              <a:t>s </a:t>
            </a:r>
            <a:r>
              <a:rPr lang="ru-RU" dirty="0"/>
              <a:t> (от английского </a:t>
            </a:r>
            <a:r>
              <a:rPr lang="en-US" dirty="0"/>
              <a:t>“state”)– </a:t>
            </a:r>
            <a:r>
              <a:rPr lang="ru-RU" dirty="0"/>
              <a:t>так мы будем обозначать ее в наших лекциях.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dirty="0"/>
              <a:t>Действие принято обозначать </a:t>
            </a:r>
            <a:r>
              <a:rPr lang="en-US" dirty="0"/>
              <a:t>a (</a:t>
            </a:r>
            <a:r>
              <a:rPr lang="ru-RU" dirty="0"/>
              <a:t>от английского </a:t>
            </a:r>
            <a:r>
              <a:rPr lang="en-US" dirty="0"/>
              <a:t>”action”)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dirty="0"/>
              <a:t>Награду принято обозначать </a:t>
            </a:r>
            <a:r>
              <a:rPr lang="en-US" dirty="0"/>
              <a:t>r (</a:t>
            </a:r>
            <a:r>
              <a:rPr lang="ru-RU" dirty="0"/>
              <a:t>от английского </a:t>
            </a:r>
            <a:r>
              <a:rPr lang="en-US" dirty="0"/>
              <a:t>“reward”)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dirty="0"/>
              <a:t>Более подробно этих моментов мы коснемся на лекции посвященной алгоритмам </a:t>
            </a:r>
            <a:r>
              <a:rPr lang="en-US" dirty="0"/>
              <a:t>Reinforcement Learning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5257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1161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1921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5868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95949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8572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6573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536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1366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1569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5367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5beb2bd227_0_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5beb2bd227_0_9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8957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43924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5beb2bd227_0_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5beb2bd227_0_9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текст 1">
  <p:cSld name="Заголовок и текст 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5024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Слайд с кодом 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365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  <p:sldLayoutId id="2147483661" r:id="rId12"/>
    <p:sldLayoutId id="2147483679" r:id="rId13"/>
    <p:sldLayoutId id="214748368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1.jpg"/><Relationship Id="rId7" Type="http://schemas.openxmlformats.org/officeDocument/2006/relationships/image" Target="NUL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1.jp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 </a:t>
            </a:r>
            <a:br>
              <a:rPr lang="ru-RU" dirty="0"/>
            </a:br>
            <a:r>
              <a:rPr lang="en-US" sz="3600" dirty="0"/>
              <a:t>Reinforcement learning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40" name="Google Shape;140;p33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41" name="Google Shape;14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br>
              <a:rPr lang="en-US" dirty="0"/>
            </a:br>
            <a:r>
              <a:rPr lang="en-US" sz="2400" dirty="0"/>
              <a:t>Reinforcement learning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33B90E1D-3F43-DA49-B28B-ECCA7B6E41F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7950" indent="-137318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Анализ временных рядов, эволюционные модели, финансовые модели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160" name="Google Shape;16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5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5"/>
          <p:cNvSpPr txBox="1"/>
          <p:nvPr/>
        </p:nvSpPr>
        <p:spPr>
          <a:xfrm>
            <a:off x="1654525" y="2049300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5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5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3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726" y="2148424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6525" y="192992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Reinforcement Learning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65431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Основные алгоритмы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4" y="337871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Алгоритмы с глубоким обучением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Применение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" name="Google Shape;194;p36"/>
          <p:cNvCxnSpPr>
            <a:cxnSpLocks/>
            <a:stCxn id="187" idx="1"/>
            <a:endCxn id="189" idx="1"/>
          </p:cNvCxnSpPr>
          <p:nvPr/>
        </p:nvCxnSpPr>
        <p:spPr>
          <a:xfrm rot="10800000" flipV="1">
            <a:off x="786525" y="1393624"/>
            <a:ext cx="12700" cy="72439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stCxn id="189" idx="1"/>
            <a:endCxn id="190" idx="1"/>
          </p:cNvCxnSpPr>
          <p:nvPr/>
        </p:nvCxnSpPr>
        <p:spPr>
          <a:xfrm rot="10800000" flipV="1">
            <a:off x="786525" y="2118021"/>
            <a:ext cx="12700" cy="72439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stCxn id="190" idx="1"/>
            <a:endCxn id="191" idx="1"/>
          </p:cNvCxnSpPr>
          <p:nvPr/>
        </p:nvCxnSpPr>
        <p:spPr>
          <a:xfrm rot="10800000" flipV="1">
            <a:off x="786525" y="2842418"/>
            <a:ext cx="1" cy="724397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stCxn id="191" idx="1"/>
            <a:endCxn id="192" idx="1"/>
          </p:cNvCxnSpPr>
          <p:nvPr/>
        </p:nvCxnSpPr>
        <p:spPr>
          <a:xfrm rot="10800000" flipH="1" flipV="1">
            <a:off x="786523" y="3566815"/>
            <a:ext cx="1" cy="724397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687D197-ED4A-7743-8C0A-E42278B58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0" y="1348854"/>
            <a:ext cx="4569000" cy="29994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114746289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что такое Reinforcement Learning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Разобраться в основных алгоритмах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Попробовать применять 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Reinforcement Learning для торговых моделей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1144191761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общего понимания Reinforcement Learning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Чтобы заложить основы для применения сложных моделей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/>
              <a:t>Основы и зарождение Reinforcement Learning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Третья парадигма машинного обучения</a:t>
            </a:r>
            <a:endParaRPr/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275" y="1257599"/>
            <a:ext cx="4770050" cy="32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000" y="1311488"/>
            <a:ext cx="3453575" cy="313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/>
        </p:nvSpPr>
        <p:spPr>
          <a:xfrm>
            <a:off x="251147" y="3241968"/>
            <a:ext cx="8641705" cy="1615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dirty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Обучение с подкреплением</a:t>
            </a:r>
            <a:endParaRPr sz="1200" b="1" dirty="0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Агент взаимодействует со средой методом проб и ошибок, чтобы выработать наиболее оптимальное поведение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максимизации получаемого вознаграждения.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Агент своими действиями может влиять на последующие состояния среды и получаемое вознаграждение 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(в том числе отложенное).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48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Третья парадигма машинного обучения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924AF-833D-D94B-AA07-D19892893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32" y="1195426"/>
            <a:ext cx="3482225" cy="1953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1D4F1-8530-D443-A772-64D4E93E7018}"/>
              </a:ext>
            </a:extLst>
          </p:cNvPr>
          <p:cNvSpPr txBox="1"/>
          <p:nvPr/>
        </p:nvSpPr>
        <p:spPr>
          <a:xfrm>
            <a:off x="3614057" y="1110201"/>
            <a:ext cx="522514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Обучение с учителем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b="1" dirty="0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Модель обучается на основе прецедентов (пары стимул-реакция), с целью восстановления / приближения потенциальной функциональной связи между входными и выходными сигналами.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Обучение без учителя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b="1" dirty="0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Модель обучается с целью обнаружения структуры в некотором пространстве объектов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(внутренние взаимосвязи, зависимости, закономерности).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/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Что такое Обучение с Подкреплением?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54"/>
          <p:cNvSpPr txBox="1"/>
          <p:nvPr/>
        </p:nvSpPr>
        <p:spPr>
          <a:xfrm>
            <a:off x="500550" y="3727302"/>
            <a:ext cx="3413400" cy="110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Этот метод обучения схож с тем, как люди и животные учатся на основе положительного и отрицательного подкрепления.</a:t>
            </a: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6" name="Google Shape;36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900" y="3030155"/>
            <a:ext cx="5124250" cy="188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30083A-FA26-074C-A116-EF5F9B0F9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49" y="1097072"/>
            <a:ext cx="2982879" cy="2312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C337B1-DDA1-0642-93FA-ABAEDC5B58D7}"/>
              </a:ext>
            </a:extLst>
          </p:cNvPr>
          <p:cNvSpPr txBox="1"/>
          <p:nvPr/>
        </p:nvSpPr>
        <p:spPr>
          <a:xfrm>
            <a:off x="3913950" y="1310536"/>
            <a:ext cx="4572000" cy="131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с Подкреплением</a:t>
            </a:r>
            <a:r>
              <a:rPr lang="ru-RU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это направление машинного обучения, где </a:t>
            </a:r>
            <a:r>
              <a:rPr lang="ru-RU" sz="140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агент</a:t>
            </a:r>
            <a:r>
              <a:rPr lang="ru-RU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(искусственный интеллект) обучается, </a:t>
            </a:r>
            <a:r>
              <a:rPr lang="ru-RU" sz="140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принимая решения</a:t>
            </a:r>
            <a:r>
              <a:rPr lang="ru-RU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и действуя </a:t>
            </a:r>
            <a:r>
              <a:rPr lang="ru-RU" sz="140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некоторой среде</a:t>
            </a:r>
            <a:r>
              <a:rPr lang="ru-RU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получая награду и штрафы с целью </a:t>
            </a:r>
            <a:r>
              <a:rPr lang="ru-RU" sz="140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максимизировать некую награду</a:t>
            </a:r>
            <a:r>
              <a:rPr lang="ru-RU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534E-B2D2-D14F-886E-EBEAB53A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Окружение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EB5B8-ECB5-8C44-836C-4E8518BC2015}"/>
              </a:ext>
            </a:extLst>
          </p:cNvPr>
          <p:cNvSpPr txBox="1"/>
          <p:nvPr/>
        </p:nvSpPr>
        <p:spPr>
          <a:xfrm>
            <a:off x="336192" y="896183"/>
            <a:ext cx="84716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0" i="1" u="none" strike="noStrike" dirty="0">
                <a:solidFill>
                  <a:schemeClr val="tx1"/>
                </a:solidFill>
                <a:effectLst/>
                <a:latin typeface="+mn-lt"/>
              </a:rPr>
              <a:t>Определение: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 Окружение или среда - это мир, в котором агент должен "выживать", т.е. всё, с чем агент может прямо или косвенно взаимодействовать.</a:t>
            </a:r>
          </a:p>
          <a:p>
            <a:endParaRPr lang="ru-RU" sz="1800" dirty="0">
              <a:solidFill>
                <a:schemeClr val="tx1"/>
              </a:solidFill>
              <a:latin typeface="+mn-lt"/>
            </a:endParaRPr>
          </a:p>
          <a:p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Среда обладает состоянием (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State),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агент может влиять на среду, совершая какие-то действия (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Actions),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переводя среду при этом из одного состояния в другое и получая какое-то вознаграждение. Среда описывается пространством возможных состояний. Конкретное состояние — вектор в этом пространстве.</a:t>
            </a:r>
          </a:p>
          <a:p>
            <a:endParaRPr lang="ru-RU" sz="18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В зависимости от конкретной задачи, агент может наблюдать либо полное состояние среды, либо только некоторую его часть - формировать наблюдение. В этом случае агенту может потребоваться какое-то внутреннее представление полного состояния, которое будет обновляться по мере получения новых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521393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15BE-C071-1C4A-B38D-74A3DF94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Окружение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3D3AF-5817-D64D-B4E4-F188F58BD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83" t="9261" r="9298" b="15321"/>
          <a:stretch/>
        </p:blipFill>
        <p:spPr>
          <a:xfrm>
            <a:off x="5658233" y="617376"/>
            <a:ext cx="2681831" cy="2681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03FC77-93CF-8942-A5AF-B02893264F31}"/>
              </a:ext>
            </a:extLst>
          </p:cNvPr>
          <p:cNvSpPr txBox="1"/>
          <p:nvPr/>
        </p:nvSpPr>
        <p:spPr>
          <a:xfrm>
            <a:off x="298032" y="1553910"/>
            <a:ext cx="5243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Окружение – лабиринт;</a:t>
            </a:r>
          </a:p>
          <a:p>
            <a:endParaRPr lang="ru-RU" sz="1600" dirty="0"/>
          </a:p>
          <a:p>
            <a:r>
              <a:rPr lang="ru-RU" sz="1600" dirty="0"/>
              <a:t>Состояние – положение агента в лабиринте;</a:t>
            </a:r>
          </a:p>
          <a:p>
            <a:endParaRPr lang="ru-RU" sz="1600" dirty="0"/>
          </a:p>
          <a:p>
            <a:r>
              <a:rPr lang="ru-RU" sz="1600" dirty="0"/>
              <a:t>Пространство состояний – возможные положения агента в лабиринте;</a:t>
            </a:r>
          </a:p>
          <a:p>
            <a:endParaRPr lang="ru-RU" sz="1600" dirty="0"/>
          </a:p>
          <a:p>
            <a:r>
              <a:rPr lang="ru-RU" sz="1600" dirty="0"/>
              <a:t>Пространство действий – возможные действия агента: вниз, вверх, вправо, влево, стоять на месте.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DEA79D-9A64-F34A-9CC0-D0B8D627E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956167" y="330723"/>
            <a:ext cx="2168471" cy="162756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4D301E2-ED5D-9D4B-8145-71F870EBC34F}"/>
              </a:ext>
            </a:extLst>
          </p:cNvPr>
          <p:cNvSpPr>
            <a:spLocks noChangeAspect="1"/>
          </p:cNvSpPr>
          <p:nvPr/>
        </p:nvSpPr>
        <p:spPr>
          <a:xfrm>
            <a:off x="6591044" y="2218915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Notched Right Arrow 8">
            <a:extLst>
              <a:ext uri="{FF2B5EF4-FFF2-40B4-BE49-F238E27FC236}">
                <a16:creationId xmlns:a16="http://schemas.microsoft.com/office/drawing/2014/main" id="{37E16F89-15E0-DE46-AE2B-F02E17538CBC}"/>
              </a:ext>
            </a:extLst>
          </p:cNvPr>
          <p:cNvSpPr>
            <a:spLocks noChangeAspect="1"/>
          </p:cNvSpPr>
          <p:nvPr/>
        </p:nvSpPr>
        <p:spPr>
          <a:xfrm>
            <a:off x="6815306" y="2272915"/>
            <a:ext cx="72680" cy="360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Notched Right Arrow 9">
            <a:extLst>
              <a:ext uri="{FF2B5EF4-FFF2-40B4-BE49-F238E27FC236}">
                <a16:creationId xmlns:a16="http://schemas.microsoft.com/office/drawing/2014/main" id="{7EABE74A-0372-5C47-83C9-F50072DD309D}"/>
              </a:ext>
            </a:extLst>
          </p:cNvPr>
          <p:cNvSpPr>
            <a:spLocks noChangeAspect="1"/>
          </p:cNvSpPr>
          <p:nvPr/>
        </p:nvSpPr>
        <p:spPr>
          <a:xfrm rot="5400000">
            <a:off x="6626704" y="2482304"/>
            <a:ext cx="72680" cy="360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otched Right Arrow 10">
            <a:extLst>
              <a:ext uri="{FF2B5EF4-FFF2-40B4-BE49-F238E27FC236}">
                <a16:creationId xmlns:a16="http://schemas.microsoft.com/office/drawing/2014/main" id="{4D685926-0853-A047-B2C6-5DB6E50DF895}"/>
              </a:ext>
            </a:extLst>
          </p:cNvPr>
          <p:cNvSpPr>
            <a:spLocks noChangeAspect="1"/>
          </p:cNvSpPr>
          <p:nvPr/>
        </p:nvSpPr>
        <p:spPr>
          <a:xfrm rot="16200000">
            <a:off x="6626704" y="2063526"/>
            <a:ext cx="72680" cy="360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Notched Right Arrow 11">
            <a:extLst>
              <a:ext uri="{FF2B5EF4-FFF2-40B4-BE49-F238E27FC236}">
                <a16:creationId xmlns:a16="http://schemas.microsoft.com/office/drawing/2014/main" id="{C030AA48-6A10-B247-9E79-2AD511B07CD0}"/>
              </a:ext>
            </a:extLst>
          </p:cNvPr>
          <p:cNvSpPr>
            <a:spLocks noChangeAspect="1"/>
          </p:cNvSpPr>
          <p:nvPr/>
        </p:nvSpPr>
        <p:spPr>
          <a:xfrm flipH="1">
            <a:off x="6401762" y="2280898"/>
            <a:ext cx="72680" cy="360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1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A1054D-A558-F34C-8B1C-C6D389EE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Агент – Окружение</a:t>
            </a:r>
            <a:endParaRPr lang="en-TR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83EA30-9921-7C44-8FBB-D346EF5B3911}"/>
              </a:ext>
            </a:extLst>
          </p:cNvPr>
          <p:cNvGrpSpPr/>
          <p:nvPr/>
        </p:nvGrpSpPr>
        <p:grpSpPr>
          <a:xfrm>
            <a:off x="0" y="1356071"/>
            <a:ext cx="3068456" cy="2234277"/>
            <a:chOff x="0" y="1056470"/>
            <a:chExt cx="4464954" cy="314323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F3D83E7-19DE-CA4C-B33A-EACDB7C6153E}"/>
                </a:ext>
              </a:extLst>
            </p:cNvPr>
            <p:cNvGrpSpPr/>
            <p:nvPr/>
          </p:nvGrpSpPr>
          <p:grpSpPr>
            <a:xfrm>
              <a:off x="0" y="1056470"/>
              <a:ext cx="4464954" cy="3143234"/>
              <a:chOff x="278879" y="829204"/>
              <a:chExt cx="4464954" cy="3143234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5ABD48-4EA7-674D-9BE8-D311C54725FB}"/>
                  </a:ext>
                </a:extLst>
              </p:cNvPr>
              <p:cNvSpPr/>
              <p:nvPr/>
            </p:nvSpPr>
            <p:spPr>
              <a:xfrm>
                <a:off x="576869" y="1104643"/>
                <a:ext cx="4166964" cy="28677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R" dirty="0"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13F6755-4350-734F-83B2-6D622EF48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8879" y="829204"/>
                <a:ext cx="2065421" cy="550877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CED297-8E35-DB4B-AF39-59CDB93025CC}"/>
                </a:ext>
              </a:extLst>
            </p:cNvPr>
            <p:cNvSpPr txBox="1"/>
            <p:nvPr/>
          </p:nvSpPr>
          <p:spPr>
            <a:xfrm>
              <a:off x="697844" y="1391938"/>
              <a:ext cx="1486302" cy="3680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sz="1100" dirty="0">
                  <a:latin typeface="Adelle Sans Devanagari Thin" panose="02000503000000020004" pitchFamily="2" charset="-78"/>
                  <a:cs typeface="Adelle Sans Devanagari Thin" panose="02000503000000020004" pitchFamily="2" charset="-78"/>
                </a:rPr>
                <a:t>environment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BCD8849-BB26-5744-AC6A-82C56613D5FF}"/>
              </a:ext>
            </a:extLst>
          </p:cNvPr>
          <p:cNvSpPr txBox="1"/>
          <p:nvPr/>
        </p:nvSpPr>
        <p:spPr>
          <a:xfrm>
            <a:off x="5461540" y="3075719"/>
            <a:ext cx="8226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000" dirty="0">
                <a:solidFill>
                  <a:srgbClr val="00B050"/>
                </a:solidFill>
              </a:rPr>
              <a:t>(state, info)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CE525C-AEE2-7745-8515-A285DEE257AE}"/>
              </a:ext>
            </a:extLst>
          </p:cNvPr>
          <p:cNvSpPr txBox="1"/>
          <p:nvPr/>
        </p:nvSpPr>
        <p:spPr>
          <a:xfrm>
            <a:off x="4660734" y="3534080"/>
            <a:ext cx="1636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solidFill>
                  <a:srgbClr val="C00000"/>
                </a:solidFill>
              </a:rPr>
              <a:t>(</a:t>
            </a:r>
            <a:r>
              <a:rPr lang="en-TR" sz="1000" dirty="0">
                <a:solidFill>
                  <a:srgbClr val="C00000"/>
                </a:solidFill>
              </a:rPr>
              <a:t>state, reward, done, info)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CA9D0-447A-604A-BBAD-E9D31F39B4CD}"/>
              </a:ext>
            </a:extLst>
          </p:cNvPr>
          <p:cNvSpPr txBox="1"/>
          <p:nvPr/>
        </p:nvSpPr>
        <p:spPr>
          <a:xfrm>
            <a:off x="3068456" y="1868528"/>
            <a:ext cx="20174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8150" algn="l"/>
              </a:tabLst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sz="1000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sz="1000" dirty="0" err="1">
                <a:solidFill>
                  <a:schemeClr val="accent1">
                    <a:lumMod val="50000"/>
                  </a:schemeClr>
                </a:solidFill>
              </a:rPr>
              <a:t>observation_space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()</a:t>
            </a:r>
            <a:endParaRPr lang="en-TR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D8C6E7-49B4-554A-A7FD-1DBC005E3DBA}"/>
              </a:ext>
            </a:extLst>
          </p:cNvPr>
          <p:cNvSpPr txBox="1"/>
          <p:nvPr/>
        </p:nvSpPr>
        <p:spPr>
          <a:xfrm>
            <a:off x="3068456" y="1322110"/>
            <a:ext cx="1261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sz="1000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sz="1000" dirty="0" err="1">
                <a:solidFill>
                  <a:schemeClr val="accent1">
                    <a:lumMod val="50000"/>
                  </a:schemeClr>
                </a:solidFill>
              </a:rPr>
              <a:t>action_space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()</a:t>
            </a:r>
            <a:endParaRPr lang="en-TR" sz="8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EB3246-0629-9747-902A-9B7D2A3A262D}"/>
              </a:ext>
            </a:extLst>
          </p:cNvPr>
          <p:cNvCxnSpPr>
            <a:cxnSpLocks/>
          </p:cNvCxnSpPr>
          <p:nvPr/>
        </p:nvCxnSpPr>
        <p:spPr>
          <a:xfrm>
            <a:off x="3074589" y="2162613"/>
            <a:ext cx="3209612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C4CF95-B43C-3043-ADEA-FCC0BEC07EB4}"/>
              </a:ext>
            </a:extLst>
          </p:cNvPr>
          <p:cNvCxnSpPr>
            <a:cxnSpLocks/>
          </p:cNvCxnSpPr>
          <p:nvPr/>
        </p:nvCxnSpPr>
        <p:spPr>
          <a:xfrm>
            <a:off x="3094245" y="3057944"/>
            <a:ext cx="3203476" cy="0"/>
          </a:xfrm>
          <a:prstGeom prst="straightConnector1">
            <a:avLst/>
          </a:prstGeom>
          <a:ln w="190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DE8CA8-EDF9-8944-8A0D-AAAAB5572E4E}"/>
              </a:ext>
            </a:extLst>
          </p:cNvPr>
          <p:cNvCxnSpPr>
            <a:cxnSpLocks/>
          </p:cNvCxnSpPr>
          <p:nvPr/>
        </p:nvCxnSpPr>
        <p:spPr>
          <a:xfrm>
            <a:off x="3080725" y="3495870"/>
            <a:ext cx="3203476" cy="0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13FEABF-D218-DF43-AB73-D8E8CD4C7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59" y="1943729"/>
            <a:ext cx="2610726" cy="15556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5FDE0C-5AF4-CA46-9F4E-4CDB65C0917F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l="12589"/>
          <a:stretch/>
        </p:blipFill>
        <p:spPr>
          <a:xfrm>
            <a:off x="6448245" y="1712524"/>
            <a:ext cx="1948232" cy="1692000"/>
          </a:xfrm>
          <a:prstGeom prst="rect">
            <a:avLst/>
          </a:prstGeom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E65801D-E372-AE4A-A747-EE72F134334F}"/>
              </a:ext>
            </a:extLst>
          </p:cNvPr>
          <p:cNvSpPr txBox="1"/>
          <p:nvPr/>
        </p:nvSpPr>
        <p:spPr>
          <a:xfrm>
            <a:off x="3068456" y="3218358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action</a:t>
            </a:r>
            <a:endParaRPr lang="en-TR" sz="1000" dirty="0">
              <a:solidFill>
                <a:srgbClr val="C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F0BD41-B911-8243-B5A1-CC3368F47F67}"/>
              </a:ext>
            </a:extLst>
          </p:cNvPr>
          <p:cNvSpPr txBox="1"/>
          <p:nvPr/>
        </p:nvSpPr>
        <p:spPr>
          <a:xfrm>
            <a:off x="3098110" y="2791358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B050"/>
                </a:solidFill>
              </a:rPr>
              <a:t>e</a:t>
            </a:r>
            <a:r>
              <a:rPr lang="en-TR" sz="1000" dirty="0">
                <a:solidFill>
                  <a:srgbClr val="00B050"/>
                </a:solidFill>
              </a:rPr>
              <a:t>nv.reset()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9D766E-66C4-CC44-ABBA-49F1BDC70C6A}"/>
              </a:ext>
            </a:extLst>
          </p:cNvPr>
          <p:cNvSpPr txBox="1"/>
          <p:nvPr/>
        </p:nvSpPr>
        <p:spPr>
          <a:xfrm>
            <a:off x="5447650" y="1602223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Discrete / float</a:t>
            </a:r>
            <a:endParaRPr lang="en-TR" sz="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28B075-DDA0-6847-B800-B6CADE0D8ECD}"/>
              </a:ext>
            </a:extLst>
          </p:cNvPr>
          <p:cNvSpPr txBox="1"/>
          <p:nvPr/>
        </p:nvSpPr>
        <p:spPr>
          <a:xfrm>
            <a:off x="5854134" y="2161377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Box</a:t>
            </a:r>
            <a:endParaRPr lang="en-TR" sz="8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A752D7-38F0-3445-B343-9F2F87F26A05}"/>
              </a:ext>
            </a:extLst>
          </p:cNvPr>
          <p:cNvCxnSpPr>
            <a:cxnSpLocks/>
          </p:cNvCxnSpPr>
          <p:nvPr/>
        </p:nvCxnSpPr>
        <p:spPr>
          <a:xfrm>
            <a:off x="3074589" y="1603620"/>
            <a:ext cx="3209612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13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4C76-ED5A-424F-B7AA-E46A9E8A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Политика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EA42F-A92E-7D4F-AAF7-851B49ED7472}"/>
              </a:ext>
            </a:extLst>
          </p:cNvPr>
          <p:cNvSpPr txBox="1"/>
          <p:nvPr/>
        </p:nvSpPr>
        <p:spPr>
          <a:xfrm>
            <a:off x="500551" y="1215109"/>
            <a:ext cx="852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Политика (стратегия агента) - это правило или набор правил, определяющих, какие действия агент должен предпринимать в различных состояниях среды.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8D5961-95CB-2C41-915F-821453CF202E}"/>
              </a:ext>
            </a:extLst>
          </p:cNvPr>
          <p:cNvGraphicFramePr>
            <a:graphicFrameLocks noGrp="1"/>
          </p:cNvGraphicFramePr>
          <p:nvPr/>
        </p:nvGraphicFramePr>
        <p:xfrm>
          <a:off x="576039" y="2242998"/>
          <a:ext cx="2701070" cy="2653620"/>
        </p:xfrm>
        <a:graphic>
          <a:graphicData uri="http://schemas.openxmlformats.org/drawingml/2006/table">
            <a:tbl>
              <a:tblPr/>
              <a:tblGrid>
                <a:gridCol w="540214">
                  <a:extLst>
                    <a:ext uri="{9D8B030D-6E8A-4147-A177-3AD203B41FA5}">
                      <a16:colId xmlns:a16="http://schemas.microsoft.com/office/drawing/2014/main" val="1845468549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1339863877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43082244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1785429814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1084434534"/>
                    </a:ext>
                  </a:extLst>
                </a:gridCol>
              </a:tblGrid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↑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1324059508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1648487245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←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↑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710354260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↓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1477810724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↑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↑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8569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0CF963-FD9B-C84C-8216-E9434BDD44CD}"/>
              </a:ext>
            </a:extLst>
          </p:cNvPr>
          <p:cNvSpPr txBox="1"/>
          <p:nvPr/>
        </p:nvSpPr>
        <p:spPr>
          <a:xfrm>
            <a:off x="576039" y="1965999"/>
            <a:ext cx="107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Политика 1</a:t>
            </a:r>
            <a:endParaRPr lang="en-TR" sz="1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CA7C45-4555-7544-82EB-0A98B7CFB8DB}"/>
              </a:ext>
            </a:extLst>
          </p:cNvPr>
          <p:cNvGraphicFramePr>
            <a:graphicFrameLocks noGrp="1"/>
          </p:cNvGraphicFramePr>
          <p:nvPr/>
        </p:nvGraphicFramePr>
        <p:xfrm>
          <a:off x="5227315" y="2242998"/>
          <a:ext cx="2701070" cy="2653620"/>
        </p:xfrm>
        <a:graphic>
          <a:graphicData uri="http://schemas.openxmlformats.org/drawingml/2006/table">
            <a:tbl>
              <a:tblPr/>
              <a:tblGrid>
                <a:gridCol w="540214">
                  <a:extLst>
                    <a:ext uri="{9D8B030D-6E8A-4147-A177-3AD203B41FA5}">
                      <a16:colId xmlns:a16="http://schemas.microsoft.com/office/drawing/2014/main" val="3548657222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644367806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3584092873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129591316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647447773"/>
                    </a:ext>
                  </a:extLst>
                </a:gridCol>
              </a:tblGrid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↓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↑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↓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3445651728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↑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702653396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↑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↓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↓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2554060127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↑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4249299186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↑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↓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493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BC81A02-A23B-7B4A-86F7-D952C7DA6ADF}"/>
              </a:ext>
            </a:extLst>
          </p:cNvPr>
          <p:cNvSpPr txBox="1"/>
          <p:nvPr/>
        </p:nvSpPr>
        <p:spPr>
          <a:xfrm>
            <a:off x="5135260" y="1965999"/>
            <a:ext cx="107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Политика 2</a:t>
            </a:r>
            <a:endParaRPr lang="en-TR" sz="1200" dirty="0"/>
          </a:p>
        </p:txBody>
      </p:sp>
    </p:spTree>
    <p:extLst>
      <p:ext uri="{BB962C8B-B14F-4D97-AF65-F5344CB8AC3E}">
        <p14:creationId xmlns:p14="http://schemas.microsoft.com/office/powerpoint/2010/main" val="1188074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80BDE-3585-C04E-ADB9-9E949A819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Награда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AC6B7-F452-C944-BF82-C900E4E4E531}"/>
              </a:ext>
            </a:extLst>
          </p:cNvPr>
          <p:cNvSpPr txBox="1"/>
          <p:nvPr/>
        </p:nvSpPr>
        <p:spPr>
          <a:xfrm>
            <a:off x="500550" y="887773"/>
            <a:ext cx="8520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Вознаграждение представляет собой числовую обратную связь, которую агент получает от среды в ответ на свои действия. </a:t>
            </a:r>
            <a:r>
              <a:rPr lang="ru-RU" b="1" i="0" u="none" strike="noStrike" dirty="0">
                <a:solidFill>
                  <a:schemeClr val="tx1"/>
                </a:solidFill>
                <a:effectLst/>
                <a:latin typeface="Söhne"/>
              </a:rPr>
              <a:t>Цель агента - максимизировать суммарное вознаграждение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(как правило).</a:t>
            </a:r>
          </a:p>
          <a:p>
            <a:r>
              <a:rPr lang="ru-RU" i="0" u="none" strike="noStrike" dirty="0">
                <a:solidFill>
                  <a:schemeClr val="tx1"/>
                </a:solidFill>
                <a:effectLst/>
                <a:latin typeface="Söhne"/>
              </a:rPr>
              <a:t>Результатом действия политики на среду является </a:t>
            </a:r>
            <a:r>
              <a:rPr lang="ru-RU" b="1" i="0" u="none" strike="noStrike" dirty="0">
                <a:solidFill>
                  <a:schemeClr val="tx1"/>
                </a:solidFill>
                <a:effectLst/>
                <a:latin typeface="Söhne"/>
              </a:rPr>
              <a:t>траектория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, которая </a:t>
            </a:r>
            <a:r>
              <a:rPr lang="ru-RU" b="1" i="0" u="none" strike="noStrike" dirty="0">
                <a:solidFill>
                  <a:schemeClr val="tx1"/>
                </a:solidFill>
                <a:effectLst/>
                <a:latin typeface="Söhne"/>
              </a:rPr>
              <a:t>определяет суммарную награду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агента. </a:t>
            </a:r>
            <a:r>
              <a:rPr lang="ru-RU" dirty="0">
                <a:solidFill>
                  <a:schemeClr val="tx1"/>
                </a:solidFill>
                <a:latin typeface="Söhne"/>
              </a:rPr>
              <a:t>Поскольку награда определяется действиями агента в среде – то награда определяется политикой агента.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667886-F1B8-B04F-A735-EF3F4C3077F8}"/>
              </a:ext>
            </a:extLst>
          </p:cNvPr>
          <p:cNvGraphicFramePr>
            <a:graphicFrameLocks noGrp="1"/>
          </p:cNvGraphicFramePr>
          <p:nvPr/>
        </p:nvGraphicFramePr>
        <p:xfrm>
          <a:off x="576039" y="2335053"/>
          <a:ext cx="2701070" cy="2653620"/>
        </p:xfrm>
        <a:graphic>
          <a:graphicData uri="http://schemas.openxmlformats.org/drawingml/2006/table">
            <a:tbl>
              <a:tblPr/>
              <a:tblGrid>
                <a:gridCol w="540214">
                  <a:extLst>
                    <a:ext uri="{9D8B030D-6E8A-4147-A177-3AD203B41FA5}">
                      <a16:colId xmlns:a16="http://schemas.microsoft.com/office/drawing/2014/main" val="1845468549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1339863877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43082244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1785429814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1084434534"/>
                    </a:ext>
                  </a:extLst>
                </a:gridCol>
              </a:tblGrid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↑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1324059508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1648487245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←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↑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54260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↓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810724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↑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↑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8569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B41FF7-E4BC-F14C-978B-291490063FA5}"/>
              </a:ext>
            </a:extLst>
          </p:cNvPr>
          <p:cNvSpPr txBox="1"/>
          <p:nvPr/>
        </p:nvSpPr>
        <p:spPr>
          <a:xfrm>
            <a:off x="576038" y="2058054"/>
            <a:ext cx="23144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Политика 1, награда = -9</a:t>
            </a:r>
            <a:endParaRPr lang="en-TR" sz="1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E0B281-CC94-644B-A842-52611D07D35B}"/>
              </a:ext>
            </a:extLst>
          </p:cNvPr>
          <p:cNvGraphicFramePr>
            <a:graphicFrameLocks noGrp="1"/>
          </p:cNvGraphicFramePr>
          <p:nvPr/>
        </p:nvGraphicFramePr>
        <p:xfrm>
          <a:off x="5227315" y="2335053"/>
          <a:ext cx="2701070" cy="2653620"/>
        </p:xfrm>
        <a:graphic>
          <a:graphicData uri="http://schemas.openxmlformats.org/drawingml/2006/table">
            <a:tbl>
              <a:tblPr/>
              <a:tblGrid>
                <a:gridCol w="540214">
                  <a:extLst>
                    <a:ext uri="{9D8B030D-6E8A-4147-A177-3AD203B41FA5}">
                      <a16:colId xmlns:a16="http://schemas.microsoft.com/office/drawing/2014/main" val="3548657222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644367806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3584092873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129591316"/>
                    </a:ext>
                  </a:extLst>
                </a:gridCol>
                <a:gridCol w="540214">
                  <a:extLst>
                    <a:ext uri="{9D8B030D-6E8A-4147-A177-3AD203B41FA5}">
                      <a16:colId xmlns:a16="http://schemas.microsoft.com/office/drawing/2014/main" val="647447773"/>
                    </a:ext>
                  </a:extLst>
                </a:gridCol>
              </a:tblGrid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↑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↓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3445651728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↑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702653396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←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060127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←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↑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2000" u="none" strike="noStrike" dirty="0">
                          <a:effectLst/>
                        </a:rPr>
                        <a:t>↓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299186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 dirty="0">
                          <a:effectLst/>
                        </a:rPr>
                        <a:t>→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2000" u="none" strike="noStrike" dirty="0">
                          <a:effectLst/>
                        </a:rPr>
                        <a:t>↑</a:t>
                      </a:r>
                      <a:endParaRPr lang="en-T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2000" u="none" strike="noStrike">
                          <a:effectLst/>
                        </a:rPr>
                        <a:t>→</a:t>
                      </a:r>
                      <a:endParaRPr lang="en-TR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493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73B17AA-7645-F84B-A268-1BD97FAFEA13}"/>
              </a:ext>
            </a:extLst>
          </p:cNvPr>
          <p:cNvSpPr txBox="1"/>
          <p:nvPr/>
        </p:nvSpPr>
        <p:spPr>
          <a:xfrm>
            <a:off x="5227315" y="2058054"/>
            <a:ext cx="2118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Политика 2, награда = -15</a:t>
            </a:r>
            <a:endParaRPr lang="en-T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402A19-925B-864B-988F-078E9B8FA4CB}"/>
              </a:ext>
            </a:extLst>
          </p:cNvPr>
          <p:cNvSpPr txBox="1"/>
          <p:nvPr/>
        </p:nvSpPr>
        <p:spPr>
          <a:xfrm>
            <a:off x="5458923" y="3925733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51B53A-CF71-874E-99A6-F29A1EC7E5A0}"/>
              </a:ext>
            </a:extLst>
          </p:cNvPr>
          <p:cNvSpPr txBox="1"/>
          <p:nvPr/>
        </p:nvSpPr>
        <p:spPr>
          <a:xfrm>
            <a:off x="2480629" y="3406722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06A834-3D19-9943-BFC8-D56D5A80B1B0}"/>
              </a:ext>
            </a:extLst>
          </p:cNvPr>
          <p:cNvSpPr txBox="1"/>
          <p:nvPr/>
        </p:nvSpPr>
        <p:spPr>
          <a:xfrm>
            <a:off x="2480629" y="2861868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B0F451-1F65-F749-9696-2A9572E6773E}"/>
              </a:ext>
            </a:extLst>
          </p:cNvPr>
          <p:cNvSpPr txBox="1"/>
          <p:nvPr/>
        </p:nvSpPr>
        <p:spPr>
          <a:xfrm>
            <a:off x="1958637" y="2861868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F3BFB1-47ED-254B-B80E-3AB1682F605B}"/>
              </a:ext>
            </a:extLst>
          </p:cNvPr>
          <p:cNvSpPr txBox="1"/>
          <p:nvPr/>
        </p:nvSpPr>
        <p:spPr>
          <a:xfrm>
            <a:off x="1413535" y="2866185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780B9-3114-4A49-9096-E7498C81BE86}"/>
              </a:ext>
            </a:extLst>
          </p:cNvPr>
          <p:cNvSpPr txBox="1"/>
          <p:nvPr/>
        </p:nvSpPr>
        <p:spPr>
          <a:xfrm>
            <a:off x="1370501" y="2341190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7F589D-330A-7247-86C0-7FBCC0F5A38F}"/>
              </a:ext>
            </a:extLst>
          </p:cNvPr>
          <p:cNvSpPr txBox="1"/>
          <p:nvPr/>
        </p:nvSpPr>
        <p:spPr>
          <a:xfrm>
            <a:off x="6027035" y="4453986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596BEA-5896-FF42-8CE4-1660B3A99894}"/>
              </a:ext>
            </a:extLst>
          </p:cNvPr>
          <p:cNvSpPr txBox="1"/>
          <p:nvPr/>
        </p:nvSpPr>
        <p:spPr>
          <a:xfrm>
            <a:off x="846379" y="2339796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EFE0C0-6844-0D43-8A4A-388D40C4E791}"/>
              </a:ext>
            </a:extLst>
          </p:cNvPr>
          <p:cNvSpPr txBox="1"/>
          <p:nvPr/>
        </p:nvSpPr>
        <p:spPr>
          <a:xfrm>
            <a:off x="3016241" y="4466260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AF3F8F-510F-B441-B4F7-42F200BBC295}"/>
              </a:ext>
            </a:extLst>
          </p:cNvPr>
          <p:cNvSpPr txBox="1"/>
          <p:nvPr/>
        </p:nvSpPr>
        <p:spPr>
          <a:xfrm>
            <a:off x="3016241" y="3938684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AAD490-2E5B-7148-829C-11F84502D989}"/>
              </a:ext>
            </a:extLst>
          </p:cNvPr>
          <p:cNvSpPr txBox="1"/>
          <p:nvPr/>
        </p:nvSpPr>
        <p:spPr>
          <a:xfrm>
            <a:off x="3016241" y="3406722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6FE5F3-7DF6-3440-9242-836E01F07EEE}"/>
              </a:ext>
            </a:extLst>
          </p:cNvPr>
          <p:cNvSpPr txBox="1"/>
          <p:nvPr/>
        </p:nvSpPr>
        <p:spPr>
          <a:xfrm>
            <a:off x="6046472" y="3925733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7BE681-F817-9F47-9CF9-5780254D84D9}"/>
              </a:ext>
            </a:extLst>
          </p:cNvPr>
          <p:cNvSpPr txBox="1"/>
          <p:nvPr/>
        </p:nvSpPr>
        <p:spPr>
          <a:xfrm>
            <a:off x="6041481" y="3394448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4E544B-1C23-844D-87B3-1B4DBA107DB5}"/>
              </a:ext>
            </a:extLst>
          </p:cNvPr>
          <p:cNvSpPr txBox="1"/>
          <p:nvPr/>
        </p:nvSpPr>
        <p:spPr>
          <a:xfrm>
            <a:off x="6041481" y="2849594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FA57B8-D247-0C46-92AE-837DE086FE90}"/>
              </a:ext>
            </a:extLst>
          </p:cNvPr>
          <p:cNvSpPr txBox="1"/>
          <p:nvPr/>
        </p:nvSpPr>
        <p:spPr>
          <a:xfrm>
            <a:off x="6027035" y="2327522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A73D1F-554B-4A4F-AE28-DAA841259742}"/>
              </a:ext>
            </a:extLst>
          </p:cNvPr>
          <p:cNvSpPr txBox="1"/>
          <p:nvPr/>
        </p:nvSpPr>
        <p:spPr>
          <a:xfrm>
            <a:off x="5532491" y="2339990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D2C217-4464-8347-955F-BF609F952248}"/>
              </a:ext>
            </a:extLst>
          </p:cNvPr>
          <p:cNvSpPr txBox="1"/>
          <p:nvPr/>
        </p:nvSpPr>
        <p:spPr>
          <a:xfrm>
            <a:off x="6600742" y="4453986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1A77B7-5DB9-0647-8927-74AE781D532E}"/>
              </a:ext>
            </a:extLst>
          </p:cNvPr>
          <p:cNvSpPr txBox="1"/>
          <p:nvPr/>
        </p:nvSpPr>
        <p:spPr>
          <a:xfrm>
            <a:off x="6555229" y="3929504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9D22EF-B2F9-9B4A-940B-9D4ADE5B4949}"/>
              </a:ext>
            </a:extLst>
          </p:cNvPr>
          <p:cNvSpPr txBox="1"/>
          <p:nvPr/>
        </p:nvSpPr>
        <p:spPr>
          <a:xfrm>
            <a:off x="5509900" y="4445977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6F5D55-17D7-7842-9BD8-316E7C3FDDA4}"/>
              </a:ext>
            </a:extLst>
          </p:cNvPr>
          <p:cNvSpPr txBox="1"/>
          <p:nvPr/>
        </p:nvSpPr>
        <p:spPr>
          <a:xfrm>
            <a:off x="7670083" y="4450291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3C594F-B6F0-F941-B651-392ABA855F72}"/>
              </a:ext>
            </a:extLst>
          </p:cNvPr>
          <p:cNvSpPr txBox="1"/>
          <p:nvPr/>
        </p:nvSpPr>
        <p:spPr>
          <a:xfrm>
            <a:off x="7670083" y="3913692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DF5D96-D0F0-AE4C-8564-EE3E7E1272D9}"/>
              </a:ext>
            </a:extLst>
          </p:cNvPr>
          <p:cNvSpPr txBox="1"/>
          <p:nvPr/>
        </p:nvSpPr>
        <p:spPr>
          <a:xfrm>
            <a:off x="7652347" y="3394448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FC7578-6A76-0E40-BAB4-D566BFED447E}"/>
              </a:ext>
            </a:extLst>
          </p:cNvPr>
          <p:cNvSpPr txBox="1"/>
          <p:nvPr/>
        </p:nvSpPr>
        <p:spPr>
          <a:xfrm>
            <a:off x="7138387" y="3400793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3B3CB1-A9B5-BF47-9EFC-D8F43D1317FD}"/>
              </a:ext>
            </a:extLst>
          </p:cNvPr>
          <p:cNvSpPr txBox="1"/>
          <p:nvPr/>
        </p:nvSpPr>
        <p:spPr>
          <a:xfrm>
            <a:off x="7142778" y="3923858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-1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20493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Политика</a:t>
            </a:r>
            <a:r>
              <a:rPr lang="en-US" dirty="0"/>
              <a:t> </a:t>
            </a:r>
            <a:r>
              <a:rPr lang="ru-RU" dirty="0"/>
              <a:t>и награда</a:t>
            </a:r>
            <a:r>
              <a:rPr lang="ru" dirty="0"/>
              <a:t> (более строго)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Google Shape;311;p5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00550" y="1307283"/>
                <a:ext cx="8285940" cy="350549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 algn="l">
                  <a:buNone/>
                </a:pP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Политикой называется отображение из пространства состояний в пространство действий</a:t>
                </a:r>
              </a:p>
              <a:p>
                <a:pPr marL="13335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⟼</m:t>
                      </m:r>
                      <m:r>
                        <a:rPr lang="en-US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𝒮</m:t>
                      </m:r>
                    </m:oMath>
                  </m:oMathPara>
                </a14:m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:endParaRPr lang="ru-RU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 algn="l">
                  <a:buNone/>
                </a:pP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Результатом действия политики на среду является траектория агента, которая определяет его конечную награду</a:t>
                </a:r>
                <a:r>
                  <a:rPr lang="en-US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:</a:t>
                </a:r>
              </a:p>
              <a:p>
                <a:pPr marL="13335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Цель агента - максимизировать суммарное вознаграждение (выработать политику)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</a:p>
              <a:p>
                <a:pPr marL="0" indent="0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</m:e>
                      </m:d>
                      <m:r>
                        <a:rPr lang="en-US" sz="14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4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sz="1100" dirty="0"/>
              </a:p>
            </p:txBody>
          </p:sp>
        </mc:Choice>
        <mc:Fallback xmlns="">
          <p:sp>
            <p:nvSpPr>
              <p:cNvPr id="311" name="Google Shape;311;p5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1307283"/>
                <a:ext cx="8285940" cy="3505493"/>
              </a:xfrm>
              <a:prstGeom prst="rect">
                <a:avLst/>
              </a:prstGeom>
              <a:blipFill>
                <a:blip r:embed="rId3"/>
                <a:stretch>
                  <a:fillRect b="-29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FA7DA001-3D47-5E4F-920F-E6DBD4BDE648}"/>
              </a:ext>
            </a:extLst>
          </p:cNvPr>
          <p:cNvSpPr/>
          <p:nvPr/>
        </p:nvSpPr>
        <p:spPr>
          <a:xfrm>
            <a:off x="3835570" y="4130142"/>
            <a:ext cx="1718336" cy="7425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37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EDD57-122E-7C4D-AECC-3D5CCA904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Коэффициент дисконтирования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1D7CD-4BD7-234A-8831-4C4D39EB0D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409" t="14247"/>
          <a:stretch/>
        </p:blipFill>
        <p:spPr>
          <a:xfrm>
            <a:off x="1436037" y="1233519"/>
            <a:ext cx="6271925" cy="343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1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4C76-ED5A-424F-B7AA-E46A9E8A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Политика – </a:t>
            </a:r>
            <a:br>
              <a:rPr lang="ru-RU" dirty="0"/>
            </a:br>
            <a:r>
              <a:rPr lang="ru-RU" sz="2400" dirty="0"/>
              <a:t>детерминированная и стохастическая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EA42F-A92E-7D4F-AAF7-851B49ED7472}"/>
              </a:ext>
            </a:extLst>
          </p:cNvPr>
          <p:cNvSpPr txBox="1"/>
          <p:nvPr/>
        </p:nvSpPr>
        <p:spPr>
          <a:xfrm>
            <a:off x="500550" y="1426624"/>
            <a:ext cx="852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Если в каждом состоянии агент, согласно политики, может выполнить одно единственное действие – то такая политика называется детерминированной.</a:t>
            </a:r>
          </a:p>
          <a:p>
            <a:r>
              <a:rPr lang="ru-RU" dirty="0">
                <a:solidFill>
                  <a:schemeClr val="tx1"/>
                </a:solidFill>
                <a:latin typeface="Söhne"/>
              </a:rPr>
              <a:t>Если в каждом состоянии агент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Söhne"/>
              </a:rPr>
              <a:t>, согласно политики,</a:t>
            </a:r>
            <a:r>
              <a:rPr lang="ru-RU" dirty="0">
                <a:solidFill>
                  <a:schemeClr val="tx1"/>
                </a:solidFill>
                <a:latin typeface="Söhne"/>
              </a:rPr>
              <a:t> может выполнить несколько действий с какой-то вероятностью – такая политика называется стохастической.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6100E7-6841-7A4B-BB34-967744455CD8}"/>
              </a:ext>
            </a:extLst>
          </p:cNvPr>
          <p:cNvGraphicFramePr>
            <a:graphicFrameLocks noGrp="1"/>
          </p:cNvGraphicFramePr>
          <p:nvPr/>
        </p:nvGraphicFramePr>
        <p:xfrm>
          <a:off x="1318605" y="3077055"/>
          <a:ext cx="1719165" cy="1702960"/>
        </p:xfrm>
        <a:graphic>
          <a:graphicData uri="http://schemas.openxmlformats.org/drawingml/2006/table">
            <a:tbl>
              <a:tblPr/>
              <a:tblGrid>
                <a:gridCol w="343833">
                  <a:extLst>
                    <a:ext uri="{9D8B030D-6E8A-4147-A177-3AD203B41FA5}">
                      <a16:colId xmlns:a16="http://schemas.microsoft.com/office/drawing/2014/main" val="1845468549"/>
                    </a:ext>
                  </a:extLst>
                </a:gridCol>
                <a:gridCol w="343833">
                  <a:extLst>
                    <a:ext uri="{9D8B030D-6E8A-4147-A177-3AD203B41FA5}">
                      <a16:colId xmlns:a16="http://schemas.microsoft.com/office/drawing/2014/main" val="1339863877"/>
                    </a:ext>
                  </a:extLst>
                </a:gridCol>
                <a:gridCol w="343833">
                  <a:extLst>
                    <a:ext uri="{9D8B030D-6E8A-4147-A177-3AD203B41FA5}">
                      <a16:colId xmlns:a16="http://schemas.microsoft.com/office/drawing/2014/main" val="43082244"/>
                    </a:ext>
                  </a:extLst>
                </a:gridCol>
                <a:gridCol w="343833">
                  <a:extLst>
                    <a:ext uri="{9D8B030D-6E8A-4147-A177-3AD203B41FA5}">
                      <a16:colId xmlns:a16="http://schemas.microsoft.com/office/drawing/2014/main" val="1785429814"/>
                    </a:ext>
                  </a:extLst>
                </a:gridCol>
                <a:gridCol w="343833">
                  <a:extLst>
                    <a:ext uri="{9D8B030D-6E8A-4147-A177-3AD203B41FA5}">
                      <a16:colId xmlns:a16="http://schemas.microsoft.com/office/drawing/2014/main" val="1084434534"/>
                    </a:ext>
                  </a:extLst>
                </a:gridCol>
              </a:tblGrid>
              <a:tr h="34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↓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↑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↓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>
                          <a:effectLst/>
                        </a:rPr>
                        <a:t>→</a:t>
                      </a:r>
                      <a:endParaRPr lang="en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1324059508"/>
                  </a:ext>
                </a:extLst>
              </a:tr>
              <a:tr h="340592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→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1100" u="none" strike="noStrike" dirty="0">
                          <a:effectLst/>
                        </a:rPr>
                        <a:t>↓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→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1100" u="none" strike="noStrike" dirty="0">
                          <a:effectLst/>
                        </a:rPr>
                        <a:t>↓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>
                          <a:effectLst/>
                        </a:rPr>
                        <a:t>→</a:t>
                      </a:r>
                      <a:endParaRPr lang="en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1648487245"/>
                  </a:ext>
                </a:extLst>
              </a:tr>
              <a:tr h="340592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←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→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↑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→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↓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710354260"/>
                  </a:ext>
                </a:extLst>
              </a:tr>
              <a:tr h="340592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>
                          <a:effectLst/>
                        </a:rPr>
                        <a:t>←</a:t>
                      </a:r>
                      <a:endParaRPr lang="en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>
                          <a:effectLst/>
                        </a:rPr>
                        <a:t>↓</a:t>
                      </a:r>
                      <a:endParaRPr lang="en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>
                          <a:effectLst/>
                        </a:rPr>
                        <a:t>→</a:t>
                      </a:r>
                      <a:endParaRPr lang="en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>
                          <a:effectLst/>
                        </a:rPr>
                        <a:t>→</a:t>
                      </a:r>
                      <a:endParaRPr lang="en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 dirty="0">
                          <a:effectLst/>
                        </a:rPr>
                        <a:t>↓</a:t>
                      </a:r>
                      <a:endParaRPr lang="en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extLst>
                  <a:ext uri="{0D108BD9-81ED-4DB2-BD59-A6C34878D82A}">
                    <a16:rowId xmlns:a16="http://schemas.microsoft.com/office/drawing/2014/main" val="1477810724"/>
                  </a:ext>
                </a:extLst>
              </a:tr>
              <a:tr h="340592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>
                          <a:effectLst/>
                        </a:rPr>
                        <a:t>→</a:t>
                      </a:r>
                      <a:endParaRPr lang="en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>
                          <a:effectLst/>
                        </a:rPr>
                        <a:t>↑</a:t>
                      </a:r>
                      <a:endParaRPr lang="en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>
                          <a:effectLst/>
                        </a:rPr>
                        <a:t>→</a:t>
                      </a:r>
                      <a:endParaRPr lang="en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1100" u="none" strike="noStrike">
                          <a:effectLst/>
                        </a:rPr>
                        <a:t>↑</a:t>
                      </a:r>
                      <a:endParaRPr lang="en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8569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1605730-185F-EB4D-B580-0993010E7F1D}"/>
              </a:ext>
            </a:extLst>
          </p:cNvPr>
          <p:cNvSpPr txBox="1"/>
          <p:nvPr/>
        </p:nvSpPr>
        <p:spPr>
          <a:xfrm>
            <a:off x="1278714" y="2646168"/>
            <a:ext cx="17989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Детерминированная политика</a:t>
            </a:r>
            <a:endParaRPr lang="en-TR" sz="105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1E289C-171F-0547-B917-FCD03C300BF6}"/>
              </a:ext>
            </a:extLst>
          </p:cNvPr>
          <p:cNvGraphicFramePr>
            <a:graphicFrameLocks noGrp="1"/>
          </p:cNvGraphicFramePr>
          <p:nvPr/>
        </p:nvGraphicFramePr>
        <p:xfrm>
          <a:off x="5286952" y="2762770"/>
          <a:ext cx="2335092" cy="2217846"/>
        </p:xfrm>
        <a:graphic>
          <a:graphicData uri="http://schemas.openxmlformats.org/drawingml/2006/table">
            <a:tbl>
              <a:tblPr/>
              <a:tblGrid>
                <a:gridCol w="389182">
                  <a:extLst>
                    <a:ext uri="{9D8B030D-6E8A-4147-A177-3AD203B41FA5}">
                      <a16:colId xmlns:a16="http://schemas.microsoft.com/office/drawing/2014/main" val="1845468549"/>
                    </a:ext>
                  </a:extLst>
                </a:gridCol>
                <a:gridCol w="389182">
                  <a:extLst>
                    <a:ext uri="{9D8B030D-6E8A-4147-A177-3AD203B41FA5}">
                      <a16:colId xmlns:a16="http://schemas.microsoft.com/office/drawing/2014/main" val="2649802999"/>
                    </a:ext>
                  </a:extLst>
                </a:gridCol>
                <a:gridCol w="389182">
                  <a:extLst>
                    <a:ext uri="{9D8B030D-6E8A-4147-A177-3AD203B41FA5}">
                      <a16:colId xmlns:a16="http://schemas.microsoft.com/office/drawing/2014/main" val="1339863877"/>
                    </a:ext>
                  </a:extLst>
                </a:gridCol>
                <a:gridCol w="389182">
                  <a:extLst>
                    <a:ext uri="{9D8B030D-6E8A-4147-A177-3AD203B41FA5}">
                      <a16:colId xmlns:a16="http://schemas.microsoft.com/office/drawing/2014/main" val="43082244"/>
                    </a:ext>
                  </a:extLst>
                </a:gridCol>
                <a:gridCol w="389182">
                  <a:extLst>
                    <a:ext uri="{9D8B030D-6E8A-4147-A177-3AD203B41FA5}">
                      <a16:colId xmlns:a16="http://schemas.microsoft.com/office/drawing/2014/main" val="1785429814"/>
                    </a:ext>
                  </a:extLst>
                </a:gridCol>
                <a:gridCol w="389182">
                  <a:extLst>
                    <a:ext uri="{9D8B030D-6E8A-4147-A177-3AD203B41FA5}">
                      <a16:colId xmlns:a16="http://schemas.microsoft.com/office/drawing/2014/main" val="1084434534"/>
                    </a:ext>
                  </a:extLst>
                </a:gridCol>
              </a:tblGrid>
              <a:tr h="3696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059508"/>
                  </a:ext>
                </a:extLst>
              </a:tr>
              <a:tr h="369641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87245"/>
                  </a:ext>
                </a:extLst>
              </a:tr>
              <a:tr h="369641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54260"/>
                  </a:ext>
                </a:extLst>
              </a:tr>
              <a:tr h="369641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838907"/>
                  </a:ext>
                </a:extLst>
              </a:tr>
              <a:tr h="369641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810724"/>
                  </a:ext>
                </a:extLst>
              </a:tr>
              <a:tr h="369641"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T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8134" marR="8134" marT="81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8134" marR="8134" marT="8134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856910"/>
                  </a:ext>
                </a:extLst>
              </a:tr>
            </a:tbl>
          </a:graphicData>
        </a:graphic>
      </p:graphicFrame>
      <p:sp>
        <p:nvSpPr>
          <p:cNvPr id="11" name="Quad Arrow 10">
            <a:extLst>
              <a:ext uri="{FF2B5EF4-FFF2-40B4-BE49-F238E27FC236}">
                <a16:creationId xmlns:a16="http://schemas.microsoft.com/office/drawing/2014/main" id="{753F4893-B4E3-944F-B64C-38B97AEAF2D3}"/>
              </a:ext>
            </a:extLst>
          </p:cNvPr>
          <p:cNvSpPr>
            <a:spLocks noChangeAspect="1"/>
          </p:cNvSpPr>
          <p:nvPr/>
        </p:nvSpPr>
        <p:spPr>
          <a:xfrm>
            <a:off x="5454322" y="2939533"/>
            <a:ext cx="432000" cy="432000"/>
          </a:xfrm>
          <a:prstGeom prst="quadArrow">
            <a:avLst>
              <a:gd name="adj1" fmla="val 0"/>
              <a:gd name="adj2" fmla="val 10792"/>
              <a:gd name="adj3" fmla="val 225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Quad Arrow 11">
            <a:extLst>
              <a:ext uri="{FF2B5EF4-FFF2-40B4-BE49-F238E27FC236}">
                <a16:creationId xmlns:a16="http://schemas.microsoft.com/office/drawing/2014/main" id="{AE7045D3-ECEE-544E-99C4-D5F59AC8A0C2}"/>
              </a:ext>
            </a:extLst>
          </p:cNvPr>
          <p:cNvSpPr>
            <a:spLocks noChangeAspect="1"/>
          </p:cNvSpPr>
          <p:nvPr/>
        </p:nvSpPr>
        <p:spPr>
          <a:xfrm>
            <a:off x="6238498" y="2939533"/>
            <a:ext cx="432000" cy="432000"/>
          </a:xfrm>
          <a:prstGeom prst="quadArrow">
            <a:avLst>
              <a:gd name="adj1" fmla="val 0"/>
              <a:gd name="adj2" fmla="val 10792"/>
              <a:gd name="adj3" fmla="val 225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Quad Arrow 12">
            <a:extLst>
              <a:ext uri="{FF2B5EF4-FFF2-40B4-BE49-F238E27FC236}">
                <a16:creationId xmlns:a16="http://schemas.microsoft.com/office/drawing/2014/main" id="{B8842927-6EFE-C242-88F9-039CC2028BE3}"/>
              </a:ext>
            </a:extLst>
          </p:cNvPr>
          <p:cNvSpPr>
            <a:spLocks noChangeAspect="1"/>
          </p:cNvSpPr>
          <p:nvPr/>
        </p:nvSpPr>
        <p:spPr>
          <a:xfrm>
            <a:off x="7022674" y="2939533"/>
            <a:ext cx="432000" cy="432000"/>
          </a:xfrm>
          <a:prstGeom prst="quadArrow">
            <a:avLst>
              <a:gd name="adj1" fmla="val 0"/>
              <a:gd name="adj2" fmla="val 10792"/>
              <a:gd name="adj3" fmla="val 225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Quad Arrow 13">
            <a:extLst>
              <a:ext uri="{FF2B5EF4-FFF2-40B4-BE49-F238E27FC236}">
                <a16:creationId xmlns:a16="http://schemas.microsoft.com/office/drawing/2014/main" id="{714C164C-66AB-4949-A3ED-B49D30ECEA19}"/>
              </a:ext>
            </a:extLst>
          </p:cNvPr>
          <p:cNvSpPr>
            <a:spLocks noChangeAspect="1"/>
          </p:cNvSpPr>
          <p:nvPr/>
        </p:nvSpPr>
        <p:spPr>
          <a:xfrm>
            <a:off x="5454322" y="3667066"/>
            <a:ext cx="432000" cy="432000"/>
          </a:xfrm>
          <a:prstGeom prst="quadArrow">
            <a:avLst>
              <a:gd name="adj1" fmla="val 0"/>
              <a:gd name="adj2" fmla="val 10792"/>
              <a:gd name="adj3" fmla="val 225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Quad Arrow 14">
            <a:extLst>
              <a:ext uri="{FF2B5EF4-FFF2-40B4-BE49-F238E27FC236}">
                <a16:creationId xmlns:a16="http://schemas.microsoft.com/office/drawing/2014/main" id="{88F7DFF3-377A-A04D-8BF1-CD6FE5F0CFA7}"/>
              </a:ext>
            </a:extLst>
          </p:cNvPr>
          <p:cNvSpPr>
            <a:spLocks noChangeAspect="1"/>
          </p:cNvSpPr>
          <p:nvPr/>
        </p:nvSpPr>
        <p:spPr>
          <a:xfrm>
            <a:off x="6238498" y="3667066"/>
            <a:ext cx="432000" cy="432000"/>
          </a:xfrm>
          <a:prstGeom prst="quadArrow">
            <a:avLst>
              <a:gd name="adj1" fmla="val 0"/>
              <a:gd name="adj2" fmla="val 10792"/>
              <a:gd name="adj3" fmla="val 225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Quad Arrow 15">
            <a:extLst>
              <a:ext uri="{FF2B5EF4-FFF2-40B4-BE49-F238E27FC236}">
                <a16:creationId xmlns:a16="http://schemas.microsoft.com/office/drawing/2014/main" id="{D00ADB78-E998-4144-8C65-BA2C26955282}"/>
              </a:ext>
            </a:extLst>
          </p:cNvPr>
          <p:cNvSpPr>
            <a:spLocks noChangeAspect="1"/>
          </p:cNvSpPr>
          <p:nvPr/>
        </p:nvSpPr>
        <p:spPr>
          <a:xfrm>
            <a:off x="7022674" y="3667066"/>
            <a:ext cx="432000" cy="432000"/>
          </a:xfrm>
          <a:prstGeom prst="quadArrow">
            <a:avLst>
              <a:gd name="adj1" fmla="val 0"/>
              <a:gd name="adj2" fmla="val 10792"/>
              <a:gd name="adj3" fmla="val 225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Quad Arrow 16">
            <a:extLst>
              <a:ext uri="{FF2B5EF4-FFF2-40B4-BE49-F238E27FC236}">
                <a16:creationId xmlns:a16="http://schemas.microsoft.com/office/drawing/2014/main" id="{FC129DB2-1C16-BC45-9AC8-6877FC02CC39}"/>
              </a:ext>
            </a:extLst>
          </p:cNvPr>
          <p:cNvSpPr>
            <a:spLocks noChangeAspect="1"/>
          </p:cNvSpPr>
          <p:nvPr/>
        </p:nvSpPr>
        <p:spPr>
          <a:xfrm>
            <a:off x="7022674" y="4394599"/>
            <a:ext cx="432000" cy="432000"/>
          </a:xfrm>
          <a:prstGeom prst="quadArrow">
            <a:avLst>
              <a:gd name="adj1" fmla="val 0"/>
              <a:gd name="adj2" fmla="val 10792"/>
              <a:gd name="adj3" fmla="val 225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Quad Arrow 17">
            <a:extLst>
              <a:ext uri="{FF2B5EF4-FFF2-40B4-BE49-F238E27FC236}">
                <a16:creationId xmlns:a16="http://schemas.microsoft.com/office/drawing/2014/main" id="{EA5B4BED-74DD-584C-80E0-88DDF7DF6B97}"/>
              </a:ext>
            </a:extLst>
          </p:cNvPr>
          <p:cNvSpPr>
            <a:spLocks noChangeAspect="1"/>
          </p:cNvSpPr>
          <p:nvPr/>
        </p:nvSpPr>
        <p:spPr>
          <a:xfrm>
            <a:off x="6238498" y="4394599"/>
            <a:ext cx="432000" cy="432000"/>
          </a:xfrm>
          <a:prstGeom prst="quadArrow">
            <a:avLst>
              <a:gd name="adj1" fmla="val 0"/>
              <a:gd name="adj2" fmla="val 10792"/>
              <a:gd name="adj3" fmla="val 225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Quad Arrow 18">
            <a:extLst>
              <a:ext uri="{FF2B5EF4-FFF2-40B4-BE49-F238E27FC236}">
                <a16:creationId xmlns:a16="http://schemas.microsoft.com/office/drawing/2014/main" id="{71BD1B8F-0A99-5944-837E-45E931AD16B3}"/>
              </a:ext>
            </a:extLst>
          </p:cNvPr>
          <p:cNvSpPr>
            <a:spLocks noChangeAspect="1"/>
          </p:cNvSpPr>
          <p:nvPr/>
        </p:nvSpPr>
        <p:spPr>
          <a:xfrm>
            <a:off x="5454322" y="4394599"/>
            <a:ext cx="432000" cy="432000"/>
          </a:xfrm>
          <a:prstGeom prst="quadArrow">
            <a:avLst>
              <a:gd name="adj1" fmla="val 0"/>
              <a:gd name="adj2" fmla="val 10792"/>
              <a:gd name="adj3" fmla="val 22500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2CAFCE-C2C2-8340-B7E8-A3FE2D102736}"/>
              </a:ext>
            </a:extLst>
          </p:cNvPr>
          <p:cNvSpPr txBox="1"/>
          <p:nvPr/>
        </p:nvSpPr>
        <p:spPr>
          <a:xfrm>
            <a:off x="5286952" y="2483820"/>
            <a:ext cx="17989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Стохастическая политика</a:t>
            </a:r>
            <a:endParaRPr lang="en-TR" sz="1050" dirty="0"/>
          </a:p>
        </p:txBody>
      </p:sp>
    </p:spTree>
    <p:extLst>
      <p:ext uri="{BB962C8B-B14F-4D97-AF65-F5344CB8AC3E}">
        <p14:creationId xmlns:p14="http://schemas.microsoft.com/office/powerpoint/2010/main" val="1647497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42E0-B3AC-B043-9AC9-649EBE47D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Стохастическая политика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BB593-DD88-E34C-AC5B-3DC4AA254F62}"/>
              </a:ext>
            </a:extLst>
          </p:cNvPr>
          <p:cNvSpPr txBox="1"/>
          <p:nvPr/>
        </p:nvSpPr>
        <p:spPr>
          <a:xfrm>
            <a:off x="500550" y="1132052"/>
            <a:ext cx="8520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Траектория – становится не однозначной. При фиксированной политике возникает пространство траекторий, награда по каждой из которых различна.</a:t>
            </a:r>
          </a:p>
          <a:p>
            <a:endParaRPr lang="ru-RU" dirty="0"/>
          </a:p>
          <a:p>
            <a:r>
              <a:rPr lang="ru-RU" dirty="0"/>
              <a:t>Награда при стохастической политике становится вероятностной величиной и при большом числе экспериментов будет стремиться к своему математическому ожиданию (в силу центральной предельной теоремы).</a:t>
            </a:r>
          </a:p>
          <a:p>
            <a:endParaRPr lang="ru-RU" dirty="0"/>
          </a:p>
          <a:p>
            <a:r>
              <a:rPr lang="ru-RU" dirty="0"/>
              <a:t>Задача – найти математическое ожидание награды по пространству траекторий при заданной политике.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A4452-FD2C-114D-B0A5-3FF4D45932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093" t="7029"/>
          <a:stretch/>
        </p:blipFill>
        <p:spPr>
          <a:xfrm>
            <a:off x="3277110" y="3008305"/>
            <a:ext cx="2477821" cy="191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88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Задача</a:t>
            </a:r>
            <a:r>
              <a:rPr lang="en-US" dirty="0"/>
              <a:t> </a:t>
            </a:r>
            <a:r>
              <a:rPr lang="ru-RU" dirty="0"/>
              <a:t>обучения с подкреплением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Google Shape;311;p5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40633" y="1445513"/>
                <a:ext cx="8724612" cy="26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 algn="ctr">
                  <a:buNone/>
                </a:pPr>
                <a:r>
                  <a:rPr lang="ru-RU" sz="2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Максимизировать математическое ожидание награды по пространству траекторий при заданной политики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ru-RU" sz="2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:r>
                  <a:rPr lang="ru-RU" sz="2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т.е. нам </a:t>
                </a:r>
                <a:r>
                  <a:rPr lang="ru-RU" sz="2400" b="1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нужно найти такую политику для кот</a:t>
                </a:r>
                <a:r>
                  <a:rPr lang="ru-RU" sz="2400" b="1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</a:t>
                </a:r>
                <a:r>
                  <a:rPr lang="ru-RU" sz="2400" b="1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рой мат ожидание награды будет максимальным</a:t>
                </a:r>
                <a:r>
                  <a:rPr lang="ru-RU" sz="2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</a:t>
                </a:r>
                <a:endParaRPr lang="ru-RU" sz="2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311" name="Google Shape;311;p5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0633" y="1445513"/>
                <a:ext cx="8724612" cy="2614800"/>
              </a:xfrm>
              <a:prstGeom prst="rect">
                <a:avLst/>
              </a:prstGeom>
              <a:blipFill>
                <a:blip r:embed="rId3"/>
                <a:stretch>
                  <a:fillRect r="-1306" b="-96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770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Мат ожидание награды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Google Shape;311;p5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00550" y="1181857"/>
                <a:ext cx="8416569" cy="26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ru-RU" sz="1600" dirty="0"/>
                  <a:t>Вероятность получить определенную траекторию при заданной политике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sz="1600" b="0" dirty="0"/>
                  <a:t> есть произведение политики на вероятность перехода в следующее состояние:</a:t>
                </a:r>
                <a:endParaRPr lang="en-US" sz="1600" b="0" dirty="0"/>
              </a:p>
              <a:p>
                <a:pPr marL="0" indent="0" algn="ctr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∏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6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ru-RU" sz="1600" dirty="0"/>
                  <a:t>Итоговое мат ожидание есть сумма по всем траекториям на вероятность получить данную траекторию при заданной политике:</a:t>
                </a:r>
              </a:p>
              <a:p>
                <a:pPr marL="0" indent="0" algn="ctr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marL="0" indent="0" algn="ctr">
                  <a:lnSpc>
                    <a:spcPct val="115000"/>
                  </a:lnSpc>
                  <a:buNone/>
                </a:pPr>
                <a:endParaRPr lang="en-US" sz="1600" dirty="0"/>
              </a:p>
              <a:p>
                <a:pPr marL="0" indent="0" algn="ctr">
                  <a:lnSpc>
                    <a:spcPct val="115000"/>
                  </a:lnSpc>
                  <a:buNone/>
                </a:pPr>
                <a:r>
                  <a:rPr lang="ru-RU" sz="1600" b="1" dirty="0"/>
                  <a:t>таким образом задача обучения с подкреплением сводится к задаче оптимизации</a:t>
                </a:r>
                <a:r>
                  <a:rPr lang="en-US" sz="1600" b="1" dirty="0"/>
                  <a:t>.</a:t>
                </a:r>
                <a:endParaRPr sz="1600" b="1" dirty="0"/>
              </a:p>
            </p:txBody>
          </p:sp>
        </mc:Choice>
        <mc:Fallback xmlns="">
          <p:sp>
            <p:nvSpPr>
              <p:cNvPr id="311" name="Google Shape;311;p5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1181857"/>
                <a:ext cx="8416569" cy="2614800"/>
              </a:xfrm>
              <a:prstGeom prst="rect">
                <a:avLst/>
              </a:prstGeom>
              <a:blipFill>
                <a:blip r:embed="rId3"/>
                <a:stretch>
                  <a:fillRect l="-452" t="-1449" b="-52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574EC40-4B1B-0F43-A617-F2AAA10811A6}"/>
              </a:ext>
            </a:extLst>
          </p:cNvPr>
          <p:cNvSpPr/>
          <p:nvPr/>
        </p:nvSpPr>
        <p:spPr>
          <a:xfrm>
            <a:off x="3633051" y="3264837"/>
            <a:ext cx="2172467" cy="7425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49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4DA70-3E39-6C4A-80F5-DC4C8CB3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ценности состояния</a:t>
            </a:r>
            <a:endParaRPr lang="en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F32F17-3BEB-7149-AEEA-8B95D8D70DF3}"/>
              </a:ext>
            </a:extLst>
          </p:cNvPr>
          <p:cNvGraphicFramePr>
            <a:graphicFrameLocks noGrp="1"/>
          </p:cNvGraphicFramePr>
          <p:nvPr/>
        </p:nvGraphicFramePr>
        <p:xfrm>
          <a:off x="534345" y="1128093"/>
          <a:ext cx="2820835" cy="2400975"/>
        </p:xfrm>
        <a:graphic>
          <a:graphicData uri="http://schemas.openxmlformats.org/drawingml/2006/table">
            <a:tbl>
              <a:tblPr firstRow="1" bandRow="1"/>
              <a:tblGrid>
                <a:gridCol w="564167">
                  <a:extLst>
                    <a:ext uri="{9D8B030D-6E8A-4147-A177-3AD203B41FA5}">
                      <a16:colId xmlns:a16="http://schemas.microsoft.com/office/drawing/2014/main" val="3722595887"/>
                    </a:ext>
                  </a:extLst>
                </a:gridCol>
                <a:gridCol w="564167">
                  <a:extLst>
                    <a:ext uri="{9D8B030D-6E8A-4147-A177-3AD203B41FA5}">
                      <a16:colId xmlns:a16="http://schemas.microsoft.com/office/drawing/2014/main" val="408206748"/>
                    </a:ext>
                  </a:extLst>
                </a:gridCol>
                <a:gridCol w="564167">
                  <a:extLst>
                    <a:ext uri="{9D8B030D-6E8A-4147-A177-3AD203B41FA5}">
                      <a16:colId xmlns:a16="http://schemas.microsoft.com/office/drawing/2014/main" val="1642578470"/>
                    </a:ext>
                  </a:extLst>
                </a:gridCol>
                <a:gridCol w="564167">
                  <a:extLst>
                    <a:ext uri="{9D8B030D-6E8A-4147-A177-3AD203B41FA5}">
                      <a16:colId xmlns:a16="http://schemas.microsoft.com/office/drawing/2014/main" val="77006586"/>
                    </a:ext>
                  </a:extLst>
                </a:gridCol>
                <a:gridCol w="564167">
                  <a:extLst>
                    <a:ext uri="{9D8B030D-6E8A-4147-A177-3AD203B41FA5}">
                      <a16:colId xmlns:a16="http://schemas.microsoft.com/office/drawing/2014/main" val="2039500422"/>
                    </a:ext>
                  </a:extLst>
                </a:gridCol>
              </a:tblGrid>
              <a:tr h="480195"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693291"/>
                  </a:ext>
                </a:extLst>
              </a:tr>
              <a:tr h="480195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36625"/>
                  </a:ext>
                </a:extLst>
              </a:tr>
              <a:tr h="480195"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523752"/>
                  </a:ext>
                </a:extLst>
              </a:tr>
              <a:tr h="480195"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370690"/>
                  </a:ext>
                </a:extLst>
              </a:tr>
              <a:tr h="480195"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-9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4506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EC241C-0460-DE40-B9A1-BBAADF9C4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52" y="1495698"/>
            <a:ext cx="282457" cy="393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1F3B6E-FCD0-9042-B7EF-FEDA8CA0D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540" y="2644810"/>
            <a:ext cx="387010" cy="387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63E209-F122-2542-8685-8C44F51E41CB}"/>
                  </a:ext>
                </a:extLst>
              </p:cNvPr>
              <p:cNvSpPr txBox="1"/>
              <p:nvPr/>
            </p:nvSpPr>
            <p:spPr>
              <a:xfrm>
                <a:off x="4164605" y="1581451"/>
                <a:ext cx="233948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63E209-F122-2542-8685-8C44F51E4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605" y="1581451"/>
                <a:ext cx="2339487" cy="307777"/>
              </a:xfrm>
              <a:prstGeom prst="rect">
                <a:avLst/>
              </a:prstGeom>
              <a:blipFill>
                <a:blip r:embed="rId4"/>
                <a:stretch>
                  <a:fillRect l="-538" r="-268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651493-AB53-AA48-A307-08D9A14D1120}"/>
              </a:ext>
            </a:extLst>
          </p:cNvPr>
          <p:cNvCxnSpPr>
            <a:cxnSpLocks/>
          </p:cNvCxnSpPr>
          <p:nvPr/>
        </p:nvCxnSpPr>
        <p:spPr>
          <a:xfrm>
            <a:off x="4164605" y="1979870"/>
            <a:ext cx="671992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305670-DC05-D24B-9793-0B8D013791A7}"/>
                  </a:ext>
                </a:extLst>
              </p:cNvPr>
              <p:cNvSpPr txBox="1"/>
              <p:nvPr/>
            </p:nvSpPr>
            <p:spPr>
              <a:xfrm>
                <a:off x="3704859" y="2010287"/>
                <a:ext cx="13989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Ценность состояния</a:t>
                </a:r>
                <a:r>
                  <a:rPr lang="en-US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endParaRPr lang="en-TR" sz="9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305670-DC05-D24B-9793-0B8D01379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859" y="2010287"/>
                <a:ext cx="1398909" cy="230832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4F84A0-39FB-8A44-A991-1988C95F77B0}"/>
              </a:ext>
            </a:extLst>
          </p:cNvPr>
          <p:cNvCxnSpPr>
            <a:cxnSpLocks/>
          </p:cNvCxnSpPr>
          <p:nvPr/>
        </p:nvCxnSpPr>
        <p:spPr>
          <a:xfrm>
            <a:off x="5120940" y="1979870"/>
            <a:ext cx="568688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1A62BA9-17FA-984D-8F7C-6CA8BD0A87FA}"/>
              </a:ext>
            </a:extLst>
          </p:cNvPr>
          <p:cNvSpPr txBox="1"/>
          <p:nvPr/>
        </p:nvSpPr>
        <p:spPr>
          <a:xfrm>
            <a:off x="4538690" y="2222461"/>
            <a:ext cx="17812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00B050"/>
                </a:solidFill>
              </a:rPr>
              <a:t>Ожидаемая будущая награда</a:t>
            </a:r>
            <a:endParaRPr lang="en-TR" sz="900" dirty="0">
              <a:solidFill>
                <a:srgbClr val="00B05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3AA5E1-2D34-FB47-98D2-255AEC0E3945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429319" y="1961461"/>
            <a:ext cx="15343" cy="2610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8F0156-2F93-A645-89FB-9443B49D2CA7}"/>
              </a:ext>
            </a:extLst>
          </p:cNvPr>
          <p:cNvCxnSpPr>
            <a:cxnSpLocks/>
          </p:cNvCxnSpPr>
          <p:nvPr/>
        </p:nvCxnSpPr>
        <p:spPr>
          <a:xfrm>
            <a:off x="5764293" y="1978848"/>
            <a:ext cx="649490" cy="1022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5734B7-3E57-7C42-8C11-0E3D9CDE282B}"/>
                  </a:ext>
                </a:extLst>
              </p:cNvPr>
              <p:cNvSpPr txBox="1"/>
              <p:nvPr/>
            </p:nvSpPr>
            <p:spPr>
              <a:xfrm>
                <a:off x="6015269" y="1958098"/>
                <a:ext cx="1955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При условии начала действия из</a:t>
                </a:r>
              </a:p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состояния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TR" sz="9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5734B7-3E57-7C42-8C11-0E3D9CDE2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269" y="1958098"/>
                <a:ext cx="195598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0D76812-8683-9E4D-91B4-776AC77CB42A}"/>
              </a:ext>
            </a:extLst>
          </p:cNvPr>
          <p:cNvSpPr/>
          <p:nvPr/>
        </p:nvSpPr>
        <p:spPr>
          <a:xfrm>
            <a:off x="5268147" y="1759887"/>
            <a:ext cx="158104" cy="153889"/>
          </a:xfrm>
          <a:prstGeom prst="rect">
            <a:avLst/>
          </a:prstGeom>
          <a:noFill/>
          <a:ln w="12700">
            <a:solidFill>
              <a:srgbClr val="C0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C5847F-66B3-5343-B20E-65468601B468}"/>
                  </a:ext>
                </a:extLst>
              </p:cNvPr>
              <p:cNvSpPr txBox="1"/>
              <p:nvPr/>
            </p:nvSpPr>
            <p:spPr>
              <a:xfrm>
                <a:off x="5092748" y="1073981"/>
                <a:ext cx="2226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rgbClr val="C00000"/>
                    </a:solidFill>
                  </a:rPr>
                  <a:t>В условиях, что действие выбирается</a:t>
                </a:r>
                <a:br>
                  <a:rPr lang="ru-RU" sz="900" dirty="0">
                    <a:solidFill>
                      <a:srgbClr val="C00000"/>
                    </a:solidFill>
                  </a:rPr>
                </a:br>
                <a:r>
                  <a:rPr lang="ru-RU" sz="900" dirty="0">
                    <a:solidFill>
                      <a:srgbClr val="C00000"/>
                    </a:solidFill>
                  </a:rPr>
                  <a:t>исходя из политики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ru-RU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C5847F-66B3-5343-B20E-65468601B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748" y="1073981"/>
                <a:ext cx="2226892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9E5CF7-BF8C-6D4F-8914-0231537EE5A3}"/>
              </a:ext>
            </a:extLst>
          </p:cNvPr>
          <p:cNvCxnSpPr>
            <a:cxnSpLocks/>
          </p:cNvCxnSpPr>
          <p:nvPr/>
        </p:nvCxnSpPr>
        <p:spPr>
          <a:xfrm flipV="1">
            <a:off x="5358234" y="1439821"/>
            <a:ext cx="0" cy="312151"/>
          </a:xfrm>
          <a:prstGeom prst="line">
            <a:avLst/>
          </a:prstGeom>
          <a:ln w="12700">
            <a:solidFill>
              <a:srgbClr val="C0000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711FA37-18C0-AA48-9DF5-477BFF562C5C}"/>
                  </a:ext>
                </a:extLst>
              </p:cNvPr>
              <p:cNvSpPr txBox="1"/>
              <p:nvPr/>
            </p:nvSpPr>
            <p:spPr>
              <a:xfrm>
                <a:off x="4101111" y="3080665"/>
                <a:ext cx="41262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)|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T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711FA37-18C0-AA48-9DF5-477BFF562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111" y="3080665"/>
                <a:ext cx="4126258" cy="307777"/>
              </a:xfrm>
              <a:prstGeom prst="rect">
                <a:avLst/>
              </a:prstGeom>
              <a:blipFill>
                <a:blip r:embed="rId8"/>
                <a:stretch>
                  <a:fillRect l="-308" r="-1538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6F1CC8-1228-D94B-B5C9-99CC4D57071C}"/>
              </a:ext>
            </a:extLst>
          </p:cNvPr>
          <p:cNvCxnSpPr>
            <a:cxnSpLocks/>
          </p:cNvCxnSpPr>
          <p:nvPr/>
        </p:nvCxnSpPr>
        <p:spPr>
          <a:xfrm>
            <a:off x="4164605" y="3434261"/>
            <a:ext cx="671992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1F33842-9BF2-8B40-8330-66E9113AA66A}"/>
                  </a:ext>
                </a:extLst>
              </p:cNvPr>
              <p:cNvSpPr txBox="1"/>
              <p:nvPr/>
            </p:nvSpPr>
            <p:spPr>
              <a:xfrm>
                <a:off x="3708982" y="3563541"/>
                <a:ext cx="13989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Ценность состояния</a:t>
                </a:r>
                <a:r>
                  <a:rPr lang="en-US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endParaRPr lang="en-TR" sz="9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1F33842-9BF2-8B40-8330-66E9113AA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982" y="3563541"/>
                <a:ext cx="1398909" cy="230832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4B0874-D532-4D45-AA40-542F9655C5E6}"/>
              </a:ext>
            </a:extLst>
          </p:cNvPr>
          <p:cNvCxnSpPr>
            <a:cxnSpLocks/>
          </p:cNvCxnSpPr>
          <p:nvPr/>
        </p:nvCxnSpPr>
        <p:spPr>
          <a:xfrm flipV="1">
            <a:off x="4418651" y="3434262"/>
            <a:ext cx="81950" cy="196939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993C92-81C7-6F41-9ACE-E8E41E231473}"/>
              </a:ext>
            </a:extLst>
          </p:cNvPr>
          <p:cNvCxnSpPr>
            <a:cxnSpLocks/>
          </p:cNvCxnSpPr>
          <p:nvPr/>
        </p:nvCxnSpPr>
        <p:spPr>
          <a:xfrm flipV="1">
            <a:off x="5160398" y="3574094"/>
            <a:ext cx="2202129" cy="24786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0B5A72E-E55A-C745-BE27-316E5DC0EAE0}"/>
              </a:ext>
            </a:extLst>
          </p:cNvPr>
          <p:cNvSpPr txBox="1"/>
          <p:nvPr/>
        </p:nvSpPr>
        <p:spPr>
          <a:xfrm>
            <a:off x="5344645" y="4416516"/>
            <a:ext cx="2048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solidFill>
                  <a:srgbClr val="00B050"/>
                </a:solidFill>
              </a:rPr>
              <a:t>Ожидаемая будущая награда</a:t>
            </a:r>
            <a:endParaRPr lang="en-TR" sz="900" dirty="0">
              <a:solidFill>
                <a:srgbClr val="00B050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F42E0BE-E048-2748-8352-72EFEB31C3C1}"/>
              </a:ext>
            </a:extLst>
          </p:cNvPr>
          <p:cNvCxnSpPr>
            <a:cxnSpLocks/>
          </p:cNvCxnSpPr>
          <p:nvPr/>
        </p:nvCxnSpPr>
        <p:spPr>
          <a:xfrm flipV="1">
            <a:off x="5496394" y="3598880"/>
            <a:ext cx="0" cy="772992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2B7A86-09B2-E547-846D-05AD54321A8B}"/>
              </a:ext>
            </a:extLst>
          </p:cNvPr>
          <p:cNvCxnSpPr>
            <a:cxnSpLocks/>
          </p:cNvCxnSpPr>
          <p:nvPr/>
        </p:nvCxnSpPr>
        <p:spPr>
          <a:xfrm>
            <a:off x="5496394" y="3449476"/>
            <a:ext cx="495910" cy="0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36F76E7-DB77-3346-97ED-DF93BEEBFBE2}"/>
              </a:ext>
            </a:extLst>
          </p:cNvPr>
          <p:cNvCxnSpPr>
            <a:cxnSpLocks/>
          </p:cNvCxnSpPr>
          <p:nvPr/>
        </p:nvCxnSpPr>
        <p:spPr>
          <a:xfrm flipV="1">
            <a:off x="6323528" y="3434261"/>
            <a:ext cx="1038999" cy="15215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3E71738-6413-6C40-8976-5C79378E23E7}"/>
              </a:ext>
            </a:extLst>
          </p:cNvPr>
          <p:cNvSpPr txBox="1"/>
          <p:nvPr/>
        </p:nvSpPr>
        <p:spPr>
          <a:xfrm>
            <a:off x="5496395" y="3659649"/>
            <a:ext cx="1054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solidFill>
                  <a:schemeClr val="accent6">
                    <a:lumMod val="50000"/>
                  </a:schemeClr>
                </a:solidFill>
              </a:rPr>
              <a:t>Немедленная награда</a:t>
            </a:r>
            <a:endParaRPr lang="en-TR" sz="9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DE1EC9D-304C-4449-A9D3-187835653CD2}"/>
              </a:ext>
            </a:extLst>
          </p:cNvPr>
          <p:cNvCxnSpPr>
            <a:cxnSpLocks/>
          </p:cNvCxnSpPr>
          <p:nvPr/>
        </p:nvCxnSpPr>
        <p:spPr>
          <a:xfrm flipV="1">
            <a:off x="5715709" y="3449477"/>
            <a:ext cx="0" cy="210172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15C87E1-F384-8E4F-8274-7C6EAE351793}"/>
              </a:ext>
            </a:extLst>
          </p:cNvPr>
          <p:cNvCxnSpPr>
            <a:cxnSpLocks/>
          </p:cNvCxnSpPr>
          <p:nvPr/>
        </p:nvCxnSpPr>
        <p:spPr>
          <a:xfrm flipV="1">
            <a:off x="6734051" y="3449477"/>
            <a:ext cx="0" cy="373583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F2B9457-E3B6-6B44-B871-273B169C6666}"/>
              </a:ext>
            </a:extLst>
          </p:cNvPr>
          <p:cNvSpPr txBox="1"/>
          <p:nvPr/>
        </p:nvSpPr>
        <p:spPr>
          <a:xfrm>
            <a:off x="6406255" y="3819898"/>
            <a:ext cx="135961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solidFill>
                  <a:schemeClr val="accent5">
                    <a:lumMod val="75000"/>
                  </a:schemeClr>
                </a:solidFill>
              </a:rPr>
              <a:t>Дисконтированная ценность</a:t>
            </a:r>
            <a:br>
              <a:rPr lang="ru-RU" sz="9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ru-RU" sz="900" dirty="0">
                <a:solidFill>
                  <a:schemeClr val="accent5">
                    <a:lumMod val="75000"/>
                  </a:schemeClr>
                </a:solidFill>
              </a:rPr>
              <a:t>будущего состояния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6F541DE-DCA9-BB42-B742-4531DD8CDDE6}"/>
              </a:ext>
            </a:extLst>
          </p:cNvPr>
          <p:cNvCxnSpPr>
            <a:cxnSpLocks/>
          </p:cNvCxnSpPr>
          <p:nvPr/>
        </p:nvCxnSpPr>
        <p:spPr>
          <a:xfrm>
            <a:off x="7496452" y="3429622"/>
            <a:ext cx="649490" cy="1022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1252E0E-D682-DF4B-8E3B-E79D05F4149F}"/>
                  </a:ext>
                </a:extLst>
              </p:cNvPr>
              <p:cNvSpPr txBox="1"/>
              <p:nvPr/>
            </p:nvSpPr>
            <p:spPr>
              <a:xfrm>
                <a:off x="7707970" y="3574094"/>
                <a:ext cx="1313180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При условии начала </a:t>
                </a:r>
                <a:b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</a:br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действия из</a:t>
                </a:r>
              </a:p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состояния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TR" sz="9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1252E0E-D682-DF4B-8E3B-E79D05F41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970" y="3574094"/>
                <a:ext cx="1313180" cy="507831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F4CAD02-95DC-D545-B3A5-55397EC565B8}"/>
              </a:ext>
            </a:extLst>
          </p:cNvPr>
          <p:cNvCxnSpPr>
            <a:cxnSpLocks/>
          </p:cNvCxnSpPr>
          <p:nvPr/>
        </p:nvCxnSpPr>
        <p:spPr>
          <a:xfrm flipV="1">
            <a:off x="7833982" y="3429623"/>
            <a:ext cx="0" cy="173046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3DFD3B56-0602-1F4F-94C8-FB1BC8C1A661}"/>
              </a:ext>
            </a:extLst>
          </p:cNvPr>
          <p:cNvSpPr/>
          <p:nvPr/>
        </p:nvSpPr>
        <p:spPr>
          <a:xfrm>
            <a:off x="5234087" y="3256929"/>
            <a:ext cx="158104" cy="153889"/>
          </a:xfrm>
          <a:prstGeom prst="rect">
            <a:avLst/>
          </a:prstGeom>
          <a:noFill/>
          <a:ln w="12700">
            <a:solidFill>
              <a:srgbClr val="C00000">
                <a:alpha val="44563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F9F924-E4F0-9B4E-8C65-04CA4724285E}"/>
                  </a:ext>
                </a:extLst>
              </p:cNvPr>
              <p:cNvSpPr txBox="1"/>
              <p:nvPr/>
            </p:nvSpPr>
            <p:spPr>
              <a:xfrm>
                <a:off x="5101647" y="2699900"/>
                <a:ext cx="2226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rgbClr val="C00000"/>
                    </a:solidFill>
                  </a:rPr>
                  <a:t>В условиях, что действие выбирается</a:t>
                </a:r>
                <a:br>
                  <a:rPr lang="ru-RU" sz="900" dirty="0">
                    <a:solidFill>
                      <a:srgbClr val="C00000"/>
                    </a:solidFill>
                  </a:rPr>
                </a:br>
                <a:r>
                  <a:rPr lang="ru-RU" sz="900" dirty="0">
                    <a:solidFill>
                      <a:srgbClr val="C00000"/>
                    </a:solidFill>
                  </a:rPr>
                  <a:t>исходя из политики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ru-RU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0F9F924-E4F0-9B4E-8C65-04CA47242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647" y="2699900"/>
                <a:ext cx="2226892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87FC44C-94A1-FA48-AEA1-467DD7C85591}"/>
              </a:ext>
            </a:extLst>
          </p:cNvPr>
          <p:cNvCxnSpPr>
            <a:cxnSpLocks/>
          </p:cNvCxnSpPr>
          <p:nvPr/>
        </p:nvCxnSpPr>
        <p:spPr>
          <a:xfrm flipV="1">
            <a:off x="5305763" y="3080665"/>
            <a:ext cx="0" cy="168350"/>
          </a:xfrm>
          <a:prstGeom prst="line">
            <a:avLst/>
          </a:prstGeom>
          <a:ln w="12700">
            <a:solidFill>
              <a:srgbClr val="C00000">
                <a:alpha val="44563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487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4DA70-3E39-6C4A-80F5-DC4C8CB3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ценности состояния-действия</a:t>
            </a:r>
            <a:endParaRPr lang="en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F32F17-3BEB-7149-AEEA-8B95D8D70DF3}"/>
              </a:ext>
            </a:extLst>
          </p:cNvPr>
          <p:cNvGraphicFramePr>
            <a:graphicFrameLocks noGrp="1"/>
          </p:cNvGraphicFramePr>
          <p:nvPr/>
        </p:nvGraphicFramePr>
        <p:xfrm>
          <a:off x="683241" y="1436644"/>
          <a:ext cx="2109055" cy="1854200"/>
        </p:xfrm>
        <a:graphic>
          <a:graphicData uri="http://schemas.openxmlformats.org/drawingml/2006/table">
            <a:tbl>
              <a:tblPr firstRow="1" bandRow="1"/>
              <a:tblGrid>
                <a:gridCol w="421811">
                  <a:extLst>
                    <a:ext uri="{9D8B030D-6E8A-4147-A177-3AD203B41FA5}">
                      <a16:colId xmlns:a16="http://schemas.microsoft.com/office/drawing/2014/main" val="3722595887"/>
                    </a:ext>
                  </a:extLst>
                </a:gridCol>
                <a:gridCol w="421811">
                  <a:extLst>
                    <a:ext uri="{9D8B030D-6E8A-4147-A177-3AD203B41FA5}">
                      <a16:colId xmlns:a16="http://schemas.microsoft.com/office/drawing/2014/main" val="408206748"/>
                    </a:ext>
                  </a:extLst>
                </a:gridCol>
                <a:gridCol w="421811">
                  <a:extLst>
                    <a:ext uri="{9D8B030D-6E8A-4147-A177-3AD203B41FA5}">
                      <a16:colId xmlns:a16="http://schemas.microsoft.com/office/drawing/2014/main" val="1642578470"/>
                    </a:ext>
                  </a:extLst>
                </a:gridCol>
                <a:gridCol w="421811">
                  <a:extLst>
                    <a:ext uri="{9D8B030D-6E8A-4147-A177-3AD203B41FA5}">
                      <a16:colId xmlns:a16="http://schemas.microsoft.com/office/drawing/2014/main" val="77006586"/>
                    </a:ext>
                  </a:extLst>
                </a:gridCol>
                <a:gridCol w="421811">
                  <a:extLst>
                    <a:ext uri="{9D8B030D-6E8A-4147-A177-3AD203B41FA5}">
                      <a16:colId xmlns:a16="http://schemas.microsoft.com/office/drawing/2014/main" val="2039500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TR" sz="800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69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TR" sz="800" b="1" dirty="0"/>
                        <a:t>-7</a:t>
                      </a:r>
                    </a:p>
                  </a:txBody>
                  <a:tcPr marR="360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TR" sz="800" b="1" dirty="0"/>
                        <a:t>-6</a:t>
                      </a:r>
                    </a:p>
                  </a:txBody>
                  <a:tcPr marR="360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TR" sz="800" b="1" dirty="0"/>
                        <a:t>-5</a:t>
                      </a:r>
                    </a:p>
                  </a:txBody>
                  <a:tcPr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800" b="1" dirty="0"/>
                        <a:t>-4</a:t>
                      </a:r>
                    </a:p>
                  </a:txBody>
                  <a:tcPr marB="0" anchor="b"/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36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800" b="1" dirty="0"/>
                        <a:t>-7</a:t>
                      </a:r>
                    </a:p>
                  </a:txBody>
                  <a:tcPr marT="0"/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800" b="1" dirty="0"/>
                        <a:t>-3</a:t>
                      </a:r>
                    </a:p>
                  </a:txBody>
                  <a:tcPr marB="0" anchor="b"/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523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800" b="1" dirty="0"/>
                        <a:t>-8</a:t>
                      </a:r>
                    </a:p>
                  </a:txBody>
                  <a:tcPr marT="0"/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800" b="1" dirty="0"/>
                        <a:t>-2</a:t>
                      </a:r>
                    </a:p>
                  </a:txBody>
                  <a:tcPr marR="36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800" b="1" dirty="0"/>
                        <a:t>-1</a:t>
                      </a:r>
                    </a:p>
                  </a:txBody>
                  <a:tcPr marR="36000" anchor="ctr"/>
                </a:tc>
                <a:extLst>
                  <a:ext uri="{0D108BD9-81ED-4DB2-BD59-A6C34878D82A}">
                    <a16:rowId xmlns:a16="http://schemas.microsoft.com/office/drawing/2014/main" val="275837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800" b="1" dirty="0"/>
                        <a:t>-9</a:t>
                      </a:r>
                    </a:p>
                  </a:txBody>
                  <a:tcPr marT="0"/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TR" sz="800" b="1" dirty="0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4506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EC241C-0460-DE40-B9A1-BBAADF9C4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48" y="1804249"/>
            <a:ext cx="282457" cy="393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1F3B6E-FCD0-9042-B7EF-FEDA8CA0D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433" y="2547198"/>
            <a:ext cx="387010" cy="38701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82445E7-A0E5-F04E-847C-6658174244BA}"/>
              </a:ext>
            </a:extLst>
          </p:cNvPr>
          <p:cNvCxnSpPr>
            <a:cxnSpLocks/>
          </p:cNvCxnSpPr>
          <p:nvPr/>
        </p:nvCxnSpPr>
        <p:spPr>
          <a:xfrm flipV="1">
            <a:off x="1110781" y="180424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BD96A57-FA5C-814D-A264-5A0542D84C0C}"/>
              </a:ext>
            </a:extLst>
          </p:cNvPr>
          <p:cNvCxnSpPr>
            <a:cxnSpLocks/>
          </p:cNvCxnSpPr>
          <p:nvPr/>
        </p:nvCxnSpPr>
        <p:spPr>
          <a:xfrm flipV="1">
            <a:off x="688250" y="1807424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C27F89B-7B97-7544-B5B5-D48F9FFC0306}"/>
              </a:ext>
            </a:extLst>
          </p:cNvPr>
          <p:cNvCxnSpPr>
            <a:cxnSpLocks/>
          </p:cNvCxnSpPr>
          <p:nvPr/>
        </p:nvCxnSpPr>
        <p:spPr>
          <a:xfrm flipV="1">
            <a:off x="1104644" y="2174875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BF715B1-EA11-8E44-BA0E-80753C64622F}"/>
              </a:ext>
            </a:extLst>
          </p:cNvPr>
          <p:cNvCxnSpPr>
            <a:cxnSpLocks/>
          </p:cNvCxnSpPr>
          <p:nvPr/>
        </p:nvCxnSpPr>
        <p:spPr>
          <a:xfrm flipV="1">
            <a:off x="1107819" y="2550721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E7E6CBE-AC04-F049-A1F0-0A05B0BBB8D2}"/>
              </a:ext>
            </a:extLst>
          </p:cNvPr>
          <p:cNvCxnSpPr>
            <a:cxnSpLocks/>
          </p:cNvCxnSpPr>
          <p:nvPr/>
        </p:nvCxnSpPr>
        <p:spPr>
          <a:xfrm flipV="1">
            <a:off x="1104644" y="2920981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8B7D798-AD9D-D546-97B5-EF03C015119C}"/>
              </a:ext>
            </a:extLst>
          </p:cNvPr>
          <p:cNvCxnSpPr>
            <a:cxnSpLocks/>
          </p:cNvCxnSpPr>
          <p:nvPr/>
        </p:nvCxnSpPr>
        <p:spPr>
          <a:xfrm flipV="1">
            <a:off x="1532746" y="180424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7BC47FA-AB7E-C348-888C-E92B9B1DB9C8}"/>
              </a:ext>
            </a:extLst>
          </p:cNvPr>
          <p:cNvCxnSpPr>
            <a:cxnSpLocks/>
          </p:cNvCxnSpPr>
          <p:nvPr/>
        </p:nvCxnSpPr>
        <p:spPr>
          <a:xfrm flipV="1">
            <a:off x="1954711" y="180424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4E39537-E51F-EA40-85F9-26AEF1DF0352}"/>
              </a:ext>
            </a:extLst>
          </p:cNvPr>
          <p:cNvCxnSpPr>
            <a:cxnSpLocks/>
          </p:cNvCxnSpPr>
          <p:nvPr/>
        </p:nvCxnSpPr>
        <p:spPr>
          <a:xfrm flipV="1">
            <a:off x="1951536" y="218137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ABBDD51-685E-F54D-A0B0-2244EDAA0F48}"/>
              </a:ext>
            </a:extLst>
          </p:cNvPr>
          <p:cNvCxnSpPr>
            <a:cxnSpLocks/>
          </p:cNvCxnSpPr>
          <p:nvPr/>
        </p:nvCxnSpPr>
        <p:spPr>
          <a:xfrm flipV="1">
            <a:off x="1954711" y="2550355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84669A8-9D41-D74B-B8A3-1227416EF206}"/>
              </a:ext>
            </a:extLst>
          </p:cNvPr>
          <p:cNvCxnSpPr>
            <a:cxnSpLocks/>
          </p:cNvCxnSpPr>
          <p:nvPr/>
        </p:nvCxnSpPr>
        <p:spPr>
          <a:xfrm flipV="1">
            <a:off x="2379289" y="2548676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8F154E5-56E0-C549-A4BD-89A5C45CC708}"/>
              </a:ext>
            </a:extLst>
          </p:cNvPr>
          <p:cNvCxnSpPr>
            <a:cxnSpLocks/>
          </p:cNvCxnSpPr>
          <p:nvPr/>
        </p:nvCxnSpPr>
        <p:spPr>
          <a:xfrm flipH="1" flipV="1">
            <a:off x="1951536" y="180424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9211530-F381-FE42-AE24-D560B2EB2344}"/>
              </a:ext>
            </a:extLst>
          </p:cNvPr>
          <p:cNvCxnSpPr>
            <a:cxnSpLocks/>
          </p:cNvCxnSpPr>
          <p:nvPr/>
        </p:nvCxnSpPr>
        <p:spPr>
          <a:xfrm flipH="1" flipV="1">
            <a:off x="1532184" y="1810753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64196BD-686D-7E44-9A2D-549FE126B00D}"/>
              </a:ext>
            </a:extLst>
          </p:cNvPr>
          <p:cNvCxnSpPr>
            <a:cxnSpLocks/>
          </p:cNvCxnSpPr>
          <p:nvPr/>
        </p:nvCxnSpPr>
        <p:spPr>
          <a:xfrm flipH="1" flipV="1">
            <a:off x="1107606" y="1804403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07B6FFB-4D9C-B244-B36E-2EA1B48346C7}"/>
              </a:ext>
            </a:extLst>
          </p:cNvPr>
          <p:cNvCxnSpPr>
            <a:cxnSpLocks/>
          </p:cNvCxnSpPr>
          <p:nvPr/>
        </p:nvCxnSpPr>
        <p:spPr>
          <a:xfrm flipH="1" flipV="1">
            <a:off x="1957886" y="2181379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D95390C-BA2C-A54D-851B-7619444FE31C}"/>
              </a:ext>
            </a:extLst>
          </p:cNvPr>
          <p:cNvCxnSpPr>
            <a:cxnSpLocks/>
          </p:cNvCxnSpPr>
          <p:nvPr/>
        </p:nvCxnSpPr>
        <p:spPr>
          <a:xfrm flipH="1" flipV="1">
            <a:off x="1951536" y="2549592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FEB36F6-AF08-4A43-8C4B-FDFBA1CB61EC}"/>
              </a:ext>
            </a:extLst>
          </p:cNvPr>
          <p:cNvCxnSpPr>
            <a:cxnSpLocks/>
          </p:cNvCxnSpPr>
          <p:nvPr/>
        </p:nvCxnSpPr>
        <p:spPr>
          <a:xfrm flipH="1" flipV="1">
            <a:off x="2372939" y="2552005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E3BF28B-D587-8F4C-9C62-20407AE975FE}"/>
              </a:ext>
            </a:extLst>
          </p:cNvPr>
          <p:cNvCxnSpPr>
            <a:cxnSpLocks/>
          </p:cNvCxnSpPr>
          <p:nvPr/>
        </p:nvCxnSpPr>
        <p:spPr>
          <a:xfrm flipH="1" flipV="1">
            <a:off x="1110994" y="2178966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320BDFF-A13A-8B4E-A50A-30545A33ECE2}"/>
              </a:ext>
            </a:extLst>
          </p:cNvPr>
          <p:cNvCxnSpPr>
            <a:cxnSpLocks/>
          </p:cNvCxnSpPr>
          <p:nvPr/>
        </p:nvCxnSpPr>
        <p:spPr>
          <a:xfrm flipH="1" flipV="1">
            <a:off x="1099848" y="2552005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4A80424-551C-EF4F-B8F8-ED6AD4E84C27}"/>
              </a:ext>
            </a:extLst>
          </p:cNvPr>
          <p:cNvCxnSpPr>
            <a:cxnSpLocks/>
          </p:cNvCxnSpPr>
          <p:nvPr/>
        </p:nvCxnSpPr>
        <p:spPr>
          <a:xfrm flipH="1" flipV="1">
            <a:off x="686918" y="1807424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A4553E3-8698-984F-8098-7D781401B40E}"/>
              </a:ext>
            </a:extLst>
          </p:cNvPr>
          <p:cNvCxnSpPr>
            <a:cxnSpLocks/>
          </p:cNvCxnSpPr>
          <p:nvPr/>
        </p:nvCxnSpPr>
        <p:spPr>
          <a:xfrm flipH="1" flipV="1">
            <a:off x="1109926" y="2920295"/>
            <a:ext cx="410044" cy="37062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5EEA12-B54C-3C43-A336-017532E3786D}"/>
                  </a:ext>
                </a:extLst>
              </p:cNvPr>
              <p:cNvSpPr txBox="1"/>
              <p:nvPr/>
            </p:nvSpPr>
            <p:spPr>
              <a:xfrm>
                <a:off x="3947375" y="1804249"/>
                <a:ext cx="38090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TR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5EEA12-B54C-3C43-A336-017532E37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375" y="1804249"/>
                <a:ext cx="3809056" cy="400110"/>
              </a:xfrm>
              <a:prstGeom prst="rect">
                <a:avLst/>
              </a:prstGeom>
              <a:blipFill>
                <a:blip r:embed="rId4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C762BA6-52F6-2E4B-B3C9-FF5A6AF9D2E6}"/>
              </a:ext>
            </a:extLst>
          </p:cNvPr>
          <p:cNvCxnSpPr>
            <a:cxnSpLocks/>
          </p:cNvCxnSpPr>
          <p:nvPr/>
        </p:nvCxnSpPr>
        <p:spPr>
          <a:xfrm>
            <a:off x="4190690" y="2211630"/>
            <a:ext cx="671992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002C2B7-5A16-E041-901E-60132DA60B1B}"/>
                  </a:ext>
                </a:extLst>
              </p:cNvPr>
              <p:cNvSpPr txBox="1"/>
              <p:nvPr/>
            </p:nvSpPr>
            <p:spPr>
              <a:xfrm>
                <a:off x="3730944" y="2242047"/>
                <a:ext cx="1366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Ценность состояния</a:t>
                </a:r>
                <a:r>
                  <a:rPr lang="en-US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при действии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endParaRPr lang="en-TR" sz="9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002C2B7-5A16-E041-901E-60132DA60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944" y="2242047"/>
                <a:ext cx="1366849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433BD58-E104-914D-891F-ED237A6FB990}"/>
              </a:ext>
            </a:extLst>
          </p:cNvPr>
          <p:cNvCxnSpPr>
            <a:cxnSpLocks/>
          </p:cNvCxnSpPr>
          <p:nvPr/>
        </p:nvCxnSpPr>
        <p:spPr>
          <a:xfrm flipV="1">
            <a:off x="5243615" y="2204359"/>
            <a:ext cx="704878" cy="7272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18931A52-EF28-CC42-AD2B-424CE35BBAB9}"/>
              </a:ext>
            </a:extLst>
          </p:cNvPr>
          <p:cNvSpPr txBox="1"/>
          <p:nvPr/>
        </p:nvSpPr>
        <p:spPr>
          <a:xfrm>
            <a:off x="4703373" y="2444196"/>
            <a:ext cx="17812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00" dirty="0">
                <a:solidFill>
                  <a:srgbClr val="00B050"/>
                </a:solidFill>
              </a:rPr>
              <a:t>Ожидаемая будущая награда</a:t>
            </a:r>
            <a:endParaRPr lang="en-TR" sz="900" dirty="0">
              <a:solidFill>
                <a:srgbClr val="00B050"/>
              </a:solidFill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EF6B89A-244E-F24F-BF0A-9CC11B3D1682}"/>
              </a:ext>
            </a:extLst>
          </p:cNvPr>
          <p:cNvCxnSpPr>
            <a:cxnSpLocks/>
          </p:cNvCxnSpPr>
          <p:nvPr/>
        </p:nvCxnSpPr>
        <p:spPr>
          <a:xfrm flipV="1">
            <a:off x="5423697" y="2210798"/>
            <a:ext cx="15343" cy="26100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E0CE2A8-84EA-7346-9BBA-07C298467E58}"/>
              </a:ext>
            </a:extLst>
          </p:cNvPr>
          <p:cNvCxnSpPr>
            <a:cxnSpLocks/>
          </p:cNvCxnSpPr>
          <p:nvPr/>
        </p:nvCxnSpPr>
        <p:spPr>
          <a:xfrm flipV="1">
            <a:off x="6004681" y="2204359"/>
            <a:ext cx="1617472" cy="5356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DF9B183-4FCB-CC4E-BD6D-4EC1861E1EEC}"/>
                  </a:ext>
                </a:extLst>
              </p:cNvPr>
              <p:cNvSpPr txBox="1"/>
              <p:nvPr/>
            </p:nvSpPr>
            <p:spPr>
              <a:xfrm>
                <a:off x="6644160" y="2243847"/>
                <a:ext cx="19772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При условии начала из</a:t>
                </a:r>
              </a:p>
              <a:p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состояния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TR" sz="900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и выбора действия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TR" sz="9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DF9B183-4FCB-CC4E-BD6D-4EC1861E1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160" y="2243847"/>
                <a:ext cx="197720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Rectangle 102">
            <a:extLst>
              <a:ext uri="{FF2B5EF4-FFF2-40B4-BE49-F238E27FC236}">
                <a16:creationId xmlns:a16="http://schemas.microsoft.com/office/drawing/2014/main" id="{14D3B35D-6E45-5C45-B9E2-9F4F17B1BF3D}"/>
              </a:ext>
            </a:extLst>
          </p:cNvPr>
          <p:cNvSpPr/>
          <p:nvPr/>
        </p:nvSpPr>
        <p:spPr>
          <a:xfrm>
            <a:off x="5435898" y="2017403"/>
            <a:ext cx="158104" cy="153889"/>
          </a:xfrm>
          <a:prstGeom prst="rect">
            <a:avLst/>
          </a:prstGeom>
          <a:noFill/>
          <a:ln w="12700">
            <a:solidFill>
              <a:srgbClr val="C0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C808900-0413-E74A-86BF-A28357305A8A}"/>
                  </a:ext>
                </a:extLst>
              </p:cNvPr>
              <p:cNvSpPr txBox="1"/>
              <p:nvPr/>
            </p:nvSpPr>
            <p:spPr>
              <a:xfrm>
                <a:off x="5118833" y="1305741"/>
                <a:ext cx="2226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900" dirty="0">
                    <a:solidFill>
                      <a:srgbClr val="C00000"/>
                    </a:solidFill>
                  </a:rPr>
                  <a:t>В условиях, что действие выбирается</a:t>
                </a:r>
                <a:br>
                  <a:rPr lang="ru-RU" sz="900" dirty="0">
                    <a:solidFill>
                      <a:srgbClr val="C00000"/>
                    </a:solidFill>
                  </a:rPr>
                </a:br>
                <a:r>
                  <a:rPr lang="ru-RU" sz="900" dirty="0">
                    <a:solidFill>
                      <a:srgbClr val="C00000"/>
                    </a:solidFill>
                  </a:rPr>
                  <a:t>исходя из политики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ru-RU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C808900-0413-E74A-86BF-A28357305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833" y="1305741"/>
                <a:ext cx="2226892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2EF188D-7626-6E46-94C5-587DF7F4479F}"/>
              </a:ext>
            </a:extLst>
          </p:cNvPr>
          <p:cNvCxnSpPr>
            <a:cxnSpLocks/>
          </p:cNvCxnSpPr>
          <p:nvPr/>
        </p:nvCxnSpPr>
        <p:spPr>
          <a:xfrm flipV="1">
            <a:off x="5525985" y="1697337"/>
            <a:ext cx="0" cy="312151"/>
          </a:xfrm>
          <a:prstGeom prst="line">
            <a:avLst/>
          </a:prstGeom>
          <a:ln w="12700">
            <a:solidFill>
              <a:srgbClr val="C0000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99B195-B404-6944-92DE-B5CAA2CCB45D}"/>
                  </a:ext>
                </a:extLst>
              </p:cNvPr>
              <p:cNvSpPr txBox="1"/>
              <p:nvPr/>
            </p:nvSpPr>
            <p:spPr>
              <a:xfrm>
                <a:off x="4018814" y="3790002"/>
                <a:ext cx="29580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ru-RU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99B195-B404-6944-92DE-B5CAA2CCB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814" y="3790002"/>
                <a:ext cx="2958034" cy="369332"/>
              </a:xfrm>
              <a:prstGeom prst="rect">
                <a:avLst/>
              </a:prstGeom>
              <a:blipFill>
                <a:blip r:embed="rId8"/>
                <a:stretch>
                  <a:fillRect t="-110000" b="-17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CD3FDC3-384E-D04F-ACA9-C0D40C1DF03F}"/>
                  </a:ext>
                </a:extLst>
              </p:cNvPr>
              <p:cNvSpPr txBox="1"/>
              <p:nvPr/>
            </p:nvSpPr>
            <p:spPr>
              <a:xfrm>
                <a:off x="3184431" y="3398449"/>
                <a:ext cx="4572000" cy="357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ru-RU" sz="1600" b="1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Связь между 𝑣-функцией и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ru-RU" sz="1600" b="1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-функцией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CD3FDC3-384E-D04F-ACA9-C0D40C1DF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431" y="3398449"/>
                <a:ext cx="4572000" cy="357277"/>
              </a:xfrm>
              <a:prstGeom prst="rect">
                <a:avLst/>
              </a:prstGeom>
              <a:blipFill>
                <a:blip r:embed="rId9"/>
                <a:stretch>
                  <a:fillRect l="-554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A4C2FD-68F0-EF4A-984B-25DCA7F94683}"/>
              </a:ext>
            </a:extLst>
          </p:cNvPr>
          <p:cNvCxnSpPr/>
          <p:nvPr/>
        </p:nvCxnSpPr>
        <p:spPr>
          <a:xfrm>
            <a:off x="4124005" y="4179939"/>
            <a:ext cx="44799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D1CA486-7583-D74D-A5DC-84AF1BAF6478}"/>
                  </a:ext>
                </a:extLst>
              </p:cNvPr>
              <p:cNvSpPr txBox="1"/>
              <p:nvPr/>
            </p:nvSpPr>
            <p:spPr>
              <a:xfrm>
                <a:off x="3814988" y="4233800"/>
                <a:ext cx="880182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900" dirty="0">
                    <a:solidFill>
                      <a:schemeClr val="accent1">
                        <a:lumMod val="50000"/>
                      </a:schemeClr>
                    </a:solidFill>
                  </a:rPr>
                  <a:t>-</a:t>
                </a:r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функция – ценность состояния</a:t>
                </a:r>
                <a:r>
                  <a:rPr lang="en-US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9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endParaRPr lang="en-TR" sz="9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D1CA486-7583-D74D-A5DC-84AF1BAF6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988" y="4233800"/>
                <a:ext cx="880182" cy="507831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A99B40F-1B99-9B43-A535-A0FF6722FB6A}"/>
              </a:ext>
            </a:extLst>
          </p:cNvPr>
          <p:cNvCxnSpPr>
            <a:cxnSpLocks/>
          </p:cNvCxnSpPr>
          <p:nvPr/>
        </p:nvCxnSpPr>
        <p:spPr>
          <a:xfrm>
            <a:off x="4795620" y="4179939"/>
            <a:ext cx="105628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6AE8584-7A43-9A44-B3DB-0BF35B3B8CDC}"/>
                  </a:ext>
                </a:extLst>
              </p:cNvPr>
              <p:cNvSpPr txBox="1"/>
              <p:nvPr/>
            </p:nvSpPr>
            <p:spPr>
              <a:xfrm>
                <a:off x="4760850" y="4233800"/>
                <a:ext cx="10562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900" dirty="0">
                    <a:solidFill>
                      <a:srgbClr val="00B050"/>
                    </a:solidFill>
                  </a:rPr>
                  <a:t>Сумма по всем возможным действиям из состояния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TR" sz="9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6AE8584-7A43-9A44-B3DB-0BF35B3B8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850" y="4233800"/>
                <a:ext cx="1056283" cy="646331"/>
              </a:xfrm>
              <a:prstGeom prst="rect">
                <a:avLst/>
              </a:prstGeom>
              <a:blipFill>
                <a:blip r:embed="rId11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2867F03-9AA0-2043-AF6F-A3B78603A6D1}"/>
                  </a:ext>
                </a:extLst>
              </p:cNvPr>
              <p:cNvSpPr txBox="1"/>
              <p:nvPr/>
            </p:nvSpPr>
            <p:spPr>
              <a:xfrm>
                <a:off x="5948493" y="4233800"/>
                <a:ext cx="1367475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-функция - ценность состояния</a:t>
                </a:r>
                <a:r>
                  <a:rPr lang="en-US" sz="900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</a:br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при действии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900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endParaRPr lang="en-TR" sz="9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2867F03-9AA0-2043-AF6F-A3B78603A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493" y="4233800"/>
                <a:ext cx="1367475" cy="507831"/>
              </a:xfrm>
              <a:prstGeom prst="rect">
                <a:avLst/>
              </a:prstGeom>
              <a:blipFill>
                <a:blip r:embed="rId1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7028019-7D78-1547-AF62-CD9232788122}"/>
              </a:ext>
            </a:extLst>
          </p:cNvPr>
          <p:cNvCxnSpPr>
            <a:cxnSpLocks/>
          </p:cNvCxnSpPr>
          <p:nvPr/>
        </p:nvCxnSpPr>
        <p:spPr>
          <a:xfrm>
            <a:off x="6004681" y="4179939"/>
            <a:ext cx="739786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01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19D34-A806-5F42-9EE5-706EC703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оптимальности</a:t>
            </a:r>
            <a:endParaRPr lang="en-US" dirty="0"/>
          </a:p>
        </p:txBody>
      </p:sp>
      <p:sp>
        <p:nvSpPr>
          <p:cNvPr id="4" name="Google Shape;311;p57">
            <a:extLst>
              <a:ext uri="{FF2B5EF4-FFF2-40B4-BE49-F238E27FC236}">
                <a16:creationId xmlns:a16="http://schemas.microsoft.com/office/drawing/2014/main" id="{04FF7AD1-CF87-AF40-98BC-5D64A0B98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0550" y="2132116"/>
            <a:ext cx="8450945" cy="1782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Если у нас есть некоторая траектория из состояния 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2000" b="0" i="0" u="none" strike="noStrike" baseline="-25000" dirty="0">
                <a:solidFill>
                  <a:srgbClr val="000000"/>
                </a:solidFill>
                <a:effectLst/>
                <a:latin typeface="STIXMathJax_Main"/>
              </a:rPr>
              <a:t>0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через состояние 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2000" b="0" i="0" u="none" strike="noStrike" baseline="-25000" dirty="0">
                <a:solidFill>
                  <a:srgbClr val="000000"/>
                </a:solidFill>
                <a:effectLst/>
                <a:latin typeface="STIXMathJax_Main"/>
              </a:rPr>
              <a:t>1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в состояние 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20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𝐹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и эта траектория является оптимальной, то эта же траектория будет оптимальной для перехода из состояния 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2000" b="0" i="0" u="none" strike="noStrike" baseline="-25000" dirty="0">
                <a:solidFill>
                  <a:srgbClr val="000000"/>
                </a:solidFill>
                <a:effectLst/>
                <a:latin typeface="STIXMathJax_Main"/>
              </a:rPr>
              <a:t>1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в состояние 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𝑆</a:t>
            </a:r>
            <a:r>
              <a:rPr lang="ru-RU" sz="2000" b="0" i="0" u="none" strike="noStrike" baseline="-25000" dirty="0">
                <a:solidFill>
                  <a:srgbClr val="000000"/>
                </a:solidFill>
                <a:effectLst/>
                <a:latin typeface="STIXMathJax_Normal-italic"/>
              </a:rPr>
              <a:t>𝐹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413620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Уравнение Беллмана</a:t>
            </a:r>
            <a:endParaRPr dirty="0"/>
          </a:p>
        </p:txBody>
      </p:sp>
      <p:sp>
        <p:nvSpPr>
          <p:cNvPr id="311" name="Google Shape;311;p57"/>
          <p:cNvSpPr txBox="1">
            <a:spLocks noGrp="1"/>
          </p:cNvSpPr>
          <p:nvPr>
            <p:ph type="body" idx="1"/>
          </p:nvPr>
        </p:nvSpPr>
        <p:spPr>
          <a:xfrm>
            <a:off x="500550" y="1264350"/>
            <a:ext cx="8169062" cy="26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ru-RU" sz="2000" b="0" i="0" u="none" strike="noStrike" dirty="0">
                <a:solidFill>
                  <a:schemeClr val="tx1"/>
                </a:solidFill>
                <a:effectLst/>
                <a:latin typeface="Söhne"/>
              </a:rPr>
              <a:t>Уравнение Беллмана для 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𝑣 </a:t>
            </a:r>
            <a:r>
              <a:rPr lang="en-GB" sz="2000" b="0" i="0" u="none" strike="noStrike" dirty="0">
                <a:solidFill>
                  <a:schemeClr val="tx1"/>
                </a:solidFill>
                <a:effectLst/>
                <a:latin typeface="Söhne"/>
              </a:rPr>
              <a:t>-</a:t>
            </a:r>
            <a:r>
              <a:rPr lang="ru-RU" sz="2000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 описывает связь между оценкой значения состояния (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𝑣</a:t>
            </a:r>
            <a:r>
              <a:rPr lang="en-GB" sz="2000" b="0" i="0" u="none" strike="noStrike" dirty="0">
                <a:solidFill>
                  <a:schemeClr val="tx1"/>
                </a:solidFill>
                <a:effectLst/>
                <a:latin typeface="Söhne"/>
              </a:rPr>
              <a:t>-</a:t>
            </a:r>
            <a:r>
              <a:rPr lang="ru-RU" sz="2000" b="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функции) и ожидаемыми наградами в текущем состоянии и всех возможных следующих состояниях. </a:t>
            </a:r>
            <a:endParaRPr lang="en-US" sz="2000" b="0" i="0" u="none" strike="noStrike" dirty="0">
              <a:solidFill>
                <a:schemeClr val="tx1"/>
              </a:solidFill>
              <a:effectLst/>
              <a:latin typeface="Söhne"/>
            </a:endParaRPr>
          </a:p>
          <a:p>
            <a:pPr marL="0" indent="0">
              <a:lnSpc>
                <a:spcPct val="115000"/>
              </a:lnSpc>
              <a:buNone/>
            </a:pPr>
            <a:endParaRPr lang="ru-RU" sz="2000" b="0" i="0" u="none" strike="noStrike" dirty="0">
              <a:solidFill>
                <a:schemeClr val="tx1"/>
              </a:solidFill>
              <a:effectLst/>
              <a:latin typeface="Söhne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ru-RU" sz="2000" b="0" i="0" u="none" strike="noStrike" dirty="0">
                <a:solidFill>
                  <a:schemeClr val="tx1"/>
                </a:solidFill>
                <a:effectLst/>
                <a:latin typeface="Söhne"/>
              </a:rPr>
              <a:t>Это уравнение формализует принцип оптимальности и позволяет находить оптимальные оценки значений состояний.</a:t>
            </a:r>
          </a:p>
          <a:p>
            <a:pPr marL="0" indent="0">
              <a:lnSpc>
                <a:spcPct val="115000"/>
              </a:lnSpc>
              <a:buNone/>
            </a:pPr>
            <a:endParaRPr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012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Уравнение Беллмана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ru-RU" sz="320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𝑣</a:t>
            </a:r>
            <a:r>
              <a:rPr lang="en-GB" sz="3200" i="0" u="none" strike="noStrike" dirty="0">
                <a:solidFill>
                  <a:schemeClr val="tx1"/>
                </a:solidFill>
                <a:effectLst/>
                <a:latin typeface="Söhne"/>
              </a:rPr>
              <a:t>-</a:t>
            </a:r>
            <a:r>
              <a:rPr lang="ru-RU" sz="320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</a:t>
            </a:r>
            <a:r>
              <a:rPr lang="ru-RU" dirty="0"/>
              <a:t>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Google Shape;311;p5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87469" y="1363490"/>
                <a:ext cx="8169062" cy="306122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ℛ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/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𝒫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nary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ru-RU" sz="2000" dirty="0">
                  <a:solidFill>
                    <a:schemeClr val="tx1"/>
                  </a:solidFill>
                  <a:latin typeface="Söhne"/>
                </a:endParaRPr>
              </a:p>
              <a:p>
                <a:pPr marL="133350" indent="0" algn="l">
                  <a:buNone/>
                </a:pP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где:</a:t>
                </a: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2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2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-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значение состояния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s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(</a:t>
                </a:r>
                <a:r>
                  <a:rPr lang="ru-RU" sz="1200" dirty="0">
                    <a:solidFill>
                      <a:srgbClr val="000000"/>
                    </a:solidFill>
                    <a:latin typeface="STIXMathJax_Normal-italic"/>
                  </a:rPr>
                  <a:t>𝑣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-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функция), то есть ожидаемая сумма вознаграждений, которую агент может получить, находясь в состоянии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s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.</a:t>
                </a:r>
              </a:p>
              <a:p>
                <a:pPr marL="133350" indent="0" algn="l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-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вероятность выбора действия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a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в состоянии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s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при использовании стратегии </a:t>
                </a:r>
                <a:r>
                  <a:rPr lang="el-GR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π</a:t>
                </a:r>
                <a:r>
                  <a:rPr lang="el-GR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.</a:t>
                </a:r>
              </a:p>
              <a:p>
                <a:pPr marL="133350" indent="0" algn="l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-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вероятность перехода в состояние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s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KaTeX_Main"/>
                  </a:rPr>
                  <a:t>′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и получения вознаграждения </a:t>
                </a:r>
                <a14:m>
                  <m:oMath xmlns:m="http://schemas.openxmlformats.org/officeDocument/2006/math"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при выполнении действия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a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в состоянии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s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.</a:t>
                </a:r>
              </a:p>
              <a:p>
                <a:pPr marL="133350" indent="0" algn="l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l-GR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-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коэффициент дисконтирования, который определяет важность будущих вознаграждений по сравнению с немедленными вознаграждениями.</a:t>
                </a:r>
              </a:p>
            </p:txBody>
          </p:sp>
        </mc:Choice>
        <mc:Fallback xmlns="">
          <p:sp>
            <p:nvSpPr>
              <p:cNvPr id="311" name="Google Shape;311;p5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87469" y="1363490"/>
                <a:ext cx="8169062" cy="3061224"/>
              </a:xfrm>
              <a:prstGeom prst="rect">
                <a:avLst/>
              </a:prstGeom>
              <a:blipFill>
                <a:blip r:embed="rId3"/>
                <a:stretch>
                  <a:fillRect t="-26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319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Уравнение Беллмана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ru-RU" sz="3200" i="0" u="none" strike="noStrike" dirty="0">
                <a:solidFill>
                  <a:srgbClr val="000000"/>
                </a:solidFill>
                <a:effectLst/>
                <a:latin typeface="STIXMathJax_Normal-italic"/>
              </a:rPr>
              <a:t>𝑞</a:t>
            </a:r>
            <a:r>
              <a:rPr lang="en-GB" sz="3200" i="0" u="none" strike="noStrike" dirty="0">
                <a:solidFill>
                  <a:schemeClr val="tx1"/>
                </a:solidFill>
                <a:effectLst/>
                <a:latin typeface="Söhne"/>
              </a:rPr>
              <a:t>-</a:t>
            </a:r>
            <a:r>
              <a:rPr lang="ru-RU" sz="3200" i="0" u="none" strike="noStrike" dirty="0">
                <a:solidFill>
                  <a:schemeClr val="tx1"/>
                </a:solidFill>
                <a:effectLst/>
                <a:latin typeface="Söhne"/>
              </a:rPr>
              <a:t>функции</a:t>
            </a:r>
            <a:r>
              <a:rPr lang="ru-RU" dirty="0"/>
              <a:t>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Google Shape;311;p5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87469" y="1645288"/>
                <a:ext cx="8169062" cy="2718058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 algn="ctr">
                  <a:lnSpc>
                    <a:spcPct val="115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ℛ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𝒫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ru-RU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ru-RU" sz="2000" dirty="0">
                  <a:solidFill>
                    <a:schemeClr val="tx1"/>
                  </a:solidFill>
                  <a:latin typeface="Söhne"/>
                </a:endParaRPr>
              </a:p>
              <a:p>
                <a:pPr marL="133350" indent="0" algn="l">
                  <a:buNone/>
                </a:pPr>
                <a:endParaRPr lang="ru-RU" sz="1200" b="0" i="0" u="none" strike="noStrike" dirty="0">
                  <a:solidFill>
                    <a:schemeClr val="tx1"/>
                  </a:solidFill>
                  <a:effectLst/>
                  <a:latin typeface="Söhne"/>
                </a:endParaRPr>
              </a:p>
              <a:p>
                <a:pPr marL="133350" indent="0" algn="l">
                  <a:buNone/>
                </a:pP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где:</a:t>
                </a: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2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2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u="none" strike="noStrike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-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значение состояния</a:t>
                </a:r>
                <a:r>
                  <a:rPr lang="en-US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-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действия 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(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-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функция), то есть ожидаемая сумма вознаграждений, которую агент может получить,</a:t>
                </a:r>
                <a:r>
                  <a:rPr lang="en-US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выполнив действие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находясь в состоянии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s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.</a:t>
                </a:r>
              </a:p>
              <a:p>
                <a:pPr marL="133350" indent="0" algn="l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-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вероятность выбора действия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a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в состоянии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s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при использовании стратегии </a:t>
                </a:r>
                <a:r>
                  <a:rPr lang="el-GR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π</a:t>
                </a:r>
                <a:r>
                  <a:rPr lang="el-GR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.</a:t>
                </a:r>
              </a:p>
              <a:p>
                <a:pPr marL="133350" indent="0" algn="l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-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вероятность перехода в состояние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s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KaTeX_Main"/>
                  </a:rPr>
                  <a:t>′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и получения вознаграждения </a:t>
                </a:r>
                <a14:m>
                  <m:oMath xmlns:m="http://schemas.openxmlformats.org/officeDocument/2006/math"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u="none" strike="noStrike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при выполнении действия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a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в состоянии </a:t>
                </a:r>
                <a:r>
                  <a:rPr lang="en-GB" sz="1200" b="0" i="1" u="none" strike="noStrike" dirty="0">
                    <a:solidFill>
                      <a:schemeClr val="tx1"/>
                    </a:solidFill>
                    <a:effectLst/>
                    <a:latin typeface="KaTeX_Math"/>
                  </a:rPr>
                  <a:t>s</a:t>
                </a:r>
                <a:r>
                  <a:rPr lang="en-GB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.</a:t>
                </a:r>
              </a:p>
              <a:p>
                <a:pPr marL="133350" indent="0" algn="l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l-GR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 - </a:t>
                </a:r>
                <a:r>
                  <a:rPr lang="ru-RU" sz="1200" b="0" i="0" u="none" strike="noStrike" dirty="0">
                    <a:solidFill>
                      <a:schemeClr val="tx1"/>
                    </a:solidFill>
                    <a:effectLst/>
                    <a:latin typeface="Söhne"/>
                  </a:rPr>
                  <a:t>коэффициент дисконтирования, который определяет важность будущих вознаграждений по сравнению с немедленными вознаграждениями.</a:t>
                </a:r>
              </a:p>
            </p:txBody>
          </p:sp>
        </mc:Choice>
        <mc:Fallback xmlns="">
          <p:sp>
            <p:nvSpPr>
              <p:cNvPr id="311" name="Google Shape;311;p5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87469" y="1645288"/>
                <a:ext cx="8169062" cy="2718058"/>
              </a:xfrm>
              <a:prstGeom prst="rect">
                <a:avLst/>
              </a:prstGeom>
              <a:blipFill>
                <a:blip r:embed="rId3"/>
                <a:stretch>
                  <a:fillRect t="-13488" b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184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4354C-A5E0-6B48-9D18-0128FFA8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алгоритмов </a:t>
            </a:r>
            <a:r>
              <a:rPr lang="en-US" dirty="0"/>
              <a:t>RL</a:t>
            </a:r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BCBE4E-5EC3-254F-8A0A-00E8CDCDE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50" y="820636"/>
            <a:ext cx="7065852" cy="421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205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алгоритмов </a:t>
            </a:r>
            <a:r>
              <a:rPr lang="en-US" dirty="0"/>
              <a:t>RL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accent5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9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9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9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9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9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9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684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78031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Уравнение Беллмана для </a:t>
                </a:r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  <a:latin typeface="STIXMathJax_Normal-italic"/>
                  </a:rPr>
                  <a:t>𝑞</a:t>
                </a:r>
                <a:r>
                  <a:rPr lang="ru-RU" sz="1800" baseline="-25000" dirty="0">
                    <a:solidFill>
                      <a:srgbClr val="000000"/>
                    </a:solidFill>
                    <a:latin typeface="STIXMathJax_Normal-italic"/>
                  </a:rPr>
                  <a:t>*</a:t>
                </a:r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:</a:t>
                </a:r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0" indent="0" algn="ctr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𝒫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sSub>
                        <m:sSubPr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1600" dirty="0">
                  <a:solidFill>
                    <a:schemeClr val="tx1"/>
                  </a:solidFill>
                  <a:latin typeface="Söhne"/>
                </a:endParaRPr>
              </a:p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функцию: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Пространство большой размерности? </a:t>
                </a: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Экран игры 210х160 с 8-битной графикой и 3 действиями дает нам пространство состояний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2</a:t>
                </a:r>
                <a:r>
                  <a:rPr lang="en-US" sz="1600" baseline="300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160*210*8*3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= 2</a:t>
                </a:r>
                <a:r>
                  <a:rPr lang="en-US" sz="1600" baseline="300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806400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–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сопоставимо с числом атомов во вселенной, точнее говоря много больше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  <a:sym typeface="Wingdings" pitchFamily="2" charset="2"/>
                  </a:rPr>
                  <a:t>😱</a:t>
                </a:r>
                <a:endParaRPr lang="en-US" sz="1600" baseline="30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780317"/>
              </a:xfrm>
              <a:prstGeom prst="rect">
                <a:avLst/>
              </a:prstGeom>
              <a:blipFill>
                <a:blip r:embed="rId3"/>
                <a:stretch>
                  <a:fillRect t="-6376" b="-167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50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 update for NN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59E22-D405-3746-8366-A60CC80B9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041222"/>
            <a:ext cx="4660173" cy="39206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2B78E1-E708-EA44-9C6F-6DD6C2F2E456}"/>
                  </a:ext>
                </a:extLst>
              </p:cNvPr>
              <p:cNvSpPr txBox="1"/>
              <p:nvPr/>
            </p:nvSpPr>
            <p:spPr>
              <a:xfrm>
                <a:off x="5805813" y="1678488"/>
                <a:ext cx="3215337" cy="1458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Будем приближать функцию </a:t>
                </a:r>
                <a:r>
                  <a:rPr lang="en-US" dirty="0"/>
                  <a:t>Q </a:t>
                </a:r>
                <a:r>
                  <a:rPr lang="ru-RU" dirty="0" err="1"/>
                  <a:t>нейросетью</a:t>
                </a:r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Поскольку нам необходимо получить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</m:oMath>
                </a14:m>
                <a:r>
                  <a:rPr lang="ru-RU" dirty="0"/>
                  <a:t> то второй подход предпочтительнее.</a:t>
                </a:r>
                <a:endParaRPr lang="en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2B78E1-E708-EA44-9C6F-6DD6C2F2E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813" y="1678488"/>
                <a:ext cx="3215337" cy="1458669"/>
              </a:xfrm>
              <a:prstGeom prst="rect">
                <a:avLst/>
              </a:prstGeom>
              <a:blipFill>
                <a:blip r:embed="rId4"/>
                <a:stretch>
                  <a:fillRect l="-392" t="-862" b="-258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440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Q-learning update for NN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400705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Обновляем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функцию: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Loss: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func>
                                <m:func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≈−2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051E6E68-4317-2841-BFA7-5EE1361731D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400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909EFE9-8AF8-534F-AFCA-B36C86C8D18F}"/>
              </a:ext>
            </a:extLst>
          </p:cNvPr>
          <p:cNvSpPr/>
          <p:nvPr/>
        </p:nvSpPr>
        <p:spPr>
          <a:xfrm>
            <a:off x="3970751" y="1426624"/>
            <a:ext cx="3288082" cy="565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82712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Модели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96542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400" dirty="0"/>
                  <a:t>Обновление весов модели:</a:t>
                </a:r>
              </a:p>
              <a:p>
                <a:pPr marL="133350" indent="0">
                  <a:buNone/>
                </a:pPr>
                <a:endParaRPr lang="ru-RU" sz="9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REINFORCE</a:t>
                </a:r>
              </a:p>
              <a:p>
                <a:pPr marL="133350" indent="0">
                  <a:buNone/>
                </a:pPr>
                <a:endParaRPr lang="en-US" sz="10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 REINFORCE 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 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sup>
                                </m:sSup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- DDPG (Deep deterministic Policy Gradient)</a:t>
                </a: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965426"/>
              </a:xfrm>
              <a:prstGeom prst="rect">
                <a:avLst/>
              </a:prstGeom>
              <a:blipFill>
                <a:blip r:embed="rId3"/>
                <a:stretch>
                  <a:fillRect b="-6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2A31A4C-AA56-F149-A010-DA85625DA460}"/>
              </a:ext>
            </a:extLst>
          </p:cNvPr>
          <p:cNvSpPr/>
          <p:nvPr/>
        </p:nvSpPr>
        <p:spPr>
          <a:xfrm>
            <a:off x="2827979" y="1666839"/>
            <a:ext cx="30278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394F1-8561-8843-B4FF-F39D91888612}"/>
              </a:ext>
            </a:extLst>
          </p:cNvPr>
          <p:cNvSpPr/>
          <p:nvPr/>
        </p:nvSpPr>
        <p:spPr>
          <a:xfrm>
            <a:off x="2827978" y="2288803"/>
            <a:ext cx="30278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C789F-FD5A-644A-9CAE-3B5CCB5DEA1F}"/>
              </a:ext>
            </a:extLst>
          </p:cNvPr>
          <p:cNvSpPr/>
          <p:nvPr/>
        </p:nvSpPr>
        <p:spPr>
          <a:xfrm>
            <a:off x="2827978" y="2912800"/>
            <a:ext cx="92651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855B3-C7C7-DF4D-8301-473543C4AD65}"/>
              </a:ext>
            </a:extLst>
          </p:cNvPr>
          <p:cNvSpPr/>
          <p:nvPr/>
        </p:nvSpPr>
        <p:spPr>
          <a:xfrm>
            <a:off x="2827978" y="3508264"/>
            <a:ext cx="2706866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DC245B-823D-AB40-976B-2B6BCD082B7F}"/>
              </a:ext>
            </a:extLst>
          </p:cNvPr>
          <p:cNvSpPr/>
          <p:nvPr/>
        </p:nvSpPr>
        <p:spPr>
          <a:xfrm>
            <a:off x="1648138" y="4170460"/>
            <a:ext cx="2300131" cy="4923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10076F-3D95-EF49-B27F-84F16A6E3F79}"/>
              </a:ext>
            </a:extLst>
          </p:cNvPr>
          <p:cNvSpPr/>
          <p:nvPr/>
        </p:nvSpPr>
        <p:spPr>
          <a:xfrm>
            <a:off x="1883299" y="2912800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2B092-6846-EE47-ABDC-A433F497F24E}"/>
              </a:ext>
            </a:extLst>
          </p:cNvPr>
          <p:cNvSpPr/>
          <p:nvPr/>
        </p:nvSpPr>
        <p:spPr>
          <a:xfrm>
            <a:off x="1883299" y="3508264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C7D73D-F582-314E-9C10-F4C90A2E5012}"/>
              </a:ext>
            </a:extLst>
          </p:cNvPr>
          <p:cNvSpPr/>
          <p:nvPr/>
        </p:nvSpPr>
        <p:spPr>
          <a:xfrm>
            <a:off x="3021758" y="4254609"/>
            <a:ext cx="73273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1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A1054D-A558-F34C-8B1C-C6D389EE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рынка</a:t>
            </a:r>
            <a:endParaRPr lang="en-TR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42425A-5E2E-9542-919E-9C4C489DDD44}"/>
              </a:ext>
            </a:extLst>
          </p:cNvPr>
          <p:cNvCxnSpPr>
            <a:cxnSpLocks/>
          </p:cNvCxnSpPr>
          <p:nvPr/>
        </p:nvCxnSpPr>
        <p:spPr>
          <a:xfrm>
            <a:off x="4461531" y="1392608"/>
            <a:ext cx="468000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83EA30-9921-7C44-8FBB-D346EF5B3911}"/>
              </a:ext>
            </a:extLst>
          </p:cNvPr>
          <p:cNvGrpSpPr/>
          <p:nvPr/>
        </p:nvGrpSpPr>
        <p:grpSpPr>
          <a:xfrm>
            <a:off x="0" y="1056470"/>
            <a:ext cx="4464954" cy="3030552"/>
            <a:chOff x="0" y="1056470"/>
            <a:chExt cx="4464954" cy="303055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F3D83E7-19DE-CA4C-B33A-EACDB7C6153E}"/>
                </a:ext>
              </a:extLst>
            </p:cNvPr>
            <p:cNvGrpSpPr/>
            <p:nvPr/>
          </p:nvGrpSpPr>
          <p:grpSpPr>
            <a:xfrm>
              <a:off x="0" y="1056470"/>
              <a:ext cx="4464954" cy="3030552"/>
              <a:chOff x="278879" y="829204"/>
              <a:chExt cx="4464954" cy="303055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5ABD48-4EA7-674D-9BE8-D311C54725FB}"/>
                  </a:ext>
                </a:extLst>
              </p:cNvPr>
              <p:cNvSpPr/>
              <p:nvPr/>
            </p:nvSpPr>
            <p:spPr>
              <a:xfrm>
                <a:off x="576869" y="1104643"/>
                <a:ext cx="4166964" cy="27551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r>
                  <a:rPr lang="en-TR" dirty="0">
                    <a:solidFill>
                      <a:schemeClr val="tx1"/>
                    </a:solidFill>
                  </a:rPr>
                  <a:t>_reward(state, action)</a:t>
                </a: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r>
                  <a:rPr lang="en-TR" dirty="0">
                    <a:solidFill>
                      <a:schemeClr val="tx1"/>
                    </a:solidFill>
                  </a:rPr>
                  <a:t>step(action)</a:t>
                </a:r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13F6755-4350-734F-83B2-6D622EF48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8879" y="829204"/>
                <a:ext cx="2065421" cy="550877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FE9E3B7-4DA0-8B49-A2F8-93364B1122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973" y="2062910"/>
                <a:ext cx="1945290" cy="1776911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7065C0-5E9F-AB4C-8332-F9E60D16E427}"/>
                  </a:ext>
                </a:extLst>
              </p:cNvPr>
              <p:cNvSpPr txBox="1"/>
              <p:nvPr/>
            </p:nvSpPr>
            <p:spPr>
              <a:xfrm>
                <a:off x="687191" y="1626603"/>
                <a:ext cx="1120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Stocks data</a:t>
                </a:r>
                <a:endParaRPr lang="en-TR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CED297-8E35-DB4B-AF39-59CDB93025CC}"/>
                </a:ext>
              </a:extLst>
            </p:cNvPr>
            <p:cNvSpPr txBox="1"/>
            <p:nvPr/>
          </p:nvSpPr>
          <p:spPr>
            <a:xfrm>
              <a:off x="697844" y="1391938"/>
              <a:ext cx="1244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dirty="0">
                  <a:latin typeface="Adelle Sans Devanagari Thin" panose="02000503000000020004" pitchFamily="2" charset="-78"/>
                  <a:cs typeface="Adelle Sans Devanagari Thin" panose="02000503000000020004" pitchFamily="2" charset="-78"/>
                </a:rPr>
                <a:t>environment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BCD8849-BB26-5744-AC6A-82C56613D5FF}"/>
              </a:ext>
            </a:extLst>
          </p:cNvPr>
          <p:cNvSpPr txBox="1"/>
          <p:nvPr/>
        </p:nvSpPr>
        <p:spPr>
          <a:xfrm>
            <a:off x="4970891" y="3449198"/>
            <a:ext cx="2212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</a:t>
            </a:r>
            <a:r>
              <a:rPr lang="en-TR" dirty="0">
                <a:solidFill>
                  <a:srgbClr val="00B050"/>
                </a:solidFill>
              </a:rPr>
              <a:t>nv.reset() → (state, info)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CE525C-AEE2-7745-8515-A285DEE257AE}"/>
              </a:ext>
            </a:extLst>
          </p:cNvPr>
          <p:cNvSpPr txBox="1"/>
          <p:nvPr/>
        </p:nvSpPr>
        <p:spPr>
          <a:xfrm>
            <a:off x="4977028" y="3864409"/>
            <a:ext cx="3773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TR" dirty="0">
                <a:solidFill>
                  <a:srgbClr val="C00000"/>
                </a:solidFill>
              </a:rPr>
              <a:t>nv.step(action) → (state, reward, done, info)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CA9D0-447A-604A-BBAD-E9D31F39B4CD}"/>
              </a:ext>
            </a:extLst>
          </p:cNvPr>
          <p:cNvSpPr txBox="1"/>
          <p:nvPr/>
        </p:nvSpPr>
        <p:spPr>
          <a:xfrm>
            <a:off x="4970891" y="2027525"/>
            <a:ext cx="41669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observation_space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→ </a:t>
            </a:r>
          </a:p>
          <a:p>
            <a:pPr>
              <a:tabLst>
                <a:tab pos="438150" algn="l"/>
              </a:tabLst>
            </a:pP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[’open’, ‘close’, ‘high’, ‘low’, ‘close’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…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]</a:t>
            </a:r>
            <a:br>
              <a:rPr lang="en-TR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Box(	[0 0 0 0 0 …],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[1e+6 1e+6 1e-6 1e+6 1e+10 …],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(…,),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float32. )</a:t>
            </a:r>
            <a:endParaRPr lang="en-T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D8C6E7-49B4-554A-A7FD-1DBC005E3DBA}"/>
              </a:ext>
            </a:extLst>
          </p:cNvPr>
          <p:cNvSpPr txBox="1"/>
          <p:nvPr/>
        </p:nvSpPr>
        <p:spPr>
          <a:xfrm>
            <a:off x="4970891" y="1225682"/>
            <a:ext cx="21804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action_space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→ </a:t>
            </a:r>
          </a:p>
          <a:p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[‘buy’, ‘do nothing’, ‘sell’]</a:t>
            </a:r>
          </a:p>
          <a:p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Discrete(3) = [-1, 0, 1]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EB3246-0629-9747-902A-9B7D2A3A262D}"/>
              </a:ext>
            </a:extLst>
          </p:cNvPr>
          <p:cNvCxnSpPr>
            <a:cxnSpLocks/>
          </p:cNvCxnSpPr>
          <p:nvPr/>
        </p:nvCxnSpPr>
        <p:spPr>
          <a:xfrm>
            <a:off x="4461531" y="2207800"/>
            <a:ext cx="468000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C4CF95-B43C-3043-ADEA-FCC0BEC07EB4}"/>
              </a:ext>
            </a:extLst>
          </p:cNvPr>
          <p:cNvCxnSpPr>
            <a:cxnSpLocks/>
          </p:cNvCxnSpPr>
          <p:nvPr/>
        </p:nvCxnSpPr>
        <p:spPr>
          <a:xfrm>
            <a:off x="4461531" y="3624412"/>
            <a:ext cx="468000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DE8CA8-EDF9-8944-8A0D-AAAAB5572E4E}"/>
              </a:ext>
            </a:extLst>
          </p:cNvPr>
          <p:cNvCxnSpPr>
            <a:cxnSpLocks/>
          </p:cNvCxnSpPr>
          <p:nvPr/>
        </p:nvCxnSpPr>
        <p:spPr>
          <a:xfrm>
            <a:off x="4461531" y="4040700"/>
            <a:ext cx="4680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9084D92-F2DD-9D42-8CBC-0B916263B267}"/>
              </a:ext>
            </a:extLst>
          </p:cNvPr>
          <p:cNvSpPr txBox="1"/>
          <p:nvPr/>
        </p:nvSpPr>
        <p:spPr>
          <a:xfrm>
            <a:off x="1983455" y="1306430"/>
            <a:ext cx="2432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reset() </a:t>
            </a:r>
            <a:r>
              <a:rPr lang="en-TR" dirty="0"/>
              <a:t>→ </a:t>
            </a:r>
            <a:r>
              <a:rPr lang="en-US" dirty="0"/>
              <a:t>w</a:t>
            </a:r>
            <a:r>
              <a:rPr lang="en-TR" dirty="0"/>
              <a:t>e have 10 000 $</a:t>
            </a:r>
          </a:p>
        </p:txBody>
      </p:sp>
    </p:spTree>
    <p:extLst>
      <p:ext uri="{BB962C8B-B14F-4D97-AF65-F5344CB8AC3E}">
        <p14:creationId xmlns:p14="http://schemas.microsoft.com/office/powerpoint/2010/main" val="3950949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A1054D-A558-F34C-8B1C-C6D389EE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агента</a:t>
            </a:r>
            <a:endParaRPr lang="en-TR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42425A-5E2E-9542-919E-9C4C489DDD44}"/>
              </a:ext>
            </a:extLst>
          </p:cNvPr>
          <p:cNvCxnSpPr>
            <a:cxnSpLocks/>
          </p:cNvCxnSpPr>
          <p:nvPr/>
        </p:nvCxnSpPr>
        <p:spPr>
          <a:xfrm flipH="1">
            <a:off x="4461531" y="1392608"/>
            <a:ext cx="468000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83EA30-9921-7C44-8FBB-D346EF5B3911}"/>
              </a:ext>
            </a:extLst>
          </p:cNvPr>
          <p:cNvGrpSpPr/>
          <p:nvPr/>
        </p:nvGrpSpPr>
        <p:grpSpPr>
          <a:xfrm>
            <a:off x="238552" y="1187595"/>
            <a:ext cx="4226402" cy="2899427"/>
            <a:chOff x="238552" y="1187595"/>
            <a:chExt cx="4226402" cy="289942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F3D83E7-19DE-CA4C-B33A-EACDB7C6153E}"/>
                </a:ext>
              </a:extLst>
            </p:cNvPr>
            <p:cNvGrpSpPr/>
            <p:nvPr/>
          </p:nvGrpSpPr>
          <p:grpSpPr>
            <a:xfrm>
              <a:off x="297990" y="1331909"/>
              <a:ext cx="4166964" cy="2755113"/>
              <a:chOff x="576869" y="1104643"/>
              <a:chExt cx="4166964" cy="275511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5ABD48-4EA7-674D-9BE8-D311C54725FB}"/>
                  </a:ext>
                </a:extLst>
              </p:cNvPr>
              <p:cNvSpPr/>
              <p:nvPr/>
            </p:nvSpPr>
            <p:spPr>
              <a:xfrm>
                <a:off x="576869" y="1104643"/>
                <a:ext cx="4166964" cy="27551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273300"/>
                <a:r>
                  <a:rPr lang="ru-RU" dirty="0">
                    <a:solidFill>
                      <a:schemeClr val="tx1"/>
                    </a:solidFill>
                  </a:rPr>
                  <a:t>А2С,</a:t>
                </a:r>
              </a:p>
              <a:p>
                <a:pPr marL="2273300"/>
                <a:r>
                  <a:rPr lang="en-TR" dirty="0">
                    <a:solidFill>
                      <a:schemeClr val="tx1"/>
                    </a:solidFill>
                  </a:rPr>
                  <a:t>DDPG, </a:t>
                </a:r>
              </a:p>
              <a:p>
                <a:pPr marL="2273300"/>
                <a:r>
                  <a:rPr lang="en-TR" dirty="0">
                    <a:solidFill>
                      <a:schemeClr val="tx1"/>
                    </a:solidFill>
                  </a:rPr>
                  <a:t>PPO, </a:t>
                </a:r>
                <a:endParaRPr lang="ru-RU" dirty="0">
                  <a:solidFill>
                    <a:schemeClr val="tx1"/>
                  </a:solidFill>
                </a:endParaRPr>
              </a:p>
              <a:p>
                <a:pPr marL="2273300"/>
                <a:r>
                  <a:rPr lang="en-TR" dirty="0">
                    <a:solidFill>
                      <a:schemeClr val="tx1"/>
                    </a:solidFill>
                  </a:rPr>
                  <a:t>TD3,</a:t>
                </a:r>
              </a:p>
              <a:p>
                <a:pPr marL="2273300"/>
                <a:r>
                  <a:rPr lang="en-TR" dirty="0">
                    <a:solidFill>
                      <a:schemeClr val="tx1"/>
                    </a:solidFill>
                  </a:rPr>
                  <a:t>SAC</a:t>
                </a: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  <a:p>
                <a:pPr marL="2136775"/>
                <a:endParaRPr lang="en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7065C0-5E9F-AB4C-8332-F9E60D16E427}"/>
                  </a:ext>
                </a:extLst>
              </p:cNvPr>
              <p:cNvSpPr txBox="1"/>
              <p:nvPr/>
            </p:nvSpPr>
            <p:spPr>
              <a:xfrm>
                <a:off x="687191" y="1626603"/>
                <a:ext cx="15584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Stable baseline 3</a:t>
                </a:r>
                <a:endParaRPr lang="en-TR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CED297-8E35-DB4B-AF39-59CDB93025CC}"/>
                </a:ext>
              </a:extLst>
            </p:cNvPr>
            <p:cNvSpPr txBox="1"/>
            <p:nvPr/>
          </p:nvSpPr>
          <p:spPr>
            <a:xfrm>
              <a:off x="238552" y="1187595"/>
              <a:ext cx="60144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TR" dirty="0">
                  <a:latin typeface="Adelle Sans Devanagari Thin" panose="02000503000000020004" pitchFamily="2" charset="-78"/>
                  <a:cs typeface="Adelle Sans Devanagari Thin" panose="02000503000000020004" pitchFamily="2" charset="-78"/>
                </a:rPr>
                <a:t>agent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BCD8849-BB26-5744-AC6A-82C56613D5FF}"/>
              </a:ext>
            </a:extLst>
          </p:cNvPr>
          <p:cNvSpPr txBox="1"/>
          <p:nvPr/>
        </p:nvSpPr>
        <p:spPr>
          <a:xfrm>
            <a:off x="4970891" y="3449198"/>
            <a:ext cx="2212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</a:t>
            </a:r>
            <a:r>
              <a:rPr lang="en-TR" dirty="0">
                <a:solidFill>
                  <a:srgbClr val="00B050"/>
                </a:solidFill>
              </a:rPr>
              <a:t>nv.reset() → (state, info)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CE525C-AEE2-7745-8515-A285DEE257AE}"/>
              </a:ext>
            </a:extLst>
          </p:cNvPr>
          <p:cNvSpPr txBox="1"/>
          <p:nvPr/>
        </p:nvSpPr>
        <p:spPr>
          <a:xfrm>
            <a:off x="4977028" y="3864409"/>
            <a:ext cx="3773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TR" dirty="0">
                <a:solidFill>
                  <a:srgbClr val="C00000"/>
                </a:solidFill>
              </a:rPr>
              <a:t>nv.step(action) → (state, reward, done, info)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CA9D0-447A-604A-BBAD-E9D31F39B4CD}"/>
              </a:ext>
            </a:extLst>
          </p:cNvPr>
          <p:cNvSpPr txBox="1"/>
          <p:nvPr/>
        </p:nvSpPr>
        <p:spPr>
          <a:xfrm>
            <a:off x="4970891" y="2027525"/>
            <a:ext cx="41669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observation_space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→ </a:t>
            </a:r>
          </a:p>
          <a:p>
            <a:pPr>
              <a:tabLst>
                <a:tab pos="438150" algn="l"/>
              </a:tabLst>
            </a:pP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[’open’, ‘close’, ‘high’, ‘low’, ‘close’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…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]</a:t>
            </a:r>
            <a:br>
              <a:rPr lang="en-TR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Box(	[0 0 0 0 0 …],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[1e+6 1e+6 1e-6 1e+6 1e+10 …],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(…,), </a:t>
            </a:r>
          </a:p>
          <a:p>
            <a:pPr>
              <a:tabLst>
                <a:tab pos="438150" algn="l"/>
              </a:tabLst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float32. )</a:t>
            </a:r>
            <a:endParaRPr lang="en-T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D8C6E7-49B4-554A-A7FD-1DBC005E3DBA}"/>
              </a:ext>
            </a:extLst>
          </p:cNvPr>
          <p:cNvSpPr txBox="1"/>
          <p:nvPr/>
        </p:nvSpPr>
        <p:spPr>
          <a:xfrm>
            <a:off x="4970891" y="1225682"/>
            <a:ext cx="21804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nv.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action_space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→ </a:t>
            </a:r>
          </a:p>
          <a:p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[‘buy’, ‘do nothing’, ‘sell’]</a:t>
            </a:r>
          </a:p>
          <a:p>
            <a:r>
              <a:rPr lang="en-TR" dirty="0">
                <a:solidFill>
                  <a:schemeClr val="accent1">
                    <a:lumMod val="50000"/>
                  </a:schemeClr>
                </a:solidFill>
              </a:rPr>
              <a:t>Discrete(3) = [-1, 0, 1]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EB3246-0629-9747-902A-9B7D2A3A262D}"/>
              </a:ext>
            </a:extLst>
          </p:cNvPr>
          <p:cNvCxnSpPr>
            <a:cxnSpLocks/>
          </p:cNvCxnSpPr>
          <p:nvPr/>
        </p:nvCxnSpPr>
        <p:spPr>
          <a:xfrm flipH="1">
            <a:off x="4461531" y="2207800"/>
            <a:ext cx="468000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C4CF95-B43C-3043-ADEA-FCC0BEC07EB4}"/>
              </a:ext>
            </a:extLst>
          </p:cNvPr>
          <p:cNvCxnSpPr>
            <a:cxnSpLocks/>
          </p:cNvCxnSpPr>
          <p:nvPr/>
        </p:nvCxnSpPr>
        <p:spPr>
          <a:xfrm flipH="1">
            <a:off x="4461531" y="3624412"/>
            <a:ext cx="468000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DE8CA8-EDF9-8944-8A0D-AAAAB5572E4E}"/>
              </a:ext>
            </a:extLst>
          </p:cNvPr>
          <p:cNvCxnSpPr>
            <a:cxnSpLocks/>
          </p:cNvCxnSpPr>
          <p:nvPr/>
        </p:nvCxnSpPr>
        <p:spPr>
          <a:xfrm flipH="1">
            <a:off x="4461531" y="4040700"/>
            <a:ext cx="4680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649288A7-FAE5-284B-BBFF-519562E7F2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21"/>
          <a:stretch/>
        </p:blipFill>
        <p:spPr>
          <a:xfrm>
            <a:off x="316401" y="2493867"/>
            <a:ext cx="2222548" cy="1577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1981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078BC-5793-5D4C-A2AB-C29D3C01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рынка - реализация</a:t>
            </a:r>
            <a:endParaRPr lang="en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0746D-0DE1-A24A-A07B-6439B2BB3C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gymnasium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gym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class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StockTradingEnv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gym.Env</a:t>
            </a:r>
            <a:r>
              <a:rPr lang="en-US" dirty="0">
                <a:solidFill>
                  <a:schemeClr val="tx1"/>
                </a:solidFill>
              </a:rPr>
              <a:t>):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"""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Stock market simulator class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"""</a:t>
            </a:r>
          </a:p>
          <a:p>
            <a:pPr lvl="1"/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  <a:sym typeface="Courier New"/>
              </a:rPr>
              <a:t>init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df: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Pandas.DataFrame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lvl="1"/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step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action):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reward, done,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trunc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info</a:t>
            </a:r>
          </a:p>
          <a:p>
            <a:pPr lvl="1"/>
            <a:endParaRPr lang="en-US" sz="1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lvl="1"/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return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info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T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607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Модель агента - реализация</a:t>
            </a:r>
            <a:endParaRPr dirty="0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2EBE63F-F23C-2143-AF27-487B9B59AA24}"/>
              </a:ext>
            </a:extLst>
          </p:cNvPr>
          <p:cNvSpPr txBox="1">
            <a:spLocks/>
          </p:cNvSpPr>
          <p:nvPr/>
        </p:nvSpPr>
        <p:spPr>
          <a:xfrm>
            <a:off x="70966" y="2682662"/>
            <a:ext cx="8226300" cy="2296200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0650" indent="0">
              <a:buNone/>
            </a:pPr>
            <a:r>
              <a:rPr lang="en-US" b="1" dirty="0">
                <a:solidFill>
                  <a:srgbClr val="0070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E84B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gymnasium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E84B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gym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20650" indent="0">
              <a:buNone/>
            </a:pPr>
            <a:r>
              <a:rPr lang="en-US" b="1" dirty="0">
                <a:solidFill>
                  <a:srgbClr val="0070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E84B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stable_baselines3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PPO </a:t>
            </a:r>
          </a:p>
          <a:p>
            <a:pPr marL="12065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env =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DummyVecEnv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StockTradingEnv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(df)])</a:t>
            </a:r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PPO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MlpPolicy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env)</a:t>
            </a:r>
          </a:p>
          <a:p>
            <a:pPr marL="12065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total_timesteps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=20000,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log_interval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961D5F-2AE1-4D40-AC00-5DEDE506C8ED}"/>
              </a:ext>
            </a:extLst>
          </p:cNvPr>
          <p:cNvGrpSpPr/>
          <p:nvPr/>
        </p:nvGrpSpPr>
        <p:grpSpPr>
          <a:xfrm>
            <a:off x="7152489" y="2878682"/>
            <a:ext cx="1868661" cy="1558423"/>
            <a:chOff x="6541950" y="325257"/>
            <a:chExt cx="2286648" cy="247151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6669DC7-BE4B-1B49-8C8D-38150D5D79E8}"/>
                </a:ext>
              </a:extLst>
            </p:cNvPr>
            <p:cNvGrpSpPr/>
            <p:nvPr/>
          </p:nvGrpSpPr>
          <p:grpSpPr>
            <a:xfrm>
              <a:off x="6541950" y="330724"/>
              <a:ext cx="2286648" cy="2466046"/>
              <a:chOff x="6541950" y="330724"/>
              <a:chExt cx="2286648" cy="246604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092245B1-F04C-0740-B0F7-3F4E99E839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42208" y="330724"/>
                <a:ext cx="2084642" cy="1817293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70B7B7-0EB7-CB4B-89CC-3C19376A751A}"/>
                  </a:ext>
                </a:extLst>
              </p:cNvPr>
              <p:cNvSpPr txBox="1"/>
              <p:nvPr/>
            </p:nvSpPr>
            <p:spPr>
              <a:xfrm>
                <a:off x="6541950" y="2394083"/>
                <a:ext cx="2286648" cy="402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Stable</a:t>
                </a:r>
                <a:r>
                  <a:rPr lang="ru-RU" sz="1050" b="1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1050" b="1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baselines3</a:t>
                </a:r>
                <a:endParaRPr lang="en-TR" sz="10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B34C7B-91A1-0349-9BA1-A365D42D060F}"/>
                </a:ext>
              </a:extLst>
            </p:cNvPr>
            <p:cNvSpPr/>
            <p:nvPr/>
          </p:nvSpPr>
          <p:spPr>
            <a:xfrm>
              <a:off x="6541950" y="325257"/>
              <a:ext cx="2286648" cy="2130115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FE99FB-216C-264D-BCD5-3ED94F53D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332" y="1259297"/>
            <a:ext cx="2429567" cy="100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120F126-472C-B247-BD78-A8EF6C858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80" y="1259297"/>
            <a:ext cx="1310008" cy="109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I - Vaevi Technologies">
            <a:extLst>
              <a:ext uri="{FF2B5EF4-FFF2-40B4-BE49-F238E27FC236}">
                <a16:creationId xmlns:a16="http://schemas.microsoft.com/office/drawing/2014/main" id="{D573EE87-3D31-6C40-A11D-2F3824EEB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7" b="22350"/>
          <a:stretch/>
        </p:blipFill>
        <p:spPr bwMode="auto">
          <a:xfrm>
            <a:off x="6376004" y="1294529"/>
            <a:ext cx="1921262" cy="102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545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2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88" name="Google Shape;488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2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0" name="Google Shape;490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72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20337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9597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Практическая реализация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1255120328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среду имитирующую финансовый рынок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признаки для обогащения модели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 помощью фреймворка создать модели торговых агентов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08216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Обучить агентов и сравнить их результаты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416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2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88" name="Google Shape;488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2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0" name="Google Shape;490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72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5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648" name="Google Shape;648;p95"/>
          <p:cNvSpPr txBox="1"/>
          <p:nvPr/>
        </p:nvSpPr>
        <p:spPr>
          <a:xfrm>
            <a:off x="1915425" y="1502825"/>
            <a:ext cx="682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lang="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ноября</a:t>
            </a:r>
            <a:r>
              <a:rPr lang="ru" sz="15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2024</a:t>
            </a:r>
            <a:endParaRPr sz="1500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95"/>
          <p:cNvSpPr txBox="1"/>
          <p:nvPr/>
        </p:nvSpPr>
        <p:spPr>
          <a:xfrm>
            <a:off x="1915425" y="1826708"/>
            <a:ext cx="61569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Сборка ансамбля</a:t>
            </a:r>
            <a:endParaRPr sz="2400" b="1" dirty="0">
              <a:solidFill>
                <a:srgbClr val="013D85"/>
              </a:solidFill>
            </a:endParaRPr>
          </a:p>
        </p:txBody>
      </p:sp>
      <p:pic>
        <p:nvPicPr>
          <p:cNvPr id="650" name="Google Shape;650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95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95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95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4" name="Google Shape;65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1177</TotalTime>
  <Words>2439</Words>
  <Application>Microsoft Macintosh PowerPoint</Application>
  <PresentationFormat>On-screen Show (16:9)</PresentationFormat>
  <Paragraphs>571</Paragraphs>
  <Slides>43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Helvetica Neue</vt:lpstr>
      <vt:lpstr>Arial</vt:lpstr>
      <vt:lpstr>Courier New</vt:lpstr>
      <vt:lpstr>Söhne</vt:lpstr>
      <vt:lpstr>Adelle Sans Devanagari Thin</vt:lpstr>
      <vt:lpstr>Roboto</vt:lpstr>
      <vt:lpstr>KaTeX_Main</vt:lpstr>
      <vt:lpstr>Cambria Math</vt:lpstr>
      <vt:lpstr>KaTeX_Math</vt:lpstr>
      <vt:lpstr>STIXMathJax_Normal-italic</vt:lpstr>
      <vt:lpstr>Calibri</vt:lpstr>
      <vt:lpstr>STIXMathJax_Main</vt:lpstr>
      <vt:lpstr>Светлая тема</vt:lpstr>
      <vt:lpstr>ML для финансового анализа  Reinforcement learning</vt:lpstr>
      <vt:lpstr>Проверить, идет ли запись</vt:lpstr>
      <vt:lpstr>ML для финансового анализа Reinforcement learning</vt:lpstr>
      <vt:lpstr>Правила вебинара</vt:lpstr>
      <vt:lpstr>Маршрут вебинара</vt:lpstr>
      <vt:lpstr>Цели вебинара</vt:lpstr>
      <vt:lpstr>Смысл</vt:lpstr>
      <vt:lpstr>Основы и зарождение Reinforcement Learning</vt:lpstr>
      <vt:lpstr>Третья парадигма машинного обучения</vt:lpstr>
      <vt:lpstr>Третья парадигма машинного обучения</vt:lpstr>
      <vt:lpstr>PowerPoint Presentation</vt:lpstr>
      <vt:lpstr>Окружение</vt:lpstr>
      <vt:lpstr>Окружение</vt:lpstr>
      <vt:lpstr>Агент – Окружение</vt:lpstr>
      <vt:lpstr>Политика</vt:lpstr>
      <vt:lpstr>Награда</vt:lpstr>
      <vt:lpstr>Политика и награда (более строго)</vt:lpstr>
      <vt:lpstr>Коэффициент дисконтирования</vt:lpstr>
      <vt:lpstr>Политика –  детерминированная и стохастическая</vt:lpstr>
      <vt:lpstr>Стохастическая политика</vt:lpstr>
      <vt:lpstr>Задача обучения с подкреплением</vt:lpstr>
      <vt:lpstr>Мат ожидание награды</vt:lpstr>
      <vt:lpstr>Функция ценности состояния</vt:lpstr>
      <vt:lpstr>Функция ценности состояния-действия</vt:lpstr>
      <vt:lpstr>Принцип оптимальности</vt:lpstr>
      <vt:lpstr>Уравнение Беллмана</vt:lpstr>
      <vt:lpstr>Уравнение Беллмана для 𝑣-функции </vt:lpstr>
      <vt:lpstr>Уравнение Беллмана для 𝑞-функции </vt:lpstr>
      <vt:lpstr>Обзор алгоритмов RL</vt:lpstr>
      <vt:lpstr>Обзор алгоритмов RL</vt:lpstr>
      <vt:lpstr>Q-learning</vt:lpstr>
      <vt:lpstr>Q-learning update for NN</vt:lpstr>
      <vt:lpstr>Q-learning update for NN</vt:lpstr>
      <vt:lpstr>Модели</vt:lpstr>
      <vt:lpstr>Модель рынка</vt:lpstr>
      <vt:lpstr>Модель агента</vt:lpstr>
      <vt:lpstr>Модель рынка - реализация</vt:lpstr>
      <vt:lpstr>Модель агента - реализация</vt:lpstr>
      <vt:lpstr>Вопросы?</vt:lpstr>
      <vt:lpstr>Практика</vt:lpstr>
      <vt:lpstr>Практическая реализация </vt:lpstr>
      <vt:lpstr>Вопросы?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Введение </dc:title>
  <cp:lastModifiedBy>Стурейко Игорь Олегович</cp:lastModifiedBy>
  <cp:revision>56</cp:revision>
  <dcterms:modified xsi:type="dcterms:W3CDTF">2024-11-18T09:17:52Z</dcterms:modified>
</cp:coreProperties>
</file>