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  <p:sldMasterId id="2147483707" r:id="rId2"/>
  </p:sldMasterIdLst>
  <p:notesMasterIdLst>
    <p:notesMasterId r:id="rId37"/>
  </p:notesMasterIdLst>
  <p:sldIdLst>
    <p:sldId id="257" r:id="rId3"/>
    <p:sldId id="258" r:id="rId4"/>
    <p:sldId id="312" r:id="rId5"/>
    <p:sldId id="262" r:id="rId6"/>
    <p:sldId id="260" r:id="rId7"/>
    <p:sldId id="261" r:id="rId8"/>
    <p:sldId id="263" r:id="rId9"/>
    <p:sldId id="264" r:id="rId10"/>
    <p:sldId id="265" r:id="rId11"/>
    <p:sldId id="268" r:id="rId12"/>
    <p:sldId id="387" r:id="rId13"/>
    <p:sldId id="415" r:id="rId14"/>
    <p:sldId id="481" r:id="rId15"/>
    <p:sldId id="482" r:id="rId16"/>
    <p:sldId id="485" r:id="rId17"/>
    <p:sldId id="483" r:id="rId18"/>
    <p:sldId id="484" r:id="rId19"/>
    <p:sldId id="486" r:id="rId20"/>
    <p:sldId id="418" r:id="rId21"/>
    <p:sldId id="281" r:id="rId22"/>
    <p:sldId id="280" r:id="rId23"/>
    <p:sldId id="366" r:id="rId24"/>
    <p:sldId id="288" r:id="rId25"/>
    <p:sldId id="474" r:id="rId26"/>
    <p:sldId id="372" r:id="rId27"/>
    <p:sldId id="487" r:id="rId28"/>
    <p:sldId id="475" r:id="rId29"/>
    <p:sldId id="476" r:id="rId30"/>
    <p:sldId id="477" r:id="rId31"/>
    <p:sldId id="478" r:id="rId32"/>
    <p:sldId id="480" r:id="rId33"/>
    <p:sldId id="401" r:id="rId34"/>
    <p:sldId id="289" r:id="rId35"/>
    <p:sldId id="303" r:id="rId3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724">
          <p15:clr>
            <a:srgbClr val="A4A3A4"/>
          </p15:clr>
        </p15:guide>
        <p15:guide id="2" pos="380">
          <p15:clr>
            <a:srgbClr val="9AA0A6"/>
          </p15:clr>
        </p15:guide>
        <p15:guide id="3" orient="horz" pos="2041">
          <p15:clr>
            <a:srgbClr val="9AA0A6"/>
          </p15:clr>
        </p15:guide>
        <p15:guide id="4" orient="horz" pos="2169">
          <p15:clr>
            <a:srgbClr val="9AA0A6"/>
          </p15:clr>
        </p15:guide>
        <p15:guide id="5" pos="33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59E00E-254B-42B5-9FED-D0DB1D54CBD8}">
  <a:tblStyle styleId="{9F59E00E-254B-42B5-9FED-D0DB1D54CB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/>
    <p:restoredTop sz="97146"/>
  </p:normalViewPr>
  <p:slideViewPr>
    <p:cSldViewPr snapToGrid="0">
      <p:cViewPr varScale="1">
        <p:scale>
          <a:sx n="165" d="100"/>
          <a:sy n="165" d="100"/>
        </p:scale>
        <p:origin x="872" y="184"/>
      </p:cViewPr>
      <p:guideLst>
        <p:guide pos="1724"/>
        <p:guide pos="380"/>
        <p:guide orient="horz" pos="2041"/>
        <p:guide orient="horz" pos="2169"/>
        <p:guide pos="33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20" Type="http://schemas.openxmlformats.org/officeDocument/2006/relationships/slide" Target="slides/slide18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305d12f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f305d12f4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0773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45982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e3a707456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e3a707456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4806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f305d12f47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f305d12f47_1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11565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81462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81606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21547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39227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16010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7725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2baa635cc9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g22baa635cc9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e3a707456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e3a707456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2"/>
          </p:nvPr>
        </p:nvSpPr>
        <p:spPr>
          <a:xfrm>
            <a:off x="3891775" y="2252794"/>
            <a:ext cx="4587900" cy="20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Ваш макет 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500550" y="2545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9868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47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7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4" name="Google Shape;194;p47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8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7" name="Google Shape;197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0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03" name="Google Shape;203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6" name="Google Shape;206;p5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5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5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5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13" name="Google Shape;213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53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53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4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2" name="Google Shape;222;p54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223" name="Google Shape;223;p5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224" name="Google Shape;224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58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58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59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59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9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60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60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60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4.jpg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70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89" name="Google Shape;189;p4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0" name="Google Shape;190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1" r:id="rId11"/>
    <p:sldLayoutId id="2147483702" r:id="rId12"/>
    <p:sldLayoutId id="214748370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linkedin.com/in/igor-stureiko" TargetMode="Externa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9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258" name="Google Shape;258;p62"/>
          <p:cNvSpPr txBox="1">
            <a:spLocks noGrp="1"/>
          </p:cNvSpPr>
          <p:nvPr>
            <p:ph type="title"/>
          </p:nvPr>
        </p:nvSpPr>
        <p:spPr>
          <a:xfrm>
            <a:off x="944650" y="1477350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</a:t>
            </a:r>
            <a:r>
              <a:rPr lang="ru-RU" dirty="0"/>
              <a:t>для финансового анализа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200" dirty="0"/>
              <a:t>Тестирование стратегий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3"/>
          <p:cNvSpPr txBox="1"/>
          <p:nvPr/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63"/>
          <p:cNvSpPr txBox="1"/>
          <p:nvPr/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»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чат, если меня слышно и видно</a:t>
            </a:r>
            <a:endParaRPr sz="35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ML </a:t>
            </a:r>
            <a:r>
              <a:rPr lang="ru-RU" sz="3200" dirty="0"/>
              <a:t>для финансового анализа</a:t>
            </a:r>
            <a:br>
              <a:rPr lang="en-US" sz="3200" dirty="0"/>
            </a:br>
            <a:r>
              <a:rPr lang="ru-RU" sz="2400" dirty="0"/>
              <a:t>Тестирование стратегий</a:t>
            </a:r>
            <a:endParaRPr b="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Открытый урок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Google Shape;278;p64">
            <a:extLst>
              <a:ext uri="{FF2B5EF4-FFF2-40B4-BE49-F238E27FC236}">
                <a16:creationId xmlns:a16="http://schemas.microsoft.com/office/drawing/2014/main" id="{DC03452F-6B2F-EA48-9B01-C3577A3005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BDA60-D1B3-5B41-A4D2-CDAE2DD6B0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D0D012C5-1A3B-EC4C-B8A7-64C8AF21B41A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5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Правила вебинара</a:t>
            </a:r>
            <a:endParaRPr b="1"/>
          </a:p>
        </p:txBody>
      </p:sp>
      <p:sp>
        <p:nvSpPr>
          <p:cNvPr id="305" name="Google Shape;305;p67"/>
          <p:cNvSpPr/>
          <p:nvPr/>
        </p:nvSpPr>
        <p:spPr>
          <a:xfrm>
            <a:off x="5730575" y="-8062"/>
            <a:ext cx="34134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" name="Google Shape;307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4940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510213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7"/>
          <p:cNvSpPr txBox="1"/>
          <p:nvPr/>
        </p:nvSpPr>
        <p:spPr>
          <a:xfrm>
            <a:off x="1654525" y="14808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67"/>
          <p:cNvSpPr txBox="1"/>
          <p:nvPr/>
        </p:nvSpPr>
        <p:spPr>
          <a:xfrm>
            <a:off x="1654525" y="35178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1" name="Google Shape;311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514043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7"/>
          <p:cNvSpPr txBox="1"/>
          <p:nvPr/>
        </p:nvSpPr>
        <p:spPr>
          <a:xfrm>
            <a:off x="1654525" y="2519056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67"/>
          <p:cNvSpPr txBox="1"/>
          <p:nvPr/>
        </p:nvSpPr>
        <p:spPr>
          <a:xfrm>
            <a:off x="6350663" y="1403888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4" name="Google Shape;314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23692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67"/>
          <p:cNvSpPr txBox="1"/>
          <p:nvPr/>
        </p:nvSpPr>
        <p:spPr>
          <a:xfrm>
            <a:off x="6829363" y="23559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6" name="Google Shape;316;p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8418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7"/>
          <p:cNvSpPr txBox="1"/>
          <p:nvPr/>
        </p:nvSpPr>
        <p:spPr>
          <a:xfrm>
            <a:off x="6829363" y="28369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8" name="Google Shape;318;p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33219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67"/>
          <p:cNvSpPr txBox="1"/>
          <p:nvPr/>
        </p:nvSpPr>
        <p:spPr>
          <a:xfrm>
            <a:off x="6829363" y="32324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50" y="15211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65"/>
          <p:cNvSpPr/>
          <p:nvPr/>
        </p:nvSpPr>
        <p:spPr>
          <a:xfrm>
            <a:off x="680150" y="210814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Об ОТУС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65"/>
          <p:cNvSpPr/>
          <p:nvPr/>
        </p:nvSpPr>
        <p:spPr>
          <a:xfrm>
            <a:off x="680150" y="2737038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Тестирование стратегий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50" y="33491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Инструменты тестирования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288;p65">
            <a:extLst>
              <a:ext uri="{FF2B5EF4-FFF2-40B4-BE49-F238E27FC236}">
                <a16:creationId xmlns:a16="http://schemas.microsoft.com/office/drawing/2014/main" id="{E70A6281-3704-B54B-BD03-7CD165FF9994}"/>
              </a:ext>
            </a:extLst>
          </p:cNvPr>
          <p:cNvSpPr/>
          <p:nvPr/>
        </p:nvSpPr>
        <p:spPr>
          <a:xfrm>
            <a:off x="680150" y="397088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46CF15-E72E-E64E-B624-46A6D7BEE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863"/>
          <a:stretch/>
        </p:blipFill>
        <p:spPr>
          <a:xfrm>
            <a:off x="4760850" y="1521159"/>
            <a:ext cx="4260300" cy="28285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Тестирование стратегий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4642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92CDB1-30C0-804A-AF7F-07EB32A8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стратегий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81C5A-3106-2745-823B-629D620F7AE8}"/>
              </a:ext>
            </a:extLst>
          </p:cNvPr>
          <p:cNvSpPr txBox="1"/>
          <p:nvPr/>
        </p:nvSpPr>
        <p:spPr>
          <a:xfrm>
            <a:off x="623400" y="1282615"/>
            <a:ext cx="8520600" cy="844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ru-RU" dirty="0"/>
              <a:t>Что такое обратное тестирование стратегий?</a:t>
            </a:r>
            <a:br>
              <a:rPr lang="ru-RU" dirty="0"/>
            </a:br>
            <a:r>
              <a:rPr lang="ru-RU" dirty="0" err="1"/>
              <a:t>Бэктестингом</a:t>
            </a:r>
            <a:r>
              <a:rPr lang="ru-RU" dirty="0"/>
              <a:t> называют «прогон» запрограммированной торговой стратегии на данных реальных торгов, происходивших в прошлом («исторические данные»).</a:t>
            </a:r>
            <a:endParaRPr lang="en-US" dirty="0"/>
          </a:p>
        </p:txBody>
      </p:sp>
      <p:pic>
        <p:nvPicPr>
          <p:cNvPr id="1026" name="Picture 2" descr="backtesting,price action backtesting">
            <a:extLst>
              <a:ext uri="{FF2B5EF4-FFF2-40B4-BE49-F238E27FC236}">
                <a16:creationId xmlns:a16="http://schemas.microsoft.com/office/drawing/2014/main" id="{669F9ED4-3E37-0843-8C29-7DD16DBEE2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3"/>
          <a:stretch/>
        </p:blipFill>
        <p:spPr bwMode="auto">
          <a:xfrm>
            <a:off x="1626282" y="2465761"/>
            <a:ext cx="5695055" cy="2677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580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92CDB1-30C0-804A-AF7F-07EB32A8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81C5A-3106-2745-823B-629D620F7AE8}"/>
              </a:ext>
            </a:extLst>
          </p:cNvPr>
          <p:cNvSpPr txBox="1"/>
          <p:nvPr/>
        </p:nvSpPr>
        <p:spPr>
          <a:xfrm>
            <a:off x="623400" y="1282615"/>
            <a:ext cx="8520600" cy="2389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Backtesting</a:t>
            </a:r>
            <a:endParaRPr lang="en-US" dirty="0"/>
          </a:p>
          <a:p>
            <a:pPr marL="285750" indent="-28575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Backtrader</a:t>
            </a:r>
            <a:endParaRPr lang="en-US" dirty="0"/>
          </a:p>
          <a:p>
            <a:pPr marL="285750" indent="-28575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PyAlgoTrade</a:t>
            </a:r>
            <a:endParaRPr lang="en-US" dirty="0"/>
          </a:p>
          <a:p>
            <a:pPr marL="285750" indent="-28575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bt</a:t>
            </a:r>
            <a:endParaRPr lang="en-US" dirty="0"/>
          </a:p>
          <a:p>
            <a:pPr marL="285750" indent="-28575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Zipline</a:t>
            </a:r>
          </a:p>
          <a:p>
            <a:pPr marL="285750" indent="-28575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QSTrader</a:t>
            </a:r>
            <a:endParaRPr lang="en-US" dirty="0"/>
          </a:p>
        </p:txBody>
      </p:sp>
      <p:pic>
        <p:nvPicPr>
          <p:cNvPr id="5122" name="Picture 2" descr="plot of trading simulation">
            <a:extLst>
              <a:ext uri="{FF2B5EF4-FFF2-40B4-BE49-F238E27FC236}">
                <a16:creationId xmlns:a16="http://schemas.microsoft.com/office/drawing/2014/main" id="{E46EAFD2-BFED-5841-AD2B-0DADA0DD0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820" y="1159877"/>
            <a:ext cx="3297639" cy="1982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1AA6AA4-DBD3-5247-9587-1BBB69D8F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9323" y="3142867"/>
            <a:ext cx="3224556" cy="163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F68F5A-17A9-6045-ACD3-DDF6DD9AD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804" y="1383504"/>
            <a:ext cx="2937850" cy="153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434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92CDB1-30C0-804A-AF7F-07EB32A8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Backtesting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905D17-9303-C747-B47B-9FDAF42F2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310"/>
            <a:ext cx="9144000" cy="4069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856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92CDB1-30C0-804A-AF7F-07EB32A8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Backtesting</a:t>
            </a:r>
            <a:r>
              <a:rPr lang="en-US" dirty="0"/>
              <a:t> – </a:t>
            </a:r>
            <a:r>
              <a:rPr lang="ru-RU" dirty="0"/>
              <a:t>отчет</a:t>
            </a:r>
            <a:endParaRPr lang="en-US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2C50810C-E0B0-4940-90A2-74D7938FC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301021"/>
              </p:ext>
            </p:extLst>
          </p:nvPr>
        </p:nvGraphicFramePr>
        <p:xfrm>
          <a:off x="554368" y="802474"/>
          <a:ext cx="8147774" cy="4358640"/>
        </p:xfrm>
        <a:graphic>
          <a:graphicData uri="http://schemas.openxmlformats.org/drawingml/2006/table">
            <a:tbl>
              <a:tblPr firstRow="1" bandRow="1">
                <a:tableStyleId>{9F59E00E-254B-42B5-9FED-D0DB1D54CBD8}</a:tableStyleId>
              </a:tblPr>
              <a:tblGrid>
                <a:gridCol w="4073887">
                  <a:extLst>
                    <a:ext uri="{9D8B030D-6E8A-4147-A177-3AD203B41FA5}">
                      <a16:colId xmlns:a16="http://schemas.microsoft.com/office/drawing/2014/main" val="1030442294"/>
                    </a:ext>
                  </a:extLst>
                </a:gridCol>
                <a:gridCol w="4073887">
                  <a:extLst>
                    <a:ext uri="{9D8B030D-6E8A-4147-A177-3AD203B41FA5}">
                      <a16:colId xmlns:a16="http://schemas.microsoft.com/office/drawing/2014/main" val="4176790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Start 2004-08-19 00:00:00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End 2013-03-01 00:00:00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Duration 3116 days 00:00:00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Exposure Time [%] 97.067039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Equity Final [$] 68221.96986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Equity Peak [$] 68991.21986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Return [%] 582.219699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Buy &amp; Hold Return [%] 703.458242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Return (Ann.) [%] 25.266427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Volatility (Ann.) [%] 38.383008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Sharpe Ratio 0.658271 </a:t>
                      </a:r>
                    </a:p>
                    <a:p>
                      <a:r>
                        <a:rPr lang="en-US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Sortino</a:t>
                      </a: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Ratio 1.288779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Calmar Ratio 0.763748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Max. Drawdown [%] -33.082172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Avg. Drawdown [%] -5.581506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Max. Drawdown Duration 688 days 00:00:00 Avg. Drawdown Duration 41 days 00:00:00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# Trades 94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Win Rate [%] 54.255319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Best Trade [%] 57.11931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Worst Trade [%] -16.629898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Avg. Trade [%] 2.074326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Max. Trade Duration 121 days 00:00:00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Avg. Trade Duration 33 days 00:00:00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Profit Factor 2.190805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Expectancy [%] 2.606294 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SQN 1.990216</a:t>
                      </a: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…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Начало: 2004-08-19 00:00:00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Конец: 2013-03-01 00:00:00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Продолжительность: 3116 дней 00:00:00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Время удержания позиции [%]: 97.067039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Конечная стоимость капитала [$]: 68221.96986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Пиковая стоимость капитала [$]: 68991.21986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Доходность [%]: 582.219699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Доходность при стратегии "Купи и держи" [%]: 703.458242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Годовая доходность [%]: 25.266427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Годовая волатильность [%]: 38.383008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Коэффициент Шарпа: 0.658271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Коэффициент </a:t>
                      </a:r>
                      <a:r>
                        <a:rPr lang="ru-RU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Сортино</a:t>
                      </a: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: 1.288779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Коэффициент </a:t>
                      </a:r>
                      <a:r>
                        <a:rPr lang="ru-RU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Калмара</a:t>
                      </a: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: 0.763748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Максимальная просадка [%]: -33.082172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Средняя просадка [%]: -5.581506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Максимальная длительность просадки: 688 дней 00:00:00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Средняя длительность просадки: 41 день 00:00:00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Количество сделок: 94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Процент выигрышных сделок [%]: 54.255319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Лучшая сделка [%]: 57.11931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Худшая сделка [%]: -16.629898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Средняя доходность сделки [%]: 2.074326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Максимальная длительность сделки: 121 день 00:00:00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Средняя длительность сделки: 33 дня 00:00:00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Фактор прибыли: 2.190805</a:t>
                      </a:r>
                      <a:br>
                        <a:rPr lang="ru-RU" sz="1000" dirty="0"/>
                      </a:b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Ожидаемая доходность [%]: 2.606294</a:t>
                      </a:r>
                      <a:br>
                        <a:rPr lang="ru-RU" sz="1000" dirty="0"/>
                      </a:b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SQN (</a:t>
                      </a: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Качество системы): 1.990216</a:t>
                      </a:r>
                      <a:endParaRPr 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…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43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9768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92CDB1-30C0-804A-AF7F-07EB32A8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Backtreder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968D060-3FD5-9942-AE6B-30C454DF1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50" y="790440"/>
            <a:ext cx="8569807" cy="4353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8221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92CDB1-30C0-804A-AF7F-07EB32A8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PyAlgoTrade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336159-F1D6-E445-ADB7-C96ED561A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97" y="822346"/>
            <a:ext cx="8162093" cy="426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245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92CDB1-30C0-804A-AF7F-07EB32A8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bt</a:t>
            </a:r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CB7B44A-0300-7D4B-91C6-A50000353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50424"/>
            <a:ext cx="9144000" cy="304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269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45341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Практическая реализация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466" name="Google Shape;466;p86"/>
          <p:cNvGraphicFramePr/>
          <p:nvPr>
            <p:extLst>
              <p:ext uri="{D42A27DB-BD31-4B8C-83A1-F6EECF244321}">
                <p14:modId xmlns:p14="http://schemas.microsoft.com/office/powerpoint/2010/main" val="714175356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{9F59E00E-254B-42B5-9FED-D0DB1D54CBD8}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Научимся тестировать стратегии в автоматическом режиме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Рассмотрим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Backtesting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85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457" name="Google Shape;457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85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 в чат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9" name="Google Shape;459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85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Ключевые тезисы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" name="Google Shape;389;p75">
            <a:extLst>
              <a:ext uri="{FF2B5EF4-FFF2-40B4-BE49-F238E27FC236}">
                <a16:creationId xmlns:a16="http://schemas.microsoft.com/office/drawing/2014/main" id="{EE71290E-F42D-6247-8F96-FFA1EE92CB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6037739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{9F59E00E-254B-42B5-9FED-D0DB1D54CBD8}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зачем необходимо тестирование стратегий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какие основные инструменты для этого есть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Попробовали использовать один из них –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Backtesting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840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46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93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/>
              <a:t>Знакомство с </a:t>
            </a:r>
            <a:br>
              <a:rPr lang="ru" sz="4000" dirty="0"/>
            </a:br>
            <a:r>
              <a:rPr lang="ru" sz="4000" dirty="0"/>
              <a:t>программой курса</a:t>
            </a:r>
            <a:endParaRPr sz="40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193103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1.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Введение в </a:t>
            </a:r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ML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827113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2.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Технический анализ финансовых рынков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074342" y="2920270"/>
            <a:ext cx="3229663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4.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Продвинутые нейросети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827113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3.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Глубокое обучение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19"/>
            <a:ext cx="857995" cy="767493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92640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5.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Перенос модели в облачную среду</a:t>
            </a: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2116763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2116763"/>
            <a:ext cx="12700" cy="109315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 flipV="1">
            <a:off x="3714006" y="3209919"/>
            <a:ext cx="1360337" cy="6137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05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7. </a:t>
            </a:r>
            <a:r>
              <a:rPr lang="ru-RU" sz="105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Финальный проект и практическое применение</a:t>
            </a:r>
            <a:endParaRPr sz="1050" b="0" i="0" u="none" strike="noStrike" cap="none" dirty="0">
              <a:solidFill>
                <a:schemeClr val="dk1"/>
              </a:solidFill>
              <a:latin typeface="+mn-lt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34" idx="1"/>
            <a:endCxn id="185" idx="2"/>
          </p:cNvCxnSpPr>
          <p:nvPr/>
        </p:nvCxnSpPr>
        <p:spPr>
          <a:xfrm rot="10800000">
            <a:off x="2184006" y="3505707"/>
            <a:ext cx="857995" cy="1018708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401266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401267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39521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39521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50570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50570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50570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50570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/>
          <a:srcRect l="18187" r="18187"/>
          <a:stretch/>
        </p:blipFill>
        <p:spPr>
          <a:xfrm>
            <a:off x="3165384" y="8783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61508" y="303075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3" name="Google Shape;225;p40">
            <a:extLst>
              <a:ext uri="{FF2B5EF4-FFF2-40B4-BE49-F238E27FC236}">
                <a16:creationId xmlns:a16="http://schemas.microsoft.com/office/drawing/2014/main" id="{67D6B569-9B1F-6D43-841D-442FF92691E3}"/>
              </a:ext>
            </a:extLst>
          </p:cNvPr>
          <p:cNvPicPr preferRelativeResize="0"/>
          <p:nvPr/>
        </p:nvPicPr>
        <p:blipFill>
          <a:blip r:embed="rId6"/>
          <a:srcRect t="2849" b="2849"/>
          <a:stretch/>
        </p:blipFill>
        <p:spPr>
          <a:xfrm>
            <a:off x="5379110" y="193372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7"/>
          <a:srcRect t="2849" b="2849"/>
          <a:stretch/>
        </p:blipFill>
        <p:spPr>
          <a:xfrm>
            <a:off x="5169145" y="303075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8"/>
          <a:srcRect t="2849" b="2849"/>
          <a:stretch/>
        </p:blipFill>
        <p:spPr>
          <a:xfrm>
            <a:off x="787457" y="193372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720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Введение в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ML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200" dirty="0" err="1">
                <a:solidFill>
                  <a:srgbClr val="1F1F1F"/>
                </a:solidFill>
                <a:latin typeface="+mn-lt"/>
                <a:sym typeface="Roboto"/>
              </a:rPr>
              <a:t>Numpy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 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и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 Pandas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797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Графики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, </a:t>
            </a:r>
            <a:r>
              <a:rPr lang="en-US" sz="1200" dirty="0" err="1">
                <a:solidFill>
                  <a:srgbClr val="1F1F1F"/>
                </a:solidFill>
                <a:latin typeface="+mn-lt"/>
                <a:sym typeface="Roboto"/>
              </a:rPr>
              <a:t>mplfinance</a:t>
            </a:r>
            <a:endParaRPr lang="ru-RU"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9039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EDA: 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сбор и очистка данных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409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Вспоминаем статистику, случайные величины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2276" y="2021532"/>
            <a:ext cx="912251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392099" y="2281709"/>
            <a:ext cx="1418213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146314" y="2527494"/>
            <a:ext cx="1924175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9158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Большие данные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893333" y="2780475"/>
            <a:ext cx="2430137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oogle Shape;225;p40">
            <a:extLst>
              <a:ext uri="{FF2B5EF4-FFF2-40B4-BE49-F238E27FC236}">
                <a16:creationId xmlns:a16="http://schemas.microsoft.com/office/drawing/2014/main" id="{81ED1289-B687-F04C-ACCE-E6C6681EFFC3}"/>
              </a:ext>
            </a:extLst>
          </p:cNvPr>
          <p:cNvPicPr preferRelativeResize="0"/>
          <p:nvPr/>
        </p:nvPicPr>
        <p:blipFill>
          <a:blip r:embed="rId3"/>
          <a:srcRect l="18187" r="18187"/>
          <a:stretch/>
        </p:blipFill>
        <p:spPr>
          <a:xfrm>
            <a:off x="612428" y="1196068"/>
            <a:ext cx="419930" cy="396001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729BB019-C6C6-024F-B93E-27A337C996C0}"/>
              </a:ext>
            </a:extLst>
          </p:cNvPr>
          <p:cNvSpPr/>
          <p:nvPr/>
        </p:nvSpPr>
        <p:spPr>
          <a:xfrm>
            <a:off x="2226713" y="4416776"/>
            <a:ext cx="5355965" cy="396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D966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…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graphicFrame>
        <p:nvGraphicFramePr>
          <p:cNvPr id="22" name="Table 23">
            <a:extLst>
              <a:ext uri="{FF2B5EF4-FFF2-40B4-BE49-F238E27FC236}">
                <a16:creationId xmlns:a16="http://schemas.microsoft.com/office/drawing/2014/main" id="{3DC0A0B1-54E3-F244-BD6D-3259F3B16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625483"/>
              </p:ext>
            </p:extLst>
          </p:nvPr>
        </p:nvGraphicFramePr>
        <p:xfrm>
          <a:off x="5673898" y="573874"/>
          <a:ext cx="190878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Введение в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ML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797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Основы машинного обучения, основные задачи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9039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Обратное тестирование торговых стратегий</a:t>
            </a: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409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Временные ряды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2276" y="2021532"/>
            <a:ext cx="912251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392099" y="2281709"/>
            <a:ext cx="1418213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146314" y="2527494"/>
            <a:ext cx="1924175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016871"/>
              </p:ext>
            </p:extLst>
          </p:nvPr>
        </p:nvGraphicFramePr>
        <p:xfrm>
          <a:off x="5673898" y="573874"/>
          <a:ext cx="190878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9158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Задача регрессии в деталях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893333" y="2780475"/>
            <a:ext cx="2430137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oogle Shape;225;p40">
            <a:extLst>
              <a:ext uri="{FF2B5EF4-FFF2-40B4-BE49-F238E27FC236}">
                <a16:creationId xmlns:a16="http://schemas.microsoft.com/office/drawing/2014/main" id="{81ED1289-B687-F04C-ACCE-E6C6681EFFC3}"/>
              </a:ext>
            </a:extLst>
          </p:cNvPr>
          <p:cNvPicPr preferRelativeResize="0"/>
          <p:nvPr/>
        </p:nvPicPr>
        <p:blipFill>
          <a:blip r:embed="rId3"/>
          <a:srcRect l="18187" r="18187"/>
          <a:stretch/>
        </p:blipFill>
        <p:spPr>
          <a:xfrm>
            <a:off x="612428" y="1196068"/>
            <a:ext cx="419930" cy="396001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729BB019-C6C6-024F-B93E-27A337C996C0}"/>
              </a:ext>
            </a:extLst>
          </p:cNvPr>
          <p:cNvSpPr/>
          <p:nvPr/>
        </p:nvSpPr>
        <p:spPr>
          <a:xfrm>
            <a:off x="2226713" y="1886863"/>
            <a:ext cx="5355965" cy="396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bg1"/>
              </a:gs>
              <a:gs pos="100000">
                <a:srgbClr val="FFD966"/>
              </a:gs>
            </a:gsLst>
            <a:lin ang="5400000" scaled="1"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…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437255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Технический анализ финансовых рынков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Введение в технический анализ: графики, индикаторы и паттерны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797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Торговая стратегия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9039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Корреляции признаков,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PCA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409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Оценка важности признаков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2276" y="2021532"/>
            <a:ext cx="912251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392099" y="2281709"/>
            <a:ext cx="1418213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146314" y="2527494"/>
            <a:ext cx="1924175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9158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Ансамбли моделей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893333" y="2780475"/>
            <a:ext cx="2430137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oogle Shape;225;p40">
            <a:extLst>
              <a:ext uri="{FF2B5EF4-FFF2-40B4-BE49-F238E27FC236}">
                <a16:creationId xmlns:a16="http://schemas.microsoft.com/office/drawing/2014/main" id="{459B96E0-370F-2F4D-9DE2-3AC8A96E4A9D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625735" y="1205170"/>
            <a:ext cx="419930" cy="396001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BC1FF1BA-B74F-8C4C-BD18-27A8E47EF9D5}"/>
              </a:ext>
            </a:extLst>
          </p:cNvPr>
          <p:cNvSpPr/>
          <p:nvPr/>
        </p:nvSpPr>
        <p:spPr>
          <a:xfrm>
            <a:off x="2226713" y="442181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Портфельная стратегия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4FE9ED47-DB1E-DF41-B2D9-AD0B746BDB34}"/>
              </a:ext>
            </a:extLst>
          </p:cNvPr>
          <p:cNvCxnSpPr>
            <a:cxnSpLocks/>
            <a:stCxn id="271" idx="2"/>
            <a:endCxn id="21" idx="1"/>
          </p:cNvCxnSpPr>
          <p:nvPr/>
        </p:nvCxnSpPr>
        <p:spPr>
          <a:xfrm rot="16200000" flipH="1">
            <a:off x="640352" y="3033456"/>
            <a:ext cx="293609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0C64ECD-0072-C246-89E7-BF44660F3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089113"/>
              </p:ext>
            </p:extLst>
          </p:nvPr>
        </p:nvGraphicFramePr>
        <p:xfrm>
          <a:off x="5673898" y="573874"/>
          <a:ext cx="190878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60868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Глубокое обучение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Основы нейронных сетей. </a:t>
            </a:r>
            <a:r>
              <a:rPr lang="ru-RU" sz="1200" dirty="0" err="1">
                <a:solidFill>
                  <a:srgbClr val="1F1F1F"/>
                </a:solidFill>
                <a:latin typeface="+mn-lt"/>
                <a:sym typeface="Roboto"/>
              </a:rPr>
              <a:t>Полносвязные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 сети.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797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Глубокие сети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9039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 err="1">
                <a:solidFill>
                  <a:srgbClr val="1F1F1F"/>
                </a:solidFill>
                <a:latin typeface="+mn-lt"/>
                <a:sym typeface="Roboto"/>
              </a:rPr>
              <a:t>Сверточные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 сети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409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 err="1">
                <a:solidFill>
                  <a:srgbClr val="1F1F1F"/>
                </a:solidFill>
                <a:latin typeface="+mn-lt"/>
                <a:sym typeface="Roboto"/>
              </a:rPr>
              <a:t>Рекурентные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 сети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2276" y="2021532"/>
            <a:ext cx="912251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392099" y="2281709"/>
            <a:ext cx="1418213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146314" y="2527494"/>
            <a:ext cx="1924175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9158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Модель </a:t>
            </a:r>
            <a:r>
              <a:rPr lang="ru-RU" sz="1200" dirty="0" err="1">
                <a:solidFill>
                  <a:srgbClr val="1F1F1F"/>
                </a:solidFill>
                <a:latin typeface="+mn-lt"/>
                <a:sym typeface="Roboto"/>
              </a:rPr>
              <a:t>трансформера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893333" y="2780475"/>
            <a:ext cx="2430137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oogle Shape;225;p40">
            <a:extLst>
              <a:ext uri="{FF2B5EF4-FFF2-40B4-BE49-F238E27FC236}">
                <a16:creationId xmlns:a16="http://schemas.microsoft.com/office/drawing/2014/main" id="{D3188FC7-BF31-944E-B056-08D2A4A16B5A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598455" y="1223612"/>
            <a:ext cx="419930" cy="396001"/>
          </a:xfrm>
          <a:prstGeom prst="ellipse">
            <a:avLst/>
          </a:prstGeom>
          <a:noFill/>
          <a:ln>
            <a:noFill/>
          </a:ln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3319D23-8F4D-AC44-8653-742D41FF3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51189"/>
              </p:ext>
            </p:extLst>
          </p:nvPr>
        </p:nvGraphicFramePr>
        <p:xfrm>
          <a:off x="5673898" y="573874"/>
          <a:ext cx="190878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0939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Продвинутые нейросети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LLM, BERT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797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Оценка тональности новостей. Предобученные модели.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90393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RL, 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фреймворк </a:t>
            </a:r>
            <a:r>
              <a:rPr lang="en-US" sz="1200" dirty="0" err="1">
                <a:solidFill>
                  <a:srgbClr val="1F1F1F"/>
                </a:solidFill>
                <a:latin typeface="+mn-lt"/>
                <a:sym typeface="Roboto"/>
              </a:rPr>
              <a:t>FinRL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409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Применение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RL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 в </a:t>
            </a:r>
            <a:r>
              <a:rPr lang="ru-RU" sz="1200" dirty="0" err="1">
                <a:solidFill>
                  <a:srgbClr val="1F1F1F"/>
                </a:solidFill>
                <a:latin typeface="+mn-lt"/>
                <a:sym typeface="Roboto"/>
              </a:rPr>
              <a:t>ансаамблях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2276" y="2021532"/>
            <a:ext cx="912251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392099" y="2281709"/>
            <a:ext cx="1418213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146314" y="2527494"/>
            <a:ext cx="1924175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91585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Построение финального ансамбля. Подбор гиперпараметров.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893333" y="2780475"/>
            <a:ext cx="2430137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oogle Shape;225;p40">
            <a:extLst>
              <a:ext uri="{FF2B5EF4-FFF2-40B4-BE49-F238E27FC236}">
                <a16:creationId xmlns:a16="http://schemas.microsoft.com/office/drawing/2014/main" id="{D3188FC7-BF31-944E-B056-08D2A4A16B5A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598455" y="1223612"/>
            <a:ext cx="419930" cy="396001"/>
          </a:xfrm>
          <a:prstGeom prst="ellipse">
            <a:avLst/>
          </a:prstGeom>
          <a:noFill/>
          <a:ln>
            <a:noFill/>
          </a:ln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8626EB2-6723-4E4B-BA7B-511DEFCB7A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199666"/>
              </p:ext>
            </p:extLst>
          </p:nvPr>
        </p:nvGraphicFramePr>
        <p:xfrm>
          <a:off x="5673898" y="573874"/>
          <a:ext cx="190878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7981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Перенос модели в облачную среду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Основные торговые площадки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4664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Облачная инфраструктура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12321" y="280127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Построение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API 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для модели.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FastAPI.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25591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Docker. 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Упаковка модели в контейнер. Подготовка к развертыванию.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77939" y="1995869"/>
            <a:ext cx="860924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443426" y="2230382"/>
            <a:ext cx="1315559" cy="22223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223304" y="2450504"/>
            <a:ext cx="1770194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271;p44">
            <a:extLst>
              <a:ext uri="{FF2B5EF4-FFF2-40B4-BE49-F238E27FC236}">
                <a16:creationId xmlns:a16="http://schemas.microsoft.com/office/drawing/2014/main" id="{D77AA650-7B6A-2E4F-A234-07C44F1AF1CD}"/>
              </a:ext>
            </a:extLst>
          </p:cNvPr>
          <p:cNvSpPr/>
          <p:nvPr/>
        </p:nvSpPr>
        <p:spPr>
          <a:xfrm>
            <a:off x="2226713" y="371054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Мониторинг состояния модели.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Prometheus + Grafana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4E4FCD50-FA53-BF4C-9AB8-F81862AA8721}"/>
              </a:ext>
            </a:extLst>
          </p:cNvPr>
          <p:cNvCxnSpPr>
            <a:cxnSpLocks/>
            <a:stCxn id="271" idx="2"/>
            <a:endCxn id="18" idx="1"/>
          </p:cNvCxnSpPr>
          <p:nvPr/>
        </p:nvCxnSpPr>
        <p:spPr>
          <a:xfrm rot="16200000" flipH="1">
            <a:off x="995987" y="2677821"/>
            <a:ext cx="222482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oogle Shape;225;p40">
            <a:extLst>
              <a:ext uri="{FF2B5EF4-FFF2-40B4-BE49-F238E27FC236}">
                <a16:creationId xmlns:a16="http://schemas.microsoft.com/office/drawing/2014/main" id="{BEE14A57-FDBB-024C-84B5-C5C5EFF33A19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595812" y="1196068"/>
            <a:ext cx="419930" cy="396001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3E6E6AD8-58FC-6B48-9349-434CBD7A30D1}"/>
              </a:ext>
            </a:extLst>
          </p:cNvPr>
          <p:cNvSpPr/>
          <p:nvPr/>
        </p:nvSpPr>
        <p:spPr>
          <a:xfrm>
            <a:off x="2226713" y="416518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Развертывание. 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Docker compose.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68A5FCC2-2FDC-E74F-A06C-2B6A9BC99DE2}"/>
              </a:ext>
            </a:extLst>
          </p:cNvPr>
          <p:cNvSpPr/>
          <p:nvPr/>
        </p:nvSpPr>
        <p:spPr>
          <a:xfrm>
            <a:off x="2226713" y="461981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Автоматизация. </a:t>
            </a:r>
            <a:r>
              <a:rPr lang="en-US" sz="1200" dirty="0" err="1">
                <a:solidFill>
                  <a:srgbClr val="1F1F1F"/>
                </a:solidFill>
                <a:latin typeface="+mn-lt"/>
                <a:sym typeface="Roboto"/>
              </a:rPr>
              <a:t>MLFlow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, </a:t>
            </a:r>
            <a:r>
              <a:rPr lang="en-US" sz="1200" dirty="0" err="1">
                <a:solidFill>
                  <a:srgbClr val="1F1F1F"/>
                </a:solidFill>
                <a:latin typeface="+mn-lt"/>
                <a:sym typeface="Roboto"/>
              </a:rPr>
              <a:t>AirFlow</a:t>
            </a:r>
            <a:r>
              <a:rPr lang="en-US" sz="1200" dirty="0">
                <a:solidFill>
                  <a:srgbClr val="1F1F1F"/>
                </a:solidFill>
                <a:latin typeface="+mn-lt"/>
                <a:sym typeface="Roboto"/>
              </a:rPr>
              <a:t> </a:t>
            </a:r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и контроль метрик обучения.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211BBC0F-59C7-354D-8F68-3218E902DE2E}"/>
              </a:ext>
            </a:extLst>
          </p:cNvPr>
          <p:cNvCxnSpPr>
            <a:cxnSpLocks/>
            <a:stCxn id="271" idx="2"/>
            <a:endCxn id="21" idx="1"/>
          </p:cNvCxnSpPr>
          <p:nvPr/>
        </p:nvCxnSpPr>
        <p:spPr>
          <a:xfrm rot="16200000" flipH="1">
            <a:off x="768669" y="2905139"/>
            <a:ext cx="2679464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BDCCE74C-34F8-8349-9D23-816B5D9111C1}"/>
              </a:ext>
            </a:extLst>
          </p:cNvPr>
          <p:cNvCxnSpPr>
            <a:cxnSpLocks/>
            <a:stCxn id="271" idx="2"/>
            <a:endCxn id="22" idx="1"/>
          </p:cNvCxnSpPr>
          <p:nvPr/>
        </p:nvCxnSpPr>
        <p:spPr>
          <a:xfrm rot="16200000" flipH="1">
            <a:off x="541352" y="3132456"/>
            <a:ext cx="3134098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2B7DD74-C1C4-B84E-A639-B50F77EB6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071165"/>
              </p:ext>
            </p:extLst>
          </p:nvPr>
        </p:nvGraphicFramePr>
        <p:xfrm>
          <a:off x="5673898" y="573874"/>
          <a:ext cx="190878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08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7908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44500"/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Финальный проект и практическое применение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Постановка задачи. Особенности выполнения.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5295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Консультация</a:t>
            </a: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2" y="30138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+mn-lt"/>
                <a:sym typeface="Roboto"/>
              </a:rPr>
              <a:t>Презентация и защита проекта</a:t>
            </a:r>
            <a:endParaRPr sz="120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05257" y="1768551"/>
            <a:ext cx="406289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24785" y="2049023"/>
            <a:ext cx="967232" cy="2366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344314" y="2329495"/>
            <a:ext cx="1528175" cy="23662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oogle Shape;225;p40">
            <a:extLst>
              <a:ext uri="{FF2B5EF4-FFF2-40B4-BE49-F238E27FC236}">
                <a16:creationId xmlns:a16="http://schemas.microsoft.com/office/drawing/2014/main" id="{7CE6CEA7-ECB7-B942-AF7F-04849C42950A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551059" y="1196068"/>
            <a:ext cx="419930" cy="396001"/>
          </a:xfrm>
          <a:prstGeom prst="ellipse">
            <a:avLst/>
          </a:prstGeom>
          <a:noFill/>
          <a:ln>
            <a:noFill/>
          </a:ln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4F64ACD-AA9E-384A-8801-19C3C96661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319896"/>
              </p:ext>
            </p:extLst>
          </p:nvPr>
        </p:nvGraphicFramePr>
        <p:xfrm>
          <a:off x="5673898" y="573874"/>
          <a:ext cx="1908780" cy="304800"/>
        </p:xfrm>
        <a:graphic>
          <a:graphicData uri="http://schemas.openxmlformats.org/drawingml/2006/table">
            <a:tbl>
              <a:tblPr firstRow="1" bandRow="1"/>
              <a:tblGrid>
                <a:gridCol w="318130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277746667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54781870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8130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75584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3A5F98-F024-0E46-989B-34E1B04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17"/>
            <a:ext cx="9143999" cy="5135483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625222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94"/>
          <p:cNvSpPr/>
          <p:nvPr/>
        </p:nvSpPr>
        <p:spPr>
          <a:xfrm>
            <a:off x="1052550" y="1264075"/>
            <a:ext cx="3426900" cy="77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94"/>
          <p:cNvSpPr/>
          <p:nvPr/>
        </p:nvSpPr>
        <p:spPr>
          <a:xfrm>
            <a:off x="1052550" y="2237575"/>
            <a:ext cx="3426900" cy="993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94"/>
          <p:cNvSpPr/>
          <p:nvPr/>
        </p:nvSpPr>
        <p:spPr>
          <a:xfrm>
            <a:off x="1052550" y="3425275"/>
            <a:ext cx="3426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94"/>
          <p:cNvSpPr/>
          <p:nvPr/>
        </p:nvSpPr>
        <p:spPr>
          <a:xfrm>
            <a:off x="4673550" y="1264075"/>
            <a:ext cx="3417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94"/>
          <p:cNvSpPr/>
          <p:nvPr/>
        </p:nvSpPr>
        <p:spPr>
          <a:xfrm>
            <a:off x="4673550" y="2579575"/>
            <a:ext cx="3417900" cy="848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94"/>
          <p:cNvSpPr/>
          <p:nvPr/>
        </p:nvSpPr>
        <p:spPr>
          <a:xfrm>
            <a:off x="4673550" y="3607675"/>
            <a:ext cx="3417900" cy="951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2" name="Google Shape;522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79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94"/>
          <p:cNvSpPr txBox="1"/>
          <p:nvPr/>
        </p:nvSpPr>
        <p:spPr>
          <a:xfrm>
            <a:off x="1763275" y="1326125"/>
            <a:ext cx="25296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Обучение выстроено в формате вебинаров (онлайн). Онлайн-вебинары проводятся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вечерам или в выходные дни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4" name="Google Shape;524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900" y="24404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94"/>
          <p:cNvSpPr txBox="1"/>
          <p:nvPr/>
        </p:nvSpPr>
        <p:spPr>
          <a:xfrm>
            <a:off x="1763275" y="2305525"/>
            <a:ext cx="2626500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Все записи занятий и материалы, предоставляемые преподавателями, сохраняются в личном кабинете и остаются доступны даже после окончания обучения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6" name="Google Shape;526;p9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37900" y="36322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94"/>
          <p:cNvSpPr txBox="1"/>
          <p:nvPr/>
        </p:nvSpPr>
        <p:spPr>
          <a:xfrm>
            <a:off x="1763275" y="3495075"/>
            <a:ext cx="2493300" cy="10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 позволят Вам применить на практике полученные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 время вебинаров знания.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каждому домашнему заданию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преподаватель дает развернутый фидбек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8" name="Google Shape;528;p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31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94"/>
          <p:cNvSpPr txBox="1"/>
          <p:nvPr/>
        </p:nvSpPr>
        <p:spPr>
          <a:xfrm>
            <a:off x="5378475" y="1326125"/>
            <a:ext cx="24933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процессе обучения Вы можете задавать преподавателю вопросы по материалам лекций и домашних заданий, уточнять моменты, которые были непонятны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уроке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0" name="Google Shape;530;p9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3100" y="2743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94"/>
          <p:cNvSpPr txBox="1"/>
          <p:nvPr/>
        </p:nvSpPr>
        <p:spPr>
          <a:xfrm>
            <a:off x="5378475" y="2647825"/>
            <a:ext cx="26265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Время на обучение: от 4 ак. часов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занятия и 4-8 часов на домашнюю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работу в неделю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2" name="Google Shape;532;p9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53100" y="3760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94"/>
          <p:cNvSpPr txBox="1"/>
          <p:nvPr/>
        </p:nvSpPr>
        <p:spPr>
          <a:xfrm>
            <a:off x="5378475" y="3664825"/>
            <a:ext cx="2529600" cy="8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Программа обучения на курсах обновляется каждый запуск в зависимости от актуальных запросов в сфере IТ-технологий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94"/>
          <p:cNvSpPr txBox="1"/>
          <p:nvPr/>
        </p:nvSpPr>
        <p:spPr>
          <a:xfrm>
            <a:off x="500550" y="336745"/>
            <a:ext cx="8307600" cy="1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 dirty="0">
                <a:latin typeface="Roboto"/>
                <a:ea typeface="Roboto"/>
                <a:cs typeface="Roboto"/>
                <a:sym typeface="Roboto"/>
              </a:rPr>
              <a:t>Процесс обучения</a:t>
            </a:r>
            <a:endParaRPr sz="3100"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08"/>
          <p:cNvSpPr txBox="1">
            <a:spLocks noGrp="1"/>
          </p:cNvSpPr>
          <p:nvPr>
            <p:ph type="title"/>
          </p:nvPr>
        </p:nvSpPr>
        <p:spPr>
          <a:xfrm>
            <a:off x="956225" y="777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0"/>
              <a:t>Заполните, пожалуйста,</a:t>
            </a:r>
            <a:endParaRPr sz="35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/>
              <a:t>опрос</a:t>
            </a:r>
            <a:r>
              <a:rPr lang="ru" sz="3500" b="0"/>
              <a:t> о занятии</a:t>
            </a:r>
            <a:endParaRPr sz="35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i="1" u="sng">
                <a:solidFill>
                  <a:schemeClr val="accent6"/>
                </a:solidFill>
              </a:rPr>
              <a:t>Важно! Пройти опрос могут только залогиненные пользователи платформы OTUS</a:t>
            </a:r>
            <a:r>
              <a:rPr lang="ru" sz="1800" i="1" u="sng">
                <a:solidFill>
                  <a:srgbClr val="E06666"/>
                </a:solidFill>
              </a:rPr>
              <a:t> </a:t>
            </a: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ru"/>
              <a:t>Спасибо за внимание!</a:t>
            </a:r>
            <a:endParaRPr/>
          </a:p>
        </p:txBody>
      </p:sp>
      <p:pic>
        <p:nvPicPr>
          <p:cNvPr id="643" name="Google Shape;64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775" y="2131625"/>
            <a:ext cx="2392300" cy="23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13020</TotalTime>
  <Words>1241</Words>
  <Application>Microsoft Macintosh PowerPoint</Application>
  <PresentationFormat>On-screen Show (16:9)</PresentationFormat>
  <Paragraphs>260</Paragraphs>
  <Slides>34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Courier New</vt:lpstr>
      <vt:lpstr>Roboto</vt:lpstr>
      <vt:lpstr>Apple Chancery</vt:lpstr>
      <vt:lpstr>Светлая тема</vt:lpstr>
      <vt:lpstr>Светлая тема</vt:lpstr>
      <vt:lpstr>ML для финансового анализа Тестирование стратегий</vt:lpstr>
      <vt:lpstr>PowerPoint Presentation</vt:lpstr>
      <vt:lpstr>ML для финансового анализа Тестирование стратегий</vt:lpstr>
      <vt:lpstr>Правила вебинара</vt:lpstr>
      <vt:lpstr>Маршрут вебинара</vt:lpstr>
      <vt:lpstr>Расскажите о себе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Тестирование стратегий</vt:lpstr>
      <vt:lpstr>Тестирование стратегий</vt:lpstr>
      <vt:lpstr>Инструменты</vt:lpstr>
      <vt:lpstr>Backtesting</vt:lpstr>
      <vt:lpstr>Backtesting – отчет</vt:lpstr>
      <vt:lpstr>Backtreder</vt:lpstr>
      <vt:lpstr>PyAlgoTrade</vt:lpstr>
      <vt:lpstr>bt</vt:lpstr>
      <vt:lpstr>Практика</vt:lpstr>
      <vt:lpstr>Практическая реализация </vt:lpstr>
      <vt:lpstr>Вопросы?</vt:lpstr>
      <vt:lpstr>Ключевые тезисы  </vt:lpstr>
      <vt:lpstr>Знакомство с  программой курса</vt:lpstr>
      <vt:lpstr>Карта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PowerPoint Presentation</vt:lpstr>
      <vt:lpstr>PowerPoint Presentation</vt:lpstr>
      <vt:lpstr>Заполните, пожалуйста, опрос о занятии Важно! Пройти опрос могут только залогиненные пользователи платформы OTUS       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для преподавателя (маршрут демо-занятия)</dc:title>
  <cp:lastModifiedBy>Стурейко Игорь Олегович</cp:lastModifiedBy>
  <cp:revision>120</cp:revision>
  <dcterms:modified xsi:type="dcterms:W3CDTF">2025-04-28T16:29:29Z</dcterms:modified>
</cp:coreProperties>
</file>