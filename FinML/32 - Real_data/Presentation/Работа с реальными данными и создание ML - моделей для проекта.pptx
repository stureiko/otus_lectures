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404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7" r:id="rId18"/>
    <p:sldId id="278" r:id="rId19"/>
    <p:sldId id="304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Trebuchet MS" panose="020B0703020202090204" pitchFamily="34" charset="0"/>
      <p:regular r:id="rId26"/>
      <p:bold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PYpIEd0dJePW5dEB9Z++1uruG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0EB961-79C1-4C73-A6D6-1B561CECD990}">
  <a:tblStyle styleId="{BD0EB961-79C1-4C73-A6D6-1B561CECD99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CC8CC3A-E459-4CBE-A112-A7EF1DD067E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681"/>
  </p:normalViewPr>
  <p:slideViewPr>
    <p:cSldViewPr snapToGrid="0">
      <p:cViewPr varScale="1">
        <p:scale>
          <a:sx n="280" d="100"/>
          <a:sy n="280" d="100"/>
        </p:scale>
        <p:origin x="1088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218ce8da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2f218ce8da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218ce8da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2f218ce8da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2b7367f9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f2b7367f9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2dd1093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g2f2dd1093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214a253b2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2f214a253b2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bfadb3bf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1bfadb3bf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bfadb3bf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g31bfadb3bf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2dd10932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2f2dd10932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f214a253b2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2f214a253b2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218ce8da5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f218ce8da5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214a253b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2f214a253b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9"/>
          <p:cNvPicPr preferRelativeResize="0"/>
          <p:nvPr/>
        </p:nvPicPr>
        <p:blipFill rotWithShape="1">
          <a:blip r:embed="rId2">
            <a:alphaModFix/>
          </a:blip>
          <a:srcRect l="98" r="97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9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0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" name="Google Shape;27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>
            <a:spLocks noGrp="1"/>
          </p:cNvSpPr>
          <p:nvPr>
            <p:ph type="body" idx="1"/>
          </p:nvPr>
        </p:nvSpPr>
        <p:spPr>
          <a:xfrm>
            <a:off x="165100" y="736482"/>
            <a:ext cx="8578850" cy="391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2400"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2400"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8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800"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800"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800"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800"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800"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ftr" idx="11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title"/>
          </p:nvPr>
        </p:nvSpPr>
        <p:spPr>
          <a:xfrm>
            <a:off x="165100" y="185639"/>
            <a:ext cx="3225800" cy="36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400">
                <a:solidFill>
                  <a:srgbClr val="0230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5"/>
          <p:cNvSpPr/>
          <p:nvPr/>
        </p:nvSpPr>
        <p:spPr>
          <a:xfrm>
            <a:off x="203200" y="4387850"/>
            <a:ext cx="1676400" cy="5524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5"/>
          <p:cNvSpPr txBox="1">
            <a:spLocks noGrp="1"/>
          </p:cNvSpPr>
          <p:nvPr>
            <p:ph type="sldNum" idx="12"/>
          </p:nvPr>
        </p:nvSpPr>
        <p:spPr>
          <a:xfrm>
            <a:off x="8649222" y="4665946"/>
            <a:ext cx="498446" cy="48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5" name="Google Shape;55;p4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954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38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@AzzraelCode" TargetMode="External"/><Relationship Id="rId3" Type="http://schemas.openxmlformats.org/officeDocument/2006/relationships/hyperlink" Target="https://www.youtube.com/playlist?list=PLWVnIRD69wY6j5QvOSU2K_I3NSLnFYiZY" TargetMode="External"/><Relationship Id="rId7" Type="http://schemas.openxmlformats.org/officeDocument/2006/relationships/hyperlink" Target="https://www.youtube.com/live/UKMH6bBN8N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ub.docker.com/r/hithats/python3.12-talib" TargetMode="External"/><Relationship Id="rId5" Type="http://schemas.openxmlformats.org/officeDocument/2006/relationships/hyperlink" Target="https://github.com/HuobiRDCenter/huobi_Python" TargetMode="External"/><Relationship Id="rId4" Type="http://schemas.openxmlformats.org/officeDocument/2006/relationships/hyperlink" Target="https://github.com/Tinkoff/invest-python/tree/main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err="1"/>
              <a:t>otus.ru</a:t>
            </a:r>
            <a:endParaRPr dirty="0"/>
          </a:p>
        </p:txBody>
      </p:sp>
      <p:sp>
        <p:nvSpPr>
          <p:cNvPr id="63" name="Google Shape;63;p1"/>
          <p:cNvSpPr txBox="1">
            <a:spLocks noGrp="1"/>
          </p:cNvSpPr>
          <p:nvPr>
            <p:ph type="title"/>
          </p:nvPr>
        </p:nvSpPr>
        <p:spPr>
          <a:xfrm>
            <a:off x="944650" y="1471328"/>
            <a:ext cx="7839132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 dirty="0"/>
              <a:t>ML для финансового анализа</a:t>
            </a:r>
            <a:br>
              <a:rPr lang="ru-RU" sz="2000" dirty="0"/>
            </a:br>
            <a:br>
              <a:rPr lang="ru-RU" sz="2000" dirty="0"/>
            </a:br>
            <a:r>
              <a:rPr lang="ru-RU" sz="1800" b="0" dirty="0"/>
              <a:t>Работа с реальными данными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69" name="Google Shape;69;p2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l="98" r="97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br>
              <a:rPr lang="en-US" dirty="0"/>
            </a:br>
            <a:r>
              <a:rPr lang="ru-RU" sz="2400" dirty="0"/>
              <a:t>Работа с реальными данными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3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5FB241E0-F341-2D41-BAEF-2356ACCC2AE6}"/>
              </a:ext>
            </a:extLst>
          </p:cNvPr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A28AFFA3-12F1-9041-95E0-BC0FB0458F12}"/>
                </a:ext>
              </a:extLst>
            </p:cNvPr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D64BE99-88DD-9742-BA44-436464CD28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218ce8da5_0_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88" name="Google Shape;88;g2f218ce8da5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2f218ce8da5_0_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2f218ce8da5_0_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2f218ce8da5_0_4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g2f218ce8da5_0_4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g2f218ce8da5_0_4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g2f218ce8da5_0_4"/>
          <p:cNvSpPr txBox="1"/>
          <p:nvPr/>
        </p:nvSpPr>
        <p:spPr>
          <a:xfrm>
            <a:off x="1654525" y="2194662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обсуждаем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g2f218ce8da5_0_4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f218ce8da5_0_4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g2f218ce8da5_0_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f218ce8da5_0_4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g2f218ce8da5_0_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2f218ce8da5_0_4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g2f218ce8da5_0_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f218ce8da5_0_4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g2f218ce8da5_0_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2f218ce8da5_0_4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g2f218ce8da5_0_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2f218ce8da5_0_4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g2f218ce8da5_0_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f218ce8da5_0_4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g2f218ce8da5_0_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218ce8da5_0_9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115" name="Google Shape;115;g2f218ce8da5_0_91"/>
          <p:cNvSpPr/>
          <p:nvPr/>
        </p:nvSpPr>
        <p:spPr>
          <a:xfrm>
            <a:off x="911020" y="183229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Состав мл проекта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g2f218ce8da5_0_91"/>
          <p:cNvSpPr/>
          <p:nvPr/>
        </p:nvSpPr>
        <p:spPr>
          <a:xfrm>
            <a:off x="911620" y="242179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 с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ByBit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g2f218ce8da5_0_91"/>
          <p:cNvSpPr/>
          <p:nvPr/>
        </p:nvSpPr>
        <p:spPr>
          <a:xfrm>
            <a:off x="911620" y="299881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SzPts val="1300"/>
            </a:pPr>
            <a:r>
              <a:rPr lang="ru-RU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 с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T-invest</a:t>
            </a:r>
            <a:endParaRPr lang="en-US"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" name="Google Shape;120;g2f218ce8da5_0_91"/>
          <p:cNvCxnSpPr>
            <a:stCxn id="115" idx="1"/>
            <a:endCxn id="116" idx="1"/>
          </p:cNvCxnSpPr>
          <p:nvPr/>
        </p:nvCxnSpPr>
        <p:spPr>
          <a:xfrm>
            <a:off x="911020" y="2020397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1" name="Google Shape;121;g2f218ce8da5_0_91"/>
          <p:cNvCxnSpPr>
            <a:stCxn id="116" idx="1"/>
            <a:endCxn id="117" idx="1"/>
          </p:cNvCxnSpPr>
          <p:nvPr/>
        </p:nvCxnSpPr>
        <p:spPr>
          <a:xfrm>
            <a:off x="911620" y="2609899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26" name="Picture 2" descr="Bybit siber saldırısında yaklaşık 1,5 milyar dolar değerinde kripto para  çalındı - Webrazzi">
            <a:extLst>
              <a:ext uri="{FF2B5EF4-FFF2-40B4-BE49-F238E27FC236}">
                <a16:creationId xmlns:a16="http://schemas.microsoft.com/office/drawing/2014/main" id="{C5D5486C-032A-F842-AB0C-277CC078C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310" y="999195"/>
            <a:ext cx="2962140" cy="166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inkoff Investments Launches Online Stock Gifting Service | Financial IT">
            <a:extLst>
              <a:ext uri="{FF2B5EF4-FFF2-40B4-BE49-F238E27FC236}">
                <a16:creationId xmlns:a16="http://schemas.microsoft.com/office/drawing/2014/main" id="{E52BE470-9D45-1546-87ED-78D458C42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482" y="2998814"/>
            <a:ext cx="3553781" cy="153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Цели вебинара</a:t>
            </a:r>
            <a:endParaRPr/>
          </a:p>
        </p:txBody>
      </p:sp>
      <p:graphicFrame>
        <p:nvGraphicFramePr>
          <p:cNvPr id="129" name="Google Shape;129;p4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{BD0EB961-79C1-4C73-A6D6-1B561CECD990}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ru-RU" sz="13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Познакомиться с работой через брокеры</a:t>
                      </a:r>
                      <a:endParaRPr sz="13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ru-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Разобраться как сделать готовый сервис</a:t>
                      </a:r>
                      <a:endParaRPr sz="13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0" name="Google Shape;130;p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r>
              <a:rPr lang="ru-RU" sz="1500" b="1" i="0" u="none" strike="noStrike" cap="non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К концу занятия вы сможете:</a:t>
            </a:r>
            <a:endParaRPr sz="1500" b="1" i="0" u="none" strike="noStrike" cap="non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2b7367f97_0_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Смысл?</a:t>
            </a:r>
            <a:endParaRPr/>
          </a:p>
        </p:txBody>
      </p:sp>
      <p:graphicFrame>
        <p:nvGraphicFramePr>
          <p:cNvPr id="136" name="Google Shape;136;g2f2b7367f97_0_49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{BD0EB961-79C1-4C73-A6D6-1B561CECD990}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Сложная документация у брокеров</a:t>
                      </a:r>
                      <a:endParaRPr sz="135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ru-RU" sz="135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Было пройдено много материала, как теперь это все объединить?</a:t>
                      </a:r>
                      <a:endParaRPr sz="13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subTitle" idx="4294967295"/>
          </p:nvPr>
        </p:nvSpPr>
        <p:spPr>
          <a:xfrm>
            <a:off x="2630075" y="1737729"/>
            <a:ext cx="6125700" cy="10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endParaRPr sz="1400" b="0" i="0" u="none" strike="noStrike" cap="none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r>
              <a:rPr lang="ru-RU" sz="1400">
                <a:solidFill>
                  <a:srgbClr val="013D85"/>
                </a:solidFill>
              </a:rPr>
              <a:t>Кто то выбрал в качестве проекта трейдингового бота? Какого брокеры вы используете?</a:t>
            </a:r>
            <a:endParaRPr sz="1400">
              <a:solidFill>
                <a:srgbClr val="013D85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endParaRPr sz="1500" b="1" i="0" u="none" strike="noStrike" cap="non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490" y="1426613"/>
            <a:ext cx="1414775" cy="14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/>
              <a:t>Состав мл проекта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2dd109321_0_0"/>
          <p:cNvSpPr txBox="1">
            <a:spLocks noGrp="1"/>
          </p:cNvSpPr>
          <p:nvPr>
            <p:ph type="title"/>
          </p:nvPr>
        </p:nvSpPr>
        <p:spPr>
          <a:xfrm>
            <a:off x="104900" y="1041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Основные компоненты проекта</a:t>
            </a:r>
            <a:endParaRPr/>
          </a:p>
        </p:txBody>
      </p:sp>
      <p:sp>
        <p:nvSpPr>
          <p:cNvPr id="153" name="Google Shape;153;g2f2dd109321_0_0"/>
          <p:cNvSpPr/>
          <p:nvPr/>
        </p:nvSpPr>
        <p:spPr>
          <a:xfrm>
            <a:off x="2177575" y="2205499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2f2dd109321_0_0"/>
          <p:cNvSpPr/>
          <p:nvPr/>
        </p:nvSpPr>
        <p:spPr>
          <a:xfrm>
            <a:off x="2177575" y="1342731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Формирование</a:t>
            </a:r>
            <a:r>
              <a:rPr lang="ru-RU">
                <a:latin typeface="Roboto"/>
                <a:ea typeface="Roboto"/>
                <a:cs typeface="Roboto"/>
                <a:sym typeface="Roboto"/>
              </a:rPr>
              <a:t> таргета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2f2dd109321_0_0"/>
          <p:cNvSpPr/>
          <p:nvPr/>
        </p:nvSpPr>
        <p:spPr>
          <a:xfrm>
            <a:off x="2177575" y="1774130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Оценка нагрузки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2f2dd109321_0_0"/>
          <p:cNvSpPr/>
          <p:nvPr/>
        </p:nvSpPr>
        <p:spPr>
          <a:xfrm>
            <a:off x="2177575" y="2643241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 Engineering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2f2dd109321_0_0"/>
          <p:cNvSpPr/>
          <p:nvPr/>
        </p:nvSpPr>
        <p:spPr>
          <a:xfrm>
            <a:off x="2177575" y="3080955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Разработка модели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g2f2dd109321_0_0"/>
          <p:cNvSpPr/>
          <p:nvPr/>
        </p:nvSpPr>
        <p:spPr>
          <a:xfrm>
            <a:off x="2177575" y="3533403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Тестирование модели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2f2dd109321_0_0"/>
          <p:cNvSpPr/>
          <p:nvPr/>
        </p:nvSpPr>
        <p:spPr>
          <a:xfrm>
            <a:off x="2177575" y="3984461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Внедрение модели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g2f2dd109321_0_0"/>
          <p:cNvSpPr/>
          <p:nvPr/>
        </p:nvSpPr>
        <p:spPr>
          <a:xfrm>
            <a:off x="2177575" y="4433401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Мониторинг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2f2dd109321_0_0"/>
          <p:cNvSpPr/>
          <p:nvPr/>
        </p:nvSpPr>
        <p:spPr>
          <a:xfrm>
            <a:off x="2177575" y="877625"/>
            <a:ext cx="4581000" cy="286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f214a253b2_0_21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167" name="Google Shape;167;g2f214a253b2_0_2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f214a253b2_0_216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g2f214a253b2_0_2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2f214a253b2_0_216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bfadb3bf1_0_1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/>
              <a:t>Знакомство с биржами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bfadb3bf1_0_20"/>
          <p:cNvSpPr txBox="1">
            <a:spLocks noGrp="1"/>
          </p:cNvSpPr>
          <p:nvPr>
            <p:ph type="title"/>
          </p:nvPr>
        </p:nvSpPr>
        <p:spPr>
          <a:xfrm>
            <a:off x="104900" y="1041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Как можно работать с биржевыми данными?</a:t>
            </a:r>
            <a:endParaRPr/>
          </a:p>
        </p:txBody>
      </p:sp>
      <p:graphicFrame>
        <p:nvGraphicFramePr>
          <p:cNvPr id="181" name="Google Shape;181;g31bfadb3bf1_0_20"/>
          <p:cNvGraphicFramePr/>
          <p:nvPr/>
        </p:nvGraphicFramePr>
        <p:xfrm>
          <a:off x="745700" y="1695925"/>
          <a:ext cx="7239000" cy="2438340"/>
        </p:xfrm>
        <a:graphic>
          <a:graphicData uri="http://schemas.openxmlformats.org/drawingml/2006/table">
            <a:tbl>
              <a:tblPr>
                <a:noFill/>
                <a:tableStyleId>{9CC8CC3A-E459-4CBE-A112-A7EF1DD067EC}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Классические инструенты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Криптобиржи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OnlineBrocker(Мос биржа, Forex)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Quik. (Мос биржа, СПБ)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Альфа-директ(Мос-биржа)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MetaTrader(Forex)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Tinkoff invest(Мос биржа, СПБ)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HTX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Bybit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OKX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Bitget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65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ru-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Phemex</a:t>
                      </a:r>
                      <a:endParaRPr sz="17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/>
              <a:t>Практический пример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2dd109321_0_9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206" name="Google Shape;206;g2f2dd109321_0_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2f2dd109321_0_91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8" name="Google Shape;208;g2f2dd109321_0_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f2dd109321_0_91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214a253b2_0_49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Список материалов для изучения</a:t>
            </a:r>
            <a:endParaRPr/>
          </a:p>
        </p:txBody>
      </p:sp>
      <p:sp>
        <p:nvSpPr>
          <p:cNvPr id="215" name="Google Shape;215;g2f214a253b2_0_498"/>
          <p:cNvSpPr txBox="1"/>
          <p:nvPr/>
        </p:nvSpPr>
        <p:spPr>
          <a:xfrm>
            <a:off x="866625" y="1244575"/>
            <a:ext cx="7076700" cy="1923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100" u="sng" dirty="0">
                <a:solidFill>
                  <a:schemeClr val="hlink"/>
                </a:solidFill>
                <a:hlinkClick r:id="rId3"/>
              </a:rPr>
              <a:t>Tinkoff invest</a:t>
            </a:r>
            <a:endParaRPr dirty="0">
              <a:solidFill>
                <a:schemeClr val="dk1"/>
              </a:solidFill>
            </a:endParaRPr>
          </a:p>
          <a:p>
            <a:pPr marL="3683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100" u="sng" dirty="0">
                <a:solidFill>
                  <a:schemeClr val="hlink"/>
                </a:solidFill>
                <a:hlinkClick r:id="rId4"/>
              </a:rPr>
              <a:t>Github Tinkoff api</a:t>
            </a:r>
            <a:endParaRPr dirty="0">
              <a:solidFill>
                <a:schemeClr val="dk1"/>
              </a:solidFill>
            </a:endParaRPr>
          </a:p>
          <a:p>
            <a:pPr marL="3683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100" u="sng" dirty="0">
                <a:solidFill>
                  <a:schemeClr val="hlink"/>
                </a:solidFill>
                <a:hlinkClick r:id="rId5"/>
              </a:rPr>
              <a:t>HTX api</a:t>
            </a:r>
            <a:endParaRPr dirty="0">
              <a:solidFill>
                <a:schemeClr val="dk1"/>
              </a:solidFill>
            </a:endParaRPr>
          </a:p>
          <a:p>
            <a:pPr marL="3683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100" u="sng" dirty="0">
                <a:solidFill>
                  <a:schemeClr val="hlink"/>
                </a:solidFill>
                <a:hlinkClick r:id="rId6"/>
              </a:rPr>
              <a:t>Base image for trading</a:t>
            </a:r>
            <a:endParaRPr dirty="0">
              <a:solidFill>
                <a:schemeClr val="dk1"/>
              </a:solidFill>
            </a:endParaRPr>
          </a:p>
          <a:p>
            <a:pPr marL="3683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100" u="sng" dirty="0">
                <a:solidFill>
                  <a:schemeClr val="hlink"/>
                </a:solidFill>
                <a:hlinkClick r:id="rId7"/>
              </a:rPr>
              <a:t>Полный пример работы бота с брокером Quick</a:t>
            </a:r>
            <a:endParaRPr dirty="0">
              <a:solidFill>
                <a:schemeClr val="dk1"/>
              </a:solidFill>
            </a:endParaRPr>
          </a:p>
          <a:p>
            <a:pPr marL="3683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ru-RU" sz="1100" u="sng" dirty="0">
                <a:solidFill>
                  <a:schemeClr val="hlink"/>
                </a:solidFill>
                <a:hlinkClick r:id="rId8"/>
              </a:rPr>
              <a:t>youtube канал по инвестициям </a:t>
            </a:r>
            <a:endParaRPr sz="1100" u="sng" dirty="0">
              <a:solidFill>
                <a:schemeClr val="hlink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218ce8da5_0_379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Следующий вебинар</a:t>
            </a:r>
            <a:endParaRPr/>
          </a:p>
        </p:txBody>
      </p:sp>
      <p:sp>
        <p:nvSpPr>
          <p:cNvPr id="244" name="Google Shape;244;g2f218ce8da5_0_379"/>
          <p:cNvSpPr txBox="1"/>
          <p:nvPr/>
        </p:nvSpPr>
        <p:spPr>
          <a:xfrm>
            <a:off x="1915425" y="1502825"/>
            <a:ext cx="682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lang="ru-RU" sz="1500" b="0" i="0" u="none" strike="noStrike" cap="none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Июня 202</a:t>
            </a:r>
            <a:r>
              <a:rPr lang="ru-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500" b="0" i="0" u="none" strike="noStrike" cap="none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2f218ce8da5_0_379"/>
          <p:cNvSpPr txBox="1"/>
          <p:nvPr/>
        </p:nvSpPr>
        <p:spPr>
          <a:xfrm>
            <a:off x="1915425" y="1826708"/>
            <a:ext cx="61569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Консультация по проектам и домашним заданиям</a:t>
            </a: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6" name="Google Shape;246;g2f218ce8da5_0_3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2f218ce8da5_0_379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g2f218ce8da5_0_379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g2f218ce8da5_0_379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g2f218ce8da5_0_3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2f218ce8da5_0_3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2f218ce8da5_0_3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214a253b2_0_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b="1" spc="-50">
                <a:latin typeface="Trebuchet MS"/>
                <a:cs typeface="Trebuchet MS"/>
              </a:rPr>
              <a:t>Приходите</a:t>
            </a:r>
            <a:r>
              <a:rPr lang="ru-RU" sz="3200" b="1" spc="-190">
                <a:latin typeface="Trebuchet MS"/>
                <a:cs typeface="Trebuchet MS"/>
              </a:rPr>
              <a:t> </a:t>
            </a:r>
            <a:r>
              <a:rPr lang="ru-RU" sz="3200" b="1" spc="-20">
                <a:latin typeface="Trebuchet MS"/>
                <a:cs typeface="Trebuchet MS"/>
              </a:rPr>
              <a:t>на</a:t>
            </a:r>
            <a:r>
              <a:rPr lang="ru-RU" sz="3200" b="1" spc="-180">
                <a:latin typeface="Trebuchet MS"/>
                <a:cs typeface="Trebuchet MS"/>
              </a:rPr>
              <a:t> </a:t>
            </a:r>
            <a:r>
              <a:rPr lang="ru-RU" sz="3200" b="1" spc="-30">
                <a:latin typeface="Trebuchet MS"/>
                <a:cs typeface="Trebuchet MS"/>
              </a:rPr>
              <a:t>следующие</a:t>
            </a:r>
            <a:r>
              <a:rPr lang="ru-RU" sz="3200" b="1" spc="-185">
                <a:latin typeface="Trebuchet MS"/>
                <a:cs typeface="Trebuchet MS"/>
              </a:rPr>
              <a:t> </a:t>
            </a:r>
            <a:r>
              <a:rPr lang="ru-RU" sz="3200" b="1" spc="-10">
                <a:latin typeface="Trebuchet MS"/>
                <a:cs typeface="Trebuchet MS"/>
              </a:rPr>
              <a:t>вебинары</a:t>
            </a:r>
            <a:endParaRPr lang="ru-RU"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480</Words>
  <Application>Microsoft Macintosh PowerPoint</Application>
  <PresentationFormat>On-screen Show (16:9)</PresentationFormat>
  <Paragraphs>132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Trebuchet MS</vt:lpstr>
      <vt:lpstr>Roboto</vt:lpstr>
      <vt:lpstr>Arial</vt:lpstr>
      <vt:lpstr>Светлая тема</vt:lpstr>
      <vt:lpstr>ML для финансового анализа  Работа с реальными данными</vt:lpstr>
      <vt:lpstr>Проверить, идет ли запись</vt:lpstr>
      <vt:lpstr>ML для финансового анализа Работа с реальными данными</vt:lpstr>
      <vt:lpstr>Правила вебинара</vt:lpstr>
      <vt:lpstr>Маршрут вебинара</vt:lpstr>
      <vt:lpstr>Цели вебинара</vt:lpstr>
      <vt:lpstr>Смысл?</vt:lpstr>
      <vt:lpstr>PowerPoint Presentation</vt:lpstr>
      <vt:lpstr>Состав мл проекта</vt:lpstr>
      <vt:lpstr>Основные компоненты проекта</vt:lpstr>
      <vt:lpstr>Вопросы?</vt:lpstr>
      <vt:lpstr>Знакомство с биржами</vt:lpstr>
      <vt:lpstr>Как можно работать с биржевыми данными?</vt:lpstr>
      <vt:lpstr>Практический пример</vt:lpstr>
      <vt:lpstr>Вопросы?</vt:lpstr>
      <vt:lpstr>Список материалов для изучения</vt:lpstr>
      <vt:lpstr>Следующий вебинар</vt:lpstr>
      <vt:lpstr>Заполните, пожалуйста, опрос о занятии по ссылке в чате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для финансового анализа  Работа с реальными данными</dc:title>
  <dc:creator>Кирилл Бухтеев</dc:creator>
  <cp:lastModifiedBy>Стурейко Игорь Олегович</cp:lastModifiedBy>
  <cp:revision>4</cp:revision>
  <dcterms:modified xsi:type="dcterms:W3CDTF">2025-06-05T15:17:48Z</dcterms:modified>
</cp:coreProperties>
</file>