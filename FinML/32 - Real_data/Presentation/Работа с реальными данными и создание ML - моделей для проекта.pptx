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y="5143500" cx="9144000"/>
  <p:notesSz cx="6858000" cy="9144000"/>
  <p:embeddedFontLst>
    <p:embeddedFont>
      <p:font typeface="Roboto"/>
      <p:regular r:id="rId31"/>
      <p:bold r:id="rId32"/>
      <p:italic r:id="rId33"/>
      <p:boldItalic r:id="rId3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pos="5533">
          <p15:clr>
            <a:srgbClr val="A4A3A4"/>
          </p15:clr>
        </p15:guide>
        <p15:guide id="2" pos="1002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  <p:ext uri="GoogleSlidesCustomDataVersion2">
      <go:slidesCustomData xmlns:go="http://customooxmlschemas.google.com/" r:id="rId35" roundtripDataSignature="AMtx7mgPYpIEd0dJePW5dEB9Z++1uruGx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D0EB961-79C1-4C73-A6D6-1B561CECD990}">
  <a:tblStyle styleId="{BD0EB961-79C1-4C73-A6D6-1B561CECD99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  <a:tblStyle styleId="{9CC8CC3A-E459-4CBE-A112-A7EF1DD067EC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5533"/>
        <p:guide pos="1002"/>
        <p:guide pos="179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Roboto-regular.fntdata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font" Target="fonts/Roboto-italic.fntdata"/><Relationship Id="rId10" Type="http://schemas.openxmlformats.org/officeDocument/2006/relationships/slide" Target="slides/slide4.xml"/><Relationship Id="rId32" Type="http://schemas.openxmlformats.org/officeDocument/2006/relationships/font" Target="fonts/Roboto-bold.fntdata"/><Relationship Id="rId13" Type="http://schemas.openxmlformats.org/officeDocument/2006/relationships/slide" Target="slides/slide7.xml"/><Relationship Id="rId35" Type="http://customschemas.google.com/relationships/presentationmetadata" Target="metadata"/><Relationship Id="rId12" Type="http://schemas.openxmlformats.org/officeDocument/2006/relationships/slide" Target="slides/slide6.xml"/><Relationship Id="rId34" Type="http://schemas.openxmlformats.org/officeDocument/2006/relationships/font" Target="fonts/Roboto-boldItalic.fntdata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" name="Google Shape;60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" name="Google Shape;66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" name="Google Shape;75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g2f218ce8da5_0_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5" name="Google Shape;85;g2f218ce8da5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2f218ce8da5_0_9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2" name="Google Shape;112;g2f218ce8da5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6" name="Google Shape;126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g2f2b7367f97_0_4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g2f2b7367f97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9" name="Google Shape;13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" name="Google Shape;14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g2f2dd10932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0" name="Google Shape;150;g2f2dd109321_0_0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2f214a253b2_0_21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4" name="Google Shape;164;g2f214a253b2_0_2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1bfadb3bf1_0_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3" name="Google Shape;173;g31bfadb3bf1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1bfadb3bf1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78" name="Google Shape;178;g31bfadb3bf1_0_20:notes"/>
          <p:cNvSpPr/>
          <p:nvPr>
            <p:ph idx="2" type="sldImg"/>
          </p:nvPr>
        </p:nvSpPr>
        <p:spPr>
          <a:xfrm>
            <a:off x="381309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4" name="Google Shape;184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2f2b7367f97_0_3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9" name="Google Shape;189;g2f2b7367f97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1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2f2dd109321_0_9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3" name="Google Shape;203;g2f2dd109321_0_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2f214a253b2_0_49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2" name="Google Shape;212;g2f214a253b2_0_49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2f218ce8da5_0_23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8" name="Google Shape;218;g2f218ce8da5_0_2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g31bfadb3bf1_0_3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3" name="Google Shape;223;g31bfadb3bf1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2f218ce8da5_0_30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0" name="Google Shape;230;g2f218ce8da5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2f218ce8da5_0_3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" name="Google Shape;241;g2f218ce8da5_0_3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2f214a253b2_0_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5" name="Google Shape;255;g2f214a253b2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g2f214a253b2_0_7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0" name="Google Shape;260;g2f214a253b2_0_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39"/>
          <p:cNvPicPr preferRelativeResize="0"/>
          <p:nvPr/>
        </p:nvPicPr>
        <p:blipFill rotWithShape="1">
          <a:blip r:embed="rId2">
            <a:alphaModFix/>
          </a:blip>
          <a:srcRect b="0" l="98" r="97" t="0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39"/>
          <p:cNvSpPr txBox="1"/>
          <p:nvPr>
            <p:ph idx="1" type="subTitle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sz="18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2" name="Google Shape;12;p39"/>
          <p:cNvSpPr txBox="1"/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Белый слайд + заголовок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0"/>
          <p:cNvSpPr txBox="1"/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ма вебинара" type="twoColTx">
  <p:cSld name="TITLE_AND_TWO_COLUMNS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18" name="Google Shape;18;p41"/>
          <p:cNvSpPr txBox="1"/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9" name="Google Shape;19;p41"/>
          <p:cNvSpPr txBox="1"/>
          <p:nvPr>
            <p:ph idx="1" type="subTitle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/>
        </p:txBody>
      </p:sp>
      <p:sp>
        <p:nvSpPr>
          <p:cNvPr id="20" name="Google Shape;20;p41"/>
          <p:cNvSpPr txBox="1"/>
          <p:nvPr>
            <p:ph idx="2" type="subTitle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9pPr>
          </a:lstStyle>
          <a:p/>
        </p:txBody>
      </p:sp>
      <p:sp>
        <p:nvSpPr>
          <p:cNvPr id="21" name="Google Shape;21;p41"/>
          <p:cNvSpPr txBox="1"/>
          <p:nvPr>
            <p:ph idx="3" type="subTitle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0" sz="13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" name="Google Shape;22;p41"/>
          <p:cNvSpPr txBox="1"/>
          <p:nvPr>
            <p:ph idx="4" type="subTitle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0" sz="13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97">
          <p15:clr>
            <a:srgbClr val="FA7B17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CUSTOM_3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2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азделительный слайд">
  <p:cSld name="MAIN_POIN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27" name="Google Shape;27;p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" name="Google Shape;28;p43"/>
          <p:cNvSpPr txBox="1"/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4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1" name="Google Shape;31;p44"/>
          <p:cNvSpPr txBox="1"/>
          <p:nvPr>
            <p:ph idx="1" type="body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23850" lvl="0" marL="457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indent="-311150" lvl="1" marL="9144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indent="-311150" lvl="2" marL="1371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indent="-311150" lvl="3" marL="18288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indent="-311150" lvl="5" marL="27432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indent="-311150" lvl="6" marL="32004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indent="-311150" lvl="7" marL="36576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indent="-311150" lvl="8" marL="4114800" algn="l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/>
        </p:txBody>
      </p:sp>
      <p:sp>
        <p:nvSpPr>
          <p:cNvPr id="32" name="Google Shape;32;p4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ема вебинара 1">
  <p:cSld name="TITLE_AND_TWO_COLUMNS_1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g2f214a253b2_0_14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35" name="Google Shape;35;g2f214a253b2_0_140"/>
          <p:cNvSpPr txBox="1"/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6" name="Google Shape;36;g2f214a253b2_0_140"/>
          <p:cNvSpPr txBox="1"/>
          <p:nvPr>
            <p:ph idx="1" type="subTitle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/>
        </p:txBody>
      </p:sp>
      <p:sp>
        <p:nvSpPr>
          <p:cNvPr id="37" name="Google Shape;37;g2f214a253b2_0_140"/>
          <p:cNvSpPr txBox="1"/>
          <p:nvPr>
            <p:ph idx="2" type="subTitle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b="1" sz="1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b="1" sz="2300">
                <a:solidFill>
                  <a:srgbClr val="013D85"/>
                </a:solidFill>
              </a:defRPr>
            </a:lvl9pPr>
          </a:lstStyle>
          <a:p/>
        </p:txBody>
      </p:sp>
      <p:sp>
        <p:nvSpPr>
          <p:cNvPr id="38" name="Google Shape;38;g2f214a253b2_0_140"/>
          <p:cNvSpPr txBox="1"/>
          <p:nvPr>
            <p:ph idx="3" type="subTitle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0" sz="13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9" name="Google Shape;39;g2f214a253b2_0_140"/>
          <p:cNvSpPr txBox="1"/>
          <p:nvPr>
            <p:ph idx="4" type="subTitle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0" sz="13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97">
          <p15:clr>
            <a:srgbClr val="FA7B17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Ваш макет 1">
  <p:cSld name="CUSTOM_5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6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45"/>
          <p:cNvSpPr txBox="1"/>
          <p:nvPr>
            <p:ph idx="1" type="body"/>
          </p:nvPr>
        </p:nvSpPr>
        <p:spPr>
          <a:xfrm>
            <a:off x="165100" y="736482"/>
            <a:ext cx="8578850" cy="3918067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6550" lvl="0" marL="4572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  <a:defRPr sz="2400"/>
            </a:lvl1pPr>
            <a:lvl2pPr indent="-323850" lvl="1" marL="9144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  <a:defRPr sz="2400"/>
            </a:lvl2pPr>
            <a:lvl3pPr indent="-311150" lvl="2" marL="1371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 sz="2000"/>
            </a:lvl3pPr>
            <a:lvl4pPr indent="-311150" lvl="3" marL="18288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800"/>
            </a:lvl4pPr>
            <a:lvl5pPr indent="-311150" lvl="4" marL="22860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800"/>
            </a:lvl5pPr>
            <a:lvl6pPr indent="-311150" lvl="5" marL="27432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800"/>
            </a:lvl6pPr>
            <a:lvl7pPr indent="-311150" lvl="6" marL="32004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800"/>
            </a:lvl7pPr>
            <a:lvl8pPr indent="-311150" lvl="7" marL="3657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800"/>
            </a:lvl8pPr>
            <a:lvl9pPr indent="-311150" lvl="8" marL="41148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800"/>
            </a:lvl9pPr>
          </a:lstStyle>
          <a:p/>
        </p:txBody>
      </p:sp>
      <p:sp>
        <p:nvSpPr>
          <p:cNvPr id="44" name="Google Shape;44;p45"/>
          <p:cNvSpPr txBox="1"/>
          <p:nvPr>
            <p:ph idx="11" type="ftr"/>
          </p:nvPr>
        </p:nvSpPr>
        <p:spPr>
          <a:xfrm>
            <a:off x="4030768" y="185639"/>
            <a:ext cx="4656032" cy="273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45"/>
          <p:cNvSpPr txBox="1"/>
          <p:nvPr>
            <p:ph type="title"/>
          </p:nvPr>
        </p:nvSpPr>
        <p:spPr>
          <a:xfrm>
            <a:off x="165100" y="185639"/>
            <a:ext cx="3225800" cy="36323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 sz="2400">
                <a:solidFill>
                  <a:srgbClr val="0230AC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6" name="Google Shape;46;p45"/>
          <p:cNvSpPr/>
          <p:nvPr/>
        </p:nvSpPr>
        <p:spPr>
          <a:xfrm>
            <a:off x="203200" y="4387850"/>
            <a:ext cx="1676400" cy="55245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45"/>
          <p:cNvSpPr txBox="1"/>
          <p:nvPr>
            <p:ph idx="12" type="sldNum"/>
          </p:nvPr>
        </p:nvSpPr>
        <p:spPr>
          <a:xfrm>
            <a:off x="8649222" y="4665946"/>
            <a:ext cx="498446" cy="486716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О себе">
  <p:cSld name="CUSTOM_1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47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50" name="Google Shape;50;p47"/>
          <p:cNvSpPr txBox="1"/>
          <p:nvPr>
            <p:ph idx="1" type="subTitle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b="1" sz="16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b="1" sz="2300"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b="1" sz="2300"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b="1" sz="2300"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b="1" sz="2300"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b="1" sz="2300"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b="1" sz="2300"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b="1" sz="2300"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b="1" sz="23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51" name="Google Shape;51;p47"/>
          <p:cNvSpPr txBox="1"/>
          <p:nvPr>
            <p:ph idx="2" type="subTitle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b="0" sz="13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Раздел+описание">
  <p:cSld name="SECTION_TITLE_AND_DESCRIPTION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48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" name="Google Shape;54;p48"/>
          <p:cNvSpPr txBox="1"/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5" name="Google Shape;55;p48"/>
          <p:cNvSpPr txBox="1"/>
          <p:nvPr>
            <p:ph idx="1" type="subTitle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/>
        </p:txBody>
      </p:sp>
      <p:sp>
        <p:nvSpPr>
          <p:cNvPr id="56" name="Google Shape;56;p48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36550" lvl="0" marL="4572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indent="-323850" lvl="1" marL="9144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indent="-311150" lvl="2" marL="1371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indent="-311150" lvl="3" marL="18288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indent="-311150" lvl="4" marL="22860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indent="-311150" lvl="5" marL="27432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indent="-311150" lvl="6" marL="32004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indent="-311150" lvl="7" marL="36576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indent="-311150" lvl="8" marL="411480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/>
        </p:txBody>
      </p:sp>
      <p:sp>
        <p:nvSpPr>
          <p:cNvPr id="57" name="Google Shape;57;p4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8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blipFill>
          <a:blip r:embed="rId1">
            <a:alphaModFix/>
          </a:blip>
          <a:stretch>
            <a:fillRect/>
          </a:stretch>
        </a:blip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8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b="1" i="0" sz="31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0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0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0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0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0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0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0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b="0" i="0" sz="28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38"/>
          <p:cNvSpPr txBox="1"/>
          <p:nvPr>
            <p:ph idx="1" type="body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6550" lvl="0" marL="4572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b="0" i="0" sz="1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323850" lvl="1" marL="9144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b="0" i="0" sz="1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311150" lvl="2" marL="1371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b="0"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311150" lvl="3" marL="18288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b="0"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311150" lvl="4" marL="22860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b="0"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311150" lvl="5" marL="27432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b="0"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311150" lvl="6" marL="32004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b="0"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311150" lvl="7" marL="36576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b="0"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311150" lvl="8" marL="411480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b="0"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" name="Google Shape;8;p3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3.png"/><Relationship Id="rId4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7.jpg"/></Relationships>
</file>

<file path=ppt/slides/_rels/slide4.xml.rels><?xml version="1.0" encoding="UTF-8" standalone="yes"?><Relationships xmlns="http://schemas.openxmlformats.org/package/2006/relationships"><Relationship Id="rId11" Type="http://schemas.openxmlformats.org/officeDocument/2006/relationships/image" Target="../media/image5.png"/><Relationship Id="rId10" Type="http://schemas.openxmlformats.org/officeDocument/2006/relationships/image" Target="../media/image3.png"/><Relationship Id="rId1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4.png"/><Relationship Id="rId9" Type="http://schemas.openxmlformats.org/officeDocument/2006/relationships/image" Target="../media/image8.png"/><Relationship Id="rId5" Type="http://schemas.openxmlformats.org/officeDocument/2006/relationships/image" Target="../media/image14.png"/><Relationship Id="rId6" Type="http://schemas.openxmlformats.org/officeDocument/2006/relationships/image" Target="../media/image10.png"/><Relationship Id="rId7" Type="http://schemas.openxmlformats.org/officeDocument/2006/relationships/image" Target="../media/image12.png"/><Relationship Id="rId8" Type="http://schemas.openxmlformats.org/officeDocument/2006/relationships/image" Target="../media/image2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image" Target="../media/image2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image" Target="../media/image26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Relationship Id="rId4" Type="http://schemas.openxmlformats.org/officeDocument/2006/relationships/image" Target="../media/image2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www.youtube.com/playlist?list=PLWVnIRD69wY6j5QvOSU2K_I3NSLnFYiZY" TargetMode="External"/><Relationship Id="rId4" Type="http://schemas.openxmlformats.org/officeDocument/2006/relationships/hyperlink" Target="https://github.com/Tinkoff/invest-python/tree/main" TargetMode="External"/><Relationship Id="rId5" Type="http://schemas.openxmlformats.org/officeDocument/2006/relationships/hyperlink" Target="https://github.com/HuobiRDCenter/huobi_Python" TargetMode="External"/><Relationship Id="rId6" Type="http://schemas.openxmlformats.org/officeDocument/2006/relationships/hyperlink" Target="https://hub.docker.com/r/hithats/python3.12-talib" TargetMode="External"/><Relationship Id="rId7" Type="http://schemas.openxmlformats.org/officeDocument/2006/relationships/hyperlink" Target="https://www.youtube.com/live/UKMH6bBN8NM" TargetMode="External"/><Relationship Id="rId8" Type="http://schemas.openxmlformats.org/officeDocument/2006/relationships/hyperlink" Target="https://www.youtube.com/@AzzraelCode" TargetMode="Externa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5.png"/><Relationship Id="rId4" Type="http://schemas.openxmlformats.org/officeDocument/2006/relationships/image" Target="../media/image24.png"/><Relationship Id="rId5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"/>
          <p:cNvSpPr txBox="1"/>
          <p:nvPr>
            <p:ph idx="1" type="subTitle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ru-RU"/>
              <a:t>otus.ru</a:t>
            </a:r>
            <a:endParaRPr/>
          </a:p>
        </p:txBody>
      </p:sp>
      <p:sp>
        <p:nvSpPr>
          <p:cNvPr id="63" name="Google Shape;63;p1"/>
          <p:cNvSpPr txBox="1"/>
          <p:nvPr>
            <p:ph type="title"/>
          </p:nvPr>
        </p:nvSpPr>
        <p:spPr>
          <a:xfrm>
            <a:off x="944650" y="1471328"/>
            <a:ext cx="7839132" cy="23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ru-RU"/>
              <a:t>ML для финансового анализа</a:t>
            </a:r>
            <a:br>
              <a:rPr lang="ru-RU" sz="2000"/>
            </a:br>
            <a:br>
              <a:rPr lang="ru-RU" sz="2000"/>
            </a:br>
            <a:r>
              <a:rPr b="0" lang="ru-RU" sz="1800"/>
              <a:t>Работа с реальными данными и создание ML - моделей для проекта</a:t>
            </a:r>
            <a:endParaRPr b="0" sz="1800"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t/>
            </a:r>
            <a:endParaRPr sz="2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2"/>
          <p:cNvSpPr txBox="1"/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 sz="2100"/>
              <a:t>Проверить, идет ли запись</a:t>
            </a:r>
            <a:endParaRPr sz="2100"/>
          </a:p>
        </p:txBody>
      </p:sp>
      <p:sp>
        <p:nvSpPr>
          <p:cNvPr id="69" name="Google Shape;69;p2"/>
          <p:cNvSpPr txBox="1"/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000"/>
              <a:t>Меня хорошо видно</a:t>
            </a:r>
            <a:endParaRPr sz="40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</a:pPr>
            <a:r>
              <a:rPr lang="ru-RU" sz="4000"/>
              <a:t>&amp;&amp; слышно?</a:t>
            </a:r>
            <a:endParaRPr sz="4000"/>
          </a:p>
        </p:txBody>
      </p:sp>
      <p:pic>
        <p:nvPicPr>
          <p:cNvPr id="70" name="Google Shape;70;p2"/>
          <p:cNvPicPr preferRelativeResize="0"/>
          <p:nvPr/>
        </p:nvPicPr>
        <p:blipFill rotWithShape="1">
          <a:blip r:embed="rId3">
            <a:alphaModFix/>
          </a:blip>
          <a:srcRect b="0" l="98" r="97" t="0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71" name="Google Shape;71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2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b="0" i="0" lang="ru-RU" sz="1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b="0" i="0" lang="ru-RU" sz="1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b="0" i="0" sz="15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3"/>
          <p:cNvSpPr txBox="1"/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ru-RU"/>
              <a:t>Работа с реальными данными и создание ML - моделей для проекта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/>
          </a:p>
        </p:txBody>
      </p:sp>
      <p:sp>
        <p:nvSpPr>
          <p:cNvPr id="79" name="Google Shape;79;p3"/>
          <p:cNvSpPr txBox="1"/>
          <p:nvPr>
            <p:ph idx="2" type="subTitle"/>
          </p:nvPr>
        </p:nvSpPr>
        <p:spPr>
          <a:xfrm>
            <a:off x="3082400" y="2359694"/>
            <a:ext cx="5856300" cy="39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ru-RU"/>
              <a:t>Кирилл Бухтеев</a:t>
            </a:r>
            <a:endParaRPr/>
          </a:p>
        </p:txBody>
      </p:sp>
      <p:sp>
        <p:nvSpPr>
          <p:cNvPr id="80" name="Google Shape;80;p3"/>
          <p:cNvSpPr txBox="1"/>
          <p:nvPr>
            <p:ph idx="3" type="subTitle"/>
          </p:nvPr>
        </p:nvSpPr>
        <p:spPr>
          <a:xfrm>
            <a:off x="3082400" y="2756594"/>
            <a:ext cx="5095500" cy="1930056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b="1" lang="ru-RU" sz="1200"/>
              <a:t>Lead ML Engineer </a:t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b="1" lang="ru-RU" sz="1200"/>
              <a:t>Об опыте:</a:t>
            </a:r>
            <a:endParaRPr b="1"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ru-RU" sz="1200"/>
              <a:t>5 лет опыта в качестве Data Scientist, Data Analyst и Data Engineer.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ru-RU" sz="1200"/>
              <a:t>Кандидат физико-математических наук.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ru-RU" sz="1200"/>
              <a:t>Руководитель ML Engineers в компании Т банк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</a:pPr>
            <a:r>
              <a:rPr b="1" lang="ru-RU" sz="1050">
                <a:solidFill>
                  <a:srgbClr val="013D85"/>
                </a:solidFill>
              </a:rPr>
              <a:t>telegram: @bboybayking</a:t>
            </a:r>
            <a:endParaRPr b="1" sz="1600">
              <a:solidFill>
                <a:srgbClr val="000000"/>
              </a:solidFill>
            </a:endParaRPr>
          </a:p>
        </p:txBody>
      </p:sp>
      <p:pic>
        <p:nvPicPr>
          <p:cNvPr id="81" name="Google Shape;8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79574" y="2950614"/>
            <a:ext cx="1488600" cy="1488600"/>
          </a:xfrm>
          <a:prstGeom prst="ellipse">
            <a:avLst/>
          </a:prstGeom>
          <a:blipFill rotWithShape="1">
            <a:blip r:embed="rId3">
              <a:alphaModFix/>
            </a:blip>
            <a:stretch>
              <a:fillRect b="0" l="0" r="0" t="0"/>
            </a:stretch>
          </a:blipFill>
          <a:ln>
            <a:noFill/>
          </a:ln>
        </p:spPr>
      </p:pic>
      <p:sp>
        <p:nvSpPr>
          <p:cNvPr id="82" name="Google Shape;82;p3"/>
          <p:cNvSpPr txBox="1"/>
          <p:nvPr/>
        </p:nvSpPr>
        <p:spPr>
          <a:xfrm>
            <a:off x="563900" y="411925"/>
            <a:ext cx="4978200" cy="4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500" u="none" cap="none" strike="noStrike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Тема вебинара</a:t>
            </a:r>
            <a:endParaRPr b="0" i="0" sz="1500" u="none" cap="none" strike="noStrike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b="0" i="0" sz="1500" u="none" cap="none" strike="noStrike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t/>
            </a:r>
            <a:endParaRPr b="0" i="0" sz="17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2f218ce8da5_0_4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b="1" lang="ru-RU" sz="3200"/>
              <a:t>Правила вебинара</a:t>
            </a:r>
            <a:endParaRPr b="1" sz="3200"/>
          </a:p>
        </p:txBody>
      </p:sp>
      <p:pic>
        <p:nvPicPr>
          <p:cNvPr id="88" name="Google Shape;88;g2f218ce8da5_0_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89" name="Google Shape;89;g2f218ce8da5_0_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g2f218ce8da5_0_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g2f218ce8da5_0_4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b="0" i="0" sz="15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b="0" i="0" sz="15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2" name="Google Shape;92;g2f218ce8da5_0_4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b="0" i="0" sz="15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 чат или голосом</a:t>
            </a:r>
            <a:endParaRPr b="0" i="0" sz="15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3" name="Google Shape;93;g2f218ce8da5_0_4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b="0" i="0" sz="15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b="0" i="0" sz="15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4" name="Google Shape;94;g2f218ce8da5_0_4"/>
          <p:cNvSpPr txBox="1"/>
          <p:nvPr/>
        </p:nvSpPr>
        <p:spPr>
          <a:xfrm>
            <a:off x="1654525" y="2049300"/>
            <a:ext cx="24753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b="0" i="0" sz="15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b="0" i="0" sz="15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#</a:t>
            </a:r>
            <a:r>
              <a:rPr b="1" i="0" lang="ru-RU" sz="15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ML-Finance-2024-</a:t>
            </a:r>
            <a:r>
              <a:rPr b="1" lang="ru-RU" sz="1500">
                <a:latin typeface="Roboto"/>
                <a:ea typeface="Roboto"/>
                <a:cs typeface="Roboto"/>
                <a:sym typeface="Roboto"/>
              </a:rPr>
              <a:t>10</a:t>
            </a:r>
            <a:endParaRPr b="0" i="0" sz="15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5" name="Google Shape;95;g2f218ce8da5_0_4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g2f218ce8da5_0_4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ru-RU" sz="2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b="1" i="0" sz="20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ru-RU" sz="2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b="1" i="0" sz="20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97" name="Google Shape;97;g2f218ce8da5_0_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g2f218ce8da5_0_4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ru-RU" sz="11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b="0" i="0" sz="11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99" name="Google Shape;99;g2f218ce8da5_0_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g2f218ce8da5_0_4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ru-RU" sz="11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b="0" i="0" sz="11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ru-RU" sz="11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b="0" i="0" sz="11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1" name="Google Shape;101;g2f218ce8da5_0_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g2f218ce8da5_0_4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ru-RU" sz="11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b="0" i="0" sz="11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3" name="Google Shape;103;g2f218ce8da5_0_4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g2f218ce8da5_0_4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ru-RU" sz="11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b="0" i="0" sz="11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g2f218ce8da5_0_4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g2f218ce8da5_0_4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ru-RU" sz="11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b="0" i="0" sz="11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7" name="Google Shape;107;g2f218ce8da5_0_4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g2f218ce8da5_0_4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ru-RU" sz="11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b="0" i="0" sz="11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ru-RU" sz="11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b="0" i="0" sz="1100" u="none" cap="none" strike="noStrike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9" name="Google Shape;109;g2f218ce8da5_0_4"/>
          <p:cNvPicPr preferRelativeResize="0"/>
          <p:nvPr/>
        </p:nvPicPr>
        <p:blipFill rotWithShape="1">
          <a:blip r:embed="rId12">
            <a:alphaModFix/>
          </a:blip>
          <a:srcRect b="0" l="0" r="0" t="0"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2f218ce8da5_0_91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Маршрут вебинара</a:t>
            </a:r>
            <a:endParaRPr/>
          </a:p>
        </p:txBody>
      </p:sp>
      <p:sp>
        <p:nvSpPr>
          <p:cNvPr id="115" name="Google Shape;115;g2f218ce8da5_0_91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fmla="val 16667" name="adj"/>
            </a:avLst>
          </a:prstGeom>
          <a:solidFill>
            <a:srgbClr val="FFD966"/>
          </a:solidFill>
          <a:ln>
            <a:noFill/>
          </a:ln>
        </p:spPr>
        <p:txBody>
          <a:bodyPr anchorCtr="0" anchor="ctr" bIns="91425" lIns="162000" spcFirstLastPara="1" rIns="16200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Состав мл проекта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6" name="Google Shape;116;g2f218ce8da5_0_91"/>
          <p:cNvSpPr/>
          <p:nvPr/>
        </p:nvSpPr>
        <p:spPr>
          <a:xfrm>
            <a:off x="787125" y="1795027"/>
            <a:ext cx="3384900" cy="376200"/>
          </a:xfrm>
          <a:prstGeom prst="roundRect">
            <a:avLst>
              <a:gd fmla="val 16667" name="adj"/>
            </a:avLst>
          </a:prstGeom>
          <a:solidFill>
            <a:srgbClr val="FFD966"/>
          </a:solidFill>
          <a:ln>
            <a:noFill/>
          </a:ln>
        </p:spPr>
        <p:txBody>
          <a:bodyPr anchorCtr="0" anchor="ctr" bIns="91425" lIns="162000" spcFirstLastPara="1" rIns="16200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ru-RU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 с </a:t>
            </a: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биржами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7" name="Google Shape;117;g2f218ce8da5_0_91"/>
          <p:cNvSpPr/>
          <p:nvPr/>
        </p:nvSpPr>
        <p:spPr>
          <a:xfrm>
            <a:off x="787125" y="2372042"/>
            <a:ext cx="3384900" cy="376200"/>
          </a:xfrm>
          <a:prstGeom prst="roundRect">
            <a:avLst>
              <a:gd fmla="val 16667" name="adj"/>
            </a:avLst>
          </a:prstGeom>
          <a:solidFill>
            <a:srgbClr val="FFD966"/>
          </a:solidFill>
          <a:ln>
            <a:noFill/>
          </a:ln>
        </p:spPr>
        <p:txBody>
          <a:bodyPr anchorCtr="0" anchor="ctr" bIns="91425" lIns="162000" spcFirstLastPara="1" rIns="16200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Live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8" name="Google Shape;118;g2f218ce8da5_0_91"/>
          <p:cNvSpPr/>
          <p:nvPr/>
        </p:nvSpPr>
        <p:spPr>
          <a:xfrm>
            <a:off x="786525" y="2949064"/>
            <a:ext cx="3384900" cy="376200"/>
          </a:xfrm>
          <a:prstGeom prst="roundRect">
            <a:avLst>
              <a:gd fmla="val 16667" name="adj"/>
            </a:avLst>
          </a:prstGeom>
          <a:solidFill>
            <a:srgbClr val="FFD966"/>
          </a:solidFill>
          <a:ln>
            <a:noFill/>
          </a:ln>
        </p:spPr>
        <p:txBody>
          <a:bodyPr anchorCtr="0" anchor="ctr" bIns="91425" lIns="162000" spcFirstLastPara="1" rIns="16200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300">
                <a:solidFill>
                  <a:srgbClr val="050505"/>
                </a:solidFill>
                <a:latin typeface="Roboto"/>
                <a:ea typeface="Roboto"/>
                <a:cs typeface="Roboto"/>
                <a:sym typeface="Roboto"/>
              </a:rPr>
              <a:t>Практика сборки решения, используя свои данные</a:t>
            </a:r>
            <a:endParaRPr b="0" i="0" sz="1300" u="none" cap="none" strike="noStrike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9" name="Google Shape;119;g2f218ce8da5_0_91"/>
          <p:cNvSpPr/>
          <p:nvPr/>
        </p:nvSpPr>
        <p:spPr>
          <a:xfrm>
            <a:off x="786525" y="3538563"/>
            <a:ext cx="3384900" cy="376200"/>
          </a:xfrm>
          <a:prstGeom prst="roundRect">
            <a:avLst>
              <a:gd fmla="val 16667" name="adj"/>
            </a:avLst>
          </a:prstGeom>
          <a:solidFill>
            <a:srgbClr val="FFD966"/>
          </a:solidFill>
          <a:ln>
            <a:noFill/>
          </a:ln>
        </p:spPr>
        <p:txBody>
          <a:bodyPr anchorCtr="0" anchor="ctr" bIns="91425" lIns="162000" spcFirstLastPara="1" rIns="162000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ru-RU" sz="13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Рефлексия</a:t>
            </a:r>
            <a:endParaRPr b="0" i="0" sz="13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20" name="Google Shape;120;g2f218ce8da5_0_91"/>
          <p:cNvCxnSpPr>
            <a:stCxn id="115" idx="1"/>
            <a:endCxn id="116" idx="1"/>
          </p:cNvCxnSpPr>
          <p:nvPr/>
        </p:nvCxnSpPr>
        <p:spPr>
          <a:xfrm>
            <a:off x="786525" y="1393625"/>
            <a:ext cx="600" cy="589500"/>
          </a:xfrm>
          <a:prstGeom prst="curvedConnector3">
            <a:avLst>
              <a:gd fmla="val -39687500" name="adj1"/>
            </a:avLst>
          </a:prstGeom>
          <a:noFill/>
          <a:ln cap="flat" cmpd="sng" w="9525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1" name="Google Shape;121;g2f218ce8da5_0_91"/>
          <p:cNvCxnSpPr>
            <a:stCxn id="116" idx="1"/>
            <a:endCxn id="117" idx="1"/>
          </p:cNvCxnSpPr>
          <p:nvPr/>
        </p:nvCxnSpPr>
        <p:spPr>
          <a:xfrm>
            <a:off x="787125" y="1983127"/>
            <a:ext cx="600" cy="576900"/>
          </a:xfrm>
          <a:prstGeom prst="curvedConnector3">
            <a:avLst>
              <a:gd fmla="val -39687500" name="adj1"/>
            </a:avLst>
          </a:prstGeom>
          <a:noFill/>
          <a:ln cap="flat" cmpd="sng" w="9525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2" name="Google Shape;122;g2f218ce8da5_0_91"/>
          <p:cNvCxnSpPr>
            <a:stCxn id="117" idx="1"/>
            <a:endCxn id="118" idx="1"/>
          </p:cNvCxnSpPr>
          <p:nvPr/>
        </p:nvCxnSpPr>
        <p:spPr>
          <a:xfrm flipH="1">
            <a:off x="786525" y="2560142"/>
            <a:ext cx="600" cy="576900"/>
          </a:xfrm>
          <a:prstGeom prst="curvedConnector3">
            <a:avLst>
              <a:gd fmla="val 39787500" name="adj1"/>
            </a:avLst>
          </a:prstGeom>
          <a:noFill/>
          <a:ln cap="flat" cmpd="sng" w="9525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3" name="Google Shape;123;g2f218ce8da5_0_91"/>
          <p:cNvCxnSpPr>
            <a:stCxn id="118" idx="1"/>
          </p:cNvCxnSpPr>
          <p:nvPr/>
        </p:nvCxnSpPr>
        <p:spPr>
          <a:xfrm>
            <a:off x="786525" y="3137164"/>
            <a:ext cx="600" cy="576900"/>
          </a:xfrm>
          <a:prstGeom prst="curvedConnector4">
            <a:avLst>
              <a:gd fmla="val -39687500" name="adj1"/>
              <a:gd fmla="val 85077" name="adj2"/>
            </a:avLst>
          </a:prstGeom>
          <a:noFill/>
          <a:ln cap="flat" cmpd="sng" w="9525">
            <a:solidFill>
              <a:schemeClr val="dk1"/>
            </a:solidFill>
            <a:prstDash val="dash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Цели вебинара</a:t>
            </a:r>
            <a:endParaRPr/>
          </a:p>
        </p:txBody>
      </p:sp>
      <p:graphicFrame>
        <p:nvGraphicFramePr>
          <p:cNvPr id="129" name="Google Shape;129;p4"/>
          <p:cNvGraphicFramePr/>
          <p:nvPr/>
        </p:nvGraphicFramePr>
        <p:xfrm>
          <a:off x="952500" y="154419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{BD0EB961-79C1-4C73-A6D6-1B561CECD990}</a:tableStyleId>
              </a:tblPr>
              <a:tblGrid>
                <a:gridCol w="489425"/>
                <a:gridCol w="6749575"/>
              </a:tblGrid>
              <a:tr h="28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ru-RU" sz="1300" u="none" cap="none" strike="noStrike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 sz="1300" u="none" cap="none" strike="noStrike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8575" marB="68575" marR="91425" marL="198000">
                    <a:lnL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ru-RU" sz="135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Познакомиться с работой </a:t>
                      </a:r>
                      <a:r>
                        <a:rPr lang="ru-RU" sz="135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через</a:t>
                      </a:r>
                      <a:r>
                        <a:rPr lang="ru-RU" sz="135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брокеры</a:t>
                      </a:r>
                      <a:endParaRPr sz="1300" u="none" cap="none" strike="noStrike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8575" marB="68575" marR="91425" marL="198000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ru-RU" sz="1300" u="none" cap="none" strike="noStrike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 sz="1300" u="none" cap="none" strike="noStrike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8575" marB="68575" marR="91425" marL="198000">
                    <a:lnL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ru-RU" sz="13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Разобраться как сделать готовый сервис</a:t>
                      </a:r>
                      <a:endParaRPr sz="1300" u="none" cap="none" strike="noStrike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8575" marB="68575" marR="91425" marL="198000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130" name="Google Shape;130;p4"/>
          <p:cNvSpPr txBox="1"/>
          <p:nvPr>
            <p:ph idx="4294967295" type="subTitle"/>
          </p:nvPr>
        </p:nvSpPr>
        <p:spPr>
          <a:xfrm>
            <a:off x="500550" y="85736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None/>
            </a:pPr>
            <a:r>
              <a:rPr b="1" i="0" lang="ru-RU" sz="1500" u="none" cap="none" strike="noStrike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К концу занятия вы сможете:</a:t>
            </a:r>
            <a:endParaRPr b="1" i="0" sz="1500" u="none" cap="none" strike="noStrike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2f2b7367f97_0_49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Смысл?</a:t>
            </a:r>
            <a:endParaRPr/>
          </a:p>
        </p:txBody>
      </p:sp>
      <p:graphicFrame>
        <p:nvGraphicFramePr>
          <p:cNvPr id="136" name="Google Shape;136;g2f2b7367f97_0_49"/>
          <p:cNvGraphicFramePr/>
          <p:nvPr/>
        </p:nvGraphicFramePr>
        <p:xfrm>
          <a:off x="952500" y="154419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{BD0EB961-79C1-4C73-A6D6-1B561CECD990}</a:tableStyleId>
              </a:tblPr>
              <a:tblGrid>
                <a:gridCol w="489425"/>
                <a:gridCol w="6749575"/>
              </a:tblGrid>
              <a:tr h="28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ru-RU" sz="1300" u="none" cap="none" strike="noStrike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 sz="1300" u="none" cap="none" strike="noStrike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8575" marB="68575" marR="91425" marL="198000">
                    <a:lnL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lang="ru-RU">
                          <a:solidFill>
                            <a:schemeClr val="dk1"/>
                          </a:solidFill>
                        </a:rPr>
                        <a:t>Сложная документация у брокеров</a:t>
                      </a:r>
                      <a:endParaRPr sz="1350" u="none" cap="none" strike="noStrike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8575" marB="68575" marR="91425" marL="198000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ru-RU" sz="1300" u="none" cap="none" strike="noStrike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 sz="1300" u="none" cap="none" strike="noStrike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8575" marB="68575" marR="91425" marL="198000">
                    <a:lnL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ru-RU" sz="135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Было пройдено много материала, как теперь это все объединить?</a:t>
                      </a:r>
                      <a:endParaRPr sz="1300" u="none" cap="none" strike="noStrike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8575" marB="68575" marR="91425" marL="198000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6"/>
          <p:cNvSpPr txBox="1"/>
          <p:nvPr>
            <p:ph idx="4294967295" type="subTitle"/>
          </p:nvPr>
        </p:nvSpPr>
        <p:spPr>
          <a:xfrm>
            <a:off x="2630075" y="1737729"/>
            <a:ext cx="6125700" cy="106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lnSpcReduction="20000"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None/>
            </a:pPr>
            <a:r>
              <a:t/>
            </a:r>
            <a:endParaRPr b="0" i="0" sz="1400" u="none" cap="none" strike="noStrike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None/>
            </a:pPr>
            <a:r>
              <a:rPr lang="ru-RU" sz="1400">
                <a:solidFill>
                  <a:srgbClr val="013D85"/>
                </a:solidFill>
              </a:rPr>
              <a:t>Кто то выбрал в качестве проекта трейдингового бота? Какого брокеры вы используете?</a:t>
            </a:r>
            <a:endParaRPr sz="1400">
              <a:solidFill>
                <a:srgbClr val="013D85"/>
              </a:solidFill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None/>
            </a:pPr>
            <a:r>
              <a:t/>
            </a:r>
            <a:endParaRPr b="1" i="0" sz="1500" u="none" cap="none" strike="noStrike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2" name="Google Shape;142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52490" y="1426613"/>
            <a:ext cx="1414775" cy="141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"/>
          <p:cNvSpPr txBox="1"/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ru-RU"/>
              <a:t>Состав мл проекта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2f2dd109321_0_0"/>
          <p:cNvSpPr txBox="1"/>
          <p:nvPr>
            <p:ph type="title"/>
          </p:nvPr>
        </p:nvSpPr>
        <p:spPr>
          <a:xfrm>
            <a:off x="104900" y="1041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Основные компоненты проекта</a:t>
            </a:r>
            <a:endParaRPr/>
          </a:p>
        </p:txBody>
      </p:sp>
      <p:sp>
        <p:nvSpPr>
          <p:cNvPr id="153" name="Google Shape;153;g2f2dd109321_0_0"/>
          <p:cNvSpPr/>
          <p:nvPr/>
        </p:nvSpPr>
        <p:spPr>
          <a:xfrm>
            <a:off x="2177575" y="2205499"/>
            <a:ext cx="4581000" cy="2862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Сбор данных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4" name="Google Shape;154;g2f2dd109321_0_0"/>
          <p:cNvSpPr/>
          <p:nvPr/>
        </p:nvSpPr>
        <p:spPr>
          <a:xfrm>
            <a:off x="2177575" y="1342731"/>
            <a:ext cx="4581000" cy="2862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Формирование</a:t>
            </a:r>
            <a:r>
              <a:rPr lang="ru-RU">
                <a:latin typeface="Roboto"/>
                <a:ea typeface="Roboto"/>
                <a:cs typeface="Roboto"/>
                <a:sym typeface="Roboto"/>
              </a:rPr>
              <a:t> таргета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5" name="Google Shape;155;g2f2dd109321_0_0"/>
          <p:cNvSpPr/>
          <p:nvPr/>
        </p:nvSpPr>
        <p:spPr>
          <a:xfrm>
            <a:off x="2177575" y="1774130"/>
            <a:ext cx="4581000" cy="2862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Оценка нагрузки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6" name="Google Shape;156;g2f2dd109321_0_0"/>
          <p:cNvSpPr/>
          <p:nvPr/>
        </p:nvSpPr>
        <p:spPr>
          <a:xfrm>
            <a:off x="2177575" y="2643241"/>
            <a:ext cx="4581000" cy="2862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Feature Engineering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7" name="Google Shape;157;g2f2dd109321_0_0"/>
          <p:cNvSpPr/>
          <p:nvPr/>
        </p:nvSpPr>
        <p:spPr>
          <a:xfrm>
            <a:off x="2177575" y="3080955"/>
            <a:ext cx="4581000" cy="2862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Разработка модели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8" name="Google Shape;158;g2f2dd109321_0_0"/>
          <p:cNvSpPr/>
          <p:nvPr/>
        </p:nvSpPr>
        <p:spPr>
          <a:xfrm>
            <a:off x="2177575" y="3533403"/>
            <a:ext cx="4581000" cy="2862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Тестирование модели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9" name="Google Shape;159;g2f2dd109321_0_0"/>
          <p:cNvSpPr/>
          <p:nvPr/>
        </p:nvSpPr>
        <p:spPr>
          <a:xfrm>
            <a:off x="2177575" y="3984461"/>
            <a:ext cx="4581000" cy="2862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Внедрение модели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0" name="Google Shape;160;g2f2dd109321_0_0"/>
          <p:cNvSpPr/>
          <p:nvPr/>
        </p:nvSpPr>
        <p:spPr>
          <a:xfrm>
            <a:off x="2177575" y="4433401"/>
            <a:ext cx="4581000" cy="2862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Мониторинг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1" name="Google Shape;161;g2f2dd109321_0_0"/>
          <p:cNvSpPr/>
          <p:nvPr/>
        </p:nvSpPr>
        <p:spPr>
          <a:xfrm>
            <a:off x="2177575" y="877625"/>
            <a:ext cx="4581000" cy="286200"/>
          </a:xfrm>
          <a:prstGeom prst="rect">
            <a:avLst/>
          </a:prstGeom>
          <a:solidFill>
            <a:srgbClr val="FFD96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Постановка задачи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2f214a253b2_0_216"/>
          <p:cNvSpPr txBox="1"/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/>
              <a:t>Вопросы?</a:t>
            </a:r>
            <a:endParaRPr/>
          </a:p>
        </p:txBody>
      </p:sp>
      <p:pic>
        <p:nvPicPr>
          <p:cNvPr id="167" name="Google Shape;167;g2f214a253b2_0_2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g2f214a253b2_0_216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b="0" i="0" sz="15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b="0" i="0" sz="15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69" name="Google Shape;169;g2f214a253b2_0_2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g2f214a253b2_0_216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b="0" i="0" sz="15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b="0" i="0" sz="15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1bfadb3bf1_0_12"/>
          <p:cNvSpPr txBox="1"/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ru-RU"/>
              <a:t>Знакомство с биржами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1bfadb3bf1_0_20"/>
          <p:cNvSpPr txBox="1"/>
          <p:nvPr>
            <p:ph type="title"/>
          </p:nvPr>
        </p:nvSpPr>
        <p:spPr>
          <a:xfrm>
            <a:off x="104900" y="1041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Как можно работать с биржевыми данными?</a:t>
            </a:r>
            <a:endParaRPr/>
          </a:p>
        </p:txBody>
      </p:sp>
      <p:graphicFrame>
        <p:nvGraphicFramePr>
          <p:cNvPr id="181" name="Google Shape;181;g31bfadb3bf1_0_20"/>
          <p:cNvGraphicFramePr/>
          <p:nvPr/>
        </p:nvGraphicFramePr>
        <p:xfrm>
          <a:off x="745700" y="16959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{9CC8CC3A-E459-4CBE-A112-A7EF1DD067EC}</a:tableStyleId>
              </a:tblPr>
              <a:tblGrid>
                <a:gridCol w="3619500"/>
                <a:gridCol w="3619500"/>
              </a:tblGrid>
              <a:tr h="418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Классические инструенты</a:t>
                      </a:r>
                      <a:endParaRPr sz="17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700">
                          <a:latin typeface="Roboto"/>
                          <a:ea typeface="Roboto"/>
                          <a:cs typeface="Roboto"/>
                          <a:sym typeface="Roboto"/>
                        </a:rPr>
                        <a:t>Криптобиржи</a:t>
                      </a:r>
                      <a:endParaRPr sz="17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-33655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Roboto"/>
                        <a:buAutoNum type="arabicPeriod"/>
                      </a:pPr>
                      <a:r>
                        <a:rPr lang="ru-RU" sz="17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OnlineBrocker(Мос биржа, Forex)</a:t>
                      </a:r>
                      <a:endParaRPr sz="17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-33655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Roboto"/>
                        <a:buAutoNum type="arabicPeriod"/>
                      </a:pPr>
                      <a:r>
                        <a:rPr lang="ru-RU" sz="17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Quik. (Мос биржа, СПБ)</a:t>
                      </a:r>
                      <a:endParaRPr sz="17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-33655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Roboto"/>
                        <a:buAutoNum type="arabicPeriod"/>
                      </a:pPr>
                      <a:r>
                        <a:rPr lang="ru-RU" sz="17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Альфа-директ(Мос-биржа)</a:t>
                      </a:r>
                      <a:endParaRPr sz="17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-33655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Roboto"/>
                        <a:buAutoNum type="arabicPeriod"/>
                      </a:pPr>
                      <a:r>
                        <a:rPr lang="ru-RU" sz="17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MetaTrader(Forex)</a:t>
                      </a:r>
                      <a:endParaRPr sz="17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-33655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Roboto"/>
                        <a:buAutoNum type="arabicPeriod"/>
                      </a:pPr>
                      <a:r>
                        <a:rPr lang="ru-RU" sz="17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Tinkoff invest(Мос биржа, СПБ)</a:t>
                      </a:r>
                      <a:endParaRPr sz="17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33655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Roboto"/>
                        <a:buAutoNum type="arabicPeriod"/>
                      </a:pPr>
                      <a:r>
                        <a:rPr lang="ru-RU" sz="17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HTX</a:t>
                      </a:r>
                      <a:endParaRPr sz="17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-33655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Roboto"/>
                        <a:buAutoNum type="arabicPeriod"/>
                      </a:pPr>
                      <a:r>
                        <a:rPr lang="ru-RU" sz="17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Bybit</a:t>
                      </a:r>
                      <a:endParaRPr sz="17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-33655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Roboto"/>
                        <a:buAutoNum type="arabicPeriod"/>
                      </a:pPr>
                      <a:r>
                        <a:rPr lang="ru-RU" sz="17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OKX</a:t>
                      </a:r>
                      <a:endParaRPr sz="17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-33655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Roboto"/>
                        <a:buAutoNum type="arabicPeriod"/>
                      </a:pPr>
                      <a:r>
                        <a:rPr lang="ru-RU" sz="17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Gate</a:t>
                      </a:r>
                      <a:endParaRPr sz="17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-33655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Roboto"/>
                        <a:buAutoNum type="arabicPeriod"/>
                      </a:pPr>
                      <a:r>
                        <a:rPr lang="ru-RU" sz="17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Bitget</a:t>
                      </a:r>
                      <a:endParaRPr sz="17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indent="-336550" lvl="0" marL="45720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700"/>
                        <a:buFont typeface="Roboto"/>
                        <a:buAutoNum type="arabicPeriod"/>
                      </a:pPr>
                      <a:r>
                        <a:rPr lang="ru-RU" sz="17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Phemex</a:t>
                      </a:r>
                      <a:endParaRPr sz="17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91425" marB="91425" marR="91425" marL="91425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11"/>
          <p:cNvSpPr txBox="1"/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ru-RU" sz="7200"/>
              <a:t>Live</a:t>
            </a:r>
            <a:endParaRPr sz="72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2f2b7367f97_0_36"/>
          <p:cNvSpPr txBox="1"/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/>
              <a:t>Вопросы?</a:t>
            </a:r>
            <a:endParaRPr/>
          </a:p>
        </p:txBody>
      </p:sp>
      <p:pic>
        <p:nvPicPr>
          <p:cNvPr id="192" name="Google Shape;192;g2f2b7367f97_0_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193" name="Google Shape;193;g2f2b7367f97_0_36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b="0" i="0" sz="15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b="0" i="0" sz="15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94" name="Google Shape;194;g2f2b7367f97_0_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g2f2b7367f97_0_36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b="0" i="0" sz="15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b="0" i="0" sz="15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2"/>
          <p:cNvSpPr txBox="1"/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</a:pPr>
            <a:r>
              <a:rPr lang="ru-RU"/>
              <a:t>Практический пример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2f2dd109321_0_91"/>
          <p:cNvSpPr txBox="1"/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4900"/>
              <a:t>Вопросы?</a:t>
            </a:r>
            <a:endParaRPr/>
          </a:p>
        </p:txBody>
      </p:sp>
      <p:pic>
        <p:nvPicPr>
          <p:cNvPr id="206" name="Google Shape;206;g2f2dd109321_0_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g2f2dd109321_0_91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b="0" i="0" sz="15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b="0" i="0" sz="15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08" name="Google Shape;208;g2f2dd109321_0_9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g2f2dd109321_0_91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b="0" i="0" sz="15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b="0" i="0" sz="1500" u="none" cap="none" strike="noStrike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g2f214a253b2_0_498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Список материалов для изучения</a:t>
            </a:r>
            <a:endParaRPr/>
          </a:p>
        </p:txBody>
      </p:sp>
      <p:sp>
        <p:nvSpPr>
          <p:cNvPr id="215" name="Google Shape;215;g2f214a253b2_0_498"/>
          <p:cNvSpPr txBox="1"/>
          <p:nvPr/>
        </p:nvSpPr>
        <p:spPr>
          <a:xfrm>
            <a:off x="866625" y="1244575"/>
            <a:ext cx="7076700" cy="173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365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AutoNum type="arabicPeriod"/>
            </a:pPr>
            <a:r>
              <a:rPr lang="ru-RU" sz="1100" u="sng">
                <a:solidFill>
                  <a:schemeClr val="hlink"/>
                </a:solidFill>
                <a:hlinkClick r:id="rId3"/>
              </a:rPr>
              <a:t>Tinkoff invest</a:t>
            </a:r>
            <a:endParaRPr>
              <a:solidFill>
                <a:schemeClr val="dk1"/>
              </a:solidFill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ru-RU" sz="1100" u="sng">
                <a:solidFill>
                  <a:schemeClr val="hlink"/>
                </a:solidFill>
                <a:hlinkClick r:id="rId4"/>
              </a:rPr>
              <a:t>Github Tinkoff api</a:t>
            </a:r>
            <a:endParaRPr>
              <a:solidFill>
                <a:schemeClr val="dk1"/>
              </a:solidFill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ru-RU" sz="1100" u="sng">
                <a:solidFill>
                  <a:schemeClr val="hlink"/>
                </a:solidFill>
                <a:hlinkClick r:id="rId5"/>
              </a:rPr>
              <a:t>HTX api</a:t>
            </a:r>
            <a:endParaRPr>
              <a:solidFill>
                <a:schemeClr val="dk1"/>
              </a:solidFill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ru-RU" sz="1100" u="sng">
                <a:solidFill>
                  <a:schemeClr val="hlink"/>
                </a:solidFill>
                <a:hlinkClick r:id="rId6"/>
              </a:rPr>
              <a:t>Base image for trading</a:t>
            </a:r>
            <a:endParaRPr>
              <a:solidFill>
                <a:schemeClr val="dk1"/>
              </a:solidFill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ru-RU" sz="1100" u="sng">
                <a:solidFill>
                  <a:schemeClr val="hlink"/>
                </a:solidFill>
                <a:hlinkClick r:id="rId7"/>
              </a:rPr>
              <a:t>Полный пример работы бота с брокером Quick</a:t>
            </a:r>
            <a:endParaRPr>
              <a:solidFill>
                <a:schemeClr val="dk1"/>
              </a:solidFill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rPr lang="ru-RU" sz="1100" u="sng">
                <a:solidFill>
                  <a:schemeClr val="hlink"/>
                </a:solidFill>
                <a:hlinkClick r:id="rId8"/>
              </a:rPr>
              <a:t>youtube канал по инвестициям </a:t>
            </a:r>
            <a:endParaRPr sz="1100" u="sng">
              <a:solidFill>
                <a:schemeClr val="hlink"/>
              </a:solidFill>
            </a:endParaRPr>
          </a:p>
          <a:p>
            <a:pPr indent="-3175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AutoNum type="arabicPeriod"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g2f218ce8da5_0_239"/>
          <p:cNvSpPr txBox="1"/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1bfadb3bf1_0_39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Цели вебинара</a:t>
            </a:r>
            <a:endParaRPr/>
          </a:p>
        </p:txBody>
      </p:sp>
      <p:graphicFrame>
        <p:nvGraphicFramePr>
          <p:cNvPr id="226" name="Google Shape;226;g31bfadb3bf1_0_39"/>
          <p:cNvGraphicFramePr/>
          <p:nvPr/>
        </p:nvGraphicFramePr>
        <p:xfrm>
          <a:off x="952500" y="1544194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{BD0EB961-79C1-4C73-A6D6-1B561CECD990}</a:tableStyleId>
              </a:tblPr>
              <a:tblGrid>
                <a:gridCol w="489425"/>
                <a:gridCol w="6749575"/>
              </a:tblGrid>
              <a:tr h="28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ru-RU" sz="1300" u="none" cap="none" strike="noStrike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 sz="1300" u="none" cap="none" strike="noStrike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8575" marB="68575" marR="91425" marL="198000">
                    <a:lnL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ru-RU" sz="135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Познакомиться с работой через брокеры</a:t>
                      </a:r>
                      <a:endParaRPr sz="1300" u="none" cap="none" strike="noStrike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8575" marB="68575" marR="91425" marL="198000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ru-RU" sz="1300" u="none" cap="none" strike="noStrike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 sz="1300" u="none" cap="none" strike="noStrike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8575" marB="68575" marR="91425" marL="198000">
                    <a:lnL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rPr lang="ru-RU" sz="130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Разобраться как сделать готовый сервис</a:t>
                      </a:r>
                      <a:endParaRPr sz="1300" u="none" cap="none" strike="noStrike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T="68575" marB="68575" marR="91425" marL="198000">
                    <a:lnL cap="flat" cmpd="sng" w="9525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9E9E9E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sp>
        <p:nvSpPr>
          <p:cNvPr id="227" name="Google Shape;227;g31bfadb3bf1_0_39"/>
          <p:cNvSpPr txBox="1"/>
          <p:nvPr>
            <p:ph idx="4294967295" type="subTitle"/>
          </p:nvPr>
        </p:nvSpPr>
        <p:spPr>
          <a:xfrm>
            <a:off x="500550" y="85736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None/>
            </a:pPr>
            <a:r>
              <a:rPr b="1" i="0" lang="ru-RU" sz="1500" u="none" cap="none" strike="noStrike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К концу занятия вы сможете:</a:t>
            </a:r>
            <a:endParaRPr b="1" i="0" sz="1500" u="none" cap="none" strike="noStrike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2f218ce8da5_0_303"/>
          <p:cNvSpPr txBox="1"/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Рефлексия</a:t>
            </a:r>
            <a:endParaRPr/>
          </a:p>
        </p:txBody>
      </p:sp>
      <p:sp>
        <p:nvSpPr>
          <p:cNvPr id="233" name="Google Shape;233;g2f218ce8da5_0_303"/>
          <p:cNvSpPr txBox="1"/>
          <p:nvPr/>
        </p:nvSpPr>
        <p:spPr>
          <a:xfrm>
            <a:off x="2009165" y="2565804"/>
            <a:ext cx="4672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Продолжите высказывание: теперь я знаю или умею...</a:t>
            </a:r>
            <a:endParaRPr b="0" i="0" sz="15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4" name="Google Shape;234;g2f218ce8da5_0_303"/>
          <p:cNvSpPr txBox="1"/>
          <p:nvPr/>
        </p:nvSpPr>
        <p:spPr>
          <a:xfrm>
            <a:off x="2020340" y="3483639"/>
            <a:ext cx="49968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планируете использовать в работе?</a:t>
            </a:r>
            <a:endParaRPr b="0" i="0" sz="15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35" name="Google Shape;235;g2f218ce8da5_0_303"/>
          <p:cNvSpPr txBox="1"/>
          <p:nvPr/>
        </p:nvSpPr>
        <p:spPr>
          <a:xfrm>
            <a:off x="2000365" y="1326392"/>
            <a:ext cx="46722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ru-RU" sz="1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Отправьте в чат эмодзи, который отражает ваше настроение после занятия.</a:t>
            </a:r>
            <a:endParaRPr b="0" i="0" sz="15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6" name="Google Shape;236;g2f218ce8da5_0_3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42033" y="1235825"/>
            <a:ext cx="827628" cy="827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g2f218ce8da5_0_30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42014" y="3408408"/>
            <a:ext cx="827628" cy="827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38" name="Google Shape;238;g2f218ce8da5_0_3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50684" y="2359550"/>
            <a:ext cx="828000" cy="82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2f218ce8da5_0_379"/>
          <p:cNvSpPr txBox="1"/>
          <p:nvPr>
            <p:ph type="title"/>
          </p:nvPr>
        </p:nvSpPr>
        <p:spPr>
          <a:xfrm>
            <a:off x="500550" y="330725"/>
            <a:ext cx="8520600" cy="957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100"/>
              <a:buNone/>
            </a:pPr>
            <a:r>
              <a:rPr lang="ru-RU"/>
              <a:t>Следующий вебинар</a:t>
            </a:r>
            <a:endParaRPr/>
          </a:p>
        </p:txBody>
      </p:sp>
      <p:sp>
        <p:nvSpPr>
          <p:cNvPr id="244" name="Google Shape;244;g2f218ce8da5_0_379"/>
          <p:cNvSpPr txBox="1"/>
          <p:nvPr/>
        </p:nvSpPr>
        <p:spPr>
          <a:xfrm>
            <a:off x="1915425" y="1502825"/>
            <a:ext cx="68253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01</a:t>
            </a:r>
            <a:r>
              <a:rPr b="0" i="0" lang="ru-RU" sz="1500" u="none" cap="none" strike="noStrike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-RU" sz="150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Апреля</a:t>
            </a:r>
            <a:r>
              <a:rPr b="0" i="0" lang="ru-RU" sz="1500" u="none" cap="none" strike="noStrike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 202</a:t>
            </a:r>
            <a:r>
              <a:rPr lang="ru-RU" sz="1500">
                <a:solidFill>
                  <a:srgbClr val="FF9900"/>
                </a:solidFill>
                <a:latin typeface="Roboto"/>
                <a:ea typeface="Roboto"/>
                <a:cs typeface="Roboto"/>
                <a:sym typeface="Roboto"/>
              </a:rPr>
              <a:t>5</a:t>
            </a:r>
            <a:endParaRPr b="0" i="0" sz="1500" u="none" cap="none" strike="noStrike">
              <a:solidFill>
                <a:srgbClr val="FF99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5" name="Google Shape;245;g2f218ce8da5_0_379"/>
          <p:cNvSpPr txBox="1"/>
          <p:nvPr/>
        </p:nvSpPr>
        <p:spPr>
          <a:xfrm>
            <a:off x="1915425" y="1826708"/>
            <a:ext cx="6156900" cy="95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16666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Консультация по проектам и домашним заданиям</a:t>
            </a:r>
            <a:endParaRPr b="0" i="0" sz="1800" u="none" cap="none" strike="noStrike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t/>
            </a:r>
            <a:endParaRPr b="1" i="0" sz="2500" u="none" cap="none" strike="noStrike">
              <a:solidFill>
                <a:srgbClr val="05050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46" name="Google Shape;246;g2f218ce8da5_0_37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6500" y="1558024"/>
            <a:ext cx="760725" cy="760725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g2f218ce8da5_0_379"/>
          <p:cNvSpPr txBox="1"/>
          <p:nvPr/>
        </p:nvSpPr>
        <p:spPr>
          <a:xfrm>
            <a:off x="1179775" y="3660425"/>
            <a:ext cx="20562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ru-RU" sz="1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Ссылка на вебинар будет в ЛК за 15 минут</a:t>
            </a:r>
            <a:endParaRPr b="0" i="0" sz="13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8" name="Google Shape;248;g2f218ce8da5_0_379"/>
          <p:cNvSpPr txBox="1"/>
          <p:nvPr/>
        </p:nvSpPr>
        <p:spPr>
          <a:xfrm>
            <a:off x="3844125" y="3660413"/>
            <a:ext cx="17664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ru-RU" sz="1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Материалы</a:t>
            </a:r>
            <a:endParaRPr b="0" i="0" sz="13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ru-RU" sz="1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к занятию в ЛК — можно изучать</a:t>
            </a:r>
            <a:endParaRPr b="0" i="0" sz="13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49" name="Google Shape;249;g2f218ce8da5_0_379"/>
          <p:cNvSpPr txBox="1"/>
          <p:nvPr/>
        </p:nvSpPr>
        <p:spPr>
          <a:xfrm>
            <a:off x="6101125" y="3660413"/>
            <a:ext cx="2100900" cy="78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ru-RU" sz="1300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Обязательный материал обозначен красной лентой</a:t>
            </a:r>
            <a:endParaRPr b="0" i="0" sz="1300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50" name="Google Shape;250;g2f218ce8da5_0_37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35150" y="3750544"/>
            <a:ext cx="214313" cy="214313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g2f218ce8da5_0_37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43250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52" name="Google Shape;252;g2f218ce8da5_0_37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480775" y="3692869"/>
            <a:ext cx="329663" cy="32966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g2f214a253b2_0_6"/>
          <p:cNvSpPr txBox="1"/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800"/>
              <a:t>Заполните, пожалуйста,</a:t>
            </a:r>
            <a:endParaRPr sz="3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/>
              <a:t>опрос о занятии</a:t>
            </a:r>
            <a:endParaRPr sz="3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600"/>
              <a:buNone/>
            </a:pPr>
            <a:r>
              <a:rPr lang="ru-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2f214a253b2_0_70"/>
          <p:cNvSpPr txBox="1"/>
          <p:nvPr>
            <p:ph type="title"/>
          </p:nvPr>
        </p:nvSpPr>
        <p:spPr>
          <a:xfrm>
            <a:off x="500550" y="821221"/>
            <a:ext cx="8520600" cy="1365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rPr lang="ru-RU"/>
              <a:t>Приходите на следующие вебинары</a:t>
            </a:r>
            <a:endParaRPr/>
          </a:p>
        </p:txBody>
      </p:sp>
      <p:sp>
        <p:nvSpPr>
          <p:cNvPr id="263" name="Google Shape;263;g2f214a253b2_0_70"/>
          <p:cNvSpPr txBox="1"/>
          <p:nvPr>
            <p:ph idx="1" type="subTitle"/>
          </p:nvPr>
        </p:nvSpPr>
        <p:spPr>
          <a:xfrm>
            <a:off x="500550" y="457313"/>
            <a:ext cx="77967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ru-RU"/>
              <a:t>Спасибо за внимание!</a:t>
            </a:r>
            <a:endParaRPr/>
          </a:p>
        </p:txBody>
      </p:sp>
      <p:sp>
        <p:nvSpPr>
          <p:cNvPr id="264" name="Google Shape;264;g2f214a253b2_0_70"/>
          <p:cNvSpPr/>
          <p:nvPr/>
        </p:nvSpPr>
        <p:spPr>
          <a:xfrm>
            <a:off x="630000" y="2716325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65" name="Google Shape;265;g2f214a253b2_0_70"/>
          <p:cNvPicPr preferRelativeResize="0"/>
          <p:nvPr/>
        </p:nvPicPr>
        <p:blipFill rotWithShape="1">
          <a:blip r:embed="rId3">
            <a:alphaModFix/>
          </a:blip>
          <a:srcRect b="651" l="0" r="0" t="660"/>
          <a:stretch/>
        </p:blipFill>
        <p:spPr>
          <a:xfrm>
            <a:off x="1069674" y="2963889"/>
            <a:ext cx="1508400" cy="14886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266" name="Google Shape;266;g2f214a253b2_0_70"/>
          <p:cNvSpPr txBox="1"/>
          <p:nvPr>
            <p:ph idx="2" type="subTitle"/>
          </p:nvPr>
        </p:nvSpPr>
        <p:spPr>
          <a:xfrm>
            <a:off x="2983300" y="1866425"/>
            <a:ext cx="3864600" cy="5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</a:pPr>
            <a:r>
              <a:rPr lang="ru-RU"/>
              <a:t>Бухтеев Кирилл</a:t>
            </a:r>
            <a:endParaRPr/>
          </a:p>
        </p:txBody>
      </p:sp>
      <p:sp>
        <p:nvSpPr>
          <p:cNvPr id="267" name="Google Shape;267;g2f214a253b2_0_70"/>
          <p:cNvSpPr txBox="1"/>
          <p:nvPr>
            <p:ph idx="2" type="subTitle"/>
          </p:nvPr>
        </p:nvSpPr>
        <p:spPr>
          <a:xfrm>
            <a:off x="2983300" y="2635444"/>
            <a:ext cx="5095500" cy="193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b="1" lang="ru-RU" sz="1200"/>
              <a:t>Lead ML Engineer</a:t>
            </a:r>
            <a:endParaRPr b="1" sz="12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t/>
            </a:r>
            <a:endParaRPr sz="12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rPr lang="ru-RU" sz="1200"/>
              <a:t>Руководитель ML Engineers в Т банке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None/>
            </a:pPr>
            <a:r>
              <a:rPr b="1" lang="ru-RU" sz="1050">
                <a:solidFill>
                  <a:srgbClr val="013D85"/>
                </a:solidFill>
              </a:rPr>
              <a:t>telegram: @bboybayking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Кирилл Бухтеев</dc:creator>
</cp:coreProperties>
</file>