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7" r:id="rId2"/>
  </p:sldMasterIdLst>
  <p:notesMasterIdLst>
    <p:notesMasterId r:id="rId27"/>
  </p:notesMasterIdLst>
  <p:sldIdLst>
    <p:sldId id="257" r:id="rId3"/>
    <p:sldId id="258" r:id="rId4"/>
    <p:sldId id="312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387" r:id="rId13"/>
    <p:sldId id="415" r:id="rId14"/>
    <p:sldId id="413" r:id="rId15"/>
    <p:sldId id="475" r:id="rId16"/>
    <p:sldId id="476" r:id="rId17"/>
    <p:sldId id="418" r:id="rId18"/>
    <p:sldId id="281" r:id="rId19"/>
    <p:sldId id="280" r:id="rId20"/>
    <p:sldId id="366" r:id="rId21"/>
    <p:sldId id="288" r:id="rId22"/>
    <p:sldId id="474" r:id="rId23"/>
    <p:sldId id="289" r:id="rId24"/>
    <p:sldId id="302" r:id="rId25"/>
    <p:sldId id="303" r:id="rId2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8"/>
    <p:restoredTop sz="97146"/>
  </p:normalViewPr>
  <p:slideViewPr>
    <p:cSldViewPr snapToGrid="0">
      <p:cViewPr varScale="1">
        <p:scale>
          <a:sx n="297" d="100"/>
          <a:sy n="297" d="100"/>
        </p:scale>
        <p:origin x="1264" y="184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773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598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3a70745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e3a70745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806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baa635cc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2baa635cc9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df6222e6a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df6222e6a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3a707456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3a707456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986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7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03" name="Google Shape;20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5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5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3" name="Google Shape;21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3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53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9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9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0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70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9" r:id="rId9"/>
    <p:sldLayoutId id="2147483701" r:id="rId10"/>
    <p:sldLayoutId id="2147483702" r:id="rId11"/>
    <p:sldLayoutId id="214748370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ss.moex.com/iss/reference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moex.com/" TargetMode="External"/><Relationship Id="rId4" Type="http://schemas.openxmlformats.org/officeDocument/2006/relationships/hyperlink" Target="https://fs.moex.com/files/6523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ybit-exchange.github.io/docs/v5/intro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bybit.com/" TargetMode="External"/><Relationship Id="rId4" Type="http://schemas.openxmlformats.org/officeDocument/2006/relationships/hyperlink" Target="https://bybit-exchange.github.io/docs/v5/demo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Yahoo finance </a:t>
            </a:r>
            <a:r>
              <a:rPr lang="en-US" sz="3200" dirty="0" err="1"/>
              <a:t>и</a:t>
            </a:r>
            <a:r>
              <a:rPr lang="ru-RU" sz="3200" dirty="0"/>
              <a:t> не только – работа с российскими инструментами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 </a:t>
            </a:r>
            <a:r>
              <a:rPr lang="ru-RU" sz="3200" dirty="0"/>
              <a:t>для финансового анализа</a:t>
            </a:r>
            <a:br>
              <a:rPr lang="en-US" sz="3200" dirty="0"/>
            </a:br>
            <a:r>
              <a:rPr lang="en-US" sz="2400" dirty="0"/>
              <a:t>Yahoo finance </a:t>
            </a:r>
            <a:r>
              <a:rPr lang="ru-RU" sz="2400" dirty="0"/>
              <a:t>и не только – работа с российскими инструментами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01110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Об ОТУС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50104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ru-RU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ahoo</a:t>
            </a: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finance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299099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en-US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MOEX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397088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6CF15-E72E-E64E-B624-46A6D7BEE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63"/>
          <a:stretch/>
        </p:blipFill>
        <p:spPr>
          <a:xfrm>
            <a:off x="4760850" y="1521159"/>
            <a:ext cx="4260300" cy="2828526"/>
          </a:xfrm>
          <a:prstGeom prst="rect">
            <a:avLst/>
          </a:prstGeom>
        </p:spPr>
      </p:pic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147CE5FE-D009-1F43-9002-52E8A16177A9}"/>
              </a:ext>
            </a:extLst>
          </p:cNvPr>
          <p:cNvSpPr/>
          <p:nvPr/>
        </p:nvSpPr>
        <p:spPr>
          <a:xfrm>
            <a:off x="680150" y="348093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ByBit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Получение данных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464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взять данные</a:t>
            </a:r>
            <a:endParaRPr lang="en-US" dirty="0"/>
          </a:p>
        </p:txBody>
      </p:sp>
      <p:pic>
        <p:nvPicPr>
          <p:cNvPr id="1026" name="Picture 2" descr="Watch Yahoo Finance for Free | DIRECTV Insider">
            <a:extLst>
              <a:ext uri="{FF2B5EF4-FFF2-40B4-BE49-F238E27FC236}">
                <a16:creationId xmlns:a16="http://schemas.microsoft.com/office/drawing/2014/main" id="{FB6E7786-BE78-B043-8EB9-81E40A5AD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6" t="24933" r="13070" b="25203"/>
          <a:stretch/>
        </p:blipFill>
        <p:spPr bwMode="auto">
          <a:xfrm>
            <a:off x="648237" y="1103290"/>
            <a:ext cx="2331076" cy="88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OEX Market Hours &amp; Holidays 2025 - 2026 - TradingHours.com">
            <a:extLst>
              <a:ext uri="{FF2B5EF4-FFF2-40B4-BE49-F238E27FC236}">
                <a16:creationId xmlns:a16="http://schemas.microsoft.com/office/drawing/2014/main" id="{4BC766D7-E6D7-6A4D-985F-8F71DF68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394" y="997158"/>
            <a:ext cx="2511648" cy="887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3E16CE7-BA3A-AA43-98A8-C31079A4C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58610"/>
            <a:ext cx="2541431" cy="88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ybit Advances Regulatory Compliance, Temporarily Adjusts EEA Operations -  Brave New Coin">
            <a:extLst>
              <a:ext uri="{FF2B5EF4-FFF2-40B4-BE49-F238E27FC236}">
                <a16:creationId xmlns:a16="http://schemas.microsoft.com/office/drawing/2014/main" id="{3EB2D716-24A2-AE4F-96B1-1C5BC31D31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68" t="33211" r="24780" b="34047"/>
          <a:stretch/>
        </p:blipFill>
        <p:spPr bwMode="auto">
          <a:xfrm>
            <a:off x="6412666" y="3697758"/>
            <a:ext cx="1910366" cy="69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580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Watch Yahoo Finance for Free | DIRECTV Insider">
            <a:extLst>
              <a:ext uri="{FF2B5EF4-FFF2-40B4-BE49-F238E27FC236}">
                <a16:creationId xmlns:a16="http://schemas.microsoft.com/office/drawing/2014/main" id="{458C239B-4A12-2648-A94D-5732F7D80B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6" t="24933" r="13070" b="25203"/>
          <a:stretch/>
        </p:blipFill>
        <p:spPr bwMode="auto">
          <a:xfrm>
            <a:off x="407831" y="218940"/>
            <a:ext cx="2331076" cy="88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69666A-810C-7043-9CF6-8384757B73FD}"/>
              </a:ext>
            </a:extLst>
          </p:cNvPr>
          <p:cNvSpPr txBox="1"/>
          <p:nvPr/>
        </p:nvSpPr>
        <p:spPr>
          <a:xfrm>
            <a:off x="407831" y="1189149"/>
            <a:ext cx="3342068" cy="363176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1. Ценовые данные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OHLC (Open, High, Low, Close)</a:t>
            </a:r>
          </a:p>
          <a:p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Объемы торгов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Любые интервалы: от 1 минуты до месяца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Исторические данные с 1970х годов</a:t>
            </a:r>
          </a:p>
          <a:p>
            <a:b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2. Фундаментальные показатели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P/E, P/B, P/S </a:t>
            </a: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коэффициенты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ROE, ROA, </a:t>
            </a: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маржа прибыли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Рыночная капитализация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Beta, </a:t>
            </a: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волатильность</a:t>
            </a:r>
          </a:p>
          <a:p>
            <a:b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3. Финансовые отчеты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Income Statement (</a:t>
            </a: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прибыли/убытки)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Balance Sheet (</a:t>
            </a: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баланс)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Cash Flow (</a:t>
            </a: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денежные потоки)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Годовые и квартальные</a:t>
            </a:r>
          </a:p>
          <a:p>
            <a:b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4. Опционы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Calls </a:t>
            </a: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и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Puts</a:t>
            </a:r>
          </a:p>
          <a:p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Implied Volatility</a:t>
            </a:r>
          </a:p>
          <a:p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Open Interest</a:t>
            </a:r>
          </a:p>
          <a:p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Все даты экспирации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FEA59A-9271-FE41-BE17-41D1F5605D72}"/>
              </a:ext>
            </a:extLst>
          </p:cNvPr>
          <p:cNvSpPr txBox="1"/>
          <p:nvPr/>
        </p:nvSpPr>
        <p:spPr>
          <a:xfrm>
            <a:off x="4623517" y="785610"/>
            <a:ext cx="3342068" cy="424731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5. Дивиденды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История выплат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Доходность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Даты выплат</a:t>
            </a:r>
          </a:p>
          <a:p>
            <a:b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6. Держатели акций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Институциональные инвесторы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Взаимные фонды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Инсайдерские транзакции</a:t>
            </a:r>
          </a:p>
          <a:p>
            <a:b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7. Рекомендации аналитиков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Buy/Hold/Sell </a:t>
            </a: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рейтинги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Целевые цены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История апгрейдов/</a:t>
            </a:r>
            <a:r>
              <a:rPr lang="ru-RU" sz="1000" b="0" dirty="0" err="1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даунгрейдов</a:t>
            </a:r>
            <a:endParaRPr lang="ru-RU" sz="1000" b="0" dirty="0">
              <a:solidFill>
                <a:schemeClr val="tx1"/>
              </a:solidFill>
              <a:effectLst/>
              <a:latin typeface="Menlo" panose="020B0609030804020204" pitchFamily="49" charset="0"/>
            </a:endParaRPr>
          </a:p>
          <a:p>
            <a:b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8. Календарь событий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Даты отчетов о прибыли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Дивидендные даты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История прибыли</a:t>
            </a:r>
          </a:p>
          <a:p>
            <a:b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9. Новости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Последние новости по компании</a:t>
            </a:r>
          </a:p>
          <a:p>
            <a:b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</a:br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10. Технические индикаторы</a:t>
            </a:r>
          </a:p>
          <a:p>
            <a:r>
              <a:rPr lang="ru-RU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SMA, EMA, MACD, RSI</a:t>
            </a:r>
          </a:p>
          <a:p>
            <a:r>
              <a:rPr lang="en-US" sz="1000" b="0" dirty="0">
                <a:solidFill>
                  <a:schemeClr val="tx1"/>
                </a:solidFill>
                <a:effectLst/>
                <a:latin typeface="Menlo" panose="020B0609030804020204" pitchFamily="49" charset="0"/>
              </a:rPr>
              <a:t>- Bollinger Bands, ATR</a:t>
            </a:r>
          </a:p>
        </p:txBody>
      </p:sp>
    </p:spTree>
    <p:extLst>
      <p:ext uri="{BB962C8B-B14F-4D97-AF65-F5344CB8AC3E}">
        <p14:creationId xmlns:p14="http://schemas.microsoft.com/office/powerpoint/2010/main" val="4040611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MOEX Market Hours &amp; Holidays 2025 - 2026 - TradingHours.com">
            <a:extLst>
              <a:ext uri="{FF2B5EF4-FFF2-40B4-BE49-F238E27FC236}">
                <a16:creationId xmlns:a16="http://schemas.microsoft.com/office/drawing/2014/main" id="{F9A61E92-9024-154A-9AAF-AC4C09E17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6" y="39829"/>
            <a:ext cx="2511648" cy="887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632131-617E-CD46-B6AB-514355C7F118}"/>
              </a:ext>
            </a:extLst>
          </p:cNvPr>
          <p:cNvSpPr txBox="1"/>
          <p:nvPr/>
        </p:nvSpPr>
        <p:spPr>
          <a:xfrm>
            <a:off x="197476" y="1017210"/>
            <a:ext cx="3679065" cy="393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i="0" dirty="0">
                <a:solidFill>
                  <a:schemeClr val="tx1"/>
                </a:solidFill>
                <a:effectLst/>
                <a:latin typeface="jetbrains"/>
              </a:rPr>
              <a:t>ВОЗМОЖНОСТИ </a:t>
            </a:r>
            <a:r>
              <a:rPr lang="en-US" b="1" i="0" dirty="0">
                <a:solidFill>
                  <a:schemeClr val="tx1"/>
                </a:solidFill>
                <a:effectLst/>
                <a:latin typeface="jetbrains"/>
              </a:rPr>
              <a:t>API MOEX: </a:t>
            </a: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Текущие торговые данные (цены, объемы)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Исторические данные (любой период)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Информация о компаниях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Капитализация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Дивиденды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Сплиты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Данные по облигациям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Данные по фьючерсам и опционам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Индексы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Валюты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И многое другое!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44BCE3-7702-534C-9955-6231892EDAE8}"/>
              </a:ext>
            </a:extLst>
          </p:cNvPr>
          <p:cNvSpPr txBox="1"/>
          <p:nvPr/>
        </p:nvSpPr>
        <p:spPr>
          <a:xfrm>
            <a:off x="4572000" y="927369"/>
            <a:ext cx="4572000" cy="2321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i="0" dirty="0">
                <a:solidFill>
                  <a:schemeClr val="tx1"/>
                </a:solidFill>
                <a:effectLst/>
                <a:latin typeface="jetbrains"/>
              </a:rPr>
              <a:t>ПРЕИМУЩЕСТВА: </a:t>
            </a:r>
            <a:endParaRPr lang="en-US" b="1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Бесплатно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Без регистрации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Без ограничений на количество запросов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Официальные данные от биржи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Real-time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данные (с минимальной задержкой)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Полная история с момента листинга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77ADD3-AD51-8E4F-AF90-5D4130B50467}"/>
              </a:ext>
            </a:extLst>
          </p:cNvPr>
          <p:cNvSpPr txBox="1"/>
          <p:nvPr/>
        </p:nvSpPr>
        <p:spPr>
          <a:xfrm>
            <a:off x="4572000" y="3739077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jetbrains"/>
              </a:rPr>
              <a:t>ПОЛЕЗНЫЕ ССЫЛКИ: </a:t>
            </a:r>
            <a:endParaRPr lang="en-US" b="1" i="0" dirty="0">
              <a:solidFill>
                <a:schemeClr val="tx1"/>
              </a:solidFill>
              <a:effectLst/>
              <a:latin typeface="jetbrains"/>
            </a:endParaRPr>
          </a:p>
          <a:p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API Reference: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  <a:hlinkClick r:id="rId3"/>
              </a:rPr>
              <a:t>https://iss.moex.com/iss/reference/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•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Примеры: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  <a:hlinkClick r:id="rId4"/>
              </a:rPr>
              <a:t>https://fs.moex.com/files/6523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 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•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Московская биржа: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  <a:hlinkClick r:id="rId5"/>
              </a:rPr>
              <a:t>https://www.moex.com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597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4" descr="Bybit Advances Regulatory Compliance, Temporarily Adjusts EEA Operations -  Brave New Coin">
            <a:extLst>
              <a:ext uri="{FF2B5EF4-FFF2-40B4-BE49-F238E27FC236}">
                <a16:creationId xmlns:a16="http://schemas.microsoft.com/office/drawing/2014/main" id="{78D74591-18D8-8141-954D-86881AF4C9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68" t="33211" r="24780" b="34047"/>
          <a:stretch/>
        </p:blipFill>
        <p:spPr bwMode="auto">
          <a:xfrm>
            <a:off x="273736" y="57330"/>
            <a:ext cx="1910366" cy="69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69A89D-F6EF-E24A-9F8A-B2365C8B75E2}"/>
              </a:ext>
            </a:extLst>
          </p:cNvPr>
          <p:cNvSpPr txBox="1"/>
          <p:nvPr/>
        </p:nvSpPr>
        <p:spPr>
          <a:xfrm>
            <a:off x="273736" y="897007"/>
            <a:ext cx="3336641" cy="329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i="0" dirty="0">
                <a:solidFill>
                  <a:schemeClr val="tx1"/>
                </a:solidFill>
                <a:effectLst/>
                <a:latin typeface="jetbrains"/>
              </a:rPr>
              <a:t>ВОЗМОЖНОСТИ </a:t>
            </a:r>
            <a:r>
              <a:rPr lang="en-US" b="1" i="0" dirty="0">
                <a:solidFill>
                  <a:schemeClr val="tx1"/>
                </a:solidFill>
                <a:effectLst/>
                <a:latin typeface="jetbrains"/>
              </a:rPr>
              <a:t>API BYBIT: </a:t>
            </a: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Текущие цены и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jetbrains"/>
              </a:rPr>
              <a:t>тикеры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Исторические данные (свечи)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Объемы торгов и обороты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Стакан заявок (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orderbook) </a:t>
            </a: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Последние сделки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Информация об инструментах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jetbrains"/>
              </a:rPr>
              <a:t>Фундинговые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 ставки (для фьючерсов)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Open Interest </a:t>
            </a:r>
          </a:p>
          <a:p>
            <a:pPr>
              <a:lnSpc>
                <a:spcPct val="150000"/>
              </a:lnSpc>
            </a:pPr>
            <a:r>
              <a:rPr lang="en-TR" b="0" i="0" dirty="0">
                <a:solidFill>
                  <a:schemeClr val="tx1"/>
                </a:solidFill>
                <a:effectLst/>
                <a:latin typeface="jetbrains"/>
              </a:rPr>
              <a:t>✅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И многое другое!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D0952-6DFE-084F-AA70-7EA6076F6020}"/>
              </a:ext>
            </a:extLst>
          </p:cNvPr>
          <p:cNvSpPr txBox="1"/>
          <p:nvPr/>
        </p:nvSpPr>
        <p:spPr>
          <a:xfrm>
            <a:off x="4200657" y="897007"/>
            <a:ext cx="4307983" cy="2321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i="0" dirty="0">
                <a:solidFill>
                  <a:schemeClr val="tx1"/>
                </a:solidFill>
                <a:effectLst/>
                <a:latin typeface="jetbrains"/>
              </a:rPr>
              <a:t>ПРЕИМУЩЕСТВА: </a:t>
            </a:r>
            <a:endParaRPr lang="en-US" b="1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Бесплатно (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Public API) 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•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Без регистрации для рыночных данных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Без ограничений на количество запросов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• Real-time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данные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  <a:p>
            <a:pPr>
              <a:lnSpc>
                <a:spcPct val="150000"/>
              </a:lnSpc>
            </a:pP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Поддержка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Spot, Linear, Inverse markets 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• </a:t>
            </a:r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Отличная документация </a:t>
            </a:r>
            <a:endParaRPr lang="en-US" b="0" i="0" dirty="0">
              <a:solidFill>
                <a:schemeClr val="tx1"/>
              </a:solidFill>
              <a:effectLst/>
              <a:latin typeface="jetbra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4C0981-F216-BF42-97AD-6EA78E32E7FB}"/>
              </a:ext>
            </a:extLst>
          </p:cNvPr>
          <p:cNvSpPr txBox="1"/>
          <p:nvPr/>
        </p:nvSpPr>
        <p:spPr>
          <a:xfrm>
            <a:off x="4200657" y="3674238"/>
            <a:ext cx="47845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jetbrains"/>
              </a:rPr>
              <a:t>ПОЛЕЗНЫЕ ССЫЛКИ: </a:t>
            </a:r>
            <a:endParaRPr lang="en-US" b="1" i="0" dirty="0">
              <a:solidFill>
                <a:schemeClr val="tx1"/>
              </a:solidFill>
              <a:effectLst/>
              <a:latin typeface="jetbrains"/>
            </a:endParaRPr>
          </a:p>
          <a:p>
            <a:r>
              <a:rPr lang="ru-RU" b="0" i="0" dirty="0">
                <a:solidFill>
                  <a:schemeClr val="tx1"/>
                </a:solidFill>
                <a:effectLst/>
                <a:latin typeface="jetbrains"/>
              </a:rPr>
              <a:t>•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API Docs: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  <a:hlinkClick r:id="rId3"/>
              </a:rPr>
              <a:t>https://bybit-exchange.github.io/docs/v5/intro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 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• API Explorer: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  <a:hlinkClick r:id="rId4"/>
              </a:rPr>
              <a:t>https://bybit-exchange.github.io/docs/v5/demo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  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•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jetbrains"/>
              </a:rPr>
              <a:t>ByBit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: 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  <a:hlinkClick r:id="rId5"/>
              </a:rPr>
              <a:t>https://www.bybit.com</a:t>
            </a:r>
            <a:r>
              <a:rPr lang="en-US" b="0" i="0" dirty="0">
                <a:solidFill>
                  <a:schemeClr val="tx1"/>
                </a:solidFill>
                <a:effectLst/>
                <a:latin typeface="jetbrains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422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5341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Практическая реализация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1156979962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загружать данные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373186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строить базовые графики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строить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индикаторы технического анализа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5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57" name="Google Shape;45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5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5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" name="Google Shape;389;p75">
            <a:extLst>
              <a:ext uri="{FF2B5EF4-FFF2-40B4-BE49-F238E27FC236}">
                <a16:creationId xmlns:a16="http://schemas.microsoft.com/office/drawing/2014/main" id="{EE71290E-F42D-6247-8F96-FFA1EE92C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9698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какие данные предлагает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ahoo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finance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 загрузить данные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OEX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 получать данные с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yBit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096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46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Знакомство с </a:t>
            </a:r>
            <a:br>
              <a:rPr lang="ru" sz="4000" dirty="0"/>
            </a:br>
            <a:r>
              <a:rPr lang="ru" sz="4000" dirty="0"/>
              <a:t>программой курса</a:t>
            </a:r>
            <a:endParaRPr sz="40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19310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1.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Введение в машинное обучение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805231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2.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Технический анализ финансовых рынков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074342" y="2879957"/>
            <a:ext cx="322966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4.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Продвинутые нейросети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805231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3.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Глубокое обучение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19"/>
            <a:ext cx="857995" cy="745611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886094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5.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Перенос модели в продакшн</a:t>
            </a: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2094881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2094881"/>
            <a:ext cx="12700" cy="107472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 flipV="1">
            <a:off x="3714006" y="3169606"/>
            <a:ext cx="1360337" cy="6137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6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. </a:t>
            </a:r>
            <a:r>
              <a:rPr lang="ru-RU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Финальный проект и практическое применение</a:t>
            </a:r>
            <a:endParaRPr sz="1050" b="0" i="0" u="none" strike="noStrike" cap="none" dirty="0">
              <a:solidFill>
                <a:schemeClr val="dk1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5" idx="2"/>
          </p:cNvCxnSpPr>
          <p:nvPr/>
        </p:nvCxnSpPr>
        <p:spPr>
          <a:xfrm rot="16200000" flipV="1">
            <a:off x="2993318" y="2656082"/>
            <a:ext cx="769371" cy="238799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37938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37938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373331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373332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46539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46539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46539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46539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3165384" y="8783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5380104" y="190958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181353" y="2971605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773716" y="3008782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87457" y="191184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20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"/>
          <p:cNvSpPr/>
          <p:nvPr/>
        </p:nvSpPr>
        <p:spPr>
          <a:xfrm>
            <a:off x="1052550" y="1264075"/>
            <a:ext cx="3426900" cy="77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4"/>
          <p:cNvSpPr/>
          <p:nvPr/>
        </p:nvSpPr>
        <p:spPr>
          <a:xfrm>
            <a:off x="1052550" y="2237575"/>
            <a:ext cx="3426900" cy="99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4"/>
          <p:cNvSpPr/>
          <p:nvPr/>
        </p:nvSpPr>
        <p:spPr>
          <a:xfrm>
            <a:off x="1052550" y="3425275"/>
            <a:ext cx="3426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4"/>
          <p:cNvSpPr/>
          <p:nvPr/>
        </p:nvSpPr>
        <p:spPr>
          <a:xfrm>
            <a:off x="4673550" y="1264075"/>
            <a:ext cx="3417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4"/>
          <p:cNvSpPr/>
          <p:nvPr/>
        </p:nvSpPr>
        <p:spPr>
          <a:xfrm>
            <a:off x="4673550" y="2579575"/>
            <a:ext cx="3417900" cy="84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4"/>
          <p:cNvSpPr/>
          <p:nvPr/>
        </p:nvSpPr>
        <p:spPr>
          <a:xfrm>
            <a:off x="4673550" y="3607675"/>
            <a:ext cx="3417900" cy="951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9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4"/>
          <p:cNvSpPr txBox="1"/>
          <p:nvPr/>
        </p:nvSpPr>
        <p:spPr>
          <a:xfrm>
            <a:off x="1763275" y="1326125"/>
            <a:ext cx="25296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выстроено в формате вебинаров (онлайн). Онлайн-вебинары проводятся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вечерам или в выходные дни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4" name="Google Shape;52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900" y="24404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4"/>
          <p:cNvSpPr txBox="1"/>
          <p:nvPr/>
        </p:nvSpPr>
        <p:spPr>
          <a:xfrm>
            <a:off x="1763275" y="2305525"/>
            <a:ext cx="26265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Все записи занятий и материалы, предоставляемые преподавателями, сохраняются в личном кабинете и остаются доступны даже после окончания обучения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7900" y="36322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94"/>
          <p:cNvSpPr txBox="1"/>
          <p:nvPr/>
        </p:nvSpPr>
        <p:spPr>
          <a:xfrm>
            <a:off x="1763275" y="3495075"/>
            <a:ext cx="24933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 позволят Вам применить на практике полученные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 время вебинаров знания.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каждому домашнему заданию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преподаватель дает развернутый фидбек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8" name="Google Shape;528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1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4"/>
          <p:cNvSpPr txBox="1"/>
          <p:nvPr/>
        </p:nvSpPr>
        <p:spPr>
          <a:xfrm>
            <a:off x="5378475" y="1326125"/>
            <a:ext cx="24933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Вы можете задавать преподавателю вопросы по материалам лекций и домашних заданий, уточнять моменты, которые были непонятны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уроке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0" name="Google Shape;530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3100" y="2743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94"/>
          <p:cNvSpPr txBox="1"/>
          <p:nvPr/>
        </p:nvSpPr>
        <p:spPr>
          <a:xfrm>
            <a:off x="5378475" y="2647825"/>
            <a:ext cx="26265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на обучение: от 4 ак. часов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занятия и 4-8 часов на домашнюю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работу в неделю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2" name="Google Shape;532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3100" y="3760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4"/>
          <p:cNvSpPr txBox="1"/>
          <p:nvPr/>
        </p:nvSpPr>
        <p:spPr>
          <a:xfrm>
            <a:off x="5378475" y="3664825"/>
            <a:ext cx="25296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обучения на курсах обновляется каждый запуск в зависимости от актуальных запросов в сфере IТ-технологий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94"/>
          <p:cNvSpPr txBox="1"/>
          <p:nvPr/>
        </p:nvSpPr>
        <p:spPr>
          <a:xfrm>
            <a:off x="500550" y="336745"/>
            <a:ext cx="83076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latin typeface="Roboto"/>
                <a:ea typeface="Roboto"/>
                <a:cs typeface="Roboto"/>
                <a:sym typeface="Roboto"/>
              </a:rPr>
              <a:t>Процесс обучения</a:t>
            </a:r>
            <a:endParaRPr sz="31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240" y="2418961"/>
            <a:ext cx="608438" cy="608424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07"/>
          <p:cNvSpPr txBox="1"/>
          <p:nvPr/>
        </p:nvSpPr>
        <p:spPr>
          <a:xfrm>
            <a:off x="500550" y="950100"/>
            <a:ext cx="553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45818E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2400" b="1" i="1" dirty="0">
                <a:solidFill>
                  <a:srgbClr val="45818E"/>
                </a:solidFill>
                <a:latin typeface="Roboto"/>
                <a:ea typeface="Roboto"/>
                <a:cs typeface="Roboto"/>
                <a:sym typeface="Roboto"/>
              </a:rPr>
              <a:t>для финансового анализа</a:t>
            </a:r>
            <a:endParaRPr sz="2400" b="1" i="1" dirty="0">
              <a:solidFill>
                <a:srgbClr val="45818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107"/>
          <p:cNvSpPr txBox="1"/>
          <p:nvPr/>
        </p:nvSpPr>
        <p:spPr>
          <a:xfrm>
            <a:off x="1813965" y="2446096"/>
            <a:ext cx="418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старт обучения: </a:t>
            </a:r>
            <a:r>
              <a:rPr lang="ru-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r>
              <a:rPr lang="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r>
              <a:rPr lang="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.202</a:t>
            </a:r>
            <a:r>
              <a:rPr lang="en-US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 b="1" i="1" dirty="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6" name="Google Shape;636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9644" y="110465"/>
            <a:ext cx="1064725" cy="10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8"/>
          <p:cNvSpPr txBox="1">
            <a:spLocks noGrp="1"/>
          </p:cNvSpPr>
          <p:nvPr>
            <p:ph type="title"/>
          </p:nvPr>
        </p:nvSpPr>
        <p:spPr>
          <a:xfrm>
            <a:off x="956225" y="777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0"/>
              <a:t>Заполните, пожалуйста,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/>
              <a:t>опрос</a:t>
            </a:r>
            <a:r>
              <a:rPr lang="ru" sz="3500" b="0"/>
              <a:t> о занятии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u="sng">
                <a:solidFill>
                  <a:schemeClr val="accent6"/>
                </a:solidFill>
              </a:rPr>
              <a:t>Важно! Пройти опрос могут только залогиненные пользователи платформы OTUS</a:t>
            </a:r>
            <a:r>
              <a:rPr lang="ru" sz="1800" i="1" u="sng">
                <a:solidFill>
                  <a:srgbClr val="E06666"/>
                </a:solidFill>
              </a:rPr>
              <a:t> </a:t>
            </a: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ru"/>
              <a:t>Спасибо за внимание!</a:t>
            </a:r>
            <a:endParaRPr/>
          </a:p>
        </p:txBody>
      </p:sp>
      <p:pic>
        <p:nvPicPr>
          <p:cNvPr id="643" name="Google Shape;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775" y="2131625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10126</TotalTime>
  <Words>1169</Words>
  <Application>Microsoft Macintosh PowerPoint</Application>
  <PresentationFormat>On-screen Show (16:9)</PresentationFormat>
  <Paragraphs>215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Roboto</vt:lpstr>
      <vt:lpstr>Apple Chancery</vt:lpstr>
      <vt:lpstr>Menlo</vt:lpstr>
      <vt:lpstr>jetbrains</vt:lpstr>
      <vt:lpstr>Arial</vt:lpstr>
      <vt:lpstr>Courier New</vt:lpstr>
      <vt:lpstr>Светлая тема</vt:lpstr>
      <vt:lpstr>Светлая тема</vt:lpstr>
      <vt:lpstr>ML для финансового анализа Yahoo finance и не только – работа с российскими инструментами</vt:lpstr>
      <vt:lpstr>PowerPoint Presentation</vt:lpstr>
      <vt:lpstr>ML для финансового анализа Yahoo finance и не только – работа с российскими инструментами</vt:lpstr>
      <vt:lpstr>Маршрут вебинара</vt:lpstr>
      <vt:lpstr>Расскажите о себе</vt:lpstr>
      <vt:lpstr>Правила вебинара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Получение данных</vt:lpstr>
      <vt:lpstr>Где взять данные</vt:lpstr>
      <vt:lpstr>PowerPoint Presentation</vt:lpstr>
      <vt:lpstr>PowerPoint Presentation</vt:lpstr>
      <vt:lpstr>PowerPoint Presentation</vt:lpstr>
      <vt:lpstr>Практика</vt:lpstr>
      <vt:lpstr>Практическая реализация </vt:lpstr>
      <vt:lpstr>Вопросы?</vt:lpstr>
      <vt:lpstr>Ключевые тезисы  </vt:lpstr>
      <vt:lpstr>Знакомство с  программой курса</vt:lpstr>
      <vt:lpstr>Карта курса</vt:lpstr>
      <vt:lpstr>PowerPoint Presentation</vt:lpstr>
      <vt:lpstr>PowerPoint Presentation</vt:lpstr>
      <vt:lpstr>Заполните, пожалуйста, опрос о занятии Важно! Пройти опрос могут только залогиненные пользователи платформы OTUS     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117</cp:revision>
  <dcterms:modified xsi:type="dcterms:W3CDTF">2025-12-09T13:27:23Z</dcterms:modified>
</cp:coreProperties>
</file>