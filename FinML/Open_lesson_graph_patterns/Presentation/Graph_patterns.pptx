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  <p:sldMasterId id="2147483707" r:id="rId2"/>
  </p:sldMasterIdLst>
  <p:notesMasterIdLst>
    <p:notesMasterId r:id="rId56"/>
  </p:notesMasterIdLst>
  <p:sldIdLst>
    <p:sldId id="257" r:id="rId3"/>
    <p:sldId id="258" r:id="rId4"/>
    <p:sldId id="312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387" r:id="rId13"/>
    <p:sldId id="415" r:id="rId14"/>
    <p:sldId id="416" r:id="rId15"/>
    <p:sldId id="417" r:id="rId16"/>
    <p:sldId id="269" r:id="rId17"/>
    <p:sldId id="402" r:id="rId18"/>
    <p:sldId id="403" r:id="rId19"/>
    <p:sldId id="404" r:id="rId20"/>
    <p:sldId id="407" r:id="rId21"/>
    <p:sldId id="406" r:id="rId22"/>
    <p:sldId id="408" r:id="rId23"/>
    <p:sldId id="405" r:id="rId24"/>
    <p:sldId id="409" r:id="rId25"/>
    <p:sldId id="410" r:id="rId26"/>
    <p:sldId id="411" r:id="rId27"/>
    <p:sldId id="412" r:id="rId28"/>
    <p:sldId id="413" r:id="rId29"/>
    <p:sldId id="414" r:id="rId30"/>
    <p:sldId id="420" r:id="rId31"/>
    <p:sldId id="421" r:id="rId32"/>
    <p:sldId id="422" r:id="rId33"/>
    <p:sldId id="423" r:id="rId34"/>
    <p:sldId id="424" r:id="rId35"/>
    <p:sldId id="485" r:id="rId36"/>
    <p:sldId id="483" r:id="rId37"/>
    <p:sldId id="484" r:id="rId38"/>
    <p:sldId id="418" r:id="rId39"/>
    <p:sldId id="281" r:id="rId40"/>
    <p:sldId id="280" r:id="rId41"/>
    <p:sldId id="366" r:id="rId42"/>
    <p:sldId id="288" r:id="rId43"/>
    <p:sldId id="474" r:id="rId44"/>
    <p:sldId id="372" r:id="rId45"/>
    <p:sldId id="475" r:id="rId46"/>
    <p:sldId id="476" r:id="rId47"/>
    <p:sldId id="477" r:id="rId48"/>
    <p:sldId id="478" r:id="rId49"/>
    <p:sldId id="479" r:id="rId50"/>
    <p:sldId id="480" r:id="rId51"/>
    <p:sldId id="401" r:id="rId52"/>
    <p:sldId id="289" r:id="rId53"/>
    <p:sldId id="302" r:id="rId54"/>
    <p:sldId id="303" r:id="rId55"/>
  </p:sldIdLst>
  <p:sldSz cx="9144000" cy="5143500" type="screen16x9"/>
  <p:notesSz cx="6858000" cy="9144000"/>
  <p:embeddedFontLst>
    <p:embeddedFont>
      <p:font typeface="AkayaTelivigala" panose="020F0502020204030204" pitchFamily="34" charset="0"/>
      <p:regular r:id="rId57"/>
      <p:bold r:id="rId58"/>
      <p:italic r:id="rId59"/>
      <p:boldItalic r:id="rId60"/>
    </p:embeddedFont>
    <p:embeddedFont>
      <p:font typeface="Andale Mono" panose="020B0509000000000004" pitchFamily="49" charset="0"/>
      <p:regular r:id="rId61"/>
    </p:embeddedFont>
    <p:embeddedFont>
      <p:font typeface="Calibri" panose="020F0502020204030204" pitchFamily="34" charset="0"/>
      <p:regular r:id="rId62"/>
      <p:bold r:id="rId63"/>
      <p:italic r:id="rId64"/>
      <p:boldItalic r:id="rId65"/>
    </p:embeddedFont>
    <p:embeddedFont>
      <p:font typeface="Cambria Math" panose="02040503050406030204" pitchFamily="18" charset="0"/>
      <p:regular r:id="rId66"/>
    </p:embeddedFont>
    <p:embeddedFont>
      <p:font typeface="Roboto" panose="02000000000000000000" pitchFamily="2" charset="0"/>
      <p:regular r:id="rId67"/>
      <p:bold r:id="rId68"/>
      <p:italic r:id="rId69"/>
      <p:boldItalic r:id="rId7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724">
          <p15:clr>
            <a:srgbClr val="A4A3A4"/>
          </p15:clr>
        </p15:guide>
        <p15:guide id="2" pos="380">
          <p15:clr>
            <a:srgbClr val="9AA0A6"/>
          </p15:clr>
        </p15:guide>
        <p15:guide id="3" orient="horz" pos="2041">
          <p15:clr>
            <a:srgbClr val="9AA0A6"/>
          </p15:clr>
        </p15:guide>
        <p15:guide id="4" orient="horz" pos="2169">
          <p15:clr>
            <a:srgbClr val="9AA0A6"/>
          </p15:clr>
        </p15:guide>
        <p15:guide id="5" pos="331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59E00E-254B-42B5-9FED-D0DB1D54CBD8}">
  <a:tblStyle styleId="{9F59E00E-254B-42B5-9FED-D0DB1D54CB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41"/>
    <p:restoredTop sz="97146"/>
  </p:normalViewPr>
  <p:slideViewPr>
    <p:cSldViewPr snapToGrid="0">
      <p:cViewPr varScale="1">
        <p:scale>
          <a:sx n="208" d="100"/>
          <a:sy n="208" d="100"/>
        </p:scale>
        <p:origin x="200" y="472"/>
      </p:cViewPr>
      <p:guideLst>
        <p:guide pos="1724"/>
        <p:guide pos="380"/>
        <p:guide orient="horz" pos="2041"/>
        <p:guide orient="horz" pos="2169"/>
        <p:guide pos="33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74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font" Target="fonts/font5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6.fntdata"/><Relationship Id="rId70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font" Target="fonts/font1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f305d12f4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f305d12f4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07730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8a1700b9f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8a1700b9f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9306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826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45982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e3a707456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e3a707456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4806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f305d12f47_1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f305d12f47_1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81462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81606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21547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39227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44701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16010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7725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2baa635cc9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g22baa635cc9_0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df6222e6a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df6222e6a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e3a707456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e3a707456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2"/>
          </p:nvPr>
        </p:nvSpPr>
        <p:spPr>
          <a:xfrm>
            <a:off x="3891775" y="2252794"/>
            <a:ext cx="4587900" cy="20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Ваш макет 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500550" y="2545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9868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47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7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4" name="Google Shape;194;p47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8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7" name="Google Shape;197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0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03" name="Google Shape;203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6" name="Google Shape;206;p51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1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51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51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51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13" name="Google Shape;213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53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53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54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2" name="Google Shape;222;p54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223" name="Google Shape;223;p5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224" name="Google Shape;224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58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58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59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59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9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60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60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60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image" Target="../media/image4.jpg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70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89" name="Google Shape;189;p4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0" name="Google Shape;190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1" r:id="rId11"/>
    <p:sldLayoutId id="2147483702" r:id="rId12"/>
    <p:sldLayoutId id="214748370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www.linkedin.com/in/igor-stureiko" TargetMode="Externa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3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jp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258" name="Google Shape;258;p62"/>
          <p:cNvSpPr txBox="1">
            <a:spLocks noGrp="1"/>
          </p:cNvSpPr>
          <p:nvPr>
            <p:ph type="title"/>
          </p:nvPr>
        </p:nvSpPr>
        <p:spPr>
          <a:xfrm>
            <a:off x="944650" y="1477350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</a:t>
            </a:r>
            <a:r>
              <a:rPr lang="ru-RU" dirty="0"/>
              <a:t>для финансового анализа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200" dirty="0"/>
              <a:t>Введение в технический анализ: графики и индикаторы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3"/>
          <p:cNvSpPr txBox="1"/>
          <p:nvPr/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Проверить, идет ли запись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63"/>
          <p:cNvSpPr txBox="1"/>
          <p:nvPr/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«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»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чат, если меня слышно и видно</a:t>
            </a:r>
            <a:endParaRPr sz="35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5" name="Google Shape;265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6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dirty="0"/>
              <a:t>ML </a:t>
            </a:r>
            <a:r>
              <a:rPr lang="ru-RU" sz="3200" dirty="0"/>
              <a:t>для финансового анализа</a:t>
            </a:r>
            <a:br>
              <a:rPr lang="en-US" sz="3200" dirty="0"/>
            </a:br>
            <a:r>
              <a:rPr lang="ru-RU" sz="2400" dirty="0"/>
              <a:t>Введение в технический анализ: графики и индикаторы.</a:t>
            </a:r>
            <a:endParaRPr b="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Открытый урок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Google Shape;278;p64">
            <a:extLst>
              <a:ext uri="{FF2B5EF4-FFF2-40B4-BE49-F238E27FC236}">
                <a16:creationId xmlns:a16="http://schemas.microsoft.com/office/drawing/2014/main" id="{DC03452F-6B2F-EA48-9B01-C3577A3005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BDA60-D1B3-5B41-A4D2-CDAE2DD6B0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D0D012C5-1A3B-EC4C-B8A7-64C8AF21B41A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5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84" name="Google Shape;284;p65"/>
          <p:cNvSpPr/>
          <p:nvPr/>
        </p:nvSpPr>
        <p:spPr>
          <a:xfrm>
            <a:off x="680150" y="15211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65"/>
          <p:cNvSpPr/>
          <p:nvPr/>
        </p:nvSpPr>
        <p:spPr>
          <a:xfrm>
            <a:off x="680150" y="210814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Об ОТУС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65"/>
          <p:cNvSpPr/>
          <p:nvPr/>
        </p:nvSpPr>
        <p:spPr>
          <a:xfrm>
            <a:off x="680150" y="2737038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Типы графиков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65"/>
          <p:cNvSpPr/>
          <p:nvPr/>
        </p:nvSpPr>
        <p:spPr>
          <a:xfrm>
            <a:off x="680150" y="33491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Паттерны на графике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288;p65">
            <a:extLst>
              <a:ext uri="{FF2B5EF4-FFF2-40B4-BE49-F238E27FC236}">
                <a16:creationId xmlns:a16="http://schemas.microsoft.com/office/drawing/2014/main" id="{E70A6281-3704-B54B-BD03-7CD165FF9994}"/>
              </a:ext>
            </a:extLst>
          </p:cNvPr>
          <p:cNvSpPr/>
          <p:nvPr/>
        </p:nvSpPr>
        <p:spPr>
          <a:xfrm>
            <a:off x="680150" y="397088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46CF15-E72E-E64E-B624-46A6D7BEE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863"/>
          <a:stretch/>
        </p:blipFill>
        <p:spPr>
          <a:xfrm>
            <a:off x="4760850" y="1521159"/>
            <a:ext cx="4260300" cy="28285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/>
              <a:t>Правила вебинара</a:t>
            </a:r>
            <a:endParaRPr b="1"/>
          </a:p>
        </p:txBody>
      </p:sp>
      <p:sp>
        <p:nvSpPr>
          <p:cNvPr id="305" name="Google Shape;305;p67"/>
          <p:cNvSpPr/>
          <p:nvPr/>
        </p:nvSpPr>
        <p:spPr>
          <a:xfrm>
            <a:off x="5730575" y="-8062"/>
            <a:ext cx="34134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" name="Google Shape;307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4940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510213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67"/>
          <p:cNvSpPr txBox="1"/>
          <p:nvPr/>
        </p:nvSpPr>
        <p:spPr>
          <a:xfrm>
            <a:off x="1654525" y="14808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67"/>
          <p:cNvSpPr txBox="1"/>
          <p:nvPr/>
        </p:nvSpPr>
        <p:spPr>
          <a:xfrm>
            <a:off x="1654525" y="35178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1" name="Google Shape;311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2514043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7"/>
          <p:cNvSpPr txBox="1"/>
          <p:nvPr/>
        </p:nvSpPr>
        <p:spPr>
          <a:xfrm>
            <a:off x="1654525" y="2519056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67"/>
          <p:cNvSpPr txBox="1"/>
          <p:nvPr/>
        </p:nvSpPr>
        <p:spPr>
          <a:xfrm>
            <a:off x="6350663" y="1403888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4" name="Google Shape;314;p6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23692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67"/>
          <p:cNvSpPr txBox="1"/>
          <p:nvPr/>
        </p:nvSpPr>
        <p:spPr>
          <a:xfrm>
            <a:off x="6829363" y="23559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6" name="Google Shape;316;p6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8418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7"/>
          <p:cNvSpPr txBox="1"/>
          <p:nvPr/>
        </p:nvSpPr>
        <p:spPr>
          <a:xfrm>
            <a:off x="6829363" y="28369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8" name="Google Shape;318;p6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33219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67"/>
          <p:cNvSpPr txBox="1"/>
          <p:nvPr/>
        </p:nvSpPr>
        <p:spPr>
          <a:xfrm>
            <a:off x="6829363" y="32324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Технический анализ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4642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92CDB1-30C0-804A-AF7F-07EB32A85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Технический анализ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81C5A-3106-2745-823B-629D620F7AE8}"/>
              </a:ext>
            </a:extLst>
          </p:cNvPr>
          <p:cNvSpPr txBox="1"/>
          <p:nvPr/>
        </p:nvSpPr>
        <p:spPr>
          <a:xfrm>
            <a:off x="500550" y="1301026"/>
            <a:ext cx="8520600" cy="2032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ru-RU" dirty="0"/>
              <a:t>Технический анализ — это метод оценки и прогнозирования движения цен финансовых инструментов, таких как акции, облигации, валюты и товары, основанный на анализе исторических данных о ценах и объемах торгов. 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ru-RU" dirty="0"/>
              <a:t>Основная идея технического анализа заключается в том, что все фундаментальные факторы, которые могут повлиять на стоимость актива, уже отражены в его цене. Поэтому, изучая исторические ценовые данные и объемы торгов, можно выявить определенные паттерны и тенденции, которые помогут предсказать будущие изменения цен.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580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92CDB1-30C0-804A-AF7F-07EB32A85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Технический анализ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81C5A-3106-2745-823B-629D620F7AE8}"/>
              </a:ext>
            </a:extLst>
          </p:cNvPr>
          <p:cNvSpPr txBox="1"/>
          <p:nvPr/>
        </p:nvSpPr>
        <p:spPr>
          <a:xfrm>
            <a:off x="500550" y="951222"/>
            <a:ext cx="8520600" cy="4007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b="1" dirty="0"/>
              <a:t>Графический анализ</a:t>
            </a:r>
            <a:r>
              <a:rPr lang="en-US" b="1" dirty="0"/>
              <a:t>, </a:t>
            </a:r>
            <a:r>
              <a:rPr lang="ru-RU" b="1" dirty="0"/>
              <a:t>Тренды и паттерны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100" dirty="0"/>
              <a:t>Использование различных типов графиков (линейные, </a:t>
            </a:r>
            <a:r>
              <a:rPr lang="ru-RU" sz="1100" dirty="0" err="1"/>
              <a:t>баровые</a:t>
            </a:r>
            <a:r>
              <a:rPr lang="ru-RU" sz="1100" dirty="0"/>
              <a:t>, японские свечи) для визуального отображения исторических данных о ценах и объемах торгов.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100" dirty="0"/>
              <a:t>Определение ключевых уровней поддержки и сопротивления, которые могут указывать на точки разворота тренда.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100" dirty="0"/>
              <a:t>Выявление трендов (восходящий, нисходящий, боковой), которые показывают общую направленность движения цены.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100" dirty="0"/>
              <a:t>Анализ ценовых паттернов (голова и плечи, двойные вершины и дно, флаги, треугольники), которые могут предсказывать разворот или продолжение тренда.</a:t>
            </a:r>
          </a:p>
          <a:p>
            <a:pPr>
              <a:lnSpc>
                <a:spcPct val="120000"/>
              </a:lnSpc>
            </a:pPr>
            <a:endParaRPr lang="en-US" b="1" dirty="0"/>
          </a:p>
          <a:p>
            <a:pPr>
              <a:lnSpc>
                <a:spcPct val="120000"/>
              </a:lnSpc>
            </a:pPr>
            <a:r>
              <a:rPr lang="ru-RU" b="1" dirty="0"/>
              <a:t>Технические</a:t>
            </a:r>
            <a:r>
              <a:rPr lang="en-US" b="1" dirty="0"/>
              <a:t> </a:t>
            </a:r>
            <a:r>
              <a:rPr lang="ru-RU" b="1" dirty="0"/>
              <a:t> индикаторы: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100" dirty="0"/>
              <a:t>Расчет и использование различных технических индикаторов (скользящие средние, индикатор относительной силы (</a:t>
            </a:r>
            <a:r>
              <a:rPr lang="en-US" sz="1100" dirty="0"/>
              <a:t>RSI), MACD, </a:t>
            </a:r>
            <a:r>
              <a:rPr lang="ru-RU" sz="1100" dirty="0" err="1"/>
              <a:t>стохастик</a:t>
            </a:r>
            <a:r>
              <a:rPr lang="ru-RU" sz="1100" dirty="0"/>
              <a:t>) для оценки текущего состояния рынка и прогнозирования будущих движений цен.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100" dirty="0"/>
              <a:t>Индикаторы могут быть трендовыми (показывающими направление тренда) и осцилляторами (указывающими на </a:t>
            </a:r>
            <a:r>
              <a:rPr lang="ru-RU" sz="1100" dirty="0" err="1"/>
              <a:t>перекупленность</a:t>
            </a:r>
            <a:r>
              <a:rPr lang="ru-RU" sz="1100" dirty="0"/>
              <a:t> или </a:t>
            </a:r>
            <a:r>
              <a:rPr lang="ru-RU" sz="1100" dirty="0" err="1"/>
              <a:t>перепроданность</a:t>
            </a:r>
            <a:r>
              <a:rPr lang="ru-RU" sz="1100" dirty="0"/>
              <a:t> актива).</a:t>
            </a:r>
          </a:p>
          <a:p>
            <a:pPr>
              <a:lnSpc>
                <a:spcPct val="120000"/>
              </a:lnSpc>
            </a:pPr>
            <a:endParaRPr lang="en-US" b="1" dirty="0"/>
          </a:p>
          <a:p>
            <a:pPr>
              <a:lnSpc>
                <a:spcPct val="120000"/>
              </a:lnSpc>
            </a:pPr>
            <a:r>
              <a:rPr lang="ru-RU" b="1" dirty="0"/>
              <a:t>Объемы торгов: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100" dirty="0"/>
              <a:t>Анализ объема торгов для подтверждения силы тренда или паттерна.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100" dirty="0"/>
              <a:t>Высокий объем нарастает в направлении тренда, подтверждая его силу, а низкий объем может сигнализировать о слабости тренда или его возможном развороте.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69273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92CDB1-30C0-804A-AF7F-07EB32A85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Технический анализ</a:t>
            </a:r>
            <a:r>
              <a:rPr lang="en-US" dirty="0"/>
              <a:t> – </a:t>
            </a:r>
            <a:r>
              <a:rPr lang="ru-RU" dirty="0"/>
              <a:t>принципы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81C5A-3106-2745-823B-629D620F7AE8}"/>
              </a:ext>
            </a:extLst>
          </p:cNvPr>
          <p:cNvSpPr txBox="1"/>
          <p:nvPr/>
        </p:nvSpPr>
        <p:spPr>
          <a:xfrm>
            <a:off x="500550" y="1350424"/>
            <a:ext cx="85206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ru-RU" b="1" i="0" u="none" strike="noStrike" dirty="0">
                <a:solidFill>
                  <a:srgbClr val="000000"/>
                </a:solidFill>
                <a:effectLst/>
              </a:rPr>
              <a:t>Цены учитывают всё:</a:t>
            </a:r>
            <a:endParaRPr lang="ru-RU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Все известные и неизвестные факторы уже отражены в текущей цене актива. Поэтому анализировать нужно только цену и объем торгов.</a:t>
            </a:r>
          </a:p>
          <a:p>
            <a:pPr marL="742950" lvl="1" indent="-285750" algn="l">
              <a:buFont typeface="+mj-lt"/>
              <a:buAutoNum type="arabicPeriod"/>
            </a:pPr>
            <a:endParaRPr lang="ru-RU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ru-RU" b="1" i="0" u="none" strike="noStrike" dirty="0">
                <a:solidFill>
                  <a:srgbClr val="000000"/>
                </a:solidFill>
                <a:effectLst/>
              </a:rPr>
              <a:t>Цены движутся в трендах:</a:t>
            </a:r>
            <a:endParaRPr lang="ru-RU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Цены имеют тенденцию двигаться в определенном направлении (тренде) на протяжении определенного времени. Выявление трендов является ключевым элементом технического анализа.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ru-RU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ru-RU" b="1" i="0" u="none" strike="noStrike" dirty="0">
                <a:solidFill>
                  <a:srgbClr val="000000"/>
                </a:solidFill>
                <a:effectLst/>
              </a:rPr>
              <a:t>История повторяется:</a:t>
            </a:r>
            <a:endParaRPr lang="ru-RU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Паттерны и модели ценового поведения имеют тенденцию повторяться из-за психологических аспектов поведения трейдеров. Изучение этих паттернов позволяет прогнозировать будущие движения цен.</a:t>
            </a:r>
          </a:p>
        </p:txBody>
      </p:sp>
    </p:spTree>
    <p:extLst>
      <p:ext uri="{BB962C8B-B14F-4D97-AF65-F5344CB8AC3E}">
        <p14:creationId xmlns:p14="http://schemas.microsoft.com/office/powerpoint/2010/main" val="1568751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4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Типы графиков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0EDC5C-5E70-4A46-9F8E-7212EFCA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1D2BD50-0EBD-5B43-BC63-24590CE67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034975"/>
              </p:ext>
            </p:extLst>
          </p:nvPr>
        </p:nvGraphicFramePr>
        <p:xfrm>
          <a:off x="865306" y="1399547"/>
          <a:ext cx="7014490" cy="288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75247">
                  <a:extLst>
                    <a:ext uri="{9D8B030D-6E8A-4147-A177-3AD203B41FA5}">
                      <a16:colId xmlns:a16="http://schemas.microsoft.com/office/drawing/2014/main" val="535992687"/>
                    </a:ext>
                  </a:extLst>
                </a:gridCol>
                <a:gridCol w="1040021">
                  <a:extLst>
                    <a:ext uri="{9D8B030D-6E8A-4147-A177-3AD203B41FA5}">
                      <a16:colId xmlns:a16="http://schemas.microsoft.com/office/drawing/2014/main" val="1818214582"/>
                    </a:ext>
                  </a:extLst>
                </a:gridCol>
                <a:gridCol w="1040021">
                  <a:extLst>
                    <a:ext uri="{9D8B030D-6E8A-4147-A177-3AD203B41FA5}">
                      <a16:colId xmlns:a16="http://schemas.microsoft.com/office/drawing/2014/main" val="3288740839"/>
                    </a:ext>
                  </a:extLst>
                </a:gridCol>
                <a:gridCol w="1040021">
                  <a:extLst>
                    <a:ext uri="{9D8B030D-6E8A-4147-A177-3AD203B41FA5}">
                      <a16:colId xmlns:a16="http://schemas.microsoft.com/office/drawing/2014/main" val="1232625440"/>
                    </a:ext>
                  </a:extLst>
                </a:gridCol>
                <a:gridCol w="1040021">
                  <a:extLst>
                    <a:ext uri="{9D8B030D-6E8A-4147-A177-3AD203B41FA5}">
                      <a16:colId xmlns:a16="http://schemas.microsoft.com/office/drawing/2014/main" val="1760193796"/>
                    </a:ext>
                  </a:extLst>
                </a:gridCol>
                <a:gridCol w="1379159">
                  <a:extLst>
                    <a:ext uri="{9D8B030D-6E8A-4147-A177-3AD203B41FA5}">
                      <a16:colId xmlns:a16="http://schemas.microsoft.com/office/drawing/2014/main" val="2504384955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u="none" strike="noStrike" dirty="0">
                          <a:effectLst/>
                        </a:rPr>
                        <a:t>Date/Time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u="none" strike="noStrike">
                          <a:effectLst/>
                        </a:rPr>
                        <a:t>Open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u="none" strike="noStrike">
                          <a:effectLst/>
                        </a:rPr>
                        <a:t>High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u="none" strike="noStrike">
                          <a:effectLst/>
                        </a:rPr>
                        <a:t>Low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u="none" strike="noStrike">
                          <a:effectLst/>
                        </a:rPr>
                        <a:t>Close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u="none" strike="noStrike" dirty="0">
                          <a:effectLst/>
                        </a:rPr>
                        <a:t>Volume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4195666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11.01.2019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3050.72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3066.95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3050.72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3066.91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510301237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9598066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>
                          <a:effectLst/>
                        </a:rPr>
                        <a:t>11.04.2019</a:t>
                      </a:r>
                      <a:endParaRPr lang="en-T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3078.96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>
                          <a:effectLst/>
                        </a:rPr>
                        <a:t>3085.2</a:t>
                      </a:r>
                      <a:endParaRPr lang="en-T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3074.87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3078.27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524848878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7130999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>
                          <a:effectLst/>
                        </a:rPr>
                        <a:t>11.05.2019</a:t>
                      </a:r>
                      <a:endParaRPr lang="en-T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3080.8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>
                          <a:effectLst/>
                        </a:rPr>
                        <a:t>3083.95</a:t>
                      </a:r>
                      <a:endParaRPr lang="en-T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>
                          <a:effectLst/>
                        </a:rPr>
                        <a:t>3072.15</a:t>
                      </a:r>
                      <a:endParaRPr lang="en-T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3074.62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585634570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14342784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>
                          <a:effectLst/>
                        </a:rPr>
                        <a:t>11.06.2019</a:t>
                      </a:r>
                      <a:endParaRPr lang="en-T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3075.1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>
                          <a:effectLst/>
                        </a:rPr>
                        <a:t>3078.34</a:t>
                      </a:r>
                      <a:endParaRPr lang="en-T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>
                          <a:effectLst/>
                        </a:rPr>
                        <a:t>3065.89</a:t>
                      </a:r>
                      <a:endParaRPr lang="en-T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3076.78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544288522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9554737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>
                          <a:effectLst/>
                        </a:rPr>
                        <a:t>11.07.2019</a:t>
                      </a:r>
                      <a:endParaRPr lang="en-T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3087.02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>
                          <a:effectLst/>
                        </a:rPr>
                        <a:t>3097.77</a:t>
                      </a:r>
                      <a:endParaRPr lang="en-T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>
                          <a:effectLst/>
                        </a:rPr>
                        <a:t>3080.23</a:t>
                      </a:r>
                      <a:endParaRPr lang="en-T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3085.18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566117910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88071336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>
                          <a:effectLst/>
                        </a:rPr>
                        <a:t>11.08.2019</a:t>
                      </a:r>
                      <a:endParaRPr lang="en-T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3081.25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>
                          <a:effectLst/>
                        </a:rPr>
                        <a:t>3093.09</a:t>
                      </a:r>
                      <a:endParaRPr lang="en-T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>
                          <a:effectLst/>
                        </a:rPr>
                        <a:t>3073.58</a:t>
                      </a:r>
                      <a:endParaRPr lang="en-T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3093.08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460757054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01360375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>
                          <a:effectLst/>
                        </a:rPr>
                        <a:t>11.11.2019</a:t>
                      </a:r>
                      <a:endParaRPr lang="en-T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3080.33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>
                          <a:effectLst/>
                        </a:rPr>
                        <a:t>3088.33</a:t>
                      </a:r>
                      <a:endParaRPr lang="en-T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>
                          <a:effectLst/>
                        </a:rPr>
                        <a:t>3075.82</a:t>
                      </a:r>
                      <a:endParaRPr lang="en-T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3087.01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366044400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4136506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11.12.2019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3089.28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3102.61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3084.73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3091.84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TR" sz="1200" u="none" strike="noStrike" dirty="0">
                          <a:effectLst/>
                        </a:rPr>
                        <a:t>434953689</a:t>
                      </a:r>
                      <a:endParaRPr lang="en-T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35898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0688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0EDC5C-5E70-4A46-9F8E-7212EFCA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 баров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C837CF-D5F0-1848-A9BE-C27200F0C6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09" r="7987"/>
          <a:stretch/>
        </p:blipFill>
        <p:spPr>
          <a:xfrm>
            <a:off x="969632" y="802474"/>
            <a:ext cx="7370432" cy="416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105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0EDC5C-5E70-4A46-9F8E-7212EFCA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 баров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D1D5C26-DC77-8441-B1C4-382282217468}"/>
              </a:ext>
            </a:extLst>
          </p:cNvPr>
          <p:cNvGrpSpPr/>
          <p:nvPr/>
        </p:nvGrpSpPr>
        <p:grpSpPr>
          <a:xfrm>
            <a:off x="1031001" y="802474"/>
            <a:ext cx="7309063" cy="3982068"/>
            <a:chOff x="1031001" y="802474"/>
            <a:chExt cx="7309063" cy="398206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D8B195E-32DB-5647-9931-E6297D4D08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1611" r="8456" b="4277"/>
            <a:stretch/>
          </p:blipFill>
          <p:spPr>
            <a:xfrm>
              <a:off x="1031001" y="802474"/>
              <a:ext cx="7309063" cy="398206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8B9F235-704B-6C4E-92E5-E0B96A3EF6FA}"/>
                </a:ext>
              </a:extLst>
            </p:cNvPr>
            <p:cNvSpPr txBox="1"/>
            <p:nvPr/>
          </p:nvSpPr>
          <p:spPr>
            <a:xfrm>
              <a:off x="2773884" y="1957676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open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56F41EB-8C0F-1C4F-9869-B58729C368EE}"/>
                </a:ext>
              </a:extLst>
            </p:cNvPr>
            <p:cNvSpPr txBox="1"/>
            <p:nvPr/>
          </p:nvSpPr>
          <p:spPr>
            <a:xfrm>
              <a:off x="4945328" y="1346272"/>
              <a:ext cx="5229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max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F5D556-8F01-5B44-9ACF-4A2CBBE3FF00}"/>
                </a:ext>
              </a:extLst>
            </p:cNvPr>
            <p:cNvSpPr txBox="1"/>
            <p:nvPr/>
          </p:nvSpPr>
          <p:spPr>
            <a:xfrm>
              <a:off x="4280894" y="3889780"/>
              <a:ext cx="47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min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4AF650-9E3E-3345-AF70-A1EA4F9F66FF}"/>
                </a:ext>
              </a:extLst>
            </p:cNvPr>
            <p:cNvSpPr txBox="1"/>
            <p:nvPr/>
          </p:nvSpPr>
          <p:spPr>
            <a:xfrm>
              <a:off x="6369092" y="3331321"/>
              <a:ext cx="6030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close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4160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0EDC5C-5E70-4A46-9F8E-7212EFCA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 баров</a:t>
            </a: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36F0D-3539-4E45-ADEB-FA43AB3BEFDD}"/>
              </a:ext>
            </a:extLst>
          </p:cNvPr>
          <p:cNvGrpSpPr/>
          <p:nvPr/>
        </p:nvGrpSpPr>
        <p:grpSpPr>
          <a:xfrm>
            <a:off x="914400" y="888497"/>
            <a:ext cx="7480897" cy="4000479"/>
            <a:chOff x="914400" y="888497"/>
            <a:chExt cx="7480897" cy="400047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F1C4B3-AD7B-274A-8344-F323F56941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0000" r="8187" b="3835"/>
            <a:stretch/>
          </p:blipFill>
          <p:spPr>
            <a:xfrm>
              <a:off x="914400" y="888497"/>
              <a:ext cx="7480897" cy="400047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BF78058-6F71-E44C-B09E-7BBDB57D6FCB}"/>
                </a:ext>
              </a:extLst>
            </p:cNvPr>
            <p:cNvSpPr txBox="1"/>
            <p:nvPr/>
          </p:nvSpPr>
          <p:spPr>
            <a:xfrm>
              <a:off x="2289068" y="1657914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open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C736A6B-3E5A-1C40-B57C-BD19EB365DAE}"/>
                </a:ext>
              </a:extLst>
            </p:cNvPr>
            <p:cNvSpPr txBox="1"/>
            <p:nvPr/>
          </p:nvSpPr>
          <p:spPr>
            <a:xfrm>
              <a:off x="3989789" y="2888736"/>
              <a:ext cx="6030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close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8ED3C05-5855-6345-A4DA-31ACDF5C239A}"/>
                </a:ext>
              </a:extLst>
            </p:cNvPr>
            <p:cNvSpPr txBox="1"/>
            <p:nvPr/>
          </p:nvSpPr>
          <p:spPr>
            <a:xfrm>
              <a:off x="5295132" y="2503785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open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71F5425-DF70-9E41-8045-AA9C9ACDBF9A}"/>
                </a:ext>
              </a:extLst>
            </p:cNvPr>
            <p:cNvSpPr txBox="1"/>
            <p:nvPr/>
          </p:nvSpPr>
          <p:spPr>
            <a:xfrm>
              <a:off x="6977442" y="2263973"/>
              <a:ext cx="6030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close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E06ECC0-A0E9-CF40-A912-EB23FF36361A}"/>
                </a:ext>
              </a:extLst>
            </p:cNvPr>
            <p:cNvSpPr txBox="1"/>
            <p:nvPr/>
          </p:nvSpPr>
          <p:spPr>
            <a:xfrm>
              <a:off x="3086639" y="3872857"/>
              <a:ext cx="7360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Day “-”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833521D-92B5-1845-8C8F-B55086191895}"/>
                </a:ext>
              </a:extLst>
            </p:cNvPr>
            <p:cNvSpPr txBox="1"/>
            <p:nvPr/>
          </p:nvSpPr>
          <p:spPr>
            <a:xfrm>
              <a:off x="6141798" y="1499421"/>
              <a:ext cx="7761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Day “+”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3892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0EDC5C-5E70-4A46-9F8E-7212EFCA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 баров</a:t>
            </a:r>
            <a:r>
              <a:rPr lang="en-US" dirty="0"/>
              <a:t> – yahoo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420194-FCD5-C24C-8C35-1F6FAB3E55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510" r="3087" b="3687"/>
          <a:stretch/>
        </p:blipFill>
        <p:spPr>
          <a:xfrm>
            <a:off x="1084839" y="882360"/>
            <a:ext cx="7352021" cy="400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094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0EDC5C-5E70-4A46-9F8E-7212EFCA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 баров</a:t>
            </a:r>
            <a:r>
              <a:rPr lang="en-US" dirty="0"/>
              <a:t> – </a:t>
            </a:r>
            <a:r>
              <a:rPr lang="ru-RU" dirty="0"/>
              <a:t>оформление в цвете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B01888-4C54-D04F-9933-ABA3A5D56D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43" b="3687"/>
          <a:stretch/>
        </p:blipFill>
        <p:spPr>
          <a:xfrm>
            <a:off x="940622" y="882360"/>
            <a:ext cx="7640456" cy="400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221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0EDC5C-5E70-4A46-9F8E-7212EFCA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Японские свечи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2930C8-93A2-4949-91F0-1099EA937F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05" r="8322" b="3097"/>
          <a:stretch/>
        </p:blipFill>
        <p:spPr>
          <a:xfrm>
            <a:off x="988043" y="857812"/>
            <a:ext cx="7394980" cy="403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136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0EDC5C-5E70-4A46-9F8E-7212EFCA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Японские свечи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C0536C-EDA2-4A4A-9C22-43B80234BD84}"/>
              </a:ext>
            </a:extLst>
          </p:cNvPr>
          <p:cNvGrpSpPr/>
          <p:nvPr/>
        </p:nvGrpSpPr>
        <p:grpSpPr>
          <a:xfrm>
            <a:off x="856099" y="906908"/>
            <a:ext cx="7431801" cy="3982068"/>
            <a:chOff x="856099" y="906908"/>
            <a:chExt cx="7431801" cy="398206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36DBF82-4A72-4944-89A0-EF8717AB90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0872" r="7852" b="4277"/>
            <a:stretch/>
          </p:blipFill>
          <p:spPr>
            <a:xfrm>
              <a:off x="856099" y="906908"/>
              <a:ext cx="7431801" cy="398206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C403FC9-ACCF-F445-B22A-B43FF87DA14F}"/>
                </a:ext>
              </a:extLst>
            </p:cNvPr>
            <p:cNvSpPr txBox="1"/>
            <p:nvPr/>
          </p:nvSpPr>
          <p:spPr>
            <a:xfrm>
              <a:off x="2773884" y="1957676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open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484AEA-7FA2-C345-B312-E6B55A1260D7}"/>
                </a:ext>
              </a:extLst>
            </p:cNvPr>
            <p:cNvSpPr txBox="1"/>
            <p:nvPr/>
          </p:nvSpPr>
          <p:spPr>
            <a:xfrm>
              <a:off x="4945328" y="1346272"/>
              <a:ext cx="5229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max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1EB545-4B70-F443-9A1C-9C678BC82273}"/>
                </a:ext>
              </a:extLst>
            </p:cNvPr>
            <p:cNvSpPr txBox="1"/>
            <p:nvPr/>
          </p:nvSpPr>
          <p:spPr>
            <a:xfrm>
              <a:off x="4280894" y="3889780"/>
              <a:ext cx="47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min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837F0C2-6186-9245-A683-7D6EB6D7FADE}"/>
                </a:ext>
              </a:extLst>
            </p:cNvPr>
            <p:cNvSpPr txBox="1"/>
            <p:nvPr/>
          </p:nvSpPr>
          <p:spPr>
            <a:xfrm>
              <a:off x="6369092" y="3331321"/>
              <a:ext cx="6030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close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1247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0EDC5C-5E70-4A46-9F8E-7212EFCA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Японские свечи</a:t>
            </a:r>
            <a:r>
              <a:rPr lang="en-US" dirty="0"/>
              <a:t> - yahoo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D90529-8B45-9949-AB77-78C8B10DA5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43" r="3221" b="3393"/>
          <a:stretch/>
        </p:blipFill>
        <p:spPr>
          <a:xfrm>
            <a:off x="899058" y="870086"/>
            <a:ext cx="7345884" cy="401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404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0EDC5C-5E70-4A46-9F8E-7212EFCA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Японские свечи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EA24791-0474-3C4E-8958-AD258DE6390B}"/>
              </a:ext>
            </a:extLst>
          </p:cNvPr>
          <p:cNvGrpSpPr/>
          <p:nvPr/>
        </p:nvGrpSpPr>
        <p:grpSpPr>
          <a:xfrm>
            <a:off x="1101296" y="802474"/>
            <a:ext cx="7542154" cy="4049574"/>
            <a:chOff x="1101296" y="802474"/>
            <a:chExt cx="7542154" cy="404957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50D2B61-EE88-F44B-A718-417437237B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518" b="2655"/>
            <a:stretch/>
          </p:blipFill>
          <p:spPr>
            <a:xfrm>
              <a:off x="1101296" y="802474"/>
              <a:ext cx="7542154" cy="404957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E608B87-E8FB-094F-BC12-655BC5675DE7}"/>
                </a:ext>
              </a:extLst>
            </p:cNvPr>
            <p:cNvSpPr txBox="1"/>
            <p:nvPr/>
          </p:nvSpPr>
          <p:spPr>
            <a:xfrm>
              <a:off x="1718699" y="1618024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open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30BF9F4-0C02-1949-9E59-F74F42A2D117}"/>
                </a:ext>
              </a:extLst>
            </p:cNvPr>
            <p:cNvSpPr txBox="1"/>
            <p:nvPr/>
          </p:nvSpPr>
          <p:spPr>
            <a:xfrm>
              <a:off x="3535657" y="2808956"/>
              <a:ext cx="6030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close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FDFF98-8B8B-EE43-94E9-6A42F8144E31}"/>
                </a:ext>
              </a:extLst>
            </p:cNvPr>
            <p:cNvSpPr txBox="1"/>
            <p:nvPr/>
          </p:nvSpPr>
          <p:spPr>
            <a:xfrm>
              <a:off x="4714189" y="2733002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open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FAAF9DF-DC13-D14D-A1EB-E3AC188D9DCB}"/>
                </a:ext>
              </a:extLst>
            </p:cNvPr>
            <p:cNvSpPr txBox="1"/>
            <p:nvPr/>
          </p:nvSpPr>
          <p:spPr>
            <a:xfrm>
              <a:off x="6538807" y="2192924"/>
              <a:ext cx="6030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close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7C0888-4DE6-604E-BEE0-376F0284799F}"/>
                </a:ext>
              </a:extLst>
            </p:cNvPr>
            <p:cNvSpPr txBox="1"/>
            <p:nvPr/>
          </p:nvSpPr>
          <p:spPr>
            <a:xfrm>
              <a:off x="2632507" y="3793077"/>
              <a:ext cx="7360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Day “-”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8733563-16B3-744E-A2BA-E6A08EDDD335}"/>
                </a:ext>
              </a:extLst>
            </p:cNvPr>
            <p:cNvSpPr txBox="1"/>
            <p:nvPr/>
          </p:nvSpPr>
          <p:spPr>
            <a:xfrm>
              <a:off x="5687666" y="1419641"/>
              <a:ext cx="7761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Day “+”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11487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0EDC5C-5E70-4A46-9F8E-7212EFCA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 Ренко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6F823A-0825-6740-8D78-8DDBD7BD58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42" r="4699" b="3687"/>
          <a:stretch/>
        </p:blipFill>
        <p:spPr>
          <a:xfrm>
            <a:off x="1155414" y="802474"/>
            <a:ext cx="7210872" cy="400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651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0EDC5C-5E70-4A46-9F8E-7212EFCA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Объем торгов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4F1E8C-9556-864B-AC66-060BB57D07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375" r="3692" b="3835"/>
          <a:stretch/>
        </p:blipFill>
        <p:spPr>
          <a:xfrm>
            <a:off x="917468" y="802474"/>
            <a:ext cx="7309064" cy="400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110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Индикаторы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88882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3200C2-EEDC-A348-A3AC-B435BA04C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Простая скользящая средняя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3A926-1997-DB46-B2C1-9800956DA368}"/>
              </a:ext>
            </a:extLst>
          </p:cNvPr>
          <p:cNvSpPr txBox="1"/>
          <p:nvPr/>
        </p:nvSpPr>
        <p:spPr>
          <a:xfrm>
            <a:off x="500550" y="1350424"/>
            <a:ext cx="3265638" cy="375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Простая скользящая средняя (</a:t>
            </a:r>
            <a:r>
              <a:rPr lang="en-US" dirty="0"/>
              <a:t>SMA):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5D82CF-CEE6-F145-B732-656BEA950BBC}"/>
                  </a:ext>
                </a:extLst>
              </p:cNvPr>
              <p:cNvSpPr txBox="1"/>
              <p:nvPr/>
            </p:nvSpPr>
            <p:spPr>
              <a:xfrm>
                <a:off x="4335729" y="1244113"/>
                <a:ext cx="602986" cy="5881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5D82CF-CEE6-F145-B732-656BEA950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5729" y="1244113"/>
                <a:ext cx="602986" cy="588174"/>
              </a:xfrm>
              <a:prstGeom prst="rect">
                <a:avLst/>
              </a:prstGeom>
              <a:blipFill>
                <a:blip r:embed="rId2"/>
                <a:stretch>
                  <a:fillRect l="-85417" t="-116667" r="-41667" b="-18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2B06500-362E-6849-8488-7313246937FD}"/>
              </a:ext>
            </a:extLst>
          </p:cNvPr>
          <p:cNvSpPr txBox="1"/>
          <p:nvPr/>
        </p:nvSpPr>
        <p:spPr>
          <a:xfrm>
            <a:off x="500550" y="1832287"/>
            <a:ext cx="8520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Краткосрочные скользящие средние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100" dirty="0"/>
              <a:t>5-дневная </a:t>
            </a:r>
            <a:r>
              <a:rPr lang="en-US" sz="1100" dirty="0"/>
              <a:t>SMA/EMA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100" dirty="0"/>
              <a:t>10-дневная </a:t>
            </a:r>
            <a:r>
              <a:rPr lang="en-US" sz="1100" dirty="0"/>
              <a:t>SMA/EMA</a:t>
            </a:r>
            <a:endParaRPr lang="ru-RU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100" dirty="0"/>
              <a:t>20-дневная </a:t>
            </a:r>
            <a:r>
              <a:rPr lang="en-US" sz="1100" dirty="0"/>
              <a:t>SMA/EMA</a:t>
            </a:r>
            <a:endParaRPr lang="ru-RU" sz="1100" dirty="0"/>
          </a:p>
          <a:p>
            <a:endParaRPr lang="en-US" b="1" dirty="0"/>
          </a:p>
          <a:p>
            <a:r>
              <a:rPr lang="ru-RU" b="1" dirty="0"/>
              <a:t>Среднесрочные скользящие средние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/>
              <a:t>50-дневная </a:t>
            </a:r>
            <a:r>
              <a:rPr lang="en-US" sz="1100" dirty="0"/>
              <a:t>SMA/EMA: </a:t>
            </a:r>
            <a:r>
              <a:rPr lang="ru-RU" sz="1100" dirty="0"/>
              <a:t>Один из наиболее популярных периодов, используется для анализа среднесрочных трендов и часто применяется в сочетании с 200-дневной </a:t>
            </a:r>
            <a:r>
              <a:rPr lang="en-US" sz="1100" dirty="0"/>
              <a:t>SMA </a:t>
            </a:r>
            <a:r>
              <a:rPr lang="ru-RU" sz="1100" dirty="0"/>
              <a:t>для выявления "золотого пересечения" (</a:t>
            </a:r>
            <a:r>
              <a:rPr lang="en-US" sz="1100" dirty="0"/>
              <a:t>golden cross) </a:t>
            </a:r>
            <a:r>
              <a:rPr lang="ru-RU" sz="1100" dirty="0"/>
              <a:t>и "мёртвого пересечения" (</a:t>
            </a:r>
            <a:r>
              <a:rPr lang="en-US" sz="1100" dirty="0"/>
              <a:t>death cross).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100-</a:t>
            </a:r>
            <a:r>
              <a:rPr lang="ru-RU" sz="1100" dirty="0"/>
              <a:t>дневная </a:t>
            </a:r>
            <a:r>
              <a:rPr lang="en-US" sz="1100" dirty="0"/>
              <a:t>SMA/EMA: </a:t>
            </a:r>
            <a:r>
              <a:rPr lang="ru-RU" sz="1100" dirty="0"/>
              <a:t>Полезна для анализа трендов, которые могут длиться несколько месяцев.</a:t>
            </a:r>
          </a:p>
          <a:p>
            <a:endParaRPr lang="en-US" b="1" dirty="0"/>
          </a:p>
          <a:p>
            <a:r>
              <a:rPr lang="ru-RU" b="1" dirty="0"/>
              <a:t>Долгосрочные скользящие средние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/>
              <a:t>200-дневная </a:t>
            </a:r>
            <a:r>
              <a:rPr lang="en-US" sz="1100" dirty="0"/>
              <a:t>SMA/EMA: </a:t>
            </a:r>
            <a:r>
              <a:rPr lang="ru-RU" sz="1100" dirty="0"/>
              <a:t>Широко используется для анализа долгосрочных трендов и является ключевым уровнем поддержки/сопротивления для многих трейдеров и инвесторов.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/>
              <a:t>300-дневная </a:t>
            </a:r>
            <a:r>
              <a:rPr lang="en-US" sz="1100" dirty="0"/>
              <a:t>SMA/EMA: </a:t>
            </a:r>
            <a:r>
              <a:rPr lang="ru-RU" sz="1100" dirty="0"/>
              <a:t>Реже используется, но может быть полезна для анализа очень долгосрочных тенденций.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267506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3200C2-EEDC-A348-A3AC-B435BA04C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Простая скользящая средняя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B06500-362E-6849-8488-7313246937FD}"/>
              </a:ext>
            </a:extLst>
          </p:cNvPr>
          <p:cNvSpPr txBox="1"/>
          <p:nvPr/>
        </p:nvSpPr>
        <p:spPr>
          <a:xfrm>
            <a:off x="500550" y="1009941"/>
            <a:ext cx="8520600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Специальные периоды</a:t>
            </a:r>
            <a:endParaRPr lang="en-US" b="1" dirty="0"/>
          </a:p>
          <a:p>
            <a:endParaRPr lang="ru-RU" dirty="0"/>
          </a:p>
          <a:p>
            <a:r>
              <a:rPr lang="ru-RU" dirty="0"/>
              <a:t>В некоторых случаях трейдеры могут использовать нестандартные периоды для скользящих средних, которые могут быть адаптированы под специфические рынки или стратегии.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100" dirty="0"/>
              <a:t>9-дневная </a:t>
            </a:r>
            <a:r>
              <a:rPr lang="en-US" sz="1100" dirty="0"/>
              <a:t>EMA: </a:t>
            </a:r>
            <a:r>
              <a:rPr lang="ru-RU" sz="1100" dirty="0"/>
              <a:t>Часто используется в индикаторе </a:t>
            </a:r>
            <a:r>
              <a:rPr lang="en-US" sz="1100" dirty="0"/>
              <a:t>MACD </a:t>
            </a:r>
            <a:r>
              <a:rPr lang="ru-RU" sz="1100" dirty="0"/>
              <a:t>в качестве быстрого периода.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100" dirty="0"/>
              <a:t>21-дневная </a:t>
            </a:r>
            <a:r>
              <a:rPr lang="en-US" sz="1100" dirty="0"/>
              <a:t>EMA: </a:t>
            </a:r>
            <a:r>
              <a:rPr lang="ru-RU" sz="1100" dirty="0"/>
              <a:t>Иногда используется вместо 20-дневной </a:t>
            </a:r>
            <a:r>
              <a:rPr lang="en-US" sz="1100" dirty="0"/>
              <a:t>EMA </a:t>
            </a:r>
            <a:r>
              <a:rPr lang="ru-RU" sz="1100" dirty="0"/>
              <a:t>для анализа краткосрочных тенденций.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100" dirty="0"/>
              <a:t>13-дневная </a:t>
            </a:r>
            <a:r>
              <a:rPr lang="en-US" sz="1100" dirty="0"/>
              <a:t>EMA: </a:t>
            </a:r>
            <a:r>
              <a:rPr lang="ru-RU" sz="1100" dirty="0"/>
              <a:t>Используется в некоторых торговых стратегиях для более точного анализа краткосрочных движений.</a:t>
            </a:r>
            <a:endParaRPr lang="en-US" sz="1100" dirty="0"/>
          </a:p>
          <a:p>
            <a:pPr algn="l"/>
            <a:endParaRPr lang="en-US" sz="1400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ru-RU" sz="1400" b="1" i="0" u="none" strike="noStrike" dirty="0">
                <a:solidFill>
                  <a:srgbClr val="000000"/>
                </a:solidFill>
                <a:effectLst/>
              </a:rPr>
              <a:t>Комбинация скользящих средних</a:t>
            </a:r>
            <a:endParaRPr lang="en-US" sz="1400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ru-RU" sz="1400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ru-RU" sz="1400" b="0" i="0" u="none" strike="noStrike" dirty="0">
                <a:solidFill>
                  <a:srgbClr val="000000"/>
                </a:solidFill>
                <a:effectLst/>
              </a:rPr>
              <a:t>Часто трейдеры и инвесторы используют комбинации скользящих средних с разными периодами для получения более точных сигналов и подтверждений трендов.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ru-RU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200" b="1" i="0" u="none" strike="noStrike" dirty="0">
                <a:solidFill>
                  <a:srgbClr val="000000"/>
                </a:solidFill>
                <a:effectLst/>
              </a:rPr>
              <a:t>Золотое пересечение (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</a:rPr>
              <a:t>Golden Cross):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Возникает, когда краткосрочная скользящая средняя (например, 50-дневная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</a:rPr>
              <a:t>SMA) 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пересекает долгосрочную скользящую среднюю (например, 200-дневную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</a:rPr>
              <a:t>SMA) 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снизу вверх. Считается бычьим сигналом.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200" b="1" i="0" u="none" strike="noStrike" dirty="0">
                <a:solidFill>
                  <a:srgbClr val="000000"/>
                </a:solidFill>
                <a:effectLst/>
              </a:rPr>
              <a:t>Мёртвое пересечение (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</a:rPr>
              <a:t>Death Cross):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Возникает, когда краткосрочная скользящая средняя пересекает долгосрочную скользящую среднюю сверху вниз. Считается медвежьим сигналом.</a:t>
            </a:r>
          </a:p>
        </p:txBody>
      </p:sp>
    </p:spTree>
    <p:extLst>
      <p:ext uri="{BB962C8B-B14F-4D97-AF65-F5344CB8AC3E}">
        <p14:creationId xmlns:p14="http://schemas.microsoft.com/office/powerpoint/2010/main" val="18632515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3200C2-EEDC-A348-A3AC-B435BA04C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Золотое пересечение (</a:t>
            </a:r>
            <a:r>
              <a:rPr lang="en-US" dirty="0"/>
              <a:t>Golden Cross)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ru-RU" dirty="0"/>
              <a:t>Мёртвое пересечение (</a:t>
            </a:r>
            <a:r>
              <a:rPr lang="en-US" dirty="0"/>
              <a:t>Death Cross)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EB858C-BEFC-5749-8F07-2DAD8557C24E}"/>
              </a:ext>
            </a:extLst>
          </p:cNvPr>
          <p:cNvGrpSpPr/>
          <p:nvPr/>
        </p:nvGrpSpPr>
        <p:grpSpPr>
          <a:xfrm>
            <a:off x="905194" y="1282614"/>
            <a:ext cx="7333612" cy="3780317"/>
            <a:chOff x="905194" y="1282614"/>
            <a:chExt cx="7333612" cy="378031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29D7230-F63C-B04E-973A-4994E4CCA8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6242" t="9127" r="3557"/>
            <a:stretch/>
          </p:blipFill>
          <p:spPr>
            <a:xfrm>
              <a:off x="905194" y="1282614"/>
              <a:ext cx="7333612" cy="3780317"/>
            </a:xfrm>
            <a:prstGeom prst="rect">
              <a:avLst/>
            </a:prstGeom>
          </p:spPr>
        </p:pic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6E80CA87-04A0-C44F-B00E-B032E104B1F3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6021581" y="1730224"/>
              <a:ext cx="292320" cy="252000"/>
            </a:xfrm>
            <a:prstGeom prst="triangl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riangle 8">
              <a:extLst>
                <a:ext uri="{FF2B5EF4-FFF2-40B4-BE49-F238E27FC236}">
                  <a16:creationId xmlns:a16="http://schemas.microsoft.com/office/drawing/2014/main" id="{96959EB9-10E7-2C43-9091-7D6E6D0AD94B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405917" y="1478223"/>
              <a:ext cx="292320" cy="252000"/>
            </a:xfrm>
            <a:prstGeom prst="triangl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80633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3200C2-EEDC-A348-A3AC-B435BA04C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Сигнал на покупку</a:t>
            </a:r>
            <a:r>
              <a:rPr lang="en-US" dirty="0"/>
              <a:t>/</a:t>
            </a:r>
            <a:r>
              <a:rPr lang="ru-RU" dirty="0"/>
              <a:t>продажу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04F3F-DDBF-B74E-91F4-3D43FB47A4CB}"/>
              </a:ext>
            </a:extLst>
          </p:cNvPr>
          <p:cNvSpPr txBox="1"/>
          <p:nvPr/>
        </p:nvSpPr>
        <p:spPr>
          <a:xfrm>
            <a:off x="500550" y="1176826"/>
            <a:ext cx="7968390" cy="3429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ru-RU" b="1" i="0" u="none" strike="noStrike" dirty="0">
                <a:solidFill>
                  <a:srgbClr val="000000"/>
                </a:solidFill>
                <a:effectLst/>
              </a:rPr>
              <a:t>Пересечение скользящих средних</a:t>
            </a:r>
          </a:p>
          <a:p>
            <a:pPr algn="l">
              <a:lnSpc>
                <a:spcPct val="120000"/>
              </a:lnSpc>
            </a:pP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В дополнение к золотому и мертвому пересечениям, трейдеры часто используют пересечения других комбинаций скользящих средних для генерации сигналов.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Краткосрочная скользящая средняя: 20-дневная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EMA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Среднесрочная скользящая средняя: 50-дневная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EMA</a:t>
            </a:r>
          </a:p>
          <a:p>
            <a:pPr algn="l">
              <a:lnSpc>
                <a:spcPct val="120000"/>
              </a:lnSpc>
            </a:pPr>
            <a:endParaRPr lang="en-US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lnSpc>
                <a:spcPct val="120000"/>
              </a:lnSpc>
            </a:pPr>
            <a:r>
              <a:rPr lang="ru-RU" b="1" i="0" u="none" strike="noStrike" dirty="0">
                <a:solidFill>
                  <a:srgbClr val="000000"/>
                </a:solidFill>
                <a:effectLst/>
              </a:rPr>
              <a:t>Сигнал на покупку:</a:t>
            </a:r>
            <a:endParaRPr lang="ru-RU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Когда 20-дневная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EMA </a:t>
            </a: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пересекает 50-дневную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EMA </a:t>
            </a: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снизу вверх, это сигнализирует о начале восходящего тренда.</a:t>
            </a:r>
          </a:p>
          <a:p>
            <a:pPr algn="l">
              <a:lnSpc>
                <a:spcPct val="120000"/>
              </a:lnSpc>
            </a:pPr>
            <a:endParaRPr lang="en-US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lnSpc>
                <a:spcPct val="120000"/>
              </a:lnSpc>
            </a:pPr>
            <a:r>
              <a:rPr lang="ru-RU" b="1" i="0" u="none" strike="noStrike" dirty="0">
                <a:solidFill>
                  <a:srgbClr val="000000"/>
                </a:solidFill>
                <a:effectLst/>
              </a:rPr>
              <a:t>Сигнал на продажу:</a:t>
            </a:r>
            <a:endParaRPr lang="ru-RU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Когда 20-дневная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EMA </a:t>
            </a: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пересекает 50-дневную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EMA </a:t>
            </a: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сверху вниз, это сигнализирует о начале нисходящего тренда.</a:t>
            </a:r>
          </a:p>
        </p:txBody>
      </p:sp>
    </p:spTree>
    <p:extLst>
      <p:ext uri="{BB962C8B-B14F-4D97-AF65-F5344CB8AC3E}">
        <p14:creationId xmlns:p14="http://schemas.microsoft.com/office/powerpoint/2010/main" val="34939564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3200C2-EEDC-A348-A3AC-B435BA04C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Сигнал на покупку</a:t>
            </a:r>
            <a:r>
              <a:rPr lang="en-US" dirty="0"/>
              <a:t>/</a:t>
            </a:r>
            <a:r>
              <a:rPr lang="ru-RU" dirty="0"/>
              <a:t>продажу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5554EB-DA9F-0C49-B1E5-FFC7958AA8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22" t="10948" r="5475"/>
          <a:stretch/>
        </p:blipFill>
        <p:spPr>
          <a:xfrm>
            <a:off x="951221" y="1061686"/>
            <a:ext cx="7434478" cy="370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6830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3200C2-EEDC-A348-A3AC-B435BA04C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модели скользящих средних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5554EB-DA9F-0C49-B1E5-FFC7958AA8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22" t="10948" r="5475"/>
          <a:stretch/>
        </p:blipFill>
        <p:spPr>
          <a:xfrm>
            <a:off x="951221" y="1061686"/>
            <a:ext cx="7434478" cy="370455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1821824-2B1D-634D-AE34-47E3E54E453C}"/>
              </a:ext>
            </a:extLst>
          </p:cNvPr>
          <p:cNvCxnSpPr/>
          <p:nvPr/>
        </p:nvCxnSpPr>
        <p:spPr>
          <a:xfrm flipV="1">
            <a:off x="3458547" y="2282890"/>
            <a:ext cx="491412" cy="217714"/>
          </a:xfrm>
          <a:prstGeom prst="line">
            <a:avLst/>
          </a:prstGeom>
          <a:ln w="57150" cap="rnd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FDB6B5-DAF6-A442-B304-C90053CCAB90}"/>
              </a:ext>
            </a:extLst>
          </p:cNvPr>
          <p:cNvCxnSpPr>
            <a:cxnSpLocks/>
          </p:cNvCxnSpPr>
          <p:nvPr/>
        </p:nvCxnSpPr>
        <p:spPr>
          <a:xfrm>
            <a:off x="3458547" y="2220686"/>
            <a:ext cx="534955" cy="628261"/>
          </a:xfrm>
          <a:prstGeom prst="line">
            <a:avLst/>
          </a:prstGeom>
          <a:ln w="57150" cap="rnd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A0EF8B1-6A25-564C-9CC6-9D4AA0219B4C}"/>
              </a:ext>
            </a:extLst>
          </p:cNvPr>
          <p:cNvCxnSpPr>
            <a:cxnSpLocks/>
          </p:cNvCxnSpPr>
          <p:nvPr/>
        </p:nvCxnSpPr>
        <p:spPr>
          <a:xfrm flipV="1">
            <a:off x="4773291" y="2998237"/>
            <a:ext cx="526497" cy="332792"/>
          </a:xfrm>
          <a:prstGeom prst="line">
            <a:avLst/>
          </a:prstGeom>
          <a:ln w="57150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6AF894-3E93-BD44-9CD7-26A19C85F45F}"/>
              </a:ext>
            </a:extLst>
          </p:cNvPr>
          <p:cNvCxnSpPr>
            <a:cxnSpLocks/>
          </p:cNvCxnSpPr>
          <p:nvPr/>
        </p:nvCxnSpPr>
        <p:spPr>
          <a:xfrm>
            <a:off x="4760850" y="3176480"/>
            <a:ext cx="538938" cy="450018"/>
          </a:xfrm>
          <a:prstGeom prst="line">
            <a:avLst/>
          </a:prstGeom>
          <a:ln w="57150" cap="rnd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C4A804E-41C2-214F-8D58-A8F7BE45A799}"/>
              </a:ext>
            </a:extLst>
          </p:cNvPr>
          <p:cNvCxnSpPr>
            <a:cxnSpLocks/>
          </p:cNvCxnSpPr>
          <p:nvPr/>
        </p:nvCxnSpPr>
        <p:spPr>
          <a:xfrm flipV="1">
            <a:off x="6101348" y="2450841"/>
            <a:ext cx="1108105" cy="950648"/>
          </a:xfrm>
          <a:prstGeom prst="line">
            <a:avLst/>
          </a:prstGeom>
          <a:ln w="57150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92C0073-B9B2-1449-9EF3-FFD696EA1B42}"/>
              </a:ext>
            </a:extLst>
          </p:cNvPr>
          <p:cNvCxnSpPr>
            <a:cxnSpLocks/>
          </p:cNvCxnSpPr>
          <p:nvPr/>
        </p:nvCxnSpPr>
        <p:spPr>
          <a:xfrm flipV="1">
            <a:off x="6101348" y="2805404"/>
            <a:ext cx="1108105" cy="525625"/>
          </a:xfrm>
          <a:prstGeom prst="line">
            <a:avLst/>
          </a:prstGeom>
          <a:ln w="57150" cap="rnd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5829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Технический анализ</a:t>
            </a:r>
            <a:br>
              <a:rPr lang="ru-RU" dirty="0"/>
            </a:br>
            <a:r>
              <a:rPr lang="ru-RU" sz="3600" dirty="0"/>
              <a:t>инструменты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98187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85BD24-D119-4647-9F3D-009AD3781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 технического анализа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1979A-913A-F740-85FE-3C8F8EEFD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86" y="1150421"/>
            <a:ext cx="3497963" cy="10959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3408F2-2E68-C345-B8B7-AD1100FB9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347" y="2741955"/>
            <a:ext cx="1618139" cy="13808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0BE37C-CFBF-3C4A-90F7-50015EC0B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553" y="1221327"/>
            <a:ext cx="2400752" cy="13504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0BA30C-D2A8-4E45-AA55-5844BA4E55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166" y="2546170"/>
            <a:ext cx="2558836" cy="12794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53D26C-DD32-2B47-A70C-452C3C25D3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1517" y="3543070"/>
            <a:ext cx="2318788" cy="115939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3BBBA09-61BD-FD42-BEC8-FA6067915617}"/>
              </a:ext>
            </a:extLst>
          </p:cNvPr>
          <p:cNvGrpSpPr/>
          <p:nvPr/>
        </p:nvGrpSpPr>
        <p:grpSpPr>
          <a:xfrm>
            <a:off x="3653885" y="2697973"/>
            <a:ext cx="952500" cy="1295106"/>
            <a:chOff x="3544751" y="2709629"/>
            <a:chExt cx="952500" cy="129510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DA6C346-97EC-C344-9DAF-2A5674CA0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44751" y="2709629"/>
              <a:ext cx="952500" cy="9525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CAFDE-9105-3B46-835D-01DEAA2CFC31}"/>
                </a:ext>
              </a:extLst>
            </p:cNvPr>
            <p:cNvSpPr txBox="1"/>
            <p:nvPr/>
          </p:nvSpPr>
          <p:spPr>
            <a:xfrm>
              <a:off x="3715805" y="3543070"/>
              <a:ext cx="5533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err="1">
                  <a:latin typeface="Andale Mono" panose="020B0509000000000004" pitchFamily="49" charset="0"/>
                </a:rPr>
                <a:t>bt</a:t>
              </a:r>
              <a:endParaRPr lang="en-US" sz="2400" b="1" dirty="0">
                <a:latin typeface="Andale Mono" panose="020B05090000000000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59512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453418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Практическая реализация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466" name="Google Shape;466;p86"/>
          <p:cNvGraphicFramePr/>
          <p:nvPr>
            <p:extLst>
              <p:ext uri="{D42A27DB-BD31-4B8C-83A1-F6EECF244321}">
                <p14:modId xmlns:p14="http://schemas.microsoft.com/office/powerpoint/2010/main" val="3088659477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  <a:tableStyleId>{9F59E00E-254B-42B5-9FED-D0DB1D54CBD8}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Научимся строить базовые графики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Научимся строить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торговые сигналы по индикаторам скользящего среднего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85"/>
          <p:cNvSpPr txBox="1">
            <a:spLocks noGrp="1"/>
          </p:cNvSpPr>
          <p:nvPr>
            <p:ph type="title"/>
          </p:nvPr>
        </p:nvSpPr>
        <p:spPr>
          <a:xfrm>
            <a:off x="956225" y="11064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Вопросы?</a:t>
            </a:r>
            <a:endParaRPr/>
          </a:p>
        </p:txBody>
      </p:sp>
      <p:pic>
        <p:nvPicPr>
          <p:cNvPr id="457" name="Google Shape;457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750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85"/>
          <p:cNvSpPr txBox="1"/>
          <p:nvPr/>
        </p:nvSpPr>
        <p:spPr>
          <a:xfrm>
            <a:off x="1750800" y="2887700"/>
            <a:ext cx="163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Задаем вопросы в чат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9" name="Google Shape;459;p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5725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85"/>
          <p:cNvSpPr txBox="1"/>
          <p:nvPr/>
        </p:nvSpPr>
        <p:spPr>
          <a:xfrm>
            <a:off x="5119475" y="289230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Ключевые тезисы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" name="Google Shape;389;p75">
            <a:extLst>
              <a:ext uri="{FF2B5EF4-FFF2-40B4-BE49-F238E27FC236}">
                <a16:creationId xmlns:a16="http://schemas.microsoft.com/office/drawing/2014/main" id="{EE71290E-F42D-6247-8F96-FFA1EE92CB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5980120"/>
              </p:ext>
            </p:extLst>
          </p:nvPr>
        </p:nvGraphicFramePr>
        <p:xfrm>
          <a:off x="952500" y="1544194"/>
          <a:ext cx="7239000" cy="1746520"/>
        </p:xfrm>
        <a:graphic>
          <a:graphicData uri="http://schemas.openxmlformats.org/drawingml/2006/table">
            <a:tbl>
              <a:tblPr>
                <a:noFill/>
                <a:tableStyleId>{9F59E00E-254B-42B5-9FED-D0DB1D54CBD8}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что такое технический анализ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какие основные типы графиков используются для анализа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что такое японские свечи и как читать такой график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05088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как строить торговые сигналы на основании скользящего среднего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84065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какие типы индикаторов используются для технического анализа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096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469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93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dirty="0"/>
              <a:t>Знакомство с </a:t>
            </a:r>
            <a:br>
              <a:rPr lang="ru" sz="4000" dirty="0"/>
            </a:br>
            <a:r>
              <a:rPr lang="ru" sz="4000" dirty="0"/>
              <a:t>программой курса</a:t>
            </a:r>
            <a:endParaRPr sz="40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193103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1.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Введение в финансовые рынки и машинное обучение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2.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Технический анализ финансовых рынков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074342" y="2505600"/>
            <a:ext cx="3229663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4.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Моделирование и стратегии на финансовых рынках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3.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Подготовка данных и признаковая инженерия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20"/>
            <a:ext cx="857995" cy="60446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5.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Глубокое обучение и практические аспекты</a:t>
            </a: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1953730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1953730"/>
            <a:ext cx="12700" cy="841520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 flipV="1">
            <a:off x="3714006" y="2795249"/>
            <a:ext cx="1360337" cy="6137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9" name="Google Shape;189;p34"/>
          <p:cNvSpPr/>
          <p:nvPr/>
        </p:nvSpPr>
        <p:spPr>
          <a:xfrm>
            <a:off x="654005" y="336581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6.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Сложные модели торгового агента и перенос обучения в </a:t>
            </a:r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production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05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7. </a:t>
            </a:r>
            <a:r>
              <a:rPr lang="ru-RU" sz="105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Финальный проект и практическое применение</a:t>
            </a:r>
            <a:endParaRPr sz="1050" b="0" i="0" u="none" strike="noStrike" cap="none" dirty="0">
              <a:solidFill>
                <a:schemeClr val="dk1"/>
              </a:solidFill>
              <a:latin typeface="+mn-lt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88;p34">
            <a:extLst>
              <a:ext uri="{FF2B5EF4-FFF2-40B4-BE49-F238E27FC236}">
                <a16:creationId xmlns:a16="http://schemas.microsoft.com/office/drawing/2014/main" id="{EB8517B5-119A-7442-825D-C15261576413}"/>
              </a:ext>
            </a:extLst>
          </p:cNvPr>
          <p:cNvCxnSpPr>
            <a:cxnSpLocks/>
            <a:stCxn id="189" idx="1"/>
            <a:endCxn id="185" idx="1"/>
          </p:cNvCxnSpPr>
          <p:nvPr/>
        </p:nvCxnSpPr>
        <p:spPr>
          <a:xfrm rot="10800000">
            <a:off x="654005" y="2801387"/>
            <a:ext cx="12700" cy="85407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cxnSp>
        <p:nvCxnSpPr>
          <p:cNvPr id="38" name="Google Shape;188;p34">
            <a:extLst>
              <a:ext uri="{FF2B5EF4-FFF2-40B4-BE49-F238E27FC236}">
                <a16:creationId xmlns:a16="http://schemas.microsoft.com/office/drawing/2014/main" id="{F7B38074-28CA-DC44-8191-7A278B3DB050}"/>
              </a:ext>
            </a:extLst>
          </p:cNvPr>
          <p:cNvCxnSpPr>
            <a:cxnSpLocks/>
            <a:stCxn id="34" idx="0"/>
            <a:endCxn id="189" idx="3"/>
          </p:cNvCxnSpPr>
          <p:nvPr/>
        </p:nvCxnSpPr>
        <p:spPr>
          <a:xfrm rot="16200000" flipV="1">
            <a:off x="3853353" y="3516117"/>
            <a:ext cx="579300" cy="857995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238233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23823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232180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232181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7" name="Google Shape;530;p82">
            <a:extLst>
              <a:ext uri="{FF2B5EF4-FFF2-40B4-BE49-F238E27FC236}">
                <a16:creationId xmlns:a16="http://schemas.microsoft.com/office/drawing/2014/main" id="{C44CB1B9-3F0C-B640-9B91-7E329BDB5AB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945115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6F2CEF8E-768B-2A42-AE60-B91443CA1636}"/>
              </a:ext>
            </a:extLst>
          </p:cNvPr>
          <p:cNvSpPr txBox="1"/>
          <p:nvPr/>
        </p:nvSpPr>
        <p:spPr>
          <a:xfrm>
            <a:off x="2993635" y="3945116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/>
          <a:srcRect l="18187" r="18187"/>
          <a:stretch/>
        </p:blipFill>
        <p:spPr>
          <a:xfrm>
            <a:off x="3165384" y="8783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761508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3" name="Google Shape;225;p40">
            <a:extLst>
              <a:ext uri="{FF2B5EF4-FFF2-40B4-BE49-F238E27FC236}">
                <a16:creationId xmlns:a16="http://schemas.microsoft.com/office/drawing/2014/main" id="{67D6B569-9B1F-6D43-841D-442FF92691E3}"/>
              </a:ext>
            </a:extLst>
          </p:cNvPr>
          <p:cNvPicPr preferRelativeResize="0"/>
          <p:nvPr/>
        </p:nvPicPr>
        <p:blipFill>
          <a:blip r:embed="rId6"/>
          <a:srcRect t="2849" b="2849"/>
          <a:stretch/>
        </p:blipFill>
        <p:spPr>
          <a:xfrm>
            <a:off x="5379110" y="1770693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7"/>
          <a:srcRect t="2849" b="2849"/>
          <a:stretch/>
        </p:blipFill>
        <p:spPr>
          <a:xfrm>
            <a:off x="5169145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" name="Google Shape;225;p40">
            <a:extLst>
              <a:ext uri="{FF2B5EF4-FFF2-40B4-BE49-F238E27FC236}">
                <a16:creationId xmlns:a16="http://schemas.microsoft.com/office/drawing/2014/main" id="{961AE516-CE39-C146-B04E-6F9CCFC749A3}"/>
              </a:ext>
            </a:extLst>
          </p:cNvPr>
          <p:cNvPicPr preferRelativeResize="0"/>
          <p:nvPr/>
        </p:nvPicPr>
        <p:blipFill>
          <a:blip r:embed="rId8"/>
          <a:srcRect t="2849" b="2849"/>
          <a:stretch/>
        </p:blipFill>
        <p:spPr>
          <a:xfrm>
            <a:off x="787457" y="3436703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9"/>
          <a:srcRect t="2849" b="2849"/>
          <a:stretch/>
        </p:blipFill>
        <p:spPr>
          <a:xfrm>
            <a:off x="787457" y="1770693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10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7209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7908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44500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Введение в финансовые рынки и машинное обучение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Введение в финансовые рынки и основные понятия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797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Основы машинного обучения и его применение </a:t>
            </a:r>
            <a:r>
              <a:rPr lang="ru-RU" sz="1200">
                <a:solidFill>
                  <a:srgbClr val="1F1F1F"/>
                </a:solidFill>
                <a:latin typeface="+mn-lt"/>
                <a:sym typeface="Roboto"/>
              </a:rPr>
              <a:t>в финансах</a:t>
            </a:r>
            <a:endParaRPr lang="ru-RU"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12321" y="29039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Основы статистики и временных рядов в анализе финансов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4098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Инструменты анализа финансовых данных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05257" y="1768551"/>
            <a:ext cx="40628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52276" y="2021532"/>
            <a:ext cx="912251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392099" y="2281709"/>
            <a:ext cx="1418213" cy="22223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146314" y="2527494"/>
            <a:ext cx="1924175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702577"/>
              </p:ext>
            </p:extLst>
          </p:nvPr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318130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277746667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54781870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44284" y="3446039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603438" y="3389945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D77AA650-7B6A-2E4F-A234-07C44F1AF1CD}"/>
              </a:ext>
            </a:extLst>
          </p:cNvPr>
          <p:cNvSpPr/>
          <p:nvPr/>
        </p:nvSpPr>
        <p:spPr>
          <a:xfrm>
            <a:off x="2226713" y="39158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Практическое введение в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Python 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для финансового анализа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E4FCD50-FA53-BF4C-9AB8-F81862AA8721}"/>
              </a:ext>
            </a:extLst>
          </p:cNvPr>
          <p:cNvCxnSpPr>
            <a:cxnSpLocks/>
            <a:stCxn id="271" idx="2"/>
            <a:endCxn id="18" idx="1"/>
          </p:cNvCxnSpPr>
          <p:nvPr/>
        </p:nvCxnSpPr>
        <p:spPr>
          <a:xfrm rot="16200000" flipH="1">
            <a:off x="893333" y="2780475"/>
            <a:ext cx="2430137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oogle Shape;225;p40">
            <a:extLst>
              <a:ext uri="{FF2B5EF4-FFF2-40B4-BE49-F238E27FC236}">
                <a16:creationId xmlns:a16="http://schemas.microsoft.com/office/drawing/2014/main" id="{81ED1289-B687-F04C-ACCE-E6C6681EFFC3}"/>
              </a:ext>
            </a:extLst>
          </p:cNvPr>
          <p:cNvPicPr preferRelativeResize="0"/>
          <p:nvPr/>
        </p:nvPicPr>
        <p:blipFill>
          <a:blip r:embed="rId4"/>
          <a:srcRect l="18187" r="18187"/>
          <a:stretch/>
        </p:blipFill>
        <p:spPr>
          <a:xfrm>
            <a:off x="612428" y="1196068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7908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44500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Технический анализ финансовых рынков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Введение в технический анализ: графики и индикаторы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797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Паттерны и стратегии технического анализа</a:t>
            </a: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12321" y="29039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Интеграция технического анализа с методами машинного обучения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4098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Применение технического анализа к различным классам активов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05257" y="1768551"/>
            <a:ext cx="40628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52276" y="2021532"/>
            <a:ext cx="912251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392099" y="2281709"/>
            <a:ext cx="1418213" cy="22223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146314" y="2527494"/>
            <a:ext cx="1924175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726478"/>
              </p:ext>
            </p:extLst>
          </p:nvPr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318130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277746667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54781870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D77AA650-7B6A-2E4F-A234-07C44F1AF1CD}"/>
              </a:ext>
            </a:extLst>
          </p:cNvPr>
          <p:cNvSpPr/>
          <p:nvPr/>
        </p:nvSpPr>
        <p:spPr>
          <a:xfrm>
            <a:off x="2226713" y="39158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Оценка и сравнение эффективности технического анализа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E4FCD50-FA53-BF4C-9AB8-F81862AA8721}"/>
              </a:ext>
            </a:extLst>
          </p:cNvPr>
          <p:cNvCxnSpPr>
            <a:cxnSpLocks/>
            <a:stCxn id="271" idx="2"/>
            <a:endCxn id="18" idx="1"/>
          </p:cNvCxnSpPr>
          <p:nvPr/>
        </p:nvCxnSpPr>
        <p:spPr>
          <a:xfrm rot="16200000" flipH="1">
            <a:off x="893333" y="2780475"/>
            <a:ext cx="2430137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oogle Shape;225;p40">
            <a:extLst>
              <a:ext uri="{FF2B5EF4-FFF2-40B4-BE49-F238E27FC236}">
                <a16:creationId xmlns:a16="http://schemas.microsoft.com/office/drawing/2014/main" id="{459B96E0-370F-2F4D-9DE2-3AC8A96E4A9D}"/>
              </a:ext>
            </a:extLst>
          </p:cNvPr>
          <p:cNvPicPr preferRelativeResize="0"/>
          <p:nvPr/>
        </p:nvPicPr>
        <p:blipFill>
          <a:blip r:embed="rId3"/>
          <a:srcRect t="2849" b="2849"/>
          <a:stretch/>
        </p:blipFill>
        <p:spPr>
          <a:xfrm>
            <a:off x="625735" y="1205170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44284" y="3951208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603438" y="3895114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360868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7908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44500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Подготовка данных и признаковая инженерия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Сбор и очистка финансовых данных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797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Визуализация финансовых данных</a:t>
            </a: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12321" y="29039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Управление отсутствующими данными и аномалиями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4098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Работа с большими объемами данных в финансах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05257" y="1768551"/>
            <a:ext cx="40628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52276" y="2021532"/>
            <a:ext cx="912251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392099" y="2281709"/>
            <a:ext cx="1418213" cy="22223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146314" y="2527494"/>
            <a:ext cx="1924175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690647"/>
              </p:ext>
            </p:extLst>
          </p:nvPr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318130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277746667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54781870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D77AA650-7B6A-2E4F-A234-07C44F1AF1CD}"/>
              </a:ext>
            </a:extLst>
          </p:cNvPr>
          <p:cNvSpPr/>
          <p:nvPr/>
        </p:nvSpPr>
        <p:spPr>
          <a:xfrm>
            <a:off x="2226713" y="39158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Преобразование данных и создание признаков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E4FCD50-FA53-BF4C-9AB8-F81862AA8721}"/>
              </a:ext>
            </a:extLst>
          </p:cNvPr>
          <p:cNvCxnSpPr>
            <a:cxnSpLocks/>
            <a:stCxn id="271" idx="2"/>
            <a:endCxn id="18" idx="1"/>
          </p:cNvCxnSpPr>
          <p:nvPr/>
        </p:nvCxnSpPr>
        <p:spPr>
          <a:xfrm rot="16200000" flipH="1">
            <a:off x="893333" y="2780475"/>
            <a:ext cx="2430137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44284" y="3951208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603438" y="3895114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29" name="Google Shape;225;p40">
            <a:extLst>
              <a:ext uri="{FF2B5EF4-FFF2-40B4-BE49-F238E27FC236}">
                <a16:creationId xmlns:a16="http://schemas.microsoft.com/office/drawing/2014/main" id="{D3188FC7-BF31-944E-B056-08D2A4A16B5A}"/>
              </a:ext>
            </a:extLst>
          </p:cNvPr>
          <p:cNvPicPr preferRelativeResize="0"/>
          <p:nvPr/>
        </p:nvPicPr>
        <p:blipFill>
          <a:blip r:embed="rId4"/>
          <a:srcRect t="2849" b="2849"/>
          <a:stretch/>
        </p:blipFill>
        <p:spPr>
          <a:xfrm>
            <a:off x="598455" y="1223612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40939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7908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44500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Моделирование и стратегии на финансовых рынках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Основы классификации и регрессии в финансовых приложениях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797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Моделирование временных рядов в прогнозировании цен</a:t>
            </a: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12321" y="29039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Стратегии торговли и оптимизация портфеля с использованием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ML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4098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Работа с высокочастотными данными в финансах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05257" y="1768551"/>
            <a:ext cx="40628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52276" y="2021532"/>
            <a:ext cx="912251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392099" y="2281709"/>
            <a:ext cx="1418213" cy="22223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146314" y="2527494"/>
            <a:ext cx="1924175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552113"/>
              </p:ext>
            </p:extLst>
          </p:nvPr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318130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277746667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54781870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D77AA650-7B6A-2E4F-A234-07C44F1AF1CD}"/>
              </a:ext>
            </a:extLst>
          </p:cNvPr>
          <p:cNvSpPr/>
          <p:nvPr/>
        </p:nvSpPr>
        <p:spPr>
          <a:xfrm>
            <a:off x="2226713" y="39158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Применение регуляризации и оптимизации в финансовых моделях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E4FCD50-FA53-BF4C-9AB8-F81862AA8721}"/>
              </a:ext>
            </a:extLst>
          </p:cNvPr>
          <p:cNvCxnSpPr>
            <a:cxnSpLocks/>
            <a:stCxn id="271" idx="2"/>
            <a:endCxn id="18" idx="1"/>
          </p:cNvCxnSpPr>
          <p:nvPr/>
        </p:nvCxnSpPr>
        <p:spPr>
          <a:xfrm rot="16200000" flipH="1">
            <a:off x="893333" y="2780475"/>
            <a:ext cx="2430137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44284" y="3951208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603438" y="3895114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29" name="Google Shape;225;p40">
            <a:extLst>
              <a:ext uri="{FF2B5EF4-FFF2-40B4-BE49-F238E27FC236}">
                <a16:creationId xmlns:a16="http://schemas.microsoft.com/office/drawing/2014/main" id="{D3188FC7-BF31-944E-B056-08D2A4A16B5A}"/>
              </a:ext>
            </a:extLst>
          </p:cNvPr>
          <p:cNvPicPr preferRelativeResize="0"/>
          <p:nvPr/>
        </p:nvPicPr>
        <p:blipFill>
          <a:blip r:embed="rId4"/>
          <a:srcRect t="2849" b="2849"/>
          <a:stretch/>
        </p:blipFill>
        <p:spPr>
          <a:xfrm>
            <a:off x="598455" y="1223612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57981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7908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44500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Глубокое обучение и практические аспекты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Введение в глубокое обучение и нейронные сети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797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Применение нейронных сетей в анализе финансовых рынков</a:t>
            </a: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12321" y="29039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Этические и регуляторные аспекты применения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ML 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в финансах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4098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Создание и обучение глубоких моделей в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Python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05257" y="1768551"/>
            <a:ext cx="40628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52276" y="2021532"/>
            <a:ext cx="912251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392099" y="2281709"/>
            <a:ext cx="1418213" cy="22223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146314" y="2527494"/>
            <a:ext cx="1924175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795113"/>
              </p:ext>
            </p:extLst>
          </p:nvPr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318130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277746667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54781870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D77AA650-7B6A-2E4F-A234-07C44F1AF1CD}"/>
              </a:ext>
            </a:extLst>
          </p:cNvPr>
          <p:cNvSpPr/>
          <p:nvPr/>
        </p:nvSpPr>
        <p:spPr>
          <a:xfrm>
            <a:off x="2226713" y="39158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Продвинутые методы глубокого обучения для анализа финансов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E4FCD50-FA53-BF4C-9AB8-F81862AA8721}"/>
              </a:ext>
            </a:extLst>
          </p:cNvPr>
          <p:cNvCxnSpPr>
            <a:cxnSpLocks/>
            <a:stCxn id="271" idx="2"/>
            <a:endCxn id="18" idx="1"/>
          </p:cNvCxnSpPr>
          <p:nvPr/>
        </p:nvCxnSpPr>
        <p:spPr>
          <a:xfrm rot="16200000" flipH="1">
            <a:off x="893333" y="2780475"/>
            <a:ext cx="2430137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44284" y="3951208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603438" y="3895114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28" name="Google Shape;225;p40">
            <a:extLst>
              <a:ext uri="{FF2B5EF4-FFF2-40B4-BE49-F238E27FC236}">
                <a16:creationId xmlns:a16="http://schemas.microsoft.com/office/drawing/2014/main" id="{BEE14A57-FDBB-024C-84B5-C5C5EFF33A19}"/>
              </a:ext>
            </a:extLst>
          </p:cNvPr>
          <p:cNvPicPr preferRelativeResize="0"/>
          <p:nvPr/>
        </p:nvPicPr>
        <p:blipFill>
          <a:blip r:embed="rId4"/>
          <a:srcRect t="2849" b="2849"/>
          <a:stretch/>
        </p:blipFill>
        <p:spPr>
          <a:xfrm>
            <a:off x="595812" y="1196068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108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7908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44500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Сложные модели торгового агента и перенос обучения в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production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LLM 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модели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797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RL 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модели</a:t>
            </a: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12321" y="29039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Сборка финального ансамбля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4098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Перенос модели в облачную среду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05257" y="1768551"/>
            <a:ext cx="40628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52276" y="2021532"/>
            <a:ext cx="912251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392099" y="2281709"/>
            <a:ext cx="1418213" cy="22223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146314" y="2527494"/>
            <a:ext cx="1924175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393783"/>
              </p:ext>
            </p:extLst>
          </p:nvPr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318130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277746667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54781870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D77AA650-7B6A-2E4F-A234-07C44F1AF1CD}"/>
              </a:ext>
            </a:extLst>
          </p:cNvPr>
          <p:cNvSpPr/>
          <p:nvPr/>
        </p:nvSpPr>
        <p:spPr>
          <a:xfrm>
            <a:off x="2226713" y="39158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Метрики модели и регулярное переобучение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E4FCD50-FA53-BF4C-9AB8-F81862AA8721}"/>
              </a:ext>
            </a:extLst>
          </p:cNvPr>
          <p:cNvCxnSpPr>
            <a:cxnSpLocks/>
            <a:stCxn id="271" idx="2"/>
            <a:endCxn id="18" idx="1"/>
          </p:cNvCxnSpPr>
          <p:nvPr/>
        </p:nvCxnSpPr>
        <p:spPr>
          <a:xfrm rot="16200000" flipH="1">
            <a:off x="893333" y="2780475"/>
            <a:ext cx="2430137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44284" y="3951208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603438" y="3895114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29" name="Google Shape;225;p40">
            <a:extLst>
              <a:ext uri="{FF2B5EF4-FFF2-40B4-BE49-F238E27FC236}">
                <a16:creationId xmlns:a16="http://schemas.microsoft.com/office/drawing/2014/main" id="{3535B8B9-56A4-1949-8A22-30C06BC53B7D}"/>
              </a:ext>
            </a:extLst>
          </p:cNvPr>
          <p:cNvPicPr preferRelativeResize="0"/>
          <p:nvPr/>
        </p:nvPicPr>
        <p:blipFill>
          <a:blip r:embed="rId4"/>
          <a:srcRect t="2849" b="2849"/>
          <a:stretch/>
        </p:blipFill>
        <p:spPr>
          <a:xfrm>
            <a:off x="597212" y="1196068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88621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7908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44500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Финальный проект и практическое применение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Планирование и разработка проекта по анализу финансового рынка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797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Работа с реальными данными и создание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ML-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моделей для проекта</a:t>
            </a: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12321" y="29039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Оценка результатов и практическое внедрение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4098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Презентация и защита проекта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05257" y="1768551"/>
            <a:ext cx="40628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52276" y="2021532"/>
            <a:ext cx="912251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392099" y="2281709"/>
            <a:ext cx="1418213" cy="22223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146314" y="2527494"/>
            <a:ext cx="1924175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31124"/>
              </p:ext>
            </p:extLst>
          </p:nvPr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318130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277746667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54781870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D77AA650-7B6A-2E4F-A234-07C44F1AF1CD}"/>
              </a:ext>
            </a:extLst>
          </p:cNvPr>
          <p:cNvSpPr/>
          <p:nvPr/>
        </p:nvSpPr>
        <p:spPr>
          <a:xfrm>
            <a:off x="2226713" y="39158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Заключение и обзор ключевых концепций курса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E4FCD50-FA53-BF4C-9AB8-F81862AA8721}"/>
              </a:ext>
            </a:extLst>
          </p:cNvPr>
          <p:cNvCxnSpPr>
            <a:cxnSpLocks/>
            <a:stCxn id="271" idx="2"/>
            <a:endCxn id="18" idx="1"/>
          </p:cNvCxnSpPr>
          <p:nvPr/>
        </p:nvCxnSpPr>
        <p:spPr>
          <a:xfrm rot="16200000" flipH="1">
            <a:off x="893333" y="2780475"/>
            <a:ext cx="2430137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oogle Shape;225;p40">
            <a:extLst>
              <a:ext uri="{FF2B5EF4-FFF2-40B4-BE49-F238E27FC236}">
                <a16:creationId xmlns:a16="http://schemas.microsoft.com/office/drawing/2014/main" id="{7CE6CEA7-ECB7-B942-AF7F-04849C42950A}"/>
              </a:ext>
            </a:extLst>
          </p:cNvPr>
          <p:cNvPicPr preferRelativeResize="0"/>
          <p:nvPr/>
        </p:nvPicPr>
        <p:blipFill>
          <a:blip r:embed="rId3"/>
          <a:srcRect t="2849" b="2849"/>
          <a:stretch/>
        </p:blipFill>
        <p:spPr>
          <a:xfrm>
            <a:off x="551059" y="1196068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75584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3A5F98-F024-0E46-989B-34E1B049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17"/>
            <a:ext cx="9143999" cy="5135483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6252229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94"/>
          <p:cNvSpPr/>
          <p:nvPr/>
        </p:nvSpPr>
        <p:spPr>
          <a:xfrm>
            <a:off x="1052550" y="1264075"/>
            <a:ext cx="3426900" cy="77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94"/>
          <p:cNvSpPr/>
          <p:nvPr/>
        </p:nvSpPr>
        <p:spPr>
          <a:xfrm>
            <a:off x="1052550" y="2237575"/>
            <a:ext cx="3426900" cy="993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94"/>
          <p:cNvSpPr/>
          <p:nvPr/>
        </p:nvSpPr>
        <p:spPr>
          <a:xfrm>
            <a:off x="1052550" y="3425275"/>
            <a:ext cx="3426900" cy="113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94"/>
          <p:cNvSpPr/>
          <p:nvPr/>
        </p:nvSpPr>
        <p:spPr>
          <a:xfrm>
            <a:off x="4673550" y="1264075"/>
            <a:ext cx="3417900" cy="113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94"/>
          <p:cNvSpPr/>
          <p:nvPr/>
        </p:nvSpPr>
        <p:spPr>
          <a:xfrm>
            <a:off x="4673550" y="2579575"/>
            <a:ext cx="3417900" cy="848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94"/>
          <p:cNvSpPr/>
          <p:nvPr/>
        </p:nvSpPr>
        <p:spPr>
          <a:xfrm>
            <a:off x="4673550" y="3607675"/>
            <a:ext cx="3417900" cy="951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2" name="Google Shape;522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7900" y="14213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94"/>
          <p:cNvSpPr txBox="1"/>
          <p:nvPr/>
        </p:nvSpPr>
        <p:spPr>
          <a:xfrm>
            <a:off x="1763275" y="1326125"/>
            <a:ext cx="25296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Обучение выстроено в формате вебинаров (онлайн). Онлайн-вебинары проводятся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 вечерам или в выходные дни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4" name="Google Shape;524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900" y="2440438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94"/>
          <p:cNvSpPr txBox="1"/>
          <p:nvPr/>
        </p:nvSpPr>
        <p:spPr>
          <a:xfrm>
            <a:off x="1763275" y="2305525"/>
            <a:ext cx="2626500" cy="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Все записи занятий и материалы, предоставляемые преподавателями, сохраняются в личном кабинете и остаются доступны даже после окончания обучения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6" name="Google Shape;526;p9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37900" y="3632238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94"/>
          <p:cNvSpPr txBox="1"/>
          <p:nvPr/>
        </p:nvSpPr>
        <p:spPr>
          <a:xfrm>
            <a:off x="1763275" y="3495075"/>
            <a:ext cx="2493300" cy="10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 позволят Вам применить на практике полученные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 время вебинаров знания.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 каждому домашнему заданию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преподаватель дает развернутый фидбек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8" name="Google Shape;528;p9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3100" y="14213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94"/>
          <p:cNvSpPr txBox="1"/>
          <p:nvPr/>
        </p:nvSpPr>
        <p:spPr>
          <a:xfrm>
            <a:off x="5378475" y="1326125"/>
            <a:ext cx="24933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процессе обучения Вы можете задавать преподавателю вопросы по материалам лекций и домашних заданий, уточнять моменты, которые были непонятны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уроке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0" name="Google Shape;530;p9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3100" y="27430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94"/>
          <p:cNvSpPr txBox="1"/>
          <p:nvPr/>
        </p:nvSpPr>
        <p:spPr>
          <a:xfrm>
            <a:off x="5378475" y="2647825"/>
            <a:ext cx="26265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Время на обучение: от 4 ак. часов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занятия и 4-8 часов на домашнюю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работу в неделю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2" name="Google Shape;532;p9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53100" y="37600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94"/>
          <p:cNvSpPr txBox="1"/>
          <p:nvPr/>
        </p:nvSpPr>
        <p:spPr>
          <a:xfrm>
            <a:off x="5378475" y="3664825"/>
            <a:ext cx="2529600" cy="8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Программа обучения на курсах обновляется каждый запуск в зависимости от актуальных запросов в сфере IТ-технологий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94"/>
          <p:cNvSpPr txBox="1"/>
          <p:nvPr/>
        </p:nvSpPr>
        <p:spPr>
          <a:xfrm>
            <a:off x="500550" y="336745"/>
            <a:ext cx="8307600" cy="1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 dirty="0">
                <a:latin typeface="Roboto"/>
                <a:ea typeface="Roboto"/>
                <a:cs typeface="Roboto"/>
                <a:sym typeface="Roboto"/>
              </a:rPr>
              <a:t>Процесс обучения</a:t>
            </a:r>
            <a:endParaRPr sz="3100"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0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 курсе</a:t>
            </a:r>
            <a:endParaRPr/>
          </a:p>
        </p:txBody>
      </p:sp>
      <p:pic>
        <p:nvPicPr>
          <p:cNvPr id="630" name="Google Shape;630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240" y="2418961"/>
            <a:ext cx="608438" cy="608424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107"/>
          <p:cNvSpPr txBox="1"/>
          <p:nvPr/>
        </p:nvSpPr>
        <p:spPr>
          <a:xfrm>
            <a:off x="500550" y="950100"/>
            <a:ext cx="553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1" dirty="0">
                <a:solidFill>
                  <a:srgbClr val="45818E"/>
                </a:solidFill>
                <a:latin typeface="Roboto"/>
                <a:ea typeface="Roboto"/>
                <a:cs typeface="Roboto"/>
                <a:sym typeface="Roboto"/>
              </a:rPr>
              <a:t>ML </a:t>
            </a:r>
            <a:r>
              <a:rPr lang="ru-RU" sz="2400" b="1" i="1" dirty="0">
                <a:solidFill>
                  <a:srgbClr val="45818E"/>
                </a:solidFill>
                <a:latin typeface="Roboto"/>
                <a:ea typeface="Roboto"/>
                <a:cs typeface="Roboto"/>
                <a:sym typeface="Roboto"/>
              </a:rPr>
              <a:t>для финансового анализа</a:t>
            </a:r>
            <a:endParaRPr sz="2400" b="1" i="1" dirty="0">
              <a:solidFill>
                <a:srgbClr val="45818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107"/>
          <p:cNvSpPr txBox="1"/>
          <p:nvPr/>
        </p:nvSpPr>
        <p:spPr>
          <a:xfrm>
            <a:off x="1813965" y="2446096"/>
            <a:ext cx="418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старт обучения: </a:t>
            </a:r>
            <a:r>
              <a:rPr lang="ru-RU" sz="1800" b="1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-US" sz="1800" b="1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ru" sz="1800" b="1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-US" sz="1800" b="1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r>
              <a:rPr lang="ru" sz="1800" b="1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.202</a:t>
            </a:r>
            <a:r>
              <a:rPr lang="en-US" sz="1800" b="1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1800" b="1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400" b="1" i="1" dirty="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6" name="Google Shape;636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4125" y="0"/>
            <a:ext cx="1064725" cy="106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629;p107">
            <a:extLst>
              <a:ext uri="{FF2B5EF4-FFF2-40B4-BE49-F238E27FC236}">
                <a16:creationId xmlns:a16="http://schemas.microsoft.com/office/drawing/2014/main" id="{FE912D26-1600-F444-9932-9CF67168F29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240" y="3466860"/>
            <a:ext cx="608438" cy="60842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633;p107">
            <a:extLst>
              <a:ext uri="{FF2B5EF4-FFF2-40B4-BE49-F238E27FC236}">
                <a16:creationId xmlns:a16="http://schemas.microsoft.com/office/drawing/2014/main" id="{F6148E04-5806-3545-ABA2-9C226DF43871}"/>
              </a:ext>
            </a:extLst>
          </p:cNvPr>
          <p:cNvSpPr txBox="1"/>
          <p:nvPr/>
        </p:nvSpPr>
        <p:spPr>
          <a:xfrm>
            <a:off x="1909887" y="3592010"/>
            <a:ext cx="67476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Следующий открытый урок: </a:t>
            </a:r>
            <a:r>
              <a:rPr lang="en-US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  <a:r>
              <a:rPr lang="ru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-US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r>
              <a:rPr lang="ru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.202</a:t>
            </a:r>
            <a:r>
              <a:rPr lang="en-US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US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400" b="1" dirty="0">
                <a:solidFill>
                  <a:srgbClr val="0D0D0E"/>
                </a:solidFill>
                <a:latin typeface="HelveticaNeue" panose="02000503000000020004" pitchFamily="2" charset="0"/>
              </a:rPr>
              <a:t>Корреляция признаков. </a:t>
            </a:r>
            <a:r>
              <a:rPr lang="en-US" sz="1400" b="1" dirty="0">
                <a:solidFill>
                  <a:srgbClr val="0D0D0E"/>
                </a:solidFill>
                <a:latin typeface="HelveticaNeue" panose="02000503000000020004" pitchFamily="2" charset="0"/>
              </a:rPr>
              <a:t>PCA</a:t>
            </a:r>
            <a:endParaRPr b="1" i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08"/>
          <p:cNvSpPr txBox="1">
            <a:spLocks noGrp="1"/>
          </p:cNvSpPr>
          <p:nvPr>
            <p:ph type="title"/>
          </p:nvPr>
        </p:nvSpPr>
        <p:spPr>
          <a:xfrm>
            <a:off x="956225" y="777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0"/>
              <a:t>Заполните, пожалуйста,</a:t>
            </a:r>
            <a:endParaRPr sz="3500" b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/>
              <a:t>опрос</a:t>
            </a:r>
            <a:r>
              <a:rPr lang="ru" sz="3500" b="0"/>
              <a:t> о занятии</a:t>
            </a:r>
            <a:endParaRPr sz="3500" b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i="1" u="sng">
                <a:solidFill>
                  <a:schemeClr val="accent6"/>
                </a:solidFill>
              </a:rPr>
              <a:t>Важно! Пройти опрос могут только залогиненные пользователи платформы OTUS</a:t>
            </a:r>
            <a:r>
              <a:rPr lang="ru" sz="1800" i="1" u="sng">
                <a:solidFill>
                  <a:srgbClr val="E06666"/>
                </a:solidFill>
              </a:rPr>
              <a:t> </a:t>
            </a: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ru"/>
              <a:t>Спасибо за внимание!</a:t>
            </a:r>
            <a:endParaRPr/>
          </a:p>
        </p:txBody>
      </p:sp>
      <p:pic>
        <p:nvPicPr>
          <p:cNvPr id="643" name="Google Shape;64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775" y="2131625"/>
            <a:ext cx="2392300" cy="23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9842</TotalTime>
  <Words>1946</Words>
  <Application>Microsoft Macintosh PowerPoint</Application>
  <PresentationFormat>On-screen Show (16:9)</PresentationFormat>
  <Paragraphs>401</Paragraphs>
  <Slides>53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65" baseType="lpstr">
      <vt:lpstr>Apple Chancery</vt:lpstr>
      <vt:lpstr>HelveticaNeue</vt:lpstr>
      <vt:lpstr>AkayaTelivigala</vt:lpstr>
      <vt:lpstr>Bradley Hand</vt:lpstr>
      <vt:lpstr>Roboto</vt:lpstr>
      <vt:lpstr>Andale Mono</vt:lpstr>
      <vt:lpstr>Cambria Math</vt:lpstr>
      <vt:lpstr>Calibri</vt:lpstr>
      <vt:lpstr>Arial</vt:lpstr>
      <vt:lpstr>Courier New</vt:lpstr>
      <vt:lpstr>Светлая тема</vt:lpstr>
      <vt:lpstr>Светлая тема</vt:lpstr>
      <vt:lpstr>ML для финансового анализа Введение в технический анализ: графики и индикаторы</vt:lpstr>
      <vt:lpstr>PowerPoint Presentation</vt:lpstr>
      <vt:lpstr>ML для финансового анализа Введение в технический анализ: графики и индикаторы.</vt:lpstr>
      <vt:lpstr>Маршрут вебинара</vt:lpstr>
      <vt:lpstr>Расскажите о себе</vt:lpstr>
      <vt:lpstr>Правила вебинара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Технический анализ</vt:lpstr>
      <vt:lpstr>Технический анализ</vt:lpstr>
      <vt:lpstr>Технический анализ</vt:lpstr>
      <vt:lpstr>Технический анализ – принципы</vt:lpstr>
      <vt:lpstr>Типы графиков</vt:lpstr>
      <vt:lpstr>Данные</vt:lpstr>
      <vt:lpstr>График баров</vt:lpstr>
      <vt:lpstr>График баров</vt:lpstr>
      <vt:lpstr>График баров</vt:lpstr>
      <vt:lpstr>График баров – yahoo</vt:lpstr>
      <vt:lpstr>График баров – оформление в цвете</vt:lpstr>
      <vt:lpstr>Японские свечи</vt:lpstr>
      <vt:lpstr>Японские свечи</vt:lpstr>
      <vt:lpstr>Японские свечи - yahoo</vt:lpstr>
      <vt:lpstr>Японские свечи</vt:lpstr>
      <vt:lpstr>График Ренко</vt:lpstr>
      <vt:lpstr>Объем торгов</vt:lpstr>
      <vt:lpstr>Индикаторы</vt:lpstr>
      <vt:lpstr>Простая скользящая средняя </vt:lpstr>
      <vt:lpstr>Простая скользящая средняя </vt:lpstr>
      <vt:lpstr>Золотое пересечение (Golden Cross) и Мёртвое пересечение (Death Cross)</vt:lpstr>
      <vt:lpstr>Сигнал на покупку/продажу</vt:lpstr>
      <vt:lpstr>Сигнал на покупку/продажу</vt:lpstr>
      <vt:lpstr>Недостатки модели скользящих средних</vt:lpstr>
      <vt:lpstr>Технический анализ инструменты</vt:lpstr>
      <vt:lpstr>Инструменты технического анализа</vt:lpstr>
      <vt:lpstr>Практика</vt:lpstr>
      <vt:lpstr>Практическая реализация </vt:lpstr>
      <vt:lpstr>Вопросы?</vt:lpstr>
      <vt:lpstr>Ключевые тезисы  </vt:lpstr>
      <vt:lpstr>Знакомство с  программой курса</vt:lpstr>
      <vt:lpstr>Карта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PowerPoint Presentation</vt:lpstr>
      <vt:lpstr>PowerPoint Presentation</vt:lpstr>
      <vt:lpstr>О курсе</vt:lpstr>
      <vt:lpstr>Заполните, пожалуйста, опрос о занятии Важно! Пройти опрос могут только залогиненные пользователи платформы OTUS       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Информация для преподавателя (маршрут демо-занятия)</dc:title>
  <cp:lastModifiedBy>Стурейко Игорь Олегович</cp:lastModifiedBy>
  <cp:revision>108</cp:revision>
  <dcterms:modified xsi:type="dcterms:W3CDTF">2024-12-27T14:25:53Z</dcterms:modified>
</cp:coreProperties>
</file>