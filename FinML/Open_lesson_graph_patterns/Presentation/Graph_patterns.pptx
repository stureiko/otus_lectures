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4" r:id="rId1"/>
    <p:sldMasterId id="2147483707" r:id="rId2"/>
  </p:sldMasterIdLst>
  <p:notesMasterIdLst>
    <p:notesMasterId r:id="rId52"/>
  </p:notesMasterIdLst>
  <p:sldIdLst>
    <p:sldId id="257" r:id="rId3"/>
    <p:sldId id="258" r:id="rId4"/>
    <p:sldId id="312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387" r:id="rId13"/>
    <p:sldId id="415" r:id="rId14"/>
    <p:sldId id="416" r:id="rId15"/>
    <p:sldId id="417" r:id="rId16"/>
    <p:sldId id="269" r:id="rId17"/>
    <p:sldId id="402" r:id="rId18"/>
    <p:sldId id="403" r:id="rId19"/>
    <p:sldId id="404" r:id="rId20"/>
    <p:sldId id="407" r:id="rId21"/>
    <p:sldId id="406" r:id="rId22"/>
    <p:sldId id="408" r:id="rId23"/>
    <p:sldId id="405" r:id="rId24"/>
    <p:sldId id="409" r:id="rId25"/>
    <p:sldId id="410" r:id="rId26"/>
    <p:sldId id="411" r:id="rId27"/>
    <p:sldId id="412" r:id="rId28"/>
    <p:sldId id="413" r:id="rId29"/>
    <p:sldId id="414" r:id="rId30"/>
    <p:sldId id="420" r:id="rId31"/>
    <p:sldId id="421" r:id="rId32"/>
    <p:sldId id="422" r:id="rId33"/>
    <p:sldId id="423" r:id="rId34"/>
    <p:sldId id="424" r:id="rId35"/>
    <p:sldId id="485" r:id="rId36"/>
    <p:sldId id="486" r:id="rId37"/>
    <p:sldId id="487" r:id="rId38"/>
    <p:sldId id="488" r:id="rId39"/>
    <p:sldId id="489" r:id="rId40"/>
    <p:sldId id="483" r:id="rId41"/>
    <p:sldId id="490" r:id="rId42"/>
    <p:sldId id="418" r:id="rId43"/>
    <p:sldId id="281" r:id="rId44"/>
    <p:sldId id="280" r:id="rId45"/>
    <p:sldId id="366" r:id="rId46"/>
    <p:sldId id="288" r:id="rId47"/>
    <p:sldId id="474" r:id="rId48"/>
    <p:sldId id="289" r:id="rId49"/>
    <p:sldId id="302" r:id="rId50"/>
    <p:sldId id="303" r:id="rId51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53"/>
      <p:bold r:id="rId54"/>
      <p:italic r:id="rId55"/>
      <p:boldItalic r:id="rId56"/>
    </p:embeddedFont>
    <p:embeddedFont>
      <p:font typeface="Cambria Math" panose="02040503050406030204" pitchFamily="18" charset="0"/>
      <p:regular r:id="rId57"/>
    </p:embeddedFont>
    <p:embeddedFont>
      <p:font typeface="Roboto" panose="02000000000000000000" pitchFamily="2" charset="0"/>
      <p:regular r:id="rId58"/>
      <p:bold r:id="rId59"/>
      <p:italic r:id="rId60"/>
      <p:boldItalic r:id="rId6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1724">
          <p15:clr>
            <a:srgbClr val="A4A3A4"/>
          </p15:clr>
        </p15:guide>
        <p15:guide id="2" pos="380">
          <p15:clr>
            <a:srgbClr val="9AA0A6"/>
          </p15:clr>
        </p15:guide>
        <p15:guide id="3" orient="horz" pos="2041">
          <p15:clr>
            <a:srgbClr val="9AA0A6"/>
          </p15:clr>
        </p15:guide>
        <p15:guide id="4" orient="horz" pos="2169">
          <p15:clr>
            <a:srgbClr val="9AA0A6"/>
          </p15:clr>
        </p15:guide>
        <p15:guide id="5" pos="331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  <a:srgbClr val="FCF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F59E00E-254B-42B5-9FED-D0DB1D54CBD8}">
  <a:tblStyle styleId="{9F59E00E-254B-42B5-9FED-D0DB1D54CBD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496"/>
    <p:restoredTop sz="97146"/>
  </p:normalViewPr>
  <p:slideViewPr>
    <p:cSldViewPr snapToGrid="0">
      <p:cViewPr varScale="1">
        <p:scale>
          <a:sx n="359" d="100"/>
          <a:sy n="359" d="100"/>
        </p:scale>
        <p:origin x="1056" y="184"/>
      </p:cViewPr>
      <p:guideLst>
        <p:guide pos="1724"/>
        <p:guide pos="380"/>
        <p:guide orient="horz" pos="2041"/>
        <p:guide orient="horz" pos="2169"/>
        <p:guide pos="331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font" Target="fonts/font3.fntdata"/><Relationship Id="rId63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5" Type="http://schemas.openxmlformats.org/officeDocument/2006/relationships/slide" Target="slides/slide3.xml"/><Relationship Id="rId61" Type="http://schemas.openxmlformats.org/officeDocument/2006/relationships/font" Target="fonts/font9.fnt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font" Target="fonts/font4.fntdata"/><Relationship Id="rId64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7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2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font" Target="fonts/font5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8.fntdata"/><Relationship Id="rId65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f305d12f47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f305d12f47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f305d12f47_1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f305d12f47_1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2baa635cc9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22baa635cc9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chemeClr val="dk1"/>
                </a:solidFill>
              </a:rPr>
              <a:t>Давайте поближе познакомимся с ОТУС.</a:t>
            </a:r>
            <a:endParaRPr sz="1400">
              <a:solidFill>
                <a:schemeClr val="dk1"/>
              </a:solidFill>
              <a:highlight>
                <a:srgbClr val="FFFF00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chemeClr val="dk1"/>
                </a:solidFill>
              </a:rPr>
              <a:t>ОТУС задумывался как компания, которая позволяет обучаться у опытных специалистов высокого уровня в различных областях IT, каждого из которых мы обучаем, как эффективно преподавать.</a:t>
            </a:r>
            <a:endParaRPr sz="14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chemeClr val="dk1"/>
                </a:solidFill>
              </a:rPr>
              <a:t>Мы сторонники обучения у практиков, а не теоретиков, поэтому все наши преподаватели являются действующими специалистами, что позволяет им постоянно быть в курсе лучших решений и оперативно дополнять программу необходимыми изменениями.</a:t>
            </a:r>
            <a:endParaRPr sz="14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chemeClr val="dk1"/>
                </a:solidFill>
              </a:rPr>
              <a:t>Изначально мы создавали курсы для повышения квалификации действующих специалистов в области IT, но стали получать множество запросов на обучение с нуля, поэтому сейчас мы даем возможность любому замотивированному человеку освоить специальность в области IT.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f305d12f47_1_9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>
                <a:solidFill>
                  <a:schemeClr val="dk1"/>
                </a:solidFill>
              </a:rPr>
              <a:t>В связи с тем, что OTUS имеет образовательную лицензию, поэтому наши курсы являются программами повышения квалификации и профессиональной переподготовки. </a:t>
            </a:r>
            <a:endParaRPr sz="14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/>
              <a:t>Программы курсов в OTUS разрабатываются на основе того, что требуется на данный момент на кадровом рынке в топовые компании. </a:t>
            </a:r>
            <a:endParaRPr/>
          </a:p>
        </p:txBody>
      </p:sp>
      <p:sp>
        <p:nvSpPr>
          <p:cNvPr id="339" name="Google Shape;339;gf305d12f47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22baa635cc9_0_50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g22baa635cc9_0_5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df29b9fb24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df29b9fb24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07730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18a1700b9f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18a1700b9f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df29b9fb24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df29b9fb24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93064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df29b9fb24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df29b9fb24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07730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df29b9fb24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df29b9fb24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8262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df29b9fb24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df29b9fb24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45982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18a1700b9ff_0_4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" name="Google Shape;463;g18a1700b9ff_0_4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e3a707456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e3a707456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18a1700b9ff_0_4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" name="Google Shape;463;g18a1700b9ff_0_4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48060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f305d12f47_1_2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f305d12f47_1_2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5733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22baa635cc9_0_4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4" name="Google Shape;514;g22baa635cc9_0_4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df6222e6af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df6222e6af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e3a7074569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e3a7074569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8" y="-10075"/>
            <a:ext cx="9161923" cy="51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194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05"/>
              </a:buClr>
              <a:buSzPts val="1500"/>
              <a:buNone/>
              <a:defRPr sz="1500" b="1">
                <a:solidFill>
                  <a:srgbClr val="05050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ubTitle" idx="2"/>
          </p:nvPr>
        </p:nvSpPr>
        <p:spPr>
          <a:xfrm>
            <a:off x="3891775" y="2252794"/>
            <a:ext cx="4587900" cy="20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Ваш макет 1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500550" y="2545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39868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47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47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94" name="Google Shape;194;p47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8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7" name="Google Shape;197;p4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5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50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03" name="Google Shape;203;p5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5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06" name="Google Shape;206;p51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p51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08" name="Google Shape;208;p51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09" name="Google Shape;209;p51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0" name="Google Shape;210;p51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213" name="Google Shape;213;p5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53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8" name="Google Shape;218;p53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5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54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22" name="Google Shape;222;p54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223" name="Google Shape;223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224" name="Google Shape;224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5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5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5" name="Google Shape;235;p58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58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5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p59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0" name="Google Shape;240;p59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59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6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4" name="Google Shape;244;p60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60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246" name="Google Shape;246;p60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image" Target="../media/image4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1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6" r:id="rId8"/>
    <p:sldLayoutId id="214748370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4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89" name="Google Shape;189;p4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90" name="Google Shape;190;p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9" r:id="rId9"/>
    <p:sldLayoutId id="2147483701" r:id="rId10"/>
    <p:sldLayoutId id="2147483702" r:id="rId11"/>
    <p:sldLayoutId id="2147483703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://www.linkedin.com/in/igor-stureiko" TargetMode="External"/><Relationship Id="rId4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jp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2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13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8.jp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258" name="Google Shape;258;p62"/>
          <p:cNvSpPr txBox="1">
            <a:spLocks noGrp="1"/>
          </p:cNvSpPr>
          <p:nvPr>
            <p:ph type="title"/>
          </p:nvPr>
        </p:nvSpPr>
        <p:spPr>
          <a:xfrm>
            <a:off x="944650" y="1477350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</a:t>
            </a:r>
            <a:r>
              <a:rPr lang="ru-RU" dirty="0"/>
              <a:t>для финансового анализа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200" dirty="0"/>
              <a:t>Введение в технический анализ: графики и индикаторы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3"/>
          <p:cNvSpPr txBox="1"/>
          <p:nvPr/>
        </p:nvSpPr>
        <p:spPr>
          <a:xfrm>
            <a:off x="1635875" y="772125"/>
            <a:ext cx="79353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Проверить, идет ли запись</a:t>
            </a:r>
            <a:endParaRPr sz="21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63"/>
          <p:cNvSpPr txBox="1"/>
          <p:nvPr/>
        </p:nvSpPr>
        <p:spPr>
          <a:xfrm>
            <a:off x="766725" y="1805199"/>
            <a:ext cx="7935300" cy="12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Напишите 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«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»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в чат, если меня слышно и видно</a:t>
            </a:r>
            <a:endParaRPr sz="35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65" name="Google Shape;265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6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63"/>
          <p:cNvPicPr preferRelativeResize="0"/>
          <p:nvPr/>
        </p:nvPicPr>
        <p:blipFill rotWithShape="1">
          <a:blip r:embed="rId5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3200" dirty="0"/>
              <a:t>ML </a:t>
            </a:r>
            <a:r>
              <a:rPr lang="ru-RU" sz="3200" dirty="0"/>
              <a:t>для финансового анализа</a:t>
            </a:r>
            <a:br>
              <a:rPr lang="en-US" sz="3200" dirty="0"/>
            </a:br>
            <a:r>
              <a:rPr lang="ru-RU" sz="2400" dirty="0"/>
              <a:t>Введение в технический анализ: графики и индикаторы.</a:t>
            </a:r>
            <a:endParaRPr b="0"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Открытый урок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8" name="Google Shape;278;p64">
            <a:extLst>
              <a:ext uri="{FF2B5EF4-FFF2-40B4-BE49-F238E27FC236}">
                <a16:creationId xmlns:a16="http://schemas.microsoft.com/office/drawing/2014/main" id="{DC03452F-6B2F-EA48-9B01-C3577A3005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7621" y="258179"/>
            <a:ext cx="652375" cy="652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ADBDA60-D1B3-5B41-A4D2-CDAE2DD6B00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3" name="Google Shape;209;p48">
            <a:extLst>
              <a:ext uri="{FF2B5EF4-FFF2-40B4-BE49-F238E27FC236}">
                <a16:creationId xmlns:a16="http://schemas.microsoft.com/office/drawing/2014/main" id="{D0D012C5-1A3B-EC4C-B8A7-64C8AF21B41A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5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284" name="Google Shape;284;p65"/>
          <p:cNvSpPr/>
          <p:nvPr/>
        </p:nvSpPr>
        <p:spPr>
          <a:xfrm>
            <a:off x="680150" y="15211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1. Знакомство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65"/>
          <p:cNvSpPr/>
          <p:nvPr/>
        </p:nvSpPr>
        <p:spPr>
          <a:xfrm>
            <a:off x="680150" y="2108144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 Об ОТУС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65"/>
          <p:cNvSpPr/>
          <p:nvPr/>
        </p:nvSpPr>
        <p:spPr>
          <a:xfrm>
            <a:off x="680150" y="2737038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 </a:t>
            </a: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Типы графиков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65"/>
          <p:cNvSpPr/>
          <p:nvPr/>
        </p:nvSpPr>
        <p:spPr>
          <a:xfrm>
            <a:off x="680150" y="33491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 </a:t>
            </a: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Паттерны на графике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88;p65">
            <a:extLst>
              <a:ext uri="{FF2B5EF4-FFF2-40B4-BE49-F238E27FC236}">
                <a16:creationId xmlns:a16="http://schemas.microsoft.com/office/drawing/2014/main" id="{E70A6281-3704-B54B-BD03-7CD165FF9994}"/>
              </a:ext>
            </a:extLst>
          </p:cNvPr>
          <p:cNvSpPr/>
          <p:nvPr/>
        </p:nvSpPr>
        <p:spPr>
          <a:xfrm>
            <a:off x="680150" y="397088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5. </a:t>
            </a: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 курсе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46CF15-E72E-E64E-B624-46A6D7BEEE6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863"/>
          <a:stretch/>
        </p:blipFill>
        <p:spPr>
          <a:xfrm>
            <a:off x="4760850" y="1521159"/>
            <a:ext cx="4260300" cy="282852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700"/>
              </a:buClr>
              <a:buSzPts val="1800"/>
              <a:buChar char="●"/>
            </a:pPr>
            <a:r>
              <a:rPr lang="ru" sz="1800">
                <a:solidFill>
                  <a:srgbClr val="1E1F21"/>
                </a:solidFill>
              </a:rPr>
              <a:t>Как вас зовут? Откуда вы? </a:t>
            </a:r>
            <a:endParaRPr sz="180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700"/>
              </a:buClr>
              <a:buSzPts val="1800"/>
              <a:buChar char="●"/>
            </a:pPr>
            <a:r>
              <a:rPr lang="ru" sz="1800">
                <a:solidFill>
                  <a:srgbClr val="1E1F21"/>
                </a:solidFill>
              </a:rPr>
              <a:t>Ваш опыт работы в IT?</a:t>
            </a:r>
            <a:endParaRPr sz="180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700"/>
              </a:buClr>
              <a:buSzPts val="1800"/>
              <a:buChar char="●"/>
            </a:pPr>
            <a:r>
              <a:rPr lang="ru" sz="1800">
                <a:solidFill>
                  <a:srgbClr val="1E1F21"/>
                </a:solidFill>
              </a:rPr>
              <a:t>С какой основной целью вы записались на занятие?</a:t>
            </a:r>
            <a:endParaRPr sz="1800">
              <a:solidFill>
                <a:srgbClr val="1E1F21"/>
              </a:solidFill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Расскажите о себе</a:t>
            </a:r>
            <a:endParaRPr/>
          </a:p>
        </p:txBody>
      </p:sp>
      <p:pic>
        <p:nvPicPr>
          <p:cNvPr id="298" name="Google Shape;298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0827" y="3412575"/>
            <a:ext cx="620721" cy="620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6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46852" y="3412581"/>
            <a:ext cx="620721" cy="6207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6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/>
              <a:t>Правила вебинара</a:t>
            </a:r>
            <a:endParaRPr b="1"/>
          </a:p>
        </p:txBody>
      </p:sp>
      <p:sp>
        <p:nvSpPr>
          <p:cNvPr id="305" name="Google Shape;305;p67"/>
          <p:cNvSpPr/>
          <p:nvPr/>
        </p:nvSpPr>
        <p:spPr>
          <a:xfrm>
            <a:off x="5730575" y="-8062"/>
            <a:ext cx="34134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7" name="Google Shape;307;p6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4940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6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510213"/>
            <a:ext cx="692621" cy="69262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67"/>
          <p:cNvSpPr txBox="1"/>
          <p:nvPr/>
        </p:nvSpPr>
        <p:spPr>
          <a:xfrm>
            <a:off x="1654525" y="14808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0" name="Google Shape;310;p67"/>
          <p:cNvSpPr txBox="1"/>
          <p:nvPr/>
        </p:nvSpPr>
        <p:spPr>
          <a:xfrm>
            <a:off x="1654525" y="35178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1" name="Google Shape;311;p6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2514043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67"/>
          <p:cNvSpPr txBox="1"/>
          <p:nvPr/>
        </p:nvSpPr>
        <p:spPr>
          <a:xfrm>
            <a:off x="1654525" y="2519056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3" name="Google Shape;313;p67"/>
          <p:cNvSpPr txBox="1"/>
          <p:nvPr/>
        </p:nvSpPr>
        <p:spPr>
          <a:xfrm>
            <a:off x="6350663" y="1403888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4" name="Google Shape;314;p6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23692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67"/>
          <p:cNvSpPr txBox="1"/>
          <p:nvPr/>
        </p:nvSpPr>
        <p:spPr>
          <a:xfrm>
            <a:off x="6829363" y="23559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6" name="Google Shape;316;p6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8418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67"/>
          <p:cNvSpPr txBox="1"/>
          <p:nvPr/>
        </p:nvSpPr>
        <p:spPr>
          <a:xfrm>
            <a:off x="6829363" y="28369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8" name="Google Shape;318;p6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33219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67"/>
          <p:cNvSpPr txBox="1"/>
          <p:nvPr/>
        </p:nvSpPr>
        <p:spPr>
          <a:xfrm>
            <a:off x="6829363" y="32324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68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ru"/>
              <a:t>б ОТУС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69"/>
          <p:cNvSpPr txBox="1"/>
          <p:nvPr/>
        </p:nvSpPr>
        <p:spPr>
          <a:xfrm>
            <a:off x="500550" y="330725"/>
            <a:ext cx="8520600" cy="75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1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 компании</a:t>
            </a:r>
            <a:endParaRPr sz="31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0" name="Google Shape;330;p69"/>
          <p:cNvSpPr txBox="1"/>
          <p:nvPr/>
        </p:nvSpPr>
        <p:spPr>
          <a:xfrm>
            <a:off x="1170350" y="1933625"/>
            <a:ext cx="4718100" cy="10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ОТУС специализируется на обучении в IT.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Наша фишка — продвинутые программы для специалистов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с опытом и быстрый запуск курсов по новым набирающим популярность технологиям.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1" name="Google Shape;331;p69"/>
          <p:cNvSpPr txBox="1"/>
          <p:nvPr/>
        </p:nvSpPr>
        <p:spPr>
          <a:xfrm>
            <a:off x="1170350" y="1562224"/>
            <a:ext cx="183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700" b="1">
                <a:solidFill>
                  <a:srgbClr val="FF7700"/>
                </a:solidFill>
                <a:latin typeface="Roboto"/>
                <a:ea typeface="Roboto"/>
                <a:cs typeface="Roboto"/>
                <a:sym typeface="Roboto"/>
              </a:rPr>
              <a:t>Сфера</a:t>
            </a:r>
            <a:endParaRPr sz="1700" b="1">
              <a:solidFill>
                <a:srgbClr val="FF77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2" name="Google Shape;332;p69"/>
          <p:cNvSpPr txBox="1"/>
          <p:nvPr/>
        </p:nvSpPr>
        <p:spPr>
          <a:xfrm>
            <a:off x="1170350" y="3423925"/>
            <a:ext cx="58626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Наши партнеры современные технологичные компании.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А обучение и открытые материалы привлекают специалистов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разных грейдов: junior, middle, senior, lead.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3" name="Google Shape;333;p69"/>
          <p:cNvSpPr txBox="1"/>
          <p:nvPr/>
        </p:nvSpPr>
        <p:spPr>
          <a:xfrm>
            <a:off x="1170350" y="3052524"/>
            <a:ext cx="183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700" b="1">
                <a:solidFill>
                  <a:srgbClr val="FF7700"/>
                </a:solidFill>
                <a:latin typeface="Roboto"/>
                <a:ea typeface="Roboto"/>
                <a:cs typeface="Roboto"/>
                <a:sym typeface="Roboto"/>
              </a:rPr>
              <a:t>Клиенты</a:t>
            </a:r>
            <a:endParaRPr sz="1700" b="1">
              <a:solidFill>
                <a:srgbClr val="FF77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34" name="Google Shape;334;p6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9994" y="1677925"/>
            <a:ext cx="394400" cy="39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6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9994" y="3144375"/>
            <a:ext cx="394400" cy="39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69"/>
          <p:cNvPicPr preferRelativeResize="0"/>
          <p:nvPr/>
        </p:nvPicPr>
        <p:blipFill rotWithShape="1">
          <a:blip r:embed="rId5">
            <a:alphaModFix/>
          </a:blip>
          <a:srcRect l="1114" r="1124"/>
          <a:stretch/>
        </p:blipFill>
        <p:spPr>
          <a:xfrm>
            <a:off x="6031050" y="0"/>
            <a:ext cx="3112951" cy="2617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7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Образование в ОТУС</a:t>
            </a:r>
            <a:endParaRPr/>
          </a:p>
        </p:txBody>
      </p:sp>
      <p:sp>
        <p:nvSpPr>
          <p:cNvPr id="342" name="Google Shape;342;p70"/>
          <p:cNvSpPr txBox="1">
            <a:spLocks noGrp="1"/>
          </p:cNvSpPr>
          <p:nvPr>
            <p:ph type="body" idx="4294967295"/>
          </p:nvPr>
        </p:nvSpPr>
        <p:spPr>
          <a:xfrm>
            <a:off x="1483350" y="2056253"/>
            <a:ext cx="49998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rgbClr val="000000"/>
                </a:solidFill>
              </a:rPr>
              <a:t>OTUS имеет образовательную лицензию, поэтому наши курсы являются программами повышения квалификации и профессиональной переподготовки. </a:t>
            </a:r>
            <a:endParaRPr sz="1600">
              <a:solidFill>
                <a:srgbClr val="000000"/>
              </a:solidFill>
            </a:endParaRPr>
          </a:p>
        </p:txBody>
      </p:sp>
      <p:sp>
        <p:nvSpPr>
          <p:cNvPr id="343" name="Google Shape;343;p70"/>
          <p:cNvSpPr txBox="1">
            <a:spLocks noGrp="1"/>
          </p:cNvSpPr>
          <p:nvPr>
            <p:ph type="body" idx="4294967295"/>
          </p:nvPr>
        </p:nvSpPr>
        <p:spPr>
          <a:xfrm>
            <a:off x="1483350" y="1579994"/>
            <a:ext cx="2674500" cy="3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lnSpcReduction="10000"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 sz="2000" b="1">
                <a:solidFill>
                  <a:srgbClr val="FF7700"/>
                </a:solidFill>
              </a:rPr>
              <a:t>Программы курсов</a:t>
            </a:r>
            <a:endParaRPr sz="2000" b="1">
              <a:solidFill>
                <a:srgbClr val="FF7700"/>
              </a:solidFill>
            </a:endParaRPr>
          </a:p>
        </p:txBody>
      </p:sp>
      <p:pic>
        <p:nvPicPr>
          <p:cNvPr id="344" name="Google Shape;344;p7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1675" y="1564400"/>
            <a:ext cx="396000" cy="39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73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Напишите, пожалуйста, в чат подходящую цифру</a:t>
            </a:r>
            <a:endParaRPr/>
          </a:p>
        </p:txBody>
      </p:sp>
      <p:sp>
        <p:nvSpPr>
          <p:cNvPr id="376" name="Google Shape;376;p73"/>
          <p:cNvSpPr txBox="1">
            <a:spLocks noGrp="1"/>
          </p:cNvSpPr>
          <p:nvPr>
            <p:ph type="body" idx="4294967295"/>
          </p:nvPr>
        </p:nvSpPr>
        <p:spPr>
          <a:xfrm>
            <a:off x="567875" y="1930253"/>
            <a:ext cx="49998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900" b="1">
                <a:solidFill>
                  <a:srgbClr val="FF7700"/>
                </a:solidFill>
              </a:rPr>
              <a:t>1</a:t>
            </a:r>
            <a:r>
              <a:rPr lang="ru" sz="1900" b="1"/>
              <a:t> -</a:t>
            </a:r>
            <a:r>
              <a:rPr lang="ru" sz="1900"/>
              <a:t> если уже учились у нас в компании </a:t>
            </a:r>
            <a:endParaRPr sz="19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900" b="1">
                <a:solidFill>
                  <a:srgbClr val="FF7700"/>
                </a:solidFill>
              </a:rPr>
              <a:t>2</a:t>
            </a:r>
            <a:r>
              <a:rPr lang="ru" sz="1900" b="1"/>
              <a:t> -</a:t>
            </a:r>
            <a:r>
              <a:rPr lang="ru" sz="1900"/>
              <a:t> если НЕ учились, но слышали о нас</a:t>
            </a:r>
            <a:endParaRPr sz="19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900" b="1">
                <a:solidFill>
                  <a:srgbClr val="FF7700"/>
                </a:solidFill>
              </a:rPr>
              <a:t>3</a:t>
            </a:r>
            <a:r>
              <a:rPr lang="ru" sz="1900" b="1"/>
              <a:t> -</a:t>
            </a:r>
            <a:r>
              <a:rPr lang="ru" sz="1900"/>
              <a:t> если впервые знакомитесь с OTUS</a:t>
            </a:r>
            <a:endParaRPr sz="1400">
              <a:solidFill>
                <a:srgbClr val="000000"/>
              </a:solidFill>
            </a:endParaRPr>
          </a:p>
        </p:txBody>
      </p:sp>
      <p:pic>
        <p:nvPicPr>
          <p:cNvPr id="377" name="Google Shape;377;p7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3650" y="3239988"/>
            <a:ext cx="651601" cy="651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8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Технический анализ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946425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692CDB1-30C0-804A-AF7F-07EB32A85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Технический анализ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A81C5A-3106-2745-823B-629D620F7AE8}"/>
              </a:ext>
            </a:extLst>
          </p:cNvPr>
          <p:cNvSpPr txBox="1"/>
          <p:nvPr/>
        </p:nvSpPr>
        <p:spPr>
          <a:xfrm>
            <a:off x="500550" y="1301026"/>
            <a:ext cx="8520600" cy="2032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ru-RU" dirty="0"/>
              <a:t>Технический анализ — это метод оценки и прогнозирования движения цен финансовых инструментов, таких как акции, облигации, валюты и товары, основанный на анализе исторических данных о ценах и объемах торгов. 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ru-RU" dirty="0"/>
              <a:t>Основная идея технического анализа заключается в том, что все фундаментальные факторы, которые могут повлиять на стоимость актива, уже отражены в его цене. Поэтому, изучая исторические ценовые данные и объемы торгов, можно выявить определенные паттерны и тенденции, которые помогут предсказать будущие изменения цен.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75805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692CDB1-30C0-804A-AF7F-07EB32A85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Технический анализ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A81C5A-3106-2745-823B-629D620F7AE8}"/>
              </a:ext>
            </a:extLst>
          </p:cNvPr>
          <p:cNvSpPr txBox="1"/>
          <p:nvPr/>
        </p:nvSpPr>
        <p:spPr>
          <a:xfrm>
            <a:off x="500550" y="951222"/>
            <a:ext cx="8520600" cy="40070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u-RU" b="1" dirty="0"/>
              <a:t>Графический анализ</a:t>
            </a:r>
            <a:r>
              <a:rPr lang="en-US" b="1" dirty="0"/>
              <a:t>, </a:t>
            </a:r>
            <a:r>
              <a:rPr lang="ru-RU" b="1" dirty="0"/>
              <a:t>Тренды и паттерны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100" dirty="0"/>
              <a:t>Использование различных типов графиков (линейные, </a:t>
            </a:r>
            <a:r>
              <a:rPr lang="ru-RU" sz="1100" dirty="0" err="1"/>
              <a:t>баровые</a:t>
            </a:r>
            <a:r>
              <a:rPr lang="ru-RU" sz="1100" dirty="0"/>
              <a:t>, японские свечи) для визуального отображения исторических данных о ценах и объемах торгов.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100" dirty="0"/>
              <a:t>Определение ключевых уровней поддержки и сопротивления, которые могут указывать на точки разворота тренда.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100" dirty="0"/>
              <a:t>Выявление трендов (восходящий, нисходящий, боковой), которые показывают общую направленность движения цены.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100" dirty="0"/>
              <a:t>Анализ ценовых паттернов (голова и плечи, двойные вершины и дно, флаги, треугольники), которые могут предсказывать разворот или продолжение тренда.</a:t>
            </a:r>
          </a:p>
          <a:p>
            <a:pPr>
              <a:lnSpc>
                <a:spcPct val="120000"/>
              </a:lnSpc>
            </a:pPr>
            <a:endParaRPr lang="en-US" b="1" dirty="0"/>
          </a:p>
          <a:p>
            <a:pPr>
              <a:lnSpc>
                <a:spcPct val="120000"/>
              </a:lnSpc>
            </a:pPr>
            <a:r>
              <a:rPr lang="ru-RU" b="1" dirty="0"/>
              <a:t>Технические</a:t>
            </a:r>
            <a:r>
              <a:rPr lang="en-US" b="1" dirty="0"/>
              <a:t> </a:t>
            </a:r>
            <a:r>
              <a:rPr lang="ru-RU" b="1" dirty="0"/>
              <a:t> индикаторы: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100" dirty="0"/>
              <a:t>Расчет и использование различных технических индикаторов (скользящие средние, индикатор относительной силы (</a:t>
            </a:r>
            <a:r>
              <a:rPr lang="en-US" sz="1100" dirty="0"/>
              <a:t>RSI), MACD, </a:t>
            </a:r>
            <a:r>
              <a:rPr lang="ru-RU" sz="1100" dirty="0" err="1"/>
              <a:t>стохастик</a:t>
            </a:r>
            <a:r>
              <a:rPr lang="ru-RU" sz="1100" dirty="0"/>
              <a:t>) для оценки текущего состояния рынка и прогнозирования будущих движений цен.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100" dirty="0"/>
              <a:t>Индикаторы могут быть трендовыми (показывающими направление тренда) и осцилляторами (указывающими на </a:t>
            </a:r>
            <a:r>
              <a:rPr lang="ru-RU" sz="1100" dirty="0" err="1"/>
              <a:t>перекупленность</a:t>
            </a:r>
            <a:r>
              <a:rPr lang="ru-RU" sz="1100" dirty="0"/>
              <a:t> или </a:t>
            </a:r>
            <a:r>
              <a:rPr lang="ru-RU" sz="1100" dirty="0" err="1"/>
              <a:t>перепроданность</a:t>
            </a:r>
            <a:r>
              <a:rPr lang="ru-RU" sz="1100" dirty="0"/>
              <a:t> актива).</a:t>
            </a:r>
          </a:p>
          <a:p>
            <a:pPr>
              <a:lnSpc>
                <a:spcPct val="120000"/>
              </a:lnSpc>
            </a:pPr>
            <a:endParaRPr lang="en-US" b="1" dirty="0"/>
          </a:p>
          <a:p>
            <a:pPr>
              <a:lnSpc>
                <a:spcPct val="120000"/>
              </a:lnSpc>
            </a:pPr>
            <a:r>
              <a:rPr lang="ru-RU" b="1" dirty="0"/>
              <a:t>Объемы торгов: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100" dirty="0"/>
              <a:t>Анализ объема торгов для подтверждения силы тренда или паттерна.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100" dirty="0"/>
              <a:t>Высокий объем нарастает в направлении тренда, подтверждая его силу, а низкий объем может сигнализировать о слабости тренда или его возможном развороте.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069273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692CDB1-30C0-804A-AF7F-07EB32A85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Технический анализ</a:t>
            </a:r>
            <a:r>
              <a:rPr lang="en-US" dirty="0"/>
              <a:t> – </a:t>
            </a:r>
            <a:r>
              <a:rPr lang="ru-RU" dirty="0"/>
              <a:t>принципы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A81C5A-3106-2745-823B-629D620F7AE8}"/>
              </a:ext>
            </a:extLst>
          </p:cNvPr>
          <p:cNvSpPr txBox="1"/>
          <p:nvPr/>
        </p:nvSpPr>
        <p:spPr>
          <a:xfrm>
            <a:off x="500550" y="1350424"/>
            <a:ext cx="852060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+mj-lt"/>
              <a:buAutoNum type="arabicPeriod"/>
            </a:pPr>
            <a:r>
              <a:rPr lang="ru-RU" b="1" i="0" u="none" strike="noStrike" dirty="0">
                <a:solidFill>
                  <a:srgbClr val="000000"/>
                </a:solidFill>
                <a:effectLst/>
              </a:rPr>
              <a:t>Цены учитывают всё:</a:t>
            </a:r>
            <a:endParaRPr lang="ru-RU" b="0" i="0" u="none" strike="noStrike" dirty="0">
              <a:solidFill>
                <a:srgbClr val="000000"/>
              </a:solidFill>
              <a:effectLst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u="none" strike="noStrike" dirty="0">
                <a:solidFill>
                  <a:srgbClr val="000000"/>
                </a:solidFill>
                <a:effectLst/>
              </a:rPr>
              <a:t>Все известные и неизвестные факторы уже отражены в текущей цене актива. Поэтому анализировать нужно только цену и объем торгов.</a:t>
            </a:r>
          </a:p>
          <a:p>
            <a:pPr marL="742950" lvl="1" indent="-285750" algn="l">
              <a:buFont typeface="+mj-lt"/>
              <a:buAutoNum type="arabicPeriod"/>
            </a:pPr>
            <a:endParaRPr lang="ru-RU" b="0" i="0" u="none" strike="noStrike" dirty="0">
              <a:solidFill>
                <a:srgbClr val="000000"/>
              </a:solidFill>
              <a:effectLst/>
            </a:endParaRPr>
          </a:p>
          <a:p>
            <a:pPr algn="l">
              <a:buFont typeface="+mj-lt"/>
              <a:buAutoNum type="arabicPeriod"/>
            </a:pPr>
            <a:r>
              <a:rPr lang="ru-RU" b="1" i="0" u="none" strike="noStrike" dirty="0">
                <a:solidFill>
                  <a:srgbClr val="000000"/>
                </a:solidFill>
                <a:effectLst/>
              </a:rPr>
              <a:t>Цены движутся в трендах:</a:t>
            </a:r>
            <a:endParaRPr lang="ru-RU" b="0" i="0" u="none" strike="noStrike" dirty="0">
              <a:solidFill>
                <a:srgbClr val="000000"/>
              </a:solidFill>
              <a:effectLst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u="none" strike="noStrike" dirty="0">
                <a:solidFill>
                  <a:srgbClr val="000000"/>
                </a:solidFill>
                <a:effectLst/>
              </a:rPr>
              <a:t>Цены имеют тенденцию двигаться в определенном направлении (тренде) на протяжении определенного времени. Выявление трендов является ключевым элементом технического анализа.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ru-RU" b="0" i="0" u="none" strike="noStrike" dirty="0">
              <a:solidFill>
                <a:srgbClr val="000000"/>
              </a:solidFill>
              <a:effectLst/>
            </a:endParaRPr>
          </a:p>
          <a:p>
            <a:pPr algn="l">
              <a:buFont typeface="+mj-lt"/>
              <a:buAutoNum type="arabicPeriod"/>
            </a:pPr>
            <a:r>
              <a:rPr lang="ru-RU" b="1" i="0" u="none" strike="noStrike" dirty="0">
                <a:solidFill>
                  <a:srgbClr val="000000"/>
                </a:solidFill>
                <a:effectLst/>
              </a:rPr>
              <a:t>История повторяется:</a:t>
            </a:r>
            <a:endParaRPr lang="ru-RU" b="0" i="0" u="none" strike="noStrike" dirty="0">
              <a:solidFill>
                <a:srgbClr val="000000"/>
              </a:solidFill>
              <a:effectLst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u="none" strike="noStrike" dirty="0">
                <a:solidFill>
                  <a:srgbClr val="000000"/>
                </a:solidFill>
                <a:effectLst/>
              </a:rPr>
              <a:t>Паттерны и модели ценового поведения имеют тенденцию повторяться из-за психологических аспектов поведения трейдеров. Изучение этих паттернов позволяет прогнозировать будущие движения цен.</a:t>
            </a:r>
          </a:p>
        </p:txBody>
      </p:sp>
    </p:spTree>
    <p:extLst>
      <p:ext uri="{BB962C8B-B14F-4D97-AF65-F5344CB8AC3E}">
        <p14:creationId xmlns:p14="http://schemas.microsoft.com/office/powerpoint/2010/main" val="15687519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74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Roboto"/>
                <a:ea typeface="Roboto"/>
                <a:cs typeface="Roboto"/>
                <a:sym typeface="Roboto"/>
              </a:rPr>
              <a:t>Типы графиков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0EDC5C-5E70-4A46-9F8E-7212EFCAE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Данные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1D2BD50-0EBD-5B43-BC63-24590CE672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2034975"/>
              </p:ext>
            </p:extLst>
          </p:nvPr>
        </p:nvGraphicFramePr>
        <p:xfrm>
          <a:off x="865306" y="1399547"/>
          <a:ext cx="7014490" cy="288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75247">
                  <a:extLst>
                    <a:ext uri="{9D8B030D-6E8A-4147-A177-3AD203B41FA5}">
                      <a16:colId xmlns:a16="http://schemas.microsoft.com/office/drawing/2014/main" val="535992687"/>
                    </a:ext>
                  </a:extLst>
                </a:gridCol>
                <a:gridCol w="1040021">
                  <a:extLst>
                    <a:ext uri="{9D8B030D-6E8A-4147-A177-3AD203B41FA5}">
                      <a16:colId xmlns:a16="http://schemas.microsoft.com/office/drawing/2014/main" val="1818214582"/>
                    </a:ext>
                  </a:extLst>
                </a:gridCol>
                <a:gridCol w="1040021">
                  <a:extLst>
                    <a:ext uri="{9D8B030D-6E8A-4147-A177-3AD203B41FA5}">
                      <a16:colId xmlns:a16="http://schemas.microsoft.com/office/drawing/2014/main" val="3288740839"/>
                    </a:ext>
                  </a:extLst>
                </a:gridCol>
                <a:gridCol w="1040021">
                  <a:extLst>
                    <a:ext uri="{9D8B030D-6E8A-4147-A177-3AD203B41FA5}">
                      <a16:colId xmlns:a16="http://schemas.microsoft.com/office/drawing/2014/main" val="1232625440"/>
                    </a:ext>
                  </a:extLst>
                </a:gridCol>
                <a:gridCol w="1040021">
                  <a:extLst>
                    <a:ext uri="{9D8B030D-6E8A-4147-A177-3AD203B41FA5}">
                      <a16:colId xmlns:a16="http://schemas.microsoft.com/office/drawing/2014/main" val="1760193796"/>
                    </a:ext>
                  </a:extLst>
                </a:gridCol>
                <a:gridCol w="1379159">
                  <a:extLst>
                    <a:ext uri="{9D8B030D-6E8A-4147-A177-3AD203B41FA5}">
                      <a16:colId xmlns:a16="http://schemas.microsoft.com/office/drawing/2014/main" val="2504384955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ctr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200" u="none" strike="noStrike" dirty="0">
                          <a:effectLst/>
                        </a:rPr>
                        <a:t>Date/Time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200" u="none" strike="noStrike">
                          <a:effectLst/>
                        </a:rPr>
                        <a:t>Open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200" u="none" strike="noStrike">
                          <a:effectLst/>
                        </a:rPr>
                        <a:t>High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200" u="none" strike="noStrike">
                          <a:effectLst/>
                        </a:rPr>
                        <a:t>Low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200" u="none" strike="noStrike">
                          <a:effectLst/>
                        </a:rPr>
                        <a:t>Close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200" u="none" strike="noStrike" dirty="0">
                          <a:effectLst/>
                        </a:rPr>
                        <a:t>Volume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4195666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ctr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11.01.2019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3050.72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3066.95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3050.72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3066.91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510301237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959806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ctr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>
                          <a:effectLst/>
                        </a:rPr>
                        <a:t>11.04.2019</a:t>
                      </a:r>
                      <a:endParaRPr lang="en-TR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3078.96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>
                          <a:effectLst/>
                        </a:rPr>
                        <a:t>3085.2</a:t>
                      </a:r>
                      <a:endParaRPr lang="en-TR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3074.87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3078.27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524848878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130999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ctr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>
                          <a:effectLst/>
                        </a:rPr>
                        <a:t>11.05.2019</a:t>
                      </a:r>
                      <a:endParaRPr lang="en-TR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3080.8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>
                          <a:effectLst/>
                        </a:rPr>
                        <a:t>3083.95</a:t>
                      </a:r>
                      <a:endParaRPr lang="en-TR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>
                          <a:effectLst/>
                        </a:rPr>
                        <a:t>3072.15</a:t>
                      </a:r>
                      <a:endParaRPr lang="en-TR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3074.62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585634570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1434278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ctr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>
                          <a:effectLst/>
                        </a:rPr>
                        <a:t>11.06.2019</a:t>
                      </a:r>
                      <a:endParaRPr lang="en-TR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3075.1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>
                          <a:effectLst/>
                        </a:rPr>
                        <a:t>3078.34</a:t>
                      </a:r>
                      <a:endParaRPr lang="en-TR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>
                          <a:effectLst/>
                        </a:rPr>
                        <a:t>3065.89</a:t>
                      </a:r>
                      <a:endParaRPr lang="en-TR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3076.78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544288522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9554737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ctr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>
                          <a:effectLst/>
                        </a:rPr>
                        <a:t>11.07.2019</a:t>
                      </a:r>
                      <a:endParaRPr lang="en-TR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3087.02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>
                          <a:effectLst/>
                        </a:rPr>
                        <a:t>3097.77</a:t>
                      </a:r>
                      <a:endParaRPr lang="en-TR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>
                          <a:effectLst/>
                        </a:rPr>
                        <a:t>3080.23</a:t>
                      </a:r>
                      <a:endParaRPr lang="en-TR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3085.18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566117910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8807133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ctr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>
                          <a:effectLst/>
                        </a:rPr>
                        <a:t>11.08.2019</a:t>
                      </a:r>
                      <a:endParaRPr lang="en-TR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3081.25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>
                          <a:effectLst/>
                        </a:rPr>
                        <a:t>3093.09</a:t>
                      </a:r>
                      <a:endParaRPr lang="en-TR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>
                          <a:effectLst/>
                        </a:rPr>
                        <a:t>3073.58</a:t>
                      </a:r>
                      <a:endParaRPr lang="en-TR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3093.08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460757054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136037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ctr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>
                          <a:effectLst/>
                        </a:rPr>
                        <a:t>11.11.2019</a:t>
                      </a:r>
                      <a:endParaRPr lang="en-TR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3080.33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>
                          <a:effectLst/>
                        </a:rPr>
                        <a:t>3088.33</a:t>
                      </a:r>
                      <a:endParaRPr lang="en-TR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>
                          <a:effectLst/>
                        </a:rPr>
                        <a:t>3075.82</a:t>
                      </a:r>
                      <a:endParaRPr lang="en-TR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3087.01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366044400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041365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ctr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11.12.2019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3089.28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3102.61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3084.73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3091.84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0000" algn="l" fontAlgn="b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TR" sz="1200" u="none" strike="noStrike" dirty="0">
                          <a:effectLst/>
                        </a:rPr>
                        <a:t>434953689</a:t>
                      </a:r>
                      <a:endParaRPr lang="en-T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2358982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688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0EDC5C-5E70-4A46-9F8E-7212EFCAE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График баров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C837CF-D5F0-1848-A9BE-C27200F0C6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409" r="7987"/>
          <a:stretch/>
        </p:blipFill>
        <p:spPr>
          <a:xfrm>
            <a:off x="969632" y="802474"/>
            <a:ext cx="7370432" cy="416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1057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0EDC5C-5E70-4A46-9F8E-7212EFCAE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График баров</a:t>
            </a: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1D5C26-DC77-8441-B1C4-382282217468}"/>
              </a:ext>
            </a:extLst>
          </p:cNvPr>
          <p:cNvGrpSpPr/>
          <p:nvPr/>
        </p:nvGrpSpPr>
        <p:grpSpPr>
          <a:xfrm>
            <a:off x="1031001" y="802474"/>
            <a:ext cx="7309063" cy="3982068"/>
            <a:chOff x="1031001" y="802474"/>
            <a:chExt cx="7309063" cy="398206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D8B195E-32DB-5647-9931-E6297D4D08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1611" r="8456" b="4277"/>
            <a:stretch/>
          </p:blipFill>
          <p:spPr>
            <a:xfrm>
              <a:off x="1031001" y="802474"/>
              <a:ext cx="7309063" cy="3982068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8B9F235-704B-6C4E-92E5-E0B96A3EF6FA}"/>
                </a:ext>
              </a:extLst>
            </p:cNvPr>
            <p:cNvSpPr txBox="1"/>
            <p:nvPr/>
          </p:nvSpPr>
          <p:spPr>
            <a:xfrm>
              <a:off x="2773884" y="1957676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open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56F41EB-8C0F-1C4F-9869-B58729C368EE}"/>
                </a:ext>
              </a:extLst>
            </p:cNvPr>
            <p:cNvSpPr txBox="1"/>
            <p:nvPr/>
          </p:nvSpPr>
          <p:spPr>
            <a:xfrm>
              <a:off x="4945328" y="1346272"/>
              <a:ext cx="5229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max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CF5D556-8F01-5B44-9ACF-4A2CBBE3FF00}"/>
                </a:ext>
              </a:extLst>
            </p:cNvPr>
            <p:cNvSpPr txBox="1"/>
            <p:nvPr/>
          </p:nvSpPr>
          <p:spPr>
            <a:xfrm>
              <a:off x="4280894" y="3889780"/>
              <a:ext cx="4732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min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54AF650-9E3E-3345-AF70-A1EA4F9F66FF}"/>
                </a:ext>
              </a:extLst>
            </p:cNvPr>
            <p:cNvSpPr txBox="1"/>
            <p:nvPr/>
          </p:nvSpPr>
          <p:spPr>
            <a:xfrm>
              <a:off x="6369092" y="3331321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close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41606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0EDC5C-5E70-4A46-9F8E-7212EFCAE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График баров</a:t>
            </a:r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CE36F0D-3539-4E45-ADEB-FA43AB3BEFDD}"/>
              </a:ext>
            </a:extLst>
          </p:cNvPr>
          <p:cNvGrpSpPr/>
          <p:nvPr/>
        </p:nvGrpSpPr>
        <p:grpSpPr>
          <a:xfrm>
            <a:off x="914400" y="888497"/>
            <a:ext cx="7480897" cy="4000479"/>
            <a:chOff x="914400" y="888497"/>
            <a:chExt cx="7480897" cy="400047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F1C4B3-AD7B-274A-8344-F323F56941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0000" r="8187" b="3835"/>
            <a:stretch/>
          </p:blipFill>
          <p:spPr>
            <a:xfrm>
              <a:off x="914400" y="888497"/>
              <a:ext cx="7480897" cy="4000479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BF78058-6F71-E44C-B09E-7BBDB57D6FCB}"/>
                </a:ext>
              </a:extLst>
            </p:cNvPr>
            <p:cNvSpPr txBox="1"/>
            <p:nvPr/>
          </p:nvSpPr>
          <p:spPr>
            <a:xfrm>
              <a:off x="2289068" y="1657914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open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C736A6B-3E5A-1C40-B57C-BD19EB365DAE}"/>
                </a:ext>
              </a:extLst>
            </p:cNvPr>
            <p:cNvSpPr txBox="1"/>
            <p:nvPr/>
          </p:nvSpPr>
          <p:spPr>
            <a:xfrm>
              <a:off x="3989789" y="2888736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close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8ED3C05-5855-6345-A4DA-31ACDF5C239A}"/>
                </a:ext>
              </a:extLst>
            </p:cNvPr>
            <p:cNvSpPr txBox="1"/>
            <p:nvPr/>
          </p:nvSpPr>
          <p:spPr>
            <a:xfrm>
              <a:off x="5295132" y="2503785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open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71F5425-DF70-9E41-8045-AA9C9ACDBF9A}"/>
                </a:ext>
              </a:extLst>
            </p:cNvPr>
            <p:cNvSpPr txBox="1"/>
            <p:nvPr/>
          </p:nvSpPr>
          <p:spPr>
            <a:xfrm>
              <a:off x="6977442" y="2263973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close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E06ECC0-A0E9-CF40-A912-EB23FF36361A}"/>
                </a:ext>
              </a:extLst>
            </p:cNvPr>
            <p:cNvSpPr txBox="1"/>
            <p:nvPr/>
          </p:nvSpPr>
          <p:spPr>
            <a:xfrm>
              <a:off x="3086639" y="3872857"/>
              <a:ext cx="73609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Day “-”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833521D-92B5-1845-8C8F-B55086191895}"/>
                </a:ext>
              </a:extLst>
            </p:cNvPr>
            <p:cNvSpPr txBox="1"/>
            <p:nvPr/>
          </p:nvSpPr>
          <p:spPr>
            <a:xfrm>
              <a:off x="6141798" y="1499421"/>
              <a:ext cx="7761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Day “+”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038920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0EDC5C-5E70-4A46-9F8E-7212EFCAE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График баров</a:t>
            </a:r>
            <a:r>
              <a:rPr lang="en-US" dirty="0"/>
              <a:t> – yahoo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420194-FCD5-C24C-8C35-1F6FAB3E55F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510" r="3087" b="3687"/>
          <a:stretch/>
        </p:blipFill>
        <p:spPr>
          <a:xfrm>
            <a:off x="1084839" y="882360"/>
            <a:ext cx="7352021" cy="4006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90949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0EDC5C-5E70-4A46-9F8E-7212EFCAE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График баров</a:t>
            </a:r>
            <a:r>
              <a:rPr lang="en-US" dirty="0"/>
              <a:t> – </a:t>
            </a:r>
            <a:r>
              <a:rPr lang="ru-RU" dirty="0"/>
              <a:t>оформление в цвете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B01888-4C54-D04F-9933-ABA3A5D56D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43" b="3687"/>
          <a:stretch/>
        </p:blipFill>
        <p:spPr>
          <a:xfrm>
            <a:off x="940622" y="882360"/>
            <a:ext cx="7640456" cy="4006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2216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0EDC5C-5E70-4A46-9F8E-7212EFCAE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Японские свечи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2930C8-93A2-4949-91F0-1099EA937F5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805" r="8322" b="3097"/>
          <a:stretch/>
        </p:blipFill>
        <p:spPr>
          <a:xfrm>
            <a:off x="988043" y="857812"/>
            <a:ext cx="7394980" cy="4031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1363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0EDC5C-5E70-4A46-9F8E-7212EFCAE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Японские свечи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AC0536C-EDA2-4A4A-9C22-43B80234BD84}"/>
              </a:ext>
            </a:extLst>
          </p:cNvPr>
          <p:cNvGrpSpPr/>
          <p:nvPr/>
        </p:nvGrpSpPr>
        <p:grpSpPr>
          <a:xfrm>
            <a:off x="856099" y="906908"/>
            <a:ext cx="7431801" cy="3982068"/>
            <a:chOff x="856099" y="906908"/>
            <a:chExt cx="7431801" cy="398206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36DBF82-4A72-4944-89A0-EF8717AB90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0872" r="7852" b="4277"/>
            <a:stretch/>
          </p:blipFill>
          <p:spPr>
            <a:xfrm>
              <a:off x="856099" y="906908"/>
              <a:ext cx="7431801" cy="3982068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C403FC9-ACCF-F445-B22A-B43FF87DA14F}"/>
                </a:ext>
              </a:extLst>
            </p:cNvPr>
            <p:cNvSpPr txBox="1"/>
            <p:nvPr/>
          </p:nvSpPr>
          <p:spPr>
            <a:xfrm>
              <a:off x="2773884" y="1957676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open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C484AEA-7FA2-C345-B312-E6B55A1260D7}"/>
                </a:ext>
              </a:extLst>
            </p:cNvPr>
            <p:cNvSpPr txBox="1"/>
            <p:nvPr/>
          </p:nvSpPr>
          <p:spPr>
            <a:xfrm>
              <a:off x="4945328" y="1346272"/>
              <a:ext cx="5229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max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D1EB545-4B70-F443-9A1C-9C678BC82273}"/>
                </a:ext>
              </a:extLst>
            </p:cNvPr>
            <p:cNvSpPr txBox="1"/>
            <p:nvPr/>
          </p:nvSpPr>
          <p:spPr>
            <a:xfrm>
              <a:off x="4280894" y="3889780"/>
              <a:ext cx="4732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min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837F0C2-6186-9245-A683-7D6EB6D7FADE}"/>
                </a:ext>
              </a:extLst>
            </p:cNvPr>
            <p:cNvSpPr txBox="1"/>
            <p:nvPr/>
          </p:nvSpPr>
          <p:spPr>
            <a:xfrm>
              <a:off x="6369092" y="3331321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close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12472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0EDC5C-5E70-4A46-9F8E-7212EFCAE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Японские свечи</a:t>
            </a:r>
            <a:r>
              <a:rPr lang="en-US" dirty="0"/>
              <a:t> - yahoo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D90529-8B45-9949-AB77-78C8B10DA5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43" r="3221" b="3393"/>
          <a:stretch/>
        </p:blipFill>
        <p:spPr>
          <a:xfrm>
            <a:off x="899058" y="870086"/>
            <a:ext cx="7345884" cy="4018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4041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0EDC5C-5E70-4A46-9F8E-7212EFCAE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Японские свечи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EA24791-0474-3C4E-8958-AD258DE6390B}"/>
              </a:ext>
            </a:extLst>
          </p:cNvPr>
          <p:cNvGrpSpPr/>
          <p:nvPr/>
        </p:nvGrpSpPr>
        <p:grpSpPr>
          <a:xfrm>
            <a:off x="1101296" y="802474"/>
            <a:ext cx="7542154" cy="4049574"/>
            <a:chOff x="1101296" y="802474"/>
            <a:chExt cx="7542154" cy="404957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50D2B61-EE88-F44B-A718-417437237B7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7518" b="2655"/>
            <a:stretch/>
          </p:blipFill>
          <p:spPr>
            <a:xfrm>
              <a:off x="1101296" y="802474"/>
              <a:ext cx="7542154" cy="4049574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E608B87-E8FB-094F-BC12-655BC5675DE7}"/>
                </a:ext>
              </a:extLst>
            </p:cNvPr>
            <p:cNvSpPr txBox="1"/>
            <p:nvPr/>
          </p:nvSpPr>
          <p:spPr>
            <a:xfrm>
              <a:off x="1718699" y="1618024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open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30BF9F4-0C02-1949-9E59-F74F42A2D117}"/>
                </a:ext>
              </a:extLst>
            </p:cNvPr>
            <p:cNvSpPr txBox="1"/>
            <p:nvPr/>
          </p:nvSpPr>
          <p:spPr>
            <a:xfrm>
              <a:off x="3535657" y="2808956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close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FDFF98-8B8B-EE43-94E9-6A42F8144E31}"/>
                </a:ext>
              </a:extLst>
            </p:cNvPr>
            <p:cNvSpPr txBox="1"/>
            <p:nvPr/>
          </p:nvSpPr>
          <p:spPr>
            <a:xfrm>
              <a:off x="4714189" y="2733002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open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FAAF9DF-DC13-D14D-A1EB-E3AC188D9DCB}"/>
                </a:ext>
              </a:extLst>
            </p:cNvPr>
            <p:cNvSpPr txBox="1"/>
            <p:nvPr/>
          </p:nvSpPr>
          <p:spPr>
            <a:xfrm>
              <a:off x="6538807" y="2192924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close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27C0888-4DE6-604E-BEE0-376F0284799F}"/>
                </a:ext>
              </a:extLst>
            </p:cNvPr>
            <p:cNvSpPr txBox="1"/>
            <p:nvPr/>
          </p:nvSpPr>
          <p:spPr>
            <a:xfrm>
              <a:off x="2632507" y="3793077"/>
              <a:ext cx="73609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Day “-”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8733563-16B3-744E-A2BA-E6A08EDDD335}"/>
                </a:ext>
              </a:extLst>
            </p:cNvPr>
            <p:cNvSpPr txBox="1"/>
            <p:nvPr/>
          </p:nvSpPr>
          <p:spPr>
            <a:xfrm>
              <a:off x="5687666" y="1419641"/>
              <a:ext cx="7761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Day “+”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11487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0EDC5C-5E70-4A46-9F8E-7212EFCAE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График Ренко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6F823A-0825-6740-8D78-8DDBD7BD58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42" r="4699" b="3687"/>
          <a:stretch/>
        </p:blipFill>
        <p:spPr>
          <a:xfrm>
            <a:off x="1155414" y="802474"/>
            <a:ext cx="7210872" cy="4006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6515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0EDC5C-5E70-4A46-9F8E-7212EFCAE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Объем торгов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4F1E8C-9556-864B-AC66-060BB57D07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375" r="3692" b="3835"/>
          <a:stretch/>
        </p:blipFill>
        <p:spPr>
          <a:xfrm>
            <a:off x="917468" y="802474"/>
            <a:ext cx="7309064" cy="400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6110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8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Индикаторы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688882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3200C2-EEDC-A348-A3AC-B435BA04C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Простая скользящая средняя 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F3A926-1997-DB46-B2C1-9800956DA368}"/>
              </a:ext>
            </a:extLst>
          </p:cNvPr>
          <p:cNvSpPr txBox="1"/>
          <p:nvPr/>
        </p:nvSpPr>
        <p:spPr>
          <a:xfrm>
            <a:off x="500550" y="1350424"/>
            <a:ext cx="3265638" cy="375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Простая скользящая средняя (</a:t>
            </a:r>
            <a:r>
              <a:rPr lang="en-US" dirty="0"/>
              <a:t>SMA):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15D82CF-CEE6-F145-B732-656BEA950BBC}"/>
                  </a:ext>
                </a:extLst>
              </p:cNvPr>
              <p:cNvSpPr txBox="1"/>
              <p:nvPr/>
            </p:nvSpPr>
            <p:spPr>
              <a:xfrm>
                <a:off x="4335729" y="1244113"/>
                <a:ext cx="602986" cy="5881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15D82CF-CEE6-F145-B732-656BEA950B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5729" y="1244113"/>
                <a:ext cx="602986" cy="588174"/>
              </a:xfrm>
              <a:prstGeom prst="rect">
                <a:avLst/>
              </a:prstGeom>
              <a:blipFill>
                <a:blip r:embed="rId2"/>
                <a:stretch>
                  <a:fillRect l="-85417" t="-116667" r="-41667" b="-18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A2B06500-362E-6849-8488-7313246937FD}"/>
              </a:ext>
            </a:extLst>
          </p:cNvPr>
          <p:cNvSpPr txBox="1"/>
          <p:nvPr/>
        </p:nvSpPr>
        <p:spPr>
          <a:xfrm>
            <a:off x="500550" y="1832287"/>
            <a:ext cx="8520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Краткосрочные скользящие средние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100" dirty="0"/>
              <a:t>5-дневная </a:t>
            </a:r>
            <a:r>
              <a:rPr lang="en-US" sz="1100" dirty="0"/>
              <a:t>SMA/EMA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100" dirty="0"/>
              <a:t>10-дневная </a:t>
            </a:r>
            <a:r>
              <a:rPr lang="en-US" sz="1100" dirty="0"/>
              <a:t>SMA/EMA</a:t>
            </a:r>
            <a:endParaRPr lang="ru-RU" sz="11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100" dirty="0"/>
              <a:t>20-дневная </a:t>
            </a:r>
            <a:r>
              <a:rPr lang="en-US" sz="1100" dirty="0"/>
              <a:t>SMA/EMA</a:t>
            </a:r>
            <a:endParaRPr lang="ru-RU" sz="1100" dirty="0"/>
          </a:p>
          <a:p>
            <a:endParaRPr lang="en-US" b="1" dirty="0"/>
          </a:p>
          <a:p>
            <a:r>
              <a:rPr lang="ru-RU" b="1" dirty="0"/>
              <a:t>Среднесрочные скользящие средние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50-дневная </a:t>
            </a:r>
            <a:r>
              <a:rPr lang="en-US" sz="1100" dirty="0"/>
              <a:t>SMA/EMA: </a:t>
            </a:r>
            <a:r>
              <a:rPr lang="ru-RU" sz="1100" dirty="0"/>
              <a:t>Один из наиболее популярных периодов, используется для анализа среднесрочных трендов и часто применяется в сочетании с 200-дневной </a:t>
            </a:r>
            <a:r>
              <a:rPr lang="en-US" sz="1100" dirty="0"/>
              <a:t>SMA </a:t>
            </a:r>
            <a:r>
              <a:rPr lang="ru-RU" sz="1100" dirty="0"/>
              <a:t>для выявления "золотого пересечения" (</a:t>
            </a:r>
            <a:r>
              <a:rPr lang="en-US" sz="1100" dirty="0"/>
              <a:t>golden cross) </a:t>
            </a:r>
            <a:r>
              <a:rPr lang="ru-RU" sz="1100" dirty="0"/>
              <a:t>и "мёртвого пересечения" (</a:t>
            </a:r>
            <a:r>
              <a:rPr lang="en-US" sz="1100" dirty="0"/>
              <a:t>death cross).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100-</a:t>
            </a:r>
            <a:r>
              <a:rPr lang="ru-RU" sz="1100" dirty="0"/>
              <a:t>дневная </a:t>
            </a:r>
            <a:r>
              <a:rPr lang="en-US" sz="1100" dirty="0"/>
              <a:t>SMA/EMA: </a:t>
            </a:r>
            <a:r>
              <a:rPr lang="ru-RU" sz="1100" dirty="0"/>
              <a:t>Полезна для анализа трендов, которые могут длиться несколько месяцев.</a:t>
            </a:r>
          </a:p>
          <a:p>
            <a:endParaRPr lang="en-US" b="1" dirty="0"/>
          </a:p>
          <a:p>
            <a:r>
              <a:rPr lang="ru-RU" b="1" dirty="0"/>
              <a:t>Долгосрочные скользящие средние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200-дневная </a:t>
            </a:r>
            <a:r>
              <a:rPr lang="en-US" sz="1100" dirty="0"/>
              <a:t>SMA/EMA: </a:t>
            </a:r>
            <a:r>
              <a:rPr lang="ru-RU" sz="1100" dirty="0"/>
              <a:t>Широко используется для анализа долгосрочных трендов и является ключевым уровнем поддержки/сопротивления для многих трейдеров и инвесторов.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300-дневная </a:t>
            </a:r>
            <a:r>
              <a:rPr lang="en-US" sz="1100" dirty="0"/>
              <a:t>SMA/EMA: </a:t>
            </a:r>
            <a:r>
              <a:rPr lang="ru-RU" sz="1100" dirty="0"/>
              <a:t>Реже используется, но может быть полезна для анализа очень долгосрочных тенденций.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267506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3200C2-EEDC-A348-A3AC-B435BA04C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Простая скользящая средняя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B06500-362E-6849-8488-7313246937FD}"/>
              </a:ext>
            </a:extLst>
          </p:cNvPr>
          <p:cNvSpPr txBox="1"/>
          <p:nvPr/>
        </p:nvSpPr>
        <p:spPr>
          <a:xfrm>
            <a:off x="500550" y="1009941"/>
            <a:ext cx="8520600" cy="3893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Специальные периоды</a:t>
            </a:r>
            <a:endParaRPr lang="en-US" b="1" dirty="0"/>
          </a:p>
          <a:p>
            <a:endParaRPr lang="ru-RU" dirty="0"/>
          </a:p>
          <a:p>
            <a:r>
              <a:rPr lang="ru-RU" dirty="0"/>
              <a:t>В некоторых случаях трейдеры могут использовать нестандартные периоды для скользящих средних, которые могут быть адаптированы под специфические рынки или стратегии.</a:t>
            </a:r>
          </a:p>
          <a:p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100" dirty="0"/>
              <a:t>9-дневная </a:t>
            </a:r>
            <a:r>
              <a:rPr lang="en-US" sz="1100" dirty="0"/>
              <a:t>EMA: </a:t>
            </a:r>
            <a:r>
              <a:rPr lang="ru-RU" sz="1100" dirty="0"/>
              <a:t>Часто используется в индикаторе </a:t>
            </a:r>
            <a:r>
              <a:rPr lang="en-US" sz="1100" dirty="0"/>
              <a:t>MACD </a:t>
            </a:r>
            <a:r>
              <a:rPr lang="ru-RU" sz="1100" dirty="0"/>
              <a:t>в качестве быстрого периода.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100" dirty="0"/>
              <a:t>21-дневная </a:t>
            </a:r>
            <a:r>
              <a:rPr lang="en-US" sz="1100" dirty="0"/>
              <a:t>EMA: </a:t>
            </a:r>
            <a:r>
              <a:rPr lang="ru-RU" sz="1100" dirty="0"/>
              <a:t>Иногда используется вместо 20-дневной </a:t>
            </a:r>
            <a:r>
              <a:rPr lang="en-US" sz="1100" dirty="0"/>
              <a:t>EMA </a:t>
            </a:r>
            <a:r>
              <a:rPr lang="ru-RU" sz="1100" dirty="0"/>
              <a:t>для анализа краткосрочных тенденций.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100" dirty="0"/>
              <a:t>13-дневная </a:t>
            </a:r>
            <a:r>
              <a:rPr lang="en-US" sz="1100" dirty="0"/>
              <a:t>EMA: </a:t>
            </a:r>
            <a:r>
              <a:rPr lang="ru-RU" sz="1100" dirty="0"/>
              <a:t>Используется в некоторых торговых стратегиях для более точного анализа краткосрочных движений.</a:t>
            </a:r>
            <a:endParaRPr lang="en-US" sz="1100" dirty="0"/>
          </a:p>
          <a:p>
            <a:pPr algn="l"/>
            <a:endParaRPr lang="en-US" sz="1400" b="1" i="0" u="none" strike="noStrike" dirty="0">
              <a:solidFill>
                <a:srgbClr val="000000"/>
              </a:solidFill>
              <a:effectLst/>
            </a:endParaRPr>
          </a:p>
          <a:p>
            <a:pPr algn="l"/>
            <a:r>
              <a:rPr lang="ru-RU" sz="1400" b="1" i="0" u="none" strike="noStrike" dirty="0">
                <a:solidFill>
                  <a:srgbClr val="000000"/>
                </a:solidFill>
                <a:effectLst/>
              </a:rPr>
              <a:t>Комбинация скользящих средних</a:t>
            </a:r>
            <a:endParaRPr lang="en-US" sz="1400" b="1" i="0" u="none" strike="noStrike" dirty="0">
              <a:solidFill>
                <a:srgbClr val="000000"/>
              </a:solidFill>
              <a:effectLst/>
            </a:endParaRPr>
          </a:p>
          <a:p>
            <a:pPr algn="l"/>
            <a:endParaRPr lang="ru-RU" sz="1400" b="1" i="0" u="none" strike="noStrike" dirty="0">
              <a:solidFill>
                <a:srgbClr val="000000"/>
              </a:solidFill>
              <a:effectLst/>
            </a:endParaRPr>
          </a:p>
          <a:p>
            <a:pPr algn="l"/>
            <a:r>
              <a:rPr lang="ru-RU" sz="1400" b="0" i="0" u="none" strike="noStrike" dirty="0">
                <a:solidFill>
                  <a:srgbClr val="000000"/>
                </a:solidFill>
                <a:effectLst/>
              </a:rPr>
              <a:t>Часто трейдеры и инвесторы используют комбинации скользящих средних с разными периодами для получения более точных сигналов и подтверждений трендов.</a:t>
            </a:r>
            <a:endParaRPr lang="en-US" sz="1400" b="0" i="0" u="none" strike="noStrike" dirty="0">
              <a:solidFill>
                <a:srgbClr val="000000"/>
              </a:solidFill>
              <a:effectLst/>
            </a:endParaRPr>
          </a:p>
          <a:p>
            <a:pPr algn="l"/>
            <a:endParaRPr lang="ru-RU" sz="1400" b="0" i="0" u="none" strike="noStrike" dirty="0">
              <a:solidFill>
                <a:srgbClr val="000000"/>
              </a:solidFill>
              <a:effectLst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200" b="1" i="0" u="none" strike="noStrike" dirty="0">
                <a:solidFill>
                  <a:srgbClr val="000000"/>
                </a:solidFill>
                <a:effectLst/>
              </a:rPr>
              <a:t>Золотое пересечение (</a:t>
            </a:r>
            <a:r>
              <a:rPr lang="en-US" sz="1200" b="1" i="0" u="none" strike="noStrike" dirty="0">
                <a:solidFill>
                  <a:srgbClr val="000000"/>
                </a:solidFill>
                <a:effectLst/>
              </a:rPr>
              <a:t>Golden Cross):</a:t>
            </a:r>
            <a:r>
              <a:rPr lang="en-US" sz="1200" b="0" i="0" u="none" strike="noStrike" dirty="0">
                <a:solidFill>
                  <a:srgbClr val="000000"/>
                </a:solidFill>
                <a:effectLst/>
              </a:rPr>
              <a:t> </a:t>
            </a:r>
            <a:r>
              <a:rPr lang="ru-RU" sz="1200" b="0" i="0" u="none" strike="noStrike" dirty="0">
                <a:solidFill>
                  <a:srgbClr val="000000"/>
                </a:solidFill>
                <a:effectLst/>
              </a:rPr>
              <a:t>Возникает, когда краткосрочная скользящая средняя (например, 50-дневная </a:t>
            </a:r>
            <a:r>
              <a:rPr lang="en-US" sz="1200" b="0" i="0" u="none" strike="noStrike" dirty="0">
                <a:solidFill>
                  <a:srgbClr val="000000"/>
                </a:solidFill>
                <a:effectLst/>
              </a:rPr>
              <a:t>SMA) </a:t>
            </a:r>
            <a:r>
              <a:rPr lang="ru-RU" sz="1200" b="0" i="0" u="none" strike="noStrike" dirty="0">
                <a:solidFill>
                  <a:srgbClr val="000000"/>
                </a:solidFill>
                <a:effectLst/>
              </a:rPr>
              <a:t>пересекает долгосрочную скользящую среднюю (например, 200-дневную </a:t>
            </a:r>
            <a:r>
              <a:rPr lang="en-US" sz="1200" b="0" i="0" u="none" strike="noStrike" dirty="0">
                <a:solidFill>
                  <a:srgbClr val="000000"/>
                </a:solidFill>
                <a:effectLst/>
              </a:rPr>
              <a:t>SMA) </a:t>
            </a:r>
            <a:r>
              <a:rPr lang="ru-RU" sz="1200" b="0" i="0" u="none" strike="noStrike" dirty="0">
                <a:solidFill>
                  <a:srgbClr val="000000"/>
                </a:solidFill>
                <a:effectLst/>
              </a:rPr>
              <a:t>снизу вверх. Считается бычьим сигналом.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200" b="1" i="0" u="none" strike="noStrike" dirty="0">
                <a:solidFill>
                  <a:srgbClr val="000000"/>
                </a:solidFill>
                <a:effectLst/>
              </a:rPr>
              <a:t>Мёртвое пересечение (</a:t>
            </a:r>
            <a:r>
              <a:rPr lang="en-US" sz="1200" b="1" i="0" u="none" strike="noStrike" dirty="0">
                <a:solidFill>
                  <a:srgbClr val="000000"/>
                </a:solidFill>
                <a:effectLst/>
              </a:rPr>
              <a:t>Death Cross):</a:t>
            </a:r>
            <a:r>
              <a:rPr lang="en-US" sz="1200" b="0" i="0" u="none" strike="noStrike" dirty="0">
                <a:solidFill>
                  <a:srgbClr val="000000"/>
                </a:solidFill>
                <a:effectLst/>
              </a:rPr>
              <a:t> </a:t>
            </a:r>
            <a:r>
              <a:rPr lang="ru-RU" sz="1200" b="0" i="0" u="none" strike="noStrike" dirty="0">
                <a:solidFill>
                  <a:srgbClr val="000000"/>
                </a:solidFill>
                <a:effectLst/>
              </a:rPr>
              <a:t>Возникает, когда краткосрочная скользящая средняя пересекает долгосрочную скользящую среднюю сверху вниз. Считается медвежьим сигналом.</a:t>
            </a:r>
          </a:p>
        </p:txBody>
      </p:sp>
    </p:spTree>
    <p:extLst>
      <p:ext uri="{BB962C8B-B14F-4D97-AF65-F5344CB8AC3E}">
        <p14:creationId xmlns:p14="http://schemas.microsoft.com/office/powerpoint/2010/main" val="18632515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3200C2-EEDC-A348-A3AC-B435BA04C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Золотое пересечение (</a:t>
            </a:r>
            <a:r>
              <a:rPr lang="en-US" dirty="0"/>
              <a:t>Golden Cross) </a:t>
            </a:r>
            <a:r>
              <a:rPr lang="ru-RU" dirty="0"/>
              <a:t>и</a:t>
            </a:r>
            <a:r>
              <a:rPr lang="en-US" dirty="0"/>
              <a:t> </a:t>
            </a:r>
            <a:r>
              <a:rPr lang="ru-RU" dirty="0"/>
              <a:t>Мёртвое пересечение (</a:t>
            </a:r>
            <a:r>
              <a:rPr lang="en-US" dirty="0"/>
              <a:t>Death Cross)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AEB858C-BEFC-5749-8F07-2DAD8557C24E}"/>
              </a:ext>
            </a:extLst>
          </p:cNvPr>
          <p:cNvGrpSpPr/>
          <p:nvPr/>
        </p:nvGrpSpPr>
        <p:grpSpPr>
          <a:xfrm>
            <a:off x="905194" y="1282614"/>
            <a:ext cx="7333612" cy="3780317"/>
            <a:chOff x="905194" y="1282614"/>
            <a:chExt cx="7333612" cy="378031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9D7230-F63C-B04E-973A-4994E4CCA8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6242" t="9127" r="3557"/>
            <a:stretch/>
          </p:blipFill>
          <p:spPr>
            <a:xfrm>
              <a:off x="905194" y="1282614"/>
              <a:ext cx="7333612" cy="3780317"/>
            </a:xfrm>
            <a:prstGeom prst="rect">
              <a:avLst/>
            </a:prstGeom>
          </p:spPr>
        </p:pic>
        <p:sp>
          <p:nvSpPr>
            <p:cNvPr id="8" name="Triangle 7">
              <a:extLst>
                <a:ext uri="{FF2B5EF4-FFF2-40B4-BE49-F238E27FC236}">
                  <a16:creationId xmlns:a16="http://schemas.microsoft.com/office/drawing/2014/main" id="{6E80CA87-04A0-C44F-B00E-B032E104B1F3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6021581" y="1730224"/>
              <a:ext cx="292320" cy="252000"/>
            </a:xfrm>
            <a:prstGeom prst="triangl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riangle 8">
              <a:extLst>
                <a:ext uri="{FF2B5EF4-FFF2-40B4-BE49-F238E27FC236}">
                  <a16:creationId xmlns:a16="http://schemas.microsoft.com/office/drawing/2014/main" id="{96959EB9-10E7-2C43-9091-7D6E6D0AD94B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2405917" y="1478223"/>
              <a:ext cx="292320" cy="252000"/>
            </a:xfrm>
            <a:prstGeom prst="triangl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780633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3200C2-EEDC-A348-A3AC-B435BA04C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Сигнал на покупку</a:t>
            </a:r>
            <a:r>
              <a:rPr lang="en-US" dirty="0"/>
              <a:t>/</a:t>
            </a:r>
            <a:r>
              <a:rPr lang="ru-RU" dirty="0"/>
              <a:t>продажу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504F3F-DDBF-B74E-91F4-3D43FB47A4CB}"/>
              </a:ext>
            </a:extLst>
          </p:cNvPr>
          <p:cNvSpPr txBox="1"/>
          <p:nvPr/>
        </p:nvSpPr>
        <p:spPr>
          <a:xfrm>
            <a:off x="500550" y="1176826"/>
            <a:ext cx="7968390" cy="3429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lang="ru-RU" b="1" i="0" u="none" strike="noStrike" dirty="0">
                <a:solidFill>
                  <a:srgbClr val="000000"/>
                </a:solidFill>
                <a:effectLst/>
              </a:rPr>
              <a:t>Пересечение скользящих средних</a:t>
            </a:r>
          </a:p>
          <a:p>
            <a:pPr algn="l">
              <a:lnSpc>
                <a:spcPct val="120000"/>
              </a:lnSpc>
            </a:pPr>
            <a:r>
              <a:rPr lang="ru-RU" b="0" i="0" u="none" strike="noStrike" dirty="0">
                <a:solidFill>
                  <a:srgbClr val="000000"/>
                </a:solidFill>
                <a:effectLst/>
              </a:rPr>
              <a:t>В дополнение к золотому и мертвому пересечениям, трейдеры часто используют пересечения других комбинаций скользящих средних для генерации сигналов.</a:t>
            </a:r>
          </a:p>
          <a:p>
            <a:pPr marL="285750" indent="-28575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b="0" i="0" u="none" strike="noStrike" dirty="0">
                <a:solidFill>
                  <a:srgbClr val="000000"/>
                </a:solidFill>
                <a:effectLst/>
              </a:rPr>
              <a:t>Краткосрочная скользящая средняя: 20-дневная </a:t>
            </a: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EMA</a:t>
            </a:r>
          </a:p>
          <a:p>
            <a:pPr marL="285750" indent="-28575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b="0" i="0" u="none" strike="noStrike" dirty="0">
                <a:solidFill>
                  <a:srgbClr val="000000"/>
                </a:solidFill>
                <a:effectLst/>
              </a:rPr>
              <a:t>Среднесрочная скользящая средняя: 50-дневная </a:t>
            </a: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EMA</a:t>
            </a:r>
          </a:p>
          <a:p>
            <a:pPr algn="l">
              <a:lnSpc>
                <a:spcPct val="120000"/>
              </a:lnSpc>
            </a:pPr>
            <a:endParaRPr lang="en-US" b="1" i="0" u="none" strike="noStrike" dirty="0">
              <a:solidFill>
                <a:srgbClr val="000000"/>
              </a:solidFill>
              <a:effectLst/>
            </a:endParaRPr>
          </a:p>
          <a:p>
            <a:pPr algn="l">
              <a:lnSpc>
                <a:spcPct val="120000"/>
              </a:lnSpc>
            </a:pPr>
            <a:r>
              <a:rPr lang="ru-RU" b="1" i="0" u="none" strike="noStrike" dirty="0">
                <a:solidFill>
                  <a:srgbClr val="000000"/>
                </a:solidFill>
                <a:effectLst/>
              </a:rPr>
              <a:t>Сигнал на покупку:</a:t>
            </a:r>
            <a:endParaRPr lang="ru-RU" b="0" i="0" u="none" strike="noStrike" dirty="0">
              <a:solidFill>
                <a:srgbClr val="000000"/>
              </a:solidFill>
              <a:effectLst/>
            </a:endParaRPr>
          </a:p>
          <a:p>
            <a:pPr marL="285750" indent="-28575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b="0" i="0" u="none" strike="noStrike" dirty="0">
                <a:solidFill>
                  <a:srgbClr val="000000"/>
                </a:solidFill>
                <a:effectLst/>
              </a:rPr>
              <a:t>Когда 20-дневная </a:t>
            </a: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EMA </a:t>
            </a:r>
            <a:r>
              <a:rPr lang="ru-RU" b="0" i="0" u="none" strike="noStrike" dirty="0">
                <a:solidFill>
                  <a:srgbClr val="000000"/>
                </a:solidFill>
                <a:effectLst/>
              </a:rPr>
              <a:t>пересекает 50-дневную </a:t>
            </a: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EMA </a:t>
            </a:r>
            <a:r>
              <a:rPr lang="ru-RU" b="0" i="0" u="none" strike="noStrike" dirty="0">
                <a:solidFill>
                  <a:srgbClr val="000000"/>
                </a:solidFill>
                <a:effectLst/>
              </a:rPr>
              <a:t>снизу вверх, это сигнализирует о начале восходящего тренда.</a:t>
            </a:r>
          </a:p>
          <a:p>
            <a:pPr algn="l">
              <a:lnSpc>
                <a:spcPct val="120000"/>
              </a:lnSpc>
            </a:pPr>
            <a:endParaRPr lang="en-US" b="1" i="0" u="none" strike="noStrike" dirty="0">
              <a:solidFill>
                <a:srgbClr val="000000"/>
              </a:solidFill>
              <a:effectLst/>
            </a:endParaRPr>
          </a:p>
          <a:p>
            <a:pPr algn="l">
              <a:lnSpc>
                <a:spcPct val="120000"/>
              </a:lnSpc>
            </a:pPr>
            <a:r>
              <a:rPr lang="ru-RU" b="1" i="0" u="none" strike="noStrike" dirty="0">
                <a:solidFill>
                  <a:srgbClr val="000000"/>
                </a:solidFill>
                <a:effectLst/>
              </a:rPr>
              <a:t>Сигнал на продажу:</a:t>
            </a:r>
            <a:endParaRPr lang="ru-RU" b="0" i="0" u="none" strike="noStrike" dirty="0">
              <a:solidFill>
                <a:srgbClr val="000000"/>
              </a:solidFill>
              <a:effectLst/>
            </a:endParaRPr>
          </a:p>
          <a:p>
            <a:pPr marL="285750" indent="-28575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b="0" i="0" u="none" strike="noStrike" dirty="0">
                <a:solidFill>
                  <a:srgbClr val="000000"/>
                </a:solidFill>
                <a:effectLst/>
              </a:rPr>
              <a:t>Когда 20-дневная </a:t>
            </a: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EMA </a:t>
            </a:r>
            <a:r>
              <a:rPr lang="ru-RU" b="0" i="0" u="none" strike="noStrike" dirty="0">
                <a:solidFill>
                  <a:srgbClr val="000000"/>
                </a:solidFill>
                <a:effectLst/>
              </a:rPr>
              <a:t>пересекает 50-дневную </a:t>
            </a: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EMA </a:t>
            </a:r>
            <a:r>
              <a:rPr lang="ru-RU" b="0" i="0" u="none" strike="noStrike" dirty="0">
                <a:solidFill>
                  <a:srgbClr val="000000"/>
                </a:solidFill>
                <a:effectLst/>
              </a:rPr>
              <a:t>сверху вниз, это сигнализирует о начале нисходящего тренда.</a:t>
            </a:r>
          </a:p>
        </p:txBody>
      </p:sp>
    </p:spTree>
    <p:extLst>
      <p:ext uri="{BB962C8B-B14F-4D97-AF65-F5344CB8AC3E}">
        <p14:creationId xmlns:p14="http://schemas.microsoft.com/office/powerpoint/2010/main" val="34939564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3200C2-EEDC-A348-A3AC-B435BA04C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Сигнал на покупку</a:t>
            </a:r>
            <a:r>
              <a:rPr lang="en-US" dirty="0"/>
              <a:t>/</a:t>
            </a:r>
            <a:r>
              <a:rPr lang="ru-RU" dirty="0"/>
              <a:t>продажу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5554EB-DA9F-0C49-B1E5-FFC7958AA87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222" t="10948" r="5475"/>
          <a:stretch/>
        </p:blipFill>
        <p:spPr>
          <a:xfrm>
            <a:off x="951221" y="1061686"/>
            <a:ext cx="7434478" cy="3704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6830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3200C2-EEDC-A348-A3AC-B435BA04C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Недостатки модели скользящих средних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5554EB-DA9F-0C49-B1E5-FFC7958AA87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222" t="10948" r="5475"/>
          <a:stretch/>
        </p:blipFill>
        <p:spPr>
          <a:xfrm>
            <a:off x="951221" y="1061686"/>
            <a:ext cx="7434478" cy="3704552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1821824-2B1D-634D-AE34-47E3E54E453C}"/>
              </a:ext>
            </a:extLst>
          </p:cNvPr>
          <p:cNvCxnSpPr/>
          <p:nvPr/>
        </p:nvCxnSpPr>
        <p:spPr>
          <a:xfrm flipV="1">
            <a:off x="3458547" y="2282890"/>
            <a:ext cx="491412" cy="217714"/>
          </a:xfrm>
          <a:prstGeom prst="line">
            <a:avLst/>
          </a:prstGeom>
          <a:ln w="57150" cap="rnd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4FDB6B5-DAF6-A442-B304-C90053CCAB90}"/>
              </a:ext>
            </a:extLst>
          </p:cNvPr>
          <p:cNvCxnSpPr>
            <a:cxnSpLocks/>
          </p:cNvCxnSpPr>
          <p:nvPr/>
        </p:nvCxnSpPr>
        <p:spPr>
          <a:xfrm>
            <a:off x="3458547" y="2220686"/>
            <a:ext cx="534955" cy="628261"/>
          </a:xfrm>
          <a:prstGeom prst="line">
            <a:avLst/>
          </a:prstGeom>
          <a:ln w="57150" cap="rnd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A0EF8B1-6A25-564C-9CC6-9D4AA0219B4C}"/>
              </a:ext>
            </a:extLst>
          </p:cNvPr>
          <p:cNvCxnSpPr>
            <a:cxnSpLocks/>
          </p:cNvCxnSpPr>
          <p:nvPr/>
        </p:nvCxnSpPr>
        <p:spPr>
          <a:xfrm flipV="1">
            <a:off x="4773291" y="2998237"/>
            <a:ext cx="526497" cy="332792"/>
          </a:xfrm>
          <a:prstGeom prst="line">
            <a:avLst/>
          </a:prstGeom>
          <a:ln w="57150" cap="rnd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6AF894-3E93-BD44-9CD7-26A19C85F45F}"/>
              </a:ext>
            </a:extLst>
          </p:cNvPr>
          <p:cNvCxnSpPr>
            <a:cxnSpLocks/>
          </p:cNvCxnSpPr>
          <p:nvPr/>
        </p:nvCxnSpPr>
        <p:spPr>
          <a:xfrm>
            <a:off x="4760850" y="3176480"/>
            <a:ext cx="538938" cy="450018"/>
          </a:xfrm>
          <a:prstGeom prst="line">
            <a:avLst/>
          </a:prstGeom>
          <a:ln w="57150" cap="rnd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C4A804E-41C2-214F-8D58-A8F7BE45A799}"/>
              </a:ext>
            </a:extLst>
          </p:cNvPr>
          <p:cNvCxnSpPr>
            <a:cxnSpLocks/>
          </p:cNvCxnSpPr>
          <p:nvPr/>
        </p:nvCxnSpPr>
        <p:spPr>
          <a:xfrm flipV="1">
            <a:off x="6101348" y="2450841"/>
            <a:ext cx="1108105" cy="950648"/>
          </a:xfrm>
          <a:prstGeom prst="line">
            <a:avLst/>
          </a:prstGeom>
          <a:ln w="57150" cap="rnd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92C0073-B9B2-1449-9EF3-FFD696EA1B42}"/>
              </a:ext>
            </a:extLst>
          </p:cNvPr>
          <p:cNvCxnSpPr>
            <a:cxnSpLocks/>
          </p:cNvCxnSpPr>
          <p:nvPr/>
        </p:nvCxnSpPr>
        <p:spPr>
          <a:xfrm flipV="1">
            <a:off x="6101348" y="2805404"/>
            <a:ext cx="1108105" cy="525625"/>
          </a:xfrm>
          <a:prstGeom prst="line">
            <a:avLst/>
          </a:prstGeom>
          <a:ln w="57150" cap="rnd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95829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8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Технический анализ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198288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692CDB1-30C0-804A-AF7F-07EB32A85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Технический анализ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A81C5A-3106-2745-823B-629D620F7AE8}"/>
              </a:ext>
            </a:extLst>
          </p:cNvPr>
          <p:cNvSpPr txBox="1"/>
          <p:nvPr/>
        </p:nvSpPr>
        <p:spPr>
          <a:xfrm>
            <a:off x="500550" y="1301026"/>
            <a:ext cx="8520600" cy="2032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ru-RU" dirty="0"/>
              <a:t>Технический анализ — это метод оценки и прогнозирования движения цен финансовых инструментов, таких как акции, облигации, валюты и товары, основанный на анализе исторических данных о ценах и объемах торгов. 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ru-RU" dirty="0"/>
              <a:t>Основная идея технического анализа заключается в том, что все фундаментальные факторы, которые могут повлиять на стоимость актива, уже отражены в его цене. Поэтому, изучая исторические ценовые данные и объемы торгов, можно выявить определенные паттерны и тенденции, которые помогут предсказать будущие изменения цен.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68821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692CDB1-30C0-804A-AF7F-07EB32A85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Технический анализ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A81C5A-3106-2745-823B-629D620F7AE8}"/>
              </a:ext>
            </a:extLst>
          </p:cNvPr>
          <p:cNvSpPr txBox="1"/>
          <p:nvPr/>
        </p:nvSpPr>
        <p:spPr>
          <a:xfrm>
            <a:off x="500550" y="951222"/>
            <a:ext cx="8520600" cy="40070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u-RU" b="1" dirty="0"/>
              <a:t>Графический анализ</a:t>
            </a:r>
            <a:r>
              <a:rPr lang="en-US" b="1" dirty="0"/>
              <a:t>, </a:t>
            </a:r>
            <a:r>
              <a:rPr lang="ru-RU" b="1" dirty="0"/>
              <a:t>Тренды и паттерны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100" dirty="0"/>
              <a:t>Использование различных типов графиков (линейные, </a:t>
            </a:r>
            <a:r>
              <a:rPr lang="ru-RU" sz="1100" dirty="0" err="1"/>
              <a:t>баровые</a:t>
            </a:r>
            <a:r>
              <a:rPr lang="ru-RU" sz="1100" dirty="0"/>
              <a:t>, японские свечи) для визуального отображения исторических данных о ценах и объемах торгов.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100" dirty="0"/>
              <a:t>Определение ключевых уровней поддержки и сопротивления, которые могут указывать на точки разворота тренда.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100" dirty="0"/>
              <a:t>Выявление трендов (восходящий, нисходящий, боковой), которые показывают общую направленность движения цены.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100" dirty="0"/>
              <a:t>Анализ ценовых паттернов (голова и плечи, двойные вершины и дно, флаги, треугольники), которые могут предсказывать разворот или продолжение тренда.</a:t>
            </a:r>
          </a:p>
          <a:p>
            <a:pPr>
              <a:lnSpc>
                <a:spcPct val="120000"/>
              </a:lnSpc>
            </a:pPr>
            <a:endParaRPr lang="en-US" b="1" dirty="0"/>
          </a:p>
          <a:p>
            <a:pPr>
              <a:lnSpc>
                <a:spcPct val="120000"/>
              </a:lnSpc>
            </a:pPr>
            <a:r>
              <a:rPr lang="ru-RU" b="1" dirty="0"/>
              <a:t>Технические</a:t>
            </a:r>
            <a:r>
              <a:rPr lang="en-US" b="1" dirty="0"/>
              <a:t> </a:t>
            </a:r>
            <a:r>
              <a:rPr lang="ru-RU" b="1" dirty="0"/>
              <a:t> индикаторы: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100" dirty="0"/>
              <a:t>Расчет и использование различных технических индикаторов (скользящие средние, индикатор относительной силы (</a:t>
            </a:r>
            <a:r>
              <a:rPr lang="en-US" sz="1100" dirty="0"/>
              <a:t>RSI), MACD, </a:t>
            </a:r>
            <a:r>
              <a:rPr lang="ru-RU" sz="1100" dirty="0" err="1"/>
              <a:t>стохастик</a:t>
            </a:r>
            <a:r>
              <a:rPr lang="ru-RU" sz="1100" dirty="0"/>
              <a:t>) для оценки текущего состояния рынка и прогнозирования будущих движений цен.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100" dirty="0"/>
              <a:t>Индикаторы могут быть трендовыми (показывающими направление тренда) и осцилляторами (указывающими на </a:t>
            </a:r>
            <a:r>
              <a:rPr lang="ru-RU" sz="1100" dirty="0" err="1"/>
              <a:t>перекупленность</a:t>
            </a:r>
            <a:r>
              <a:rPr lang="ru-RU" sz="1100" dirty="0"/>
              <a:t> или </a:t>
            </a:r>
            <a:r>
              <a:rPr lang="ru-RU" sz="1100" dirty="0" err="1"/>
              <a:t>перепроданность</a:t>
            </a:r>
            <a:r>
              <a:rPr lang="ru-RU" sz="1100" dirty="0"/>
              <a:t> актива).</a:t>
            </a:r>
          </a:p>
          <a:p>
            <a:pPr>
              <a:lnSpc>
                <a:spcPct val="120000"/>
              </a:lnSpc>
            </a:pPr>
            <a:endParaRPr lang="en-US" b="1" dirty="0"/>
          </a:p>
          <a:p>
            <a:pPr>
              <a:lnSpc>
                <a:spcPct val="120000"/>
              </a:lnSpc>
            </a:pPr>
            <a:r>
              <a:rPr lang="ru-RU" b="1" dirty="0"/>
              <a:t>Объемы торгов: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100" dirty="0"/>
              <a:t>Анализ объема торгов для подтверждения силы тренда или паттерна.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100" dirty="0"/>
              <a:t>Высокий объем нарастает в направлении тренда, подтверждая его силу, а низкий объем может сигнализировать о слабости тренда или его возможном развороте.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825727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692CDB1-30C0-804A-AF7F-07EB32A85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Технический анализ</a:t>
            </a:r>
            <a:r>
              <a:rPr lang="en-US" dirty="0"/>
              <a:t> – </a:t>
            </a:r>
            <a:r>
              <a:rPr lang="ru-RU" dirty="0"/>
              <a:t>принципы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A81C5A-3106-2745-823B-629D620F7AE8}"/>
              </a:ext>
            </a:extLst>
          </p:cNvPr>
          <p:cNvSpPr txBox="1"/>
          <p:nvPr/>
        </p:nvSpPr>
        <p:spPr>
          <a:xfrm>
            <a:off x="500550" y="1350424"/>
            <a:ext cx="852060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+mj-lt"/>
              <a:buAutoNum type="arabicPeriod"/>
            </a:pPr>
            <a:r>
              <a:rPr lang="ru-RU" b="1" i="0" u="none" strike="noStrike" dirty="0">
                <a:solidFill>
                  <a:srgbClr val="000000"/>
                </a:solidFill>
                <a:effectLst/>
              </a:rPr>
              <a:t>Цены учитывают всё:</a:t>
            </a:r>
            <a:endParaRPr lang="ru-RU" b="0" i="0" u="none" strike="noStrike" dirty="0">
              <a:solidFill>
                <a:srgbClr val="000000"/>
              </a:solidFill>
              <a:effectLst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u="none" strike="noStrike" dirty="0">
                <a:solidFill>
                  <a:srgbClr val="000000"/>
                </a:solidFill>
                <a:effectLst/>
              </a:rPr>
              <a:t>Все известные и неизвестные факторы уже отражены в текущей цене актива. Поэтому анализировать нужно только цену и объем торгов.</a:t>
            </a:r>
          </a:p>
          <a:p>
            <a:pPr marL="742950" lvl="1" indent="-285750" algn="l">
              <a:buFont typeface="+mj-lt"/>
              <a:buAutoNum type="arabicPeriod"/>
            </a:pPr>
            <a:endParaRPr lang="ru-RU" b="0" i="0" u="none" strike="noStrike" dirty="0">
              <a:solidFill>
                <a:srgbClr val="000000"/>
              </a:solidFill>
              <a:effectLst/>
            </a:endParaRPr>
          </a:p>
          <a:p>
            <a:pPr algn="l">
              <a:buFont typeface="+mj-lt"/>
              <a:buAutoNum type="arabicPeriod"/>
            </a:pPr>
            <a:r>
              <a:rPr lang="ru-RU" b="1" i="0" u="none" strike="noStrike" dirty="0">
                <a:solidFill>
                  <a:srgbClr val="000000"/>
                </a:solidFill>
                <a:effectLst/>
              </a:rPr>
              <a:t>Цены движутся в трендах:</a:t>
            </a:r>
            <a:endParaRPr lang="ru-RU" b="0" i="0" u="none" strike="noStrike" dirty="0">
              <a:solidFill>
                <a:srgbClr val="000000"/>
              </a:solidFill>
              <a:effectLst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u="none" strike="noStrike" dirty="0">
                <a:solidFill>
                  <a:srgbClr val="000000"/>
                </a:solidFill>
                <a:effectLst/>
              </a:rPr>
              <a:t>Цены имеют тенденцию двигаться в определенном направлении (тренде) на протяжении определенного времени. Выявление трендов является ключевым элементом технического анализа.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ru-RU" b="0" i="0" u="none" strike="noStrike" dirty="0">
              <a:solidFill>
                <a:srgbClr val="000000"/>
              </a:solidFill>
              <a:effectLst/>
            </a:endParaRPr>
          </a:p>
          <a:p>
            <a:pPr algn="l">
              <a:buFont typeface="+mj-lt"/>
              <a:buAutoNum type="arabicPeriod"/>
            </a:pPr>
            <a:r>
              <a:rPr lang="ru-RU" b="1" i="0" u="none" strike="noStrike" dirty="0">
                <a:solidFill>
                  <a:srgbClr val="000000"/>
                </a:solidFill>
                <a:effectLst/>
              </a:rPr>
              <a:t>История повторяется:</a:t>
            </a:r>
            <a:endParaRPr lang="ru-RU" b="0" i="0" u="none" strike="noStrike" dirty="0">
              <a:solidFill>
                <a:srgbClr val="000000"/>
              </a:solidFill>
              <a:effectLst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u="none" strike="noStrike" dirty="0">
                <a:solidFill>
                  <a:srgbClr val="000000"/>
                </a:solidFill>
                <a:effectLst/>
              </a:rPr>
              <a:t>Паттерны и модели ценового поведения имеют тенденцию повторяться из-за психологических аспектов поведения трейдеров. Изучение этих паттернов позволяет прогнозировать будущие движения цен.</a:t>
            </a:r>
          </a:p>
        </p:txBody>
      </p:sp>
    </p:spTree>
    <p:extLst>
      <p:ext uri="{BB962C8B-B14F-4D97-AF65-F5344CB8AC3E}">
        <p14:creationId xmlns:p14="http://schemas.microsoft.com/office/powerpoint/2010/main" val="10234338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8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Технический анализ</a:t>
            </a:r>
            <a:br>
              <a:rPr lang="ru-RU" dirty="0"/>
            </a:br>
            <a:r>
              <a:rPr lang="ru-RU" sz="3600" dirty="0"/>
              <a:t>инструменты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698187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B85BD24-D119-4647-9F3D-009AD3781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Инструменты технического анализа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D1979A-913A-F740-85FE-3C8F8EEFDD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068" y="1635237"/>
            <a:ext cx="7179863" cy="2249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3399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8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Практика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4534185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8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dirty="0"/>
              <a:t>Практическая реализация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466" name="Google Shape;466;p86"/>
          <p:cNvGraphicFramePr/>
          <p:nvPr>
            <p:extLst>
              <p:ext uri="{D42A27DB-BD31-4B8C-83A1-F6EECF244321}">
                <p14:modId xmlns:p14="http://schemas.microsoft.com/office/powerpoint/2010/main" val="1855631419"/>
              </p:ext>
            </p:extLst>
          </p:nvPr>
        </p:nvGraphicFramePr>
        <p:xfrm>
          <a:off x="952500" y="1544194"/>
          <a:ext cx="7239000" cy="698608"/>
        </p:xfrm>
        <a:graphic>
          <a:graphicData uri="http://schemas.openxmlformats.org/drawingml/2006/table">
            <a:tbl>
              <a:tblPr>
                <a:noFill/>
                <a:tableStyleId>{9F59E00E-254B-42B5-9FED-D0DB1D54CBD8}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Научимся строить базовые графики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Научимся строить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торговые сигналы по индикаторам</a:t>
                      </a:r>
                      <a:endParaRPr lang="en-US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85"/>
          <p:cNvSpPr txBox="1">
            <a:spLocks noGrp="1"/>
          </p:cNvSpPr>
          <p:nvPr>
            <p:ph type="title"/>
          </p:nvPr>
        </p:nvSpPr>
        <p:spPr>
          <a:xfrm>
            <a:off x="956225" y="11064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Вопросы?</a:t>
            </a:r>
            <a:endParaRPr/>
          </a:p>
        </p:txBody>
      </p:sp>
      <p:pic>
        <p:nvPicPr>
          <p:cNvPr id="457" name="Google Shape;457;p8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2750" y="2962492"/>
            <a:ext cx="496901" cy="496901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85"/>
          <p:cNvSpPr txBox="1"/>
          <p:nvPr/>
        </p:nvSpPr>
        <p:spPr>
          <a:xfrm>
            <a:off x="1750800" y="2887700"/>
            <a:ext cx="163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Задаем вопросы в чат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59" name="Google Shape;459;p8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15725" y="2962492"/>
            <a:ext cx="496901" cy="496901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p85"/>
          <p:cNvSpPr txBox="1"/>
          <p:nvPr/>
        </p:nvSpPr>
        <p:spPr>
          <a:xfrm>
            <a:off x="5119475" y="2892305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8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Ключевые тезисы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4" name="Google Shape;389;p75">
            <a:extLst>
              <a:ext uri="{FF2B5EF4-FFF2-40B4-BE49-F238E27FC236}">
                <a16:creationId xmlns:a16="http://schemas.microsoft.com/office/drawing/2014/main" id="{EE71290E-F42D-6247-8F96-FFA1EE92CB7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55980120"/>
              </p:ext>
            </p:extLst>
          </p:nvPr>
        </p:nvGraphicFramePr>
        <p:xfrm>
          <a:off x="952500" y="1544194"/>
          <a:ext cx="7239000" cy="1746520"/>
        </p:xfrm>
        <a:graphic>
          <a:graphicData uri="http://schemas.openxmlformats.org/drawingml/2006/table">
            <a:tbl>
              <a:tblPr>
                <a:noFill/>
                <a:tableStyleId>{9F59E00E-254B-42B5-9FED-D0DB1D54CBD8}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что такое технический анализ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какие основные типы графиков используются для анализа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что такое японские свечи и как читать такой график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670508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как строить торговые сигналы на основании скользящего среднего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484065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какие типы индикаторов используются для технического анализа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0960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4469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93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dirty="0"/>
              <a:t>Знакомство с </a:t>
            </a:r>
            <a:br>
              <a:rPr lang="ru" sz="4000" dirty="0"/>
            </a:br>
            <a:r>
              <a:rPr lang="ru" sz="4000" dirty="0"/>
              <a:t>программой курса</a:t>
            </a:r>
            <a:endParaRPr sz="4000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Карта курса</a:t>
            </a:r>
            <a:endParaRPr dirty="0"/>
          </a:p>
        </p:txBody>
      </p:sp>
      <p:sp>
        <p:nvSpPr>
          <p:cNvPr id="179" name="Google Shape;179;p34"/>
          <p:cNvSpPr/>
          <p:nvPr/>
        </p:nvSpPr>
        <p:spPr>
          <a:xfrm>
            <a:off x="3042000" y="769970"/>
            <a:ext cx="3193103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1.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Введение в машинное обучение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654005" y="1805231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2.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Технический анализ финансовых рынков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5074342" y="2879957"/>
            <a:ext cx="3229663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4.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Продвинутые нейросети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5244005" y="1805231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3.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Глубокое обучение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183" name="Google Shape;183;p34"/>
          <p:cNvCxnSpPr>
            <a:cxnSpLocks/>
            <a:stCxn id="179" idx="1"/>
            <a:endCxn id="180" idx="0"/>
          </p:cNvCxnSpPr>
          <p:nvPr/>
        </p:nvCxnSpPr>
        <p:spPr>
          <a:xfrm rot="10800000" flipV="1">
            <a:off x="2184006" y="1059619"/>
            <a:ext cx="857995" cy="745611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5" name="Google Shape;185;p34"/>
          <p:cNvSpPr/>
          <p:nvPr/>
        </p:nvSpPr>
        <p:spPr>
          <a:xfrm>
            <a:off x="654005" y="2886094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5.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Перенос модели в продакшн</a:t>
            </a:r>
          </a:p>
        </p:txBody>
      </p:sp>
      <p:cxnSp>
        <p:nvCxnSpPr>
          <p:cNvPr id="186" name="Google Shape;186;p34"/>
          <p:cNvCxnSpPr>
            <a:cxnSpLocks/>
            <a:stCxn id="180" idx="3"/>
            <a:endCxn id="182" idx="1"/>
          </p:cNvCxnSpPr>
          <p:nvPr/>
        </p:nvCxnSpPr>
        <p:spPr>
          <a:xfrm>
            <a:off x="3714005" y="2094881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7" name="Google Shape;187;p34"/>
          <p:cNvCxnSpPr>
            <a:cxnSpLocks/>
            <a:stCxn id="182" idx="3"/>
            <a:endCxn id="181" idx="3"/>
          </p:cNvCxnSpPr>
          <p:nvPr/>
        </p:nvCxnSpPr>
        <p:spPr>
          <a:xfrm>
            <a:off x="8304005" y="2094881"/>
            <a:ext cx="12700" cy="1074726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8" name="Google Shape;188;p34"/>
          <p:cNvCxnSpPr>
            <a:cxnSpLocks/>
            <a:stCxn id="181" idx="1"/>
            <a:endCxn id="185" idx="3"/>
          </p:cNvCxnSpPr>
          <p:nvPr/>
        </p:nvCxnSpPr>
        <p:spPr>
          <a:xfrm rot="10800000" flipV="1">
            <a:off x="3714006" y="3169606"/>
            <a:ext cx="1360337" cy="6137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34" name="Google Shape;189;p34">
            <a:extLst>
              <a:ext uri="{FF2B5EF4-FFF2-40B4-BE49-F238E27FC236}">
                <a16:creationId xmlns:a16="http://schemas.microsoft.com/office/drawing/2014/main" id="{1205F190-94C2-4A4C-B9ED-91A1F73E4D34}"/>
              </a:ext>
            </a:extLst>
          </p:cNvPr>
          <p:cNvSpPr/>
          <p:nvPr/>
        </p:nvSpPr>
        <p:spPr>
          <a:xfrm>
            <a:off x="3042000" y="423476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050" dirty="0">
                <a:solidFill>
                  <a:schemeClr val="dk1"/>
                </a:solidFill>
                <a:latin typeface="+mn-lt"/>
                <a:ea typeface="Roboto"/>
                <a:cs typeface="Roboto"/>
                <a:sym typeface="Roboto"/>
              </a:rPr>
              <a:t>6</a:t>
            </a:r>
            <a:r>
              <a:rPr lang="en-US" sz="1050" dirty="0">
                <a:solidFill>
                  <a:schemeClr val="dk1"/>
                </a:solidFill>
                <a:latin typeface="+mn-lt"/>
                <a:ea typeface="Roboto"/>
                <a:cs typeface="Roboto"/>
                <a:sym typeface="Roboto"/>
              </a:rPr>
              <a:t>. </a:t>
            </a:r>
            <a:r>
              <a:rPr lang="ru-RU" sz="1050" dirty="0">
                <a:solidFill>
                  <a:schemeClr val="dk1"/>
                </a:solidFill>
                <a:latin typeface="+mn-lt"/>
                <a:ea typeface="Roboto"/>
                <a:cs typeface="Roboto"/>
                <a:sym typeface="Roboto"/>
              </a:rPr>
              <a:t>Финальный проект и практическое применение</a:t>
            </a:r>
            <a:endParaRPr sz="1050" b="0" i="0" u="none" strike="noStrike" cap="none" dirty="0">
              <a:solidFill>
                <a:schemeClr val="dk1"/>
              </a:solidFill>
              <a:latin typeface="+mn-lt"/>
              <a:ea typeface="Roboto"/>
              <a:cs typeface="Roboto"/>
              <a:sym typeface="Roboto"/>
            </a:endParaRPr>
          </a:p>
        </p:txBody>
      </p:sp>
      <p:cxnSp>
        <p:nvCxnSpPr>
          <p:cNvPr id="38" name="Google Shape;188;p34">
            <a:extLst>
              <a:ext uri="{FF2B5EF4-FFF2-40B4-BE49-F238E27FC236}">
                <a16:creationId xmlns:a16="http://schemas.microsoft.com/office/drawing/2014/main" id="{F7B38074-28CA-DC44-8191-7A278B3DB050}"/>
              </a:ext>
            </a:extLst>
          </p:cNvPr>
          <p:cNvCxnSpPr>
            <a:cxnSpLocks/>
            <a:stCxn id="34" idx="0"/>
            <a:endCxn id="185" idx="2"/>
          </p:cNvCxnSpPr>
          <p:nvPr/>
        </p:nvCxnSpPr>
        <p:spPr>
          <a:xfrm rot="16200000" flipV="1">
            <a:off x="2993318" y="2656082"/>
            <a:ext cx="769371" cy="2387995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D6F8E5B-8E72-9642-AA4C-A3D19C97E5E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120894" y="133823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47CBAF-C51E-AF4A-9C35-3B92661ED5B4}"/>
              </a:ext>
            </a:extLst>
          </p:cNvPr>
          <p:cNvSpPr txBox="1"/>
          <p:nvPr/>
        </p:nvSpPr>
        <p:spPr>
          <a:xfrm>
            <a:off x="5367116" y="133823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1A85A128-207E-674E-8856-DD7B530737C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95778" y="237938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5E1EFF6-15B2-384F-BCB0-C1C52F4D548B}"/>
              </a:ext>
            </a:extLst>
          </p:cNvPr>
          <p:cNvSpPr txBox="1"/>
          <p:nvPr/>
        </p:nvSpPr>
        <p:spPr>
          <a:xfrm>
            <a:off x="3042000" y="237938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0" name="Google Shape;530;p82">
            <a:extLst>
              <a:ext uri="{FF2B5EF4-FFF2-40B4-BE49-F238E27FC236}">
                <a16:creationId xmlns:a16="http://schemas.microsoft.com/office/drawing/2014/main" id="{5CFAE274-29AE-C64A-BF63-F1789CC1D21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2373331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95D51D4-1014-904E-B98B-1180866B6EA9}"/>
              </a:ext>
            </a:extLst>
          </p:cNvPr>
          <p:cNvSpPr txBox="1"/>
          <p:nvPr/>
        </p:nvSpPr>
        <p:spPr>
          <a:xfrm>
            <a:off x="7555206" y="2373332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6016A700-1ED8-3F49-9B85-B41B9D0E7D4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346539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B3247B-A3F0-8046-BAAC-3C02B58CC273}"/>
              </a:ext>
            </a:extLst>
          </p:cNvPr>
          <p:cNvSpPr txBox="1"/>
          <p:nvPr/>
        </p:nvSpPr>
        <p:spPr>
          <a:xfrm>
            <a:off x="7555206" y="346539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5" name="Google Shape;530;p82">
            <a:extLst>
              <a:ext uri="{FF2B5EF4-FFF2-40B4-BE49-F238E27FC236}">
                <a16:creationId xmlns:a16="http://schemas.microsoft.com/office/drawing/2014/main" id="{4772A2BC-247A-A74E-9DD6-82B153D02F2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46539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D7CD912-58CB-7049-A55E-A067EF213E43}"/>
              </a:ext>
            </a:extLst>
          </p:cNvPr>
          <p:cNvSpPr txBox="1"/>
          <p:nvPr/>
        </p:nvSpPr>
        <p:spPr>
          <a:xfrm>
            <a:off x="2993635" y="346539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51" name="Google Shape;225;p40">
            <a:extLst>
              <a:ext uri="{FF2B5EF4-FFF2-40B4-BE49-F238E27FC236}">
                <a16:creationId xmlns:a16="http://schemas.microsoft.com/office/drawing/2014/main" id="{144C3652-C501-1346-B7AB-83586BA2F636}"/>
              </a:ext>
            </a:extLst>
          </p:cNvPr>
          <p:cNvPicPr preferRelativeResize="0"/>
          <p:nvPr/>
        </p:nvPicPr>
        <p:blipFill>
          <a:blip r:embed="rId4"/>
          <a:srcRect l="18187" r="18187"/>
          <a:stretch/>
        </p:blipFill>
        <p:spPr>
          <a:xfrm>
            <a:off x="3165384" y="87837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2" name="Google Shape;225;p40">
            <a:extLst>
              <a:ext uri="{FF2B5EF4-FFF2-40B4-BE49-F238E27FC236}">
                <a16:creationId xmlns:a16="http://schemas.microsoft.com/office/drawing/2014/main" id="{2E53F201-6B1A-E248-8C85-AE31C0183E3A}"/>
              </a:ext>
            </a:extLst>
          </p:cNvPr>
          <p:cNvPicPr preferRelativeResize="0"/>
          <p:nvPr/>
        </p:nvPicPr>
        <p:blipFill>
          <a:blip r:embed="rId5"/>
          <a:srcRect t="2849" b="2849"/>
          <a:stretch/>
        </p:blipFill>
        <p:spPr>
          <a:xfrm>
            <a:off x="5380104" y="1909580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4" name="Google Shape;225;p40">
            <a:extLst>
              <a:ext uri="{FF2B5EF4-FFF2-40B4-BE49-F238E27FC236}">
                <a16:creationId xmlns:a16="http://schemas.microsoft.com/office/drawing/2014/main" id="{9503C9EF-9A4D-F741-957E-D9787DBAAD39}"/>
              </a:ext>
            </a:extLst>
          </p:cNvPr>
          <p:cNvPicPr preferRelativeResize="0"/>
          <p:nvPr/>
        </p:nvPicPr>
        <p:blipFill>
          <a:blip r:embed="rId6"/>
          <a:srcRect t="2849" b="2849"/>
          <a:stretch/>
        </p:blipFill>
        <p:spPr>
          <a:xfrm>
            <a:off x="5181353" y="2971605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6" name="Google Shape;225;p40">
            <a:extLst>
              <a:ext uri="{FF2B5EF4-FFF2-40B4-BE49-F238E27FC236}">
                <a16:creationId xmlns:a16="http://schemas.microsoft.com/office/drawing/2014/main" id="{961AE516-CE39-C146-B04E-6F9CCFC749A3}"/>
              </a:ext>
            </a:extLst>
          </p:cNvPr>
          <p:cNvPicPr preferRelativeResize="0"/>
          <p:nvPr/>
        </p:nvPicPr>
        <p:blipFill>
          <a:blip r:embed="rId7"/>
          <a:srcRect t="2849" b="2849"/>
          <a:stretch/>
        </p:blipFill>
        <p:spPr>
          <a:xfrm>
            <a:off x="773716" y="3008782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7" name="Google Shape;225;p40">
            <a:extLst>
              <a:ext uri="{FF2B5EF4-FFF2-40B4-BE49-F238E27FC236}">
                <a16:creationId xmlns:a16="http://schemas.microsoft.com/office/drawing/2014/main" id="{AF4E17D5-3459-B545-8950-6FD1DC61D95F}"/>
              </a:ext>
            </a:extLst>
          </p:cNvPr>
          <p:cNvPicPr preferRelativeResize="0"/>
          <p:nvPr/>
        </p:nvPicPr>
        <p:blipFill>
          <a:blip r:embed="rId8"/>
          <a:srcRect t="2849" b="2849"/>
          <a:stretch/>
        </p:blipFill>
        <p:spPr>
          <a:xfrm>
            <a:off x="787457" y="1911844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8" name="Google Shape;225;p40">
            <a:extLst>
              <a:ext uri="{FF2B5EF4-FFF2-40B4-BE49-F238E27FC236}">
                <a16:creationId xmlns:a16="http://schemas.microsoft.com/office/drawing/2014/main" id="{5D9B9C18-2AFF-6F45-91A9-E24FAB89A0AE}"/>
              </a:ext>
            </a:extLst>
          </p:cNvPr>
          <p:cNvPicPr preferRelativeResize="0"/>
          <p:nvPr/>
        </p:nvPicPr>
        <p:blipFill>
          <a:blip r:embed="rId9"/>
          <a:srcRect t="2849" b="2849"/>
          <a:stretch/>
        </p:blipFill>
        <p:spPr>
          <a:xfrm>
            <a:off x="3165384" y="4326414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57209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4"/>
          <p:cNvSpPr/>
          <p:nvPr/>
        </p:nvSpPr>
        <p:spPr>
          <a:xfrm>
            <a:off x="1052550" y="1264075"/>
            <a:ext cx="3426900" cy="7791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94"/>
          <p:cNvSpPr/>
          <p:nvPr/>
        </p:nvSpPr>
        <p:spPr>
          <a:xfrm>
            <a:off x="1052550" y="2237575"/>
            <a:ext cx="3426900" cy="9933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94"/>
          <p:cNvSpPr/>
          <p:nvPr/>
        </p:nvSpPr>
        <p:spPr>
          <a:xfrm>
            <a:off x="1052550" y="3425275"/>
            <a:ext cx="3426900" cy="1135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94"/>
          <p:cNvSpPr/>
          <p:nvPr/>
        </p:nvSpPr>
        <p:spPr>
          <a:xfrm>
            <a:off x="4673550" y="1264075"/>
            <a:ext cx="3417900" cy="1135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94"/>
          <p:cNvSpPr/>
          <p:nvPr/>
        </p:nvSpPr>
        <p:spPr>
          <a:xfrm>
            <a:off x="4673550" y="2579575"/>
            <a:ext cx="3417900" cy="8481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94"/>
          <p:cNvSpPr/>
          <p:nvPr/>
        </p:nvSpPr>
        <p:spPr>
          <a:xfrm>
            <a:off x="4673550" y="3607675"/>
            <a:ext cx="3417900" cy="951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2" name="Google Shape;522;p9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37900" y="1421375"/>
            <a:ext cx="460475" cy="460475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p94"/>
          <p:cNvSpPr txBox="1"/>
          <p:nvPr/>
        </p:nvSpPr>
        <p:spPr>
          <a:xfrm>
            <a:off x="1763275" y="1326125"/>
            <a:ext cx="2529600" cy="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54000" bIns="91425" anchor="t" anchorCtr="0">
            <a:normAutofit lnSpcReduction="10000"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Обучение выстроено в формате вебинаров (онлайн). Онлайн-вебинары проводятся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по вечерам или в выходные дни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24" name="Google Shape;524;p9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7900" y="2440438"/>
            <a:ext cx="460475" cy="460475"/>
          </a:xfrm>
          <a:prstGeom prst="rect">
            <a:avLst/>
          </a:prstGeom>
          <a:noFill/>
          <a:ln>
            <a:noFill/>
          </a:ln>
        </p:spPr>
      </p:pic>
      <p:sp>
        <p:nvSpPr>
          <p:cNvPr id="525" name="Google Shape;525;p94"/>
          <p:cNvSpPr txBox="1"/>
          <p:nvPr/>
        </p:nvSpPr>
        <p:spPr>
          <a:xfrm>
            <a:off x="1763275" y="2305525"/>
            <a:ext cx="2626500" cy="9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54000" bIns="91425" anchor="t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Все записи занятий и материалы, предоставляемые преподавателями, сохраняются в личном кабинете и остаются доступны даже после окончания обучения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26" name="Google Shape;526;p9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237900" y="3632238"/>
            <a:ext cx="460475" cy="460475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94"/>
          <p:cNvSpPr txBox="1"/>
          <p:nvPr/>
        </p:nvSpPr>
        <p:spPr>
          <a:xfrm>
            <a:off x="1763275" y="3495075"/>
            <a:ext cx="2493300" cy="10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54000" bIns="91425" anchor="t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Домашние задания позволят Вам применить на практике полученные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во время вебинаров знания.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По каждому домашнему заданию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преподаватель дает развернутый фидбек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28" name="Google Shape;528;p9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853100" y="1421375"/>
            <a:ext cx="460475" cy="460475"/>
          </a:xfrm>
          <a:prstGeom prst="rect">
            <a:avLst/>
          </a:prstGeom>
          <a:noFill/>
          <a:ln>
            <a:noFill/>
          </a:ln>
        </p:spPr>
      </p:pic>
      <p:sp>
        <p:nvSpPr>
          <p:cNvPr id="529" name="Google Shape;529;p94"/>
          <p:cNvSpPr txBox="1"/>
          <p:nvPr/>
        </p:nvSpPr>
        <p:spPr>
          <a:xfrm>
            <a:off x="5378475" y="1326125"/>
            <a:ext cx="2493300" cy="9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54000" bIns="91425" anchor="t" anchorCtr="0">
            <a:normAutofit lnSpcReduction="10000"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 процессе обучения Вы можете задавать преподавателю вопросы по материалам лекций и домашних заданий, уточнять моменты, которые были непонятны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на уроке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30" name="Google Shape;530;p9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853100" y="2743075"/>
            <a:ext cx="460475" cy="460475"/>
          </a:xfrm>
          <a:prstGeom prst="rect">
            <a:avLst/>
          </a:prstGeom>
          <a:noFill/>
          <a:ln>
            <a:noFill/>
          </a:ln>
        </p:spPr>
      </p:pic>
      <p:sp>
        <p:nvSpPr>
          <p:cNvPr id="531" name="Google Shape;531;p94"/>
          <p:cNvSpPr txBox="1"/>
          <p:nvPr/>
        </p:nvSpPr>
        <p:spPr>
          <a:xfrm>
            <a:off x="5378475" y="2647825"/>
            <a:ext cx="2626500" cy="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54000" bIns="91425" anchor="t" anchorCtr="0">
            <a:normAutofit lnSpcReduction="10000"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Время на обучение: от 4 ак. часов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на занятия и 4-8 часов на домашнюю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работу в неделю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32" name="Google Shape;532;p94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853100" y="3760075"/>
            <a:ext cx="460475" cy="460475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p94"/>
          <p:cNvSpPr txBox="1"/>
          <p:nvPr/>
        </p:nvSpPr>
        <p:spPr>
          <a:xfrm>
            <a:off x="5378475" y="3664825"/>
            <a:ext cx="2529600" cy="8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54000" bIns="91425" anchor="t" anchorCtr="0">
            <a:normAutofit lnSpcReduction="10000"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Программа обучения на курсах обновляется каждый запуск в зависимости от актуальных запросов в сфере IТ-технологий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4" name="Google Shape;534;p94"/>
          <p:cNvSpPr txBox="1"/>
          <p:nvPr/>
        </p:nvSpPr>
        <p:spPr>
          <a:xfrm>
            <a:off x="500550" y="336745"/>
            <a:ext cx="8307600" cy="11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100" b="1" dirty="0">
                <a:latin typeface="Roboto"/>
                <a:ea typeface="Roboto"/>
                <a:cs typeface="Roboto"/>
                <a:sym typeface="Roboto"/>
              </a:rPr>
              <a:t>Процесс обучения</a:t>
            </a:r>
            <a:endParaRPr sz="3100" b="1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0" name="Google Shape;630;p10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4240" y="2418961"/>
            <a:ext cx="608438" cy="608424"/>
          </a:xfrm>
          <a:prstGeom prst="rect">
            <a:avLst/>
          </a:prstGeom>
          <a:noFill/>
          <a:ln>
            <a:noFill/>
          </a:ln>
        </p:spPr>
      </p:pic>
      <p:sp>
        <p:nvSpPr>
          <p:cNvPr id="631" name="Google Shape;631;p107"/>
          <p:cNvSpPr txBox="1"/>
          <p:nvPr/>
        </p:nvSpPr>
        <p:spPr>
          <a:xfrm>
            <a:off x="500550" y="950100"/>
            <a:ext cx="55383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1" dirty="0">
                <a:solidFill>
                  <a:srgbClr val="45818E"/>
                </a:solidFill>
                <a:latin typeface="Roboto"/>
                <a:ea typeface="Roboto"/>
                <a:cs typeface="Roboto"/>
                <a:sym typeface="Roboto"/>
              </a:rPr>
              <a:t>ML </a:t>
            </a:r>
            <a:r>
              <a:rPr lang="ru-RU" sz="2400" b="1" i="1" dirty="0">
                <a:solidFill>
                  <a:srgbClr val="45818E"/>
                </a:solidFill>
                <a:latin typeface="Roboto"/>
                <a:ea typeface="Roboto"/>
                <a:cs typeface="Roboto"/>
                <a:sym typeface="Roboto"/>
              </a:rPr>
              <a:t>для финансового анализа</a:t>
            </a:r>
            <a:endParaRPr sz="2400" b="1" i="1" dirty="0">
              <a:solidFill>
                <a:srgbClr val="45818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2" name="Google Shape;632;p107"/>
          <p:cNvSpPr txBox="1"/>
          <p:nvPr/>
        </p:nvSpPr>
        <p:spPr>
          <a:xfrm>
            <a:off x="1813965" y="2446096"/>
            <a:ext cx="4182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старт обучения: </a:t>
            </a:r>
            <a:r>
              <a:rPr lang="ru-RU" sz="1800" b="1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-US" sz="1800" b="1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  <a:r>
              <a:rPr lang="ru" sz="1800" b="1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r>
              <a:rPr lang="en-US" sz="1800" b="1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  <a:r>
              <a:rPr lang="ru-RU" sz="1800" b="1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ru" sz="1800" b="1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.202</a:t>
            </a:r>
            <a:r>
              <a:rPr lang="en-US" sz="1800" b="1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ru" sz="1800" b="1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2400" b="1" i="1" dirty="0">
              <a:solidFill>
                <a:srgbClr val="3F3F3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36" name="Google Shape;636;p10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09644" y="110465"/>
            <a:ext cx="1064725" cy="1064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8"/>
          <p:cNvSpPr txBox="1">
            <a:spLocks noGrp="1"/>
          </p:cNvSpPr>
          <p:nvPr>
            <p:ph type="title"/>
          </p:nvPr>
        </p:nvSpPr>
        <p:spPr>
          <a:xfrm>
            <a:off x="956225" y="777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500" b="0"/>
              <a:t>Заполните, пожалуйста,</a:t>
            </a:r>
            <a:endParaRPr sz="3500" b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500"/>
              <a:t>опрос</a:t>
            </a:r>
            <a:r>
              <a:rPr lang="ru" sz="3500" b="0"/>
              <a:t> о занятии</a:t>
            </a:r>
            <a:endParaRPr sz="3500" b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i="1" u="sng">
                <a:solidFill>
                  <a:schemeClr val="accent6"/>
                </a:solidFill>
              </a:rPr>
              <a:t>Важно! Пройти опрос могут только залогиненные пользователи платформы OTUS</a:t>
            </a:r>
            <a:r>
              <a:rPr lang="ru" sz="1800" i="1" u="sng">
                <a:solidFill>
                  <a:srgbClr val="E06666"/>
                </a:solidFill>
              </a:rPr>
              <a:t> </a:t>
            </a:r>
            <a:endParaRPr sz="1800" i="1" u="sng">
              <a:solidFill>
                <a:srgbClr val="E0666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i="1" u="sng">
              <a:solidFill>
                <a:srgbClr val="E0666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i="1" u="sng">
              <a:solidFill>
                <a:srgbClr val="E0666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i="1" u="sng">
              <a:solidFill>
                <a:srgbClr val="E0666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i="1" u="sng">
              <a:solidFill>
                <a:srgbClr val="E0666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i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ru"/>
              <a:t>Спасибо за внимание!</a:t>
            </a:r>
            <a:endParaRPr/>
          </a:p>
        </p:txBody>
      </p:sp>
      <p:pic>
        <p:nvPicPr>
          <p:cNvPr id="643" name="Google Shape;643;p10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68775" y="2131625"/>
            <a:ext cx="2392300" cy="2392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9907</TotalTime>
  <Words>1932</Words>
  <Application>Microsoft Macintosh PowerPoint</Application>
  <PresentationFormat>On-screen Show (16:9)</PresentationFormat>
  <Paragraphs>317</Paragraphs>
  <Slides>49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49</vt:i4>
      </vt:variant>
    </vt:vector>
  </HeadingPairs>
  <TitlesOfParts>
    <vt:vector size="57" baseType="lpstr">
      <vt:lpstr>Calibri</vt:lpstr>
      <vt:lpstr>Cambria Math</vt:lpstr>
      <vt:lpstr>Arial</vt:lpstr>
      <vt:lpstr>Courier New</vt:lpstr>
      <vt:lpstr>Apple Chancery</vt:lpstr>
      <vt:lpstr>Roboto</vt:lpstr>
      <vt:lpstr>Светлая тема</vt:lpstr>
      <vt:lpstr>Светлая тема</vt:lpstr>
      <vt:lpstr>ML для финансового анализа Введение в технический анализ: графики и индикаторы</vt:lpstr>
      <vt:lpstr>PowerPoint Presentation</vt:lpstr>
      <vt:lpstr>ML для финансового анализа Введение в технический анализ: графики и индикаторы.</vt:lpstr>
      <vt:lpstr>Маршрут вебинара</vt:lpstr>
      <vt:lpstr>Расскажите о себе</vt:lpstr>
      <vt:lpstr>Правила вебинара</vt:lpstr>
      <vt:lpstr>Об ОТУС</vt:lpstr>
      <vt:lpstr>PowerPoint Presentation</vt:lpstr>
      <vt:lpstr>Образование в ОТУС</vt:lpstr>
      <vt:lpstr>Напишите, пожалуйста, в чат подходящую цифру</vt:lpstr>
      <vt:lpstr>Технический анализ</vt:lpstr>
      <vt:lpstr>Технический анализ</vt:lpstr>
      <vt:lpstr>Технический анализ</vt:lpstr>
      <vt:lpstr>Технический анализ – принципы</vt:lpstr>
      <vt:lpstr>Типы графиков</vt:lpstr>
      <vt:lpstr>Данные</vt:lpstr>
      <vt:lpstr>График баров</vt:lpstr>
      <vt:lpstr>График баров</vt:lpstr>
      <vt:lpstr>График баров</vt:lpstr>
      <vt:lpstr>График баров – yahoo</vt:lpstr>
      <vt:lpstr>График баров – оформление в цвете</vt:lpstr>
      <vt:lpstr>Японские свечи</vt:lpstr>
      <vt:lpstr>Японские свечи</vt:lpstr>
      <vt:lpstr>Японские свечи - yahoo</vt:lpstr>
      <vt:lpstr>Японские свечи</vt:lpstr>
      <vt:lpstr>График Ренко</vt:lpstr>
      <vt:lpstr>Объем торгов</vt:lpstr>
      <vt:lpstr>Индикаторы</vt:lpstr>
      <vt:lpstr>Простая скользящая средняя </vt:lpstr>
      <vt:lpstr>Простая скользящая средняя </vt:lpstr>
      <vt:lpstr>Золотое пересечение (Golden Cross) и Мёртвое пересечение (Death Cross)</vt:lpstr>
      <vt:lpstr>Сигнал на покупку/продажу</vt:lpstr>
      <vt:lpstr>Сигнал на покупку/продажу</vt:lpstr>
      <vt:lpstr>Недостатки модели скользящих средних</vt:lpstr>
      <vt:lpstr>Технический анализ</vt:lpstr>
      <vt:lpstr>Технический анализ</vt:lpstr>
      <vt:lpstr>Технический анализ</vt:lpstr>
      <vt:lpstr>Технический анализ – принципы</vt:lpstr>
      <vt:lpstr>Технический анализ инструменты</vt:lpstr>
      <vt:lpstr>Инструменты технического анализа</vt:lpstr>
      <vt:lpstr>Практика</vt:lpstr>
      <vt:lpstr>Практическая реализация </vt:lpstr>
      <vt:lpstr>Вопросы?</vt:lpstr>
      <vt:lpstr>Ключевые тезисы  </vt:lpstr>
      <vt:lpstr>Знакомство с  программой курса</vt:lpstr>
      <vt:lpstr>Карта курса</vt:lpstr>
      <vt:lpstr>PowerPoint Presentation</vt:lpstr>
      <vt:lpstr>PowerPoint Presentation</vt:lpstr>
      <vt:lpstr>Заполните, пожалуйста, опрос о занятии Важно! Пройти опрос могут только залогиненные пользователи платформы OTUS       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Информация для преподавателя (маршрут демо-занятия)</dc:title>
  <cp:lastModifiedBy>Стурейко Игорь Олегович</cp:lastModifiedBy>
  <cp:revision>111</cp:revision>
  <dcterms:modified xsi:type="dcterms:W3CDTF">2025-05-14T13:40:10Z</dcterms:modified>
</cp:coreProperties>
</file>