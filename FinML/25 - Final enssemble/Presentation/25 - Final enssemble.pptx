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3"/>
  </p:notesMasterIdLst>
  <p:sldIdLst>
    <p:sldId id="257" r:id="rId2"/>
    <p:sldId id="258" r:id="rId3"/>
    <p:sldId id="259" r:id="rId4"/>
    <p:sldId id="312" r:id="rId5"/>
    <p:sldId id="260" r:id="rId6"/>
    <p:sldId id="288" r:id="rId7"/>
    <p:sldId id="515" r:id="rId8"/>
    <p:sldId id="300" r:id="rId9"/>
    <p:sldId id="296" r:id="rId10"/>
    <p:sldId id="297" r:id="rId11"/>
    <p:sldId id="319" r:id="rId1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724">
          <p15:clr>
            <a:srgbClr val="A4A3A4"/>
          </p15:clr>
        </p15:guide>
        <p15:guide id="2" pos="380">
          <p15:clr>
            <a:srgbClr val="9AA0A6"/>
          </p15:clr>
        </p15:guide>
        <p15:guide id="3" orient="horz" pos="2041">
          <p15:clr>
            <a:srgbClr val="9AA0A6"/>
          </p15:clr>
        </p15:guide>
        <p15:guide id="4" orient="horz" pos="2169">
          <p15:clr>
            <a:srgbClr val="9AA0A6"/>
          </p15:clr>
        </p15:guide>
        <p15:guide id="5" pos="331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59E00E-254B-42B5-9FED-D0DB1D54CBD8}">
  <a:tblStyle styleId="{9F59E00E-254B-42B5-9FED-D0DB1D54CB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06"/>
    <p:restoredTop sz="97146"/>
  </p:normalViewPr>
  <p:slideViewPr>
    <p:cSldViewPr snapToGrid="0">
      <p:cViewPr varScale="1">
        <p:scale>
          <a:sx n="282" d="100"/>
          <a:sy n="282" d="100"/>
        </p:scale>
        <p:origin x="160" y="408"/>
      </p:cViewPr>
      <p:guideLst>
        <p:guide pos="1724"/>
        <p:guide pos="380"/>
        <p:guide orient="horz" pos="2041"/>
        <p:guide orient="horz" pos="2169"/>
        <p:guide pos="33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f305d12f4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f305d12f4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f305d12f47_1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f305d12f47_1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5beb2bd227_0_9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5beb2bd227_0_9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5beb2bd227_0_9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25beb2bd227_0_9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df6222e6a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df6222e6af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8" y="-10075"/>
            <a:ext cx="9161923" cy="5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500"/>
              <a:buNone/>
              <a:defRPr sz="1500" b="1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2"/>
          </p:nvPr>
        </p:nvSpPr>
        <p:spPr>
          <a:xfrm>
            <a:off x="3891775" y="2252794"/>
            <a:ext cx="4587900" cy="20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://www.linkedin.com/in/igor-stureiko" TargetMode="External"/><Relationship Id="rId4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258" name="Google Shape;258;p62"/>
          <p:cNvSpPr txBox="1">
            <a:spLocks noGrp="1"/>
          </p:cNvSpPr>
          <p:nvPr>
            <p:ph type="title"/>
          </p:nvPr>
        </p:nvSpPr>
        <p:spPr>
          <a:xfrm>
            <a:off x="944650" y="1477350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</a:t>
            </a:r>
            <a:r>
              <a:rPr lang="ru-RU" dirty="0"/>
              <a:t>для финансового анализа</a:t>
            </a:r>
            <a:br>
              <a:rPr lang="en-US" dirty="0"/>
            </a:br>
            <a:br>
              <a:rPr lang="en-US" sz="1200" dirty="0"/>
            </a:br>
            <a:r>
              <a:rPr lang="ru-RU" sz="3600" dirty="0"/>
              <a:t>Построение финального ансамбля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3"/>
          <p:cNvSpPr txBox="1"/>
          <p:nvPr/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Проверить, идет ли запись</a:t>
            </a:r>
            <a:endParaRPr sz="2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63"/>
          <p:cNvSpPr txBox="1"/>
          <p:nvPr/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Напишите 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«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»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чат, если меня слышно и видно</a:t>
            </a:r>
            <a:endParaRPr sz="35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5" name="Google Shape;265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6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160" name="Google Shape;16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5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35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35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5"/>
          <p:cNvSpPr txBox="1"/>
          <p:nvPr/>
        </p:nvSpPr>
        <p:spPr>
          <a:xfrm>
            <a:off x="1654524" y="2049300"/>
            <a:ext cx="2917475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35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5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5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5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173;p3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5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175;p3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5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7" name="Google Shape;177;p3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5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9" name="Google Shape;179;p3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5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1" name="Google Shape;181;p35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0726" y="2148424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dirty="0"/>
              <a:t>ML </a:t>
            </a:r>
            <a:r>
              <a:rPr lang="ru-RU" sz="3200" dirty="0"/>
              <a:t>для финансового анализа</a:t>
            </a:r>
            <a:br>
              <a:rPr lang="en-US" sz="3200" dirty="0"/>
            </a:br>
            <a:r>
              <a:rPr lang="ru-RU" sz="2400" dirty="0"/>
              <a:t>Построение финального ансамбля.</a:t>
            </a:r>
            <a:endParaRPr b="0"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Открытый урок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Google Shape;278;p64">
            <a:extLst>
              <a:ext uri="{FF2B5EF4-FFF2-40B4-BE49-F238E27FC236}">
                <a16:creationId xmlns:a16="http://schemas.microsoft.com/office/drawing/2014/main" id="{DC03452F-6B2F-EA48-9B01-C3577A3005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7621" y="258179"/>
            <a:ext cx="652375" cy="6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BDA60-D1B3-5B41-A4D2-CDAE2DD6B0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D0D012C5-1A3B-EC4C-B8A7-64C8AF21B41A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  <a:endParaRPr lang="en-US" sz="1150" kern="0" dirty="0"/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5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84" name="Google Shape;284;p65"/>
          <p:cNvSpPr/>
          <p:nvPr/>
        </p:nvSpPr>
        <p:spPr>
          <a:xfrm>
            <a:off x="680150" y="15211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Целевая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архитектура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65"/>
          <p:cNvSpPr/>
          <p:nvPr/>
        </p:nvSpPr>
        <p:spPr>
          <a:xfrm>
            <a:off x="680150" y="2134241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Сборка и проблемы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46CF15-E72E-E64E-B624-46A6D7BEE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863"/>
          <a:stretch/>
        </p:blipFill>
        <p:spPr>
          <a:xfrm>
            <a:off x="4760850" y="1521159"/>
            <a:ext cx="4260300" cy="28285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93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dirty="0"/>
              <a:t>Целевая архитектура</a:t>
            </a:r>
            <a:endParaRPr sz="40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Архитектура целевого ансамбля</a:t>
            </a:r>
            <a:endParaRPr dirty="0"/>
          </a:p>
        </p:txBody>
      </p:sp>
      <p:sp>
        <p:nvSpPr>
          <p:cNvPr id="30" name="Google Shape;271;p44">
            <a:extLst>
              <a:ext uri="{FF2B5EF4-FFF2-40B4-BE49-F238E27FC236}">
                <a16:creationId xmlns:a16="http://schemas.microsoft.com/office/drawing/2014/main" id="{8DCD77DD-86B0-6441-9C1B-A317536B91AF}"/>
              </a:ext>
            </a:extLst>
          </p:cNvPr>
          <p:cNvSpPr/>
          <p:nvPr/>
        </p:nvSpPr>
        <p:spPr>
          <a:xfrm>
            <a:off x="3191156" y="1213583"/>
            <a:ext cx="2223173" cy="40350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175" algn="ctr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Предобработка общая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38" name="Google Shape;271;p44">
            <a:extLst>
              <a:ext uri="{FF2B5EF4-FFF2-40B4-BE49-F238E27FC236}">
                <a16:creationId xmlns:a16="http://schemas.microsoft.com/office/drawing/2014/main" id="{47E8CDBC-A459-4649-9E1C-2DF63A09A203}"/>
              </a:ext>
            </a:extLst>
          </p:cNvPr>
          <p:cNvSpPr/>
          <p:nvPr/>
        </p:nvSpPr>
        <p:spPr>
          <a:xfrm>
            <a:off x="5856516" y="1905974"/>
            <a:ext cx="2223173" cy="40350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175" algn="ctr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Предобработка модели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41" name="Google Shape;271;p44">
            <a:extLst>
              <a:ext uri="{FF2B5EF4-FFF2-40B4-BE49-F238E27FC236}">
                <a16:creationId xmlns:a16="http://schemas.microsoft.com/office/drawing/2014/main" id="{4767463E-FF8D-B647-888F-89A767FAFD6E}"/>
              </a:ext>
            </a:extLst>
          </p:cNvPr>
          <p:cNvSpPr/>
          <p:nvPr/>
        </p:nvSpPr>
        <p:spPr>
          <a:xfrm>
            <a:off x="554047" y="1905974"/>
            <a:ext cx="2223173" cy="40350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175" algn="ctr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Предобработка модели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47" name="Google Shape;271;p44">
            <a:extLst>
              <a:ext uri="{FF2B5EF4-FFF2-40B4-BE49-F238E27FC236}">
                <a16:creationId xmlns:a16="http://schemas.microsoft.com/office/drawing/2014/main" id="{1AA97D9E-F508-4947-B1D3-ABB7317C5B8B}"/>
              </a:ext>
            </a:extLst>
          </p:cNvPr>
          <p:cNvSpPr/>
          <p:nvPr/>
        </p:nvSpPr>
        <p:spPr>
          <a:xfrm>
            <a:off x="3191770" y="1905974"/>
            <a:ext cx="2223173" cy="40350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175" algn="ctr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Предобработка модели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48" name="Google Shape;271;p44">
            <a:extLst>
              <a:ext uri="{FF2B5EF4-FFF2-40B4-BE49-F238E27FC236}">
                <a16:creationId xmlns:a16="http://schemas.microsoft.com/office/drawing/2014/main" id="{D8E1596B-6630-2445-8F05-0AA29786AA15}"/>
              </a:ext>
            </a:extLst>
          </p:cNvPr>
          <p:cNvSpPr/>
          <p:nvPr/>
        </p:nvSpPr>
        <p:spPr>
          <a:xfrm>
            <a:off x="554047" y="2602597"/>
            <a:ext cx="2223173" cy="40350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175" algn="ctr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Модель 1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49" name="Google Shape;271;p44">
            <a:extLst>
              <a:ext uri="{FF2B5EF4-FFF2-40B4-BE49-F238E27FC236}">
                <a16:creationId xmlns:a16="http://schemas.microsoft.com/office/drawing/2014/main" id="{D2E8EA49-633C-EC47-9CD5-6EA4FB3722E6}"/>
              </a:ext>
            </a:extLst>
          </p:cNvPr>
          <p:cNvSpPr/>
          <p:nvPr/>
        </p:nvSpPr>
        <p:spPr>
          <a:xfrm>
            <a:off x="3191154" y="2598365"/>
            <a:ext cx="2223173" cy="40350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175" algn="ctr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Модель 2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50" name="Google Shape;271;p44">
            <a:extLst>
              <a:ext uri="{FF2B5EF4-FFF2-40B4-BE49-F238E27FC236}">
                <a16:creationId xmlns:a16="http://schemas.microsoft.com/office/drawing/2014/main" id="{D3904870-C289-F041-A46F-3194DACF0EEF}"/>
              </a:ext>
            </a:extLst>
          </p:cNvPr>
          <p:cNvSpPr/>
          <p:nvPr/>
        </p:nvSpPr>
        <p:spPr>
          <a:xfrm>
            <a:off x="5856515" y="2589896"/>
            <a:ext cx="2223173" cy="40350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175" algn="ctr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Модель 3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55" name="Google Shape;271;p44">
            <a:extLst>
              <a:ext uri="{FF2B5EF4-FFF2-40B4-BE49-F238E27FC236}">
                <a16:creationId xmlns:a16="http://schemas.microsoft.com/office/drawing/2014/main" id="{2C64CB14-A6D3-0741-B7AC-4EFB7DEBF102}"/>
              </a:ext>
            </a:extLst>
          </p:cNvPr>
          <p:cNvSpPr/>
          <p:nvPr/>
        </p:nvSpPr>
        <p:spPr>
          <a:xfrm>
            <a:off x="3191155" y="3651651"/>
            <a:ext cx="2223173" cy="40350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175" algn="ctr"/>
            <a:r>
              <a:rPr lang="ru-RU" sz="1200" dirty="0" err="1">
                <a:solidFill>
                  <a:srgbClr val="1F1F1F"/>
                </a:solidFill>
                <a:latin typeface="+mn-lt"/>
                <a:sym typeface="Roboto"/>
              </a:rPr>
              <a:t>Стекинг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56" name="Google Shape;271;p44">
            <a:extLst>
              <a:ext uri="{FF2B5EF4-FFF2-40B4-BE49-F238E27FC236}">
                <a16:creationId xmlns:a16="http://schemas.microsoft.com/office/drawing/2014/main" id="{9C9C9CE8-D610-8641-AC3D-488C332CDDC6}"/>
              </a:ext>
            </a:extLst>
          </p:cNvPr>
          <p:cNvSpPr/>
          <p:nvPr/>
        </p:nvSpPr>
        <p:spPr>
          <a:xfrm>
            <a:off x="5856514" y="3651650"/>
            <a:ext cx="2223173" cy="40350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175" algn="ctr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Подбор весов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7C8A04F4-31C1-C54D-9E2E-4C09F9232743}"/>
              </a:ext>
            </a:extLst>
          </p:cNvPr>
          <p:cNvCxnSpPr>
            <a:stCxn id="30" idx="2"/>
            <a:endCxn id="41" idx="0"/>
          </p:cNvCxnSpPr>
          <p:nvPr/>
        </p:nvCxnSpPr>
        <p:spPr>
          <a:xfrm rot="5400000">
            <a:off x="2839748" y="442979"/>
            <a:ext cx="288882" cy="263710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1D8D6988-A006-1F45-A9D5-F0DD7504FB52}"/>
              </a:ext>
            </a:extLst>
          </p:cNvPr>
          <p:cNvCxnSpPr>
            <a:stCxn id="30" idx="2"/>
            <a:endCxn id="47" idx="0"/>
          </p:cNvCxnSpPr>
          <p:nvPr/>
        </p:nvCxnSpPr>
        <p:spPr>
          <a:xfrm rot="16200000" flipH="1">
            <a:off x="4158609" y="1761226"/>
            <a:ext cx="288882" cy="6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17347FDB-753B-6D40-8ED9-7A65B83472EE}"/>
              </a:ext>
            </a:extLst>
          </p:cNvPr>
          <p:cNvCxnSpPr>
            <a:stCxn id="30" idx="2"/>
            <a:endCxn id="38" idx="0"/>
          </p:cNvCxnSpPr>
          <p:nvPr/>
        </p:nvCxnSpPr>
        <p:spPr>
          <a:xfrm rot="16200000" flipH="1">
            <a:off x="5490982" y="428853"/>
            <a:ext cx="288882" cy="26653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ED84FB42-E619-3C48-A7F0-71FAD4E2E949}"/>
              </a:ext>
            </a:extLst>
          </p:cNvPr>
          <p:cNvCxnSpPr>
            <a:stCxn id="41" idx="2"/>
            <a:endCxn id="48" idx="0"/>
          </p:cNvCxnSpPr>
          <p:nvPr/>
        </p:nvCxnSpPr>
        <p:spPr>
          <a:xfrm rot="5400000">
            <a:off x="1519077" y="2456040"/>
            <a:ext cx="293114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622E2AE2-3120-2848-A618-B215744AED06}"/>
              </a:ext>
            </a:extLst>
          </p:cNvPr>
          <p:cNvCxnSpPr>
            <a:stCxn id="47" idx="2"/>
            <a:endCxn id="49" idx="0"/>
          </p:cNvCxnSpPr>
          <p:nvPr/>
        </p:nvCxnSpPr>
        <p:spPr>
          <a:xfrm rot="5400000">
            <a:off x="4158608" y="2453616"/>
            <a:ext cx="288882" cy="61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05847BDB-87BF-104A-9575-C3BEEA865146}"/>
              </a:ext>
            </a:extLst>
          </p:cNvPr>
          <p:cNvCxnSpPr>
            <a:stCxn id="38" idx="2"/>
            <a:endCxn id="50" idx="0"/>
          </p:cNvCxnSpPr>
          <p:nvPr/>
        </p:nvCxnSpPr>
        <p:spPr>
          <a:xfrm rot="5400000">
            <a:off x="6827897" y="2449689"/>
            <a:ext cx="28041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68669344-9745-814B-8BD0-D135541003AA}"/>
              </a:ext>
            </a:extLst>
          </p:cNvPr>
          <p:cNvCxnSpPr>
            <a:stCxn id="48" idx="2"/>
            <a:endCxn id="55" idx="0"/>
          </p:cNvCxnSpPr>
          <p:nvPr/>
        </p:nvCxnSpPr>
        <p:spPr>
          <a:xfrm rot="16200000" flipH="1">
            <a:off x="2661416" y="2010324"/>
            <a:ext cx="645545" cy="26371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3548EED7-04E7-2749-8518-B4439F44C349}"/>
              </a:ext>
            </a:extLst>
          </p:cNvPr>
          <p:cNvCxnSpPr>
            <a:stCxn id="49" idx="2"/>
            <a:endCxn id="55" idx="0"/>
          </p:cNvCxnSpPr>
          <p:nvPr/>
        </p:nvCxnSpPr>
        <p:spPr>
          <a:xfrm rot="16200000" flipH="1">
            <a:off x="3977853" y="3326761"/>
            <a:ext cx="649777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0403F611-8FE2-9D4A-893B-24E1DCA490FF}"/>
              </a:ext>
            </a:extLst>
          </p:cNvPr>
          <p:cNvCxnSpPr>
            <a:stCxn id="50" idx="2"/>
            <a:endCxn id="55" idx="0"/>
          </p:cNvCxnSpPr>
          <p:nvPr/>
        </p:nvCxnSpPr>
        <p:spPr>
          <a:xfrm rot="5400000">
            <a:off x="5306299" y="1989848"/>
            <a:ext cx="658246" cy="26653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FA0D60DA-C4F7-5D48-8A58-C06C19A6D7D6}"/>
              </a:ext>
            </a:extLst>
          </p:cNvPr>
          <p:cNvCxnSpPr>
            <a:stCxn id="56" idx="1"/>
            <a:endCxn id="55" idx="3"/>
          </p:cNvCxnSpPr>
          <p:nvPr/>
        </p:nvCxnSpPr>
        <p:spPr>
          <a:xfrm rot="10800000" flipV="1">
            <a:off x="5414328" y="3853404"/>
            <a:ext cx="442186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267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2"/>
          <p:cNvSpPr txBox="1">
            <a:spLocks noGrp="1"/>
          </p:cNvSpPr>
          <p:nvPr>
            <p:ph type="title"/>
          </p:nvPr>
        </p:nvSpPr>
        <p:spPr>
          <a:xfrm>
            <a:off x="956225" y="11064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Вопросы?</a:t>
            </a:r>
            <a:endParaRPr/>
          </a:p>
        </p:txBody>
      </p:sp>
      <p:pic>
        <p:nvPicPr>
          <p:cNvPr id="488" name="Google Shape;488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750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72"/>
          <p:cNvSpPr txBox="1"/>
          <p:nvPr/>
        </p:nvSpPr>
        <p:spPr>
          <a:xfrm>
            <a:off x="1750800" y="2887700"/>
            <a:ext cx="163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Задаем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0" name="Google Shape;490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5725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72"/>
          <p:cNvSpPr txBox="1"/>
          <p:nvPr/>
        </p:nvSpPr>
        <p:spPr>
          <a:xfrm>
            <a:off x="5119475" y="289230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Ключевые тезисы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97" name="Google Shape;497;p73"/>
          <p:cNvGraphicFramePr/>
          <p:nvPr>
            <p:extLst>
              <p:ext uri="{D42A27DB-BD31-4B8C-83A1-F6EECF244321}">
                <p14:modId xmlns:p14="http://schemas.microsoft.com/office/powerpoint/2010/main" val="4138450052"/>
              </p:ext>
            </p:extLst>
          </p:nvPr>
        </p:nvGraphicFramePr>
        <p:xfrm>
          <a:off x="952500" y="1544194"/>
          <a:ext cx="7239000" cy="20116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Вспомнили что такое ансамбль и как его собирать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как формировать целевую переменную прямо внутри модели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как создавать кастомные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pipeline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07049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Познакомились с основными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проблемами которые нас ожидают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62014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какие есть методы их решения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70685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как собирать сложные ансамбли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38574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95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9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Следующий вебинар</a:t>
            </a:r>
            <a:endParaRPr/>
          </a:p>
        </p:txBody>
      </p:sp>
      <p:sp>
        <p:nvSpPr>
          <p:cNvPr id="649" name="Google Shape;649;p95"/>
          <p:cNvSpPr txBox="1"/>
          <p:nvPr/>
        </p:nvSpPr>
        <p:spPr>
          <a:xfrm>
            <a:off x="1647225" y="1450631"/>
            <a:ext cx="7101220" cy="84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Модуль 5. Перенос модели в облачную среду</a:t>
            </a:r>
            <a:br>
              <a:rPr lang="ru-RU" sz="2500" b="1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800" b="1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Основные площадки: Московская биржа, </a:t>
            </a:r>
            <a:r>
              <a:rPr lang="ru-RU" sz="1800" b="1" dirty="0" err="1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sz="1800" b="1" dirty="0" err="1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yBit</a:t>
            </a:r>
            <a:r>
              <a:rPr lang="ru-RU" sz="1800" b="1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400" b="1" dirty="0">
              <a:solidFill>
                <a:srgbClr val="013D85"/>
              </a:solidFill>
            </a:endParaRPr>
          </a:p>
        </p:txBody>
      </p:sp>
      <p:pic>
        <p:nvPicPr>
          <p:cNvPr id="650" name="Google Shape;650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7718" y="1536261"/>
            <a:ext cx="760725" cy="760725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95"/>
          <p:cNvSpPr txBox="1"/>
          <p:nvPr/>
        </p:nvSpPr>
        <p:spPr>
          <a:xfrm>
            <a:off x="1179775" y="3660425"/>
            <a:ext cx="2056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Ссылка на вебинар будет в ЛК за 15 минут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95"/>
          <p:cNvSpPr txBox="1"/>
          <p:nvPr/>
        </p:nvSpPr>
        <p:spPr>
          <a:xfrm>
            <a:off x="3844125" y="3660413"/>
            <a:ext cx="1766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Материалы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к занятию в ЛК — можно изучать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95"/>
          <p:cNvSpPr txBox="1"/>
          <p:nvPr/>
        </p:nvSpPr>
        <p:spPr>
          <a:xfrm>
            <a:off x="6101125" y="3660413"/>
            <a:ext cx="21009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Обязательный материал обозначен красной лентой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4" name="Google Shape;654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5150" y="3750544"/>
            <a:ext cx="214313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9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3250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9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0775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10458</TotalTime>
  <Words>291</Words>
  <Application>Microsoft Macintosh PowerPoint</Application>
  <PresentationFormat>On-screen Show (16:9)</PresentationFormat>
  <Paragraphs>79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Roboto</vt:lpstr>
      <vt:lpstr>Светлая тема</vt:lpstr>
      <vt:lpstr>ML для финансового анализа  Построение финального ансамбля</vt:lpstr>
      <vt:lpstr>PowerPoint Presentation</vt:lpstr>
      <vt:lpstr>Правила вебинара</vt:lpstr>
      <vt:lpstr>ML для финансового анализа Построение финального ансамбля.</vt:lpstr>
      <vt:lpstr>Маршрут вебинара</vt:lpstr>
      <vt:lpstr>Целевая архитектура</vt:lpstr>
      <vt:lpstr>Архитектура целевого ансамбля</vt:lpstr>
      <vt:lpstr>Практика</vt:lpstr>
      <vt:lpstr>Вопросы?</vt:lpstr>
      <vt:lpstr>Ключевые тезисы  </vt:lpstr>
      <vt:lpstr>Следующий вебинар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Информация для преподавателя (маршрут демо-занятия)</dc:title>
  <cp:lastModifiedBy>Стурейко Игорь Олегович</cp:lastModifiedBy>
  <cp:revision>139</cp:revision>
  <dcterms:modified xsi:type="dcterms:W3CDTF">2025-09-01T11:13:53Z</dcterms:modified>
</cp:coreProperties>
</file>